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3"/>
  </p:notesMasterIdLst>
  <p:sldIdLst>
    <p:sldId id="257" r:id="rId2"/>
    <p:sldId id="335" r:id="rId3"/>
    <p:sldId id="336" r:id="rId4"/>
    <p:sldId id="337" r:id="rId5"/>
    <p:sldId id="338" r:id="rId6"/>
    <p:sldId id="339" r:id="rId7"/>
    <p:sldId id="351" r:id="rId8"/>
    <p:sldId id="389" r:id="rId9"/>
    <p:sldId id="390" r:id="rId10"/>
    <p:sldId id="280" r:id="rId11"/>
    <p:sldId id="281" r:id="rId12"/>
    <p:sldId id="334" r:id="rId13"/>
    <p:sldId id="258" r:id="rId14"/>
    <p:sldId id="264" r:id="rId15"/>
    <p:sldId id="265" r:id="rId16"/>
    <p:sldId id="266" r:id="rId17"/>
    <p:sldId id="267" r:id="rId18"/>
    <p:sldId id="268" r:id="rId19"/>
    <p:sldId id="269" r:id="rId20"/>
    <p:sldId id="284" r:id="rId21"/>
    <p:sldId id="285" r:id="rId22"/>
    <p:sldId id="352" r:id="rId23"/>
    <p:sldId id="286" r:id="rId24"/>
    <p:sldId id="353" r:id="rId25"/>
    <p:sldId id="354" r:id="rId26"/>
    <p:sldId id="355" r:id="rId27"/>
    <p:sldId id="356" r:id="rId28"/>
    <p:sldId id="357" r:id="rId29"/>
    <p:sldId id="358" r:id="rId30"/>
    <p:sldId id="359" r:id="rId31"/>
    <p:sldId id="360" r:id="rId32"/>
    <p:sldId id="361" r:id="rId33"/>
    <p:sldId id="362" r:id="rId34"/>
    <p:sldId id="363" r:id="rId35"/>
    <p:sldId id="364" r:id="rId36"/>
    <p:sldId id="365" r:id="rId37"/>
    <p:sldId id="366" r:id="rId38"/>
    <p:sldId id="367" r:id="rId39"/>
    <p:sldId id="368" r:id="rId40"/>
    <p:sldId id="370" r:id="rId41"/>
    <p:sldId id="381" r:id="rId42"/>
    <p:sldId id="382" r:id="rId43"/>
    <p:sldId id="383" r:id="rId44"/>
    <p:sldId id="384" r:id="rId45"/>
    <p:sldId id="385" r:id="rId46"/>
    <p:sldId id="386" r:id="rId47"/>
    <p:sldId id="369" r:id="rId48"/>
    <p:sldId id="371" r:id="rId49"/>
    <p:sldId id="372" r:id="rId50"/>
    <p:sldId id="374" r:id="rId51"/>
    <p:sldId id="373" r:id="rId52"/>
    <p:sldId id="375" r:id="rId53"/>
    <p:sldId id="376" r:id="rId54"/>
    <p:sldId id="377" r:id="rId55"/>
    <p:sldId id="378" r:id="rId56"/>
    <p:sldId id="379" r:id="rId57"/>
    <p:sldId id="380" r:id="rId58"/>
    <p:sldId id="387" r:id="rId59"/>
    <p:sldId id="388" r:id="rId60"/>
    <p:sldId id="392" r:id="rId61"/>
    <p:sldId id="391" r:id="rId62"/>
    <p:sldId id="399" r:id="rId63"/>
    <p:sldId id="393" r:id="rId64"/>
    <p:sldId id="400" r:id="rId65"/>
    <p:sldId id="395" r:id="rId66"/>
    <p:sldId id="401" r:id="rId67"/>
    <p:sldId id="394" r:id="rId68"/>
    <p:sldId id="396" r:id="rId69"/>
    <p:sldId id="397" r:id="rId70"/>
    <p:sldId id="398" r:id="rId71"/>
    <p:sldId id="402" r:id="rId72"/>
    <p:sldId id="409" r:id="rId73"/>
    <p:sldId id="407" r:id="rId74"/>
    <p:sldId id="408" r:id="rId75"/>
    <p:sldId id="410" r:id="rId76"/>
    <p:sldId id="411" r:id="rId77"/>
    <p:sldId id="404" r:id="rId78"/>
    <p:sldId id="403" r:id="rId79"/>
    <p:sldId id="405" r:id="rId80"/>
    <p:sldId id="456" r:id="rId81"/>
    <p:sldId id="406" r:id="rId82"/>
    <p:sldId id="457" r:id="rId83"/>
    <p:sldId id="455" r:id="rId84"/>
    <p:sldId id="412" r:id="rId85"/>
    <p:sldId id="413" r:id="rId86"/>
    <p:sldId id="414" r:id="rId87"/>
    <p:sldId id="415" r:id="rId88"/>
    <p:sldId id="416" r:id="rId89"/>
    <p:sldId id="417" r:id="rId90"/>
    <p:sldId id="419" r:id="rId91"/>
    <p:sldId id="418" r:id="rId92"/>
    <p:sldId id="420" r:id="rId93"/>
    <p:sldId id="421" r:id="rId94"/>
    <p:sldId id="422" r:id="rId95"/>
    <p:sldId id="423" r:id="rId96"/>
    <p:sldId id="425" r:id="rId97"/>
    <p:sldId id="424" r:id="rId98"/>
    <p:sldId id="426" r:id="rId99"/>
    <p:sldId id="427" r:id="rId100"/>
    <p:sldId id="428" r:id="rId101"/>
    <p:sldId id="429" r:id="rId102"/>
    <p:sldId id="430" r:id="rId103"/>
    <p:sldId id="431" r:id="rId104"/>
    <p:sldId id="432" r:id="rId105"/>
    <p:sldId id="433" r:id="rId106"/>
    <p:sldId id="434" r:id="rId107"/>
    <p:sldId id="435" r:id="rId108"/>
    <p:sldId id="436" r:id="rId109"/>
    <p:sldId id="437" r:id="rId110"/>
    <p:sldId id="440" r:id="rId111"/>
    <p:sldId id="439" r:id="rId112"/>
    <p:sldId id="442" r:id="rId113"/>
    <p:sldId id="441" r:id="rId114"/>
    <p:sldId id="443" r:id="rId115"/>
    <p:sldId id="445" r:id="rId116"/>
    <p:sldId id="444" r:id="rId117"/>
    <p:sldId id="446" r:id="rId118"/>
    <p:sldId id="447" r:id="rId119"/>
    <p:sldId id="448" r:id="rId120"/>
    <p:sldId id="450" r:id="rId121"/>
    <p:sldId id="451" r:id="rId122"/>
    <p:sldId id="449" r:id="rId123"/>
    <p:sldId id="452" r:id="rId124"/>
    <p:sldId id="294" r:id="rId125"/>
    <p:sldId id="295" r:id="rId126"/>
    <p:sldId id="296" r:id="rId127"/>
    <p:sldId id="297" r:id="rId128"/>
    <p:sldId id="298" r:id="rId129"/>
    <p:sldId id="299" r:id="rId130"/>
    <p:sldId id="300" r:id="rId131"/>
    <p:sldId id="301" r:id="rId132"/>
    <p:sldId id="302" r:id="rId133"/>
    <p:sldId id="303" r:id="rId134"/>
    <p:sldId id="304" r:id="rId135"/>
    <p:sldId id="305" r:id="rId136"/>
    <p:sldId id="306" r:id="rId137"/>
    <p:sldId id="307" r:id="rId138"/>
    <p:sldId id="270" r:id="rId139"/>
    <p:sldId id="271" r:id="rId140"/>
    <p:sldId id="311" r:id="rId141"/>
    <p:sldId id="312" r:id="rId142"/>
    <p:sldId id="272" r:id="rId143"/>
    <p:sldId id="273" r:id="rId144"/>
    <p:sldId id="274" r:id="rId145"/>
    <p:sldId id="275" r:id="rId146"/>
    <p:sldId id="276" r:id="rId147"/>
    <p:sldId id="277" r:id="rId148"/>
    <p:sldId id="278" r:id="rId149"/>
    <p:sldId id="279" r:id="rId150"/>
    <p:sldId id="453" r:id="rId151"/>
    <p:sldId id="290" r:id="rId152"/>
    <p:sldId id="454" r:id="rId153"/>
    <p:sldId id="282" r:id="rId154"/>
    <p:sldId id="283" r:id="rId155"/>
    <p:sldId id="289" r:id="rId156"/>
    <p:sldId id="291" r:id="rId157"/>
    <p:sldId id="292" r:id="rId158"/>
    <p:sldId id="293" r:id="rId159"/>
    <p:sldId id="308" r:id="rId160"/>
    <p:sldId id="309" r:id="rId161"/>
    <p:sldId id="310" r:id="rId1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64" autoAdjust="0"/>
    <p:restoredTop sz="94660"/>
  </p:normalViewPr>
  <p:slideViewPr>
    <p:cSldViewPr snapToGrid="0">
      <p:cViewPr varScale="1">
        <p:scale>
          <a:sx n="65" d="100"/>
          <a:sy n="65" d="100"/>
        </p:scale>
        <p:origin x="747"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CA820-9D50-444D-BA81-E40DEEB713F3}" type="datetimeFigureOut">
              <a:rPr lang="zh-CN" altLang="en-US" smtClean="0"/>
              <a:t>2024/12/19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64A566-91DE-4A0C-B7E1-2EFAAC62F205}" type="slidenum">
              <a:rPr lang="zh-CN" altLang="en-US" smtClean="0"/>
              <a:t>‹#›</a:t>
            </a:fld>
            <a:endParaRPr lang="zh-CN" altLang="en-US"/>
          </a:p>
        </p:txBody>
      </p:sp>
    </p:spTree>
    <p:extLst>
      <p:ext uri="{BB962C8B-B14F-4D97-AF65-F5344CB8AC3E}">
        <p14:creationId xmlns:p14="http://schemas.microsoft.com/office/powerpoint/2010/main" val="212928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41</a:t>
            </a:fld>
            <a:endParaRPr lang="zh-CN" altLang="en-US"/>
          </a:p>
        </p:txBody>
      </p:sp>
    </p:spTree>
    <p:extLst>
      <p:ext uri="{BB962C8B-B14F-4D97-AF65-F5344CB8AC3E}">
        <p14:creationId xmlns:p14="http://schemas.microsoft.com/office/powerpoint/2010/main" val="1739885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42</a:t>
            </a:fld>
            <a:endParaRPr lang="zh-CN" altLang="en-US"/>
          </a:p>
        </p:txBody>
      </p:sp>
    </p:spTree>
    <p:extLst>
      <p:ext uri="{BB962C8B-B14F-4D97-AF65-F5344CB8AC3E}">
        <p14:creationId xmlns:p14="http://schemas.microsoft.com/office/powerpoint/2010/main" val="4004268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43</a:t>
            </a:fld>
            <a:endParaRPr lang="zh-CN" altLang="en-US"/>
          </a:p>
        </p:txBody>
      </p:sp>
    </p:spTree>
    <p:extLst>
      <p:ext uri="{BB962C8B-B14F-4D97-AF65-F5344CB8AC3E}">
        <p14:creationId xmlns:p14="http://schemas.microsoft.com/office/powerpoint/2010/main" val="2207204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44</a:t>
            </a:fld>
            <a:endParaRPr lang="zh-CN" altLang="en-US"/>
          </a:p>
        </p:txBody>
      </p:sp>
    </p:spTree>
    <p:extLst>
      <p:ext uri="{BB962C8B-B14F-4D97-AF65-F5344CB8AC3E}">
        <p14:creationId xmlns:p14="http://schemas.microsoft.com/office/powerpoint/2010/main" val="2915587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45</a:t>
            </a:fld>
            <a:endParaRPr lang="zh-CN" altLang="en-US"/>
          </a:p>
        </p:txBody>
      </p:sp>
    </p:spTree>
    <p:extLst>
      <p:ext uri="{BB962C8B-B14F-4D97-AF65-F5344CB8AC3E}">
        <p14:creationId xmlns:p14="http://schemas.microsoft.com/office/powerpoint/2010/main" val="2409418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46</a:t>
            </a:fld>
            <a:endParaRPr lang="zh-CN" altLang="en-US"/>
          </a:p>
        </p:txBody>
      </p:sp>
    </p:spTree>
    <p:extLst>
      <p:ext uri="{BB962C8B-B14F-4D97-AF65-F5344CB8AC3E}">
        <p14:creationId xmlns:p14="http://schemas.microsoft.com/office/powerpoint/2010/main" val="3842526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51</a:t>
            </a:fld>
            <a:endParaRPr lang="zh-CN" altLang="en-US"/>
          </a:p>
        </p:txBody>
      </p:sp>
    </p:spTree>
    <p:extLst>
      <p:ext uri="{BB962C8B-B14F-4D97-AF65-F5344CB8AC3E}">
        <p14:creationId xmlns:p14="http://schemas.microsoft.com/office/powerpoint/2010/main" val="3666167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52</a:t>
            </a:fld>
            <a:endParaRPr lang="zh-CN" altLang="en-US"/>
          </a:p>
        </p:txBody>
      </p:sp>
    </p:spTree>
    <p:extLst>
      <p:ext uri="{BB962C8B-B14F-4D97-AF65-F5344CB8AC3E}">
        <p14:creationId xmlns:p14="http://schemas.microsoft.com/office/powerpoint/2010/main" val="2976356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53</a:t>
            </a:fld>
            <a:endParaRPr lang="zh-CN" altLang="en-US"/>
          </a:p>
        </p:txBody>
      </p:sp>
    </p:spTree>
    <p:extLst>
      <p:ext uri="{BB962C8B-B14F-4D97-AF65-F5344CB8AC3E}">
        <p14:creationId xmlns:p14="http://schemas.microsoft.com/office/powerpoint/2010/main" val="3199801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54</a:t>
            </a:fld>
            <a:endParaRPr lang="zh-CN" altLang="en-US"/>
          </a:p>
        </p:txBody>
      </p:sp>
    </p:spTree>
    <p:extLst>
      <p:ext uri="{BB962C8B-B14F-4D97-AF65-F5344CB8AC3E}">
        <p14:creationId xmlns:p14="http://schemas.microsoft.com/office/powerpoint/2010/main" val="2236127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55</a:t>
            </a:fld>
            <a:endParaRPr lang="zh-CN" altLang="en-US"/>
          </a:p>
        </p:txBody>
      </p:sp>
    </p:spTree>
    <p:extLst>
      <p:ext uri="{BB962C8B-B14F-4D97-AF65-F5344CB8AC3E}">
        <p14:creationId xmlns:p14="http://schemas.microsoft.com/office/powerpoint/2010/main" val="3881316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56</a:t>
            </a:fld>
            <a:endParaRPr lang="zh-CN" altLang="en-US"/>
          </a:p>
        </p:txBody>
      </p:sp>
    </p:spTree>
    <p:extLst>
      <p:ext uri="{BB962C8B-B14F-4D97-AF65-F5344CB8AC3E}">
        <p14:creationId xmlns:p14="http://schemas.microsoft.com/office/powerpoint/2010/main" val="345178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57</a:t>
            </a:fld>
            <a:endParaRPr lang="zh-CN" altLang="en-US"/>
          </a:p>
        </p:txBody>
      </p:sp>
    </p:spTree>
    <p:extLst>
      <p:ext uri="{BB962C8B-B14F-4D97-AF65-F5344CB8AC3E}">
        <p14:creationId xmlns:p14="http://schemas.microsoft.com/office/powerpoint/2010/main" val="2650025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59</a:t>
            </a:fld>
            <a:endParaRPr lang="zh-CN" altLang="en-US"/>
          </a:p>
        </p:txBody>
      </p:sp>
    </p:spTree>
    <p:extLst>
      <p:ext uri="{BB962C8B-B14F-4D97-AF65-F5344CB8AC3E}">
        <p14:creationId xmlns:p14="http://schemas.microsoft.com/office/powerpoint/2010/main" val="1126958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60</a:t>
            </a:fld>
            <a:endParaRPr lang="zh-CN" altLang="en-US"/>
          </a:p>
        </p:txBody>
      </p:sp>
    </p:spTree>
    <p:extLst>
      <p:ext uri="{BB962C8B-B14F-4D97-AF65-F5344CB8AC3E}">
        <p14:creationId xmlns:p14="http://schemas.microsoft.com/office/powerpoint/2010/main" val="1266094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61</a:t>
            </a:fld>
            <a:endParaRPr lang="zh-CN" altLang="en-US"/>
          </a:p>
        </p:txBody>
      </p:sp>
    </p:spTree>
    <p:extLst>
      <p:ext uri="{BB962C8B-B14F-4D97-AF65-F5344CB8AC3E}">
        <p14:creationId xmlns:p14="http://schemas.microsoft.com/office/powerpoint/2010/main" val="10817451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62</a:t>
            </a:fld>
            <a:endParaRPr lang="zh-CN" altLang="en-US"/>
          </a:p>
        </p:txBody>
      </p:sp>
    </p:spTree>
    <p:extLst>
      <p:ext uri="{BB962C8B-B14F-4D97-AF65-F5344CB8AC3E}">
        <p14:creationId xmlns:p14="http://schemas.microsoft.com/office/powerpoint/2010/main" val="1580536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63</a:t>
            </a:fld>
            <a:endParaRPr lang="zh-CN" altLang="en-US"/>
          </a:p>
        </p:txBody>
      </p:sp>
    </p:spTree>
    <p:extLst>
      <p:ext uri="{BB962C8B-B14F-4D97-AF65-F5344CB8AC3E}">
        <p14:creationId xmlns:p14="http://schemas.microsoft.com/office/powerpoint/2010/main" val="1564128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64</a:t>
            </a:fld>
            <a:endParaRPr lang="zh-CN" altLang="en-US"/>
          </a:p>
        </p:txBody>
      </p:sp>
    </p:spTree>
    <p:extLst>
      <p:ext uri="{BB962C8B-B14F-4D97-AF65-F5344CB8AC3E}">
        <p14:creationId xmlns:p14="http://schemas.microsoft.com/office/powerpoint/2010/main" val="1063284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65</a:t>
            </a:fld>
            <a:endParaRPr lang="zh-CN" altLang="en-US"/>
          </a:p>
        </p:txBody>
      </p:sp>
    </p:spTree>
    <p:extLst>
      <p:ext uri="{BB962C8B-B14F-4D97-AF65-F5344CB8AC3E}">
        <p14:creationId xmlns:p14="http://schemas.microsoft.com/office/powerpoint/2010/main" val="642759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66</a:t>
            </a:fld>
            <a:endParaRPr lang="zh-CN" altLang="en-US"/>
          </a:p>
        </p:txBody>
      </p:sp>
    </p:spTree>
    <p:extLst>
      <p:ext uri="{BB962C8B-B14F-4D97-AF65-F5344CB8AC3E}">
        <p14:creationId xmlns:p14="http://schemas.microsoft.com/office/powerpoint/2010/main" val="1830301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67</a:t>
            </a:fld>
            <a:endParaRPr lang="zh-CN" altLang="en-US"/>
          </a:p>
        </p:txBody>
      </p:sp>
    </p:spTree>
    <p:extLst>
      <p:ext uri="{BB962C8B-B14F-4D97-AF65-F5344CB8AC3E}">
        <p14:creationId xmlns:p14="http://schemas.microsoft.com/office/powerpoint/2010/main" val="1931232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68</a:t>
            </a:fld>
            <a:endParaRPr lang="zh-CN" altLang="en-US"/>
          </a:p>
        </p:txBody>
      </p:sp>
    </p:spTree>
    <p:extLst>
      <p:ext uri="{BB962C8B-B14F-4D97-AF65-F5344CB8AC3E}">
        <p14:creationId xmlns:p14="http://schemas.microsoft.com/office/powerpoint/2010/main" val="1055896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69</a:t>
            </a:fld>
            <a:endParaRPr lang="zh-CN" altLang="en-US"/>
          </a:p>
        </p:txBody>
      </p:sp>
    </p:spTree>
    <p:extLst>
      <p:ext uri="{BB962C8B-B14F-4D97-AF65-F5344CB8AC3E}">
        <p14:creationId xmlns:p14="http://schemas.microsoft.com/office/powerpoint/2010/main" val="3551501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70</a:t>
            </a:fld>
            <a:endParaRPr lang="zh-CN" altLang="en-US"/>
          </a:p>
        </p:txBody>
      </p:sp>
    </p:spTree>
    <p:extLst>
      <p:ext uri="{BB962C8B-B14F-4D97-AF65-F5344CB8AC3E}">
        <p14:creationId xmlns:p14="http://schemas.microsoft.com/office/powerpoint/2010/main" val="2820942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71</a:t>
            </a:fld>
            <a:endParaRPr lang="zh-CN" altLang="en-US"/>
          </a:p>
        </p:txBody>
      </p:sp>
    </p:spTree>
    <p:extLst>
      <p:ext uri="{BB962C8B-B14F-4D97-AF65-F5344CB8AC3E}">
        <p14:creationId xmlns:p14="http://schemas.microsoft.com/office/powerpoint/2010/main" val="4915501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72</a:t>
            </a:fld>
            <a:endParaRPr lang="zh-CN" altLang="en-US"/>
          </a:p>
        </p:txBody>
      </p:sp>
    </p:spTree>
    <p:extLst>
      <p:ext uri="{BB962C8B-B14F-4D97-AF65-F5344CB8AC3E}">
        <p14:creationId xmlns:p14="http://schemas.microsoft.com/office/powerpoint/2010/main" val="3421524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73</a:t>
            </a:fld>
            <a:endParaRPr lang="zh-CN" altLang="en-US"/>
          </a:p>
        </p:txBody>
      </p:sp>
    </p:spTree>
    <p:extLst>
      <p:ext uri="{BB962C8B-B14F-4D97-AF65-F5344CB8AC3E}">
        <p14:creationId xmlns:p14="http://schemas.microsoft.com/office/powerpoint/2010/main" val="2575959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74</a:t>
            </a:fld>
            <a:endParaRPr lang="zh-CN" altLang="en-US"/>
          </a:p>
        </p:txBody>
      </p:sp>
    </p:spTree>
    <p:extLst>
      <p:ext uri="{BB962C8B-B14F-4D97-AF65-F5344CB8AC3E}">
        <p14:creationId xmlns:p14="http://schemas.microsoft.com/office/powerpoint/2010/main" val="1167365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75</a:t>
            </a:fld>
            <a:endParaRPr lang="zh-CN" altLang="en-US"/>
          </a:p>
        </p:txBody>
      </p:sp>
    </p:spTree>
    <p:extLst>
      <p:ext uri="{BB962C8B-B14F-4D97-AF65-F5344CB8AC3E}">
        <p14:creationId xmlns:p14="http://schemas.microsoft.com/office/powerpoint/2010/main" val="1537652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76</a:t>
            </a:fld>
            <a:endParaRPr lang="zh-CN" altLang="en-US"/>
          </a:p>
        </p:txBody>
      </p:sp>
    </p:spTree>
    <p:extLst>
      <p:ext uri="{BB962C8B-B14F-4D97-AF65-F5344CB8AC3E}">
        <p14:creationId xmlns:p14="http://schemas.microsoft.com/office/powerpoint/2010/main" val="10095810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77</a:t>
            </a:fld>
            <a:endParaRPr lang="zh-CN" altLang="en-US"/>
          </a:p>
        </p:txBody>
      </p:sp>
    </p:spTree>
    <p:extLst>
      <p:ext uri="{BB962C8B-B14F-4D97-AF65-F5344CB8AC3E}">
        <p14:creationId xmlns:p14="http://schemas.microsoft.com/office/powerpoint/2010/main" val="13825303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78</a:t>
            </a:fld>
            <a:endParaRPr lang="zh-CN" altLang="en-US"/>
          </a:p>
        </p:txBody>
      </p:sp>
    </p:spTree>
    <p:extLst>
      <p:ext uri="{BB962C8B-B14F-4D97-AF65-F5344CB8AC3E}">
        <p14:creationId xmlns:p14="http://schemas.microsoft.com/office/powerpoint/2010/main" val="31410619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79</a:t>
            </a:fld>
            <a:endParaRPr lang="zh-CN" altLang="en-US"/>
          </a:p>
        </p:txBody>
      </p:sp>
    </p:spTree>
    <p:extLst>
      <p:ext uri="{BB962C8B-B14F-4D97-AF65-F5344CB8AC3E}">
        <p14:creationId xmlns:p14="http://schemas.microsoft.com/office/powerpoint/2010/main" val="17566614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80</a:t>
            </a:fld>
            <a:endParaRPr lang="zh-CN" altLang="en-US"/>
          </a:p>
        </p:txBody>
      </p:sp>
    </p:spTree>
    <p:extLst>
      <p:ext uri="{BB962C8B-B14F-4D97-AF65-F5344CB8AC3E}">
        <p14:creationId xmlns:p14="http://schemas.microsoft.com/office/powerpoint/2010/main" val="41173089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81</a:t>
            </a:fld>
            <a:endParaRPr lang="zh-CN" altLang="en-US"/>
          </a:p>
        </p:txBody>
      </p:sp>
    </p:spTree>
    <p:extLst>
      <p:ext uri="{BB962C8B-B14F-4D97-AF65-F5344CB8AC3E}">
        <p14:creationId xmlns:p14="http://schemas.microsoft.com/office/powerpoint/2010/main" val="33136569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F76C3-37CD-1D75-C087-77081F89DF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BDC54F-6465-21F0-4B4F-2BDA1D22EB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A426B9-5231-58BA-D0C8-00D16EB5F69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D2FE696-24F2-B37B-F217-7A749B23CC77}"/>
              </a:ext>
            </a:extLst>
          </p:cNvPr>
          <p:cNvSpPr>
            <a:spLocks noGrp="1"/>
          </p:cNvSpPr>
          <p:nvPr>
            <p:ph type="sldNum" sz="quarter" idx="5"/>
          </p:nvPr>
        </p:nvSpPr>
        <p:spPr/>
        <p:txBody>
          <a:bodyPr/>
          <a:lstStyle/>
          <a:p>
            <a:fld id="{1964A566-91DE-4A0C-B7E1-2EFAAC62F205}" type="slidenum">
              <a:rPr lang="zh-CN" altLang="en-US" smtClean="0"/>
              <a:t>82</a:t>
            </a:fld>
            <a:endParaRPr lang="zh-CN" altLang="en-US"/>
          </a:p>
        </p:txBody>
      </p:sp>
    </p:spTree>
    <p:extLst>
      <p:ext uri="{BB962C8B-B14F-4D97-AF65-F5344CB8AC3E}">
        <p14:creationId xmlns:p14="http://schemas.microsoft.com/office/powerpoint/2010/main" val="16217196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83</a:t>
            </a:fld>
            <a:endParaRPr lang="zh-CN" altLang="en-US"/>
          </a:p>
        </p:txBody>
      </p:sp>
    </p:spTree>
    <p:extLst>
      <p:ext uri="{BB962C8B-B14F-4D97-AF65-F5344CB8AC3E}">
        <p14:creationId xmlns:p14="http://schemas.microsoft.com/office/powerpoint/2010/main" val="29470850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119</a:t>
            </a:fld>
            <a:endParaRPr lang="zh-CN" altLang="en-US"/>
          </a:p>
        </p:txBody>
      </p:sp>
    </p:spTree>
    <p:extLst>
      <p:ext uri="{BB962C8B-B14F-4D97-AF65-F5344CB8AC3E}">
        <p14:creationId xmlns:p14="http://schemas.microsoft.com/office/powerpoint/2010/main" val="28542072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120</a:t>
            </a:fld>
            <a:endParaRPr lang="zh-CN" altLang="en-US"/>
          </a:p>
        </p:txBody>
      </p:sp>
    </p:spTree>
    <p:extLst>
      <p:ext uri="{BB962C8B-B14F-4D97-AF65-F5344CB8AC3E}">
        <p14:creationId xmlns:p14="http://schemas.microsoft.com/office/powerpoint/2010/main" val="30331389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121</a:t>
            </a:fld>
            <a:endParaRPr lang="zh-CN" altLang="en-US"/>
          </a:p>
        </p:txBody>
      </p:sp>
    </p:spTree>
    <p:extLst>
      <p:ext uri="{BB962C8B-B14F-4D97-AF65-F5344CB8AC3E}">
        <p14:creationId xmlns:p14="http://schemas.microsoft.com/office/powerpoint/2010/main" val="815600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122</a:t>
            </a:fld>
            <a:endParaRPr lang="zh-CN" altLang="en-US"/>
          </a:p>
        </p:txBody>
      </p:sp>
    </p:spTree>
    <p:extLst>
      <p:ext uri="{BB962C8B-B14F-4D97-AF65-F5344CB8AC3E}">
        <p14:creationId xmlns:p14="http://schemas.microsoft.com/office/powerpoint/2010/main" val="24061922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964A566-91DE-4A0C-B7E1-2EFAAC62F205}" type="slidenum">
              <a:rPr lang="zh-CN" altLang="en-US" smtClean="0"/>
              <a:t>123</a:t>
            </a:fld>
            <a:endParaRPr lang="zh-CN" altLang="en-US"/>
          </a:p>
        </p:txBody>
      </p:sp>
    </p:spTree>
    <p:extLst>
      <p:ext uri="{BB962C8B-B14F-4D97-AF65-F5344CB8AC3E}">
        <p14:creationId xmlns:p14="http://schemas.microsoft.com/office/powerpoint/2010/main" val="1786511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2564627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935366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2551252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964769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178678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111136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043881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411888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724711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01637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2024/12/19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719071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45218D-50E7-4BBD-A019-91E00C0BB5A4}" type="datetimeFigureOut">
              <a:rPr lang="zh-CN" altLang="en-US" smtClean="0"/>
              <a:t>2024/12/19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578573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9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4.emf"/><Relationship Id="rId4" Type="http://schemas.openxmlformats.org/officeDocument/2006/relationships/image" Target="../media/image23.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5.png"/><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9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6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7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7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7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0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2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3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07774" y="0"/>
            <a:ext cx="10515600" cy="1325563"/>
          </a:xfrm>
        </p:spPr>
        <p:txBody>
          <a:bodyPr>
            <a:normAutofit/>
          </a:bodyPr>
          <a:lstStyle/>
          <a:p>
            <a:pPr algn="ctr"/>
            <a:r>
              <a:rPr lang="zh-CN" altLang="en-US" sz="4800" b="1" dirty="0">
                <a:solidFill>
                  <a:srgbClr val="FF0000"/>
                </a:solidFill>
                <a:latin typeface="黑体" panose="02010609060101010101" pitchFamily="49" charset="-122"/>
                <a:ea typeface="黑体" panose="02010609060101010101" pitchFamily="49" charset="-122"/>
              </a:rPr>
              <a:t>第</a:t>
            </a:r>
            <a:r>
              <a:rPr lang="en-US" altLang="zh-CN" sz="4800" b="1" dirty="0">
                <a:solidFill>
                  <a:srgbClr val="FF0000"/>
                </a:solidFill>
                <a:latin typeface="黑体" panose="02010609060101010101" pitchFamily="49" charset="-122"/>
                <a:ea typeface="黑体" panose="02010609060101010101" pitchFamily="49" charset="-122"/>
              </a:rPr>
              <a:t>4</a:t>
            </a:r>
            <a:r>
              <a:rPr lang="zh-CN" altLang="en-US" sz="4800" b="1" dirty="0">
                <a:solidFill>
                  <a:srgbClr val="FF0000"/>
                </a:solidFill>
                <a:latin typeface="黑体" panose="02010609060101010101" pitchFamily="49" charset="-122"/>
                <a:ea typeface="黑体" panose="02010609060101010101" pitchFamily="49" charset="-122"/>
              </a:rPr>
              <a:t>章 图形变换与裁剪</a:t>
            </a:r>
          </a:p>
        </p:txBody>
      </p:sp>
      <p:sp>
        <p:nvSpPr>
          <p:cNvPr id="3" name="内容占位符 2"/>
          <p:cNvSpPr>
            <a:spLocks noGrp="1"/>
          </p:cNvSpPr>
          <p:nvPr>
            <p:ph idx="1"/>
          </p:nvPr>
        </p:nvSpPr>
        <p:spPr>
          <a:xfrm>
            <a:off x="1103716" y="1780870"/>
            <a:ext cx="4454246" cy="4061130"/>
          </a:xfrm>
        </p:spPr>
        <p:txBody>
          <a:bodyPr>
            <a:normAutofit fontScale="92500"/>
          </a:bodyPr>
          <a:lstStyle/>
          <a:p>
            <a:pPr marL="0" indent="0">
              <a:lnSpc>
                <a:spcPct val="150000"/>
              </a:lnSpc>
              <a:buNone/>
            </a:pPr>
            <a:r>
              <a:rPr lang="zh-CN" altLang="en-US" sz="3600" dirty="0">
                <a:solidFill>
                  <a:srgbClr val="FF0000"/>
                </a:solidFill>
                <a:latin typeface="华光超粗黑_CNKI" panose="02000500000000000000" pitchFamily="2" charset="-122"/>
                <a:ea typeface="华光超粗黑_CNKI" panose="02000500000000000000" pitchFamily="2" charset="-122"/>
              </a:rPr>
              <a:t>主要内容：</a:t>
            </a:r>
            <a:r>
              <a:rPr lang="en-US" altLang="zh-CN" sz="3600" dirty="0">
                <a:solidFill>
                  <a:srgbClr val="FF0000"/>
                </a:solidFill>
                <a:latin typeface="华光超粗黑_CNKI" panose="02000500000000000000" pitchFamily="2" charset="-122"/>
                <a:ea typeface="华光超粗黑_CNKI" panose="02000500000000000000" pitchFamily="2" charset="-122"/>
              </a:rPr>
              <a:t>  </a:t>
            </a: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1</a:t>
            </a:r>
            <a:r>
              <a:rPr lang="zh-CN" altLang="en-US" sz="2800" dirty="0">
                <a:solidFill>
                  <a:srgbClr val="002060"/>
                </a:solidFill>
                <a:latin typeface="黑体" panose="02010609060101010101" pitchFamily="49" charset="-122"/>
                <a:ea typeface="黑体" panose="02010609060101010101" pitchFamily="49" charset="-122"/>
              </a:rPr>
              <a:t>）图形坐标系</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2</a:t>
            </a:r>
            <a:r>
              <a:rPr lang="zh-CN" altLang="en-US" sz="2800" dirty="0">
                <a:solidFill>
                  <a:srgbClr val="002060"/>
                </a:solidFill>
                <a:latin typeface="黑体" panose="02010609060101010101" pitchFamily="49" charset="-122"/>
                <a:ea typeface="黑体" panose="02010609060101010101" pitchFamily="49" charset="-122"/>
              </a:rPr>
              <a:t>）矢量表示</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3</a:t>
            </a:r>
            <a:r>
              <a:rPr lang="zh-CN" altLang="en-US" sz="2800" dirty="0">
                <a:solidFill>
                  <a:srgbClr val="002060"/>
                </a:solidFill>
                <a:latin typeface="黑体" panose="02010609060101010101" pitchFamily="49" charset="-122"/>
                <a:ea typeface="黑体" panose="02010609060101010101" pitchFamily="49" charset="-122"/>
              </a:rPr>
              <a:t>）图形矩阵变换</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4</a:t>
            </a:r>
            <a:r>
              <a:rPr lang="zh-CN" altLang="en-US" sz="2800" dirty="0">
                <a:solidFill>
                  <a:srgbClr val="002060"/>
                </a:solidFill>
                <a:latin typeface="黑体" panose="02010609060101010101" pitchFamily="49" charset="-122"/>
                <a:ea typeface="黑体" panose="02010609060101010101" pitchFamily="49" charset="-122"/>
              </a:rPr>
              <a:t>）图形裁剪</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5</a:t>
            </a:r>
            <a:r>
              <a:rPr lang="zh-CN" altLang="en-US" sz="2800" dirty="0">
                <a:solidFill>
                  <a:srgbClr val="002060"/>
                </a:solidFill>
                <a:latin typeface="黑体" panose="02010609060101010101" pitchFamily="49" charset="-122"/>
                <a:ea typeface="黑体" panose="02010609060101010101" pitchFamily="49" charset="-122"/>
              </a:rPr>
              <a:t>）图形消隐</a:t>
            </a:r>
            <a:endParaRPr lang="en-US" altLang="zh-CN" sz="2800" dirty="0">
              <a:solidFill>
                <a:srgbClr val="002060"/>
              </a:solidFill>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4C5830F6-5D20-871A-E89C-3D96A5D487AB}"/>
              </a:ext>
            </a:extLst>
          </p:cNvPr>
          <p:cNvSpPr txBox="1">
            <a:spLocks/>
          </p:cNvSpPr>
          <p:nvPr/>
        </p:nvSpPr>
        <p:spPr>
          <a:xfrm>
            <a:off x="4982627" y="1885563"/>
            <a:ext cx="6440747" cy="4061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Font typeface="Arial" panose="020B0604020202020204" pitchFamily="34" charset="0"/>
              <a:buNone/>
            </a:pP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Font typeface="Arial" panose="020B0604020202020204" pitchFamily="34" charset="0"/>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6</a:t>
            </a:r>
            <a:r>
              <a:rPr lang="zh-CN" altLang="en-US" sz="2800" dirty="0">
                <a:solidFill>
                  <a:srgbClr val="002060"/>
                </a:solidFill>
                <a:latin typeface="黑体" panose="02010609060101010101" pitchFamily="49" charset="-122"/>
                <a:ea typeface="黑体" panose="02010609060101010101" pitchFamily="49" charset="-122"/>
              </a:rPr>
              <a:t>）四元素</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Font typeface="Arial" panose="020B0604020202020204" pitchFamily="34" charset="0"/>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7</a:t>
            </a: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err="1">
                <a:solidFill>
                  <a:srgbClr val="002060"/>
                </a:solidFill>
                <a:latin typeface="黑体" panose="02010609060101010101" pitchFamily="49" charset="-122"/>
                <a:ea typeface="黑体" panose="02010609060101010101" pitchFamily="49" charset="-122"/>
              </a:rPr>
              <a:t>DirectXMath</a:t>
            </a:r>
            <a:r>
              <a:rPr lang="zh-CN" altLang="en-US" sz="2800" dirty="0">
                <a:solidFill>
                  <a:srgbClr val="002060"/>
                </a:solidFill>
                <a:latin typeface="黑体" panose="02010609060101010101" pitchFamily="49" charset="-122"/>
                <a:ea typeface="黑体" panose="02010609060101010101" pitchFamily="49" charset="-122"/>
              </a:rPr>
              <a:t>库介绍</a:t>
            </a:r>
            <a:endParaRPr lang="en-US" altLang="zh-CN" sz="2800" dirty="0">
              <a:solidFill>
                <a:srgbClr val="00206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94924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58687" y="1200647"/>
            <a:ext cx="6886168" cy="5231958"/>
          </a:xfrm>
        </p:spPr>
        <p:txBody>
          <a:bodyPr>
            <a:normAutofit lnSpcReduction="10000"/>
          </a:bodyPr>
          <a:lstStyle/>
          <a:p>
            <a:pPr marL="0" indent="0">
              <a:lnSpc>
                <a:spcPct val="150000"/>
              </a:lnSpc>
              <a:buNone/>
            </a:pPr>
            <a:r>
              <a:rPr lang="en-US" altLang="zh-CN" sz="3200" dirty="0">
                <a:solidFill>
                  <a:srgbClr val="FF0000"/>
                </a:solidFill>
                <a:latin typeface="华光仿宋_CNKI" panose="02000500000000000000" pitchFamily="2" charset="-122"/>
                <a:ea typeface="华光仿宋_CNKI" panose="02000500000000000000" pitchFamily="2" charset="-122"/>
              </a:rPr>
              <a:t>   </a:t>
            </a:r>
            <a:r>
              <a:rPr lang="zh-CN" altLang="en-US" sz="3200" dirty="0">
                <a:solidFill>
                  <a:srgbClr val="FF0000"/>
                </a:solidFill>
                <a:latin typeface="华光仿宋_CNKI" panose="02000500000000000000" pitchFamily="2" charset="-122"/>
                <a:ea typeface="华光仿宋_CNKI" panose="02000500000000000000" pitchFamily="2" charset="-122"/>
              </a:rPr>
              <a:t> </a:t>
            </a:r>
            <a:r>
              <a:rPr lang="zh-CN" altLang="en-US" sz="3200" b="1" dirty="0">
                <a:solidFill>
                  <a:srgbClr val="FF0000"/>
                </a:solidFill>
                <a:latin typeface="华光仿宋_CNKI" panose="02000500000000000000" pitchFamily="2" charset="-122"/>
                <a:ea typeface="华光仿宋_CNKI" panose="02000500000000000000" pitchFamily="2" charset="-122"/>
              </a:rPr>
              <a:t>对于</a:t>
            </a:r>
            <a:r>
              <a:rPr lang="en-US" altLang="zh-CN" sz="3200" b="1" dirty="0">
                <a:solidFill>
                  <a:srgbClr val="FF0000"/>
                </a:solidFill>
                <a:latin typeface="华光仿宋_CNKI" panose="02000500000000000000" pitchFamily="2" charset="-122"/>
                <a:ea typeface="华光仿宋_CNKI" panose="02000500000000000000" pitchFamily="2" charset="-122"/>
              </a:rPr>
              <a:t>2D</a:t>
            </a:r>
            <a:r>
              <a:rPr lang="zh-CN" altLang="en-US" sz="3200" b="1" dirty="0">
                <a:solidFill>
                  <a:srgbClr val="FF0000"/>
                </a:solidFill>
                <a:latin typeface="华光仿宋_CNKI" panose="02000500000000000000" pitchFamily="2" charset="-122"/>
                <a:ea typeface="华光仿宋_CNKI" panose="02000500000000000000" pitchFamily="2" charset="-122"/>
              </a:rPr>
              <a:t>图形来说</a:t>
            </a:r>
            <a:r>
              <a:rPr lang="zh-CN" altLang="en-US" sz="3200" dirty="0">
                <a:solidFill>
                  <a:srgbClr val="FF0000"/>
                </a:solidFill>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用户可以定义自己的世界坐标系，比如将屏幕的中央设置为坐标系的原点，垂直向上为</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坐标，水平向右为</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坐标。如右图所示。当然也可设定其它的坐标系。</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对于我们显示的窗体来说，一般窗体的左上角为坐标原点，垂直向下为</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坐标，水平向右为</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a:t>
            </a:r>
          </a:p>
        </p:txBody>
      </p:sp>
      <p:sp>
        <p:nvSpPr>
          <p:cNvPr id="4" name="文本框 3">
            <a:extLst>
              <a:ext uri="{FF2B5EF4-FFF2-40B4-BE49-F238E27FC236}">
                <a16:creationId xmlns:a16="http://schemas.microsoft.com/office/drawing/2014/main" id="{12CA2831-6636-41E0-B2E3-A7564BB03BFD}"/>
              </a:ext>
            </a:extLst>
          </p:cNvPr>
          <p:cNvSpPr txBox="1"/>
          <p:nvPr/>
        </p:nvSpPr>
        <p:spPr>
          <a:xfrm>
            <a:off x="4160851" y="82659"/>
            <a:ext cx="4331141" cy="1015663"/>
          </a:xfrm>
          <a:prstGeom prst="rect">
            <a:avLst/>
          </a:prstGeom>
          <a:noFill/>
        </p:spPr>
        <p:txBody>
          <a:bodyPr wrap="square">
            <a:spAutoFit/>
          </a:bodyPr>
          <a:lstStyle/>
          <a:p>
            <a:r>
              <a:rPr lang="zh-CN" altLang="en-US" sz="6000" dirty="0">
                <a:solidFill>
                  <a:srgbClr val="FF0000"/>
                </a:solidFill>
                <a:latin typeface="华光美黑_CNKI" panose="02000500000000000000" pitchFamily="2" charset="-122"/>
                <a:ea typeface="华光美黑_CNKI" panose="02000500000000000000" pitchFamily="2" charset="-122"/>
              </a:rPr>
              <a:t>图形坐标系</a:t>
            </a:r>
          </a:p>
        </p:txBody>
      </p:sp>
      <p:sp>
        <p:nvSpPr>
          <p:cNvPr id="2" name="矩形 1">
            <a:extLst>
              <a:ext uri="{FF2B5EF4-FFF2-40B4-BE49-F238E27FC236}">
                <a16:creationId xmlns:a16="http://schemas.microsoft.com/office/drawing/2014/main" id="{FFAEA580-A008-D33D-464A-F6C1C7C9626F}"/>
              </a:ext>
            </a:extLst>
          </p:cNvPr>
          <p:cNvSpPr/>
          <p:nvPr/>
        </p:nvSpPr>
        <p:spPr>
          <a:xfrm>
            <a:off x="8091302" y="1699329"/>
            <a:ext cx="3342011" cy="22738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箭头连接符 5">
            <a:extLst>
              <a:ext uri="{FF2B5EF4-FFF2-40B4-BE49-F238E27FC236}">
                <a16:creationId xmlns:a16="http://schemas.microsoft.com/office/drawing/2014/main" id="{BABE7EBA-1906-5EEF-B1E5-EFB4DDF23F9A}"/>
              </a:ext>
            </a:extLst>
          </p:cNvPr>
          <p:cNvCxnSpPr>
            <a:cxnSpLocks/>
          </p:cNvCxnSpPr>
          <p:nvPr/>
        </p:nvCxnSpPr>
        <p:spPr>
          <a:xfrm>
            <a:off x="8091302" y="4648200"/>
            <a:ext cx="0" cy="1784405"/>
          </a:xfrm>
          <a:prstGeom prst="straightConnector1">
            <a:avLst/>
          </a:prstGeom>
          <a:ln w="38100">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8" name="直接箭头连接符 7">
            <a:extLst>
              <a:ext uri="{FF2B5EF4-FFF2-40B4-BE49-F238E27FC236}">
                <a16:creationId xmlns:a16="http://schemas.microsoft.com/office/drawing/2014/main" id="{9E5E7744-0CCB-09BF-9FDE-9D56E604172C}"/>
              </a:ext>
            </a:extLst>
          </p:cNvPr>
          <p:cNvCxnSpPr/>
          <p:nvPr/>
        </p:nvCxnSpPr>
        <p:spPr>
          <a:xfrm>
            <a:off x="9743255" y="2751292"/>
            <a:ext cx="1331874" cy="0"/>
          </a:xfrm>
          <a:prstGeom prst="straightConnector1">
            <a:avLst/>
          </a:prstGeom>
          <a:ln w="38100">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9" name="文本框 8">
            <a:extLst>
              <a:ext uri="{FF2B5EF4-FFF2-40B4-BE49-F238E27FC236}">
                <a16:creationId xmlns:a16="http://schemas.microsoft.com/office/drawing/2014/main" id="{55C25BE4-282A-58AB-2308-EF6DC251A0D6}"/>
              </a:ext>
            </a:extLst>
          </p:cNvPr>
          <p:cNvSpPr txBox="1"/>
          <p:nvPr/>
        </p:nvSpPr>
        <p:spPr>
          <a:xfrm>
            <a:off x="10807267" y="2808244"/>
            <a:ext cx="535724" cy="369332"/>
          </a:xfrm>
          <a:prstGeom prst="rect">
            <a:avLst/>
          </a:prstGeom>
          <a:noFill/>
        </p:spPr>
        <p:txBody>
          <a:bodyPr wrap="none" rtlCol="0">
            <a:spAutoFit/>
          </a:bodyPr>
          <a:lstStyle/>
          <a:p>
            <a:r>
              <a:rPr lang="en-US" altLang="zh-CN" dirty="0">
                <a:solidFill>
                  <a:schemeClr val="bg1"/>
                </a:solidFill>
              </a:rPr>
              <a:t>X</a:t>
            </a:r>
            <a:r>
              <a:rPr lang="zh-CN" altLang="en-US" dirty="0">
                <a:solidFill>
                  <a:schemeClr val="bg1"/>
                </a:solidFill>
              </a:rPr>
              <a:t>轴</a:t>
            </a:r>
          </a:p>
        </p:txBody>
      </p:sp>
      <p:sp>
        <p:nvSpPr>
          <p:cNvPr id="10" name="文本框 9">
            <a:extLst>
              <a:ext uri="{FF2B5EF4-FFF2-40B4-BE49-F238E27FC236}">
                <a16:creationId xmlns:a16="http://schemas.microsoft.com/office/drawing/2014/main" id="{8E13C995-13B3-6E6B-0B7D-54ED3EDEAEC2}"/>
              </a:ext>
            </a:extLst>
          </p:cNvPr>
          <p:cNvSpPr txBox="1"/>
          <p:nvPr/>
        </p:nvSpPr>
        <p:spPr>
          <a:xfrm>
            <a:off x="9288030" y="1671313"/>
            <a:ext cx="527709" cy="369332"/>
          </a:xfrm>
          <a:prstGeom prst="rect">
            <a:avLst/>
          </a:prstGeom>
          <a:noFill/>
        </p:spPr>
        <p:txBody>
          <a:bodyPr wrap="none" rtlCol="0">
            <a:spAutoFit/>
          </a:bodyPr>
          <a:lstStyle/>
          <a:p>
            <a:r>
              <a:rPr lang="en-US" altLang="zh-CN" dirty="0">
                <a:solidFill>
                  <a:schemeClr val="bg1"/>
                </a:solidFill>
              </a:rPr>
              <a:t>Y</a:t>
            </a:r>
            <a:r>
              <a:rPr lang="zh-CN" altLang="en-US" dirty="0">
                <a:solidFill>
                  <a:schemeClr val="bg1"/>
                </a:solidFill>
              </a:rPr>
              <a:t>轴</a:t>
            </a:r>
          </a:p>
        </p:txBody>
      </p:sp>
      <p:sp>
        <p:nvSpPr>
          <p:cNvPr id="11" name="文本框 10">
            <a:extLst>
              <a:ext uri="{FF2B5EF4-FFF2-40B4-BE49-F238E27FC236}">
                <a16:creationId xmlns:a16="http://schemas.microsoft.com/office/drawing/2014/main" id="{DD769C90-757D-3010-B7AA-DC020B198488}"/>
              </a:ext>
            </a:extLst>
          </p:cNvPr>
          <p:cNvSpPr txBox="1"/>
          <p:nvPr/>
        </p:nvSpPr>
        <p:spPr>
          <a:xfrm>
            <a:off x="9494734" y="2705826"/>
            <a:ext cx="769763" cy="369332"/>
          </a:xfrm>
          <a:prstGeom prst="rect">
            <a:avLst/>
          </a:prstGeom>
          <a:noFill/>
        </p:spPr>
        <p:txBody>
          <a:bodyPr wrap="none" rtlCol="0">
            <a:spAutoFit/>
          </a:bodyPr>
          <a:lstStyle/>
          <a:p>
            <a:r>
              <a:rPr lang="en-US" altLang="zh-CN" dirty="0">
                <a:solidFill>
                  <a:schemeClr val="bg1"/>
                </a:solidFill>
              </a:rPr>
              <a:t>O(0,0)</a:t>
            </a:r>
            <a:endParaRPr lang="zh-CN" altLang="en-US" dirty="0">
              <a:solidFill>
                <a:schemeClr val="bg1"/>
              </a:solidFill>
            </a:endParaRPr>
          </a:p>
        </p:txBody>
      </p:sp>
      <p:sp>
        <p:nvSpPr>
          <p:cNvPr id="12" name="矩形 11">
            <a:extLst>
              <a:ext uri="{FF2B5EF4-FFF2-40B4-BE49-F238E27FC236}">
                <a16:creationId xmlns:a16="http://schemas.microsoft.com/office/drawing/2014/main" id="{DD46E96B-DD67-C1D3-F865-0014E26A4423}"/>
              </a:ext>
            </a:extLst>
          </p:cNvPr>
          <p:cNvSpPr/>
          <p:nvPr/>
        </p:nvSpPr>
        <p:spPr>
          <a:xfrm>
            <a:off x="8091302" y="4648200"/>
            <a:ext cx="3342011" cy="15049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窗口区</a:t>
            </a:r>
          </a:p>
        </p:txBody>
      </p:sp>
      <p:cxnSp>
        <p:nvCxnSpPr>
          <p:cNvPr id="13" name="直接箭头连接符 12">
            <a:extLst>
              <a:ext uri="{FF2B5EF4-FFF2-40B4-BE49-F238E27FC236}">
                <a16:creationId xmlns:a16="http://schemas.microsoft.com/office/drawing/2014/main" id="{9672FEAE-6653-7D2A-E9B9-E092BFBDAA79}"/>
              </a:ext>
            </a:extLst>
          </p:cNvPr>
          <p:cNvCxnSpPr/>
          <p:nvPr/>
        </p:nvCxnSpPr>
        <p:spPr>
          <a:xfrm flipV="1">
            <a:off x="9762307" y="1722062"/>
            <a:ext cx="1" cy="1051963"/>
          </a:xfrm>
          <a:prstGeom prst="straightConnector1">
            <a:avLst/>
          </a:prstGeom>
          <a:ln w="38100">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6" name="直接箭头连接符 15">
            <a:extLst>
              <a:ext uri="{FF2B5EF4-FFF2-40B4-BE49-F238E27FC236}">
                <a16:creationId xmlns:a16="http://schemas.microsoft.com/office/drawing/2014/main" id="{4020D9C8-70B2-99B3-48B8-4F46E82A51C4}"/>
              </a:ext>
            </a:extLst>
          </p:cNvPr>
          <p:cNvCxnSpPr>
            <a:cxnSpLocks/>
          </p:cNvCxnSpPr>
          <p:nvPr/>
        </p:nvCxnSpPr>
        <p:spPr>
          <a:xfrm>
            <a:off x="8091302" y="4648200"/>
            <a:ext cx="3766869" cy="0"/>
          </a:xfrm>
          <a:prstGeom prst="straightConnector1">
            <a:avLst/>
          </a:prstGeom>
          <a:ln w="38100">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8" name="文本框 17">
            <a:extLst>
              <a:ext uri="{FF2B5EF4-FFF2-40B4-BE49-F238E27FC236}">
                <a16:creationId xmlns:a16="http://schemas.microsoft.com/office/drawing/2014/main" id="{E1912E56-F8ED-4B5A-800B-99ED2DEB5F35}"/>
              </a:ext>
            </a:extLst>
          </p:cNvPr>
          <p:cNvSpPr txBox="1"/>
          <p:nvPr/>
        </p:nvSpPr>
        <p:spPr>
          <a:xfrm>
            <a:off x="11165452" y="4368745"/>
            <a:ext cx="535724" cy="369332"/>
          </a:xfrm>
          <a:prstGeom prst="rect">
            <a:avLst/>
          </a:prstGeom>
          <a:noFill/>
        </p:spPr>
        <p:txBody>
          <a:bodyPr wrap="none" rtlCol="0">
            <a:spAutoFit/>
          </a:bodyPr>
          <a:lstStyle/>
          <a:p>
            <a:r>
              <a:rPr lang="en-US" altLang="zh-CN" dirty="0"/>
              <a:t>X</a:t>
            </a:r>
            <a:r>
              <a:rPr lang="zh-CN" altLang="en-US" dirty="0"/>
              <a:t>轴</a:t>
            </a:r>
          </a:p>
        </p:txBody>
      </p:sp>
      <p:sp>
        <p:nvSpPr>
          <p:cNvPr id="19" name="文本框 18">
            <a:extLst>
              <a:ext uri="{FF2B5EF4-FFF2-40B4-BE49-F238E27FC236}">
                <a16:creationId xmlns:a16="http://schemas.microsoft.com/office/drawing/2014/main" id="{EAD1B558-D2A2-066B-9AE7-AAC826DAF215}"/>
              </a:ext>
            </a:extLst>
          </p:cNvPr>
          <p:cNvSpPr txBox="1"/>
          <p:nvPr/>
        </p:nvSpPr>
        <p:spPr>
          <a:xfrm>
            <a:off x="7504133" y="6151300"/>
            <a:ext cx="527709" cy="369332"/>
          </a:xfrm>
          <a:prstGeom prst="rect">
            <a:avLst/>
          </a:prstGeom>
          <a:noFill/>
        </p:spPr>
        <p:txBody>
          <a:bodyPr wrap="none" rtlCol="0">
            <a:spAutoFit/>
          </a:bodyPr>
          <a:lstStyle/>
          <a:p>
            <a:r>
              <a:rPr lang="en-US" altLang="zh-CN" dirty="0"/>
              <a:t>Y</a:t>
            </a:r>
            <a:r>
              <a:rPr lang="zh-CN" altLang="en-US" dirty="0"/>
              <a:t>轴</a:t>
            </a:r>
          </a:p>
        </p:txBody>
      </p:sp>
      <p:sp>
        <p:nvSpPr>
          <p:cNvPr id="20" name="文本框 19">
            <a:extLst>
              <a:ext uri="{FF2B5EF4-FFF2-40B4-BE49-F238E27FC236}">
                <a16:creationId xmlns:a16="http://schemas.microsoft.com/office/drawing/2014/main" id="{1A74ADD8-7298-4AE2-F3EE-1D6B33589F98}"/>
              </a:ext>
            </a:extLst>
          </p:cNvPr>
          <p:cNvSpPr txBox="1"/>
          <p:nvPr/>
        </p:nvSpPr>
        <p:spPr>
          <a:xfrm>
            <a:off x="7767987" y="4368745"/>
            <a:ext cx="769763" cy="369332"/>
          </a:xfrm>
          <a:prstGeom prst="rect">
            <a:avLst/>
          </a:prstGeom>
          <a:noFill/>
        </p:spPr>
        <p:txBody>
          <a:bodyPr wrap="none" rtlCol="0">
            <a:spAutoFit/>
          </a:bodyPr>
          <a:lstStyle/>
          <a:p>
            <a:r>
              <a:rPr lang="en-US" altLang="zh-CN" dirty="0"/>
              <a:t>O(0,0)</a:t>
            </a:r>
            <a:endParaRPr lang="zh-CN" altLang="en-US" dirty="0"/>
          </a:p>
        </p:txBody>
      </p:sp>
    </p:spTree>
    <p:extLst>
      <p:ext uri="{BB962C8B-B14F-4D97-AF65-F5344CB8AC3E}">
        <p14:creationId xmlns:p14="http://schemas.microsoft.com/office/powerpoint/2010/main" val="1824063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97455" y="747920"/>
            <a:ext cx="4422222" cy="5661245"/>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对于图形显示器而言，其左上角为</a:t>
            </a:r>
            <a:r>
              <a:rPr lang="en-US" altLang="zh-CN" dirty="0">
                <a:latin typeface="华光仿宋_CNKI" panose="02000500000000000000" pitchFamily="2" charset="-122"/>
                <a:ea typeface="华光仿宋_CNKI" panose="02000500000000000000" pitchFamily="2" charset="-122"/>
              </a:rPr>
              <a:t>0,0</a:t>
            </a:r>
            <a:r>
              <a:rPr lang="zh-CN" altLang="en-US" dirty="0">
                <a:latin typeface="华光仿宋_CNKI" panose="02000500000000000000" pitchFamily="2" charset="-122"/>
                <a:ea typeface="华光仿宋_CNKI" panose="02000500000000000000" pitchFamily="2" charset="-122"/>
              </a:rPr>
              <a:t>坐标原点，水平向右为</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轴，垂直向下为</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轴。其坐标轴的定义与窗体的定义类似。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但需要注意的是图形显示的窗口并不一定在图形显示器的坐标原点。而可能是任意位置。</a:t>
            </a:r>
          </a:p>
        </p:txBody>
      </p:sp>
      <p:pic>
        <p:nvPicPr>
          <p:cNvPr id="7" name="图片 6">
            <a:extLst>
              <a:ext uri="{FF2B5EF4-FFF2-40B4-BE49-F238E27FC236}">
                <a16:creationId xmlns:a16="http://schemas.microsoft.com/office/drawing/2014/main" id="{025A2DB0-462C-5A14-5E4A-203931C927FD}"/>
              </a:ext>
            </a:extLst>
          </p:cNvPr>
          <p:cNvPicPr>
            <a:picLocks noChangeAspect="1"/>
          </p:cNvPicPr>
          <p:nvPr/>
        </p:nvPicPr>
        <p:blipFill>
          <a:blip r:embed="rId2"/>
          <a:stretch>
            <a:fillRect/>
          </a:stretch>
        </p:blipFill>
        <p:spPr>
          <a:xfrm>
            <a:off x="5257801" y="1060670"/>
            <a:ext cx="6438900" cy="4962525"/>
          </a:xfrm>
          <a:prstGeom prst="rect">
            <a:avLst/>
          </a:prstGeom>
        </p:spPr>
      </p:pic>
      <p:sp>
        <p:nvSpPr>
          <p:cNvPr id="15" name="对话气泡: 椭圆形 14">
            <a:extLst>
              <a:ext uri="{FF2B5EF4-FFF2-40B4-BE49-F238E27FC236}">
                <a16:creationId xmlns:a16="http://schemas.microsoft.com/office/drawing/2014/main" id="{992D2A7D-4618-8806-C144-81D981874EAE}"/>
              </a:ext>
            </a:extLst>
          </p:cNvPr>
          <p:cNvSpPr/>
          <p:nvPr/>
        </p:nvSpPr>
        <p:spPr>
          <a:xfrm>
            <a:off x="5676900" y="304800"/>
            <a:ext cx="2686050" cy="466725"/>
          </a:xfrm>
          <a:prstGeom prst="wedgeEllipseCallout">
            <a:avLst>
              <a:gd name="adj1" fmla="val -64852"/>
              <a:gd name="adj2" fmla="val 11862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图形显示器坐标原点</a:t>
            </a:r>
          </a:p>
        </p:txBody>
      </p:sp>
      <p:sp>
        <p:nvSpPr>
          <p:cNvPr id="17" name="对话气泡: 椭圆形 16">
            <a:extLst>
              <a:ext uri="{FF2B5EF4-FFF2-40B4-BE49-F238E27FC236}">
                <a16:creationId xmlns:a16="http://schemas.microsoft.com/office/drawing/2014/main" id="{B90C42B6-DD07-5229-2AB7-1B36E9E43E81}"/>
              </a:ext>
            </a:extLst>
          </p:cNvPr>
          <p:cNvSpPr/>
          <p:nvPr/>
        </p:nvSpPr>
        <p:spPr>
          <a:xfrm>
            <a:off x="5734050" y="904874"/>
            <a:ext cx="2686050" cy="533400"/>
          </a:xfrm>
          <a:prstGeom prst="wedgeEllipseCallout">
            <a:avLst>
              <a:gd name="adj1" fmla="val -66980"/>
              <a:gd name="adj2" fmla="val 9604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窗体的坐标原点</a:t>
            </a:r>
          </a:p>
        </p:txBody>
      </p:sp>
      <p:sp>
        <p:nvSpPr>
          <p:cNvPr id="21" name="对话气泡: 椭圆形 20">
            <a:extLst>
              <a:ext uri="{FF2B5EF4-FFF2-40B4-BE49-F238E27FC236}">
                <a16:creationId xmlns:a16="http://schemas.microsoft.com/office/drawing/2014/main" id="{FD8C7C43-4810-191C-F7AC-3D7E756C0666}"/>
              </a:ext>
            </a:extLst>
          </p:cNvPr>
          <p:cNvSpPr/>
          <p:nvPr/>
        </p:nvSpPr>
        <p:spPr>
          <a:xfrm>
            <a:off x="7758112" y="2405061"/>
            <a:ext cx="2686050" cy="533400"/>
          </a:xfrm>
          <a:prstGeom prst="wedgeEllipseCallout">
            <a:avLst>
              <a:gd name="adj1" fmla="val -70349"/>
              <a:gd name="adj2" fmla="val -17984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窗体的坐标原点</a:t>
            </a:r>
          </a:p>
        </p:txBody>
      </p:sp>
      <p:sp>
        <p:nvSpPr>
          <p:cNvPr id="22" name="对话气泡: 椭圆形 21">
            <a:extLst>
              <a:ext uri="{FF2B5EF4-FFF2-40B4-BE49-F238E27FC236}">
                <a16:creationId xmlns:a16="http://schemas.microsoft.com/office/drawing/2014/main" id="{D4A5815B-C71D-3214-7F05-3131631DD972}"/>
              </a:ext>
            </a:extLst>
          </p:cNvPr>
          <p:cNvSpPr/>
          <p:nvPr/>
        </p:nvSpPr>
        <p:spPr>
          <a:xfrm>
            <a:off x="7672388" y="4765894"/>
            <a:ext cx="2686050" cy="533400"/>
          </a:xfrm>
          <a:prstGeom prst="wedgeEllipseCallout">
            <a:avLst>
              <a:gd name="adj1" fmla="val -66803"/>
              <a:gd name="adj2" fmla="val -7806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窗体的坐标原点</a:t>
            </a:r>
          </a:p>
        </p:txBody>
      </p:sp>
    </p:spTree>
    <p:extLst>
      <p:ext uri="{BB962C8B-B14F-4D97-AF65-F5344CB8AC3E}">
        <p14:creationId xmlns:p14="http://schemas.microsoft.com/office/powerpoint/2010/main" val="376891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835579" y="587817"/>
            <a:ext cx="10480122" cy="5908233"/>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GDI</a:t>
            </a:r>
            <a:r>
              <a:rPr lang="zh-CN" altLang="en-US" dirty="0">
                <a:latin typeface="华光仿宋_CNKI" panose="02000500000000000000" pitchFamily="2" charset="-122"/>
                <a:ea typeface="华光仿宋_CNKI" panose="02000500000000000000" pitchFamily="2" charset="-122"/>
              </a:rPr>
              <a:t>图形绘制时，</a:t>
            </a:r>
            <a:r>
              <a:rPr lang="en-US" altLang="zh-CN" dirty="0">
                <a:latin typeface="华光仿宋_CNKI" panose="02000500000000000000" pitchFamily="2" charset="-122"/>
                <a:ea typeface="华光仿宋_CNKI" panose="02000500000000000000" pitchFamily="2" charset="-122"/>
              </a:rPr>
              <a:t>GDI</a:t>
            </a:r>
            <a:r>
              <a:rPr lang="zh-CN" altLang="en-US" dirty="0">
                <a:latin typeface="华光仿宋_CNKI" panose="02000500000000000000" pitchFamily="2" charset="-122"/>
                <a:ea typeface="华光仿宋_CNKI" panose="02000500000000000000" pitchFamily="2" charset="-122"/>
              </a:rPr>
              <a:t>设备接口指针一般均与具体的窗体相关，因此其坐标均以窗体的左上角作为坐标原点进行计算，也就是采用窗口对应的坐标系。</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其他的图形引擎也采用类似的处理方法。</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sz="3200" b="1" dirty="0">
                <a:solidFill>
                  <a:srgbClr val="FF0000"/>
                </a:solidFill>
                <a:latin typeface="华光仿宋_CNKI" panose="02000500000000000000" pitchFamily="2" charset="-122"/>
                <a:ea typeface="华光仿宋_CNKI" panose="02000500000000000000" pitchFamily="2" charset="-122"/>
              </a:rPr>
              <a:t>对于</a:t>
            </a:r>
            <a:r>
              <a:rPr lang="en-US" altLang="zh-CN" sz="3200" b="1" dirty="0">
                <a:solidFill>
                  <a:srgbClr val="FF0000"/>
                </a:solidFill>
                <a:latin typeface="华光仿宋_CNKI" panose="02000500000000000000" pitchFamily="2" charset="-122"/>
                <a:ea typeface="华光仿宋_CNKI" panose="02000500000000000000" pitchFamily="2" charset="-122"/>
              </a:rPr>
              <a:t>3D</a:t>
            </a:r>
            <a:r>
              <a:rPr lang="zh-CN" altLang="en-US" sz="3200" b="1" dirty="0">
                <a:solidFill>
                  <a:srgbClr val="FF0000"/>
                </a:solidFill>
                <a:latin typeface="华光仿宋_CNKI" panose="02000500000000000000" pitchFamily="2" charset="-122"/>
                <a:ea typeface="华光仿宋_CNKI" panose="02000500000000000000" pitchFamily="2" charset="-122"/>
              </a:rPr>
              <a:t>图形而言</a:t>
            </a:r>
            <a:r>
              <a:rPr lang="zh-CN" altLang="en-US" sz="3200" dirty="0">
                <a:solidFill>
                  <a:srgbClr val="FF0000"/>
                </a:solidFill>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在描述每一个模型时，采用的是</a:t>
            </a:r>
            <a:r>
              <a:rPr lang="zh-CN" altLang="en-US" b="1" dirty="0">
                <a:solidFill>
                  <a:srgbClr val="FF0000"/>
                </a:solidFill>
                <a:latin typeface="华光仿宋_CNKI" panose="02000500000000000000" pitchFamily="2" charset="-122"/>
                <a:ea typeface="华光仿宋_CNKI" panose="02000500000000000000" pitchFamily="2" charset="-122"/>
              </a:rPr>
              <a:t>局部坐标系</a:t>
            </a:r>
            <a:r>
              <a:rPr lang="zh-CN" altLang="en-US" dirty="0">
                <a:latin typeface="华光仿宋_CNKI" panose="02000500000000000000" pitchFamily="2" charset="-122"/>
                <a:ea typeface="华光仿宋_CNKI" panose="02000500000000000000" pitchFamily="2" charset="-122"/>
              </a:rPr>
              <a:t>，也就是建模时采用的坐标系。</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但如果要构建一个大的场景，就必须把这些模型放在同一个坐标系下。因此需要将这些模型从</a:t>
            </a:r>
            <a:r>
              <a:rPr lang="zh-CN" altLang="en-US" b="1" dirty="0">
                <a:solidFill>
                  <a:srgbClr val="FF0000"/>
                </a:solidFill>
                <a:latin typeface="华光仿宋_CNKI" panose="02000500000000000000" pitchFamily="2" charset="-122"/>
                <a:ea typeface="华光仿宋_CNKI" panose="02000500000000000000" pitchFamily="2" charset="-122"/>
              </a:rPr>
              <a:t>局部坐标系</a:t>
            </a:r>
            <a:r>
              <a:rPr lang="zh-CN" altLang="en-US" dirty="0">
                <a:latin typeface="华光仿宋_CNKI" panose="02000500000000000000" pitchFamily="2" charset="-122"/>
                <a:ea typeface="华光仿宋_CNKI" panose="02000500000000000000" pitchFamily="2" charset="-122"/>
              </a:rPr>
              <a:t>变换到</a:t>
            </a:r>
            <a:r>
              <a:rPr lang="zh-CN" altLang="en-US" b="1" dirty="0">
                <a:solidFill>
                  <a:srgbClr val="FF0000"/>
                </a:solidFill>
                <a:latin typeface="华光仿宋_CNKI" panose="02000500000000000000" pitchFamily="2" charset="-122"/>
                <a:ea typeface="华光仿宋_CNKI" panose="02000500000000000000" pitchFamily="2" charset="-122"/>
              </a:rPr>
              <a:t>世界坐标系</a:t>
            </a:r>
            <a:r>
              <a:rPr lang="zh-CN" altLang="en-US" dirty="0">
                <a:latin typeface="华光仿宋_CNKI" panose="02000500000000000000" pitchFamily="2" charset="-122"/>
                <a:ea typeface="华光仿宋_CNKI" panose="02000500000000000000" pitchFamily="2" charset="-122"/>
              </a:rPr>
              <a:t>。</a:t>
            </a:r>
          </a:p>
        </p:txBody>
      </p:sp>
    </p:spTree>
    <p:extLst>
      <p:ext uri="{BB962C8B-B14F-4D97-AF65-F5344CB8AC3E}">
        <p14:creationId xmlns:p14="http://schemas.microsoft.com/office/powerpoint/2010/main" val="4185282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52462" y="531164"/>
            <a:ext cx="10887075" cy="5636274"/>
          </a:xfrm>
        </p:spPr>
        <p:txBody>
          <a:bodyPr>
            <a:normAutofit fontScale="92500"/>
          </a:bodyPr>
          <a:lstStyle/>
          <a:p>
            <a:pPr marL="0" indent="0">
              <a:lnSpc>
                <a:spcPct val="150000"/>
              </a:lnSpc>
              <a:buNone/>
            </a:pPr>
            <a:r>
              <a:rPr lang="zh-CN" altLang="en-US" dirty="0"/>
              <a:t>       </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场景中，人从不同的角度去观察这些实体，因此从人的角度来说，这些物体相对于人的眼睛而言其位置也不相同。人的眼睛所在的位置和方向也构成一个坐标系，称之为</a:t>
            </a:r>
            <a:r>
              <a:rPr lang="zh-CN" altLang="en-US" dirty="0">
                <a:solidFill>
                  <a:srgbClr val="FF0000"/>
                </a:solidFill>
                <a:latin typeface="华光超粗黑_CNKI" panose="02000500000000000000" pitchFamily="2" charset="-122"/>
                <a:ea typeface="华光超粗黑_CNKI" panose="02000500000000000000" pitchFamily="2" charset="-122"/>
              </a:rPr>
              <a:t>摄像机坐标系</a:t>
            </a:r>
            <a:r>
              <a:rPr lang="zh-CN" altLang="en-US" dirty="0"/>
              <a:t>。</a:t>
            </a:r>
            <a:endParaRPr lang="en-US" altLang="zh-CN" dirty="0"/>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所有的</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实体最终会显示在一个平面的显示器上，这些实体在屏幕上的位置为二维坐标。屏幕的左上角为坐标原点，水平向右为</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轴方向，垂直向下为为</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方向，该坐标系称之为</a:t>
            </a:r>
            <a:r>
              <a:rPr lang="zh-CN" altLang="en-US" dirty="0">
                <a:solidFill>
                  <a:srgbClr val="FF0000"/>
                </a:solidFill>
                <a:latin typeface="华光超粗黑_CNKI" panose="02000500000000000000" pitchFamily="2" charset="-122"/>
                <a:ea typeface="华光超粗黑_CNKI" panose="02000500000000000000" pitchFamily="2" charset="-122"/>
              </a:rPr>
              <a:t>投影坐标系，或者说屏幕坐标系</a:t>
            </a:r>
            <a:r>
              <a:rPr lang="zh-CN" altLang="en-US" dirty="0">
                <a:solidFill>
                  <a:srgbClr val="FF0000"/>
                </a:solidFill>
              </a:rPr>
              <a:t>。</a:t>
            </a:r>
            <a:endParaRPr lang="en-US" altLang="zh-CN" dirty="0">
              <a:solidFill>
                <a:srgbClr val="FF0000"/>
              </a:solidFill>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b="1" dirty="0">
                <a:latin typeface="华光仿宋_CNKI" panose="02000500000000000000" pitchFamily="2" charset="-122"/>
                <a:ea typeface="华光仿宋_CNKI" panose="02000500000000000000" pitchFamily="2" charset="-122"/>
              </a:rPr>
              <a:t>显然要显示一个实体，需要将物体所有的点在</a:t>
            </a:r>
            <a:r>
              <a:rPr lang="zh-CN" altLang="en-US" b="1" dirty="0">
                <a:solidFill>
                  <a:srgbClr val="FF0000"/>
                </a:solidFill>
                <a:latin typeface="华光超粗黑_CNKI" panose="02000500000000000000" pitchFamily="2" charset="-122"/>
                <a:ea typeface="华光超粗黑_CNKI" panose="02000500000000000000" pitchFamily="2" charset="-122"/>
              </a:rPr>
              <a:t>局部坐标系</a:t>
            </a:r>
            <a:r>
              <a:rPr lang="zh-CN" altLang="en-US" b="1" dirty="0">
                <a:latin typeface="华光仿宋_CNKI" panose="02000500000000000000" pitchFamily="2" charset="-122"/>
                <a:ea typeface="华光仿宋_CNKI" panose="02000500000000000000" pitchFamily="2" charset="-122"/>
              </a:rPr>
              <a:t>中的位置转换为在</a:t>
            </a:r>
            <a:r>
              <a:rPr lang="zh-CN" altLang="en-US" b="1" dirty="0">
                <a:solidFill>
                  <a:srgbClr val="FF0000"/>
                </a:solidFill>
                <a:latin typeface="华光超粗黑_CNKI" panose="02000500000000000000" pitchFamily="2" charset="-122"/>
                <a:ea typeface="华光超粗黑_CNKI" panose="02000500000000000000" pitchFamily="2" charset="-122"/>
              </a:rPr>
              <a:t>世界坐标系</a:t>
            </a:r>
            <a:r>
              <a:rPr lang="zh-CN" altLang="en-US" b="1" dirty="0">
                <a:latin typeface="华光仿宋_CNKI" panose="02000500000000000000" pitchFamily="2" charset="-122"/>
                <a:ea typeface="华光仿宋_CNKI" panose="02000500000000000000" pitchFamily="2" charset="-122"/>
              </a:rPr>
              <a:t>中的位置，然后再转换为</a:t>
            </a:r>
            <a:r>
              <a:rPr lang="zh-CN" altLang="en-US" b="1" dirty="0">
                <a:solidFill>
                  <a:srgbClr val="FF0000"/>
                </a:solidFill>
                <a:latin typeface="华光超粗黑_CNKI" panose="02000500000000000000" pitchFamily="2" charset="-122"/>
                <a:ea typeface="华光超粗黑_CNKI" panose="02000500000000000000" pitchFamily="2" charset="-122"/>
              </a:rPr>
              <a:t>摄像机坐标</a:t>
            </a:r>
            <a:r>
              <a:rPr lang="zh-CN" altLang="en-US" b="1" dirty="0">
                <a:latin typeface="华光仿宋_CNKI" panose="02000500000000000000" pitchFamily="2" charset="-122"/>
                <a:ea typeface="华光仿宋_CNKI" panose="02000500000000000000" pitchFamily="2" charset="-122"/>
              </a:rPr>
              <a:t>系</a:t>
            </a:r>
            <a:r>
              <a:rPr lang="zh-CN" altLang="en-US" dirty="0">
                <a:latin typeface="华光仿宋_CNKI" panose="02000500000000000000" pitchFamily="2" charset="-122"/>
                <a:ea typeface="华光仿宋_CNKI" panose="02000500000000000000" pitchFamily="2" charset="-122"/>
              </a:rPr>
              <a:t>中</a:t>
            </a:r>
            <a:r>
              <a:rPr lang="zh-CN" altLang="en-US" b="1" dirty="0">
                <a:latin typeface="华光仿宋_CNKI" panose="02000500000000000000" pitchFamily="2" charset="-122"/>
                <a:ea typeface="华光仿宋_CNKI" panose="02000500000000000000" pitchFamily="2" charset="-122"/>
              </a:rPr>
              <a:t>的位置，然后</a:t>
            </a:r>
            <a:endParaRPr lang="zh-CN" altLang="en-US"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693890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989275" y="610863"/>
            <a:ext cx="10515600" cy="5636274"/>
          </a:xfrm>
        </p:spPr>
        <p:txBody>
          <a:bodyPr>
            <a:normAutofit/>
          </a:bodyPr>
          <a:lstStyle/>
          <a:p>
            <a:pPr marL="0" indent="0">
              <a:lnSpc>
                <a:spcPct val="150000"/>
              </a:lnSpc>
              <a:buNone/>
            </a:pPr>
            <a:r>
              <a:rPr lang="zh-CN" altLang="en-US" b="1" dirty="0">
                <a:latin typeface="华光仿宋_CNKI" panose="02000500000000000000" pitchFamily="2" charset="-122"/>
                <a:ea typeface="华光仿宋_CNKI" panose="02000500000000000000" pitchFamily="2" charset="-122"/>
              </a:rPr>
              <a:t>再转换到二维的</a:t>
            </a:r>
            <a:r>
              <a:rPr lang="zh-CN" altLang="en-US" b="1" dirty="0">
                <a:solidFill>
                  <a:srgbClr val="FF0000"/>
                </a:solidFill>
                <a:latin typeface="华光超粗黑_CNKI" panose="02000500000000000000" pitchFamily="2" charset="-122"/>
                <a:ea typeface="华光超粗黑_CNKI" panose="02000500000000000000" pitchFamily="2" charset="-122"/>
              </a:rPr>
              <a:t>屏幕坐标系</a:t>
            </a:r>
            <a:r>
              <a:rPr lang="zh-CN" altLang="en-US" b="1" dirty="0">
                <a:latin typeface="华光仿宋_CNKI" panose="02000500000000000000" pitchFamily="2" charset="-122"/>
                <a:ea typeface="华光仿宋_CNKI" panose="02000500000000000000" pitchFamily="2" charset="-122"/>
              </a:rPr>
              <a:t>中的位置。这一系列的变换都可以通过矩阵变换来完成。</a:t>
            </a:r>
            <a:endParaRPr lang="en-US" altLang="zh-CN" b="1"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4000" b="1" dirty="0">
                <a:solidFill>
                  <a:srgbClr val="FF0000"/>
                </a:solidFill>
              </a:rPr>
              <a:t>思  考：</a:t>
            </a:r>
            <a:endParaRPr lang="en-US" altLang="zh-CN" sz="4000" b="1" dirty="0">
              <a:solidFill>
                <a:srgbClr val="FF0000"/>
              </a:solidFill>
            </a:endParaRPr>
          </a:p>
          <a:p>
            <a:pPr marL="0" indent="0">
              <a:lnSpc>
                <a:spcPct val="150000"/>
              </a:lnSpc>
              <a:buNone/>
            </a:pPr>
            <a:r>
              <a:rPr lang="en-US" altLang="zh-CN" b="1" dirty="0">
                <a:solidFill>
                  <a:srgbClr val="002060"/>
                </a:solidFill>
              </a:rPr>
              <a:t>       </a:t>
            </a:r>
            <a:r>
              <a:rPr lang="zh-CN" altLang="en-US" b="1" dirty="0">
                <a:solidFill>
                  <a:srgbClr val="002060"/>
                </a:solidFill>
                <a:latin typeface="华光仿宋_CNKI" panose="02000500000000000000" pitchFamily="2" charset="-122"/>
                <a:ea typeface="华光仿宋_CNKI" panose="02000500000000000000" pitchFamily="2" charset="-122"/>
              </a:rPr>
              <a:t>在已知某个点在局部坐标系中的位置，该局部坐标系在世界坐标系中的位置和方向，摄像头在世界坐标系的位置和方向以及摄像头将物体投影到平面的投影矩阵，如何计算该点最后在屏幕上的位置？</a:t>
            </a:r>
            <a:endParaRPr lang="en-US" altLang="zh-CN" b="1" dirty="0">
              <a:solidFill>
                <a:srgbClr val="002060"/>
              </a:solidFill>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754902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a:extLst>
              <a:ext uri="{FF2B5EF4-FFF2-40B4-BE49-F238E27FC236}">
                <a16:creationId xmlns:a16="http://schemas.microsoft.com/office/drawing/2014/main" id="{CAE144D4-B9E6-4C4B-9A8A-838056706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4814" y="677186"/>
            <a:ext cx="4343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56B7975F-0954-453F-8A5B-04FA7DA09847}"/>
              </a:ext>
            </a:extLst>
          </p:cNvPr>
          <p:cNvSpPr>
            <a:spLocks noGrp="1"/>
          </p:cNvSpPr>
          <p:nvPr>
            <p:ph idx="1"/>
          </p:nvPr>
        </p:nvSpPr>
        <p:spPr>
          <a:xfrm>
            <a:off x="703027" y="297449"/>
            <a:ext cx="6938176" cy="5636274"/>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设物体上某点在其局部坐标系中的位置为</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x,y,z</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mWorld</a:t>
            </a:r>
            <a:r>
              <a:rPr lang="zh-CN" altLang="en-US" dirty="0">
                <a:latin typeface="华光仿宋_CNKI" panose="02000500000000000000" pitchFamily="2" charset="-122"/>
                <a:ea typeface="华光仿宋_CNKI" panose="02000500000000000000" pitchFamily="2" charset="-122"/>
              </a:rPr>
              <a:t>为将该物体从局部坐标系转换到世界坐标系的转换矩阵，</a:t>
            </a:r>
            <a:r>
              <a:rPr lang="en-US" altLang="zh-CN" dirty="0" err="1">
                <a:latin typeface="华光仿宋_CNKI" panose="02000500000000000000" pitchFamily="2" charset="-122"/>
                <a:ea typeface="华光仿宋_CNKI" panose="02000500000000000000" pitchFamily="2" charset="-122"/>
              </a:rPr>
              <a:t>mView</a:t>
            </a:r>
            <a:r>
              <a:rPr lang="zh-CN" altLang="en-US" dirty="0">
                <a:latin typeface="华光仿宋_CNKI" panose="02000500000000000000" pitchFamily="2" charset="-122"/>
                <a:ea typeface="华光仿宋_CNKI" panose="02000500000000000000" pitchFamily="2" charset="-122"/>
              </a:rPr>
              <a:t>为将该物体从世界坐标系转换到摄像机坐标系的转换矩阵，</a:t>
            </a:r>
            <a:r>
              <a:rPr lang="en-US" altLang="zh-CN" dirty="0" err="1">
                <a:latin typeface="华光仿宋_CNKI" panose="02000500000000000000" pitchFamily="2" charset="-122"/>
                <a:ea typeface="华光仿宋_CNKI" panose="02000500000000000000" pitchFamily="2" charset="-122"/>
              </a:rPr>
              <a:t>mProj</a:t>
            </a:r>
            <a:r>
              <a:rPr lang="zh-CN" altLang="en-US" dirty="0">
                <a:latin typeface="华光仿宋_CNKI" panose="02000500000000000000" pitchFamily="2" charset="-122"/>
                <a:ea typeface="华光仿宋_CNKI" panose="02000500000000000000" pitchFamily="2" charset="-122"/>
              </a:rPr>
              <a:t>为将该物体从摄像机坐标系转换到屏幕坐标系的转换矩阵，则物体上该点在屏幕上的位置为：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(x,y,z,1)* </a:t>
            </a:r>
            <a:r>
              <a:rPr lang="en-US" altLang="zh-CN" dirty="0" err="1">
                <a:latin typeface="华光仿宋_CNKI" panose="02000500000000000000" pitchFamily="2" charset="-122"/>
                <a:ea typeface="华光仿宋_CNKI" panose="02000500000000000000" pitchFamily="2" charset="-122"/>
              </a:rPr>
              <a:t>mWorld</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mView</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mProj</a:t>
            </a:r>
            <a:endParaRPr lang="zh-CN" altLang="en-US" dirty="0">
              <a:latin typeface="华光仿宋_CNKI" panose="02000500000000000000" pitchFamily="2" charset="-122"/>
              <a:ea typeface="华光仿宋_CNKI" panose="02000500000000000000" pitchFamily="2" charset="-122"/>
            </a:endParaRPr>
          </a:p>
        </p:txBody>
      </p:sp>
      <p:pic>
        <p:nvPicPr>
          <p:cNvPr id="3" name="图片 2">
            <a:extLst>
              <a:ext uri="{FF2B5EF4-FFF2-40B4-BE49-F238E27FC236}">
                <a16:creationId xmlns:a16="http://schemas.microsoft.com/office/drawing/2014/main" id="{7615BAD2-CFAF-5F3A-AD16-AEC7D8D2A9E0}"/>
              </a:ext>
            </a:extLst>
          </p:cNvPr>
          <p:cNvPicPr>
            <a:picLocks noChangeAspect="1"/>
          </p:cNvPicPr>
          <p:nvPr/>
        </p:nvPicPr>
        <p:blipFill>
          <a:blip r:embed="rId3"/>
          <a:stretch>
            <a:fillRect/>
          </a:stretch>
        </p:blipFill>
        <p:spPr>
          <a:xfrm>
            <a:off x="8237552" y="3429000"/>
            <a:ext cx="3085106" cy="2438400"/>
          </a:xfrm>
          <a:prstGeom prst="rect">
            <a:avLst/>
          </a:prstGeom>
        </p:spPr>
      </p:pic>
    </p:spTree>
    <p:extLst>
      <p:ext uri="{BB962C8B-B14F-4D97-AF65-F5344CB8AC3E}">
        <p14:creationId xmlns:p14="http://schemas.microsoft.com/office/powerpoint/2010/main" val="1097381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79AD652-678F-8D14-005D-E3DCB11F6F47}"/>
              </a:ext>
            </a:extLst>
          </p:cNvPr>
          <p:cNvPicPr>
            <a:picLocks noChangeAspect="1"/>
          </p:cNvPicPr>
          <p:nvPr/>
        </p:nvPicPr>
        <p:blipFill>
          <a:blip r:embed="rId2"/>
          <a:stretch>
            <a:fillRect/>
          </a:stretch>
        </p:blipFill>
        <p:spPr>
          <a:xfrm>
            <a:off x="1486894" y="832898"/>
            <a:ext cx="8468139" cy="5456583"/>
          </a:xfrm>
          <a:prstGeom prst="rect">
            <a:avLst/>
          </a:prstGeom>
        </p:spPr>
      </p:pic>
    </p:spTree>
    <p:extLst>
      <p:ext uri="{BB962C8B-B14F-4D97-AF65-F5344CB8AC3E}">
        <p14:creationId xmlns:p14="http://schemas.microsoft.com/office/powerpoint/2010/main" val="786790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CF784C3-E48B-EB7B-0DE7-F396831F0079}"/>
              </a:ext>
            </a:extLst>
          </p:cNvPr>
          <p:cNvPicPr>
            <a:picLocks noChangeAspect="1"/>
          </p:cNvPicPr>
          <p:nvPr/>
        </p:nvPicPr>
        <p:blipFill>
          <a:blip r:embed="rId2"/>
          <a:stretch>
            <a:fillRect/>
          </a:stretch>
        </p:blipFill>
        <p:spPr>
          <a:xfrm>
            <a:off x="2156199" y="343285"/>
            <a:ext cx="7752381" cy="6171429"/>
          </a:xfrm>
          <a:prstGeom prst="rect">
            <a:avLst/>
          </a:prstGeom>
        </p:spPr>
      </p:pic>
    </p:spTree>
    <p:extLst>
      <p:ext uri="{BB962C8B-B14F-4D97-AF65-F5344CB8AC3E}">
        <p14:creationId xmlns:p14="http://schemas.microsoft.com/office/powerpoint/2010/main" val="3274014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3188CF28-1267-7514-FB70-0206729839B0}"/>
              </a:ext>
            </a:extLst>
          </p:cNvPr>
          <p:cNvGrpSpPr/>
          <p:nvPr/>
        </p:nvGrpSpPr>
        <p:grpSpPr>
          <a:xfrm>
            <a:off x="1599537" y="669527"/>
            <a:ext cx="9828629" cy="5105400"/>
            <a:chOff x="1742661" y="379013"/>
            <a:chExt cx="9828629" cy="5105400"/>
          </a:xfrm>
        </p:grpSpPr>
        <p:sp>
          <p:nvSpPr>
            <p:cNvPr id="26626" name="AutoShape 5" descr="Viewing frustrum">
              <a:extLst>
                <a:ext uri="{FF2B5EF4-FFF2-40B4-BE49-F238E27FC236}">
                  <a16:creationId xmlns:a16="http://schemas.microsoft.com/office/drawing/2014/main" id="{2816EC66-6C8E-4FC0-9D50-882AB3FC631A}"/>
                </a:ext>
              </a:extLst>
            </p:cNvPr>
            <p:cNvSpPr>
              <a:spLocks noChangeAspect="1" noChangeArrowheads="1"/>
            </p:cNvSpPr>
            <p:nvPr/>
          </p:nvSpPr>
          <p:spPr bwMode="auto">
            <a:xfrm>
              <a:off x="5705061" y="30460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27" name="AutoShape 7" descr="Viewing frustrum">
              <a:extLst>
                <a:ext uri="{FF2B5EF4-FFF2-40B4-BE49-F238E27FC236}">
                  <a16:creationId xmlns:a16="http://schemas.microsoft.com/office/drawing/2014/main" id="{9B54378A-EAA1-4244-A5D2-E063ED3FE341}"/>
                </a:ext>
              </a:extLst>
            </p:cNvPr>
            <p:cNvSpPr>
              <a:spLocks noChangeAspect="1" noChangeArrowheads="1"/>
            </p:cNvSpPr>
            <p:nvPr/>
          </p:nvSpPr>
          <p:spPr bwMode="auto">
            <a:xfrm>
              <a:off x="5705061" y="30460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26628" name="Picture 8">
              <a:extLst>
                <a:ext uri="{FF2B5EF4-FFF2-40B4-BE49-F238E27FC236}">
                  <a16:creationId xmlns:a16="http://schemas.microsoft.com/office/drawing/2014/main" id="{3145E268-2E2F-4B27-A823-767D1E7AE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2661" y="379013"/>
              <a:ext cx="8458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 Box 10">
              <a:extLst>
                <a:ext uri="{FF2B5EF4-FFF2-40B4-BE49-F238E27FC236}">
                  <a16:creationId xmlns:a16="http://schemas.microsoft.com/office/drawing/2014/main" id="{11AC9E99-DC80-4695-9700-E8608853C3F4}"/>
                </a:ext>
              </a:extLst>
            </p:cNvPr>
            <p:cNvSpPr txBox="1">
              <a:spLocks noChangeArrowheads="1"/>
            </p:cNvSpPr>
            <p:nvPr/>
          </p:nvSpPr>
          <p:spPr bwMode="auto">
            <a:xfrm>
              <a:off x="3571461" y="988614"/>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前裁剪面</a:t>
              </a:r>
            </a:p>
          </p:txBody>
        </p:sp>
        <p:sp>
          <p:nvSpPr>
            <p:cNvPr id="26630" name="Text Box 11">
              <a:extLst>
                <a:ext uri="{FF2B5EF4-FFF2-40B4-BE49-F238E27FC236}">
                  <a16:creationId xmlns:a16="http://schemas.microsoft.com/office/drawing/2014/main" id="{B59D746A-9BF7-459A-B600-1F079373DEB8}"/>
                </a:ext>
              </a:extLst>
            </p:cNvPr>
            <p:cNvSpPr txBox="1">
              <a:spLocks noChangeArrowheads="1"/>
            </p:cNvSpPr>
            <p:nvPr/>
          </p:nvSpPr>
          <p:spPr bwMode="auto">
            <a:xfrm>
              <a:off x="8295861" y="1750614"/>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后裁剪面</a:t>
              </a:r>
            </a:p>
          </p:txBody>
        </p:sp>
        <p:sp>
          <p:nvSpPr>
            <p:cNvPr id="26631" name="Freeform 14">
              <a:extLst>
                <a:ext uri="{FF2B5EF4-FFF2-40B4-BE49-F238E27FC236}">
                  <a16:creationId xmlns:a16="http://schemas.microsoft.com/office/drawing/2014/main" id="{516262BE-9E6D-47E8-9C6A-494FBA8C62B0}"/>
                </a:ext>
              </a:extLst>
            </p:cNvPr>
            <p:cNvSpPr>
              <a:spLocks/>
            </p:cNvSpPr>
            <p:nvPr/>
          </p:nvSpPr>
          <p:spPr bwMode="auto">
            <a:xfrm>
              <a:off x="5019261" y="3503213"/>
              <a:ext cx="228600" cy="838200"/>
            </a:xfrm>
            <a:custGeom>
              <a:avLst/>
              <a:gdLst>
                <a:gd name="T0" fmla="*/ 0 w 144"/>
                <a:gd name="T1" fmla="*/ 0 h 528"/>
                <a:gd name="T2" fmla="*/ 362902500 w 144"/>
                <a:gd name="T3" fmla="*/ 604837500 h 528"/>
                <a:gd name="T4" fmla="*/ 0 w 144"/>
                <a:gd name="T5" fmla="*/ 1330642500 h 528"/>
                <a:gd name="T6" fmla="*/ 0 60000 65536"/>
                <a:gd name="T7" fmla="*/ 0 60000 65536"/>
                <a:gd name="T8" fmla="*/ 0 60000 65536"/>
              </a:gdLst>
              <a:ahLst/>
              <a:cxnLst>
                <a:cxn ang="T6">
                  <a:pos x="T0" y="T1"/>
                </a:cxn>
                <a:cxn ang="T7">
                  <a:pos x="T2" y="T3"/>
                </a:cxn>
                <a:cxn ang="T8">
                  <a:pos x="T4" y="T5"/>
                </a:cxn>
              </a:cxnLst>
              <a:rect l="0" t="0" r="r" b="b"/>
              <a:pathLst>
                <a:path w="144" h="528">
                  <a:moveTo>
                    <a:pt x="0" y="0"/>
                  </a:moveTo>
                  <a:cubicBezTo>
                    <a:pt x="72" y="76"/>
                    <a:pt x="144" y="152"/>
                    <a:pt x="144" y="240"/>
                  </a:cubicBezTo>
                  <a:cubicBezTo>
                    <a:pt x="144" y="328"/>
                    <a:pt x="72" y="428"/>
                    <a:pt x="0" y="528"/>
                  </a:cubicBezTo>
                </a:path>
              </a:pathLst>
            </a:custGeom>
            <a:noFill/>
            <a:ln w="9525">
              <a:solidFill>
                <a:srgbClr val="FF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2" name="Text Box 15">
              <a:extLst>
                <a:ext uri="{FF2B5EF4-FFF2-40B4-BE49-F238E27FC236}">
                  <a16:creationId xmlns:a16="http://schemas.microsoft.com/office/drawing/2014/main" id="{B0B04117-9055-4F00-A7AD-F055CF060CA6}"/>
                </a:ext>
              </a:extLst>
            </p:cNvPr>
            <p:cNvSpPr txBox="1">
              <a:spLocks noChangeArrowheads="1"/>
            </p:cNvSpPr>
            <p:nvPr/>
          </p:nvSpPr>
          <p:spPr bwMode="auto">
            <a:xfrm>
              <a:off x="5324061" y="3731814"/>
              <a:ext cx="2590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视角垂直观察角度</a:t>
              </a:r>
              <a:r>
                <a:rPr lang="en-US" altLang="zh-CN" sz="1800" dirty="0">
                  <a:solidFill>
                    <a:srgbClr val="FF0000"/>
                  </a:solidFill>
                </a:rPr>
                <a:t>V</a:t>
              </a:r>
            </a:p>
          </p:txBody>
        </p:sp>
        <p:sp>
          <p:nvSpPr>
            <p:cNvPr id="26633" name="Freeform 18">
              <a:extLst>
                <a:ext uri="{FF2B5EF4-FFF2-40B4-BE49-F238E27FC236}">
                  <a16:creationId xmlns:a16="http://schemas.microsoft.com/office/drawing/2014/main" id="{A7976850-6CDD-45EA-B9F8-44D9C3D24082}"/>
                </a:ext>
              </a:extLst>
            </p:cNvPr>
            <p:cNvSpPr>
              <a:spLocks/>
            </p:cNvSpPr>
            <p:nvPr/>
          </p:nvSpPr>
          <p:spPr bwMode="auto">
            <a:xfrm>
              <a:off x="6086061" y="2436413"/>
              <a:ext cx="622300" cy="546100"/>
            </a:xfrm>
            <a:custGeom>
              <a:avLst/>
              <a:gdLst>
                <a:gd name="T0" fmla="*/ 0 w 392"/>
                <a:gd name="T1" fmla="*/ 20161250 h 344"/>
                <a:gd name="T2" fmla="*/ 846772500 w 392"/>
                <a:gd name="T3" fmla="*/ 141128750 h 344"/>
                <a:gd name="T4" fmla="*/ 846772500 w 392"/>
                <a:gd name="T5" fmla="*/ 866933750 h 344"/>
                <a:gd name="T6" fmla="*/ 0 60000 65536"/>
                <a:gd name="T7" fmla="*/ 0 60000 65536"/>
                <a:gd name="T8" fmla="*/ 0 60000 65536"/>
              </a:gdLst>
              <a:ahLst/>
              <a:cxnLst>
                <a:cxn ang="T6">
                  <a:pos x="T0" y="T1"/>
                </a:cxn>
                <a:cxn ang="T7">
                  <a:pos x="T2" y="T3"/>
                </a:cxn>
                <a:cxn ang="T8">
                  <a:pos x="T4" y="T5"/>
                </a:cxn>
              </a:cxnLst>
              <a:rect l="0" t="0" r="r" b="b"/>
              <a:pathLst>
                <a:path w="392" h="344">
                  <a:moveTo>
                    <a:pt x="0" y="8"/>
                  </a:moveTo>
                  <a:cubicBezTo>
                    <a:pt x="140" y="4"/>
                    <a:pt x="280" y="0"/>
                    <a:pt x="336" y="56"/>
                  </a:cubicBezTo>
                  <a:cubicBezTo>
                    <a:pt x="392" y="112"/>
                    <a:pt x="336" y="296"/>
                    <a:pt x="336" y="344"/>
                  </a:cubicBezTo>
                </a:path>
              </a:pathLst>
            </a:custGeom>
            <a:noFill/>
            <a:ln w="9525">
              <a:solidFill>
                <a:srgbClr val="FF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4" name="Text Box 19">
              <a:extLst>
                <a:ext uri="{FF2B5EF4-FFF2-40B4-BE49-F238E27FC236}">
                  <a16:creationId xmlns:a16="http://schemas.microsoft.com/office/drawing/2014/main" id="{E541934A-3F47-4853-8A95-708BCBB0881D}"/>
                </a:ext>
              </a:extLst>
            </p:cNvPr>
            <p:cNvSpPr txBox="1">
              <a:spLocks noChangeArrowheads="1"/>
            </p:cNvSpPr>
            <p:nvPr/>
          </p:nvSpPr>
          <p:spPr bwMode="auto">
            <a:xfrm>
              <a:off x="6695661" y="2436414"/>
              <a:ext cx="2590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视角水平范围</a:t>
              </a:r>
              <a:r>
                <a:rPr lang="en-US" altLang="zh-CN" sz="1800">
                  <a:solidFill>
                    <a:srgbClr val="FF0000"/>
                  </a:solidFill>
                </a:rPr>
                <a:t>h</a:t>
              </a:r>
            </a:p>
          </p:txBody>
        </p:sp>
        <p:sp>
          <p:nvSpPr>
            <p:cNvPr id="2" name="文本框 1">
              <a:extLst>
                <a:ext uri="{FF2B5EF4-FFF2-40B4-BE49-F238E27FC236}">
                  <a16:creationId xmlns:a16="http://schemas.microsoft.com/office/drawing/2014/main" id="{2BCD2015-B864-4AA9-9E32-C88833542CCD}"/>
                </a:ext>
              </a:extLst>
            </p:cNvPr>
            <p:cNvSpPr txBox="1"/>
            <p:nvPr/>
          </p:nvSpPr>
          <p:spPr>
            <a:xfrm>
              <a:off x="9591261" y="2998287"/>
              <a:ext cx="1980029" cy="523220"/>
            </a:xfrm>
            <a:prstGeom prst="rect">
              <a:avLst/>
            </a:prstGeom>
            <a:noFill/>
          </p:spPr>
          <p:txBody>
            <a:bodyPr wrap="none" rtlCol="0">
              <a:spAutoFit/>
            </a:bodyPr>
            <a:lstStyle/>
            <a:p>
              <a:r>
                <a:rPr lang="zh-CN" altLang="en-US" sz="2800" dirty="0">
                  <a:solidFill>
                    <a:srgbClr val="FF0000"/>
                  </a:solidFill>
                </a:rPr>
                <a:t>虚拟摄像机</a:t>
              </a:r>
            </a:p>
          </p:txBody>
        </p:sp>
      </p:grpSp>
      <p:sp>
        <p:nvSpPr>
          <p:cNvPr id="26635" name="Text Box 20">
            <a:extLst>
              <a:ext uri="{FF2B5EF4-FFF2-40B4-BE49-F238E27FC236}">
                <a16:creationId xmlns:a16="http://schemas.microsoft.com/office/drawing/2014/main" id="{FA1D5F2A-84F2-48D6-B15C-7893CC404790}"/>
              </a:ext>
            </a:extLst>
          </p:cNvPr>
          <p:cNvSpPr txBox="1">
            <a:spLocks noChangeArrowheads="1"/>
          </p:cNvSpPr>
          <p:nvPr/>
        </p:nvSpPr>
        <p:spPr bwMode="auto">
          <a:xfrm>
            <a:off x="6785775" y="662318"/>
            <a:ext cx="2286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观察区域：视截体</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EEAADE25-2FC8-4CD8-93B3-5BF53A7A44F4}"/>
              </a:ext>
            </a:extLst>
          </p:cNvPr>
          <p:cNvSpPr>
            <a:spLocks noGrp="1" noChangeArrowheads="1"/>
          </p:cNvSpPr>
          <p:nvPr>
            <p:ph type="body" idx="1"/>
          </p:nvPr>
        </p:nvSpPr>
        <p:spPr>
          <a:xfrm>
            <a:off x="1184744" y="457200"/>
            <a:ext cx="10455966" cy="2362200"/>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上述图形可想象成你站在一个玻璃窗前所看到的内容。玻璃窗相当于近裁剪面，而远裁剪面则相当于你的视力所能看到的最远的距离。上述模型还可用下面的图形来表示。</a:t>
            </a:r>
          </a:p>
        </p:txBody>
      </p:sp>
      <p:pic>
        <p:nvPicPr>
          <p:cNvPr id="27651" name="Picture 4">
            <a:extLst>
              <a:ext uri="{FF2B5EF4-FFF2-40B4-BE49-F238E27FC236}">
                <a16:creationId xmlns:a16="http://schemas.microsoft.com/office/drawing/2014/main" id="{34C0B94B-9107-48A9-9ACF-460D6FF12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667000"/>
            <a:ext cx="70104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498B0DF-C8D5-485D-AD1F-BED3BDF57743}"/>
              </a:ext>
            </a:extLst>
          </p:cNvPr>
          <p:cNvSpPr txBox="1"/>
          <p:nvPr/>
        </p:nvSpPr>
        <p:spPr>
          <a:xfrm>
            <a:off x="9723120" y="3941770"/>
            <a:ext cx="1620957" cy="523220"/>
          </a:xfrm>
          <a:prstGeom prst="rect">
            <a:avLst/>
          </a:prstGeom>
          <a:noFill/>
        </p:spPr>
        <p:txBody>
          <a:bodyPr wrap="none" rtlCol="0">
            <a:spAutoFit/>
          </a:bodyPr>
          <a:lstStyle/>
          <a:p>
            <a:r>
              <a:rPr lang="zh-CN" altLang="en-US" sz="2800" dirty="0">
                <a:solidFill>
                  <a:srgbClr val="FF0000"/>
                </a:solidFill>
              </a:rPr>
              <a:t>投影变换</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2184399" y="2129561"/>
            <a:ext cx="9071429" cy="1564324"/>
          </a:xfrm>
        </p:spPr>
        <p:txBody>
          <a:bodyPr>
            <a:normAutofit/>
          </a:bodyPr>
          <a:lstStyle/>
          <a:p>
            <a:pPr marL="0" indent="0">
              <a:lnSpc>
                <a:spcPct val="150000"/>
              </a:lnSpc>
              <a:buNone/>
            </a:pPr>
            <a:r>
              <a:rPr lang="zh-CN" altLang="en-US" sz="6000" dirty="0">
                <a:solidFill>
                  <a:srgbClr val="FF0000"/>
                </a:solidFill>
                <a:latin typeface="华光超粗黑_CNKI" panose="02000500000000000000" pitchFamily="2" charset="-122"/>
                <a:ea typeface="华光超粗黑_CNKI" panose="02000500000000000000" pitchFamily="2" charset="-122"/>
              </a:rPr>
              <a:t> 如何求得这些变换矩阵？</a:t>
            </a:r>
          </a:p>
        </p:txBody>
      </p:sp>
    </p:spTree>
    <p:extLst>
      <p:ext uri="{BB962C8B-B14F-4D97-AF65-F5344CB8AC3E}">
        <p14:creationId xmlns:p14="http://schemas.microsoft.com/office/powerpoint/2010/main" val="3827734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 y="0"/>
            <a:ext cx="1351722" cy="546652"/>
          </a:xfrm>
        </p:spPr>
        <p:txBody>
          <a:bodyPr>
            <a:noAutofit/>
          </a:bodyPr>
          <a:lstStyle/>
          <a:p>
            <a:r>
              <a:rPr lang="zh-CN" altLang="en-US" sz="2000" dirty="0">
                <a:solidFill>
                  <a:srgbClr val="0070C0"/>
                </a:solidFill>
                <a:latin typeface="华文楷体" panose="02010600040101010101" pitchFamily="2" charset="-122"/>
                <a:ea typeface="华文楷体" panose="02010600040101010101" pitchFamily="2" charset="-122"/>
              </a:rPr>
              <a:t>矢量</a:t>
            </a:r>
          </a:p>
        </p:txBody>
      </p:sp>
      <p:sp>
        <p:nvSpPr>
          <p:cNvPr id="3" name="内容占位符 2"/>
          <p:cNvSpPr>
            <a:spLocks noGrp="1"/>
          </p:cNvSpPr>
          <p:nvPr>
            <p:ph idx="1"/>
          </p:nvPr>
        </p:nvSpPr>
        <p:spPr>
          <a:xfrm>
            <a:off x="579784" y="792149"/>
            <a:ext cx="11019183" cy="5273702"/>
          </a:xfrm>
        </p:spPr>
        <p:txBody>
          <a:bodyPr>
            <a:normAutofit/>
          </a:bodyPr>
          <a:lstStyle/>
          <a:p>
            <a:pPr marL="0" indent="0">
              <a:lnSpc>
                <a:spcPct val="150000"/>
              </a:lnSpc>
              <a:buNone/>
            </a:pPr>
            <a:r>
              <a:rPr lang="en-US" altLang="zh-CN" sz="3200" dirty="0">
                <a:latin typeface="黑体" panose="02010609060101010101" pitchFamily="49" charset="-122"/>
                <a:ea typeface="黑体" panose="02010609060101010101" pitchFamily="49" charset="-122"/>
              </a:rPr>
              <a:t>1</a:t>
            </a:r>
            <a:r>
              <a:rPr lang="zh-CN" altLang="en-US" sz="3200" dirty="0">
                <a:latin typeface="黑体" panose="02010609060101010101" pitchFamily="49" charset="-122"/>
                <a:ea typeface="黑体" panose="02010609060101010101" pitchFamily="49" charset="-122"/>
              </a:rPr>
              <a:t>、矢量的基本定义</a:t>
            </a:r>
            <a:endParaRPr lang="en-US" altLang="zh-CN" sz="3200" dirty="0">
              <a:latin typeface="黑体" panose="02010609060101010101" pitchFamily="49" charset="-122"/>
              <a:ea typeface="黑体" panose="02010609060101010101" pitchFamily="49" charset="-122"/>
            </a:endParaRPr>
          </a:p>
          <a:p>
            <a:pPr marL="0" indent="0">
              <a:lnSpc>
                <a:spcPct val="150000"/>
              </a:lnSpc>
              <a:buNone/>
            </a:pPr>
            <a:r>
              <a:rPr lang="en-US" altLang="zh-CN" sz="3200" dirty="0">
                <a:solidFill>
                  <a:srgbClr val="002060"/>
                </a:solidFill>
                <a:latin typeface="华文楷体" panose="02010600040101010101" pitchFamily="2" charset="-122"/>
                <a:ea typeface="华文楷体" panose="02010600040101010101" pitchFamily="2" charset="-122"/>
              </a:rPr>
              <a:t>    </a:t>
            </a:r>
            <a:r>
              <a:rPr lang="en-US" altLang="zh-CN"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矢量是一个既包含幅度又包含方向的量。常见的矢量如力，速度，位移等。一般用一个带箭头的线段来表示，线段的长度表示矢量的大小，箭头表示矢量的方向。在三维空间中，矢量</a:t>
            </a:r>
            <a:r>
              <a:rPr lang="en-US" altLang="zh-CN" sz="2600" dirty="0">
                <a:latin typeface="华光仿宋_CNKI" panose="02000500000000000000" pitchFamily="2" charset="-122"/>
                <a:ea typeface="华光仿宋_CNKI" panose="02000500000000000000" pitchFamily="2" charset="-122"/>
              </a:rPr>
              <a:t>V</a:t>
            </a:r>
            <a:r>
              <a:rPr lang="zh-CN" altLang="en-US" sz="2600" dirty="0">
                <a:latin typeface="华光仿宋_CNKI" panose="02000500000000000000" pitchFamily="2" charset="-122"/>
                <a:ea typeface="华光仿宋_CNKI" panose="02000500000000000000" pitchFamily="2" charset="-122"/>
              </a:rPr>
              <a:t>可表示为：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V=(x, y, z )</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其中</a:t>
            </a:r>
            <a:r>
              <a:rPr lang="en-US" altLang="zh-CN" sz="2600" dirty="0" err="1">
                <a:latin typeface="华光仿宋_CNKI" panose="02000500000000000000" pitchFamily="2" charset="-122"/>
                <a:ea typeface="华光仿宋_CNKI" panose="02000500000000000000" pitchFamily="2" charset="-122"/>
              </a:rPr>
              <a:t>x,y,z</a:t>
            </a:r>
            <a:r>
              <a:rPr lang="zh-CN" altLang="en-US" sz="2600" dirty="0">
                <a:latin typeface="华光仿宋_CNKI" panose="02000500000000000000" pitchFamily="2" charset="-122"/>
                <a:ea typeface="华光仿宋_CNKI" panose="02000500000000000000" pitchFamily="2" charset="-122"/>
              </a:rPr>
              <a:t>分别表示矢量</a:t>
            </a:r>
            <a:r>
              <a:rPr lang="en-US" altLang="zh-CN" sz="2600" dirty="0">
                <a:latin typeface="华光仿宋_CNKI" panose="02000500000000000000" pitchFamily="2" charset="-122"/>
                <a:ea typeface="华光仿宋_CNKI" panose="02000500000000000000" pitchFamily="2" charset="-122"/>
              </a:rPr>
              <a:t>V</a:t>
            </a:r>
            <a:r>
              <a:rPr lang="zh-CN" altLang="en-US" sz="2600" dirty="0">
                <a:latin typeface="华光仿宋_CNKI" panose="02000500000000000000" pitchFamily="2" charset="-122"/>
                <a:ea typeface="华光仿宋_CNKI" panose="02000500000000000000" pitchFamily="2" charset="-122"/>
              </a:rPr>
              <a:t>在三个轴方</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向上的份量。</a:t>
            </a:r>
            <a:r>
              <a:rPr lang="en-US" altLang="zh-CN" sz="2600" dirty="0">
                <a:latin typeface="华光仿宋_CNKI" panose="02000500000000000000" pitchFamily="2" charset="-122"/>
                <a:ea typeface="华光仿宋_CNKI" panose="02000500000000000000" pitchFamily="2" charset="-122"/>
              </a:rPr>
              <a:t>      </a:t>
            </a:r>
            <a:endParaRPr lang="zh-CN" altLang="en-US" sz="2600" dirty="0">
              <a:latin typeface="华光仿宋_CNKI" panose="02000500000000000000" pitchFamily="2" charset="-122"/>
              <a:ea typeface="华光仿宋_CNKI" panose="02000500000000000000" pitchFamily="2" charset="-122"/>
            </a:endParaRPr>
          </a:p>
        </p:txBody>
      </p:sp>
      <p:pic>
        <p:nvPicPr>
          <p:cNvPr id="4" name="图片 3"/>
          <p:cNvPicPr>
            <a:picLocks noChangeAspect="1"/>
          </p:cNvPicPr>
          <p:nvPr/>
        </p:nvPicPr>
        <p:blipFill>
          <a:blip r:embed="rId2"/>
          <a:stretch>
            <a:fillRect/>
          </a:stretch>
        </p:blipFill>
        <p:spPr>
          <a:xfrm>
            <a:off x="7743825" y="3609975"/>
            <a:ext cx="3868391" cy="2914650"/>
          </a:xfrm>
          <a:prstGeom prst="rect">
            <a:avLst/>
          </a:prstGeom>
        </p:spPr>
      </p:pic>
      <p:sp>
        <p:nvSpPr>
          <p:cNvPr id="5" name="标题 1">
            <a:extLst>
              <a:ext uri="{FF2B5EF4-FFF2-40B4-BE49-F238E27FC236}">
                <a16:creationId xmlns:a16="http://schemas.microsoft.com/office/drawing/2014/main" id="{791A490F-DD60-538A-A32F-9E62FEA74D6C}"/>
              </a:ext>
            </a:extLst>
          </p:cNvPr>
          <p:cNvSpPr txBox="1">
            <a:spLocks/>
          </p:cNvSpPr>
          <p:nvPr/>
        </p:nvSpPr>
        <p:spPr>
          <a:xfrm>
            <a:off x="907774"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800" b="1" dirty="0">
                <a:solidFill>
                  <a:srgbClr val="FF0000"/>
                </a:solidFill>
                <a:latin typeface="黑体" panose="02010609060101010101" pitchFamily="49" charset="-122"/>
                <a:ea typeface="黑体" panose="02010609060101010101" pitchFamily="49" charset="-122"/>
              </a:rPr>
              <a:t>矢量</a:t>
            </a:r>
          </a:p>
        </p:txBody>
      </p:sp>
    </p:spTree>
    <p:extLst>
      <p:ext uri="{BB962C8B-B14F-4D97-AF65-F5344CB8AC3E}">
        <p14:creationId xmlns:p14="http://schemas.microsoft.com/office/powerpoint/2010/main" val="1942559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474930"/>
                <a:ext cx="10515600" cy="6005383"/>
              </a:xfrm>
            </p:spPr>
            <p:txBody>
              <a:bodyPr/>
              <a:lstStyle/>
              <a:p>
                <a:pPr marL="0" indent="0">
                  <a:lnSpc>
                    <a:spcPct val="150000"/>
                  </a:lnSpc>
                  <a:buNone/>
                </a:pPr>
                <a:r>
                  <a:rPr lang="en-US" altLang="zh-CN" dirty="0"/>
                  <a:t>     </a:t>
                </a:r>
                <a:r>
                  <a:rPr lang="en-US" altLang="zh-CN" sz="3200" dirty="0">
                    <a:latin typeface="华光大标宋_CNKI" panose="02000500000000000000" pitchFamily="2" charset="-122"/>
                    <a:ea typeface="华光大标宋_CNKI" panose="02000500000000000000" pitchFamily="2" charset="-122"/>
                  </a:rPr>
                  <a:t>2</a:t>
                </a:r>
                <a:r>
                  <a:rPr lang="zh-CN" altLang="en-US" sz="3200" dirty="0">
                    <a:latin typeface="华光大标宋_CNKI" panose="02000500000000000000" pitchFamily="2" charset="-122"/>
                    <a:ea typeface="华光大标宋_CNKI" panose="02000500000000000000" pitchFamily="2" charset="-122"/>
                  </a:rPr>
                  <a:t>、矢量的基本运算</a:t>
                </a:r>
                <a:endParaRPr lang="en-US" altLang="zh-CN" sz="3200"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2.1  </a:t>
                </a:r>
                <a:r>
                  <a:rPr lang="zh-CN" altLang="en-US" sz="2600" dirty="0">
                    <a:latin typeface="华光大标宋_CNKI" panose="02000500000000000000" pitchFamily="2" charset="-122"/>
                    <a:ea typeface="华光大标宋_CNKI" panose="02000500000000000000" pitchFamily="2" charset="-122"/>
                  </a:rPr>
                  <a:t>矢量的相等</a:t>
                </a:r>
                <a:endParaRPr lang="en-US" altLang="zh-CN" sz="2600"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矢量相等必须大小和方向均相等。设</a:t>
                </a:r>
                <a:r>
                  <a:rPr lang="en-US" altLang="zh-CN" sz="2600" dirty="0">
                    <a:latin typeface="华光仿宋_CNKI" panose="02000500000000000000" pitchFamily="2" charset="-122"/>
                    <a:ea typeface="华光仿宋_CNKI" panose="02000500000000000000" pitchFamily="2" charset="-122"/>
                  </a:rPr>
                  <a:t>u = (u</a:t>
                </a:r>
                <a14:m>
                  <m:oMath xmlns:m="http://schemas.openxmlformats.org/officeDocument/2006/math">
                    <m:r>
                      <a:rPr lang="en-US" altLang="zh-CN" sz="2600" dirty="0">
                        <a:latin typeface="Cambria Math" panose="02040503050406030204" pitchFamily="18" charset="0"/>
                      </a:rPr>
                      <m:t>𝑥</m:t>
                    </m:r>
                  </m:oMath>
                </a14:m>
                <a:r>
                  <a:rPr lang="en-US" altLang="zh-CN" sz="2600" dirty="0">
                    <a:latin typeface="华光仿宋_CNKI" panose="02000500000000000000" pitchFamily="2" charset="-122"/>
                    <a:ea typeface="华光仿宋_CNKI" panose="02000500000000000000" pitchFamily="2" charset="-122"/>
                  </a:rPr>
                  <a:t>,</a:t>
                </a:r>
                <a:r>
                  <a:rPr lang="en-US" altLang="zh-CN" sz="2600" dirty="0" err="1">
                    <a:latin typeface="华光仿宋_CNKI" panose="02000500000000000000" pitchFamily="2" charset="-122"/>
                    <a:ea typeface="华光仿宋_CNKI" panose="02000500000000000000" pitchFamily="2" charset="-122"/>
                  </a:rPr>
                  <a:t>uy</a:t>
                </a:r>
                <a:r>
                  <a:rPr lang="en-US" altLang="zh-CN" sz="2600" dirty="0">
                    <a:latin typeface="华光仿宋_CNKI" panose="02000500000000000000" pitchFamily="2" charset="-122"/>
                    <a:ea typeface="华光仿宋_CNKI" panose="02000500000000000000" pitchFamily="2" charset="-122"/>
                  </a:rPr>
                  <a:t>, </a:t>
                </a:r>
                <a:r>
                  <a:rPr lang="en-US" altLang="zh-CN" sz="2600" dirty="0" err="1">
                    <a:latin typeface="华光仿宋_CNKI" panose="02000500000000000000" pitchFamily="2" charset="-122"/>
                    <a:ea typeface="华光仿宋_CNKI" panose="02000500000000000000" pitchFamily="2" charset="-122"/>
                  </a:rPr>
                  <a:t>uz</a:t>
                </a:r>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v = (</a:t>
                </a:r>
                <a:r>
                  <a:rPr lang="en-US" altLang="zh-CN" sz="2600" dirty="0" err="1">
                    <a:latin typeface="华光仿宋_CNKI" panose="02000500000000000000" pitchFamily="2" charset="-122"/>
                    <a:ea typeface="华光仿宋_CNKI" panose="02000500000000000000" pitchFamily="2" charset="-122"/>
                  </a:rPr>
                  <a:t>vx</a:t>
                </a:r>
                <a:r>
                  <a:rPr lang="en-US" altLang="zh-CN" sz="2600" dirty="0">
                    <a:latin typeface="华光仿宋_CNKI" panose="02000500000000000000" pitchFamily="2" charset="-122"/>
                    <a:ea typeface="华光仿宋_CNKI" panose="02000500000000000000" pitchFamily="2" charset="-122"/>
                  </a:rPr>
                  <a:t>, </a:t>
                </a:r>
                <a:r>
                  <a:rPr lang="en-US" altLang="zh-CN" sz="2600" dirty="0" err="1">
                    <a:latin typeface="华光仿宋_CNKI" panose="02000500000000000000" pitchFamily="2" charset="-122"/>
                    <a:ea typeface="华光仿宋_CNKI" panose="02000500000000000000" pitchFamily="2" charset="-122"/>
                  </a:rPr>
                  <a:t>vy</a:t>
                </a:r>
                <a:r>
                  <a:rPr lang="en-US" altLang="zh-CN" sz="2600" dirty="0">
                    <a:latin typeface="华光仿宋_CNKI" panose="02000500000000000000" pitchFamily="2" charset="-122"/>
                    <a:ea typeface="华光仿宋_CNKI" panose="02000500000000000000" pitchFamily="2" charset="-122"/>
                  </a:rPr>
                  <a:t>, </a:t>
                </a:r>
                <a:r>
                  <a:rPr lang="en-US" altLang="zh-CN" sz="2600" dirty="0" err="1">
                    <a:latin typeface="华光仿宋_CNKI" panose="02000500000000000000" pitchFamily="2" charset="-122"/>
                    <a:ea typeface="华光仿宋_CNKI" panose="02000500000000000000" pitchFamily="2" charset="-122"/>
                  </a:rPr>
                  <a:t>vz</a:t>
                </a:r>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，如果</a:t>
                </a:r>
                <a:r>
                  <a:rPr lang="en-US" altLang="zh-CN" sz="2600" dirty="0">
                    <a:latin typeface="华光仿宋_CNKI" panose="02000500000000000000" pitchFamily="2" charset="-122"/>
                    <a:ea typeface="华光仿宋_CNKI" panose="02000500000000000000" pitchFamily="2" charset="-122"/>
                  </a:rPr>
                  <a:t>u=v, </a:t>
                </a:r>
                <a:r>
                  <a:rPr lang="zh-CN" altLang="en-US" sz="2600" dirty="0">
                    <a:latin typeface="华光仿宋_CNKI" panose="02000500000000000000" pitchFamily="2" charset="-122"/>
                    <a:ea typeface="华光仿宋_CNKI" panose="02000500000000000000" pitchFamily="2" charset="-122"/>
                  </a:rPr>
                  <a:t>则</a:t>
                </a:r>
                <a:r>
                  <a:rPr lang="en-US" altLang="zh-CN" sz="2600" dirty="0" err="1">
                    <a:latin typeface="华光仿宋_CNKI" panose="02000500000000000000" pitchFamily="2" charset="-122"/>
                    <a:ea typeface="华光仿宋_CNKI" panose="02000500000000000000" pitchFamily="2" charset="-122"/>
                  </a:rPr>
                  <a:t>ux</a:t>
                </a:r>
                <a:r>
                  <a:rPr lang="en-US" altLang="zh-CN" sz="2600" dirty="0">
                    <a:latin typeface="华光仿宋_CNKI" panose="02000500000000000000" pitchFamily="2" charset="-122"/>
                    <a:ea typeface="华光仿宋_CNKI" panose="02000500000000000000" pitchFamily="2" charset="-122"/>
                  </a:rPr>
                  <a:t> = </a:t>
                </a:r>
                <a:r>
                  <a:rPr lang="en-US" altLang="zh-CN" sz="2600" dirty="0" err="1">
                    <a:latin typeface="华光仿宋_CNKI" panose="02000500000000000000" pitchFamily="2" charset="-122"/>
                    <a:ea typeface="华光仿宋_CNKI" panose="02000500000000000000" pitchFamily="2" charset="-122"/>
                  </a:rPr>
                  <a:t>vx</a:t>
                </a:r>
                <a:r>
                  <a:rPr lang="en-US" altLang="zh-CN" sz="2600" dirty="0">
                    <a:latin typeface="华光仿宋_CNKI" panose="02000500000000000000" pitchFamily="2" charset="-122"/>
                    <a:ea typeface="华光仿宋_CNKI" panose="02000500000000000000" pitchFamily="2" charset="-122"/>
                  </a:rPr>
                  <a:t>, </a:t>
                </a:r>
                <a:r>
                  <a:rPr lang="en-US" altLang="zh-CN" sz="2600" dirty="0" err="1">
                    <a:latin typeface="华光仿宋_CNKI" panose="02000500000000000000" pitchFamily="2" charset="-122"/>
                    <a:ea typeface="华光仿宋_CNKI" panose="02000500000000000000" pitchFamily="2" charset="-122"/>
                  </a:rPr>
                  <a:t>uy</a:t>
                </a:r>
                <a:r>
                  <a:rPr lang="en-US" altLang="zh-CN" sz="2600" dirty="0">
                    <a:latin typeface="华光仿宋_CNKI" panose="02000500000000000000" pitchFamily="2" charset="-122"/>
                    <a:ea typeface="华光仿宋_CNKI" panose="02000500000000000000" pitchFamily="2" charset="-122"/>
                  </a:rPr>
                  <a:t> = </a:t>
                </a:r>
                <a:r>
                  <a:rPr lang="en-US" altLang="zh-CN" sz="2600" dirty="0" err="1">
                    <a:latin typeface="华光仿宋_CNKI" panose="02000500000000000000" pitchFamily="2" charset="-122"/>
                    <a:ea typeface="华光仿宋_CNKI" panose="02000500000000000000" pitchFamily="2" charset="-122"/>
                  </a:rPr>
                  <a:t>vy</a:t>
                </a:r>
                <a:r>
                  <a:rPr lang="en-US" altLang="zh-CN" sz="2600" dirty="0">
                    <a:latin typeface="华光仿宋_CNKI" panose="02000500000000000000" pitchFamily="2" charset="-122"/>
                    <a:ea typeface="华光仿宋_CNKI" panose="02000500000000000000" pitchFamily="2" charset="-122"/>
                  </a:rPr>
                  <a:t>, </a:t>
                </a:r>
                <a:r>
                  <a:rPr lang="en-US" altLang="zh-CN" sz="2600" dirty="0" err="1">
                    <a:latin typeface="华光仿宋_CNKI" panose="02000500000000000000" pitchFamily="2" charset="-122"/>
                    <a:ea typeface="华光仿宋_CNKI" panose="02000500000000000000" pitchFamily="2" charset="-122"/>
                  </a:rPr>
                  <a:t>uz</a:t>
                </a:r>
                <a:r>
                  <a:rPr lang="en-US" altLang="zh-CN" sz="2600" dirty="0">
                    <a:latin typeface="华光仿宋_CNKI" panose="02000500000000000000" pitchFamily="2" charset="-122"/>
                    <a:ea typeface="华光仿宋_CNKI" panose="02000500000000000000" pitchFamily="2" charset="-122"/>
                  </a:rPr>
                  <a:t> = </a:t>
                </a:r>
                <a:r>
                  <a:rPr lang="en-US" altLang="zh-CN" sz="2600" dirty="0" err="1">
                    <a:latin typeface="华光仿宋_CNKI" panose="02000500000000000000" pitchFamily="2" charset="-122"/>
                    <a:ea typeface="华光仿宋_CNKI" panose="02000500000000000000" pitchFamily="2" charset="-122"/>
                  </a:rPr>
                  <a:t>vz</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2.2 </a:t>
                </a:r>
                <a:r>
                  <a:rPr lang="zh-CN" altLang="en-US" sz="2600" dirty="0">
                    <a:latin typeface="华光大标宋_CNKI" panose="02000500000000000000" pitchFamily="2" charset="-122"/>
                    <a:ea typeface="华光大标宋_CNKI" panose="02000500000000000000" pitchFamily="2" charset="-122"/>
                  </a:rPr>
                  <a:t>矢量的加减运算</a:t>
                </a:r>
                <a:endParaRPr lang="en-US" altLang="zh-CN" sz="2600"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矢量的加减运算则是相应坐标份量的加减运算。</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endParaRPr lang="zh-CN" altLang="en-US" sz="2600"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474930"/>
                <a:ext cx="10515600" cy="6005383"/>
              </a:xfrm>
              <a:blipFill>
                <a:blip r:embed="rId2"/>
                <a:stretch>
                  <a:fillRect l="-1043"/>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矢量</a:t>
            </a:r>
          </a:p>
        </p:txBody>
      </p:sp>
      <p:pic>
        <p:nvPicPr>
          <p:cNvPr id="5" name="图片 4"/>
          <p:cNvPicPr>
            <a:picLocks noChangeAspect="1"/>
          </p:cNvPicPr>
          <p:nvPr/>
        </p:nvPicPr>
        <p:blipFill>
          <a:blip r:embed="rId3"/>
          <a:stretch>
            <a:fillRect/>
          </a:stretch>
        </p:blipFill>
        <p:spPr>
          <a:xfrm>
            <a:off x="1495425" y="5090925"/>
            <a:ext cx="4191000" cy="429000"/>
          </a:xfrm>
          <a:prstGeom prst="rect">
            <a:avLst/>
          </a:prstGeom>
        </p:spPr>
      </p:pic>
      <p:pic>
        <p:nvPicPr>
          <p:cNvPr id="6" name="图片 5"/>
          <p:cNvPicPr>
            <a:picLocks noChangeAspect="1"/>
          </p:cNvPicPr>
          <p:nvPr/>
        </p:nvPicPr>
        <p:blipFill>
          <a:blip r:embed="rId4"/>
          <a:stretch>
            <a:fillRect/>
          </a:stretch>
        </p:blipFill>
        <p:spPr>
          <a:xfrm>
            <a:off x="1495425" y="5722069"/>
            <a:ext cx="7848601" cy="438533"/>
          </a:xfrm>
          <a:prstGeom prst="rect">
            <a:avLst/>
          </a:prstGeom>
        </p:spPr>
      </p:pic>
    </p:spTree>
    <p:extLst>
      <p:ext uri="{BB962C8B-B14F-4D97-AF65-F5344CB8AC3E}">
        <p14:creationId xmlns:p14="http://schemas.microsoft.com/office/powerpoint/2010/main" val="1299024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2541" y="721581"/>
            <a:ext cx="10515600" cy="5639462"/>
          </a:xfrm>
        </p:spPr>
        <p:txBody>
          <a:bodyPr>
            <a:normAutofit/>
          </a:bodyPr>
          <a:lstStyle/>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2.3 </a:t>
            </a:r>
            <a:r>
              <a:rPr lang="zh-CN" altLang="en-US" dirty="0">
                <a:latin typeface="华光大标宋_CNKI" panose="02000500000000000000" pitchFamily="2" charset="-122"/>
                <a:ea typeface="华光大标宋_CNKI" panose="02000500000000000000" pitchFamily="2" charset="-122"/>
              </a:rPr>
              <a:t>矢量的数乘</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t>       </a:t>
            </a:r>
            <a:r>
              <a:rPr lang="zh-CN" altLang="en-US" sz="2600" dirty="0">
                <a:latin typeface="华光仿宋_CNKI" panose="02000500000000000000" pitchFamily="2" charset="-122"/>
                <a:ea typeface="华光仿宋_CNKI" panose="02000500000000000000" pitchFamily="2" charset="-122"/>
              </a:rPr>
              <a:t>将一个常量与一个矢量相乘即为矢量的数乘。</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t> </a:t>
            </a: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2.4 </a:t>
            </a:r>
            <a:r>
              <a:rPr lang="zh-CN" altLang="en-US" dirty="0">
                <a:latin typeface="华光大标宋_CNKI" panose="02000500000000000000" pitchFamily="2" charset="-122"/>
                <a:ea typeface="华光大标宋_CNKI" panose="02000500000000000000" pitchFamily="2" charset="-122"/>
              </a:rPr>
              <a:t>矢量长度的计算</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矢量的长度也就是矢量的模。</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en-US" altLang="zh-CN" dirty="0">
                <a:latin typeface="华光大标宋_CNKI" panose="02000500000000000000" pitchFamily="2" charset="-122"/>
                <a:ea typeface="华光大标宋_CNKI" panose="02000500000000000000" pitchFamily="2" charset="-122"/>
              </a:rPr>
              <a:t>2.5 </a:t>
            </a:r>
            <a:r>
              <a:rPr lang="zh-CN" altLang="en-US" dirty="0">
                <a:latin typeface="华光大标宋_CNKI" panose="02000500000000000000" pitchFamily="2" charset="-122"/>
                <a:ea typeface="华光大标宋_CNKI" panose="02000500000000000000" pitchFamily="2" charset="-122"/>
              </a:rPr>
              <a:t>矢量的归一化</a:t>
            </a:r>
            <a:r>
              <a:rPr lang="en-US" altLang="zh-CN" dirty="0">
                <a:latin typeface="华光大标宋_CNKI" panose="02000500000000000000" pitchFamily="2" charset="-122"/>
                <a:ea typeface="华光大标宋_CNKI" panose="02000500000000000000" pitchFamily="2" charset="-122"/>
              </a:rPr>
              <a:t>  </a:t>
            </a:r>
          </a:p>
          <a:p>
            <a:pPr marL="0" indent="0">
              <a:lnSpc>
                <a:spcPct val="150000"/>
              </a:lnSpc>
              <a:buNone/>
            </a:pPr>
            <a:endParaRPr lang="zh-CN" altLang="en-US" dirty="0"/>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矢量</a:t>
            </a:r>
          </a:p>
        </p:txBody>
      </p:sp>
      <p:pic>
        <p:nvPicPr>
          <p:cNvPr id="5" name="图片 4"/>
          <p:cNvPicPr>
            <a:picLocks noChangeAspect="1"/>
          </p:cNvPicPr>
          <p:nvPr/>
        </p:nvPicPr>
        <p:blipFill>
          <a:blip r:embed="rId2"/>
          <a:stretch>
            <a:fillRect/>
          </a:stretch>
        </p:blipFill>
        <p:spPr>
          <a:xfrm>
            <a:off x="1561273" y="2328823"/>
            <a:ext cx="2895600" cy="467133"/>
          </a:xfrm>
          <a:prstGeom prst="rect">
            <a:avLst/>
          </a:prstGeom>
        </p:spPr>
      </p:pic>
      <p:pic>
        <p:nvPicPr>
          <p:cNvPr id="6" name="图片 5"/>
          <p:cNvPicPr>
            <a:picLocks noChangeAspect="1"/>
          </p:cNvPicPr>
          <p:nvPr/>
        </p:nvPicPr>
        <p:blipFill>
          <a:blip r:embed="rId3"/>
          <a:stretch>
            <a:fillRect/>
          </a:stretch>
        </p:blipFill>
        <p:spPr>
          <a:xfrm>
            <a:off x="1199322" y="4403198"/>
            <a:ext cx="6781801" cy="1077267"/>
          </a:xfrm>
          <a:prstGeom prst="rect">
            <a:avLst/>
          </a:prstGeom>
        </p:spPr>
      </p:pic>
    </p:spTree>
    <p:extLst>
      <p:ext uri="{BB962C8B-B14F-4D97-AF65-F5344CB8AC3E}">
        <p14:creationId xmlns:p14="http://schemas.microsoft.com/office/powerpoint/2010/main" val="3094945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9625" y="394252"/>
            <a:ext cx="10515600" cy="5974081"/>
          </a:xfrm>
        </p:spPr>
        <p:txBody>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矢量的归一化也就是单位矢量，也就是将矢量的每一个份量除以矢量的长度。</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t>       </a:t>
            </a:r>
          </a:p>
          <a:p>
            <a:pPr marL="0" indent="0">
              <a:lnSpc>
                <a:spcPct val="150000"/>
              </a:lnSpc>
              <a:buNone/>
            </a:pPr>
            <a:endParaRPr lang="en-US" altLang="zh-CN" dirty="0"/>
          </a:p>
          <a:p>
            <a:pPr marL="0" indent="0">
              <a:lnSpc>
                <a:spcPct val="150000"/>
              </a:lnSpc>
              <a:buNone/>
            </a:pPr>
            <a:r>
              <a:rPr lang="en-US" altLang="zh-CN" sz="2600" dirty="0">
                <a:latin typeface="华光大标宋_CNKI" panose="02000500000000000000" pitchFamily="2" charset="-122"/>
                <a:ea typeface="华光大标宋_CNKI" panose="02000500000000000000" pitchFamily="2" charset="-122"/>
              </a:rPr>
              <a:t>2.6 </a:t>
            </a:r>
            <a:r>
              <a:rPr lang="zh-CN" altLang="en-US" sz="2600" dirty="0">
                <a:latin typeface="华光大标宋_CNKI" panose="02000500000000000000" pitchFamily="2" charset="-122"/>
                <a:ea typeface="华光大标宋_CNKI" panose="02000500000000000000" pitchFamily="2" charset="-122"/>
              </a:rPr>
              <a:t>矢量的点乘</a:t>
            </a:r>
            <a:endParaRPr lang="en-US" altLang="zh-CN" sz="2600"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t>       </a:t>
            </a:r>
            <a:r>
              <a:rPr lang="zh-CN" altLang="en-US" sz="2600" dirty="0">
                <a:latin typeface="华光仿宋_CNKI" panose="02000500000000000000" pitchFamily="2" charset="-122"/>
                <a:ea typeface="华光仿宋_CNKI" panose="02000500000000000000" pitchFamily="2" charset="-122"/>
              </a:rPr>
              <a:t>矢量的点乘是一个标量。也就是对应份量的乘积之和。</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t>        </a:t>
            </a:r>
          </a:p>
          <a:p>
            <a:pPr marL="0" indent="0">
              <a:lnSpc>
                <a:spcPct val="150000"/>
              </a:lnSpc>
              <a:buNone/>
            </a:pPr>
            <a:endParaRPr lang="zh-CN" altLang="en-US" dirty="0"/>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矢量</a:t>
            </a:r>
          </a:p>
        </p:txBody>
      </p:sp>
      <p:pic>
        <p:nvPicPr>
          <p:cNvPr id="5" name="图片 4"/>
          <p:cNvPicPr>
            <a:picLocks noChangeAspect="1"/>
          </p:cNvPicPr>
          <p:nvPr/>
        </p:nvPicPr>
        <p:blipFill>
          <a:blip r:embed="rId2"/>
          <a:stretch>
            <a:fillRect/>
          </a:stretch>
        </p:blipFill>
        <p:spPr>
          <a:xfrm>
            <a:off x="1350896" y="1830926"/>
            <a:ext cx="3810000" cy="1115400"/>
          </a:xfrm>
          <a:prstGeom prst="rect">
            <a:avLst/>
          </a:prstGeom>
        </p:spPr>
      </p:pic>
      <p:pic>
        <p:nvPicPr>
          <p:cNvPr id="6" name="图片 5"/>
          <p:cNvPicPr>
            <a:picLocks noChangeAspect="1"/>
          </p:cNvPicPr>
          <p:nvPr/>
        </p:nvPicPr>
        <p:blipFill>
          <a:blip r:embed="rId3"/>
          <a:stretch>
            <a:fillRect/>
          </a:stretch>
        </p:blipFill>
        <p:spPr>
          <a:xfrm>
            <a:off x="1265998" y="5027074"/>
            <a:ext cx="3657600" cy="600600"/>
          </a:xfrm>
          <a:prstGeom prst="rect">
            <a:avLst/>
          </a:prstGeom>
        </p:spPr>
      </p:pic>
      <p:pic>
        <p:nvPicPr>
          <p:cNvPr id="7" name="图片 6"/>
          <p:cNvPicPr>
            <a:picLocks noChangeAspect="1"/>
          </p:cNvPicPr>
          <p:nvPr/>
        </p:nvPicPr>
        <p:blipFill>
          <a:blip r:embed="rId4"/>
          <a:stretch>
            <a:fillRect/>
          </a:stretch>
        </p:blipFill>
        <p:spPr>
          <a:xfrm>
            <a:off x="1350896" y="5653916"/>
            <a:ext cx="2895600" cy="695933"/>
          </a:xfrm>
          <a:prstGeom prst="rect">
            <a:avLst/>
          </a:prstGeom>
        </p:spPr>
      </p:pic>
    </p:spTree>
    <p:extLst>
      <p:ext uri="{BB962C8B-B14F-4D97-AF65-F5344CB8AC3E}">
        <p14:creationId xmlns:p14="http://schemas.microsoft.com/office/powerpoint/2010/main" val="3195021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69868" y="421703"/>
                <a:ext cx="10515600" cy="5562434"/>
              </a:xfrm>
            </p:spPr>
            <p:txBody>
              <a:bodyPr>
                <a:normAutofit/>
              </a:bodyPr>
              <a:lstStyle/>
              <a:p>
                <a:pPr marL="0" indent="0">
                  <a:lnSpc>
                    <a:spcPct val="170000"/>
                  </a:lnSpc>
                  <a:buNone/>
                </a:pPr>
                <a:r>
                  <a:rPr lang="en-US" altLang="zh-CN" sz="3400" dirty="0"/>
                  <a:t>     </a:t>
                </a:r>
                <a:r>
                  <a:rPr lang="zh-CN" altLang="en-US" dirty="0">
                    <a:latin typeface="华光仿宋_CNKI" panose="02000500000000000000" pitchFamily="2" charset="-122"/>
                    <a:ea typeface="华光仿宋_CNKI" panose="02000500000000000000" pitchFamily="2" charset="-122"/>
                  </a:rPr>
                  <a:t>从上面的表达式可以得到如下的一些性质：</a:t>
                </a:r>
                <a:endParaRPr lang="en-US" altLang="zh-CN" dirty="0">
                  <a:latin typeface="华光仿宋_CNKI" panose="02000500000000000000" pitchFamily="2" charset="-122"/>
                  <a:ea typeface="华光仿宋_CNKI" panose="02000500000000000000" pitchFamily="2" charset="-122"/>
                </a:endParaRPr>
              </a:p>
              <a:p>
                <a:pPr marL="0" indent="0">
                  <a:lnSpc>
                    <a:spcPct val="17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）如果</a:t>
                </a:r>
                <a:r>
                  <a:rPr lang="en-US" altLang="zh-CN" dirty="0" err="1">
                    <a:latin typeface="华光仿宋_CNKI" panose="02000500000000000000" pitchFamily="2" charset="-122"/>
                    <a:ea typeface="华光仿宋_CNKI" panose="02000500000000000000" pitchFamily="2" charset="-122"/>
                  </a:rPr>
                  <a:t>u.v</a:t>
                </a:r>
                <a:r>
                  <a:rPr lang="en-US" altLang="zh-CN" dirty="0">
                    <a:latin typeface="华光仿宋_CNKI" panose="02000500000000000000" pitchFamily="2" charset="-122"/>
                    <a:ea typeface="华光仿宋_CNKI" panose="02000500000000000000" pitchFamily="2" charset="-122"/>
                  </a:rPr>
                  <a:t>=0, </a:t>
                </a:r>
                <a:r>
                  <a:rPr lang="zh-CN" altLang="en-US" dirty="0">
                    <a:latin typeface="华光仿宋_CNKI" panose="02000500000000000000" pitchFamily="2" charset="-122"/>
                    <a:ea typeface="华光仿宋_CNKI" panose="02000500000000000000" pitchFamily="2" charset="-122"/>
                  </a:rPr>
                  <a:t>则说明</a:t>
                </a:r>
                <a14:m>
                  <m:oMath xmlns:m="http://schemas.openxmlformats.org/officeDocument/2006/math">
                    <m:r>
                      <m:rPr>
                        <m:nor/>
                      </m:rPr>
                      <a:rPr lang="en-US" altLang="zh-CN" dirty="0">
                        <a:latin typeface="华光仿宋_CNKI" panose="02000500000000000000" pitchFamily="2" charset="-122"/>
                        <a:ea typeface="华光仿宋_CNKI" panose="02000500000000000000" pitchFamily="2" charset="-122"/>
                      </a:rPr>
                      <m:t>u</m:t>
                    </m:r>
                    <m:r>
                      <a:rPr lang="en-US" altLang="zh-CN">
                        <a:latin typeface="Cambria Math" panose="02040503050406030204" pitchFamily="18" charset="0"/>
                      </a:rPr>
                      <m:t>⊥</m:t>
                    </m:r>
                    <m:r>
                      <a:rPr lang="en-US" altLang="zh-CN">
                        <a:latin typeface="Cambria Math" panose="02040503050406030204" pitchFamily="18" charset="0"/>
                      </a:rPr>
                      <m:t>𝑣</m:t>
                    </m:r>
                  </m:oMath>
                </a14:m>
                <a:r>
                  <a:rPr lang="en-US" altLang="zh-CN" dirty="0">
                    <a:latin typeface="华光仿宋_CNKI" panose="02000500000000000000" pitchFamily="2" charset="-122"/>
                    <a:ea typeface="华光仿宋_CNKI" panose="02000500000000000000" pitchFamily="2" charset="-122"/>
                  </a:rPr>
                  <a:t>.</a:t>
                </a:r>
              </a:p>
              <a:p>
                <a:pPr marL="0" indent="0">
                  <a:lnSpc>
                    <a:spcPct val="17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）如果</a:t>
                </a:r>
                <a:r>
                  <a:rPr lang="en-US" altLang="zh-CN" dirty="0" err="1">
                    <a:latin typeface="华光仿宋_CNKI" panose="02000500000000000000" pitchFamily="2" charset="-122"/>
                    <a:ea typeface="华光仿宋_CNKI" panose="02000500000000000000" pitchFamily="2" charset="-122"/>
                  </a:rPr>
                  <a:t>u.v</a:t>
                </a:r>
                <a:r>
                  <a:rPr lang="en-US" altLang="zh-CN" dirty="0">
                    <a:latin typeface="华光仿宋_CNKI" panose="02000500000000000000" pitchFamily="2" charset="-122"/>
                    <a:ea typeface="华光仿宋_CNKI" panose="02000500000000000000" pitchFamily="2" charset="-122"/>
                  </a:rPr>
                  <a:t>&gt;0, </a:t>
                </a:r>
                <a:r>
                  <a:rPr lang="zh-CN" altLang="en-US" dirty="0">
                    <a:latin typeface="华光仿宋_CNKI" panose="02000500000000000000" pitchFamily="2" charset="-122"/>
                    <a:ea typeface="华光仿宋_CNKI" panose="02000500000000000000" pitchFamily="2" charset="-122"/>
                  </a:rPr>
                  <a:t>则说明</a:t>
                </a:r>
                <a:r>
                  <a:rPr lang="en-US" altLang="zh-CN" dirty="0">
                    <a:latin typeface="华光仿宋_CNKI" panose="02000500000000000000" pitchFamily="2" charset="-122"/>
                    <a:ea typeface="华光仿宋_CNKI" panose="02000500000000000000" pitchFamily="2" charset="-122"/>
                  </a:rPr>
                  <a:t>u</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之间的夹角小于</a:t>
                </a:r>
                <a:r>
                  <a:rPr lang="en-US" altLang="zh-CN" dirty="0">
                    <a:latin typeface="华光仿宋_CNKI" panose="02000500000000000000" pitchFamily="2" charset="-122"/>
                    <a:ea typeface="华光仿宋_CNKI" panose="02000500000000000000" pitchFamily="2" charset="-122"/>
                  </a:rPr>
                  <a:t>90</a:t>
                </a:r>
                <a:r>
                  <a:rPr lang="zh-CN" altLang="en-US" dirty="0">
                    <a:latin typeface="华光仿宋_CNKI" panose="02000500000000000000" pitchFamily="2" charset="-122"/>
                    <a:ea typeface="华光仿宋_CNKI" panose="02000500000000000000" pitchFamily="2" charset="-122"/>
                  </a:rPr>
                  <a:t>度。反之则大于</a:t>
                </a:r>
                <a:r>
                  <a:rPr lang="en-US" altLang="zh-CN" dirty="0">
                    <a:latin typeface="华光仿宋_CNKI" panose="02000500000000000000" pitchFamily="2" charset="-122"/>
                    <a:ea typeface="华光仿宋_CNKI" panose="02000500000000000000" pitchFamily="2" charset="-122"/>
                  </a:rPr>
                  <a:t>90</a:t>
                </a:r>
                <a:r>
                  <a:rPr lang="zh-CN" altLang="en-US" dirty="0">
                    <a:latin typeface="华光仿宋_CNKI" panose="02000500000000000000" pitchFamily="2" charset="-122"/>
                    <a:ea typeface="华光仿宋_CNKI" panose="02000500000000000000" pitchFamily="2" charset="-122"/>
                  </a:rPr>
                  <a:t>度。</a:t>
                </a:r>
                <a:endParaRPr lang="en-US" altLang="zh-CN" dirty="0">
                  <a:latin typeface="华光仿宋_CNKI" panose="02000500000000000000" pitchFamily="2" charset="-122"/>
                  <a:ea typeface="华光仿宋_CNKI" panose="02000500000000000000" pitchFamily="2" charset="-122"/>
                </a:endParaRPr>
              </a:p>
              <a:p>
                <a:pPr marL="0" indent="0">
                  <a:lnSpc>
                    <a:spcPct val="17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a:t>
                </a:r>
                <a:r>
                  <a:rPr lang="en-US" altLang="zh-CN" dirty="0">
                    <a:latin typeface="华光仿宋_CNKI" panose="02000500000000000000" pitchFamily="2" charset="-122"/>
                    <a:ea typeface="华光仿宋_CNKI" panose="02000500000000000000" pitchFamily="2" charset="-122"/>
                  </a:rPr>
                  <a:t>p=</a:t>
                </a:r>
                <a:r>
                  <a:rPr lang="en-US" altLang="zh-CN" dirty="0" err="1">
                    <a:latin typeface="华光仿宋_CNKI" panose="02000500000000000000" pitchFamily="2" charset="-122"/>
                    <a:ea typeface="华光仿宋_CNKI" panose="02000500000000000000" pitchFamily="2" charset="-122"/>
                  </a:rPr>
                  <a:t>kn</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假设</a:t>
                </a:r>
                <a:r>
                  <a:rPr lang="en-US" altLang="zh-CN" dirty="0">
                    <a:latin typeface="华光仿宋_CNKI" panose="02000500000000000000" pitchFamily="2" charset="-122"/>
                    <a:ea typeface="华光仿宋_CNKI" panose="02000500000000000000" pitchFamily="2" charset="-122"/>
                  </a:rPr>
                  <a:t>k</a:t>
                </a:r>
                <a:r>
                  <a:rPr lang="zh-CN" altLang="en-US" dirty="0">
                    <a:latin typeface="华光仿宋_CNKI" panose="02000500000000000000" pitchFamily="2" charset="-122"/>
                    <a:ea typeface="华光仿宋_CNKI" panose="02000500000000000000" pitchFamily="2" charset="-122"/>
                  </a:rPr>
                  <a:t>是</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的投影（在三维空间中，可以是</a:t>
                </a:r>
                <a:r>
                  <a:rPr lang="en-US" altLang="zh-CN" dirty="0">
                    <a:latin typeface="华光仿宋_CNKI" panose="02000500000000000000" pitchFamily="2" charset="-122"/>
                    <a:ea typeface="华光仿宋_CNKI" panose="02000500000000000000" pitchFamily="2" charset="-122"/>
                  </a:rPr>
                  <a:t>XZ</a:t>
                </a:r>
                <a:r>
                  <a:rPr lang="zh-CN" altLang="en-US" dirty="0">
                    <a:latin typeface="华光仿宋_CNKI" panose="02000500000000000000" pitchFamily="2" charset="-122"/>
                    <a:ea typeface="华光仿宋_CNKI" panose="02000500000000000000" pitchFamily="2" charset="-122"/>
                  </a:rPr>
                  <a:t>面的投影），则</a:t>
                </a:r>
                <a14:m>
                  <m:oMath xmlns:m="http://schemas.openxmlformats.org/officeDocument/2006/math">
                    <m:r>
                      <a:rPr lang="en-US" altLang="zh-CN">
                        <a:latin typeface="Cambria Math" panose="02040503050406030204" pitchFamily="18" charset="0"/>
                      </a:rPr>
                      <m:t>𝑘</m:t>
                    </m:r>
                    <m:r>
                      <a:rPr lang="en-US" altLang="zh-CN">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a:latin typeface="Cambria Math" panose="02040503050406030204" pitchFamily="18" charset="0"/>
                          </a:rPr>
                          <m:t>𝑣</m:t>
                        </m:r>
                      </m:e>
                    </m:d>
                    <m:r>
                      <a:rPr lang="en-US" altLang="zh-CN">
                        <a:latin typeface="Cambria Math" panose="02040503050406030204" pitchFamily="18" charset="0"/>
                      </a:rPr>
                      <m:t>𝑐𝑜𝑠</m:t>
                    </m:r>
                    <m:r>
                      <a:rPr lang="zh-CN" altLang="en-US">
                        <a:latin typeface="Cambria Math" panose="02040503050406030204" pitchFamily="18" charset="0"/>
                      </a:rPr>
                      <m:t>𝜃</m:t>
                    </m:r>
                    <m:r>
                      <a:rPr lang="en-US" altLang="zh-CN">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可表示如下：</a:t>
                </a:r>
                <a:r>
                  <a:rPr lang="en-US" altLang="zh-CN" dirty="0"/>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69868" y="421703"/>
                <a:ext cx="10515600" cy="5562434"/>
              </a:xfrm>
              <a:blipFill>
                <a:blip r:embed="rId2"/>
                <a:stretch>
                  <a:fillRect l="-1159"/>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矢量</a:t>
            </a:r>
          </a:p>
        </p:txBody>
      </p:sp>
      <p:pic>
        <p:nvPicPr>
          <p:cNvPr id="5" name="图片 4"/>
          <p:cNvPicPr>
            <a:picLocks noChangeAspect="1"/>
          </p:cNvPicPr>
          <p:nvPr/>
        </p:nvPicPr>
        <p:blipFill>
          <a:blip r:embed="rId3"/>
          <a:stretch>
            <a:fillRect/>
          </a:stretch>
        </p:blipFill>
        <p:spPr>
          <a:xfrm>
            <a:off x="1351723" y="5413914"/>
            <a:ext cx="7924801" cy="772200"/>
          </a:xfrm>
          <a:prstGeom prst="rect">
            <a:avLst/>
          </a:prstGeom>
        </p:spPr>
      </p:pic>
    </p:spTree>
    <p:extLst>
      <p:ext uri="{BB962C8B-B14F-4D97-AF65-F5344CB8AC3E}">
        <p14:creationId xmlns:p14="http://schemas.microsoft.com/office/powerpoint/2010/main" val="3315250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9100" y="644801"/>
            <a:ext cx="10515600" cy="5630311"/>
          </a:xfrm>
        </p:spPr>
        <p:txBody>
          <a:bodyPr/>
          <a:lstStyle/>
          <a:p>
            <a:pPr marL="0" indent="0">
              <a:lnSpc>
                <a:spcPct val="170000"/>
              </a:lnSpc>
              <a:buNone/>
            </a:pPr>
            <a:r>
              <a:rPr lang="en-US" altLang="zh-CN" dirty="0"/>
              <a:t>          </a:t>
            </a:r>
            <a:r>
              <a:rPr lang="zh-CN" altLang="en-US" dirty="0">
                <a:latin typeface="华光仿宋_CNKI" panose="02000500000000000000" pitchFamily="2" charset="-122"/>
                <a:ea typeface="华光仿宋_CNKI" panose="02000500000000000000" pitchFamily="2" charset="-122"/>
              </a:rPr>
              <a:t>上式可以看出，</a:t>
            </a:r>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是</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方向的正投影，可以记为：</a:t>
            </a:r>
            <a:endParaRPr lang="en-US" altLang="zh-CN" dirty="0">
              <a:latin typeface="华光仿宋_CNKI" panose="02000500000000000000" pitchFamily="2" charset="-122"/>
              <a:ea typeface="华光仿宋_CNKI" panose="02000500000000000000" pitchFamily="2" charset="-122"/>
            </a:endParaRPr>
          </a:p>
          <a:p>
            <a:pPr marL="0" indent="0">
              <a:lnSpc>
                <a:spcPct val="17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7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如果</a:t>
            </a:r>
            <a:r>
              <a:rPr lang="en-US" altLang="zh-CN" dirty="0">
                <a:latin typeface="华光仿宋_CNKI" panose="02000500000000000000" pitchFamily="2" charset="-122"/>
                <a:ea typeface="华光仿宋_CNKI" panose="02000500000000000000" pitchFamily="2" charset="-122"/>
              </a:rPr>
              <a:t>w=v-p, </a:t>
            </a:r>
            <a:r>
              <a:rPr lang="zh-CN" altLang="en-US" dirty="0">
                <a:latin typeface="华光仿宋_CNKI" panose="02000500000000000000" pitchFamily="2" charset="-122"/>
                <a:ea typeface="华光仿宋_CNKI" panose="02000500000000000000" pitchFamily="2" charset="-122"/>
              </a:rPr>
              <a:t>则可发现</a:t>
            </a:r>
            <a:r>
              <a:rPr lang="en-US" altLang="zh-CN" dirty="0">
                <a:latin typeface="华光仿宋_CNKI" panose="02000500000000000000" pitchFamily="2" charset="-122"/>
                <a:ea typeface="华光仿宋_CNKI" panose="02000500000000000000" pitchFamily="2" charset="-122"/>
              </a:rPr>
              <a:t>w</a:t>
            </a:r>
            <a:r>
              <a:rPr lang="zh-CN" altLang="en-US" dirty="0">
                <a:latin typeface="华光仿宋_CNKI" panose="02000500000000000000" pitchFamily="2" charset="-122"/>
                <a:ea typeface="华光仿宋_CNKI" panose="02000500000000000000" pitchFamily="2" charset="-122"/>
              </a:rPr>
              <a:t>是</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在与</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垂直方向的投影。记为：</a:t>
            </a:r>
            <a:endParaRPr lang="en-US" altLang="zh-CN" dirty="0">
              <a:latin typeface="华光仿宋_CNKI" panose="02000500000000000000" pitchFamily="2" charset="-122"/>
              <a:ea typeface="华光仿宋_CNKI" panose="02000500000000000000" pitchFamily="2" charset="-122"/>
            </a:endParaRPr>
          </a:p>
          <a:p>
            <a:pPr marL="0" indent="0">
              <a:lnSpc>
                <a:spcPct val="170000"/>
              </a:lnSpc>
              <a:buNone/>
            </a:pPr>
            <a:r>
              <a:rPr lang="en-US" altLang="zh-CN" dirty="0">
                <a:latin typeface="华光仿宋_CNKI" panose="02000500000000000000" pitchFamily="2" charset="-122"/>
                <a:ea typeface="华光仿宋_CNKI" panose="02000500000000000000" pitchFamily="2" charset="-122"/>
              </a:rPr>
              <a:t>            </a:t>
            </a:r>
            <a:endParaRPr lang="zh-CN" altLang="en-US"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矢量</a:t>
            </a:r>
          </a:p>
        </p:txBody>
      </p:sp>
      <p:pic>
        <p:nvPicPr>
          <p:cNvPr id="5" name="图片 4"/>
          <p:cNvPicPr>
            <a:picLocks noChangeAspect="1"/>
          </p:cNvPicPr>
          <p:nvPr/>
        </p:nvPicPr>
        <p:blipFill>
          <a:blip r:embed="rId2"/>
          <a:stretch>
            <a:fillRect/>
          </a:stretch>
        </p:blipFill>
        <p:spPr>
          <a:xfrm>
            <a:off x="1935894" y="1606163"/>
            <a:ext cx="2365762" cy="639111"/>
          </a:xfrm>
          <a:prstGeom prst="rect">
            <a:avLst/>
          </a:prstGeom>
        </p:spPr>
      </p:pic>
      <p:pic>
        <p:nvPicPr>
          <p:cNvPr id="6" name="图片 5"/>
          <p:cNvPicPr>
            <a:picLocks noChangeAspect="1"/>
          </p:cNvPicPr>
          <p:nvPr/>
        </p:nvPicPr>
        <p:blipFill>
          <a:blip r:embed="rId3"/>
          <a:stretch>
            <a:fillRect/>
          </a:stretch>
        </p:blipFill>
        <p:spPr>
          <a:xfrm>
            <a:off x="5056449" y="3108049"/>
            <a:ext cx="6867525" cy="3265212"/>
          </a:xfrm>
          <a:prstGeom prst="rect">
            <a:avLst/>
          </a:prstGeom>
        </p:spPr>
      </p:pic>
      <p:pic>
        <p:nvPicPr>
          <p:cNvPr id="7" name="图片 6"/>
          <p:cNvPicPr>
            <a:picLocks noChangeAspect="1"/>
          </p:cNvPicPr>
          <p:nvPr/>
        </p:nvPicPr>
        <p:blipFill>
          <a:blip r:embed="rId4"/>
          <a:stretch>
            <a:fillRect/>
          </a:stretch>
        </p:blipFill>
        <p:spPr>
          <a:xfrm>
            <a:off x="1935894" y="3429000"/>
            <a:ext cx="3283308" cy="639111"/>
          </a:xfrm>
          <a:prstGeom prst="rect">
            <a:avLst/>
          </a:prstGeom>
        </p:spPr>
      </p:pic>
    </p:spTree>
    <p:extLst>
      <p:ext uri="{BB962C8B-B14F-4D97-AF65-F5344CB8AC3E}">
        <p14:creationId xmlns:p14="http://schemas.microsoft.com/office/powerpoint/2010/main" val="3434280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546652"/>
            <a:ext cx="5953125" cy="5630311"/>
          </a:xfrm>
        </p:spPr>
        <p:txBody>
          <a:bodyPr/>
          <a:lstStyle/>
          <a:p>
            <a:pPr marL="0" indent="0">
              <a:lnSpc>
                <a:spcPct val="150000"/>
              </a:lnSpc>
              <a:buNone/>
            </a:pPr>
            <a:r>
              <a:rPr lang="en-US" altLang="zh-CN" sz="2600" dirty="0">
                <a:latin typeface="华光大标宋_CNKI" panose="02000500000000000000" pitchFamily="2" charset="-122"/>
                <a:ea typeface="华光大标宋_CNKI" panose="02000500000000000000" pitchFamily="2" charset="-122"/>
              </a:rPr>
              <a:t>2.7 </a:t>
            </a:r>
            <a:r>
              <a:rPr lang="zh-CN" altLang="en-US" sz="2600" dirty="0">
                <a:latin typeface="华光大标宋_CNKI" panose="02000500000000000000" pitchFamily="2" charset="-122"/>
                <a:ea typeface="华光大标宋_CNKI" panose="02000500000000000000" pitchFamily="2" charset="-122"/>
              </a:rPr>
              <a:t>矢量的叉乘</a:t>
            </a:r>
            <a:endParaRPr lang="en-US" altLang="zh-CN" sz="2600"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t>     </a:t>
            </a:r>
            <a:r>
              <a:rPr lang="zh-CN" altLang="en-US" dirty="0">
                <a:latin typeface="华光仿宋_CNKI" panose="02000500000000000000" pitchFamily="2" charset="-122"/>
                <a:ea typeface="华光仿宋_CNKI" panose="02000500000000000000" pitchFamily="2" charset="-122"/>
              </a:rPr>
              <a:t>矢量的叉乘将产生另一个分量，该分量与叉乘的两个分量所构成的面垂直，且其方向满足左手定则。也就是伸出左手，四指所指的方向为第一个矢量的方向，然后旋转四指使其指向第二个矢量，这时拇指所指的方向即为叉乘后的矢量的方向。</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矢量</a:t>
            </a:r>
          </a:p>
        </p:txBody>
      </p:sp>
      <p:pic>
        <p:nvPicPr>
          <p:cNvPr id="5" name="图片 4"/>
          <p:cNvPicPr>
            <a:picLocks noChangeAspect="1"/>
          </p:cNvPicPr>
          <p:nvPr/>
        </p:nvPicPr>
        <p:blipFill>
          <a:blip r:embed="rId2"/>
          <a:stretch>
            <a:fillRect/>
          </a:stretch>
        </p:blipFill>
        <p:spPr>
          <a:xfrm>
            <a:off x="7096125" y="5076559"/>
            <a:ext cx="4667250" cy="695592"/>
          </a:xfrm>
          <a:prstGeom prst="rect">
            <a:avLst/>
          </a:prstGeom>
        </p:spPr>
      </p:pic>
      <p:pic>
        <p:nvPicPr>
          <p:cNvPr id="6" name="图片 5"/>
          <p:cNvPicPr>
            <a:picLocks noChangeAspect="1"/>
          </p:cNvPicPr>
          <p:nvPr/>
        </p:nvPicPr>
        <p:blipFill>
          <a:blip r:embed="rId3"/>
          <a:stretch>
            <a:fillRect/>
          </a:stretch>
        </p:blipFill>
        <p:spPr>
          <a:xfrm>
            <a:off x="7252021" y="855718"/>
            <a:ext cx="4355457" cy="4220841"/>
          </a:xfrm>
          <a:prstGeom prst="rect">
            <a:avLst/>
          </a:prstGeom>
        </p:spPr>
      </p:pic>
    </p:spTree>
    <p:extLst>
      <p:ext uri="{BB962C8B-B14F-4D97-AF65-F5344CB8AC3E}">
        <p14:creationId xmlns:p14="http://schemas.microsoft.com/office/powerpoint/2010/main" val="365016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7774" y="1325562"/>
            <a:ext cx="10515600" cy="5132387"/>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无论是</a:t>
            </a:r>
            <a:r>
              <a:rPr lang="en-US" altLang="zh-CN" sz="2600" dirty="0">
                <a:latin typeface="华光仿宋_CNKI" panose="02000500000000000000" pitchFamily="2" charset="-122"/>
                <a:ea typeface="华光仿宋_CNKI" panose="02000500000000000000" pitchFamily="2" charset="-122"/>
              </a:rPr>
              <a:t>2D</a:t>
            </a:r>
            <a:r>
              <a:rPr lang="zh-CN" altLang="en-US" sz="2600" dirty="0">
                <a:latin typeface="华光仿宋_CNKI" panose="02000500000000000000" pitchFamily="2" charset="-122"/>
                <a:ea typeface="华光仿宋_CNKI" panose="02000500000000000000" pitchFamily="2" charset="-122"/>
              </a:rPr>
              <a:t>还是</a:t>
            </a:r>
            <a:r>
              <a:rPr lang="en-US" altLang="zh-CN" sz="2600" dirty="0">
                <a:latin typeface="华光仿宋_CNKI" panose="02000500000000000000" pitchFamily="2" charset="-122"/>
                <a:ea typeface="华光仿宋_CNKI" panose="02000500000000000000" pitchFamily="2" charset="-122"/>
              </a:rPr>
              <a:t>3D</a:t>
            </a:r>
            <a:r>
              <a:rPr lang="zh-CN" altLang="en-US" sz="2600" dirty="0">
                <a:latin typeface="华光仿宋_CNKI" panose="02000500000000000000" pitchFamily="2" charset="-122"/>
                <a:ea typeface="华光仿宋_CNKI" panose="02000500000000000000" pitchFamily="2" charset="-122"/>
              </a:rPr>
              <a:t>图形，其图形变换所采用的方法原则上是相同的，</a:t>
            </a:r>
            <a:r>
              <a:rPr lang="en-US" altLang="zh-CN" sz="2600" dirty="0">
                <a:latin typeface="华光仿宋_CNKI" panose="02000500000000000000" pitchFamily="2" charset="-122"/>
                <a:ea typeface="华光仿宋_CNKI" panose="02000500000000000000" pitchFamily="2" charset="-122"/>
              </a:rPr>
              <a:t>2D</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3D</a:t>
            </a:r>
            <a:r>
              <a:rPr lang="zh-CN" altLang="en-US" sz="2600" dirty="0">
                <a:latin typeface="华光仿宋_CNKI" panose="02000500000000000000" pitchFamily="2" charset="-122"/>
                <a:ea typeface="华光仿宋_CNKI" panose="02000500000000000000" pitchFamily="2" charset="-122"/>
              </a:rPr>
              <a:t>不同的地方在于坐标轴的差异。在</a:t>
            </a:r>
            <a:r>
              <a:rPr lang="en-US" altLang="zh-CN" sz="2600" dirty="0">
                <a:latin typeface="华光仿宋_CNKI" panose="02000500000000000000" pitchFamily="2" charset="-122"/>
                <a:ea typeface="华光仿宋_CNKI" panose="02000500000000000000" pitchFamily="2" charset="-122"/>
              </a:rPr>
              <a:t>2D</a:t>
            </a:r>
            <a:r>
              <a:rPr lang="zh-CN" altLang="en-US" sz="2600" dirty="0">
                <a:latin typeface="华光仿宋_CNKI" panose="02000500000000000000" pitchFamily="2" charset="-122"/>
                <a:ea typeface="华光仿宋_CNKI" panose="02000500000000000000" pitchFamily="2" charset="-122"/>
              </a:rPr>
              <a:t>变换的基础上增加</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维的数据即可变成</a:t>
            </a:r>
            <a:r>
              <a:rPr lang="en-US" altLang="zh-CN" sz="2600" dirty="0">
                <a:latin typeface="华光仿宋_CNKI" panose="02000500000000000000" pitchFamily="2" charset="-122"/>
                <a:ea typeface="华光仿宋_CNKI" panose="02000500000000000000" pitchFamily="2" charset="-122"/>
              </a:rPr>
              <a:t>3D</a:t>
            </a:r>
            <a:r>
              <a:rPr lang="zh-CN" altLang="en-US" sz="2600" dirty="0">
                <a:latin typeface="华光仿宋_CNKI" panose="02000500000000000000" pitchFamily="2" charset="-122"/>
                <a:ea typeface="华光仿宋_CNKI" panose="02000500000000000000" pitchFamily="2" charset="-122"/>
              </a:rPr>
              <a:t>变换。</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图形变换包含几个基本的变换：</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）平移变换：也就是沿一个或者多个坐标轴方向上进行平移。</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）旋转变换：绕某个坐标轴或者空间任意轴旋转某个角度。</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）缩放变换：沿一个或多个坐标轴方向进行放大或缩小变换。</a:t>
            </a:r>
            <a:endParaRPr lang="en-US" altLang="zh-CN" sz="2600"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907774"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800" b="1" dirty="0">
                <a:solidFill>
                  <a:srgbClr val="FF0000"/>
                </a:solidFill>
                <a:latin typeface="黑体" panose="02010609060101010101" pitchFamily="49" charset="-122"/>
                <a:ea typeface="黑体" panose="02010609060101010101" pitchFamily="49" charset="-122"/>
              </a:rPr>
              <a:t>图形变换</a:t>
            </a:r>
          </a:p>
        </p:txBody>
      </p:sp>
    </p:spTree>
    <p:extLst>
      <p:ext uri="{BB962C8B-B14F-4D97-AF65-F5344CB8AC3E}">
        <p14:creationId xmlns:p14="http://schemas.microsoft.com/office/powerpoint/2010/main" val="3777714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3856" y="859020"/>
            <a:ext cx="7796514" cy="4985190"/>
          </a:xfrm>
        </p:spPr>
        <p:txBody>
          <a:bodyPr>
            <a:norm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1. </a:t>
            </a:r>
            <a:r>
              <a:rPr lang="zh-CN" altLang="en-US" dirty="0">
                <a:latin typeface="华光超粗黑_CNKI" panose="02000500000000000000" pitchFamily="2" charset="-122"/>
                <a:ea typeface="华光超粗黑_CNKI" panose="02000500000000000000" pitchFamily="2" charset="-122"/>
              </a:rPr>
              <a:t>平移变换</a:t>
            </a:r>
            <a:endParaRPr lang="en-US" altLang="zh-CN" dirty="0">
              <a:latin typeface="华光超粗黑_CNKI" panose="02000500000000000000" pitchFamily="2" charset="-122"/>
              <a:ea typeface="华光超粗黑_CNKI" panose="02000500000000000000" pitchFamily="2" charset="-122"/>
            </a:endParaRPr>
          </a:p>
          <a:p>
            <a:pPr marL="0" indent="0">
              <a:lnSpc>
                <a:spcPct val="150000"/>
              </a:lnSpc>
              <a:buNone/>
            </a:pPr>
            <a:r>
              <a:rPr lang="en-US" altLang="zh-CN" dirty="0">
                <a:latin typeface="+mn-ea"/>
              </a:rPr>
              <a:t>    </a:t>
            </a:r>
            <a:r>
              <a:rPr lang="zh-CN" altLang="en-US" sz="2600" dirty="0">
                <a:latin typeface="华光仿宋_CNKI" panose="02000500000000000000" pitchFamily="2" charset="-122"/>
                <a:ea typeface="华光仿宋_CNKI" panose="02000500000000000000" pitchFamily="2" charset="-122"/>
              </a:rPr>
              <a:t>对于</a:t>
            </a:r>
            <a:r>
              <a:rPr lang="en-US" altLang="zh-CN" sz="2600" dirty="0">
                <a:latin typeface="华光仿宋_CNKI" panose="02000500000000000000" pitchFamily="2" charset="-122"/>
                <a:ea typeface="华光仿宋_CNKI" panose="02000500000000000000" pitchFamily="2" charset="-122"/>
              </a:rPr>
              <a:t>2D</a:t>
            </a:r>
            <a:r>
              <a:rPr lang="zh-CN" altLang="en-US" sz="2600" dirty="0">
                <a:latin typeface="华光仿宋_CNKI" panose="02000500000000000000" pitchFamily="2" charset="-122"/>
                <a:ea typeface="华光仿宋_CNKI" panose="02000500000000000000" pitchFamily="2" charset="-122"/>
              </a:rPr>
              <a:t>图形来说，可通过右上的转换矩阵实现沿</a:t>
            </a:r>
            <a:r>
              <a:rPr lang="en-US" altLang="zh-CN" sz="2600" dirty="0">
                <a:latin typeface="华光仿宋_CNKI" panose="02000500000000000000" pitchFamily="2" charset="-122"/>
                <a:ea typeface="华光仿宋_CNKI" panose="02000500000000000000" pitchFamily="2" charset="-122"/>
              </a:rPr>
              <a:t>X</a:t>
            </a:r>
            <a:r>
              <a:rPr lang="zh-CN" altLang="en-US" sz="2600" dirty="0">
                <a:latin typeface="华光仿宋_CNKI" panose="02000500000000000000" pitchFamily="2" charset="-122"/>
                <a:ea typeface="华光仿宋_CNKI" panose="02000500000000000000" pitchFamily="2" charset="-122"/>
              </a:rPr>
              <a:t>轴或者</a:t>
            </a:r>
            <a:r>
              <a:rPr lang="en-US" altLang="zh-CN" sz="2600" dirty="0">
                <a:latin typeface="华光仿宋_CNKI" panose="02000500000000000000" pitchFamily="2" charset="-122"/>
                <a:ea typeface="华光仿宋_CNKI" panose="02000500000000000000" pitchFamily="2" charset="-122"/>
              </a:rPr>
              <a:t>Y</a:t>
            </a:r>
            <a:r>
              <a:rPr lang="zh-CN" altLang="en-US" sz="2600" dirty="0">
                <a:latin typeface="华光仿宋_CNKI" panose="02000500000000000000" pitchFamily="2" charset="-122"/>
                <a:ea typeface="华光仿宋_CNKI" panose="02000500000000000000" pitchFamily="2" charset="-122"/>
              </a:rPr>
              <a:t>轴的平移。该该变换实现将某些点从当前位置在</a:t>
            </a:r>
            <a:r>
              <a:rPr lang="en-US" altLang="zh-CN" sz="2600" dirty="0">
                <a:latin typeface="华光仿宋_CNKI" panose="02000500000000000000" pitchFamily="2" charset="-122"/>
                <a:ea typeface="华光仿宋_CNKI" panose="02000500000000000000" pitchFamily="2" charset="-122"/>
              </a:rPr>
              <a:t>X</a:t>
            </a:r>
            <a:r>
              <a:rPr lang="zh-CN" altLang="en-US" sz="2600" dirty="0">
                <a:latin typeface="华光仿宋_CNKI" panose="02000500000000000000" pitchFamily="2" charset="-122"/>
                <a:ea typeface="华光仿宋_CNKI" panose="02000500000000000000" pitchFamily="2" charset="-122"/>
              </a:rPr>
              <a:t>轴平移</a:t>
            </a:r>
            <a:r>
              <a:rPr lang="en-US" altLang="zh-CN" sz="2600" dirty="0">
                <a:latin typeface="华光仿宋_CNKI" panose="02000500000000000000" pitchFamily="2" charset="-122"/>
                <a:ea typeface="华光仿宋_CNKI" panose="02000500000000000000" pitchFamily="2" charset="-122"/>
              </a:rPr>
              <a:t>bx,</a:t>
            </a:r>
            <a:r>
              <a:rPr lang="zh-CN" altLang="en-US" sz="2600" dirty="0">
                <a:latin typeface="华光仿宋_CNKI" panose="02000500000000000000" pitchFamily="2" charset="-122"/>
                <a:ea typeface="华光仿宋_CNKI" panose="02000500000000000000" pitchFamily="2" charset="-122"/>
              </a:rPr>
              <a:t>在</a:t>
            </a:r>
            <a:r>
              <a:rPr lang="en-US" altLang="zh-CN" sz="2600" dirty="0">
                <a:latin typeface="华光仿宋_CNKI" panose="02000500000000000000" pitchFamily="2" charset="-122"/>
                <a:ea typeface="华光仿宋_CNKI" panose="02000500000000000000" pitchFamily="2" charset="-122"/>
              </a:rPr>
              <a:t>Y</a:t>
            </a:r>
            <a:r>
              <a:rPr lang="zh-CN" altLang="en-US" sz="2600" dirty="0">
                <a:latin typeface="华光仿宋_CNKI" panose="02000500000000000000" pitchFamily="2" charset="-122"/>
                <a:ea typeface="华光仿宋_CNKI" panose="02000500000000000000" pitchFamily="2" charset="-122"/>
              </a:rPr>
              <a:t>轴平移</a:t>
            </a:r>
            <a:r>
              <a:rPr lang="en-US" altLang="zh-CN" sz="2600" dirty="0">
                <a:latin typeface="华光仿宋_CNKI" panose="02000500000000000000" pitchFamily="2" charset="-122"/>
                <a:ea typeface="华光仿宋_CNKI" panose="02000500000000000000" pitchFamily="2" charset="-122"/>
              </a:rPr>
              <a:t>by</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3D</a:t>
            </a:r>
            <a:r>
              <a:rPr lang="zh-CN" altLang="en-US" sz="2600" dirty="0">
                <a:latin typeface="华光仿宋_CNKI" panose="02000500000000000000" pitchFamily="2" charset="-122"/>
                <a:ea typeface="华光仿宋_CNKI" panose="02000500000000000000" pitchFamily="2" charset="-122"/>
              </a:rPr>
              <a:t>图形可通过右下图所示的矩阵实现</a:t>
            </a:r>
            <a:r>
              <a:rPr lang="en-US" altLang="zh-CN" sz="2600" dirty="0">
                <a:latin typeface="华光仿宋_CNKI" panose="02000500000000000000" pitchFamily="2" charset="-122"/>
                <a:ea typeface="华光仿宋_CNKI" panose="02000500000000000000" pitchFamily="2" charset="-122"/>
              </a:rPr>
              <a:t>X</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Y</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Z</a:t>
            </a:r>
            <a:r>
              <a:rPr lang="zh-CN" altLang="en-US" sz="2600" dirty="0">
                <a:latin typeface="华光仿宋_CNKI" panose="02000500000000000000" pitchFamily="2" charset="-122"/>
                <a:ea typeface="华光仿宋_CNKI" panose="02000500000000000000" pitchFamily="2" charset="-122"/>
              </a:rPr>
              <a:t>轴方向上的平移。该变换实现将某些点从当前位置在</a:t>
            </a:r>
            <a:r>
              <a:rPr lang="en-US" altLang="zh-CN" sz="2600" dirty="0">
                <a:latin typeface="华光仿宋_CNKI" panose="02000500000000000000" pitchFamily="2" charset="-122"/>
                <a:ea typeface="华光仿宋_CNKI" panose="02000500000000000000" pitchFamily="2" charset="-122"/>
              </a:rPr>
              <a:t>X</a:t>
            </a:r>
            <a:r>
              <a:rPr lang="zh-CN" altLang="en-US" sz="2600" dirty="0">
                <a:latin typeface="华光仿宋_CNKI" panose="02000500000000000000" pitchFamily="2" charset="-122"/>
                <a:ea typeface="华光仿宋_CNKI" panose="02000500000000000000" pitchFamily="2" charset="-122"/>
              </a:rPr>
              <a:t>轴平移</a:t>
            </a:r>
            <a:r>
              <a:rPr lang="en-US" altLang="zh-CN" sz="2600" dirty="0">
                <a:latin typeface="华光仿宋_CNKI" panose="02000500000000000000" pitchFamily="2" charset="-122"/>
                <a:ea typeface="华光仿宋_CNKI" panose="02000500000000000000" pitchFamily="2" charset="-122"/>
              </a:rPr>
              <a:t>bx,</a:t>
            </a:r>
            <a:r>
              <a:rPr lang="zh-CN" altLang="en-US" sz="2600" dirty="0">
                <a:latin typeface="华光仿宋_CNKI" panose="02000500000000000000" pitchFamily="2" charset="-122"/>
                <a:ea typeface="华光仿宋_CNKI" panose="02000500000000000000" pitchFamily="2" charset="-122"/>
              </a:rPr>
              <a:t>在</a:t>
            </a:r>
            <a:r>
              <a:rPr lang="en-US" altLang="zh-CN" sz="2600" dirty="0">
                <a:latin typeface="华光仿宋_CNKI" panose="02000500000000000000" pitchFamily="2" charset="-122"/>
                <a:ea typeface="华光仿宋_CNKI" panose="02000500000000000000" pitchFamily="2" charset="-122"/>
              </a:rPr>
              <a:t>Y</a:t>
            </a:r>
            <a:r>
              <a:rPr lang="zh-CN" altLang="en-US" sz="2600" dirty="0">
                <a:latin typeface="华光仿宋_CNKI" panose="02000500000000000000" pitchFamily="2" charset="-122"/>
                <a:ea typeface="华光仿宋_CNKI" panose="02000500000000000000" pitchFamily="2" charset="-122"/>
              </a:rPr>
              <a:t>轴平移</a:t>
            </a:r>
            <a:r>
              <a:rPr lang="en-US" altLang="zh-CN" sz="2600" dirty="0">
                <a:latin typeface="华光仿宋_CNKI" panose="02000500000000000000" pitchFamily="2" charset="-122"/>
                <a:ea typeface="华光仿宋_CNKI" panose="02000500000000000000" pitchFamily="2" charset="-122"/>
              </a:rPr>
              <a:t>by,</a:t>
            </a:r>
            <a:r>
              <a:rPr lang="zh-CN" altLang="en-US" sz="2600" dirty="0">
                <a:latin typeface="华光仿宋_CNKI" panose="02000500000000000000" pitchFamily="2" charset="-122"/>
                <a:ea typeface="华光仿宋_CNKI" panose="02000500000000000000" pitchFamily="2" charset="-122"/>
              </a:rPr>
              <a:t>在</a:t>
            </a:r>
            <a:r>
              <a:rPr lang="en-US" altLang="zh-CN" sz="2600" dirty="0">
                <a:latin typeface="华光仿宋_CNKI" panose="02000500000000000000" pitchFamily="2" charset="-122"/>
                <a:ea typeface="华光仿宋_CNKI" panose="02000500000000000000" pitchFamily="2" charset="-122"/>
              </a:rPr>
              <a:t>Z</a:t>
            </a:r>
            <a:r>
              <a:rPr lang="zh-CN" altLang="en-US" sz="2600" dirty="0">
                <a:latin typeface="华光仿宋_CNKI" panose="02000500000000000000" pitchFamily="2" charset="-122"/>
                <a:ea typeface="华光仿宋_CNKI" panose="02000500000000000000" pitchFamily="2" charset="-122"/>
              </a:rPr>
              <a:t>轴平移</a:t>
            </a:r>
            <a:r>
              <a:rPr lang="en-US" altLang="zh-CN" sz="2600" dirty="0" err="1">
                <a:latin typeface="华光仿宋_CNKI" panose="02000500000000000000" pitchFamily="2" charset="-122"/>
                <a:ea typeface="华光仿宋_CNKI" panose="02000500000000000000" pitchFamily="2" charset="-122"/>
              </a:rPr>
              <a:t>bz</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18385ED-E54C-526B-ABDA-D90CCEB001A9}"/>
                  </a:ext>
                </a:extLst>
              </p:cNvPr>
              <p:cNvSpPr txBox="1"/>
              <p:nvPr/>
            </p:nvSpPr>
            <p:spPr>
              <a:xfrm>
                <a:off x="9253580" y="1201057"/>
                <a:ext cx="2154564" cy="1369477"/>
              </a:xfrm>
              <a:prstGeom prst="rect">
                <a:avLst/>
              </a:prstGeom>
              <a:noFill/>
            </p:spPr>
            <p:txBody>
              <a:bodyPr wrap="non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𝐷</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800" i="1" smtClean="0">
                            <a:latin typeface="Cambria Math" panose="02040503050406030204" pitchFamily="18" charset="0"/>
                          </a:rPr>
                        </m:ctrlPr>
                      </m:dPr>
                      <m:e>
                        <m:eqArr>
                          <m:eqArrPr>
                            <m:ctrlPr>
                              <a:rPr lang="en-US" altLang="zh-CN" sz="2800" b="0" i="1" smtClean="0">
                                <a:latin typeface="Cambria Math" panose="02040503050406030204" pitchFamily="18" charset="0"/>
                              </a:rPr>
                            </m:ctrlPr>
                          </m:eqArrPr>
                          <m:e>
                            <m:r>
                              <a:rPr lang="en-US" altLang="zh-CN" sz="2800" b="0" i="1" smtClean="0">
                                <a:latin typeface="Cambria Math" panose="02040503050406030204" pitchFamily="18" charset="0"/>
                              </a:rPr>
                              <m:t>1   0   0</m:t>
                            </m:r>
                          </m:e>
                          <m:e>
                            <m:r>
                              <a:rPr lang="en-US" altLang="zh-CN" sz="2800" b="0" i="1" smtClean="0">
                                <a:latin typeface="Cambria Math" panose="02040503050406030204" pitchFamily="18" charset="0"/>
                              </a:rPr>
                              <m:t>0   1   0</m:t>
                            </m:r>
                          </m:e>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𝑏</m:t>
                                </m:r>
                              </m:e>
                              <m:sub>
                                <m:r>
                                  <a:rPr lang="en-US" altLang="zh-CN" sz="2800" b="0" i="1" smtClean="0">
                                    <a:latin typeface="Cambria Math" panose="02040503050406030204" pitchFamily="18" charset="0"/>
                                  </a:rPr>
                                  <m:t>𝑥</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𝑏</m:t>
                                </m:r>
                              </m:e>
                              <m:sub>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 </m:t>
                                </m:r>
                              </m:sub>
                            </m:sSub>
                            <m:r>
                              <a:rPr lang="en-US" altLang="zh-CN" sz="2800" b="0" i="1" smtClean="0">
                                <a:latin typeface="Cambria Math" panose="02040503050406030204" pitchFamily="18" charset="0"/>
                              </a:rPr>
                              <m:t>1</m:t>
                            </m:r>
                          </m:e>
                        </m:eqArr>
                      </m:e>
                    </m:d>
                  </m:oMath>
                </a14:m>
                <a:endParaRPr lang="zh-CN" altLang="en-US" sz="2800" dirty="0"/>
              </a:p>
            </p:txBody>
          </p:sp>
        </mc:Choice>
        <mc:Fallback xmlns="">
          <p:sp>
            <p:nvSpPr>
              <p:cNvPr id="2" name="文本框 1">
                <a:extLst>
                  <a:ext uri="{FF2B5EF4-FFF2-40B4-BE49-F238E27FC236}">
                    <a16:creationId xmlns:a16="http://schemas.microsoft.com/office/drawing/2014/main" id="{318385ED-E54C-526B-ABDA-D90CCEB001A9}"/>
                  </a:ext>
                </a:extLst>
              </p:cNvPr>
              <p:cNvSpPr txBox="1">
                <a:spLocks noRot="1" noChangeAspect="1" noMove="1" noResize="1" noEditPoints="1" noAdjustHandles="1" noChangeArrowheads="1" noChangeShapeType="1" noTextEdit="1"/>
              </p:cNvSpPr>
              <p:nvPr/>
            </p:nvSpPr>
            <p:spPr>
              <a:xfrm>
                <a:off x="9253580" y="1201057"/>
                <a:ext cx="2154564" cy="136947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592367D-65AC-0EA3-A2CE-FB2898C7743A}"/>
                  </a:ext>
                </a:extLst>
              </p:cNvPr>
              <p:cNvSpPr txBox="1"/>
              <p:nvPr/>
            </p:nvSpPr>
            <p:spPr>
              <a:xfrm>
                <a:off x="8927008" y="3240315"/>
                <a:ext cx="2617640" cy="1681229"/>
              </a:xfrm>
              <a:prstGeom prst="rect">
                <a:avLst/>
              </a:prstGeom>
              <a:noFill/>
            </p:spPr>
            <p:txBody>
              <a:bodyPr wrap="non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3</m:t>
                        </m:r>
                        <m:r>
                          <a:rPr lang="en-US" altLang="zh-CN" sz="2800" b="0" i="1" smtClean="0">
                            <a:latin typeface="Cambria Math" panose="02040503050406030204" pitchFamily="18" charset="0"/>
                          </a:rPr>
                          <m:t>𝐷</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800" i="1" smtClean="0">
                            <a:latin typeface="Cambria Math" panose="02040503050406030204" pitchFamily="18" charset="0"/>
                          </a:rPr>
                        </m:ctrlPr>
                      </m:dPr>
                      <m:e>
                        <m:eqArr>
                          <m:eqArrPr>
                            <m:ctrlPr>
                              <a:rPr lang="en-US" altLang="zh-CN" sz="2800" b="0" i="1" smtClean="0">
                                <a:latin typeface="Cambria Math" panose="02040503050406030204" pitchFamily="18" charset="0"/>
                              </a:rPr>
                            </m:ctrlPr>
                          </m:eqArrPr>
                          <m:e>
                            <m:r>
                              <a:rPr lang="en-US" altLang="zh-CN" sz="2800" b="0" i="1" smtClean="0">
                                <a:latin typeface="Cambria Math" panose="02040503050406030204" pitchFamily="18" charset="0"/>
                              </a:rPr>
                              <m:t>1   0   0   0</m:t>
                            </m:r>
                          </m:e>
                          <m:e>
                            <m:r>
                              <a:rPr lang="en-US" altLang="zh-CN" sz="2800" b="0" i="1" smtClean="0">
                                <a:latin typeface="Cambria Math" panose="02040503050406030204" pitchFamily="18" charset="0"/>
                              </a:rPr>
                              <m:t>0   1   0   0</m:t>
                            </m:r>
                          </m:e>
                          <m:e>
                            <m:r>
                              <a:rPr lang="en-US" altLang="zh-CN" sz="2800" b="0" i="1" smtClean="0">
                                <a:latin typeface="Cambria Math" panose="02040503050406030204" pitchFamily="18" charset="0"/>
                              </a:rPr>
                              <m:t>0   0   1   0</m:t>
                            </m:r>
                          </m:e>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𝑏</m:t>
                                </m:r>
                              </m:e>
                              <m:sub>
                                <m:r>
                                  <a:rPr lang="en-US" altLang="zh-CN" sz="2800" b="0" i="1" smtClean="0">
                                    <a:latin typeface="Cambria Math" panose="02040503050406030204" pitchFamily="18" charset="0"/>
                                  </a:rPr>
                                  <m:t>𝑥</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𝑏</m:t>
                                </m:r>
                              </m:e>
                              <m:sub>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 </m:t>
                                </m:r>
                              </m:sub>
                            </m:sSub>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 </m:t>
                                </m:r>
                                <m:r>
                                  <a:rPr lang="en-US" altLang="zh-CN" sz="2800" i="1">
                                    <a:latin typeface="Cambria Math" panose="02040503050406030204" pitchFamily="18" charset="0"/>
                                  </a:rPr>
                                  <m:t>𝑏</m:t>
                                </m:r>
                              </m:e>
                              <m:sub>
                                <m:r>
                                  <a:rPr lang="en-US" altLang="zh-CN" sz="2800" b="0" i="1" smtClean="0">
                                    <a:latin typeface="Cambria Math" panose="02040503050406030204" pitchFamily="18" charset="0"/>
                                  </a:rPr>
                                  <m:t>𝑧</m:t>
                                </m:r>
                                <m:r>
                                  <a:rPr lang="en-US" altLang="zh-CN" sz="2800" i="1">
                                    <a:latin typeface="Cambria Math" panose="02040503050406030204" pitchFamily="18" charset="0"/>
                                  </a:rPr>
                                  <m:t> </m:t>
                                </m:r>
                              </m:sub>
                            </m:sSub>
                            <m:r>
                              <a:rPr lang="en-US" altLang="zh-CN" sz="2800" b="0" i="1" smtClean="0">
                                <a:latin typeface="Cambria Math" panose="02040503050406030204" pitchFamily="18" charset="0"/>
                              </a:rPr>
                              <m:t>1</m:t>
                            </m:r>
                          </m:e>
                        </m:eqArr>
                      </m:e>
                    </m:d>
                  </m:oMath>
                </a14:m>
                <a:endParaRPr lang="zh-CN" altLang="en-US" sz="2800" dirty="0"/>
              </a:p>
            </p:txBody>
          </p:sp>
        </mc:Choice>
        <mc:Fallback xmlns="">
          <p:sp>
            <p:nvSpPr>
              <p:cNvPr id="5" name="文本框 4">
                <a:extLst>
                  <a:ext uri="{FF2B5EF4-FFF2-40B4-BE49-F238E27FC236}">
                    <a16:creationId xmlns:a16="http://schemas.microsoft.com/office/drawing/2014/main" id="{7592367D-65AC-0EA3-A2CE-FB2898C7743A}"/>
                  </a:ext>
                </a:extLst>
              </p:cNvPr>
              <p:cNvSpPr txBox="1">
                <a:spLocks noRot="1" noChangeAspect="1" noMove="1" noResize="1" noEditPoints="1" noAdjustHandles="1" noChangeArrowheads="1" noChangeShapeType="1" noTextEdit="1"/>
              </p:cNvSpPr>
              <p:nvPr/>
            </p:nvSpPr>
            <p:spPr>
              <a:xfrm>
                <a:off x="8927008" y="3240315"/>
                <a:ext cx="2617640" cy="1681229"/>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57235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12358" y="961507"/>
            <a:ext cx="8268031" cy="4938361"/>
          </a:xfrm>
        </p:spPr>
        <p:txBody>
          <a:bodyPr>
            <a:normAutofit/>
          </a:bodyPr>
          <a:lstStyle/>
          <a:p>
            <a:pPr marL="0" indent="0">
              <a:lnSpc>
                <a:spcPct val="150000"/>
              </a:lnSpc>
              <a:buNone/>
            </a:pPr>
            <a:r>
              <a:rPr lang="en-US" altLang="zh-CN" dirty="0">
                <a:latin typeface="华光标题宋_CNKI" panose="02000500000000000000" pitchFamily="2" charset="-122"/>
                <a:ea typeface="华光标题宋_CNKI" panose="02000500000000000000" pitchFamily="2" charset="-122"/>
              </a:rPr>
              <a:t>2. </a:t>
            </a:r>
            <a:r>
              <a:rPr lang="zh-CN" altLang="en-US" dirty="0">
                <a:latin typeface="华光标题宋_CNKI" panose="02000500000000000000" pitchFamily="2" charset="-122"/>
                <a:ea typeface="华光标题宋_CNKI" panose="02000500000000000000" pitchFamily="2" charset="-122"/>
              </a:rPr>
              <a:t>缩放变换</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图形而言，其在</a:t>
            </a:r>
            <a:r>
              <a:rPr lang="en-US" altLang="zh-CN" dirty="0" err="1">
                <a:latin typeface="华光仿宋_CNKI" panose="02000500000000000000" pitchFamily="2" charset="-122"/>
                <a:ea typeface="华光仿宋_CNKI" panose="02000500000000000000" pitchFamily="2" charset="-122"/>
              </a:rPr>
              <a:t>x,y</a:t>
            </a:r>
            <a:r>
              <a:rPr lang="zh-CN" altLang="en-US" dirty="0">
                <a:latin typeface="华光仿宋_CNKI" panose="02000500000000000000" pitchFamily="2" charset="-122"/>
                <a:ea typeface="华光仿宋_CNKI" panose="02000500000000000000" pitchFamily="2" charset="-122"/>
              </a:rPr>
              <a:t>轴的缩放矩阵如右上图所示；</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图形的缩放变换实现在</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三个坐标轴上的缩放，其变换矩阵如右图所示。其中</a:t>
            </a:r>
            <a:r>
              <a:rPr lang="en-US" altLang="zh-CN" dirty="0" err="1">
                <a:latin typeface="华光仿宋_CNKI" panose="02000500000000000000" pitchFamily="2" charset="-122"/>
                <a:ea typeface="华光仿宋_CNKI" panose="02000500000000000000" pitchFamily="2" charset="-122"/>
              </a:rPr>
              <a:t>Sx,Sy,Sz</a:t>
            </a:r>
            <a:r>
              <a:rPr lang="zh-CN" altLang="en-US" dirty="0">
                <a:latin typeface="华光仿宋_CNKI" panose="02000500000000000000" pitchFamily="2" charset="-122"/>
                <a:ea typeface="华光仿宋_CNKI" panose="02000500000000000000" pitchFamily="2" charset="-122"/>
              </a:rPr>
              <a:t>分别表示在</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轴上的缩放因子。对于空间的一个点，如果希望将该矢量在</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轴上的投影分别缩小</a:t>
            </a:r>
            <a:r>
              <a:rPr lang="en-US" altLang="zh-CN" dirty="0" err="1">
                <a:latin typeface="华光仿宋_CNKI" panose="02000500000000000000" pitchFamily="2" charset="-122"/>
                <a:ea typeface="华光仿宋_CNKI" panose="02000500000000000000" pitchFamily="2" charset="-122"/>
              </a:rPr>
              <a:t>Sx,Sy</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Sz</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则可以将该矢量乘以</a:t>
            </a:r>
            <a:r>
              <a:rPr lang="en-US" altLang="zh-CN" dirty="0">
                <a:latin typeface="华光仿宋_CNKI" panose="02000500000000000000" pitchFamily="2" charset="-122"/>
                <a:ea typeface="华光仿宋_CNKI" panose="02000500000000000000" pitchFamily="2" charset="-122"/>
              </a:rPr>
              <a:t>S</a:t>
            </a:r>
            <a:r>
              <a:rPr lang="zh-CN" altLang="en-US" dirty="0">
                <a:latin typeface="华光仿宋_CNKI" panose="02000500000000000000" pitchFamily="2" charset="-122"/>
                <a:ea typeface="华光仿宋_CNKI" panose="02000500000000000000" pitchFamily="2" charset="-122"/>
              </a:rPr>
              <a:t>即可。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67665AC-A83E-CA8E-6530-8DE12C8108E4}"/>
                  </a:ext>
                </a:extLst>
              </p:cNvPr>
              <p:cNvSpPr txBox="1"/>
              <p:nvPr/>
            </p:nvSpPr>
            <p:spPr>
              <a:xfrm>
                <a:off x="9253580" y="1201057"/>
                <a:ext cx="2228174" cy="1369477"/>
              </a:xfrm>
              <a:prstGeom prst="rect">
                <a:avLst/>
              </a:prstGeom>
              <a:noFill/>
            </p:spPr>
            <p:txBody>
              <a:bodyPr wrap="non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𝑆</m:t>
                        </m:r>
                      </m:e>
                      <m:sub>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𝐷</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800" i="1" smtClean="0">
                            <a:latin typeface="Cambria Math" panose="02040503050406030204" pitchFamily="18" charset="0"/>
                          </a:rPr>
                        </m:ctrlPr>
                      </m:dPr>
                      <m:e>
                        <m:eqArr>
                          <m:eqArrPr>
                            <m:ctrlPr>
                              <a:rPr lang="en-US" altLang="zh-CN" sz="2800" b="0" i="1" smtClean="0">
                                <a:latin typeface="Cambria Math" panose="02040503050406030204" pitchFamily="18" charset="0"/>
                              </a:rPr>
                            </m:ctrlPr>
                          </m:eqArrPr>
                          <m:e>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𝑠</m:t>
                                </m:r>
                              </m:e>
                              <m:sub>
                                <m:r>
                                  <a:rPr lang="en-US" altLang="zh-CN" sz="2800" i="1">
                                    <a:latin typeface="Cambria Math" panose="02040503050406030204" pitchFamily="18" charset="0"/>
                                  </a:rPr>
                                  <m:t>𝑥</m:t>
                                </m:r>
                              </m:sub>
                            </m:sSub>
                            <m:r>
                              <a:rPr lang="en-US" altLang="zh-CN" sz="2800" b="0" i="1" smtClean="0">
                                <a:latin typeface="Cambria Math" panose="02040503050406030204" pitchFamily="18" charset="0"/>
                              </a:rPr>
                              <m:t>  0   0</m:t>
                            </m:r>
                          </m:e>
                          <m:e>
                            <m:r>
                              <a:rPr lang="en-US" altLang="zh-CN" sz="2800" b="0" i="1" smtClean="0">
                                <a:latin typeface="Cambria Math" panose="02040503050406030204" pitchFamily="18" charset="0"/>
                              </a:rPr>
                              <m:t>0   </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𝑠</m:t>
                                </m:r>
                              </m:e>
                              <m:sub>
                                <m:r>
                                  <a:rPr lang="en-US" altLang="zh-CN" sz="2800" b="0" i="1" smtClean="0">
                                    <a:latin typeface="Cambria Math" panose="02040503050406030204" pitchFamily="18" charset="0"/>
                                  </a:rPr>
                                  <m:t>𝑦</m:t>
                                </m:r>
                              </m:sub>
                            </m:sSub>
                            <m:r>
                              <a:rPr lang="en-US" altLang="zh-CN" sz="2800" b="0" i="1" smtClean="0">
                                <a:latin typeface="Cambria Math" panose="02040503050406030204" pitchFamily="18" charset="0"/>
                              </a:rPr>
                              <m:t>  0</m:t>
                            </m:r>
                          </m:e>
                          <m:e>
                            <m:r>
                              <a:rPr lang="en-US" altLang="zh-CN" sz="2800" b="0" i="1" smtClean="0">
                                <a:latin typeface="Cambria Math" panose="02040503050406030204" pitchFamily="18" charset="0"/>
                              </a:rPr>
                              <m:t>0    0   1</m:t>
                            </m:r>
                          </m:e>
                        </m:eqArr>
                      </m:e>
                    </m:d>
                  </m:oMath>
                </a14:m>
                <a:endParaRPr lang="zh-CN" altLang="en-US" sz="2800" dirty="0"/>
              </a:p>
            </p:txBody>
          </p:sp>
        </mc:Choice>
        <mc:Fallback xmlns="">
          <p:sp>
            <p:nvSpPr>
              <p:cNvPr id="2" name="文本框 1">
                <a:extLst>
                  <a:ext uri="{FF2B5EF4-FFF2-40B4-BE49-F238E27FC236}">
                    <a16:creationId xmlns:a16="http://schemas.microsoft.com/office/drawing/2014/main" id="{467665AC-A83E-CA8E-6530-8DE12C8108E4}"/>
                  </a:ext>
                </a:extLst>
              </p:cNvPr>
              <p:cNvSpPr txBox="1">
                <a:spLocks noRot="1" noChangeAspect="1" noMove="1" noResize="1" noEditPoints="1" noAdjustHandles="1" noChangeArrowheads="1" noChangeShapeType="1" noTextEdit="1"/>
              </p:cNvSpPr>
              <p:nvPr/>
            </p:nvSpPr>
            <p:spPr>
              <a:xfrm>
                <a:off x="9253580" y="1201057"/>
                <a:ext cx="2228174" cy="136947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265D851-03DE-9F13-27D2-3E9D9E82B5D3}"/>
                  </a:ext>
                </a:extLst>
              </p:cNvPr>
              <p:cNvSpPr txBox="1"/>
              <p:nvPr/>
            </p:nvSpPr>
            <p:spPr>
              <a:xfrm>
                <a:off x="9202779" y="3233058"/>
                <a:ext cx="2913042" cy="1639808"/>
              </a:xfrm>
              <a:prstGeom prst="rect">
                <a:avLst/>
              </a:prstGeom>
              <a:noFill/>
            </p:spPr>
            <p:txBody>
              <a:bodyPr wrap="non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𝑆</m:t>
                        </m:r>
                      </m:e>
                      <m:sub>
                        <m:r>
                          <a:rPr lang="en-US" altLang="zh-CN" sz="2800" b="0" i="1" smtClean="0">
                            <a:latin typeface="Cambria Math" panose="02040503050406030204" pitchFamily="18" charset="0"/>
                          </a:rPr>
                          <m:t>3</m:t>
                        </m:r>
                        <m:r>
                          <a:rPr lang="en-US" altLang="zh-CN" sz="2800" b="0" i="1" smtClean="0">
                            <a:latin typeface="Cambria Math" panose="02040503050406030204" pitchFamily="18" charset="0"/>
                          </a:rPr>
                          <m:t>𝐷</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800" i="1" smtClean="0">
                            <a:latin typeface="Cambria Math" panose="02040503050406030204" pitchFamily="18" charset="0"/>
                          </a:rPr>
                        </m:ctrlPr>
                      </m:dPr>
                      <m:e>
                        <m:eqArr>
                          <m:eqArrPr>
                            <m:ctrlPr>
                              <a:rPr lang="en-US" altLang="zh-CN" sz="2800" b="0" i="1" smtClean="0">
                                <a:latin typeface="Cambria Math" panose="02040503050406030204" pitchFamily="18" charset="0"/>
                              </a:rPr>
                            </m:ctrlPr>
                          </m:eqArrPr>
                          <m:e>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𝑠</m:t>
                                </m:r>
                              </m:e>
                              <m:sub>
                                <m:r>
                                  <a:rPr lang="en-US" altLang="zh-CN" sz="2800" i="1">
                                    <a:latin typeface="Cambria Math" panose="02040503050406030204" pitchFamily="18" charset="0"/>
                                  </a:rPr>
                                  <m:t>𝑥</m:t>
                                </m:r>
                              </m:sub>
                            </m:sSub>
                            <m:r>
                              <a:rPr lang="en-US" altLang="zh-CN" sz="2800" b="0" i="1" smtClean="0">
                                <a:latin typeface="Cambria Math" panose="02040503050406030204" pitchFamily="18" charset="0"/>
                              </a:rPr>
                              <m:t>   0    0    0</m:t>
                            </m:r>
                          </m:e>
                          <m:e>
                            <m:r>
                              <a:rPr lang="en-US" altLang="zh-CN" sz="2800" b="0" i="1" smtClean="0">
                                <a:latin typeface="Cambria Math" panose="02040503050406030204" pitchFamily="18" charset="0"/>
                              </a:rPr>
                              <m:t>0    </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𝑠</m:t>
                                </m:r>
                              </m:e>
                              <m:sub>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 </m:t>
                                </m:r>
                              </m:sub>
                            </m:sSub>
                            <m:r>
                              <a:rPr lang="en-US" altLang="zh-CN" sz="2800" b="0" i="1" smtClean="0">
                                <a:latin typeface="Cambria Math" panose="02040503050406030204" pitchFamily="18" charset="0"/>
                              </a:rPr>
                              <m:t>  0    0</m:t>
                            </m:r>
                          </m:e>
                          <m:e>
                            <m:r>
                              <a:rPr lang="en-US" altLang="zh-CN" sz="2800" b="0" i="1" smtClean="0">
                                <a:latin typeface="Cambria Math" panose="02040503050406030204" pitchFamily="18" charset="0"/>
                              </a:rPr>
                              <m:t>0    0</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𝑠</m:t>
                                </m:r>
                              </m:e>
                              <m:sub>
                                <m:r>
                                  <a:rPr lang="en-US" altLang="zh-CN" sz="2800" b="0" i="1" smtClean="0">
                                    <a:latin typeface="Cambria Math" panose="02040503050406030204" pitchFamily="18" charset="0"/>
                                  </a:rPr>
                                  <m:t>𝑧</m:t>
                                </m:r>
                              </m:sub>
                            </m:sSub>
                            <m:r>
                              <a:rPr lang="en-US" altLang="zh-CN" sz="2800" b="0" i="1" smtClean="0">
                                <a:latin typeface="Cambria Math" panose="02040503050406030204" pitchFamily="18" charset="0"/>
                              </a:rPr>
                              <m:t>   0</m:t>
                            </m:r>
                          </m:e>
                          <m:e>
                            <m:r>
                              <a:rPr lang="en-US" altLang="zh-CN" sz="2800" b="0" i="1" smtClean="0">
                                <a:latin typeface="Cambria Math" panose="02040503050406030204" pitchFamily="18" charset="0"/>
                              </a:rPr>
                              <m:t>0    </m:t>
                            </m:r>
                            <m:r>
                              <a:rPr lang="en-US" altLang="zh-CN" sz="2800" i="1" smtClean="0">
                                <a:latin typeface="Cambria Math" panose="02040503050406030204" pitchFamily="18" charset="0"/>
                              </a:rPr>
                              <m:t>0</m:t>
                            </m:r>
                            <m:r>
                              <a:rPr lang="en-US" altLang="zh-CN" sz="2800" b="0" i="1" smtClean="0">
                                <a:latin typeface="Cambria Math" panose="02040503050406030204" pitchFamily="18" charset="0"/>
                              </a:rPr>
                              <m:t>    </m:t>
                            </m:r>
                            <m:r>
                              <a:rPr lang="en-US" altLang="zh-CN" sz="2800" i="1" smtClean="0">
                                <a:latin typeface="Cambria Math" panose="02040503050406030204" pitchFamily="18" charset="0"/>
                              </a:rPr>
                              <m:t>0</m:t>
                            </m:r>
                            <m:r>
                              <a:rPr lang="en-US" altLang="zh-CN" sz="2800" b="0" i="1" smtClean="0">
                                <a:latin typeface="Cambria Math" panose="02040503050406030204" pitchFamily="18" charset="0"/>
                              </a:rPr>
                              <m:t>    1</m:t>
                            </m:r>
                          </m:e>
                        </m:eqArr>
                      </m:e>
                    </m:d>
                  </m:oMath>
                </a14:m>
                <a:endParaRPr lang="zh-CN" altLang="en-US" sz="2800" dirty="0"/>
              </a:p>
            </p:txBody>
          </p:sp>
        </mc:Choice>
        <mc:Fallback xmlns="">
          <p:sp>
            <p:nvSpPr>
              <p:cNvPr id="9" name="文本框 8">
                <a:extLst>
                  <a:ext uri="{FF2B5EF4-FFF2-40B4-BE49-F238E27FC236}">
                    <a16:creationId xmlns:a16="http://schemas.microsoft.com/office/drawing/2014/main" id="{7265D851-03DE-9F13-27D2-3E9D9E82B5D3}"/>
                  </a:ext>
                </a:extLst>
              </p:cNvPr>
              <p:cNvSpPr txBox="1">
                <a:spLocks noRot="1" noChangeAspect="1" noMove="1" noResize="1" noEditPoints="1" noAdjustHandles="1" noChangeArrowheads="1" noChangeShapeType="1" noTextEdit="1"/>
              </p:cNvSpPr>
              <p:nvPr/>
            </p:nvSpPr>
            <p:spPr>
              <a:xfrm>
                <a:off x="9202779" y="3233058"/>
                <a:ext cx="2913042" cy="163980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90419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474930"/>
                <a:ext cx="8143754" cy="3647127"/>
              </a:xfrm>
            </p:spPr>
            <p:txBody>
              <a:bodyPr>
                <a:norm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3.  </a:t>
                </a:r>
                <a:r>
                  <a:rPr lang="zh-CN" altLang="en-US" dirty="0">
                    <a:latin typeface="华光超粗黑_CNKI" panose="02000500000000000000" pitchFamily="2" charset="-122"/>
                    <a:ea typeface="华光超粗黑_CNKI" panose="02000500000000000000" pitchFamily="2" charset="-122"/>
                  </a:rPr>
                  <a:t>旋转变换</a:t>
                </a:r>
                <a:endParaRPr lang="en-US" altLang="zh-CN" dirty="0">
                  <a:latin typeface="华光超粗黑_CNKI" panose="02000500000000000000" pitchFamily="2" charset="-122"/>
                  <a:ea typeface="华光超粗黑_CNKI" panose="02000500000000000000" pitchFamily="2" charset="-122"/>
                </a:endParaRPr>
              </a:p>
              <a:p>
                <a:pPr marL="0" indent="0">
                  <a:lnSpc>
                    <a:spcPct val="150000"/>
                  </a:lnSpc>
                  <a:buNone/>
                </a:pPr>
                <a:r>
                  <a:rPr lang="en-US" altLang="zh-CN" dirty="0">
                    <a:latin typeface="+mn-ea"/>
                  </a:rPr>
                  <a:t>   </a:t>
                </a:r>
                <a:r>
                  <a:rPr lang="zh-CN" altLang="en-US" dirty="0">
                    <a:latin typeface="华光仿宋_CNKI" panose="02000500000000000000" pitchFamily="2" charset="-122"/>
                    <a:ea typeface="华光仿宋_CNKI" panose="02000500000000000000" pitchFamily="2" charset="-122"/>
                  </a:rPr>
                  <a:t>对于</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图形而言，旋转主要是绕坐标原点的旋转。设绕坐标原点旋转</a:t>
                </a:r>
                <a14:m>
                  <m:oMath xmlns:m="http://schemas.openxmlformats.org/officeDocument/2006/math">
                    <m:r>
                      <a:rPr lang="zh-CN" altLang="en-US" i="1" smtClean="0">
                        <a:latin typeface="Cambria Math" panose="02040503050406030204" pitchFamily="18" charset="0"/>
                      </a:rPr>
                      <m:t>𝜃</m:t>
                    </m:r>
                  </m:oMath>
                </a14:m>
                <a:r>
                  <a:rPr lang="zh-CN" altLang="en-US" dirty="0">
                    <a:latin typeface="华光仿宋_CNKI" panose="02000500000000000000" pitchFamily="2" charset="-122"/>
                    <a:ea typeface="华光仿宋_CNKI" panose="02000500000000000000" pitchFamily="2" charset="-122"/>
                  </a:rPr>
                  <a:t>角，则其旋转矩阵如下图所示。对于</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图形而言，旋转可以绕</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进行。其相应的转换矩阵如右图所示。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mn-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474930"/>
                <a:ext cx="8143754" cy="3647127"/>
              </a:xfrm>
              <a:blipFill>
                <a:blip r:embed="rId2"/>
                <a:stretch>
                  <a:fillRect l="-1573" r="-974"/>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6" name="图片 5"/>
          <p:cNvPicPr>
            <a:picLocks noChangeAspect="1"/>
          </p:cNvPicPr>
          <p:nvPr/>
        </p:nvPicPr>
        <p:blipFill>
          <a:blip r:embed="rId3"/>
          <a:stretch>
            <a:fillRect/>
          </a:stretch>
        </p:blipFill>
        <p:spPr>
          <a:xfrm>
            <a:off x="8894868" y="359857"/>
            <a:ext cx="2857500" cy="1515800"/>
          </a:xfrm>
          <a:prstGeom prst="rect">
            <a:avLst/>
          </a:prstGeom>
        </p:spPr>
      </p:pic>
      <p:pic>
        <p:nvPicPr>
          <p:cNvPr id="7" name="图片 6"/>
          <p:cNvPicPr>
            <a:picLocks noChangeAspect="1"/>
          </p:cNvPicPr>
          <p:nvPr/>
        </p:nvPicPr>
        <p:blipFill>
          <a:blip r:embed="rId4"/>
          <a:stretch>
            <a:fillRect/>
          </a:stretch>
        </p:blipFill>
        <p:spPr>
          <a:xfrm>
            <a:off x="9134354" y="2066324"/>
            <a:ext cx="2705100" cy="1620667"/>
          </a:xfrm>
          <a:prstGeom prst="rect">
            <a:avLst/>
          </a:prstGeom>
        </p:spPr>
      </p:pic>
      <p:pic>
        <p:nvPicPr>
          <p:cNvPr id="8" name="图片 7"/>
          <p:cNvPicPr>
            <a:picLocks noChangeAspect="1"/>
          </p:cNvPicPr>
          <p:nvPr/>
        </p:nvPicPr>
        <p:blipFill>
          <a:blip r:embed="rId5"/>
          <a:stretch>
            <a:fillRect/>
          </a:stretch>
        </p:blipFill>
        <p:spPr>
          <a:xfrm>
            <a:off x="9172454" y="3978876"/>
            <a:ext cx="2667000" cy="1706467"/>
          </a:xfrm>
          <a:prstGeom prst="rect">
            <a:avLst/>
          </a:prstGeom>
        </p:spPr>
      </p:pic>
      <mc:AlternateContent xmlns:mc="http://schemas.openxmlformats.org/markup-compatibility/2006" xmlns:a14="http://schemas.microsoft.com/office/drawing/2010/main">
        <mc:Choice Requires="a14">
          <p:sp>
            <p:nvSpPr>
              <p:cNvPr id="2" name="Object 8">
                <a:extLst>
                  <a:ext uri="{FF2B5EF4-FFF2-40B4-BE49-F238E27FC236}">
                    <a16:creationId xmlns:a16="http://schemas.microsoft.com/office/drawing/2014/main" id="{4F465FF8-2955-D12C-427D-FA8C568CEE62}"/>
                  </a:ext>
                </a:extLst>
              </p:cNvPr>
              <p:cNvSpPr txBox="1"/>
              <p:nvPr/>
            </p:nvSpPr>
            <p:spPr bwMode="auto">
              <a:xfrm>
                <a:off x="1836510" y="4122057"/>
                <a:ext cx="4528004" cy="1625599"/>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𝑅</m:t>
                          </m:r>
                        </m:e>
                        <m:sub>
                          <m:r>
                            <a:rPr lang="en-US" altLang="zh-CN" sz="2800" b="0" i="1" smtClean="0">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𝐷</m:t>
                          </m:r>
                        </m:sub>
                      </m:sSub>
                      <m:r>
                        <a:rPr lang="en-US" altLang="zh-CN" sz="2800" b="0" i="1" smtClean="0">
                          <a:solidFill>
                            <a:srgbClr val="000000"/>
                          </a:solidFill>
                          <a:latin typeface="Cambria Math" panose="02040503050406030204" pitchFamily="18" charset="0"/>
                        </a:rPr>
                        <m:t>=</m:t>
                      </m:r>
                      <m:d>
                        <m:dPr>
                          <m:begChr m:val="["/>
                          <m:endChr m:val="]"/>
                          <m:ctrlPr>
                            <a:rPr lang="zh-CN" altLang="en-US" sz="2800" i="1" smtClean="0">
                              <a:solidFill>
                                <a:srgbClr val="000000"/>
                              </a:solidFill>
                              <a:latin typeface="Cambria Math" panose="02040503050406030204" pitchFamily="18" charset="0"/>
                            </a:rPr>
                          </m:ctrlPr>
                        </m:dPr>
                        <m:e>
                          <m:m>
                            <m:mPr>
                              <m:plcHide m:val="on"/>
                              <m:mcs>
                                <m:mc>
                                  <m:mcPr>
                                    <m:count m:val="3"/>
                                    <m:mcJc m:val="center"/>
                                  </m:mcPr>
                                </m:mc>
                              </m:mcs>
                              <m:ctrlPr>
                                <a:rPr lang="zh-CN" altLang="en-US" sz="2800" i="1">
                                  <a:solidFill>
                                    <a:srgbClr val="000000"/>
                                  </a:solidFill>
                                  <a:latin typeface="Cambria Math" panose="02040503050406030204" pitchFamily="18" charset="0"/>
                                </a:rPr>
                              </m:ctrlPr>
                            </m:mPr>
                            <m:mr>
                              <m:e>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cos</m:t>
                                    </m:r>
                                  </m:fName>
                                  <m:e>
                                    <m:r>
                                      <a:rPr lang="zh-CN" altLang="en-US" sz="2800" i="1">
                                        <a:solidFill>
                                          <a:srgbClr val="000000"/>
                                        </a:solidFill>
                                        <a:latin typeface="Cambria Math" panose="02040503050406030204" pitchFamily="18" charset="0"/>
                                      </a:rPr>
                                      <m:t>𝜃</m:t>
                                    </m:r>
                                  </m:e>
                                </m:func>
                              </m:e>
                              <m:e>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sin</m:t>
                                    </m:r>
                                  </m:fName>
                                  <m:e>
                                    <m:r>
                                      <a:rPr lang="zh-CN" altLang="en-US" sz="2800" i="1">
                                        <a:solidFill>
                                          <a:srgbClr val="000000"/>
                                        </a:solidFill>
                                        <a:latin typeface="Cambria Math" panose="02040503050406030204" pitchFamily="18" charset="0"/>
                                      </a:rPr>
                                      <m:t>𝜃</m:t>
                                    </m:r>
                                  </m:e>
                                </m:func>
                              </m:e>
                              <m:e>
                                <m:r>
                                  <a:rPr lang="zh-CN" altLang="en-US" sz="2800" i="1">
                                    <a:solidFill>
                                      <a:srgbClr val="000000"/>
                                    </a:solidFill>
                                    <a:latin typeface="Cambria Math" panose="02040503050406030204" pitchFamily="18" charset="0"/>
                                  </a:rPr>
                                  <m:t>0</m:t>
                                </m:r>
                              </m:e>
                            </m:mr>
                            <m:mr>
                              <m:e>
                                <m:r>
                                  <a:rPr lang="zh-CN" altLang="en-US" sz="2800" i="1">
                                    <a:solidFill>
                                      <a:srgbClr val="000000"/>
                                    </a:solidFill>
                                    <a:latin typeface="Cambria Math" panose="02040503050406030204" pitchFamily="18" charset="0"/>
                                  </a:rPr>
                                  <m:t>−</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sin</m:t>
                                    </m:r>
                                  </m:fName>
                                  <m:e>
                                    <m:r>
                                      <a:rPr lang="zh-CN" altLang="en-US" sz="2800" i="1">
                                        <a:solidFill>
                                          <a:srgbClr val="000000"/>
                                        </a:solidFill>
                                        <a:latin typeface="Cambria Math" panose="02040503050406030204" pitchFamily="18" charset="0"/>
                                      </a:rPr>
                                      <m:t>𝜃</m:t>
                                    </m:r>
                                  </m:e>
                                </m:func>
                              </m:e>
                              <m:e>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cos</m:t>
                                    </m:r>
                                  </m:fName>
                                  <m:e>
                                    <m:r>
                                      <a:rPr lang="zh-CN" altLang="en-US" sz="2800" i="1">
                                        <a:solidFill>
                                          <a:srgbClr val="000000"/>
                                        </a:solidFill>
                                        <a:latin typeface="Cambria Math" panose="02040503050406030204" pitchFamily="18" charset="0"/>
                                      </a:rPr>
                                      <m:t>𝜃</m:t>
                                    </m:r>
                                  </m:e>
                                </m:func>
                              </m:e>
                              <m:e>
                                <m:r>
                                  <a:rPr lang="zh-CN" altLang="en-US" sz="2800" i="1">
                                    <a:solidFill>
                                      <a:srgbClr val="000000"/>
                                    </a:solidFill>
                                    <a:latin typeface="Cambria Math" panose="02040503050406030204" pitchFamily="18" charset="0"/>
                                  </a:rPr>
                                  <m:t>0</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mr>
                          </m:m>
                        </m:e>
                      </m:d>
                    </m:oMath>
                  </m:oMathPara>
                </a14:m>
                <a:endParaRPr lang="zh-CN" altLang="en-US" sz="2800" dirty="0"/>
              </a:p>
            </p:txBody>
          </p:sp>
        </mc:Choice>
        <mc:Fallback xmlns="">
          <p:sp>
            <p:nvSpPr>
              <p:cNvPr id="2" name="Object 8">
                <a:extLst>
                  <a:ext uri="{FF2B5EF4-FFF2-40B4-BE49-F238E27FC236}">
                    <a16:creationId xmlns:a16="http://schemas.microsoft.com/office/drawing/2014/main" id="{4F465FF8-2955-D12C-427D-FA8C568CEE62}"/>
                  </a:ext>
                </a:extLst>
              </p:cNvPr>
              <p:cNvSpPr txBox="1">
                <a:spLocks noRot="1" noChangeAspect="1" noMove="1" noResize="1" noEditPoints="1" noAdjustHandles="1" noChangeArrowheads="1" noChangeShapeType="1" noTextEdit="1"/>
              </p:cNvSpPr>
              <p:nvPr/>
            </p:nvSpPr>
            <p:spPr bwMode="auto">
              <a:xfrm>
                <a:off x="1836510" y="4122057"/>
                <a:ext cx="4528004" cy="1625599"/>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7269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3526" y="676317"/>
            <a:ext cx="10540449" cy="5505366"/>
          </a:xfrm>
        </p:spPr>
        <p:txBody>
          <a:bodyPr>
            <a:norm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4.  </a:t>
            </a:r>
            <a:r>
              <a:rPr lang="zh-CN" altLang="en-US" dirty="0">
                <a:latin typeface="华光超粗黑_CNKI" panose="02000500000000000000" pitchFamily="2" charset="-122"/>
                <a:ea typeface="华光超粗黑_CNKI" panose="02000500000000000000" pitchFamily="2" charset="-122"/>
              </a:rPr>
              <a:t>组合变换</a:t>
            </a:r>
            <a:endParaRPr lang="en-US" altLang="zh-CN" dirty="0">
              <a:latin typeface="华光超粗黑_CNKI" panose="02000500000000000000" pitchFamily="2" charset="-122"/>
              <a:ea typeface="华光超粗黑_CNKI" panose="02000500000000000000" pitchFamily="2" charset="-122"/>
            </a:endParaRPr>
          </a:p>
          <a:p>
            <a:pPr marL="0" indent="0">
              <a:lnSpc>
                <a:spcPct val="150000"/>
              </a:lnSpc>
              <a:buNone/>
            </a:pPr>
            <a:r>
              <a:rPr lang="en-US" altLang="zh-CN" dirty="0">
                <a:latin typeface="+mn-ea"/>
              </a:rPr>
              <a:t>    </a:t>
            </a:r>
            <a:r>
              <a:rPr lang="zh-CN" altLang="en-US" dirty="0">
                <a:latin typeface="华光仿宋_CNKI" panose="02000500000000000000" pitchFamily="2" charset="-122"/>
                <a:ea typeface="华光仿宋_CNKI" panose="02000500000000000000" pitchFamily="2" charset="-122"/>
              </a:rPr>
              <a:t>组合变换是指对图形进行多种基本变换。比如先对物体进行平移，然后旋转，放大等。组合变换的转换矩阵为多种变换下的矩阵的连乘。</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同时复杂变换也可以看成是组合变换。比如绕空间某直线的旋转变换，可以看先将该直线平移到坐标原点，然后绕坐标轴旋转到与某个坐标轴重合，然后再对模型进行相应的旋转变换，变换结束之后再逆时针旋转回来，并平移到原来的位置。</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spTree>
    <p:extLst>
      <p:ext uri="{BB962C8B-B14F-4D97-AF65-F5344CB8AC3E}">
        <p14:creationId xmlns:p14="http://schemas.microsoft.com/office/powerpoint/2010/main" val="94412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grpSp>
        <p:nvGrpSpPr>
          <p:cNvPr id="31" name="组合 30">
            <a:extLst>
              <a:ext uri="{FF2B5EF4-FFF2-40B4-BE49-F238E27FC236}">
                <a16:creationId xmlns:a16="http://schemas.microsoft.com/office/drawing/2014/main" id="{BF36C56D-B8E7-0E86-376F-5BC815926A36}"/>
              </a:ext>
            </a:extLst>
          </p:cNvPr>
          <p:cNvGrpSpPr/>
          <p:nvPr/>
        </p:nvGrpSpPr>
        <p:grpSpPr>
          <a:xfrm>
            <a:off x="888084" y="1411353"/>
            <a:ext cx="2674383" cy="2457155"/>
            <a:chOff x="1812896" y="548438"/>
            <a:chExt cx="2674383" cy="2457155"/>
          </a:xfrm>
        </p:grpSpPr>
        <p:cxnSp>
          <p:nvCxnSpPr>
            <p:cNvPr id="9" name="直接箭头连接符 8">
              <a:extLst>
                <a:ext uri="{FF2B5EF4-FFF2-40B4-BE49-F238E27FC236}">
                  <a16:creationId xmlns:a16="http://schemas.microsoft.com/office/drawing/2014/main" id="{24D4BA11-197E-03C3-BE89-BCF7952AF786}"/>
                </a:ext>
              </a:extLst>
            </p:cNvPr>
            <p:cNvCxnSpPr/>
            <p:nvPr/>
          </p:nvCxnSpPr>
          <p:spPr>
            <a:xfrm flipV="1">
              <a:off x="2480807" y="659958"/>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BD75FF05-7814-0815-CF63-CAA513CA5E75}"/>
                </a:ext>
              </a:extLst>
            </p:cNvPr>
            <p:cNvCxnSpPr/>
            <p:nvPr/>
          </p:nvCxnSpPr>
          <p:spPr>
            <a:xfrm>
              <a:off x="2480807" y="2337683"/>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EB88E9A-EB86-B9DE-E011-22B7314C23DA}"/>
                </a:ext>
              </a:extLst>
            </p:cNvPr>
            <p:cNvCxnSpPr>
              <a:cxnSpLocks/>
            </p:cNvCxnSpPr>
            <p:nvPr/>
          </p:nvCxnSpPr>
          <p:spPr>
            <a:xfrm flipV="1">
              <a:off x="2480806" y="1518699"/>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819C688-D770-A205-5199-05BAAAC2E03D}"/>
                </a:ext>
              </a:extLst>
            </p:cNvPr>
            <p:cNvSpPr txBox="1"/>
            <p:nvPr/>
          </p:nvSpPr>
          <p:spPr>
            <a:xfrm>
              <a:off x="4182387" y="2512612"/>
              <a:ext cx="304892" cy="369332"/>
            </a:xfrm>
            <a:prstGeom prst="rect">
              <a:avLst/>
            </a:prstGeom>
            <a:noFill/>
          </p:spPr>
          <p:txBody>
            <a:bodyPr wrap="none" rtlCol="0">
              <a:spAutoFit/>
            </a:bodyPr>
            <a:lstStyle/>
            <a:p>
              <a:r>
                <a:rPr lang="en-US" altLang="zh-CN" dirty="0"/>
                <a:t>X</a:t>
              </a:r>
              <a:endParaRPr lang="zh-CN" altLang="en-US" dirty="0"/>
            </a:p>
          </p:txBody>
        </p:sp>
        <p:sp>
          <p:nvSpPr>
            <p:cNvPr id="15" name="文本框 14">
              <a:extLst>
                <a:ext uri="{FF2B5EF4-FFF2-40B4-BE49-F238E27FC236}">
                  <a16:creationId xmlns:a16="http://schemas.microsoft.com/office/drawing/2014/main" id="{A7FE6DC6-B638-3F47-9A2F-FBADC9630C8D}"/>
                </a:ext>
              </a:extLst>
            </p:cNvPr>
            <p:cNvSpPr txBox="1"/>
            <p:nvPr/>
          </p:nvSpPr>
          <p:spPr>
            <a:xfrm>
              <a:off x="2122999" y="548438"/>
              <a:ext cx="296876" cy="369332"/>
            </a:xfrm>
            <a:prstGeom prst="rect">
              <a:avLst/>
            </a:prstGeom>
            <a:noFill/>
          </p:spPr>
          <p:txBody>
            <a:bodyPr wrap="none" rtlCol="0">
              <a:spAutoFit/>
            </a:bodyPr>
            <a:lstStyle/>
            <a:p>
              <a:r>
                <a:rPr lang="en-US" altLang="zh-CN" dirty="0"/>
                <a:t>Y</a:t>
              </a:r>
              <a:endParaRPr lang="zh-CN" altLang="en-US" dirty="0"/>
            </a:p>
          </p:txBody>
        </p:sp>
        <p:sp>
          <p:nvSpPr>
            <p:cNvPr id="16" name="文本框 15">
              <a:extLst>
                <a:ext uri="{FF2B5EF4-FFF2-40B4-BE49-F238E27FC236}">
                  <a16:creationId xmlns:a16="http://schemas.microsoft.com/office/drawing/2014/main" id="{375C691B-3A1C-4F42-8457-0BFB8B77B12E}"/>
                </a:ext>
              </a:extLst>
            </p:cNvPr>
            <p:cNvSpPr txBox="1"/>
            <p:nvPr/>
          </p:nvSpPr>
          <p:spPr>
            <a:xfrm>
              <a:off x="3105648" y="1149366"/>
              <a:ext cx="388288" cy="369332"/>
            </a:xfrm>
            <a:prstGeom prst="rect">
              <a:avLst/>
            </a:prstGeom>
            <a:noFill/>
          </p:spPr>
          <p:txBody>
            <a:bodyPr wrap="square" rtlCol="0">
              <a:spAutoFit/>
            </a:bodyPr>
            <a:lstStyle/>
            <a:p>
              <a:r>
                <a:rPr lang="en-US" altLang="zh-CN" dirty="0"/>
                <a:t>Z</a:t>
              </a:r>
              <a:endParaRPr lang="zh-CN" altLang="en-US" dirty="0"/>
            </a:p>
          </p:txBody>
        </p:sp>
        <p:cxnSp>
          <p:nvCxnSpPr>
            <p:cNvPr id="18" name="直接连接符 17">
              <a:extLst>
                <a:ext uri="{FF2B5EF4-FFF2-40B4-BE49-F238E27FC236}">
                  <a16:creationId xmlns:a16="http://schemas.microsoft.com/office/drawing/2014/main" id="{3B3BF529-D72E-97D9-6196-E1849B6C0F5D}"/>
                </a:ext>
              </a:extLst>
            </p:cNvPr>
            <p:cNvCxnSpPr>
              <a:cxnSpLocks/>
            </p:cNvCxnSpPr>
            <p:nvPr/>
          </p:nvCxnSpPr>
          <p:spPr>
            <a:xfrm flipV="1">
              <a:off x="3360723" y="985962"/>
              <a:ext cx="974110" cy="8746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583A81B-67AC-1E54-52F1-CBA0FBEE14B1}"/>
                </a:ext>
              </a:extLst>
            </p:cNvPr>
            <p:cNvCxnSpPr/>
            <p:nvPr/>
          </p:nvCxnSpPr>
          <p:spPr>
            <a:xfrm flipH="1">
              <a:off x="1812896" y="2337683"/>
              <a:ext cx="667910" cy="66791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3" name="组合 42">
            <a:extLst>
              <a:ext uri="{FF2B5EF4-FFF2-40B4-BE49-F238E27FC236}">
                <a16:creationId xmlns:a16="http://schemas.microsoft.com/office/drawing/2014/main" id="{658F339C-EA42-6546-2700-736C797DE65D}"/>
              </a:ext>
            </a:extLst>
          </p:cNvPr>
          <p:cNvGrpSpPr/>
          <p:nvPr/>
        </p:nvGrpSpPr>
        <p:grpSpPr>
          <a:xfrm>
            <a:off x="4630710" y="1434502"/>
            <a:ext cx="2665630" cy="2457155"/>
            <a:chOff x="5195517" y="424789"/>
            <a:chExt cx="2665630" cy="2457155"/>
          </a:xfrm>
        </p:grpSpPr>
        <p:cxnSp>
          <p:nvCxnSpPr>
            <p:cNvPr id="33" name="直接箭头连接符 32">
              <a:extLst>
                <a:ext uri="{FF2B5EF4-FFF2-40B4-BE49-F238E27FC236}">
                  <a16:creationId xmlns:a16="http://schemas.microsoft.com/office/drawing/2014/main" id="{0760F73B-D752-F44A-5C70-9BAD318C6511}"/>
                </a:ext>
              </a:extLst>
            </p:cNvPr>
            <p:cNvCxnSpPr/>
            <p:nvPr/>
          </p:nvCxnSpPr>
          <p:spPr>
            <a:xfrm flipV="1">
              <a:off x="5863428" y="536309"/>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E00AB93-A96B-9F58-791F-A9EEFC890A42}"/>
                </a:ext>
              </a:extLst>
            </p:cNvPr>
            <p:cNvCxnSpPr/>
            <p:nvPr/>
          </p:nvCxnSpPr>
          <p:spPr>
            <a:xfrm>
              <a:off x="5863428" y="2214034"/>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2515A458-1515-BA1A-5D8D-8A18A00975B4}"/>
                </a:ext>
              </a:extLst>
            </p:cNvPr>
            <p:cNvCxnSpPr>
              <a:cxnSpLocks/>
            </p:cNvCxnSpPr>
            <p:nvPr/>
          </p:nvCxnSpPr>
          <p:spPr>
            <a:xfrm flipV="1">
              <a:off x="5863427" y="1395050"/>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341A58FB-5F5B-57F6-061F-56780B8A00F9}"/>
                </a:ext>
              </a:extLst>
            </p:cNvPr>
            <p:cNvSpPr txBox="1"/>
            <p:nvPr/>
          </p:nvSpPr>
          <p:spPr>
            <a:xfrm>
              <a:off x="7556255" y="2224274"/>
              <a:ext cx="304892" cy="369332"/>
            </a:xfrm>
            <a:prstGeom prst="rect">
              <a:avLst/>
            </a:prstGeom>
            <a:noFill/>
          </p:spPr>
          <p:txBody>
            <a:bodyPr wrap="none" rtlCol="0">
              <a:spAutoFit/>
            </a:bodyPr>
            <a:lstStyle/>
            <a:p>
              <a:r>
                <a:rPr lang="en-US" altLang="zh-CN" dirty="0"/>
                <a:t>X</a:t>
              </a:r>
              <a:endParaRPr lang="zh-CN" altLang="en-US" dirty="0"/>
            </a:p>
          </p:txBody>
        </p:sp>
        <p:sp>
          <p:nvSpPr>
            <p:cNvPr id="37" name="文本框 36">
              <a:extLst>
                <a:ext uri="{FF2B5EF4-FFF2-40B4-BE49-F238E27FC236}">
                  <a16:creationId xmlns:a16="http://schemas.microsoft.com/office/drawing/2014/main" id="{75726E09-A611-B698-9103-03F3520D4BE5}"/>
                </a:ext>
              </a:extLst>
            </p:cNvPr>
            <p:cNvSpPr txBox="1"/>
            <p:nvPr/>
          </p:nvSpPr>
          <p:spPr>
            <a:xfrm>
              <a:off x="5505620" y="424789"/>
              <a:ext cx="296876" cy="369332"/>
            </a:xfrm>
            <a:prstGeom prst="rect">
              <a:avLst/>
            </a:prstGeom>
            <a:noFill/>
          </p:spPr>
          <p:txBody>
            <a:bodyPr wrap="none" rtlCol="0">
              <a:spAutoFit/>
            </a:bodyPr>
            <a:lstStyle/>
            <a:p>
              <a:r>
                <a:rPr lang="en-US" altLang="zh-CN" dirty="0"/>
                <a:t>Y</a:t>
              </a:r>
              <a:endParaRPr lang="zh-CN" altLang="en-US" dirty="0"/>
            </a:p>
          </p:txBody>
        </p:sp>
        <p:sp>
          <p:nvSpPr>
            <p:cNvPr id="38" name="文本框 37">
              <a:extLst>
                <a:ext uri="{FF2B5EF4-FFF2-40B4-BE49-F238E27FC236}">
                  <a16:creationId xmlns:a16="http://schemas.microsoft.com/office/drawing/2014/main" id="{F4F9E2B4-DDFB-CA29-C4B1-23B31DD155CE}"/>
                </a:ext>
              </a:extLst>
            </p:cNvPr>
            <p:cNvSpPr txBox="1"/>
            <p:nvPr/>
          </p:nvSpPr>
          <p:spPr>
            <a:xfrm>
              <a:off x="6488269" y="1025717"/>
              <a:ext cx="388288" cy="369332"/>
            </a:xfrm>
            <a:prstGeom prst="rect">
              <a:avLst/>
            </a:prstGeom>
            <a:noFill/>
          </p:spPr>
          <p:txBody>
            <a:bodyPr wrap="square" rtlCol="0">
              <a:spAutoFit/>
            </a:bodyPr>
            <a:lstStyle/>
            <a:p>
              <a:r>
                <a:rPr lang="en-US" altLang="zh-CN" dirty="0"/>
                <a:t>Z</a:t>
              </a:r>
              <a:endParaRPr lang="zh-CN" altLang="en-US" dirty="0"/>
            </a:p>
          </p:txBody>
        </p:sp>
        <p:cxnSp>
          <p:nvCxnSpPr>
            <p:cNvPr id="39" name="直接连接符 38">
              <a:extLst>
                <a:ext uri="{FF2B5EF4-FFF2-40B4-BE49-F238E27FC236}">
                  <a16:creationId xmlns:a16="http://schemas.microsoft.com/office/drawing/2014/main" id="{A7A09036-C35C-A9E4-F4AA-CF9B0C4CE219}"/>
                </a:ext>
              </a:extLst>
            </p:cNvPr>
            <p:cNvCxnSpPr>
              <a:cxnSpLocks/>
            </p:cNvCxnSpPr>
            <p:nvPr/>
          </p:nvCxnSpPr>
          <p:spPr>
            <a:xfrm flipV="1">
              <a:off x="5873958" y="1334032"/>
              <a:ext cx="974110" cy="8746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CBB7CEE-2F81-EF60-D71F-67B609C8F156}"/>
                </a:ext>
              </a:extLst>
            </p:cNvPr>
            <p:cNvCxnSpPr/>
            <p:nvPr/>
          </p:nvCxnSpPr>
          <p:spPr>
            <a:xfrm flipH="1">
              <a:off x="5195517" y="2214034"/>
              <a:ext cx="667910" cy="667910"/>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623CCA5-2490-EF7E-2B28-F5A9F4578A87}"/>
                  </a:ext>
                </a:extLst>
              </p:cNvPr>
              <p:cNvSpPr txBox="1"/>
              <p:nvPr/>
            </p:nvSpPr>
            <p:spPr>
              <a:xfrm>
                <a:off x="3579860" y="4351929"/>
                <a:ext cx="3690306" cy="1400576"/>
              </a:xfrm>
              <a:prstGeom prst="rect">
                <a:avLst/>
              </a:prstGeom>
              <a:noFill/>
            </p:spPr>
            <p:txBody>
              <a:bodyPr wrap="non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i="1">
                            <a:latin typeface="Cambria Math" panose="02040503050406030204" pitchFamily="18" charset="0"/>
                          </a:rPr>
                          <m:t>T</m:t>
                        </m:r>
                      </m:e>
                      <m:sub>
                        <m:r>
                          <a:rPr lang="en-US" altLang="zh-CN" sz="2800" b="0" i="1" smtClean="0">
                            <a:latin typeface="Cambria Math" panose="02040503050406030204" pitchFamily="18" charset="0"/>
                          </a:rPr>
                          <m:t>3</m:t>
                        </m:r>
                        <m:r>
                          <a:rPr lang="en-US" altLang="zh-CN" sz="2800" b="0" i="1" smtClean="0">
                            <a:latin typeface="Cambria Math" panose="02040503050406030204" pitchFamily="18" charset="0"/>
                          </a:rPr>
                          <m:t>𝐷</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en-US" altLang="zh-CN" sz="2400" i="1" smtClean="0">
                                <a:latin typeface="Cambria Math" panose="02040503050406030204" pitchFamily="18" charset="0"/>
                              </a:rPr>
                              <m:t>1</m:t>
                            </m:r>
                            <m:r>
                              <a:rPr lang="en-US" altLang="zh-CN" sz="2400" b="0" i="1" smtClean="0">
                                <a:latin typeface="Cambria Math" panose="02040503050406030204" pitchFamily="18" charset="0"/>
                              </a:rPr>
                              <m:t>          0          0        0</m:t>
                            </m:r>
                          </m:e>
                          <m:e>
                            <m:r>
                              <a:rPr lang="en-US" altLang="zh-CN" sz="2400" b="0" i="1" smtClean="0">
                                <a:latin typeface="Cambria Math" panose="02040503050406030204" pitchFamily="18" charset="0"/>
                              </a:rPr>
                              <m:t>0          1          0        0</m:t>
                            </m:r>
                          </m:e>
                          <m:e>
                            <m:r>
                              <a:rPr lang="en-US" altLang="zh-CN" sz="2400" b="0" i="1" smtClean="0">
                                <a:latin typeface="Cambria Math" panose="02040503050406030204" pitchFamily="18" charset="0"/>
                              </a:rPr>
                              <m:t>0          0          1         0</m:t>
                            </m:r>
                          </m:e>
                          <m:e>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  </m:t>
                            </m:r>
                            <m:r>
                              <a:rPr lang="en-US" altLang="zh-CN" sz="2400" i="1">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  </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     1</m:t>
                            </m:r>
                          </m:e>
                        </m:eqArr>
                      </m:e>
                    </m:d>
                  </m:oMath>
                </a14:m>
                <a:endParaRPr lang="zh-CN" altLang="en-US" sz="2400" dirty="0"/>
              </a:p>
            </p:txBody>
          </p:sp>
        </mc:Choice>
        <mc:Fallback xmlns="">
          <p:sp>
            <p:nvSpPr>
              <p:cNvPr id="41" name="文本框 40">
                <a:extLst>
                  <a:ext uri="{FF2B5EF4-FFF2-40B4-BE49-F238E27FC236}">
                    <a16:creationId xmlns:a16="http://schemas.microsoft.com/office/drawing/2014/main" id="{2623CCA5-2490-EF7E-2B28-F5A9F4578A87}"/>
                  </a:ext>
                </a:extLst>
              </p:cNvPr>
              <p:cNvSpPr txBox="1">
                <a:spLocks noRot="1" noChangeAspect="1" noMove="1" noResize="1" noEditPoints="1" noAdjustHandles="1" noChangeArrowheads="1" noChangeShapeType="1" noTextEdit="1"/>
              </p:cNvSpPr>
              <p:nvPr/>
            </p:nvSpPr>
            <p:spPr>
              <a:xfrm>
                <a:off x="3579860" y="4351929"/>
                <a:ext cx="3690306" cy="1400576"/>
              </a:xfrm>
              <a:prstGeom prst="rect">
                <a:avLst/>
              </a:prstGeom>
              <a:blipFill>
                <a:blip r:embed="rId2"/>
                <a:stretch>
                  <a:fillRect/>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5639823E-E050-B0CA-A65A-44A8C08BE753}"/>
              </a:ext>
            </a:extLst>
          </p:cNvPr>
          <p:cNvSpPr txBox="1"/>
          <p:nvPr/>
        </p:nvSpPr>
        <p:spPr>
          <a:xfrm>
            <a:off x="2253049" y="2690735"/>
            <a:ext cx="1220206" cy="369332"/>
          </a:xfrm>
          <a:prstGeom prst="rect">
            <a:avLst/>
          </a:prstGeom>
          <a:noFill/>
        </p:spPr>
        <p:txBody>
          <a:bodyPr wrap="none" rtlCol="0">
            <a:spAutoFit/>
          </a:bodyPr>
          <a:lstStyle/>
          <a:p>
            <a:r>
              <a:rPr lang="en-US" altLang="zh-CN" dirty="0"/>
              <a:t>A(x1,y1,z1)</a:t>
            </a:r>
            <a:endParaRPr lang="zh-CN" altLang="en-US" dirty="0"/>
          </a:p>
        </p:txBody>
      </p:sp>
      <p:cxnSp>
        <p:nvCxnSpPr>
          <p:cNvPr id="45" name="直接箭头连接符 44">
            <a:extLst>
              <a:ext uri="{FF2B5EF4-FFF2-40B4-BE49-F238E27FC236}">
                <a16:creationId xmlns:a16="http://schemas.microsoft.com/office/drawing/2014/main" id="{F3257F63-ABE8-5C2A-4345-D0400BDC6603}"/>
              </a:ext>
            </a:extLst>
          </p:cNvPr>
          <p:cNvCxnSpPr/>
          <p:nvPr/>
        </p:nvCxnSpPr>
        <p:spPr>
          <a:xfrm flipV="1">
            <a:off x="8783236" y="1411353"/>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C5EC277E-AF3A-BBB6-679B-686E64831E04}"/>
              </a:ext>
            </a:extLst>
          </p:cNvPr>
          <p:cNvCxnSpPr/>
          <p:nvPr/>
        </p:nvCxnSpPr>
        <p:spPr>
          <a:xfrm>
            <a:off x="8783236" y="3089078"/>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F02F847-8E36-8883-4FC6-D32BDA3AD16B}"/>
              </a:ext>
            </a:extLst>
          </p:cNvPr>
          <p:cNvCxnSpPr>
            <a:cxnSpLocks/>
          </p:cNvCxnSpPr>
          <p:nvPr/>
        </p:nvCxnSpPr>
        <p:spPr>
          <a:xfrm flipV="1">
            <a:off x="8783235" y="2270094"/>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522DDDCA-1ED2-DCA0-2C24-92711C398788}"/>
              </a:ext>
            </a:extLst>
          </p:cNvPr>
          <p:cNvSpPr txBox="1"/>
          <p:nvPr/>
        </p:nvSpPr>
        <p:spPr>
          <a:xfrm>
            <a:off x="10484816" y="3264007"/>
            <a:ext cx="304892" cy="369332"/>
          </a:xfrm>
          <a:prstGeom prst="rect">
            <a:avLst/>
          </a:prstGeom>
          <a:noFill/>
        </p:spPr>
        <p:txBody>
          <a:bodyPr wrap="none" rtlCol="0">
            <a:spAutoFit/>
          </a:bodyPr>
          <a:lstStyle/>
          <a:p>
            <a:r>
              <a:rPr lang="en-US" altLang="zh-CN" dirty="0"/>
              <a:t>X</a:t>
            </a:r>
            <a:endParaRPr lang="zh-CN" altLang="en-US" dirty="0"/>
          </a:p>
        </p:txBody>
      </p:sp>
      <p:sp>
        <p:nvSpPr>
          <p:cNvPr id="49" name="文本框 48">
            <a:extLst>
              <a:ext uri="{FF2B5EF4-FFF2-40B4-BE49-F238E27FC236}">
                <a16:creationId xmlns:a16="http://schemas.microsoft.com/office/drawing/2014/main" id="{22791894-B521-9FB2-AEE1-72005F90C2FD}"/>
              </a:ext>
            </a:extLst>
          </p:cNvPr>
          <p:cNvSpPr txBox="1"/>
          <p:nvPr/>
        </p:nvSpPr>
        <p:spPr>
          <a:xfrm>
            <a:off x="8425428" y="1299833"/>
            <a:ext cx="296876" cy="369332"/>
          </a:xfrm>
          <a:prstGeom prst="rect">
            <a:avLst/>
          </a:prstGeom>
          <a:noFill/>
        </p:spPr>
        <p:txBody>
          <a:bodyPr wrap="none" rtlCol="0">
            <a:spAutoFit/>
          </a:bodyPr>
          <a:lstStyle/>
          <a:p>
            <a:r>
              <a:rPr lang="en-US" altLang="zh-CN" dirty="0"/>
              <a:t>Y</a:t>
            </a:r>
            <a:endParaRPr lang="zh-CN" altLang="en-US" dirty="0"/>
          </a:p>
        </p:txBody>
      </p:sp>
      <p:sp>
        <p:nvSpPr>
          <p:cNvPr id="50" name="文本框 49">
            <a:extLst>
              <a:ext uri="{FF2B5EF4-FFF2-40B4-BE49-F238E27FC236}">
                <a16:creationId xmlns:a16="http://schemas.microsoft.com/office/drawing/2014/main" id="{A67AFE83-30FE-2BBF-693E-8454A6F38D5D}"/>
              </a:ext>
            </a:extLst>
          </p:cNvPr>
          <p:cNvSpPr txBox="1"/>
          <p:nvPr/>
        </p:nvSpPr>
        <p:spPr>
          <a:xfrm>
            <a:off x="9408077" y="1900761"/>
            <a:ext cx="388288" cy="369332"/>
          </a:xfrm>
          <a:prstGeom prst="rect">
            <a:avLst/>
          </a:prstGeom>
          <a:noFill/>
        </p:spPr>
        <p:txBody>
          <a:bodyPr wrap="square" rtlCol="0">
            <a:spAutoFit/>
          </a:bodyPr>
          <a:lstStyle/>
          <a:p>
            <a:r>
              <a:rPr lang="en-US" altLang="zh-CN" dirty="0"/>
              <a:t>Z</a:t>
            </a:r>
            <a:endParaRPr lang="zh-CN" altLang="en-US" dirty="0"/>
          </a:p>
        </p:txBody>
      </p:sp>
      <p:cxnSp>
        <p:nvCxnSpPr>
          <p:cNvPr id="51" name="直接连接符 50">
            <a:extLst>
              <a:ext uri="{FF2B5EF4-FFF2-40B4-BE49-F238E27FC236}">
                <a16:creationId xmlns:a16="http://schemas.microsoft.com/office/drawing/2014/main" id="{1609847A-AB32-D802-454C-3FD8925ECE71}"/>
              </a:ext>
            </a:extLst>
          </p:cNvPr>
          <p:cNvCxnSpPr>
            <a:cxnSpLocks/>
          </p:cNvCxnSpPr>
          <p:nvPr/>
        </p:nvCxnSpPr>
        <p:spPr>
          <a:xfrm flipH="1" flipV="1">
            <a:off x="8115325" y="2432997"/>
            <a:ext cx="678441" cy="6507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D035122-B6E3-3D66-8DD7-04025A6ABC18}"/>
              </a:ext>
            </a:extLst>
          </p:cNvPr>
          <p:cNvCxnSpPr/>
          <p:nvPr/>
        </p:nvCxnSpPr>
        <p:spPr>
          <a:xfrm flipH="1">
            <a:off x="8115325" y="3089078"/>
            <a:ext cx="667910" cy="66791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90B3B4A-3A8A-AE55-AC9C-743E7A366F6A}"/>
                  </a:ext>
                </a:extLst>
              </p:cNvPr>
              <p:cNvSpPr txBox="1"/>
              <p:nvPr/>
            </p:nvSpPr>
            <p:spPr>
              <a:xfrm>
                <a:off x="7712639" y="4351929"/>
                <a:ext cx="4073360" cy="1360629"/>
              </a:xfrm>
              <a:prstGeom prst="rect">
                <a:avLst/>
              </a:prstGeom>
              <a:noFill/>
            </p:spPr>
            <p:txBody>
              <a:bodyPr wrap="squar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𝑅</m:t>
                        </m:r>
                      </m:e>
                      <m:sub>
                        <m:r>
                          <a:rPr lang="en-US" altLang="zh-CN" sz="2800" b="0" i="1" smtClean="0">
                            <a:latin typeface="Cambria Math" panose="02040503050406030204" pitchFamily="18" charset="0"/>
                          </a:rPr>
                          <m:t>3</m:t>
                        </m:r>
                        <m:r>
                          <a:rPr lang="en-US" altLang="zh-CN" sz="2800" b="0" i="1" smtClean="0">
                            <a:latin typeface="Cambria Math" panose="02040503050406030204" pitchFamily="18" charset="0"/>
                          </a:rPr>
                          <m:t>𝐷𝑧</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en-US" altLang="zh-CN" sz="2400" b="0" i="1" smtClean="0">
                                <a:latin typeface="Cambria Math" panose="02040503050406030204" pitchFamily="18" charset="0"/>
                              </a:rPr>
                              <m:t>𝑐𝑜𝑠</m:t>
                            </m:r>
                            <m:r>
                              <a:rPr lang="zh-CN" altLang="en-US" sz="2400" i="1">
                                <a:latin typeface="Cambria Math" panose="02040503050406030204" pitchFamily="18" charset="0"/>
                              </a:rPr>
                              <m:t>𝜃</m:t>
                            </m:r>
                            <m:r>
                              <a:rPr lang="en-US" altLang="zh-CN" sz="2400" b="0" i="1" smtClean="0">
                                <a:latin typeface="Cambria Math" panose="02040503050406030204" pitchFamily="18" charset="0"/>
                              </a:rPr>
                              <m:t>      </m:t>
                            </m:r>
                            <m:r>
                              <a:rPr lang="en-US" altLang="zh-CN" sz="2400" i="1">
                                <a:latin typeface="Cambria Math" panose="02040503050406030204" pitchFamily="18" charset="0"/>
                              </a:rPr>
                              <m:t>𝑠𝑖𝑛</m:t>
                            </m:r>
                            <m:r>
                              <a:rPr lang="zh-CN" altLang="en-US" sz="2400" i="1">
                                <a:latin typeface="Cambria Math" panose="02040503050406030204" pitchFamily="18" charset="0"/>
                              </a:rPr>
                              <m:t>𝜃</m:t>
                            </m:r>
                            <m:r>
                              <a:rPr lang="en-US" altLang="zh-CN" sz="2400" b="0" i="1" smtClean="0">
                                <a:latin typeface="Cambria Math" panose="02040503050406030204" pitchFamily="18" charset="0"/>
                              </a:rPr>
                              <m:t>      0     0</m:t>
                            </m:r>
                          </m:e>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𝑠𝑖𝑛</m:t>
                            </m:r>
                            <m:r>
                              <a:rPr lang="zh-CN" altLang="en-US" sz="2400" i="1">
                                <a:latin typeface="Cambria Math" panose="02040503050406030204" pitchFamily="18" charset="0"/>
                              </a:rPr>
                              <m:t>𝜃</m:t>
                            </m:r>
                            <m:r>
                              <a:rPr lang="en-US" altLang="zh-CN" sz="2400" b="0" i="1" smtClean="0">
                                <a:latin typeface="Cambria Math" panose="02040503050406030204" pitchFamily="18" charset="0"/>
                              </a:rPr>
                              <m:t>    </m:t>
                            </m:r>
                            <m:r>
                              <a:rPr lang="en-US" altLang="zh-CN" sz="2400" i="1">
                                <a:latin typeface="Cambria Math" panose="02040503050406030204" pitchFamily="18" charset="0"/>
                              </a:rPr>
                              <m:t>𝑐𝑜𝑠</m:t>
                            </m:r>
                            <m:r>
                              <a:rPr lang="zh-CN" altLang="en-US" sz="2400" i="1" smtClean="0">
                                <a:latin typeface="Cambria Math" panose="02040503050406030204" pitchFamily="18" charset="0"/>
                              </a:rPr>
                              <m:t>𝜃</m:t>
                            </m:r>
                            <m:r>
                              <a:rPr lang="en-US" altLang="zh-CN" sz="2400" b="0" i="1" smtClean="0">
                                <a:latin typeface="Cambria Math" panose="02040503050406030204" pitchFamily="18" charset="0"/>
                              </a:rPr>
                              <m:t>    0     0</m:t>
                            </m:r>
                          </m:e>
                          <m:e>
                            <m:r>
                              <a:rPr lang="en-US" altLang="zh-CN" sz="2400" b="0" i="1" smtClean="0">
                                <a:latin typeface="Cambria Math" panose="02040503050406030204" pitchFamily="18" charset="0"/>
                              </a:rPr>
                              <m:t>0             0           1     0</m:t>
                            </m:r>
                          </m:e>
                          <m:e>
                            <m:r>
                              <a:rPr lang="en-US" altLang="zh-CN" sz="2400" b="0" i="1" smtClean="0">
                                <a:latin typeface="Cambria Math" panose="02040503050406030204" pitchFamily="18" charset="0"/>
                              </a:rPr>
                              <m:t>0             0           0     1</m:t>
                            </m:r>
                          </m:e>
                        </m:eqArr>
                      </m:e>
                    </m:d>
                  </m:oMath>
                </a14:m>
                <a:endParaRPr lang="zh-CN" altLang="en-US" sz="2400" dirty="0"/>
              </a:p>
            </p:txBody>
          </p:sp>
        </mc:Choice>
        <mc:Fallback xmlns="">
          <p:sp>
            <p:nvSpPr>
              <p:cNvPr id="55" name="文本框 54">
                <a:extLst>
                  <a:ext uri="{FF2B5EF4-FFF2-40B4-BE49-F238E27FC236}">
                    <a16:creationId xmlns:a16="http://schemas.microsoft.com/office/drawing/2014/main" id="{F90B3B4A-3A8A-AE55-AC9C-743E7A366F6A}"/>
                  </a:ext>
                </a:extLst>
              </p:cNvPr>
              <p:cNvSpPr txBox="1">
                <a:spLocks noRot="1" noChangeAspect="1" noMove="1" noResize="1" noEditPoints="1" noAdjustHandles="1" noChangeArrowheads="1" noChangeShapeType="1" noTextEdit="1"/>
              </p:cNvSpPr>
              <p:nvPr/>
            </p:nvSpPr>
            <p:spPr>
              <a:xfrm>
                <a:off x="7712639" y="4351929"/>
                <a:ext cx="4073360" cy="1360629"/>
              </a:xfrm>
              <a:prstGeom prst="rect">
                <a:avLst/>
              </a:prstGeom>
              <a:blipFill>
                <a:blip r:embed="rId3"/>
                <a:stretch>
                  <a:fillRect/>
                </a:stretch>
              </a:blipFill>
            </p:spPr>
            <p:txBody>
              <a:bodyPr/>
              <a:lstStyle/>
              <a:p>
                <a:r>
                  <a:rPr lang="zh-CN" altLang="en-US">
                    <a:noFill/>
                  </a:rPr>
                  <a:t> </a:t>
                </a:r>
              </a:p>
            </p:txBody>
          </p:sp>
        </mc:Fallback>
      </mc:AlternateContent>
      <p:sp>
        <p:nvSpPr>
          <p:cNvPr id="56" name="文本框 55">
            <a:extLst>
              <a:ext uri="{FF2B5EF4-FFF2-40B4-BE49-F238E27FC236}">
                <a16:creationId xmlns:a16="http://schemas.microsoft.com/office/drawing/2014/main" id="{BE0D2F46-135E-CFCD-AAFB-8D8DD4BB686E}"/>
              </a:ext>
            </a:extLst>
          </p:cNvPr>
          <p:cNvSpPr txBox="1"/>
          <p:nvPr/>
        </p:nvSpPr>
        <p:spPr>
          <a:xfrm>
            <a:off x="8793766" y="3233987"/>
            <a:ext cx="317716" cy="369332"/>
          </a:xfrm>
          <a:prstGeom prst="rect">
            <a:avLst/>
          </a:prstGeom>
          <a:noFill/>
        </p:spPr>
        <p:txBody>
          <a:bodyPr wrap="none" rtlCol="0">
            <a:spAutoFit/>
          </a:bodyPr>
          <a:lstStyle/>
          <a:p>
            <a:r>
              <a:rPr lang="en-US" altLang="zh-CN" dirty="0"/>
              <a:t>A</a:t>
            </a:r>
            <a:endParaRPr lang="zh-CN" altLang="en-US" dirty="0"/>
          </a:p>
        </p:txBody>
      </p:sp>
      <p:sp>
        <p:nvSpPr>
          <p:cNvPr id="57" name="文本框 56">
            <a:extLst>
              <a:ext uri="{FF2B5EF4-FFF2-40B4-BE49-F238E27FC236}">
                <a16:creationId xmlns:a16="http://schemas.microsoft.com/office/drawing/2014/main" id="{CDB9AC5D-575C-9D2E-7100-F4915ED06761}"/>
              </a:ext>
            </a:extLst>
          </p:cNvPr>
          <p:cNvSpPr txBox="1"/>
          <p:nvPr/>
        </p:nvSpPr>
        <p:spPr>
          <a:xfrm>
            <a:off x="7951304" y="2210463"/>
            <a:ext cx="309700" cy="369332"/>
          </a:xfrm>
          <a:prstGeom prst="rect">
            <a:avLst/>
          </a:prstGeom>
          <a:noFill/>
        </p:spPr>
        <p:txBody>
          <a:bodyPr wrap="none" rtlCol="0">
            <a:spAutoFit/>
          </a:bodyPr>
          <a:lstStyle/>
          <a:p>
            <a:r>
              <a:rPr lang="en-US" altLang="zh-CN" dirty="0"/>
              <a:t>B</a:t>
            </a:r>
            <a:endParaRPr lang="zh-CN" altLang="en-US" dirty="0"/>
          </a:p>
        </p:txBody>
      </p:sp>
      <p:sp>
        <p:nvSpPr>
          <p:cNvPr id="58" name="文本框 57">
            <a:extLst>
              <a:ext uri="{FF2B5EF4-FFF2-40B4-BE49-F238E27FC236}">
                <a16:creationId xmlns:a16="http://schemas.microsoft.com/office/drawing/2014/main" id="{D376BF3F-47CB-AD77-50A5-C849DF14C793}"/>
              </a:ext>
            </a:extLst>
          </p:cNvPr>
          <p:cNvSpPr txBox="1"/>
          <p:nvPr/>
        </p:nvSpPr>
        <p:spPr>
          <a:xfrm>
            <a:off x="5181892" y="3221052"/>
            <a:ext cx="317716" cy="369332"/>
          </a:xfrm>
          <a:prstGeom prst="rect">
            <a:avLst/>
          </a:prstGeom>
          <a:noFill/>
        </p:spPr>
        <p:txBody>
          <a:bodyPr wrap="none" rtlCol="0">
            <a:spAutoFit/>
          </a:bodyPr>
          <a:lstStyle/>
          <a:p>
            <a:r>
              <a:rPr lang="en-US" altLang="zh-CN" dirty="0"/>
              <a:t>A</a:t>
            </a:r>
            <a:endParaRPr lang="zh-CN" altLang="en-US" dirty="0"/>
          </a:p>
        </p:txBody>
      </p:sp>
      <p:sp>
        <p:nvSpPr>
          <p:cNvPr id="59" name="文本框 58">
            <a:extLst>
              <a:ext uri="{FF2B5EF4-FFF2-40B4-BE49-F238E27FC236}">
                <a16:creationId xmlns:a16="http://schemas.microsoft.com/office/drawing/2014/main" id="{0C8400FD-A511-4C70-6F71-5D37B77BBA5B}"/>
              </a:ext>
            </a:extLst>
          </p:cNvPr>
          <p:cNvSpPr txBox="1"/>
          <p:nvPr/>
        </p:nvSpPr>
        <p:spPr>
          <a:xfrm>
            <a:off x="6344193" y="2220096"/>
            <a:ext cx="309700" cy="369332"/>
          </a:xfrm>
          <a:prstGeom prst="rect">
            <a:avLst/>
          </a:prstGeom>
          <a:noFill/>
        </p:spPr>
        <p:txBody>
          <a:bodyPr wrap="none" rtlCol="0">
            <a:spAutoFit/>
          </a:bodyPr>
          <a:lstStyle/>
          <a:p>
            <a:r>
              <a:rPr lang="en-US" altLang="zh-CN" dirty="0"/>
              <a:t>B</a:t>
            </a:r>
            <a:endParaRPr lang="zh-CN" altLang="en-US" dirty="0"/>
          </a:p>
        </p:txBody>
      </p:sp>
      <p:sp>
        <p:nvSpPr>
          <p:cNvPr id="60" name="文本框 59">
            <a:extLst>
              <a:ext uri="{FF2B5EF4-FFF2-40B4-BE49-F238E27FC236}">
                <a16:creationId xmlns:a16="http://schemas.microsoft.com/office/drawing/2014/main" id="{856A88A9-DD88-B916-B690-641C3579D8DE}"/>
              </a:ext>
            </a:extLst>
          </p:cNvPr>
          <p:cNvSpPr txBox="1"/>
          <p:nvPr/>
        </p:nvSpPr>
        <p:spPr>
          <a:xfrm>
            <a:off x="3401464" y="1669165"/>
            <a:ext cx="309700" cy="369332"/>
          </a:xfrm>
          <a:prstGeom prst="rect">
            <a:avLst/>
          </a:prstGeom>
          <a:noFill/>
        </p:spPr>
        <p:txBody>
          <a:bodyPr wrap="none" rtlCol="0">
            <a:spAutoFit/>
          </a:bodyPr>
          <a:lstStyle/>
          <a:p>
            <a:r>
              <a:rPr lang="en-US" altLang="zh-CN" dirty="0"/>
              <a:t>B</a:t>
            </a:r>
            <a:endParaRPr lang="zh-CN" altLang="en-US" dirty="0"/>
          </a:p>
        </p:txBody>
      </p:sp>
    </p:spTree>
    <p:extLst>
      <p:ext uri="{BB962C8B-B14F-4D97-AF65-F5344CB8AC3E}">
        <p14:creationId xmlns:p14="http://schemas.microsoft.com/office/powerpoint/2010/main" val="1378674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grpSp>
        <p:nvGrpSpPr>
          <p:cNvPr id="43" name="组合 42">
            <a:extLst>
              <a:ext uri="{FF2B5EF4-FFF2-40B4-BE49-F238E27FC236}">
                <a16:creationId xmlns:a16="http://schemas.microsoft.com/office/drawing/2014/main" id="{658F339C-EA42-6546-2700-736C797DE65D}"/>
              </a:ext>
            </a:extLst>
          </p:cNvPr>
          <p:cNvGrpSpPr/>
          <p:nvPr/>
        </p:nvGrpSpPr>
        <p:grpSpPr>
          <a:xfrm>
            <a:off x="1505803" y="1093187"/>
            <a:ext cx="2665630" cy="2457155"/>
            <a:chOff x="5195517" y="424789"/>
            <a:chExt cx="2665630" cy="2457155"/>
          </a:xfrm>
        </p:grpSpPr>
        <p:cxnSp>
          <p:nvCxnSpPr>
            <p:cNvPr id="33" name="直接箭头连接符 32">
              <a:extLst>
                <a:ext uri="{FF2B5EF4-FFF2-40B4-BE49-F238E27FC236}">
                  <a16:creationId xmlns:a16="http://schemas.microsoft.com/office/drawing/2014/main" id="{0760F73B-D752-F44A-5C70-9BAD318C6511}"/>
                </a:ext>
              </a:extLst>
            </p:cNvPr>
            <p:cNvCxnSpPr/>
            <p:nvPr/>
          </p:nvCxnSpPr>
          <p:spPr>
            <a:xfrm flipV="1">
              <a:off x="5863428" y="536309"/>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E00AB93-A96B-9F58-791F-A9EEFC890A42}"/>
                </a:ext>
              </a:extLst>
            </p:cNvPr>
            <p:cNvCxnSpPr/>
            <p:nvPr/>
          </p:nvCxnSpPr>
          <p:spPr>
            <a:xfrm>
              <a:off x="5863428" y="2214034"/>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2515A458-1515-BA1A-5D8D-8A18A00975B4}"/>
                </a:ext>
              </a:extLst>
            </p:cNvPr>
            <p:cNvCxnSpPr>
              <a:cxnSpLocks/>
            </p:cNvCxnSpPr>
            <p:nvPr/>
          </p:nvCxnSpPr>
          <p:spPr>
            <a:xfrm flipV="1">
              <a:off x="5863427" y="1395050"/>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341A58FB-5F5B-57F6-061F-56780B8A00F9}"/>
                </a:ext>
              </a:extLst>
            </p:cNvPr>
            <p:cNvSpPr txBox="1"/>
            <p:nvPr/>
          </p:nvSpPr>
          <p:spPr>
            <a:xfrm>
              <a:off x="7556255" y="2224274"/>
              <a:ext cx="304892" cy="369332"/>
            </a:xfrm>
            <a:prstGeom prst="rect">
              <a:avLst/>
            </a:prstGeom>
            <a:noFill/>
          </p:spPr>
          <p:txBody>
            <a:bodyPr wrap="none" rtlCol="0">
              <a:spAutoFit/>
            </a:bodyPr>
            <a:lstStyle/>
            <a:p>
              <a:r>
                <a:rPr lang="en-US" altLang="zh-CN" dirty="0"/>
                <a:t>X</a:t>
              </a:r>
              <a:endParaRPr lang="zh-CN" altLang="en-US" dirty="0"/>
            </a:p>
          </p:txBody>
        </p:sp>
        <p:sp>
          <p:nvSpPr>
            <p:cNvPr id="37" name="文本框 36">
              <a:extLst>
                <a:ext uri="{FF2B5EF4-FFF2-40B4-BE49-F238E27FC236}">
                  <a16:creationId xmlns:a16="http://schemas.microsoft.com/office/drawing/2014/main" id="{75726E09-A611-B698-9103-03F3520D4BE5}"/>
                </a:ext>
              </a:extLst>
            </p:cNvPr>
            <p:cNvSpPr txBox="1"/>
            <p:nvPr/>
          </p:nvSpPr>
          <p:spPr>
            <a:xfrm>
              <a:off x="5505620" y="424789"/>
              <a:ext cx="296876" cy="369332"/>
            </a:xfrm>
            <a:prstGeom prst="rect">
              <a:avLst/>
            </a:prstGeom>
            <a:noFill/>
          </p:spPr>
          <p:txBody>
            <a:bodyPr wrap="none" rtlCol="0">
              <a:spAutoFit/>
            </a:bodyPr>
            <a:lstStyle/>
            <a:p>
              <a:r>
                <a:rPr lang="en-US" altLang="zh-CN" dirty="0"/>
                <a:t>Y</a:t>
              </a:r>
              <a:endParaRPr lang="zh-CN" altLang="en-US" dirty="0"/>
            </a:p>
          </p:txBody>
        </p:sp>
        <p:sp>
          <p:nvSpPr>
            <p:cNvPr id="38" name="文本框 37">
              <a:extLst>
                <a:ext uri="{FF2B5EF4-FFF2-40B4-BE49-F238E27FC236}">
                  <a16:creationId xmlns:a16="http://schemas.microsoft.com/office/drawing/2014/main" id="{F4F9E2B4-DDFB-CA29-C4B1-23B31DD155CE}"/>
                </a:ext>
              </a:extLst>
            </p:cNvPr>
            <p:cNvSpPr txBox="1"/>
            <p:nvPr/>
          </p:nvSpPr>
          <p:spPr>
            <a:xfrm>
              <a:off x="6488269" y="1025717"/>
              <a:ext cx="388288" cy="369332"/>
            </a:xfrm>
            <a:prstGeom prst="rect">
              <a:avLst/>
            </a:prstGeom>
            <a:noFill/>
          </p:spPr>
          <p:txBody>
            <a:bodyPr wrap="square" rtlCol="0">
              <a:spAutoFit/>
            </a:bodyPr>
            <a:lstStyle/>
            <a:p>
              <a:r>
                <a:rPr lang="en-US" altLang="zh-CN" dirty="0"/>
                <a:t>Z</a:t>
              </a:r>
              <a:endParaRPr lang="zh-CN" altLang="en-US" dirty="0"/>
            </a:p>
          </p:txBody>
        </p:sp>
        <p:cxnSp>
          <p:nvCxnSpPr>
            <p:cNvPr id="39" name="直接连接符 38">
              <a:extLst>
                <a:ext uri="{FF2B5EF4-FFF2-40B4-BE49-F238E27FC236}">
                  <a16:creationId xmlns:a16="http://schemas.microsoft.com/office/drawing/2014/main" id="{A7A09036-C35C-A9E4-F4AA-CF9B0C4CE219}"/>
                </a:ext>
              </a:extLst>
            </p:cNvPr>
            <p:cNvCxnSpPr>
              <a:cxnSpLocks/>
            </p:cNvCxnSpPr>
            <p:nvPr/>
          </p:nvCxnSpPr>
          <p:spPr>
            <a:xfrm flipV="1">
              <a:off x="5873958" y="1210383"/>
              <a:ext cx="0" cy="99829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CBB7CEE-2F81-EF60-D71F-67B609C8F156}"/>
                </a:ext>
              </a:extLst>
            </p:cNvPr>
            <p:cNvCxnSpPr/>
            <p:nvPr/>
          </p:nvCxnSpPr>
          <p:spPr>
            <a:xfrm flipH="1">
              <a:off x="5195517" y="2214034"/>
              <a:ext cx="667910" cy="66791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5" name="直接箭头连接符 44">
            <a:extLst>
              <a:ext uri="{FF2B5EF4-FFF2-40B4-BE49-F238E27FC236}">
                <a16:creationId xmlns:a16="http://schemas.microsoft.com/office/drawing/2014/main" id="{F3257F63-ABE8-5C2A-4345-D0400BDC6603}"/>
              </a:ext>
            </a:extLst>
          </p:cNvPr>
          <p:cNvCxnSpPr/>
          <p:nvPr/>
        </p:nvCxnSpPr>
        <p:spPr>
          <a:xfrm flipV="1">
            <a:off x="7916544" y="1020041"/>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C5EC277E-AF3A-BBB6-679B-686E64831E04}"/>
              </a:ext>
            </a:extLst>
          </p:cNvPr>
          <p:cNvCxnSpPr/>
          <p:nvPr/>
        </p:nvCxnSpPr>
        <p:spPr>
          <a:xfrm>
            <a:off x="7916544" y="2697766"/>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F02F847-8E36-8883-4FC6-D32BDA3AD16B}"/>
              </a:ext>
            </a:extLst>
          </p:cNvPr>
          <p:cNvCxnSpPr>
            <a:cxnSpLocks/>
          </p:cNvCxnSpPr>
          <p:nvPr/>
        </p:nvCxnSpPr>
        <p:spPr>
          <a:xfrm flipV="1">
            <a:off x="7916543" y="1878782"/>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522DDDCA-1ED2-DCA0-2C24-92711C398788}"/>
              </a:ext>
            </a:extLst>
          </p:cNvPr>
          <p:cNvSpPr txBox="1"/>
          <p:nvPr/>
        </p:nvSpPr>
        <p:spPr>
          <a:xfrm>
            <a:off x="9618124" y="2872695"/>
            <a:ext cx="304892" cy="369332"/>
          </a:xfrm>
          <a:prstGeom prst="rect">
            <a:avLst/>
          </a:prstGeom>
          <a:noFill/>
        </p:spPr>
        <p:txBody>
          <a:bodyPr wrap="none" rtlCol="0">
            <a:spAutoFit/>
          </a:bodyPr>
          <a:lstStyle/>
          <a:p>
            <a:r>
              <a:rPr lang="en-US" altLang="zh-CN" dirty="0"/>
              <a:t>X</a:t>
            </a:r>
            <a:endParaRPr lang="zh-CN" altLang="en-US" dirty="0"/>
          </a:p>
        </p:txBody>
      </p:sp>
      <p:sp>
        <p:nvSpPr>
          <p:cNvPr id="49" name="文本框 48">
            <a:extLst>
              <a:ext uri="{FF2B5EF4-FFF2-40B4-BE49-F238E27FC236}">
                <a16:creationId xmlns:a16="http://schemas.microsoft.com/office/drawing/2014/main" id="{22791894-B521-9FB2-AEE1-72005F90C2FD}"/>
              </a:ext>
            </a:extLst>
          </p:cNvPr>
          <p:cNvSpPr txBox="1"/>
          <p:nvPr/>
        </p:nvSpPr>
        <p:spPr>
          <a:xfrm>
            <a:off x="7558736" y="908521"/>
            <a:ext cx="296876" cy="369332"/>
          </a:xfrm>
          <a:prstGeom prst="rect">
            <a:avLst/>
          </a:prstGeom>
          <a:noFill/>
        </p:spPr>
        <p:txBody>
          <a:bodyPr wrap="none" rtlCol="0">
            <a:spAutoFit/>
          </a:bodyPr>
          <a:lstStyle/>
          <a:p>
            <a:r>
              <a:rPr lang="en-US" altLang="zh-CN" dirty="0"/>
              <a:t>Y</a:t>
            </a:r>
            <a:endParaRPr lang="zh-CN" altLang="en-US" dirty="0"/>
          </a:p>
        </p:txBody>
      </p:sp>
      <p:sp>
        <p:nvSpPr>
          <p:cNvPr id="50" name="文本框 49">
            <a:extLst>
              <a:ext uri="{FF2B5EF4-FFF2-40B4-BE49-F238E27FC236}">
                <a16:creationId xmlns:a16="http://schemas.microsoft.com/office/drawing/2014/main" id="{A67AFE83-30FE-2BBF-693E-8454A6F38D5D}"/>
              </a:ext>
            </a:extLst>
          </p:cNvPr>
          <p:cNvSpPr txBox="1"/>
          <p:nvPr/>
        </p:nvSpPr>
        <p:spPr>
          <a:xfrm>
            <a:off x="8541385" y="1509449"/>
            <a:ext cx="388288" cy="369332"/>
          </a:xfrm>
          <a:prstGeom prst="rect">
            <a:avLst/>
          </a:prstGeom>
          <a:noFill/>
        </p:spPr>
        <p:txBody>
          <a:bodyPr wrap="square" rtlCol="0">
            <a:spAutoFit/>
          </a:bodyPr>
          <a:lstStyle/>
          <a:p>
            <a:r>
              <a:rPr lang="en-US" altLang="zh-CN" dirty="0"/>
              <a:t>Z</a:t>
            </a:r>
            <a:endParaRPr lang="zh-CN" altLang="en-US" dirty="0"/>
          </a:p>
        </p:txBody>
      </p:sp>
      <p:cxnSp>
        <p:nvCxnSpPr>
          <p:cNvPr id="51" name="直接连接符 50">
            <a:extLst>
              <a:ext uri="{FF2B5EF4-FFF2-40B4-BE49-F238E27FC236}">
                <a16:creationId xmlns:a16="http://schemas.microsoft.com/office/drawing/2014/main" id="{1609847A-AB32-D802-454C-3FD8925ECE71}"/>
              </a:ext>
            </a:extLst>
          </p:cNvPr>
          <p:cNvCxnSpPr>
            <a:cxnSpLocks/>
          </p:cNvCxnSpPr>
          <p:nvPr/>
        </p:nvCxnSpPr>
        <p:spPr>
          <a:xfrm flipH="1" flipV="1">
            <a:off x="7916542" y="1878781"/>
            <a:ext cx="10532" cy="81362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D035122-B6E3-3D66-8DD7-04025A6ABC18}"/>
              </a:ext>
            </a:extLst>
          </p:cNvPr>
          <p:cNvCxnSpPr/>
          <p:nvPr/>
        </p:nvCxnSpPr>
        <p:spPr>
          <a:xfrm flipH="1">
            <a:off x="7248633" y="2697766"/>
            <a:ext cx="667910" cy="66791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90B3B4A-3A8A-AE55-AC9C-743E7A366F6A}"/>
                  </a:ext>
                </a:extLst>
              </p:cNvPr>
              <p:cNvSpPr txBox="1"/>
              <p:nvPr/>
            </p:nvSpPr>
            <p:spPr>
              <a:xfrm>
                <a:off x="758914" y="4225371"/>
                <a:ext cx="4159408" cy="1360629"/>
              </a:xfrm>
              <a:prstGeom prst="rect">
                <a:avLst/>
              </a:prstGeom>
              <a:noFill/>
            </p:spPr>
            <p:txBody>
              <a:bodyPr wrap="non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𝑅</m:t>
                        </m:r>
                      </m:e>
                      <m:sub>
                        <m:r>
                          <a:rPr lang="en-US" altLang="zh-CN" sz="2800" b="0" i="1" smtClean="0">
                            <a:latin typeface="Cambria Math" panose="02040503050406030204" pitchFamily="18" charset="0"/>
                          </a:rPr>
                          <m:t>3</m:t>
                        </m:r>
                        <m:r>
                          <a:rPr lang="en-US" altLang="zh-CN" sz="2800" b="0" i="1" smtClean="0">
                            <a:latin typeface="Cambria Math" panose="02040503050406030204" pitchFamily="18" charset="0"/>
                          </a:rPr>
                          <m:t>𝐷𝑥</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en-US" altLang="zh-CN" sz="2400" b="0" i="1" smtClean="0">
                                <a:latin typeface="Cambria Math" panose="02040503050406030204" pitchFamily="18" charset="0"/>
                              </a:rPr>
                              <m:t>1         0            0            0</m:t>
                            </m:r>
                          </m:e>
                          <m:e>
                            <m:r>
                              <a:rPr lang="en-US" altLang="zh-CN" sz="2400" b="0" i="1" smtClean="0">
                                <a:latin typeface="Cambria Math" panose="02040503050406030204" pitchFamily="18" charset="0"/>
                              </a:rPr>
                              <m:t>0      </m:t>
                            </m:r>
                            <m:r>
                              <a:rPr lang="en-US" altLang="zh-CN" sz="2400" b="0" i="1" smtClean="0">
                                <a:latin typeface="Cambria Math" panose="02040503050406030204" pitchFamily="18" charset="0"/>
                              </a:rPr>
                              <m:t>𝑐𝑜𝑠</m:t>
                            </m:r>
                            <m:r>
                              <a:rPr lang="zh-CN" altLang="en-US" sz="2400" b="0" i="1" smtClean="0">
                                <a:latin typeface="Cambria Math" panose="02040503050406030204" pitchFamily="18" charset="0"/>
                              </a:rPr>
                              <m:t>𝛼</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𝑠𝑖𝑛𝑎</m:t>
                            </m:r>
                            <m:r>
                              <a:rPr lang="en-US" altLang="zh-CN" sz="2400" b="0" i="1" smtClean="0">
                                <a:latin typeface="Cambria Math" panose="02040503050406030204" pitchFamily="18" charset="0"/>
                              </a:rPr>
                              <m:t>       0</m:t>
                            </m:r>
                          </m:e>
                          <m:e>
                            <m:r>
                              <a:rPr lang="en-US" altLang="zh-CN" sz="2400" b="0" i="1" smtClean="0">
                                <a:latin typeface="Cambria Math" panose="02040503050406030204" pitchFamily="18" charset="0"/>
                              </a:rPr>
                              <m:t>0    −</m:t>
                            </m:r>
                            <m:r>
                              <a:rPr lang="en-US" altLang="zh-CN" sz="2400" b="0" i="1" smtClean="0">
                                <a:latin typeface="Cambria Math" panose="02040503050406030204" pitchFamily="18" charset="0"/>
                              </a:rPr>
                              <m:t>𝑠𝑖𝑛𝑎</m:t>
                            </m:r>
                            <m:r>
                              <a:rPr lang="en-US" altLang="zh-CN" sz="2400" b="0" i="1" smtClean="0">
                                <a:latin typeface="Cambria Math" panose="02040503050406030204" pitchFamily="18" charset="0"/>
                              </a:rPr>
                              <m:t>    </m:t>
                            </m:r>
                            <m:r>
                              <a:rPr lang="en-US" altLang="zh-CN" sz="2400" i="1">
                                <a:latin typeface="Cambria Math" panose="02040503050406030204" pitchFamily="18" charset="0"/>
                              </a:rPr>
                              <m:t>𝑐𝑜𝑠</m:t>
                            </m:r>
                            <m:r>
                              <a:rPr lang="en-US" altLang="zh-CN" sz="2400" b="0" i="1" smtClean="0">
                                <a:latin typeface="Cambria Math" panose="02040503050406030204" pitchFamily="18" charset="0"/>
                              </a:rPr>
                              <m:t>𝑎</m:t>
                            </m:r>
                            <m:r>
                              <a:rPr lang="en-US" altLang="zh-CN" sz="2400" b="0" i="1" smtClean="0">
                                <a:latin typeface="Cambria Math" panose="02040503050406030204" pitchFamily="18" charset="0"/>
                              </a:rPr>
                              <m:t>       0</m:t>
                            </m:r>
                          </m:e>
                          <m:e>
                            <m:r>
                              <a:rPr lang="en-US" altLang="zh-CN" sz="2400" b="0" i="1" smtClean="0">
                                <a:latin typeface="Cambria Math" panose="02040503050406030204" pitchFamily="18" charset="0"/>
                              </a:rPr>
                              <m:t>0             0          0          1</m:t>
                            </m:r>
                          </m:e>
                        </m:eqArr>
                      </m:e>
                    </m:d>
                  </m:oMath>
                </a14:m>
                <a:endParaRPr lang="zh-CN" altLang="en-US" sz="2400" dirty="0"/>
              </a:p>
            </p:txBody>
          </p:sp>
        </mc:Choice>
        <mc:Fallback xmlns="">
          <p:sp>
            <p:nvSpPr>
              <p:cNvPr id="55" name="文本框 54">
                <a:extLst>
                  <a:ext uri="{FF2B5EF4-FFF2-40B4-BE49-F238E27FC236}">
                    <a16:creationId xmlns:a16="http://schemas.microsoft.com/office/drawing/2014/main" id="{F90B3B4A-3A8A-AE55-AC9C-743E7A366F6A}"/>
                  </a:ext>
                </a:extLst>
              </p:cNvPr>
              <p:cNvSpPr txBox="1">
                <a:spLocks noRot="1" noChangeAspect="1" noMove="1" noResize="1" noEditPoints="1" noAdjustHandles="1" noChangeArrowheads="1" noChangeShapeType="1" noTextEdit="1"/>
              </p:cNvSpPr>
              <p:nvPr/>
            </p:nvSpPr>
            <p:spPr>
              <a:xfrm>
                <a:off x="758914" y="4225371"/>
                <a:ext cx="4159408" cy="1360629"/>
              </a:xfrm>
              <a:prstGeom prst="rect">
                <a:avLst/>
              </a:prstGeom>
              <a:blipFill>
                <a:blip r:embed="rId2"/>
                <a:stretch>
                  <a:fillRect/>
                </a:stretch>
              </a:blipFill>
            </p:spPr>
            <p:txBody>
              <a:bodyPr/>
              <a:lstStyle/>
              <a:p>
                <a:r>
                  <a:rPr lang="zh-CN" altLang="en-US">
                    <a:noFill/>
                  </a:rPr>
                  <a:t> </a:t>
                </a:r>
              </a:p>
            </p:txBody>
          </p:sp>
        </mc:Fallback>
      </mc:AlternateContent>
      <p:sp>
        <p:nvSpPr>
          <p:cNvPr id="6" name="任意多边形: 形状 5">
            <a:extLst>
              <a:ext uri="{FF2B5EF4-FFF2-40B4-BE49-F238E27FC236}">
                <a16:creationId xmlns:a16="http://schemas.microsoft.com/office/drawing/2014/main" id="{6F2C9BD4-4517-E861-A21E-EC3D511EC151}"/>
              </a:ext>
            </a:extLst>
          </p:cNvPr>
          <p:cNvSpPr/>
          <p:nvPr/>
        </p:nvSpPr>
        <p:spPr>
          <a:xfrm>
            <a:off x="7448626" y="1564709"/>
            <a:ext cx="898613" cy="389460"/>
          </a:xfrm>
          <a:custGeom>
            <a:avLst/>
            <a:gdLst>
              <a:gd name="connsiteX0" fmla="*/ 836632 w 836632"/>
              <a:gd name="connsiteY0" fmla="*/ 143123 h 389460"/>
              <a:gd name="connsiteX1" fmla="*/ 637850 w 836632"/>
              <a:gd name="connsiteY1" fmla="*/ 341906 h 389460"/>
              <a:gd name="connsiteX2" fmla="*/ 359554 w 836632"/>
              <a:gd name="connsiteY2" fmla="*/ 381662 h 389460"/>
              <a:gd name="connsiteX3" fmla="*/ 1745 w 836632"/>
              <a:gd name="connsiteY3" fmla="*/ 222636 h 389460"/>
              <a:gd name="connsiteX4" fmla="*/ 248236 w 836632"/>
              <a:gd name="connsiteY4" fmla="*/ 0 h 38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632" h="389460">
                <a:moveTo>
                  <a:pt x="836632" y="143123"/>
                </a:moveTo>
                <a:cubicBezTo>
                  <a:pt x="776997" y="222636"/>
                  <a:pt x="717363" y="302150"/>
                  <a:pt x="637850" y="341906"/>
                </a:cubicBezTo>
                <a:cubicBezTo>
                  <a:pt x="558337" y="381662"/>
                  <a:pt x="465571" y="401540"/>
                  <a:pt x="359554" y="381662"/>
                </a:cubicBezTo>
                <a:cubicBezTo>
                  <a:pt x="253537" y="361784"/>
                  <a:pt x="20298" y="286246"/>
                  <a:pt x="1745" y="222636"/>
                </a:cubicBezTo>
                <a:cubicBezTo>
                  <a:pt x="-16808" y="159026"/>
                  <a:pt x="115714" y="79513"/>
                  <a:pt x="248236" y="0"/>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660BC99-BF2A-0B2F-48BC-6FC3DF89D918}"/>
                  </a:ext>
                </a:extLst>
              </p:cNvPr>
              <p:cNvSpPr txBox="1"/>
              <p:nvPr/>
            </p:nvSpPr>
            <p:spPr>
              <a:xfrm>
                <a:off x="6700291" y="4225371"/>
                <a:ext cx="4169859" cy="1360629"/>
              </a:xfrm>
              <a:prstGeom prst="rect">
                <a:avLst/>
              </a:prstGeom>
              <a:noFill/>
            </p:spPr>
            <p:txBody>
              <a:bodyPr wrap="non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𝑅</m:t>
                        </m:r>
                      </m:e>
                      <m:sub>
                        <m:r>
                          <a:rPr lang="en-US" altLang="zh-CN" sz="2800" b="0" i="1" smtClean="0">
                            <a:latin typeface="Cambria Math" panose="02040503050406030204" pitchFamily="18" charset="0"/>
                          </a:rPr>
                          <m:t>3</m:t>
                        </m:r>
                        <m:r>
                          <a:rPr lang="en-US" altLang="zh-CN" sz="2800" b="0" i="1" smtClean="0">
                            <a:latin typeface="Cambria Math" panose="02040503050406030204" pitchFamily="18" charset="0"/>
                          </a:rPr>
                          <m:t>𝐷𝑦</m:t>
                        </m:r>
                      </m:sub>
                    </m:sSub>
                    <m:r>
                      <a:rPr lang="en-US" altLang="zh-CN" sz="2800" i="1">
                        <a:latin typeface="Cambria Math" panose="02040503050406030204" pitchFamily="18" charset="0"/>
                      </a:rPr>
                      <m:t> </m:t>
                    </m:r>
                  </m:oMath>
                </a14:m>
                <a:r>
                  <a:rPr lang="en-US" altLang="zh-CN" sz="2800" dirty="0"/>
                  <a:t>=</a:t>
                </a:r>
                <a14:m>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en-US" altLang="zh-CN" sz="2400" b="0" i="1" smtClean="0">
                                <a:latin typeface="Cambria Math" panose="02040503050406030204" pitchFamily="18" charset="0"/>
                              </a:rPr>
                              <m:t>𝑐𝑜𝑠𝑟</m:t>
                            </m:r>
                            <m:r>
                              <a:rPr lang="en-US" altLang="zh-CN" sz="2400" b="0" i="1" smtClean="0">
                                <a:latin typeface="Cambria Math" panose="02040503050406030204" pitchFamily="18" charset="0"/>
                              </a:rPr>
                              <m:t>     0   −</m:t>
                            </m:r>
                            <m:r>
                              <a:rPr lang="en-US" altLang="zh-CN" sz="2400" b="0" i="1" smtClean="0">
                                <a:latin typeface="Cambria Math" panose="02040503050406030204" pitchFamily="18" charset="0"/>
                              </a:rPr>
                              <m:t>𝑠𝑖𝑛𝑟</m:t>
                            </m:r>
                            <m:r>
                              <a:rPr lang="en-US" altLang="zh-CN" sz="2400" b="0" i="1" smtClean="0">
                                <a:latin typeface="Cambria Math" panose="02040503050406030204" pitchFamily="18" charset="0"/>
                              </a:rPr>
                              <m:t>     0</m:t>
                            </m:r>
                          </m:e>
                          <m:e>
                            <m:r>
                              <a:rPr lang="en-US" altLang="zh-CN" sz="2400" b="0" i="1" smtClean="0">
                                <a:latin typeface="Cambria Math" panose="02040503050406030204" pitchFamily="18" charset="0"/>
                              </a:rPr>
                              <m:t>0             1           0         0</m:t>
                            </m:r>
                          </m:e>
                          <m:e>
                            <m:r>
                              <a:rPr lang="en-US" altLang="zh-CN" sz="2400" i="1">
                                <a:latin typeface="Cambria Math" panose="02040503050406030204" pitchFamily="18" charset="0"/>
                              </a:rPr>
                              <m:t>𝑠𝑖</m:t>
                            </m:r>
                            <m:r>
                              <a:rPr lang="en-US" altLang="zh-CN" sz="2400" b="0" i="1" smtClean="0">
                                <a:latin typeface="Cambria Math" panose="02040503050406030204" pitchFamily="18" charset="0"/>
                              </a:rPr>
                              <m:t>𝑛𝑟</m:t>
                            </m:r>
                            <m:r>
                              <a:rPr lang="en-US" altLang="zh-CN" sz="2400" b="0" i="1" smtClean="0">
                                <a:latin typeface="Cambria Math" panose="02040503050406030204" pitchFamily="18" charset="0"/>
                              </a:rPr>
                              <m:t>      0       </m:t>
                            </m:r>
                            <m:r>
                              <a:rPr lang="en-US" altLang="zh-CN" sz="2400" i="1">
                                <a:latin typeface="Cambria Math" panose="02040503050406030204" pitchFamily="18" charset="0"/>
                              </a:rPr>
                              <m:t>𝑐𝑜𝑠</m:t>
                            </m:r>
                            <m:r>
                              <a:rPr lang="en-US" altLang="zh-CN" sz="2400" b="0" i="1" smtClean="0">
                                <a:latin typeface="Cambria Math" panose="02040503050406030204" pitchFamily="18" charset="0"/>
                              </a:rPr>
                              <m:t>𝑟</m:t>
                            </m:r>
                            <m:r>
                              <a:rPr lang="en-US" altLang="zh-CN" sz="2400" b="0" i="1" smtClean="0">
                                <a:latin typeface="Cambria Math" panose="02040503050406030204" pitchFamily="18" charset="0"/>
                              </a:rPr>
                              <m:t>      0</m:t>
                            </m:r>
                          </m:e>
                          <m:e>
                            <m:r>
                              <a:rPr lang="en-US" altLang="zh-CN" sz="2400" b="0" i="1" smtClean="0">
                                <a:latin typeface="Cambria Math" panose="02040503050406030204" pitchFamily="18" charset="0"/>
                              </a:rPr>
                              <m:t>0             0          0          1</m:t>
                            </m:r>
                          </m:e>
                        </m:eqArr>
                      </m:e>
                    </m:d>
                  </m:oMath>
                </a14:m>
                <a:endParaRPr lang="zh-CN" altLang="en-US" sz="2400" dirty="0"/>
              </a:p>
            </p:txBody>
          </p:sp>
        </mc:Choice>
        <mc:Fallback xmlns="">
          <p:sp>
            <p:nvSpPr>
              <p:cNvPr id="7" name="文本框 6">
                <a:extLst>
                  <a:ext uri="{FF2B5EF4-FFF2-40B4-BE49-F238E27FC236}">
                    <a16:creationId xmlns:a16="http://schemas.microsoft.com/office/drawing/2014/main" id="{D660BC99-BF2A-0B2F-48BC-6FC3DF89D918}"/>
                  </a:ext>
                </a:extLst>
              </p:cNvPr>
              <p:cNvSpPr txBox="1">
                <a:spLocks noRot="1" noChangeAspect="1" noMove="1" noResize="1" noEditPoints="1" noAdjustHandles="1" noChangeArrowheads="1" noChangeShapeType="1" noTextEdit="1"/>
              </p:cNvSpPr>
              <p:nvPr/>
            </p:nvSpPr>
            <p:spPr>
              <a:xfrm>
                <a:off x="6700291" y="4225371"/>
                <a:ext cx="4169859" cy="1360629"/>
              </a:xfrm>
              <a:prstGeom prst="rect">
                <a:avLst/>
              </a:prstGeom>
              <a:blipFill>
                <a:blip r:embed="rId3"/>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3FD28637-03BE-C27D-042A-0B5CF9847D1A}"/>
              </a:ext>
            </a:extLst>
          </p:cNvPr>
          <p:cNvSpPr txBox="1"/>
          <p:nvPr/>
        </p:nvSpPr>
        <p:spPr>
          <a:xfrm>
            <a:off x="7927074" y="2965837"/>
            <a:ext cx="317716" cy="369332"/>
          </a:xfrm>
          <a:prstGeom prst="rect">
            <a:avLst/>
          </a:prstGeom>
          <a:noFill/>
        </p:spPr>
        <p:txBody>
          <a:bodyPr wrap="none" rtlCol="0">
            <a:spAutoFit/>
          </a:bodyPr>
          <a:lstStyle/>
          <a:p>
            <a:r>
              <a:rPr lang="en-US" altLang="zh-CN" dirty="0"/>
              <a:t>A</a:t>
            </a:r>
            <a:endParaRPr lang="zh-CN" altLang="en-US" dirty="0"/>
          </a:p>
        </p:txBody>
      </p:sp>
      <p:sp>
        <p:nvSpPr>
          <p:cNvPr id="10" name="文本框 9">
            <a:extLst>
              <a:ext uri="{FF2B5EF4-FFF2-40B4-BE49-F238E27FC236}">
                <a16:creationId xmlns:a16="http://schemas.microsoft.com/office/drawing/2014/main" id="{E3D5A2C1-B327-6535-FD51-F984F43F796E}"/>
              </a:ext>
            </a:extLst>
          </p:cNvPr>
          <p:cNvSpPr txBox="1"/>
          <p:nvPr/>
        </p:nvSpPr>
        <p:spPr>
          <a:xfrm>
            <a:off x="7850172" y="1610711"/>
            <a:ext cx="309700" cy="369332"/>
          </a:xfrm>
          <a:prstGeom prst="rect">
            <a:avLst/>
          </a:prstGeom>
          <a:noFill/>
        </p:spPr>
        <p:txBody>
          <a:bodyPr wrap="none" rtlCol="0">
            <a:spAutoFit/>
          </a:bodyPr>
          <a:lstStyle/>
          <a:p>
            <a:r>
              <a:rPr lang="en-US" altLang="zh-CN" dirty="0"/>
              <a:t>B</a:t>
            </a:r>
            <a:endParaRPr lang="zh-CN" altLang="en-US" dirty="0"/>
          </a:p>
        </p:txBody>
      </p:sp>
      <p:sp>
        <p:nvSpPr>
          <p:cNvPr id="12" name="文本框 11">
            <a:extLst>
              <a:ext uri="{FF2B5EF4-FFF2-40B4-BE49-F238E27FC236}">
                <a16:creationId xmlns:a16="http://schemas.microsoft.com/office/drawing/2014/main" id="{997C5C79-0C21-A28C-BDEC-B07A138AF94C}"/>
              </a:ext>
            </a:extLst>
          </p:cNvPr>
          <p:cNvSpPr txBox="1"/>
          <p:nvPr/>
        </p:nvSpPr>
        <p:spPr>
          <a:xfrm>
            <a:off x="2184244" y="3057361"/>
            <a:ext cx="317716" cy="369332"/>
          </a:xfrm>
          <a:prstGeom prst="rect">
            <a:avLst/>
          </a:prstGeom>
          <a:noFill/>
        </p:spPr>
        <p:txBody>
          <a:bodyPr wrap="none" rtlCol="0">
            <a:spAutoFit/>
          </a:bodyPr>
          <a:lstStyle/>
          <a:p>
            <a:r>
              <a:rPr lang="en-US" altLang="zh-CN" dirty="0"/>
              <a:t>A</a:t>
            </a:r>
            <a:endParaRPr lang="zh-CN" altLang="en-US" dirty="0"/>
          </a:p>
        </p:txBody>
      </p:sp>
      <p:sp>
        <p:nvSpPr>
          <p:cNvPr id="17" name="文本框 16">
            <a:extLst>
              <a:ext uri="{FF2B5EF4-FFF2-40B4-BE49-F238E27FC236}">
                <a16:creationId xmlns:a16="http://schemas.microsoft.com/office/drawing/2014/main" id="{DAA1CD8A-B27E-6156-5E9A-F50C43A6C37C}"/>
              </a:ext>
            </a:extLst>
          </p:cNvPr>
          <p:cNvSpPr txBox="1"/>
          <p:nvPr/>
        </p:nvSpPr>
        <p:spPr>
          <a:xfrm>
            <a:off x="2163706" y="1702235"/>
            <a:ext cx="309700" cy="369332"/>
          </a:xfrm>
          <a:prstGeom prst="rect">
            <a:avLst/>
          </a:prstGeom>
          <a:noFill/>
        </p:spPr>
        <p:txBody>
          <a:bodyPr wrap="none" rtlCol="0">
            <a:spAutoFit/>
          </a:bodyPr>
          <a:lstStyle/>
          <a:p>
            <a:r>
              <a:rPr lang="en-US" altLang="zh-CN" dirty="0"/>
              <a:t>B</a:t>
            </a:r>
            <a:endParaRPr lang="zh-CN" altLang="en-US" dirty="0"/>
          </a:p>
        </p:txBody>
      </p:sp>
    </p:spTree>
    <p:extLst>
      <p:ext uri="{BB962C8B-B14F-4D97-AF65-F5344CB8AC3E}">
        <p14:creationId xmlns:p14="http://schemas.microsoft.com/office/powerpoint/2010/main" val="2222717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grpSp>
        <p:nvGrpSpPr>
          <p:cNvPr id="43" name="组合 42">
            <a:extLst>
              <a:ext uri="{FF2B5EF4-FFF2-40B4-BE49-F238E27FC236}">
                <a16:creationId xmlns:a16="http://schemas.microsoft.com/office/drawing/2014/main" id="{658F339C-EA42-6546-2700-736C797DE65D}"/>
              </a:ext>
            </a:extLst>
          </p:cNvPr>
          <p:cNvGrpSpPr/>
          <p:nvPr/>
        </p:nvGrpSpPr>
        <p:grpSpPr>
          <a:xfrm>
            <a:off x="1505803" y="1093187"/>
            <a:ext cx="2665630" cy="2457155"/>
            <a:chOff x="5195517" y="424789"/>
            <a:chExt cx="2665630" cy="2457155"/>
          </a:xfrm>
        </p:grpSpPr>
        <p:cxnSp>
          <p:nvCxnSpPr>
            <p:cNvPr id="33" name="直接箭头连接符 32">
              <a:extLst>
                <a:ext uri="{FF2B5EF4-FFF2-40B4-BE49-F238E27FC236}">
                  <a16:creationId xmlns:a16="http://schemas.microsoft.com/office/drawing/2014/main" id="{0760F73B-D752-F44A-5C70-9BAD318C6511}"/>
                </a:ext>
              </a:extLst>
            </p:cNvPr>
            <p:cNvCxnSpPr/>
            <p:nvPr/>
          </p:nvCxnSpPr>
          <p:spPr>
            <a:xfrm flipV="1">
              <a:off x="5863428" y="536309"/>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E00AB93-A96B-9F58-791F-A9EEFC890A42}"/>
                </a:ext>
              </a:extLst>
            </p:cNvPr>
            <p:cNvCxnSpPr/>
            <p:nvPr/>
          </p:nvCxnSpPr>
          <p:spPr>
            <a:xfrm>
              <a:off x="5863428" y="2214034"/>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2515A458-1515-BA1A-5D8D-8A18A00975B4}"/>
                </a:ext>
              </a:extLst>
            </p:cNvPr>
            <p:cNvCxnSpPr>
              <a:cxnSpLocks/>
            </p:cNvCxnSpPr>
            <p:nvPr/>
          </p:nvCxnSpPr>
          <p:spPr>
            <a:xfrm flipV="1">
              <a:off x="5863427" y="1395050"/>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341A58FB-5F5B-57F6-061F-56780B8A00F9}"/>
                </a:ext>
              </a:extLst>
            </p:cNvPr>
            <p:cNvSpPr txBox="1"/>
            <p:nvPr/>
          </p:nvSpPr>
          <p:spPr>
            <a:xfrm>
              <a:off x="7556255" y="2224274"/>
              <a:ext cx="304892" cy="369332"/>
            </a:xfrm>
            <a:prstGeom prst="rect">
              <a:avLst/>
            </a:prstGeom>
            <a:noFill/>
          </p:spPr>
          <p:txBody>
            <a:bodyPr wrap="none" rtlCol="0">
              <a:spAutoFit/>
            </a:bodyPr>
            <a:lstStyle/>
            <a:p>
              <a:r>
                <a:rPr lang="en-US" altLang="zh-CN" dirty="0"/>
                <a:t>X</a:t>
              </a:r>
              <a:endParaRPr lang="zh-CN" altLang="en-US" dirty="0"/>
            </a:p>
          </p:txBody>
        </p:sp>
        <p:sp>
          <p:nvSpPr>
            <p:cNvPr id="37" name="文本框 36">
              <a:extLst>
                <a:ext uri="{FF2B5EF4-FFF2-40B4-BE49-F238E27FC236}">
                  <a16:creationId xmlns:a16="http://schemas.microsoft.com/office/drawing/2014/main" id="{75726E09-A611-B698-9103-03F3520D4BE5}"/>
                </a:ext>
              </a:extLst>
            </p:cNvPr>
            <p:cNvSpPr txBox="1"/>
            <p:nvPr/>
          </p:nvSpPr>
          <p:spPr>
            <a:xfrm>
              <a:off x="5505620" y="424789"/>
              <a:ext cx="296876" cy="369332"/>
            </a:xfrm>
            <a:prstGeom prst="rect">
              <a:avLst/>
            </a:prstGeom>
            <a:noFill/>
          </p:spPr>
          <p:txBody>
            <a:bodyPr wrap="none" rtlCol="0">
              <a:spAutoFit/>
            </a:bodyPr>
            <a:lstStyle/>
            <a:p>
              <a:r>
                <a:rPr lang="en-US" altLang="zh-CN" dirty="0"/>
                <a:t>Y</a:t>
              </a:r>
              <a:endParaRPr lang="zh-CN" altLang="en-US" dirty="0"/>
            </a:p>
          </p:txBody>
        </p:sp>
        <p:sp>
          <p:nvSpPr>
            <p:cNvPr id="38" name="文本框 37">
              <a:extLst>
                <a:ext uri="{FF2B5EF4-FFF2-40B4-BE49-F238E27FC236}">
                  <a16:creationId xmlns:a16="http://schemas.microsoft.com/office/drawing/2014/main" id="{F4F9E2B4-DDFB-CA29-C4B1-23B31DD155CE}"/>
                </a:ext>
              </a:extLst>
            </p:cNvPr>
            <p:cNvSpPr txBox="1"/>
            <p:nvPr/>
          </p:nvSpPr>
          <p:spPr>
            <a:xfrm>
              <a:off x="6488269" y="1025717"/>
              <a:ext cx="388288" cy="369332"/>
            </a:xfrm>
            <a:prstGeom prst="rect">
              <a:avLst/>
            </a:prstGeom>
            <a:noFill/>
          </p:spPr>
          <p:txBody>
            <a:bodyPr wrap="square" rtlCol="0">
              <a:spAutoFit/>
            </a:bodyPr>
            <a:lstStyle/>
            <a:p>
              <a:r>
                <a:rPr lang="en-US" altLang="zh-CN" dirty="0"/>
                <a:t>Z</a:t>
              </a:r>
              <a:endParaRPr lang="zh-CN" altLang="en-US" dirty="0"/>
            </a:p>
          </p:txBody>
        </p:sp>
        <p:cxnSp>
          <p:nvCxnSpPr>
            <p:cNvPr id="39" name="直接连接符 38">
              <a:extLst>
                <a:ext uri="{FF2B5EF4-FFF2-40B4-BE49-F238E27FC236}">
                  <a16:creationId xmlns:a16="http://schemas.microsoft.com/office/drawing/2014/main" id="{A7A09036-C35C-A9E4-F4AA-CF9B0C4CE219}"/>
                </a:ext>
              </a:extLst>
            </p:cNvPr>
            <p:cNvCxnSpPr>
              <a:cxnSpLocks/>
            </p:cNvCxnSpPr>
            <p:nvPr/>
          </p:nvCxnSpPr>
          <p:spPr>
            <a:xfrm flipH="1" flipV="1">
              <a:off x="5505620" y="1617196"/>
              <a:ext cx="368338" cy="5914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CBB7CEE-2F81-EF60-D71F-67B609C8F156}"/>
                </a:ext>
              </a:extLst>
            </p:cNvPr>
            <p:cNvCxnSpPr/>
            <p:nvPr/>
          </p:nvCxnSpPr>
          <p:spPr>
            <a:xfrm flipH="1">
              <a:off x="5195517" y="2214034"/>
              <a:ext cx="667910" cy="667910"/>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90B3B4A-3A8A-AE55-AC9C-743E7A366F6A}"/>
                  </a:ext>
                </a:extLst>
              </p:cNvPr>
              <p:cNvSpPr txBox="1"/>
              <p:nvPr/>
            </p:nvSpPr>
            <p:spPr>
              <a:xfrm>
                <a:off x="838121" y="4071515"/>
                <a:ext cx="5008422" cy="1671611"/>
              </a:xfrm>
              <a:prstGeom prst="rect">
                <a:avLst/>
              </a:prstGeom>
              <a:noFill/>
            </p:spPr>
            <p:txBody>
              <a:bodyPr wrap="none" lIns="0" tIns="0" rIns="0" bIns="0" rtlCol="0">
                <a:spAutoFit/>
              </a:bodyPr>
              <a:lstStyle/>
              <a:p>
                <a14:m>
                  <m:oMath xmlns:m="http://schemas.openxmlformats.org/officeDocument/2006/math">
                    <m:sSubSup>
                      <m:sSubSupPr>
                        <m:ctrlPr>
                          <a:rPr lang="en-US" altLang="zh-CN" sz="2800" i="1" smtClean="0">
                            <a:latin typeface="Cambria Math" panose="02040503050406030204" pitchFamily="18" charset="0"/>
                          </a:rPr>
                        </m:ctrlPr>
                      </m:sSubSupPr>
                      <m:e>
                        <m:r>
                          <a:rPr lang="en-US" altLang="zh-CN" sz="2800" b="0" i="1" smtClean="0">
                            <a:latin typeface="Cambria Math" panose="02040503050406030204" pitchFamily="18" charset="0"/>
                          </a:rPr>
                          <m:t>𝑅</m:t>
                        </m:r>
                      </m:e>
                      <m:sub>
                        <m:r>
                          <a:rPr lang="en-US" altLang="zh-CN" sz="2800" b="0" i="1" smtClean="0">
                            <a:latin typeface="Cambria Math" panose="02040503050406030204" pitchFamily="18" charset="0"/>
                          </a:rPr>
                          <m:t>3</m:t>
                        </m:r>
                        <m:r>
                          <a:rPr lang="en-US" altLang="zh-CN" sz="2800" b="0" i="1" smtClean="0">
                            <a:latin typeface="Cambria Math" panose="02040503050406030204" pitchFamily="18" charset="0"/>
                          </a:rPr>
                          <m:t>𝐷𝑥</m:t>
                        </m:r>
                      </m:sub>
                      <m:sup>
                        <m:r>
                          <a:rPr lang="en-US" altLang="zh-CN" sz="2800" b="0" i="1" smtClean="0">
                            <a:latin typeface="Cambria Math" panose="02040503050406030204" pitchFamily="18" charset="0"/>
                          </a:rPr>
                          <m:t>−1</m:t>
                        </m:r>
                      </m:sup>
                    </m:sSubSup>
                  </m:oMath>
                </a14:m>
                <a:r>
                  <a:rPr lang="en-US" altLang="zh-CN" sz="2800" dirty="0"/>
                  <a:t>=</a:t>
                </a:r>
                <a14:m>
                  <m:oMath xmlns:m="http://schemas.openxmlformats.org/officeDocument/2006/math">
                    <m:sSup>
                      <m:sSupPr>
                        <m:ctrlPr>
                          <a:rPr lang="en-US" altLang="zh-CN" sz="2800" i="1" dirty="0" smtClean="0">
                            <a:latin typeface="Cambria Math" panose="02040503050406030204" pitchFamily="18" charset="0"/>
                          </a:rPr>
                        </m:ctrlPr>
                      </m:sSupPr>
                      <m:e>
                        <m:d>
                          <m:dPr>
                            <m:begChr m:val="["/>
                            <m:endChr m:val="]"/>
                            <m:ctrlPr>
                              <a:rPr lang="en-US" altLang="zh-CN" sz="2800" i="1">
                                <a:latin typeface="Cambria Math" panose="02040503050406030204" pitchFamily="18" charset="0"/>
                              </a:rPr>
                            </m:ctrlPr>
                          </m:dPr>
                          <m:e>
                            <m:eqArr>
                              <m:eqArrPr>
                                <m:ctrlPr>
                                  <a:rPr lang="en-US" altLang="zh-CN" sz="2800" i="1">
                                    <a:latin typeface="Cambria Math" panose="02040503050406030204" pitchFamily="18" charset="0"/>
                                  </a:rPr>
                                </m:ctrlPr>
                              </m:eqArrPr>
                              <m:e>
                                <m:r>
                                  <a:rPr lang="en-US" altLang="zh-CN" sz="2800" i="1">
                                    <a:latin typeface="Cambria Math" panose="02040503050406030204" pitchFamily="18" charset="0"/>
                                  </a:rPr>
                                  <m:t>1         0            0            0</m:t>
                                </m:r>
                              </m:e>
                              <m:e>
                                <m:r>
                                  <a:rPr lang="en-US" altLang="zh-CN" sz="2800" i="1">
                                    <a:latin typeface="Cambria Math" panose="02040503050406030204" pitchFamily="18" charset="0"/>
                                  </a:rPr>
                                  <m:t>0      </m:t>
                                </m:r>
                                <m:r>
                                  <a:rPr lang="en-US" altLang="zh-CN" sz="2800" i="1">
                                    <a:latin typeface="Cambria Math" panose="02040503050406030204" pitchFamily="18" charset="0"/>
                                  </a:rPr>
                                  <m:t>𝑐𝑜𝑠</m:t>
                                </m:r>
                                <m:r>
                                  <a:rPr lang="zh-CN" altLang="en-US" sz="2800" i="1">
                                    <a:latin typeface="Cambria Math" panose="02040503050406030204" pitchFamily="18" charset="0"/>
                                  </a:rPr>
                                  <m:t>𝛼</m:t>
                                </m:r>
                                <m:r>
                                  <a:rPr lang="en-US" altLang="zh-CN" sz="2800" i="1">
                                    <a:latin typeface="Cambria Math" panose="02040503050406030204" pitchFamily="18" charset="0"/>
                                  </a:rPr>
                                  <m:t>       </m:t>
                                </m:r>
                                <m:r>
                                  <a:rPr lang="en-US" altLang="zh-CN" sz="2800" i="1">
                                    <a:latin typeface="Cambria Math" panose="02040503050406030204" pitchFamily="18" charset="0"/>
                                  </a:rPr>
                                  <m:t>𝑠𝑖𝑛𝑎</m:t>
                                </m:r>
                                <m:r>
                                  <a:rPr lang="en-US" altLang="zh-CN" sz="2800" i="1">
                                    <a:latin typeface="Cambria Math" panose="02040503050406030204" pitchFamily="18" charset="0"/>
                                  </a:rPr>
                                  <m:t>       0</m:t>
                                </m:r>
                              </m:e>
                              <m:e>
                                <m:r>
                                  <a:rPr lang="en-US" altLang="zh-CN" sz="2800" i="1">
                                    <a:latin typeface="Cambria Math" panose="02040503050406030204" pitchFamily="18" charset="0"/>
                                  </a:rPr>
                                  <m:t>0    −</m:t>
                                </m:r>
                                <m:r>
                                  <a:rPr lang="en-US" altLang="zh-CN" sz="2800" i="1">
                                    <a:latin typeface="Cambria Math" panose="02040503050406030204" pitchFamily="18" charset="0"/>
                                  </a:rPr>
                                  <m:t>𝑠𝑖𝑛𝑎</m:t>
                                </m:r>
                                <m:r>
                                  <a:rPr lang="en-US" altLang="zh-CN" sz="2800" i="1">
                                    <a:latin typeface="Cambria Math" panose="02040503050406030204" pitchFamily="18" charset="0"/>
                                  </a:rPr>
                                  <m:t>    </m:t>
                                </m:r>
                                <m:r>
                                  <a:rPr lang="en-US" altLang="zh-CN" sz="2800" i="1">
                                    <a:latin typeface="Cambria Math" panose="02040503050406030204" pitchFamily="18" charset="0"/>
                                  </a:rPr>
                                  <m:t>𝑐𝑜𝑠𝑎</m:t>
                                </m:r>
                                <m:r>
                                  <a:rPr lang="en-US" altLang="zh-CN" sz="2800" i="1">
                                    <a:latin typeface="Cambria Math" panose="02040503050406030204" pitchFamily="18" charset="0"/>
                                  </a:rPr>
                                  <m:t>       0</m:t>
                                </m:r>
                              </m:e>
                              <m:e>
                                <m:r>
                                  <a:rPr lang="en-US" altLang="zh-CN" sz="2800" i="1">
                                    <a:latin typeface="Cambria Math" panose="02040503050406030204" pitchFamily="18" charset="0"/>
                                  </a:rPr>
                                  <m:t>0             0          0          1</m:t>
                                </m:r>
                              </m:e>
                            </m:eqArr>
                          </m:e>
                        </m:d>
                      </m:e>
                      <m:sup>
                        <m:r>
                          <a:rPr lang="en-US" altLang="zh-CN" sz="2800" b="0" i="1" dirty="0" smtClean="0">
                            <a:latin typeface="Cambria Math" panose="02040503050406030204" pitchFamily="18" charset="0"/>
                          </a:rPr>
                          <m:t>−1</m:t>
                        </m:r>
                      </m:sup>
                    </m:sSup>
                  </m:oMath>
                </a14:m>
                <a:endParaRPr lang="zh-CN" altLang="en-US" sz="2400" dirty="0"/>
              </a:p>
            </p:txBody>
          </p:sp>
        </mc:Choice>
        <mc:Fallback xmlns="">
          <p:sp>
            <p:nvSpPr>
              <p:cNvPr id="55" name="文本框 54">
                <a:extLst>
                  <a:ext uri="{FF2B5EF4-FFF2-40B4-BE49-F238E27FC236}">
                    <a16:creationId xmlns:a16="http://schemas.microsoft.com/office/drawing/2014/main" id="{F90B3B4A-3A8A-AE55-AC9C-743E7A366F6A}"/>
                  </a:ext>
                </a:extLst>
              </p:cNvPr>
              <p:cNvSpPr txBox="1">
                <a:spLocks noRot="1" noChangeAspect="1" noMove="1" noResize="1" noEditPoints="1" noAdjustHandles="1" noChangeArrowheads="1" noChangeShapeType="1" noTextEdit="1"/>
              </p:cNvSpPr>
              <p:nvPr/>
            </p:nvSpPr>
            <p:spPr>
              <a:xfrm>
                <a:off x="838121" y="4071515"/>
                <a:ext cx="5008422" cy="167161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660BC99-BF2A-0B2F-48BC-6FC3DF89D918}"/>
                  </a:ext>
                </a:extLst>
              </p:cNvPr>
              <p:cNvSpPr txBox="1"/>
              <p:nvPr/>
            </p:nvSpPr>
            <p:spPr>
              <a:xfrm>
                <a:off x="6345459" y="4189270"/>
                <a:ext cx="4249753" cy="1432828"/>
              </a:xfrm>
              <a:prstGeom prst="rect">
                <a:avLst/>
              </a:prstGeom>
              <a:noFill/>
            </p:spPr>
            <p:txBody>
              <a:bodyPr wrap="none" lIns="0" tIns="0" rIns="0" bIns="0" rtlCol="0">
                <a:spAutoFit/>
              </a:bodyPr>
              <a:lstStyle/>
              <a:p>
                <a14:m>
                  <m:oMath xmlns:m="http://schemas.openxmlformats.org/officeDocument/2006/math">
                    <m:sSubSup>
                      <m:sSubSupPr>
                        <m:ctrlPr>
                          <a:rPr lang="en-US" altLang="zh-CN" sz="2800" i="1" smtClean="0">
                            <a:latin typeface="Cambria Math" panose="02040503050406030204" pitchFamily="18" charset="0"/>
                          </a:rPr>
                        </m:ctrlPr>
                      </m:sSubSupPr>
                      <m:e>
                        <m:r>
                          <a:rPr lang="en-US" altLang="zh-CN" sz="2800" i="1">
                            <a:latin typeface="Cambria Math" panose="02040503050406030204" pitchFamily="18" charset="0"/>
                          </a:rPr>
                          <m:t>𝑅</m:t>
                        </m:r>
                      </m:e>
                      <m:sub>
                        <m:r>
                          <a:rPr lang="en-US" altLang="zh-CN" sz="2800" i="1">
                            <a:latin typeface="Cambria Math" panose="02040503050406030204" pitchFamily="18" charset="0"/>
                          </a:rPr>
                          <m:t>3</m:t>
                        </m:r>
                        <m:r>
                          <a:rPr lang="en-US" altLang="zh-CN" sz="2800" i="1">
                            <a:latin typeface="Cambria Math" panose="02040503050406030204" pitchFamily="18" charset="0"/>
                          </a:rPr>
                          <m:t>𝐷𝑧</m:t>
                        </m:r>
                      </m:sub>
                      <m:sup>
                        <m:r>
                          <a:rPr lang="en-US" altLang="zh-CN" sz="2800" i="1">
                            <a:latin typeface="Cambria Math" panose="02040503050406030204" pitchFamily="18" charset="0"/>
                          </a:rPr>
                          <m:t>−1</m:t>
                        </m:r>
                      </m:sup>
                    </m:sSubSup>
                  </m:oMath>
                </a14:m>
                <a:r>
                  <a:rPr lang="en-US" altLang="zh-CN" sz="2800" dirty="0"/>
                  <a:t>=</a:t>
                </a:r>
                <a:r>
                  <a:rPr lang="en-US" altLang="zh-CN" sz="2400" dirty="0"/>
                  <a:t> </a:t>
                </a:r>
                <a14:m>
                  <m:oMath xmlns:m="http://schemas.openxmlformats.org/officeDocument/2006/math">
                    <m:sSup>
                      <m:sSupPr>
                        <m:ctrlPr>
                          <a:rPr lang="en-US" altLang="zh-CN" sz="2400" i="1" dirty="0">
                            <a:latin typeface="Cambria Math" panose="02040503050406030204" pitchFamily="18" charset="0"/>
                          </a:rPr>
                        </m:ctrlPr>
                      </m:sSupPr>
                      <m:e>
                        <m:d>
                          <m:dPr>
                            <m:begChr m:val="["/>
                            <m:endChr m:val="]"/>
                            <m:ctrlPr>
                              <a:rPr lang="en-US" altLang="zh-CN" sz="2400" i="1">
                                <a:latin typeface="Cambria Math" panose="02040503050406030204" pitchFamily="18" charset="0"/>
                              </a:rPr>
                            </m:ctrlPr>
                          </m:dPr>
                          <m:e>
                            <m:eqArr>
                              <m:eqArrPr>
                                <m:ctrlPr>
                                  <a:rPr lang="en-US" altLang="zh-CN" sz="2400" i="1">
                                    <a:latin typeface="Cambria Math" panose="02040503050406030204" pitchFamily="18" charset="0"/>
                                  </a:rPr>
                                </m:ctrlPr>
                              </m:eqArrPr>
                              <m:e>
                                <m:r>
                                  <a:rPr lang="en-US" altLang="zh-CN" sz="2400" i="1">
                                    <a:latin typeface="Cambria Math" panose="02040503050406030204" pitchFamily="18" charset="0"/>
                                  </a:rPr>
                                  <m:t>𝑐𝑜𝑠</m:t>
                                </m:r>
                                <m:r>
                                  <a:rPr lang="zh-CN" altLang="en-US" sz="2400" i="1">
                                    <a:latin typeface="Cambria Math" panose="02040503050406030204" pitchFamily="18" charset="0"/>
                                  </a:rPr>
                                  <m:t>𝜃</m:t>
                                </m:r>
                                <m:r>
                                  <a:rPr lang="en-US" altLang="zh-CN" sz="2400" i="1">
                                    <a:latin typeface="Cambria Math" panose="02040503050406030204" pitchFamily="18" charset="0"/>
                                  </a:rPr>
                                  <m:t>      </m:t>
                                </m:r>
                                <m:r>
                                  <a:rPr lang="en-US" altLang="zh-CN" sz="2400" i="1">
                                    <a:latin typeface="Cambria Math" panose="02040503050406030204" pitchFamily="18" charset="0"/>
                                  </a:rPr>
                                  <m:t>𝑠𝑖𝑛</m:t>
                                </m:r>
                                <m:r>
                                  <a:rPr lang="zh-CN" altLang="en-US" sz="2400" i="1">
                                    <a:latin typeface="Cambria Math" panose="02040503050406030204" pitchFamily="18" charset="0"/>
                                  </a:rPr>
                                  <m:t>𝜃</m:t>
                                </m:r>
                                <m:r>
                                  <a:rPr lang="en-US" altLang="zh-CN" sz="2400" i="1">
                                    <a:latin typeface="Cambria Math" panose="02040503050406030204" pitchFamily="18" charset="0"/>
                                  </a:rPr>
                                  <m:t>      0     0</m:t>
                                </m:r>
                              </m:e>
                              <m:e>
                                <m:r>
                                  <a:rPr lang="en-US" altLang="zh-CN" sz="2400" i="1">
                                    <a:latin typeface="Cambria Math" panose="02040503050406030204" pitchFamily="18" charset="0"/>
                                  </a:rPr>
                                  <m:t>−</m:t>
                                </m:r>
                                <m:r>
                                  <a:rPr lang="en-US" altLang="zh-CN" sz="2400" i="1">
                                    <a:latin typeface="Cambria Math" panose="02040503050406030204" pitchFamily="18" charset="0"/>
                                  </a:rPr>
                                  <m:t>𝑠𝑖𝑛</m:t>
                                </m:r>
                                <m:r>
                                  <a:rPr lang="zh-CN" altLang="en-US" sz="2400" i="1">
                                    <a:latin typeface="Cambria Math" panose="02040503050406030204" pitchFamily="18" charset="0"/>
                                  </a:rPr>
                                  <m:t>𝜃</m:t>
                                </m:r>
                                <m:r>
                                  <a:rPr lang="en-US" altLang="zh-CN" sz="2400" i="1">
                                    <a:latin typeface="Cambria Math" panose="02040503050406030204" pitchFamily="18" charset="0"/>
                                  </a:rPr>
                                  <m:t>    </m:t>
                                </m:r>
                                <m:r>
                                  <a:rPr lang="en-US" altLang="zh-CN" sz="2400" i="1">
                                    <a:latin typeface="Cambria Math" panose="02040503050406030204" pitchFamily="18" charset="0"/>
                                  </a:rPr>
                                  <m:t>𝑐𝑜𝑠</m:t>
                                </m:r>
                                <m:r>
                                  <a:rPr lang="zh-CN" altLang="en-US" sz="2400" i="1">
                                    <a:latin typeface="Cambria Math" panose="02040503050406030204" pitchFamily="18" charset="0"/>
                                  </a:rPr>
                                  <m:t>𝜃</m:t>
                                </m:r>
                                <m:r>
                                  <a:rPr lang="en-US" altLang="zh-CN" sz="2400" i="1">
                                    <a:latin typeface="Cambria Math" panose="02040503050406030204" pitchFamily="18" charset="0"/>
                                  </a:rPr>
                                  <m:t>    0     0</m:t>
                                </m:r>
                              </m:e>
                              <m:e>
                                <m:r>
                                  <a:rPr lang="en-US" altLang="zh-CN" sz="2400" i="1">
                                    <a:latin typeface="Cambria Math" panose="02040503050406030204" pitchFamily="18" charset="0"/>
                                  </a:rPr>
                                  <m:t>0             0           1     0</m:t>
                                </m:r>
                              </m:e>
                              <m:e>
                                <m:r>
                                  <a:rPr lang="en-US" altLang="zh-CN" sz="2400" i="1">
                                    <a:latin typeface="Cambria Math" panose="02040503050406030204" pitchFamily="18" charset="0"/>
                                  </a:rPr>
                                  <m:t>0             0           0     1</m:t>
                                </m:r>
                              </m:e>
                            </m:eqArr>
                          </m:e>
                        </m:d>
                      </m:e>
                      <m:sup>
                        <m:r>
                          <a:rPr lang="en-US" altLang="zh-CN" sz="2400" i="1" dirty="0">
                            <a:latin typeface="Cambria Math" panose="02040503050406030204" pitchFamily="18" charset="0"/>
                          </a:rPr>
                          <m:t>−1</m:t>
                        </m:r>
                      </m:sup>
                    </m:sSup>
                  </m:oMath>
                </a14:m>
                <a:endParaRPr lang="zh-CN" altLang="en-US" sz="2400" dirty="0"/>
              </a:p>
            </p:txBody>
          </p:sp>
        </mc:Choice>
        <mc:Fallback xmlns="">
          <p:sp>
            <p:nvSpPr>
              <p:cNvPr id="7" name="文本框 6">
                <a:extLst>
                  <a:ext uri="{FF2B5EF4-FFF2-40B4-BE49-F238E27FC236}">
                    <a16:creationId xmlns:a16="http://schemas.microsoft.com/office/drawing/2014/main" id="{D660BC99-BF2A-0B2F-48BC-6FC3DF89D918}"/>
                  </a:ext>
                </a:extLst>
              </p:cNvPr>
              <p:cNvSpPr txBox="1">
                <a:spLocks noRot="1" noChangeAspect="1" noMove="1" noResize="1" noEditPoints="1" noAdjustHandles="1" noChangeArrowheads="1" noChangeShapeType="1" noTextEdit="1"/>
              </p:cNvSpPr>
              <p:nvPr/>
            </p:nvSpPr>
            <p:spPr>
              <a:xfrm>
                <a:off x="6345459" y="4189270"/>
                <a:ext cx="4249753" cy="1432828"/>
              </a:xfrm>
              <a:prstGeom prst="rect">
                <a:avLst/>
              </a:prstGeom>
              <a:blipFill>
                <a:blip r:embed="rId3"/>
                <a:stretch>
                  <a:fillRect/>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96D46704-D11B-D989-1B2A-259327795A04}"/>
              </a:ext>
            </a:extLst>
          </p:cNvPr>
          <p:cNvGrpSpPr/>
          <p:nvPr/>
        </p:nvGrpSpPr>
        <p:grpSpPr>
          <a:xfrm>
            <a:off x="6817318" y="971845"/>
            <a:ext cx="2665630" cy="2457155"/>
            <a:chOff x="5195517" y="424789"/>
            <a:chExt cx="2665630" cy="2457155"/>
          </a:xfrm>
        </p:grpSpPr>
        <p:cxnSp>
          <p:nvCxnSpPr>
            <p:cNvPr id="5" name="直接箭头连接符 4">
              <a:extLst>
                <a:ext uri="{FF2B5EF4-FFF2-40B4-BE49-F238E27FC236}">
                  <a16:creationId xmlns:a16="http://schemas.microsoft.com/office/drawing/2014/main" id="{9864B38C-3070-8857-2A4A-C2075DDAA3E5}"/>
                </a:ext>
              </a:extLst>
            </p:cNvPr>
            <p:cNvCxnSpPr/>
            <p:nvPr/>
          </p:nvCxnSpPr>
          <p:spPr>
            <a:xfrm flipV="1">
              <a:off x="5863428" y="536309"/>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FF4EE39F-2A6A-D814-80FA-9C78D4EAD0D9}"/>
                </a:ext>
              </a:extLst>
            </p:cNvPr>
            <p:cNvCxnSpPr/>
            <p:nvPr/>
          </p:nvCxnSpPr>
          <p:spPr>
            <a:xfrm>
              <a:off x="5863428" y="2214034"/>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E3FBE8D-01B0-6564-A621-02DEB58A51F3}"/>
                </a:ext>
              </a:extLst>
            </p:cNvPr>
            <p:cNvCxnSpPr>
              <a:cxnSpLocks/>
            </p:cNvCxnSpPr>
            <p:nvPr/>
          </p:nvCxnSpPr>
          <p:spPr>
            <a:xfrm flipV="1">
              <a:off x="5863427" y="1395050"/>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8DEBCB87-6FF5-E319-116D-7311AC37CD14}"/>
                </a:ext>
              </a:extLst>
            </p:cNvPr>
            <p:cNvSpPr txBox="1"/>
            <p:nvPr/>
          </p:nvSpPr>
          <p:spPr>
            <a:xfrm>
              <a:off x="7556255" y="2224274"/>
              <a:ext cx="304892" cy="369332"/>
            </a:xfrm>
            <a:prstGeom prst="rect">
              <a:avLst/>
            </a:prstGeom>
            <a:noFill/>
          </p:spPr>
          <p:txBody>
            <a:bodyPr wrap="none" rtlCol="0">
              <a:spAutoFit/>
            </a:bodyPr>
            <a:lstStyle/>
            <a:p>
              <a:r>
                <a:rPr lang="en-US" altLang="zh-CN" dirty="0"/>
                <a:t>X</a:t>
              </a:r>
              <a:endParaRPr lang="zh-CN" altLang="en-US" dirty="0"/>
            </a:p>
          </p:txBody>
        </p:sp>
        <p:sp>
          <p:nvSpPr>
            <p:cNvPr id="11" name="文本框 10">
              <a:extLst>
                <a:ext uri="{FF2B5EF4-FFF2-40B4-BE49-F238E27FC236}">
                  <a16:creationId xmlns:a16="http://schemas.microsoft.com/office/drawing/2014/main" id="{4A8669F6-4E4D-6FED-B0B8-8DD2263479F1}"/>
                </a:ext>
              </a:extLst>
            </p:cNvPr>
            <p:cNvSpPr txBox="1"/>
            <p:nvPr/>
          </p:nvSpPr>
          <p:spPr>
            <a:xfrm>
              <a:off x="5505620" y="424789"/>
              <a:ext cx="296876" cy="369332"/>
            </a:xfrm>
            <a:prstGeom prst="rect">
              <a:avLst/>
            </a:prstGeom>
            <a:noFill/>
          </p:spPr>
          <p:txBody>
            <a:bodyPr wrap="none" rtlCol="0">
              <a:spAutoFit/>
            </a:bodyPr>
            <a:lstStyle/>
            <a:p>
              <a:r>
                <a:rPr lang="en-US" altLang="zh-CN" dirty="0"/>
                <a:t>Y</a:t>
              </a:r>
              <a:endParaRPr lang="zh-CN" altLang="en-US" dirty="0"/>
            </a:p>
          </p:txBody>
        </p:sp>
        <p:sp>
          <p:nvSpPr>
            <p:cNvPr id="12" name="文本框 11">
              <a:extLst>
                <a:ext uri="{FF2B5EF4-FFF2-40B4-BE49-F238E27FC236}">
                  <a16:creationId xmlns:a16="http://schemas.microsoft.com/office/drawing/2014/main" id="{6AA091B8-70A7-D844-960D-75C517E2CA76}"/>
                </a:ext>
              </a:extLst>
            </p:cNvPr>
            <p:cNvSpPr txBox="1"/>
            <p:nvPr/>
          </p:nvSpPr>
          <p:spPr>
            <a:xfrm>
              <a:off x="6488269" y="1025717"/>
              <a:ext cx="388288" cy="369332"/>
            </a:xfrm>
            <a:prstGeom prst="rect">
              <a:avLst/>
            </a:prstGeom>
            <a:noFill/>
          </p:spPr>
          <p:txBody>
            <a:bodyPr wrap="square" rtlCol="0">
              <a:spAutoFit/>
            </a:bodyPr>
            <a:lstStyle/>
            <a:p>
              <a:r>
                <a:rPr lang="en-US" altLang="zh-CN" dirty="0"/>
                <a:t>Z</a:t>
              </a:r>
              <a:endParaRPr lang="zh-CN" altLang="en-US" dirty="0"/>
            </a:p>
          </p:txBody>
        </p:sp>
        <p:cxnSp>
          <p:nvCxnSpPr>
            <p:cNvPr id="13" name="直接连接符 12">
              <a:extLst>
                <a:ext uri="{FF2B5EF4-FFF2-40B4-BE49-F238E27FC236}">
                  <a16:creationId xmlns:a16="http://schemas.microsoft.com/office/drawing/2014/main" id="{C91F5B92-EB75-C505-EAEE-4B792C938F49}"/>
                </a:ext>
              </a:extLst>
            </p:cNvPr>
            <p:cNvCxnSpPr>
              <a:cxnSpLocks/>
            </p:cNvCxnSpPr>
            <p:nvPr/>
          </p:nvCxnSpPr>
          <p:spPr>
            <a:xfrm flipV="1">
              <a:off x="5873958" y="1334032"/>
              <a:ext cx="974110" cy="8746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A48F852-19D2-5799-DD6A-C200F6601E67}"/>
                </a:ext>
              </a:extLst>
            </p:cNvPr>
            <p:cNvCxnSpPr/>
            <p:nvPr/>
          </p:nvCxnSpPr>
          <p:spPr>
            <a:xfrm flipH="1">
              <a:off x="5195517" y="2214034"/>
              <a:ext cx="667910" cy="66791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7A60ED5C-0B01-DD6E-282B-B5E440899910}"/>
              </a:ext>
            </a:extLst>
          </p:cNvPr>
          <p:cNvSpPr txBox="1"/>
          <p:nvPr/>
        </p:nvSpPr>
        <p:spPr>
          <a:xfrm>
            <a:off x="2173713" y="3140662"/>
            <a:ext cx="317716" cy="369332"/>
          </a:xfrm>
          <a:prstGeom prst="rect">
            <a:avLst/>
          </a:prstGeom>
          <a:noFill/>
        </p:spPr>
        <p:txBody>
          <a:bodyPr wrap="none" rtlCol="0">
            <a:spAutoFit/>
          </a:bodyPr>
          <a:lstStyle/>
          <a:p>
            <a:r>
              <a:rPr lang="en-US" altLang="zh-CN" dirty="0"/>
              <a:t>A</a:t>
            </a:r>
            <a:endParaRPr lang="zh-CN" altLang="en-US" dirty="0"/>
          </a:p>
        </p:txBody>
      </p:sp>
      <p:sp>
        <p:nvSpPr>
          <p:cNvPr id="16" name="文本框 15">
            <a:extLst>
              <a:ext uri="{FF2B5EF4-FFF2-40B4-BE49-F238E27FC236}">
                <a16:creationId xmlns:a16="http://schemas.microsoft.com/office/drawing/2014/main" id="{39D352C4-6B38-631B-233F-4B606E4B6BDE}"/>
              </a:ext>
            </a:extLst>
          </p:cNvPr>
          <p:cNvSpPr txBox="1"/>
          <p:nvPr/>
        </p:nvSpPr>
        <p:spPr>
          <a:xfrm>
            <a:off x="1548873" y="2095570"/>
            <a:ext cx="309700" cy="369332"/>
          </a:xfrm>
          <a:prstGeom prst="rect">
            <a:avLst/>
          </a:prstGeom>
          <a:noFill/>
        </p:spPr>
        <p:txBody>
          <a:bodyPr wrap="none" rtlCol="0">
            <a:spAutoFit/>
          </a:bodyPr>
          <a:lstStyle/>
          <a:p>
            <a:r>
              <a:rPr lang="en-US" altLang="zh-CN" dirty="0"/>
              <a:t>B</a:t>
            </a:r>
            <a:endParaRPr lang="zh-CN" altLang="en-US" dirty="0"/>
          </a:p>
        </p:txBody>
      </p:sp>
      <p:sp>
        <p:nvSpPr>
          <p:cNvPr id="17" name="文本框 16">
            <a:extLst>
              <a:ext uri="{FF2B5EF4-FFF2-40B4-BE49-F238E27FC236}">
                <a16:creationId xmlns:a16="http://schemas.microsoft.com/office/drawing/2014/main" id="{796B45C0-3C46-6055-B911-382BE411BCC7}"/>
              </a:ext>
            </a:extLst>
          </p:cNvPr>
          <p:cNvSpPr txBox="1"/>
          <p:nvPr/>
        </p:nvSpPr>
        <p:spPr>
          <a:xfrm>
            <a:off x="7495759" y="2955996"/>
            <a:ext cx="317716" cy="369332"/>
          </a:xfrm>
          <a:prstGeom prst="rect">
            <a:avLst/>
          </a:prstGeom>
          <a:noFill/>
        </p:spPr>
        <p:txBody>
          <a:bodyPr wrap="none" rtlCol="0">
            <a:spAutoFit/>
          </a:bodyPr>
          <a:lstStyle/>
          <a:p>
            <a:r>
              <a:rPr lang="en-US" altLang="zh-CN" dirty="0"/>
              <a:t>A</a:t>
            </a:r>
            <a:endParaRPr lang="zh-CN" altLang="en-US" dirty="0"/>
          </a:p>
        </p:txBody>
      </p:sp>
      <p:sp>
        <p:nvSpPr>
          <p:cNvPr id="18" name="文本框 17">
            <a:extLst>
              <a:ext uri="{FF2B5EF4-FFF2-40B4-BE49-F238E27FC236}">
                <a16:creationId xmlns:a16="http://schemas.microsoft.com/office/drawing/2014/main" id="{4493A3BF-6740-0677-28BA-7BF2DC4CC015}"/>
              </a:ext>
            </a:extLst>
          </p:cNvPr>
          <p:cNvSpPr txBox="1"/>
          <p:nvPr/>
        </p:nvSpPr>
        <p:spPr>
          <a:xfrm>
            <a:off x="8498357" y="1652656"/>
            <a:ext cx="309700" cy="369332"/>
          </a:xfrm>
          <a:prstGeom prst="rect">
            <a:avLst/>
          </a:prstGeom>
          <a:noFill/>
        </p:spPr>
        <p:txBody>
          <a:bodyPr wrap="none" rtlCol="0">
            <a:spAutoFit/>
          </a:bodyPr>
          <a:lstStyle/>
          <a:p>
            <a:r>
              <a:rPr lang="en-US" altLang="zh-CN" dirty="0"/>
              <a:t>B</a:t>
            </a:r>
            <a:endParaRPr lang="zh-CN" altLang="en-US" dirty="0"/>
          </a:p>
        </p:txBody>
      </p:sp>
    </p:spTree>
    <p:extLst>
      <p:ext uri="{BB962C8B-B14F-4D97-AF65-F5344CB8AC3E}">
        <p14:creationId xmlns:p14="http://schemas.microsoft.com/office/powerpoint/2010/main" val="3207941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90B3B4A-3A8A-AE55-AC9C-743E7A366F6A}"/>
                  </a:ext>
                </a:extLst>
              </p:cNvPr>
              <p:cNvSpPr txBox="1"/>
              <p:nvPr/>
            </p:nvSpPr>
            <p:spPr>
              <a:xfrm>
                <a:off x="981245" y="4135125"/>
                <a:ext cx="4503477" cy="1718163"/>
              </a:xfrm>
              <a:prstGeom prst="rect">
                <a:avLst/>
              </a:prstGeom>
              <a:noFill/>
            </p:spPr>
            <p:txBody>
              <a:bodyPr wrap="none" lIns="0" tIns="0" rIns="0" bIns="0" rtlCol="0">
                <a:spAutoFit/>
              </a:bodyPr>
              <a:lstStyle/>
              <a:p>
                <a14:m>
                  <m:oMath xmlns:m="http://schemas.openxmlformats.org/officeDocument/2006/math">
                    <m:sSup>
                      <m:sSupPr>
                        <m:ctrlPr>
                          <a:rPr lang="en-US" altLang="zh-CN" sz="2800" i="1" smtClean="0">
                            <a:latin typeface="Cambria Math" panose="02040503050406030204" pitchFamily="18" charset="0"/>
                          </a:rPr>
                        </m:ctrlPr>
                      </m:sSupPr>
                      <m:e>
                        <m:r>
                          <a:rPr lang="en-US" altLang="zh-CN" sz="2800" b="0" i="1" smtClean="0">
                            <a:latin typeface="Cambria Math" panose="02040503050406030204" pitchFamily="18" charset="0"/>
                          </a:rPr>
                          <m:t>𝑇</m:t>
                        </m:r>
                      </m:e>
                      <m:sup>
                        <m:r>
                          <a:rPr lang="en-US" altLang="zh-CN" sz="2800" b="0" i="1" smtClean="0">
                            <a:latin typeface="Cambria Math" panose="02040503050406030204" pitchFamily="18" charset="0"/>
                          </a:rPr>
                          <m:t>−1</m:t>
                        </m:r>
                      </m:sup>
                    </m:sSup>
                  </m:oMath>
                </a14:m>
                <a:r>
                  <a:rPr lang="en-US" altLang="zh-CN" sz="2800" dirty="0"/>
                  <a:t>=</a:t>
                </a:r>
                <a14:m>
                  <m:oMath xmlns:m="http://schemas.openxmlformats.org/officeDocument/2006/math">
                    <m:sSup>
                      <m:sSupPr>
                        <m:ctrlPr>
                          <a:rPr lang="en-US" altLang="zh-CN" sz="2800" i="1" dirty="0" smtClean="0">
                            <a:latin typeface="Cambria Math" panose="02040503050406030204" pitchFamily="18" charset="0"/>
                          </a:rPr>
                        </m:ctrlPr>
                      </m:sSupPr>
                      <m:e>
                        <m:d>
                          <m:dPr>
                            <m:begChr m:val="["/>
                            <m:endChr m:val="]"/>
                            <m:ctrlPr>
                              <a:rPr lang="en-US" altLang="zh-CN" sz="2800" i="1">
                                <a:latin typeface="Cambria Math" panose="02040503050406030204" pitchFamily="18" charset="0"/>
                              </a:rPr>
                            </m:ctrlPr>
                          </m:dPr>
                          <m:e>
                            <m:eqArr>
                              <m:eqArrPr>
                                <m:ctrlPr>
                                  <a:rPr lang="en-US" altLang="zh-CN" sz="2800" i="1">
                                    <a:latin typeface="Cambria Math" panose="02040503050406030204" pitchFamily="18" charset="0"/>
                                  </a:rPr>
                                </m:ctrlPr>
                              </m:eqArrPr>
                              <m:e>
                                <m:r>
                                  <a:rPr lang="en-US" altLang="zh-CN" sz="2800" i="1">
                                    <a:latin typeface="Cambria Math" panose="02040503050406030204" pitchFamily="18" charset="0"/>
                                  </a:rPr>
                                  <m:t>1          0          0        0</m:t>
                                </m:r>
                              </m:e>
                              <m:e>
                                <m:r>
                                  <a:rPr lang="en-US" altLang="zh-CN" sz="2800" i="1">
                                    <a:latin typeface="Cambria Math" panose="02040503050406030204" pitchFamily="18" charset="0"/>
                                  </a:rPr>
                                  <m:t>0          1          0        0</m:t>
                                </m:r>
                              </m:e>
                              <m:e>
                                <m:r>
                                  <a:rPr lang="en-US" altLang="zh-CN" sz="2800" i="1">
                                    <a:latin typeface="Cambria Math" panose="02040503050406030204" pitchFamily="18" charset="0"/>
                                  </a:rPr>
                                  <m:t>0          0          1         0</m:t>
                                </m:r>
                              </m:e>
                              <m:e>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  −</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  −</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𝑧</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     1</m:t>
                                </m:r>
                              </m:e>
                            </m:eqArr>
                          </m:e>
                        </m:d>
                      </m:e>
                      <m:sup>
                        <m:r>
                          <a:rPr lang="en-US" altLang="zh-CN" sz="2800" b="0" i="1" dirty="0" smtClean="0">
                            <a:latin typeface="Cambria Math" panose="02040503050406030204" pitchFamily="18" charset="0"/>
                          </a:rPr>
                          <m:t>−1</m:t>
                        </m:r>
                      </m:sup>
                    </m:sSup>
                  </m:oMath>
                </a14:m>
                <a:endParaRPr lang="zh-CN" altLang="en-US" sz="2400" dirty="0"/>
              </a:p>
            </p:txBody>
          </p:sp>
        </mc:Choice>
        <mc:Fallback xmlns="">
          <p:sp>
            <p:nvSpPr>
              <p:cNvPr id="55" name="文本框 54">
                <a:extLst>
                  <a:ext uri="{FF2B5EF4-FFF2-40B4-BE49-F238E27FC236}">
                    <a16:creationId xmlns:a16="http://schemas.microsoft.com/office/drawing/2014/main" id="{F90B3B4A-3A8A-AE55-AC9C-743E7A366F6A}"/>
                  </a:ext>
                </a:extLst>
              </p:cNvPr>
              <p:cNvSpPr txBox="1">
                <a:spLocks noRot="1" noChangeAspect="1" noMove="1" noResize="1" noEditPoints="1" noAdjustHandles="1" noChangeArrowheads="1" noChangeShapeType="1" noTextEdit="1"/>
              </p:cNvSpPr>
              <p:nvPr/>
            </p:nvSpPr>
            <p:spPr>
              <a:xfrm>
                <a:off x="981245" y="4135125"/>
                <a:ext cx="4503477" cy="1718163"/>
              </a:xfrm>
              <a:prstGeom prst="rect">
                <a:avLst/>
              </a:prstGeom>
              <a:blipFill>
                <a:blip r:embed="rId2"/>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46FE6363-8E1F-8457-E49C-995386693B79}"/>
              </a:ext>
            </a:extLst>
          </p:cNvPr>
          <p:cNvGrpSpPr/>
          <p:nvPr/>
        </p:nvGrpSpPr>
        <p:grpSpPr>
          <a:xfrm>
            <a:off x="1858143" y="1341177"/>
            <a:ext cx="2674383" cy="2457155"/>
            <a:chOff x="1812896" y="548438"/>
            <a:chExt cx="2674383" cy="2457155"/>
          </a:xfrm>
        </p:grpSpPr>
        <p:cxnSp>
          <p:nvCxnSpPr>
            <p:cNvPr id="6" name="直接箭头连接符 5">
              <a:extLst>
                <a:ext uri="{FF2B5EF4-FFF2-40B4-BE49-F238E27FC236}">
                  <a16:creationId xmlns:a16="http://schemas.microsoft.com/office/drawing/2014/main" id="{EF125184-4E5E-E397-6FD4-DF4A7729EE22}"/>
                </a:ext>
              </a:extLst>
            </p:cNvPr>
            <p:cNvCxnSpPr/>
            <p:nvPr/>
          </p:nvCxnSpPr>
          <p:spPr>
            <a:xfrm flipV="1">
              <a:off x="2480807" y="659958"/>
              <a:ext cx="0" cy="1677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376032BB-E6F7-7E7A-2ACD-AE3C60FCD05E}"/>
                </a:ext>
              </a:extLst>
            </p:cNvPr>
            <p:cNvCxnSpPr/>
            <p:nvPr/>
          </p:nvCxnSpPr>
          <p:spPr>
            <a:xfrm>
              <a:off x="2480807" y="2337683"/>
              <a:ext cx="1932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8F76222-4C87-6164-DEED-2D2F87A7A700}"/>
                </a:ext>
              </a:extLst>
            </p:cNvPr>
            <p:cNvCxnSpPr>
              <a:cxnSpLocks/>
            </p:cNvCxnSpPr>
            <p:nvPr/>
          </p:nvCxnSpPr>
          <p:spPr>
            <a:xfrm flipV="1">
              <a:off x="2480806" y="1518699"/>
              <a:ext cx="818985" cy="81898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7380C76A-F471-7704-AE8C-3FA6008AE9EA}"/>
                </a:ext>
              </a:extLst>
            </p:cNvPr>
            <p:cNvSpPr txBox="1"/>
            <p:nvPr/>
          </p:nvSpPr>
          <p:spPr>
            <a:xfrm>
              <a:off x="4182387" y="2512612"/>
              <a:ext cx="304892" cy="369332"/>
            </a:xfrm>
            <a:prstGeom prst="rect">
              <a:avLst/>
            </a:prstGeom>
            <a:noFill/>
          </p:spPr>
          <p:txBody>
            <a:bodyPr wrap="none" rtlCol="0">
              <a:spAutoFit/>
            </a:bodyPr>
            <a:lstStyle/>
            <a:p>
              <a:r>
                <a:rPr lang="en-US" altLang="zh-CN" dirty="0"/>
                <a:t>X</a:t>
              </a:r>
              <a:endParaRPr lang="zh-CN" altLang="en-US" dirty="0"/>
            </a:p>
          </p:txBody>
        </p:sp>
        <p:sp>
          <p:nvSpPr>
            <p:cNvPr id="18" name="文本框 17">
              <a:extLst>
                <a:ext uri="{FF2B5EF4-FFF2-40B4-BE49-F238E27FC236}">
                  <a16:creationId xmlns:a16="http://schemas.microsoft.com/office/drawing/2014/main" id="{F1C35E60-3387-7549-26D4-2FF8321C2BB1}"/>
                </a:ext>
              </a:extLst>
            </p:cNvPr>
            <p:cNvSpPr txBox="1"/>
            <p:nvPr/>
          </p:nvSpPr>
          <p:spPr>
            <a:xfrm>
              <a:off x="2122999" y="548438"/>
              <a:ext cx="296876" cy="369332"/>
            </a:xfrm>
            <a:prstGeom prst="rect">
              <a:avLst/>
            </a:prstGeom>
            <a:noFill/>
          </p:spPr>
          <p:txBody>
            <a:bodyPr wrap="none" rtlCol="0">
              <a:spAutoFit/>
            </a:bodyPr>
            <a:lstStyle/>
            <a:p>
              <a:r>
                <a:rPr lang="en-US" altLang="zh-CN" dirty="0"/>
                <a:t>Y</a:t>
              </a:r>
              <a:endParaRPr lang="zh-CN" altLang="en-US" dirty="0"/>
            </a:p>
          </p:txBody>
        </p:sp>
        <p:sp>
          <p:nvSpPr>
            <p:cNvPr id="19" name="文本框 18">
              <a:extLst>
                <a:ext uri="{FF2B5EF4-FFF2-40B4-BE49-F238E27FC236}">
                  <a16:creationId xmlns:a16="http://schemas.microsoft.com/office/drawing/2014/main" id="{74250D28-B0C0-C1B9-7931-F9E7588EB28E}"/>
                </a:ext>
              </a:extLst>
            </p:cNvPr>
            <p:cNvSpPr txBox="1"/>
            <p:nvPr/>
          </p:nvSpPr>
          <p:spPr>
            <a:xfrm>
              <a:off x="3105648" y="1149366"/>
              <a:ext cx="388288" cy="369332"/>
            </a:xfrm>
            <a:prstGeom prst="rect">
              <a:avLst/>
            </a:prstGeom>
            <a:noFill/>
          </p:spPr>
          <p:txBody>
            <a:bodyPr wrap="square" rtlCol="0">
              <a:spAutoFit/>
            </a:bodyPr>
            <a:lstStyle/>
            <a:p>
              <a:r>
                <a:rPr lang="en-US" altLang="zh-CN" dirty="0"/>
                <a:t>Z</a:t>
              </a:r>
              <a:endParaRPr lang="zh-CN" altLang="en-US" dirty="0"/>
            </a:p>
          </p:txBody>
        </p:sp>
        <p:cxnSp>
          <p:nvCxnSpPr>
            <p:cNvPr id="20" name="直接连接符 19">
              <a:extLst>
                <a:ext uri="{FF2B5EF4-FFF2-40B4-BE49-F238E27FC236}">
                  <a16:creationId xmlns:a16="http://schemas.microsoft.com/office/drawing/2014/main" id="{33839546-FB59-C4A2-080A-2C4EF48573D7}"/>
                </a:ext>
              </a:extLst>
            </p:cNvPr>
            <p:cNvCxnSpPr>
              <a:cxnSpLocks/>
            </p:cNvCxnSpPr>
            <p:nvPr/>
          </p:nvCxnSpPr>
          <p:spPr>
            <a:xfrm flipV="1">
              <a:off x="3360723" y="985962"/>
              <a:ext cx="974110" cy="8746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39DC9B2F-168B-EC01-A6B4-4046CC91A3E3}"/>
                </a:ext>
              </a:extLst>
            </p:cNvPr>
            <p:cNvCxnSpPr/>
            <p:nvPr/>
          </p:nvCxnSpPr>
          <p:spPr>
            <a:xfrm flipH="1">
              <a:off x="1812896" y="2337683"/>
              <a:ext cx="667910" cy="667910"/>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041B6F6-A707-E77B-B061-45573EEAC5FD}"/>
                  </a:ext>
                </a:extLst>
              </p:cNvPr>
              <p:cNvSpPr txBox="1"/>
              <p:nvPr/>
            </p:nvSpPr>
            <p:spPr>
              <a:xfrm>
                <a:off x="6031802" y="2514079"/>
                <a:ext cx="5630324" cy="576183"/>
              </a:xfrm>
              <a:prstGeom prst="rect">
                <a:avLst/>
              </a:prstGeom>
              <a:noFill/>
            </p:spPr>
            <p:txBody>
              <a:bodyPr wrap="none"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𝐴𝐵</m:t>
                        </m:r>
                      </m:sub>
                    </m:sSub>
                    <m:r>
                      <a:rPr lang="en-US" altLang="zh-CN" sz="2800" i="1">
                        <a:latin typeface="Cambria Math" panose="02040503050406030204" pitchFamily="18" charset="0"/>
                      </a:rPr>
                      <m:t> </m:t>
                    </m:r>
                  </m:oMath>
                </a14:m>
                <a:r>
                  <a:rPr lang="en-US" altLang="zh-CN" sz="2800" dirty="0"/>
                  <a:t>=T</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𝑅</m:t>
                        </m:r>
                      </m:e>
                      <m:sub>
                        <m:r>
                          <a:rPr lang="en-US" altLang="zh-CN" sz="2800" b="0" i="1" smtClean="0">
                            <a:latin typeface="Cambria Math" panose="02040503050406030204" pitchFamily="18" charset="0"/>
                          </a:rPr>
                          <m:t>3</m:t>
                        </m:r>
                        <m:r>
                          <m:rPr>
                            <m:sty m:val="p"/>
                          </m:rPr>
                          <a:rPr lang="en-US" altLang="zh-CN" sz="2800" i="1">
                            <a:latin typeface="Cambria Math" panose="02040503050406030204" pitchFamily="18" charset="0"/>
                          </a:rPr>
                          <m:t>D</m:t>
                        </m:r>
                        <m:r>
                          <a:rPr lang="en-US" altLang="zh-CN" sz="2800" b="0" i="1" smtClean="0">
                            <a:latin typeface="Cambria Math" panose="02040503050406030204" pitchFamily="18" charset="0"/>
                          </a:rPr>
                          <m:t>𝑧</m:t>
                        </m:r>
                      </m:sub>
                    </m:sSub>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3</m:t>
                        </m:r>
                        <m:r>
                          <m:rPr>
                            <m:sty m:val="p"/>
                          </m:rPr>
                          <a:rPr lang="en-US" altLang="zh-CN" sz="2800" i="1">
                            <a:latin typeface="Cambria Math" panose="02040503050406030204" pitchFamily="18" charset="0"/>
                          </a:rPr>
                          <m:t>D</m:t>
                        </m:r>
                        <m:r>
                          <a:rPr lang="en-US" altLang="zh-CN" sz="2800" b="0" i="1" smtClean="0">
                            <a:latin typeface="Cambria Math" panose="02040503050406030204" pitchFamily="18" charset="0"/>
                          </a:rPr>
                          <m:t>𝑥</m:t>
                        </m:r>
                      </m:sub>
                    </m:sSub>
                  </m:oMath>
                </a14:m>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3</m:t>
                        </m:r>
                        <m:r>
                          <m:rPr>
                            <m:sty m:val="p"/>
                          </m:rPr>
                          <a:rPr lang="en-US" altLang="zh-CN" sz="2800" i="1">
                            <a:latin typeface="Cambria Math" panose="02040503050406030204" pitchFamily="18" charset="0"/>
                          </a:rPr>
                          <m:t>D</m:t>
                        </m:r>
                        <m:r>
                          <a:rPr lang="en-US" altLang="zh-CN" sz="2800" b="0" i="1" smtClean="0">
                            <a:latin typeface="Cambria Math" panose="02040503050406030204" pitchFamily="18" charset="0"/>
                          </a:rPr>
                          <m:t>𝑦</m:t>
                        </m:r>
                      </m:sub>
                    </m:sSub>
                    <m:sSubSup>
                      <m:sSubSupPr>
                        <m:ctrlPr>
                          <a:rPr lang="en-US" altLang="zh-CN" sz="2800" i="1" smtClean="0">
                            <a:latin typeface="Cambria Math" panose="02040503050406030204" pitchFamily="18" charset="0"/>
                          </a:rPr>
                        </m:ctrlPr>
                      </m:sSubSupPr>
                      <m:e>
                        <m:r>
                          <m:rPr>
                            <m:sty m:val="p"/>
                          </m:rPr>
                          <a:rPr lang="en-US" altLang="zh-CN" sz="2800" i="1">
                            <a:latin typeface="Cambria Math" panose="02040503050406030204" pitchFamily="18" charset="0"/>
                          </a:rPr>
                          <m:t>R</m:t>
                        </m:r>
                      </m:e>
                      <m:sub>
                        <m:r>
                          <a:rPr lang="en-US" altLang="zh-CN" sz="2800" b="0" i="1" smtClean="0">
                            <a:latin typeface="Cambria Math" panose="02040503050406030204" pitchFamily="18" charset="0"/>
                          </a:rPr>
                          <m:t>3</m:t>
                        </m:r>
                        <m:r>
                          <m:rPr>
                            <m:sty m:val="p"/>
                          </m:rPr>
                          <a:rPr lang="en-US" altLang="zh-CN" sz="2800" i="1">
                            <a:latin typeface="Cambria Math" panose="02040503050406030204" pitchFamily="18" charset="0"/>
                          </a:rPr>
                          <m:t>D</m:t>
                        </m:r>
                        <m:r>
                          <a:rPr lang="en-US" altLang="zh-CN" sz="2800" b="0" i="1" smtClean="0">
                            <a:latin typeface="Cambria Math" panose="02040503050406030204" pitchFamily="18" charset="0"/>
                          </a:rPr>
                          <m:t>𝑥</m:t>
                        </m:r>
                      </m:sub>
                      <m:sup>
                        <m:r>
                          <a:rPr lang="en-US" altLang="zh-CN" sz="2800" i="1">
                            <a:latin typeface="Cambria Math" panose="02040503050406030204" pitchFamily="18" charset="0"/>
                          </a:rPr>
                          <m:t>−</m:t>
                        </m:r>
                        <m:r>
                          <a:rPr lang="en-US" altLang="zh-CN" sz="2800" b="0" i="1" smtClean="0">
                            <a:latin typeface="Cambria Math" panose="02040503050406030204" pitchFamily="18" charset="0"/>
                          </a:rPr>
                          <m:t>1</m:t>
                        </m:r>
                      </m:sup>
                    </m:sSubSup>
                  </m:oMath>
                </a14:m>
                <a:r>
                  <a:rPr lang="en-US" altLang="zh-CN" sz="2800" dirty="0"/>
                  <a:t> </a:t>
                </a:r>
                <a14:m>
                  <m:oMath xmlns:m="http://schemas.openxmlformats.org/officeDocument/2006/math">
                    <m:sSubSup>
                      <m:sSubSupPr>
                        <m:ctrlPr>
                          <a:rPr lang="en-US" altLang="zh-CN" sz="2800" i="1">
                            <a:latin typeface="Cambria Math" panose="02040503050406030204" pitchFamily="18" charset="0"/>
                          </a:rPr>
                        </m:ctrlPr>
                      </m:sSubSupPr>
                      <m:e>
                        <m:r>
                          <m:rPr>
                            <m:sty m:val="p"/>
                          </m:rPr>
                          <a:rPr lang="en-US" altLang="zh-CN" sz="2800" i="1">
                            <a:latin typeface="Cambria Math" panose="02040503050406030204" pitchFamily="18" charset="0"/>
                          </a:rPr>
                          <m:t>R</m:t>
                        </m:r>
                      </m:e>
                      <m:sub>
                        <m:r>
                          <a:rPr lang="en-US" altLang="zh-CN" sz="2800" i="1">
                            <a:latin typeface="Cambria Math" panose="02040503050406030204" pitchFamily="18" charset="0"/>
                          </a:rPr>
                          <m:t>3</m:t>
                        </m:r>
                        <m:r>
                          <m:rPr>
                            <m:sty m:val="p"/>
                          </m:rPr>
                          <a:rPr lang="en-US" altLang="zh-CN" sz="2800" i="1">
                            <a:latin typeface="Cambria Math" panose="02040503050406030204" pitchFamily="18" charset="0"/>
                          </a:rPr>
                          <m:t>D</m:t>
                        </m:r>
                        <m:r>
                          <a:rPr lang="en-US" altLang="zh-CN" sz="2800" b="0" i="1" smtClean="0">
                            <a:latin typeface="Cambria Math" panose="02040503050406030204" pitchFamily="18" charset="0"/>
                          </a:rPr>
                          <m:t>𝑧</m:t>
                        </m:r>
                      </m:sub>
                      <m:sup>
                        <m:r>
                          <a:rPr lang="en-US" altLang="zh-CN" sz="2800" i="1">
                            <a:latin typeface="Cambria Math" panose="02040503050406030204" pitchFamily="18" charset="0"/>
                          </a:rPr>
                          <m:t>−1</m:t>
                        </m:r>
                      </m:sup>
                    </m:sSubSup>
                    <m:sSup>
                      <m:sSupPr>
                        <m:ctrlPr>
                          <a:rPr lang="en-US" altLang="zh-CN" sz="2800" i="1" smtClean="0">
                            <a:latin typeface="Cambria Math" panose="02040503050406030204" pitchFamily="18" charset="0"/>
                          </a:rPr>
                        </m:ctrlPr>
                      </m:sSupPr>
                      <m:e>
                        <m:r>
                          <a:rPr lang="en-US" altLang="zh-CN" sz="2800" b="0" i="1" smtClean="0">
                            <a:latin typeface="Cambria Math" panose="02040503050406030204" pitchFamily="18" charset="0"/>
                          </a:rPr>
                          <m:t>𝑇</m:t>
                        </m:r>
                      </m:e>
                      <m:sup>
                        <m:r>
                          <a:rPr lang="en-US" altLang="zh-CN" sz="2800" b="0" i="1" smtClean="0">
                            <a:latin typeface="Cambria Math" panose="02040503050406030204" pitchFamily="18" charset="0"/>
                          </a:rPr>
                          <m:t>−1</m:t>
                        </m:r>
                      </m:sup>
                    </m:sSup>
                  </m:oMath>
                </a14:m>
                <a:endParaRPr lang="zh-CN" altLang="en-US" sz="2800" dirty="0"/>
              </a:p>
            </p:txBody>
          </p:sp>
        </mc:Choice>
        <mc:Fallback xmlns="">
          <p:sp>
            <p:nvSpPr>
              <p:cNvPr id="22" name="文本框 21">
                <a:extLst>
                  <a:ext uri="{FF2B5EF4-FFF2-40B4-BE49-F238E27FC236}">
                    <a16:creationId xmlns:a16="http://schemas.microsoft.com/office/drawing/2014/main" id="{4041B6F6-A707-E77B-B061-45573EEAC5FD}"/>
                  </a:ext>
                </a:extLst>
              </p:cNvPr>
              <p:cNvSpPr txBox="1">
                <a:spLocks noRot="1" noChangeAspect="1" noMove="1" noResize="1" noEditPoints="1" noAdjustHandles="1" noChangeArrowheads="1" noChangeShapeType="1" noTextEdit="1"/>
              </p:cNvSpPr>
              <p:nvPr/>
            </p:nvSpPr>
            <p:spPr>
              <a:xfrm>
                <a:off x="6031802" y="2514079"/>
                <a:ext cx="5630324" cy="576183"/>
              </a:xfrm>
              <a:prstGeom prst="rect">
                <a:avLst/>
              </a:prstGeom>
              <a:blipFill>
                <a:blip r:embed="rId3"/>
                <a:stretch>
                  <a:fillRect t="-5263" b="-24211"/>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2D6657F7-929C-319A-7B93-99CDB82EC59A}"/>
              </a:ext>
            </a:extLst>
          </p:cNvPr>
          <p:cNvSpPr txBox="1"/>
          <p:nvPr/>
        </p:nvSpPr>
        <p:spPr>
          <a:xfrm>
            <a:off x="3345038" y="2720930"/>
            <a:ext cx="317716" cy="369332"/>
          </a:xfrm>
          <a:prstGeom prst="rect">
            <a:avLst/>
          </a:prstGeom>
          <a:noFill/>
        </p:spPr>
        <p:txBody>
          <a:bodyPr wrap="none" rtlCol="0">
            <a:spAutoFit/>
          </a:bodyPr>
          <a:lstStyle/>
          <a:p>
            <a:r>
              <a:rPr lang="en-US" altLang="zh-CN" dirty="0"/>
              <a:t>A</a:t>
            </a:r>
            <a:endParaRPr lang="zh-CN" altLang="en-US" dirty="0"/>
          </a:p>
        </p:txBody>
      </p:sp>
      <p:sp>
        <p:nvSpPr>
          <p:cNvPr id="24" name="文本框 23">
            <a:extLst>
              <a:ext uri="{FF2B5EF4-FFF2-40B4-BE49-F238E27FC236}">
                <a16:creationId xmlns:a16="http://schemas.microsoft.com/office/drawing/2014/main" id="{913DD3BF-FCA1-E28D-0779-06C27393300B}"/>
              </a:ext>
            </a:extLst>
          </p:cNvPr>
          <p:cNvSpPr txBox="1"/>
          <p:nvPr/>
        </p:nvSpPr>
        <p:spPr>
          <a:xfrm>
            <a:off x="4351226" y="1621662"/>
            <a:ext cx="362600" cy="369332"/>
          </a:xfrm>
          <a:prstGeom prst="rect">
            <a:avLst/>
          </a:prstGeom>
          <a:noFill/>
        </p:spPr>
        <p:txBody>
          <a:bodyPr wrap="none" rtlCol="0">
            <a:spAutoFit/>
          </a:bodyPr>
          <a:lstStyle/>
          <a:p>
            <a:r>
              <a:rPr lang="en-US" altLang="zh-CN" dirty="0"/>
              <a:t>B </a:t>
            </a:r>
            <a:endParaRPr lang="zh-CN" altLang="en-US" dirty="0"/>
          </a:p>
        </p:txBody>
      </p:sp>
    </p:spTree>
    <p:extLst>
      <p:ext uri="{BB962C8B-B14F-4D97-AF65-F5344CB8AC3E}">
        <p14:creationId xmlns:p14="http://schemas.microsoft.com/office/powerpoint/2010/main" val="2702340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71823" y="847727"/>
            <a:ext cx="9848354" cy="5162545"/>
          </a:xfrm>
        </p:spPr>
        <p:txBody>
          <a:bodyPr>
            <a:norm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5.  </a:t>
            </a:r>
            <a:r>
              <a:rPr lang="zh-CN" altLang="en-US" dirty="0">
                <a:latin typeface="华光超粗黑_CNKI" panose="02000500000000000000" pitchFamily="2" charset="-122"/>
                <a:ea typeface="华光超粗黑_CNKI" panose="02000500000000000000" pitchFamily="2" charset="-122"/>
              </a:rPr>
              <a:t>投影变换</a:t>
            </a:r>
            <a:endParaRPr lang="en-US" altLang="zh-CN" dirty="0">
              <a:latin typeface="华光超粗黑_CNKI" panose="02000500000000000000" pitchFamily="2" charset="-122"/>
              <a:ea typeface="华光超粗黑_CNKI" panose="02000500000000000000" pitchFamily="2" charset="-122"/>
            </a:endParaRPr>
          </a:p>
          <a:p>
            <a:pPr marL="0" indent="0">
              <a:lnSpc>
                <a:spcPct val="150000"/>
              </a:lnSpc>
              <a:buNone/>
            </a:pPr>
            <a:r>
              <a:rPr lang="en-US" altLang="zh-CN" dirty="0">
                <a:latin typeface="+mn-ea"/>
              </a:rPr>
              <a:t>    </a:t>
            </a:r>
            <a:r>
              <a:rPr lang="zh-CN" altLang="en-US" dirty="0">
                <a:latin typeface="华光仿宋_CNKI" panose="02000500000000000000" pitchFamily="2" charset="-122"/>
                <a:ea typeface="华光仿宋_CNKI" panose="02000500000000000000" pitchFamily="2" charset="-122"/>
              </a:rPr>
              <a:t>投影是将</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维空间的点变换成小于</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维的点。比如</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空间坐标的点变换到</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空间中。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投影一般分为</a:t>
            </a:r>
            <a:r>
              <a:rPr lang="zh-CN" altLang="en-US" dirty="0">
                <a:solidFill>
                  <a:srgbClr val="FF0000"/>
                </a:solidFill>
                <a:latin typeface="华光标题宋_CNKI" panose="02000500000000000000" pitchFamily="2" charset="-122"/>
                <a:ea typeface="华光标题宋_CNKI" panose="02000500000000000000" pitchFamily="2" charset="-122"/>
              </a:rPr>
              <a:t>平行投影</a:t>
            </a:r>
            <a:r>
              <a:rPr lang="zh-CN" altLang="en-US" dirty="0">
                <a:latin typeface="华光仿宋_CNKI" panose="02000500000000000000" pitchFamily="2" charset="-122"/>
                <a:ea typeface="华光仿宋_CNKI" panose="02000500000000000000" pitchFamily="2" charset="-122"/>
              </a:rPr>
              <a:t>和</a:t>
            </a:r>
            <a:r>
              <a:rPr lang="zh-CN" altLang="en-US" dirty="0">
                <a:solidFill>
                  <a:srgbClr val="FF0000"/>
                </a:solidFill>
                <a:latin typeface="华光标题宋_CNKI" panose="02000500000000000000" pitchFamily="2" charset="-122"/>
                <a:ea typeface="华光标题宋_CNKI" panose="02000500000000000000" pitchFamily="2" charset="-122"/>
              </a:rPr>
              <a:t>透视投影</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solidFill>
                  <a:srgbClr val="FF0000"/>
                </a:solidFill>
                <a:latin typeface="华光标题宋_CNKI" panose="02000500000000000000" pitchFamily="2" charset="-122"/>
                <a:ea typeface="华光标题宋_CNKI" panose="02000500000000000000" pitchFamily="2" charset="-122"/>
              </a:rPr>
              <a:t>平行投影</a:t>
            </a:r>
            <a:r>
              <a:rPr lang="zh-CN" altLang="en-US" dirty="0">
                <a:latin typeface="华光仿宋_CNKI" panose="02000500000000000000" pitchFamily="2" charset="-122"/>
                <a:ea typeface="华光仿宋_CNKI" panose="02000500000000000000" pitchFamily="2" charset="-122"/>
              </a:rPr>
              <a:t>是指投影中心距离投影面很远，投影射线可以看成是一组平行的射线，这些射线与投影的物体上的所有点相连并与投影面相交，这些交点所组成的图形称为该物体的投影。</a:t>
            </a: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spTree>
    <p:extLst>
      <p:ext uri="{BB962C8B-B14F-4D97-AF65-F5344CB8AC3E}">
        <p14:creationId xmlns:p14="http://schemas.microsoft.com/office/powerpoint/2010/main" val="2374915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9938" y="825956"/>
            <a:ext cx="10279948" cy="2047873"/>
          </a:xfrm>
        </p:spPr>
        <p:txBody>
          <a:bodyPr>
            <a:normAutofit/>
          </a:bodyPr>
          <a:lstStyle/>
          <a:p>
            <a:pPr marL="0" indent="0">
              <a:lnSpc>
                <a:spcPct val="150000"/>
              </a:lnSpc>
              <a:buNone/>
            </a:pPr>
            <a:r>
              <a:rPr lang="zh-CN" altLang="en-US" dirty="0">
                <a:solidFill>
                  <a:srgbClr val="FF0000"/>
                </a:solidFill>
                <a:latin typeface="华光标题宋_CNKI" panose="02000500000000000000" pitchFamily="2" charset="-122"/>
                <a:ea typeface="华光标题宋_CNKI" panose="02000500000000000000" pitchFamily="2" charset="-122"/>
              </a:rPr>
              <a:t>      透视投影</a:t>
            </a:r>
            <a:r>
              <a:rPr lang="zh-CN" altLang="en-US" dirty="0">
                <a:latin typeface="华光仿宋_CNKI" panose="02000500000000000000" pitchFamily="2" charset="-122"/>
                <a:ea typeface="华光仿宋_CNKI" panose="02000500000000000000" pitchFamily="2" charset="-122"/>
              </a:rPr>
              <a:t>是指投影中心距离投影面比较近，投影中心可以看成是若干个点。将这些点与投影的物体上的所有点相连并与投影面相交，这些交点所组成的图形称为该物体的透视投影。</a:t>
            </a: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2" name="Picture 4" descr="8P3">
            <a:extLst>
              <a:ext uri="{FF2B5EF4-FFF2-40B4-BE49-F238E27FC236}">
                <a16:creationId xmlns:a16="http://schemas.microsoft.com/office/drawing/2014/main" id="{E90AE9D5-F727-EB5F-0859-7D4B7DD48AB1}"/>
              </a:ext>
            </a:extLst>
          </p:cNvPr>
          <p:cNvPicPr>
            <a:picLocks noChangeAspect="1" noChangeArrowheads="1"/>
          </p:cNvPicPr>
          <p:nvPr/>
        </p:nvPicPr>
        <p:blipFill>
          <a:blip r:embed="rId2">
            <a:lum contrast="100000"/>
            <a:extLst>
              <a:ext uri="{28A0092B-C50C-407E-A947-70E740481C1C}">
                <a14:useLocalDpi xmlns:a14="http://schemas.microsoft.com/office/drawing/2010/main" val="0"/>
              </a:ext>
            </a:extLst>
          </a:blip>
          <a:srcRect/>
          <a:stretch>
            <a:fillRect/>
          </a:stretch>
        </p:blipFill>
        <p:spPr bwMode="auto">
          <a:xfrm>
            <a:off x="2143578" y="2954338"/>
            <a:ext cx="7010400"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a:extLst>
              <a:ext uri="{FF2B5EF4-FFF2-40B4-BE49-F238E27FC236}">
                <a16:creationId xmlns:a16="http://schemas.microsoft.com/office/drawing/2014/main" id="{AC63CF98-18C5-9107-157B-C45C4454CF1A}"/>
              </a:ext>
            </a:extLst>
          </p:cNvPr>
          <p:cNvSpPr txBox="1">
            <a:spLocks noChangeArrowheads="1"/>
          </p:cNvSpPr>
          <p:nvPr/>
        </p:nvSpPr>
        <p:spPr bwMode="auto">
          <a:xfrm>
            <a:off x="3039156" y="5803444"/>
            <a:ext cx="194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dirty="0">
                <a:latin typeface="Times New Roman" panose="02020603050405020304" pitchFamily="18" charset="0"/>
              </a:rPr>
              <a:t>透视投影</a:t>
            </a:r>
          </a:p>
        </p:txBody>
      </p:sp>
      <p:sp>
        <p:nvSpPr>
          <p:cNvPr id="6" name="Text Box 6">
            <a:extLst>
              <a:ext uri="{FF2B5EF4-FFF2-40B4-BE49-F238E27FC236}">
                <a16:creationId xmlns:a16="http://schemas.microsoft.com/office/drawing/2014/main" id="{80399616-E66C-A8E9-E43B-8B2820BB63C4}"/>
              </a:ext>
            </a:extLst>
          </p:cNvPr>
          <p:cNvSpPr txBox="1">
            <a:spLocks noChangeArrowheads="1"/>
          </p:cNvSpPr>
          <p:nvPr/>
        </p:nvSpPr>
        <p:spPr bwMode="auto">
          <a:xfrm>
            <a:off x="6975702" y="5803444"/>
            <a:ext cx="1439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defPPr>
              <a:defRPr lang="zh-CN"/>
            </a:defPPr>
            <a:lvl1pPr algn="ctr">
              <a:spcBef>
                <a:spcPct val="50000"/>
              </a:spcBef>
              <a:defRPr kumimoji="1" sz="2400">
                <a:latin typeface="Times New Roman" panose="02020603050405020304" pitchFamily="18" charset="0"/>
                <a:ea typeface="宋体" panose="02010600030101010101" pitchFamily="2"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平行投影</a:t>
            </a:r>
          </a:p>
        </p:txBody>
      </p:sp>
    </p:spTree>
    <p:extLst>
      <p:ext uri="{BB962C8B-B14F-4D97-AF65-F5344CB8AC3E}">
        <p14:creationId xmlns:p14="http://schemas.microsoft.com/office/powerpoint/2010/main" val="32656475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F58753E-F1B8-E08D-B710-D95316B8A46E}"/>
                  </a:ext>
                </a:extLst>
              </p:cNvPr>
              <p:cNvSpPr txBox="1"/>
              <p:nvPr/>
            </p:nvSpPr>
            <p:spPr>
              <a:xfrm>
                <a:off x="976086" y="1324430"/>
                <a:ext cx="9324732" cy="4513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投影</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平行</m:t>
                              </m:r>
                              <m:r>
                                <a:rPr lang="zh-CN" altLang="en-US" sz="2800" i="1" smtClean="0">
                                  <a:latin typeface="Cambria Math" panose="02040503050406030204" pitchFamily="18" charset="0"/>
                                </a:rPr>
                                <m:t>投影</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正</m:t>
                                      </m:r>
                                      <m:r>
                                        <a:rPr lang="zh-CN" altLang="en-US" sz="2800" i="1" smtClean="0">
                                          <a:latin typeface="Cambria Math" panose="02040503050406030204" pitchFamily="18" charset="0"/>
                                        </a:rPr>
                                        <m:t>平行</m:t>
                                      </m:r>
                                      <m:r>
                                        <a:rPr lang="zh-CN" altLang="en-US" sz="2800" i="1">
                                          <a:latin typeface="Cambria Math" panose="02040503050406030204" pitchFamily="18" charset="0"/>
                                        </a:rPr>
                                        <m:t>投影</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三视图</m:t>
                                              </m:r>
                                              <m:r>
                                                <a:rPr lang="en-US" altLang="zh-CN" sz="2800" b="0" i="1" smtClean="0">
                                                  <a:latin typeface="Cambria Math" panose="02040503050406030204" pitchFamily="18" charset="0"/>
                                                </a:rPr>
                                                <m:t>                                         </m:t>
                                              </m:r>
                                            </m:e>
                                            <m:e>
                                              <m:r>
                                                <a:rPr lang="zh-CN" altLang="en-US" sz="2800" i="1">
                                                  <a:latin typeface="Cambria Math" panose="02040503050406030204" pitchFamily="18" charset="0"/>
                                                </a:rPr>
                                                <m:t>正</m:t>
                                              </m:r>
                                              <m:r>
                                                <a:rPr lang="zh-CN" altLang="en-US" sz="2800" i="1" smtClean="0">
                                                  <a:latin typeface="Cambria Math" panose="02040503050406030204" pitchFamily="18" charset="0"/>
                                                </a:rPr>
                                                <m:t>轴</m:t>
                                              </m:r>
                                              <m:r>
                                                <a:rPr lang="zh-CN" altLang="en-US" sz="2800" i="1">
                                                  <a:latin typeface="Cambria Math" panose="02040503050406030204" pitchFamily="18" charset="0"/>
                                                </a:rPr>
                                                <m:t>侧</m:t>
                                              </m:r>
                                              <m:r>
                                                <a:rPr lang="zh-CN" altLang="en-US" sz="2800" i="1" smtClean="0">
                                                  <a:latin typeface="Cambria Math" panose="02040503050406030204" pitchFamily="18" charset="0"/>
                                                </a:rPr>
                                                <m:t>投影</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正</m:t>
                                                      </m:r>
                                                      <m:r>
                                                        <a:rPr lang="zh-CN" altLang="en-US" sz="2800" i="1" smtClean="0">
                                                          <a:latin typeface="Cambria Math" panose="02040503050406030204" pitchFamily="18" charset="0"/>
                                                        </a:rPr>
                                                        <m:t>等</m:t>
                                                      </m:r>
                                                      <m:r>
                                                        <a:rPr lang="zh-CN" altLang="en-US" sz="2800" i="1">
                                                          <a:latin typeface="Cambria Math" panose="02040503050406030204" pitchFamily="18" charset="0"/>
                                                        </a:rPr>
                                                        <m:t>轴</m:t>
                                                      </m:r>
                                                      <m:r>
                                                        <a:rPr lang="zh-CN" altLang="en-US" sz="2800" i="1" smtClean="0">
                                                          <a:latin typeface="Cambria Math" panose="02040503050406030204" pitchFamily="18" charset="0"/>
                                                        </a:rPr>
                                                        <m:t>测</m:t>
                                                      </m:r>
                                                      <m:r>
                                                        <a:rPr lang="zh-CN" altLang="en-US" sz="2800" i="1">
                                                          <a:latin typeface="Cambria Math" panose="02040503050406030204" pitchFamily="18" charset="0"/>
                                                        </a:rPr>
                                                        <m:t>投影</m:t>
                                                      </m:r>
                                                    </m:e>
                                                    <m:e>
                                                      <m:r>
                                                        <a:rPr lang="zh-CN" altLang="en-US" sz="2800" i="1">
                                                          <a:latin typeface="Cambria Math" panose="02040503050406030204" pitchFamily="18" charset="0"/>
                                                        </a:rPr>
                                                        <m:t>正</m:t>
                                                      </m:r>
                                                      <m:r>
                                                        <a:rPr lang="zh-CN" altLang="en-US" sz="2800" i="1" smtClean="0">
                                                          <a:latin typeface="Cambria Math" panose="02040503050406030204" pitchFamily="18" charset="0"/>
                                                        </a:rPr>
                                                        <m:t>二</m:t>
                                                      </m:r>
                                                      <m:r>
                                                        <a:rPr lang="zh-CN" altLang="en-US" sz="2800" i="1">
                                                          <a:latin typeface="Cambria Math" panose="02040503050406030204" pitchFamily="18" charset="0"/>
                                                        </a:rPr>
                                                        <m:t>轴测</m:t>
                                                      </m:r>
                                                      <m:r>
                                                        <a:rPr lang="zh-CN" altLang="en-US" sz="2800" i="1" smtClean="0">
                                                          <a:latin typeface="Cambria Math" panose="02040503050406030204" pitchFamily="18" charset="0"/>
                                                        </a:rPr>
                                                        <m:t>投影</m:t>
                                                      </m:r>
                                                    </m:e>
                                                    <m:e>
                                                      <m:r>
                                                        <a:rPr lang="zh-CN" altLang="en-US" sz="2800" i="1">
                                                          <a:latin typeface="Cambria Math" panose="02040503050406030204" pitchFamily="18" charset="0"/>
                                                        </a:rPr>
                                                        <m:t>正</m:t>
                                                      </m:r>
                                                      <m:r>
                                                        <a:rPr lang="zh-CN" altLang="en-US" sz="2800" i="1" smtClean="0">
                                                          <a:latin typeface="Cambria Math" panose="02040503050406030204" pitchFamily="18" charset="0"/>
                                                        </a:rPr>
                                                        <m:t>三</m:t>
                                                      </m:r>
                                                      <m:r>
                                                        <a:rPr lang="zh-CN" altLang="en-US" sz="2800" i="1">
                                                          <a:latin typeface="Cambria Math" panose="02040503050406030204" pitchFamily="18" charset="0"/>
                                                        </a:rPr>
                                                        <m:t>轴测</m:t>
                                                      </m:r>
                                                      <m:r>
                                                        <a:rPr lang="zh-CN" altLang="en-US" sz="2800" i="1" smtClean="0">
                                                          <a:latin typeface="Cambria Math" panose="02040503050406030204" pitchFamily="18" charset="0"/>
                                                        </a:rPr>
                                                        <m:t>投影</m:t>
                                                      </m:r>
                                                    </m:e>
                                                  </m:eqArr>
                                                </m:e>
                                              </m:d>
                                            </m:e>
                                          </m:eqArr>
                                        </m:e>
                                      </m:d>
                                    </m:e>
                                    <m:e>
                                      <m:r>
                                        <a:rPr lang="zh-CN" altLang="en-US" sz="2800" i="1">
                                          <a:latin typeface="Cambria Math" panose="02040503050406030204" pitchFamily="18" charset="0"/>
                                        </a:rPr>
                                        <m:t>斜</m:t>
                                      </m:r>
                                      <m:r>
                                        <a:rPr lang="zh-CN" altLang="en-US" sz="2800" i="1" smtClean="0">
                                          <a:latin typeface="Cambria Math" panose="02040503050406030204" pitchFamily="18" charset="0"/>
                                        </a:rPr>
                                        <m:t>平行</m:t>
                                      </m:r>
                                      <m:r>
                                        <a:rPr lang="zh-CN" altLang="en-US" sz="2800" i="1">
                                          <a:latin typeface="Cambria Math" panose="02040503050406030204" pitchFamily="18" charset="0"/>
                                        </a:rPr>
                                        <m:t>投影</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斜</m:t>
                                              </m:r>
                                              <m:r>
                                                <a:rPr lang="zh-CN" altLang="en-US" sz="2800" i="1" smtClean="0">
                                                  <a:latin typeface="Cambria Math" panose="02040503050406030204" pitchFamily="18" charset="0"/>
                                                </a:rPr>
                                                <m:t>等</m:t>
                                              </m:r>
                                              <m:r>
                                                <a:rPr lang="zh-CN" altLang="en-US" sz="2800" i="1">
                                                  <a:latin typeface="Cambria Math" panose="02040503050406030204" pitchFamily="18" charset="0"/>
                                                </a:rPr>
                                                <m:t>测</m:t>
                                              </m:r>
                                            </m:e>
                                            <m:e>
                                              <m:r>
                                                <a:rPr lang="zh-CN" altLang="en-US" sz="2800" i="1">
                                                  <a:latin typeface="Cambria Math" panose="02040503050406030204" pitchFamily="18" charset="0"/>
                                                </a:rPr>
                                                <m:t>斜</m:t>
                                              </m:r>
                                              <m:r>
                                                <a:rPr lang="zh-CN" altLang="en-US" sz="2800" i="1" smtClean="0">
                                                  <a:latin typeface="Cambria Math" panose="02040503050406030204" pitchFamily="18" charset="0"/>
                                                </a:rPr>
                                                <m:t>二</m:t>
                                              </m:r>
                                              <m:r>
                                                <a:rPr lang="zh-CN" altLang="en-US" sz="2800" i="1">
                                                  <a:latin typeface="Cambria Math" panose="02040503050406030204" pitchFamily="18" charset="0"/>
                                                </a:rPr>
                                                <m:t>测</m:t>
                                              </m:r>
                                            </m:e>
                                          </m:eqArr>
                                        </m:e>
                                      </m:d>
                                      <m:r>
                                        <a:rPr lang="en-US" altLang="zh-CN" sz="2800" b="0" i="1" smtClean="0">
                                          <a:latin typeface="Cambria Math" panose="02040503050406030204" pitchFamily="18" charset="0"/>
                                        </a:rPr>
                                        <m:t>                                         </m:t>
                                      </m:r>
                                    </m:e>
                                  </m:eqArr>
                                </m:e>
                              </m:d>
                            </m:e>
                            <m:e>
                              <m:r>
                                <a:rPr lang="zh-CN" altLang="en-US" sz="2800" i="1" smtClean="0">
                                  <a:latin typeface="Cambria Math" panose="02040503050406030204" pitchFamily="18" charset="0"/>
                                </a:rPr>
                                <m:t>透视</m:t>
                              </m:r>
                              <m:r>
                                <a:rPr lang="zh-CN" altLang="en-US" sz="2800" i="1">
                                  <a:latin typeface="Cambria Math" panose="02040503050406030204" pitchFamily="18" charset="0"/>
                                </a:rPr>
                                <m:t>投影</m:t>
                              </m:r>
                              <m:d>
                                <m:dPr>
                                  <m:begChr m:val="{"/>
                                  <m:endChr m:val=""/>
                                  <m:ctrlPr>
                                    <a:rPr lang="en-US" altLang="zh-CN" sz="2800" i="1" smtClean="0">
                                      <a:latin typeface="Cambria Math" panose="02040503050406030204" pitchFamily="18" charset="0"/>
                                    </a:rPr>
                                  </m:ctrlPr>
                                </m:dPr>
                                <m:e>
                                  <m:eqArr>
                                    <m:eqArrPr>
                                      <m:ctrlPr>
                                        <a:rPr lang="en-US" altLang="zh-CN" sz="2800" i="1" smtClean="0">
                                          <a:latin typeface="Cambria Math" panose="02040503050406030204" pitchFamily="18" charset="0"/>
                                        </a:rPr>
                                      </m:ctrlPr>
                                    </m:eqArrPr>
                                    <m:e>
                                      <m:r>
                                        <a:rPr lang="zh-CN" altLang="en-US" sz="2800" i="1">
                                          <a:latin typeface="Cambria Math" panose="02040503050406030204" pitchFamily="18" charset="0"/>
                                        </a:rPr>
                                        <m:t>一点</m:t>
                                      </m:r>
                                      <m:r>
                                        <a:rPr lang="zh-CN" altLang="en-US" sz="2800" i="1" smtClean="0">
                                          <a:latin typeface="Cambria Math" panose="02040503050406030204" pitchFamily="18" charset="0"/>
                                        </a:rPr>
                                        <m:t>透视</m:t>
                                      </m:r>
                                    </m:e>
                                    <m:e>
                                      <m:r>
                                        <a:rPr lang="zh-CN" altLang="en-US" sz="2800" i="1">
                                          <a:latin typeface="Cambria Math" panose="02040503050406030204" pitchFamily="18" charset="0"/>
                                        </a:rPr>
                                        <m:t>二点</m:t>
                                      </m:r>
                                      <m:r>
                                        <a:rPr lang="zh-CN" altLang="en-US" sz="2800" i="1" smtClean="0">
                                          <a:latin typeface="Cambria Math" panose="02040503050406030204" pitchFamily="18" charset="0"/>
                                        </a:rPr>
                                        <m:t>透视</m:t>
                                      </m:r>
                                    </m:e>
                                    <m:e>
                                      <m:r>
                                        <a:rPr lang="zh-CN" altLang="en-US" sz="2800" i="1">
                                          <a:latin typeface="Cambria Math" panose="02040503050406030204" pitchFamily="18" charset="0"/>
                                        </a:rPr>
                                        <m:t>三点</m:t>
                                      </m:r>
                                      <m:r>
                                        <a:rPr lang="zh-CN" altLang="en-US" sz="2800" i="1" smtClean="0">
                                          <a:latin typeface="Cambria Math" panose="02040503050406030204" pitchFamily="18" charset="0"/>
                                        </a:rPr>
                                        <m:t>透视</m:t>
                                      </m:r>
                                    </m:e>
                                  </m:eqArr>
                                </m:e>
                              </m:d>
                              <m:r>
                                <a:rPr lang="en-US" altLang="zh-CN" sz="2800" b="0" i="1" smtClean="0">
                                  <a:latin typeface="Cambria Math" panose="02040503050406030204" pitchFamily="18" charset="0"/>
                                </a:rPr>
                                <m:t>                                                             </m:t>
                              </m:r>
                            </m:e>
                          </m:eqArr>
                        </m:e>
                      </m:d>
                    </m:oMath>
                  </m:oMathPara>
                </a14:m>
                <a:endParaRPr lang="zh-CN" altLang="en-US" sz="2800" dirty="0"/>
              </a:p>
            </p:txBody>
          </p:sp>
        </mc:Choice>
        <mc:Fallback xmlns="">
          <p:sp>
            <p:nvSpPr>
              <p:cNvPr id="6" name="文本框 5">
                <a:extLst>
                  <a:ext uri="{FF2B5EF4-FFF2-40B4-BE49-F238E27FC236}">
                    <a16:creationId xmlns:a16="http://schemas.microsoft.com/office/drawing/2014/main" id="{AF58753E-F1B8-E08D-B710-D95316B8A46E}"/>
                  </a:ext>
                </a:extLst>
              </p:cNvPr>
              <p:cNvSpPr txBox="1">
                <a:spLocks noRot="1" noChangeAspect="1" noMove="1" noResize="1" noEditPoints="1" noAdjustHandles="1" noChangeArrowheads="1" noChangeShapeType="1" noTextEdit="1"/>
              </p:cNvSpPr>
              <p:nvPr/>
            </p:nvSpPr>
            <p:spPr>
              <a:xfrm>
                <a:off x="976086" y="1324430"/>
                <a:ext cx="9324732" cy="4513928"/>
              </a:xfrm>
              <a:prstGeom prst="rect">
                <a:avLst/>
              </a:prstGeom>
              <a:blipFill>
                <a:blip r:embed="rId2"/>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631A194E-838E-C7CF-897B-28D410A14618}"/>
              </a:ext>
            </a:extLst>
          </p:cNvPr>
          <p:cNvSpPr txBox="1"/>
          <p:nvPr/>
        </p:nvSpPr>
        <p:spPr>
          <a:xfrm>
            <a:off x="7510141" y="4941801"/>
            <a:ext cx="2236510" cy="707886"/>
          </a:xfrm>
          <a:prstGeom prst="rect">
            <a:avLst/>
          </a:prstGeom>
          <a:noFill/>
        </p:spPr>
        <p:txBody>
          <a:bodyPr wrap="none" rtlCol="0">
            <a:spAutoFit/>
          </a:bodyPr>
          <a:lstStyle/>
          <a:p>
            <a:r>
              <a:rPr lang="zh-CN" altLang="en-US" sz="4000" dirty="0">
                <a:solidFill>
                  <a:srgbClr val="FF0000"/>
                </a:solidFill>
                <a:latin typeface="华光标题宋_CNKI" panose="02000500000000000000" pitchFamily="2" charset="-122"/>
                <a:ea typeface="华光标题宋_CNKI" panose="02000500000000000000" pitchFamily="2" charset="-122"/>
              </a:rPr>
              <a:t>投影分类</a:t>
            </a:r>
          </a:p>
        </p:txBody>
      </p:sp>
    </p:spTree>
    <p:extLst>
      <p:ext uri="{BB962C8B-B14F-4D97-AF65-F5344CB8AC3E}">
        <p14:creationId xmlns:p14="http://schemas.microsoft.com/office/powerpoint/2010/main" val="546887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7823" y="644527"/>
            <a:ext cx="9848354" cy="6017529"/>
          </a:xfrm>
        </p:spPr>
        <p:txBody>
          <a:bodyPr>
            <a:normAutofit lnSpcReduction="10000"/>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5.1 </a:t>
            </a:r>
            <a:r>
              <a:rPr lang="zh-CN" altLang="en-US" dirty="0">
                <a:latin typeface="华光超粗黑_CNKI" panose="02000500000000000000" pitchFamily="2" charset="-122"/>
                <a:ea typeface="华光超粗黑_CNKI" panose="02000500000000000000" pitchFamily="2" charset="-122"/>
              </a:rPr>
              <a:t>平行投影</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特点：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）能精确地反映物体的实际尺寸大小。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）平行线的平行投影仍为平行线。</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标题宋_CNKI" panose="02000500000000000000" pitchFamily="2" charset="-122"/>
                <a:ea typeface="华光标题宋_CNKI" panose="02000500000000000000" pitchFamily="2" charset="-122"/>
              </a:rPr>
              <a:t>5.1.1 </a:t>
            </a:r>
            <a:r>
              <a:rPr lang="zh-CN" altLang="en-US" dirty="0">
                <a:latin typeface="华光标题宋_CNKI" panose="02000500000000000000" pitchFamily="2" charset="-122"/>
                <a:ea typeface="华光标题宋_CNKI" panose="02000500000000000000" pitchFamily="2" charset="-122"/>
              </a:rPr>
              <a:t>三视图</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要求：</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）投影平面与某一坐标轴垂直。</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）投影方向与坐标轴的方向一致。</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spTree>
    <p:extLst>
      <p:ext uri="{BB962C8B-B14F-4D97-AF65-F5344CB8AC3E}">
        <p14:creationId xmlns:p14="http://schemas.microsoft.com/office/powerpoint/2010/main" val="2362711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58166" y="1000900"/>
                <a:ext cx="8117320" cy="2917372"/>
              </a:xfrm>
            </p:spPr>
            <p:txBody>
              <a:bodyPr>
                <a:normAutofit fontScale="77500" lnSpcReduction="2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主视图：投影平面与</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轴垂直。等效于物体上的点的</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坐标设置为</a:t>
                </a:r>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，因此对应的变换矩阵</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𝑣</m:t>
                        </m:r>
                      </m:sub>
                    </m:sSub>
                  </m:oMath>
                </a14:m>
                <a:r>
                  <a:rPr lang="zh-CN" altLang="en-US" dirty="0">
                    <a:latin typeface="华光仿宋_CNKI" panose="02000500000000000000" pitchFamily="2" charset="-122"/>
                    <a:ea typeface="华光仿宋_CNKI" panose="02000500000000000000" pitchFamily="2" charset="-122"/>
                  </a:rPr>
                  <a:t>如右所示。</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俯视图：投影平面与</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轴垂直。等效于物体上的点的</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坐标设置为</a:t>
                </a:r>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。同时为了将所有的图放在同一个平面（</a:t>
                </a:r>
                <a:r>
                  <a:rPr lang="en-US" altLang="zh-CN" dirty="0">
                    <a:latin typeface="华光仿宋_CNKI" panose="02000500000000000000" pitchFamily="2" charset="-122"/>
                    <a:ea typeface="华光仿宋_CNKI" panose="02000500000000000000" pitchFamily="2" charset="-122"/>
                  </a:rPr>
                  <a:t>XOZ</a:t>
                </a:r>
                <a:r>
                  <a:rPr lang="zh-CN" altLang="en-US" dirty="0">
                    <a:latin typeface="华光仿宋_CNKI" panose="02000500000000000000" pitchFamily="2" charset="-122"/>
                    <a:ea typeface="华光仿宋_CNKI" panose="02000500000000000000" pitchFamily="2" charset="-122"/>
                  </a:rPr>
                  <a:t>面），因此需要将其绕</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轴顺时针旋转</a:t>
                </a:r>
                <a:r>
                  <a:rPr lang="en-US" altLang="zh-CN" dirty="0">
                    <a:latin typeface="华光仿宋_CNKI" panose="02000500000000000000" pitchFamily="2" charset="-122"/>
                    <a:ea typeface="华光仿宋_CNKI" panose="02000500000000000000" pitchFamily="2" charset="-122"/>
                  </a:rPr>
                  <a:t>90</a:t>
                </a:r>
                <a:r>
                  <a:rPr lang="zh-CN" altLang="en-US" dirty="0">
                    <a:latin typeface="华光仿宋_CNKI" panose="02000500000000000000" pitchFamily="2" charset="-122"/>
                    <a:ea typeface="华光仿宋_CNKI" panose="02000500000000000000" pitchFamily="2" charset="-122"/>
                  </a:rPr>
                  <a:t>度，然后沿</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方向平移一段距离。因此对应的转换矩阵为</a:t>
                </a:r>
                <a14:m>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𝑇</m:t>
                        </m:r>
                      </m:e>
                      <m:sub>
                        <m:r>
                          <a:rPr lang="zh-CN" altLang="en-US" i="1">
                            <a:solidFill>
                              <a:srgbClr val="000000"/>
                            </a:solidFill>
                            <a:latin typeface="Cambria Math" panose="02040503050406030204" pitchFamily="18" charset="0"/>
                          </a:rPr>
                          <m:t>h</m:t>
                        </m:r>
                      </m:sub>
                    </m:sSub>
                  </m:oMath>
                </a14:m>
                <a:r>
                  <a:rPr lang="zh-CN" altLang="en-US" dirty="0">
                    <a:latin typeface="华光仿宋_CNKI" panose="02000500000000000000" pitchFamily="2" charset="-122"/>
                    <a:ea typeface="华光仿宋_CNKI" panose="02000500000000000000" pitchFamily="2" charset="-122"/>
                  </a:rPr>
                  <a:t>，如下所示。</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58166" y="1000900"/>
                <a:ext cx="8117320" cy="2917372"/>
              </a:xfrm>
              <a:blipFill>
                <a:blip r:embed="rId2"/>
                <a:stretch>
                  <a:fillRect l="-976" b="-209"/>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2" name="Object 63">
                <a:extLst>
                  <a:ext uri="{FF2B5EF4-FFF2-40B4-BE49-F238E27FC236}">
                    <a16:creationId xmlns:a16="http://schemas.microsoft.com/office/drawing/2014/main" id="{32F527E2-6560-06D4-7D85-915235411FD9}"/>
                  </a:ext>
                </a:extLst>
              </p:cNvPr>
              <p:cNvSpPr txBox="1"/>
              <p:nvPr/>
            </p:nvSpPr>
            <p:spPr bwMode="auto">
              <a:xfrm>
                <a:off x="9228139" y="1222152"/>
                <a:ext cx="2760661" cy="151674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𝑇</m:t>
                          </m:r>
                        </m:e>
                        <m:sub>
                          <m:r>
                            <a:rPr lang="zh-CN" altLang="en-US" sz="2400" i="1">
                              <a:solidFill>
                                <a:srgbClr val="000000"/>
                              </a:solidFill>
                              <a:latin typeface="Cambria Math" panose="02040503050406030204" pitchFamily="18" charset="0"/>
                            </a:rPr>
                            <m:t>𝑣</m:t>
                          </m:r>
                        </m:sub>
                      </m:sSub>
                      <m:r>
                        <a:rPr lang="zh-CN" altLang="en-US" sz="2400" i="1">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oMath>
                  </m:oMathPara>
                </a14:m>
                <a:endParaRPr lang="zh-CN" altLang="en-US" sz="2400" dirty="0"/>
              </a:p>
            </p:txBody>
          </p:sp>
        </mc:Choice>
        <mc:Fallback xmlns="">
          <p:sp>
            <p:nvSpPr>
              <p:cNvPr id="2" name="Object 63">
                <a:extLst>
                  <a:ext uri="{FF2B5EF4-FFF2-40B4-BE49-F238E27FC236}">
                    <a16:creationId xmlns:a16="http://schemas.microsoft.com/office/drawing/2014/main" id="{32F527E2-6560-06D4-7D85-915235411FD9}"/>
                  </a:ext>
                </a:extLst>
              </p:cNvPr>
              <p:cNvSpPr txBox="1">
                <a:spLocks noRot="1" noChangeAspect="1" noMove="1" noResize="1" noEditPoints="1" noAdjustHandles="1" noChangeArrowheads="1" noChangeShapeType="1" noTextEdit="1"/>
              </p:cNvSpPr>
              <p:nvPr/>
            </p:nvSpPr>
            <p:spPr bwMode="auto">
              <a:xfrm>
                <a:off x="9228139" y="1222152"/>
                <a:ext cx="2760661" cy="151674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65">
                <a:extLst>
                  <a:ext uri="{FF2B5EF4-FFF2-40B4-BE49-F238E27FC236}">
                    <a16:creationId xmlns:a16="http://schemas.microsoft.com/office/drawing/2014/main" id="{CD17E23F-033C-9A72-F3DE-AB2C5C6C87BD}"/>
                  </a:ext>
                </a:extLst>
              </p:cNvPr>
              <p:cNvSpPr txBox="1"/>
              <p:nvPr/>
            </p:nvSpPr>
            <p:spPr bwMode="auto">
              <a:xfrm>
                <a:off x="906473" y="4253271"/>
                <a:ext cx="10893641" cy="179251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𝑇</m:t>
                          </m:r>
                        </m:e>
                        <m:sub>
                          <m:r>
                            <a:rPr lang="zh-CN" altLang="en-US" sz="2400" i="1">
                              <a:solidFill>
                                <a:srgbClr val="000000"/>
                              </a:solidFill>
                              <a:latin typeface="Cambria Math" panose="02040503050406030204" pitchFamily="18" charset="0"/>
                            </a:rPr>
                            <m:t>h</m:t>
                          </m:r>
                        </m:sub>
                      </m:sSub>
                      <m:r>
                        <a:rPr lang="zh-CN" altLang="en-US" sz="2400" i="1">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cos</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−90°)</m:t>
                                </m:r>
                              </m:e>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−90°)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−90°)</m:t>
                                </m:r>
                              </m:e>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cos</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−90°)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𝑧</m:t>
                                    </m:r>
                                  </m:e>
                                  <m:sub>
                                    <m:r>
                                      <a:rPr lang="zh-CN" altLang="en-US" sz="2400" i="1">
                                        <a:solidFill>
                                          <a:srgbClr val="000000"/>
                                        </a:solidFill>
                                        <a:latin typeface="Cambria Math" panose="02040503050406030204" pitchFamily="18" charset="0"/>
                                      </a:rPr>
                                      <m:t>𝑝</m:t>
                                    </m:r>
                                  </m:sub>
                                </m:sSub>
                              </m:e>
                              <m:e>
                                <m:r>
                                  <a:rPr lang="zh-CN" altLang="en-US" sz="2400" i="1">
                                    <a:solidFill>
                                      <a:srgbClr val="000000"/>
                                    </a:solidFill>
                                    <a:latin typeface="Cambria Math" panose="02040503050406030204" pitchFamily="18" charset="0"/>
                                  </a:rPr>
                                  <m:t>1</m:t>
                                </m:r>
                              </m:e>
                            </m:mr>
                          </m:m>
                        </m:e>
                      </m:d>
                    </m:oMath>
                  </m:oMathPara>
                </a14:m>
                <a:endParaRPr lang="zh-CN" altLang="en-US" sz="2400" dirty="0"/>
              </a:p>
            </p:txBody>
          </p:sp>
        </mc:Choice>
        <mc:Fallback xmlns="">
          <p:sp>
            <p:nvSpPr>
              <p:cNvPr id="7" name="Object 65">
                <a:extLst>
                  <a:ext uri="{FF2B5EF4-FFF2-40B4-BE49-F238E27FC236}">
                    <a16:creationId xmlns:a16="http://schemas.microsoft.com/office/drawing/2014/main" id="{CD17E23F-033C-9A72-F3DE-AB2C5C6C87BD}"/>
                  </a:ext>
                </a:extLst>
              </p:cNvPr>
              <p:cNvSpPr txBox="1">
                <a:spLocks noRot="1" noChangeAspect="1" noMove="1" noResize="1" noEditPoints="1" noAdjustHandles="1" noChangeArrowheads="1" noChangeShapeType="1" noTextEdit="1"/>
              </p:cNvSpPr>
              <p:nvPr/>
            </p:nvSpPr>
            <p:spPr bwMode="auto">
              <a:xfrm>
                <a:off x="906473" y="4253271"/>
                <a:ext cx="10893641" cy="179251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5436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05310" y="801851"/>
                <a:ext cx="10494711" cy="1559688"/>
              </a:xfrm>
            </p:spPr>
            <p:txBody>
              <a:bodyPr>
                <a:normAutofit fontScale="92500"/>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侧视图：投影平面与</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轴垂直。同样需要绕</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轴逆时针旋转</a:t>
                </a:r>
                <a:r>
                  <a:rPr lang="en-US" altLang="zh-CN" dirty="0">
                    <a:latin typeface="华光仿宋_CNKI" panose="02000500000000000000" pitchFamily="2" charset="-122"/>
                    <a:ea typeface="华光仿宋_CNKI" panose="02000500000000000000" pitchFamily="2" charset="-122"/>
                  </a:rPr>
                  <a:t>90</a:t>
                </a:r>
                <a:r>
                  <a:rPr lang="zh-CN" altLang="en-US" dirty="0">
                    <a:latin typeface="华光仿宋_CNKI" panose="02000500000000000000" pitchFamily="2" charset="-122"/>
                    <a:ea typeface="华光仿宋_CNKI" panose="02000500000000000000" pitchFamily="2" charset="-122"/>
                  </a:rPr>
                  <a:t>度到</a:t>
                </a:r>
                <a:r>
                  <a:rPr lang="en-US" altLang="zh-CN" dirty="0">
                    <a:latin typeface="华光仿宋_CNKI" panose="02000500000000000000" pitchFamily="2" charset="-122"/>
                    <a:ea typeface="华光仿宋_CNKI" panose="02000500000000000000" pitchFamily="2" charset="-122"/>
                  </a:rPr>
                  <a:t>XOZ</a:t>
                </a:r>
                <a:r>
                  <a:rPr lang="zh-CN" altLang="en-US" dirty="0">
                    <a:latin typeface="华光仿宋_CNKI" panose="02000500000000000000" pitchFamily="2" charset="-122"/>
                    <a:ea typeface="华光仿宋_CNKI" panose="02000500000000000000" pitchFamily="2" charset="-122"/>
                  </a:rPr>
                  <a:t>面，然后在</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轴方向上移动一定距离，对应的矩阵</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𝑤</m:t>
                        </m:r>
                      </m:sub>
                    </m:sSub>
                  </m:oMath>
                </a14:m>
                <a:r>
                  <a:rPr lang="zh-CN" altLang="en-US" dirty="0">
                    <a:latin typeface="华光仿宋_CNKI" panose="02000500000000000000" pitchFamily="2" charset="-122"/>
                    <a:ea typeface="华光仿宋_CNKI" panose="02000500000000000000" pitchFamily="2" charset="-122"/>
                  </a:rPr>
                  <a:t>如下所示。</a:t>
                </a:r>
                <a:r>
                  <a:rPr lang="en-US" altLang="zh-CN" dirty="0">
                    <a:latin typeface="华光仿宋_CNKI" panose="02000500000000000000" pitchFamily="2" charset="-122"/>
                    <a:ea typeface="华光仿宋_CNKI" panose="02000500000000000000" pitchFamily="2" charset="-122"/>
                  </a:rPr>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05310" y="801851"/>
                <a:ext cx="10494711" cy="1559688"/>
              </a:xfrm>
              <a:blipFill>
                <a:blip r:embed="rId2"/>
                <a:stretch>
                  <a:fillRect l="-1045" r="-174"/>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5" name="Object 67">
                <a:extLst>
                  <a:ext uri="{FF2B5EF4-FFF2-40B4-BE49-F238E27FC236}">
                    <a16:creationId xmlns:a16="http://schemas.microsoft.com/office/drawing/2014/main" id="{A2375FA6-4A3A-0832-53BA-18C213EE9713}"/>
                  </a:ext>
                </a:extLst>
              </p:cNvPr>
              <p:cNvSpPr txBox="1"/>
              <p:nvPr/>
            </p:nvSpPr>
            <p:spPr bwMode="auto">
              <a:xfrm>
                <a:off x="1168844" y="2447048"/>
                <a:ext cx="8931276" cy="1629229"/>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𝑇</m:t>
                          </m:r>
                        </m:e>
                        <m:sub>
                          <m:r>
                            <a:rPr lang="zh-CN" altLang="en-US" sz="2400" i="1">
                              <a:solidFill>
                                <a:srgbClr val="000000"/>
                              </a:solidFill>
                              <a:latin typeface="Cambria Math" panose="02040503050406030204" pitchFamily="18" charset="0"/>
                            </a:rPr>
                            <m:t>𝑤</m:t>
                          </m:r>
                        </m:sub>
                      </m:sSub>
                      <m:r>
                        <a:rPr lang="zh-CN" altLang="en-US" sz="2400" i="1">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cos</m:t>
                                    </m:r>
                                  </m:fName>
                                  <m:e>
                                    <m:r>
                                      <a:rPr lang="zh-CN" altLang="en-US" sz="2400" i="1">
                                        <a:solidFill>
                                          <a:srgbClr val="000000"/>
                                        </a:solidFill>
                                        <a:latin typeface="Cambria Math" panose="02040503050406030204" pitchFamily="18" charset="0"/>
                                      </a:rPr>
                                      <m:t>9</m:t>
                                    </m:r>
                                  </m:e>
                                </m:func>
                                <m:r>
                                  <a:rPr lang="zh-CN" altLang="en-US" sz="2400" i="1">
                                    <a:solidFill>
                                      <a:srgbClr val="000000"/>
                                    </a:solidFill>
                                    <a:latin typeface="Cambria Math" panose="02040503050406030204" pitchFamily="18" charset="0"/>
                                  </a:rPr>
                                  <m:t>0°</m:t>
                                </m:r>
                              </m:e>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9</m:t>
                                    </m:r>
                                  </m:e>
                                </m:func>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9</m:t>
                                    </m:r>
                                  </m:e>
                                </m:func>
                                <m:r>
                                  <a:rPr lang="zh-CN" altLang="en-US" sz="2400" i="1">
                                    <a:solidFill>
                                      <a:srgbClr val="000000"/>
                                    </a:solidFill>
                                    <a:latin typeface="Cambria Math" panose="02040503050406030204" pitchFamily="18" charset="0"/>
                                  </a:rPr>
                                  <m:t>0°</m:t>
                                </m:r>
                              </m:e>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cos</m:t>
                                    </m:r>
                                  </m:fName>
                                  <m:e>
                                    <m:r>
                                      <a:rPr lang="zh-CN" altLang="en-US" sz="2400" i="1">
                                        <a:solidFill>
                                          <a:srgbClr val="000000"/>
                                        </a:solidFill>
                                        <a:latin typeface="Cambria Math" panose="02040503050406030204" pitchFamily="18" charset="0"/>
                                      </a:rPr>
                                      <m:t>9</m:t>
                                    </m:r>
                                  </m:e>
                                </m:func>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𝐿</m:t>
                                    </m:r>
                                  </m:sub>
                                </m:sSub>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oMath>
                  </m:oMathPara>
                </a14:m>
                <a:endParaRPr lang="zh-CN" altLang="en-US" sz="2400" dirty="0"/>
              </a:p>
            </p:txBody>
          </p:sp>
        </mc:Choice>
        <mc:Fallback xmlns="">
          <p:sp>
            <p:nvSpPr>
              <p:cNvPr id="5" name="Object 67">
                <a:extLst>
                  <a:ext uri="{FF2B5EF4-FFF2-40B4-BE49-F238E27FC236}">
                    <a16:creationId xmlns:a16="http://schemas.microsoft.com/office/drawing/2014/main" id="{A2375FA6-4A3A-0832-53BA-18C213EE9713}"/>
                  </a:ext>
                </a:extLst>
              </p:cNvPr>
              <p:cNvSpPr txBox="1">
                <a:spLocks noRot="1" noChangeAspect="1" noMove="1" noResize="1" noEditPoints="1" noAdjustHandles="1" noChangeArrowheads="1" noChangeShapeType="1" noTextEdit="1"/>
              </p:cNvSpPr>
              <p:nvPr/>
            </p:nvSpPr>
            <p:spPr bwMode="auto">
              <a:xfrm>
                <a:off x="1168844" y="2447048"/>
                <a:ext cx="8931276" cy="1629229"/>
              </a:xfrm>
              <a:prstGeom prst="rect">
                <a:avLst/>
              </a:prstGeom>
              <a:blipFill>
                <a:blip r:embed="rId3"/>
                <a:stretch>
                  <a:fillRect/>
                </a:stretch>
              </a:blipFill>
            </p:spPr>
            <p:txBody>
              <a:bodyPr/>
              <a:lstStyle/>
              <a:p>
                <a:r>
                  <a:rPr lang="zh-CN" altLang="en-US">
                    <a:noFill/>
                  </a:rPr>
                  <a:t> </a:t>
                </a:r>
              </a:p>
            </p:txBody>
          </p:sp>
        </mc:Fallback>
      </mc:AlternateContent>
      <p:sp>
        <p:nvSpPr>
          <p:cNvPr id="66" name="内容占位符 2">
            <a:extLst>
              <a:ext uri="{FF2B5EF4-FFF2-40B4-BE49-F238E27FC236}">
                <a16:creationId xmlns:a16="http://schemas.microsoft.com/office/drawing/2014/main" id="{E06A35B8-C90A-51FB-5A5A-EA0A4CCB4C6A}"/>
              </a:ext>
            </a:extLst>
          </p:cNvPr>
          <p:cNvSpPr txBox="1">
            <a:spLocks/>
          </p:cNvSpPr>
          <p:nvPr/>
        </p:nvSpPr>
        <p:spPr>
          <a:xfrm>
            <a:off x="504591" y="4405118"/>
            <a:ext cx="10494711" cy="9620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dirty="0">
                <a:latin typeface="华光仿宋_CNKI" panose="02000500000000000000" pitchFamily="2" charset="-122"/>
                <a:ea typeface="华光仿宋_CNKI" panose="02000500000000000000" pitchFamily="2" charset="-122"/>
              </a:rPr>
              <a:t>    上面的三视图可以看成是从不同的方向正视物体所得到的结果。</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3348667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17823" y="644528"/>
                <a:ext cx="9848354" cy="3044878"/>
              </a:xfrm>
            </p:spPr>
            <p:txBody>
              <a:bodyPr>
                <a:normAutofit/>
              </a:bodyPr>
              <a:lstStyle/>
              <a:p>
                <a:pPr marL="0" indent="0">
                  <a:lnSpc>
                    <a:spcPct val="150000"/>
                  </a:lnSpc>
                  <a:buNone/>
                </a:pPr>
                <a:r>
                  <a:rPr lang="en-US" altLang="zh-CN" dirty="0">
                    <a:latin typeface="华光标题宋_CNKI" panose="02000500000000000000" pitchFamily="2" charset="-122"/>
                    <a:ea typeface="华光标题宋_CNKI" panose="02000500000000000000" pitchFamily="2" charset="-122"/>
                  </a:rPr>
                  <a:t>5.1.2 </a:t>
                </a:r>
                <a:r>
                  <a:rPr lang="zh-CN" altLang="en-US" dirty="0">
                    <a:latin typeface="华光标题宋_CNKI" panose="02000500000000000000" pitchFamily="2" charset="-122"/>
                    <a:ea typeface="华光标题宋_CNKI" panose="02000500000000000000" pitchFamily="2" charset="-122"/>
                  </a:rPr>
                  <a:t>正轴测投影</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将物体绕</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轴逆时针旋转某个角度（比如</a:t>
                </a:r>
                <a14:m>
                  <m:oMath xmlns:m="http://schemas.openxmlformats.org/officeDocument/2006/math">
                    <m:r>
                      <a:rPr lang="zh-CN" altLang="en-US" i="1" smtClean="0">
                        <a:latin typeface="Cambria Math" panose="02040503050406030204" pitchFamily="18" charset="0"/>
                        <a:ea typeface="华光仿宋_CNKI" panose="02000500000000000000" pitchFamily="2" charset="-122"/>
                      </a:rPr>
                      <m:t>𝛽</m:t>
                    </m:r>
                  </m:oMath>
                </a14:m>
                <a:r>
                  <a:rPr lang="zh-CN" altLang="en-US" dirty="0">
                    <a:latin typeface="华光仿宋_CNKI" panose="02000500000000000000" pitchFamily="2" charset="-122"/>
                    <a:ea typeface="华光仿宋_CNKI" panose="02000500000000000000" pitchFamily="2" charset="-122"/>
                  </a:rPr>
                  <a:t>角）</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然后再绕</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轴顺时针旋转</a:t>
                </a:r>
                <a14:m>
                  <m:oMath xmlns:m="http://schemas.openxmlformats.org/officeDocument/2006/math">
                    <m:r>
                      <a:rPr lang="zh-CN" altLang="en-US" i="1" smtClean="0">
                        <a:latin typeface="Cambria Math" panose="02040503050406030204" pitchFamily="18" charset="0"/>
                        <a:ea typeface="华光仿宋_CNKI" panose="02000500000000000000" pitchFamily="2" charset="-122"/>
                      </a:rPr>
                      <m:t>𝛼</m:t>
                    </m:r>
                  </m:oMath>
                </a14:m>
                <a:r>
                  <a:rPr lang="zh-CN" altLang="en-US" dirty="0">
                    <a:latin typeface="华光仿宋_CNKI" panose="02000500000000000000" pitchFamily="2" charset="-122"/>
                    <a:ea typeface="华光仿宋_CNKI" panose="02000500000000000000" pitchFamily="2" charset="-122"/>
                  </a:rPr>
                  <a:t>角，然后再向</a:t>
                </a:r>
                <a:r>
                  <a:rPr lang="en-US" altLang="zh-CN" dirty="0">
                    <a:latin typeface="华光仿宋_CNKI" panose="02000500000000000000" pitchFamily="2" charset="-122"/>
                    <a:ea typeface="华光仿宋_CNKI" panose="02000500000000000000" pitchFamily="2" charset="-122"/>
                  </a:rPr>
                  <a:t>XOZ</a:t>
                </a:r>
                <a:r>
                  <a:rPr lang="zh-CN" altLang="en-US" dirty="0">
                    <a:latin typeface="华光仿宋_CNKI" panose="02000500000000000000" pitchFamily="2" charset="-122"/>
                    <a:ea typeface="华光仿宋_CNKI" panose="02000500000000000000" pitchFamily="2" charset="-122"/>
                  </a:rPr>
                  <a:t>面做正平行投影得到的图形为正轴测投影。显然对应的转换矩阵如下：</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17823" y="644528"/>
                <a:ext cx="9848354" cy="3044878"/>
              </a:xfrm>
              <a:blipFill>
                <a:blip r:embed="rId2"/>
                <a:stretch>
                  <a:fillRect l="-1300" r="-495"/>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19" name="Object 16">
                <a:extLst>
                  <a:ext uri="{FF2B5EF4-FFF2-40B4-BE49-F238E27FC236}">
                    <a16:creationId xmlns:a16="http://schemas.microsoft.com/office/drawing/2014/main" id="{3E6CC7B3-6BF7-8ABD-C8AD-679C556921A2}"/>
                  </a:ext>
                </a:extLst>
              </p:cNvPr>
              <p:cNvSpPr txBox="1"/>
              <p:nvPr/>
            </p:nvSpPr>
            <p:spPr bwMode="auto">
              <a:xfrm>
                <a:off x="1665245" y="3591087"/>
                <a:ext cx="8711207" cy="2815204"/>
              </a:xfrm>
              <a:prstGeom prst="rect">
                <a:avLst/>
              </a:prstGeom>
              <a:noFill/>
            </p:spPr>
            <p:txBody>
              <a:bodyPr>
                <a:noAutofit/>
              </a:bodyPr>
              <a:lstStyle/>
              <a:p>
                <a14:m>
                  <m:oMath xmlns:m="http://schemas.openxmlformats.org/officeDocument/2006/math">
                    <m:sSub>
                      <m:sSubPr>
                        <m:ctrlPr>
                          <a:rPr lang="zh-CN" altLang="en-US" sz="2000" i="1" smtClean="0">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𝑅</m:t>
                        </m:r>
                      </m:e>
                      <m:sub>
                        <m:r>
                          <a:rPr lang="zh-CN" altLang="en-US" sz="2000" i="1">
                            <a:solidFill>
                              <a:srgbClr val="000000"/>
                            </a:solidFill>
                            <a:latin typeface="Cambria Math" panose="02040503050406030204" pitchFamily="18" charset="0"/>
                          </a:rPr>
                          <m:t>𝑦𝑥</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𝑅</m:t>
                        </m:r>
                      </m:e>
                      <m:sub>
                        <m:r>
                          <a:rPr lang="zh-CN" altLang="en-US" sz="2000" i="1">
                            <a:solidFill>
                              <a:srgbClr val="000000"/>
                            </a:solidFill>
                            <a:latin typeface="Cambria Math" panose="02040503050406030204" pitchFamily="18" charset="0"/>
                          </a:rPr>
                          <m:t>𝑦</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𝑅</m:t>
                        </m:r>
                      </m:e>
                      <m:sub>
                        <m:r>
                          <a:rPr lang="zh-CN" altLang="en-US" sz="2000" i="1">
                            <a:solidFill>
                              <a:srgbClr val="000000"/>
                            </a:solidFill>
                            <a:latin typeface="Cambria Math" panose="02040503050406030204" pitchFamily="18" charset="0"/>
                          </a:rPr>
                          <m:t>𝑥</m:t>
                        </m:r>
                      </m:sub>
                    </m:sSub>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m>
                          <m:mPr>
                            <m:plcHide m:val="on"/>
                            <m:mcs>
                              <m:mc>
                                <m:mcPr>
                                  <m:count m:val="4"/>
                                  <m:mcJc m:val="center"/>
                                </m:mcPr>
                              </m:mc>
                            </m:mcs>
                            <m:ctrlPr>
                              <a:rPr lang="zh-CN" altLang="en-US" sz="2000" i="1">
                                <a:solidFill>
                                  <a:srgbClr val="000000"/>
                                </a:solidFill>
                                <a:latin typeface="Cambria Math" panose="02040503050406030204" pitchFamily="18" charset="0"/>
                              </a:rPr>
                            </m:ctrlPr>
                          </m:mPr>
                          <m:mr>
                            <m:e>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cos</m:t>
                                  </m:r>
                                </m:fName>
                                <m:e>
                                  <m:r>
                                    <a:rPr lang="zh-CN" altLang="en-US" sz="2000" i="1">
                                      <a:solidFill>
                                        <a:srgbClr val="000000"/>
                                      </a:solidFill>
                                      <a:latin typeface="Cambria Math" panose="02040503050406030204" pitchFamily="18" charset="0"/>
                                    </a:rPr>
                                    <m:t>𝛽</m:t>
                                  </m:r>
                                </m:e>
                              </m:func>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𝛽</m:t>
                                  </m:r>
                                </m:e>
                              </m:func>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1</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𝛽</m:t>
                                  </m:r>
                                </m:e>
                              </m:func>
                            </m:e>
                            <m:e>
                              <m:r>
                                <a:rPr lang="zh-CN" altLang="en-US" sz="2000" i="1">
                                  <a:solidFill>
                                    <a:srgbClr val="000000"/>
                                  </a:solidFill>
                                  <a:latin typeface="Cambria Math" panose="02040503050406030204" pitchFamily="18" charset="0"/>
                                </a:rPr>
                                <m:t>0</m:t>
                              </m:r>
                            </m:e>
                            <m:e>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cos</m:t>
                                  </m:r>
                                </m:fName>
                                <m:e>
                                  <m:r>
                                    <a:rPr lang="zh-CN" altLang="en-US" sz="2000" i="1">
                                      <a:solidFill>
                                        <a:srgbClr val="000000"/>
                                      </a:solidFill>
                                      <a:latin typeface="Cambria Math" panose="02040503050406030204" pitchFamily="18" charset="0"/>
                                    </a:rPr>
                                    <m:t>𝛽</m:t>
                                  </m:r>
                                </m:e>
                              </m:func>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1</m:t>
                              </m:r>
                            </m:e>
                          </m:mr>
                        </m:m>
                      </m:e>
                    </m:d>
                    <m:d>
                      <m:dPr>
                        <m:begChr m:val="["/>
                        <m:endChr m:val="]"/>
                        <m:ctrlPr>
                          <a:rPr lang="zh-CN" altLang="en-US" sz="2000" i="1">
                            <a:solidFill>
                              <a:srgbClr val="000000"/>
                            </a:solidFill>
                            <a:latin typeface="Cambria Math" panose="02040503050406030204" pitchFamily="18" charset="0"/>
                          </a:rPr>
                        </m:ctrlPr>
                      </m:dPr>
                      <m:e>
                        <m:m>
                          <m:mPr>
                            <m:plcHide m:val="on"/>
                            <m:mcs>
                              <m:mc>
                                <m:mcPr>
                                  <m:count m:val="4"/>
                                  <m:mcJc m:val="center"/>
                                </m:mcPr>
                              </m:mc>
                            </m:mcs>
                            <m:ctrlPr>
                              <a:rPr lang="zh-CN" altLang="en-US" sz="2000" i="1">
                                <a:solidFill>
                                  <a:srgbClr val="000000"/>
                                </a:solidFill>
                                <a:latin typeface="Cambria Math" panose="02040503050406030204" pitchFamily="18" charset="0"/>
                              </a:rPr>
                            </m:ctrlPr>
                          </m:mPr>
                          <m:mr>
                            <m:e>
                              <m:r>
                                <a:rPr lang="zh-CN" altLang="en-US" sz="2000" i="1">
                                  <a:solidFill>
                                    <a:srgbClr val="000000"/>
                                  </a:solidFill>
                                  <a:latin typeface="Cambria Math" panose="02040503050406030204" pitchFamily="18" charset="0"/>
                                </a:rPr>
                                <m:t>1</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cos</m:t>
                                  </m:r>
                                </m:fName>
                                <m:e>
                                  <m:r>
                                    <a:rPr lang="zh-CN" altLang="en-US" sz="2000" i="1">
                                      <a:solidFill>
                                        <a:srgbClr val="000000"/>
                                      </a:solidFill>
                                      <a:latin typeface="Cambria Math" panose="02040503050406030204" pitchFamily="18" charset="0"/>
                                    </a:rPr>
                                    <m:t>𝛼</m:t>
                                  </m:r>
                                </m:e>
                              </m:func>
                            </m:e>
                            <m:e>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𝛼</m:t>
                                  </m:r>
                                </m:e>
                              </m:func>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𝛼</m:t>
                                  </m:r>
                                </m:e>
                              </m:func>
                            </m:e>
                            <m:e>
                              <m:func>
                                <m:funcPr>
                                  <m:ctrlPr>
                                    <a:rPr lang="zh-CN" altLang="en-US" sz="2000" i="1">
                                      <a:solidFill>
                                        <a:srgbClr val="000000"/>
                                      </a:solidFill>
                                      <a:latin typeface="Cambria Math" panose="02040503050406030204" pitchFamily="18" charset="0"/>
                                    </a:rPr>
                                  </m:ctrlPr>
                                </m:funcPr>
                                <m:fName>
                                  <m:r>
                                    <m:rPr>
                                      <m:sty m:val="p"/>
                                    </m:rPr>
                                    <a:rPr lang="zh-CN" altLang="en-US" sz="2000" i="0">
                                      <a:solidFill>
                                        <a:srgbClr val="000000"/>
                                      </a:solidFill>
                                      <a:latin typeface="Cambria Math" panose="02040503050406030204" pitchFamily="18" charset="0"/>
                                    </a:rPr>
                                    <m:t>cos</m:t>
                                  </m:r>
                                </m:fName>
                                <m:e>
                                  <m:r>
                                    <a:rPr lang="zh-CN" altLang="en-US" sz="2000" i="1">
                                      <a:solidFill>
                                        <a:srgbClr val="000000"/>
                                      </a:solidFill>
                                      <a:latin typeface="Cambria Math" panose="02040503050406030204" pitchFamily="18" charset="0"/>
                                    </a:rPr>
                                    <m:t>𝛼</m:t>
                                  </m:r>
                                </m:e>
                              </m:func>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1</m:t>
                              </m:r>
                            </m:e>
                          </m:mr>
                        </m:m>
                      </m:e>
                    </m:d>
                  </m:oMath>
                </a14:m>
                <a:r>
                  <a:rPr lang="zh-CN" altLang="en-US" sz="2000" dirty="0">
                    <a:solidFill>
                      <a:srgbClr val="000000"/>
                    </a:solidFill>
                  </a:rPr>
                  <a:t> </a:t>
                </a:r>
                <a14:m>
                  <m:oMath xmlns:m="http://schemas.openxmlformats.org/officeDocument/2006/math">
                    <m:d>
                      <m:dPr>
                        <m:begChr m:val="["/>
                        <m:endChr m:val="]"/>
                        <m:ctrlPr>
                          <a:rPr lang="zh-CN" altLang="en-US" sz="2000" i="1">
                            <a:solidFill>
                              <a:srgbClr val="000000"/>
                            </a:solidFill>
                            <a:latin typeface="Cambria Math" panose="02040503050406030204" pitchFamily="18" charset="0"/>
                          </a:rPr>
                        </m:ctrlPr>
                      </m:dPr>
                      <m:e>
                        <m:m>
                          <m:mPr>
                            <m:plcHide m:val="on"/>
                            <m:mcs>
                              <m:mc>
                                <m:mcPr>
                                  <m:count m:val="4"/>
                                  <m:mcJc m:val="center"/>
                                </m:mcPr>
                              </m:mc>
                            </m:mcs>
                            <m:ctrlPr>
                              <a:rPr lang="zh-CN" altLang="en-US" sz="2000" i="1">
                                <a:solidFill>
                                  <a:srgbClr val="000000"/>
                                </a:solidFill>
                                <a:latin typeface="Cambria Math" panose="02040503050406030204" pitchFamily="18" charset="0"/>
                              </a:rPr>
                            </m:ctrlPr>
                          </m:mPr>
                          <m:mr>
                            <m:e>
                              <m:r>
                                <a:rPr lang="zh-CN" altLang="en-US" sz="2000" i="1">
                                  <a:solidFill>
                                    <a:srgbClr val="000000"/>
                                  </a:solidFill>
                                  <a:latin typeface="Cambria Math" panose="02040503050406030204" pitchFamily="18" charset="0"/>
                                </a:rPr>
                                <m:t>1</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en-US" altLang="zh-CN" sz="2000" b="0" i="1" smtClean="0">
                                  <a:solidFill>
                                    <a:srgbClr val="000000"/>
                                  </a:solidFill>
                                  <a:latin typeface="Cambria Math" panose="02040503050406030204" pitchFamily="18" charset="0"/>
                                </a:rPr>
                                <m:t>1</m:t>
                              </m:r>
                            </m:e>
                            <m:e>
                              <m:r>
                                <a:rPr lang="en-US" altLang="zh-CN" sz="2000" b="0" i="1" smtClean="0">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en-US" altLang="zh-CN" sz="2000" b="0" i="1" smtClean="0">
                                  <a:solidFill>
                                    <a:srgbClr val="000000"/>
                                  </a:solidFill>
                                  <a:latin typeface="Cambria Math" panose="02040503050406030204" pitchFamily="18" charset="0"/>
                                </a:rPr>
                                <m:t>0</m:t>
                              </m:r>
                            </m:e>
                            <m:e>
                              <m:r>
                                <a:rPr lang="en-US" altLang="zh-CN" sz="2000" b="0" i="1" smtClean="0">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1</m:t>
                              </m:r>
                            </m:e>
                          </m:mr>
                        </m:m>
                      </m:e>
                    </m:d>
                  </m:oMath>
                </a14:m>
                <a:endParaRPr lang="en-US" altLang="zh-CN" sz="2000" dirty="0">
                  <a:solidFill>
                    <a:srgbClr val="000000"/>
                  </a:solidFill>
                </a:endParaRPr>
              </a:p>
              <a:p>
                <a:r>
                  <a:rPr lang="en-US" altLang="zh-CN" sz="2000" dirty="0">
                    <a:solidFill>
                      <a:srgbClr val="000000"/>
                    </a:solidFill>
                  </a:rPr>
                  <a:t>                       </a:t>
                </a:r>
              </a:p>
              <a:p>
                <a:r>
                  <a:rPr lang="en-US" altLang="zh-CN" sz="2000" dirty="0">
                    <a:solidFill>
                      <a:srgbClr val="000000"/>
                    </a:solidFill>
                  </a:rPr>
                  <a:t>                        </a:t>
                </a:r>
                <a14:m>
                  <m:oMath xmlns:m="http://schemas.openxmlformats.org/officeDocument/2006/math">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m>
                          <m:mPr>
                            <m:plcHide m:val="on"/>
                            <m:mcs>
                              <m:mc>
                                <m:mcPr>
                                  <m:count m:val="4"/>
                                  <m:mcJc m:val="center"/>
                                </m:mcPr>
                              </m:mc>
                            </m:mcs>
                            <m:ctrlPr>
                              <a:rPr lang="zh-CN" altLang="en-US" sz="2000" i="1">
                                <a:solidFill>
                                  <a:srgbClr val="000000"/>
                                </a:solidFill>
                                <a:latin typeface="Cambria Math" panose="02040503050406030204" pitchFamily="18" charset="0"/>
                              </a:rPr>
                            </m:ctrlPr>
                          </m:mPr>
                          <m:mr>
                            <m:e>
                              <m:func>
                                <m:funcPr>
                                  <m:ctrlPr>
                                    <a:rPr lang="zh-CN" altLang="en-US" sz="2000" i="1">
                                      <a:solidFill>
                                        <a:srgbClr val="000000"/>
                                      </a:solidFill>
                                      <a:latin typeface="Cambria Math" panose="02040503050406030204" pitchFamily="18" charset="0"/>
                                    </a:rPr>
                                  </m:ctrlPr>
                                </m:funcPr>
                                <m:fName>
                                  <m:r>
                                    <m:rPr>
                                      <m:sty m:val="p"/>
                                    </m:rPr>
                                    <a:rPr lang="zh-CN" altLang="en-US" sz="2000">
                                      <a:solidFill>
                                        <a:srgbClr val="000000"/>
                                      </a:solidFill>
                                      <a:latin typeface="Cambria Math" panose="02040503050406030204" pitchFamily="18" charset="0"/>
                                    </a:rPr>
                                    <m:t>cos</m:t>
                                  </m:r>
                                </m:fName>
                                <m:e>
                                  <m:r>
                                    <a:rPr lang="zh-CN" altLang="en-US" sz="2000" i="1">
                                      <a:solidFill>
                                        <a:srgbClr val="000000"/>
                                      </a:solidFill>
                                      <a:latin typeface="Cambria Math" panose="02040503050406030204" pitchFamily="18" charset="0"/>
                                    </a:rPr>
                                    <m:t>𝛽</m:t>
                                  </m:r>
                                </m:e>
                              </m:func>
                            </m:e>
                            <m:e>
                              <m:func>
                                <m:funcPr>
                                  <m:ctrlPr>
                                    <a:rPr lang="zh-CN" altLang="en-US" sz="2000" i="1">
                                      <a:solidFill>
                                        <a:srgbClr val="000000"/>
                                      </a:solidFill>
                                      <a:latin typeface="Cambria Math" panose="02040503050406030204" pitchFamily="18" charset="0"/>
                                    </a:rPr>
                                  </m:ctrlPr>
                                </m:funcPr>
                                <m:fName>
                                  <m:r>
                                    <m:rPr>
                                      <m:sty m:val="p"/>
                                    </m:rPr>
                                    <a:rPr lang="zh-CN" altLang="en-US" sz="200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𝛽</m:t>
                                  </m:r>
                                </m:e>
                              </m:func>
                              <m:func>
                                <m:funcPr>
                                  <m:ctrlPr>
                                    <a:rPr lang="zh-CN" altLang="en-US" sz="2000" i="1">
                                      <a:solidFill>
                                        <a:srgbClr val="000000"/>
                                      </a:solidFill>
                                      <a:latin typeface="Cambria Math" panose="02040503050406030204" pitchFamily="18" charset="0"/>
                                    </a:rPr>
                                  </m:ctrlPr>
                                </m:funcPr>
                                <m:fName>
                                  <m:r>
                                    <m:rPr>
                                      <m:sty m:val="p"/>
                                    </m:rPr>
                                    <a:rPr lang="zh-CN" altLang="en-US" sz="200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𝛼</m:t>
                                  </m:r>
                                </m:e>
                              </m:func>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func>
                                <m:funcPr>
                                  <m:ctrlPr>
                                    <a:rPr lang="zh-CN" altLang="en-US" sz="2000" i="1">
                                      <a:solidFill>
                                        <a:srgbClr val="000000"/>
                                      </a:solidFill>
                                      <a:latin typeface="Cambria Math" panose="02040503050406030204" pitchFamily="18" charset="0"/>
                                    </a:rPr>
                                  </m:ctrlPr>
                                </m:funcPr>
                                <m:fName>
                                  <m:r>
                                    <m:rPr>
                                      <m:sty m:val="p"/>
                                    </m:rPr>
                                    <a:rPr lang="zh-CN" altLang="en-US" sz="2000">
                                      <a:solidFill>
                                        <a:srgbClr val="000000"/>
                                      </a:solidFill>
                                      <a:latin typeface="Cambria Math" panose="02040503050406030204" pitchFamily="18" charset="0"/>
                                    </a:rPr>
                                    <m:t>cos</m:t>
                                  </m:r>
                                </m:fName>
                                <m:e>
                                  <m:r>
                                    <a:rPr lang="zh-CN" altLang="en-US" sz="2000" i="1">
                                      <a:solidFill>
                                        <a:srgbClr val="000000"/>
                                      </a:solidFill>
                                      <a:latin typeface="Cambria Math" panose="02040503050406030204" pitchFamily="18" charset="0"/>
                                    </a:rPr>
                                    <m:t>𝛼</m:t>
                                  </m:r>
                                </m:e>
                              </m:func>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func>
                                <m:funcPr>
                                  <m:ctrlPr>
                                    <a:rPr lang="zh-CN" altLang="en-US" sz="2000" i="1">
                                      <a:solidFill>
                                        <a:srgbClr val="000000"/>
                                      </a:solidFill>
                                      <a:latin typeface="Cambria Math" panose="02040503050406030204" pitchFamily="18" charset="0"/>
                                    </a:rPr>
                                  </m:ctrlPr>
                                </m:funcPr>
                                <m:fName>
                                  <m:r>
                                    <m:rPr>
                                      <m:sty m:val="p"/>
                                    </m:rPr>
                                    <a:rPr lang="zh-CN" altLang="en-US" sz="200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𝛽</m:t>
                                  </m:r>
                                </m:e>
                              </m:func>
                            </m:e>
                            <m:e>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r>
                                    <m:rPr>
                                      <m:sty m:val="p"/>
                                    </m:rPr>
                                    <a:rPr lang="zh-CN" altLang="en-US" sz="2000">
                                      <a:solidFill>
                                        <a:srgbClr val="000000"/>
                                      </a:solidFill>
                                      <a:latin typeface="Cambria Math" panose="02040503050406030204" pitchFamily="18" charset="0"/>
                                    </a:rPr>
                                    <m:t>cos</m:t>
                                  </m:r>
                                </m:fName>
                                <m:e>
                                  <m:r>
                                    <a:rPr lang="zh-CN" altLang="en-US" sz="2000" i="1">
                                      <a:solidFill>
                                        <a:srgbClr val="000000"/>
                                      </a:solidFill>
                                      <a:latin typeface="Cambria Math" panose="02040503050406030204" pitchFamily="18" charset="0"/>
                                    </a:rPr>
                                    <m:t>𝛽</m:t>
                                  </m:r>
                                </m:e>
                              </m:func>
                              <m:func>
                                <m:funcPr>
                                  <m:ctrlPr>
                                    <a:rPr lang="zh-CN" altLang="en-US" sz="2000" i="1">
                                      <a:solidFill>
                                        <a:srgbClr val="000000"/>
                                      </a:solidFill>
                                      <a:latin typeface="Cambria Math" panose="02040503050406030204" pitchFamily="18" charset="0"/>
                                    </a:rPr>
                                  </m:ctrlPr>
                                </m:funcPr>
                                <m:fName>
                                  <m:r>
                                    <m:rPr>
                                      <m:sty m:val="p"/>
                                    </m:rPr>
                                    <a:rPr lang="zh-CN" altLang="en-US" sz="2000">
                                      <a:solidFill>
                                        <a:srgbClr val="000000"/>
                                      </a:solidFill>
                                      <a:latin typeface="Cambria Math" panose="02040503050406030204" pitchFamily="18" charset="0"/>
                                    </a:rPr>
                                    <m:t>sin</m:t>
                                  </m:r>
                                </m:fName>
                                <m:e>
                                  <m:r>
                                    <a:rPr lang="zh-CN" altLang="en-US" sz="2000" i="1">
                                      <a:solidFill>
                                        <a:srgbClr val="000000"/>
                                      </a:solidFill>
                                      <a:latin typeface="Cambria Math" panose="02040503050406030204" pitchFamily="18" charset="0"/>
                                    </a:rPr>
                                    <m:t>𝛼</m:t>
                                  </m:r>
                                </m:e>
                              </m:func>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0</m:t>
                              </m:r>
                            </m:e>
                            <m:e>
                              <m:r>
                                <a:rPr lang="zh-CN" altLang="en-US" sz="2000" i="1">
                                  <a:solidFill>
                                    <a:srgbClr val="000000"/>
                                  </a:solidFill>
                                  <a:latin typeface="Cambria Math" panose="02040503050406030204" pitchFamily="18" charset="0"/>
                                </a:rPr>
                                <m:t>1</m:t>
                              </m:r>
                            </m:e>
                          </m:mr>
                        </m:m>
                      </m:e>
                    </m:d>
                  </m:oMath>
                </a14:m>
                <a:endParaRPr lang="zh-CN" altLang="en-US" sz="2000" dirty="0"/>
              </a:p>
            </p:txBody>
          </p:sp>
        </mc:Choice>
        <mc:Fallback xmlns="">
          <p:sp>
            <p:nvSpPr>
              <p:cNvPr id="19" name="Object 16">
                <a:extLst>
                  <a:ext uri="{FF2B5EF4-FFF2-40B4-BE49-F238E27FC236}">
                    <a16:creationId xmlns:a16="http://schemas.microsoft.com/office/drawing/2014/main" id="{3E6CC7B3-6BF7-8ABD-C8AD-679C556921A2}"/>
                  </a:ext>
                </a:extLst>
              </p:cNvPr>
              <p:cNvSpPr txBox="1">
                <a:spLocks noRot="1" noChangeAspect="1" noMove="1" noResize="1" noEditPoints="1" noAdjustHandles="1" noChangeArrowheads="1" noChangeShapeType="1" noTextEdit="1"/>
              </p:cNvSpPr>
              <p:nvPr/>
            </p:nvSpPr>
            <p:spPr bwMode="auto">
              <a:xfrm>
                <a:off x="1665245" y="3591087"/>
                <a:ext cx="8711207" cy="2815204"/>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18058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5698" y="629665"/>
            <a:ext cx="9848354" cy="3044878"/>
          </a:xfrm>
        </p:spPr>
        <p:txBody>
          <a:bodyPr>
            <a:normAutofit/>
          </a:bodyPr>
          <a:lstStyle/>
          <a:p>
            <a:pPr marL="0" indent="0">
              <a:lnSpc>
                <a:spcPct val="150000"/>
              </a:lnSpc>
              <a:buNone/>
            </a:pPr>
            <a:r>
              <a:rPr lang="zh-CN" altLang="en-US" dirty="0">
                <a:latin typeface="华光标题宋_CNKI" panose="02000500000000000000" pitchFamily="2" charset="-122"/>
                <a:ea typeface="华光标题宋_CNKI" panose="02000500000000000000" pitchFamily="2" charset="-122"/>
              </a:rPr>
              <a:t>  （</a:t>
            </a:r>
            <a:r>
              <a:rPr lang="en-US" altLang="zh-CN" dirty="0">
                <a:latin typeface="华光标题宋_CNKI" panose="02000500000000000000" pitchFamily="2" charset="-122"/>
                <a:ea typeface="华光标题宋_CNKI" panose="02000500000000000000" pitchFamily="2" charset="-122"/>
              </a:rPr>
              <a:t>1</a:t>
            </a:r>
            <a:r>
              <a:rPr lang="zh-CN" altLang="en-US" dirty="0">
                <a:latin typeface="华光标题宋_CNKI" panose="02000500000000000000" pitchFamily="2" charset="-122"/>
                <a:ea typeface="华光标题宋_CNKI" panose="02000500000000000000" pitchFamily="2" charset="-122"/>
              </a:rPr>
              <a:t>）正等轴测投影</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当三个轴上的单位向量的投影长度相同时，则称为正等轴测投影。等效于投影面与三个坐标轴的夹角相等，均为</a:t>
            </a:r>
            <a:r>
              <a:rPr lang="en-US" altLang="zh-CN" dirty="0">
                <a:latin typeface="华光仿宋_CNKI" panose="02000500000000000000" pitchFamily="2" charset="-122"/>
                <a:ea typeface="华光仿宋_CNKI" panose="02000500000000000000" pitchFamily="2" charset="-122"/>
              </a:rPr>
              <a:t>120</a:t>
            </a:r>
            <a:r>
              <a:rPr lang="zh-CN" altLang="en-US" dirty="0">
                <a:latin typeface="华光仿宋_CNKI" panose="02000500000000000000" pitchFamily="2" charset="-122"/>
                <a:ea typeface="华光仿宋_CNKI" panose="02000500000000000000" pitchFamily="2" charset="-122"/>
              </a:rPr>
              <a:t>度。如下图所示。</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grpSp>
        <p:nvGrpSpPr>
          <p:cNvPr id="48" name="Group 110">
            <a:extLst>
              <a:ext uri="{FF2B5EF4-FFF2-40B4-BE49-F238E27FC236}">
                <a16:creationId xmlns:a16="http://schemas.microsoft.com/office/drawing/2014/main" id="{24106902-9114-EFFF-E347-79C09D6A067E}"/>
              </a:ext>
            </a:extLst>
          </p:cNvPr>
          <p:cNvGrpSpPr>
            <a:grpSpLocks/>
          </p:cNvGrpSpPr>
          <p:nvPr/>
        </p:nvGrpSpPr>
        <p:grpSpPr bwMode="auto">
          <a:xfrm>
            <a:off x="2989690" y="3132814"/>
            <a:ext cx="6512119" cy="3391418"/>
            <a:chOff x="452" y="443"/>
            <a:chExt cx="2327" cy="1201"/>
          </a:xfrm>
        </p:grpSpPr>
        <p:grpSp>
          <p:nvGrpSpPr>
            <p:cNvPr id="49" name="Group 6">
              <a:extLst>
                <a:ext uri="{FF2B5EF4-FFF2-40B4-BE49-F238E27FC236}">
                  <a16:creationId xmlns:a16="http://schemas.microsoft.com/office/drawing/2014/main" id="{2D8C8C57-9CE8-5D4E-A302-C0ACE4F5B061}"/>
                </a:ext>
              </a:extLst>
            </p:cNvPr>
            <p:cNvGrpSpPr>
              <a:grpSpLocks/>
            </p:cNvGrpSpPr>
            <p:nvPr/>
          </p:nvGrpSpPr>
          <p:grpSpPr bwMode="auto">
            <a:xfrm>
              <a:off x="452" y="567"/>
              <a:ext cx="988" cy="929"/>
              <a:chOff x="2339" y="9006"/>
              <a:chExt cx="2655" cy="2477"/>
            </a:xfrm>
          </p:grpSpPr>
          <p:sp>
            <p:nvSpPr>
              <p:cNvPr id="72" name="Line 7">
                <a:extLst>
                  <a:ext uri="{FF2B5EF4-FFF2-40B4-BE49-F238E27FC236}">
                    <a16:creationId xmlns:a16="http://schemas.microsoft.com/office/drawing/2014/main" id="{535BB8E1-0892-0CC4-BDEC-C2B9C4DE0FB5}"/>
                  </a:ext>
                </a:extLst>
              </p:cNvPr>
              <p:cNvSpPr>
                <a:spLocks noChangeShapeType="1"/>
              </p:cNvSpPr>
              <p:nvPr/>
            </p:nvSpPr>
            <p:spPr bwMode="auto">
              <a:xfrm flipV="1">
                <a:off x="3659" y="9006"/>
                <a:ext cx="1"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3" name="Line 8">
                <a:extLst>
                  <a:ext uri="{FF2B5EF4-FFF2-40B4-BE49-F238E27FC236}">
                    <a16:creationId xmlns:a16="http://schemas.microsoft.com/office/drawing/2014/main" id="{03F7D15A-F270-6D78-B4D6-F87AB1AAC1C9}"/>
                  </a:ext>
                </a:extLst>
              </p:cNvPr>
              <p:cNvSpPr>
                <a:spLocks noChangeShapeType="1"/>
              </p:cNvSpPr>
              <p:nvPr/>
            </p:nvSpPr>
            <p:spPr bwMode="auto">
              <a:xfrm rot="7200000" flipV="1">
                <a:off x="4270" y="10064"/>
                <a:ext cx="2"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4" name="Line 9">
                <a:extLst>
                  <a:ext uri="{FF2B5EF4-FFF2-40B4-BE49-F238E27FC236}">
                    <a16:creationId xmlns:a16="http://schemas.microsoft.com/office/drawing/2014/main" id="{AF6800F6-7D24-1FA1-5143-A421CE6EBBD3}"/>
                  </a:ext>
                </a:extLst>
              </p:cNvPr>
              <p:cNvSpPr>
                <a:spLocks noChangeShapeType="1"/>
              </p:cNvSpPr>
              <p:nvPr/>
            </p:nvSpPr>
            <p:spPr bwMode="auto">
              <a:xfrm rot="14400000" flipV="1">
                <a:off x="3040" y="10080"/>
                <a:ext cx="1"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 name="Line 10">
                <a:extLst>
                  <a:ext uri="{FF2B5EF4-FFF2-40B4-BE49-F238E27FC236}">
                    <a16:creationId xmlns:a16="http://schemas.microsoft.com/office/drawing/2014/main" id="{F842E14A-87F5-62A1-CE8A-5CE1EA687151}"/>
                  </a:ext>
                </a:extLst>
              </p:cNvPr>
              <p:cNvSpPr>
                <a:spLocks noChangeAspect="1" noChangeShapeType="1"/>
              </p:cNvSpPr>
              <p:nvPr/>
            </p:nvSpPr>
            <p:spPr bwMode="auto">
              <a:xfrm rot="21540000" flipH="1">
                <a:off x="2676" y="9303"/>
                <a:ext cx="998" cy="16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1">
                <a:extLst>
                  <a:ext uri="{FF2B5EF4-FFF2-40B4-BE49-F238E27FC236}">
                    <a16:creationId xmlns:a16="http://schemas.microsoft.com/office/drawing/2014/main" id="{FC676237-4515-7C1D-471E-3270FAB7EA11}"/>
                  </a:ext>
                </a:extLst>
              </p:cNvPr>
              <p:cNvSpPr>
                <a:spLocks noChangeAspect="1" noChangeShapeType="1"/>
              </p:cNvSpPr>
              <p:nvPr/>
            </p:nvSpPr>
            <p:spPr bwMode="auto">
              <a:xfrm rot="17940000" flipH="1">
                <a:off x="3655" y="9296"/>
                <a:ext cx="998" cy="16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2">
                <a:extLst>
                  <a:ext uri="{FF2B5EF4-FFF2-40B4-BE49-F238E27FC236}">
                    <a16:creationId xmlns:a16="http://schemas.microsoft.com/office/drawing/2014/main" id="{978B203C-BFFC-BE1E-B546-A06BB8800B26}"/>
                  </a:ext>
                </a:extLst>
              </p:cNvPr>
              <p:cNvSpPr>
                <a:spLocks noChangeAspect="1" noChangeShapeType="1"/>
              </p:cNvSpPr>
              <p:nvPr/>
            </p:nvSpPr>
            <p:spPr bwMode="auto">
              <a:xfrm rot="3540000" flipH="1">
                <a:off x="3160" y="10144"/>
                <a:ext cx="998" cy="16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8" name="Group 13">
                <a:extLst>
                  <a:ext uri="{FF2B5EF4-FFF2-40B4-BE49-F238E27FC236}">
                    <a16:creationId xmlns:a16="http://schemas.microsoft.com/office/drawing/2014/main" id="{0C48045B-11ED-BF89-C7D9-39D9CA48BC3E}"/>
                  </a:ext>
                </a:extLst>
              </p:cNvPr>
              <p:cNvGrpSpPr>
                <a:grpSpLocks/>
              </p:cNvGrpSpPr>
              <p:nvPr/>
            </p:nvGrpSpPr>
            <p:grpSpPr bwMode="auto">
              <a:xfrm>
                <a:off x="3579" y="9786"/>
                <a:ext cx="170" cy="66"/>
                <a:chOff x="4044" y="9786"/>
                <a:chExt cx="170" cy="66"/>
              </a:xfrm>
            </p:grpSpPr>
            <p:sp>
              <p:nvSpPr>
                <p:cNvPr id="89" name="Line 14">
                  <a:extLst>
                    <a:ext uri="{FF2B5EF4-FFF2-40B4-BE49-F238E27FC236}">
                      <a16:creationId xmlns:a16="http://schemas.microsoft.com/office/drawing/2014/main" id="{84735372-68A1-F980-0797-7A043C318DFA}"/>
                    </a:ext>
                  </a:extLst>
                </p:cNvPr>
                <p:cNvSpPr>
                  <a:spLocks noChangeShapeType="1"/>
                </p:cNvSpPr>
                <p:nvPr/>
              </p:nvSpPr>
              <p:spPr bwMode="auto">
                <a:xfrm>
                  <a:off x="4044" y="9786"/>
                  <a:ext cx="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15">
                  <a:extLst>
                    <a:ext uri="{FF2B5EF4-FFF2-40B4-BE49-F238E27FC236}">
                      <a16:creationId xmlns:a16="http://schemas.microsoft.com/office/drawing/2014/main" id="{34E88621-2987-E2C1-4F08-A298AD9758ED}"/>
                    </a:ext>
                  </a:extLst>
                </p:cNvPr>
                <p:cNvSpPr>
                  <a:spLocks noChangeShapeType="1"/>
                </p:cNvSpPr>
                <p:nvPr/>
              </p:nvSpPr>
              <p:spPr bwMode="auto">
                <a:xfrm>
                  <a:off x="4044" y="9851"/>
                  <a:ext cx="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 name="Line 16">
                <a:extLst>
                  <a:ext uri="{FF2B5EF4-FFF2-40B4-BE49-F238E27FC236}">
                    <a16:creationId xmlns:a16="http://schemas.microsoft.com/office/drawing/2014/main" id="{2B622D56-359C-6D05-0E6B-3E302BFA17EC}"/>
                  </a:ext>
                </a:extLst>
              </p:cNvPr>
              <p:cNvSpPr>
                <a:spLocks noChangeShapeType="1"/>
              </p:cNvSpPr>
              <p:nvPr/>
            </p:nvSpPr>
            <p:spPr bwMode="auto">
              <a:xfrm rot="3600000">
                <a:off x="3110" y="10681"/>
                <a:ext cx="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17">
                <a:extLst>
                  <a:ext uri="{FF2B5EF4-FFF2-40B4-BE49-F238E27FC236}">
                    <a16:creationId xmlns:a16="http://schemas.microsoft.com/office/drawing/2014/main" id="{7E7A20B0-DEB6-E9E4-50EB-C90738E7C39F}"/>
                  </a:ext>
                </a:extLst>
              </p:cNvPr>
              <p:cNvSpPr>
                <a:spLocks noChangeShapeType="1"/>
              </p:cNvSpPr>
              <p:nvPr/>
            </p:nvSpPr>
            <p:spPr bwMode="auto">
              <a:xfrm rot="7200000">
                <a:off x="4129" y="10726"/>
                <a:ext cx="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18">
                <a:extLst>
                  <a:ext uri="{FF2B5EF4-FFF2-40B4-BE49-F238E27FC236}">
                    <a16:creationId xmlns:a16="http://schemas.microsoft.com/office/drawing/2014/main" id="{8586A2C7-6195-70EC-5E2B-7E8DF58A1BB1}"/>
                  </a:ext>
                </a:extLst>
              </p:cNvPr>
              <p:cNvSpPr>
                <a:spLocks noChangeShapeType="1"/>
              </p:cNvSpPr>
              <p:nvPr/>
            </p:nvSpPr>
            <p:spPr bwMode="auto">
              <a:xfrm rot="3600000">
                <a:off x="3170" y="10644"/>
                <a:ext cx="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19">
                <a:extLst>
                  <a:ext uri="{FF2B5EF4-FFF2-40B4-BE49-F238E27FC236}">
                    <a16:creationId xmlns:a16="http://schemas.microsoft.com/office/drawing/2014/main" id="{C16504F1-8AC8-80D8-3D7A-03FE8DE88DF8}"/>
                  </a:ext>
                </a:extLst>
              </p:cNvPr>
              <p:cNvSpPr>
                <a:spLocks noChangeShapeType="1"/>
              </p:cNvSpPr>
              <p:nvPr/>
            </p:nvSpPr>
            <p:spPr bwMode="auto">
              <a:xfrm rot="7200000">
                <a:off x="4070" y="10695"/>
                <a:ext cx="17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Text Box 20">
                <a:extLst>
                  <a:ext uri="{FF2B5EF4-FFF2-40B4-BE49-F238E27FC236}">
                    <a16:creationId xmlns:a16="http://schemas.microsoft.com/office/drawing/2014/main" id="{4B52F945-63DE-4C6F-AD34-40E416024985}"/>
                  </a:ext>
                </a:extLst>
              </p:cNvPr>
              <p:cNvSpPr txBox="1">
                <a:spLocks noChangeArrowheads="1"/>
              </p:cNvSpPr>
              <p:nvPr/>
            </p:nvSpPr>
            <p:spPr bwMode="auto">
              <a:xfrm>
                <a:off x="3059" y="10098"/>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dirty="0">
                    <a:latin typeface="Times New Roman" panose="02020603050405020304" pitchFamily="18" charset="0"/>
                  </a:rPr>
                  <a:t>120</a:t>
                </a:r>
                <a:r>
                  <a:rPr kumimoji="1" lang="en-US" altLang="zh-CN" dirty="0">
                    <a:latin typeface="宋体" panose="02010600030101010101" pitchFamily="2" charset="-122"/>
                  </a:rPr>
                  <a:t>°</a:t>
                </a:r>
                <a:endParaRPr kumimoji="1" lang="en-US" altLang="zh-CN" dirty="0">
                  <a:latin typeface="Times New Roman" panose="02020603050405020304" pitchFamily="18" charset="0"/>
                </a:endParaRPr>
              </a:p>
            </p:txBody>
          </p:sp>
          <p:sp>
            <p:nvSpPr>
              <p:cNvPr id="84" name="Arc 21">
                <a:extLst>
                  <a:ext uri="{FF2B5EF4-FFF2-40B4-BE49-F238E27FC236}">
                    <a16:creationId xmlns:a16="http://schemas.microsoft.com/office/drawing/2014/main" id="{5E23364A-0520-2472-9250-1882D30BB3E5}"/>
                  </a:ext>
                </a:extLst>
              </p:cNvPr>
              <p:cNvSpPr>
                <a:spLocks/>
              </p:cNvSpPr>
              <p:nvPr/>
            </p:nvSpPr>
            <p:spPr bwMode="auto">
              <a:xfrm>
                <a:off x="3674" y="10254"/>
                <a:ext cx="170" cy="283"/>
              </a:xfrm>
              <a:custGeom>
                <a:avLst/>
                <a:gdLst>
                  <a:gd name="T0" fmla="*/ 0 w 21600"/>
                  <a:gd name="T1" fmla="*/ 0 h 21600"/>
                  <a:gd name="T2" fmla="*/ 170 w 21600"/>
                  <a:gd name="T3" fmla="*/ 283 h 21600"/>
                  <a:gd name="T4" fmla="*/ 0 w 21600"/>
                  <a:gd name="T5" fmla="*/ 28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5" name="Arc 22">
                <a:extLst>
                  <a:ext uri="{FF2B5EF4-FFF2-40B4-BE49-F238E27FC236}">
                    <a16:creationId xmlns:a16="http://schemas.microsoft.com/office/drawing/2014/main" id="{9D0917B7-BC4C-3458-35DB-21B40114896B}"/>
                  </a:ext>
                </a:extLst>
              </p:cNvPr>
              <p:cNvSpPr>
                <a:spLocks/>
              </p:cNvSpPr>
              <p:nvPr/>
            </p:nvSpPr>
            <p:spPr bwMode="auto">
              <a:xfrm rot="7200000">
                <a:off x="3581" y="10398"/>
                <a:ext cx="170" cy="283"/>
              </a:xfrm>
              <a:custGeom>
                <a:avLst/>
                <a:gdLst>
                  <a:gd name="T0" fmla="*/ 0 w 21600"/>
                  <a:gd name="T1" fmla="*/ 0 h 21600"/>
                  <a:gd name="T2" fmla="*/ 170 w 21600"/>
                  <a:gd name="T3" fmla="*/ 283 h 21600"/>
                  <a:gd name="T4" fmla="*/ 0 w 21600"/>
                  <a:gd name="T5" fmla="*/ 28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6" name="Arc 23">
                <a:extLst>
                  <a:ext uri="{FF2B5EF4-FFF2-40B4-BE49-F238E27FC236}">
                    <a16:creationId xmlns:a16="http://schemas.microsoft.com/office/drawing/2014/main" id="{01912F90-F99B-61E8-7DA5-B7B26F065194}"/>
                  </a:ext>
                </a:extLst>
              </p:cNvPr>
              <p:cNvSpPr>
                <a:spLocks/>
              </p:cNvSpPr>
              <p:nvPr/>
            </p:nvSpPr>
            <p:spPr bwMode="auto">
              <a:xfrm rot="-7200000">
                <a:off x="3478" y="10248"/>
                <a:ext cx="170" cy="283"/>
              </a:xfrm>
              <a:custGeom>
                <a:avLst/>
                <a:gdLst>
                  <a:gd name="T0" fmla="*/ 0 w 21600"/>
                  <a:gd name="T1" fmla="*/ 0 h 21600"/>
                  <a:gd name="T2" fmla="*/ 170 w 21600"/>
                  <a:gd name="T3" fmla="*/ 283 h 21600"/>
                  <a:gd name="T4" fmla="*/ 0 w 21600"/>
                  <a:gd name="T5" fmla="*/ 28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7" name="Text Box 24">
                <a:extLst>
                  <a:ext uri="{FF2B5EF4-FFF2-40B4-BE49-F238E27FC236}">
                    <a16:creationId xmlns:a16="http://schemas.microsoft.com/office/drawing/2014/main" id="{B823A2D6-B154-617D-EBC2-E3A8C3250FEA}"/>
                  </a:ext>
                </a:extLst>
              </p:cNvPr>
              <p:cNvSpPr txBox="1">
                <a:spLocks noChangeArrowheads="1"/>
              </p:cNvSpPr>
              <p:nvPr/>
            </p:nvSpPr>
            <p:spPr bwMode="auto">
              <a:xfrm>
                <a:off x="3674" y="10098"/>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a:latin typeface="Times New Roman" panose="02020603050405020304" pitchFamily="18" charset="0"/>
                  </a:rPr>
                  <a:t>120</a:t>
                </a:r>
                <a:r>
                  <a:rPr kumimoji="1" lang="en-US" altLang="zh-CN">
                    <a:latin typeface="宋体" panose="02010600030101010101" pitchFamily="2" charset="-122"/>
                  </a:rPr>
                  <a:t>°</a:t>
                </a:r>
                <a:endParaRPr kumimoji="1" lang="en-US" altLang="zh-CN">
                  <a:latin typeface="Times New Roman" panose="02020603050405020304" pitchFamily="18" charset="0"/>
                </a:endParaRPr>
              </a:p>
            </p:txBody>
          </p:sp>
          <p:sp>
            <p:nvSpPr>
              <p:cNvPr id="88" name="Text Box 25">
                <a:extLst>
                  <a:ext uri="{FF2B5EF4-FFF2-40B4-BE49-F238E27FC236}">
                    <a16:creationId xmlns:a16="http://schemas.microsoft.com/office/drawing/2014/main" id="{595D256D-AA84-D279-0309-564F2874232C}"/>
                  </a:ext>
                </a:extLst>
              </p:cNvPr>
              <p:cNvSpPr txBox="1">
                <a:spLocks noChangeArrowheads="1"/>
              </p:cNvSpPr>
              <p:nvPr/>
            </p:nvSpPr>
            <p:spPr bwMode="auto">
              <a:xfrm>
                <a:off x="3374" y="10566"/>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dirty="0">
                    <a:latin typeface="Times New Roman" panose="02020603050405020304" pitchFamily="18" charset="0"/>
                  </a:rPr>
                  <a:t>120</a:t>
                </a:r>
                <a:r>
                  <a:rPr kumimoji="1" lang="en-US" altLang="zh-CN" dirty="0">
                    <a:latin typeface="宋体" panose="02010600030101010101" pitchFamily="2" charset="-122"/>
                  </a:rPr>
                  <a:t>°</a:t>
                </a:r>
                <a:endParaRPr kumimoji="1" lang="en-US" altLang="zh-CN" dirty="0">
                  <a:latin typeface="Times New Roman" panose="02020603050405020304" pitchFamily="18" charset="0"/>
                </a:endParaRPr>
              </a:p>
            </p:txBody>
          </p:sp>
        </p:grpSp>
        <p:sp>
          <p:nvSpPr>
            <p:cNvPr id="50" name="Text Box 27">
              <a:extLst>
                <a:ext uri="{FF2B5EF4-FFF2-40B4-BE49-F238E27FC236}">
                  <a16:creationId xmlns:a16="http://schemas.microsoft.com/office/drawing/2014/main" id="{B17C0915-94A1-F357-B248-06D1F3864CF2}"/>
                </a:ext>
              </a:extLst>
            </p:cNvPr>
            <p:cNvSpPr txBox="1">
              <a:spLocks noChangeArrowheads="1"/>
            </p:cNvSpPr>
            <p:nvPr/>
          </p:nvSpPr>
          <p:spPr bwMode="auto">
            <a:xfrm>
              <a:off x="1112" y="1468"/>
              <a:ext cx="880"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dirty="0">
                  <a:latin typeface="Times New Roman" panose="02020603050405020304" pitchFamily="18" charset="0"/>
                </a:rPr>
                <a:t>正方体的正等轴测</a:t>
              </a:r>
            </a:p>
          </p:txBody>
        </p:sp>
        <p:sp>
          <p:nvSpPr>
            <p:cNvPr id="51" name="Text Box 30">
              <a:extLst>
                <a:ext uri="{FF2B5EF4-FFF2-40B4-BE49-F238E27FC236}">
                  <a16:creationId xmlns:a16="http://schemas.microsoft.com/office/drawing/2014/main" id="{FEB4B6F2-637A-BA80-2ED7-EA090DC2C7B8}"/>
                </a:ext>
              </a:extLst>
            </p:cNvPr>
            <p:cNvSpPr txBox="1">
              <a:spLocks noChangeArrowheads="1"/>
            </p:cNvSpPr>
            <p:nvPr/>
          </p:nvSpPr>
          <p:spPr bwMode="auto">
            <a:xfrm>
              <a:off x="2076" y="443"/>
              <a:ext cx="20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a:latin typeface="Times New Roman" panose="02020603050405020304" pitchFamily="18" charset="0"/>
                </a:rPr>
                <a:t> y</a:t>
              </a:r>
            </a:p>
          </p:txBody>
        </p:sp>
        <p:grpSp>
          <p:nvGrpSpPr>
            <p:cNvPr id="52" name="Group 31">
              <a:extLst>
                <a:ext uri="{FF2B5EF4-FFF2-40B4-BE49-F238E27FC236}">
                  <a16:creationId xmlns:a16="http://schemas.microsoft.com/office/drawing/2014/main" id="{B0EC054A-6D24-BE8E-1FB5-4008EECE7A70}"/>
                </a:ext>
              </a:extLst>
            </p:cNvPr>
            <p:cNvGrpSpPr>
              <a:grpSpLocks/>
            </p:cNvGrpSpPr>
            <p:nvPr/>
          </p:nvGrpSpPr>
          <p:grpSpPr bwMode="auto">
            <a:xfrm>
              <a:off x="1573" y="567"/>
              <a:ext cx="1206" cy="972"/>
              <a:chOff x="5354" y="9006"/>
              <a:chExt cx="3240" cy="2594"/>
            </a:xfrm>
          </p:grpSpPr>
          <p:sp>
            <p:nvSpPr>
              <p:cNvPr id="56" name="Line 32">
                <a:extLst>
                  <a:ext uri="{FF2B5EF4-FFF2-40B4-BE49-F238E27FC236}">
                    <a16:creationId xmlns:a16="http://schemas.microsoft.com/office/drawing/2014/main" id="{51CB82EB-1C3F-E326-EA7E-39F804B75C93}"/>
                  </a:ext>
                </a:extLst>
              </p:cNvPr>
              <p:cNvSpPr>
                <a:spLocks noChangeShapeType="1"/>
              </p:cNvSpPr>
              <p:nvPr/>
            </p:nvSpPr>
            <p:spPr bwMode="auto">
              <a:xfrm flipV="1">
                <a:off x="6989" y="9006"/>
                <a:ext cx="1"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7" name="Line 33">
                <a:extLst>
                  <a:ext uri="{FF2B5EF4-FFF2-40B4-BE49-F238E27FC236}">
                    <a16:creationId xmlns:a16="http://schemas.microsoft.com/office/drawing/2014/main" id="{5D85717E-59A4-F1AA-1B43-C20DC91399C5}"/>
                  </a:ext>
                </a:extLst>
              </p:cNvPr>
              <p:cNvSpPr>
                <a:spLocks noChangeShapeType="1"/>
              </p:cNvSpPr>
              <p:nvPr/>
            </p:nvSpPr>
            <p:spPr bwMode="auto">
              <a:xfrm rot="7200000" flipV="1">
                <a:off x="7600" y="10064"/>
                <a:ext cx="2"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8" name="Line 34">
                <a:extLst>
                  <a:ext uri="{FF2B5EF4-FFF2-40B4-BE49-F238E27FC236}">
                    <a16:creationId xmlns:a16="http://schemas.microsoft.com/office/drawing/2014/main" id="{09C9B3F6-23E6-55EE-E9E2-3DBD71928791}"/>
                  </a:ext>
                </a:extLst>
              </p:cNvPr>
              <p:cNvSpPr>
                <a:spLocks noChangeShapeType="1"/>
              </p:cNvSpPr>
              <p:nvPr/>
            </p:nvSpPr>
            <p:spPr bwMode="auto">
              <a:xfrm rot="14400000" flipV="1">
                <a:off x="6370" y="10080"/>
                <a:ext cx="1"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9" name="Line 35">
                <a:extLst>
                  <a:ext uri="{FF2B5EF4-FFF2-40B4-BE49-F238E27FC236}">
                    <a16:creationId xmlns:a16="http://schemas.microsoft.com/office/drawing/2014/main" id="{01648B94-29B9-0D7D-E065-815884674766}"/>
                  </a:ext>
                </a:extLst>
              </p:cNvPr>
              <p:cNvSpPr>
                <a:spLocks noChangeShapeType="1"/>
              </p:cNvSpPr>
              <p:nvPr/>
            </p:nvSpPr>
            <p:spPr bwMode="auto">
              <a:xfrm rot="7200000" flipV="1">
                <a:off x="7483" y="9058"/>
                <a:ext cx="2"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0" name="Line 36">
                <a:extLst>
                  <a:ext uri="{FF2B5EF4-FFF2-40B4-BE49-F238E27FC236}">
                    <a16:creationId xmlns:a16="http://schemas.microsoft.com/office/drawing/2014/main" id="{91B4C690-3F00-CE66-0079-CEB77DC07C3E}"/>
                  </a:ext>
                </a:extLst>
              </p:cNvPr>
              <p:cNvSpPr>
                <a:spLocks noChangeShapeType="1"/>
              </p:cNvSpPr>
              <p:nvPr/>
            </p:nvSpPr>
            <p:spPr bwMode="auto">
              <a:xfrm rot="7200000" flipV="1">
                <a:off x="6526" y="9599"/>
                <a:ext cx="2"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1" name="Line 37">
                <a:extLst>
                  <a:ext uri="{FF2B5EF4-FFF2-40B4-BE49-F238E27FC236}">
                    <a16:creationId xmlns:a16="http://schemas.microsoft.com/office/drawing/2014/main" id="{E2EC5D60-D542-0BC6-6365-604A90F77351}"/>
                  </a:ext>
                </a:extLst>
              </p:cNvPr>
              <p:cNvSpPr>
                <a:spLocks noChangeShapeType="1"/>
              </p:cNvSpPr>
              <p:nvPr/>
            </p:nvSpPr>
            <p:spPr bwMode="auto">
              <a:xfrm rot="14400000" flipV="1">
                <a:off x="6505" y="9034"/>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2" name="Line 38">
                <a:extLst>
                  <a:ext uri="{FF2B5EF4-FFF2-40B4-BE49-F238E27FC236}">
                    <a16:creationId xmlns:a16="http://schemas.microsoft.com/office/drawing/2014/main" id="{F50989B9-37B4-F831-B11A-B3661E7DAA6C}"/>
                  </a:ext>
                </a:extLst>
              </p:cNvPr>
              <p:cNvSpPr>
                <a:spLocks noChangeShapeType="1"/>
              </p:cNvSpPr>
              <p:nvPr/>
            </p:nvSpPr>
            <p:spPr bwMode="auto">
              <a:xfrm rot="14400000" flipV="1">
                <a:off x="7471" y="9606"/>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3" name="Line 39">
                <a:extLst>
                  <a:ext uri="{FF2B5EF4-FFF2-40B4-BE49-F238E27FC236}">
                    <a16:creationId xmlns:a16="http://schemas.microsoft.com/office/drawing/2014/main" id="{325ED352-9537-B917-2ADC-CA5F9F0F2AA6}"/>
                  </a:ext>
                </a:extLst>
              </p:cNvPr>
              <p:cNvSpPr>
                <a:spLocks noChangeShapeType="1"/>
              </p:cNvSpPr>
              <p:nvPr/>
            </p:nvSpPr>
            <p:spPr bwMode="auto">
              <a:xfrm rot="7200000" flipV="1">
                <a:off x="7498" y="10150"/>
                <a:ext cx="2"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 name="Line 40">
                <a:extLst>
                  <a:ext uri="{FF2B5EF4-FFF2-40B4-BE49-F238E27FC236}">
                    <a16:creationId xmlns:a16="http://schemas.microsoft.com/office/drawing/2014/main" id="{ACE9D971-99D4-6BD9-6637-1D5DF725AF63}"/>
                  </a:ext>
                </a:extLst>
              </p:cNvPr>
              <p:cNvSpPr>
                <a:spLocks noChangeShapeType="1"/>
              </p:cNvSpPr>
              <p:nvPr/>
            </p:nvSpPr>
            <p:spPr bwMode="auto">
              <a:xfrm rot="7200000" flipV="1">
                <a:off x="6526" y="10691"/>
                <a:ext cx="2"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5" name="Line 41">
                <a:extLst>
                  <a:ext uri="{FF2B5EF4-FFF2-40B4-BE49-F238E27FC236}">
                    <a16:creationId xmlns:a16="http://schemas.microsoft.com/office/drawing/2014/main" id="{4F410BD8-ABE3-E5AF-3E42-372218E9BFD4}"/>
                  </a:ext>
                </a:extLst>
              </p:cNvPr>
              <p:cNvSpPr>
                <a:spLocks noChangeShapeType="1"/>
              </p:cNvSpPr>
              <p:nvPr/>
            </p:nvSpPr>
            <p:spPr bwMode="auto">
              <a:xfrm rot="14400000" flipV="1">
                <a:off x="6520" y="10126"/>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6" name="Line 42">
                <a:extLst>
                  <a:ext uri="{FF2B5EF4-FFF2-40B4-BE49-F238E27FC236}">
                    <a16:creationId xmlns:a16="http://schemas.microsoft.com/office/drawing/2014/main" id="{7A319675-1062-5AB2-2629-57EA3DD3C29A}"/>
                  </a:ext>
                </a:extLst>
              </p:cNvPr>
              <p:cNvSpPr>
                <a:spLocks noChangeShapeType="1"/>
              </p:cNvSpPr>
              <p:nvPr/>
            </p:nvSpPr>
            <p:spPr bwMode="auto">
              <a:xfrm rot="14400000" flipV="1">
                <a:off x="7501" y="10683"/>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7" name="Line 43">
                <a:extLst>
                  <a:ext uri="{FF2B5EF4-FFF2-40B4-BE49-F238E27FC236}">
                    <a16:creationId xmlns:a16="http://schemas.microsoft.com/office/drawing/2014/main" id="{6072DFB5-3849-80B1-B6E7-7AE97CA1D1E2}"/>
                  </a:ext>
                </a:extLst>
              </p:cNvPr>
              <p:cNvSpPr>
                <a:spLocks noChangeShapeType="1"/>
              </p:cNvSpPr>
              <p:nvPr/>
            </p:nvSpPr>
            <p:spPr bwMode="auto">
              <a:xfrm>
                <a:off x="6029" y="9852"/>
                <a:ext cx="1" cy="1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44">
                <a:extLst>
                  <a:ext uri="{FF2B5EF4-FFF2-40B4-BE49-F238E27FC236}">
                    <a16:creationId xmlns:a16="http://schemas.microsoft.com/office/drawing/2014/main" id="{2D4E0662-E7D4-DA65-7E59-D32166DBCF0D}"/>
                  </a:ext>
                </a:extLst>
              </p:cNvPr>
              <p:cNvSpPr>
                <a:spLocks noChangeShapeType="1"/>
              </p:cNvSpPr>
              <p:nvPr/>
            </p:nvSpPr>
            <p:spPr bwMode="auto">
              <a:xfrm>
                <a:off x="7003" y="10383"/>
                <a:ext cx="1" cy="1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45">
                <a:extLst>
                  <a:ext uri="{FF2B5EF4-FFF2-40B4-BE49-F238E27FC236}">
                    <a16:creationId xmlns:a16="http://schemas.microsoft.com/office/drawing/2014/main" id="{0F579007-34CC-7BD7-58E1-34C6DFCF9256}"/>
                  </a:ext>
                </a:extLst>
              </p:cNvPr>
              <p:cNvSpPr>
                <a:spLocks noChangeShapeType="1"/>
              </p:cNvSpPr>
              <p:nvPr/>
            </p:nvSpPr>
            <p:spPr bwMode="auto">
              <a:xfrm>
                <a:off x="7948" y="9882"/>
                <a:ext cx="1" cy="1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Text Box 46">
                <a:extLst>
                  <a:ext uri="{FF2B5EF4-FFF2-40B4-BE49-F238E27FC236}">
                    <a16:creationId xmlns:a16="http://schemas.microsoft.com/office/drawing/2014/main" id="{CE07208C-5C32-D0FA-2542-2724A77F3CA9}"/>
                  </a:ext>
                </a:extLst>
              </p:cNvPr>
              <p:cNvSpPr txBox="1">
                <a:spLocks noChangeArrowheads="1"/>
              </p:cNvSpPr>
              <p:nvPr/>
            </p:nvSpPr>
            <p:spPr bwMode="auto">
              <a:xfrm>
                <a:off x="5354" y="1093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a:latin typeface="Times New Roman" panose="02020603050405020304" pitchFamily="18" charset="0"/>
                  </a:rPr>
                  <a:t> z</a:t>
                </a:r>
              </a:p>
            </p:txBody>
          </p:sp>
          <p:sp>
            <p:nvSpPr>
              <p:cNvPr id="71" name="Text Box 47">
                <a:extLst>
                  <a:ext uri="{FF2B5EF4-FFF2-40B4-BE49-F238E27FC236}">
                    <a16:creationId xmlns:a16="http://schemas.microsoft.com/office/drawing/2014/main" id="{F15D5BBF-DC86-B287-5C54-14079A240B43}"/>
                  </a:ext>
                </a:extLst>
              </p:cNvPr>
              <p:cNvSpPr txBox="1">
                <a:spLocks noChangeArrowheads="1"/>
              </p:cNvSpPr>
              <p:nvPr/>
            </p:nvSpPr>
            <p:spPr bwMode="auto">
              <a:xfrm>
                <a:off x="8054" y="1113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dirty="0">
                    <a:latin typeface="Times New Roman" panose="02020603050405020304" pitchFamily="18" charset="0"/>
                  </a:rPr>
                  <a:t> x</a:t>
                </a:r>
              </a:p>
            </p:txBody>
          </p:sp>
        </p:grpSp>
        <p:grpSp>
          <p:nvGrpSpPr>
            <p:cNvPr id="53" name="Group 77">
              <a:extLst>
                <a:ext uri="{FF2B5EF4-FFF2-40B4-BE49-F238E27FC236}">
                  <a16:creationId xmlns:a16="http://schemas.microsoft.com/office/drawing/2014/main" id="{0648CE45-D343-8793-0D89-49670EE42472}"/>
                </a:ext>
              </a:extLst>
            </p:cNvPr>
            <p:cNvGrpSpPr>
              <a:grpSpLocks/>
            </p:cNvGrpSpPr>
            <p:nvPr/>
          </p:nvGrpSpPr>
          <p:grpSpPr bwMode="auto">
            <a:xfrm>
              <a:off x="1161" y="684"/>
              <a:ext cx="412" cy="315"/>
              <a:chOff x="4244" y="9318"/>
              <a:chExt cx="1110" cy="840"/>
            </a:xfrm>
          </p:grpSpPr>
          <p:sp>
            <p:nvSpPr>
              <p:cNvPr id="54" name="Text Box 78">
                <a:extLst>
                  <a:ext uri="{FF2B5EF4-FFF2-40B4-BE49-F238E27FC236}">
                    <a16:creationId xmlns:a16="http://schemas.microsoft.com/office/drawing/2014/main" id="{506581C8-B610-4B2F-740E-865F41FFFB72}"/>
                  </a:ext>
                </a:extLst>
              </p:cNvPr>
              <p:cNvSpPr txBox="1">
                <a:spLocks noChangeArrowheads="1"/>
              </p:cNvSpPr>
              <p:nvPr/>
            </p:nvSpPr>
            <p:spPr bwMode="auto">
              <a:xfrm>
                <a:off x="4274" y="9318"/>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latin typeface="Times New Roman" panose="02020603050405020304" pitchFamily="18" charset="0"/>
                  </a:rPr>
                  <a:t>投影</a:t>
                </a:r>
              </a:p>
              <a:p>
                <a:pPr algn="just" eaLnBrk="1" hangingPunct="1"/>
                <a:r>
                  <a:rPr kumimoji="1" lang="zh-CN" altLang="en-US">
                    <a:latin typeface="Times New Roman" panose="02020603050405020304" pitchFamily="18" charset="0"/>
                  </a:rPr>
                  <a:t>平面</a:t>
                </a:r>
              </a:p>
            </p:txBody>
          </p:sp>
          <p:sp>
            <p:nvSpPr>
              <p:cNvPr id="55" name="Line 79">
                <a:extLst>
                  <a:ext uri="{FF2B5EF4-FFF2-40B4-BE49-F238E27FC236}">
                    <a16:creationId xmlns:a16="http://schemas.microsoft.com/office/drawing/2014/main" id="{865D64F8-A0EB-3E69-0F9F-7BE7DE739659}"/>
                  </a:ext>
                </a:extLst>
              </p:cNvPr>
              <p:cNvSpPr>
                <a:spLocks noChangeShapeType="1"/>
              </p:cNvSpPr>
              <p:nvPr/>
            </p:nvSpPr>
            <p:spPr bwMode="auto">
              <a:xfrm flipH="1">
                <a:off x="4244" y="9873"/>
                <a:ext cx="332" cy="28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264117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0223" y="3429000"/>
            <a:ext cx="9848354" cy="2518576"/>
          </a:xfrm>
        </p:spPr>
        <p:txBody>
          <a:bodyPr>
            <a:normAutofit/>
          </a:bodyPr>
          <a:lstStyle/>
          <a:p>
            <a:pPr marL="0" indent="0">
              <a:lnSpc>
                <a:spcPct val="150000"/>
              </a:lnSpc>
              <a:buNone/>
            </a:pPr>
            <a:r>
              <a:rPr lang="zh-CN" altLang="en-US" dirty="0">
                <a:latin typeface="华光标题宋_CNKI" panose="02000500000000000000" pitchFamily="2" charset="-122"/>
                <a:ea typeface="华光标题宋_CNKI" panose="02000500000000000000" pitchFamily="2" charset="-122"/>
              </a:rPr>
              <a:t>  （</a:t>
            </a:r>
            <a:r>
              <a:rPr lang="en-US" altLang="zh-CN" dirty="0">
                <a:latin typeface="华光标题宋_CNKI" panose="02000500000000000000" pitchFamily="2" charset="-122"/>
                <a:ea typeface="华光标题宋_CNKI" panose="02000500000000000000" pitchFamily="2" charset="-122"/>
              </a:rPr>
              <a:t>2</a:t>
            </a:r>
            <a:r>
              <a:rPr lang="zh-CN" altLang="en-US" dirty="0">
                <a:latin typeface="华光标题宋_CNKI" panose="02000500000000000000" pitchFamily="2" charset="-122"/>
                <a:ea typeface="华光标题宋_CNKI" panose="02000500000000000000" pitchFamily="2" charset="-122"/>
              </a:rPr>
              <a:t>）正二轴测投影</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当</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轴和</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轴单位矢量投影面上的投影长度一样，</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轴单位矢量在投影面上的投影长度不同时，称为正二轴测投影。</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2" name="Object 131">
                <a:extLst>
                  <a:ext uri="{FF2B5EF4-FFF2-40B4-BE49-F238E27FC236}">
                    <a16:creationId xmlns:a16="http://schemas.microsoft.com/office/drawing/2014/main" id="{42B8FEE3-71AD-5451-6717-F607ED597C22}"/>
                  </a:ext>
                </a:extLst>
              </p:cNvPr>
              <p:cNvSpPr txBox="1"/>
              <p:nvPr/>
            </p:nvSpPr>
            <p:spPr bwMode="auto">
              <a:xfrm>
                <a:off x="1853938" y="1534644"/>
                <a:ext cx="5270430" cy="162401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smtClean="0">
                          <a:solidFill>
                            <a:srgbClr val="000000"/>
                          </a:solidFill>
                          <a:latin typeface="Cambria Math" panose="02040503050406030204" pitchFamily="18" charset="0"/>
                        </a:rPr>
                        <m:t>𝑇</m:t>
                      </m:r>
                      <m:r>
                        <a:rPr lang="zh-CN" altLang="en-US" sz="2400" i="1" smtClean="0">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707</m:t>
                                </m:r>
                              </m:e>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408</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817</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707</m:t>
                                </m:r>
                              </m:e>
                              <m:e>
                                <m:r>
                                  <a:rPr lang="zh-CN" altLang="en-US"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408</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oMath>
                  </m:oMathPara>
                </a14:m>
                <a:endParaRPr lang="zh-CN" altLang="en-US" sz="2400" dirty="0"/>
              </a:p>
            </p:txBody>
          </p:sp>
        </mc:Choice>
        <mc:Fallback xmlns="">
          <p:sp>
            <p:nvSpPr>
              <p:cNvPr id="2" name="Object 131">
                <a:extLst>
                  <a:ext uri="{FF2B5EF4-FFF2-40B4-BE49-F238E27FC236}">
                    <a16:creationId xmlns:a16="http://schemas.microsoft.com/office/drawing/2014/main" id="{42B8FEE3-71AD-5451-6717-F607ED597C22}"/>
                  </a:ext>
                </a:extLst>
              </p:cNvPr>
              <p:cNvSpPr txBox="1">
                <a:spLocks noRot="1" noChangeAspect="1" noMove="1" noResize="1" noEditPoints="1" noAdjustHandles="1" noChangeArrowheads="1" noChangeShapeType="1" noTextEdit="1"/>
              </p:cNvSpPr>
              <p:nvPr/>
            </p:nvSpPr>
            <p:spPr bwMode="auto">
              <a:xfrm>
                <a:off x="1853938" y="1534644"/>
                <a:ext cx="5270430" cy="162401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4492FADF-C84D-F09A-89A1-A9CB42B0DA5D}"/>
                  </a:ext>
                </a:extLst>
              </p:cNvPr>
              <p:cNvSpPr txBox="1">
                <a:spLocks/>
              </p:cNvSpPr>
              <p:nvPr/>
            </p:nvSpPr>
            <p:spPr>
              <a:xfrm>
                <a:off x="1070223" y="796928"/>
                <a:ext cx="9848354" cy="89011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这种情况下，其</a:t>
                </a:r>
                <a14:m>
                  <m:oMath xmlns:m="http://schemas.openxmlformats.org/officeDocument/2006/math">
                    <m:r>
                      <a:rPr lang="zh-CN" altLang="en-US" i="1" smtClean="0">
                        <a:latin typeface="Cambria Math" panose="02040503050406030204" pitchFamily="18" charset="0"/>
                        <a:ea typeface="华光仿宋_CNKI" panose="02000500000000000000" pitchFamily="2" charset="-122"/>
                      </a:rPr>
                      <m:t>𝛼</m:t>
                    </m:r>
                  </m:oMath>
                </a14:m>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p>
                      <m:sSupPr>
                        <m:ctrlPr>
                          <a:rPr lang="en-US" altLang="zh-CN" i="1" dirty="0" smtClean="0">
                            <a:latin typeface="Cambria Math" panose="02040503050406030204" pitchFamily="18" charset="0"/>
                            <a:ea typeface="华光仿宋_CNKI" panose="02000500000000000000" pitchFamily="2" charset="-122"/>
                          </a:rPr>
                        </m:ctrlPr>
                      </m:sSupPr>
                      <m:e>
                        <m:r>
                          <a:rPr lang="en-US" altLang="zh-CN" i="1" dirty="0">
                            <a:latin typeface="Cambria Math" panose="02040503050406030204" pitchFamily="18" charset="0"/>
                            <a:ea typeface="华光仿宋_CNKI" panose="02000500000000000000" pitchFamily="2" charset="-122"/>
                          </a:rPr>
                          <m:t>35.264</m:t>
                        </m:r>
                      </m:e>
                      <m:sup>
                        <m:r>
                          <a:rPr lang="en-US" altLang="zh-CN" i="1" dirty="0" smtClean="0">
                            <a:latin typeface="Cambria Math" panose="02040503050406030204" pitchFamily="18" charset="0"/>
                            <a:ea typeface="Cambria Math" panose="02040503050406030204" pitchFamily="18" charset="0"/>
                          </a:rPr>
                          <m:t>°</m:t>
                        </m:r>
                      </m:sup>
                    </m:sSup>
                  </m:oMath>
                </a14:m>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r>
                      <a:rPr lang="zh-CN" altLang="en-US" i="1">
                        <a:latin typeface="Cambria Math" panose="02040503050406030204" pitchFamily="18" charset="0"/>
                        <a:ea typeface="华光仿宋_CNKI" panose="02000500000000000000" pitchFamily="2" charset="-122"/>
                      </a:rPr>
                      <m:t>𝛽</m:t>
                    </m:r>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p>
                      <m:sSupPr>
                        <m:ctrlPr>
                          <a:rPr lang="en-US" altLang="zh-CN" i="1" dirty="0">
                            <a:latin typeface="Cambria Math" panose="02040503050406030204" pitchFamily="18" charset="0"/>
                            <a:ea typeface="华光仿宋_CNKI" panose="02000500000000000000" pitchFamily="2" charset="-122"/>
                          </a:rPr>
                        </m:ctrlPr>
                      </m:sSupPr>
                      <m:e>
                        <m:r>
                          <a:rPr lang="en-US" altLang="zh-CN" i="1" dirty="0" smtClean="0">
                            <a:latin typeface="Cambria Math" panose="02040503050406030204" pitchFamily="18" charset="0"/>
                            <a:ea typeface="华光仿宋_CNKI" panose="02000500000000000000" pitchFamily="2" charset="-122"/>
                          </a:rPr>
                          <m:t>45</m:t>
                        </m:r>
                      </m:e>
                      <m:sup>
                        <m:r>
                          <a:rPr lang="en-US" altLang="zh-CN" i="1" dirty="0">
                            <a:latin typeface="Cambria Math" panose="02040503050406030204" pitchFamily="18" charset="0"/>
                            <a:ea typeface="Cambria Math" panose="02040503050406030204" pitchFamily="18" charset="0"/>
                          </a:rPr>
                          <m:t>°</m:t>
                        </m:r>
                      </m:sup>
                    </m:sSup>
                  </m:oMath>
                </a14:m>
                <a:r>
                  <a:rPr lang="zh-CN" altLang="en-US" dirty="0">
                    <a:latin typeface="华光仿宋_CNKI" panose="02000500000000000000" pitchFamily="2" charset="-122"/>
                    <a:ea typeface="华光仿宋_CNKI" panose="02000500000000000000" pitchFamily="2" charset="-122"/>
                  </a:rPr>
                  <a:t>，对应的转换矩阵为：</a:t>
                </a:r>
                <a:r>
                  <a:rPr lang="en-US" altLang="zh-CN" dirty="0">
                    <a:latin typeface="华光仿宋_CNKI" panose="02000500000000000000" pitchFamily="2" charset="-122"/>
                    <a:ea typeface="华光仿宋_CNKI" panose="02000500000000000000" pitchFamily="2" charset="-122"/>
                  </a:rPr>
                  <a:t> </a:t>
                </a:r>
              </a:p>
            </p:txBody>
          </p:sp>
        </mc:Choice>
        <mc:Fallback xmlns="">
          <p:sp>
            <p:nvSpPr>
              <p:cNvPr id="7" name="内容占位符 2">
                <a:extLst>
                  <a:ext uri="{FF2B5EF4-FFF2-40B4-BE49-F238E27FC236}">
                    <a16:creationId xmlns:a16="http://schemas.microsoft.com/office/drawing/2014/main" id="{4492FADF-C84D-F09A-89A1-A9CB42B0DA5D}"/>
                  </a:ext>
                </a:extLst>
              </p:cNvPr>
              <p:cNvSpPr txBox="1">
                <a:spLocks noRot="1" noChangeAspect="1" noMove="1" noResize="1" noEditPoints="1" noAdjustHandles="1" noChangeArrowheads="1" noChangeShapeType="1" noTextEdit="1"/>
              </p:cNvSpPr>
              <p:nvPr/>
            </p:nvSpPr>
            <p:spPr>
              <a:xfrm>
                <a:off x="1070223" y="796928"/>
                <a:ext cx="9848354" cy="89011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0910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grpSp>
        <p:nvGrpSpPr>
          <p:cNvPr id="48" name="组合 47">
            <a:extLst>
              <a:ext uri="{FF2B5EF4-FFF2-40B4-BE49-F238E27FC236}">
                <a16:creationId xmlns:a16="http://schemas.microsoft.com/office/drawing/2014/main" id="{CFE1ED08-7525-7BCC-CDCD-ACE5BE03ED6D}"/>
              </a:ext>
            </a:extLst>
          </p:cNvPr>
          <p:cNvGrpSpPr/>
          <p:nvPr/>
        </p:nvGrpSpPr>
        <p:grpSpPr>
          <a:xfrm>
            <a:off x="6052481" y="1215468"/>
            <a:ext cx="5510938" cy="3441051"/>
            <a:chOff x="2996958" y="741334"/>
            <a:chExt cx="5510938" cy="3441051"/>
          </a:xfrm>
        </p:grpSpPr>
        <p:grpSp>
          <p:nvGrpSpPr>
            <p:cNvPr id="5" name="Group 32">
              <a:extLst>
                <a:ext uri="{FF2B5EF4-FFF2-40B4-BE49-F238E27FC236}">
                  <a16:creationId xmlns:a16="http://schemas.microsoft.com/office/drawing/2014/main" id="{888C2CB6-3025-148C-7BE0-7C87B003FA55}"/>
                </a:ext>
              </a:extLst>
            </p:cNvPr>
            <p:cNvGrpSpPr>
              <a:grpSpLocks/>
            </p:cNvGrpSpPr>
            <p:nvPr/>
          </p:nvGrpSpPr>
          <p:grpSpPr bwMode="auto">
            <a:xfrm>
              <a:off x="3283890" y="741334"/>
              <a:ext cx="5224006" cy="3441051"/>
              <a:chOff x="645" y="1520"/>
              <a:chExt cx="2128" cy="1328"/>
            </a:xfrm>
          </p:grpSpPr>
          <p:sp>
            <p:nvSpPr>
              <p:cNvPr id="6" name="Text Box 33">
                <a:extLst>
                  <a:ext uri="{FF2B5EF4-FFF2-40B4-BE49-F238E27FC236}">
                    <a16:creationId xmlns:a16="http://schemas.microsoft.com/office/drawing/2014/main" id="{4969B7B6-1C76-D930-F161-E1801E8247B7}"/>
                  </a:ext>
                </a:extLst>
              </p:cNvPr>
              <p:cNvSpPr txBox="1">
                <a:spLocks noChangeArrowheads="1"/>
              </p:cNvSpPr>
              <p:nvPr/>
            </p:nvSpPr>
            <p:spPr bwMode="auto">
              <a:xfrm>
                <a:off x="1373" y="2680"/>
                <a:ext cx="90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000" dirty="0">
                    <a:latin typeface="Times New Roman" panose="02020603050405020304" pitchFamily="18" charset="0"/>
                  </a:rPr>
                  <a:t>正方形正二轴测</a:t>
                </a:r>
              </a:p>
            </p:txBody>
          </p:sp>
          <p:sp>
            <p:nvSpPr>
              <p:cNvPr id="8" name="Line 34">
                <a:extLst>
                  <a:ext uri="{FF2B5EF4-FFF2-40B4-BE49-F238E27FC236}">
                    <a16:creationId xmlns:a16="http://schemas.microsoft.com/office/drawing/2014/main" id="{582A887E-F471-CDF2-2AEB-72343E9A4F18}"/>
                  </a:ext>
                </a:extLst>
              </p:cNvPr>
              <p:cNvSpPr>
                <a:spLocks noChangeShapeType="1"/>
              </p:cNvSpPr>
              <p:nvPr/>
            </p:nvSpPr>
            <p:spPr bwMode="auto">
              <a:xfrm>
                <a:off x="924" y="2087"/>
                <a:ext cx="6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9" name="Line 35">
                <a:extLst>
                  <a:ext uri="{FF2B5EF4-FFF2-40B4-BE49-F238E27FC236}">
                    <a16:creationId xmlns:a16="http://schemas.microsoft.com/office/drawing/2014/main" id="{F63913AA-94BE-2928-5580-AAA8CCAE218B}"/>
                  </a:ext>
                </a:extLst>
              </p:cNvPr>
              <p:cNvSpPr>
                <a:spLocks noChangeShapeType="1"/>
              </p:cNvSpPr>
              <p:nvPr/>
            </p:nvSpPr>
            <p:spPr bwMode="auto">
              <a:xfrm rot="7200000">
                <a:off x="1045" y="2331"/>
                <a:ext cx="6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0" name="Line 36">
                <a:extLst>
                  <a:ext uri="{FF2B5EF4-FFF2-40B4-BE49-F238E27FC236}">
                    <a16:creationId xmlns:a16="http://schemas.microsoft.com/office/drawing/2014/main" id="{F57CE985-990B-7648-2DD2-ACDE041972E1}"/>
                  </a:ext>
                </a:extLst>
              </p:cNvPr>
              <p:cNvSpPr>
                <a:spLocks noChangeShapeType="1"/>
              </p:cNvSpPr>
              <p:nvPr/>
            </p:nvSpPr>
            <p:spPr bwMode="auto">
              <a:xfrm>
                <a:off x="924" y="2073"/>
                <a:ext cx="6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1" name="Line 37">
                <a:extLst>
                  <a:ext uri="{FF2B5EF4-FFF2-40B4-BE49-F238E27FC236}">
                    <a16:creationId xmlns:a16="http://schemas.microsoft.com/office/drawing/2014/main" id="{BAD32705-6010-A913-DBE0-5E28FB585F62}"/>
                  </a:ext>
                </a:extLst>
              </p:cNvPr>
              <p:cNvSpPr>
                <a:spLocks noChangeShapeType="1"/>
              </p:cNvSpPr>
              <p:nvPr/>
            </p:nvSpPr>
            <p:spPr bwMode="auto">
              <a:xfrm rot="7200000">
                <a:off x="1023" y="2320"/>
                <a:ext cx="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2" name="Arc 38">
                <a:extLst>
                  <a:ext uri="{FF2B5EF4-FFF2-40B4-BE49-F238E27FC236}">
                    <a16:creationId xmlns:a16="http://schemas.microsoft.com/office/drawing/2014/main" id="{78C04472-318D-DADE-471F-434A2467CB1E}"/>
                  </a:ext>
                </a:extLst>
              </p:cNvPr>
              <p:cNvSpPr>
                <a:spLocks/>
              </p:cNvSpPr>
              <p:nvPr/>
            </p:nvSpPr>
            <p:spPr bwMode="auto">
              <a:xfrm rot="7200000">
                <a:off x="915" y="2243"/>
                <a:ext cx="63" cy="105"/>
              </a:xfrm>
              <a:custGeom>
                <a:avLst/>
                <a:gdLst>
                  <a:gd name="T0" fmla="*/ 0 w 21600"/>
                  <a:gd name="T1" fmla="*/ 0 h 21600"/>
                  <a:gd name="T2" fmla="*/ 63 w 21600"/>
                  <a:gd name="T3" fmla="*/ 105 h 21600"/>
                  <a:gd name="T4" fmla="*/ 0 w 21600"/>
                  <a:gd name="T5" fmla="*/ 10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13" name="Arc 39">
                <a:extLst>
                  <a:ext uri="{FF2B5EF4-FFF2-40B4-BE49-F238E27FC236}">
                    <a16:creationId xmlns:a16="http://schemas.microsoft.com/office/drawing/2014/main" id="{6AE7EB7C-685F-5C91-B07E-F49169FFE1BC}"/>
                  </a:ext>
                </a:extLst>
              </p:cNvPr>
              <p:cNvSpPr>
                <a:spLocks/>
              </p:cNvSpPr>
              <p:nvPr/>
            </p:nvSpPr>
            <p:spPr bwMode="auto">
              <a:xfrm rot="-7200000">
                <a:off x="887" y="2197"/>
                <a:ext cx="64" cy="105"/>
              </a:xfrm>
              <a:custGeom>
                <a:avLst/>
                <a:gdLst>
                  <a:gd name="T0" fmla="*/ 0 w 21600"/>
                  <a:gd name="T1" fmla="*/ 0 h 21600"/>
                  <a:gd name="T2" fmla="*/ 64 w 21600"/>
                  <a:gd name="T3" fmla="*/ 105 h 21600"/>
                  <a:gd name="T4" fmla="*/ 0 w 21600"/>
                  <a:gd name="T5" fmla="*/ 10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grpSp>
            <p:nvGrpSpPr>
              <p:cNvPr id="14" name="Group 40">
                <a:extLst>
                  <a:ext uri="{FF2B5EF4-FFF2-40B4-BE49-F238E27FC236}">
                    <a16:creationId xmlns:a16="http://schemas.microsoft.com/office/drawing/2014/main" id="{95FD2B24-2CA0-6974-5BF0-6CE9EFC32EF9}"/>
                  </a:ext>
                </a:extLst>
              </p:cNvPr>
              <p:cNvGrpSpPr>
                <a:grpSpLocks/>
              </p:cNvGrpSpPr>
              <p:nvPr/>
            </p:nvGrpSpPr>
            <p:grpSpPr bwMode="auto">
              <a:xfrm>
                <a:off x="1149" y="1893"/>
                <a:ext cx="413" cy="315"/>
                <a:chOff x="4244" y="9318"/>
                <a:chExt cx="1110" cy="840"/>
              </a:xfrm>
            </p:grpSpPr>
            <p:sp>
              <p:nvSpPr>
                <p:cNvPr id="39" name="Text Box 41">
                  <a:extLst>
                    <a:ext uri="{FF2B5EF4-FFF2-40B4-BE49-F238E27FC236}">
                      <a16:creationId xmlns:a16="http://schemas.microsoft.com/office/drawing/2014/main" id="{A2BB3C48-6FDC-738D-91B6-1031C09C7E86}"/>
                    </a:ext>
                  </a:extLst>
                </p:cNvPr>
                <p:cNvSpPr txBox="1">
                  <a:spLocks noChangeArrowheads="1"/>
                </p:cNvSpPr>
                <p:nvPr/>
              </p:nvSpPr>
              <p:spPr bwMode="auto">
                <a:xfrm>
                  <a:off x="4274" y="9318"/>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000" dirty="0">
                      <a:latin typeface="Times New Roman" panose="02020603050405020304" pitchFamily="18" charset="0"/>
                    </a:rPr>
                    <a:t>投影</a:t>
                  </a:r>
                </a:p>
                <a:p>
                  <a:pPr algn="just" eaLnBrk="1" hangingPunct="1"/>
                  <a:r>
                    <a:rPr kumimoji="1" lang="zh-CN" altLang="en-US" sz="2000" dirty="0">
                      <a:latin typeface="Times New Roman" panose="02020603050405020304" pitchFamily="18" charset="0"/>
                    </a:rPr>
                    <a:t>平面</a:t>
                  </a:r>
                </a:p>
              </p:txBody>
            </p:sp>
            <p:sp>
              <p:nvSpPr>
                <p:cNvPr id="40" name="Line 42">
                  <a:extLst>
                    <a:ext uri="{FF2B5EF4-FFF2-40B4-BE49-F238E27FC236}">
                      <a16:creationId xmlns:a16="http://schemas.microsoft.com/office/drawing/2014/main" id="{DF9AB852-BD01-554F-80FE-884AE5B0B3C7}"/>
                    </a:ext>
                  </a:extLst>
                </p:cNvPr>
                <p:cNvSpPr>
                  <a:spLocks noChangeShapeType="1"/>
                </p:cNvSpPr>
                <p:nvPr/>
              </p:nvSpPr>
              <p:spPr bwMode="auto">
                <a:xfrm flipH="1">
                  <a:off x="4244" y="9963"/>
                  <a:ext cx="280" cy="19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pSp>
          <p:grpSp>
            <p:nvGrpSpPr>
              <p:cNvPr id="15" name="Group 43">
                <a:extLst>
                  <a:ext uri="{FF2B5EF4-FFF2-40B4-BE49-F238E27FC236}">
                    <a16:creationId xmlns:a16="http://schemas.microsoft.com/office/drawing/2014/main" id="{83A38C0C-9948-EF6F-13D6-7EAEC71E18B2}"/>
                  </a:ext>
                </a:extLst>
              </p:cNvPr>
              <p:cNvGrpSpPr>
                <a:grpSpLocks/>
              </p:cNvGrpSpPr>
              <p:nvPr/>
            </p:nvGrpSpPr>
            <p:grpSpPr bwMode="auto">
              <a:xfrm>
                <a:off x="1752" y="1520"/>
                <a:ext cx="1021" cy="1019"/>
                <a:chOff x="5834" y="11547"/>
                <a:chExt cx="2745" cy="2718"/>
              </a:xfrm>
            </p:grpSpPr>
            <p:sp>
              <p:nvSpPr>
                <p:cNvPr id="23" name="Text Box 44">
                  <a:extLst>
                    <a:ext uri="{FF2B5EF4-FFF2-40B4-BE49-F238E27FC236}">
                      <a16:creationId xmlns:a16="http://schemas.microsoft.com/office/drawing/2014/main" id="{71D01AB0-F88A-B4BC-D355-AB068C9F0B50}"/>
                    </a:ext>
                  </a:extLst>
                </p:cNvPr>
                <p:cNvSpPr txBox="1">
                  <a:spLocks noChangeArrowheads="1"/>
                </p:cNvSpPr>
                <p:nvPr/>
              </p:nvSpPr>
              <p:spPr bwMode="auto">
                <a:xfrm>
                  <a:off x="6704" y="1154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000" dirty="0">
                      <a:latin typeface="Times New Roman" panose="02020603050405020304" pitchFamily="18" charset="0"/>
                    </a:rPr>
                    <a:t> y</a:t>
                  </a:r>
                </a:p>
              </p:txBody>
            </p:sp>
            <p:sp>
              <p:nvSpPr>
                <p:cNvPr id="24" name="Text Box 45">
                  <a:extLst>
                    <a:ext uri="{FF2B5EF4-FFF2-40B4-BE49-F238E27FC236}">
                      <a16:creationId xmlns:a16="http://schemas.microsoft.com/office/drawing/2014/main" id="{A8DDBFB3-9ED4-6675-2FE5-29813BCF2916}"/>
                    </a:ext>
                  </a:extLst>
                </p:cNvPr>
                <p:cNvSpPr txBox="1">
                  <a:spLocks noChangeArrowheads="1"/>
                </p:cNvSpPr>
                <p:nvPr/>
              </p:nvSpPr>
              <p:spPr bwMode="auto">
                <a:xfrm>
                  <a:off x="5834" y="1351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000" dirty="0">
                      <a:latin typeface="Times New Roman" panose="02020603050405020304" pitchFamily="18" charset="0"/>
                    </a:rPr>
                    <a:t> z</a:t>
                  </a:r>
                </a:p>
              </p:txBody>
            </p:sp>
            <p:sp>
              <p:nvSpPr>
                <p:cNvPr id="25" name="Text Box 46">
                  <a:extLst>
                    <a:ext uri="{FF2B5EF4-FFF2-40B4-BE49-F238E27FC236}">
                      <a16:creationId xmlns:a16="http://schemas.microsoft.com/office/drawing/2014/main" id="{A85F34F2-2CAB-E6A6-3877-18CD29AB266A}"/>
                    </a:ext>
                  </a:extLst>
                </p:cNvPr>
                <p:cNvSpPr txBox="1">
                  <a:spLocks noChangeArrowheads="1"/>
                </p:cNvSpPr>
                <p:nvPr/>
              </p:nvSpPr>
              <p:spPr bwMode="auto">
                <a:xfrm>
                  <a:off x="8039" y="13797"/>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000">
                      <a:latin typeface="Times New Roman" panose="02020603050405020304" pitchFamily="18" charset="0"/>
                    </a:rPr>
                    <a:t> x</a:t>
                  </a:r>
                </a:p>
              </p:txBody>
            </p:sp>
            <p:sp>
              <p:nvSpPr>
                <p:cNvPr id="26" name="Line 47">
                  <a:extLst>
                    <a:ext uri="{FF2B5EF4-FFF2-40B4-BE49-F238E27FC236}">
                      <a16:creationId xmlns:a16="http://schemas.microsoft.com/office/drawing/2014/main" id="{6E75F52C-3199-6BE4-662D-9BC9FCC01A39}"/>
                    </a:ext>
                  </a:extLst>
                </p:cNvPr>
                <p:cNvSpPr>
                  <a:spLocks noChangeShapeType="1"/>
                </p:cNvSpPr>
                <p:nvPr/>
              </p:nvSpPr>
              <p:spPr bwMode="auto">
                <a:xfrm flipV="1">
                  <a:off x="6478" y="12456"/>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27" name="Line 48">
                  <a:extLst>
                    <a:ext uri="{FF2B5EF4-FFF2-40B4-BE49-F238E27FC236}">
                      <a16:creationId xmlns:a16="http://schemas.microsoft.com/office/drawing/2014/main" id="{BD856BFF-0BC4-C11D-91AE-2D8AD7B975A3}"/>
                    </a:ext>
                  </a:extLst>
                </p:cNvPr>
                <p:cNvSpPr>
                  <a:spLocks noChangeAspect="1" noChangeShapeType="1"/>
                </p:cNvSpPr>
                <p:nvPr/>
              </p:nvSpPr>
              <p:spPr bwMode="auto">
                <a:xfrm rot="14400000" flipV="1">
                  <a:off x="6726" y="12014"/>
                  <a:ext cx="1" cy="567"/>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28" name="Line 49">
                  <a:extLst>
                    <a:ext uri="{FF2B5EF4-FFF2-40B4-BE49-F238E27FC236}">
                      <a16:creationId xmlns:a16="http://schemas.microsoft.com/office/drawing/2014/main" id="{C3FE7E59-57B2-8FD9-19C0-707F0C3129AE}"/>
                    </a:ext>
                  </a:extLst>
                </p:cNvPr>
                <p:cNvSpPr>
                  <a:spLocks noChangeShapeType="1"/>
                </p:cNvSpPr>
                <p:nvPr/>
              </p:nvSpPr>
              <p:spPr bwMode="auto">
                <a:xfrm flipV="1">
                  <a:off x="7468" y="13002"/>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29" name="Line 50">
                  <a:extLst>
                    <a:ext uri="{FF2B5EF4-FFF2-40B4-BE49-F238E27FC236}">
                      <a16:creationId xmlns:a16="http://schemas.microsoft.com/office/drawing/2014/main" id="{26B59784-039B-9046-1CFF-D0C91084EB18}"/>
                    </a:ext>
                  </a:extLst>
                </p:cNvPr>
                <p:cNvSpPr>
                  <a:spLocks noChangeShapeType="1"/>
                </p:cNvSpPr>
                <p:nvPr/>
              </p:nvSpPr>
              <p:spPr bwMode="auto">
                <a:xfrm flipV="1">
                  <a:off x="7963" y="12711"/>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30" name="Line 51">
                  <a:extLst>
                    <a:ext uri="{FF2B5EF4-FFF2-40B4-BE49-F238E27FC236}">
                      <a16:creationId xmlns:a16="http://schemas.microsoft.com/office/drawing/2014/main" id="{988BF890-123F-D083-11FF-A976F64019CD}"/>
                    </a:ext>
                  </a:extLst>
                </p:cNvPr>
                <p:cNvSpPr>
                  <a:spLocks noChangeAspect="1" noChangeShapeType="1"/>
                </p:cNvSpPr>
                <p:nvPr/>
              </p:nvSpPr>
              <p:spPr bwMode="auto">
                <a:xfrm rot="14400000" flipV="1">
                  <a:off x="7716" y="13699"/>
                  <a:ext cx="1" cy="567"/>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31" name="Line 52">
                  <a:extLst>
                    <a:ext uri="{FF2B5EF4-FFF2-40B4-BE49-F238E27FC236}">
                      <a16:creationId xmlns:a16="http://schemas.microsoft.com/office/drawing/2014/main" id="{25A0FE0F-DF3C-46EB-6C2C-18DF8C6AE1F0}"/>
                    </a:ext>
                  </a:extLst>
                </p:cNvPr>
                <p:cNvSpPr>
                  <a:spLocks noChangeAspect="1" noChangeShapeType="1"/>
                </p:cNvSpPr>
                <p:nvPr/>
              </p:nvSpPr>
              <p:spPr bwMode="auto">
                <a:xfrm rot="14400000" flipV="1">
                  <a:off x="7701" y="12593"/>
                  <a:ext cx="1" cy="567"/>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32" name="Line 53">
                  <a:extLst>
                    <a:ext uri="{FF2B5EF4-FFF2-40B4-BE49-F238E27FC236}">
                      <a16:creationId xmlns:a16="http://schemas.microsoft.com/office/drawing/2014/main" id="{A7822261-68FC-F3DD-5164-A74B871F7538}"/>
                    </a:ext>
                  </a:extLst>
                </p:cNvPr>
                <p:cNvSpPr>
                  <a:spLocks noChangeShapeType="1"/>
                </p:cNvSpPr>
                <p:nvPr/>
              </p:nvSpPr>
              <p:spPr bwMode="auto">
                <a:xfrm rot="18000000" flipV="1">
                  <a:off x="7471" y="11872"/>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33" name="Line 54">
                  <a:extLst>
                    <a:ext uri="{FF2B5EF4-FFF2-40B4-BE49-F238E27FC236}">
                      <a16:creationId xmlns:a16="http://schemas.microsoft.com/office/drawing/2014/main" id="{5D97FFB9-C1E1-194A-0D45-592C30120C50}"/>
                    </a:ext>
                  </a:extLst>
                </p:cNvPr>
                <p:cNvSpPr>
                  <a:spLocks noChangeShapeType="1"/>
                </p:cNvSpPr>
                <p:nvPr/>
              </p:nvSpPr>
              <p:spPr bwMode="auto">
                <a:xfrm rot="18000000" flipV="1">
                  <a:off x="6976" y="12162"/>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sp>
              <p:nvSpPr>
                <p:cNvPr id="34" name="Line 55">
                  <a:extLst>
                    <a:ext uri="{FF2B5EF4-FFF2-40B4-BE49-F238E27FC236}">
                      <a16:creationId xmlns:a16="http://schemas.microsoft.com/office/drawing/2014/main" id="{771B4CBB-263B-141E-3A34-05283F97460A}"/>
                    </a:ext>
                  </a:extLst>
                </p:cNvPr>
                <p:cNvSpPr>
                  <a:spLocks noChangeShapeType="1"/>
                </p:cNvSpPr>
                <p:nvPr/>
              </p:nvSpPr>
              <p:spPr bwMode="auto">
                <a:xfrm rot="18000000" flipV="1">
                  <a:off x="6976" y="13290"/>
                  <a:ext cx="1" cy="1134"/>
                </a:xfrm>
                <a:prstGeom prst="line">
                  <a:avLst/>
                </a:prstGeom>
                <a:noFill/>
                <a:ln w="952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sz="2000"/>
                </a:p>
              </p:txBody>
            </p:sp>
            <p:grpSp>
              <p:nvGrpSpPr>
                <p:cNvPr id="35" name="Group 56">
                  <a:extLst>
                    <a:ext uri="{FF2B5EF4-FFF2-40B4-BE49-F238E27FC236}">
                      <a16:creationId xmlns:a16="http://schemas.microsoft.com/office/drawing/2014/main" id="{FE0134B4-68AC-AF80-6A2D-0DE5816AD224}"/>
                    </a:ext>
                  </a:extLst>
                </p:cNvPr>
                <p:cNvGrpSpPr>
                  <a:grpSpLocks/>
                </p:cNvGrpSpPr>
                <p:nvPr/>
              </p:nvGrpSpPr>
              <p:grpSpPr bwMode="auto">
                <a:xfrm>
                  <a:off x="6182" y="11910"/>
                  <a:ext cx="2121" cy="1735"/>
                  <a:chOff x="6182" y="11910"/>
                  <a:chExt cx="2121" cy="1735"/>
                </a:xfrm>
              </p:grpSpPr>
              <p:sp>
                <p:nvSpPr>
                  <p:cNvPr id="36" name="Line 57">
                    <a:extLst>
                      <a:ext uri="{FF2B5EF4-FFF2-40B4-BE49-F238E27FC236}">
                        <a16:creationId xmlns:a16="http://schemas.microsoft.com/office/drawing/2014/main" id="{A3B36B3E-72ED-0C3E-FB81-9863F0E9867A}"/>
                      </a:ext>
                    </a:extLst>
                  </p:cNvPr>
                  <p:cNvSpPr>
                    <a:spLocks noChangeShapeType="1"/>
                  </p:cNvSpPr>
                  <p:nvPr/>
                </p:nvSpPr>
                <p:spPr bwMode="auto">
                  <a:xfrm rot="7200000" flipV="1">
                    <a:off x="7600" y="12942"/>
                    <a:ext cx="2"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sz="2000"/>
                  </a:p>
                </p:txBody>
              </p:sp>
              <p:sp>
                <p:nvSpPr>
                  <p:cNvPr id="37" name="Line 58">
                    <a:extLst>
                      <a:ext uri="{FF2B5EF4-FFF2-40B4-BE49-F238E27FC236}">
                        <a16:creationId xmlns:a16="http://schemas.microsoft.com/office/drawing/2014/main" id="{5AA7E909-BD03-E3D1-610C-34249D71ED14}"/>
                      </a:ext>
                    </a:extLst>
                  </p:cNvPr>
                  <p:cNvSpPr>
                    <a:spLocks noChangeAspect="1" noChangeShapeType="1"/>
                  </p:cNvSpPr>
                  <p:nvPr/>
                </p:nvSpPr>
                <p:spPr bwMode="auto">
                  <a:xfrm rot="14400000" flipV="1">
                    <a:off x="6606" y="13091"/>
                    <a:ext cx="2" cy="85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sz="2000"/>
                  </a:p>
                </p:txBody>
              </p:sp>
              <p:sp>
                <p:nvSpPr>
                  <p:cNvPr id="38" name="Line 59">
                    <a:extLst>
                      <a:ext uri="{FF2B5EF4-FFF2-40B4-BE49-F238E27FC236}">
                        <a16:creationId xmlns:a16="http://schemas.microsoft.com/office/drawing/2014/main" id="{FA17BA0B-53C4-9384-BC8C-BE250E137F55}"/>
                      </a:ext>
                    </a:extLst>
                  </p:cNvPr>
                  <p:cNvSpPr>
                    <a:spLocks noChangeShapeType="1"/>
                  </p:cNvSpPr>
                  <p:nvPr/>
                </p:nvSpPr>
                <p:spPr bwMode="auto">
                  <a:xfrm flipV="1">
                    <a:off x="7003" y="11910"/>
                    <a:ext cx="1"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sz="2000"/>
                  </a:p>
                </p:txBody>
              </p:sp>
            </p:grpSp>
          </p:grpSp>
          <p:grpSp>
            <p:nvGrpSpPr>
              <p:cNvPr id="16" name="Group 60">
                <a:extLst>
                  <a:ext uri="{FF2B5EF4-FFF2-40B4-BE49-F238E27FC236}">
                    <a16:creationId xmlns:a16="http://schemas.microsoft.com/office/drawing/2014/main" id="{E2A1E7BE-3E9F-FDAB-D242-BC8350B9D5AA}"/>
                  </a:ext>
                </a:extLst>
              </p:cNvPr>
              <p:cNvGrpSpPr>
                <a:grpSpLocks/>
              </p:cNvGrpSpPr>
              <p:nvPr/>
            </p:nvGrpSpPr>
            <p:grpSpPr bwMode="auto">
              <a:xfrm>
                <a:off x="645" y="1745"/>
                <a:ext cx="789" cy="651"/>
                <a:chOff x="6182" y="11910"/>
                <a:chExt cx="2121" cy="1735"/>
              </a:xfrm>
            </p:grpSpPr>
            <p:sp>
              <p:nvSpPr>
                <p:cNvPr id="20" name="Line 61">
                  <a:extLst>
                    <a:ext uri="{FF2B5EF4-FFF2-40B4-BE49-F238E27FC236}">
                      <a16:creationId xmlns:a16="http://schemas.microsoft.com/office/drawing/2014/main" id="{93371EFE-8F3F-5CD4-FD49-223E9FCAB7D9}"/>
                    </a:ext>
                  </a:extLst>
                </p:cNvPr>
                <p:cNvSpPr>
                  <a:spLocks noChangeShapeType="1"/>
                </p:cNvSpPr>
                <p:nvPr/>
              </p:nvSpPr>
              <p:spPr bwMode="auto">
                <a:xfrm rot="7200000" flipV="1">
                  <a:off x="7600" y="12942"/>
                  <a:ext cx="2"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sz="2000"/>
                </a:p>
              </p:txBody>
            </p:sp>
            <p:sp>
              <p:nvSpPr>
                <p:cNvPr id="21" name="Line 62">
                  <a:extLst>
                    <a:ext uri="{FF2B5EF4-FFF2-40B4-BE49-F238E27FC236}">
                      <a16:creationId xmlns:a16="http://schemas.microsoft.com/office/drawing/2014/main" id="{4D879355-9A5C-02D7-3F59-62FDA508DEDA}"/>
                    </a:ext>
                  </a:extLst>
                </p:cNvPr>
                <p:cNvSpPr>
                  <a:spLocks noChangeAspect="1" noChangeShapeType="1"/>
                </p:cNvSpPr>
                <p:nvPr/>
              </p:nvSpPr>
              <p:spPr bwMode="auto">
                <a:xfrm rot="14400000" flipV="1">
                  <a:off x="6606" y="13091"/>
                  <a:ext cx="2" cy="85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sz="2000"/>
                </a:p>
              </p:txBody>
            </p:sp>
            <p:sp>
              <p:nvSpPr>
                <p:cNvPr id="22" name="Line 63">
                  <a:extLst>
                    <a:ext uri="{FF2B5EF4-FFF2-40B4-BE49-F238E27FC236}">
                      <a16:creationId xmlns:a16="http://schemas.microsoft.com/office/drawing/2014/main" id="{42D11AD3-0590-A7FF-0BC2-E9C3CC7D91B3}"/>
                    </a:ext>
                  </a:extLst>
                </p:cNvPr>
                <p:cNvSpPr>
                  <a:spLocks noChangeShapeType="1"/>
                </p:cNvSpPr>
                <p:nvPr/>
              </p:nvSpPr>
              <p:spPr bwMode="auto">
                <a:xfrm flipV="1">
                  <a:off x="7003" y="11910"/>
                  <a:ext cx="1" cy="1404"/>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sz="2000"/>
                </a:p>
              </p:txBody>
            </p:sp>
          </p:grpSp>
          <p:sp>
            <p:nvSpPr>
              <p:cNvPr id="17" name="Line 64">
                <a:extLst>
                  <a:ext uri="{FF2B5EF4-FFF2-40B4-BE49-F238E27FC236}">
                    <a16:creationId xmlns:a16="http://schemas.microsoft.com/office/drawing/2014/main" id="{DF79445F-EF1F-E88D-EC18-97C9B9ED6083}"/>
                  </a:ext>
                </a:extLst>
              </p:cNvPr>
              <p:cNvSpPr>
                <a:spLocks noChangeShapeType="1"/>
              </p:cNvSpPr>
              <p:nvPr/>
            </p:nvSpPr>
            <p:spPr bwMode="auto">
              <a:xfrm rot="180000">
                <a:off x="937" y="1836"/>
                <a:ext cx="401" cy="6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8" name="Line 65">
                <a:extLst>
                  <a:ext uri="{FF2B5EF4-FFF2-40B4-BE49-F238E27FC236}">
                    <a16:creationId xmlns:a16="http://schemas.microsoft.com/office/drawing/2014/main" id="{6E406500-B328-9FAC-BDE9-2683C7A73FBE}"/>
                  </a:ext>
                </a:extLst>
              </p:cNvPr>
              <p:cNvSpPr>
                <a:spLocks noChangeShapeType="1"/>
              </p:cNvSpPr>
              <p:nvPr/>
            </p:nvSpPr>
            <p:spPr bwMode="auto">
              <a:xfrm flipH="1">
                <a:off x="748" y="1842"/>
                <a:ext cx="201" cy="5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9" name="Line 66">
                <a:extLst>
                  <a:ext uri="{FF2B5EF4-FFF2-40B4-BE49-F238E27FC236}">
                    <a16:creationId xmlns:a16="http://schemas.microsoft.com/office/drawing/2014/main" id="{EE3F1265-9EBE-EA46-2EA8-84E8946F6841}"/>
                  </a:ext>
                </a:extLst>
              </p:cNvPr>
              <p:cNvSpPr>
                <a:spLocks noChangeShapeType="1"/>
              </p:cNvSpPr>
              <p:nvPr/>
            </p:nvSpPr>
            <p:spPr bwMode="auto">
              <a:xfrm>
                <a:off x="742" y="2380"/>
                <a:ext cx="57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grpSp>
        <p:sp>
          <p:nvSpPr>
            <p:cNvPr id="43" name="Text Box 46">
              <a:extLst>
                <a:ext uri="{FF2B5EF4-FFF2-40B4-BE49-F238E27FC236}">
                  <a16:creationId xmlns:a16="http://schemas.microsoft.com/office/drawing/2014/main" id="{65673529-1B4F-D197-178E-0DF5BB671001}"/>
                </a:ext>
              </a:extLst>
            </p:cNvPr>
            <p:cNvSpPr txBox="1">
              <a:spLocks noChangeArrowheads="1"/>
            </p:cNvSpPr>
            <p:nvPr/>
          </p:nvSpPr>
          <p:spPr bwMode="auto">
            <a:xfrm>
              <a:off x="4781179" y="3292292"/>
              <a:ext cx="493071" cy="45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000" dirty="0">
                  <a:latin typeface="Times New Roman" panose="02020603050405020304" pitchFamily="18" charset="0"/>
                </a:rPr>
                <a:t> x</a:t>
              </a:r>
            </a:p>
          </p:txBody>
        </p:sp>
        <p:sp>
          <p:nvSpPr>
            <p:cNvPr id="44" name="Text Box 44">
              <a:extLst>
                <a:ext uri="{FF2B5EF4-FFF2-40B4-BE49-F238E27FC236}">
                  <a16:creationId xmlns:a16="http://schemas.microsoft.com/office/drawing/2014/main" id="{11596C15-EA42-855B-F55F-602162C756ED}"/>
                </a:ext>
              </a:extLst>
            </p:cNvPr>
            <p:cNvSpPr txBox="1">
              <a:spLocks noChangeArrowheads="1"/>
            </p:cNvSpPr>
            <p:nvPr/>
          </p:nvSpPr>
          <p:spPr bwMode="auto">
            <a:xfrm>
              <a:off x="3955061" y="1013365"/>
              <a:ext cx="493071" cy="45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000" dirty="0">
                  <a:latin typeface="Times New Roman" panose="02020603050405020304" pitchFamily="18" charset="0"/>
                </a:rPr>
                <a:t> y</a:t>
              </a:r>
            </a:p>
          </p:txBody>
        </p:sp>
        <p:sp>
          <p:nvSpPr>
            <p:cNvPr id="45" name="Text Box 45">
              <a:extLst>
                <a:ext uri="{FF2B5EF4-FFF2-40B4-BE49-F238E27FC236}">
                  <a16:creationId xmlns:a16="http://schemas.microsoft.com/office/drawing/2014/main" id="{C3A134CB-0319-944F-AD51-A02C986CB459}"/>
                </a:ext>
              </a:extLst>
            </p:cNvPr>
            <p:cNvSpPr txBox="1">
              <a:spLocks noChangeArrowheads="1"/>
            </p:cNvSpPr>
            <p:nvPr/>
          </p:nvSpPr>
          <p:spPr bwMode="auto">
            <a:xfrm>
              <a:off x="2996958" y="2866782"/>
              <a:ext cx="493071" cy="45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000" dirty="0">
                  <a:latin typeface="Times New Roman" panose="02020603050405020304" pitchFamily="18" charset="0"/>
                </a:rPr>
                <a:t> z</a:t>
              </a:r>
            </a:p>
          </p:txBody>
        </p:sp>
      </p:grpSp>
      <mc:AlternateContent xmlns:mc="http://schemas.openxmlformats.org/markup-compatibility/2006" xmlns:a14="http://schemas.microsoft.com/office/drawing/2010/main">
        <mc:Choice Requires="a14">
          <p:sp>
            <p:nvSpPr>
              <p:cNvPr id="46" name="内容占位符 2">
                <a:extLst>
                  <a:ext uri="{FF2B5EF4-FFF2-40B4-BE49-F238E27FC236}">
                    <a16:creationId xmlns:a16="http://schemas.microsoft.com/office/drawing/2014/main" id="{B8D596C3-A53E-09CC-5B4C-D5458E9C9E1E}"/>
                  </a:ext>
                </a:extLst>
              </p:cNvPr>
              <p:cNvSpPr txBox="1">
                <a:spLocks/>
              </p:cNvSpPr>
              <p:nvPr/>
            </p:nvSpPr>
            <p:spPr>
              <a:xfrm>
                <a:off x="1086237" y="4792191"/>
                <a:ext cx="10609374" cy="127648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对于正三轴测投影，在</a:t>
                </a:r>
                <a14:m>
                  <m:oMath xmlns:m="http://schemas.openxmlformats.org/officeDocument/2006/math">
                    <m:r>
                      <a:rPr lang="zh-CN" altLang="en-US" i="1" smtClean="0">
                        <a:latin typeface="Cambria Math" panose="02040503050406030204" pitchFamily="18" charset="0"/>
                        <a:ea typeface="华光仿宋_CNKI" panose="02000500000000000000" pitchFamily="2" charset="-122"/>
                      </a:rPr>
                      <m:t>𝛼</m:t>
                    </m:r>
                    <m:r>
                      <a:rPr lang="zh-CN" altLang="en-US" i="1">
                        <a:latin typeface="Cambria Math" panose="02040503050406030204" pitchFamily="18" charset="0"/>
                        <a:ea typeface="华光仿宋_CNKI" panose="02000500000000000000" pitchFamily="2" charset="-122"/>
                      </a:rPr>
                      <m:t>或</m:t>
                    </m:r>
                    <m:r>
                      <a:rPr lang="zh-CN" altLang="en-US" i="1">
                        <a:latin typeface="Cambria Math" panose="02040503050406030204" pitchFamily="18" charset="0"/>
                        <a:ea typeface="华光仿宋_CNKI" panose="02000500000000000000" pitchFamily="2" charset="-122"/>
                      </a:rPr>
                      <m:t>𝛽</m:t>
                    </m:r>
                  </m:oMath>
                </a14:m>
                <a:r>
                  <a:rPr lang="zh-CN" altLang="en-US" dirty="0">
                    <a:latin typeface="华光仿宋_CNKI" panose="02000500000000000000" pitchFamily="2" charset="-122"/>
                    <a:ea typeface="华光仿宋_CNKI" panose="02000500000000000000" pitchFamily="2" charset="-122"/>
                  </a:rPr>
                  <a:t>为</a:t>
                </a:r>
                <a:r>
                  <a:rPr lang="en-US" altLang="zh-CN" dirty="0">
                    <a:latin typeface="华光仿宋_CNKI" panose="02000500000000000000" pitchFamily="2" charset="-122"/>
                    <a:ea typeface="华光仿宋_CNKI" panose="02000500000000000000" pitchFamily="2" charset="-122"/>
                  </a:rPr>
                  <a:t>90</a:t>
                </a:r>
                <a:r>
                  <a:rPr lang="zh-CN" altLang="en-US" dirty="0">
                    <a:latin typeface="华光仿宋_CNKI" panose="02000500000000000000" pitchFamily="2" charset="-122"/>
                    <a:ea typeface="华光仿宋_CNKI" panose="02000500000000000000" pitchFamily="2" charset="-122"/>
                  </a:rPr>
                  <a:t>度时为三视图，其他情况下无法确定其角度。</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46" name="内容占位符 2">
                <a:extLst>
                  <a:ext uri="{FF2B5EF4-FFF2-40B4-BE49-F238E27FC236}">
                    <a16:creationId xmlns:a16="http://schemas.microsoft.com/office/drawing/2014/main" id="{B8D596C3-A53E-09CC-5B4C-D5458E9C9E1E}"/>
                  </a:ext>
                </a:extLst>
              </p:cNvPr>
              <p:cNvSpPr txBox="1">
                <a:spLocks noRot="1" noChangeAspect="1" noMove="1" noResize="1" noEditPoints="1" noAdjustHandles="1" noChangeArrowheads="1" noChangeShapeType="1" noTextEdit="1"/>
              </p:cNvSpPr>
              <p:nvPr/>
            </p:nvSpPr>
            <p:spPr>
              <a:xfrm>
                <a:off x="1086237" y="4792191"/>
                <a:ext cx="10609374" cy="1276484"/>
              </a:xfrm>
              <a:prstGeom prst="rect">
                <a:avLst/>
              </a:prstGeom>
              <a:blipFill>
                <a:blip r:embed="rId2"/>
                <a:stretch>
                  <a:fillRect l="-1149"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Object 131">
                <a:extLst>
                  <a:ext uri="{FF2B5EF4-FFF2-40B4-BE49-F238E27FC236}">
                    <a16:creationId xmlns:a16="http://schemas.microsoft.com/office/drawing/2014/main" id="{1E7C452D-777E-966B-18A5-5BEDAB539C91}"/>
                  </a:ext>
                </a:extLst>
              </p:cNvPr>
              <p:cNvSpPr txBox="1"/>
              <p:nvPr/>
            </p:nvSpPr>
            <p:spPr bwMode="auto">
              <a:xfrm>
                <a:off x="1223679" y="2493142"/>
                <a:ext cx="5270430" cy="162401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smtClean="0">
                          <a:solidFill>
                            <a:srgbClr val="000000"/>
                          </a:solidFill>
                          <a:latin typeface="Cambria Math" panose="02040503050406030204" pitchFamily="18" charset="0"/>
                        </a:rPr>
                        <m:t>𝑇</m:t>
                      </m:r>
                      <m:r>
                        <a:rPr lang="zh-CN" altLang="en-US" sz="2400" i="1" smtClean="0">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926</m:t>
                                </m:r>
                              </m:e>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134</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935</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378</m:t>
                                </m:r>
                              </m:e>
                              <m:e>
                                <m:r>
                                  <a:rPr lang="zh-CN" altLang="en-US"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327</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mr>
                          </m:m>
                        </m:e>
                      </m:d>
                    </m:oMath>
                  </m:oMathPara>
                </a14:m>
                <a:endParaRPr lang="zh-CN" altLang="en-US" sz="2400" dirty="0"/>
              </a:p>
            </p:txBody>
          </p:sp>
        </mc:Choice>
        <mc:Fallback xmlns="">
          <p:sp>
            <p:nvSpPr>
              <p:cNvPr id="47" name="Object 131">
                <a:extLst>
                  <a:ext uri="{FF2B5EF4-FFF2-40B4-BE49-F238E27FC236}">
                    <a16:creationId xmlns:a16="http://schemas.microsoft.com/office/drawing/2014/main" id="{1E7C452D-777E-966B-18A5-5BEDAB539C91}"/>
                  </a:ext>
                </a:extLst>
              </p:cNvPr>
              <p:cNvSpPr txBox="1">
                <a:spLocks noRot="1" noChangeAspect="1" noMove="1" noResize="1" noEditPoints="1" noAdjustHandles="1" noChangeArrowheads="1" noChangeShapeType="1" noTextEdit="1"/>
              </p:cNvSpPr>
              <p:nvPr/>
            </p:nvSpPr>
            <p:spPr bwMode="auto">
              <a:xfrm>
                <a:off x="1223679" y="2493142"/>
                <a:ext cx="5270430" cy="162401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内容占位符 2">
                <a:extLst>
                  <a:ext uri="{FF2B5EF4-FFF2-40B4-BE49-F238E27FC236}">
                    <a16:creationId xmlns:a16="http://schemas.microsoft.com/office/drawing/2014/main" id="{A8D4E8CC-63F2-E189-09AE-3C64F437E19F}"/>
                  </a:ext>
                </a:extLst>
              </p:cNvPr>
              <p:cNvSpPr txBox="1">
                <a:spLocks/>
              </p:cNvSpPr>
              <p:nvPr/>
            </p:nvSpPr>
            <p:spPr>
              <a:xfrm>
                <a:off x="1129756" y="705101"/>
                <a:ext cx="9848354" cy="89011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这种情况下，其</a:t>
                </a:r>
                <a14:m>
                  <m:oMath xmlns:m="http://schemas.openxmlformats.org/officeDocument/2006/math">
                    <m:r>
                      <a:rPr lang="zh-CN" altLang="en-US" i="1" smtClean="0">
                        <a:latin typeface="Cambria Math" panose="02040503050406030204" pitchFamily="18" charset="0"/>
                        <a:ea typeface="华光仿宋_CNKI" panose="02000500000000000000" pitchFamily="2" charset="-122"/>
                      </a:rPr>
                      <m:t>𝛼</m:t>
                    </m:r>
                  </m:oMath>
                </a14:m>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p>
                      <m:sSupPr>
                        <m:ctrlPr>
                          <a:rPr lang="en-US" altLang="zh-CN" i="1" dirty="0" smtClean="0">
                            <a:latin typeface="Cambria Math" panose="02040503050406030204" pitchFamily="18" charset="0"/>
                            <a:ea typeface="华光仿宋_CNKI" panose="02000500000000000000" pitchFamily="2" charset="-122"/>
                          </a:rPr>
                        </m:ctrlPr>
                      </m:sSupPr>
                      <m:e>
                        <m:r>
                          <a:rPr lang="en-US" altLang="zh-CN" b="0" i="1" dirty="0" smtClean="0">
                            <a:latin typeface="Cambria Math" panose="02040503050406030204" pitchFamily="18" charset="0"/>
                            <a:ea typeface="华光仿宋_CNKI" panose="02000500000000000000" pitchFamily="2" charset="-122"/>
                          </a:rPr>
                          <m:t>20</m:t>
                        </m:r>
                        <m:r>
                          <a:rPr lang="en-US" altLang="zh-CN" i="1" dirty="0">
                            <a:latin typeface="Cambria Math" panose="02040503050406030204" pitchFamily="18" charset="0"/>
                            <a:ea typeface="华光仿宋_CNKI" panose="02000500000000000000" pitchFamily="2" charset="-122"/>
                          </a:rPr>
                          <m:t>.</m:t>
                        </m:r>
                        <m:r>
                          <a:rPr lang="en-US" altLang="zh-CN" b="0" i="1" dirty="0" smtClean="0">
                            <a:latin typeface="Cambria Math" panose="02040503050406030204" pitchFamily="18" charset="0"/>
                            <a:ea typeface="华光仿宋_CNKI" panose="02000500000000000000" pitchFamily="2" charset="-122"/>
                          </a:rPr>
                          <m:t>705</m:t>
                        </m:r>
                      </m:e>
                      <m:sup>
                        <m:r>
                          <a:rPr lang="en-US" altLang="zh-CN" i="1" dirty="0" smtClean="0">
                            <a:latin typeface="Cambria Math" panose="02040503050406030204" pitchFamily="18" charset="0"/>
                            <a:ea typeface="Cambria Math" panose="02040503050406030204" pitchFamily="18" charset="0"/>
                          </a:rPr>
                          <m:t>°</m:t>
                        </m:r>
                      </m:sup>
                    </m:sSup>
                  </m:oMath>
                </a14:m>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r>
                      <a:rPr lang="zh-CN" altLang="en-US" i="1">
                        <a:latin typeface="Cambria Math" panose="02040503050406030204" pitchFamily="18" charset="0"/>
                        <a:ea typeface="华光仿宋_CNKI" panose="02000500000000000000" pitchFamily="2" charset="-122"/>
                      </a:rPr>
                      <m:t>𝛽</m:t>
                    </m:r>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p>
                      <m:sSupPr>
                        <m:ctrlPr>
                          <a:rPr lang="en-US" altLang="zh-CN" i="1" dirty="0">
                            <a:latin typeface="Cambria Math" panose="02040503050406030204" pitchFamily="18" charset="0"/>
                            <a:ea typeface="华光仿宋_CNKI" panose="02000500000000000000" pitchFamily="2" charset="-122"/>
                          </a:rPr>
                        </m:ctrlPr>
                      </m:sSupPr>
                      <m:e>
                        <m:r>
                          <a:rPr lang="en-US" altLang="zh-CN" b="0" i="1" dirty="0" smtClean="0">
                            <a:latin typeface="Cambria Math" panose="02040503050406030204" pitchFamily="18" charset="0"/>
                            <a:ea typeface="华光仿宋_CNKI" panose="02000500000000000000" pitchFamily="2" charset="-122"/>
                          </a:rPr>
                          <m:t>22</m:t>
                        </m:r>
                        <m:r>
                          <a:rPr lang="en-US" altLang="zh-CN" i="1" dirty="0">
                            <a:latin typeface="Cambria Math" panose="02040503050406030204" pitchFamily="18" charset="0"/>
                            <a:ea typeface="华光仿宋_CNKI" panose="02000500000000000000" pitchFamily="2" charset="-122"/>
                          </a:rPr>
                          <m:t>.</m:t>
                        </m:r>
                        <m:r>
                          <a:rPr lang="en-US" altLang="zh-CN" b="0" i="1" dirty="0" smtClean="0">
                            <a:latin typeface="Cambria Math" panose="02040503050406030204" pitchFamily="18" charset="0"/>
                            <a:ea typeface="华光仿宋_CNKI" panose="02000500000000000000" pitchFamily="2" charset="-122"/>
                          </a:rPr>
                          <m:t>208</m:t>
                        </m:r>
                      </m:e>
                      <m:sup>
                        <m:r>
                          <a:rPr lang="en-US" altLang="zh-CN" i="1" dirty="0">
                            <a:latin typeface="Cambria Math" panose="02040503050406030204" pitchFamily="18" charset="0"/>
                            <a:ea typeface="Cambria Math" panose="02040503050406030204" pitchFamily="18" charset="0"/>
                          </a:rPr>
                          <m:t>°</m:t>
                        </m:r>
                      </m:sup>
                    </m:sSup>
                  </m:oMath>
                </a14:m>
                <a:r>
                  <a:rPr lang="zh-CN" altLang="en-US" dirty="0">
                    <a:latin typeface="华光仿宋_CNKI" panose="02000500000000000000" pitchFamily="2" charset="-122"/>
                    <a:ea typeface="华光仿宋_CNKI" panose="02000500000000000000" pitchFamily="2" charset="-122"/>
                  </a:rPr>
                  <a:t>，对应的转换矩阵为：</a:t>
                </a:r>
                <a:r>
                  <a:rPr lang="en-US" altLang="zh-CN" dirty="0">
                    <a:latin typeface="华光仿宋_CNKI" panose="02000500000000000000" pitchFamily="2" charset="-122"/>
                    <a:ea typeface="华光仿宋_CNKI" panose="02000500000000000000" pitchFamily="2" charset="-122"/>
                  </a:rPr>
                  <a:t> </a:t>
                </a:r>
              </a:p>
            </p:txBody>
          </p:sp>
        </mc:Choice>
        <mc:Fallback xmlns="">
          <p:sp>
            <p:nvSpPr>
              <p:cNvPr id="49" name="内容占位符 2">
                <a:extLst>
                  <a:ext uri="{FF2B5EF4-FFF2-40B4-BE49-F238E27FC236}">
                    <a16:creationId xmlns:a16="http://schemas.microsoft.com/office/drawing/2014/main" id="{A8D4E8CC-63F2-E189-09AE-3C64F437E19F}"/>
                  </a:ext>
                </a:extLst>
              </p:cNvPr>
              <p:cNvSpPr txBox="1">
                <a:spLocks noRot="1" noChangeAspect="1" noMove="1" noResize="1" noEditPoints="1" noAdjustHandles="1" noChangeArrowheads="1" noChangeShapeType="1" noTextEdit="1"/>
              </p:cNvSpPr>
              <p:nvPr/>
            </p:nvSpPr>
            <p:spPr>
              <a:xfrm>
                <a:off x="1129756" y="705101"/>
                <a:ext cx="9848354" cy="890116"/>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6897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7823" y="644527"/>
            <a:ext cx="9848354" cy="6017529"/>
          </a:xfrm>
        </p:spPr>
        <p:txBody>
          <a:bodyPr>
            <a:normAutofit lnSpcReduction="10000"/>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5.2 </a:t>
            </a:r>
            <a:r>
              <a:rPr lang="zh-CN" altLang="en-US" dirty="0">
                <a:latin typeface="华光超粗黑_CNKI" panose="02000500000000000000" pitchFamily="2" charset="-122"/>
                <a:ea typeface="华光超粗黑_CNKI" panose="02000500000000000000" pitchFamily="2" charset="-122"/>
              </a:rPr>
              <a:t>透视投影</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将空间中的物体透视成空间中的另一个物体，然后将其投影到一个平面上。主要分为三种：</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）一点透视：也称为平行透视。即投影平面与投影对象所在坐标系的一个坐标平面平行。</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）两点透视：也称为成角透视。即投影平面与投影对象所在坐标系的一个坐标轴平行，而与另两个坐标轴成一定角度。</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）三点透视：也称为斜透视。即投影平面与投影对象所在的坐标系的坐标轴均不平行。</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spTree>
    <p:extLst>
      <p:ext uri="{BB962C8B-B14F-4D97-AF65-F5344CB8AC3E}">
        <p14:creationId xmlns:p14="http://schemas.microsoft.com/office/powerpoint/2010/main" val="4243709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8835" y="310719"/>
            <a:ext cx="10396883" cy="1485945"/>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设投影中心</a:t>
            </a:r>
            <a:r>
              <a:rPr lang="en-US" altLang="zh-CN" dirty="0">
                <a:latin typeface="华光仿宋_CNKI" panose="02000500000000000000" pitchFamily="2" charset="-122"/>
                <a:ea typeface="华光仿宋_CNKI" panose="02000500000000000000" pitchFamily="2" charset="-122"/>
              </a:rPr>
              <a:t>E</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轴上距离原点</a:t>
            </a:r>
            <a:r>
              <a:rPr lang="en-US" altLang="zh-CN" dirty="0">
                <a:latin typeface="华光仿宋_CNKI" panose="02000500000000000000" pitchFamily="2" charset="-122"/>
                <a:ea typeface="华光仿宋_CNKI" panose="02000500000000000000" pitchFamily="2" charset="-122"/>
              </a:rPr>
              <a:t>O</a:t>
            </a:r>
            <a:r>
              <a:rPr lang="zh-CN" altLang="en-US" dirty="0">
                <a:latin typeface="华光仿宋_CNKI" panose="02000500000000000000" pitchFamily="2" charset="-122"/>
                <a:ea typeface="华光仿宋_CNKI" panose="02000500000000000000" pitchFamily="2" charset="-122"/>
              </a:rPr>
              <a:t>点</a:t>
            </a:r>
            <a:r>
              <a:rPr lang="en-US" altLang="zh-CN" dirty="0">
                <a:latin typeface="华光仿宋_CNKI" panose="02000500000000000000" pitchFamily="2" charset="-122"/>
                <a:ea typeface="华光仿宋_CNKI" panose="02000500000000000000" pitchFamily="2" charset="-122"/>
              </a:rPr>
              <a:t>d</a:t>
            </a:r>
            <a:r>
              <a:rPr lang="zh-CN" altLang="en-US" dirty="0">
                <a:latin typeface="华光仿宋_CNKI" panose="02000500000000000000" pitchFamily="2" charset="-122"/>
                <a:ea typeface="华光仿宋_CNKI" panose="02000500000000000000" pitchFamily="2" charset="-122"/>
              </a:rPr>
              <a:t>的位置上，投影平面垂直于</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轴，并位于投影中心和投影对象之间。则有：</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grpSp>
        <p:nvGrpSpPr>
          <p:cNvPr id="5" name="Group 4">
            <a:extLst>
              <a:ext uri="{FF2B5EF4-FFF2-40B4-BE49-F238E27FC236}">
                <a16:creationId xmlns:a16="http://schemas.microsoft.com/office/drawing/2014/main" id="{20535381-C51C-7210-7A8A-8A9BCCBD3118}"/>
              </a:ext>
            </a:extLst>
          </p:cNvPr>
          <p:cNvGrpSpPr>
            <a:grpSpLocks/>
          </p:cNvGrpSpPr>
          <p:nvPr/>
        </p:nvGrpSpPr>
        <p:grpSpPr bwMode="auto">
          <a:xfrm>
            <a:off x="4691269" y="1669773"/>
            <a:ext cx="7187979" cy="4257959"/>
            <a:chOff x="3134" y="1926"/>
            <a:chExt cx="5685" cy="4094"/>
          </a:xfrm>
        </p:grpSpPr>
        <p:sp>
          <p:nvSpPr>
            <p:cNvPr id="6" name="Line 5">
              <a:extLst>
                <a:ext uri="{FF2B5EF4-FFF2-40B4-BE49-F238E27FC236}">
                  <a16:creationId xmlns:a16="http://schemas.microsoft.com/office/drawing/2014/main" id="{EB1CB902-E18B-315E-DA70-CDFB21D7F1E4}"/>
                </a:ext>
              </a:extLst>
            </p:cNvPr>
            <p:cNvSpPr>
              <a:spLocks noChangeShapeType="1"/>
            </p:cNvSpPr>
            <p:nvPr/>
          </p:nvSpPr>
          <p:spPr bwMode="auto">
            <a:xfrm flipV="1">
              <a:off x="4019" y="2142"/>
              <a:ext cx="3359" cy="31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6">
              <a:extLst>
                <a:ext uri="{FF2B5EF4-FFF2-40B4-BE49-F238E27FC236}">
                  <a16:creationId xmlns:a16="http://schemas.microsoft.com/office/drawing/2014/main" id="{4D637CC8-5A03-CBEB-3644-D8AE0A5DF845}"/>
                </a:ext>
              </a:extLst>
            </p:cNvPr>
            <p:cNvSpPr>
              <a:spLocks noChangeShapeType="1"/>
            </p:cNvSpPr>
            <p:nvPr/>
          </p:nvSpPr>
          <p:spPr bwMode="auto">
            <a:xfrm flipV="1">
              <a:off x="4019" y="3702"/>
              <a:ext cx="3359" cy="159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7">
              <a:extLst>
                <a:ext uri="{FF2B5EF4-FFF2-40B4-BE49-F238E27FC236}">
                  <a16:creationId xmlns:a16="http://schemas.microsoft.com/office/drawing/2014/main" id="{EE90C375-CB70-966B-0376-38E8D3E2C851}"/>
                </a:ext>
              </a:extLst>
            </p:cNvPr>
            <p:cNvSpPr>
              <a:spLocks noChangeShapeType="1"/>
            </p:cNvSpPr>
            <p:nvPr/>
          </p:nvSpPr>
          <p:spPr bwMode="auto">
            <a:xfrm>
              <a:off x="7378" y="2142"/>
              <a:ext cx="1" cy="156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8">
              <a:extLst>
                <a:ext uri="{FF2B5EF4-FFF2-40B4-BE49-F238E27FC236}">
                  <a16:creationId xmlns:a16="http://schemas.microsoft.com/office/drawing/2014/main" id="{F1E15693-78E7-11A9-AF40-21CFEB55A3CC}"/>
                </a:ext>
              </a:extLst>
            </p:cNvPr>
            <p:cNvSpPr>
              <a:spLocks noChangeShapeType="1"/>
            </p:cNvSpPr>
            <p:nvPr/>
          </p:nvSpPr>
          <p:spPr bwMode="auto">
            <a:xfrm flipV="1">
              <a:off x="6571" y="2889"/>
              <a:ext cx="1" cy="119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 name="Group 9">
              <a:extLst>
                <a:ext uri="{FF2B5EF4-FFF2-40B4-BE49-F238E27FC236}">
                  <a16:creationId xmlns:a16="http://schemas.microsoft.com/office/drawing/2014/main" id="{CB1B1E32-60D4-FBEC-C876-5ED97A522FAA}"/>
                </a:ext>
              </a:extLst>
            </p:cNvPr>
            <p:cNvGrpSpPr>
              <a:grpSpLocks/>
            </p:cNvGrpSpPr>
            <p:nvPr/>
          </p:nvGrpSpPr>
          <p:grpSpPr bwMode="auto">
            <a:xfrm>
              <a:off x="3599" y="2142"/>
              <a:ext cx="4680" cy="3432"/>
              <a:chOff x="3599" y="2142"/>
              <a:chExt cx="4680" cy="3432"/>
            </a:xfrm>
          </p:grpSpPr>
          <p:sp>
            <p:nvSpPr>
              <p:cNvPr id="32" name="Line 10">
                <a:extLst>
                  <a:ext uri="{FF2B5EF4-FFF2-40B4-BE49-F238E27FC236}">
                    <a16:creationId xmlns:a16="http://schemas.microsoft.com/office/drawing/2014/main" id="{AC51587A-22FB-38E1-7643-B5CC1B84126D}"/>
                  </a:ext>
                </a:extLst>
              </p:cNvPr>
              <p:cNvSpPr>
                <a:spLocks noChangeShapeType="1"/>
              </p:cNvSpPr>
              <p:nvPr/>
            </p:nvSpPr>
            <p:spPr bwMode="auto">
              <a:xfrm>
                <a:off x="5726" y="4103"/>
                <a:ext cx="2553"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3" name="Line 11">
                <a:extLst>
                  <a:ext uri="{FF2B5EF4-FFF2-40B4-BE49-F238E27FC236}">
                    <a16:creationId xmlns:a16="http://schemas.microsoft.com/office/drawing/2014/main" id="{F3D483E7-6603-CB1D-F7C8-F1A577CE6A08}"/>
                  </a:ext>
                </a:extLst>
              </p:cNvPr>
              <p:cNvSpPr>
                <a:spLocks noChangeShapeType="1"/>
              </p:cNvSpPr>
              <p:nvPr/>
            </p:nvSpPr>
            <p:spPr bwMode="auto">
              <a:xfrm flipV="1">
                <a:off x="5726" y="2142"/>
                <a:ext cx="0" cy="1961"/>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4" name="Line 12">
                <a:extLst>
                  <a:ext uri="{FF2B5EF4-FFF2-40B4-BE49-F238E27FC236}">
                    <a16:creationId xmlns:a16="http://schemas.microsoft.com/office/drawing/2014/main" id="{1BB58105-235F-1E77-B4D3-1DC303BCC4B7}"/>
                  </a:ext>
                </a:extLst>
              </p:cNvPr>
              <p:cNvSpPr>
                <a:spLocks noChangeShapeType="1"/>
              </p:cNvSpPr>
              <p:nvPr/>
            </p:nvSpPr>
            <p:spPr bwMode="auto">
              <a:xfrm flipH="1">
                <a:off x="3599" y="4103"/>
                <a:ext cx="2127" cy="1471"/>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5" name="Line 13">
                <a:extLst>
                  <a:ext uri="{FF2B5EF4-FFF2-40B4-BE49-F238E27FC236}">
                    <a16:creationId xmlns:a16="http://schemas.microsoft.com/office/drawing/2014/main" id="{8B971FC5-F707-6084-4302-78C11B43D6CF}"/>
                  </a:ext>
                </a:extLst>
              </p:cNvPr>
              <p:cNvSpPr>
                <a:spLocks noChangeShapeType="1"/>
              </p:cNvSpPr>
              <p:nvPr/>
            </p:nvSpPr>
            <p:spPr bwMode="auto">
              <a:xfrm>
                <a:off x="5726" y="2632"/>
                <a:ext cx="19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14">
                <a:extLst>
                  <a:ext uri="{FF2B5EF4-FFF2-40B4-BE49-F238E27FC236}">
                    <a16:creationId xmlns:a16="http://schemas.microsoft.com/office/drawing/2014/main" id="{815D779F-B9C0-AA98-3472-7F28EEAE87DD}"/>
                  </a:ext>
                </a:extLst>
              </p:cNvPr>
              <p:cNvSpPr>
                <a:spLocks noChangeShapeType="1"/>
              </p:cNvSpPr>
              <p:nvPr/>
            </p:nvSpPr>
            <p:spPr bwMode="auto">
              <a:xfrm>
                <a:off x="7640" y="2632"/>
                <a:ext cx="0" cy="14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 name="Line 15">
              <a:extLst>
                <a:ext uri="{FF2B5EF4-FFF2-40B4-BE49-F238E27FC236}">
                  <a16:creationId xmlns:a16="http://schemas.microsoft.com/office/drawing/2014/main" id="{C8E2B7C7-E3D7-FE65-B328-7C94D9963AC8}"/>
                </a:ext>
              </a:extLst>
            </p:cNvPr>
            <p:cNvSpPr>
              <a:spLocks noChangeAspect="1" noChangeShapeType="1"/>
            </p:cNvSpPr>
            <p:nvPr/>
          </p:nvSpPr>
          <p:spPr bwMode="auto">
            <a:xfrm flipH="1">
              <a:off x="5719" y="2918"/>
              <a:ext cx="1723" cy="1192"/>
            </a:xfrm>
            <a:prstGeom prst="line">
              <a:avLst/>
            </a:prstGeom>
            <a:noFill/>
            <a:ln w="9525">
              <a:solidFill>
                <a:srgbClr val="000000"/>
              </a:solidFill>
              <a:prstDash val="dash"/>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2" name="Line 16">
              <a:extLst>
                <a:ext uri="{FF2B5EF4-FFF2-40B4-BE49-F238E27FC236}">
                  <a16:creationId xmlns:a16="http://schemas.microsoft.com/office/drawing/2014/main" id="{D7C151D9-5919-DACA-8E2E-4A1DC258805D}"/>
                </a:ext>
              </a:extLst>
            </p:cNvPr>
            <p:cNvSpPr>
              <a:spLocks noChangeShapeType="1"/>
            </p:cNvSpPr>
            <p:nvPr/>
          </p:nvSpPr>
          <p:spPr bwMode="auto">
            <a:xfrm flipH="1">
              <a:off x="6299" y="3702"/>
              <a:ext cx="1080" cy="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7">
              <a:extLst>
                <a:ext uri="{FF2B5EF4-FFF2-40B4-BE49-F238E27FC236}">
                  <a16:creationId xmlns:a16="http://schemas.microsoft.com/office/drawing/2014/main" id="{5698BE3C-AE20-D398-BA9D-B0DFDC2A4870}"/>
                </a:ext>
              </a:extLst>
            </p:cNvPr>
            <p:cNvSpPr>
              <a:spLocks noChangeAspect="1" noChangeShapeType="1"/>
            </p:cNvSpPr>
            <p:nvPr/>
          </p:nvSpPr>
          <p:spPr bwMode="auto">
            <a:xfrm flipH="1">
              <a:off x="6794" y="3723"/>
              <a:ext cx="567" cy="392"/>
            </a:xfrm>
            <a:prstGeom prst="line">
              <a:avLst/>
            </a:prstGeom>
            <a:noFill/>
            <a:ln w="9525">
              <a:solidFill>
                <a:srgbClr val="000000"/>
              </a:solidFill>
              <a:prstDash val="dash"/>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 name="Line 18">
              <a:extLst>
                <a:ext uri="{FF2B5EF4-FFF2-40B4-BE49-F238E27FC236}">
                  <a16:creationId xmlns:a16="http://schemas.microsoft.com/office/drawing/2014/main" id="{2F2D2649-42BA-68BD-05FD-591406E4B875}"/>
                </a:ext>
              </a:extLst>
            </p:cNvPr>
            <p:cNvSpPr>
              <a:spLocks noChangeAspect="1" noChangeShapeType="1"/>
            </p:cNvSpPr>
            <p:nvPr/>
          </p:nvSpPr>
          <p:spPr bwMode="auto">
            <a:xfrm flipV="1">
              <a:off x="4034" y="2892"/>
              <a:ext cx="2551" cy="239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9">
              <a:extLst>
                <a:ext uri="{FF2B5EF4-FFF2-40B4-BE49-F238E27FC236}">
                  <a16:creationId xmlns:a16="http://schemas.microsoft.com/office/drawing/2014/main" id="{81C129AA-1F20-9AF9-B2FE-DCFBB1C2D744}"/>
                </a:ext>
              </a:extLst>
            </p:cNvPr>
            <p:cNvSpPr>
              <a:spLocks noChangeAspect="1" noChangeShapeType="1"/>
            </p:cNvSpPr>
            <p:nvPr/>
          </p:nvSpPr>
          <p:spPr bwMode="auto">
            <a:xfrm flipV="1">
              <a:off x="6875" y="2157"/>
              <a:ext cx="488" cy="4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0">
              <a:extLst>
                <a:ext uri="{FF2B5EF4-FFF2-40B4-BE49-F238E27FC236}">
                  <a16:creationId xmlns:a16="http://schemas.microsoft.com/office/drawing/2014/main" id="{F34F4249-F8DA-0CBF-A66D-A057D2FE38A3}"/>
                </a:ext>
              </a:extLst>
            </p:cNvPr>
            <p:cNvSpPr>
              <a:spLocks noChangeAspect="1" noChangeShapeType="1"/>
            </p:cNvSpPr>
            <p:nvPr/>
          </p:nvSpPr>
          <p:spPr bwMode="auto">
            <a:xfrm flipV="1">
              <a:off x="4064" y="4070"/>
              <a:ext cx="2517" cy="119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1">
              <a:extLst>
                <a:ext uri="{FF2B5EF4-FFF2-40B4-BE49-F238E27FC236}">
                  <a16:creationId xmlns:a16="http://schemas.microsoft.com/office/drawing/2014/main" id="{17BCB042-B44A-2E96-E2DF-4245EC0D13F1}"/>
                </a:ext>
              </a:extLst>
            </p:cNvPr>
            <p:cNvSpPr>
              <a:spLocks noChangeAspect="1" noChangeShapeType="1"/>
            </p:cNvSpPr>
            <p:nvPr/>
          </p:nvSpPr>
          <p:spPr bwMode="auto">
            <a:xfrm>
              <a:off x="7379" y="2142"/>
              <a:ext cx="1" cy="51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22">
              <a:extLst>
                <a:ext uri="{FF2B5EF4-FFF2-40B4-BE49-F238E27FC236}">
                  <a16:creationId xmlns:a16="http://schemas.microsoft.com/office/drawing/2014/main" id="{BC94BAB1-0611-EE47-B1A0-7F956112C797}"/>
                </a:ext>
              </a:extLst>
            </p:cNvPr>
            <p:cNvSpPr txBox="1">
              <a:spLocks noChangeArrowheads="1"/>
            </p:cNvSpPr>
            <p:nvPr/>
          </p:nvSpPr>
          <p:spPr bwMode="auto">
            <a:xfrm>
              <a:off x="5279" y="198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a:latin typeface="Times New Roman" panose="02020603050405020304" pitchFamily="18" charset="0"/>
                </a:rPr>
                <a:t>y</a:t>
              </a:r>
            </a:p>
          </p:txBody>
        </p:sp>
        <p:sp>
          <p:nvSpPr>
            <p:cNvPr id="19" name="Text Box 23">
              <a:extLst>
                <a:ext uri="{FF2B5EF4-FFF2-40B4-BE49-F238E27FC236}">
                  <a16:creationId xmlns:a16="http://schemas.microsoft.com/office/drawing/2014/main" id="{06EC702E-7542-EE5C-6A8C-CD50D81D6927}"/>
                </a:ext>
              </a:extLst>
            </p:cNvPr>
            <p:cNvSpPr txBox="1">
              <a:spLocks noChangeArrowheads="1"/>
            </p:cNvSpPr>
            <p:nvPr/>
          </p:nvSpPr>
          <p:spPr bwMode="auto">
            <a:xfrm>
              <a:off x="8174" y="385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a:latin typeface="Times New Roman" panose="02020603050405020304" pitchFamily="18" charset="0"/>
                </a:rPr>
                <a:t>x</a:t>
              </a:r>
            </a:p>
          </p:txBody>
        </p:sp>
        <p:sp>
          <p:nvSpPr>
            <p:cNvPr id="20" name="Text Box 24">
              <a:extLst>
                <a:ext uri="{FF2B5EF4-FFF2-40B4-BE49-F238E27FC236}">
                  <a16:creationId xmlns:a16="http://schemas.microsoft.com/office/drawing/2014/main" id="{D35F7C3D-2B15-47B7-26BA-A94953CBD539}"/>
                </a:ext>
              </a:extLst>
            </p:cNvPr>
            <p:cNvSpPr txBox="1">
              <a:spLocks noChangeArrowheads="1"/>
            </p:cNvSpPr>
            <p:nvPr/>
          </p:nvSpPr>
          <p:spPr bwMode="auto">
            <a:xfrm>
              <a:off x="3269" y="526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dirty="0">
                  <a:latin typeface="Times New Roman" panose="02020603050405020304" pitchFamily="18" charset="0"/>
                </a:rPr>
                <a:t>z</a:t>
              </a:r>
            </a:p>
          </p:txBody>
        </p:sp>
        <p:sp>
          <p:nvSpPr>
            <p:cNvPr id="21" name="Text Box 25">
              <a:extLst>
                <a:ext uri="{FF2B5EF4-FFF2-40B4-BE49-F238E27FC236}">
                  <a16:creationId xmlns:a16="http://schemas.microsoft.com/office/drawing/2014/main" id="{01EF1A18-B8E4-2B5C-90A8-800CA04CF153}"/>
                </a:ext>
              </a:extLst>
            </p:cNvPr>
            <p:cNvSpPr txBox="1">
              <a:spLocks noChangeArrowheads="1"/>
            </p:cNvSpPr>
            <p:nvPr/>
          </p:nvSpPr>
          <p:spPr bwMode="auto">
            <a:xfrm>
              <a:off x="3134" y="4944"/>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000" dirty="0">
                  <a:latin typeface="Times New Roman" panose="02020603050405020304" pitchFamily="18" charset="0"/>
                </a:rPr>
                <a:t>投影中心</a:t>
              </a:r>
            </a:p>
          </p:txBody>
        </p:sp>
        <p:sp>
          <p:nvSpPr>
            <p:cNvPr id="22" name="Text Box 26">
              <a:extLst>
                <a:ext uri="{FF2B5EF4-FFF2-40B4-BE49-F238E27FC236}">
                  <a16:creationId xmlns:a16="http://schemas.microsoft.com/office/drawing/2014/main" id="{69A9B866-7876-DFDE-EC59-5EC7618E390C}"/>
                </a:ext>
              </a:extLst>
            </p:cNvPr>
            <p:cNvSpPr txBox="1">
              <a:spLocks noChangeArrowheads="1"/>
            </p:cNvSpPr>
            <p:nvPr/>
          </p:nvSpPr>
          <p:spPr bwMode="auto">
            <a:xfrm>
              <a:off x="5145" y="420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dirty="0">
                  <a:latin typeface="Times New Roman" panose="02020603050405020304" pitchFamily="18" charset="0"/>
                </a:rPr>
                <a:t>d</a:t>
              </a:r>
            </a:p>
          </p:txBody>
        </p:sp>
        <p:sp>
          <p:nvSpPr>
            <p:cNvPr id="23" name="Text Box 27">
              <a:extLst>
                <a:ext uri="{FF2B5EF4-FFF2-40B4-BE49-F238E27FC236}">
                  <a16:creationId xmlns:a16="http://schemas.microsoft.com/office/drawing/2014/main" id="{29E592B2-F820-555A-52FC-8862CBD3DD5A}"/>
                </a:ext>
              </a:extLst>
            </p:cNvPr>
            <p:cNvSpPr txBox="1">
              <a:spLocks noChangeArrowheads="1"/>
            </p:cNvSpPr>
            <p:nvPr/>
          </p:nvSpPr>
          <p:spPr bwMode="auto">
            <a:xfrm>
              <a:off x="6188" y="385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dirty="0">
                  <a:latin typeface="Times New Roman" panose="02020603050405020304" pitchFamily="18" charset="0"/>
                </a:rPr>
                <a:t>x’</a:t>
              </a:r>
            </a:p>
          </p:txBody>
        </p:sp>
        <p:sp>
          <p:nvSpPr>
            <p:cNvPr id="24" name="Text Box 28">
              <a:extLst>
                <a:ext uri="{FF2B5EF4-FFF2-40B4-BE49-F238E27FC236}">
                  <a16:creationId xmlns:a16="http://schemas.microsoft.com/office/drawing/2014/main" id="{4AC3C4B8-1998-D7AC-AF6D-D130A9AACA1D}"/>
                </a:ext>
              </a:extLst>
            </p:cNvPr>
            <p:cNvSpPr txBox="1">
              <a:spLocks noChangeArrowheads="1"/>
            </p:cNvSpPr>
            <p:nvPr/>
          </p:nvSpPr>
          <p:spPr bwMode="auto">
            <a:xfrm>
              <a:off x="6343" y="3111"/>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dirty="0">
                  <a:latin typeface="Times New Roman" panose="02020603050405020304" pitchFamily="18" charset="0"/>
                </a:rPr>
                <a:t>y’</a:t>
              </a:r>
            </a:p>
          </p:txBody>
        </p:sp>
        <p:sp>
          <p:nvSpPr>
            <p:cNvPr id="25" name="Text Box 29">
              <a:extLst>
                <a:ext uri="{FF2B5EF4-FFF2-40B4-BE49-F238E27FC236}">
                  <a16:creationId xmlns:a16="http://schemas.microsoft.com/office/drawing/2014/main" id="{9D9D3E73-23A2-8E47-986D-CA76065FA938}"/>
                </a:ext>
              </a:extLst>
            </p:cNvPr>
            <p:cNvSpPr txBox="1">
              <a:spLocks noChangeArrowheads="1"/>
            </p:cNvSpPr>
            <p:nvPr/>
          </p:nvSpPr>
          <p:spPr bwMode="auto">
            <a:xfrm>
              <a:off x="6179" y="258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a:latin typeface="Times New Roman" panose="02020603050405020304" pitchFamily="18" charset="0"/>
                </a:rPr>
                <a:t>P’</a:t>
              </a:r>
            </a:p>
          </p:txBody>
        </p:sp>
        <p:sp>
          <p:nvSpPr>
            <p:cNvPr id="26" name="Text Box 30">
              <a:extLst>
                <a:ext uri="{FF2B5EF4-FFF2-40B4-BE49-F238E27FC236}">
                  <a16:creationId xmlns:a16="http://schemas.microsoft.com/office/drawing/2014/main" id="{049D000A-B251-D889-7240-60910C3032A6}"/>
                </a:ext>
              </a:extLst>
            </p:cNvPr>
            <p:cNvSpPr txBox="1">
              <a:spLocks noChangeArrowheads="1"/>
            </p:cNvSpPr>
            <p:nvPr/>
          </p:nvSpPr>
          <p:spPr bwMode="auto">
            <a:xfrm>
              <a:off x="7349" y="192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a:latin typeface="Times New Roman" panose="02020603050405020304" pitchFamily="18" charset="0"/>
                </a:rPr>
                <a:t>P</a:t>
              </a:r>
            </a:p>
          </p:txBody>
        </p:sp>
        <p:sp>
          <p:nvSpPr>
            <p:cNvPr id="27" name="Text Box 31">
              <a:extLst>
                <a:ext uri="{FF2B5EF4-FFF2-40B4-BE49-F238E27FC236}">
                  <a16:creationId xmlns:a16="http://schemas.microsoft.com/office/drawing/2014/main" id="{84138F73-FE45-98CA-31D1-DDA5EA297D9B}"/>
                </a:ext>
              </a:extLst>
            </p:cNvPr>
            <p:cNvSpPr txBox="1">
              <a:spLocks noChangeArrowheads="1"/>
            </p:cNvSpPr>
            <p:nvPr/>
          </p:nvSpPr>
          <p:spPr bwMode="auto">
            <a:xfrm>
              <a:off x="7358" y="2615"/>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dirty="0">
                  <a:latin typeface="Times New Roman" panose="02020603050405020304" pitchFamily="18" charset="0"/>
                </a:rPr>
                <a:t>y</a:t>
              </a:r>
            </a:p>
          </p:txBody>
        </p:sp>
        <p:sp>
          <p:nvSpPr>
            <p:cNvPr id="28" name="Text Box 32">
              <a:extLst>
                <a:ext uri="{FF2B5EF4-FFF2-40B4-BE49-F238E27FC236}">
                  <a16:creationId xmlns:a16="http://schemas.microsoft.com/office/drawing/2014/main" id="{6FA6327D-9626-E5D3-4581-132C885BEC7F}"/>
                </a:ext>
              </a:extLst>
            </p:cNvPr>
            <p:cNvSpPr txBox="1">
              <a:spLocks noChangeArrowheads="1"/>
            </p:cNvSpPr>
            <p:nvPr/>
          </p:nvSpPr>
          <p:spPr bwMode="auto">
            <a:xfrm>
              <a:off x="6839" y="3441"/>
              <a:ext cx="5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dirty="0">
                  <a:latin typeface="Times New Roman" panose="02020603050405020304" pitchFamily="18" charset="0"/>
                </a:rPr>
                <a:t>x</a:t>
              </a:r>
            </a:p>
          </p:txBody>
        </p:sp>
        <p:sp>
          <p:nvSpPr>
            <p:cNvPr id="29" name="Text Box 33">
              <a:extLst>
                <a:ext uri="{FF2B5EF4-FFF2-40B4-BE49-F238E27FC236}">
                  <a16:creationId xmlns:a16="http://schemas.microsoft.com/office/drawing/2014/main" id="{7EADFF29-D00D-5E51-6BC2-7F1EB4338369}"/>
                </a:ext>
              </a:extLst>
            </p:cNvPr>
            <p:cNvSpPr txBox="1">
              <a:spLocks noChangeArrowheads="1"/>
            </p:cNvSpPr>
            <p:nvPr/>
          </p:nvSpPr>
          <p:spPr bwMode="auto">
            <a:xfrm>
              <a:off x="5867" y="366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1400" dirty="0">
                  <a:latin typeface="Times New Roman" panose="02020603050405020304" pitchFamily="18" charset="0"/>
                </a:rPr>
                <a:t>z</a:t>
              </a:r>
            </a:p>
          </p:txBody>
        </p:sp>
        <p:sp>
          <p:nvSpPr>
            <p:cNvPr id="30" name="Text Box 34">
              <a:extLst>
                <a:ext uri="{FF2B5EF4-FFF2-40B4-BE49-F238E27FC236}">
                  <a16:creationId xmlns:a16="http://schemas.microsoft.com/office/drawing/2014/main" id="{550B1E90-926D-1AFF-1157-84163C375E6F}"/>
                </a:ext>
              </a:extLst>
            </p:cNvPr>
            <p:cNvSpPr txBox="1">
              <a:spLocks noChangeArrowheads="1"/>
            </p:cNvSpPr>
            <p:nvPr/>
          </p:nvSpPr>
          <p:spPr bwMode="auto">
            <a:xfrm>
              <a:off x="7739" y="3546"/>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1400">
                  <a:latin typeface="Times New Roman" panose="02020603050405020304" pitchFamily="18" charset="0"/>
                </a:rPr>
                <a:t>投影平面</a:t>
              </a:r>
            </a:p>
          </p:txBody>
        </p:sp>
        <p:sp>
          <p:nvSpPr>
            <p:cNvPr id="31" name="Text Box 35">
              <a:extLst>
                <a:ext uri="{FF2B5EF4-FFF2-40B4-BE49-F238E27FC236}">
                  <a16:creationId xmlns:a16="http://schemas.microsoft.com/office/drawing/2014/main" id="{D5B3E863-2138-037F-B19D-58D690A4EA49}"/>
                </a:ext>
              </a:extLst>
            </p:cNvPr>
            <p:cNvSpPr txBox="1">
              <a:spLocks noChangeArrowheads="1"/>
            </p:cNvSpPr>
            <p:nvPr/>
          </p:nvSpPr>
          <p:spPr bwMode="auto">
            <a:xfrm>
              <a:off x="4859" y="5552"/>
              <a:ext cx="28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400" dirty="0">
                  <a:latin typeface="Times New Roman" panose="02020603050405020304" pitchFamily="18" charset="0"/>
                </a:rPr>
                <a:t>一点透视</a:t>
              </a:r>
            </a:p>
          </p:txBody>
        </p:sp>
      </p:gr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1F7F70B6-AA15-D722-EF91-0BF1924A86F6}"/>
                  </a:ext>
                </a:extLst>
              </p:cNvPr>
              <p:cNvSpPr txBox="1"/>
              <p:nvPr/>
            </p:nvSpPr>
            <p:spPr>
              <a:xfrm>
                <a:off x="1332900" y="1861963"/>
                <a:ext cx="1313565" cy="767774"/>
              </a:xfrm>
              <a:prstGeom prst="rect">
                <a:avLst/>
              </a:prstGeom>
              <a:noFill/>
            </p:spPr>
            <p:txBody>
              <a:bodyPr wrap="none" lIns="0" tIns="0" rIns="0" bIns="0" rtlCol="0">
                <a:spAutoFit/>
              </a:bodyPr>
              <a:lstStyle/>
              <a:p>
                <a14:m>
                  <m:oMath xmlns:m="http://schemas.openxmlformats.org/officeDocument/2006/math">
                    <m:f>
                      <m:fPr>
                        <m:ctrlPr>
                          <a:rPr lang="en-US" altLang="zh-CN" sz="3200" i="1" smtClean="0">
                            <a:latin typeface="Cambria Math" panose="02040503050406030204" pitchFamily="18" charset="0"/>
                          </a:rPr>
                        </m:ctrlPr>
                      </m:fPr>
                      <m:num>
                        <m:sSup>
                          <m:sSupPr>
                            <m:ctrlPr>
                              <a:rPr lang="en-US" altLang="zh-CN" sz="3200" i="1" smtClean="0">
                                <a:latin typeface="Cambria Math" panose="02040503050406030204" pitchFamily="18" charset="0"/>
                              </a:rPr>
                            </m:ctrlPr>
                          </m:sSupPr>
                          <m:e>
                            <m:r>
                              <a:rPr lang="en-US" altLang="zh-CN" sz="3200" b="0" i="1" smtClean="0">
                                <a:latin typeface="Cambria Math" panose="02040503050406030204" pitchFamily="18" charset="0"/>
                              </a:rPr>
                              <m:t>𝑥</m:t>
                            </m:r>
                          </m:e>
                          <m:sup>
                            <m:r>
                              <a:rPr lang="en-US" altLang="zh-CN" sz="3200" b="0" i="1" smtClean="0">
                                <a:latin typeface="Cambria Math" panose="02040503050406030204" pitchFamily="18" charset="0"/>
                              </a:rPr>
                              <m:t>′</m:t>
                            </m:r>
                          </m:sup>
                        </m:sSup>
                      </m:num>
                      <m:den>
                        <m:r>
                          <a:rPr lang="en-US" altLang="zh-CN" sz="3200" b="0" i="1" smtClean="0">
                            <a:latin typeface="Cambria Math" panose="02040503050406030204" pitchFamily="18" charset="0"/>
                          </a:rPr>
                          <m:t>𝑑</m:t>
                        </m:r>
                      </m:den>
                    </m:f>
                  </m:oMath>
                </a14:m>
                <a:r>
                  <a:rPr lang="en-US" altLang="zh-CN" sz="3200" dirty="0"/>
                  <a:t>=</a:t>
                </a:r>
                <a14:m>
                  <m:oMath xmlns:m="http://schemas.openxmlformats.org/officeDocument/2006/math">
                    <m:f>
                      <m:fPr>
                        <m:ctrlPr>
                          <a:rPr lang="en-US" altLang="zh-CN" sz="3200" i="1" dirty="0" smtClean="0">
                            <a:latin typeface="Cambria Math" panose="02040503050406030204" pitchFamily="18" charset="0"/>
                          </a:rPr>
                        </m:ctrlPr>
                      </m:fPr>
                      <m:num>
                        <m:r>
                          <a:rPr lang="en-US" altLang="zh-CN" sz="3200" b="0" i="1" dirty="0" smtClean="0">
                            <a:latin typeface="Cambria Math" panose="02040503050406030204" pitchFamily="18" charset="0"/>
                          </a:rPr>
                          <m:t>𝑥</m:t>
                        </m:r>
                      </m:num>
                      <m:den>
                        <m:r>
                          <a:rPr lang="en-US" altLang="zh-CN" sz="3200" b="0" i="1" dirty="0" smtClean="0">
                            <a:latin typeface="Cambria Math" panose="02040503050406030204" pitchFamily="18" charset="0"/>
                          </a:rPr>
                          <m:t>−</m:t>
                        </m:r>
                        <m:r>
                          <a:rPr lang="en-US" altLang="zh-CN" sz="3200" b="0" i="1" dirty="0" smtClean="0">
                            <a:latin typeface="Cambria Math" panose="02040503050406030204" pitchFamily="18" charset="0"/>
                          </a:rPr>
                          <m:t>𝑧</m:t>
                        </m:r>
                        <m:r>
                          <a:rPr lang="en-US" altLang="zh-CN" sz="3200" b="0" i="1" dirty="0" smtClean="0">
                            <a:latin typeface="Cambria Math" panose="02040503050406030204" pitchFamily="18" charset="0"/>
                          </a:rPr>
                          <m:t>+</m:t>
                        </m:r>
                        <m:r>
                          <a:rPr lang="en-US" altLang="zh-CN" sz="3200" b="0" i="1" dirty="0" smtClean="0">
                            <a:latin typeface="Cambria Math" panose="02040503050406030204" pitchFamily="18" charset="0"/>
                          </a:rPr>
                          <m:t>𝑑</m:t>
                        </m:r>
                      </m:den>
                    </m:f>
                  </m:oMath>
                </a14:m>
                <a:endParaRPr lang="zh-CN" altLang="en-US" sz="3200" dirty="0"/>
              </a:p>
            </p:txBody>
          </p:sp>
        </mc:Choice>
        <mc:Fallback xmlns="">
          <p:sp>
            <p:nvSpPr>
              <p:cNvPr id="37" name="文本框 36">
                <a:extLst>
                  <a:ext uri="{FF2B5EF4-FFF2-40B4-BE49-F238E27FC236}">
                    <a16:creationId xmlns:a16="http://schemas.microsoft.com/office/drawing/2014/main" id="{1F7F70B6-AA15-D722-EF91-0BF1924A86F6}"/>
                  </a:ext>
                </a:extLst>
              </p:cNvPr>
              <p:cNvSpPr txBox="1">
                <a:spLocks noRot="1" noChangeAspect="1" noMove="1" noResize="1" noEditPoints="1" noAdjustHandles="1" noChangeArrowheads="1" noChangeShapeType="1" noTextEdit="1"/>
              </p:cNvSpPr>
              <p:nvPr/>
            </p:nvSpPr>
            <p:spPr>
              <a:xfrm>
                <a:off x="1332900" y="1861963"/>
                <a:ext cx="1313565" cy="767774"/>
              </a:xfrm>
              <a:prstGeom prst="rect">
                <a:avLst/>
              </a:prstGeom>
              <a:blipFill>
                <a:blip r:embed="rId2"/>
                <a:stretch>
                  <a:fillRect l="-465" b="-19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AA0D9402-8BA4-F199-2E2E-4E857AB3F4DF}"/>
                  </a:ext>
                </a:extLst>
              </p:cNvPr>
              <p:cNvSpPr txBox="1"/>
              <p:nvPr/>
            </p:nvSpPr>
            <p:spPr>
              <a:xfrm>
                <a:off x="3049862" y="1896134"/>
                <a:ext cx="1425198" cy="767774"/>
              </a:xfrm>
              <a:prstGeom prst="rect">
                <a:avLst/>
              </a:prstGeom>
              <a:noFill/>
            </p:spPr>
            <p:txBody>
              <a:bodyPr wrap="none" lIns="0" tIns="0" rIns="0" bIns="0" rtlCol="0">
                <a:spAutoFit/>
              </a:bodyPr>
              <a:lstStyle>
                <a:defPPr>
                  <a:defRPr lang="zh-CN"/>
                </a:defPPr>
                <a:lvl1pPr>
                  <a:defRPr sz="3200" i="1">
                    <a:latin typeface="Cambria Math" panose="02040503050406030204" pitchFamily="18" charset="0"/>
                  </a:defRPr>
                </a:lvl1pPr>
              </a:lstStyle>
              <a:p>
                <a14:m>
                  <m:oMath xmlns:m="http://schemas.openxmlformats.org/officeDocument/2006/math">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en-US" altLang="zh-CN">
                                <a:latin typeface="Cambria Math" panose="02040503050406030204" pitchFamily="18" charset="0"/>
                              </a:rPr>
                              <m:t>𝑦</m:t>
                            </m:r>
                          </m:e>
                          <m:sup>
                            <m:r>
                              <a:rPr lang="en-US" altLang="zh-CN">
                                <a:latin typeface="Cambria Math" panose="02040503050406030204" pitchFamily="18" charset="0"/>
                              </a:rPr>
                              <m:t>′</m:t>
                            </m:r>
                          </m:sup>
                        </m:sSup>
                      </m:num>
                      <m:den>
                        <m:r>
                          <a:rPr lang="en-US" altLang="zh-CN">
                            <a:latin typeface="Cambria Math" panose="02040503050406030204" pitchFamily="18" charset="0"/>
                          </a:rPr>
                          <m:t>𝑑</m:t>
                        </m:r>
                      </m:den>
                    </m:f>
                  </m:oMath>
                </a14:m>
                <a:r>
                  <a:rPr lang="en-US" altLang="zh-CN" dirty="0"/>
                  <a:t>=</a:t>
                </a:r>
                <a14:m>
                  <m:oMath xmlns:m="http://schemas.openxmlformats.org/officeDocument/2006/math">
                    <m:f>
                      <m:fPr>
                        <m:ctrlPr>
                          <a:rPr lang="en-US" altLang="zh-CN" i="1" dirty="0">
                            <a:latin typeface="Cambria Math" panose="02040503050406030204" pitchFamily="18" charset="0"/>
                          </a:rPr>
                        </m:ctrlPr>
                      </m:fPr>
                      <m:num>
                        <m:r>
                          <a:rPr lang="en-US" altLang="zh-CN" dirty="0">
                            <a:latin typeface="Cambria Math" panose="02040503050406030204" pitchFamily="18" charset="0"/>
                          </a:rPr>
                          <m:t>𝑦</m:t>
                        </m:r>
                      </m:num>
                      <m:den>
                        <m:r>
                          <a:rPr lang="en-US" altLang="zh-CN" dirty="0">
                            <a:latin typeface="Cambria Math" panose="02040503050406030204" pitchFamily="18" charset="0"/>
                          </a:rPr>
                          <m:t>−</m:t>
                        </m:r>
                        <m:r>
                          <a:rPr lang="en-US" altLang="zh-CN" dirty="0">
                            <a:latin typeface="Cambria Math" panose="02040503050406030204" pitchFamily="18" charset="0"/>
                          </a:rPr>
                          <m:t>𝑧</m:t>
                        </m:r>
                        <m:r>
                          <a:rPr lang="en-US" altLang="zh-CN" dirty="0">
                            <a:latin typeface="Cambria Math" panose="02040503050406030204" pitchFamily="18" charset="0"/>
                          </a:rPr>
                          <m:t>+</m:t>
                        </m:r>
                        <m:r>
                          <a:rPr lang="en-US" altLang="zh-CN" dirty="0">
                            <a:latin typeface="Cambria Math" panose="02040503050406030204" pitchFamily="18" charset="0"/>
                          </a:rPr>
                          <m:t>𝑑</m:t>
                        </m:r>
                      </m:den>
                    </m:f>
                  </m:oMath>
                </a14:m>
                <a:endParaRPr lang="zh-CN" altLang="en-US" dirty="0"/>
              </a:p>
            </p:txBody>
          </p:sp>
        </mc:Choice>
        <mc:Fallback xmlns="">
          <p:sp>
            <p:nvSpPr>
              <p:cNvPr id="38" name="文本框 37">
                <a:extLst>
                  <a:ext uri="{FF2B5EF4-FFF2-40B4-BE49-F238E27FC236}">
                    <a16:creationId xmlns:a16="http://schemas.microsoft.com/office/drawing/2014/main" id="{AA0D9402-8BA4-F199-2E2E-4E857AB3F4DF}"/>
                  </a:ext>
                </a:extLst>
              </p:cNvPr>
              <p:cNvSpPr txBox="1">
                <a:spLocks noRot="1" noChangeAspect="1" noMove="1" noResize="1" noEditPoints="1" noAdjustHandles="1" noChangeArrowheads="1" noChangeShapeType="1" noTextEdit="1"/>
              </p:cNvSpPr>
              <p:nvPr/>
            </p:nvSpPr>
            <p:spPr>
              <a:xfrm>
                <a:off x="3049862" y="1896134"/>
                <a:ext cx="1425198" cy="767774"/>
              </a:xfrm>
              <a:prstGeom prst="rect">
                <a:avLst/>
              </a:prstGeom>
              <a:blipFill>
                <a:blip r:embed="rId3"/>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19BB5745-944B-7202-4028-4F26F24BB81F}"/>
                  </a:ext>
                </a:extLst>
              </p:cNvPr>
              <p:cNvSpPr txBox="1"/>
              <p:nvPr/>
            </p:nvSpPr>
            <p:spPr>
              <a:xfrm>
                <a:off x="4905226" y="2041701"/>
                <a:ext cx="1597617" cy="825098"/>
              </a:xfrm>
              <a:prstGeom prst="rect">
                <a:avLst/>
              </a:prstGeom>
              <a:noFill/>
            </p:spPr>
            <p:txBody>
              <a:bodyPr wrap="none" lIns="0" tIns="0" rIns="0" bIns="0" rtlCol="0">
                <a:spAutoFit/>
              </a:bodyPr>
              <a:lstStyle/>
              <a:p>
                <a14:m>
                  <m:oMath xmlns:m="http://schemas.openxmlformats.org/officeDocument/2006/math">
                    <m:sSup>
                      <m:sSupPr>
                        <m:ctrlPr>
                          <a:rPr lang="en-US" altLang="zh-CN" sz="3200" i="1" smtClean="0">
                            <a:latin typeface="Cambria Math" panose="02040503050406030204" pitchFamily="18" charset="0"/>
                          </a:rPr>
                        </m:ctrlPr>
                      </m:sSupPr>
                      <m:e>
                        <m:r>
                          <a:rPr lang="en-US" altLang="zh-CN" sz="3200" b="0" i="1" smtClean="0">
                            <a:latin typeface="Cambria Math" panose="02040503050406030204" pitchFamily="18" charset="0"/>
                          </a:rPr>
                          <m:t>𝑥</m:t>
                        </m:r>
                      </m:e>
                      <m:sup>
                        <m:r>
                          <a:rPr lang="en-US" altLang="zh-CN" sz="3200" b="0" i="1" smtClean="0">
                            <a:latin typeface="Cambria Math" panose="02040503050406030204" pitchFamily="18" charset="0"/>
                          </a:rPr>
                          <m:t>′</m:t>
                        </m:r>
                      </m:sup>
                    </m:sSup>
                  </m:oMath>
                </a14:m>
                <a:r>
                  <a:rPr lang="en-US" altLang="zh-CN" sz="3200" dirty="0"/>
                  <a:t>=</a:t>
                </a:r>
                <a14:m>
                  <m:oMath xmlns:m="http://schemas.openxmlformats.org/officeDocument/2006/math">
                    <m:f>
                      <m:fPr>
                        <m:ctrlPr>
                          <a:rPr lang="en-US" altLang="zh-CN" sz="3200" i="1" dirty="0" smtClean="0">
                            <a:latin typeface="Cambria Math" panose="02040503050406030204" pitchFamily="18" charset="0"/>
                          </a:rPr>
                        </m:ctrlPr>
                      </m:fPr>
                      <m:num>
                        <m:r>
                          <a:rPr lang="en-US" altLang="zh-CN" sz="3200" b="0" i="1" dirty="0" smtClean="0">
                            <a:latin typeface="Cambria Math" panose="02040503050406030204" pitchFamily="18" charset="0"/>
                          </a:rPr>
                          <m:t>𝑥</m:t>
                        </m:r>
                      </m:num>
                      <m:den>
                        <m:r>
                          <a:rPr lang="en-US" altLang="zh-CN" sz="3200" b="0" i="1" dirty="0" smtClean="0">
                            <a:latin typeface="Cambria Math" panose="02040503050406030204" pitchFamily="18" charset="0"/>
                          </a:rPr>
                          <m:t>(−</m:t>
                        </m:r>
                        <m:f>
                          <m:fPr>
                            <m:ctrlPr>
                              <a:rPr lang="en-US" altLang="zh-CN" sz="3200" b="0" i="1" dirty="0" smtClean="0">
                                <a:latin typeface="Cambria Math" panose="02040503050406030204" pitchFamily="18" charset="0"/>
                              </a:rPr>
                            </m:ctrlPr>
                          </m:fPr>
                          <m:num>
                            <m:r>
                              <a:rPr lang="en-US" altLang="zh-CN" sz="3200" b="0" i="1" dirty="0" smtClean="0">
                                <a:latin typeface="Cambria Math" panose="02040503050406030204" pitchFamily="18" charset="0"/>
                              </a:rPr>
                              <m:t>𝑧</m:t>
                            </m:r>
                          </m:num>
                          <m:den>
                            <m:r>
                              <a:rPr lang="en-US" altLang="zh-CN" sz="3200" b="0" i="1" dirty="0" smtClean="0">
                                <a:latin typeface="Cambria Math" panose="02040503050406030204" pitchFamily="18" charset="0"/>
                              </a:rPr>
                              <m:t>𝑑</m:t>
                            </m:r>
                          </m:den>
                        </m:f>
                        <m:r>
                          <a:rPr lang="en-US" altLang="zh-CN" sz="3200" b="0" i="1" dirty="0" smtClean="0">
                            <a:latin typeface="Cambria Math" panose="02040503050406030204" pitchFamily="18" charset="0"/>
                          </a:rPr>
                          <m:t>)+1</m:t>
                        </m:r>
                      </m:den>
                    </m:f>
                  </m:oMath>
                </a14:m>
                <a:endParaRPr lang="zh-CN" altLang="en-US" sz="3200" dirty="0"/>
              </a:p>
            </p:txBody>
          </p:sp>
        </mc:Choice>
        <mc:Fallback xmlns="">
          <p:sp>
            <p:nvSpPr>
              <p:cNvPr id="39" name="文本框 38">
                <a:extLst>
                  <a:ext uri="{FF2B5EF4-FFF2-40B4-BE49-F238E27FC236}">
                    <a16:creationId xmlns:a16="http://schemas.microsoft.com/office/drawing/2014/main" id="{19BB5745-944B-7202-4028-4F26F24BB81F}"/>
                  </a:ext>
                </a:extLst>
              </p:cNvPr>
              <p:cNvSpPr txBox="1">
                <a:spLocks noRot="1" noChangeAspect="1" noMove="1" noResize="1" noEditPoints="1" noAdjustHandles="1" noChangeArrowheads="1" noChangeShapeType="1" noTextEdit="1"/>
              </p:cNvSpPr>
              <p:nvPr/>
            </p:nvSpPr>
            <p:spPr>
              <a:xfrm>
                <a:off x="4905226" y="2041701"/>
                <a:ext cx="1597617" cy="825098"/>
              </a:xfrm>
              <a:prstGeom prst="rect">
                <a:avLst/>
              </a:prstGeom>
              <a:blipFill>
                <a:blip r:embed="rId4"/>
                <a:stretch>
                  <a:fillRect t="-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AF5EA8BE-160C-BEA2-4537-CD6B9882A4AB}"/>
                  </a:ext>
                </a:extLst>
              </p:cNvPr>
              <p:cNvSpPr txBox="1"/>
              <p:nvPr/>
            </p:nvSpPr>
            <p:spPr>
              <a:xfrm>
                <a:off x="1184667" y="2914190"/>
                <a:ext cx="2297257" cy="917431"/>
              </a:xfrm>
              <a:prstGeom prst="rect">
                <a:avLst/>
              </a:prstGeom>
              <a:noFill/>
            </p:spPr>
            <p:txBody>
              <a:bodyPr wrap="square">
                <a:spAutoFit/>
              </a:bodyPr>
              <a:lstStyle/>
              <a:p>
                <a14:m>
                  <m:oMath xmlns:m="http://schemas.openxmlformats.org/officeDocument/2006/math">
                    <m:sSup>
                      <m:sSupPr>
                        <m:ctrlPr>
                          <a:rPr lang="en-US" altLang="zh-CN" sz="3200" i="1" smtClean="0">
                            <a:latin typeface="Cambria Math" panose="02040503050406030204" pitchFamily="18" charset="0"/>
                          </a:rPr>
                        </m:ctrlPr>
                      </m:sSupPr>
                      <m:e>
                        <m:r>
                          <a:rPr lang="en-US" altLang="zh-CN" sz="3200" b="0" i="1" smtClean="0">
                            <a:latin typeface="Cambria Math" panose="02040503050406030204" pitchFamily="18" charset="0"/>
                          </a:rPr>
                          <m:t>𝑦</m:t>
                        </m:r>
                      </m:e>
                      <m:sup>
                        <m:r>
                          <a:rPr lang="en-US" altLang="zh-CN" sz="3200" b="0" i="1" smtClean="0">
                            <a:latin typeface="Cambria Math" panose="02040503050406030204" pitchFamily="18" charset="0"/>
                          </a:rPr>
                          <m:t>′</m:t>
                        </m:r>
                      </m:sup>
                    </m:sSup>
                  </m:oMath>
                </a14:m>
                <a:r>
                  <a:rPr lang="en-US" altLang="zh-CN" sz="3200" dirty="0"/>
                  <a:t>=</a:t>
                </a:r>
                <a14:m>
                  <m:oMath xmlns:m="http://schemas.openxmlformats.org/officeDocument/2006/math">
                    <m:f>
                      <m:fPr>
                        <m:ctrlPr>
                          <a:rPr lang="en-US" altLang="zh-CN" sz="3200" i="1" dirty="0" smtClean="0">
                            <a:latin typeface="Cambria Math" panose="02040503050406030204" pitchFamily="18" charset="0"/>
                          </a:rPr>
                        </m:ctrlPr>
                      </m:fPr>
                      <m:num>
                        <m:r>
                          <a:rPr lang="en-US" altLang="zh-CN" sz="3200" b="0" i="1" dirty="0" smtClean="0">
                            <a:latin typeface="Cambria Math" panose="02040503050406030204" pitchFamily="18" charset="0"/>
                          </a:rPr>
                          <m:t>𝑦</m:t>
                        </m:r>
                      </m:num>
                      <m:den>
                        <m:r>
                          <a:rPr lang="en-US" altLang="zh-CN" sz="3200" b="0" i="1" dirty="0" smtClean="0">
                            <a:latin typeface="Cambria Math" panose="02040503050406030204" pitchFamily="18" charset="0"/>
                          </a:rPr>
                          <m:t>(−</m:t>
                        </m:r>
                        <m:f>
                          <m:fPr>
                            <m:ctrlPr>
                              <a:rPr lang="en-US" altLang="zh-CN" sz="3200" b="0" i="1" dirty="0" smtClean="0">
                                <a:latin typeface="Cambria Math" panose="02040503050406030204" pitchFamily="18" charset="0"/>
                              </a:rPr>
                            </m:ctrlPr>
                          </m:fPr>
                          <m:num>
                            <m:r>
                              <a:rPr lang="en-US" altLang="zh-CN" sz="3200" b="0" i="1" dirty="0" smtClean="0">
                                <a:latin typeface="Cambria Math" panose="02040503050406030204" pitchFamily="18" charset="0"/>
                              </a:rPr>
                              <m:t>𝑧</m:t>
                            </m:r>
                          </m:num>
                          <m:den>
                            <m:r>
                              <a:rPr lang="en-US" altLang="zh-CN" sz="3200" b="0" i="1" dirty="0" smtClean="0">
                                <a:latin typeface="Cambria Math" panose="02040503050406030204" pitchFamily="18" charset="0"/>
                              </a:rPr>
                              <m:t>𝑑</m:t>
                            </m:r>
                          </m:den>
                        </m:f>
                        <m:r>
                          <a:rPr lang="en-US" altLang="zh-CN" sz="3200" b="0" i="1" dirty="0" smtClean="0">
                            <a:latin typeface="Cambria Math" panose="02040503050406030204" pitchFamily="18" charset="0"/>
                          </a:rPr>
                          <m:t>)+1</m:t>
                        </m:r>
                      </m:den>
                    </m:f>
                  </m:oMath>
                </a14:m>
                <a:endParaRPr lang="zh-CN" altLang="en-US" sz="3200" dirty="0"/>
              </a:p>
            </p:txBody>
          </p:sp>
        </mc:Choice>
        <mc:Fallback xmlns="">
          <p:sp>
            <p:nvSpPr>
              <p:cNvPr id="41" name="文本框 40">
                <a:extLst>
                  <a:ext uri="{FF2B5EF4-FFF2-40B4-BE49-F238E27FC236}">
                    <a16:creationId xmlns:a16="http://schemas.microsoft.com/office/drawing/2014/main" id="{AF5EA8BE-160C-BEA2-4537-CD6B9882A4AB}"/>
                  </a:ext>
                </a:extLst>
              </p:cNvPr>
              <p:cNvSpPr txBox="1">
                <a:spLocks noRot="1" noChangeAspect="1" noMove="1" noResize="1" noEditPoints="1" noAdjustHandles="1" noChangeArrowheads="1" noChangeShapeType="1" noTextEdit="1"/>
              </p:cNvSpPr>
              <p:nvPr/>
            </p:nvSpPr>
            <p:spPr>
              <a:xfrm>
                <a:off x="1184667" y="2914190"/>
                <a:ext cx="2297257" cy="917431"/>
              </a:xfrm>
              <a:prstGeom prst="rect">
                <a:avLst/>
              </a:prstGeom>
              <a:blipFill>
                <a:blip r:embed="rId5"/>
                <a:stretch>
                  <a:fillRect t="-13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Object 46">
                <a:extLst>
                  <a:ext uri="{FF2B5EF4-FFF2-40B4-BE49-F238E27FC236}">
                    <a16:creationId xmlns:a16="http://schemas.microsoft.com/office/drawing/2014/main" id="{B264A6B6-19E2-6C8B-5419-AFEE784F707C}"/>
                  </a:ext>
                </a:extLst>
              </p:cNvPr>
              <p:cNvSpPr txBox="1"/>
              <p:nvPr/>
            </p:nvSpPr>
            <p:spPr bwMode="auto">
              <a:xfrm>
                <a:off x="1169116" y="4194798"/>
                <a:ext cx="3520889" cy="188915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𝑇</m:t>
                      </m:r>
                      <m:r>
                        <a:rPr lang="zh-CN" altLang="en-US" sz="2800" i="1" smtClean="0">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4"/>
                                    <m:mcJc m:val="center"/>
                                  </m:mcPr>
                                </m:mc>
                              </m:mcs>
                              <m:ctrlPr>
                                <a:rPr lang="zh-CN" altLang="en-US" sz="2800" i="1">
                                  <a:solidFill>
                                    <a:srgbClr val="000000"/>
                                  </a:solidFill>
                                  <a:latin typeface="Cambria Math" panose="02040503050406030204" pitchFamily="18" charset="0"/>
                                </a:rPr>
                              </m:ctrlPr>
                            </m:mPr>
                            <m:mr>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e>
                                <m:r>
                                  <a:rPr lang="zh-CN" altLang="en-US" sz="2800" i="1" smtClean="0">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𝑟</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mr>
                          </m:m>
                        </m:e>
                      </m:d>
                    </m:oMath>
                  </m:oMathPara>
                </a14:m>
                <a:endParaRPr lang="zh-CN" altLang="en-US" sz="2800" dirty="0"/>
              </a:p>
            </p:txBody>
          </p:sp>
        </mc:Choice>
        <mc:Fallback xmlns="">
          <p:sp>
            <p:nvSpPr>
              <p:cNvPr id="42" name="Object 46">
                <a:extLst>
                  <a:ext uri="{FF2B5EF4-FFF2-40B4-BE49-F238E27FC236}">
                    <a16:creationId xmlns:a16="http://schemas.microsoft.com/office/drawing/2014/main" id="{B264A6B6-19E2-6C8B-5419-AFEE784F707C}"/>
                  </a:ext>
                </a:extLst>
              </p:cNvPr>
              <p:cNvSpPr txBox="1">
                <a:spLocks noRot="1" noChangeAspect="1" noMove="1" noResize="1" noEditPoints="1" noAdjustHandles="1" noChangeArrowheads="1" noChangeShapeType="1" noTextEdit="1"/>
              </p:cNvSpPr>
              <p:nvPr/>
            </p:nvSpPr>
            <p:spPr bwMode="auto">
              <a:xfrm>
                <a:off x="1169116" y="4194798"/>
                <a:ext cx="3520889" cy="1889153"/>
              </a:xfrm>
              <a:prstGeom prst="rect">
                <a:avLst/>
              </a:prstGeom>
              <a:blipFill>
                <a:blip r:embed="rId6"/>
                <a:stretch>
                  <a:fillRect/>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A7D957B8-4F09-2E68-7534-4718E0DA92C4}"/>
              </a:ext>
            </a:extLst>
          </p:cNvPr>
          <p:cNvSpPr txBox="1"/>
          <p:nvPr/>
        </p:nvSpPr>
        <p:spPr>
          <a:xfrm>
            <a:off x="5699512" y="5164786"/>
            <a:ext cx="784618" cy="523220"/>
          </a:xfrm>
          <a:prstGeom prst="rect">
            <a:avLst/>
          </a:prstGeom>
          <a:noFill/>
        </p:spPr>
        <p:txBody>
          <a:bodyPr wrap="square" rtlCol="0">
            <a:spAutoFit/>
          </a:bodyPr>
          <a:lstStyle/>
          <a:p>
            <a:r>
              <a:rPr lang="en-US" altLang="zh-CN" sz="2800" dirty="0"/>
              <a:t>E</a:t>
            </a:r>
            <a:endParaRPr lang="zh-CN" altLang="en-US" sz="2800" dirty="0"/>
          </a:p>
        </p:txBody>
      </p:sp>
      <p:sp>
        <p:nvSpPr>
          <p:cNvPr id="40" name="文本框 39">
            <a:extLst>
              <a:ext uri="{FF2B5EF4-FFF2-40B4-BE49-F238E27FC236}">
                <a16:creationId xmlns:a16="http://schemas.microsoft.com/office/drawing/2014/main" id="{8D4033C8-A0DF-33DD-A6AE-EAFF6D014608}"/>
              </a:ext>
            </a:extLst>
          </p:cNvPr>
          <p:cNvSpPr txBox="1"/>
          <p:nvPr/>
        </p:nvSpPr>
        <p:spPr>
          <a:xfrm>
            <a:off x="7639977" y="3622058"/>
            <a:ext cx="784618" cy="523220"/>
          </a:xfrm>
          <a:prstGeom prst="rect">
            <a:avLst/>
          </a:prstGeom>
          <a:noFill/>
        </p:spPr>
        <p:txBody>
          <a:bodyPr wrap="square" rtlCol="0">
            <a:spAutoFit/>
          </a:bodyPr>
          <a:lstStyle/>
          <a:p>
            <a:r>
              <a:rPr lang="en-US" altLang="zh-CN" sz="2800" dirty="0"/>
              <a:t>O</a:t>
            </a:r>
            <a:endParaRPr lang="zh-CN" altLang="en-US" sz="2800" dirty="0"/>
          </a:p>
        </p:txBody>
      </p:sp>
      <p:sp>
        <p:nvSpPr>
          <p:cNvPr id="43" name="文本框 42">
            <a:extLst>
              <a:ext uri="{FF2B5EF4-FFF2-40B4-BE49-F238E27FC236}">
                <a16:creationId xmlns:a16="http://schemas.microsoft.com/office/drawing/2014/main" id="{0AD4EFC9-7CED-A0E9-BA7D-A31EAE9A33BD}"/>
              </a:ext>
            </a:extLst>
          </p:cNvPr>
          <p:cNvSpPr txBox="1"/>
          <p:nvPr/>
        </p:nvSpPr>
        <p:spPr>
          <a:xfrm>
            <a:off x="3315864" y="3107991"/>
            <a:ext cx="2164375" cy="584775"/>
          </a:xfrm>
          <a:prstGeom prst="rect">
            <a:avLst/>
          </a:prstGeom>
          <a:noFill/>
        </p:spPr>
        <p:txBody>
          <a:bodyPr wrap="none" rtlCol="0">
            <a:spAutoFit/>
          </a:bodyPr>
          <a:lstStyle/>
          <a:p>
            <a:r>
              <a:rPr lang="en-US" altLang="zh-CN" sz="3200" dirty="0"/>
              <a:t>r=-1/d,</a:t>
            </a:r>
            <a:r>
              <a:rPr lang="zh-CN" altLang="en-US" sz="3200" dirty="0"/>
              <a:t>则：</a:t>
            </a:r>
          </a:p>
        </p:txBody>
      </p:sp>
    </p:spTree>
    <p:extLst>
      <p:ext uri="{BB962C8B-B14F-4D97-AF65-F5344CB8AC3E}">
        <p14:creationId xmlns:p14="http://schemas.microsoft.com/office/powerpoint/2010/main" val="40004964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9566" y="546652"/>
            <a:ext cx="11239583" cy="5329362"/>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通过上述的投影变换矩阵，在</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轴上的无穷远点</a:t>
            </a:r>
            <a:r>
              <a:rPr lang="en-US" altLang="zh-CN" dirty="0">
                <a:latin typeface="华光仿宋_CNKI" panose="02000500000000000000" pitchFamily="2" charset="-122"/>
                <a:ea typeface="华光仿宋_CNKI" panose="02000500000000000000" pitchFamily="2" charset="-122"/>
              </a:rPr>
              <a:t>[0,0,1,0]</a:t>
            </a:r>
            <a:r>
              <a:rPr lang="zh-CN" altLang="en-US" dirty="0">
                <a:latin typeface="华光仿宋_CNKI" panose="02000500000000000000" pitchFamily="2" charset="-122"/>
                <a:ea typeface="华光仿宋_CNKI" panose="02000500000000000000" pitchFamily="2" charset="-122"/>
              </a:rPr>
              <a:t>经透视投影后可以得到如下的结果：</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t>       </a:t>
            </a:r>
            <a:r>
              <a:rPr lang="zh-CN" altLang="en-US" dirty="0">
                <a:latin typeface="华光仿宋_CNKI" panose="02000500000000000000" pitchFamily="2" charset="-122"/>
                <a:ea typeface="华光仿宋_CNKI" panose="02000500000000000000" pitchFamily="2" charset="-122"/>
              </a:rPr>
              <a:t>这说明</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的整个正半区域（</a:t>
            </a:r>
            <a:r>
              <a:rPr lang="en-US" altLang="zh-CN" dirty="0">
                <a:latin typeface="华光仿宋_CNKI" panose="02000500000000000000" pitchFamily="2" charset="-122"/>
                <a:ea typeface="华光仿宋_CNKI" panose="02000500000000000000" pitchFamily="2" charset="-122"/>
              </a:rPr>
              <a:t>0≤z≤∞</a:t>
            </a:r>
            <a:r>
              <a:rPr lang="zh-CN" altLang="en-US" dirty="0">
                <a:latin typeface="华光仿宋_CNKI" panose="02000500000000000000" pitchFamily="2" charset="-122"/>
                <a:ea typeface="华光仿宋_CNKI" panose="02000500000000000000" pitchFamily="2" charset="-122"/>
              </a:rPr>
              <a:t>）被投影在有限的区域（</a:t>
            </a:r>
            <a:r>
              <a:rPr lang="en-US" altLang="zh-CN" dirty="0">
                <a:latin typeface="华光仿宋_CNKI" panose="02000500000000000000" pitchFamily="2" charset="-122"/>
                <a:ea typeface="华光仿宋_CNKI" panose="02000500000000000000" pitchFamily="2" charset="-122"/>
              </a:rPr>
              <a:t>0≤ z≤1/r</a:t>
            </a:r>
            <a:r>
              <a:rPr lang="zh-CN" altLang="en-US" dirty="0">
                <a:latin typeface="华光仿宋_CNKI" panose="02000500000000000000" pitchFamily="2" charset="-122"/>
                <a:ea typeface="华光仿宋_CNKI" panose="02000500000000000000" pitchFamily="2" charset="-122"/>
              </a:rPr>
              <a:t>）中。这个变换称为</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轴的一点透视，其灭点在</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solidFill>
                  <a:srgbClr val="000000"/>
                </a:solidFill>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solidFill>
                  <a:srgbClr val="000000"/>
                </a:solidFill>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8" name="图片 7">
            <a:extLst>
              <a:ext uri="{FF2B5EF4-FFF2-40B4-BE49-F238E27FC236}">
                <a16:creationId xmlns:a16="http://schemas.microsoft.com/office/drawing/2014/main" id="{38685C99-CA1E-F790-E225-6B92AAAF2CE3}"/>
              </a:ext>
            </a:extLst>
          </p:cNvPr>
          <p:cNvPicPr>
            <a:picLocks noChangeAspect="1"/>
          </p:cNvPicPr>
          <p:nvPr/>
        </p:nvPicPr>
        <p:blipFill>
          <a:blip r:embed="rId3"/>
          <a:stretch>
            <a:fillRect/>
          </a:stretch>
        </p:blipFill>
        <p:spPr>
          <a:xfrm>
            <a:off x="946205" y="1956020"/>
            <a:ext cx="8945218" cy="2067340"/>
          </a:xfrm>
          <a:prstGeom prst="rect">
            <a:avLst/>
          </a:prstGeom>
        </p:spPr>
      </p:pic>
    </p:spTree>
    <p:extLst>
      <p:ext uri="{BB962C8B-B14F-4D97-AF65-F5344CB8AC3E}">
        <p14:creationId xmlns:p14="http://schemas.microsoft.com/office/powerpoint/2010/main" val="3460764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sp>
        <p:nvSpPr>
          <p:cNvPr id="5" name="内容占位符 4">
            <a:extLst>
              <a:ext uri="{FF2B5EF4-FFF2-40B4-BE49-F238E27FC236}">
                <a16:creationId xmlns:a16="http://schemas.microsoft.com/office/drawing/2014/main" id="{4984996A-7329-DEFE-F75D-BDDB857A8996}"/>
              </a:ext>
            </a:extLst>
          </p:cNvPr>
          <p:cNvSpPr>
            <a:spLocks noGrp="1"/>
          </p:cNvSpPr>
          <p:nvPr>
            <p:ph idx="1"/>
          </p:nvPr>
        </p:nvSpPr>
        <p:spPr>
          <a:xfrm>
            <a:off x="742784" y="970459"/>
            <a:ext cx="10515600" cy="4917082"/>
          </a:xfrm>
        </p:spPr>
        <p:txBody>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zh-CN" altLang="en-US" dirty="0">
                <a:solidFill>
                  <a:srgbClr val="FF0000"/>
                </a:solidFill>
                <a:latin typeface="华光标题宋_CNKI" panose="02000500000000000000" pitchFamily="2" charset="-122"/>
                <a:ea typeface="华光标题宋_CNKI" panose="02000500000000000000" pitchFamily="2" charset="-122"/>
              </a:rPr>
              <a:t>灭点</a:t>
            </a:r>
            <a:r>
              <a:rPr lang="zh-CN" altLang="en-US" dirty="0">
                <a:latin typeface="华光仿宋_CNKI" panose="02000500000000000000" pitchFamily="2" charset="-122"/>
                <a:ea typeface="华光仿宋_CNKI" panose="02000500000000000000" pitchFamily="2" charset="-122"/>
              </a:rPr>
              <a:t>：不平行于投影平面的平行线（如平行于 </a:t>
            </a:r>
            <a:r>
              <a:rPr lang="en-US" altLang="zh-CN" dirty="0">
                <a:latin typeface="华光仿宋_CNKI" panose="02000500000000000000" pitchFamily="2" charset="-122"/>
                <a:ea typeface="华光仿宋_CNKI" panose="02000500000000000000" pitchFamily="2" charset="-122"/>
              </a:rPr>
              <a:t>z </a:t>
            </a:r>
            <a:r>
              <a:rPr lang="zh-CN" altLang="en-US" dirty="0">
                <a:latin typeface="华光仿宋_CNKI" panose="02000500000000000000" pitchFamily="2" charset="-122"/>
                <a:ea typeface="华光仿宋_CNKI" panose="02000500000000000000" pitchFamily="2" charset="-122"/>
              </a:rPr>
              <a:t>轴的平行线）的投影的汇聚点，这个点称为灭点。</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由于空间平行直线可以认为是相交于无穷远点，而不平行于投影平面的平行线的透视投影相交于灭点，所以，灭点可以看成是无穷远点经透视投影后得到的点。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zh-CN" altLang="en-US" dirty="0">
                <a:solidFill>
                  <a:srgbClr val="FF0000"/>
                </a:solidFill>
                <a:latin typeface="华光仿宋_CNKI" panose="02000500000000000000" pitchFamily="2" charset="-122"/>
                <a:ea typeface="华光仿宋_CNKI" panose="02000500000000000000" pitchFamily="2" charset="-122"/>
              </a:rPr>
              <a:t>由于不同方向的平行线在投影平面上可形成不同的灭点，因此，透视投影的灭点可有无限多个。</a:t>
            </a:r>
          </a:p>
        </p:txBody>
      </p:sp>
    </p:spTree>
    <p:extLst>
      <p:ext uri="{BB962C8B-B14F-4D97-AF65-F5344CB8AC3E}">
        <p14:creationId xmlns:p14="http://schemas.microsoft.com/office/powerpoint/2010/main" val="2093059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sp>
        <p:nvSpPr>
          <p:cNvPr id="5" name="内容占位符 4">
            <a:extLst>
              <a:ext uri="{FF2B5EF4-FFF2-40B4-BE49-F238E27FC236}">
                <a16:creationId xmlns:a16="http://schemas.microsoft.com/office/drawing/2014/main" id="{4984996A-7329-DEFE-F75D-BDDB857A8996}"/>
              </a:ext>
            </a:extLst>
          </p:cNvPr>
          <p:cNvSpPr>
            <a:spLocks noGrp="1"/>
          </p:cNvSpPr>
          <p:nvPr>
            <p:ph idx="1"/>
          </p:nvPr>
        </p:nvSpPr>
        <p:spPr>
          <a:xfrm>
            <a:off x="742784" y="970458"/>
            <a:ext cx="10515600" cy="5199753"/>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zh-CN" altLang="en-US" dirty="0">
                <a:solidFill>
                  <a:srgbClr val="FF0000"/>
                </a:solidFill>
                <a:latin typeface="华光标题宋_CNKI" panose="02000500000000000000" pitchFamily="2" charset="-122"/>
                <a:ea typeface="华光标题宋_CNKI" panose="02000500000000000000" pitchFamily="2" charset="-122"/>
              </a:rPr>
              <a:t>主灭点</a:t>
            </a:r>
            <a:r>
              <a:rPr lang="zh-CN" altLang="en-US" dirty="0">
                <a:latin typeface="华光仿宋_CNKI" panose="02000500000000000000" pitchFamily="2" charset="-122"/>
                <a:ea typeface="华光仿宋_CNKI" panose="02000500000000000000" pitchFamily="2" charset="-122"/>
              </a:rPr>
              <a:t>：平行于三维坐标系坐标轴的平行线在投影平面上形成的灭点。</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因为只有 </a:t>
            </a:r>
            <a:r>
              <a:rPr lang="en-US" altLang="zh-CN" dirty="0">
                <a:latin typeface="华光仿宋_CNKI" panose="02000500000000000000" pitchFamily="2" charset="-122"/>
                <a:ea typeface="华光仿宋_CNKI" panose="02000500000000000000" pitchFamily="2" charset="-122"/>
              </a:rPr>
              <a:t>3 </a:t>
            </a:r>
            <a:r>
              <a:rPr lang="zh-CN" altLang="en-US" dirty="0">
                <a:latin typeface="华光仿宋_CNKI" panose="02000500000000000000" pitchFamily="2" charset="-122"/>
                <a:ea typeface="华光仿宋_CNKI" panose="02000500000000000000" pitchFamily="2" charset="-122"/>
              </a:rPr>
              <a:t>个坐标轴，所以主灭点最多有 </a:t>
            </a:r>
            <a:r>
              <a:rPr lang="en-US" altLang="zh-CN" dirty="0">
                <a:latin typeface="华光仿宋_CNKI" panose="02000500000000000000" pitchFamily="2" charset="-122"/>
                <a:ea typeface="华光仿宋_CNKI" panose="02000500000000000000" pitchFamily="2" charset="-122"/>
              </a:rPr>
              <a:t>3 </a:t>
            </a:r>
            <a:r>
              <a:rPr lang="zh-CN" altLang="en-US" dirty="0">
                <a:latin typeface="华光仿宋_CNKI" panose="02000500000000000000" pitchFamily="2" charset="-122"/>
                <a:ea typeface="华光仿宋_CNKI" panose="02000500000000000000" pitchFamily="2" charset="-122"/>
              </a:rPr>
              <a:t>个。当某个坐标轴与投影平面平行时，则该坐标轴方向的平行线在投影面上的投影仍然保持平行，不形成灭点。因此，投影平面切割坐标轴的个数就是主灭点的个数。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如果灭点落在</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轴上，对应的点为</a:t>
            </a:r>
            <a:r>
              <a:rPr lang="en-US" altLang="zh-CN" dirty="0">
                <a:latin typeface="华光仿宋_CNKI" panose="02000500000000000000" pitchFamily="2" charset="-122"/>
                <a:ea typeface="华光仿宋_CNKI" panose="02000500000000000000" pitchFamily="2" charset="-122"/>
              </a:rPr>
              <a:t>(0,0,1,0), </a:t>
            </a:r>
            <a:r>
              <a:rPr lang="zh-CN" altLang="en-US" dirty="0">
                <a:latin typeface="华光仿宋_CNKI" panose="02000500000000000000" pitchFamily="2" charset="-122"/>
                <a:ea typeface="华光仿宋_CNKI" panose="02000500000000000000" pitchFamily="2" charset="-122"/>
              </a:rPr>
              <a:t>显然其投影点为：</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3797558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4984996A-7329-DEFE-F75D-BDDB857A8996}"/>
                  </a:ext>
                </a:extLst>
              </p:cNvPr>
              <p:cNvSpPr>
                <a:spLocks noGrp="1"/>
              </p:cNvSpPr>
              <p:nvPr>
                <p:ph idx="1"/>
              </p:nvPr>
            </p:nvSpPr>
            <p:spPr>
              <a:xfrm>
                <a:off x="742784" y="970458"/>
                <a:ext cx="10515600" cy="5199753"/>
              </a:xfrm>
            </p:spPr>
            <p:txBody>
              <a:bodyPr>
                <a:normAutofit/>
              </a:bodyPr>
              <a:lstStyle/>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a:t>
                </a:r>
                <a:r>
                  <a:rPr lang="pl-PL" altLang="zh-CN" sz="3200" dirty="0"/>
                  <a:t>[</a:t>
                </a:r>
                <a14:m>
                  <m:oMath xmlns:m="http://schemas.openxmlformats.org/officeDocument/2006/math">
                    <m:sSup>
                      <m:sSupPr>
                        <m:ctrlPr>
                          <a:rPr lang="pl-PL" altLang="zh-CN" sz="3200" i="1" dirty="0" smtClean="0">
                            <a:latin typeface="Cambria Math" panose="02040503050406030204" pitchFamily="18" charset="0"/>
                          </a:rPr>
                        </m:ctrlPr>
                      </m:sSupPr>
                      <m:e>
                        <m:r>
                          <a:rPr lang="en-US" altLang="zh-CN" sz="3200" b="0" i="1" dirty="0" smtClean="0">
                            <a:latin typeface="Cambria Math" panose="02040503050406030204" pitchFamily="18" charset="0"/>
                          </a:rPr>
                          <m:t>𝑥</m:t>
                        </m:r>
                      </m:e>
                      <m:sup>
                        <m:r>
                          <a:rPr lang="en-US" altLang="zh-CN" sz="3200" b="0" i="1" dirty="0" smtClean="0">
                            <a:latin typeface="Cambria Math" panose="02040503050406030204" pitchFamily="18" charset="0"/>
                          </a:rPr>
                          <m:t>′</m:t>
                        </m:r>
                      </m:sup>
                    </m:sSup>
                    <m:r>
                      <a:rPr lang="en-US" altLang="zh-CN" sz="3200" b="0" i="1" dirty="0" smtClean="0">
                        <a:latin typeface="Cambria Math" panose="02040503050406030204" pitchFamily="18" charset="0"/>
                      </a:rPr>
                      <m:t>,</m:t>
                    </m:r>
                    <m:sSup>
                      <m:sSupPr>
                        <m:ctrlPr>
                          <a:rPr lang="pl-PL" altLang="zh-CN" sz="3200" i="1" dirty="0">
                            <a:latin typeface="Cambria Math" panose="02040503050406030204" pitchFamily="18" charset="0"/>
                          </a:rPr>
                        </m:ctrlPr>
                      </m:sSupPr>
                      <m:e>
                        <m:r>
                          <a:rPr lang="en-US" altLang="zh-CN" sz="3200" b="0" i="1" dirty="0" smtClean="0">
                            <a:latin typeface="Cambria Math" panose="02040503050406030204" pitchFamily="18" charset="0"/>
                          </a:rPr>
                          <m:t>𝑦</m:t>
                        </m:r>
                      </m:e>
                      <m:sup>
                        <m:r>
                          <a:rPr lang="en-US" altLang="zh-CN" sz="3200" i="1" dirty="0">
                            <a:latin typeface="Cambria Math" panose="02040503050406030204" pitchFamily="18" charset="0"/>
                          </a:rPr>
                          <m:t>′</m:t>
                        </m:r>
                      </m:sup>
                    </m:sSup>
                  </m:oMath>
                </a14:m>
                <a:r>
                  <a:rPr lang="en-US" altLang="zh-CN" sz="3200" dirty="0"/>
                  <a:t>,</a:t>
                </a:r>
                <a:r>
                  <a:rPr lang="pl-PL" altLang="zh-CN" sz="3200" dirty="0"/>
                  <a:t> </a:t>
                </a:r>
                <a14:m>
                  <m:oMath xmlns:m="http://schemas.openxmlformats.org/officeDocument/2006/math">
                    <m:sSup>
                      <m:sSupPr>
                        <m:ctrlPr>
                          <a:rPr lang="pl-PL" altLang="zh-CN" sz="3200" i="1" dirty="0">
                            <a:latin typeface="Cambria Math" panose="02040503050406030204" pitchFamily="18" charset="0"/>
                          </a:rPr>
                        </m:ctrlPr>
                      </m:sSupPr>
                      <m:e>
                        <m:r>
                          <a:rPr lang="en-US" altLang="zh-CN" sz="3200" b="0" i="1" dirty="0" smtClean="0">
                            <a:latin typeface="Cambria Math" panose="02040503050406030204" pitchFamily="18" charset="0"/>
                          </a:rPr>
                          <m:t>𝑧</m:t>
                        </m:r>
                      </m:e>
                      <m:sup>
                        <m:r>
                          <a:rPr lang="en-US" altLang="zh-CN" sz="3200" i="1" dirty="0">
                            <a:latin typeface="Cambria Math" panose="02040503050406030204" pitchFamily="18" charset="0"/>
                          </a:rPr>
                          <m:t>′</m:t>
                        </m:r>
                      </m:sup>
                    </m:sSup>
                  </m:oMath>
                </a14:m>
                <a:r>
                  <a:rPr lang="en-US" altLang="zh-CN" sz="3200" dirty="0"/>
                  <a:t>,</a:t>
                </a:r>
                <a:r>
                  <a:rPr lang="pl-PL" altLang="zh-CN" sz="3200" dirty="0"/>
                  <a:t>1] = [0</a:t>
                </a:r>
                <a:r>
                  <a:rPr lang="en-US" altLang="zh-CN" sz="3200" dirty="0"/>
                  <a:t>,</a:t>
                </a:r>
                <a:r>
                  <a:rPr lang="pl-PL" altLang="zh-CN" sz="3200" dirty="0"/>
                  <a:t>0</a:t>
                </a:r>
                <a:r>
                  <a:rPr lang="en-US" altLang="zh-CN" sz="3200" dirty="0"/>
                  <a:t>,</a:t>
                </a:r>
                <a:r>
                  <a:rPr lang="pl-PL" altLang="zh-CN" sz="3200" dirty="0"/>
                  <a:t> 1/</a:t>
                </a:r>
                <a:r>
                  <a:rPr lang="en-US" altLang="zh-CN" sz="3200" dirty="0"/>
                  <a:t>r,</a:t>
                </a:r>
                <a:r>
                  <a:rPr lang="pl-PL" altLang="zh-CN" sz="3200" dirty="0"/>
                  <a:t> 1]</a:t>
                </a:r>
                <a:endParaRPr lang="en-US" altLang="zh-CN" sz="3200" dirty="0"/>
              </a:p>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a:t>
                </a:r>
                <a:r>
                  <a:rPr lang="zh-CN" altLang="en-US" sz="3200" dirty="0">
                    <a:latin typeface="华光仿宋_CNKI" panose="02000500000000000000" pitchFamily="2" charset="-122"/>
                    <a:ea typeface="华光仿宋_CNKI" panose="02000500000000000000" pitchFamily="2" charset="-122"/>
                  </a:rPr>
                  <a:t>其对应的投影矩阵为：</a:t>
                </a:r>
                <a:endParaRPr lang="en-US" altLang="zh-CN" sz="32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p=</a:t>
                </a:r>
              </a:p>
            </p:txBody>
          </p:sp>
        </mc:Choice>
        <mc:Fallback xmlns="">
          <p:sp>
            <p:nvSpPr>
              <p:cNvPr id="5" name="内容占位符 4">
                <a:extLst>
                  <a:ext uri="{FF2B5EF4-FFF2-40B4-BE49-F238E27FC236}">
                    <a16:creationId xmlns:a16="http://schemas.microsoft.com/office/drawing/2014/main" id="{4984996A-7329-DEFE-F75D-BDDB857A8996}"/>
                  </a:ext>
                </a:extLst>
              </p:cNvPr>
              <p:cNvSpPr>
                <a:spLocks noGrp="1" noRot="1" noChangeAspect="1" noMove="1" noResize="1" noEditPoints="1" noAdjustHandles="1" noChangeArrowheads="1" noChangeShapeType="1" noTextEdit="1"/>
              </p:cNvSpPr>
              <p:nvPr>
                <p:ph idx="1"/>
              </p:nvPr>
            </p:nvSpPr>
            <p:spPr>
              <a:xfrm>
                <a:off x="742784" y="970458"/>
                <a:ext cx="10515600" cy="5199753"/>
              </a:xfrm>
              <a:blipFill>
                <a:blip r:embed="rId3"/>
                <a:stretch>
                  <a:fillRect/>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1210CC99-F83B-D79D-BB01-39356FFB641E}"/>
              </a:ext>
            </a:extLst>
          </p:cNvPr>
          <p:cNvPicPr>
            <a:picLocks noChangeAspect="1"/>
          </p:cNvPicPr>
          <p:nvPr/>
        </p:nvPicPr>
        <p:blipFill>
          <a:blip r:embed="rId4"/>
          <a:stretch>
            <a:fillRect/>
          </a:stretch>
        </p:blipFill>
        <p:spPr>
          <a:xfrm>
            <a:off x="3178617" y="2684021"/>
            <a:ext cx="2686050" cy="2809875"/>
          </a:xfrm>
          <a:prstGeom prst="rect">
            <a:avLst/>
          </a:prstGeom>
        </p:spPr>
      </p:pic>
      <p:pic>
        <p:nvPicPr>
          <p:cNvPr id="7" name="图片 6">
            <a:extLst>
              <a:ext uri="{FF2B5EF4-FFF2-40B4-BE49-F238E27FC236}">
                <a16:creationId xmlns:a16="http://schemas.microsoft.com/office/drawing/2014/main" id="{BC1C4C12-9769-D304-4F58-DCFB6BC4A4B9}"/>
              </a:ext>
            </a:extLst>
          </p:cNvPr>
          <p:cNvPicPr>
            <a:picLocks noChangeAspect="1"/>
          </p:cNvPicPr>
          <p:nvPr/>
        </p:nvPicPr>
        <p:blipFill>
          <a:blip r:embed="rId5"/>
          <a:stretch>
            <a:fillRect/>
          </a:stretch>
        </p:blipFill>
        <p:spPr>
          <a:xfrm>
            <a:off x="6790414" y="1784500"/>
            <a:ext cx="4467970" cy="3571668"/>
          </a:xfrm>
          <a:prstGeom prst="rect">
            <a:avLst/>
          </a:prstGeom>
        </p:spPr>
      </p:pic>
    </p:spTree>
    <p:extLst>
      <p:ext uri="{BB962C8B-B14F-4D97-AF65-F5344CB8AC3E}">
        <p14:creationId xmlns:p14="http://schemas.microsoft.com/office/powerpoint/2010/main" val="2444697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4984996A-7329-DEFE-F75D-BDDB857A8996}"/>
                  </a:ext>
                </a:extLst>
              </p:cNvPr>
              <p:cNvSpPr>
                <a:spLocks noGrp="1"/>
              </p:cNvSpPr>
              <p:nvPr>
                <p:ph idx="1"/>
              </p:nvPr>
            </p:nvSpPr>
            <p:spPr>
              <a:xfrm>
                <a:off x="742784" y="970457"/>
                <a:ext cx="10515600" cy="5072533"/>
              </a:xfrm>
            </p:spPr>
            <p:txBody>
              <a:bodyPr>
                <a:normAutofit fontScale="85000" lnSpcReduction="10000"/>
              </a:bodyPr>
              <a:lstStyle/>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a:t>
                </a:r>
                <a:r>
                  <a:rPr lang="zh-CN" altLang="en-US" sz="3200" dirty="0">
                    <a:latin typeface="华光仿宋_CNKI" panose="02000500000000000000" pitchFamily="2" charset="-122"/>
                    <a:ea typeface="华光仿宋_CNKI" panose="02000500000000000000" pitchFamily="2" charset="-122"/>
                  </a:rPr>
                  <a:t>如果灭点在</a:t>
                </a:r>
                <a:r>
                  <a:rPr lang="en-US" altLang="zh-CN" sz="3200" dirty="0">
                    <a:latin typeface="华光仿宋_CNKI" panose="02000500000000000000" pitchFamily="2" charset="-122"/>
                    <a:ea typeface="华光仿宋_CNKI" panose="02000500000000000000" pitchFamily="2" charset="-122"/>
                  </a:rPr>
                  <a:t>X</a:t>
                </a:r>
                <a:r>
                  <a:rPr lang="zh-CN" altLang="en-US" sz="3200" dirty="0">
                    <a:latin typeface="华光仿宋_CNKI" panose="02000500000000000000" pitchFamily="2" charset="-122"/>
                    <a:ea typeface="华光仿宋_CNKI" panose="02000500000000000000" pitchFamily="2" charset="-122"/>
                  </a:rPr>
                  <a:t>轴和</a:t>
                </a:r>
                <a:r>
                  <a:rPr lang="en-US" altLang="zh-CN" sz="3200" dirty="0">
                    <a:latin typeface="华光仿宋_CNKI" panose="02000500000000000000" pitchFamily="2" charset="-122"/>
                    <a:ea typeface="华光仿宋_CNKI" panose="02000500000000000000" pitchFamily="2" charset="-122"/>
                  </a:rPr>
                  <a:t>Y</a:t>
                </a:r>
                <a:r>
                  <a:rPr lang="zh-CN" altLang="en-US" sz="3200" dirty="0">
                    <a:latin typeface="华光仿宋_CNKI" panose="02000500000000000000" pitchFamily="2" charset="-122"/>
                    <a:ea typeface="华光仿宋_CNKI" panose="02000500000000000000" pitchFamily="2" charset="-122"/>
                  </a:rPr>
                  <a:t>轴上，则对应的投影矩阵分别为：</a:t>
                </a:r>
                <a:endParaRPr lang="en-US" altLang="zh-CN" sz="32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sz="3200" dirty="0">
                    <a:ea typeface="华光仿宋_CNKI" panose="02000500000000000000" pitchFamily="2" charset="-122"/>
                  </a:rPr>
                  <a:t>              </a:t>
                </a:r>
                <a14:m>
                  <m:oMath xmlns:m="http://schemas.openxmlformats.org/officeDocument/2006/math">
                    <m:sSub>
                      <m:sSubPr>
                        <m:ctrlPr>
                          <a:rPr lang="en-US" altLang="zh-CN" sz="3200" i="1" smtClean="0">
                            <a:latin typeface="Cambria Math" panose="02040503050406030204" pitchFamily="18" charset="0"/>
                            <a:ea typeface="华光仿宋_CNKI" panose="02000500000000000000" pitchFamily="2" charset="-122"/>
                          </a:rPr>
                        </m:ctrlPr>
                      </m:sSubPr>
                      <m:e>
                        <m:r>
                          <a:rPr lang="en-US" altLang="zh-CN" sz="3200" b="0" i="1" smtClean="0">
                            <a:latin typeface="Cambria Math" panose="02040503050406030204" pitchFamily="18" charset="0"/>
                            <a:ea typeface="华光仿宋_CNKI" panose="02000500000000000000" pitchFamily="2" charset="-122"/>
                          </a:rPr>
                          <m:t>𝑃</m:t>
                        </m:r>
                      </m:e>
                      <m:sub>
                        <m:r>
                          <a:rPr lang="en-US" altLang="zh-CN" sz="3200" b="0" i="1" smtClean="0">
                            <a:latin typeface="Cambria Math" panose="02040503050406030204" pitchFamily="18" charset="0"/>
                            <a:ea typeface="华光仿宋_CNKI" panose="02000500000000000000" pitchFamily="2" charset="-122"/>
                          </a:rPr>
                          <m:t>𝑥</m:t>
                        </m:r>
                      </m:sub>
                    </m:sSub>
                  </m:oMath>
                </a14:m>
                <a:r>
                  <a:rPr lang="en-US" altLang="zh-CN" sz="32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i="1">
                            <a:latin typeface="Cambria Math" panose="02040503050406030204" pitchFamily="18" charset="0"/>
                            <a:ea typeface="华光仿宋_CNKI" panose="02000500000000000000" pitchFamily="2" charset="-122"/>
                          </a:rPr>
                          <m:t>𝑃</m:t>
                        </m:r>
                      </m:e>
                      <m:sub>
                        <m:r>
                          <a:rPr lang="en-US" altLang="zh-CN" sz="3200" b="0" i="1" smtClean="0">
                            <a:latin typeface="Cambria Math" panose="02040503050406030204" pitchFamily="18" charset="0"/>
                            <a:ea typeface="华光仿宋_CNKI" panose="02000500000000000000" pitchFamily="2" charset="-122"/>
                          </a:rPr>
                          <m:t>𝑦</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latin typeface="华光仿宋_CNKI" panose="02000500000000000000" pitchFamily="2" charset="-122"/>
                    <a:ea typeface="华光仿宋_CNKI" panose="02000500000000000000" pitchFamily="2" charset="-122"/>
                  </a:rPr>
                  <a:t>=</a:t>
                </a:r>
              </a:p>
              <a:p>
                <a:pPr marL="0" indent="0">
                  <a:lnSpc>
                    <a:spcPct val="150000"/>
                  </a:lnSpc>
                  <a:buNone/>
                </a:pPr>
                <a:endParaRPr lang="en-US" altLang="zh-CN" sz="32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32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a:t>
                </a:r>
                <a:r>
                  <a:rPr lang="zh-CN" altLang="en-US" sz="3200" dirty="0">
                    <a:latin typeface="华光仿宋_CNKI" panose="02000500000000000000" pitchFamily="2" charset="-122"/>
                    <a:ea typeface="华光仿宋_CNKI" panose="02000500000000000000" pitchFamily="2" charset="-122"/>
                  </a:rPr>
                  <a:t>如果灭点同时出现在两个坐标轴上，则称为</a:t>
                </a:r>
                <a:r>
                  <a:rPr lang="zh-CN" altLang="en-US" sz="3200" dirty="0">
                    <a:solidFill>
                      <a:srgbClr val="FF0000"/>
                    </a:solidFill>
                    <a:latin typeface="华光标题宋_CNKI" panose="02000500000000000000" pitchFamily="2" charset="-122"/>
                    <a:ea typeface="华光标题宋_CNKI" panose="02000500000000000000" pitchFamily="2" charset="-122"/>
                  </a:rPr>
                  <a:t>两点透视</a:t>
                </a:r>
                <a:r>
                  <a:rPr lang="zh-CN" altLang="en-US" sz="3200" dirty="0">
                    <a:latin typeface="华光仿宋_CNKI" panose="02000500000000000000" pitchFamily="2" charset="-122"/>
                    <a:ea typeface="华光仿宋_CNKI" panose="02000500000000000000" pitchFamily="2" charset="-122"/>
                  </a:rPr>
                  <a:t>。</a:t>
                </a:r>
                <a:endParaRPr lang="en-US" altLang="zh-CN" sz="32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3200" dirty="0">
                    <a:latin typeface="华光仿宋_CNKI" panose="02000500000000000000" pitchFamily="2" charset="-122"/>
                    <a:ea typeface="华光仿宋_CNKI" panose="02000500000000000000" pitchFamily="2" charset="-122"/>
                  </a:rPr>
                  <a:t>   参照前面的结果，可以看出在</a:t>
                </a:r>
                <a:r>
                  <a:rPr lang="en-US" altLang="zh-CN" sz="3200" dirty="0">
                    <a:latin typeface="华光仿宋_CNKI" panose="02000500000000000000" pitchFamily="2" charset="-122"/>
                    <a:ea typeface="华光仿宋_CNKI" panose="02000500000000000000" pitchFamily="2" charset="-122"/>
                  </a:rPr>
                  <a:t>X</a:t>
                </a:r>
                <a:r>
                  <a:rPr lang="zh-CN" altLang="en-US" sz="3200" dirty="0">
                    <a:latin typeface="华光仿宋_CNKI" panose="02000500000000000000" pitchFamily="2" charset="-122"/>
                    <a:ea typeface="华光仿宋_CNKI" panose="02000500000000000000" pitchFamily="2" charset="-122"/>
                  </a:rPr>
                  <a:t>和</a:t>
                </a:r>
                <a:r>
                  <a:rPr lang="en-US" altLang="zh-CN" sz="3200" dirty="0">
                    <a:latin typeface="华光仿宋_CNKI" panose="02000500000000000000" pitchFamily="2" charset="-122"/>
                    <a:ea typeface="华光仿宋_CNKI" panose="02000500000000000000" pitchFamily="2" charset="-122"/>
                  </a:rPr>
                  <a:t>Z</a:t>
                </a:r>
                <a:r>
                  <a:rPr lang="zh-CN" altLang="en-US" sz="3200" dirty="0">
                    <a:latin typeface="华光仿宋_CNKI" panose="02000500000000000000" pitchFamily="2" charset="-122"/>
                    <a:ea typeface="华光仿宋_CNKI" panose="02000500000000000000" pitchFamily="2" charset="-122"/>
                  </a:rPr>
                  <a:t>轴上的两点透视矩阵为：</a:t>
                </a:r>
                <a:endParaRPr lang="en-US" altLang="zh-CN" sz="3200" dirty="0">
                  <a:latin typeface="华光仿宋_CNKI" panose="02000500000000000000" pitchFamily="2" charset="-122"/>
                  <a:ea typeface="华光仿宋_CNKI" panose="02000500000000000000" pitchFamily="2" charset="-122"/>
                </a:endParaRPr>
              </a:p>
            </p:txBody>
          </p:sp>
        </mc:Choice>
        <mc:Fallback xmlns="">
          <p:sp>
            <p:nvSpPr>
              <p:cNvPr id="5" name="内容占位符 4">
                <a:extLst>
                  <a:ext uri="{FF2B5EF4-FFF2-40B4-BE49-F238E27FC236}">
                    <a16:creationId xmlns:a16="http://schemas.microsoft.com/office/drawing/2014/main" id="{4984996A-7329-DEFE-F75D-BDDB857A8996}"/>
                  </a:ext>
                </a:extLst>
              </p:cNvPr>
              <p:cNvSpPr>
                <a:spLocks noGrp="1" noRot="1" noChangeAspect="1" noMove="1" noResize="1" noEditPoints="1" noAdjustHandles="1" noChangeArrowheads="1" noChangeShapeType="1" noTextEdit="1"/>
              </p:cNvSpPr>
              <p:nvPr>
                <p:ph idx="1"/>
              </p:nvPr>
            </p:nvSpPr>
            <p:spPr>
              <a:xfrm>
                <a:off x="742784" y="970457"/>
                <a:ext cx="10515600" cy="5072533"/>
              </a:xfrm>
              <a:blipFill>
                <a:blip r:embed="rId3"/>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AE1273B6-CFEF-C4A7-36F2-BD9F4653A9C8}"/>
              </a:ext>
            </a:extLst>
          </p:cNvPr>
          <p:cNvPicPr>
            <a:picLocks noChangeAspect="1"/>
          </p:cNvPicPr>
          <p:nvPr/>
        </p:nvPicPr>
        <p:blipFill>
          <a:blip r:embed="rId4"/>
          <a:stretch>
            <a:fillRect/>
          </a:stretch>
        </p:blipFill>
        <p:spPr>
          <a:xfrm>
            <a:off x="6436622" y="1923471"/>
            <a:ext cx="2181225" cy="2343150"/>
          </a:xfrm>
          <a:prstGeom prst="rect">
            <a:avLst/>
          </a:prstGeom>
        </p:spPr>
      </p:pic>
      <p:pic>
        <p:nvPicPr>
          <p:cNvPr id="8" name="图片 7">
            <a:extLst>
              <a:ext uri="{FF2B5EF4-FFF2-40B4-BE49-F238E27FC236}">
                <a16:creationId xmlns:a16="http://schemas.microsoft.com/office/drawing/2014/main" id="{5E6B06DB-EB6C-1CDC-4CF0-71C1AD16BE18}"/>
              </a:ext>
            </a:extLst>
          </p:cNvPr>
          <p:cNvPicPr>
            <a:picLocks noChangeAspect="1"/>
          </p:cNvPicPr>
          <p:nvPr/>
        </p:nvPicPr>
        <p:blipFill>
          <a:blip r:embed="rId5"/>
          <a:stretch>
            <a:fillRect/>
          </a:stretch>
        </p:blipFill>
        <p:spPr>
          <a:xfrm>
            <a:off x="2772810" y="1971096"/>
            <a:ext cx="2266950" cy="2295525"/>
          </a:xfrm>
          <a:prstGeom prst="rect">
            <a:avLst/>
          </a:prstGeom>
        </p:spPr>
      </p:pic>
    </p:spTree>
    <p:extLst>
      <p:ext uri="{BB962C8B-B14F-4D97-AF65-F5344CB8AC3E}">
        <p14:creationId xmlns:p14="http://schemas.microsoft.com/office/powerpoint/2010/main" val="34414222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3" name="内容占位符 2">
            <a:extLst>
              <a:ext uri="{FF2B5EF4-FFF2-40B4-BE49-F238E27FC236}">
                <a16:creationId xmlns:a16="http://schemas.microsoft.com/office/drawing/2014/main" id="{22E3D421-F29C-FEA5-8020-7180F04290E8}"/>
              </a:ext>
            </a:extLst>
          </p:cNvPr>
          <p:cNvPicPr>
            <a:picLocks noGrp="1" noChangeAspect="1"/>
          </p:cNvPicPr>
          <p:nvPr>
            <p:ph idx="1"/>
          </p:nvPr>
        </p:nvPicPr>
        <p:blipFill>
          <a:blip r:embed="rId3"/>
          <a:stretch>
            <a:fillRect/>
          </a:stretch>
        </p:blipFill>
        <p:spPr>
          <a:xfrm>
            <a:off x="2710815" y="997668"/>
            <a:ext cx="2190750" cy="2314575"/>
          </a:xfr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CEA9F6C-6A58-F87E-A513-73F14FF4FC38}"/>
                  </a:ext>
                </a:extLst>
              </p:cNvPr>
              <p:cNvSpPr txBox="1"/>
              <p:nvPr/>
            </p:nvSpPr>
            <p:spPr>
              <a:xfrm>
                <a:off x="2037107" y="1962338"/>
                <a:ext cx="2805237" cy="513282"/>
              </a:xfrm>
              <a:prstGeom prst="rect">
                <a:avLst/>
              </a:prstGeom>
              <a:noFill/>
            </p:spPr>
            <p:txBody>
              <a:bodyPr wrap="square">
                <a:spAutoFit/>
              </a:bodyPr>
              <a:lstStyle/>
              <a:p>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𝑃</m:t>
                        </m:r>
                      </m:e>
                      <m:sub>
                        <m:r>
                          <a:rPr lang="en-US" altLang="zh-CN" sz="2800" b="0" i="1" smtClean="0">
                            <a:latin typeface="Cambria Math" panose="02040503050406030204" pitchFamily="18" charset="0"/>
                            <a:ea typeface="华光仿宋_CNKI" panose="02000500000000000000" pitchFamily="2" charset="-122"/>
                          </a:rPr>
                          <m:t>𝑥𝑧</m:t>
                        </m:r>
                      </m:sub>
                    </m:sSub>
                  </m:oMath>
                </a14:m>
                <a:r>
                  <a:rPr lang="en-US" altLang="zh-CN" sz="1800" dirty="0">
                    <a:latin typeface="华光仿宋_CNKI" panose="02000500000000000000" pitchFamily="2" charset="-122"/>
                    <a:ea typeface="华光仿宋_CNKI" panose="02000500000000000000" pitchFamily="2" charset="-122"/>
                  </a:rPr>
                  <a:t>= </a:t>
                </a:r>
                <a:endParaRPr lang="zh-CN" altLang="en-US" dirty="0"/>
              </a:p>
            </p:txBody>
          </p:sp>
        </mc:Choice>
        <mc:Fallback xmlns="">
          <p:sp>
            <p:nvSpPr>
              <p:cNvPr id="9" name="文本框 8">
                <a:extLst>
                  <a:ext uri="{FF2B5EF4-FFF2-40B4-BE49-F238E27FC236}">
                    <a16:creationId xmlns:a16="http://schemas.microsoft.com/office/drawing/2014/main" id="{ACEA9F6C-6A58-F87E-A513-73F14FF4FC38}"/>
                  </a:ext>
                </a:extLst>
              </p:cNvPr>
              <p:cNvSpPr txBox="1">
                <a:spLocks noRot="1" noChangeAspect="1" noMove="1" noResize="1" noEditPoints="1" noAdjustHandles="1" noChangeArrowheads="1" noChangeShapeType="1" noTextEdit="1"/>
              </p:cNvSpPr>
              <p:nvPr/>
            </p:nvSpPr>
            <p:spPr>
              <a:xfrm>
                <a:off x="2037107" y="1962338"/>
                <a:ext cx="2805237" cy="513282"/>
              </a:xfrm>
              <a:prstGeom prst="rect">
                <a:avLst/>
              </a:prstGeom>
              <a:blipFill>
                <a:blip r:embed="rId4"/>
                <a:stretch>
                  <a:fillRect b="-14286"/>
                </a:stretch>
              </a:blipFill>
            </p:spPr>
            <p:txBody>
              <a:bodyPr/>
              <a:lstStyle/>
              <a:p>
                <a:r>
                  <a:rPr lang="zh-CN" altLang="en-US">
                    <a:noFill/>
                  </a:rPr>
                  <a:t> </a:t>
                </a:r>
              </a:p>
            </p:txBody>
          </p:sp>
        </mc:Fallback>
      </mc:AlternateContent>
      <p:sp>
        <p:nvSpPr>
          <p:cNvPr id="11" name="内容占位符 4">
            <a:extLst>
              <a:ext uri="{FF2B5EF4-FFF2-40B4-BE49-F238E27FC236}">
                <a16:creationId xmlns:a16="http://schemas.microsoft.com/office/drawing/2014/main" id="{FCCE9593-494F-47F1-A3FF-674453B17020}"/>
              </a:ext>
            </a:extLst>
          </p:cNvPr>
          <p:cNvSpPr txBox="1">
            <a:spLocks/>
          </p:cNvSpPr>
          <p:nvPr/>
        </p:nvSpPr>
        <p:spPr>
          <a:xfrm>
            <a:off x="1029031" y="3545758"/>
            <a:ext cx="10515600" cy="30135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sz="3200" dirty="0">
                <a:latin typeface="华光仿宋_CNKI" panose="02000500000000000000" pitchFamily="2" charset="-122"/>
                <a:ea typeface="华光仿宋_CNKI" panose="02000500000000000000" pitchFamily="2" charset="-122"/>
              </a:rPr>
              <a:t>   </a:t>
            </a:r>
            <a:r>
              <a:rPr lang="zh-CN" altLang="en-US" sz="3200" dirty="0">
                <a:latin typeface="华光仿宋_CNKI" panose="02000500000000000000" pitchFamily="2" charset="-122"/>
                <a:ea typeface="华光仿宋_CNKI" panose="02000500000000000000" pitchFamily="2" charset="-122"/>
              </a:rPr>
              <a:t>对应的投影点为：</a:t>
            </a:r>
            <a:endParaRPr lang="en-US" altLang="zh-CN" sz="3200" dirty="0">
              <a:latin typeface="华光仿宋_CNKI" panose="02000500000000000000" pitchFamily="2" charset="-122"/>
              <a:ea typeface="华光仿宋_CNKI" panose="02000500000000000000" pitchFamily="2" charset="-122"/>
            </a:endParaRPr>
          </a:p>
        </p:txBody>
      </p:sp>
      <p:pic>
        <p:nvPicPr>
          <p:cNvPr id="13" name="图片 12">
            <a:extLst>
              <a:ext uri="{FF2B5EF4-FFF2-40B4-BE49-F238E27FC236}">
                <a16:creationId xmlns:a16="http://schemas.microsoft.com/office/drawing/2014/main" id="{03426089-1D94-F649-2177-A7579422EA70}"/>
              </a:ext>
            </a:extLst>
          </p:cNvPr>
          <p:cNvPicPr>
            <a:picLocks noChangeAspect="1"/>
          </p:cNvPicPr>
          <p:nvPr/>
        </p:nvPicPr>
        <p:blipFill>
          <a:blip r:embed="rId5"/>
          <a:stretch>
            <a:fillRect/>
          </a:stretch>
        </p:blipFill>
        <p:spPr>
          <a:xfrm>
            <a:off x="2198453" y="4509604"/>
            <a:ext cx="9020175" cy="1085850"/>
          </a:xfrm>
          <a:prstGeom prst="rect">
            <a:avLst/>
          </a:prstGeom>
        </p:spPr>
      </p:pic>
      <p:pic>
        <p:nvPicPr>
          <p:cNvPr id="15" name="图片 14">
            <a:extLst>
              <a:ext uri="{FF2B5EF4-FFF2-40B4-BE49-F238E27FC236}">
                <a16:creationId xmlns:a16="http://schemas.microsoft.com/office/drawing/2014/main" id="{8940692F-B894-A8FC-7020-06907708323F}"/>
              </a:ext>
            </a:extLst>
          </p:cNvPr>
          <p:cNvPicPr>
            <a:picLocks noChangeAspect="1"/>
          </p:cNvPicPr>
          <p:nvPr/>
        </p:nvPicPr>
        <p:blipFill>
          <a:blip r:embed="rId6"/>
          <a:stretch>
            <a:fillRect/>
          </a:stretch>
        </p:blipFill>
        <p:spPr>
          <a:xfrm>
            <a:off x="5446643" y="389614"/>
            <a:ext cx="6027089" cy="3372003"/>
          </a:xfrm>
          <a:prstGeom prst="rect">
            <a:avLst/>
          </a:prstGeom>
        </p:spPr>
      </p:pic>
    </p:spTree>
    <p:extLst>
      <p:ext uri="{BB962C8B-B14F-4D97-AF65-F5344CB8AC3E}">
        <p14:creationId xmlns:p14="http://schemas.microsoft.com/office/powerpoint/2010/main" val="3151545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6106" y="644527"/>
            <a:ext cx="4506154" cy="5565441"/>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下面主要讨论摄像机坐标系如果通过透视变换转换到屏幕坐标系。</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在将物体从摄像机坐标系投影到屏幕坐标系时，可以把屏幕看成是投影面，摄像机看成是投影中心，而物体介于摄像机的近平面和远平面之间，如下图所示。</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grpSp>
        <p:nvGrpSpPr>
          <p:cNvPr id="39" name="组合 38">
            <a:extLst>
              <a:ext uri="{FF2B5EF4-FFF2-40B4-BE49-F238E27FC236}">
                <a16:creationId xmlns:a16="http://schemas.microsoft.com/office/drawing/2014/main" id="{F2A09B19-21DF-A48F-002C-F3BEE0B4D1D6}"/>
              </a:ext>
            </a:extLst>
          </p:cNvPr>
          <p:cNvGrpSpPr/>
          <p:nvPr/>
        </p:nvGrpSpPr>
        <p:grpSpPr>
          <a:xfrm>
            <a:off x="5007087" y="644527"/>
            <a:ext cx="7254241" cy="5096786"/>
            <a:chOff x="4880847" y="929569"/>
            <a:chExt cx="7254241" cy="5096786"/>
          </a:xfrm>
        </p:grpSpPr>
        <p:sp>
          <p:nvSpPr>
            <p:cNvPr id="5" name="AutoShape 5" descr="Viewing frustrum">
              <a:extLst>
                <a:ext uri="{FF2B5EF4-FFF2-40B4-BE49-F238E27FC236}">
                  <a16:creationId xmlns:a16="http://schemas.microsoft.com/office/drawing/2014/main" id="{AEF185CB-AB15-10B0-6A1B-64EC60ED142C}"/>
                </a:ext>
              </a:extLst>
            </p:cNvPr>
            <p:cNvSpPr>
              <a:spLocks noChangeAspect="1" noChangeArrowheads="1"/>
            </p:cNvSpPr>
            <p:nvPr/>
          </p:nvSpPr>
          <p:spPr bwMode="auto">
            <a:xfrm>
              <a:off x="8507968" y="3541354"/>
              <a:ext cx="261414" cy="30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 name="AutoShape 7" descr="Viewing frustrum">
              <a:extLst>
                <a:ext uri="{FF2B5EF4-FFF2-40B4-BE49-F238E27FC236}">
                  <a16:creationId xmlns:a16="http://schemas.microsoft.com/office/drawing/2014/main" id="{FCF27B06-F04F-94AC-06CE-BCEBFD5601F9}"/>
                </a:ext>
              </a:extLst>
            </p:cNvPr>
            <p:cNvSpPr>
              <a:spLocks noChangeAspect="1" noChangeArrowheads="1"/>
            </p:cNvSpPr>
            <p:nvPr/>
          </p:nvSpPr>
          <p:spPr bwMode="auto">
            <a:xfrm>
              <a:off x="8507968" y="3541354"/>
              <a:ext cx="261414" cy="30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7" name="Picture 8">
              <a:extLst>
                <a:ext uri="{FF2B5EF4-FFF2-40B4-BE49-F238E27FC236}">
                  <a16:creationId xmlns:a16="http://schemas.microsoft.com/office/drawing/2014/main" id="{4826F496-A9F5-AB44-A404-606FCE69E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0847" y="929569"/>
              <a:ext cx="7254241" cy="5096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0">
              <a:extLst>
                <a:ext uri="{FF2B5EF4-FFF2-40B4-BE49-F238E27FC236}">
                  <a16:creationId xmlns:a16="http://schemas.microsoft.com/office/drawing/2014/main" id="{6A50FCFB-83E9-537D-5F71-C31240FA0367}"/>
                </a:ext>
              </a:extLst>
            </p:cNvPr>
            <p:cNvSpPr txBox="1">
              <a:spLocks noChangeArrowheads="1"/>
            </p:cNvSpPr>
            <p:nvPr/>
          </p:nvSpPr>
          <p:spPr bwMode="auto">
            <a:xfrm>
              <a:off x="6842034" y="1487426"/>
              <a:ext cx="1111010" cy="366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前裁剪面</a:t>
              </a:r>
            </a:p>
          </p:txBody>
        </p:sp>
        <p:sp>
          <p:nvSpPr>
            <p:cNvPr id="9" name="Text Box 11">
              <a:extLst>
                <a:ext uri="{FF2B5EF4-FFF2-40B4-BE49-F238E27FC236}">
                  <a16:creationId xmlns:a16="http://schemas.microsoft.com/office/drawing/2014/main" id="{08EF8270-87F6-AFA2-75C2-C7F6DE508B72}"/>
                </a:ext>
              </a:extLst>
            </p:cNvPr>
            <p:cNvSpPr txBox="1">
              <a:spLocks noChangeArrowheads="1"/>
            </p:cNvSpPr>
            <p:nvPr/>
          </p:nvSpPr>
          <p:spPr bwMode="auto">
            <a:xfrm>
              <a:off x="10216233" y="2248141"/>
              <a:ext cx="1111010" cy="366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后裁剪面</a:t>
              </a:r>
            </a:p>
          </p:txBody>
        </p:sp>
        <p:sp>
          <p:nvSpPr>
            <p:cNvPr id="10" name="Freeform 14">
              <a:extLst>
                <a:ext uri="{FF2B5EF4-FFF2-40B4-BE49-F238E27FC236}">
                  <a16:creationId xmlns:a16="http://schemas.microsoft.com/office/drawing/2014/main" id="{72731A7B-508D-C055-F49A-5A6BB2E0178A}"/>
                </a:ext>
              </a:extLst>
            </p:cNvPr>
            <p:cNvSpPr>
              <a:spLocks/>
            </p:cNvSpPr>
            <p:nvPr/>
          </p:nvSpPr>
          <p:spPr bwMode="auto">
            <a:xfrm>
              <a:off x="8029095" y="3997783"/>
              <a:ext cx="196061" cy="836786"/>
            </a:xfrm>
            <a:custGeom>
              <a:avLst/>
              <a:gdLst>
                <a:gd name="T0" fmla="*/ 0 w 144"/>
                <a:gd name="T1" fmla="*/ 0 h 528"/>
                <a:gd name="T2" fmla="*/ 362902500 w 144"/>
                <a:gd name="T3" fmla="*/ 604837500 h 528"/>
                <a:gd name="T4" fmla="*/ 0 w 144"/>
                <a:gd name="T5" fmla="*/ 1330642500 h 528"/>
                <a:gd name="T6" fmla="*/ 0 60000 65536"/>
                <a:gd name="T7" fmla="*/ 0 60000 65536"/>
                <a:gd name="T8" fmla="*/ 0 60000 65536"/>
              </a:gdLst>
              <a:ahLst/>
              <a:cxnLst>
                <a:cxn ang="T6">
                  <a:pos x="T0" y="T1"/>
                </a:cxn>
                <a:cxn ang="T7">
                  <a:pos x="T2" y="T3"/>
                </a:cxn>
                <a:cxn ang="T8">
                  <a:pos x="T4" y="T5"/>
                </a:cxn>
              </a:cxnLst>
              <a:rect l="0" t="0" r="r" b="b"/>
              <a:pathLst>
                <a:path w="144" h="528">
                  <a:moveTo>
                    <a:pt x="0" y="0"/>
                  </a:moveTo>
                  <a:cubicBezTo>
                    <a:pt x="72" y="76"/>
                    <a:pt x="144" y="152"/>
                    <a:pt x="144" y="240"/>
                  </a:cubicBezTo>
                  <a:cubicBezTo>
                    <a:pt x="144" y="328"/>
                    <a:pt x="72" y="428"/>
                    <a:pt x="0" y="528"/>
                  </a:cubicBezTo>
                </a:path>
              </a:pathLst>
            </a:custGeom>
            <a:noFill/>
            <a:ln w="9525">
              <a:solidFill>
                <a:srgbClr val="FF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15">
              <a:extLst>
                <a:ext uri="{FF2B5EF4-FFF2-40B4-BE49-F238E27FC236}">
                  <a16:creationId xmlns:a16="http://schemas.microsoft.com/office/drawing/2014/main" id="{C13AE58F-7DCE-EE90-D4DE-988336F4174B}"/>
                </a:ext>
              </a:extLst>
            </p:cNvPr>
            <p:cNvSpPr txBox="1">
              <a:spLocks noChangeArrowheads="1"/>
            </p:cNvSpPr>
            <p:nvPr/>
          </p:nvSpPr>
          <p:spPr bwMode="auto">
            <a:xfrm>
              <a:off x="7907927" y="4225998"/>
              <a:ext cx="2222019" cy="366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视角垂直观察角度</a:t>
              </a:r>
              <a:r>
                <a:rPr lang="en-US" altLang="zh-CN" sz="1800" dirty="0">
                  <a:solidFill>
                    <a:srgbClr val="FF0000"/>
                  </a:solidFill>
                </a:rPr>
                <a:t>V</a:t>
              </a:r>
            </a:p>
          </p:txBody>
        </p:sp>
        <p:sp>
          <p:nvSpPr>
            <p:cNvPr id="12" name="Freeform 18">
              <a:extLst>
                <a:ext uri="{FF2B5EF4-FFF2-40B4-BE49-F238E27FC236}">
                  <a16:creationId xmlns:a16="http://schemas.microsoft.com/office/drawing/2014/main" id="{6E3F2397-CCAD-7314-7215-26B914702B70}"/>
                </a:ext>
              </a:extLst>
            </p:cNvPr>
            <p:cNvSpPr>
              <a:spLocks/>
            </p:cNvSpPr>
            <p:nvPr/>
          </p:nvSpPr>
          <p:spPr bwMode="auto">
            <a:xfrm>
              <a:off x="8734536" y="2932783"/>
              <a:ext cx="533720" cy="545179"/>
            </a:xfrm>
            <a:custGeom>
              <a:avLst/>
              <a:gdLst>
                <a:gd name="T0" fmla="*/ 0 w 392"/>
                <a:gd name="T1" fmla="*/ 20161250 h 344"/>
                <a:gd name="T2" fmla="*/ 846772500 w 392"/>
                <a:gd name="T3" fmla="*/ 141128750 h 344"/>
                <a:gd name="T4" fmla="*/ 846772500 w 392"/>
                <a:gd name="T5" fmla="*/ 866933750 h 344"/>
                <a:gd name="T6" fmla="*/ 0 60000 65536"/>
                <a:gd name="T7" fmla="*/ 0 60000 65536"/>
                <a:gd name="T8" fmla="*/ 0 60000 65536"/>
              </a:gdLst>
              <a:ahLst/>
              <a:cxnLst>
                <a:cxn ang="T6">
                  <a:pos x="T0" y="T1"/>
                </a:cxn>
                <a:cxn ang="T7">
                  <a:pos x="T2" y="T3"/>
                </a:cxn>
                <a:cxn ang="T8">
                  <a:pos x="T4" y="T5"/>
                </a:cxn>
              </a:cxnLst>
              <a:rect l="0" t="0" r="r" b="b"/>
              <a:pathLst>
                <a:path w="392" h="344">
                  <a:moveTo>
                    <a:pt x="0" y="8"/>
                  </a:moveTo>
                  <a:cubicBezTo>
                    <a:pt x="140" y="4"/>
                    <a:pt x="280" y="0"/>
                    <a:pt x="336" y="56"/>
                  </a:cubicBezTo>
                  <a:cubicBezTo>
                    <a:pt x="392" y="112"/>
                    <a:pt x="336" y="296"/>
                    <a:pt x="336" y="344"/>
                  </a:cubicBezTo>
                </a:path>
              </a:pathLst>
            </a:custGeom>
            <a:noFill/>
            <a:ln w="9525">
              <a:solidFill>
                <a:srgbClr val="FF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19">
              <a:extLst>
                <a:ext uri="{FF2B5EF4-FFF2-40B4-BE49-F238E27FC236}">
                  <a16:creationId xmlns:a16="http://schemas.microsoft.com/office/drawing/2014/main" id="{7AC99DDE-67E5-75A0-75E1-FE9DD737011D}"/>
                </a:ext>
              </a:extLst>
            </p:cNvPr>
            <p:cNvSpPr txBox="1">
              <a:spLocks noChangeArrowheads="1"/>
            </p:cNvSpPr>
            <p:nvPr/>
          </p:nvSpPr>
          <p:spPr bwMode="auto">
            <a:xfrm>
              <a:off x="9414369" y="2839278"/>
              <a:ext cx="2222019" cy="366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视角水平范围</a:t>
              </a:r>
              <a:r>
                <a:rPr lang="en-US" altLang="zh-CN" sz="1800">
                  <a:solidFill>
                    <a:srgbClr val="FF0000"/>
                  </a:solidFill>
                </a:rPr>
                <a:t>h</a:t>
              </a:r>
            </a:p>
          </p:txBody>
        </p:sp>
        <p:cxnSp>
          <p:nvCxnSpPr>
            <p:cNvPr id="16" name="直接连接符 15">
              <a:extLst>
                <a:ext uri="{FF2B5EF4-FFF2-40B4-BE49-F238E27FC236}">
                  <a16:creationId xmlns:a16="http://schemas.microsoft.com/office/drawing/2014/main" id="{330A2B49-5C9A-6D11-85D5-D65660440597}"/>
                </a:ext>
              </a:extLst>
            </p:cNvPr>
            <p:cNvCxnSpPr>
              <a:cxnSpLocks/>
            </p:cNvCxnSpPr>
            <p:nvPr/>
          </p:nvCxnSpPr>
          <p:spPr>
            <a:xfrm>
              <a:off x="7299291" y="3913440"/>
              <a:ext cx="294199" cy="16041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FB2B478-505E-65F8-E0D1-C17F954A71BF}"/>
                </a:ext>
              </a:extLst>
            </p:cNvPr>
            <p:cNvCxnSpPr>
              <a:cxnSpLocks/>
            </p:cNvCxnSpPr>
            <p:nvPr/>
          </p:nvCxnSpPr>
          <p:spPr>
            <a:xfrm>
              <a:off x="7593490" y="4073854"/>
              <a:ext cx="0" cy="83379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3EC921E-DFA4-E410-F8F1-AB7663E464A7}"/>
                </a:ext>
              </a:extLst>
            </p:cNvPr>
            <p:cNvCxnSpPr>
              <a:cxnSpLocks/>
            </p:cNvCxnSpPr>
            <p:nvPr/>
          </p:nvCxnSpPr>
          <p:spPr>
            <a:xfrm>
              <a:off x="7299291" y="3913440"/>
              <a:ext cx="0" cy="67865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9F301D6-4DC7-4886-C811-CB8C6BA32354}"/>
                </a:ext>
              </a:extLst>
            </p:cNvPr>
            <p:cNvCxnSpPr>
              <a:cxnSpLocks/>
            </p:cNvCxnSpPr>
            <p:nvPr/>
          </p:nvCxnSpPr>
          <p:spPr>
            <a:xfrm>
              <a:off x="7299291" y="4578284"/>
              <a:ext cx="294199" cy="31818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D874B667-8E28-6057-86EF-344F4FD7B4A2}"/>
                </a:ext>
              </a:extLst>
            </p:cNvPr>
            <p:cNvSpPr txBox="1"/>
            <p:nvPr/>
          </p:nvSpPr>
          <p:spPr>
            <a:xfrm>
              <a:off x="7184138" y="4876269"/>
              <a:ext cx="524503" cy="369332"/>
            </a:xfrm>
            <a:prstGeom prst="rect">
              <a:avLst/>
            </a:prstGeom>
            <a:noFill/>
          </p:spPr>
          <p:txBody>
            <a:bodyPr wrap="none" rtlCol="0">
              <a:spAutoFit/>
            </a:bodyPr>
            <a:lstStyle/>
            <a:p>
              <a:r>
                <a:rPr lang="en-US" altLang="zh-CN" dirty="0"/>
                <a:t>Z=1</a:t>
              </a:r>
              <a:endParaRPr lang="zh-CN" altLang="en-US" dirty="0"/>
            </a:p>
          </p:txBody>
        </p:sp>
      </p:grpSp>
    </p:spTree>
    <p:extLst>
      <p:ext uri="{BB962C8B-B14F-4D97-AF65-F5344CB8AC3E}">
        <p14:creationId xmlns:p14="http://schemas.microsoft.com/office/powerpoint/2010/main" val="3567552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6786" y="755992"/>
            <a:ext cx="10356988" cy="1597594"/>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 r=-1/d</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对于摄像机而言，可以等效为如下的模型：</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6" name="图片 5">
            <a:extLst>
              <a:ext uri="{FF2B5EF4-FFF2-40B4-BE49-F238E27FC236}">
                <a16:creationId xmlns:a16="http://schemas.microsoft.com/office/drawing/2014/main" id="{A7E71F2A-3A18-A3E6-9E91-2621D1A1A625}"/>
              </a:ext>
            </a:extLst>
          </p:cNvPr>
          <p:cNvPicPr>
            <a:picLocks noChangeAspect="1"/>
          </p:cNvPicPr>
          <p:nvPr/>
        </p:nvPicPr>
        <p:blipFill>
          <a:blip r:embed="rId2"/>
          <a:stretch>
            <a:fillRect/>
          </a:stretch>
        </p:blipFill>
        <p:spPr>
          <a:xfrm>
            <a:off x="1351723" y="2481298"/>
            <a:ext cx="9660835" cy="4046234"/>
          </a:xfrm>
          <a:prstGeom prst="rect">
            <a:avLst/>
          </a:prstGeom>
        </p:spPr>
      </p:pic>
    </p:spTree>
    <p:extLst>
      <p:ext uri="{BB962C8B-B14F-4D97-AF65-F5344CB8AC3E}">
        <p14:creationId xmlns:p14="http://schemas.microsoft.com/office/powerpoint/2010/main" val="3154663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68104" y="284578"/>
                <a:ext cx="11239583" cy="1989495"/>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摄像机近平面和远平面之间的所有点将投影到</a:t>
                </a:r>
                <a:r>
                  <a:rPr lang="en-US" altLang="zh-CN" dirty="0">
                    <a:latin typeface="华光仿宋_CNKI" panose="02000500000000000000" pitchFamily="2" charset="-122"/>
                    <a:ea typeface="华光仿宋_CNKI" panose="02000500000000000000" pitchFamily="2" charset="-122"/>
                  </a:rPr>
                  <a:t>z=d</a:t>
                </a:r>
                <a:r>
                  <a:rPr lang="zh-CN" altLang="en-US" dirty="0">
                    <a:latin typeface="华光仿宋_CNKI" panose="02000500000000000000" pitchFamily="2" charset="-122"/>
                    <a:ea typeface="华光仿宋_CNKI" panose="02000500000000000000" pitchFamily="2" charset="-122"/>
                  </a:rPr>
                  <a:t>的平面上。摄像机垂直方向上的视场角为</a:t>
                </a:r>
                <a14:m>
                  <m:oMath xmlns:m="http://schemas.openxmlformats.org/officeDocument/2006/math">
                    <m:r>
                      <a:rPr lang="zh-CN" altLang="en-US" i="1" smtClean="0">
                        <a:latin typeface="Cambria Math" panose="02040503050406030204" pitchFamily="18" charset="0"/>
                        <a:ea typeface="华光仿宋_CNKI" panose="02000500000000000000" pitchFamily="2" charset="-122"/>
                      </a:rPr>
                      <m:t>𝛼</m:t>
                    </m:r>
                  </m:oMath>
                </a14:m>
                <a:r>
                  <a:rPr lang="zh-CN" altLang="en-US" dirty="0">
                    <a:latin typeface="华光仿宋_CNKI" panose="02000500000000000000" pitchFamily="2" charset="-122"/>
                    <a:ea typeface="华光仿宋_CNKI" panose="02000500000000000000" pitchFamily="2" charset="-122"/>
                  </a:rPr>
                  <a:t>，水平方向上的视场角为</a:t>
                </a:r>
                <a14:m>
                  <m:oMath xmlns:m="http://schemas.openxmlformats.org/officeDocument/2006/math">
                    <m:r>
                      <a:rPr lang="zh-CN" altLang="en-US" i="1" smtClean="0">
                        <a:latin typeface="Cambria Math" panose="02040503050406030204" pitchFamily="18" charset="0"/>
                        <a:ea typeface="华光仿宋_CNKI" panose="02000500000000000000" pitchFamily="2" charset="-122"/>
                      </a:rPr>
                      <m:t>𝛽</m:t>
                    </m:r>
                  </m:oMath>
                </a14:m>
                <a:r>
                  <a:rPr lang="zh-CN" altLang="en-US" dirty="0">
                    <a:latin typeface="华光仿宋_CNKI" panose="02000500000000000000" pitchFamily="2" charset="-122"/>
                    <a:ea typeface="华光仿宋_CNKI" panose="02000500000000000000" pitchFamily="2" charset="-122"/>
                  </a:rPr>
                  <a:t>。设垂直高度为</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，也就是</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方向的值为</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。根据基本的几何学原理，有如下的表达式成立：</a:t>
                </a:r>
                <a:r>
                  <a:rPr lang="en-US" altLang="zh-CN" dirty="0">
                    <a:latin typeface="华光仿宋_CNKI" panose="02000500000000000000" pitchFamily="2" charset="-122"/>
                    <a:ea typeface="华光仿宋_CNKI" panose="02000500000000000000" pitchFamily="2" charset="-122"/>
                  </a:rPr>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68104" y="284578"/>
                <a:ext cx="11239583" cy="1989495"/>
              </a:xfrm>
              <a:blipFill>
                <a:blip r:embed="rId2"/>
                <a:stretch>
                  <a:fillRect l="-1085" r="-4338" b="-6442"/>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44" name="图片 43">
            <a:extLst>
              <a:ext uri="{FF2B5EF4-FFF2-40B4-BE49-F238E27FC236}">
                <a16:creationId xmlns:a16="http://schemas.microsoft.com/office/drawing/2014/main" id="{3574152A-C8E1-49FA-AC09-949CA3423A58}"/>
              </a:ext>
            </a:extLst>
          </p:cNvPr>
          <p:cNvPicPr>
            <a:picLocks noChangeAspect="1"/>
          </p:cNvPicPr>
          <p:nvPr/>
        </p:nvPicPr>
        <p:blipFill>
          <a:blip r:embed="rId3"/>
          <a:stretch>
            <a:fillRect/>
          </a:stretch>
        </p:blipFill>
        <p:spPr>
          <a:xfrm>
            <a:off x="1455087" y="2747648"/>
            <a:ext cx="4329817" cy="917431"/>
          </a:xfrm>
          <a:prstGeom prst="rect">
            <a:avLst/>
          </a:prstGeom>
        </p:spPr>
      </p:pic>
      <p:pic>
        <p:nvPicPr>
          <p:cNvPr id="46" name="图片 45">
            <a:extLst>
              <a:ext uri="{FF2B5EF4-FFF2-40B4-BE49-F238E27FC236}">
                <a16:creationId xmlns:a16="http://schemas.microsoft.com/office/drawing/2014/main" id="{6BFA5FB6-E83C-E276-092B-79F28520FBE1}"/>
              </a:ext>
            </a:extLst>
          </p:cNvPr>
          <p:cNvPicPr>
            <a:picLocks noChangeAspect="1"/>
          </p:cNvPicPr>
          <p:nvPr/>
        </p:nvPicPr>
        <p:blipFill>
          <a:blip r:embed="rId4"/>
          <a:stretch>
            <a:fillRect/>
          </a:stretch>
        </p:blipFill>
        <p:spPr>
          <a:xfrm>
            <a:off x="6328825" y="2647784"/>
            <a:ext cx="4031725" cy="2425149"/>
          </a:xfrm>
          <a:prstGeom prst="rect">
            <a:avLst/>
          </a:prstGeom>
        </p:spPr>
      </p:pic>
      <p:pic>
        <p:nvPicPr>
          <p:cNvPr id="48" name="图片 47">
            <a:extLst>
              <a:ext uri="{FF2B5EF4-FFF2-40B4-BE49-F238E27FC236}">
                <a16:creationId xmlns:a16="http://schemas.microsoft.com/office/drawing/2014/main" id="{C283CCC2-8B53-2858-8B32-76BEDAFCF36B}"/>
              </a:ext>
            </a:extLst>
          </p:cNvPr>
          <p:cNvPicPr>
            <a:picLocks noChangeAspect="1"/>
          </p:cNvPicPr>
          <p:nvPr/>
        </p:nvPicPr>
        <p:blipFill>
          <a:blip r:embed="rId5"/>
          <a:stretch>
            <a:fillRect/>
          </a:stretch>
        </p:blipFill>
        <p:spPr>
          <a:xfrm>
            <a:off x="1282852" y="4784946"/>
            <a:ext cx="4314825" cy="1200150"/>
          </a:xfrm>
          <a:prstGeom prst="rect">
            <a:avLst/>
          </a:prstGeom>
        </p:spPr>
      </p:pic>
    </p:spTree>
    <p:extLst>
      <p:ext uri="{BB962C8B-B14F-4D97-AF65-F5344CB8AC3E}">
        <p14:creationId xmlns:p14="http://schemas.microsoft.com/office/powerpoint/2010/main" val="1939819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3176" y="546652"/>
                <a:ext cx="11239583" cy="1512417"/>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同样可通过几何学原理求出给定点（</a:t>
                </a:r>
                <a:r>
                  <a:rPr lang="en-US" altLang="zh-CN" dirty="0" err="1">
                    <a:latin typeface="华光仿宋_CNKI" panose="02000500000000000000" pitchFamily="2" charset="-122"/>
                    <a:ea typeface="华光仿宋_CNKI" panose="02000500000000000000" pitchFamily="2" charset="-122"/>
                  </a:rPr>
                  <a:t>x,y,z</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z=d</a:t>
                </a:r>
                <a:r>
                  <a:rPr lang="zh-CN" altLang="en-US" dirty="0">
                    <a:latin typeface="华光仿宋_CNKI" panose="02000500000000000000" pitchFamily="2" charset="-122"/>
                    <a:ea typeface="华光仿宋_CNKI" panose="02000500000000000000" pitchFamily="2" charset="-122"/>
                  </a:rPr>
                  <a:t>平面上的投影点（</a:t>
                </a:r>
                <a14:m>
                  <m:oMath xmlns:m="http://schemas.openxmlformats.org/officeDocument/2006/math">
                    <m:sSup>
                      <m:sSupPr>
                        <m:ctrlPr>
                          <a:rPr lang="en-US" altLang="zh-CN" i="1" smtClean="0">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𝑥</m:t>
                        </m:r>
                      </m:e>
                      <m:sup>
                        <m:r>
                          <a:rPr lang="en-US" altLang="zh-CN" b="0" i="1" smtClean="0">
                            <a:latin typeface="Cambria Math" panose="02040503050406030204" pitchFamily="18" charset="0"/>
                            <a:ea typeface="华光仿宋_CNKI" panose="02000500000000000000" pitchFamily="2" charset="-122"/>
                          </a:rPr>
                          <m:t>′</m:t>
                        </m:r>
                      </m:sup>
                    </m:sSup>
                    <m:r>
                      <a:rPr lang="en-US" altLang="zh-CN" b="0" i="1" smtClean="0">
                        <a:latin typeface="Cambria Math" panose="02040503050406030204" pitchFamily="18" charset="0"/>
                        <a:ea typeface="华光仿宋_CNKI" panose="02000500000000000000" pitchFamily="2" charset="-122"/>
                      </a:rPr>
                      <m:t>,</m:t>
                    </m:r>
                  </m:oMath>
                </a14:m>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𝑦</m:t>
                        </m:r>
                      </m:e>
                      <m:sup>
                        <m:r>
                          <a:rPr lang="en-US" altLang="zh-CN" i="1">
                            <a:latin typeface="Cambria Math" panose="02040503050406030204" pitchFamily="18" charset="0"/>
                            <a:ea typeface="华光仿宋_CNKI" panose="02000500000000000000" pitchFamily="2" charset="-122"/>
                          </a:rPr>
                          <m:t>′</m:t>
                        </m:r>
                      </m:sup>
                    </m:sSup>
                  </m:oMath>
                </a14:m>
                <a:r>
                  <a:rPr lang="en-US" altLang="zh-CN" dirty="0">
                    <a:latin typeface="华光仿宋_CNKI" panose="02000500000000000000" pitchFamily="2" charset="-122"/>
                    <a:ea typeface="华光仿宋_CNKI" panose="02000500000000000000" pitchFamily="2" charset="-122"/>
                  </a:rPr>
                  <a:t>,d)</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3176" y="546652"/>
                <a:ext cx="11239583" cy="1512417"/>
              </a:xfrm>
              <a:blipFill>
                <a:blip r:embed="rId2"/>
                <a:stretch>
                  <a:fillRect l="-1085"/>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6" name="图片 5">
            <a:extLst>
              <a:ext uri="{FF2B5EF4-FFF2-40B4-BE49-F238E27FC236}">
                <a16:creationId xmlns:a16="http://schemas.microsoft.com/office/drawing/2014/main" id="{D22B9A9B-78C6-31F0-9E95-D9103D5CDDCB}"/>
              </a:ext>
            </a:extLst>
          </p:cNvPr>
          <p:cNvPicPr>
            <a:picLocks noChangeAspect="1"/>
          </p:cNvPicPr>
          <p:nvPr/>
        </p:nvPicPr>
        <p:blipFill>
          <a:blip r:embed="rId3"/>
          <a:stretch>
            <a:fillRect/>
          </a:stretch>
        </p:blipFill>
        <p:spPr>
          <a:xfrm>
            <a:off x="1416657" y="2313829"/>
            <a:ext cx="9358685" cy="3577031"/>
          </a:xfrm>
          <a:prstGeom prst="rect">
            <a:avLst/>
          </a:prstGeom>
        </p:spPr>
      </p:pic>
    </p:spTree>
    <p:extLst>
      <p:ext uri="{BB962C8B-B14F-4D97-AF65-F5344CB8AC3E}">
        <p14:creationId xmlns:p14="http://schemas.microsoft.com/office/powerpoint/2010/main" val="1663309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3"/>
            <a:ext cx="11239583" cy="733508"/>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具体计算公式如下：</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5" name="图片 4">
            <a:extLst>
              <a:ext uri="{FF2B5EF4-FFF2-40B4-BE49-F238E27FC236}">
                <a16:creationId xmlns:a16="http://schemas.microsoft.com/office/drawing/2014/main" id="{0341276E-D11A-D860-EC02-609B2205331E}"/>
              </a:ext>
            </a:extLst>
          </p:cNvPr>
          <p:cNvPicPr>
            <a:picLocks noChangeAspect="1"/>
          </p:cNvPicPr>
          <p:nvPr/>
        </p:nvPicPr>
        <p:blipFill>
          <a:blip r:embed="rId3"/>
          <a:stretch>
            <a:fillRect/>
          </a:stretch>
        </p:blipFill>
        <p:spPr>
          <a:xfrm>
            <a:off x="1242186" y="1450368"/>
            <a:ext cx="7283394" cy="1229222"/>
          </a:xfrm>
          <a:prstGeom prst="rect">
            <a:avLst/>
          </a:prstGeom>
        </p:spPr>
      </p:pic>
      <p:pic>
        <p:nvPicPr>
          <p:cNvPr id="7" name="图片 6">
            <a:extLst>
              <a:ext uri="{FF2B5EF4-FFF2-40B4-BE49-F238E27FC236}">
                <a16:creationId xmlns:a16="http://schemas.microsoft.com/office/drawing/2014/main" id="{3CFDF143-0175-6C14-6320-C366781EC467}"/>
              </a:ext>
            </a:extLst>
          </p:cNvPr>
          <p:cNvPicPr>
            <a:picLocks noChangeAspect="1"/>
          </p:cNvPicPr>
          <p:nvPr/>
        </p:nvPicPr>
        <p:blipFill>
          <a:blip r:embed="rId4"/>
          <a:stretch>
            <a:fillRect/>
          </a:stretch>
        </p:blipFill>
        <p:spPr>
          <a:xfrm>
            <a:off x="1351724" y="3069121"/>
            <a:ext cx="7283394" cy="1057606"/>
          </a:xfrm>
          <a:prstGeom prst="rect">
            <a:avLst/>
          </a:prstGeom>
        </p:spPr>
      </p:pic>
      <p:pic>
        <p:nvPicPr>
          <p:cNvPr id="11" name="图片 10">
            <a:extLst>
              <a:ext uri="{FF2B5EF4-FFF2-40B4-BE49-F238E27FC236}">
                <a16:creationId xmlns:a16="http://schemas.microsoft.com/office/drawing/2014/main" id="{6278F643-7214-E284-929B-6C68DAF76D5B}"/>
              </a:ext>
            </a:extLst>
          </p:cNvPr>
          <p:cNvPicPr>
            <a:picLocks noChangeAspect="1"/>
          </p:cNvPicPr>
          <p:nvPr/>
        </p:nvPicPr>
        <p:blipFill>
          <a:blip r:embed="rId5"/>
          <a:stretch>
            <a:fillRect/>
          </a:stretch>
        </p:blipFill>
        <p:spPr>
          <a:xfrm>
            <a:off x="1146479" y="5166153"/>
            <a:ext cx="6591300" cy="676275"/>
          </a:xfrm>
          <a:prstGeom prst="rect">
            <a:avLst/>
          </a:prstGeom>
        </p:spPr>
      </p:pic>
      <p:sp>
        <p:nvSpPr>
          <p:cNvPr id="12" name="内容占位符 2">
            <a:extLst>
              <a:ext uri="{FF2B5EF4-FFF2-40B4-BE49-F238E27FC236}">
                <a16:creationId xmlns:a16="http://schemas.microsoft.com/office/drawing/2014/main" id="{5B72FACE-3B19-B2FF-F06F-3E31C45BCE75}"/>
              </a:ext>
            </a:extLst>
          </p:cNvPr>
          <p:cNvSpPr txBox="1">
            <a:spLocks/>
          </p:cNvSpPr>
          <p:nvPr/>
        </p:nvSpPr>
        <p:spPr>
          <a:xfrm>
            <a:off x="195718" y="4345471"/>
            <a:ext cx="11239583" cy="7335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如果投影点落在投影面上，必须要求：</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6594074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3176" y="546652"/>
                <a:ext cx="11239583" cy="5878001"/>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为了使显示的结果与投影窗体的纵横比没有关系，可以将投影后的</a:t>
                </a:r>
                <a14:m>
                  <m:oMath xmlns:m="http://schemas.openxmlformats.org/officeDocument/2006/math">
                    <m:sSup>
                      <m:sSupPr>
                        <m:ctrlPr>
                          <a:rPr lang="en-US" altLang="zh-CN" i="1" smtClean="0">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𝑥</m:t>
                        </m:r>
                      </m:e>
                      <m:sup>
                        <m:r>
                          <a:rPr lang="en-US" altLang="zh-CN" b="0" i="1" smtClean="0">
                            <a:latin typeface="Cambria Math" panose="02040503050406030204" pitchFamily="18" charset="0"/>
                            <a:ea typeface="华光仿宋_CNKI" panose="02000500000000000000" pitchFamily="2" charset="-122"/>
                          </a:rPr>
                          <m:t>′</m:t>
                        </m:r>
                      </m:sup>
                    </m:sSup>
                  </m:oMath>
                </a14:m>
                <a:r>
                  <a:rPr lang="zh-CN" altLang="en-US" dirty="0">
                    <a:latin typeface="华光仿宋_CNKI" panose="02000500000000000000" pitchFamily="2" charset="-122"/>
                    <a:ea typeface="华光仿宋_CNKI" panose="02000500000000000000" pitchFamily="2" charset="-122"/>
                  </a:rPr>
                  <a:t>值归一化到</a:t>
                </a:r>
                <a:r>
                  <a:rPr lang="en-US" altLang="zh-CN" dirty="0">
                    <a:latin typeface="华光仿宋_CNKI" panose="02000500000000000000" pitchFamily="2" charset="-122"/>
                    <a:ea typeface="华光仿宋_CNKI" panose="02000500000000000000" pitchFamily="2" charset="-122"/>
                  </a:rPr>
                  <a:t>[-1,1]</a:t>
                </a:r>
                <a:r>
                  <a:rPr lang="zh-CN" altLang="en-US" dirty="0">
                    <a:latin typeface="华光仿宋_CNKI" panose="02000500000000000000" pitchFamily="2" charset="-122"/>
                    <a:ea typeface="华光仿宋_CNKI" panose="02000500000000000000" pitchFamily="2" charset="-122"/>
                  </a:rPr>
                  <a:t>之间，也就是：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这样</a:t>
                </a:r>
                <a14:m>
                  <m:oMath xmlns:m="http://schemas.openxmlformats.org/officeDocument/2006/math">
                    <m:sSup>
                      <m:sSupPr>
                        <m:ctrlPr>
                          <a:rPr lang="en-US" altLang="zh-CN" i="1" smtClean="0">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𝑥</m:t>
                        </m:r>
                      </m:e>
                      <m:sup>
                        <m:r>
                          <a:rPr lang="en-US" altLang="zh-CN" b="0" i="1" smtClean="0">
                            <a:latin typeface="Cambria Math" panose="02040503050406030204" pitchFamily="18" charset="0"/>
                            <a:ea typeface="华光仿宋_CNKI" panose="02000500000000000000" pitchFamily="2" charset="-122"/>
                          </a:rPr>
                          <m:t>′</m:t>
                        </m:r>
                      </m:sup>
                    </m:sSup>
                  </m:oMath>
                </a14:m>
                <a:r>
                  <a:rPr lang="zh-CN" altLang="en-US" dirty="0">
                    <a:latin typeface="华光仿宋_CNKI" panose="02000500000000000000" pitchFamily="2" charset="-122"/>
                    <a:ea typeface="华光仿宋_CNKI" panose="02000500000000000000" pitchFamily="2" charset="-122"/>
                  </a:rPr>
                  <a:t>和</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𝑦</m:t>
                        </m:r>
                      </m:e>
                      <m:sup>
                        <m:r>
                          <a:rPr lang="en-US" altLang="zh-CN" i="1">
                            <a:latin typeface="Cambria Math" panose="02040503050406030204" pitchFamily="18" charset="0"/>
                            <a:ea typeface="华光仿宋_CNKI" panose="02000500000000000000" pitchFamily="2" charset="-122"/>
                          </a:rPr>
                          <m:t>′</m:t>
                        </m:r>
                      </m:sup>
                    </m:sSup>
                  </m:oMath>
                </a14:m>
                <a:r>
                  <a:rPr lang="zh-CN" altLang="en-US" dirty="0">
                    <a:latin typeface="华光仿宋_CNKI" panose="02000500000000000000" pitchFamily="2" charset="-122"/>
                    <a:ea typeface="华光仿宋_CNKI" panose="02000500000000000000" pitchFamily="2" charset="-122"/>
                  </a:rPr>
                  <a:t>的值修改为：</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3176" y="546652"/>
                <a:ext cx="11239583" cy="5878001"/>
              </a:xfrm>
              <a:blipFill>
                <a:blip r:embed="rId3"/>
                <a:stretch>
                  <a:fillRect/>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6" name="图片 5">
            <a:extLst>
              <a:ext uri="{FF2B5EF4-FFF2-40B4-BE49-F238E27FC236}">
                <a16:creationId xmlns:a16="http://schemas.microsoft.com/office/drawing/2014/main" id="{AACCEC49-3703-5AF4-1476-D11487112534}"/>
              </a:ext>
            </a:extLst>
          </p:cNvPr>
          <p:cNvPicPr>
            <a:picLocks noChangeAspect="1"/>
          </p:cNvPicPr>
          <p:nvPr/>
        </p:nvPicPr>
        <p:blipFill>
          <a:blip r:embed="rId4"/>
          <a:stretch>
            <a:fillRect/>
          </a:stretch>
        </p:blipFill>
        <p:spPr>
          <a:xfrm>
            <a:off x="3803911" y="1974408"/>
            <a:ext cx="3057525" cy="571500"/>
          </a:xfrm>
          <a:prstGeom prst="rect">
            <a:avLst/>
          </a:prstGeom>
        </p:spPr>
      </p:pic>
      <p:pic>
        <p:nvPicPr>
          <p:cNvPr id="9" name="图片 8">
            <a:extLst>
              <a:ext uri="{FF2B5EF4-FFF2-40B4-BE49-F238E27FC236}">
                <a16:creationId xmlns:a16="http://schemas.microsoft.com/office/drawing/2014/main" id="{CEFDD744-92A1-4D22-BC7A-752838B10F28}"/>
              </a:ext>
            </a:extLst>
          </p:cNvPr>
          <p:cNvPicPr>
            <a:picLocks noChangeAspect="1"/>
          </p:cNvPicPr>
          <p:nvPr/>
        </p:nvPicPr>
        <p:blipFill>
          <a:blip r:embed="rId5"/>
          <a:stretch>
            <a:fillRect/>
          </a:stretch>
        </p:blipFill>
        <p:spPr>
          <a:xfrm>
            <a:off x="3680085" y="3558249"/>
            <a:ext cx="3305175" cy="2333625"/>
          </a:xfrm>
          <a:prstGeom prst="rect">
            <a:avLst/>
          </a:prstGeom>
        </p:spPr>
      </p:pic>
    </p:spTree>
    <p:extLst>
      <p:ext uri="{BB962C8B-B14F-4D97-AF65-F5344CB8AC3E}">
        <p14:creationId xmlns:p14="http://schemas.microsoft.com/office/powerpoint/2010/main" val="40322255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2"/>
            <a:ext cx="11239583" cy="5878001"/>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上面虽然可以求出变换后的点，但却无法通过矩阵变换来实现。因为没有与之对应的矩阵。为了得到对应的矩阵，可以假设其投影变换矩阵的形式为：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5" name="图片 4">
            <a:extLst>
              <a:ext uri="{FF2B5EF4-FFF2-40B4-BE49-F238E27FC236}">
                <a16:creationId xmlns:a16="http://schemas.microsoft.com/office/drawing/2014/main" id="{5D9BBF66-C1CC-7E9C-90D9-D4B9CEC2A295}"/>
              </a:ext>
            </a:extLst>
          </p:cNvPr>
          <p:cNvPicPr>
            <a:picLocks noChangeAspect="1"/>
          </p:cNvPicPr>
          <p:nvPr/>
        </p:nvPicPr>
        <p:blipFill>
          <a:blip r:embed="rId3"/>
          <a:stretch>
            <a:fillRect/>
          </a:stretch>
        </p:blipFill>
        <p:spPr>
          <a:xfrm>
            <a:off x="2846566" y="2769745"/>
            <a:ext cx="5738771" cy="3344808"/>
          </a:xfrm>
          <a:prstGeom prst="rect">
            <a:avLst/>
          </a:prstGeom>
        </p:spPr>
      </p:pic>
    </p:spTree>
    <p:extLst>
      <p:ext uri="{BB962C8B-B14F-4D97-AF65-F5344CB8AC3E}">
        <p14:creationId xmlns:p14="http://schemas.microsoft.com/office/powerpoint/2010/main" val="20855606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2"/>
            <a:ext cx="11239583" cy="5878001"/>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这样可以得到如下的表达式：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对其进行归一化，可以得到投影后的顶点坐标为：</a:t>
            </a: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6" name="图片 5">
            <a:extLst>
              <a:ext uri="{FF2B5EF4-FFF2-40B4-BE49-F238E27FC236}">
                <a16:creationId xmlns:a16="http://schemas.microsoft.com/office/drawing/2014/main" id="{8397E7D3-D3D7-2695-101B-75DA2CAFB83F}"/>
              </a:ext>
            </a:extLst>
          </p:cNvPr>
          <p:cNvPicPr>
            <a:picLocks noChangeAspect="1"/>
          </p:cNvPicPr>
          <p:nvPr/>
        </p:nvPicPr>
        <p:blipFill>
          <a:blip r:embed="rId3"/>
          <a:stretch>
            <a:fillRect/>
          </a:stretch>
        </p:blipFill>
        <p:spPr>
          <a:xfrm>
            <a:off x="1065476" y="1510748"/>
            <a:ext cx="10498372" cy="2735249"/>
          </a:xfrm>
          <a:prstGeom prst="rect">
            <a:avLst/>
          </a:prstGeom>
        </p:spPr>
      </p:pic>
      <p:pic>
        <p:nvPicPr>
          <p:cNvPr id="8" name="图片 7">
            <a:extLst>
              <a:ext uri="{FF2B5EF4-FFF2-40B4-BE49-F238E27FC236}">
                <a16:creationId xmlns:a16="http://schemas.microsoft.com/office/drawing/2014/main" id="{D8B4DF4B-8A1D-F2A7-98BC-9F4DA68130CB}"/>
              </a:ext>
            </a:extLst>
          </p:cNvPr>
          <p:cNvPicPr>
            <a:picLocks noChangeAspect="1"/>
          </p:cNvPicPr>
          <p:nvPr/>
        </p:nvPicPr>
        <p:blipFill>
          <a:blip r:embed="rId4"/>
          <a:stretch>
            <a:fillRect/>
          </a:stretch>
        </p:blipFill>
        <p:spPr>
          <a:xfrm>
            <a:off x="2361991" y="5347252"/>
            <a:ext cx="4221689" cy="833713"/>
          </a:xfrm>
          <a:prstGeom prst="rect">
            <a:avLst/>
          </a:prstGeom>
        </p:spPr>
      </p:pic>
    </p:spTree>
    <p:extLst>
      <p:ext uri="{BB962C8B-B14F-4D97-AF65-F5344CB8AC3E}">
        <p14:creationId xmlns:p14="http://schemas.microsoft.com/office/powerpoint/2010/main" val="7339884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2"/>
            <a:ext cx="11239583" cy="5878001"/>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由于所有的投影面都会投影到</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平面上，构成</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图像。原则上来说，</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坐标可以丢去。但由于在近平面和远平面中的所有物体在投影到一个平面时，近处的物体会遮挡住远处的物体，也就是远处的物体不会显示。为了体现物体之间的遮挡关系，需要保留这些物体的</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坐标值。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一般来说，会将其映射到</a:t>
            </a:r>
            <a:r>
              <a:rPr lang="en-US" altLang="zh-CN" dirty="0">
                <a:latin typeface="华光仿宋_CNKI" panose="02000500000000000000" pitchFamily="2" charset="-122"/>
                <a:ea typeface="华光仿宋_CNKI" panose="02000500000000000000" pitchFamily="2" charset="-122"/>
              </a:rPr>
              <a:t>[0,1]</a:t>
            </a:r>
            <a:r>
              <a:rPr lang="zh-CN" altLang="en-US" dirty="0">
                <a:latin typeface="华光仿宋_CNKI" panose="02000500000000000000" pitchFamily="2" charset="-122"/>
                <a:ea typeface="华光仿宋_CNKI" panose="02000500000000000000" pitchFamily="2" charset="-122"/>
              </a:rPr>
              <a:t>之间。可以令：</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并将其限制在</a:t>
            </a:r>
            <a:r>
              <a:rPr lang="en-US" altLang="zh-CN" dirty="0">
                <a:latin typeface="华光仿宋_CNKI" panose="02000500000000000000" pitchFamily="2" charset="-122"/>
                <a:ea typeface="华光仿宋_CNKI" panose="02000500000000000000" pitchFamily="2" charset="-122"/>
              </a:rPr>
              <a:t>[0,1]</a:t>
            </a:r>
            <a:r>
              <a:rPr lang="zh-CN" altLang="en-US" dirty="0">
                <a:latin typeface="华光仿宋_CNKI" panose="02000500000000000000" pitchFamily="2" charset="-122"/>
                <a:ea typeface="华光仿宋_CNKI" panose="02000500000000000000" pitchFamily="2" charset="-122"/>
              </a:rPr>
              <a:t>之间，因此有：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pt-BR" altLang="zh-CN" b="0" i="1" u="none" strike="noStrike" baseline="0" dirty="0">
                <a:solidFill>
                  <a:srgbClr val="000000"/>
                </a:solidFill>
                <a:latin typeface="Times New Roman" panose="02020603050405020304" pitchFamily="18" charset="0"/>
              </a:rPr>
              <a:t>g</a:t>
            </a:r>
            <a:r>
              <a:rPr lang="pt-BR" altLang="zh-CN" b="0" i="0" u="none" strike="noStrike" baseline="0" dirty="0">
                <a:solidFill>
                  <a:srgbClr val="000000"/>
                </a:solidFill>
                <a:latin typeface="Times New Roman" panose="02020603050405020304" pitchFamily="18" charset="0"/>
              </a:rPr>
              <a:t>(</a:t>
            </a:r>
            <a:r>
              <a:rPr lang="pt-BR" altLang="zh-CN" b="0" i="1" u="none" strike="noStrike" baseline="0" dirty="0">
                <a:solidFill>
                  <a:srgbClr val="000000"/>
                </a:solidFill>
                <a:latin typeface="Times New Roman" panose="02020603050405020304" pitchFamily="18" charset="0"/>
              </a:rPr>
              <a:t>n</a:t>
            </a:r>
            <a:r>
              <a:rPr lang="pt-BR" altLang="zh-CN" b="0" i="0" u="none" strike="noStrike" baseline="0" dirty="0">
                <a:solidFill>
                  <a:srgbClr val="000000"/>
                </a:solidFill>
                <a:latin typeface="Times New Roman" panose="02020603050405020304" pitchFamily="18" charset="0"/>
              </a:rPr>
              <a:t>) = </a:t>
            </a:r>
            <a:r>
              <a:rPr lang="pt-BR" altLang="zh-CN" b="0" i="1" u="none" strike="noStrike" baseline="0" dirty="0">
                <a:solidFill>
                  <a:srgbClr val="000000"/>
                </a:solidFill>
                <a:latin typeface="Times New Roman" panose="02020603050405020304" pitchFamily="18" charset="0"/>
              </a:rPr>
              <a:t>A</a:t>
            </a:r>
            <a:r>
              <a:rPr lang="pt-BR" altLang="zh-CN" b="0" i="0" u="none" strike="noStrike" baseline="0" dirty="0">
                <a:solidFill>
                  <a:srgbClr val="000000"/>
                </a:solidFill>
                <a:latin typeface="Times New Roman" panose="02020603050405020304" pitchFamily="18" charset="0"/>
              </a:rPr>
              <a:t> + </a:t>
            </a:r>
            <a:r>
              <a:rPr lang="pt-BR" altLang="zh-CN" b="0" i="1" u="none" strike="noStrike" baseline="0" dirty="0">
                <a:solidFill>
                  <a:srgbClr val="000000"/>
                </a:solidFill>
                <a:latin typeface="Times New Roman" panose="02020603050405020304" pitchFamily="18" charset="0"/>
              </a:rPr>
              <a:t>B</a:t>
            </a:r>
            <a:r>
              <a:rPr lang="pt-BR" altLang="zh-CN" b="0" i="0" u="none" strike="noStrike" baseline="0" dirty="0">
                <a:solidFill>
                  <a:srgbClr val="000000"/>
                </a:solidFill>
                <a:latin typeface="Times New Roman" panose="02020603050405020304" pitchFamily="18" charset="0"/>
              </a:rPr>
              <a:t>/</a:t>
            </a:r>
            <a:r>
              <a:rPr lang="pt-BR" altLang="zh-CN" b="0" i="1" u="none" strike="noStrike" baseline="0" dirty="0">
                <a:solidFill>
                  <a:srgbClr val="000000"/>
                </a:solidFill>
                <a:latin typeface="Times New Roman" panose="02020603050405020304" pitchFamily="18" charset="0"/>
              </a:rPr>
              <a:t>n</a:t>
            </a:r>
            <a:r>
              <a:rPr lang="pt-BR" altLang="zh-CN" b="0" i="0" u="none" strike="noStrike" baseline="0" dirty="0">
                <a:solidFill>
                  <a:srgbClr val="000000"/>
                </a:solidFill>
                <a:latin typeface="Times New Roman" panose="02020603050405020304" pitchFamily="18" charset="0"/>
              </a:rPr>
              <a:t> = 0    </a:t>
            </a:r>
            <a:r>
              <a:rPr lang="en-US" altLang="zh-CN" b="0" i="1" u="none" strike="noStrike" baseline="0" dirty="0">
                <a:solidFill>
                  <a:srgbClr val="000000"/>
                </a:solidFill>
                <a:latin typeface="Times New Roman" panose="02020603050405020304" pitchFamily="18" charset="0"/>
              </a:rPr>
              <a:t>g</a:t>
            </a:r>
            <a:r>
              <a:rPr lang="en-US" altLang="zh-CN" b="0" i="0" u="none" strike="noStrike" baseline="0" dirty="0">
                <a:solidFill>
                  <a:srgbClr val="000000"/>
                </a:solidFill>
                <a:latin typeface="Times New Roman" panose="02020603050405020304" pitchFamily="18" charset="0"/>
              </a:rPr>
              <a:t>(</a:t>
            </a:r>
            <a:r>
              <a:rPr lang="en-US" altLang="zh-CN" b="0" i="1" u="none" strike="noStrike" baseline="0" dirty="0">
                <a:solidFill>
                  <a:srgbClr val="000000"/>
                </a:solidFill>
                <a:latin typeface="Times New Roman" panose="02020603050405020304" pitchFamily="18" charset="0"/>
              </a:rPr>
              <a:t>f</a:t>
            </a:r>
            <a:r>
              <a:rPr lang="en-US" altLang="zh-CN" b="0" i="0" u="none" strike="noStrike" baseline="0" dirty="0">
                <a:solidFill>
                  <a:srgbClr val="000000"/>
                </a:solidFill>
                <a:latin typeface="Times New Roman" panose="02020603050405020304" pitchFamily="18" charset="0"/>
              </a:rPr>
              <a:t>) = </a:t>
            </a:r>
            <a:r>
              <a:rPr lang="en-US" altLang="zh-CN" b="0" i="1" u="none" strike="noStrike" baseline="0" dirty="0">
                <a:solidFill>
                  <a:srgbClr val="000000"/>
                </a:solidFill>
                <a:latin typeface="Times New Roman" panose="02020603050405020304" pitchFamily="18" charset="0"/>
              </a:rPr>
              <a:t>A</a:t>
            </a:r>
            <a:r>
              <a:rPr lang="en-US" altLang="zh-CN" b="0" i="0" u="none" strike="noStrike" baseline="0" dirty="0">
                <a:solidFill>
                  <a:srgbClr val="000000"/>
                </a:solidFill>
                <a:latin typeface="Times New Roman" panose="02020603050405020304" pitchFamily="18" charset="0"/>
              </a:rPr>
              <a:t> + </a:t>
            </a:r>
            <a:r>
              <a:rPr lang="en-US" altLang="zh-CN" b="0" i="1" u="none" strike="noStrike" baseline="0" dirty="0" err="1">
                <a:solidFill>
                  <a:srgbClr val="000000"/>
                </a:solidFill>
                <a:latin typeface="Times New Roman" panose="02020603050405020304" pitchFamily="18" charset="0"/>
              </a:rPr>
              <a:t>B</a:t>
            </a:r>
            <a:r>
              <a:rPr lang="en-US" altLang="zh-CN" b="0" i="0" u="none" strike="noStrike" baseline="0" dirty="0" err="1">
                <a:solidFill>
                  <a:srgbClr val="000000"/>
                </a:solidFill>
                <a:latin typeface="Times New Roman" panose="02020603050405020304" pitchFamily="18" charset="0"/>
              </a:rPr>
              <a:t>/</a:t>
            </a:r>
            <a:r>
              <a:rPr lang="en-US" altLang="zh-CN" b="0" i="1" u="none" strike="noStrike" baseline="0" dirty="0" err="1">
                <a:solidFill>
                  <a:srgbClr val="000000"/>
                </a:solidFill>
                <a:latin typeface="Times New Roman" panose="02020603050405020304" pitchFamily="18" charset="0"/>
              </a:rPr>
              <a:t>f</a:t>
            </a:r>
            <a:r>
              <a:rPr lang="en-US" altLang="zh-CN" b="0" i="0" u="none" strike="noStrike" baseline="0" dirty="0">
                <a:solidFill>
                  <a:srgbClr val="000000"/>
                </a:solidFill>
                <a:latin typeface="Times New Roman" panose="02020603050405020304" pitchFamily="18" charset="0"/>
              </a:rPr>
              <a:t> = 1</a:t>
            </a:r>
          </a:p>
          <a:p>
            <a:pPr marL="0" indent="0">
              <a:lnSpc>
                <a:spcPct val="150000"/>
              </a:lnSpc>
              <a:buNone/>
            </a:pPr>
            <a:endParaRPr lang="pt-BR" altLang="zh-CN" b="0" i="0" u="none" strike="noStrike" baseline="0" dirty="0">
              <a:solidFill>
                <a:srgbClr val="000000"/>
              </a:solidFill>
              <a:latin typeface="Times New Roman" panose="02020603050405020304" pitchFamily="18" charset="0"/>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5" name="图片 4">
            <a:extLst>
              <a:ext uri="{FF2B5EF4-FFF2-40B4-BE49-F238E27FC236}">
                <a16:creationId xmlns:a16="http://schemas.microsoft.com/office/drawing/2014/main" id="{29E47CB0-F543-4155-812A-3B0F8C3DA5FA}"/>
              </a:ext>
            </a:extLst>
          </p:cNvPr>
          <p:cNvPicPr>
            <a:picLocks noChangeAspect="1"/>
          </p:cNvPicPr>
          <p:nvPr/>
        </p:nvPicPr>
        <p:blipFill>
          <a:blip r:embed="rId3"/>
          <a:stretch>
            <a:fillRect/>
          </a:stretch>
        </p:blipFill>
        <p:spPr>
          <a:xfrm>
            <a:off x="3697357" y="3989733"/>
            <a:ext cx="2038722" cy="765148"/>
          </a:xfrm>
          <a:prstGeom prst="rect">
            <a:avLst/>
          </a:prstGeom>
        </p:spPr>
      </p:pic>
    </p:spTree>
    <p:extLst>
      <p:ext uri="{BB962C8B-B14F-4D97-AF65-F5344CB8AC3E}">
        <p14:creationId xmlns:p14="http://schemas.microsoft.com/office/powerpoint/2010/main" val="42879143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2"/>
            <a:ext cx="11239583" cy="5878001"/>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上述表达式求解结果为：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b="0" i="0" u="none" strike="noStrike" baseline="0" dirty="0">
              <a:solidFill>
                <a:srgbClr val="000000"/>
              </a:solidFill>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solidFill>
                <a:srgbClr val="000000"/>
              </a:solidFill>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solidFill>
                <a:srgbClr val="000000"/>
              </a:solidFill>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solidFill>
                  <a:srgbClr val="000000"/>
                </a:solidFill>
                <a:latin typeface="华光仿宋_CNKI" panose="02000500000000000000" pitchFamily="2" charset="-122"/>
                <a:ea typeface="华光仿宋_CNKI" panose="02000500000000000000" pitchFamily="2" charset="-122"/>
              </a:rPr>
              <a:t>     </a:t>
            </a:r>
            <a:r>
              <a:rPr lang="zh-CN" altLang="en-US" dirty="0">
                <a:solidFill>
                  <a:srgbClr val="000000"/>
                </a:solidFill>
                <a:latin typeface="华光仿宋_CNKI" panose="02000500000000000000" pitchFamily="2" charset="-122"/>
                <a:ea typeface="华光仿宋_CNKI" panose="02000500000000000000" pitchFamily="2" charset="-122"/>
              </a:rPr>
              <a:t>因此：</a:t>
            </a:r>
            <a:endParaRPr lang="en-US" altLang="zh-CN" dirty="0">
              <a:solidFill>
                <a:srgbClr val="000000"/>
              </a:solidFill>
              <a:latin typeface="华光仿宋_CNKI" panose="02000500000000000000" pitchFamily="2" charset="-122"/>
              <a:ea typeface="华光仿宋_CNKI" panose="02000500000000000000" pitchFamily="2" charset="-122"/>
            </a:endParaRPr>
          </a:p>
          <a:p>
            <a:pPr marL="0" indent="0">
              <a:lnSpc>
                <a:spcPct val="150000"/>
              </a:lnSpc>
              <a:buNone/>
            </a:pPr>
            <a:r>
              <a:rPr lang="en-US" altLang="zh-CN" b="0" i="0" u="none" strike="noStrike" baseline="0" dirty="0">
                <a:solidFill>
                  <a:srgbClr val="000000"/>
                </a:solidFill>
                <a:latin typeface="华光仿宋_CNKI" panose="02000500000000000000" pitchFamily="2" charset="-122"/>
                <a:ea typeface="华光仿宋_CNKI" panose="02000500000000000000" pitchFamily="2" charset="-122"/>
              </a:rPr>
              <a:t>            </a:t>
            </a:r>
            <a:endParaRPr lang="pt-BR" altLang="zh-CN" b="0" i="0" u="none" strike="noStrike" baseline="0" dirty="0">
              <a:solidFill>
                <a:srgbClr val="000000"/>
              </a:solidFill>
              <a:latin typeface="Times New Roman" panose="02020603050405020304" pitchFamily="18" charset="0"/>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6" name="图片 5">
            <a:extLst>
              <a:ext uri="{FF2B5EF4-FFF2-40B4-BE49-F238E27FC236}">
                <a16:creationId xmlns:a16="http://schemas.microsoft.com/office/drawing/2014/main" id="{4E96A408-029A-F8FB-959C-8C76401689FD}"/>
              </a:ext>
            </a:extLst>
          </p:cNvPr>
          <p:cNvPicPr>
            <a:picLocks noChangeAspect="1"/>
          </p:cNvPicPr>
          <p:nvPr/>
        </p:nvPicPr>
        <p:blipFill>
          <a:blip r:embed="rId3"/>
          <a:stretch>
            <a:fillRect/>
          </a:stretch>
        </p:blipFill>
        <p:spPr>
          <a:xfrm>
            <a:off x="1351723" y="1378598"/>
            <a:ext cx="2286000" cy="1190625"/>
          </a:xfrm>
          <a:prstGeom prst="rect">
            <a:avLst/>
          </a:prstGeom>
        </p:spPr>
      </p:pic>
      <p:sp>
        <p:nvSpPr>
          <p:cNvPr id="8" name="文本框 7">
            <a:extLst>
              <a:ext uri="{FF2B5EF4-FFF2-40B4-BE49-F238E27FC236}">
                <a16:creationId xmlns:a16="http://schemas.microsoft.com/office/drawing/2014/main" id="{691F15BB-920D-FB42-5D38-F14DBA720417}"/>
              </a:ext>
            </a:extLst>
          </p:cNvPr>
          <p:cNvSpPr txBox="1"/>
          <p:nvPr/>
        </p:nvSpPr>
        <p:spPr>
          <a:xfrm>
            <a:off x="1597819" y="2667699"/>
            <a:ext cx="1781485" cy="584775"/>
          </a:xfrm>
          <a:prstGeom prst="rect">
            <a:avLst/>
          </a:prstGeom>
          <a:noFill/>
        </p:spPr>
        <p:txBody>
          <a:bodyPr wrap="square">
            <a:spAutoFit/>
          </a:bodyPr>
          <a:lstStyle/>
          <a:p>
            <a:pPr algn="l"/>
            <a:r>
              <a:rPr lang="en-US" altLang="zh-CN" sz="3200" b="0" i="1" u="none" strike="noStrike" baseline="0" dirty="0">
                <a:solidFill>
                  <a:srgbClr val="000000"/>
                </a:solidFill>
                <a:latin typeface="Times New Roman" panose="02020603050405020304" pitchFamily="18" charset="0"/>
              </a:rPr>
              <a:t>B</a:t>
            </a:r>
            <a:r>
              <a:rPr lang="en-US" altLang="zh-CN" sz="3200" b="0" i="0" u="none" strike="noStrike" baseline="0" dirty="0">
                <a:solidFill>
                  <a:srgbClr val="000000"/>
                </a:solidFill>
                <a:latin typeface="Times New Roman" panose="02020603050405020304" pitchFamily="18" charset="0"/>
              </a:rPr>
              <a:t> = −</a:t>
            </a:r>
            <a:r>
              <a:rPr lang="en-US" altLang="zh-CN" sz="3200" b="0" i="1" u="none" strike="noStrike" baseline="0" dirty="0">
                <a:solidFill>
                  <a:srgbClr val="000000"/>
                </a:solidFill>
                <a:latin typeface="Times New Roman" panose="02020603050405020304" pitchFamily="18" charset="0"/>
              </a:rPr>
              <a:t>An</a:t>
            </a:r>
            <a:endParaRPr lang="en-US" altLang="zh-CN" sz="3200" b="0" i="0" u="none" strike="noStrike" baseline="0" dirty="0">
              <a:solidFill>
                <a:srgbClr val="000000"/>
              </a:solidFill>
              <a:latin typeface="Times New Roman" panose="02020603050405020304" pitchFamily="18" charset="0"/>
            </a:endParaRPr>
          </a:p>
        </p:txBody>
      </p:sp>
      <p:pic>
        <p:nvPicPr>
          <p:cNvPr id="10" name="图片 9">
            <a:extLst>
              <a:ext uri="{FF2B5EF4-FFF2-40B4-BE49-F238E27FC236}">
                <a16:creationId xmlns:a16="http://schemas.microsoft.com/office/drawing/2014/main" id="{1D3F7616-DC7C-B042-E33E-FD4206690944}"/>
              </a:ext>
            </a:extLst>
          </p:cNvPr>
          <p:cNvPicPr>
            <a:picLocks noChangeAspect="1"/>
          </p:cNvPicPr>
          <p:nvPr/>
        </p:nvPicPr>
        <p:blipFill>
          <a:blip r:embed="rId4"/>
          <a:stretch>
            <a:fillRect/>
          </a:stretch>
        </p:blipFill>
        <p:spPr>
          <a:xfrm>
            <a:off x="3124241" y="4487929"/>
            <a:ext cx="4162425" cy="1323975"/>
          </a:xfrm>
          <a:prstGeom prst="rect">
            <a:avLst/>
          </a:prstGeom>
        </p:spPr>
      </p:pic>
    </p:spTree>
    <p:extLst>
      <p:ext uri="{BB962C8B-B14F-4D97-AF65-F5344CB8AC3E}">
        <p14:creationId xmlns:p14="http://schemas.microsoft.com/office/powerpoint/2010/main" val="4309950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2"/>
            <a:ext cx="11239583" cy="5878001"/>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对应的投影矩阵如下。在给定摄像机仰角，宽高比以及远近平面的距离时可以求得该矩阵的大小。该矩阵确定了物体从三维摄像机坐标系投影到屏幕坐标系之后的结果。</a:t>
            </a:r>
            <a:endParaRPr lang="en-US" altLang="zh-CN" dirty="0">
              <a:solidFill>
                <a:srgbClr val="000000"/>
              </a:solidFill>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solidFill>
                  <a:srgbClr val="000000"/>
                </a:solidFill>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solidFill>
                  <a:srgbClr val="000000"/>
                </a:solidFill>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5" name="图片 4">
            <a:extLst>
              <a:ext uri="{FF2B5EF4-FFF2-40B4-BE49-F238E27FC236}">
                <a16:creationId xmlns:a16="http://schemas.microsoft.com/office/drawing/2014/main" id="{CC4E48AD-F37C-7C80-46C1-E486C0DD045E}"/>
              </a:ext>
            </a:extLst>
          </p:cNvPr>
          <p:cNvPicPr>
            <a:picLocks noChangeAspect="1"/>
          </p:cNvPicPr>
          <p:nvPr/>
        </p:nvPicPr>
        <p:blipFill>
          <a:blip r:embed="rId3"/>
          <a:stretch>
            <a:fillRect/>
          </a:stretch>
        </p:blipFill>
        <p:spPr>
          <a:xfrm>
            <a:off x="2782956" y="2926080"/>
            <a:ext cx="4659465" cy="3101008"/>
          </a:xfrm>
          <a:prstGeom prst="rect">
            <a:avLst/>
          </a:prstGeom>
        </p:spPr>
      </p:pic>
    </p:spTree>
    <p:extLst>
      <p:ext uri="{BB962C8B-B14F-4D97-AF65-F5344CB8AC3E}">
        <p14:creationId xmlns:p14="http://schemas.microsoft.com/office/powerpoint/2010/main" val="1271209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7774" y="1325562"/>
            <a:ext cx="10515600" cy="5132387"/>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裁剪的目的是去除区域外的图形，保留区域内的图形。本部分主要介绍二维和三维的线段裁剪。曲线的裁剪可以看成是若干线段的裁剪。</a:t>
            </a:r>
            <a:endParaRPr lang="en-US" altLang="zh-CN" sz="2600" dirty="0">
              <a:latin typeface="华光仿宋_CNKI" panose="02000500000000000000" pitchFamily="2" charset="-122"/>
              <a:ea typeface="华光仿宋_CNKI" panose="02000500000000000000" pitchFamily="2" charset="-122"/>
            </a:endParaRPr>
          </a:p>
          <a:p>
            <a:pPr marL="514350" indent="-514350">
              <a:lnSpc>
                <a:spcPct val="150000"/>
              </a:lnSpc>
              <a:buAutoNum type="arabicPeriod"/>
            </a:pPr>
            <a:r>
              <a:rPr lang="zh-CN" altLang="en-US" dirty="0">
                <a:latin typeface="华光超粗黑_CNKI" panose="02000500000000000000" pitchFamily="2" charset="-122"/>
                <a:ea typeface="华光超粗黑_CNKI" panose="02000500000000000000" pitchFamily="2" charset="-122"/>
              </a:rPr>
              <a:t>二维线段裁剪</a:t>
            </a:r>
            <a:endParaRPr lang="en-US" altLang="zh-CN" dirty="0">
              <a:latin typeface="华光超粗黑_CNKI" panose="02000500000000000000" pitchFamily="2" charset="-122"/>
              <a:ea typeface="华光超粗黑_CNKI" panose="02000500000000000000" pitchFamily="2" charset="-122"/>
            </a:endParaRPr>
          </a:p>
          <a:p>
            <a:pPr marL="0" indent="0">
              <a:lnSpc>
                <a:spcPct val="150000"/>
              </a:lnSpc>
              <a:buNone/>
            </a:pPr>
            <a:r>
              <a:rPr lang="en-US" altLang="zh-CN" sz="2600" dirty="0">
                <a:latin typeface="华光标题宋_CNKI" panose="02000500000000000000" pitchFamily="2" charset="-122"/>
                <a:ea typeface="华光标题宋_CNKI" panose="02000500000000000000" pitchFamily="2" charset="-122"/>
              </a:rPr>
              <a:t>1.1 Cohen-Sutherland</a:t>
            </a:r>
            <a:r>
              <a:rPr lang="zh-CN" altLang="en-US" sz="2600" dirty="0">
                <a:latin typeface="华光标题宋_CNKI" panose="02000500000000000000" pitchFamily="2" charset="-122"/>
                <a:ea typeface="华光标题宋_CNKI" panose="02000500000000000000" pitchFamily="2" charset="-122"/>
              </a:rPr>
              <a:t>裁剪算法（编码裁剪算法）</a:t>
            </a:r>
            <a:endParaRPr lang="en-US" altLang="zh-CN" sz="26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设裁剪窗口为矩形</a:t>
            </a:r>
            <a:r>
              <a:rPr lang="en-US" altLang="zh-CN" sz="2600" dirty="0">
                <a:latin typeface="华光仿宋_CNKI" panose="02000500000000000000" pitchFamily="2" charset="-122"/>
                <a:ea typeface="华光仿宋_CNKI" panose="02000500000000000000" pitchFamily="2" charset="-122"/>
              </a:rPr>
              <a:t>A(</a:t>
            </a:r>
            <a:r>
              <a:rPr lang="en-US" altLang="zh-CN" sz="2600" dirty="0" err="1">
                <a:latin typeface="华光仿宋_CNKI" panose="02000500000000000000" pitchFamily="2" charset="-122"/>
                <a:ea typeface="华光仿宋_CNKI" panose="02000500000000000000" pitchFamily="2" charset="-122"/>
              </a:rPr>
              <a:t>Xa,Ya</a:t>
            </a:r>
            <a:r>
              <a:rPr lang="en-US" altLang="zh-CN" sz="2600" dirty="0">
                <a:latin typeface="华光仿宋_CNKI" panose="02000500000000000000" pitchFamily="2" charset="-122"/>
                <a:ea typeface="华光仿宋_CNKI" panose="02000500000000000000" pitchFamily="2" charset="-122"/>
              </a:rPr>
              <a:t>)B(</a:t>
            </a:r>
            <a:r>
              <a:rPr lang="en-US" altLang="zh-CN" sz="2600" dirty="0" err="1">
                <a:latin typeface="华光仿宋_CNKI" panose="02000500000000000000" pitchFamily="2" charset="-122"/>
                <a:ea typeface="华光仿宋_CNKI" panose="02000500000000000000" pitchFamily="2" charset="-122"/>
              </a:rPr>
              <a:t>Xb,Yb</a:t>
            </a:r>
            <a:r>
              <a:rPr lang="en-US" altLang="zh-CN" sz="2600" dirty="0">
                <a:latin typeface="华光仿宋_CNKI" panose="02000500000000000000" pitchFamily="2" charset="-122"/>
                <a:ea typeface="华光仿宋_CNKI" panose="02000500000000000000" pitchFamily="2" charset="-122"/>
              </a:rPr>
              <a:t>)C(</a:t>
            </a:r>
            <a:r>
              <a:rPr lang="en-US" altLang="zh-CN" sz="2600" dirty="0" err="1">
                <a:latin typeface="华光仿宋_CNKI" panose="02000500000000000000" pitchFamily="2" charset="-122"/>
                <a:ea typeface="华光仿宋_CNKI" panose="02000500000000000000" pitchFamily="2" charset="-122"/>
              </a:rPr>
              <a:t>Xc,Yc</a:t>
            </a:r>
            <a:r>
              <a:rPr lang="en-US" altLang="zh-CN" sz="2600" dirty="0">
                <a:latin typeface="华光仿宋_CNKI" panose="02000500000000000000" pitchFamily="2" charset="-122"/>
                <a:ea typeface="华光仿宋_CNKI" panose="02000500000000000000" pitchFamily="2" charset="-122"/>
              </a:rPr>
              <a:t>)D(</a:t>
            </a:r>
            <a:r>
              <a:rPr lang="en-US" altLang="zh-CN" sz="2600" dirty="0" err="1">
                <a:latin typeface="华光仿宋_CNKI" panose="02000500000000000000" pitchFamily="2" charset="-122"/>
                <a:ea typeface="华光仿宋_CNKI" panose="02000500000000000000" pitchFamily="2" charset="-122"/>
              </a:rPr>
              <a:t>Xd,Yd</a:t>
            </a:r>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，待裁剪的线段的起点为</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x1,y1),</a:t>
            </a:r>
            <a:r>
              <a:rPr lang="zh-CN" altLang="en-US" sz="2600" dirty="0">
                <a:latin typeface="华光仿宋_CNKI" panose="02000500000000000000" pitchFamily="2" charset="-122"/>
                <a:ea typeface="华光仿宋_CNKI" panose="02000500000000000000" pitchFamily="2" charset="-122"/>
              </a:rPr>
              <a:t>终点为</a:t>
            </a:r>
            <a:r>
              <a:rPr lang="en-US" altLang="zh-CN" sz="2600" dirty="0">
                <a:latin typeface="华光仿宋_CNKI" panose="02000500000000000000" pitchFamily="2" charset="-122"/>
                <a:ea typeface="华光仿宋_CNKI" panose="02000500000000000000" pitchFamily="2" charset="-122"/>
              </a:rPr>
              <a:t>P2(x2,y2)</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算法输入：裁剪矩形</a:t>
            </a:r>
            <a:r>
              <a:rPr lang="en-US" altLang="zh-CN" sz="2600" dirty="0">
                <a:latin typeface="华光仿宋_CNKI" panose="02000500000000000000" pitchFamily="2" charset="-122"/>
                <a:ea typeface="华光仿宋_CNKI" panose="02000500000000000000" pitchFamily="2" charset="-122"/>
              </a:rPr>
              <a:t>ABCD</a:t>
            </a:r>
            <a:r>
              <a:rPr lang="zh-CN" altLang="en-US" sz="2600" dirty="0">
                <a:latin typeface="华光仿宋_CNKI" panose="02000500000000000000" pitchFamily="2" charset="-122"/>
                <a:ea typeface="华光仿宋_CNKI" panose="02000500000000000000" pitchFamily="2" charset="-122"/>
              </a:rPr>
              <a:t>，待裁剪线段</a:t>
            </a:r>
            <a:r>
              <a:rPr lang="en-US" altLang="zh-CN" sz="2600" dirty="0">
                <a:latin typeface="华光仿宋_CNKI" panose="02000500000000000000" pitchFamily="2" charset="-122"/>
                <a:ea typeface="华光仿宋_CNKI" panose="02000500000000000000" pitchFamily="2" charset="-122"/>
              </a:rPr>
              <a:t>P1P2   </a:t>
            </a:r>
          </a:p>
        </p:txBody>
      </p:sp>
      <p:sp>
        <p:nvSpPr>
          <p:cNvPr id="4" name="标题 1"/>
          <p:cNvSpPr txBox="1">
            <a:spLocks/>
          </p:cNvSpPr>
          <p:nvPr/>
        </p:nvSpPr>
        <p:spPr>
          <a:xfrm>
            <a:off x="838200" y="1113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800" b="1" dirty="0">
                <a:solidFill>
                  <a:srgbClr val="FF0000"/>
                </a:solidFill>
                <a:latin typeface="黑体" panose="02010609060101010101" pitchFamily="49" charset="-122"/>
                <a:ea typeface="黑体" panose="02010609060101010101" pitchFamily="49" charset="-122"/>
              </a:rPr>
              <a:t>图形裁剪</a:t>
            </a:r>
          </a:p>
        </p:txBody>
      </p:sp>
    </p:spTree>
    <p:extLst>
      <p:ext uri="{BB962C8B-B14F-4D97-AF65-F5344CB8AC3E}">
        <p14:creationId xmlns:p14="http://schemas.microsoft.com/office/powerpoint/2010/main" val="12567656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3"/>
            <a:ext cx="11239583" cy="2466892"/>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算法输出：裁剪后保留在窗口内的线段</a:t>
            </a:r>
            <a:r>
              <a:rPr lang="en-US" altLang="zh-CN" dirty="0">
                <a:latin typeface="华光仿宋_CNKI" panose="02000500000000000000" pitchFamily="2" charset="-122"/>
                <a:ea typeface="华光仿宋_CNKI" panose="02000500000000000000" pitchFamily="2" charset="-122"/>
              </a:rPr>
              <a:t>Pm(</a:t>
            </a:r>
            <a:r>
              <a:rPr lang="en-US" altLang="zh-CN" dirty="0" err="1">
                <a:latin typeface="华光仿宋_CNKI" panose="02000500000000000000" pitchFamily="2" charset="-122"/>
                <a:ea typeface="华光仿宋_CNKI" panose="02000500000000000000" pitchFamily="2" charset="-122"/>
              </a:rPr>
              <a:t>Xm,Ym</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Pn</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Xn,Yn</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算法描述：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1. </a:t>
            </a:r>
            <a:r>
              <a:rPr lang="zh-CN" altLang="en-US" dirty="0">
                <a:latin typeface="华光仿宋_CNKI" panose="02000500000000000000" pitchFamily="2" charset="-122"/>
                <a:ea typeface="华光仿宋_CNKI" panose="02000500000000000000" pitchFamily="2" charset="-122"/>
              </a:rPr>
              <a:t>对裁剪区域按照下图所示规则进行编码。</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b="0" i="0" u="none" strike="noStrike" baseline="0" dirty="0">
                <a:solidFill>
                  <a:srgbClr val="000000"/>
                </a:solidFill>
                <a:latin typeface="华光仿宋_CNKI" panose="02000500000000000000" pitchFamily="2" charset="-122"/>
                <a:ea typeface="华光仿宋_CNKI" panose="02000500000000000000" pitchFamily="2" charset="-122"/>
              </a:rPr>
              <a:t>    </a:t>
            </a:r>
            <a:endParaRPr lang="pt-BR" altLang="zh-CN" b="0" i="0" u="none" strike="noStrike" baseline="0" dirty="0">
              <a:solidFill>
                <a:srgbClr val="000000"/>
              </a:solidFill>
              <a:latin typeface="Times New Roman" panose="02020603050405020304" pitchFamily="18" charset="0"/>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pic>
        <p:nvPicPr>
          <p:cNvPr id="5" name="图片 4">
            <a:extLst>
              <a:ext uri="{FF2B5EF4-FFF2-40B4-BE49-F238E27FC236}">
                <a16:creationId xmlns:a16="http://schemas.microsoft.com/office/drawing/2014/main" id="{834D778D-5DB9-489E-41AF-672BE8D557BF}"/>
              </a:ext>
            </a:extLst>
          </p:cNvPr>
          <p:cNvPicPr>
            <a:picLocks noChangeAspect="1"/>
          </p:cNvPicPr>
          <p:nvPr/>
        </p:nvPicPr>
        <p:blipFill>
          <a:blip r:embed="rId3"/>
          <a:stretch>
            <a:fillRect/>
          </a:stretch>
        </p:blipFill>
        <p:spPr>
          <a:xfrm>
            <a:off x="2283515" y="2949935"/>
            <a:ext cx="6200526" cy="3448877"/>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4A5A3F7-AAFE-4B52-6ECC-77586CE6572C}"/>
                  </a:ext>
                </a:extLst>
              </p:cNvPr>
              <p:cNvSpPr txBox="1"/>
              <p:nvPr/>
            </p:nvSpPr>
            <p:spPr>
              <a:xfrm>
                <a:off x="9128097" y="3429000"/>
                <a:ext cx="2346155" cy="369332"/>
              </a:xfrm>
              <a:prstGeom prst="rect">
                <a:avLst/>
              </a:prstGeom>
              <a:noFill/>
            </p:spPr>
            <p:txBody>
              <a:bodyPr wrap="non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𝑚𝑖𝑛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𝑥𝑎</m:t>
                    </m:r>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𝑥</m:t>
                        </m:r>
                      </m:e>
                      <m:sub>
                        <m:r>
                          <a:rPr lang="en-US" altLang="zh-CN" i="1">
                            <a:latin typeface="Cambria Math" panose="02040503050406030204" pitchFamily="18" charset="0"/>
                          </a:rPr>
                          <m:t>𝑚</m:t>
                        </m:r>
                        <m:r>
                          <a:rPr lang="en-US" altLang="zh-CN" b="0" i="1" smtClean="0">
                            <a:latin typeface="Cambria Math" panose="02040503050406030204" pitchFamily="18" charset="0"/>
                          </a:rPr>
                          <m:t>𝑎𝑥</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𝑥𝑏</m:t>
                    </m:r>
                  </m:oMath>
                </a14:m>
                <a:endParaRPr lang="zh-CN" altLang="en-US" dirty="0"/>
              </a:p>
            </p:txBody>
          </p:sp>
        </mc:Choice>
        <mc:Fallback xmlns="">
          <p:sp>
            <p:nvSpPr>
              <p:cNvPr id="6" name="文本框 5">
                <a:extLst>
                  <a:ext uri="{FF2B5EF4-FFF2-40B4-BE49-F238E27FC236}">
                    <a16:creationId xmlns:a16="http://schemas.microsoft.com/office/drawing/2014/main" id="{D4A5A3F7-AAFE-4B52-6ECC-77586CE6572C}"/>
                  </a:ext>
                </a:extLst>
              </p:cNvPr>
              <p:cNvSpPr txBox="1">
                <a:spLocks noRot="1" noChangeAspect="1" noMove="1" noResize="1" noEditPoints="1" noAdjustHandles="1" noChangeArrowheads="1" noChangeShapeType="1" noTextEdit="1"/>
              </p:cNvSpPr>
              <p:nvPr/>
            </p:nvSpPr>
            <p:spPr>
              <a:xfrm>
                <a:off x="9128097" y="3429000"/>
                <a:ext cx="2346155" cy="369332"/>
              </a:xfrm>
              <a:prstGeom prst="rect">
                <a:avLst/>
              </a:prstGeom>
              <a:blipFill>
                <a:blip r:embed="rId4"/>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F04B4973-891E-043C-CED0-C2253E0AC1CE}"/>
              </a:ext>
            </a:extLst>
          </p:cNvPr>
          <p:cNvSpPr txBox="1"/>
          <p:nvPr/>
        </p:nvSpPr>
        <p:spPr>
          <a:xfrm>
            <a:off x="3999507" y="3429000"/>
            <a:ext cx="362600" cy="461665"/>
          </a:xfrm>
          <a:prstGeom prst="rect">
            <a:avLst/>
          </a:prstGeom>
          <a:noFill/>
        </p:spPr>
        <p:txBody>
          <a:bodyPr wrap="none" rtlCol="0">
            <a:spAutoFit/>
          </a:bodyPr>
          <a:lstStyle/>
          <a:p>
            <a:r>
              <a:rPr lang="en-US" altLang="zh-CN" sz="2400" dirty="0">
                <a:solidFill>
                  <a:srgbClr val="FF0000"/>
                </a:solidFill>
              </a:rPr>
              <a:t>A</a:t>
            </a:r>
            <a:endParaRPr lang="zh-CN" altLang="en-US" sz="2400" dirty="0">
              <a:solidFill>
                <a:srgbClr val="FF0000"/>
              </a:solidFill>
            </a:endParaRPr>
          </a:p>
        </p:txBody>
      </p:sp>
      <p:sp>
        <p:nvSpPr>
          <p:cNvPr id="8" name="文本框 7">
            <a:extLst>
              <a:ext uri="{FF2B5EF4-FFF2-40B4-BE49-F238E27FC236}">
                <a16:creationId xmlns:a16="http://schemas.microsoft.com/office/drawing/2014/main" id="{93FC3353-E8E1-49D5-A98C-CB435122F985}"/>
              </a:ext>
            </a:extLst>
          </p:cNvPr>
          <p:cNvSpPr txBox="1"/>
          <p:nvPr/>
        </p:nvSpPr>
        <p:spPr>
          <a:xfrm>
            <a:off x="6585006" y="3428999"/>
            <a:ext cx="351378" cy="461665"/>
          </a:xfrm>
          <a:prstGeom prst="rect">
            <a:avLst/>
          </a:prstGeom>
          <a:noFill/>
        </p:spPr>
        <p:txBody>
          <a:bodyPr wrap="none" rtlCol="0">
            <a:spAutoFit/>
          </a:bodyPr>
          <a:lstStyle/>
          <a:p>
            <a:r>
              <a:rPr lang="en-US" altLang="zh-CN" sz="2400" dirty="0">
                <a:solidFill>
                  <a:srgbClr val="FF0000"/>
                </a:solidFill>
              </a:rPr>
              <a:t>B</a:t>
            </a:r>
            <a:endParaRPr lang="zh-CN" altLang="en-US" sz="2400" dirty="0">
              <a:solidFill>
                <a:srgbClr val="FF0000"/>
              </a:solidFill>
            </a:endParaRPr>
          </a:p>
        </p:txBody>
      </p:sp>
      <p:sp>
        <p:nvSpPr>
          <p:cNvPr id="9" name="文本框 8">
            <a:extLst>
              <a:ext uri="{FF2B5EF4-FFF2-40B4-BE49-F238E27FC236}">
                <a16:creationId xmlns:a16="http://schemas.microsoft.com/office/drawing/2014/main" id="{E834329A-52EF-C9DA-8993-B64753260202}"/>
              </a:ext>
            </a:extLst>
          </p:cNvPr>
          <p:cNvSpPr txBox="1"/>
          <p:nvPr/>
        </p:nvSpPr>
        <p:spPr>
          <a:xfrm>
            <a:off x="3999507" y="5267076"/>
            <a:ext cx="348172" cy="461665"/>
          </a:xfrm>
          <a:prstGeom prst="rect">
            <a:avLst/>
          </a:prstGeom>
          <a:noFill/>
        </p:spPr>
        <p:txBody>
          <a:bodyPr wrap="none" rtlCol="0">
            <a:spAutoFit/>
          </a:bodyPr>
          <a:lstStyle/>
          <a:p>
            <a:r>
              <a:rPr lang="en-US" altLang="zh-CN" sz="2400" dirty="0">
                <a:solidFill>
                  <a:srgbClr val="FF0000"/>
                </a:solidFill>
              </a:rPr>
              <a:t>C</a:t>
            </a:r>
            <a:endParaRPr lang="zh-CN" altLang="en-US" sz="2400" dirty="0">
              <a:solidFill>
                <a:srgbClr val="FF0000"/>
              </a:solidFill>
            </a:endParaRPr>
          </a:p>
        </p:txBody>
      </p:sp>
      <p:sp>
        <p:nvSpPr>
          <p:cNvPr id="10" name="文本框 9">
            <a:extLst>
              <a:ext uri="{FF2B5EF4-FFF2-40B4-BE49-F238E27FC236}">
                <a16:creationId xmlns:a16="http://schemas.microsoft.com/office/drawing/2014/main" id="{EDA44125-F1E2-0F0E-08EF-046C49965903}"/>
              </a:ext>
            </a:extLst>
          </p:cNvPr>
          <p:cNvSpPr txBox="1"/>
          <p:nvPr/>
        </p:nvSpPr>
        <p:spPr>
          <a:xfrm>
            <a:off x="6591273" y="5267075"/>
            <a:ext cx="373820" cy="461665"/>
          </a:xfrm>
          <a:prstGeom prst="rect">
            <a:avLst/>
          </a:prstGeom>
          <a:noFill/>
        </p:spPr>
        <p:txBody>
          <a:bodyPr wrap="none" rtlCol="0">
            <a:spAutoFit/>
          </a:bodyPr>
          <a:lstStyle/>
          <a:p>
            <a:r>
              <a:rPr lang="en-US" altLang="zh-CN" sz="2400" dirty="0">
                <a:solidFill>
                  <a:srgbClr val="FF0000"/>
                </a:solidFill>
              </a:rPr>
              <a:t>D</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F51E501-1BCB-C7BD-F865-E022B0C42366}"/>
                  </a:ext>
                </a:extLst>
              </p:cNvPr>
              <p:cNvSpPr txBox="1"/>
              <p:nvPr/>
            </p:nvSpPr>
            <p:spPr>
              <a:xfrm>
                <a:off x="9121305" y="3991223"/>
                <a:ext cx="2332049" cy="369332"/>
              </a:xfrm>
              <a:prstGeom prst="rect">
                <a:avLst/>
              </a:prstGeom>
              <a:noFill/>
            </p:spPr>
            <p:txBody>
              <a:bodyPr wrap="non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𝑚𝑖𝑛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𝑦𝑐</m:t>
                    </m:r>
                  </m:oMath>
                </a14:m>
                <a:r>
                  <a:rPr lang="zh-CN"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  </m:t>
                        </m:r>
                        <m:r>
                          <a:rPr lang="en-US" altLang="zh-CN" b="0" i="1" smtClean="0">
                            <a:latin typeface="Cambria Math" panose="02040503050406030204" pitchFamily="18" charset="0"/>
                          </a:rPr>
                          <m:t>𝑦</m:t>
                        </m:r>
                      </m:e>
                      <m:sub>
                        <m:r>
                          <a:rPr lang="en-US" altLang="zh-CN" i="1">
                            <a:latin typeface="Cambria Math" panose="02040503050406030204" pitchFamily="18" charset="0"/>
                          </a:rPr>
                          <m:t>𝑚</m:t>
                        </m:r>
                        <m:r>
                          <a:rPr lang="en-US" altLang="zh-CN" b="0" i="1" smtClean="0">
                            <a:latin typeface="Cambria Math" panose="02040503050406030204" pitchFamily="18" charset="0"/>
                          </a:rPr>
                          <m:t>𝑎𝑥</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𝑦𝑎</m:t>
                    </m:r>
                  </m:oMath>
                </a14:m>
                <a:endParaRPr lang="zh-CN" altLang="en-US" dirty="0"/>
              </a:p>
            </p:txBody>
          </p:sp>
        </mc:Choice>
        <mc:Fallback xmlns="">
          <p:sp>
            <p:nvSpPr>
              <p:cNvPr id="11" name="文本框 10">
                <a:extLst>
                  <a:ext uri="{FF2B5EF4-FFF2-40B4-BE49-F238E27FC236}">
                    <a16:creationId xmlns:a16="http://schemas.microsoft.com/office/drawing/2014/main" id="{6F51E501-1BCB-C7BD-F865-E022B0C42366}"/>
                  </a:ext>
                </a:extLst>
              </p:cNvPr>
              <p:cNvSpPr txBox="1">
                <a:spLocks noRot="1" noChangeAspect="1" noMove="1" noResize="1" noEditPoints="1" noAdjustHandles="1" noChangeArrowheads="1" noChangeShapeType="1" noTextEdit="1"/>
              </p:cNvSpPr>
              <p:nvPr/>
            </p:nvSpPr>
            <p:spPr>
              <a:xfrm>
                <a:off x="9121305" y="3991223"/>
                <a:ext cx="2332049" cy="369332"/>
              </a:xfrm>
              <a:prstGeom prst="rect">
                <a:avLst/>
              </a:prstGeom>
              <a:blipFill>
                <a:blip r:embed="rId5"/>
                <a:stretch>
                  <a:fillRect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03039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76208" y="617220"/>
                <a:ext cx="11239583" cy="5623559"/>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2. </a:t>
                </a:r>
                <a:r>
                  <a:rPr lang="zh-CN" altLang="en-US" dirty="0">
                    <a:latin typeface="华光仿宋_CNKI" panose="02000500000000000000" pitchFamily="2" charset="-122"/>
                    <a:ea typeface="华光仿宋_CNKI" panose="02000500000000000000" pitchFamily="2" charset="-122"/>
                  </a:rPr>
                  <a:t>给每段直线的端点赋予一组四位二进制代码（称为区域编码，</a:t>
                </a:r>
                <a:r>
                  <a:rPr lang="en-US" altLang="zh-CN" dirty="0">
                    <a:latin typeface="华光仿宋_CNKI" panose="02000500000000000000" pitchFamily="2" charset="-122"/>
                    <a:ea typeface="华光仿宋_CNKI" panose="02000500000000000000" pitchFamily="2" charset="-122"/>
                  </a:rPr>
                  <a:t>region code</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RC)</a:t>
                </a:r>
                <a:r>
                  <a:rPr lang="zh-CN" altLang="en-US" dirty="0">
                    <a:latin typeface="华光仿宋_CNKI" panose="02000500000000000000" pitchFamily="2" charset="-122"/>
                    <a:ea typeface="华光仿宋_CNKI" panose="02000500000000000000" pitchFamily="2" charset="-122"/>
                  </a:rPr>
                  <a:t>，用来标识直线段端点相对于窗口边界及其延长线的位置。</a:t>
                </a:r>
                <a:r>
                  <a:rPr lang="en-US" altLang="zh-CN" dirty="0">
                    <a:latin typeface="华光仿宋_CNKI" panose="02000500000000000000" pitchFamily="2" charset="-122"/>
                    <a:ea typeface="华光仿宋_CNKI" panose="02000500000000000000" pitchFamily="2" charset="-122"/>
                  </a:rPr>
                  <a:t>RC=C3C2C1C0</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C0</a:t>
                </a:r>
                <a:r>
                  <a:rPr lang="zh-CN" altLang="en-US" dirty="0">
                    <a:latin typeface="华光仿宋_CNKI" panose="02000500000000000000" pitchFamily="2" charset="-122"/>
                    <a:ea typeface="华光仿宋_CNKI" panose="02000500000000000000" pitchFamily="2" charset="-122"/>
                  </a:rPr>
                  <a:t>代表左边界， </a:t>
                </a:r>
                <a:r>
                  <a:rPr lang="en-US" altLang="zh-CN" dirty="0">
                    <a:latin typeface="华光仿宋_CNKI" panose="02000500000000000000" pitchFamily="2" charset="-122"/>
                    <a:ea typeface="华光仿宋_CNKI" panose="02000500000000000000" pitchFamily="2" charset="-122"/>
                  </a:rPr>
                  <a:t>C1</a:t>
                </a:r>
                <a:r>
                  <a:rPr lang="zh-CN" altLang="en-US" dirty="0">
                    <a:latin typeface="华光仿宋_CNKI" panose="02000500000000000000" pitchFamily="2" charset="-122"/>
                    <a:ea typeface="华光仿宋_CNKI" panose="02000500000000000000" pitchFamily="2" charset="-122"/>
                  </a:rPr>
                  <a:t>代表右边界， </a:t>
                </a:r>
                <a:r>
                  <a:rPr lang="en-US" altLang="zh-CN" dirty="0">
                    <a:latin typeface="华光仿宋_CNKI" panose="02000500000000000000" pitchFamily="2" charset="-122"/>
                    <a:ea typeface="华光仿宋_CNKI" panose="02000500000000000000" pitchFamily="2" charset="-122"/>
                  </a:rPr>
                  <a:t>C2</a:t>
                </a:r>
                <a:r>
                  <a:rPr lang="zh-CN" altLang="en-US" dirty="0">
                    <a:latin typeface="华光仿宋_CNKI" panose="02000500000000000000" pitchFamily="2" charset="-122"/>
                    <a:ea typeface="华光仿宋_CNKI" panose="02000500000000000000" pitchFamily="2" charset="-122"/>
                  </a:rPr>
                  <a:t>代表下边界， </a:t>
                </a:r>
                <a:r>
                  <a:rPr lang="en-US" altLang="zh-CN" dirty="0">
                    <a:latin typeface="华光仿宋_CNKI" panose="02000500000000000000" pitchFamily="2" charset="-122"/>
                    <a:ea typeface="华光仿宋_CNKI" panose="02000500000000000000" pitchFamily="2" charset="-122"/>
                  </a:rPr>
                  <a:t>C3</a:t>
                </a:r>
                <a:r>
                  <a:rPr lang="zh-CN" altLang="en-US" dirty="0">
                    <a:latin typeface="华光仿宋_CNKI" panose="02000500000000000000" pitchFamily="2" charset="-122"/>
                    <a:ea typeface="华光仿宋_CNKI" panose="02000500000000000000" pitchFamily="2" charset="-122"/>
                  </a:rPr>
                  <a:t>代表上边界。对应的编码规则如下：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C0</a:t>
                </a:r>
                <a:r>
                  <a:rPr lang="zh-CN" altLang="en-US" dirty="0">
                    <a:latin typeface="华光仿宋_CNKI" panose="02000500000000000000" pitchFamily="2" charset="-122"/>
                    <a:ea typeface="华光仿宋_CNKI" panose="02000500000000000000" pitchFamily="2" charset="-122"/>
                  </a:rPr>
                  <a:t>：若端点的 </a:t>
                </a:r>
                <a:r>
                  <a:rPr lang="en-US" altLang="zh-CN" dirty="0">
                    <a:latin typeface="华光仿宋_CNKI" panose="02000500000000000000" pitchFamily="2" charset="-122"/>
                    <a:ea typeface="华光仿宋_CNKI" panose="02000500000000000000" pitchFamily="2" charset="-122"/>
                  </a:rPr>
                  <a:t>x &lt;</a:t>
                </a: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𝑚𝑖𝑛</m:t>
                        </m:r>
                      </m:sub>
                    </m:sSub>
                    <m:r>
                      <a:rPr lang="en-US" altLang="zh-CN" b="0" i="1" smtClean="0">
                        <a:latin typeface="Cambria Math" panose="02040503050406030204" pitchFamily="18" charset="0"/>
                      </a:rPr>
                      <m:t> </m:t>
                    </m:r>
                  </m:oMath>
                </a14:m>
                <a:r>
                  <a:rPr lang="zh-CN" altLang="en-US" dirty="0">
                    <a:latin typeface="华光仿宋_CNKI" panose="02000500000000000000" pitchFamily="2" charset="-122"/>
                    <a:ea typeface="华光仿宋_CNKI" panose="02000500000000000000" pitchFamily="2" charset="-122"/>
                  </a:rPr>
                  <a:t>，则</a:t>
                </a:r>
                <a:r>
                  <a:rPr lang="en-US" altLang="zh-CN" dirty="0">
                    <a:latin typeface="华光仿宋_CNKI" panose="02000500000000000000" pitchFamily="2" charset="-122"/>
                    <a:ea typeface="华光仿宋_CNKI" panose="02000500000000000000" pitchFamily="2" charset="-122"/>
                  </a:rPr>
                  <a:t>C0=1</a:t>
                </a:r>
                <a:r>
                  <a:rPr lang="zh-CN" altLang="en-US" dirty="0">
                    <a:latin typeface="华光仿宋_CNKI" panose="02000500000000000000" pitchFamily="2" charset="-122"/>
                    <a:ea typeface="华光仿宋_CNKI" panose="02000500000000000000" pitchFamily="2" charset="-122"/>
                  </a:rPr>
                  <a:t>，否则</a:t>
                </a:r>
                <a:r>
                  <a:rPr lang="en-US" altLang="zh-CN" dirty="0">
                    <a:latin typeface="华光仿宋_CNKI" panose="02000500000000000000" pitchFamily="2" charset="-122"/>
                    <a:ea typeface="华光仿宋_CNKI" panose="02000500000000000000" pitchFamily="2" charset="-122"/>
                  </a:rPr>
                  <a:t>C0=0</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C1</a:t>
                </a:r>
                <a:r>
                  <a:rPr lang="zh-CN" altLang="en-US" dirty="0">
                    <a:latin typeface="华光仿宋_CNKI" panose="02000500000000000000" pitchFamily="2" charset="-122"/>
                    <a:ea typeface="华光仿宋_CNKI" panose="02000500000000000000" pitchFamily="2" charset="-122"/>
                  </a:rPr>
                  <a:t>：若端点的</a:t>
                </a:r>
                <a:r>
                  <a:rPr lang="en-US" altLang="zh-CN" dirty="0">
                    <a:latin typeface="华光仿宋_CNKI" panose="02000500000000000000" pitchFamily="2" charset="-122"/>
                    <a:ea typeface="华光仿宋_CNKI" panose="02000500000000000000" pitchFamily="2" charset="-122"/>
                  </a:rPr>
                  <a:t>x &gt;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 </m:t>
                    </m:r>
                  </m:oMath>
                </a14:m>
                <a:r>
                  <a:rPr lang="zh-CN" altLang="en-US" dirty="0">
                    <a:latin typeface="华光仿宋_CNKI" panose="02000500000000000000" pitchFamily="2" charset="-122"/>
                    <a:ea typeface="华光仿宋_CNKI" panose="02000500000000000000" pitchFamily="2" charset="-122"/>
                  </a:rPr>
                  <a:t>，则</a:t>
                </a:r>
                <a:r>
                  <a:rPr lang="en-US" altLang="zh-CN" dirty="0">
                    <a:latin typeface="华光仿宋_CNKI" panose="02000500000000000000" pitchFamily="2" charset="-122"/>
                    <a:ea typeface="华光仿宋_CNKI" panose="02000500000000000000" pitchFamily="2" charset="-122"/>
                  </a:rPr>
                  <a:t>C1=1</a:t>
                </a:r>
                <a:r>
                  <a:rPr lang="zh-CN" altLang="en-US" dirty="0">
                    <a:latin typeface="华光仿宋_CNKI" panose="02000500000000000000" pitchFamily="2" charset="-122"/>
                    <a:ea typeface="华光仿宋_CNKI" panose="02000500000000000000" pitchFamily="2" charset="-122"/>
                  </a:rPr>
                  <a:t>，否则</a:t>
                </a:r>
                <a:r>
                  <a:rPr lang="en-US" altLang="zh-CN" dirty="0">
                    <a:latin typeface="华光仿宋_CNKI" panose="02000500000000000000" pitchFamily="2" charset="-122"/>
                    <a:ea typeface="华光仿宋_CNKI" panose="02000500000000000000" pitchFamily="2" charset="-122"/>
                  </a:rPr>
                  <a:t>C1=0</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C2</a:t>
                </a:r>
                <a:r>
                  <a:rPr lang="zh-CN" altLang="en-US" dirty="0">
                    <a:latin typeface="华光仿宋_CNKI" panose="02000500000000000000" pitchFamily="2" charset="-122"/>
                    <a:ea typeface="华光仿宋_CNKI" panose="02000500000000000000" pitchFamily="2" charset="-122"/>
                  </a:rPr>
                  <a:t>：若端点的</a:t>
                </a:r>
                <a:r>
                  <a:rPr lang="en-US" altLang="zh-CN" dirty="0">
                    <a:latin typeface="华光仿宋_CNKI" panose="02000500000000000000" pitchFamily="2" charset="-122"/>
                    <a:ea typeface="华光仿宋_CNKI" panose="02000500000000000000" pitchFamily="2" charset="-122"/>
                  </a:rPr>
                  <a:t>y &lt;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𝑚𝑖𝑛</m:t>
                        </m:r>
                      </m:sub>
                    </m:sSub>
                    <m:r>
                      <a:rPr lang="en-US" altLang="zh-CN" b="0" i="1" smtClean="0">
                        <a:latin typeface="Cambria Math" panose="02040503050406030204" pitchFamily="18" charset="0"/>
                      </a:rPr>
                      <m:t> </m:t>
                    </m:r>
                  </m:oMath>
                </a14:m>
                <a:r>
                  <a:rPr lang="zh-CN" altLang="en-US" dirty="0">
                    <a:latin typeface="华光仿宋_CNKI" panose="02000500000000000000" pitchFamily="2" charset="-122"/>
                    <a:ea typeface="华光仿宋_CNKI" panose="02000500000000000000" pitchFamily="2" charset="-122"/>
                  </a:rPr>
                  <a:t>，则</a:t>
                </a:r>
                <a:r>
                  <a:rPr lang="en-US" altLang="zh-CN" dirty="0">
                    <a:latin typeface="华光仿宋_CNKI" panose="02000500000000000000" pitchFamily="2" charset="-122"/>
                    <a:ea typeface="华光仿宋_CNKI" panose="02000500000000000000" pitchFamily="2" charset="-122"/>
                  </a:rPr>
                  <a:t>C2=1</a:t>
                </a:r>
                <a:r>
                  <a:rPr lang="zh-CN" altLang="en-US" dirty="0">
                    <a:latin typeface="华光仿宋_CNKI" panose="02000500000000000000" pitchFamily="2" charset="-122"/>
                    <a:ea typeface="华光仿宋_CNKI" panose="02000500000000000000" pitchFamily="2" charset="-122"/>
                  </a:rPr>
                  <a:t>，否则</a:t>
                </a:r>
                <a:r>
                  <a:rPr lang="en-US" altLang="zh-CN" dirty="0">
                    <a:latin typeface="华光仿宋_CNKI" panose="02000500000000000000" pitchFamily="2" charset="-122"/>
                    <a:ea typeface="华光仿宋_CNKI" panose="02000500000000000000" pitchFamily="2" charset="-122"/>
                  </a:rPr>
                  <a:t>C2=0</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C3</a:t>
                </a:r>
                <a:r>
                  <a:rPr lang="zh-CN" altLang="en-US" dirty="0">
                    <a:latin typeface="华光仿宋_CNKI" panose="02000500000000000000" pitchFamily="2" charset="-122"/>
                    <a:ea typeface="华光仿宋_CNKI" panose="02000500000000000000" pitchFamily="2" charset="-122"/>
                  </a:rPr>
                  <a:t>：若端点的</a:t>
                </a:r>
                <a:r>
                  <a:rPr lang="en-US" altLang="zh-CN" dirty="0">
                    <a:latin typeface="华光仿宋_CNKI" panose="02000500000000000000" pitchFamily="2" charset="-122"/>
                    <a:ea typeface="华光仿宋_CNKI" panose="02000500000000000000" pitchFamily="2" charset="-122"/>
                  </a:rPr>
                  <a:t>y &gt;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 </m:t>
                    </m:r>
                  </m:oMath>
                </a14:m>
                <a:r>
                  <a:rPr lang="zh-CN" altLang="en-US" dirty="0">
                    <a:latin typeface="华光仿宋_CNKI" panose="02000500000000000000" pitchFamily="2" charset="-122"/>
                    <a:ea typeface="华光仿宋_CNKI" panose="02000500000000000000" pitchFamily="2" charset="-122"/>
                  </a:rPr>
                  <a:t>，则</a:t>
                </a:r>
                <a:r>
                  <a:rPr lang="en-US" altLang="zh-CN" dirty="0">
                    <a:latin typeface="华光仿宋_CNKI" panose="02000500000000000000" pitchFamily="2" charset="-122"/>
                    <a:ea typeface="华光仿宋_CNKI" panose="02000500000000000000" pitchFamily="2" charset="-122"/>
                  </a:rPr>
                  <a:t>C3=1</a:t>
                </a:r>
                <a:r>
                  <a:rPr lang="zh-CN" altLang="en-US" dirty="0">
                    <a:latin typeface="华光仿宋_CNKI" panose="02000500000000000000" pitchFamily="2" charset="-122"/>
                    <a:ea typeface="华光仿宋_CNKI" panose="02000500000000000000" pitchFamily="2" charset="-122"/>
                  </a:rPr>
                  <a:t>，否则</a:t>
                </a:r>
                <a:r>
                  <a:rPr lang="en-US" altLang="zh-CN" dirty="0">
                    <a:latin typeface="华光仿宋_CNKI" panose="02000500000000000000" pitchFamily="2" charset="-122"/>
                    <a:ea typeface="华光仿宋_CNKI" panose="02000500000000000000" pitchFamily="2" charset="-122"/>
                  </a:rPr>
                  <a:t>C3=0</a:t>
                </a:r>
                <a:r>
                  <a:rPr lang="zh-CN" altLang="en-US"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b="0" i="0" u="none" strike="noStrike" baseline="0" dirty="0">
                    <a:solidFill>
                      <a:srgbClr val="000000"/>
                    </a:solidFill>
                    <a:latin typeface="华光仿宋_CNKI" panose="02000500000000000000" pitchFamily="2" charset="-122"/>
                    <a:ea typeface="华光仿宋_CNKI" panose="02000500000000000000" pitchFamily="2" charset="-122"/>
                  </a:rPr>
                  <a:t>    </a:t>
                </a:r>
                <a:endParaRPr lang="pt-BR" altLang="zh-CN" b="0" i="0" u="none" strike="noStrike" baseline="0" dirty="0">
                  <a:solidFill>
                    <a:srgbClr val="000000"/>
                  </a:solidFill>
                  <a:latin typeface="Times New Roman" panose="02020603050405020304" pitchFamily="18" charset="0"/>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76208" y="617220"/>
                <a:ext cx="11239583" cy="5623559"/>
              </a:xfrm>
              <a:blipFill>
                <a:blip r:embed="rId3"/>
                <a:stretch>
                  <a:fillRect l="-1085" r="-3308" b="-3467"/>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7310813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在这里插入图片描述">
            <a:extLst>
              <a:ext uri="{FF2B5EF4-FFF2-40B4-BE49-F238E27FC236}">
                <a16:creationId xmlns:a16="http://schemas.microsoft.com/office/drawing/2014/main" id="{B889283E-D06A-FBB2-7DCC-DBB77F370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9367" y="1217046"/>
            <a:ext cx="5198953" cy="4423907"/>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ph idx="1"/>
          </p:nvPr>
        </p:nvSpPr>
        <p:spPr>
          <a:xfrm>
            <a:off x="615814" y="947199"/>
            <a:ext cx="5480186" cy="4963602"/>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3. </a:t>
            </a:r>
            <a:r>
              <a:rPr lang="zh-CN" altLang="en-US" dirty="0">
                <a:latin typeface="华光仿宋_CNKI" panose="02000500000000000000" pitchFamily="2" charset="-122"/>
                <a:ea typeface="华光仿宋_CNKI" panose="02000500000000000000" pitchFamily="2" charset="-122"/>
              </a:rPr>
              <a:t>根据线段的两端点编码判断线段相对于窗口的位置关系。</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若直线段的两个端点的区域编码都为</a:t>
            </a:r>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，有</a:t>
            </a:r>
            <a:r>
              <a:rPr lang="en-US" altLang="zh-CN" dirty="0">
                <a:latin typeface="华光仿宋_CNKI" panose="02000500000000000000" pitchFamily="2" charset="-122"/>
                <a:ea typeface="华光仿宋_CNKI" panose="02000500000000000000" pitchFamily="2" charset="-122"/>
              </a:rPr>
              <a:t>RC0|RC1=0</a:t>
            </a:r>
            <a:r>
              <a:rPr lang="zh-CN" altLang="en-US" dirty="0">
                <a:latin typeface="华光仿宋_CNKI" panose="02000500000000000000" pitchFamily="2" charset="-122"/>
                <a:ea typeface="华光仿宋_CNKI" panose="02000500000000000000" pitchFamily="2" charset="-122"/>
              </a:rPr>
              <a:t>（二者按位相或的结果为零，即</a:t>
            </a:r>
            <a:r>
              <a:rPr lang="en-US" altLang="zh-CN" dirty="0">
                <a:latin typeface="华光仿宋_CNKI" panose="02000500000000000000" pitchFamily="2" charset="-122"/>
                <a:ea typeface="华光仿宋_CNKI" panose="02000500000000000000" pitchFamily="2" charset="-122"/>
              </a:rPr>
              <a:t>RC0=0</a:t>
            </a:r>
            <a:r>
              <a:rPr lang="zh-CN" altLang="en-US" dirty="0">
                <a:latin typeface="华光仿宋_CNKI" panose="02000500000000000000" pitchFamily="2" charset="-122"/>
                <a:ea typeface="华光仿宋_CNKI" panose="02000500000000000000" pitchFamily="2" charset="-122"/>
              </a:rPr>
              <a:t>且</a:t>
            </a:r>
            <a:r>
              <a:rPr lang="en-US" altLang="zh-CN" dirty="0">
                <a:latin typeface="华光仿宋_CNKI" panose="02000500000000000000" pitchFamily="2" charset="-122"/>
                <a:ea typeface="华光仿宋_CNKI" panose="02000500000000000000" pitchFamily="2" charset="-122"/>
              </a:rPr>
              <a:t>RC1=0</a:t>
            </a:r>
            <a:r>
              <a:rPr lang="zh-CN" altLang="en-US" dirty="0">
                <a:latin typeface="华光仿宋_CNKI" panose="02000500000000000000" pitchFamily="2" charset="-122"/>
                <a:ea typeface="华光仿宋_CNKI" panose="02000500000000000000" pitchFamily="2" charset="-122"/>
              </a:rPr>
              <a:t>），说明直线段的两个端点都在窗口内，输出这两个端点。</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cxnSp>
        <p:nvCxnSpPr>
          <p:cNvPr id="6" name="直接连接符 5">
            <a:extLst>
              <a:ext uri="{FF2B5EF4-FFF2-40B4-BE49-F238E27FC236}">
                <a16:creationId xmlns:a16="http://schemas.microsoft.com/office/drawing/2014/main" id="{F916A1A5-1776-4FAB-583F-52948451BEEE}"/>
              </a:ext>
            </a:extLst>
          </p:cNvPr>
          <p:cNvCxnSpPr>
            <a:cxnSpLocks/>
          </p:cNvCxnSpPr>
          <p:nvPr/>
        </p:nvCxnSpPr>
        <p:spPr>
          <a:xfrm flipV="1">
            <a:off x="8205746" y="3140765"/>
            <a:ext cx="1280160" cy="874644"/>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95348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5814" y="947199"/>
            <a:ext cx="5109125" cy="4963602"/>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(2) </a:t>
            </a:r>
            <a:r>
              <a:rPr lang="zh-CN" altLang="en-US" dirty="0">
                <a:latin typeface="华光仿宋_CNKI" panose="02000500000000000000" pitchFamily="2" charset="-122"/>
                <a:ea typeface="华光仿宋_CNKI" panose="02000500000000000000" pitchFamily="2" charset="-122"/>
              </a:rPr>
              <a:t>若直线段的两个端点的区域编码都不为</a:t>
            </a:r>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，且</a:t>
            </a:r>
            <a:r>
              <a:rPr lang="en-US" altLang="zh-CN" dirty="0">
                <a:latin typeface="华光仿宋_CNKI" panose="02000500000000000000" pitchFamily="2" charset="-122"/>
                <a:ea typeface="华光仿宋_CNKI" panose="02000500000000000000" pitchFamily="2" charset="-122"/>
              </a:rPr>
              <a:t>RC0&amp;RC1≠0</a:t>
            </a:r>
            <a:r>
              <a:rPr lang="zh-CN" altLang="en-US" dirty="0">
                <a:latin typeface="华光仿宋_CNKI" panose="02000500000000000000" pitchFamily="2" charset="-122"/>
                <a:ea typeface="华光仿宋_CNKI" panose="02000500000000000000" pitchFamily="2" charset="-122"/>
              </a:rPr>
              <a:t>（二者按位相与的结果不为零，或者</a:t>
            </a:r>
            <a:r>
              <a:rPr lang="en-US" altLang="zh-CN" dirty="0">
                <a:latin typeface="华光仿宋_CNKI" panose="02000500000000000000" pitchFamily="2" charset="-122"/>
                <a:ea typeface="华光仿宋_CNKI" panose="02000500000000000000" pitchFamily="2" charset="-122"/>
              </a:rPr>
              <a:t>RC0≠0</a:t>
            </a:r>
            <a:r>
              <a:rPr lang="zh-CN" altLang="en-US" dirty="0">
                <a:latin typeface="华光仿宋_CNKI" panose="02000500000000000000" pitchFamily="2" charset="-122"/>
                <a:ea typeface="华光仿宋_CNKI" panose="02000500000000000000" pitchFamily="2" charset="-122"/>
              </a:rPr>
              <a:t>且</a:t>
            </a:r>
            <a:r>
              <a:rPr lang="en-US" altLang="zh-CN" dirty="0">
                <a:latin typeface="华光仿宋_CNKI" panose="02000500000000000000" pitchFamily="2" charset="-122"/>
                <a:ea typeface="华光仿宋_CNKI" panose="02000500000000000000" pitchFamily="2" charset="-122"/>
              </a:rPr>
              <a:t>RC1≠0</a:t>
            </a:r>
            <a:r>
              <a:rPr lang="zh-CN" altLang="en-US" dirty="0">
                <a:latin typeface="华光仿宋_CNKI" panose="02000500000000000000" pitchFamily="2" charset="-122"/>
                <a:ea typeface="华光仿宋_CNKI" panose="02000500000000000000" pitchFamily="2" charset="-122"/>
              </a:rPr>
              <a:t>），说明直线段位于窗外的同一侧，或左方、或右方、或上方、或下方，则返回</a:t>
            </a:r>
            <a:r>
              <a:rPr lang="en-US" altLang="zh-CN" dirty="0">
                <a:latin typeface="华光仿宋_CNKI" panose="02000500000000000000" pitchFamily="2" charset="-122"/>
                <a:ea typeface="华光仿宋_CNKI" panose="02000500000000000000" pitchFamily="2" charset="-122"/>
              </a:rPr>
              <a:t>NULL</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pic>
        <p:nvPicPr>
          <p:cNvPr id="2" name="Picture 2" descr="在这里插入图片描述">
            <a:extLst>
              <a:ext uri="{FF2B5EF4-FFF2-40B4-BE49-F238E27FC236}">
                <a16:creationId xmlns:a16="http://schemas.microsoft.com/office/drawing/2014/main" id="{32906EC9-6B55-2EBF-A02D-27D96E202E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6349" y="1288608"/>
            <a:ext cx="5198953" cy="442390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连接符 5">
            <a:extLst>
              <a:ext uri="{FF2B5EF4-FFF2-40B4-BE49-F238E27FC236}">
                <a16:creationId xmlns:a16="http://schemas.microsoft.com/office/drawing/2014/main" id="{A53C1A24-0445-035A-84EA-FD47D8F8DB2B}"/>
              </a:ext>
            </a:extLst>
          </p:cNvPr>
          <p:cNvCxnSpPr>
            <a:cxnSpLocks/>
          </p:cNvCxnSpPr>
          <p:nvPr/>
        </p:nvCxnSpPr>
        <p:spPr>
          <a:xfrm flipV="1">
            <a:off x="8587408" y="1804946"/>
            <a:ext cx="723569" cy="27084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439E627-FC5A-72BE-B4EE-5F3BFB68A05D}"/>
              </a:ext>
            </a:extLst>
          </p:cNvPr>
          <p:cNvCxnSpPr>
            <a:cxnSpLocks/>
          </p:cNvCxnSpPr>
          <p:nvPr/>
        </p:nvCxnSpPr>
        <p:spPr>
          <a:xfrm>
            <a:off x="6973294" y="3955775"/>
            <a:ext cx="1209923" cy="9037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E9A5439-11DE-6218-245B-67FFC00B71C3}"/>
              </a:ext>
            </a:extLst>
          </p:cNvPr>
          <p:cNvCxnSpPr/>
          <p:nvPr/>
        </p:nvCxnSpPr>
        <p:spPr>
          <a:xfrm flipV="1">
            <a:off x="9519036" y="3955775"/>
            <a:ext cx="938254" cy="9303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B2246FE-31B6-43F7-A6E1-CB8CB140BE95}"/>
              </a:ext>
            </a:extLst>
          </p:cNvPr>
          <p:cNvCxnSpPr>
            <a:cxnSpLocks/>
          </p:cNvCxnSpPr>
          <p:nvPr/>
        </p:nvCxnSpPr>
        <p:spPr>
          <a:xfrm>
            <a:off x="9629030" y="2124323"/>
            <a:ext cx="922351" cy="6665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156E7C6-3E86-0565-C706-3BB96E70406F}"/>
              </a:ext>
            </a:extLst>
          </p:cNvPr>
          <p:cNvCxnSpPr/>
          <p:nvPr/>
        </p:nvCxnSpPr>
        <p:spPr>
          <a:xfrm flipV="1">
            <a:off x="7036904" y="1971923"/>
            <a:ext cx="938254" cy="9303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E9D2EF2-F1B5-4A76-D36B-571A9511C8F5}"/>
              </a:ext>
            </a:extLst>
          </p:cNvPr>
          <p:cNvCxnSpPr>
            <a:cxnSpLocks/>
          </p:cNvCxnSpPr>
          <p:nvPr/>
        </p:nvCxnSpPr>
        <p:spPr>
          <a:xfrm flipH="1">
            <a:off x="6798365" y="3054626"/>
            <a:ext cx="390939" cy="5309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93AD1A9E-647D-8167-F2CB-D59E28328578}"/>
              </a:ext>
            </a:extLst>
          </p:cNvPr>
          <p:cNvCxnSpPr>
            <a:cxnSpLocks/>
          </p:cNvCxnSpPr>
          <p:nvPr/>
        </p:nvCxnSpPr>
        <p:spPr>
          <a:xfrm flipV="1">
            <a:off x="6973294" y="1804946"/>
            <a:ext cx="405517" cy="4449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E272CCA-8485-BD5E-D75C-A31504466759}"/>
              </a:ext>
            </a:extLst>
          </p:cNvPr>
          <p:cNvCxnSpPr>
            <a:cxnSpLocks/>
          </p:cNvCxnSpPr>
          <p:nvPr/>
        </p:nvCxnSpPr>
        <p:spPr>
          <a:xfrm>
            <a:off x="7269418" y="2108669"/>
            <a:ext cx="1465691" cy="15240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0567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6663" y="1472980"/>
            <a:ext cx="4838782" cy="3912040"/>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 若不满足上述两种情况，则需要与窗口进行“求交”判断。这时，直线段必然与窗口边界或窗口边界的延长线相交，采用下面的方式计算交点：</a:t>
            </a:r>
          </a:p>
          <a:p>
            <a:pPr marL="0" indent="0">
              <a:lnSpc>
                <a:spcPct val="150000"/>
              </a:lnSpc>
              <a:buNone/>
            </a:pPr>
            <a:r>
              <a:rPr lang="zh-CN" altLang="en-US" b="0" i="0" dirty="0">
                <a:solidFill>
                  <a:srgbClr val="4D4D4D"/>
                </a:solidFill>
                <a:effectLst/>
                <a:latin typeface="-apple-system"/>
              </a:rPr>
              <a:t>        </a:t>
            </a:r>
            <a:endParaRPr lang="es-ES" altLang="zh-CN" dirty="0"/>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2" name="Picture 2" descr="在这里插入图片描述">
            <a:extLst>
              <a:ext uri="{FF2B5EF4-FFF2-40B4-BE49-F238E27FC236}">
                <a16:creationId xmlns:a16="http://schemas.microsoft.com/office/drawing/2014/main" id="{0D9BC21C-C940-1D64-40D9-231B619B8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6978" y="1234936"/>
            <a:ext cx="5198953" cy="442390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连接符 5">
            <a:extLst>
              <a:ext uri="{FF2B5EF4-FFF2-40B4-BE49-F238E27FC236}">
                <a16:creationId xmlns:a16="http://schemas.microsoft.com/office/drawing/2014/main" id="{B30C1EDD-0CB1-E5ED-C1A5-520E2C002704}"/>
              </a:ext>
            </a:extLst>
          </p:cNvPr>
          <p:cNvCxnSpPr/>
          <p:nvPr/>
        </p:nvCxnSpPr>
        <p:spPr>
          <a:xfrm flipV="1">
            <a:off x="6631388" y="2043485"/>
            <a:ext cx="3570135" cy="280681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33B36691-0F16-7A10-7CBC-F9BE85B33B28}"/>
              </a:ext>
            </a:extLst>
          </p:cNvPr>
          <p:cNvCxnSpPr>
            <a:cxnSpLocks/>
          </p:cNvCxnSpPr>
          <p:nvPr/>
        </p:nvCxnSpPr>
        <p:spPr>
          <a:xfrm flipV="1">
            <a:off x="6783788" y="4015409"/>
            <a:ext cx="3847106" cy="98728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32AE85E-3120-5D63-D964-24EDD34A9F06}"/>
              </a:ext>
            </a:extLst>
          </p:cNvPr>
          <p:cNvCxnSpPr>
            <a:cxnSpLocks/>
          </p:cNvCxnSpPr>
          <p:nvPr/>
        </p:nvCxnSpPr>
        <p:spPr>
          <a:xfrm flipV="1">
            <a:off x="6783788" y="1693628"/>
            <a:ext cx="0" cy="20991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78A302EF-C553-44F3-7862-371634B93269}"/>
              </a:ext>
            </a:extLst>
          </p:cNvPr>
          <p:cNvCxnSpPr>
            <a:cxnSpLocks/>
          </p:cNvCxnSpPr>
          <p:nvPr/>
        </p:nvCxnSpPr>
        <p:spPr>
          <a:xfrm flipV="1">
            <a:off x="7750599" y="1693628"/>
            <a:ext cx="240462" cy="1606162"/>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1081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3177" y="546652"/>
                <a:ext cx="6174600" cy="5623559"/>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a</a:t>
                </a:r>
                <a:r>
                  <a:rPr lang="zh-CN" altLang="en-US" dirty="0">
                    <a:latin typeface="华光仿宋_CNKI" panose="02000500000000000000" pitchFamily="2" charset="-122"/>
                    <a:ea typeface="华光仿宋_CNKI" panose="02000500000000000000" pitchFamily="2" charset="-122"/>
                  </a:rPr>
                  <a:t>）若直线两端点的编码中</a:t>
                </a:r>
                <a:r>
                  <a:rPr lang="en-US" altLang="zh-CN" dirty="0">
                    <a:latin typeface="华光仿宋_CNKI" panose="02000500000000000000" pitchFamily="2" charset="-122"/>
                    <a:ea typeface="华光仿宋_CNKI" panose="02000500000000000000" pitchFamily="2" charset="-122"/>
                  </a:rPr>
                  <a:t>C0</a:t>
                </a:r>
                <a:r>
                  <a:rPr lang="zh-CN" altLang="en-US" dirty="0">
                    <a:latin typeface="华光仿宋_CNKI" panose="02000500000000000000" pitchFamily="2" charset="-122"/>
                    <a:ea typeface="华光仿宋_CNKI" panose="02000500000000000000" pitchFamily="2" charset="-122"/>
                  </a:rPr>
                  <a:t>位不同，则计算直线与</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𝑥</m:t>
                        </m:r>
                      </m:e>
                      <m:sub>
                        <m:r>
                          <a:rPr lang="en-US" altLang="zh-CN">
                            <a:latin typeface="Cambria Math" panose="02040503050406030204" pitchFamily="18" charset="0"/>
                            <a:ea typeface="华光仿宋_CNKI" panose="02000500000000000000" pitchFamily="2" charset="-122"/>
                          </a:rPr>
                          <m:t>𝑚𝑖𝑛</m:t>
                        </m:r>
                      </m:sub>
                    </m:sSub>
                  </m:oMath>
                </a14:m>
                <a:r>
                  <a:rPr lang="zh-CN" altLang="en-US" dirty="0">
                    <a:latin typeface="华光仿宋_CNKI" panose="02000500000000000000" pitchFamily="2" charset="-122"/>
                    <a:ea typeface="华光仿宋_CNKI" panose="02000500000000000000" pitchFamily="2" charset="-122"/>
                  </a:rPr>
                  <a:t>的交点。如果</a:t>
                </a:r>
                <a:r>
                  <a:rPr lang="en-US" altLang="zh-CN" dirty="0">
                    <a:latin typeface="华光仿宋_CNKI" panose="02000500000000000000" pitchFamily="2" charset="-122"/>
                    <a:ea typeface="华光仿宋_CNKI" panose="02000500000000000000" pitchFamily="2" charset="-122"/>
                  </a:rPr>
                  <a:t>C1</a:t>
                </a:r>
                <a:r>
                  <a:rPr lang="zh-CN" altLang="en-US" dirty="0">
                    <a:latin typeface="华光仿宋_CNKI" panose="02000500000000000000" pitchFamily="2" charset="-122"/>
                    <a:ea typeface="华光仿宋_CNKI" panose="02000500000000000000" pitchFamily="2" charset="-122"/>
                  </a:rPr>
                  <a:t>位不同，则计算与与</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𝑥</m:t>
                        </m:r>
                      </m:e>
                      <m:sub>
                        <m:r>
                          <a:rPr lang="en-US" altLang="zh-CN">
                            <a:latin typeface="Cambria Math" panose="02040503050406030204" pitchFamily="18" charset="0"/>
                            <a:ea typeface="华光仿宋_CNKI" panose="02000500000000000000" pitchFamily="2" charset="-122"/>
                          </a:rPr>
                          <m:t>𝑚𝑎𝑥</m:t>
                        </m:r>
                      </m:sub>
                    </m:sSub>
                  </m:oMath>
                </a14:m>
                <a:r>
                  <a:rPr lang="zh-CN" altLang="en-US" dirty="0">
                    <a:latin typeface="华光仿宋_CNKI" panose="02000500000000000000" pitchFamily="2" charset="-122"/>
                    <a:ea typeface="华光仿宋_CNKI" panose="02000500000000000000" pitchFamily="2" charset="-122"/>
                  </a:rPr>
                  <a:t>的交点。交点的</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坐标的计算公式为：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s-ES" altLang="zh-CN" dirty="0">
                    <a:latin typeface="华光仿宋_CNKI" panose="02000500000000000000" pitchFamily="2" charset="-122"/>
                    <a:ea typeface="华光仿宋_CNKI" panose="02000500000000000000" pitchFamily="2" charset="-122"/>
                  </a:rPr>
                  <a:t>y=k(x−x1)+y1   </a:t>
                </a:r>
              </a:p>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x=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𝑥</m:t>
                        </m:r>
                      </m:e>
                      <m:sub>
                        <m:r>
                          <a:rPr lang="en-US" altLang="zh-CN">
                            <a:latin typeface="Cambria Math" panose="02040503050406030204" pitchFamily="18" charset="0"/>
                            <a:ea typeface="华光仿宋_CNKI" panose="02000500000000000000" pitchFamily="2" charset="-122"/>
                          </a:rPr>
                          <m:t>𝑚𝑖𝑛</m:t>
                        </m:r>
                      </m:sub>
                    </m:sSub>
                  </m:oMath>
                </a14:m>
                <a:r>
                  <a:rPr lang="zh-CN" altLang="en-US" dirty="0">
                    <a:latin typeface="华光仿宋_CNKI" panose="02000500000000000000" pitchFamily="2" charset="-122"/>
                    <a:ea typeface="华光仿宋_CNKI" panose="02000500000000000000" pitchFamily="2" charset="-122"/>
                  </a:rPr>
                  <a:t>或者</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𝑥</m:t>
                        </m:r>
                      </m:e>
                      <m:sub>
                        <m:r>
                          <a:rPr lang="en-US" altLang="zh-CN">
                            <a:latin typeface="Cambria Math" panose="02040503050406030204" pitchFamily="18" charset="0"/>
                            <a:ea typeface="华光仿宋_CNKI" panose="02000500000000000000" pitchFamily="2" charset="-122"/>
                          </a:rPr>
                          <m:t>𝑚𝑎𝑥</m:t>
                        </m:r>
                      </m:sub>
                    </m:sSub>
                  </m:oMath>
                </a14:m>
                <a:endParaRPr lang="es-ES" altLang="zh-CN" dirty="0"/>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k=(y2-y1)/(x2-x1)</a:t>
                </a:r>
              </a:p>
              <a:p>
                <a:pPr marL="0" indent="0">
                  <a:lnSpc>
                    <a:spcPct val="150000"/>
                  </a:lnSpc>
                  <a:buNone/>
                </a:pPr>
                <a:endParaRPr lang="es-E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3177" y="546652"/>
                <a:ext cx="6174600" cy="5623559"/>
              </a:xfrm>
              <a:blipFill>
                <a:blip r:embed="rId3"/>
                <a:stretch>
                  <a:fillRect l="-1974" r="-1185"/>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变换</a:t>
            </a:r>
          </a:p>
        </p:txBody>
      </p:sp>
      <p:pic>
        <p:nvPicPr>
          <p:cNvPr id="2" name="Picture 2" descr="在这里插入图片描述">
            <a:extLst>
              <a:ext uri="{FF2B5EF4-FFF2-40B4-BE49-F238E27FC236}">
                <a16:creationId xmlns:a16="http://schemas.microsoft.com/office/drawing/2014/main" id="{56897095-FD18-2D38-012B-D76352DA4A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8852" y="1217046"/>
            <a:ext cx="5198953" cy="442390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连接符 5">
            <a:extLst>
              <a:ext uri="{FF2B5EF4-FFF2-40B4-BE49-F238E27FC236}">
                <a16:creationId xmlns:a16="http://schemas.microsoft.com/office/drawing/2014/main" id="{71ABF0F3-D74E-CD24-2B77-EF46E3534AFA}"/>
              </a:ext>
            </a:extLst>
          </p:cNvPr>
          <p:cNvCxnSpPr>
            <a:cxnSpLocks/>
          </p:cNvCxnSpPr>
          <p:nvPr/>
        </p:nvCxnSpPr>
        <p:spPr>
          <a:xfrm flipH="1">
            <a:off x="7506031" y="4444779"/>
            <a:ext cx="1280160" cy="848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BD8631CD-5F9D-3F26-9527-75D899B1C749}"/>
              </a:ext>
            </a:extLst>
          </p:cNvPr>
          <p:cNvCxnSpPr>
            <a:cxnSpLocks/>
          </p:cNvCxnSpPr>
          <p:nvPr/>
        </p:nvCxnSpPr>
        <p:spPr>
          <a:xfrm flipV="1">
            <a:off x="7442421" y="3132814"/>
            <a:ext cx="1232452" cy="71561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BA4B2A2-B536-E418-2009-F965C6E70750}"/>
              </a:ext>
            </a:extLst>
          </p:cNvPr>
          <p:cNvCxnSpPr>
            <a:cxnSpLocks/>
          </p:cNvCxnSpPr>
          <p:nvPr/>
        </p:nvCxnSpPr>
        <p:spPr>
          <a:xfrm flipV="1">
            <a:off x="7569642" y="1828800"/>
            <a:ext cx="636104" cy="102571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8BC534D-CA82-5508-5134-4A8EC71E92FD}"/>
              </a:ext>
            </a:extLst>
          </p:cNvPr>
          <p:cNvCxnSpPr>
            <a:cxnSpLocks/>
          </p:cNvCxnSpPr>
          <p:nvPr/>
        </p:nvCxnSpPr>
        <p:spPr>
          <a:xfrm flipH="1" flipV="1">
            <a:off x="10018043" y="1828800"/>
            <a:ext cx="970660" cy="120064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B62751A-8C16-825E-1FED-DC80ECA778AF}"/>
              </a:ext>
            </a:extLst>
          </p:cNvPr>
          <p:cNvCxnSpPr>
            <a:cxnSpLocks/>
          </p:cNvCxnSpPr>
          <p:nvPr/>
        </p:nvCxnSpPr>
        <p:spPr>
          <a:xfrm>
            <a:off x="9875520" y="3466272"/>
            <a:ext cx="1192696" cy="9069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92E9422B-4E9E-0E1E-D641-3910CD126028}"/>
              </a:ext>
            </a:extLst>
          </p:cNvPr>
          <p:cNvCxnSpPr>
            <a:cxnSpLocks/>
          </p:cNvCxnSpPr>
          <p:nvPr/>
        </p:nvCxnSpPr>
        <p:spPr>
          <a:xfrm>
            <a:off x="9692640" y="2882347"/>
            <a:ext cx="1137037" cy="40949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C06F997-256D-ADCC-3D25-84AEAFD9FEEA}"/>
              </a:ext>
            </a:extLst>
          </p:cNvPr>
          <p:cNvCxnSpPr>
            <a:cxnSpLocks/>
          </p:cNvCxnSpPr>
          <p:nvPr/>
        </p:nvCxnSpPr>
        <p:spPr>
          <a:xfrm>
            <a:off x="9843715" y="4547649"/>
            <a:ext cx="755374" cy="1992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E65FA5D-8B1A-5D72-61AE-AC568E8DC3F1}"/>
              </a:ext>
            </a:extLst>
          </p:cNvPr>
          <p:cNvCxnSpPr>
            <a:cxnSpLocks/>
          </p:cNvCxnSpPr>
          <p:nvPr/>
        </p:nvCxnSpPr>
        <p:spPr>
          <a:xfrm>
            <a:off x="7768424" y="4801842"/>
            <a:ext cx="3220279" cy="20089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D567117-56F0-4B85-6121-47D09EE29209}"/>
              </a:ext>
            </a:extLst>
          </p:cNvPr>
          <p:cNvCxnSpPr>
            <a:cxnSpLocks/>
          </p:cNvCxnSpPr>
          <p:nvPr/>
        </p:nvCxnSpPr>
        <p:spPr>
          <a:xfrm flipV="1">
            <a:off x="7657106" y="1542553"/>
            <a:ext cx="3108960" cy="1590261"/>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5688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3177" y="546652"/>
                <a:ext cx="5848598" cy="5623559"/>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b</a:t>
                </a:r>
                <a:r>
                  <a:rPr lang="zh-CN" altLang="en-US" dirty="0">
                    <a:latin typeface="华光仿宋_CNKI" panose="02000500000000000000" pitchFamily="2" charset="-122"/>
                    <a:ea typeface="华光仿宋_CNKI" panose="02000500000000000000" pitchFamily="2" charset="-122"/>
                  </a:rPr>
                  <a:t>）若直线两端点的</a:t>
                </a:r>
                <a:r>
                  <a:rPr lang="en-US" altLang="zh-CN" dirty="0">
                    <a:latin typeface="华光仿宋_CNKI" panose="02000500000000000000" pitchFamily="2" charset="-122"/>
                    <a:ea typeface="华光仿宋_CNKI" panose="02000500000000000000" pitchFamily="2" charset="-122"/>
                  </a:rPr>
                  <a:t>C2</a:t>
                </a:r>
                <a:r>
                  <a:rPr lang="zh-CN" altLang="en-US" dirty="0">
                    <a:latin typeface="华光仿宋_CNKI" panose="02000500000000000000" pitchFamily="2" charset="-122"/>
                    <a:ea typeface="华光仿宋_CNKI" panose="02000500000000000000" pitchFamily="2" charset="-122"/>
                  </a:rPr>
                  <a:t>位不同，则计算直线与窗口</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a:latin typeface="Cambria Math" panose="02040503050406030204" pitchFamily="18" charset="0"/>
                            <a:ea typeface="华光仿宋_CNKI" panose="02000500000000000000" pitchFamily="2" charset="-122"/>
                          </a:rPr>
                          <m:t>𝑚𝑖𝑛</m:t>
                        </m:r>
                      </m:sub>
                    </m:sSub>
                  </m:oMath>
                </a14:m>
                <a:r>
                  <a:rPr lang="zh-CN" altLang="en-US" dirty="0">
                    <a:latin typeface="华光仿宋_CNKI" panose="02000500000000000000" pitchFamily="2" charset="-122"/>
                    <a:ea typeface="华光仿宋_CNKI" panose="02000500000000000000" pitchFamily="2" charset="-122"/>
                  </a:rPr>
                  <a:t>的交点；若直线两端点的</a:t>
                </a:r>
                <a:r>
                  <a:rPr lang="en-US" altLang="zh-CN" dirty="0">
                    <a:latin typeface="华光仿宋_CNKI" panose="02000500000000000000" pitchFamily="2" charset="-122"/>
                    <a:ea typeface="华光仿宋_CNKI" panose="02000500000000000000" pitchFamily="2" charset="-122"/>
                  </a:rPr>
                  <a:t>C3</a:t>
                </a:r>
                <a:r>
                  <a:rPr lang="zh-CN" altLang="en-US" dirty="0">
                    <a:latin typeface="华光仿宋_CNKI" panose="02000500000000000000" pitchFamily="2" charset="-122"/>
                    <a:ea typeface="华光仿宋_CNKI" panose="02000500000000000000" pitchFamily="2" charset="-122"/>
                  </a:rPr>
                  <a:t>位不同，则计算直线与窗口</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a:latin typeface="Cambria Math" panose="02040503050406030204" pitchFamily="18" charset="0"/>
                            <a:ea typeface="华光仿宋_CNKI" panose="02000500000000000000" pitchFamily="2" charset="-122"/>
                          </a:rPr>
                          <m:t>𝑚</m:t>
                        </m:r>
                        <m:r>
                          <a:rPr lang="en-US" altLang="zh-CN" i="1">
                            <a:latin typeface="Cambria Math" panose="02040503050406030204" pitchFamily="18" charset="0"/>
                            <a:ea typeface="华光仿宋_CNKI" panose="02000500000000000000" pitchFamily="2" charset="-122"/>
                          </a:rPr>
                          <m:t>𝑎𝑥</m:t>
                        </m:r>
                      </m:sub>
                    </m:sSub>
                  </m:oMath>
                </a14:m>
                <a:r>
                  <a:rPr lang="zh-CN" altLang="en-US" dirty="0">
                    <a:latin typeface="华光仿宋_CNKI" panose="02000500000000000000" pitchFamily="2" charset="-122"/>
                    <a:ea typeface="华光仿宋_CNKI" panose="02000500000000000000" pitchFamily="2" charset="-122"/>
                  </a:rPr>
                  <a:t>的交点。交点的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坐标的计算公式为：</a:t>
                </a:r>
                <a:br>
                  <a:rPr lang="es-ES" altLang="zh-CN" dirty="0"/>
                </a:br>
                <a:r>
                  <a:rPr lang="es-ES" altLang="zh-CN" dirty="0"/>
                  <a:t>        </a:t>
                </a:r>
                <a:r>
                  <a:rPr lang="es-ES" altLang="zh-CN" dirty="0">
                    <a:latin typeface="华光仿宋_CNKI" panose="02000500000000000000" pitchFamily="2" charset="-122"/>
                    <a:ea typeface="华光仿宋_CNKI" panose="02000500000000000000" pitchFamily="2" charset="-122"/>
                  </a:rPr>
                  <a:t>x=(y−y1)/k+x1   </a:t>
                </a:r>
              </a:p>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y=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m:rPr>
                            <m:sty m:val="p"/>
                          </m:rPr>
                          <a:rPr lang="en-US" altLang="zh-CN">
                            <a:latin typeface="Cambria Math" panose="02040503050406030204" pitchFamily="18" charset="0"/>
                            <a:ea typeface="华光仿宋_CNKI" panose="02000500000000000000" pitchFamily="2" charset="-122"/>
                          </a:rPr>
                          <m:t>y</m:t>
                        </m:r>
                      </m:e>
                      <m:sub>
                        <m:r>
                          <a:rPr lang="en-US" altLang="zh-CN">
                            <a:latin typeface="Cambria Math" panose="02040503050406030204" pitchFamily="18" charset="0"/>
                            <a:ea typeface="华光仿宋_CNKI" panose="02000500000000000000" pitchFamily="2" charset="-122"/>
                          </a:rPr>
                          <m:t>𝑚𝑖𝑛</m:t>
                        </m:r>
                      </m:sub>
                    </m:sSub>
                  </m:oMath>
                </a14:m>
                <a:r>
                  <a:rPr lang="zh-CN" altLang="en-US" dirty="0">
                    <a:latin typeface="华光仿宋_CNKI" panose="02000500000000000000" pitchFamily="2" charset="-122"/>
                    <a:ea typeface="华光仿宋_CNKI" panose="02000500000000000000" pitchFamily="2" charset="-122"/>
                  </a:rPr>
                  <a:t>或者</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m:rPr>
                            <m:sty m:val="p"/>
                          </m:rPr>
                          <a:rPr lang="en-US" altLang="zh-CN">
                            <a:latin typeface="Cambria Math" panose="02040503050406030204" pitchFamily="18" charset="0"/>
                            <a:ea typeface="华光仿宋_CNKI" panose="02000500000000000000" pitchFamily="2" charset="-122"/>
                          </a:rPr>
                          <m:t>y</m:t>
                        </m:r>
                      </m:e>
                      <m:sub>
                        <m:r>
                          <a:rPr lang="en-US" altLang="zh-CN">
                            <a:latin typeface="Cambria Math" panose="02040503050406030204" pitchFamily="18" charset="0"/>
                            <a:ea typeface="华光仿宋_CNKI" panose="02000500000000000000" pitchFamily="2" charset="-122"/>
                          </a:rPr>
                          <m:t>𝑚𝑎𝑥</m:t>
                        </m:r>
                      </m:sub>
                    </m:sSub>
                  </m:oMath>
                </a14:m>
                <a:endParaRPr lang="es-ES" altLang="zh-CN" dirty="0"/>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k=(y2-y1)/(x2-x1)</a:t>
                </a: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3177" y="546652"/>
                <a:ext cx="5848598" cy="5623559"/>
              </a:xfrm>
              <a:blipFill>
                <a:blip r:embed="rId3"/>
                <a:stretch>
                  <a:fillRect l="-2083" r="-1354"/>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pic>
        <p:nvPicPr>
          <p:cNvPr id="2" name="Picture 2" descr="在这里插入图片描述">
            <a:extLst>
              <a:ext uri="{FF2B5EF4-FFF2-40B4-BE49-F238E27FC236}">
                <a16:creationId xmlns:a16="http://schemas.microsoft.com/office/drawing/2014/main" id="{4E0CA710-571D-B427-445D-1178C53B1A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8852" y="1217046"/>
            <a:ext cx="5198953" cy="442390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直接连接符 4">
            <a:extLst>
              <a:ext uri="{FF2B5EF4-FFF2-40B4-BE49-F238E27FC236}">
                <a16:creationId xmlns:a16="http://schemas.microsoft.com/office/drawing/2014/main" id="{F9C7988B-057C-76C8-7218-F52ABAE0BDFF}"/>
              </a:ext>
            </a:extLst>
          </p:cNvPr>
          <p:cNvCxnSpPr>
            <a:cxnSpLocks/>
          </p:cNvCxnSpPr>
          <p:nvPr/>
        </p:nvCxnSpPr>
        <p:spPr>
          <a:xfrm flipH="1" flipV="1">
            <a:off x="7362908" y="2043485"/>
            <a:ext cx="262393" cy="11290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1EE02F4-C5B0-5E9D-C401-1671E64055B8}"/>
              </a:ext>
            </a:extLst>
          </p:cNvPr>
          <p:cNvCxnSpPr>
            <a:cxnSpLocks/>
          </p:cNvCxnSpPr>
          <p:nvPr/>
        </p:nvCxnSpPr>
        <p:spPr>
          <a:xfrm flipH="1" flipV="1">
            <a:off x="7777701" y="2043485"/>
            <a:ext cx="507558" cy="27193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F93B690-94C3-61A2-AFFF-8A37C149169F}"/>
              </a:ext>
            </a:extLst>
          </p:cNvPr>
          <p:cNvCxnSpPr>
            <a:cxnSpLocks/>
          </p:cNvCxnSpPr>
          <p:nvPr/>
        </p:nvCxnSpPr>
        <p:spPr>
          <a:xfrm flipV="1">
            <a:off x="7362908" y="3633746"/>
            <a:ext cx="136498" cy="11290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8B3BFA1-50B4-FAC6-6F8E-607BD312576F}"/>
              </a:ext>
            </a:extLst>
          </p:cNvPr>
          <p:cNvCxnSpPr>
            <a:cxnSpLocks/>
          </p:cNvCxnSpPr>
          <p:nvPr/>
        </p:nvCxnSpPr>
        <p:spPr>
          <a:xfrm flipV="1">
            <a:off x="9438198" y="3506525"/>
            <a:ext cx="1343771" cy="12563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065B007-E78F-1CF3-52A2-9EB02F67D848}"/>
              </a:ext>
            </a:extLst>
          </p:cNvPr>
          <p:cNvCxnSpPr>
            <a:cxnSpLocks/>
          </p:cNvCxnSpPr>
          <p:nvPr/>
        </p:nvCxnSpPr>
        <p:spPr>
          <a:xfrm flipH="1" flipV="1">
            <a:off x="9727097" y="2043485"/>
            <a:ext cx="935602" cy="9144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E59F3A6-165B-4D51-8521-ED0E0958918A}"/>
              </a:ext>
            </a:extLst>
          </p:cNvPr>
          <p:cNvCxnSpPr>
            <a:cxnSpLocks/>
          </p:cNvCxnSpPr>
          <p:nvPr/>
        </p:nvCxnSpPr>
        <p:spPr>
          <a:xfrm flipH="1" flipV="1">
            <a:off x="8812696" y="1948070"/>
            <a:ext cx="514184" cy="268754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1923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5862" y="617220"/>
            <a:ext cx="4202678" cy="5623559"/>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   (4)</a:t>
            </a:r>
            <a:r>
              <a:rPr lang="zh-CN" altLang="en-US" dirty="0">
                <a:latin typeface="华光仿宋_CNKI" panose="02000500000000000000" pitchFamily="2" charset="-122"/>
                <a:ea typeface="华光仿宋_CNKI" panose="02000500000000000000" pitchFamily="2" charset="-122"/>
              </a:rPr>
              <a:t>根据原起始端点以及计算出的交点的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坐标进行排序，从而将原始线段分割成最多五段线段（四个交点）。然后根据（</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）步判断这些线段是否在区域内。</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pic>
        <p:nvPicPr>
          <p:cNvPr id="2" name="Picture 2" descr="在这里插入图片描述">
            <a:extLst>
              <a:ext uri="{FF2B5EF4-FFF2-40B4-BE49-F238E27FC236}">
                <a16:creationId xmlns:a16="http://schemas.microsoft.com/office/drawing/2014/main" id="{8E61FA83-4ACA-0A15-CAF9-F9E35367C3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2303" y="1058020"/>
            <a:ext cx="5198953" cy="442390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连接符 5">
            <a:extLst>
              <a:ext uri="{FF2B5EF4-FFF2-40B4-BE49-F238E27FC236}">
                <a16:creationId xmlns:a16="http://schemas.microsoft.com/office/drawing/2014/main" id="{6301C231-B17C-CC22-9C69-AE244629D245}"/>
              </a:ext>
            </a:extLst>
          </p:cNvPr>
          <p:cNvCxnSpPr/>
          <p:nvPr/>
        </p:nvCxnSpPr>
        <p:spPr>
          <a:xfrm flipV="1">
            <a:off x="6096000" y="1926202"/>
            <a:ext cx="4336111" cy="2687541"/>
          </a:xfrm>
          <a:prstGeom prst="line">
            <a:avLst/>
          </a:prstGeom>
          <a:ln w="381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4460A681-49C4-0F12-D80F-16DA139B542B}"/>
              </a:ext>
            </a:extLst>
          </p:cNvPr>
          <p:cNvSpPr txBox="1"/>
          <p:nvPr/>
        </p:nvSpPr>
        <p:spPr>
          <a:xfrm>
            <a:off x="5665808" y="4472272"/>
            <a:ext cx="553357" cy="523220"/>
          </a:xfrm>
          <a:prstGeom prst="rect">
            <a:avLst/>
          </a:prstGeom>
          <a:noFill/>
        </p:spPr>
        <p:txBody>
          <a:bodyPr wrap="none" rtlCol="0">
            <a:spAutoFit/>
          </a:bodyPr>
          <a:lstStyle/>
          <a:p>
            <a:r>
              <a:rPr lang="en-US" altLang="zh-CN" sz="2800" b="1" dirty="0"/>
              <a:t>P0</a:t>
            </a:r>
            <a:endParaRPr lang="zh-CN" altLang="en-US" sz="2800" b="1" dirty="0"/>
          </a:p>
        </p:txBody>
      </p:sp>
      <p:sp>
        <p:nvSpPr>
          <p:cNvPr id="8" name="文本框 7">
            <a:extLst>
              <a:ext uri="{FF2B5EF4-FFF2-40B4-BE49-F238E27FC236}">
                <a16:creationId xmlns:a16="http://schemas.microsoft.com/office/drawing/2014/main" id="{0A2DEFEF-37FD-541F-F9D7-86D954C36B7E}"/>
              </a:ext>
            </a:extLst>
          </p:cNvPr>
          <p:cNvSpPr txBox="1"/>
          <p:nvPr/>
        </p:nvSpPr>
        <p:spPr>
          <a:xfrm>
            <a:off x="6634593" y="4122903"/>
            <a:ext cx="558166" cy="523220"/>
          </a:xfrm>
          <a:prstGeom prst="rect">
            <a:avLst/>
          </a:prstGeom>
          <a:noFill/>
        </p:spPr>
        <p:txBody>
          <a:bodyPr wrap="none" rtlCol="0">
            <a:spAutoFit/>
          </a:bodyPr>
          <a:lstStyle/>
          <a:p>
            <a:r>
              <a:rPr lang="en-US" altLang="zh-CN" sz="2800" b="1" dirty="0"/>
              <a:t>P1</a:t>
            </a:r>
            <a:endParaRPr lang="zh-CN" altLang="en-US" sz="2800" b="1" dirty="0"/>
          </a:p>
        </p:txBody>
      </p:sp>
      <p:sp>
        <p:nvSpPr>
          <p:cNvPr id="9" name="文本框 8">
            <a:extLst>
              <a:ext uri="{FF2B5EF4-FFF2-40B4-BE49-F238E27FC236}">
                <a16:creationId xmlns:a16="http://schemas.microsoft.com/office/drawing/2014/main" id="{A9EAE007-90EF-07DB-7BE3-636F4511FB4E}"/>
              </a:ext>
            </a:extLst>
          </p:cNvPr>
          <p:cNvSpPr txBox="1"/>
          <p:nvPr/>
        </p:nvSpPr>
        <p:spPr>
          <a:xfrm>
            <a:off x="7050653" y="3861293"/>
            <a:ext cx="558166" cy="523220"/>
          </a:xfrm>
          <a:prstGeom prst="rect">
            <a:avLst/>
          </a:prstGeom>
          <a:noFill/>
        </p:spPr>
        <p:txBody>
          <a:bodyPr wrap="none" rtlCol="0">
            <a:spAutoFit/>
          </a:bodyPr>
          <a:lstStyle/>
          <a:p>
            <a:r>
              <a:rPr lang="en-US" altLang="zh-CN" sz="2800" b="1" dirty="0"/>
              <a:t>P2</a:t>
            </a:r>
            <a:endParaRPr lang="zh-CN" altLang="en-US" sz="2800" b="1" dirty="0"/>
          </a:p>
        </p:txBody>
      </p:sp>
      <p:sp>
        <p:nvSpPr>
          <p:cNvPr id="10" name="文本框 9">
            <a:extLst>
              <a:ext uri="{FF2B5EF4-FFF2-40B4-BE49-F238E27FC236}">
                <a16:creationId xmlns:a16="http://schemas.microsoft.com/office/drawing/2014/main" id="{8902F069-27EE-6C79-BDD2-F6C7747C71EC}"/>
              </a:ext>
            </a:extLst>
          </p:cNvPr>
          <p:cNvSpPr txBox="1"/>
          <p:nvPr/>
        </p:nvSpPr>
        <p:spPr>
          <a:xfrm>
            <a:off x="9035887" y="2572733"/>
            <a:ext cx="558166" cy="523220"/>
          </a:xfrm>
          <a:prstGeom prst="rect">
            <a:avLst/>
          </a:prstGeom>
          <a:noFill/>
        </p:spPr>
        <p:txBody>
          <a:bodyPr wrap="none" rtlCol="0">
            <a:spAutoFit/>
          </a:bodyPr>
          <a:lstStyle/>
          <a:p>
            <a:r>
              <a:rPr lang="en-US" altLang="zh-CN" sz="2800" b="1" dirty="0"/>
              <a:t>P3</a:t>
            </a:r>
            <a:endParaRPr lang="zh-CN" altLang="en-US" sz="2800" b="1" dirty="0"/>
          </a:p>
        </p:txBody>
      </p:sp>
      <p:sp>
        <p:nvSpPr>
          <p:cNvPr id="11" name="文本框 10">
            <a:extLst>
              <a:ext uri="{FF2B5EF4-FFF2-40B4-BE49-F238E27FC236}">
                <a16:creationId xmlns:a16="http://schemas.microsoft.com/office/drawing/2014/main" id="{F88D041C-73F5-4E7B-0569-EC46610240CD}"/>
              </a:ext>
            </a:extLst>
          </p:cNvPr>
          <p:cNvSpPr txBox="1"/>
          <p:nvPr/>
        </p:nvSpPr>
        <p:spPr>
          <a:xfrm>
            <a:off x="9664459" y="2222876"/>
            <a:ext cx="558166" cy="523220"/>
          </a:xfrm>
          <a:prstGeom prst="rect">
            <a:avLst/>
          </a:prstGeom>
          <a:noFill/>
        </p:spPr>
        <p:txBody>
          <a:bodyPr wrap="none" rtlCol="0">
            <a:spAutoFit/>
          </a:bodyPr>
          <a:lstStyle/>
          <a:p>
            <a:r>
              <a:rPr lang="en-US" altLang="zh-CN" sz="2800" b="1" dirty="0"/>
              <a:t>P4</a:t>
            </a:r>
            <a:endParaRPr lang="zh-CN" altLang="en-US" sz="2800" b="1" dirty="0"/>
          </a:p>
        </p:txBody>
      </p:sp>
      <p:sp>
        <p:nvSpPr>
          <p:cNvPr id="12" name="文本框 11">
            <a:extLst>
              <a:ext uri="{FF2B5EF4-FFF2-40B4-BE49-F238E27FC236}">
                <a16:creationId xmlns:a16="http://schemas.microsoft.com/office/drawing/2014/main" id="{37C59632-96AA-6BE3-D33C-4650C49CF13F}"/>
              </a:ext>
            </a:extLst>
          </p:cNvPr>
          <p:cNvSpPr txBox="1"/>
          <p:nvPr/>
        </p:nvSpPr>
        <p:spPr>
          <a:xfrm>
            <a:off x="10296603" y="1515209"/>
            <a:ext cx="558166" cy="523220"/>
          </a:xfrm>
          <a:prstGeom prst="rect">
            <a:avLst/>
          </a:prstGeom>
          <a:noFill/>
        </p:spPr>
        <p:txBody>
          <a:bodyPr wrap="none" rtlCol="0">
            <a:spAutoFit/>
          </a:bodyPr>
          <a:lstStyle/>
          <a:p>
            <a:r>
              <a:rPr lang="en-US" altLang="zh-CN" sz="2800" b="1" dirty="0"/>
              <a:t>P5</a:t>
            </a:r>
            <a:endParaRPr lang="zh-CN" altLang="en-US" sz="2800" b="1" dirty="0"/>
          </a:p>
        </p:txBody>
      </p:sp>
    </p:spTree>
    <p:extLst>
      <p:ext uri="{BB962C8B-B14F-4D97-AF65-F5344CB8AC3E}">
        <p14:creationId xmlns:p14="http://schemas.microsoft.com/office/powerpoint/2010/main" val="12943464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2"/>
            <a:ext cx="11239583" cy="5623559"/>
          </a:xfrm>
        </p:spPr>
        <p:txBody>
          <a:bodyPr>
            <a:noAutofit/>
          </a:bodyPr>
          <a:lstStyle/>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1.2 </a:t>
            </a:r>
            <a:r>
              <a:rPr lang="zh-CN" altLang="en-US" sz="2800" dirty="0">
                <a:latin typeface="华光标题宋_CNKI" panose="02000500000000000000" pitchFamily="2" charset="-122"/>
                <a:ea typeface="华光标题宋_CNKI" panose="02000500000000000000" pitchFamily="2" charset="-122"/>
              </a:rPr>
              <a:t>中点分割裁剪算法</a:t>
            </a:r>
            <a:endParaRPr lang="en-US" altLang="zh-CN" sz="2800" dirty="0">
              <a:latin typeface="华光标题宋_CNKI" panose="02000500000000000000" pitchFamily="2" charset="-122"/>
              <a:ea typeface="华光标题宋_CNKI" panose="02000500000000000000" pitchFamily="2" charset="-122"/>
            </a:endParaRPr>
          </a:p>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由于</a:t>
            </a:r>
            <a:r>
              <a:rPr lang="en-US" altLang="zh-CN" dirty="0">
                <a:latin typeface="华光仿宋_CNKI" panose="02000500000000000000" pitchFamily="2" charset="-122"/>
                <a:ea typeface="华光仿宋_CNKI" panose="02000500000000000000" pitchFamily="2" charset="-122"/>
              </a:rPr>
              <a:t>Cohen-Sutherland</a:t>
            </a:r>
            <a:r>
              <a:rPr lang="zh-CN" altLang="en-US" dirty="0">
                <a:latin typeface="华光仿宋_CNKI" panose="02000500000000000000" pitchFamily="2" charset="-122"/>
                <a:ea typeface="华光仿宋_CNKI" panose="02000500000000000000" pitchFamily="2" charset="-122"/>
              </a:rPr>
              <a:t>算法需要计算交点，因此复杂度相对较高，且不易用硬件实现。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中点分割法的思想是通过不断求线段的中点，并采用</a:t>
            </a:r>
            <a:r>
              <a:rPr lang="en-US" altLang="zh-CN" dirty="0">
                <a:latin typeface="华光仿宋_CNKI" panose="02000500000000000000" pitchFamily="2" charset="-122"/>
                <a:ea typeface="华光仿宋_CNKI" panose="02000500000000000000" pitchFamily="2" charset="-122"/>
              </a:rPr>
              <a:t>Cohen-Sutherland</a:t>
            </a:r>
            <a:r>
              <a:rPr lang="zh-CN" altLang="en-US" dirty="0">
                <a:latin typeface="华光仿宋_CNKI" panose="02000500000000000000" pitchFamily="2" charset="-122"/>
                <a:ea typeface="华光仿宋_CNKI" panose="02000500000000000000" pitchFamily="2" charset="-122"/>
              </a:rPr>
              <a:t>算法可见性判断，然后确定可见区域内的线段。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算法步骤如下：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）利用线段的端点编码判断 </a:t>
            </a:r>
            <a:r>
              <a:rPr lang="en-US" altLang="zh-CN" dirty="0">
                <a:latin typeface="华光仿宋_CNKI" panose="02000500000000000000" pitchFamily="2" charset="-122"/>
                <a:ea typeface="华光仿宋_CNKI" panose="02000500000000000000" pitchFamily="2" charset="-122"/>
              </a:rPr>
              <a:t>P1P2 </a:t>
            </a:r>
            <a:r>
              <a:rPr lang="zh-CN" altLang="en-US" dirty="0">
                <a:latin typeface="华光仿宋_CNKI" panose="02000500000000000000" pitchFamily="2" charset="-122"/>
                <a:ea typeface="华光仿宋_CNKI" panose="02000500000000000000" pitchFamily="2" charset="-122"/>
              </a:rPr>
              <a:t>是否完全在窗口内，若是，则画线段 </a:t>
            </a:r>
            <a:r>
              <a:rPr lang="en-US" altLang="zh-CN" dirty="0">
                <a:latin typeface="华光仿宋_CNKI" panose="02000500000000000000" pitchFamily="2" charset="-122"/>
                <a:ea typeface="华光仿宋_CNKI" panose="02000500000000000000" pitchFamily="2" charset="-122"/>
              </a:rPr>
              <a:t>P1P2</a:t>
            </a:r>
            <a:r>
              <a:rPr lang="zh-CN" altLang="en-US" dirty="0">
                <a:latin typeface="华光仿宋_CNKI" panose="02000500000000000000" pitchFamily="2" charset="-122"/>
                <a:ea typeface="华光仿宋_CNKI" panose="02000500000000000000" pitchFamily="2" charset="-122"/>
              </a:rPr>
              <a:t>，裁剪过程结束；若不是，则再判断 </a:t>
            </a:r>
            <a:r>
              <a:rPr lang="en-US" altLang="zh-CN" dirty="0">
                <a:latin typeface="华光仿宋_CNKI" panose="02000500000000000000" pitchFamily="2" charset="-122"/>
                <a:ea typeface="华光仿宋_CNKI" panose="02000500000000000000" pitchFamily="2" charset="-122"/>
              </a:rPr>
              <a:t>P1P2 </a:t>
            </a:r>
            <a:r>
              <a:rPr lang="zh-CN" altLang="en-US" dirty="0">
                <a:latin typeface="华光仿宋_CNKI" panose="02000500000000000000" pitchFamily="2" charset="-122"/>
                <a:ea typeface="华光仿宋_CNKI" panose="02000500000000000000" pitchFamily="2" charset="-122"/>
              </a:rPr>
              <a:t>是否完全在</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5656124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6208" y="1089329"/>
            <a:ext cx="11239583" cy="4977515"/>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在窗口外，若是，则无可见线段输出，裁剪过程结束，若不是，则转（</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 固定 </a:t>
            </a:r>
            <a:r>
              <a:rPr lang="en-US" altLang="zh-CN" dirty="0">
                <a:latin typeface="华光仿宋_CNKI" panose="02000500000000000000" pitchFamily="2" charset="-122"/>
                <a:ea typeface="华光仿宋_CNKI" panose="02000500000000000000" pitchFamily="2" charset="-122"/>
              </a:rPr>
              <a:t>P1</a:t>
            </a:r>
            <a:r>
              <a:rPr lang="zh-CN" altLang="en-US" dirty="0">
                <a:latin typeface="华光仿宋_CNKI" panose="02000500000000000000" pitchFamily="2" charset="-122"/>
                <a:ea typeface="华光仿宋_CNKI" panose="02000500000000000000" pitchFamily="2" charset="-122"/>
              </a:rPr>
              <a:t>，测试 </a:t>
            </a:r>
            <a:r>
              <a:rPr lang="en-US" altLang="zh-CN" dirty="0">
                <a:latin typeface="华光仿宋_CNKI" panose="02000500000000000000" pitchFamily="2" charset="-122"/>
                <a:ea typeface="华光仿宋_CNKI" panose="02000500000000000000" pitchFamily="2" charset="-122"/>
              </a:rPr>
              <a:t>P2</a:t>
            </a:r>
            <a:r>
              <a:rPr lang="zh-CN" altLang="en-US" dirty="0">
                <a:latin typeface="华光仿宋_CNKI" panose="02000500000000000000" pitchFamily="2" charset="-122"/>
                <a:ea typeface="华光仿宋_CNKI" panose="02000500000000000000" pitchFamily="2" charset="-122"/>
              </a:rPr>
              <a:t>是否在窗口内，若是，则 </a:t>
            </a:r>
            <a:r>
              <a:rPr lang="en-US" altLang="zh-CN" dirty="0">
                <a:latin typeface="华光仿宋_CNKI" panose="02000500000000000000" pitchFamily="2" charset="-122"/>
                <a:ea typeface="华光仿宋_CNKI" panose="02000500000000000000" pitchFamily="2" charset="-122"/>
              </a:rPr>
              <a:t>P2 </a:t>
            </a:r>
            <a:r>
              <a:rPr lang="zh-CN" altLang="en-US" dirty="0">
                <a:latin typeface="华光仿宋_CNKI" panose="02000500000000000000" pitchFamily="2" charset="-122"/>
                <a:ea typeface="华光仿宋_CNKI" panose="02000500000000000000" pitchFamily="2" charset="-122"/>
              </a:rPr>
              <a:t>是离 </a:t>
            </a:r>
            <a:r>
              <a:rPr lang="en-US" altLang="zh-CN" dirty="0">
                <a:latin typeface="华光仿宋_CNKI" panose="02000500000000000000" pitchFamily="2" charset="-122"/>
                <a:ea typeface="华光仿宋_CNKI" panose="02000500000000000000" pitchFamily="2" charset="-122"/>
              </a:rPr>
              <a:t>P1 </a:t>
            </a:r>
            <a:r>
              <a:rPr lang="zh-CN" altLang="en-US" dirty="0">
                <a:latin typeface="华光仿宋_CNKI" panose="02000500000000000000" pitchFamily="2" charset="-122"/>
                <a:ea typeface="华光仿宋_CNKI" panose="02000500000000000000" pitchFamily="2" charset="-122"/>
              </a:rPr>
              <a:t>点最远的可见点， 转步骤（</a:t>
            </a:r>
            <a:r>
              <a:rPr lang="en-US" altLang="zh-CN" dirty="0">
                <a:latin typeface="华光仿宋_CNKI" panose="02000500000000000000" pitchFamily="2" charset="-122"/>
                <a:ea typeface="华光仿宋_CNKI" panose="02000500000000000000" pitchFamily="2" charset="-122"/>
              </a:rPr>
              <a:t>5</a:t>
            </a:r>
            <a:r>
              <a:rPr lang="zh-CN" altLang="en-US" dirty="0">
                <a:latin typeface="华光仿宋_CNKI" panose="02000500000000000000" pitchFamily="2" charset="-122"/>
                <a:ea typeface="华光仿宋_CNKI" panose="02000500000000000000" pitchFamily="2" charset="-122"/>
              </a:rPr>
              <a:t>）。否则，转步骤 （</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）将线段 </a:t>
            </a:r>
            <a:r>
              <a:rPr lang="en-US" altLang="zh-CN" dirty="0">
                <a:latin typeface="华光仿宋_CNKI" panose="02000500000000000000" pitchFamily="2" charset="-122"/>
                <a:ea typeface="华光仿宋_CNKI" panose="02000500000000000000" pitchFamily="2" charset="-122"/>
              </a:rPr>
              <a:t>P1P2 </a:t>
            </a:r>
            <a:r>
              <a:rPr lang="zh-CN" altLang="en-US" dirty="0">
                <a:latin typeface="华光仿宋_CNKI" panose="02000500000000000000" pitchFamily="2" charset="-122"/>
                <a:ea typeface="华光仿宋_CNKI" panose="02000500000000000000" pitchFamily="2" charset="-122"/>
              </a:rPr>
              <a:t>对分，求出中点 </a:t>
            </a:r>
            <a:r>
              <a:rPr lang="en-US" altLang="zh-CN" dirty="0">
                <a:latin typeface="华光仿宋_CNKI" panose="02000500000000000000" pitchFamily="2" charset="-122"/>
                <a:ea typeface="华光仿宋_CNKI" panose="02000500000000000000" pitchFamily="2" charset="-122"/>
              </a:rPr>
              <a:t>Pm</a:t>
            </a:r>
            <a:r>
              <a:rPr lang="zh-CN" altLang="en-US" dirty="0">
                <a:latin typeface="华光仿宋_CNKI" panose="02000500000000000000" pitchFamily="2" charset="-122"/>
                <a:ea typeface="华光仿宋_CNKI" panose="02000500000000000000" pitchFamily="2" charset="-122"/>
              </a:rPr>
              <a:t>，编码判断线段 </a:t>
            </a:r>
            <a:r>
              <a:rPr lang="en-US" altLang="zh-CN" dirty="0">
                <a:latin typeface="华光仿宋_CNKI" panose="02000500000000000000" pitchFamily="2" charset="-122"/>
                <a:ea typeface="华光仿宋_CNKI" panose="02000500000000000000" pitchFamily="2" charset="-122"/>
              </a:rPr>
              <a:t>PmP2 </a:t>
            </a:r>
            <a:r>
              <a:rPr lang="zh-CN" altLang="en-US" dirty="0">
                <a:latin typeface="华光仿宋_CNKI" panose="02000500000000000000" pitchFamily="2" charset="-122"/>
                <a:ea typeface="华光仿宋_CNKI" panose="02000500000000000000" pitchFamily="2" charset="-122"/>
              </a:rPr>
              <a:t>是否全部在窗口外，若是，则舍弃</a:t>
            </a:r>
            <a:r>
              <a:rPr lang="en-US" altLang="zh-CN" dirty="0">
                <a:latin typeface="华光仿宋_CNKI" panose="02000500000000000000" pitchFamily="2" charset="-122"/>
                <a:ea typeface="华光仿宋_CNKI" panose="02000500000000000000" pitchFamily="2" charset="-122"/>
              </a:rPr>
              <a:t>PmP2</a:t>
            </a:r>
            <a:r>
              <a:rPr lang="zh-CN" altLang="en-US" dirty="0">
                <a:latin typeface="华光仿宋_CNKI" panose="02000500000000000000" pitchFamily="2" charset="-122"/>
                <a:ea typeface="华光仿宋_CNKI" panose="02000500000000000000" pitchFamily="2" charset="-122"/>
              </a:rPr>
              <a:t>，用 </a:t>
            </a:r>
            <a:r>
              <a:rPr lang="en-US" altLang="zh-CN" dirty="0">
                <a:latin typeface="华光仿宋_CNKI" panose="02000500000000000000" pitchFamily="2" charset="-122"/>
                <a:ea typeface="华光仿宋_CNKI" panose="02000500000000000000" pitchFamily="2" charset="-122"/>
              </a:rPr>
              <a:t>P1Pm</a:t>
            </a:r>
            <a:r>
              <a:rPr lang="zh-CN" altLang="en-US" dirty="0">
                <a:latin typeface="华光仿宋_CNKI" panose="02000500000000000000" pitchFamily="2" charset="-122"/>
                <a:ea typeface="华光仿宋_CNKI" panose="02000500000000000000" pitchFamily="2" charset="-122"/>
              </a:rPr>
              <a:t>代替 </a:t>
            </a:r>
            <a:r>
              <a:rPr lang="en-US" altLang="zh-CN" dirty="0">
                <a:latin typeface="华光仿宋_CNKI" panose="02000500000000000000" pitchFamily="2" charset="-122"/>
                <a:ea typeface="华光仿宋_CNKI" panose="02000500000000000000" pitchFamily="2" charset="-122"/>
              </a:rPr>
              <a:t>P1P2</a:t>
            </a:r>
            <a:r>
              <a:rPr lang="zh-CN" altLang="en-US" dirty="0">
                <a:latin typeface="华光仿宋_CNKI" panose="02000500000000000000" pitchFamily="2" charset="-122"/>
                <a:ea typeface="华光仿宋_CNKI" panose="02000500000000000000" pitchFamily="2" charset="-122"/>
              </a:rPr>
              <a:t>；若不是，则用</a:t>
            </a:r>
            <a:r>
              <a:rPr lang="en-US" altLang="zh-CN" dirty="0">
                <a:latin typeface="华光仿宋_CNKI" panose="02000500000000000000" pitchFamily="2" charset="-122"/>
                <a:ea typeface="华光仿宋_CNKI" panose="02000500000000000000" pitchFamily="2" charset="-122"/>
              </a:rPr>
              <a:t>PmP2</a:t>
            </a:r>
            <a:r>
              <a:rPr lang="zh-CN" altLang="en-US" dirty="0">
                <a:latin typeface="华光仿宋_CNKI" panose="02000500000000000000" pitchFamily="2" charset="-122"/>
                <a:ea typeface="华光仿宋_CNKI" panose="02000500000000000000" pitchFamily="2" charset="-122"/>
              </a:rPr>
              <a:t>代替</a:t>
            </a:r>
            <a:r>
              <a:rPr lang="en-US" altLang="zh-CN" dirty="0">
                <a:latin typeface="华光仿宋_CNKI" panose="02000500000000000000" pitchFamily="2" charset="-122"/>
                <a:ea typeface="华光仿宋_CNKI" panose="02000500000000000000" pitchFamily="2" charset="-122"/>
              </a:rPr>
              <a:t>P1P2</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15018622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6" y="546652"/>
            <a:ext cx="11239583" cy="5623559"/>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）对新的 </a:t>
            </a:r>
            <a:r>
              <a:rPr lang="en-US" altLang="zh-CN" dirty="0">
                <a:latin typeface="华光仿宋_CNKI" panose="02000500000000000000" pitchFamily="2" charset="-122"/>
                <a:ea typeface="华光仿宋_CNKI" panose="02000500000000000000" pitchFamily="2" charset="-122"/>
              </a:rPr>
              <a:t>P1P2 </a:t>
            </a:r>
            <a:r>
              <a:rPr lang="zh-CN" altLang="en-US" dirty="0">
                <a:latin typeface="华光仿宋_CNKI" panose="02000500000000000000" pitchFamily="2" charset="-122"/>
                <a:ea typeface="华光仿宋_CNKI" panose="02000500000000000000" pitchFamily="2" charset="-122"/>
              </a:rPr>
              <a:t>重复步骤</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，直到线段的长度小于给定的误差时为止，此时可认为在给定精度内求得离</a:t>
            </a:r>
            <a:r>
              <a:rPr lang="en-US" altLang="zh-CN" dirty="0">
                <a:latin typeface="华光仿宋_CNKI" panose="02000500000000000000" pitchFamily="2" charset="-122"/>
                <a:ea typeface="华光仿宋_CNKI" panose="02000500000000000000" pitchFamily="2" charset="-122"/>
              </a:rPr>
              <a:t>P1</a:t>
            </a:r>
            <a:r>
              <a:rPr lang="zh-CN" altLang="en-US" dirty="0">
                <a:latin typeface="华光仿宋_CNKI" panose="02000500000000000000" pitchFamily="2" charset="-122"/>
                <a:ea typeface="华光仿宋_CNKI" panose="02000500000000000000" pitchFamily="2" charset="-122"/>
              </a:rPr>
              <a:t>最远的可见点。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5</a:t>
            </a:r>
            <a:r>
              <a:rPr lang="zh-CN" altLang="en-US" dirty="0">
                <a:latin typeface="华光仿宋_CNKI" panose="02000500000000000000" pitchFamily="2" charset="-122"/>
                <a:ea typeface="华光仿宋_CNKI" panose="02000500000000000000" pitchFamily="2" charset="-122"/>
              </a:rPr>
              <a:t>）对原始线段</a:t>
            </a:r>
            <a:r>
              <a:rPr lang="en-US" altLang="zh-CN" dirty="0">
                <a:latin typeface="华光仿宋_CNKI" panose="02000500000000000000" pitchFamily="2" charset="-122"/>
                <a:ea typeface="华光仿宋_CNKI" panose="02000500000000000000" pitchFamily="2" charset="-122"/>
              </a:rPr>
              <a:t>P1P2,</a:t>
            </a:r>
            <a:r>
              <a:rPr lang="zh-CN" altLang="en-US" dirty="0">
                <a:latin typeface="华光仿宋_CNKI" panose="02000500000000000000" pitchFamily="2" charset="-122"/>
                <a:ea typeface="华光仿宋_CNKI" panose="02000500000000000000" pitchFamily="2" charset="-122"/>
              </a:rPr>
              <a:t>固定</a:t>
            </a:r>
            <a:r>
              <a:rPr lang="en-US" altLang="zh-CN" dirty="0">
                <a:latin typeface="华光仿宋_CNKI" panose="02000500000000000000" pitchFamily="2" charset="-122"/>
                <a:ea typeface="华光仿宋_CNKI" panose="02000500000000000000" pitchFamily="2" charset="-122"/>
              </a:rPr>
              <a:t>P2</a:t>
            </a:r>
            <a:r>
              <a:rPr lang="zh-CN" altLang="en-US" dirty="0">
                <a:latin typeface="华光仿宋_CNKI" panose="02000500000000000000" pitchFamily="2" charset="-122"/>
                <a:ea typeface="华光仿宋_CNKI" panose="02000500000000000000" pitchFamily="2" charset="-122"/>
              </a:rPr>
              <a:t>，再测 </a:t>
            </a:r>
            <a:r>
              <a:rPr lang="en-US" altLang="zh-CN" dirty="0">
                <a:latin typeface="华光仿宋_CNKI" panose="02000500000000000000" pitchFamily="2" charset="-122"/>
                <a:ea typeface="华光仿宋_CNKI" panose="02000500000000000000" pitchFamily="2" charset="-122"/>
              </a:rPr>
              <a:t>P1</a:t>
            </a:r>
            <a:r>
              <a:rPr lang="zh-CN" altLang="en-US" dirty="0">
                <a:latin typeface="华光仿宋_CNKI" panose="02000500000000000000" pitchFamily="2" charset="-122"/>
                <a:ea typeface="华光仿宋_CNKI" panose="02000500000000000000" pitchFamily="2" charset="-122"/>
              </a:rPr>
              <a:t>，即将线段 </a:t>
            </a:r>
            <a:r>
              <a:rPr lang="en-US" altLang="zh-CN" dirty="0">
                <a:latin typeface="华光仿宋_CNKI" panose="02000500000000000000" pitchFamily="2" charset="-122"/>
                <a:ea typeface="华光仿宋_CNKI" panose="02000500000000000000" pitchFamily="2" charset="-122"/>
              </a:rPr>
              <a:t>P1P2</a:t>
            </a:r>
            <a:r>
              <a:rPr lang="zh-CN" altLang="en-US" dirty="0">
                <a:latin typeface="华光仿宋_CNKI" panose="02000500000000000000" pitchFamily="2" charset="-122"/>
                <a:ea typeface="华光仿宋_CNKI" panose="02000500000000000000" pitchFamily="2" charset="-122"/>
              </a:rPr>
              <a:t>的端点对调，重复步骤 （</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a:t>
            </a:r>
            <a:r>
              <a:rPr lang="zh-CN" altLang="en-US">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找出离点</a:t>
            </a:r>
            <a:r>
              <a:rPr lang="en-US" altLang="zh-CN" dirty="0">
                <a:latin typeface="华光仿宋_CNKI" panose="02000500000000000000" pitchFamily="2" charset="-122"/>
                <a:ea typeface="华光仿宋_CNKI" panose="02000500000000000000" pitchFamily="2" charset="-122"/>
              </a:rPr>
              <a:t>P2</a:t>
            </a:r>
            <a:r>
              <a:rPr lang="zh-CN" altLang="en-US" dirty="0">
                <a:latin typeface="华光仿宋_CNKI" panose="02000500000000000000" pitchFamily="2" charset="-122"/>
                <a:ea typeface="华光仿宋_CNKI" panose="02000500000000000000" pitchFamily="2" charset="-122"/>
              </a:rPr>
              <a:t>最远的可见点。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6</a:t>
            </a:r>
            <a:r>
              <a:rPr lang="zh-CN" altLang="en-US" dirty="0">
                <a:latin typeface="华光仿宋_CNKI" panose="02000500000000000000" pitchFamily="2" charset="-122"/>
                <a:ea typeface="华光仿宋_CNKI" panose="02000500000000000000" pitchFamily="2" charset="-122"/>
              </a:rPr>
              <a:t>）画可见线段 。</a:t>
            </a:r>
            <a:br>
              <a:rPr lang="en-US" altLang="zh-CN" dirty="0">
                <a:latin typeface="华光仿宋_CNKI" panose="02000500000000000000" pitchFamily="2" charset="-122"/>
                <a:ea typeface="华光仿宋_CNKI" panose="02000500000000000000" pitchFamily="2" charset="-122"/>
              </a:rPr>
            </a:b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该算法通过求中点（硬件可通过移位运算实现）取代求交，从而降低硬件的复杂度。但如果通过软件实现，其效率可能比</a:t>
            </a:r>
            <a:r>
              <a:rPr lang="en-US" altLang="zh-CN" dirty="0">
                <a:latin typeface="华光仿宋_CNKI" panose="02000500000000000000" pitchFamily="2" charset="-122"/>
                <a:ea typeface="华光仿宋_CNKI" panose="02000500000000000000" pitchFamily="2" charset="-122"/>
              </a:rPr>
              <a:t>Cohen-Sutherland</a:t>
            </a:r>
            <a:r>
              <a:rPr lang="zh-CN" altLang="en-US" dirty="0">
                <a:latin typeface="华光仿宋_CNKI" panose="02000500000000000000" pitchFamily="2" charset="-122"/>
                <a:ea typeface="华光仿宋_CNKI" panose="02000500000000000000" pitchFamily="2" charset="-122"/>
              </a:rPr>
              <a:t>更低。</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35359998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175" y="657971"/>
            <a:ext cx="11239583" cy="5623559"/>
          </a:xfrm>
        </p:spPr>
        <p:txBody>
          <a:bodyPr>
            <a:noAutofit/>
          </a:bodyPr>
          <a:lstStyle/>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1.3 Liang</a:t>
            </a:r>
            <a:r>
              <a:rPr lang="zh-CN" altLang="en-US" sz="2800" dirty="0">
                <a:latin typeface="华光标题宋_CNKI" panose="02000500000000000000" pitchFamily="2" charset="-122"/>
                <a:ea typeface="华光标题宋_CNKI" panose="02000500000000000000" pitchFamily="2" charset="-122"/>
              </a:rPr>
              <a:t>（</a:t>
            </a:r>
            <a:r>
              <a:rPr lang="zh-CN" altLang="en-US" b="1" i="0" dirty="0">
                <a:solidFill>
                  <a:srgbClr val="121212"/>
                </a:solidFill>
                <a:effectLst/>
                <a:latin typeface="-apple-system"/>
              </a:rPr>
              <a:t>梁友栋）</a:t>
            </a:r>
            <a:r>
              <a:rPr lang="en-US" altLang="zh-CN" sz="2800" dirty="0">
                <a:latin typeface="华光标题宋_CNKI" panose="02000500000000000000" pitchFamily="2" charset="-122"/>
                <a:ea typeface="华光标题宋_CNKI" panose="02000500000000000000" pitchFamily="2" charset="-122"/>
              </a:rPr>
              <a:t>-Barsky</a:t>
            </a:r>
            <a:r>
              <a:rPr lang="zh-CN" altLang="en-US" sz="2800" dirty="0">
                <a:latin typeface="华光标题宋_CNKI" panose="02000500000000000000" pitchFamily="2" charset="-122"/>
                <a:ea typeface="华光标题宋_CNKI" panose="02000500000000000000" pitchFamily="2" charset="-122"/>
              </a:rPr>
              <a:t>裁剪算法</a:t>
            </a:r>
            <a:endParaRPr lang="en-US" altLang="zh-CN" sz="2800" dirty="0">
              <a:latin typeface="华光标题宋_CNKI" panose="02000500000000000000" pitchFamily="2" charset="-122"/>
              <a:ea typeface="华光标题宋_CNKI" panose="02000500000000000000" pitchFamily="2" charset="-122"/>
            </a:endParaRPr>
          </a:p>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该算法把二维裁剪算法问题化为一维裁剪问题。按照线段生成的</a:t>
            </a:r>
            <a:r>
              <a:rPr lang="en-US" altLang="zh-CN" dirty="0">
                <a:latin typeface="华光仿宋_CNKI" panose="02000500000000000000" pitchFamily="2" charset="-122"/>
                <a:ea typeface="华光仿宋_CNKI" panose="02000500000000000000" pitchFamily="2" charset="-122"/>
              </a:rPr>
              <a:t>DDA</a:t>
            </a:r>
            <a:r>
              <a:rPr lang="zh-CN" altLang="en-US" dirty="0">
                <a:latin typeface="华光仿宋_CNKI" panose="02000500000000000000" pitchFamily="2" charset="-122"/>
                <a:ea typeface="华光仿宋_CNKI" panose="02000500000000000000" pitchFamily="2" charset="-122"/>
              </a:rPr>
              <a:t>算法，可以将线段等效为如下的表达式：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而对于裁剪区域，可以表示为：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pic>
        <p:nvPicPr>
          <p:cNvPr id="1026" name="Picture 2">
            <a:extLst>
              <a:ext uri="{FF2B5EF4-FFF2-40B4-BE49-F238E27FC236}">
                <a16:creationId xmlns:a16="http://schemas.microsoft.com/office/drawing/2014/main" id="{ECF7642F-BCAD-FD75-F464-68239533A6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642" y="3028949"/>
            <a:ext cx="5744236" cy="14158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781BE3D-3AEC-325B-3F8C-25B925EDEC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1723" y="5254900"/>
            <a:ext cx="2107094" cy="6926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49CA524-5C25-95B8-BFD3-2DB1232CEE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2428" y="5254899"/>
            <a:ext cx="1943265" cy="69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1632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5513" y="657971"/>
            <a:ext cx="11239583" cy="5623559"/>
          </a:xfrm>
        </p:spPr>
        <p:txBody>
          <a:bodyPr>
            <a:noAutofit/>
          </a:bodyPr>
          <a:lstStyle/>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这样可以得到如下的表达式：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则可得到表达式：                     ；分别对应左右下上边界。</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pic>
        <p:nvPicPr>
          <p:cNvPr id="2050" name="Picture 2">
            <a:extLst>
              <a:ext uri="{FF2B5EF4-FFF2-40B4-BE49-F238E27FC236}">
                <a16:creationId xmlns:a16="http://schemas.microsoft.com/office/drawing/2014/main" id="{08B0EFA5-F197-BDDC-2BA7-EFEACE9FC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840" y="1583594"/>
            <a:ext cx="4751183" cy="139318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70818C5-279A-F862-49B6-569CFBAF91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023" y="3729031"/>
            <a:ext cx="6785864" cy="139318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C5A7735-A7B1-0B02-FA82-1B31104860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7517" y="5309095"/>
            <a:ext cx="3357999" cy="785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087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5513" y="657971"/>
            <a:ext cx="11239583" cy="5623559"/>
          </a:xfrm>
        </p:spPr>
        <p:txBody>
          <a:bodyPr>
            <a:noAutofit/>
          </a:bodyPr>
          <a:lstStyle/>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当</a:t>
            </a:r>
            <a:r>
              <a:rPr lang="en-US" altLang="zh-CN" dirty="0">
                <a:latin typeface="华光仿宋_CNKI" panose="02000500000000000000" pitchFamily="2" charset="-122"/>
                <a:ea typeface="华光仿宋_CNKI" panose="02000500000000000000" pitchFamily="2" charset="-122"/>
              </a:rPr>
              <a:t>0&lt;=t&lt;=1</a:t>
            </a:r>
            <a:r>
              <a:rPr lang="zh-CN" altLang="en-US" dirty="0">
                <a:latin typeface="华光仿宋_CNKI" panose="02000500000000000000" pitchFamily="2" charset="-122"/>
                <a:ea typeface="华光仿宋_CNKI" panose="02000500000000000000" pitchFamily="2" charset="-122"/>
              </a:rPr>
              <a:t>时</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整个线段落在区域内。</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则可得到表达式：                     ；分别对应左右下上边界。</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pic>
        <p:nvPicPr>
          <p:cNvPr id="2050" name="Picture 2">
            <a:extLst>
              <a:ext uri="{FF2B5EF4-FFF2-40B4-BE49-F238E27FC236}">
                <a16:creationId xmlns:a16="http://schemas.microsoft.com/office/drawing/2014/main" id="{08B0EFA5-F197-BDDC-2BA7-EFEACE9FC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840" y="1583594"/>
            <a:ext cx="4751183" cy="139318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70818C5-279A-F862-49B6-569CFBAF91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023" y="3729031"/>
            <a:ext cx="6785864" cy="139318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C5A7735-A7B1-0B02-FA82-1B31104860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7517" y="5309095"/>
            <a:ext cx="3357999" cy="785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4970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82415" y="682818"/>
                <a:ext cx="6721783" cy="5623559"/>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无论何种情况下，在裁剪区域之内的线段均为：</a:t>
                </a:r>
                <a:r>
                  <a:rPr lang="en-US" altLang="zh-CN" dirty="0">
                    <a:latin typeface="华光仿宋_CNKI" panose="02000500000000000000" pitchFamily="2" charset="-122"/>
                    <a:ea typeface="华光仿宋_CNKI" panose="02000500000000000000" pitchFamily="2" charset="-122"/>
                  </a:rPr>
                  <a:t>AB</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RS</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TU</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AB</a:t>
                </a:r>
                <a:r>
                  <a:rPr lang="zh-CN" altLang="en-US" dirty="0">
                    <a:latin typeface="华光仿宋_CNKI" panose="02000500000000000000" pitchFamily="2" charset="-122"/>
                    <a:ea typeface="华光仿宋_CNKI" panose="02000500000000000000" pitchFamily="2" charset="-122"/>
                  </a:rPr>
                  <a:t>为原始线段的端点，</a:t>
                </a:r>
                <a:r>
                  <a:rPr lang="en-US" altLang="zh-CN" dirty="0">
                    <a:latin typeface="华光仿宋_CNKI" panose="02000500000000000000" pitchFamily="2" charset="-122"/>
                    <a:ea typeface="华光仿宋_CNKI" panose="02000500000000000000" pitchFamily="2" charset="-122"/>
                  </a:rPr>
                  <a:t>RS</a:t>
                </a:r>
                <a:r>
                  <a:rPr lang="zh-CN" altLang="en-US" dirty="0">
                    <a:latin typeface="华光仿宋_CNKI" panose="02000500000000000000" pitchFamily="2" charset="-122"/>
                    <a:ea typeface="华光仿宋_CNKI" panose="02000500000000000000" pitchFamily="2" charset="-122"/>
                  </a:rPr>
                  <a:t>为线段与</a:t>
                </a:r>
                <a:r>
                  <a:rPr lang="en-US" altLang="zh-CN" dirty="0">
                    <a:latin typeface="华光仿宋_CNKI" panose="02000500000000000000" pitchFamily="2" charset="-122"/>
                    <a:ea typeface="华光仿宋_CNKI" panose="02000500000000000000" pitchFamily="2" charset="-122"/>
                  </a:rPr>
                  <a:t>XL</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XR</a:t>
                </a:r>
                <a:r>
                  <a:rPr lang="zh-CN" altLang="en-US" dirty="0">
                    <a:latin typeface="华光仿宋_CNKI" panose="02000500000000000000" pitchFamily="2" charset="-122"/>
                    <a:ea typeface="华光仿宋_CNKI" panose="02000500000000000000" pitchFamily="2" charset="-122"/>
                  </a:rPr>
                  <a:t>的交点，</a:t>
                </a:r>
                <a:r>
                  <a:rPr lang="en-US" altLang="zh-CN" dirty="0">
                    <a:latin typeface="华光仿宋_CNKI" panose="02000500000000000000" pitchFamily="2" charset="-122"/>
                    <a:ea typeface="华光仿宋_CNKI" panose="02000500000000000000" pitchFamily="2" charset="-122"/>
                  </a:rPr>
                  <a:t>TU</a:t>
                </a:r>
                <a:r>
                  <a:rPr lang="zh-CN" altLang="en-US" dirty="0">
                    <a:latin typeface="华光仿宋_CNKI" panose="02000500000000000000" pitchFamily="2" charset="-122"/>
                    <a:ea typeface="华光仿宋_CNKI" panose="02000500000000000000" pitchFamily="2" charset="-122"/>
                  </a:rPr>
                  <a:t>为线段与</a:t>
                </a:r>
                <a:r>
                  <a:rPr lang="en-US" altLang="zh-CN" dirty="0">
                    <a:latin typeface="华光仿宋_CNKI" panose="02000500000000000000" pitchFamily="2" charset="-122"/>
                    <a:ea typeface="华光仿宋_CNKI" panose="02000500000000000000" pitchFamily="2" charset="-122"/>
                  </a:rPr>
                  <a:t>YT</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YB</a:t>
                </a:r>
                <a:r>
                  <a:rPr lang="zh-CN" altLang="en-US" dirty="0">
                    <a:latin typeface="华光仿宋_CNKI" panose="02000500000000000000" pitchFamily="2" charset="-122"/>
                    <a:ea typeface="华光仿宋_CNKI" panose="02000500000000000000" pitchFamily="2" charset="-122"/>
                  </a:rPr>
                  <a:t>的交点。当然有些线段可能不存在与某些区域边界线的交点，但可以将其延长，从而得到其对应的交点。然后再利用上述结论求得对应的区域内的线段。</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82415" y="682818"/>
                <a:ext cx="6721783" cy="5623559"/>
              </a:xfrm>
              <a:blipFill>
                <a:blip r:embed="rId3"/>
                <a:stretch>
                  <a:fillRect l="-1906"/>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grpSp>
        <p:nvGrpSpPr>
          <p:cNvPr id="41" name="组合 40">
            <a:extLst>
              <a:ext uri="{FF2B5EF4-FFF2-40B4-BE49-F238E27FC236}">
                <a16:creationId xmlns:a16="http://schemas.microsoft.com/office/drawing/2014/main" id="{8F6BF213-51DB-F5B0-6E35-9DAE8B5C83EF}"/>
              </a:ext>
            </a:extLst>
          </p:cNvPr>
          <p:cNvGrpSpPr/>
          <p:nvPr/>
        </p:nvGrpSpPr>
        <p:grpSpPr>
          <a:xfrm>
            <a:off x="7382872" y="1539434"/>
            <a:ext cx="4489782" cy="3620290"/>
            <a:chOff x="7155999" y="1741336"/>
            <a:chExt cx="4489782" cy="3620290"/>
          </a:xfrm>
        </p:grpSpPr>
        <p:cxnSp>
          <p:nvCxnSpPr>
            <p:cNvPr id="6" name="直接连接符 5">
              <a:extLst>
                <a:ext uri="{FF2B5EF4-FFF2-40B4-BE49-F238E27FC236}">
                  <a16:creationId xmlns:a16="http://schemas.microsoft.com/office/drawing/2014/main" id="{E6D3A9C0-1413-090E-9E09-C28D44089A30}"/>
                </a:ext>
              </a:extLst>
            </p:cNvPr>
            <p:cNvCxnSpPr>
              <a:cxnSpLocks/>
            </p:cNvCxnSpPr>
            <p:nvPr/>
          </p:nvCxnSpPr>
          <p:spPr>
            <a:xfrm>
              <a:off x="7625301" y="2655736"/>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26D44F3-623C-20A4-351E-931FAAE2C8F2}"/>
                </a:ext>
              </a:extLst>
            </p:cNvPr>
            <p:cNvCxnSpPr/>
            <p:nvPr/>
          </p:nvCxnSpPr>
          <p:spPr>
            <a:xfrm>
              <a:off x="8547652" y="17413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BB29DE0-7931-8AD3-5F47-C046811C8321}"/>
                </a:ext>
              </a:extLst>
            </p:cNvPr>
            <p:cNvCxnSpPr>
              <a:cxnSpLocks/>
            </p:cNvCxnSpPr>
            <p:nvPr/>
          </p:nvCxnSpPr>
          <p:spPr>
            <a:xfrm>
              <a:off x="7625301" y="4072392"/>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3FA91F4-2EF6-9C80-F95C-9AFDA0F7AD74}"/>
                </a:ext>
              </a:extLst>
            </p:cNvPr>
            <p:cNvCxnSpPr/>
            <p:nvPr/>
          </p:nvCxnSpPr>
          <p:spPr>
            <a:xfrm>
              <a:off x="10155141" y="18228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8881CC7-B6FE-E877-026F-04BDD16CBC65}"/>
                </a:ext>
              </a:extLst>
            </p:cNvPr>
            <p:cNvSpPr txBox="1"/>
            <p:nvPr/>
          </p:nvSpPr>
          <p:spPr>
            <a:xfrm>
              <a:off x="8419298" y="4926631"/>
              <a:ext cx="402674" cy="369332"/>
            </a:xfrm>
            <a:prstGeom prst="rect">
              <a:avLst/>
            </a:prstGeom>
            <a:noFill/>
          </p:spPr>
          <p:txBody>
            <a:bodyPr wrap="none" rtlCol="0">
              <a:spAutoFit/>
            </a:bodyPr>
            <a:lstStyle/>
            <a:p>
              <a:r>
                <a:rPr lang="en-US" altLang="zh-CN" dirty="0"/>
                <a:t>XL</a:t>
              </a:r>
              <a:endParaRPr lang="zh-CN" altLang="en-US" dirty="0"/>
            </a:p>
          </p:txBody>
        </p:sp>
        <p:sp>
          <p:nvSpPr>
            <p:cNvPr id="17" name="文本框 16">
              <a:extLst>
                <a:ext uri="{FF2B5EF4-FFF2-40B4-BE49-F238E27FC236}">
                  <a16:creationId xmlns:a16="http://schemas.microsoft.com/office/drawing/2014/main" id="{653A2073-5972-056D-267D-E0917A0CDAAD}"/>
                </a:ext>
              </a:extLst>
            </p:cNvPr>
            <p:cNvSpPr txBox="1"/>
            <p:nvPr/>
          </p:nvSpPr>
          <p:spPr>
            <a:xfrm>
              <a:off x="9940178" y="4992294"/>
              <a:ext cx="429926" cy="369332"/>
            </a:xfrm>
            <a:prstGeom prst="rect">
              <a:avLst/>
            </a:prstGeom>
            <a:noFill/>
          </p:spPr>
          <p:txBody>
            <a:bodyPr wrap="none" rtlCol="0">
              <a:spAutoFit/>
            </a:bodyPr>
            <a:lstStyle/>
            <a:p>
              <a:r>
                <a:rPr lang="en-US" altLang="zh-CN" dirty="0"/>
                <a:t>XR</a:t>
              </a:r>
              <a:endParaRPr lang="zh-CN" altLang="en-US" dirty="0"/>
            </a:p>
          </p:txBody>
        </p:sp>
        <p:sp>
          <p:nvSpPr>
            <p:cNvPr id="18" name="文本框 17">
              <a:extLst>
                <a:ext uri="{FF2B5EF4-FFF2-40B4-BE49-F238E27FC236}">
                  <a16:creationId xmlns:a16="http://schemas.microsoft.com/office/drawing/2014/main" id="{DCEF6561-B9F2-337E-8192-F63A4DB50F03}"/>
                </a:ext>
              </a:extLst>
            </p:cNvPr>
            <p:cNvSpPr txBox="1"/>
            <p:nvPr/>
          </p:nvSpPr>
          <p:spPr>
            <a:xfrm>
              <a:off x="10837744" y="2499530"/>
              <a:ext cx="409086" cy="369332"/>
            </a:xfrm>
            <a:prstGeom prst="rect">
              <a:avLst/>
            </a:prstGeom>
            <a:noFill/>
          </p:spPr>
          <p:txBody>
            <a:bodyPr wrap="none" rtlCol="0">
              <a:spAutoFit/>
            </a:bodyPr>
            <a:lstStyle/>
            <a:p>
              <a:r>
                <a:rPr lang="en-US" altLang="zh-CN" dirty="0"/>
                <a:t>YT</a:t>
              </a:r>
              <a:endParaRPr lang="zh-CN" altLang="en-US" dirty="0"/>
            </a:p>
          </p:txBody>
        </p:sp>
        <p:sp>
          <p:nvSpPr>
            <p:cNvPr id="19" name="文本框 18">
              <a:extLst>
                <a:ext uri="{FF2B5EF4-FFF2-40B4-BE49-F238E27FC236}">
                  <a16:creationId xmlns:a16="http://schemas.microsoft.com/office/drawing/2014/main" id="{6E5746AE-8EA0-7F1F-5D58-E1784BBAA078}"/>
                </a:ext>
              </a:extLst>
            </p:cNvPr>
            <p:cNvSpPr txBox="1"/>
            <p:nvPr/>
          </p:nvSpPr>
          <p:spPr>
            <a:xfrm>
              <a:off x="10824920" y="3886013"/>
              <a:ext cx="421910" cy="369332"/>
            </a:xfrm>
            <a:prstGeom prst="rect">
              <a:avLst/>
            </a:prstGeom>
            <a:noFill/>
          </p:spPr>
          <p:txBody>
            <a:bodyPr wrap="none" rtlCol="0">
              <a:spAutoFit/>
            </a:bodyPr>
            <a:lstStyle/>
            <a:p>
              <a:r>
                <a:rPr lang="en-US" altLang="zh-CN" dirty="0"/>
                <a:t>YB</a:t>
              </a:r>
              <a:endParaRPr lang="zh-CN" altLang="en-US" dirty="0"/>
            </a:p>
          </p:txBody>
        </p:sp>
        <p:cxnSp>
          <p:nvCxnSpPr>
            <p:cNvPr id="32" name="直接连接符 31">
              <a:extLst>
                <a:ext uri="{FF2B5EF4-FFF2-40B4-BE49-F238E27FC236}">
                  <a16:creationId xmlns:a16="http://schemas.microsoft.com/office/drawing/2014/main" id="{5F51EB72-B549-9277-999D-D624C921EB5F}"/>
                </a:ext>
              </a:extLst>
            </p:cNvPr>
            <p:cNvCxnSpPr>
              <a:cxnSpLocks/>
            </p:cNvCxnSpPr>
            <p:nvPr/>
          </p:nvCxnSpPr>
          <p:spPr>
            <a:xfrm flipV="1">
              <a:off x="7625301" y="1822836"/>
              <a:ext cx="3199619" cy="265507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2A724860-A3D5-661C-0D0F-0BFE5186F469}"/>
                </a:ext>
              </a:extLst>
            </p:cNvPr>
            <p:cNvSpPr txBox="1"/>
            <p:nvPr/>
          </p:nvSpPr>
          <p:spPr>
            <a:xfrm>
              <a:off x="7155999" y="4449450"/>
              <a:ext cx="954107" cy="369332"/>
            </a:xfrm>
            <a:prstGeom prst="rect">
              <a:avLst/>
            </a:prstGeom>
            <a:noFill/>
          </p:spPr>
          <p:txBody>
            <a:bodyPr wrap="none" rtlCol="0">
              <a:spAutoFit/>
            </a:bodyPr>
            <a:lstStyle/>
            <a:p>
              <a:r>
                <a:rPr lang="en-US" altLang="zh-CN" dirty="0"/>
                <a:t>A(x1,y1)</a:t>
              </a:r>
              <a:endParaRPr lang="zh-CN" altLang="en-US" dirty="0"/>
            </a:p>
          </p:txBody>
        </p:sp>
        <p:sp>
          <p:nvSpPr>
            <p:cNvPr id="36" name="文本框 35">
              <a:extLst>
                <a:ext uri="{FF2B5EF4-FFF2-40B4-BE49-F238E27FC236}">
                  <a16:creationId xmlns:a16="http://schemas.microsoft.com/office/drawing/2014/main" id="{71335C23-8DBC-CD16-7CDD-6AC93362E852}"/>
                </a:ext>
              </a:extLst>
            </p:cNvPr>
            <p:cNvSpPr txBox="1"/>
            <p:nvPr/>
          </p:nvSpPr>
          <p:spPr>
            <a:xfrm>
              <a:off x="10699688" y="1822836"/>
              <a:ext cx="946093" cy="369332"/>
            </a:xfrm>
            <a:prstGeom prst="rect">
              <a:avLst/>
            </a:prstGeom>
            <a:noFill/>
          </p:spPr>
          <p:txBody>
            <a:bodyPr wrap="none" rtlCol="0">
              <a:spAutoFit/>
            </a:bodyPr>
            <a:lstStyle/>
            <a:p>
              <a:r>
                <a:rPr lang="en-US" altLang="zh-CN" dirty="0"/>
                <a:t>B(x2,y2)</a:t>
              </a:r>
              <a:endParaRPr lang="zh-CN" altLang="en-US" dirty="0"/>
            </a:p>
          </p:txBody>
        </p:sp>
      </p:grpSp>
      <p:sp>
        <p:nvSpPr>
          <p:cNvPr id="2" name="文本框 1">
            <a:extLst>
              <a:ext uri="{FF2B5EF4-FFF2-40B4-BE49-F238E27FC236}">
                <a16:creationId xmlns:a16="http://schemas.microsoft.com/office/drawing/2014/main" id="{2B774BC8-0942-E705-345E-2C88310DA7F7}"/>
              </a:ext>
            </a:extLst>
          </p:cNvPr>
          <p:cNvSpPr txBox="1"/>
          <p:nvPr/>
        </p:nvSpPr>
        <p:spPr>
          <a:xfrm>
            <a:off x="8501270" y="3255333"/>
            <a:ext cx="309700" cy="369332"/>
          </a:xfrm>
          <a:prstGeom prst="rect">
            <a:avLst/>
          </a:prstGeom>
          <a:noFill/>
        </p:spPr>
        <p:txBody>
          <a:bodyPr wrap="none" rtlCol="0">
            <a:spAutoFit/>
          </a:bodyPr>
          <a:lstStyle/>
          <a:p>
            <a:r>
              <a:rPr lang="en-US" altLang="zh-CN" dirty="0"/>
              <a:t>R</a:t>
            </a:r>
            <a:endParaRPr lang="zh-CN" altLang="en-US" dirty="0"/>
          </a:p>
        </p:txBody>
      </p:sp>
      <p:sp>
        <p:nvSpPr>
          <p:cNvPr id="5" name="文本框 4">
            <a:extLst>
              <a:ext uri="{FF2B5EF4-FFF2-40B4-BE49-F238E27FC236}">
                <a16:creationId xmlns:a16="http://schemas.microsoft.com/office/drawing/2014/main" id="{99D9D10C-02C8-3EF7-5F4F-94B68A9556C8}"/>
              </a:ext>
            </a:extLst>
          </p:cNvPr>
          <p:cNvSpPr txBox="1"/>
          <p:nvPr/>
        </p:nvSpPr>
        <p:spPr>
          <a:xfrm>
            <a:off x="8202494" y="3909323"/>
            <a:ext cx="296876" cy="369332"/>
          </a:xfrm>
          <a:prstGeom prst="rect">
            <a:avLst/>
          </a:prstGeom>
          <a:noFill/>
        </p:spPr>
        <p:txBody>
          <a:bodyPr wrap="none" rtlCol="0">
            <a:spAutoFit/>
          </a:bodyPr>
          <a:lstStyle/>
          <a:p>
            <a:r>
              <a:rPr lang="en-US" altLang="zh-CN" dirty="0"/>
              <a:t>T</a:t>
            </a:r>
            <a:endParaRPr lang="zh-CN" altLang="en-US" dirty="0"/>
          </a:p>
        </p:txBody>
      </p:sp>
      <p:sp>
        <p:nvSpPr>
          <p:cNvPr id="7" name="文本框 6">
            <a:extLst>
              <a:ext uri="{FF2B5EF4-FFF2-40B4-BE49-F238E27FC236}">
                <a16:creationId xmlns:a16="http://schemas.microsoft.com/office/drawing/2014/main" id="{129C033D-C0B6-89AB-91E2-E488505DAE9A}"/>
              </a:ext>
            </a:extLst>
          </p:cNvPr>
          <p:cNvSpPr txBox="1"/>
          <p:nvPr/>
        </p:nvSpPr>
        <p:spPr>
          <a:xfrm>
            <a:off x="9837468" y="2123724"/>
            <a:ext cx="332142" cy="369332"/>
          </a:xfrm>
          <a:prstGeom prst="rect">
            <a:avLst/>
          </a:prstGeom>
          <a:noFill/>
        </p:spPr>
        <p:txBody>
          <a:bodyPr wrap="none" rtlCol="0">
            <a:spAutoFit/>
          </a:bodyPr>
          <a:lstStyle/>
          <a:p>
            <a:r>
              <a:rPr lang="en-US" altLang="zh-CN" dirty="0"/>
              <a:t>U</a:t>
            </a:r>
            <a:endParaRPr lang="zh-CN" altLang="en-US" dirty="0"/>
          </a:p>
        </p:txBody>
      </p:sp>
      <p:sp>
        <p:nvSpPr>
          <p:cNvPr id="10" name="文本框 9">
            <a:extLst>
              <a:ext uri="{FF2B5EF4-FFF2-40B4-BE49-F238E27FC236}">
                <a16:creationId xmlns:a16="http://schemas.microsoft.com/office/drawing/2014/main" id="{9127F86E-6A06-F481-BDED-7A2FD62DC526}"/>
              </a:ext>
            </a:extLst>
          </p:cNvPr>
          <p:cNvSpPr txBox="1"/>
          <p:nvPr/>
        </p:nvSpPr>
        <p:spPr>
          <a:xfrm>
            <a:off x="10444532" y="2000067"/>
            <a:ext cx="290464" cy="369332"/>
          </a:xfrm>
          <a:prstGeom prst="rect">
            <a:avLst/>
          </a:prstGeom>
          <a:noFill/>
        </p:spPr>
        <p:txBody>
          <a:bodyPr wrap="none" rtlCol="0">
            <a:spAutoFit/>
          </a:bodyPr>
          <a:lstStyle/>
          <a:p>
            <a:r>
              <a:rPr lang="en-US" altLang="zh-CN" dirty="0"/>
              <a:t>S</a:t>
            </a:r>
            <a:endParaRPr lang="zh-CN" altLang="en-US" dirty="0"/>
          </a:p>
        </p:txBody>
      </p:sp>
      <p:cxnSp>
        <p:nvCxnSpPr>
          <p:cNvPr id="14" name="直接连接符 13">
            <a:extLst>
              <a:ext uri="{FF2B5EF4-FFF2-40B4-BE49-F238E27FC236}">
                <a16:creationId xmlns:a16="http://schemas.microsoft.com/office/drawing/2014/main" id="{821F42F8-0585-2CE8-E050-A0D8E9F84172}"/>
              </a:ext>
            </a:extLst>
          </p:cNvPr>
          <p:cNvCxnSpPr>
            <a:cxnSpLocks/>
          </p:cNvCxnSpPr>
          <p:nvPr/>
        </p:nvCxnSpPr>
        <p:spPr>
          <a:xfrm flipV="1">
            <a:off x="9128219" y="2748532"/>
            <a:ext cx="1655054" cy="1442509"/>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E06A47A-9C18-97C1-C448-52A9039719B2}"/>
              </a:ext>
            </a:extLst>
          </p:cNvPr>
          <p:cNvSpPr txBox="1"/>
          <p:nvPr/>
        </p:nvSpPr>
        <p:spPr>
          <a:xfrm>
            <a:off x="8935943" y="4090634"/>
            <a:ext cx="954107" cy="369332"/>
          </a:xfrm>
          <a:prstGeom prst="rect">
            <a:avLst/>
          </a:prstGeom>
          <a:noFill/>
        </p:spPr>
        <p:txBody>
          <a:bodyPr wrap="none" rtlCol="0">
            <a:spAutoFit/>
          </a:bodyPr>
          <a:lstStyle/>
          <a:p>
            <a:r>
              <a:rPr lang="en-US" altLang="zh-CN" dirty="0"/>
              <a:t>A(x1,y1)</a:t>
            </a:r>
            <a:endParaRPr lang="zh-CN" altLang="en-US" dirty="0"/>
          </a:p>
        </p:txBody>
      </p:sp>
      <p:sp>
        <p:nvSpPr>
          <p:cNvPr id="20" name="文本框 19">
            <a:extLst>
              <a:ext uri="{FF2B5EF4-FFF2-40B4-BE49-F238E27FC236}">
                <a16:creationId xmlns:a16="http://schemas.microsoft.com/office/drawing/2014/main" id="{4E0C9F72-B08A-B9F8-E62E-BF8DB26D3100}"/>
              </a:ext>
            </a:extLst>
          </p:cNvPr>
          <p:cNvSpPr txBox="1"/>
          <p:nvPr/>
        </p:nvSpPr>
        <p:spPr>
          <a:xfrm>
            <a:off x="10755593" y="2654372"/>
            <a:ext cx="946093" cy="369332"/>
          </a:xfrm>
          <a:prstGeom prst="rect">
            <a:avLst/>
          </a:prstGeom>
          <a:noFill/>
        </p:spPr>
        <p:txBody>
          <a:bodyPr wrap="none" rtlCol="0">
            <a:spAutoFit/>
          </a:bodyPr>
          <a:lstStyle/>
          <a:p>
            <a:r>
              <a:rPr lang="en-US" altLang="zh-CN" dirty="0"/>
              <a:t>B(x2,y2)</a:t>
            </a:r>
            <a:endParaRPr lang="zh-CN" altLang="en-US" dirty="0"/>
          </a:p>
        </p:txBody>
      </p:sp>
      <p:cxnSp>
        <p:nvCxnSpPr>
          <p:cNvPr id="21" name="直接连接符 20">
            <a:extLst>
              <a:ext uri="{FF2B5EF4-FFF2-40B4-BE49-F238E27FC236}">
                <a16:creationId xmlns:a16="http://schemas.microsoft.com/office/drawing/2014/main" id="{7A4F64AD-58A2-0E12-889B-219CE8B584A6}"/>
              </a:ext>
            </a:extLst>
          </p:cNvPr>
          <p:cNvCxnSpPr>
            <a:cxnSpLocks/>
          </p:cNvCxnSpPr>
          <p:nvPr/>
        </p:nvCxnSpPr>
        <p:spPr>
          <a:xfrm flipV="1">
            <a:off x="8043358" y="2605407"/>
            <a:ext cx="1084861" cy="66731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99A6C83E-17E4-1E0F-11F2-3B0594D06847}"/>
              </a:ext>
            </a:extLst>
          </p:cNvPr>
          <p:cNvSpPr txBox="1"/>
          <p:nvPr/>
        </p:nvSpPr>
        <p:spPr>
          <a:xfrm>
            <a:off x="9452298" y="3863721"/>
            <a:ext cx="296876" cy="369332"/>
          </a:xfrm>
          <a:prstGeom prst="rect">
            <a:avLst/>
          </a:prstGeom>
          <a:noFill/>
        </p:spPr>
        <p:txBody>
          <a:bodyPr wrap="none" rtlCol="0">
            <a:spAutoFit/>
          </a:bodyPr>
          <a:lstStyle/>
          <a:p>
            <a:r>
              <a:rPr lang="en-US" altLang="zh-CN" dirty="0"/>
              <a:t>T</a:t>
            </a:r>
            <a:endParaRPr lang="zh-CN" altLang="en-US" dirty="0"/>
          </a:p>
        </p:txBody>
      </p:sp>
      <p:sp>
        <p:nvSpPr>
          <p:cNvPr id="23" name="文本框 22">
            <a:extLst>
              <a:ext uri="{FF2B5EF4-FFF2-40B4-BE49-F238E27FC236}">
                <a16:creationId xmlns:a16="http://schemas.microsoft.com/office/drawing/2014/main" id="{4C7902DE-204F-EF70-2907-385EAFA30BEF}"/>
              </a:ext>
            </a:extLst>
          </p:cNvPr>
          <p:cNvSpPr txBox="1"/>
          <p:nvPr/>
        </p:nvSpPr>
        <p:spPr>
          <a:xfrm>
            <a:off x="10351646" y="3018332"/>
            <a:ext cx="290464" cy="369332"/>
          </a:xfrm>
          <a:prstGeom prst="rect">
            <a:avLst/>
          </a:prstGeom>
          <a:noFill/>
        </p:spPr>
        <p:txBody>
          <a:bodyPr wrap="none" rtlCol="0">
            <a:spAutoFit/>
          </a:bodyPr>
          <a:lstStyle/>
          <a:p>
            <a:r>
              <a:rPr lang="en-US" altLang="zh-CN" dirty="0"/>
              <a:t>S</a:t>
            </a:r>
            <a:endParaRPr lang="zh-CN" altLang="en-US" dirty="0"/>
          </a:p>
        </p:txBody>
      </p:sp>
      <p:cxnSp>
        <p:nvCxnSpPr>
          <p:cNvPr id="25" name="直接连接符 24">
            <a:extLst>
              <a:ext uri="{FF2B5EF4-FFF2-40B4-BE49-F238E27FC236}">
                <a16:creationId xmlns:a16="http://schemas.microsoft.com/office/drawing/2014/main" id="{B8C946D8-DF2C-6C77-C041-C6A426FE6B0A}"/>
              </a:ext>
            </a:extLst>
          </p:cNvPr>
          <p:cNvCxnSpPr>
            <a:cxnSpLocks/>
          </p:cNvCxnSpPr>
          <p:nvPr/>
        </p:nvCxnSpPr>
        <p:spPr>
          <a:xfrm flipH="1">
            <a:off x="8568066" y="4169159"/>
            <a:ext cx="582883" cy="520213"/>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E52E4689-AEF8-18A5-41A3-027733D4FFB8}"/>
              </a:ext>
            </a:extLst>
          </p:cNvPr>
          <p:cNvCxnSpPr>
            <a:cxnSpLocks/>
          </p:cNvCxnSpPr>
          <p:nvPr/>
        </p:nvCxnSpPr>
        <p:spPr>
          <a:xfrm flipH="1">
            <a:off x="10683873" y="2310033"/>
            <a:ext cx="582883" cy="520213"/>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2D075D04-B688-15B8-9CC6-9D0BCD68EC84}"/>
              </a:ext>
            </a:extLst>
          </p:cNvPr>
          <p:cNvSpPr txBox="1"/>
          <p:nvPr/>
        </p:nvSpPr>
        <p:spPr>
          <a:xfrm>
            <a:off x="8724556" y="4432214"/>
            <a:ext cx="309700" cy="369332"/>
          </a:xfrm>
          <a:prstGeom prst="rect">
            <a:avLst/>
          </a:prstGeom>
          <a:noFill/>
        </p:spPr>
        <p:txBody>
          <a:bodyPr wrap="none" rtlCol="0">
            <a:spAutoFit/>
          </a:bodyPr>
          <a:lstStyle/>
          <a:p>
            <a:r>
              <a:rPr lang="en-US" altLang="zh-CN" dirty="0"/>
              <a:t>R</a:t>
            </a:r>
            <a:endParaRPr lang="zh-CN" altLang="en-US" dirty="0"/>
          </a:p>
        </p:txBody>
      </p:sp>
      <p:sp>
        <p:nvSpPr>
          <p:cNvPr id="30" name="文本框 29">
            <a:extLst>
              <a:ext uri="{FF2B5EF4-FFF2-40B4-BE49-F238E27FC236}">
                <a16:creationId xmlns:a16="http://schemas.microsoft.com/office/drawing/2014/main" id="{040E4F5F-93B2-474A-DA38-A4E38E26CB57}"/>
              </a:ext>
            </a:extLst>
          </p:cNvPr>
          <p:cNvSpPr txBox="1"/>
          <p:nvPr/>
        </p:nvSpPr>
        <p:spPr>
          <a:xfrm>
            <a:off x="10968181" y="2122720"/>
            <a:ext cx="332142" cy="369332"/>
          </a:xfrm>
          <a:prstGeom prst="rect">
            <a:avLst/>
          </a:prstGeom>
          <a:noFill/>
        </p:spPr>
        <p:txBody>
          <a:bodyPr wrap="none" rtlCol="0">
            <a:spAutoFit/>
          </a:bodyPr>
          <a:lstStyle/>
          <a:p>
            <a:r>
              <a:rPr lang="en-US" altLang="zh-CN" dirty="0"/>
              <a:t>U</a:t>
            </a:r>
            <a:endParaRPr lang="zh-CN" altLang="en-US" dirty="0"/>
          </a:p>
        </p:txBody>
      </p:sp>
    </p:spTree>
    <p:extLst>
      <p:ext uri="{BB962C8B-B14F-4D97-AF65-F5344CB8AC3E}">
        <p14:creationId xmlns:p14="http://schemas.microsoft.com/office/powerpoint/2010/main" val="25056131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82415" y="682818"/>
                <a:ext cx="6870325" cy="5623559"/>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对于其左端点而言，有：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400" i="1" smtClean="0">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𝑎</m:t>
                        </m:r>
                      </m:sub>
                    </m:sSub>
                    <m:r>
                      <a:rPr lang="en-US" altLang="zh-CN" sz="2400" b="0" i="1" smtClean="0">
                        <a:latin typeface="Cambria Math" panose="02040503050406030204" pitchFamily="18" charset="0"/>
                        <a:ea typeface="华光仿宋_CNKI" panose="02000500000000000000" pitchFamily="2" charset="-122"/>
                      </a:rPr>
                      <m:t>=</m:t>
                    </m:r>
                    <m:r>
                      <m:rPr>
                        <m:sty m:val="p"/>
                      </m:rPr>
                      <a:rPr lang="en-US" altLang="zh-CN" sz="2400" b="0" i="0" smtClean="0">
                        <a:latin typeface="Cambria Math" panose="02040503050406030204" pitchFamily="18" charset="0"/>
                        <a:ea typeface="华光仿宋_CNKI" panose="02000500000000000000" pitchFamily="2" charset="-122"/>
                      </a:rPr>
                      <m:t>max</m:t>
                    </m:r>
                    <m:r>
                      <a:rPr lang="en-US" altLang="zh-CN" sz="2400" b="0" i="1" smtClean="0">
                        <a:latin typeface="Cambria Math" panose="02040503050406030204" pitchFamily="18" charset="0"/>
                        <a:ea typeface="华光仿宋_CNKI" panose="02000500000000000000" pitchFamily="2" charset="-122"/>
                      </a:rPr>
                      <m:t>⁡(</m:t>
                    </m:r>
                    <m:sSub>
                      <m:sSubPr>
                        <m:ctrlPr>
                          <a:rPr lang="en-US" altLang="zh-CN" sz="2400" b="0" i="1" smtClean="0">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𝑋𝐿</m:t>
                        </m:r>
                      </m:sub>
                    </m:sSub>
                    <m:r>
                      <a:rPr lang="en-US" altLang="zh-CN" sz="2400" b="0" i="1" smtClean="0">
                        <a:latin typeface="Cambria Math" panose="02040503050406030204" pitchFamily="18" charset="0"/>
                        <a:ea typeface="华光仿宋_CNKI" panose="02000500000000000000" pitchFamily="2" charset="-122"/>
                      </a:rPr>
                      <m:t>,</m:t>
                    </m:r>
                    <m:func>
                      <m:funcPr>
                        <m:ctrlPr>
                          <a:rPr lang="en-US" altLang="zh-CN" sz="2400" b="0" i="1" smtClean="0">
                            <a:latin typeface="Cambria Math" panose="02040503050406030204" pitchFamily="18" charset="0"/>
                            <a:ea typeface="华光仿宋_CNKI" panose="02000500000000000000" pitchFamily="2" charset="-122"/>
                          </a:rPr>
                        </m:ctrlPr>
                      </m:funcPr>
                      <m:fName>
                        <m:r>
                          <m:rPr>
                            <m:sty m:val="p"/>
                          </m:rPr>
                          <a:rPr lang="en-US" altLang="zh-CN" sz="2400" b="0" i="0" smtClean="0">
                            <a:latin typeface="Cambria Math" panose="02040503050406030204" pitchFamily="18" charset="0"/>
                            <a:ea typeface="华光仿宋_CNKI" panose="02000500000000000000" pitchFamily="2" charset="-122"/>
                          </a:rPr>
                          <m:t>min</m:t>
                        </m:r>
                      </m:fName>
                      <m:e>
                        <m:d>
                          <m:dPr>
                            <m:ctrlPr>
                              <a:rPr lang="en-US" altLang="zh-CN" sz="2400" b="0" i="1" smtClean="0">
                                <a:latin typeface="Cambria Math" panose="02040503050406030204" pitchFamily="18" charset="0"/>
                                <a:ea typeface="华光仿宋_CNKI" panose="02000500000000000000" pitchFamily="2" charset="-122"/>
                              </a:rPr>
                            </m:ctrlPr>
                          </m:dPr>
                          <m:e>
                            <m:sSub>
                              <m:sSubPr>
                                <m:ctrlPr>
                                  <a:rPr lang="en-US" altLang="zh-CN" sz="2400" b="0" i="1" smtClean="0">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1</m:t>
                                </m:r>
                              </m:sub>
                            </m:sSub>
                            <m:r>
                              <a:rPr lang="en-US" altLang="zh-CN" sz="2400" b="0" i="1" smtClean="0">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2</m:t>
                                </m:r>
                              </m:sub>
                            </m:sSub>
                          </m:e>
                        </m:d>
                      </m:e>
                    </m:func>
                    <m:r>
                      <a:rPr lang="en-US" altLang="zh-CN" sz="2400" b="0" i="1" smtClean="0">
                        <a:latin typeface="Cambria Math" panose="02040503050406030204" pitchFamily="18" charset="0"/>
                        <a:ea typeface="华光仿宋_CNKI" panose="02000500000000000000" pitchFamily="2" charset="-122"/>
                      </a:rPr>
                      <m:t>,</m:t>
                    </m:r>
                    <m:func>
                      <m:funcPr>
                        <m:ctrlPr>
                          <a:rPr lang="en-US" altLang="zh-CN" sz="2400" b="0" i="1" smtClean="0">
                            <a:latin typeface="Cambria Math" panose="02040503050406030204" pitchFamily="18" charset="0"/>
                            <a:ea typeface="华光仿宋_CNKI" panose="02000500000000000000" pitchFamily="2" charset="-122"/>
                          </a:rPr>
                        </m:ctrlPr>
                      </m:funcPr>
                      <m:fName>
                        <m:r>
                          <m:rPr>
                            <m:sty m:val="p"/>
                          </m:rPr>
                          <a:rPr lang="en-US" altLang="zh-CN" sz="2400" b="0" i="0" smtClean="0">
                            <a:latin typeface="Cambria Math" panose="02040503050406030204" pitchFamily="18" charset="0"/>
                            <a:ea typeface="华光仿宋_CNKI" panose="02000500000000000000" pitchFamily="2" charset="-122"/>
                          </a:rPr>
                          <m:t>min</m:t>
                        </m:r>
                      </m:fName>
                      <m:e>
                        <m:d>
                          <m:dPr>
                            <m:ctrlPr>
                              <a:rPr lang="en-US" altLang="zh-CN" sz="2400" b="0" i="1" smtClean="0">
                                <a:latin typeface="Cambria Math" panose="02040503050406030204" pitchFamily="18" charset="0"/>
                                <a:ea typeface="华光仿宋_CNKI" panose="02000500000000000000" pitchFamily="2" charset="-122"/>
                              </a:rPr>
                            </m:ctrlPr>
                          </m:dPr>
                          <m:e>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𝑇</m:t>
                                </m:r>
                              </m:sub>
                            </m:sSub>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𝑈</m:t>
                                </m:r>
                              </m:sub>
                            </m:sSub>
                          </m:e>
                        </m:d>
                      </m:e>
                    </m:func>
                    <m:r>
                      <a:rPr lang="en-US" altLang="zh-CN" sz="2400" b="0" i="1" smtClean="0">
                        <a:latin typeface="Cambria Math" panose="02040503050406030204" pitchFamily="18" charset="0"/>
                        <a:ea typeface="华光仿宋_CNKI" panose="02000500000000000000" pitchFamily="2" charset="-122"/>
                      </a:rPr>
                      <m:t>)</m:t>
                    </m:r>
                  </m:oMath>
                </a14:m>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对于其右端点有：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400" i="1" smtClean="0">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𝑏</m:t>
                        </m:r>
                      </m:sub>
                    </m:sSub>
                    <m:r>
                      <a:rPr lang="en-US" altLang="zh-CN" sz="2400" b="0" i="1" smtClean="0">
                        <a:latin typeface="Cambria Math" panose="02040503050406030204" pitchFamily="18" charset="0"/>
                        <a:ea typeface="华光仿宋_CNKI" panose="02000500000000000000" pitchFamily="2" charset="-122"/>
                      </a:rPr>
                      <m:t>=</m:t>
                    </m:r>
                    <m:r>
                      <m:rPr>
                        <m:sty m:val="p"/>
                      </m:rPr>
                      <a:rPr lang="en-US" altLang="zh-CN" sz="2400" b="0" i="0" smtClean="0">
                        <a:latin typeface="Cambria Math" panose="02040503050406030204" pitchFamily="18" charset="0"/>
                        <a:ea typeface="华光仿宋_CNKI" panose="02000500000000000000" pitchFamily="2" charset="-122"/>
                      </a:rPr>
                      <m:t>min</m:t>
                    </m:r>
                    <m:r>
                      <a:rPr lang="en-US" altLang="zh-CN" sz="2400" b="0" i="1" smtClean="0">
                        <a:latin typeface="Cambria Math" panose="02040503050406030204" pitchFamily="18" charset="0"/>
                        <a:ea typeface="华光仿宋_CNKI" panose="02000500000000000000" pitchFamily="2" charset="-122"/>
                      </a:rPr>
                      <m:t>(</m:t>
                    </m:r>
                    <m:sSub>
                      <m:sSubPr>
                        <m:ctrlPr>
                          <a:rPr lang="en-US" altLang="zh-CN" sz="2400" b="0" i="1" smtClean="0">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𝑋𝑅</m:t>
                        </m:r>
                      </m:sub>
                    </m:sSub>
                    <m:r>
                      <a:rPr lang="en-US" altLang="zh-CN" sz="2400" b="0" i="1" smtClean="0">
                        <a:latin typeface="Cambria Math" panose="02040503050406030204" pitchFamily="18" charset="0"/>
                        <a:ea typeface="华光仿宋_CNKI" panose="02000500000000000000" pitchFamily="2" charset="-122"/>
                      </a:rPr>
                      <m:t>,</m:t>
                    </m:r>
                    <m:func>
                      <m:funcPr>
                        <m:ctrlPr>
                          <a:rPr lang="en-US" altLang="zh-CN" sz="2400" b="0" i="1" smtClean="0">
                            <a:latin typeface="Cambria Math" panose="02040503050406030204" pitchFamily="18" charset="0"/>
                            <a:ea typeface="华光仿宋_CNKI" panose="02000500000000000000" pitchFamily="2" charset="-122"/>
                          </a:rPr>
                        </m:ctrlPr>
                      </m:funcPr>
                      <m:fName>
                        <m:r>
                          <m:rPr>
                            <m:sty m:val="p"/>
                          </m:rPr>
                          <a:rPr lang="en-US" altLang="zh-CN" sz="2400" b="0" i="0" smtClean="0">
                            <a:latin typeface="Cambria Math" panose="02040503050406030204" pitchFamily="18" charset="0"/>
                            <a:ea typeface="华光仿宋_CNKI" panose="02000500000000000000" pitchFamily="2" charset="-122"/>
                          </a:rPr>
                          <m:t>max</m:t>
                        </m:r>
                      </m:fName>
                      <m:e>
                        <m:d>
                          <m:dPr>
                            <m:ctrlPr>
                              <a:rPr lang="en-US" altLang="zh-CN" sz="2400" b="0" i="1" smtClean="0">
                                <a:latin typeface="Cambria Math" panose="02040503050406030204" pitchFamily="18" charset="0"/>
                                <a:ea typeface="华光仿宋_CNKI" panose="02000500000000000000" pitchFamily="2" charset="-122"/>
                              </a:rPr>
                            </m:ctrlPr>
                          </m:dPr>
                          <m:e>
                            <m:sSub>
                              <m:sSubPr>
                                <m:ctrlPr>
                                  <a:rPr lang="en-US" altLang="zh-CN" sz="2400" b="0" i="1" smtClean="0">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1</m:t>
                                </m:r>
                              </m:sub>
                            </m:sSub>
                            <m:r>
                              <a:rPr lang="en-US" altLang="zh-CN" sz="2400" b="0" i="1" smtClean="0">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2</m:t>
                                </m:r>
                              </m:sub>
                            </m:sSub>
                          </m:e>
                        </m:d>
                      </m:e>
                    </m:func>
                    <m:r>
                      <a:rPr lang="en-US" altLang="zh-CN" sz="2400" b="0" i="1" smtClean="0">
                        <a:latin typeface="Cambria Math" panose="02040503050406030204" pitchFamily="18" charset="0"/>
                        <a:ea typeface="华光仿宋_CNKI" panose="02000500000000000000" pitchFamily="2" charset="-122"/>
                      </a:rPr>
                      <m:t>,</m:t>
                    </m:r>
                    <m:func>
                      <m:funcPr>
                        <m:ctrlPr>
                          <a:rPr lang="en-US" altLang="zh-CN" sz="2400" b="0" i="1" smtClean="0">
                            <a:latin typeface="Cambria Math" panose="02040503050406030204" pitchFamily="18" charset="0"/>
                            <a:ea typeface="华光仿宋_CNKI" panose="02000500000000000000" pitchFamily="2" charset="-122"/>
                          </a:rPr>
                        </m:ctrlPr>
                      </m:funcPr>
                      <m:fName>
                        <m:r>
                          <m:rPr>
                            <m:sty m:val="p"/>
                          </m:rPr>
                          <a:rPr lang="en-US" altLang="zh-CN" sz="2400" b="0" i="0" smtClean="0">
                            <a:latin typeface="Cambria Math" panose="02040503050406030204" pitchFamily="18" charset="0"/>
                            <a:ea typeface="华光仿宋_CNKI" panose="02000500000000000000" pitchFamily="2" charset="-122"/>
                          </a:rPr>
                          <m:t>max</m:t>
                        </m:r>
                      </m:fName>
                      <m:e>
                        <m:d>
                          <m:dPr>
                            <m:ctrlPr>
                              <a:rPr lang="en-US" altLang="zh-CN" sz="2400" b="0" i="1" smtClean="0">
                                <a:latin typeface="Cambria Math" panose="02040503050406030204" pitchFamily="18" charset="0"/>
                                <a:ea typeface="华光仿宋_CNKI" panose="02000500000000000000" pitchFamily="2" charset="-122"/>
                              </a:rPr>
                            </m:ctrlPr>
                          </m:dPr>
                          <m:e>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𝑇</m:t>
                                </m:r>
                              </m:sub>
                            </m:sSub>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𝑥</m:t>
                                </m:r>
                              </m:e>
                              <m:sub>
                                <m:r>
                                  <a:rPr lang="en-US" altLang="zh-CN" sz="2400" b="0" i="1" smtClean="0">
                                    <a:latin typeface="Cambria Math" panose="02040503050406030204" pitchFamily="18" charset="0"/>
                                    <a:ea typeface="华光仿宋_CNKI" panose="02000500000000000000" pitchFamily="2" charset="-122"/>
                                  </a:rPr>
                                  <m:t>𝑈</m:t>
                                </m:r>
                              </m:sub>
                            </m:sSub>
                          </m:e>
                        </m:d>
                      </m:e>
                    </m:func>
                    <m:r>
                      <a:rPr lang="en-US" altLang="zh-CN" sz="2400" b="0" i="1" smtClean="0">
                        <a:latin typeface="Cambria Math" panose="02040503050406030204" pitchFamily="18" charset="0"/>
                        <a:ea typeface="华光仿宋_CNKI" panose="02000500000000000000" pitchFamily="2" charset="-122"/>
                      </a:rPr>
                      <m:t>)</m:t>
                    </m:r>
                  </m:oMath>
                </a14:m>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上述表达式中，</a:t>
                </a:r>
                <a:r>
                  <a:rPr lang="en-US" altLang="zh-CN" b="0" dirty="0">
                    <a:ea typeface="华光仿宋_CNKI" panose="02000500000000000000" pitchFamily="2" charset="-122"/>
                  </a:rPr>
                  <a:t> </a:t>
                </a:r>
                <a14:m>
                  <m:oMath xmlns:m="http://schemas.openxmlformats.org/officeDocument/2006/math">
                    <m:sSub>
                      <m:sSubPr>
                        <m:ctrlPr>
                          <a:rPr lang="en-US" altLang="zh-CN" b="0"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𝑋𝐿</m:t>
                        </m:r>
                      </m:sub>
                    </m:sSub>
                  </m:oMath>
                </a14:m>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𝑋𝑅</m:t>
                        </m:r>
                      </m:sub>
                    </m:sSub>
                  </m:oMath>
                </a14:m>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2</m:t>
                        </m:r>
                      </m:sub>
                    </m:sSub>
                  </m:oMath>
                </a14:m>
                <a:r>
                  <a:rPr lang="zh-CN" altLang="en-US" dirty="0">
                    <a:latin typeface="华光仿宋_CNKI" panose="02000500000000000000" pitchFamily="2" charset="-122"/>
                    <a:ea typeface="华光仿宋_CNKI" panose="02000500000000000000" pitchFamily="2" charset="-122"/>
                  </a:rPr>
                  <a:t>均为已知，因此只需要求出</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𝑇</m:t>
                        </m:r>
                      </m:sub>
                    </m:sSub>
                    <m:r>
                      <a:rPr lang="en-US" altLang="zh-CN" i="1">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𝑈</m:t>
                        </m:r>
                      </m:sub>
                    </m:sSub>
                  </m:oMath>
                </a14:m>
                <a:r>
                  <a:rPr lang="zh-CN" altLang="en-US" dirty="0">
                    <a:latin typeface="华光仿宋_CNKI" panose="02000500000000000000" pitchFamily="2" charset="-122"/>
                    <a:ea typeface="华光仿宋_CNKI" panose="02000500000000000000" pitchFamily="2" charset="-122"/>
                  </a:rPr>
                  <a:t>即可。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𝑇</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𝑈</m:t>
                        </m:r>
                      </m:sub>
                    </m:sSub>
                  </m:oMath>
                </a14:m>
                <a:r>
                  <a:rPr lang="zh-CN" altLang="en-US" dirty="0">
                    <a:latin typeface="华光仿宋_CNKI" panose="02000500000000000000" pitchFamily="2" charset="-122"/>
                    <a:ea typeface="华光仿宋_CNKI" panose="02000500000000000000" pitchFamily="2" charset="-122"/>
                  </a:rPr>
                  <a:t>为线段与</a:t>
                </a:r>
                <a:r>
                  <a:rPr lang="en-US" altLang="zh-CN" dirty="0">
                    <a:latin typeface="华光仿宋_CNKI" panose="02000500000000000000" pitchFamily="2" charset="-122"/>
                    <a:ea typeface="华光仿宋_CNKI" panose="02000500000000000000" pitchFamily="2" charset="-122"/>
                  </a:rPr>
                  <a:t>YT</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YB</a:t>
                </a:r>
                <a:r>
                  <a:rPr lang="zh-CN" altLang="en-US" dirty="0">
                    <a:latin typeface="华光仿宋_CNKI" panose="02000500000000000000" pitchFamily="2" charset="-122"/>
                    <a:ea typeface="华光仿宋_CNKI" panose="02000500000000000000" pitchFamily="2" charset="-122"/>
                  </a:rPr>
                  <a:t>的交点的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82415" y="682818"/>
                <a:ext cx="6870325" cy="5623559"/>
              </a:xfrm>
              <a:blipFill>
                <a:blip r:embed="rId3"/>
                <a:stretch>
                  <a:fillRect l="-1863" r="-444"/>
                </a:stretch>
              </a:blipFill>
            </p:spPr>
            <p:txBody>
              <a:bodyPr/>
              <a:lstStyle/>
              <a:p>
                <a:r>
                  <a:rPr lang="zh-CN" altLang="en-US">
                    <a:noFill/>
                  </a:rPr>
                  <a:t> </a:t>
                </a:r>
              </a:p>
            </p:txBody>
          </p:sp>
        </mc:Fallback>
      </mc:AlternateContent>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grpSp>
        <p:nvGrpSpPr>
          <p:cNvPr id="29" name="组合 28">
            <a:extLst>
              <a:ext uri="{FF2B5EF4-FFF2-40B4-BE49-F238E27FC236}">
                <a16:creationId xmlns:a16="http://schemas.microsoft.com/office/drawing/2014/main" id="{A8CFFFC6-D9AE-0148-EBF5-5C0ABCE7A725}"/>
              </a:ext>
            </a:extLst>
          </p:cNvPr>
          <p:cNvGrpSpPr/>
          <p:nvPr/>
        </p:nvGrpSpPr>
        <p:grpSpPr>
          <a:xfrm>
            <a:off x="7653216" y="1539434"/>
            <a:ext cx="4489782" cy="3620290"/>
            <a:chOff x="7382872" y="1539434"/>
            <a:chExt cx="4489782" cy="3620290"/>
          </a:xfrm>
        </p:grpSpPr>
        <p:grpSp>
          <p:nvGrpSpPr>
            <p:cNvPr id="41" name="组合 40">
              <a:extLst>
                <a:ext uri="{FF2B5EF4-FFF2-40B4-BE49-F238E27FC236}">
                  <a16:creationId xmlns:a16="http://schemas.microsoft.com/office/drawing/2014/main" id="{8F6BF213-51DB-F5B0-6E35-9DAE8B5C83EF}"/>
                </a:ext>
              </a:extLst>
            </p:cNvPr>
            <p:cNvGrpSpPr/>
            <p:nvPr/>
          </p:nvGrpSpPr>
          <p:grpSpPr>
            <a:xfrm>
              <a:off x="7382872" y="1539434"/>
              <a:ext cx="4489782" cy="3620290"/>
              <a:chOff x="7155999" y="1741336"/>
              <a:chExt cx="4489782" cy="3620290"/>
            </a:xfrm>
          </p:grpSpPr>
          <p:cxnSp>
            <p:nvCxnSpPr>
              <p:cNvPr id="6" name="直接连接符 5">
                <a:extLst>
                  <a:ext uri="{FF2B5EF4-FFF2-40B4-BE49-F238E27FC236}">
                    <a16:creationId xmlns:a16="http://schemas.microsoft.com/office/drawing/2014/main" id="{E6D3A9C0-1413-090E-9E09-C28D44089A30}"/>
                  </a:ext>
                </a:extLst>
              </p:cNvPr>
              <p:cNvCxnSpPr>
                <a:cxnSpLocks/>
              </p:cNvCxnSpPr>
              <p:nvPr/>
            </p:nvCxnSpPr>
            <p:spPr>
              <a:xfrm>
                <a:off x="7625301" y="2655736"/>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26D44F3-623C-20A4-351E-931FAAE2C8F2}"/>
                  </a:ext>
                </a:extLst>
              </p:cNvPr>
              <p:cNvCxnSpPr/>
              <p:nvPr/>
            </p:nvCxnSpPr>
            <p:spPr>
              <a:xfrm>
                <a:off x="8547652" y="17413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BB29DE0-7931-8AD3-5F47-C046811C8321}"/>
                  </a:ext>
                </a:extLst>
              </p:cNvPr>
              <p:cNvCxnSpPr>
                <a:cxnSpLocks/>
              </p:cNvCxnSpPr>
              <p:nvPr/>
            </p:nvCxnSpPr>
            <p:spPr>
              <a:xfrm>
                <a:off x="7625301" y="4072392"/>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3FA91F4-2EF6-9C80-F95C-9AFDA0F7AD74}"/>
                  </a:ext>
                </a:extLst>
              </p:cNvPr>
              <p:cNvCxnSpPr/>
              <p:nvPr/>
            </p:nvCxnSpPr>
            <p:spPr>
              <a:xfrm>
                <a:off x="10155141" y="18228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8881CC7-B6FE-E877-026F-04BDD16CBC65}"/>
                  </a:ext>
                </a:extLst>
              </p:cNvPr>
              <p:cNvSpPr txBox="1"/>
              <p:nvPr/>
            </p:nvSpPr>
            <p:spPr>
              <a:xfrm>
                <a:off x="8419298" y="4926631"/>
                <a:ext cx="402674" cy="369332"/>
              </a:xfrm>
              <a:prstGeom prst="rect">
                <a:avLst/>
              </a:prstGeom>
              <a:noFill/>
            </p:spPr>
            <p:txBody>
              <a:bodyPr wrap="none" rtlCol="0">
                <a:spAutoFit/>
              </a:bodyPr>
              <a:lstStyle/>
              <a:p>
                <a:r>
                  <a:rPr lang="en-US" altLang="zh-CN" dirty="0"/>
                  <a:t>XL</a:t>
                </a:r>
                <a:endParaRPr lang="zh-CN" altLang="en-US" dirty="0"/>
              </a:p>
            </p:txBody>
          </p:sp>
          <p:sp>
            <p:nvSpPr>
              <p:cNvPr id="17" name="文本框 16">
                <a:extLst>
                  <a:ext uri="{FF2B5EF4-FFF2-40B4-BE49-F238E27FC236}">
                    <a16:creationId xmlns:a16="http://schemas.microsoft.com/office/drawing/2014/main" id="{653A2073-5972-056D-267D-E0917A0CDAAD}"/>
                  </a:ext>
                </a:extLst>
              </p:cNvPr>
              <p:cNvSpPr txBox="1"/>
              <p:nvPr/>
            </p:nvSpPr>
            <p:spPr>
              <a:xfrm>
                <a:off x="9940178" y="4992294"/>
                <a:ext cx="429926" cy="369332"/>
              </a:xfrm>
              <a:prstGeom prst="rect">
                <a:avLst/>
              </a:prstGeom>
              <a:noFill/>
            </p:spPr>
            <p:txBody>
              <a:bodyPr wrap="none" rtlCol="0">
                <a:spAutoFit/>
              </a:bodyPr>
              <a:lstStyle/>
              <a:p>
                <a:r>
                  <a:rPr lang="en-US" altLang="zh-CN" dirty="0"/>
                  <a:t>XR</a:t>
                </a:r>
                <a:endParaRPr lang="zh-CN" altLang="en-US" dirty="0"/>
              </a:p>
            </p:txBody>
          </p:sp>
          <p:sp>
            <p:nvSpPr>
              <p:cNvPr id="18" name="文本框 17">
                <a:extLst>
                  <a:ext uri="{FF2B5EF4-FFF2-40B4-BE49-F238E27FC236}">
                    <a16:creationId xmlns:a16="http://schemas.microsoft.com/office/drawing/2014/main" id="{DCEF6561-B9F2-337E-8192-F63A4DB50F03}"/>
                  </a:ext>
                </a:extLst>
              </p:cNvPr>
              <p:cNvSpPr txBox="1"/>
              <p:nvPr/>
            </p:nvSpPr>
            <p:spPr>
              <a:xfrm>
                <a:off x="10837744" y="2499530"/>
                <a:ext cx="409086" cy="369332"/>
              </a:xfrm>
              <a:prstGeom prst="rect">
                <a:avLst/>
              </a:prstGeom>
              <a:noFill/>
            </p:spPr>
            <p:txBody>
              <a:bodyPr wrap="none" rtlCol="0">
                <a:spAutoFit/>
              </a:bodyPr>
              <a:lstStyle/>
              <a:p>
                <a:r>
                  <a:rPr lang="en-US" altLang="zh-CN" dirty="0"/>
                  <a:t>YT</a:t>
                </a:r>
                <a:endParaRPr lang="zh-CN" altLang="en-US" dirty="0"/>
              </a:p>
            </p:txBody>
          </p:sp>
          <p:sp>
            <p:nvSpPr>
              <p:cNvPr id="19" name="文本框 18">
                <a:extLst>
                  <a:ext uri="{FF2B5EF4-FFF2-40B4-BE49-F238E27FC236}">
                    <a16:creationId xmlns:a16="http://schemas.microsoft.com/office/drawing/2014/main" id="{6E5746AE-8EA0-7F1F-5D58-E1784BBAA078}"/>
                  </a:ext>
                </a:extLst>
              </p:cNvPr>
              <p:cNvSpPr txBox="1"/>
              <p:nvPr/>
            </p:nvSpPr>
            <p:spPr>
              <a:xfrm>
                <a:off x="10824920" y="3886013"/>
                <a:ext cx="421910" cy="369332"/>
              </a:xfrm>
              <a:prstGeom prst="rect">
                <a:avLst/>
              </a:prstGeom>
              <a:noFill/>
            </p:spPr>
            <p:txBody>
              <a:bodyPr wrap="none" rtlCol="0">
                <a:spAutoFit/>
              </a:bodyPr>
              <a:lstStyle/>
              <a:p>
                <a:r>
                  <a:rPr lang="en-US" altLang="zh-CN" dirty="0"/>
                  <a:t>YB</a:t>
                </a:r>
                <a:endParaRPr lang="zh-CN" altLang="en-US" dirty="0"/>
              </a:p>
            </p:txBody>
          </p:sp>
          <p:cxnSp>
            <p:nvCxnSpPr>
              <p:cNvPr id="32" name="直接连接符 31">
                <a:extLst>
                  <a:ext uri="{FF2B5EF4-FFF2-40B4-BE49-F238E27FC236}">
                    <a16:creationId xmlns:a16="http://schemas.microsoft.com/office/drawing/2014/main" id="{5F51EB72-B549-9277-999D-D624C921EB5F}"/>
                  </a:ext>
                </a:extLst>
              </p:cNvPr>
              <p:cNvCxnSpPr>
                <a:cxnSpLocks/>
              </p:cNvCxnSpPr>
              <p:nvPr/>
            </p:nvCxnSpPr>
            <p:spPr>
              <a:xfrm flipV="1">
                <a:off x="7625301" y="1822836"/>
                <a:ext cx="3199619" cy="265507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2A724860-A3D5-661C-0D0F-0BFE5186F469}"/>
                  </a:ext>
                </a:extLst>
              </p:cNvPr>
              <p:cNvSpPr txBox="1"/>
              <p:nvPr/>
            </p:nvSpPr>
            <p:spPr>
              <a:xfrm>
                <a:off x="7155999" y="4449450"/>
                <a:ext cx="954107" cy="369332"/>
              </a:xfrm>
              <a:prstGeom prst="rect">
                <a:avLst/>
              </a:prstGeom>
              <a:noFill/>
            </p:spPr>
            <p:txBody>
              <a:bodyPr wrap="none" rtlCol="0">
                <a:spAutoFit/>
              </a:bodyPr>
              <a:lstStyle/>
              <a:p>
                <a:r>
                  <a:rPr lang="en-US" altLang="zh-CN" dirty="0"/>
                  <a:t>A(x1,y1)</a:t>
                </a:r>
                <a:endParaRPr lang="zh-CN" altLang="en-US" dirty="0"/>
              </a:p>
            </p:txBody>
          </p:sp>
          <p:sp>
            <p:nvSpPr>
              <p:cNvPr id="36" name="文本框 35">
                <a:extLst>
                  <a:ext uri="{FF2B5EF4-FFF2-40B4-BE49-F238E27FC236}">
                    <a16:creationId xmlns:a16="http://schemas.microsoft.com/office/drawing/2014/main" id="{71335C23-8DBC-CD16-7CDD-6AC93362E852}"/>
                  </a:ext>
                </a:extLst>
              </p:cNvPr>
              <p:cNvSpPr txBox="1"/>
              <p:nvPr/>
            </p:nvSpPr>
            <p:spPr>
              <a:xfrm>
                <a:off x="10699688" y="1822836"/>
                <a:ext cx="946093" cy="369332"/>
              </a:xfrm>
              <a:prstGeom prst="rect">
                <a:avLst/>
              </a:prstGeom>
              <a:noFill/>
            </p:spPr>
            <p:txBody>
              <a:bodyPr wrap="none" rtlCol="0">
                <a:spAutoFit/>
              </a:bodyPr>
              <a:lstStyle/>
              <a:p>
                <a:r>
                  <a:rPr lang="en-US" altLang="zh-CN" dirty="0"/>
                  <a:t>B(x2,y2)</a:t>
                </a:r>
                <a:endParaRPr lang="zh-CN" altLang="en-US" dirty="0"/>
              </a:p>
            </p:txBody>
          </p:sp>
        </p:grpSp>
        <p:sp>
          <p:nvSpPr>
            <p:cNvPr id="2" name="文本框 1">
              <a:extLst>
                <a:ext uri="{FF2B5EF4-FFF2-40B4-BE49-F238E27FC236}">
                  <a16:creationId xmlns:a16="http://schemas.microsoft.com/office/drawing/2014/main" id="{2B774BC8-0942-E705-345E-2C88310DA7F7}"/>
                </a:ext>
              </a:extLst>
            </p:cNvPr>
            <p:cNvSpPr txBox="1"/>
            <p:nvPr/>
          </p:nvSpPr>
          <p:spPr>
            <a:xfrm>
              <a:off x="8501270" y="3255333"/>
              <a:ext cx="309700" cy="369332"/>
            </a:xfrm>
            <a:prstGeom prst="rect">
              <a:avLst/>
            </a:prstGeom>
            <a:noFill/>
          </p:spPr>
          <p:txBody>
            <a:bodyPr wrap="none" rtlCol="0">
              <a:spAutoFit/>
            </a:bodyPr>
            <a:lstStyle/>
            <a:p>
              <a:r>
                <a:rPr lang="en-US" altLang="zh-CN" dirty="0"/>
                <a:t>R</a:t>
              </a:r>
              <a:endParaRPr lang="zh-CN" altLang="en-US" dirty="0"/>
            </a:p>
          </p:txBody>
        </p:sp>
        <p:sp>
          <p:nvSpPr>
            <p:cNvPr id="5" name="文本框 4">
              <a:extLst>
                <a:ext uri="{FF2B5EF4-FFF2-40B4-BE49-F238E27FC236}">
                  <a16:creationId xmlns:a16="http://schemas.microsoft.com/office/drawing/2014/main" id="{99D9D10C-02C8-3EF7-5F4F-94B68A9556C8}"/>
                </a:ext>
              </a:extLst>
            </p:cNvPr>
            <p:cNvSpPr txBox="1"/>
            <p:nvPr/>
          </p:nvSpPr>
          <p:spPr>
            <a:xfrm>
              <a:off x="8202494" y="3909323"/>
              <a:ext cx="296876" cy="369332"/>
            </a:xfrm>
            <a:prstGeom prst="rect">
              <a:avLst/>
            </a:prstGeom>
            <a:noFill/>
          </p:spPr>
          <p:txBody>
            <a:bodyPr wrap="none" rtlCol="0">
              <a:spAutoFit/>
            </a:bodyPr>
            <a:lstStyle/>
            <a:p>
              <a:r>
                <a:rPr lang="en-US" altLang="zh-CN" dirty="0"/>
                <a:t>T</a:t>
              </a:r>
              <a:endParaRPr lang="zh-CN" altLang="en-US" dirty="0"/>
            </a:p>
          </p:txBody>
        </p:sp>
        <p:sp>
          <p:nvSpPr>
            <p:cNvPr id="7" name="文本框 6">
              <a:extLst>
                <a:ext uri="{FF2B5EF4-FFF2-40B4-BE49-F238E27FC236}">
                  <a16:creationId xmlns:a16="http://schemas.microsoft.com/office/drawing/2014/main" id="{129C033D-C0B6-89AB-91E2-E488505DAE9A}"/>
                </a:ext>
              </a:extLst>
            </p:cNvPr>
            <p:cNvSpPr txBox="1"/>
            <p:nvPr/>
          </p:nvSpPr>
          <p:spPr>
            <a:xfrm>
              <a:off x="9837468" y="2123724"/>
              <a:ext cx="332142" cy="369332"/>
            </a:xfrm>
            <a:prstGeom prst="rect">
              <a:avLst/>
            </a:prstGeom>
            <a:noFill/>
          </p:spPr>
          <p:txBody>
            <a:bodyPr wrap="none" rtlCol="0">
              <a:spAutoFit/>
            </a:bodyPr>
            <a:lstStyle/>
            <a:p>
              <a:r>
                <a:rPr lang="en-US" altLang="zh-CN" dirty="0"/>
                <a:t>U</a:t>
              </a:r>
              <a:endParaRPr lang="zh-CN" altLang="en-US" dirty="0"/>
            </a:p>
          </p:txBody>
        </p:sp>
        <p:sp>
          <p:nvSpPr>
            <p:cNvPr id="10" name="文本框 9">
              <a:extLst>
                <a:ext uri="{FF2B5EF4-FFF2-40B4-BE49-F238E27FC236}">
                  <a16:creationId xmlns:a16="http://schemas.microsoft.com/office/drawing/2014/main" id="{9127F86E-6A06-F481-BDED-7A2FD62DC526}"/>
                </a:ext>
              </a:extLst>
            </p:cNvPr>
            <p:cNvSpPr txBox="1"/>
            <p:nvPr/>
          </p:nvSpPr>
          <p:spPr>
            <a:xfrm>
              <a:off x="10444532" y="2000067"/>
              <a:ext cx="290464" cy="369332"/>
            </a:xfrm>
            <a:prstGeom prst="rect">
              <a:avLst/>
            </a:prstGeom>
            <a:noFill/>
          </p:spPr>
          <p:txBody>
            <a:bodyPr wrap="none" rtlCol="0">
              <a:spAutoFit/>
            </a:bodyPr>
            <a:lstStyle/>
            <a:p>
              <a:r>
                <a:rPr lang="en-US" altLang="zh-CN" dirty="0"/>
                <a:t>S</a:t>
              </a:r>
              <a:endParaRPr lang="zh-CN" altLang="en-US" dirty="0"/>
            </a:p>
          </p:txBody>
        </p:sp>
        <p:cxnSp>
          <p:nvCxnSpPr>
            <p:cNvPr id="14" name="直接连接符 13">
              <a:extLst>
                <a:ext uri="{FF2B5EF4-FFF2-40B4-BE49-F238E27FC236}">
                  <a16:creationId xmlns:a16="http://schemas.microsoft.com/office/drawing/2014/main" id="{821F42F8-0585-2CE8-E050-A0D8E9F84172}"/>
                </a:ext>
              </a:extLst>
            </p:cNvPr>
            <p:cNvCxnSpPr>
              <a:cxnSpLocks/>
            </p:cNvCxnSpPr>
            <p:nvPr/>
          </p:nvCxnSpPr>
          <p:spPr>
            <a:xfrm flipV="1">
              <a:off x="9128219" y="2748532"/>
              <a:ext cx="1655054" cy="1442509"/>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E06A47A-9C18-97C1-C448-52A9039719B2}"/>
                </a:ext>
              </a:extLst>
            </p:cNvPr>
            <p:cNvSpPr txBox="1"/>
            <p:nvPr/>
          </p:nvSpPr>
          <p:spPr>
            <a:xfrm>
              <a:off x="8935943" y="4090634"/>
              <a:ext cx="954107" cy="369332"/>
            </a:xfrm>
            <a:prstGeom prst="rect">
              <a:avLst/>
            </a:prstGeom>
            <a:noFill/>
          </p:spPr>
          <p:txBody>
            <a:bodyPr wrap="none" rtlCol="0">
              <a:spAutoFit/>
            </a:bodyPr>
            <a:lstStyle/>
            <a:p>
              <a:r>
                <a:rPr lang="en-US" altLang="zh-CN" dirty="0"/>
                <a:t>A(x1,y1)</a:t>
              </a:r>
              <a:endParaRPr lang="zh-CN" altLang="en-US" dirty="0"/>
            </a:p>
          </p:txBody>
        </p:sp>
        <p:sp>
          <p:nvSpPr>
            <p:cNvPr id="20" name="文本框 19">
              <a:extLst>
                <a:ext uri="{FF2B5EF4-FFF2-40B4-BE49-F238E27FC236}">
                  <a16:creationId xmlns:a16="http://schemas.microsoft.com/office/drawing/2014/main" id="{4E0C9F72-B08A-B9F8-E62E-BF8DB26D3100}"/>
                </a:ext>
              </a:extLst>
            </p:cNvPr>
            <p:cNvSpPr txBox="1"/>
            <p:nvPr/>
          </p:nvSpPr>
          <p:spPr>
            <a:xfrm>
              <a:off x="10755593" y="2654372"/>
              <a:ext cx="946093" cy="369332"/>
            </a:xfrm>
            <a:prstGeom prst="rect">
              <a:avLst/>
            </a:prstGeom>
            <a:noFill/>
          </p:spPr>
          <p:txBody>
            <a:bodyPr wrap="none" rtlCol="0">
              <a:spAutoFit/>
            </a:bodyPr>
            <a:lstStyle/>
            <a:p>
              <a:r>
                <a:rPr lang="en-US" altLang="zh-CN" dirty="0"/>
                <a:t>B(x2,y2)</a:t>
              </a:r>
              <a:endParaRPr lang="zh-CN" altLang="en-US" dirty="0"/>
            </a:p>
          </p:txBody>
        </p:sp>
        <p:cxnSp>
          <p:nvCxnSpPr>
            <p:cNvPr id="21" name="直接连接符 20">
              <a:extLst>
                <a:ext uri="{FF2B5EF4-FFF2-40B4-BE49-F238E27FC236}">
                  <a16:creationId xmlns:a16="http://schemas.microsoft.com/office/drawing/2014/main" id="{7A4F64AD-58A2-0E12-889B-219CE8B584A6}"/>
                </a:ext>
              </a:extLst>
            </p:cNvPr>
            <p:cNvCxnSpPr>
              <a:cxnSpLocks/>
            </p:cNvCxnSpPr>
            <p:nvPr/>
          </p:nvCxnSpPr>
          <p:spPr>
            <a:xfrm flipV="1">
              <a:off x="8043358" y="2605407"/>
              <a:ext cx="1084861" cy="66731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99A6C83E-17E4-1E0F-11F2-3B0594D06847}"/>
                </a:ext>
              </a:extLst>
            </p:cNvPr>
            <p:cNvSpPr txBox="1"/>
            <p:nvPr/>
          </p:nvSpPr>
          <p:spPr>
            <a:xfrm>
              <a:off x="9452298" y="3863721"/>
              <a:ext cx="296876" cy="369332"/>
            </a:xfrm>
            <a:prstGeom prst="rect">
              <a:avLst/>
            </a:prstGeom>
            <a:noFill/>
          </p:spPr>
          <p:txBody>
            <a:bodyPr wrap="none" rtlCol="0">
              <a:spAutoFit/>
            </a:bodyPr>
            <a:lstStyle/>
            <a:p>
              <a:r>
                <a:rPr lang="en-US" altLang="zh-CN" dirty="0"/>
                <a:t>T</a:t>
              </a:r>
              <a:endParaRPr lang="zh-CN" altLang="en-US" dirty="0"/>
            </a:p>
          </p:txBody>
        </p:sp>
        <p:sp>
          <p:nvSpPr>
            <p:cNvPr id="23" name="文本框 22">
              <a:extLst>
                <a:ext uri="{FF2B5EF4-FFF2-40B4-BE49-F238E27FC236}">
                  <a16:creationId xmlns:a16="http://schemas.microsoft.com/office/drawing/2014/main" id="{4C7902DE-204F-EF70-2907-385EAFA30BEF}"/>
                </a:ext>
              </a:extLst>
            </p:cNvPr>
            <p:cNvSpPr txBox="1"/>
            <p:nvPr/>
          </p:nvSpPr>
          <p:spPr>
            <a:xfrm>
              <a:off x="10351646" y="3018332"/>
              <a:ext cx="290464" cy="369332"/>
            </a:xfrm>
            <a:prstGeom prst="rect">
              <a:avLst/>
            </a:prstGeom>
            <a:noFill/>
          </p:spPr>
          <p:txBody>
            <a:bodyPr wrap="none" rtlCol="0">
              <a:spAutoFit/>
            </a:bodyPr>
            <a:lstStyle/>
            <a:p>
              <a:r>
                <a:rPr lang="en-US" altLang="zh-CN" dirty="0"/>
                <a:t>S</a:t>
              </a:r>
              <a:endParaRPr lang="zh-CN" altLang="en-US" dirty="0"/>
            </a:p>
          </p:txBody>
        </p:sp>
        <p:cxnSp>
          <p:nvCxnSpPr>
            <p:cNvPr id="25" name="直接连接符 24">
              <a:extLst>
                <a:ext uri="{FF2B5EF4-FFF2-40B4-BE49-F238E27FC236}">
                  <a16:creationId xmlns:a16="http://schemas.microsoft.com/office/drawing/2014/main" id="{B8C946D8-DF2C-6C77-C041-C6A426FE6B0A}"/>
                </a:ext>
              </a:extLst>
            </p:cNvPr>
            <p:cNvCxnSpPr>
              <a:cxnSpLocks/>
            </p:cNvCxnSpPr>
            <p:nvPr/>
          </p:nvCxnSpPr>
          <p:spPr>
            <a:xfrm flipH="1">
              <a:off x="8568066" y="4169159"/>
              <a:ext cx="582883" cy="520213"/>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E52E4689-AEF8-18A5-41A3-027733D4FFB8}"/>
                </a:ext>
              </a:extLst>
            </p:cNvPr>
            <p:cNvCxnSpPr>
              <a:cxnSpLocks/>
            </p:cNvCxnSpPr>
            <p:nvPr/>
          </p:nvCxnSpPr>
          <p:spPr>
            <a:xfrm flipH="1">
              <a:off x="10683873" y="2310033"/>
              <a:ext cx="582883" cy="520213"/>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2D075D04-B688-15B8-9CC6-9D0BCD68EC84}"/>
                </a:ext>
              </a:extLst>
            </p:cNvPr>
            <p:cNvSpPr txBox="1"/>
            <p:nvPr/>
          </p:nvSpPr>
          <p:spPr>
            <a:xfrm>
              <a:off x="8724556" y="4432214"/>
              <a:ext cx="309700" cy="369332"/>
            </a:xfrm>
            <a:prstGeom prst="rect">
              <a:avLst/>
            </a:prstGeom>
            <a:noFill/>
          </p:spPr>
          <p:txBody>
            <a:bodyPr wrap="none" rtlCol="0">
              <a:spAutoFit/>
            </a:bodyPr>
            <a:lstStyle/>
            <a:p>
              <a:r>
                <a:rPr lang="en-US" altLang="zh-CN" dirty="0"/>
                <a:t>R</a:t>
              </a:r>
              <a:endParaRPr lang="zh-CN" altLang="en-US" dirty="0"/>
            </a:p>
          </p:txBody>
        </p:sp>
        <p:sp>
          <p:nvSpPr>
            <p:cNvPr id="30" name="文本框 29">
              <a:extLst>
                <a:ext uri="{FF2B5EF4-FFF2-40B4-BE49-F238E27FC236}">
                  <a16:creationId xmlns:a16="http://schemas.microsoft.com/office/drawing/2014/main" id="{040E4F5F-93B2-474A-DA38-A4E38E26CB57}"/>
                </a:ext>
              </a:extLst>
            </p:cNvPr>
            <p:cNvSpPr txBox="1"/>
            <p:nvPr/>
          </p:nvSpPr>
          <p:spPr>
            <a:xfrm>
              <a:off x="10968181" y="2122720"/>
              <a:ext cx="332142" cy="369332"/>
            </a:xfrm>
            <a:prstGeom prst="rect">
              <a:avLst/>
            </a:prstGeom>
            <a:noFill/>
          </p:spPr>
          <p:txBody>
            <a:bodyPr wrap="none" rtlCol="0">
              <a:spAutoFit/>
            </a:bodyPr>
            <a:lstStyle/>
            <a:p>
              <a:r>
                <a:rPr lang="en-US" altLang="zh-CN" dirty="0"/>
                <a:t>U</a:t>
              </a:r>
              <a:endParaRPr lang="zh-CN" altLang="en-US" dirty="0"/>
            </a:p>
          </p:txBody>
        </p:sp>
      </p:grpSp>
    </p:spTree>
    <p:extLst>
      <p:ext uri="{BB962C8B-B14F-4D97-AF65-F5344CB8AC3E}">
        <p14:creationId xmlns:p14="http://schemas.microsoft.com/office/powerpoint/2010/main" val="38040945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840" y="970058"/>
            <a:ext cx="11038320" cy="5262273"/>
          </a:xfrm>
        </p:spPr>
        <p:txBody>
          <a:bodyPr>
            <a:noAutofit/>
          </a:bodyPr>
          <a:lstStyle/>
          <a:p>
            <a:pPr marL="0" indent="0">
              <a:lnSpc>
                <a:spcPct val="150000"/>
              </a:lnSpc>
              <a:buNone/>
            </a:pPr>
            <a:r>
              <a:rPr lang="es-E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对比前面的结论，可以发现</a:t>
            </a:r>
            <a:r>
              <a:rPr lang="en-US" altLang="zh-CN" dirty="0" err="1">
                <a:latin typeface="华光仿宋_CNKI" panose="02000500000000000000" pitchFamily="2" charset="-122"/>
                <a:ea typeface="华光仿宋_CNKI" panose="02000500000000000000" pitchFamily="2" charset="-122"/>
              </a:rPr>
              <a:t>ti</a:t>
            </a:r>
            <a:r>
              <a:rPr lang="zh-CN" altLang="en-US" dirty="0">
                <a:latin typeface="华光仿宋_CNKI" panose="02000500000000000000" pitchFamily="2" charset="-122"/>
                <a:ea typeface="华光仿宋_CNKI" panose="02000500000000000000" pitchFamily="2" charset="-122"/>
              </a:rPr>
              <a:t>反映的是直线与</a:t>
            </a:r>
            <a:r>
              <a:rPr lang="en-US" altLang="zh-CN" dirty="0">
                <a:latin typeface="华光仿宋_CNKI" panose="02000500000000000000" pitchFamily="2" charset="-122"/>
                <a:ea typeface="华光仿宋_CNKI" panose="02000500000000000000" pitchFamily="2" charset="-122"/>
              </a:rPr>
              <a:t>XL,XR,YB,YT</a:t>
            </a:r>
            <a:r>
              <a:rPr lang="zh-CN" altLang="en-US" dirty="0">
                <a:latin typeface="华光仿宋_CNKI" panose="02000500000000000000" pitchFamily="2" charset="-122"/>
                <a:ea typeface="华光仿宋_CNKI" panose="02000500000000000000" pitchFamily="2" charset="-122"/>
              </a:rPr>
              <a:t>之间的位置关系。如果</a:t>
            </a:r>
            <a:r>
              <a:rPr lang="en-US" altLang="zh-CN" dirty="0" err="1">
                <a:latin typeface="华光仿宋_CNKI" panose="02000500000000000000" pitchFamily="2" charset="-122"/>
                <a:ea typeface="华光仿宋_CNKI" panose="02000500000000000000" pitchFamily="2" charset="-122"/>
              </a:rPr>
              <a:t>ti</a:t>
            </a:r>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或</a:t>
            </a:r>
            <a:r>
              <a:rPr lang="en-US" altLang="zh-CN" dirty="0">
                <a:latin typeface="华光仿宋_CNKI" panose="02000500000000000000" pitchFamily="2" charset="-122"/>
                <a:ea typeface="华光仿宋_CNKI" panose="02000500000000000000" pitchFamily="2" charset="-122"/>
              </a:rPr>
              <a:t>1, </a:t>
            </a:r>
            <a:r>
              <a:rPr lang="zh-CN" altLang="en-US" dirty="0">
                <a:latin typeface="华光仿宋_CNKI" panose="02000500000000000000" pitchFamily="2" charset="-122"/>
                <a:ea typeface="华光仿宋_CNKI" panose="02000500000000000000" pitchFamily="2" charset="-122"/>
              </a:rPr>
              <a:t>说明起点</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终点在某个边界上。</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1. </a:t>
            </a:r>
            <a:r>
              <a:rPr lang="zh-CN" altLang="en-US" dirty="0">
                <a:latin typeface="华光仿宋_CNKI" panose="02000500000000000000" pitchFamily="2" charset="-122"/>
                <a:ea typeface="华光仿宋_CNKI" panose="02000500000000000000" pitchFamily="2" charset="-122"/>
              </a:rPr>
              <a:t>如果起点在</a:t>
            </a:r>
            <a:r>
              <a:rPr lang="en-US" altLang="zh-CN" dirty="0">
                <a:latin typeface="华光仿宋_CNKI" panose="02000500000000000000" pitchFamily="2" charset="-122"/>
                <a:ea typeface="华光仿宋_CNKI" panose="02000500000000000000" pitchFamily="2" charset="-122"/>
              </a:rPr>
              <a:t>XL</a:t>
            </a:r>
            <a:r>
              <a:rPr lang="zh-CN" altLang="en-US" dirty="0">
                <a:latin typeface="华光仿宋_CNKI" panose="02000500000000000000" pitchFamily="2" charset="-122"/>
                <a:ea typeface="华光仿宋_CNKI" panose="02000500000000000000" pitchFamily="2" charset="-122"/>
              </a:rPr>
              <a:t>的左边，则裁剪后的左端点的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坐标应该是</a:t>
            </a:r>
            <a:r>
              <a:rPr lang="en-US" altLang="zh-CN" dirty="0">
                <a:latin typeface="华光仿宋_CNKI" panose="02000500000000000000" pitchFamily="2" charset="-122"/>
                <a:ea typeface="华光仿宋_CNKI" panose="02000500000000000000" pitchFamily="2" charset="-122"/>
              </a:rPr>
              <a:t>XL</a:t>
            </a:r>
            <a:r>
              <a:rPr lang="zh-CN" altLang="en-US" dirty="0">
                <a:latin typeface="华光仿宋_CNKI" panose="02000500000000000000" pitchFamily="2" charset="-122"/>
                <a:ea typeface="华光仿宋_CNKI" panose="02000500000000000000" pitchFamily="2" charset="-122"/>
              </a:rPr>
              <a:t>。也就是在原来</a:t>
            </a:r>
            <a:r>
              <a:rPr lang="en-US" altLang="zh-CN" dirty="0">
                <a:latin typeface="华光仿宋_CNKI" panose="02000500000000000000" pitchFamily="2" charset="-122"/>
                <a:ea typeface="华光仿宋_CNKI" panose="02000500000000000000" pitchFamily="2" charset="-122"/>
              </a:rPr>
              <a:t>x1</a:t>
            </a:r>
            <a:r>
              <a:rPr lang="zh-CN" altLang="en-US" dirty="0">
                <a:latin typeface="华光仿宋_CNKI" panose="02000500000000000000" pitchFamily="2" charset="-122"/>
                <a:ea typeface="华光仿宋_CNKI" panose="02000500000000000000" pitchFamily="2" charset="-122"/>
              </a:rPr>
              <a:t>的基础上，增加</a:t>
            </a:r>
            <a:r>
              <a:rPr lang="en-US" altLang="zh-CN" dirty="0">
                <a:latin typeface="华光仿宋_CNKI" panose="02000500000000000000" pitchFamily="2" charset="-122"/>
                <a:ea typeface="华光仿宋_CNKI" panose="02000500000000000000" pitchFamily="2" charset="-122"/>
              </a:rPr>
              <a:t>(XL-X1)=d2*q1/d1=(x2-x1)*(X1-XL)/(x1-x2)</a:t>
            </a:r>
            <a:r>
              <a:rPr lang="zh-CN" altLang="en-US" dirty="0">
                <a:latin typeface="华光仿宋_CNKI" panose="02000500000000000000" pitchFamily="2" charset="-122"/>
                <a:ea typeface="华光仿宋_CNKI" panose="02000500000000000000" pitchFamily="2" charset="-122"/>
              </a:rPr>
              <a:t>的值。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2. </a:t>
            </a:r>
            <a:r>
              <a:rPr lang="zh-CN" altLang="en-US" dirty="0">
                <a:latin typeface="华光仿宋_CNKI" panose="02000500000000000000" pitchFamily="2" charset="-122"/>
                <a:ea typeface="华光仿宋_CNKI" panose="02000500000000000000" pitchFamily="2" charset="-122"/>
              </a:rPr>
              <a:t>如果起点在</a:t>
            </a:r>
            <a:r>
              <a:rPr lang="en-US" altLang="zh-CN" dirty="0">
                <a:latin typeface="华光仿宋_CNKI" panose="02000500000000000000" pitchFamily="2" charset="-122"/>
                <a:ea typeface="华光仿宋_CNKI" panose="02000500000000000000" pitchFamily="2" charset="-122"/>
              </a:rPr>
              <a:t>XL</a:t>
            </a:r>
            <a:r>
              <a:rPr lang="zh-CN" altLang="en-US" dirty="0">
                <a:latin typeface="华光仿宋_CNKI" panose="02000500000000000000" pitchFamily="2" charset="-122"/>
                <a:ea typeface="华光仿宋_CNKI" panose="02000500000000000000" pitchFamily="2" charset="-122"/>
              </a:rPr>
              <a:t>的右边，则有两种情况：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）在区域内，则该点为裁剪后的直线的起点，其</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值为在原来</a:t>
            </a:r>
            <a:r>
              <a:rPr lang="en-US" altLang="zh-CN" dirty="0">
                <a:latin typeface="华光仿宋_CNKI" panose="02000500000000000000" pitchFamily="2" charset="-122"/>
                <a:ea typeface="华光仿宋_CNKI" panose="02000500000000000000" pitchFamily="2" charset="-122"/>
              </a:rPr>
              <a:t>X1</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3585818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5513" y="657971"/>
            <a:ext cx="10473777" cy="5623559"/>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直线与</a:t>
            </a:r>
            <a:r>
              <a:rPr lang="en-US" altLang="zh-CN" dirty="0">
                <a:latin typeface="华光仿宋_CNKI" panose="02000500000000000000" pitchFamily="2" charset="-122"/>
                <a:ea typeface="华光仿宋_CNKI" panose="02000500000000000000" pitchFamily="2" charset="-122"/>
              </a:rPr>
              <a:t>YB</a:t>
            </a:r>
            <a:r>
              <a:rPr lang="zh-CN" altLang="en-US" dirty="0">
                <a:latin typeface="华光仿宋_CNKI" panose="02000500000000000000" pitchFamily="2" charset="-122"/>
                <a:ea typeface="华光仿宋_CNKI" panose="02000500000000000000" pitchFamily="2" charset="-122"/>
              </a:rPr>
              <a:t>相交，则裁剪后直线的起点为</a:t>
            </a:r>
            <a:r>
              <a:rPr lang="en-US" altLang="zh-CN" dirty="0">
                <a:latin typeface="华光仿宋_CNKI" panose="02000500000000000000" pitchFamily="2" charset="-122"/>
                <a:ea typeface="华光仿宋_CNKI" panose="02000500000000000000" pitchFamily="2" charset="-122"/>
              </a:rPr>
              <a:t>YB</a:t>
            </a:r>
            <a:r>
              <a:rPr lang="zh-CN" altLang="en-US" dirty="0">
                <a:latin typeface="华光仿宋_CNKI" panose="02000500000000000000" pitchFamily="2" charset="-122"/>
                <a:ea typeface="华光仿宋_CNKI" panose="02000500000000000000" pitchFamily="2" charset="-122"/>
              </a:rPr>
              <a:t>的交点，其</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值为：</a:t>
            </a:r>
            <a:r>
              <a:rPr lang="en-US" altLang="zh-CN" dirty="0">
                <a:latin typeface="华光仿宋_CNKI" panose="02000500000000000000" pitchFamily="2" charset="-122"/>
                <a:ea typeface="华光仿宋_CNKI" panose="02000500000000000000" pitchFamily="2" charset="-122"/>
              </a:rPr>
              <a:t>x1+(Xb-x1)=x1-(k*x1-k*</a:t>
            </a:r>
            <a:r>
              <a:rPr lang="en-US" altLang="zh-CN" dirty="0" err="1">
                <a:latin typeface="华光仿宋_CNKI" panose="02000500000000000000" pitchFamily="2" charset="-122"/>
                <a:ea typeface="华光仿宋_CNKI" panose="02000500000000000000" pitchFamily="2" charset="-122"/>
              </a:rPr>
              <a:t>xb</a:t>
            </a:r>
            <a:r>
              <a:rPr lang="en-US" altLang="zh-CN" dirty="0">
                <a:latin typeface="华光仿宋_CNKI" panose="02000500000000000000" pitchFamily="2" charset="-122"/>
                <a:ea typeface="华光仿宋_CNKI" panose="02000500000000000000" pitchFamily="2" charset="-122"/>
              </a:rPr>
              <a:t>)/k==x1-(y1-yb)/k=x1+(x2-x1).(y1-yb)/(y1-y2)=x1+d2*q3/d3 </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对于上面两种情况，均可以用下面的表达式来描述：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Xa</a:t>
            </a:r>
            <a:r>
              <a:rPr lang="en-US" altLang="zh-CN" dirty="0">
                <a:latin typeface="华光仿宋_CNKI" panose="02000500000000000000" pitchFamily="2" charset="-122"/>
                <a:ea typeface="华光仿宋_CNKI" panose="02000500000000000000" pitchFamily="2" charset="-122"/>
              </a:rPr>
              <a:t>=X1+d2. qi/di</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对于终点而言，具有相同的特性，主要针对</a:t>
            </a:r>
            <a:r>
              <a:rPr lang="en-US" altLang="zh-CN" dirty="0">
                <a:latin typeface="华光仿宋_CNKI" panose="02000500000000000000" pitchFamily="2" charset="-122"/>
                <a:ea typeface="华光仿宋_CNKI" panose="02000500000000000000" pitchFamily="2" charset="-122"/>
              </a:rPr>
              <a:t>XR</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YT</a:t>
            </a:r>
            <a:r>
              <a:rPr lang="zh-CN" altLang="en-US" dirty="0">
                <a:latin typeface="华光仿宋_CNKI" panose="02000500000000000000" pitchFamily="2" charset="-122"/>
                <a:ea typeface="华光仿宋_CNKI" panose="02000500000000000000" pitchFamily="2" charset="-122"/>
              </a:rPr>
              <a:t>确定直线的终点的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基于上面的特性，可以得到下面的结论</a:t>
            </a:r>
            <a:r>
              <a:rPr lang="en-US" altLang="zh-CN"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8336909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82416" y="682818"/>
            <a:ext cx="6112584" cy="5623559"/>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前面表达式中</a:t>
            </a:r>
            <a:r>
              <a:rPr lang="en-US" altLang="zh-CN" dirty="0">
                <a:latin typeface="华光仿宋_CNKI" panose="02000500000000000000" pitchFamily="2" charset="-122"/>
                <a:ea typeface="华光仿宋_CNKI" panose="02000500000000000000" pitchFamily="2" charset="-122"/>
              </a:rPr>
              <a:t>d1~d4</a:t>
            </a:r>
            <a:r>
              <a:rPr lang="zh-CN" altLang="en-US" dirty="0">
                <a:latin typeface="华光仿宋_CNKI" panose="02000500000000000000" pitchFamily="2" charset="-122"/>
                <a:ea typeface="华光仿宋_CNKI" panose="02000500000000000000" pitchFamily="2" charset="-122"/>
              </a:rPr>
              <a:t>可以通过下面的表达式求得：</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d1=-(x2-x1)  d2=x2-x1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d3=-(y2-y1)  d4=y2-y1</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基于上面的推导，存在如下的结论：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(1) </a:t>
            </a:r>
            <a:r>
              <a:rPr lang="zh-CN" altLang="en-US" dirty="0">
                <a:latin typeface="华光仿宋_CNKI" panose="02000500000000000000" pitchFamily="2" charset="-122"/>
                <a:ea typeface="华光仿宋_CNKI" panose="02000500000000000000" pitchFamily="2" charset="-122"/>
              </a:rPr>
              <a:t>如果</a:t>
            </a:r>
            <a:r>
              <a:rPr lang="en-US" altLang="zh-CN" dirty="0">
                <a:latin typeface="华光仿宋_CNKI" panose="02000500000000000000" pitchFamily="2" charset="-122"/>
                <a:ea typeface="华光仿宋_CNKI" panose="02000500000000000000" pitchFamily="2" charset="-122"/>
              </a:rPr>
              <a:t>di=0, qi&lt;0, </a:t>
            </a:r>
            <a:r>
              <a:rPr lang="zh-CN" altLang="en-US" dirty="0">
                <a:latin typeface="华光仿宋_CNKI" panose="02000500000000000000" pitchFamily="2" charset="-122"/>
                <a:ea typeface="华光仿宋_CNKI" panose="02000500000000000000" pitchFamily="2" charset="-122"/>
              </a:rPr>
              <a:t>则说明该线段完全在边界之外，线段将舍去，退出，否则执行（</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grpSp>
        <p:nvGrpSpPr>
          <p:cNvPr id="41" name="组合 40">
            <a:extLst>
              <a:ext uri="{FF2B5EF4-FFF2-40B4-BE49-F238E27FC236}">
                <a16:creationId xmlns:a16="http://schemas.microsoft.com/office/drawing/2014/main" id="{8F6BF213-51DB-F5B0-6E35-9DAE8B5C83EF}"/>
              </a:ext>
            </a:extLst>
          </p:cNvPr>
          <p:cNvGrpSpPr/>
          <p:nvPr/>
        </p:nvGrpSpPr>
        <p:grpSpPr>
          <a:xfrm>
            <a:off x="7000061" y="1461052"/>
            <a:ext cx="5191939" cy="3698672"/>
            <a:chOff x="6971970" y="1662954"/>
            <a:chExt cx="5191939" cy="3698672"/>
          </a:xfrm>
        </p:grpSpPr>
        <p:cxnSp>
          <p:nvCxnSpPr>
            <p:cNvPr id="6" name="直接连接符 5">
              <a:extLst>
                <a:ext uri="{FF2B5EF4-FFF2-40B4-BE49-F238E27FC236}">
                  <a16:creationId xmlns:a16="http://schemas.microsoft.com/office/drawing/2014/main" id="{E6D3A9C0-1413-090E-9E09-C28D44089A30}"/>
                </a:ext>
              </a:extLst>
            </p:cNvPr>
            <p:cNvCxnSpPr>
              <a:cxnSpLocks/>
            </p:cNvCxnSpPr>
            <p:nvPr/>
          </p:nvCxnSpPr>
          <p:spPr>
            <a:xfrm>
              <a:off x="7625301" y="2655736"/>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26D44F3-623C-20A4-351E-931FAAE2C8F2}"/>
                </a:ext>
              </a:extLst>
            </p:cNvPr>
            <p:cNvCxnSpPr/>
            <p:nvPr/>
          </p:nvCxnSpPr>
          <p:spPr>
            <a:xfrm>
              <a:off x="8547652" y="17413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BB29DE0-7931-8AD3-5F47-C046811C8321}"/>
                </a:ext>
              </a:extLst>
            </p:cNvPr>
            <p:cNvCxnSpPr>
              <a:cxnSpLocks/>
            </p:cNvCxnSpPr>
            <p:nvPr/>
          </p:nvCxnSpPr>
          <p:spPr>
            <a:xfrm>
              <a:off x="7625301" y="4072392"/>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3FA91F4-2EF6-9C80-F95C-9AFDA0F7AD74}"/>
                </a:ext>
              </a:extLst>
            </p:cNvPr>
            <p:cNvCxnSpPr/>
            <p:nvPr/>
          </p:nvCxnSpPr>
          <p:spPr>
            <a:xfrm>
              <a:off x="10155141" y="18228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4B36B3BD-C20F-0B4B-33B6-756CB0693BAB}"/>
                </a:ext>
              </a:extLst>
            </p:cNvPr>
            <p:cNvCxnSpPr/>
            <p:nvPr/>
          </p:nvCxnSpPr>
          <p:spPr>
            <a:xfrm>
              <a:off x="8054672" y="2053424"/>
              <a:ext cx="0" cy="298173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8881CC7-B6FE-E877-026F-04BDD16CBC65}"/>
                </a:ext>
              </a:extLst>
            </p:cNvPr>
            <p:cNvSpPr txBox="1"/>
            <p:nvPr/>
          </p:nvSpPr>
          <p:spPr>
            <a:xfrm>
              <a:off x="8419298" y="4926631"/>
              <a:ext cx="402674" cy="369332"/>
            </a:xfrm>
            <a:prstGeom prst="rect">
              <a:avLst/>
            </a:prstGeom>
            <a:noFill/>
          </p:spPr>
          <p:txBody>
            <a:bodyPr wrap="none" rtlCol="0">
              <a:spAutoFit/>
            </a:bodyPr>
            <a:lstStyle/>
            <a:p>
              <a:r>
                <a:rPr lang="en-US" altLang="zh-CN" dirty="0"/>
                <a:t>XL</a:t>
              </a:r>
              <a:endParaRPr lang="zh-CN" altLang="en-US" dirty="0"/>
            </a:p>
          </p:txBody>
        </p:sp>
        <p:sp>
          <p:nvSpPr>
            <p:cNvPr id="17" name="文本框 16">
              <a:extLst>
                <a:ext uri="{FF2B5EF4-FFF2-40B4-BE49-F238E27FC236}">
                  <a16:creationId xmlns:a16="http://schemas.microsoft.com/office/drawing/2014/main" id="{653A2073-5972-056D-267D-E0917A0CDAAD}"/>
                </a:ext>
              </a:extLst>
            </p:cNvPr>
            <p:cNvSpPr txBox="1"/>
            <p:nvPr/>
          </p:nvSpPr>
          <p:spPr>
            <a:xfrm>
              <a:off x="9940178" y="4992294"/>
              <a:ext cx="429926" cy="369332"/>
            </a:xfrm>
            <a:prstGeom prst="rect">
              <a:avLst/>
            </a:prstGeom>
            <a:noFill/>
          </p:spPr>
          <p:txBody>
            <a:bodyPr wrap="none" rtlCol="0">
              <a:spAutoFit/>
            </a:bodyPr>
            <a:lstStyle/>
            <a:p>
              <a:r>
                <a:rPr lang="en-US" altLang="zh-CN" dirty="0"/>
                <a:t>XR</a:t>
              </a:r>
              <a:endParaRPr lang="zh-CN" altLang="en-US" dirty="0"/>
            </a:p>
          </p:txBody>
        </p:sp>
        <p:sp>
          <p:nvSpPr>
            <p:cNvPr id="18" name="文本框 17">
              <a:extLst>
                <a:ext uri="{FF2B5EF4-FFF2-40B4-BE49-F238E27FC236}">
                  <a16:creationId xmlns:a16="http://schemas.microsoft.com/office/drawing/2014/main" id="{DCEF6561-B9F2-337E-8192-F63A4DB50F03}"/>
                </a:ext>
              </a:extLst>
            </p:cNvPr>
            <p:cNvSpPr txBox="1"/>
            <p:nvPr/>
          </p:nvSpPr>
          <p:spPr>
            <a:xfrm>
              <a:off x="10837744" y="2499530"/>
              <a:ext cx="409086" cy="369332"/>
            </a:xfrm>
            <a:prstGeom prst="rect">
              <a:avLst/>
            </a:prstGeom>
            <a:noFill/>
          </p:spPr>
          <p:txBody>
            <a:bodyPr wrap="none" rtlCol="0">
              <a:spAutoFit/>
            </a:bodyPr>
            <a:lstStyle/>
            <a:p>
              <a:r>
                <a:rPr lang="en-US" altLang="zh-CN" dirty="0"/>
                <a:t>YT</a:t>
              </a:r>
              <a:endParaRPr lang="zh-CN" altLang="en-US" dirty="0"/>
            </a:p>
          </p:txBody>
        </p:sp>
        <p:sp>
          <p:nvSpPr>
            <p:cNvPr id="19" name="文本框 18">
              <a:extLst>
                <a:ext uri="{FF2B5EF4-FFF2-40B4-BE49-F238E27FC236}">
                  <a16:creationId xmlns:a16="http://schemas.microsoft.com/office/drawing/2014/main" id="{6E5746AE-8EA0-7F1F-5D58-E1784BBAA078}"/>
                </a:ext>
              </a:extLst>
            </p:cNvPr>
            <p:cNvSpPr txBox="1"/>
            <p:nvPr/>
          </p:nvSpPr>
          <p:spPr>
            <a:xfrm>
              <a:off x="10824920" y="3886013"/>
              <a:ext cx="421910" cy="369332"/>
            </a:xfrm>
            <a:prstGeom prst="rect">
              <a:avLst/>
            </a:prstGeom>
            <a:noFill/>
          </p:spPr>
          <p:txBody>
            <a:bodyPr wrap="none" rtlCol="0">
              <a:spAutoFit/>
            </a:bodyPr>
            <a:lstStyle/>
            <a:p>
              <a:r>
                <a:rPr lang="en-US" altLang="zh-CN" dirty="0"/>
                <a:t>YB</a:t>
              </a:r>
              <a:endParaRPr lang="zh-CN" altLang="en-US" dirty="0"/>
            </a:p>
          </p:txBody>
        </p:sp>
        <p:cxnSp>
          <p:nvCxnSpPr>
            <p:cNvPr id="20" name="直接连接符 19">
              <a:extLst>
                <a:ext uri="{FF2B5EF4-FFF2-40B4-BE49-F238E27FC236}">
                  <a16:creationId xmlns:a16="http://schemas.microsoft.com/office/drawing/2014/main" id="{B23AB172-59BF-BA2F-3187-6536C67EF39F}"/>
                </a:ext>
              </a:extLst>
            </p:cNvPr>
            <p:cNvCxnSpPr/>
            <p:nvPr/>
          </p:nvCxnSpPr>
          <p:spPr>
            <a:xfrm>
              <a:off x="10616317" y="1971924"/>
              <a:ext cx="0" cy="298173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C8738F1C-FF37-5FE3-C721-8A4CD1E9E2FF}"/>
                </a:ext>
              </a:extLst>
            </p:cNvPr>
            <p:cNvSpPr txBox="1"/>
            <p:nvPr/>
          </p:nvSpPr>
          <p:spPr>
            <a:xfrm>
              <a:off x="10500444" y="4878702"/>
              <a:ext cx="821059" cy="369332"/>
            </a:xfrm>
            <a:prstGeom prst="rect">
              <a:avLst/>
            </a:prstGeom>
            <a:noFill/>
          </p:spPr>
          <p:txBody>
            <a:bodyPr wrap="none" rtlCol="0">
              <a:spAutoFit/>
            </a:bodyPr>
            <a:lstStyle/>
            <a:p>
              <a:r>
                <a:rPr lang="en-US" altLang="zh-CN" dirty="0"/>
                <a:t>(x1,y1)</a:t>
              </a:r>
              <a:endParaRPr lang="zh-CN" altLang="en-US" dirty="0"/>
            </a:p>
          </p:txBody>
        </p:sp>
        <p:sp>
          <p:nvSpPr>
            <p:cNvPr id="22" name="文本框 21">
              <a:extLst>
                <a:ext uri="{FF2B5EF4-FFF2-40B4-BE49-F238E27FC236}">
                  <a16:creationId xmlns:a16="http://schemas.microsoft.com/office/drawing/2014/main" id="{56389DF2-5422-922F-E370-AC5B764CD53B}"/>
                </a:ext>
              </a:extLst>
            </p:cNvPr>
            <p:cNvSpPr txBox="1"/>
            <p:nvPr/>
          </p:nvSpPr>
          <p:spPr>
            <a:xfrm>
              <a:off x="7401627" y="1741336"/>
              <a:ext cx="821059" cy="369332"/>
            </a:xfrm>
            <a:prstGeom prst="rect">
              <a:avLst/>
            </a:prstGeom>
            <a:noFill/>
          </p:spPr>
          <p:txBody>
            <a:bodyPr wrap="none" rtlCol="0">
              <a:spAutoFit/>
            </a:bodyPr>
            <a:lstStyle/>
            <a:p>
              <a:r>
                <a:rPr lang="en-US" altLang="zh-CN" dirty="0"/>
                <a:t>(x2,y2)</a:t>
              </a:r>
              <a:endParaRPr lang="zh-CN" altLang="en-US" dirty="0"/>
            </a:p>
          </p:txBody>
        </p:sp>
        <p:sp>
          <p:nvSpPr>
            <p:cNvPr id="23" name="文本框 22">
              <a:extLst>
                <a:ext uri="{FF2B5EF4-FFF2-40B4-BE49-F238E27FC236}">
                  <a16:creationId xmlns:a16="http://schemas.microsoft.com/office/drawing/2014/main" id="{9BFB5510-0A13-7FAE-EF4A-CC1DBCDF3B15}"/>
                </a:ext>
              </a:extLst>
            </p:cNvPr>
            <p:cNvSpPr txBox="1"/>
            <p:nvPr/>
          </p:nvSpPr>
          <p:spPr>
            <a:xfrm>
              <a:off x="7417818" y="4967318"/>
              <a:ext cx="821059" cy="369332"/>
            </a:xfrm>
            <a:prstGeom prst="rect">
              <a:avLst/>
            </a:prstGeom>
            <a:noFill/>
          </p:spPr>
          <p:txBody>
            <a:bodyPr wrap="none" rtlCol="0">
              <a:spAutoFit/>
            </a:bodyPr>
            <a:lstStyle/>
            <a:p>
              <a:r>
                <a:rPr lang="en-US" altLang="zh-CN" dirty="0"/>
                <a:t>(x1,y1)</a:t>
              </a:r>
              <a:endParaRPr lang="zh-CN" altLang="en-US" dirty="0"/>
            </a:p>
          </p:txBody>
        </p:sp>
        <p:sp>
          <p:nvSpPr>
            <p:cNvPr id="24" name="文本框 23">
              <a:extLst>
                <a:ext uri="{FF2B5EF4-FFF2-40B4-BE49-F238E27FC236}">
                  <a16:creationId xmlns:a16="http://schemas.microsoft.com/office/drawing/2014/main" id="{F6442734-5E6E-9617-C153-7D698C6C9733}"/>
                </a:ext>
              </a:extLst>
            </p:cNvPr>
            <p:cNvSpPr txBox="1"/>
            <p:nvPr/>
          </p:nvSpPr>
          <p:spPr>
            <a:xfrm>
              <a:off x="10500445" y="1662954"/>
              <a:ext cx="821059" cy="369332"/>
            </a:xfrm>
            <a:prstGeom prst="rect">
              <a:avLst/>
            </a:prstGeom>
            <a:noFill/>
          </p:spPr>
          <p:txBody>
            <a:bodyPr wrap="none" rtlCol="0">
              <a:spAutoFit/>
            </a:bodyPr>
            <a:lstStyle/>
            <a:p>
              <a:r>
                <a:rPr lang="en-US" altLang="zh-CN" dirty="0"/>
                <a:t>(x2,y2)</a:t>
              </a:r>
              <a:endParaRPr lang="zh-CN" altLang="en-US" dirty="0"/>
            </a:p>
          </p:txBody>
        </p:sp>
        <p:cxnSp>
          <p:nvCxnSpPr>
            <p:cNvPr id="29" name="直接连接符 28">
              <a:extLst>
                <a:ext uri="{FF2B5EF4-FFF2-40B4-BE49-F238E27FC236}">
                  <a16:creationId xmlns:a16="http://schemas.microsoft.com/office/drawing/2014/main" id="{AE10818C-0666-1110-4183-3D3635FB4D86}"/>
                </a:ext>
              </a:extLst>
            </p:cNvPr>
            <p:cNvCxnSpPr/>
            <p:nvPr/>
          </p:nvCxnSpPr>
          <p:spPr>
            <a:xfrm>
              <a:off x="8667585" y="2234317"/>
              <a:ext cx="143123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ABE042BD-37C3-AE12-7027-1DED7DC598FB}"/>
                </a:ext>
              </a:extLst>
            </p:cNvPr>
            <p:cNvSpPr txBox="1"/>
            <p:nvPr/>
          </p:nvSpPr>
          <p:spPr>
            <a:xfrm>
              <a:off x="8297188" y="2255003"/>
              <a:ext cx="821059" cy="369332"/>
            </a:xfrm>
            <a:prstGeom prst="rect">
              <a:avLst/>
            </a:prstGeom>
            <a:noFill/>
          </p:spPr>
          <p:txBody>
            <a:bodyPr wrap="none" rtlCol="0">
              <a:spAutoFit/>
            </a:bodyPr>
            <a:lstStyle/>
            <a:p>
              <a:r>
                <a:rPr lang="en-US" altLang="zh-CN" dirty="0"/>
                <a:t>(x1,y1)</a:t>
              </a:r>
              <a:endParaRPr lang="zh-CN" altLang="en-US" dirty="0"/>
            </a:p>
          </p:txBody>
        </p:sp>
        <p:sp>
          <p:nvSpPr>
            <p:cNvPr id="31" name="文本框 30">
              <a:extLst>
                <a:ext uri="{FF2B5EF4-FFF2-40B4-BE49-F238E27FC236}">
                  <a16:creationId xmlns:a16="http://schemas.microsoft.com/office/drawing/2014/main" id="{AFA49831-8103-2535-78C5-0E46EADC2F83}"/>
                </a:ext>
              </a:extLst>
            </p:cNvPr>
            <p:cNvSpPr txBox="1"/>
            <p:nvPr/>
          </p:nvSpPr>
          <p:spPr>
            <a:xfrm>
              <a:off x="9670279" y="2190988"/>
              <a:ext cx="821059" cy="369332"/>
            </a:xfrm>
            <a:prstGeom prst="rect">
              <a:avLst/>
            </a:prstGeom>
            <a:noFill/>
          </p:spPr>
          <p:txBody>
            <a:bodyPr wrap="none" rtlCol="0">
              <a:spAutoFit/>
            </a:bodyPr>
            <a:lstStyle/>
            <a:p>
              <a:r>
                <a:rPr lang="en-US" altLang="zh-CN" dirty="0"/>
                <a:t>(x2,y2)</a:t>
              </a:r>
              <a:endParaRPr lang="zh-CN" altLang="en-US" dirty="0"/>
            </a:p>
          </p:txBody>
        </p:sp>
        <p:cxnSp>
          <p:nvCxnSpPr>
            <p:cNvPr id="32" name="直接连接符 31">
              <a:extLst>
                <a:ext uri="{FF2B5EF4-FFF2-40B4-BE49-F238E27FC236}">
                  <a16:creationId xmlns:a16="http://schemas.microsoft.com/office/drawing/2014/main" id="{5F51EB72-B549-9277-999D-D624C921EB5F}"/>
                </a:ext>
              </a:extLst>
            </p:cNvPr>
            <p:cNvCxnSpPr>
              <a:cxnSpLocks/>
            </p:cNvCxnSpPr>
            <p:nvPr/>
          </p:nvCxnSpPr>
          <p:spPr>
            <a:xfrm>
              <a:off x="7625301" y="4477910"/>
              <a:ext cx="384448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2A724860-A3D5-661C-0D0F-0BFE5186F469}"/>
                </a:ext>
              </a:extLst>
            </p:cNvPr>
            <p:cNvSpPr txBox="1"/>
            <p:nvPr/>
          </p:nvSpPr>
          <p:spPr>
            <a:xfrm>
              <a:off x="6971970" y="4257058"/>
              <a:ext cx="821059" cy="369332"/>
            </a:xfrm>
            <a:prstGeom prst="rect">
              <a:avLst/>
            </a:prstGeom>
            <a:noFill/>
          </p:spPr>
          <p:txBody>
            <a:bodyPr wrap="none" rtlCol="0">
              <a:spAutoFit/>
            </a:bodyPr>
            <a:lstStyle/>
            <a:p>
              <a:r>
                <a:rPr lang="en-US" altLang="zh-CN" dirty="0"/>
                <a:t>(x1,y1)</a:t>
              </a:r>
              <a:endParaRPr lang="zh-CN" altLang="en-US" dirty="0"/>
            </a:p>
          </p:txBody>
        </p:sp>
        <p:sp>
          <p:nvSpPr>
            <p:cNvPr id="36" name="文本框 35">
              <a:extLst>
                <a:ext uri="{FF2B5EF4-FFF2-40B4-BE49-F238E27FC236}">
                  <a16:creationId xmlns:a16="http://schemas.microsoft.com/office/drawing/2014/main" id="{71335C23-8DBC-CD16-7CDD-6AC93362E852}"/>
                </a:ext>
              </a:extLst>
            </p:cNvPr>
            <p:cNvSpPr txBox="1"/>
            <p:nvPr/>
          </p:nvSpPr>
          <p:spPr>
            <a:xfrm>
              <a:off x="11342850" y="4257058"/>
              <a:ext cx="821059" cy="369332"/>
            </a:xfrm>
            <a:prstGeom prst="rect">
              <a:avLst/>
            </a:prstGeom>
            <a:noFill/>
          </p:spPr>
          <p:txBody>
            <a:bodyPr wrap="none" rtlCol="0">
              <a:spAutoFit/>
            </a:bodyPr>
            <a:lstStyle/>
            <a:p>
              <a:r>
                <a:rPr lang="en-US" altLang="zh-CN" dirty="0"/>
                <a:t>(x2,y2)</a:t>
              </a:r>
              <a:endParaRPr lang="zh-CN" altLang="en-US" dirty="0"/>
            </a:p>
          </p:txBody>
        </p:sp>
        <p:sp>
          <p:nvSpPr>
            <p:cNvPr id="37" name="文本框 36">
              <a:extLst>
                <a:ext uri="{FF2B5EF4-FFF2-40B4-BE49-F238E27FC236}">
                  <a16:creationId xmlns:a16="http://schemas.microsoft.com/office/drawing/2014/main" id="{B33F39C0-CE0A-AC09-9B71-08EEEB9B91B8}"/>
                </a:ext>
              </a:extLst>
            </p:cNvPr>
            <p:cNvSpPr txBox="1"/>
            <p:nvPr/>
          </p:nvSpPr>
          <p:spPr>
            <a:xfrm>
              <a:off x="7559012" y="3234589"/>
              <a:ext cx="1326004" cy="369332"/>
            </a:xfrm>
            <a:prstGeom prst="rect">
              <a:avLst/>
            </a:prstGeom>
            <a:noFill/>
          </p:spPr>
          <p:txBody>
            <a:bodyPr wrap="none" rtlCol="0">
              <a:spAutoFit/>
            </a:bodyPr>
            <a:lstStyle/>
            <a:p>
              <a:r>
                <a:rPr lang="en-US" altLang="zh-CN" dirty="0"/>
                <a:t>(d1=0,q1&lt;0)</a:t>
              </a:r>
              <a:endParaRPr lang="zh-CN" altLang="en-US" dirty="0"/>
            </a:p>
          </p:txBody>
        </p:sp>
        <p:sp>
          <p:nvSpPr>
            <p:cNvPr id="38" name="文本框 37">
              <a:extLst>
                <a:ext uri="{FF2B5EF4-FFF2-40B4-BE49-F238E27FC236}">
                  <a16:creationId xmlns:a16="http://schemas.microsoft.com/office/drawing/2014/main" id="{A336B8D9-5BD6-81EC-FCCE-A018F7215EFD}"/>
                </a:ext>
              </a:extLst>
            </p:cNvPr>
            <p:cNvSpPr txBox="1"/>
            <p:nvPr/>
          </p:nvSpPr>
          <p:spPr>
            <a:xfrm>
              <a:off x="10436626" y="3179398"/>
              <a:ext cx="1326004" cy="369332"/>
            </a:xfrm>
            <a:prstGeom prst="rect">
              <a:avLst/>
            </a:prstGeom>
            <a:noFill/>
          </p:spPr>
          <p:txBody>
            <a:bodyPr wrap="none" rtlCol="0">
              <a:spAutoFit/>
            </a:bodyPr>
            <a:lstStyle/>
            <a:p>
              <a:r>
                <a:rPr lang="en-US" altLang="zh-CN" dirty="0"/>
                <a:t>(d2=0,q2&lt;0)</a:t>
              </a:r>
              <a:endParaRPr lang="zh-CN" altLang="en-US" dirty="0"/>
            </a:p>
          </p:txBody>
        </p:sp>
        <p:sp>
          <p:nvSpPr>
            <p:cNvPr id="39" name="文本框 38">
              <a:extLst>
                <a:ext uri="{FF2B5EF4-FFF2-40B4-BE49-F238E27FC236}">
                  <a16:creationId xmlns:a16="http://schemas.microsoft.com/office/drawing/2014/main" id="{7B3C92AF-BDC5-2FEB-465A-4404260E6CC8}"/>
                </a:ext>
              </a:extLst>
            </p:cNvPr>
            <p:cNvSpPr txBox="1"/>
            <p:nvPr/>
          </p:nvSpPr>
          <p:spPr>
            <a:xfrm>
              <a:off x="8702417" y="4402111"/>
              <a:ext cx="1326004" cy="369332"/>
            </a:xfrm>
            <a:prstGeom prst="rect">
              <a:avLst/>
            </a:prstGeom>
            <a:noFill/>
          </p:spPr>
          <p:txBody>
            <a:bodyPr wrap="none" rtlCol="0">
              <a:spAutoFit/>
            </a:bodyPr>
            <a:lstStyle/>
            <a:p>
              <a:r>
                <a:rPr lang="en-US" altLang="zh-CN" dirty="0"/>
                <a:t>(d3=0,q3&lt;0)</a:t>
              </a:r>
              <a:endParaRPr lang="zh-CN" altLang="en-US" dirty="0"/>
            </a:p>
          </p:txBody>
        </p:sp>
        <p:sp>
          <p:nvSpPr>
            <p:cNvPr id="40" name="文本框 39">
              <a:extLst>
                <a:ext uri="{FF2B5EF4-FFF2-40B4-BE49-F238E27FC236}">
                  <a16:creationId xmlns:a16="http://schemas.microsoft.com/office/drawing/2014/main" id="{3FBC9D15-3CF9-D76A-9A7A-6C3E384A85F6}"/>
                </a:ext>
              </a:extLst>
            </p:cNvPr>
            <p:cNvSpPr txBox="1"/>
            <p:nvPr/>
          </p:nvSpPr>
          <p:spPr>
            <a:xfrm>
              <a:off x="8736232" y="1843248"/>
              <a:ext cx="1326004" cy="369332"/>
            </a:xfrm>
            <a:prstGeom prst="rect">
              <a:avLst/>
            </a:prstGeom>
            <a:noFill/>
          </p:spPr>
          <p:txBody>
            <a:bodyPr wrap="none" rtlCol="0">
              <a:spAutoFit/>
            </a:bodyPr>
            <a:lstStyle/>
            <a:p>
              <a:r>
                <a:rPr lang="en-US" altLang="zh-CN" dirty="0"/>
                <a:t>(d4=0,q4&lt;0)</a:t>
              </a:r>
              <a:endParaRPr lang="zh-CN" altLang="en-US" dirty="0"/>
            </a:p>
          </p:txBody>
        </p:sp>
      </p:grpSp>
    </p:spTree>
    <p:extLst>
      <p:ext uri="{BB962C8B-B14F-4D97-AF65-F5344CB8AC3E}">
        <p14:creationId xmlns:p14="http://schemas.microsoft.com/office/powerpoint/2010/main" val="35869665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82415" y="682818"/>
            <a:ext cx="6721783" cy="5623559"/>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(2) </a:t>
            </a:r>
            <a:r>
              <a:rPr lang="zh-CN" altLang="en-US" dirty="0">
                <a:latin typeface="华光仿宋_CNKI" panose="02000500000000000000" pitchFamily="2" charset="-122"/>
                <a:ea typeface="华光仿宋_CNKI" panose="02000500000000000000" pitchFamily="2" charset="-122"/>
              </a:rPr>
              <a:t>如果</a:t>
            </a:r>
            <a:r>
              <a:rPr lang="en-US" altLang="zh-CN" dirty="0">
                <a:latin typeface="华光仿宋_CNKI" panose="02000500000000000000" pitchFamily="2" charset="-122"/>
                <a:ea typeface="华光仿宋_CNKI" panose="02000500000000000000" pitchFamily="2" charset="-122"/>
              </a:rPr>
              <a:t>d1&lt;0,</a:t>
            </a:r>
            <a:r>
              <a:rPr lang="zh-CN" altLang="en-US" dirty="0">
                <a:latin typeface="华光仿宋_CNKI" panose="02000500000000000000" pitchFamily="2" charset="-122"/>
                <a:ea typeface="华光仿宋_CNKI" panose="02000500000000000000" pitchFamily="2" charset="-122"/>
              </a:rPr>
              <a:t>显然</a:t>
            </a:r>
            <a:r>
              <a:rPr lang="en-US" altLang="zh-CN" dirty="0">
                <a:latin typeface="华光仿宋_CNKI" panose="02000500000000000000" pitchFamily="2" charset="-122"/>
                <a:ea typeface="华光仿宋_CNKI" panose="02000500000000000000" pitchFamily="2" charset="-122"/>
              </a:rPr>
              <a:t>d2&gt;0</a:t>
            </a:r>
            <a:r>
              <a:rPr lang="zh-CN" altLang="en-US" dirty="0">
                <a:latin typeface="华光仿宋_CNKI" panose="02000500000000000000" pitchFamily="2" charset="-122"/>
                <a:ea typeface="华光仿宋_CNKI" panose="02000500000000000000" pitchFamily="2" charset="-122"/>
              </a:rPr>
              <a:t>，此时要满足在区域内，必须：</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t1&gt;=q1/d1</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t2&lt;=q2/d2</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因此</a:t>
            </a:r>
            <a:r>
              <a:rPr lang="en-US" altLang="zh-CN" dirty="0">
                <a:latin typeface="华光仿宋_CNKI" panose="02000500000000000000" pitchFamily="2" charset="-122"/>
                <a:ea typeface="华光仿宋_CNKI" panose="02000500000000000000" pitchFamily="2" charset="-122"/>
              </a:rPr>
              <a:t>t1</a:t>
            </a:r>
            <a:r>
              <a:rPr lang="zh-CN" altLang="en-US" dirty="0">
                <a:latin typeface="华光仿宋_CNKI" panose="02000500000000000000" pitchFamily="2" charset="-122"/>
                <a:ea typeface="华光仿宋_CNKI" panose="02000500000000000000" pitchFamily="2" charset="-122"/>
              </a:rPr>
              <a:t>取较大的值，形成左端点的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投影的比例值，</a:t>
            </a:r>
            <a:r>
              <a:rPr lang="en-US" altLang="zh-CN" dirty="0">
                <a:latin typeface="华光仿宋_CNKI" panose="02000500000000000000" pitchFamily="2" charset="-122"/>
                <a:ea typeface="华光仿宋_CNKI" panose="02000500000000000000" pitchFamily="2" charset="-122"/>
              </a:rPr>
              <a:t>t2</a:t>
            </a:r>
            <a:r>
              <a:rPr lang="zh-CN" altLang="en-US" dirty="0">
                <a:latin typeface="华光仿宋_CNKI" panose="02000500000000000000" pitchFamily="2" charset="-122"/>
                <a:ea typeface="华光仿宋_CNKI" panose="02000500000000000000" pitchFamily="2" charset="-122"/>
              </a:rPr>
              <a:t>取较小的值，形成右端点的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投影的比例值；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反之，则正好相反。</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grpSp>
        <p:nvGrpSpPr>
          <p:cNvPr id="41" name="组合 40">
            <a:extLst>
              <a:ext uri="{FF2B5EF4-FFF2-40B4-BE49-F238E27FC236}">
                <a16:creationId xmlns:a16="http://schemas.microsoft.com/office/drawing/2014/main" id="{8F6BF213-51DB-F5B0-6E35-9DAE8B5C83EF}"/>
              </a:ext>
            </a:extLst>
          </p:cNvPr>
          <p:cNvGrpSpPr/>
          <p:nvPr/>
        </p:nvGrpSpPr>
        <p:grpSpPr>
          <a:xfrm>
            <a:off x="7382872" y="1539434"/>
            <a:ext cx="4489782" cy="3620290"/>
            <a:chOff x="7155999" y="1741336"/>
            <a:chExt cx="4489782" cy="3620290"/>
          </a:xfrm>
        </p:grpSpPr>
        <p:cxnSp>
          <p:nvCxnSpPr>
            <p:cNvPr id="6" name="直接连接符 5">
              <a:extLst>
                <a:ext uri="{FF2B5EF4-FFF2-40B4-BE49-F238E27FC236}">
                  <a16:creationId xmlns:a16="http://schemas.microsoft.com/office/drawing/2014/main" id="{E6D3A9C0-1413-090E-9E09-C28D44089A30}"/>
                </a:ext>
              </a:extLst>
            </p:cNvPr>
            <p:cNvCxnSpPr>
              <a:cxnSpLocks/>
            </p:cNvCxnSpPr>
            <p:nvPr/>
          </p:nvCxnSpPr>
          <p:spPr>
            <a:xfrm>
              <a:off x="7625301" y="2655736"/>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26D44F3-623C-20A4-351E-931FAAE2C8F2}"/>
                </a:ext>
              </a:extLst>
            </p:cNvPr>
            <p:cNvCxnSpPr/>
            <p:nvPr/>
          </p:nvCxnSpPr>
          <p:spPr>
            <a:xfrm>
              <a:off x="8547652" y="17413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BB29DE0-7931-8AD3-5F47-C046811C8321}"/>
                </a:ext>
              </a:extLst>
            </p:cNvPr>
            <p:cNvCxnSpPr>
              <a:cxnSpLocks/>
            </p:cNvCxnSpPr>
            <p:nvPr/>
          </p:nvCxnSpPr>
          <p:spPr>
            <a:xfrm>
              <a:off x="7625301" y="4072392"/>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3FA91F4-2EF6-9C80-F95C-9AFDA0F7AD74}"/>
                </a:ext>
              </a:extLst>
            </p:cNvPr>
            <p:cNvCxnSpPr/>
            <p:nvPr/>
          </p:nvCxnSpPr>
          <p:spPr>
            <a:xfrm>
              <a:off x="10155141" y="18228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8881CC7-B6FE-E877-026F-04BDD16CBC65}"/>
                </a:ext>
              </a:extLst>
            </p:cNvPr>
            <p:cNvSpPr txBox="1"/>
            <p:nvPr/>
          </p:nvSpPr>
          <p:spPr>
            <a:xfrm>
              <a:off x="8419298" y="4926631"/>
              <a:ext cx="402674" cy="369332"/>
            </a:xfrm>
            <a:prstGeom prst="rect">
              <a:avLst/>
            </a:prstGeom>
            <a:noFill/>
          </p:spPr>
          <p:txBody>
            <a:bodyPr wrap="none" rtlCol="0">
              <a:spAutoFit/>
            </a:bodyPr>
            <a:lstStyle/>
            <a:p>
              <a:r>
                <a:rPr lang="en-US" altLang="zh-CN" dirty="0"/>
                <a:t>XL</a:t>
              </a:r>
              <a:endParaRPr lang="zh-CN" altLang="en-US" dirty="0"/>
            </a:p>
          </p:txBody>
        </p:sp>
        <p:sp>
          <p:nvSpPr>
            <p:cNvPr id="17" name="文本框 16">
              <a:extLst>
                <a:ext uri="{FF2B5EF4-FFF2-40B4-BE49-F238E27FC236}">
                  <a16:creationId xmlns:a16="http://schemas.microsoft.com/office/drawing/2014/main" id="{653A2073-5972-056D-267D-E0917A0CDAAD}"/>
                </a:ext>
              </a:extLst>
            </p:cNvPr>
            <p:cNvSpPr txBox="1"/>
            <p:nvPr/>
          </p:nvSpPr>
          <p:spPr>
            <a:xfrm>
              <a:off x="9940178" y="4992294"/>
              <a:ext cx="429926" cy="369332"/>
            </a:xfrm>
            <a:prstGeom prst="rect">
              <a:avLst/>
            </a:prstGeom>
            <a:noFill/>
          </p:spPr>
          <p:txBody>
            <a:bodyPr wrap="none" rtlCol="0">
              <a:spAutoFit/>
            </a:bodyPr>
            <a:lstStyle/>
            <a:p>
              <a:r>
                <a:rPr lang="en-US" altLang="zh-CN" dirty="0"/>
                <a:t>XR</a:t>
              </a:r>
              <a:endParaRPr lang="zh-CN" altLang="en-US" dirty="0"/>
            </a:p>
          </p:txBody>
        </p:sp>
        <p:sp>
          <p:nvSpPr>
            <p:cNvPr id="18" name="文本框 17">
              <a:extLst>
                <a:ext uri="{FF2B5EF4-FFF2-40B4-BE49-F238E27FC236}">
                  <a16:creationId xmlns:a16="http://schemas.microsoft.com/office/drawing/2014/main" id="{DCEF6561-B9F2-337E-8192-F63A4DB50F03}"/>
                </a:ext>
              </a:extLst>
            </p:cNvPr>
            <p:cNvSpPr txBox="1"/>
            <p:nvPr/>
          </p:nvSpPr>
          <p:spPr>
            <a:xfrm>
              <a:off x="10837744" y="2499530"/>
              <a:ext cx="409086" cy="369332"/>
            </a:xfrm>
            <a:prstGeom prst="rect">
              <a:avLst/>
            </a:prstGeom>
            <a:noFill/>
          </p:spPr>
          <p:txBody>
            <a:bodyPr wrap="none" rtlCol="0">
              <a:spAutoFit/>
            </a:bodyPr>
            <a:lstStyle/>
            <a:p>
              <a:r>
                <a:rPr lang="en-US" altLang="zh-CN" dirty="0"/>
                <a:t>YT</a:t>
              </a:r>
              <a:endParaRPr lang="zh-CN" altLang="en-US" dirty="0"/>
            </a:p>
          </p:txBody>
        </p:sp>
        <p:sp>
          <p:nvSpPr>
            <p:cNvPr id="19" name="文本框 18">
              <a:extLst>
                <a:ext uri="{FF2B5EF4-FFF2-40B4-BE49-F238E27FC236}">
                  <a16:creationId xmlns:a16="http://schemas.microsoft.com/office/drawing/2014/main" id="{6E5746AE-8EA0-7F1F-5D58-E1784BBAA078}"/>
                </a:ext>
              </a:extLst>
            </p:cNvPr>
            <p:cNvSpPr txBox="1"/>
            <p:nvPr/>
          </p:nvSpPr>
          <p:spPr>
            <a:xfrm>
              <a:off x="10824920" y="3886013"/>
              <a:ext cx="421910" cy="369332"/>
            </a:xfrm>
            <a:prstGeom prst="rect">
              <a:avLst/>
            </a:prstGeom>
            <a:noFill/>
          </p:spPr>
          <p:txBody>
            <a:bodyPr wrap="none" rtlCol="0">
              <a:spAutoFit/>
            </a:bodyPr>
            <a:lstStyle/>
            <a:p>
              <a:r>
                <a:rPr lang="en-US" altLang="zh-CN" dirty="0"/>
                <a:t>YB</a:t>
              </a:r>
              <a:endParaRPr lang="zh-CN" altLang="en-US" dirty="0"/>
            </a:p>
          </p:txBody>
        </p:sp>
        <p:cxnSp>
          <p:nvCxnSpPr>
            <p:cNvPr id="32" name="直接连接符 31">
              <a:extLst>
                <a:ext uri="{FF2B5EF4-FFF2-40B4-BE49-F238E27FC236}">
                  <a16:creationId xmlns:a16="http://schemas.microsoft.com/office/drawing/2014/main" id="{5F51EB72-B549-9277-999D-D624C921EB5F}"/>
                </a:ext>
              </a:extLst>
            </p:cNvPr>
            <p:cNvCxnSpPr>
              <a:cxnSpLocks/>
            </p:cNvCxnSpPr>
            <p:nvPr/>
          </p:nvCxnSpPr>
          <p:spPr>
            <a:xfrm flipV="1">
              <a:off x="7625301" y="1822836"/>
              <a:ext cx="3199619" cy="265507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2A724860-A3D5-661C-0D0F-0BFE5186F469}"/>
                </a:ext>
              </a:extLst>
            </p:cNvPr>
            <p:cNvSpPr txBox="1"/>
            <p:nvPr/>
          </p:nvSpPr>
          <p:spPr>
            <a:xfrm>
              <a:off x="7155999" y="4449450"/>
              <a:ext cx="954107" cy="369332"/>
            </a:xfrm>
            <a:prstGeom prst="rect">
              <a:avLst/>
            </a:prstGeom>
            <a:noFill/>
          </p:spPr>
          <p:txBody>
            <a:bodyPr wrap="none" rtlCol="0">
              <a:spAutoFit/>
            </a:bodyPr>
            <a:lstStyle/>
            <a:p>
              <a:r>
                <a:rPr lang="en-US" altLang="zh-CN" dirty="0"/>
                <a:t>A(x1,y1)</a:t>
              </a:r>
              <a:endParaRPr lang="zh-CN" altLang="en-US" dirty="0"/>
            </a:p>
          </p:txBody>
        </p:sp>
        <p:sp>
          <p:nvSpPr>
            <p:cNvPr id="36" name="文本框 35">
              <a:extLst>
                <a:ext uri="{FF2B5EF4-FFF2-40B4-BE49-F238E27FC236}">
                  <a16:creationId xmlns:a16="http://schemas.microsoft.com/office/drawing/2014/main" id="{71335C23-8DBC-CD16-7CDD-6AC93362E852}"/>
                </a:ext>
              </a:extLst>
            </p:cNvPr>
            <p:cNvSpPr txBox="1"/>
            <p:nvPr/>
          </p:nvSpPr>
          <p:spPr>
            <a:xfrm>
              <a:off x="10699688" y="1822836"/>
              <a:ext cx="946093" cy="369332"/>
            </a:xfrm>
            <a:prstGeom prst="rect">
              <a:avLst/>
            </a:prstGeom>
            <a:noFill/>
          </p:spPr>
          <p:txBody>
            <a:bodyPr wrap="none" rtlCol="0">
              <a:spAutoFit/>
            </a:bodyPr>
            <a:lstStyle/>
            <a:p>
              <a:r>
                <a:rPr lang="en-US" altLang="zh-CN" dirty="0"/>
                <a:t>B(x2,y2)</a:t>
              </a:r>
              <a:endParaRPr lang="zh-CN" altLang="en-US" dirty="0"/>
            </a:p>
          </p:txBody>
        </p:sp>
      </p:grpSp>
      <p:sp>
        <p:nvSpPr>
          <p:cNvPr id="2" name="文本框 1">
            <a:extLst>
              <a:ext uri="{FF2B5EF4-FFF2-40B4-BE49-F238E27FC236}">
                <a16:creationId xmlns:a16="http://schemas.microsoft.com/office/drawing/2014/main" id="{2B774BC8-0942-E705-345E-2C88310DA7F7}"/>
              </a:ext>
            </a:extLst>
          </p:cNvPr>
          <p:cNvSpPr txBox="1"/>
          <p:nvPr/>
        </p:nvSpPr>
        <p:spPr>
          <a:xfrm>
            <a:off x="8501270" y="3255333"/>
            <a:ext cx="309700" cy="369332"/>
          </a:xfrm>
          <a:prstGeom prst="rect">
            <a:avLst/>
          </a:prstGeom>
          <a:noFill/>
        </p:spPr>
        <p:txBody>
          <a:bodyPr wrap="none" rtlCol="0">
            <a:spAutoFit/>
          </a:bodyPr>
          <a:lstStyle/>
          <a:p>
            <a:r>
              <a:rPr lang="en-US" altLang="zh-CN" dirty="0"/>
              <a:t>R</a:t>
            </a:r>
            <a:endParaRPr lang="zh-CN" altLang="en-US" dirty="0"/>
          </a:p>
        </p:txBody>
      </p:sp>
      <p:sp>
        <p:nvSpPr>
          <p:cNvPr id="5" name="文本框 4">
            <a:extLst>
              <a:ext uri="{FF2B5EF4-FFF2-40B4-BE49-F238E27FC236}">
                <a16:creationId xmlns:a16="http://schemas.microsoft.com/office/drawing/2014/main" id="{99D9D10C-02C8-3EF7-5F4F-94B68A9556C8}"/>
              </a:ext>
            </a:extLst>
          </p:cNvPr>
          <p:cNvSpPr txBox="1"/>
          <p:nvPr/>
        </p:nvSpPr>
        <p:spPr>
          <a:xfrm>
            <a:off x="8202494" y="3909323"/>
            <a:ext cx="296876" cy="369332"/>
          </a:xfrm>
          <a:prstGeom prst="rect">
            <a:avLst/>
          </a:prstGeom>
          <a:noFill/>
        </p:spPr>
        <p:txBody>
          <a:bodyPr wrap="none" rtlCol="0">
            <a:spAutoFit/>
          </a:bodyPr>
          <a:lstStyle/>
          <a:p>
            <a:r>
              <a:rPr lang="en-US" altLang="zh-CN" dirty="0"/>
              <a:t>T</a:t>
            </a:r>
            <a:endParaRPr lang="zh-CN" altLang="en-US" dirty="0"/>
          </a:p>
        </p:txBody>
      </p:sp>
      <p:sp>
        <p:nvSpPr>
          <p:cNvPr id="7" name="文本框 6">
            <a:extLst>
              <a:ext uri="{FF2B5EF4-FFF2-40B4-BE49-F238E27FC236}">
                <a16:creationId xmlns:a16="http://schemas.microsoft.com/office/drawing/2014/main" id="{129C033D-C0B6-89AB-91E2-E488505DAE9A}"/>
              </a:ext>
            </a:extLst>
          </p:cNvPr>
          <p:cNvSpPr txBox="1"/>
          <p:nvPr/>
        </p:nvSpPr>
        <p:spPr>
          <a:xfrm>
            <a:off x="9837468" y="2123724"/>
            <a:ext cx="332142" cy="369332"/>
          </a:xfrm>
          <a:prstGeom prst="rect">
            <a:avLst/>
          </a:prstGeom>
          <a:noFill/>
        </p:spPr>
        <p:txBody>
          <a:bodyPr wrap="none" rtlCol="0">
            <a:spAutoFit/>
          </a:bodyPr>
          <a:lstStyle/>
          <a:p>
            <a:r>
              <a:rPr lang="en-US" altLang="zh-CN" dirty="0"/>
              <a:t>U</a:t>
            </a:r>
            <a:endParaRPr lang="zh-CN" altLang="en-US" dirty="0"/>
          </a:p>
        </p:txBody>
      </p:sp>
      <p:sp>
        <p:nvSpPr>
          <p:cNvPr id="10" name="文本框 9">
            <a:extLst>
              <a:ext uri="{FF2B5EF4-FFF2-40B4-BE49-F238E27FC236}">
                <a16:creationId xmlns:a16="http://schemas.microsoft.com/office/drawing/2014/main" id="{9127F86E-6A06-F481-BDED-7A2FD62DC526}"/>
              </a:ext>
            </a:extLst>
          </p:cNvPr>
          <p:cNvSpPr txBox="1"/>
          <p:nvPr/>
        </p:nvSpPr>
        <p:spPr>
          <a:xfrm>
            <a:off x="10444532" y="2000067"/>
            <a:ext cx="290464" cy="369332"/>
          </a:xfrm>
          <a:prstGeom prst="rect">
            <a:avLst/>
          </a:prstGeom>
          <a:noFill/>
        </p:spPr>
        <p:txBody>
          <a:bodyPr wrap="none" rtlCol="0">
            <a:spAutoFit/>
          </a:bodyPr>
          <a:lstStyle/>
          <a:p>
            <a:r>
              <a:rPr lang="en-US" altLang="zh-CN" dirty="0"/>
              <a:t>S</a:t>
            </a:r>
            <a:endParaRPr lang="zh-CN" altLang="en-US" dirty="0"/>
          </a:p>
        </p:txBody>
      </p:sp>
      <p:cxnSp>
        <p:nvCxnSpPr>
          <p:cNvPr id="14" name="直接连接符 13">
            <a:extLst>
              <a:ext uri="{FF2B5EF4-FFF2-40B4-BE49-F238E27FC236}">
                <a16:creationId xmlns:a16="http://schemas.microsoft.com/office/drawing/2014/main" id="{821F42F8-0585-2CE8-E050-A0D8E9F84172}"/>
              </a:ext>
            </a:extLst>
          </p:cNvPr>
          <p:cNvCxnSpPr>
            <a:cxnSpLocks/>
          </p:cNvCxnSpPr>
          <p:nvPr/>
        </p:nvCxnSpPr>
        <p:spPr>
          <a:xfrm flipV="1">
            <a:off x="9550129" y="2184733"/>
            <a:ext cx="1630018" cy="15009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E06A47A-9C18-97C1-C448-52A9039719B2}"/>
              </a:ext>
            </a:extLst>
          </p:cNvPr>
          <p:cNvSpPr txBox="1"/>
          <p:nvPr/>
        </p:nvSpPr>
        <p:spPr>
          <a:xfrm>
            <a:off x="9093018" y="3573534"/>
            <a:ext cx="954107" cy="369332"/>
          </a:xfrm>
          <a:prstGeom prst="rect">
            <a:avLst/>
          </a:prstGeom>
          <a:noFill/>
        </p:spPr>
        <p:txBody>
          <a:bodyPr wrap="none" rtlCol="0">
            <a:spAutoFit/>
          </a:bodyPr>
          <a:lstStyle/>
          <a:p>
            <a:r>
              <a:rPr lang="en-US" altLang="zh-CN" dirty="0"/>
              <a:t>A(x1,y1)</a:t>
            </a:r>
            <a:endParaRPr lang="zh-CN" altLang="en-US" dirty="0"/>
          </a:p>
        </p:txBody>
      </p:sp>
      <p:sp>
        <p:nvSpPr>
          <p:cNvPr id="20" name="文本框 19">
            <a:extLst>
              <a:ext uri="{FF2B5EF4-FFF2-40B4-BE49-F238E27FC236}">
                <a16:creationId xmlns:a16="http://schemas.microsoft.com/office/drawing/2014/main" id="{4E0C9F72-B08A-B9F8-E62E-BF8DB26D3100}"/>
              </a:ext>
            </a:extLst>
          </p:cNvPr>
          <p:cNvSpPr txBox="1"/>
          <p:nvPr/>
        </p:nvSpPr>
        <p:spPr>
          <a:xfrm>
            <a:off x="11198677" y="2051275"/>
            <a:ext cx="946093" cy="369332"/>
          </a:xfrm>
          <a:prstGeom prst="rect">
            <a:avLst/>
          </a:prstGeom>
          <a:noFill/>
        </p:spPr>
        <p:txBody>
          <a:bodyPr wrap="none" rtlCol="0">
            <a:spAutoFit/>
          </a:bodyPr>
          <a:lstStyle/>
          <a:p>
            <a:r>
              <a:rPr lang="en-US" altLang="zh-CN" dirty="0"/>
              <a:t>B(x2,y2)</a:t>
            </a:r>
            <a:endParaRPr lang="zh-CN" altLang="en-US" dirty="0"/>
          </a:p>
        </p:txBody>
      </p:sp>
      <p:cxnSp>
        <p:nvCxnSpPr>
          <p:cNvPr id="21" name="直接连接符 20">
            <a:extLst>
              <a:ext uri="{FF2B5EF4-FFF2-40B4-BE49-F238E27FC236}">
                <a16:creationId xmlns:a16="http://schemas.microsoft.com/office/drawing/2014/main" id="{7A4F64AD-58A2-0E12-889B-219CE8B584A6}"/>
              </a:ext>
            </a:extLst>
          </p:cNvPr>
          <p:cNvCxnSpPr>
            <a:cxnSpLocks/>
          </p:cNvCxnSpPr>
          <p:nvPr/>
        </p:nvCxnSpPr>
        <p:spPr>
          <a:xfrm flipV="1">
            <a:off x="8043358" y="2605407"/>
            <a:ext cx="1084861" cy="66731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323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4648" y="586100"/>
            <a:ext cx="7560947" cy="5685800"/>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同样对于</a:t>
            </a:r>
            <a:r>
              <a:rPr lang="en-US" altLang="zh-CN" dirty="0">
                <a:latin typeface="华光仿宋_CNKI" panose="02000500000000000000" pitchFamily="2" charset="-122"/>
                <a:ea typeface="华光仿宋_CNKI" panose="02000500000000000000" pitchFamily="2" charset="-122"/>
              </a:rPr>
              <a:t>d3&lt;0,</a:t>
            </a:r>
            <a:r>
              <a:rPr lang="zh-CN" altLang="en-US" dirty="0">
                <a:latin typeface="华光仿宋_CNKI" panose="02000500000000000000" pitchFamily="2" charset="-122"/>
                <a:ea typeface="华光仿宋_CNKI" panose="02000500000000000000" pitchFamily="2" charset="-122"/>
              </a:rPr>
              <a:t>显然</a:t>
            </a:r>
            <a:r>
              <a:rPr lang="en-US" altLang="zh-CN" dirty="0">
                <a:latin typeface="华光仿宋_CNKI" panose="02000500000000000000" pitchFamily="2" charset="-122"/>
                <a:ea typeface="华光仿宋_CNKI" panose="02000500000000000000" pitchFamily="2" charset="-122"/>
              </a:rPr>
              <a:t>d4&gt;0</a:t>
            </a:r>
            <a:r>
              <a:rPr lang="zh-CN" altLang="en-US" dirty="0">
                <a:latin typeface="华光仿宋_CNKI" panose="02000500000000000000" pitchFamily="2" charset="-122"/>
                <a:ea typeface="华光仿宋_CNKI" panose="02000500000000000000" pitchFamily="2" charset="-122"/>
              </a:rPr>
              <a:t>。此时要满足在区域内，必须： </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t3&gt;=q3/d3</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t4&lt;=q4/d4</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因此</a:t>
            </a:r>
            <a:r>
              <a:rPr lang="en-US" altLang="zh-CN" dirty="0">
                <a:latin typeface="华光仿宋_CNKI" panose="02000500000000000000" pitchFamily="2" charset="-122"/>
                <a:ea typeface="华光仿宋_CNKI" panose="02000500000000000000" pitchFamily="2" charset="-122"/>
              </a:rPr>
              <a:t>t3</a:t>
            </a:r>
            <a:r>
              <a:rPr lang="zh-CN" altLang="en-US" dirty="0">
                <a:latin typeface="华光仿宋_CNKI" panose="02000500000000000000" pitchFamily="2" charset="-122"/>
                <a:ea typeface="华光仿宋_CNKI" panose="02000500000000000000" pitchFamily="2" charset="-122"/>
              </a:rPr>
              <a:t>取较大的值，形成左端点</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坐标投影的比例值；</a:t>
            </a:r>
            <a:r>
              <a:rPr lang="en-US" altLang="zh-CN" dirty="0">
                <a:latin typeface="华光仿宋_CNKI" panose="02000500000000000000" pitchFamily="2" charset="-122"/>
                <a:ea typeface="华光仿宋_CNKI" panose="02000500000000000000" pitchFamily="2" charset="-122"/>
              </a:rPr>
              <a:t>t4</a:t>
            </a:r>
            <a:r>
              <a:rPr lang="zh-CN" altLang="en-US" dirty="0">
                <a:latin typeface="华光仿宋_CNKI" panose="02000500000000000000" pitchFamily="2" charset="-122"/>
                <a:ea typeface="华光仿宋_CNKI" panose="02000500000000000000" pitchFamily="2" charset="-122"/>
              </a:rPr>
              <a:t>取较小的值，形成右端点</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坐标投影的比例值；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反之，也正好相反。</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grpSp>
        <p:nvGrpSpPr>
          <p:cNvPr id="41" name="组合 40">
            <a:extLst>
              <a:ext uri="{FF2B5EF4-FFF2-40B4-BE49-F238E27FC236}">
                <a16:creationId xmlns:a16="http://schemas.microsoft.com/office/drawing/2014/main" id="{8F6BF213-51DB-F5B0-6E35-9DAE8B5C83EF}"/>
              </a:ext>
            </a:extLst>
          </p:cNvPr>
          <p:cNvGrpSpPr/>
          <p:nvPr/>
        </p:nvGrpSpPr>
        <p:grpSpPr>
          <a:xfrm>
            <a:off x="8143952" y="1287129"/>
            <a:ext cx="3920827" cy="3786300"/>
            <a:chOff x="7525500" y="1575326"/>
            <a:chExt cx="3920827" cy="3786300"/>
          </a:xfrm>
        </p:grpSpPr>
        <p:cxnSp>
          <p:nvCxnSpPr>
            <p:cNvPr id="6" name="直接连接符 5">
              <a:extLst>
                <a:ext uri="{FF2B5EF4-FFF2-40B4-BE49-F238E27FC236}">
                  <a16:creationId xmlns:a16="http://schemas.microsoft.com/office/drawing/2014/main" id="{E6D3A9C0-1413-090E-9E09-C28D44089A30}"/>
                </a:ext>
              </a:extLst>
            </p:cNvPr>
            <p:cNvCxnSpPr>
              <a:cxnSpLocks/>
            </p:cNvCxnSpPr>
            <p:nvPr/>
          </p:nvCxnSpPr>
          <p:spPr>
            <a:xfrm>
              <a:off x="7625301" y="2655736"/>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26D44F3-623C-20A4-351E-931FAAE2C8F2}"/>
                </a:ext>
              </a:extLst>
            </p:cNvPr>
            <p:cNvCxnSpPr/>
            <p:nvPr/>
          </p:nvCxnSpPr>
          <p:spPr>
            <a:xfrm>
              <a:off x="8547652" y="17413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BB29DE0-7931-8AD3-5F47-C046811C8321}"/>
                </a:ext>
              </a:extLst>
            </p:cNvPr>
            <p:cNvCxnSpPr>
              <a:cxnSpLocks/>
            </p:cNvCxnSpPr>
            <p:nvPr/>
          </p:nvCxnSpPr>
          <p:spPr>
            <a:xfrm>
              <a:off x="7625301" y="4072392"/>
              <a:ext cx="32613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3FA91F4-2EF6-9C80-F95C-9AFDA0F7AD74}"/>
                </a:ext>
              </a:extLst>
            </p:cNvPr>
            <p:cNvCxnSpPr/>
            <p:nvPr/>
          </p:nvCxnSpPr>
          <p:spPr>
            <a:xfrm>
              <a:off x="10155141" y="1822836"/>
              <a:ext cx="0" cy="32123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8881CC7-B6FE-E877-026F-04BDD16CBC65}"/>
                </a:ext>
              </a:extLst>
            </p:cNvPr>
            <p:cNvSpPr txBox="1"/>
            <p:nvPr/>
          </p:nvSpPr>
          <p:spPr>
            <a:xfrm>
              <a:off x="8419298" y="4926631"/>
              <a:ext cx="402674" cy="369332"/>
            </a:xfrm>
            <a:prstGeom prst="rect">
              <a:avLst/>
            </a:prstGeom>
            <a:noFill/>
          </p:spPr>
          <p:txBody>
            <a:bodyPr wrap="none" rtlCol="0">
              <a:spAutoFit/>
            </a:bodyPr>
            <a:lstStyle/>
            <a:p>
              <a:r>
                <a:rPr lang="en-US" altLang="zh-CN" dirty="0"/>
                <a:t>XL</a:t>
              </a:r>
              <a:endParaRPr lang="zh-CN" altLang="en-US" dirty="0"/>
            </a:p>
          </p:txBody>
        </p:sp>
        <p:sp>
          <p:nvSpPr>
            <p:cNvPr id="17" name="文本框 16">
              <a:extLst>
                <a:ext uri="{FF2B5EF4-FFF2-40B4-BE49-F238E27FC236}">
                  <a16:creationId xmlns:a16="http://schemas.microsoft.com/office/drawing/2014/main" id="{653A2073-5972-056D-267D-E0917A0CDAAD}"/>
                </a:ext>
              </a:extLst>
            </p:cNvPr>
            <p:cNvSpPr txBox="1"/>
            <p:nvPr/>
          </p:nvSpPr>
          <p:spPr>
            <a:xfrm>
              <a:off x="9940178" y="4992294"/>
              <a:ext cx="429926" cy="369332"/>
            </a:xfrm>
            <a:prstGeom prst="rect">
              <a:avLst/>
            </a:prstGeom>
            <a:noFill/>
          </p:spPr>
          <p:txBody>
            <a:bodyPr wrap="none" rtlCol="0">
              <a:spAutoFit/>
            </a:bodyPr>
            <a:lstStyle/>
            <a:p>
              <a:r>
                <a:rPr lang="en-US" altLang="zh-CN" dirty="0"/>
                <a:t>XR</a:t>
              </a:r>
              <a:endParaRPr lang="zh-CN" altLang="en-US" dirty="0"/>
            </a:p>
          </p:txBody>
        </p:sp>
        <p:sp>
          <p:nvSpPr>
            <p:cNvPr id="18" name="文本框 17">
              <a:extLst>
                <a:ext uri="{FF2B5EF4-FFF2-40B4-BE49-F238E27FC236}">
                  <a16:creationId xmlns:a16="http://schemas.microsoft.com/office/drawing/2014/main" id="{DCEF6561-B9F2-337E-8192-F63A4DB50F03}"/>
                </a:ext>
              </a:extLst>
            </p:cNvPr>
            <p:cNvSpPr txBox="1"/>
            <p:nvPr/>
          </p:nvSpPr>
          <p:spPr>
            <a:xfrm>
              <a:off x="10837744" y="2499530"/>
              <a:ext cx="409086" cy="369332"/>
            </a:xfrm>
            <a:prstGeom prst="rect">
              <a:avLst/>
            </a:prstGeom>
            <a:noFill/>
          </p:spPr>
          <p:txBody>
            <a:bodyPr wrap="none" rtlCol="0">
              <a:spAutoFit/>
            </a:bodyPr>
            <a:lstStyle/>
            <a:p>
              <a:r>
                <a:rPr lang="en-US" altLang="zh-CN" dirty="0"/>
                <a:t>YT</a:t>
              </a:r>
              <a:endParaRPr lang="zh-CN" altLang="en-US" dirty="0"/>
            </a:p>
          </p:txBody>
        </p:sp>
        <p:sp>
          <p:nvSpPr>
            <p:cNvPr id="19" name="文本框 18">
              <a:extLst>
                <a:ext uri="{FF2B5EF4-FFF2-40B4-BE49-F238E27FC236}">
                  <a16:creationId xmlns:a16="http://schemas.microsoft.com/office/drawing/2014/main" id="{6E5746AE-8EA0-7F1F-5D58-E1784BBAA078}"/>
                </a:ext>
              </a:extLst>
            </p:cNvPr>
            <p:cNvSpPr txBox="1"/>
            <p:nvPr/>
          </p:nvSpPr>
          <p:spPr>
            <a:xfrm>
              <a:off x="10824920" y="3886013"/>
              <a:ext cx="421910" cy="369332"/>
            </a:xfrm>
            <a:prstGeom prst="rect">
              <a:avLst/>
            </a:prstGeom>
            <a:noFill/>
          </p:spPr>
          <p:txBody>
            <a:bodyPr wrap="none" rtlCol="0">
              <a:spAutoFit/>
            </a:bodyPr>
            <a:lstStyle/>
            <a:p>
              <a:r>
                <a:rPr lang="en-US" altLang="zh-CN" dirty="0"/>
                <a:t>YB</a:t>
              </a:r>
              <a:endParaRPr lang="zh-CN" altLang="en-US" dirty="0"/>
            </a:p>
          </p:txBody>
        </p:sp>
        <p:cxnSp>
          <p:nvCxnSpPr>
            <p:cNvPr id="32" name="直接连接符 31">
              <a:extLst>
                <a:ext uri="{FF2B5EF4-FFF2-40B4-BE49-F238E27FC236}">
                  <a16:creationId xmlns:a16="http://schemas.microsoft.com/office/drawing/2014/main" id="{5F51EB72-B549-9277-999D-D624C921EB5F}"/>
                </a:ext>
              </a:extLst>
            </p:cNvPr>
            <p:cNvCxnSpPr>
              <a:cxnSpLocks/>
            </p:cNvCxnSpPr>
            <p:nvPr/>
          </p:nvCxnSpPr>
          <p:spPr>
            <a:xfrm>
              <a:off x="8256594" y="1950019"/>
              <a:ext cx="2568326" cy="25278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2A724860-A3D5-661C-0D0F-0BFE5186F469}"/>
                </a:ext>
              </a:extLst>
            </p:cNvPr>
            <p:cNvSpPr txBox="1"/>
            <p:nvPr/>
          </p:nvSpPr>
          <p:spPr>
            <a:xfrm>
              <a:off x="10492220" y="4526094"/>
              <a:ext cx="954107" cy="369332"/>
            </a:xfrm>
            <a:prstGeom prst="rect">
              <a:avLst/>
            </a:prstGeom>
            <a:noFill/>
          </p:spPr>
          <p:txBody>
            <a:bodyPr wrap="none" rtlCol="0">
              <a:spAutoFit/>
            </a:bodyPr>
            <a:lstStyle/>
            <a:p>
              <a:r>
                <a:rPr lang="en-US" altLang="zh-CN" dirty="0"/>
                <a:t>A(x1,y1)</a:t>
              </a:r>
              <a:endParaRPr lang="zh-CN" altLang="en-US" dirty="0"/>
            </a:p>
          </p:txBody>
        </p:sp>
        <p:sp>
          <p:nvSpPr>
            <p:cNvPr id="36" name="文本框 35">
              <a:extLst>
                <a:ext uri="{FF2B5EF4-FFF2-40B4-BE49-F238E27FC236}">
                  <a16:creationId xmlns:a16="http://schemas.microsoft.com/office/drawing/2014/main" id="{71335C23-8DBC-CD16-7CDD-6AC93362E852}"/>
                </a:ext>
              </a:extLst>
            </p:cNvPr>
            <p:cNvSpPr txBox="1"/>
            <p:nvPr/>
          </p:nvSpPr>
          <p:spPr>
            <a:xfrm>
              <a:off x="7525500" y="1575326"/>
              <a:ext cx="946093" cy="369332"/>
            </a:xfrm>
            <a:prstGeom prst="rect">
              <a:avLst/>
            </a:prstGeom>
            <a:noFill/>
          </p:spPr>
          <p:txBody>
            <a:bodyPr wrap="none" rtlCol="0">
              <a:spAutoFit/>
            </a:bodyPr>
            <a:lstStyle/>
            <a:p>
              <a:r>
                <a:rPr lang="en-US" altLang="zh-CN" dirty="0"/>
                <a:t>B(x2,y2)</a:t>
              </a:r>
              <a:endParaRPr lang="zh-CN" altLang="en-US" dirty="0"/>
            </a:p>
          </p:txBody>
        </p:sp>
      </p:grpSp>
      <p:sp>
        <p:nvSpPr>
          <p:cNvPr id="2" name="文本框 1">
            <a:extLst>
              <a:ext uri="{FF2B5EF4-FFF2-40B4-BE49-F238E27FC236}">
                <a16:creationId xmlns:a16="http://schemas.microsoft.com/office/drawing/2014/main" id="{2B774BC8-0942-E705-345E-2C88310DA7F7}"/>
              </a:ext>
            </a:extLst>
          </p:cNvPr>
          <p:cNvSpPr txBox="1"/>
          <p:nvPr/>
        </p:nvSpPr>
        <p:spPr>
          <a:xfrm>
            <a:off x="8888237" y="1854958"/>
            <a:ext cx="309700" cy="369332"/>
          </a:xfrm>
          <a:prstGeom prst="rect">
            <a:avLst/>
          </a:prstGeom>
          <a:noFill/>
        </p:spPr>
        <p:txBody>
          <a:bodyPr wrap="none" rtlCol="0">
            <a:spAutoFit/>
          </a:bodyPr>
          <a:lstStyle/>
          <a:p>
            <a:r>
              <a:rPr lang="en-US" altLang="zh-CN" dirty="0"/>
              <a:t>R</a:t>
            </a:r>
            <a:endParaRPr lang="zh-CN" altLang="en-US" dirty="0"/>
          </a:p>
        </p:txBody>
      </p:sp>
      <p:sp>
        <p:nvSpPr>
          <p:cNvPr id="5" name="文本框 4">
            <a:extLst>
              <a:ext uri="{FF2B5EF4-FFF2-40B4-BE49-F238E27FC236}">
                <a16:creationId xmlns:a16="http://schemas.microsoft.com/office/drawing/2014/main" id="{99D9D10C-02C8-3EF7-5F4F-94B68A9556C8}"/>
              </a:ext>
            </a:extLst>
          </p:cNvPr>
          <p:cNvSpPr txBox="1"/>
          <p:nvPr/>
        </p:nvSpPr>
        <p:spPr>
          <a:xfrm>
            <a:off x="10873024" y="3796039"/>
            <a:ext cx="296876" cy="369332"/>
          </a:xfrm>
          <a:prstGeom prst="rect">
            <a:avLst/>
          </a:prstGeom>
          <a:noFill/>
        </p:spPr>
        <p:txBody>
          <a:bodyPr wrap="none" rtlCol="0">
            <a:spAutoFit/>
          </a:bodyPr>
          <a:lstStyle/>
          <a:p>
            <a:r>
              <a:rPr lang="en-US" altLang="zh-CN" dirty="0"/>
              <a:t>T</a:t>
            </a:r>
            <a:endParaRPr lang="zh-CN" altLang="en-US" dirty="0"/>
          </a:p>
        </p:txBody>
      </p:sp>
      <p:sp>
        <p:nvSpPr>
          <p:cNvPr id="7" name="文本框 6">
            <a:extLst>
              <a:ext uri="{FF2B5EF4-FFF2-40B4-BE49-F238E27FC236}">
                <a16:creationId xmlns:a16="http://schemas.microsoft.com/office/drawing/2014/main" id="{129C033D-C0B6-89AB-91E2-E488505DAE9A}"/>
              </a:ext>
            </a:extLst>
          </p:cNvPr>
          <p:cNvSpPr txBox="1"/>
          <p:nvPr/>
        </p:nvSpPr>
        <p:spPr>
          <a:xfrm>
            <a:off x="9393814" y="2358604"/>
            <a:ext cx="332142" cy="369332"/>
          </a:xfrm>
          <a:prstGeom prst="rect">
            <a:avLst/>
          </a:prstGeom>
          <a:noFill/>
        </p:spPr>
        <p:txBody>
          <a:bodyPr wrap="none" rtlCol="0">
            <a:spAutoFit/>
          </a:bodyPr>
          <a:lstStyle/>
          <a:p>
            <a:r>
              <a:rPr lang="en-US" altLang="zh-CN" dirty="0"/>
              <a:t>U</a:t>
            </a:r>
            <a:endParaRPr lang="zh-CN" altLang="en-US" dirty="0"/>
          </a:p>
        </p:txBody>
      </p:sp>
      <p:sp>
        <p:nvSpPr>
          <p:cNvPr id="10" name="文本框 9">
            <a:extLst>
              <a:ext uri="{FF2B5EF4-FFF2-40B4-BE49-F238E27FC236}">
                <a16:creationId xmlns:a16="http://schemas.microsoft.com/office/drawing/2014/main" id="{9127F86E-6A06-F481-BDED-7A2FD62DC526}"/>
              </a:ext>
            </a:extLst>
          </p:cNvPr>
          <p:cNvSpPr txBox="1"/>
          <p:nvPr/>
        </p:nvSpPr>
        <p:spPr>
          <a:xfrm>
            <a:off x="10787361" y="3227517"/>
            <a:ext cx="290464" cy="369332"/>
          </a:xfrm>
          <a:prstGeom prst="rect">
            <a:avLst/>
          </a:prstGeom>
          <a:noFill/>
        </p:spPr>
        <p:txBody>
          <a:bodyPr wrap="none" rtlCol="0">
            <a:spAutoFit/>
          </a:bodyPr>
          <a:lstStyle/>
          <a:p>
            <a:r>
              <a:rPr lang="en-US" altLang="zh-CN" dirty="0"/>
              <a:t>S</a:t>
            </a:r>
            <a:endParaRPr lang="zh-CN" altLang="en-US" dirty="0"/>
          </a:p>
        </p:txBody>
      </p:sp>
    </p:spTree>
    <p:extLst>
      <p:ext uri="{BB962C8B-B14F-4D97-AF65-F5344CB8AC3E}">
        <p14:creationId xmlns:p14="http://schemas.microsoft.com/office/powerpoint/2010/main" val="40481661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206" y="687636"/>
            <a:ext cx="10843608" cy="5482728"/>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(4) </a:t>
            </a:r>
            <a:r>
              <a:rPr lang="zh-CN" altLang="en-US" dirty="0">
                <a:latin typeface="华光仿宋_CNKI" panose="02000500000000000000" pitchFamily="2" charset="-122"/>
                <a:ea typeface="华光仿宋_CNKI" panose="02000500000000000000" pitchFamily="2" charset="-122"/>
              </a:rPr>
              <a:t>对于边界上的左端点，采用下面的公式计算其实际坐标值：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xa = x1 + d2 * rn1; </a:t>
            </a:r>
            <a:r>
              <a:rPr lang="en-US" altLang="zh-CN" dirty="0" err="1">
                <a:latin typeface="华光仿宋_CNKI" panose="02000500000000000000" pitchFamily="2" charset="-122"/>
                <a:ea typeface="华光仿宋_CNKI" panose="02000500000000000000" pitchFamily="2" charset="-122"/>
              </a:rPr>
              <a:t>ya</a:t>
            </a:r>
            <a:r>
              <a:rPr lang="en-US" altLang="zh-CN" dirty="0">
                <a:latin typeface="华光仿宋_CNKI" panose="02000500000000000000" pitchFamily="2" charset="-122"/>
                <a:ea typeface="华光仿宋_CNKI" panose="02000500000000000000" pitchFamily="2" charset="-122"/>
              </a:rPr>
              <a:t>=y1+d4*rn1</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rn1</a:t>
            </a:r>
            <a:r>
              <a:rPr lang="zh-CN" altLang="en-US" dirty="0">
                <a:latin typeface="华光仿宋_CNKI" panose="02000500000000000000" pitchFamily="2" charset="-122"/>
                <a:ea typeface="华光仿宋_CNKI" panose="02000500000000000000" pitchFamily="2" charset="-122"/>
              </a:rPr>
              <a:t>分别为前面</a:t>
            </a:r>
            <a:r>
              <a:rPr lang="en-US" altLang="zh-CN" dirty="0">
                <a:latin typeface="华光仿宋_CNKI" panose="02000500000000000000" pitchFamily="2" charset="-122"/>
                <a:ea typeface="华光仿宋_CNKI" panose="02000500000000000000" pitchFamily="2" charset="-122"/>
              </a:rPr>
              <a:t>(2)(3)</a:t>
            </a:r>
            <a:r>
              <a:rPr lang="zh-CN" altLang="en-US" dirty="0">
                <a:latin typeface="华光仿宋_CNKI" panose="02000500000000000000" pitchFamily="2" charset="-122"/>
                <a:ea typeface="华光仿宋_CNKI" panose="02000500000000000000" pitchFamily="2" charset="-122"/>
              </a:rPr>
              <a:t>求得的最大值；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对于边界上的右端点，采用下面的公式计算其实际坐标值：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xb</a:t>
            </a:r>
            <a:r>
              <a:rPr lang="en-US" altLang="zh-CN" dirty="0">
                <a:latin typeface="华光仿宋_CNKI" panose="02000500000000000000" pitchFamily="2" charset="-122"/>
                <a:ea typeface="华光仿宋_CNKI" panose="02000500000000000000" pitchFamily="2" charset="-122"/>
              </a:rPr>
              <a:t> = x1 + d2 * rn2; </a:t>
            </a:r>
            <a:r>
              <a:rPr lang="en-US" altLang="zh-CN" dirty="0" err="1">
                <a:latin typeface="华光仿宋_CNKI" panose="02000500000000000000" pitchFamily="2" charset="-122"/>
                <a:ea typeface="华光仿宋_CNKI" panose="02000500000000000000" pitchFamily="2" charset="-122"/>
              </a:rPr>
              <a:t>yb</a:t>
            </a:r>
            <a:r>
              <a:rPr lang="en-US" altLang="zh-CN" dirty="0">
                <a:latin typeface="华光仿宋_CNKI" panose="02000500000000000000" pitchFamily="2" charset="-122"/>
                <a:ea typeface="华光仿宋_CNKI" panose="02000500000000000000" pitchFamily="2" charset="-122"/>
              </a:rPr>
              <a:t>=y1+d4*rn2</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rn2</a:t>
            </a:r>
            <a:r>
              <a:rPr lang="zh-CN" altLang="en-US" dirty="0">
                <a:latin typeface="华光仿宋_CNKI" panose="02000500000000000000" pitchFamily="2" charset="-122"/>
                <a:ea typeface="华光仿宋_CNKI" panose="02000500000000000000" pitchFamily="2" charset="-122"/>
              </a:rPr>
              <a:t>分别为前面</a:t>
            </a:r>
            <a:r>
              <a:rPr lang="en-US" altLang="zh-CN" dirty="0">
                <a:latin typeface="华光仿宋_CNKI" panose="02000500000000000000" pitchFamily="2" charset="-122"/>
                <a:ea typeface="华光仿宋_CNKI" panose="02000500000000000000" pitchFamily="2" charset="-122"/>
              </a:rPr>
              <a:t>(2)(3)</a:t>
            </a:r>
            <a:r>
              <a:rPr lang="zh-CN" altLang="en-US" dirty="0">
                <a:latin typeface="华光仿宋_CNKI" panose="02000500000000000000" pitchFamily="2" charset="-122"/>
                <a:ea typeface="华光仿宋_CNKI" panose="02000500000000000000" pitchFamily="2" charset="-122"/>
              </a:rPr>
              <a:t>求得的最小值；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这样就可以求得直线与裁剪多边形</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条边的</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个交点。</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16911391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9341" y="855406"/>
            <a:ext cx="10843608" cy="4796928"/>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在实际求解过程中，由于有些交点并不存在，比如</a:t>
            </a:r>
            <a:r>
              <a:rPr lang="en-US" altLang="zh-CN" dirty="0">
                <a:latin typeface="华光仿宋_CNKI" panose="02000500000000000000" pitchFamily="2" charset="-122"/>
                <a:ea typeface="华光仿宋_CNKI" panose="02000500000000000000" pitchFamily="2" charset="-122"/>
              </a:rPr>
              <a:t>x1&lt;x2</a:t>
            </a:r>
            <a:r>
              <a:rPr lang="zh-CN" altLang="en-US" dirty="0">
                <a:latin typeface="华光仿宋_CNKI" panose="02000500000000000000" pitchFamily="2" charset="-122"/>
                <a:ea typeface="华光仿宋_CNKI" panose="02000500000000000000" pitchFamily="2" charset="-122"/>
              </a:rPr>
              <a:t>时，计算出直线与</a:t>
            </a:r>
            <a:r>
              <a:rPr lang="en-US" altLang="zh-CN" dirty="0">
                <a:latin typeface="华光仿宋_CNKI" panose="02000500000000000000" pitchFamily="2" charset="-122"/>
                <a:ea typeface="华光仿宋_CNKI" panose="02000500000000000000" pitchFamily="2" charset="-122"/>
              </a:rPr>
              <a:t>YT</a:t>
            </a:r>
            <a:r>
              <a:rPr lang="zh-CN" altLang="en-US" dirty="0">
                <a:latin typeface="华光仿宋_CNKI" panose="02000500000000000000" pitchFamily="2" charset="-122"/>
                <a:ea typeface="华光仿宋_CNKI" panose="02000500000000000000" pitchFamily="2" charset="-122"/>
              </a:rPr>
              <a:t>或者</a:t>
            </a:r>
            <a:r>
              <a:rPr lang="en-US" altLang="zh-CN" dirty="0">
                <a:latin typeface="华光仿宋_CNKI" panose="02000500000000000000" pitchFamily="2" charset="-122"/>
                <a:ea typeface="华光仿宋_CNKI" panose="02000500000000000000" pitchFamily="2" charset="-122"/>
              </a:rPr>
              <a:t>YB</a:t>
            </a:r>
            <a:r>
              <a:rPr lang="zh-CN" altLang="en-US" dirty="0">
                <a:latin typeface="华光仿宋_CNKI" panose="02000500000000000000" pitchFamily="2" charset="-122"/>
                <a:ea typeface="华光仿宋_CNKI" panose="02000500000000000000" pitchFamily="2" charset="-122"/>
              </a:rPr>
              <a:t>的交点的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a:t>
            </a:r>
            <a:r>
              <a:rPr lang="en-US" altLang="zh-CN" dirty="0">
                <a:latin typeface="华光仿宋_CNKI" panose="02000500000000000000" pitchFamily="2" charset="-122"/>
                <a:ea typeface="华光仿宋_CNKI" panose="02000500000000000000" pitchFamily="2" charset="-122"/>
              </a:rPr>
              <a:t>xa&lt;x1</a:t>
            </a:r>
            <a:r>
              <a:rPr lang="zh-CN" altLang="en-US" dirty="0">
                <a:latin typeface="华光仿宋_CNKI" panose="02000500000000000000" pitchFamily="2" charset="-122"/>
                <a:ea typeface="华光仿宋_CNKI" panose="02000500000000000000" pitchFamily="2" charset="-122"/>
              </a:rPr>
              <a:t>，显然</a:t>
            </a:r>
            <a:r>
              <a:rPr lang="en-US" altLang="zh-CN" dirty="0">
                <a:latin typeface="华光仿宋_CNKI" panose="02000500000000000000" pitchFamily="2" charset="-122"/>
                <a:ea typeface="华光仿宋_CNKI" panose="02000500000000000000" pitchFamily="2" charset="-122"/>
              </a:rPr>
              <a:t>xa</a:t>
            </a:r>
            <a:r>
              <a:rPr lang="zh-CN" altLang="en-US" dirty="0">
                <a:latin typeface="华光仿宋_CNKI" panose="02000500000000000000" pitchFamily="2" charset="-122"/>
                <a:ea typeface="华光仿宋_CNKI" panose="02000500000000000000" pitchFamily="2" charset="-122"/>
              </a:rPr>
              <a:t>对应的点并不实际存在，因此可通过将所有交点的</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坐标进行排序，然后判断哪些线段在区域内即可得到区域内的线段。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需要注意的是上述方法主要用于求边界上的点。如果起点或终点不在边界上，而是在区域内，则直接得到对应的点。</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25596315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42CB3-02C0-BE1E-F8C8-F488AF14CA4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C5D0295B-21D3-47AB-C115-AF688C4B9DA2}"/>
              </a:ext>
            </a:extLst>
          </p:cNvPr>
          <p:cNvSpPr>
            <a:spLocks noGrp="1"/>
          </p:cNvSpPr>
          <p:nvPr>
            <p:ph idx="1"/>
          </p:nvPr>
        </p:nvSpPr>
        <p:spPr>
          <a:xfrm>
            <a:off x="803083" y="1143000"/>
            <a:ext cx="10843608" cy="5327870"/>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(4) </a:t>
            </a:r>
            <a:r>
              <a:rPr lang="zh-CN" altLang="en-US" dirty="0">
                <a:latin typeface="华光仿宋_CNKI" panose="02000500000000000000" pitchFamily="2" charset="-122"/>
                <a:ea typeface="华光仿宋_CNKI" panose="02000500000000000000" pitchFamily="2" charset="-122"/>
              </a:rPr>
              <a:t>对于边界上的左端点，采用下面的公式计算其实际坐标值：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xa = x1 + d2 * rn1;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rn1</a:t>
            </a:r>
            <a:r>
              <a:rPr lang="zh-CN" altLang="en-US" dirty="0">
                <a:latin typeface="华光仿宋_CNKI" panose="02000500000000000000" pitchFamily="2" charset="-122"/>
                <a:ea typeface="华光仿宋_CNKI" panose="02000500000000000000" pitchFamily="2" charset="-122"/>
              </a:rPr>
              <a:t>分别为前面</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求得的最大值；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ya</a:t>
            </a:r>
            <a:r>
              <a:rPr lang="en-US" altLang="zh-CN" dirty="0">
                <a:latin typeface="华光仿宋_CNKI" panose="02000500000000000000" pitchFamily="2" charset="-122"/>
                <a:ea typeface="华光仿宋_CNKI" panose="02000500000000000000" pitchFamily="2" charset="-122"/>
              </a:rPr>
              <a:t>=y1+d4*rn1</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rn1</a:t>
            </a:r>
            <a:r>
              <a:rPr lang="zh-CN" altLang="en-US" dirty="0">
                <a:latin typeface="华光仿宋_CNKI" panose="02000500000000000000" pitchFamily="2" charset="-122"/>
                <a:ea typeface="华光仿宋_CNKI" panose="02000500000000000000" pitchFamily="2" charset="-122"/>
              </a:rPr>
              <a:t>分别为前面</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求得的最大值；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对于边界上的右端点，采用下面的公式计算其实际坐标值：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xb</a:t>
            </a:r>
            <a:r>
              <a:rPr lang="en-US" altLang="zh-CN" dirty="0">
                <a:latin typeface="华光仿宋_CNKI" panose="02000500000000000000" pitchFamily="2" charset="-122"/>
                <a:ea typeface="华光仿宋_CNKI" panose="02000500000000000000" pitchFamily="2" charset="-122"/>
              </a:rPr>
              <a:t> = x1 + d2 * rn2;   </a:t>
            </a:r>
            <a:r>
              <a:rPr lang="en-US" altLang="zh-CN" dirty="0" err="1">
                <a:latin typeface="华光仿宋_CNKI" panose="02000500000000000000" pitchFamily="2" charset="-122"/>
                <a:ea typeface="华光仿宋_CNKI" panose="02000500000000000000" pitchFamily="2" charset="-122"/>
              </a:rPr>
              <a:t>yb</a:t>
            </a:r>
            <a:r>
              <a:rPr lang="en-US" altLang="zh-CN" dirty="0">
                <a:latin typeface="华光仿宋_CNKI" panose="02000500000000000000" pitchFamily="2" charset="-122"/>
                <a:ea typeface="华光仿宋_CNKI" panose="02000500000000000000" pitchFamily="2" charset="-122"/>
              </a:rPr>
              <a:t>=y1+d4*rn2;</a:t>
            </a:r>
          </a:p>
        </p:txBody>
      </p:sp>
      <p:sp>
        <p:nvSpPr>
          <p:cNvPr id="4" name="标题 1">
            <a:extLst>
              <a:ext uri="{FF2B5EF4-FFF2-40B4-BE49-F238E27FC236}">
                <a16:creationId xmlns:a16="http://schemas.microsoft.com/office/drawing/2014/main" id="{ED3AF304-7F35-CC34-277D-6EE323948C47}"/>
              </a:ext>
            </a:extLst>
          </p:cNvPr>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18303520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3083" y="387129"/>
            <a:ext cx="10843608" cy="6083741"/>
          </a:xfrm>
        </p:spPr>
        <p:txBody>
          <a:bodyPr>
            <a:noAutofit/>
          </a:bodyPr>
          <a:lstStyle/>
          <a:p>
            <a:pPr marL="0" indent="0">
              <a:lnSpc>
                <a:spcPct val="150000"/>
              </a:lnSpc>
              <a:buNone/>
            </a:pPr>
            <a:r>
              <a:rPr lang="zh-CN" altLang="en-US">
                <a:latin typeface="华光仿宋_CNKI" panose="02000500000000000000" pitchFamily="2" charset="-122"/>
                <a:ea typeface="华光仿宋_CNKI" panose="02000500000000000000" pitchFamily="2" charset="-122"/>
              </a:rPr>
              <a:t>    其中</a:t>
            </a:r>
            <a:r>
              <a:rPr lang="en-US" altLang="zh-CN" dirty="0">
                <a:latin typeface="华光仿宋_CNKI" panose="02000500000000000000" pitchFamily="2" charset="-122"/>
                <a:ea typeface="华光仿宋_CNKI" panose="02000500000000000000" pitchFamily="2" charset="-122"/>
              </a:rPr>
              <a:t>rn2</a:t>
            </a:r>
            <a:r>
              <a:rPr lang="zh-CN" altLang="en-US" dirty="0">
                <a:latin typeface="华光仿宋_CNKI" panose="02000500000000000000" pitchFamily="2" charset="-122"/>
                <a:ea typeface="华光仿宋_CNKI" panose="02000500000000000000" pitchFamily="2" charset="-122"/>
              </a:rPr>
              <a:t>分别为前面</a:t>
            </a:r>
            <a:r>
              <a:rPr lang="en-US" altLang="zh-CN" dirty="0">
                <a:latin typeface="华光仿宋_CNKI" panose="02000500000000000000" pitchFamily="2" charset="-122"/>
                <a:ea typeface="华光仿宋_CNKI" panose="02000500000000000000" pitchFamily="2" charset="-122"/>
              </a:rPr>
              <a:t>(2)(3)</a:t>
            </a:r>
            <a:r>
              <a:rPr lang="zh-CN" altLang="en-US" dirty="0">
                <a:latin typeface="华光仿宋_CNKI" panose="02000500000000000000" pitchFamily="2" charset="-122"/>
                <a:ea typeface="华光仿宋_CNKI" panose="02000500000000000000" pitchFamily="2" charset="-122"/>
              </a:rPr>
              <a:t>求得的最小值；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需要注意的是上述方法主要用于求边界上的点。如果起点或终点不在边界上，而是在区域内，则直接得到对应的点。</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裁剪</a:t>
            </a:r>
          </a:p>
        </p:txBody>
      </p:sp>
    </p:spTree>
    <p:extLst>
      <p:ext uri="{BB962C8B-B14F-4D97-AF65-F5344CB8AC3E}">
        <p14:creationId xmlns:p14="http://schemas.microsoft.com/office/powerpoint/2010/main" val="24034827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5318" y="235452"/>
            <a:ext cx="10897927" cy="3056388"/>
          </a:xfrm>
        </p:spPr>
        <p:txBody>
          <a:bodyPr>
            <a:no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2. </a:t>
            </a:r>
            <a:r>
              <a:rPr lang="zh-CN" altLang="en-US" dirty="0">
                <a:latin typeface="华光超粗黑_CNKI" panose="02000500000000000000" pitchFamily="2" charset="-122"/>
                <a:ea typeface="华光超粗黑_CNKI" panose="02000500000000000000" pitchFamily="2" charset="-122"/>
              </a:rPr>
              <a:t>多边形裁剪</a:t>
            </a:r>
            <a:endParaRPr lang="en-US" altLang="zh-CN" dirty="0">
              <a:latin typeface="华光超粗黑_CNKI" panose="02000500000000000000" pitchFamily="2" charset="-122"/>
              <a:ea typeface="华光超粗黑_CNKI" panose="02000500000000000000" pitchFamily="2" charset="-122"/>
            </a:endParaRPr>
          </a:p>
          <a:p>
            <a:pPr marL="0" indent="0">
              <a:lnSpc>
                <a:spcPct val="150000"/>
              </a:lnSpc>
              <a:buNone/>
            </a:pPr>
            <a:r>
              <a:rPr lang="en-US" altLang="zh-CN" sz="2600" dirty="0">
                <a:latin typeface="华光标题宋_CNKI" panose="02000500000000000000" pitchFamily="2" charset="-122"/>
                <a:ea typeface="华光标题宋_CNKI" panose="02000500000000000000" pitchFamily="2" charset="-122"/>
              </a:rPr>
              <a:t>2.1  Sutherland-Hodgman</a:t>
            </a:r>
            <a:r>
              <a:rPr lang="zh-CN" altLang="en-US" sz="2600" dirty="0">
                <a:latin typeface="华光标题宋_CNKI" panose="02000500000000000000" pitchFamily="2" charset="-122"/>
                <a:ea typeface="华光标题宋_CNKI" panose="02000500000000000000" pitchFamily="2" charset="-122"/>
              </a:rPr>
              <a:t>算法</a:t>
            </a:r>
            <a:endParaRPr lang="en-US" altLang="zh-CN" sz="26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基本思想：用裁剪窗口的每一条边去裁剪某个多边形（必须为凸多边形） 。如右图所示。</a:t>
            </a:r>
            <a:endParaRPr lang="en-US" altLang="zh-CN" sz="2600" dirty="0">
              <a:latin typeface="华光仿宋_CNKI" panose="02000500000000000000" pitchFamily="2" charset="-122"/>
              <a:ea typeface="华光仿宋_CNKI" panose="02000500000000000000" pitchFamily="2" charset="-122"/>
            </a:endParaRPr>
          </a:p>
        </p:txBody>
      </p:sp>
      <p:pic>
        <p:nvPicPr>
          <p:cNvPr id="5" name="图片 4">
            <a:extLst>
              <a:ext uri="{FF2B5EF4-FFF2-40B4-BE49-F238E27FC236}">
                <a16:creationId xmlns:a16="http://schemas.microsoft.com/office/drawing/2014/main" id="{EB136B42-2F8F-3725-AA06-97618A5E6065}"/>
              </a:ext>
            </a:extLst>
          </p:cNvPr>
          <p:cNvPicPr>
            <a:picLocks noChangeAspect="1"/>
          </p:cNvPicPr>
          <p:nvPr/>
        </p:nvPicPr>
        <p:blipFill>
          <a:blip r:embed="rId2"/>
          <a:stretch>
            <a:fillRect/>
          </a:stretch>
        </p:blipFill>
        <p:spPr>
          <a:xfrm>
            <a:off x="1932168" y="3061251"/>
            <a:ext cx="8611263" cy="3473831"/>
          </a:xfrm>
          <a:prstGeom prst="rect">
            <a:avLst/>
          </a:prstGeom>
        </p:spPr>
      </p:pic>
    </p:spTree>
    <p:extLst>
      <p:ext uri="{BB962C8B-B14F-4D97-AF65-F5344CB8AC3E}">
        <p14:creationId xmlns:p14="http://schemas.microsoft.com/office/powerpoint/2010/main" val="21793581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87124" y="675861"/>
                <a:ext cx="10516263" cy="5176299"/>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算法输入：待裁剪的多边形的顶点</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1</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𝑛</m:t>
                        </m:r>
                      </m:sub>
                    </m:sSub>
                    <m:r>
                      <a:rPr lang="en-US" altLang="zh-CN" sz="2600" i="1" dirty="0">
                        <a:latin typeface="Cambria Math" panose="02040503050406030204" pitchFamily="18" charset="0"/>
                        <a:ea typeface="华光仿宋_CNKI" panose="02000500000000000000" pitchFamily="2" charset="-122"/>
                      </a:rPr>
                      <m:t> </m:t>
                    </m:r>
                  </m:oMath>
                </a14:m>
                <a:r>
                  <a:rPr lang="zh-CN" altLang="en-US" sz="2600" dirty="0">
                    <a:latin typeface="华光仿宋_CNKI" panose="02000500000000000000" pitchFamily="2" charset="-122"/>
                    <a:ea typeface="华光仿宋_CNKI" panose="02000500000000000000" pitchFamily="2" charset="-122"/>
                  </a:rPr>
                  <a:t>，按连接顺序排列，裁剪多边形</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𝐴</m:t>
                        </m:r>
                      </m:e>
                      <m:sub>
                        <m:r>
                          <a:rPr lang="en-US" altLang="zh-CN" sz="2600" i="1" dirty="0">
                            <a:latin typeface="Cambria Math" panose="02040503050406030204" pitchFamily="18" charset="0"/>
                            <a:ea typeface="华光仿宋_CNKI" panose="02000500000000000000" pitchFamily="2" charset="-122"/>
                          </a:rPr>
                          <m:t>1</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𝐴</m:t>
                        </m:r>
                      </m:e>
                      <m:sub>
                        <m:r>
                          <a:rPr lang="en-US" altLang="zh-CN" sz="2600" b="0" i="1" dirty="0" smtClean="0">
                            <a:latin typeface="Cambria Math" panose="02040503050406030204" pitchFamily="18" charset="0"/>
                            <a:ea typeface="华光仿宋_CNKI" panose="02000500000000000000" pitchFamily="2" charset="-122"/>
                          </a:rPr>
                          <m:t>2</m:t>
                        </m:r>
                      </m:sub>
                    </m:sSub>
                  </m:oMath>
                </a14:m>
                <a:r>
                  <a:rPr lang="en-US" altLang="zh-CN" sz="2600" dirty="0">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𝐴</m:t>
                        </m:r>
                      </m:e>
                      <m:sub>
                        <m:r>
                          <a:rPr lang="en-US" altLang="zh-CN" sz="2600" b="0" i="1" dirty="0" smtClean="0">
                            <a:latin typeface="Cambria Math" panose="02040503050406030204" pitchFamily="18" charset="0"/>
                            <a:ea typeface="华光仿宋_CNKI" panose="02000500000000000000" pitchFamily="2" charset="-122"/>
                          </a:rPr>
                          <m:t>3</m:t>
                        </m:r>
                      </m:sub>
                    </m:sSub>
                    <m:r>
                      <a:rPr lang="en-US" altLang="zh-CN" sz="2600" i="1" dirty="0">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𝐴</m:t>
                        </m:r>
                      </m:e>
                      <m:sub>
                        <m:r>
                          <a:rPr lang="en-US" altLang="zh-CN" sz="2600" b="0" i="1" dirty="0" smtClean="0">
                            <a:latin typeface="Cambria Math" panose="02040503050406030204" pitchFamily="18" charset="0"/>
                            <a:ea typeface="华光仿宋_CNKI" panose="02000500000000000000" pitchFamily="2" charset="-122"/>
                          </a:rPr>
                          <m:t>𝑘</m:t>
                        </m:r>
                      </m:sub>
                    </m:sSub>
                    <m:r>
                      <a:rPr lang="en-US" altLang="zh-CN" sz="2600" i="1" dirty="0">
                        <a:latin typeface="Cambria Math" panose="02040503050406030204" pitchFamily="18" charset="0"/>
                        <a:ea typeface="华光仿宋_CNKI" panose="02000500000000000000" pitchFamily="2" charset="-122"/>
                      </a:rPr>
                      <m:t> </m:t>
                    </m:r>
                  </m:oMath>
                </a14:m>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算法输出：裁剪后的多边形</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𝑂</m:t>
                        </m:r>
                      </m:e>
                      <m:sub>
                        <m:r>
                          <a:rPr lang="en-US" altLang="zh-CN" sz="2600" b="0" i="1" dirty="0" smtClean="0">
                            <a:latin typeface="Cambria Math" panose="02040503050406030204" pitchFamily="18" charset="0"/>
                            <a:ea typeface="华光仿宋_CNKI" panose="02000500000000000000" pitchFamily="2" charset="-122"/>
                          </a:rPr>
                          <m:t>1</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𝑂</m:t>
                        </m:r>
                      </m:e>
                      <m:sub>
                        <m:r>
                          <a:rPr lang="en-US" altLang="zh-CN" sz="2600" b="0" i="1" dirty="0" smtClean="0">
                            <a:latin typeface="Cambria Math" panose="02040503050406030204" pitchFamily="18" charset="0"/>
                            <a:ea typeface="华光仿宋_CNKI" panose="02000500000000000000" pitchFamily="2" charset="-122"/>
                          </a:rPr>
                          <m:t>2</m:t>
                        </m:r>
                      </m:sub>
                    </m:sSub>
                    <m:r>
                      <a:rPr lang="en-US" altLang="zh-CN" sz="2600" b="0" i="0" dirty="0" smtClean="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𝑂</m:t>
                        </m:r>
                      </m:e>
                      <m:sub>
                        <m:r>
                          <a:rPr lang="en-US" altLang="zh-CN" sz="2600" b="0" i="1" dirty="0" smtClean="0">
                            <a:latin typeface="Cambria Math" panose="02040503050406030204" pitchFamily="18" charset="0"/>
                            <a:ea typeface="华光仿宋_CNKI" panose="02000500000000000000" pitchFamily="2" charset="-122"/>
                          </a:rPr>
                          <m:t>𝑚</m:t>
                        </m:r>
                      </m:sub>
                    </m:sSub>
                  </m:oMath>
                </a14:m>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算法基本步骤：</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1. </a:t>
                </a:r>
                <a:r>
                  <a:rPr lang="zh-CN" altLang="en-US" sz="2600" dirty="0">
                    <a:latin typeface="华光仿宋_CNKI" panose="02000500000000000000" pitchFamily="2" charset="-122"/>
                    <a:ea typeface="华光仿宋_CNKI" panose="02000500000000000000" pitchFamily="2" charset="-122"/>
                  </a:rPr>
                  <a:t>顺次连接相邻两顶点 </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1</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2</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𝑛</m:t>
                        </m:r>
                        <m:r>
                          <a:rPr lang="en-US" altLang="zh-CN" sz="2600" b="0" i="1" dirty="0" smtClean="0">
                            <a:latin typeface="Cambria Math" panose="02040503050406030204" pitchFamily="18" charset="0"/>
                            <a:ea typeface="华光仿宋_CNKI" panose="02000500000000000000" pitchFamily="2" charset="-122"/>
                          </a:rPr>
                          <m:t>−1</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𝑛</m:t>
                        </m:r>
                      </m:sub>
                    </m:sSub>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𝑛</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1</m:t>
                        </m:r>
                      </m:sub>
                    </m:sSub>
                    <m:r>
                      <a:rPr lang="en-US" altLang="zh-CN" sz="2600" i="1" dirty="0">
                        <a:latin typeface="Cambria Math" panose="02040503050406030204" pitchFamily="18" charset="0"/>
                        <a:ea typeface="华光仿宋_CNKI" panose="02000500000000000000" pitchFamily="2" charset="-122"/>
                      </a:rPr>
                      <m:t> </m:t>
                    </m:r>
                  </m:oMath>
                </a14:m>
                <a:r>
                  <a:rPr lang="zh-CN" altLang="en-US" sz="2600" dirty="0">
                    <a:latin typeface="华光仿宋_CNKI" panose="02000500000000000000" pitchFamily="2" charset="-122"/>
                    <a:ea typeface="华光仿宋_CNKI" panose="02000500000000000000" pitchFamily="2" charset="-122"/>
                  </a:rPr>
                  <a:t>，这几条边构成了一个封闭的多边形。</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2. </a:t>
                </a:r>
                <a:r>
                  <a:rPr lang="zh-CN" altLang="en-US" sz="2600" dirty="0">
                    <a:latin typeface="华光仿宋_CNKI" panose="02000500000000000000" pitchFamily="2" charset="-122"/>
                    <a:ea typeface="华光仿宋_CNKI" panose="02000500000000000000" pitchFamily="2" charset="-122"/>
                  </a:rPr>
                  <a:t>依次用每一条裁剪边对输入的顶点序列进行如下处理。</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87124" y="675861"/>
                <a:ext cx="10516263" cy="5176299"/>
              </a:xfrm>
              <a:blipFill>
                <a:blip r:embed="rId2"/>
                <a:stretch>
                  <a:fillRect l="-10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707283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55319" y="596348"/>
                <a:ext cx="10516263" cy="5883965"/>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）用当前裁剪边</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𝐴</m:t>
                        </m:r>
                      </m:e>
                      <m:sub>
                        <m:r>
                          <a:rPr lang="en-US" altLang="zh-CN" sz="2600" b="0" i="1" dirty="0" smtClean="0">
                            <a:latin typeface="Cambria Math" panose="02040503050406030204" pitchFamily="18" charset="0"/>
                            <a:ea typeface="华光仿宋_CNKI" panose="02000500000000000000" pitchFamily="2" charset="-122"/>
                          </a:rPr>
                          <m:t>𝑗</m:t>
                        </m:r>
                      </m:sub>
                    </m:sSub>
                  </m:oMath>
                </a14:m>
                <a:r>
                  <a:rPr lang="zh-CN" altLang="en-US" sz="2600" dirty="0">
                    <a:latin typeface="华光仿宋_CNKI" panose="02000500000000000000" pitchFamily="2" charset="-122"/>
                    <a:ea typeface="华光仿宋_CNKI" panose="02000500000000000000" pitchFamily="2" charset="-122"/>
                  </a:rPr>
                  <a:t>检查第一个顶点</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1</m:t>
                        </m:r>
                      </m:sub>
                    </m:sSub>
                    <m:r>
                      <a:rPr lang="en-US" altLang="zh-CN" sz="2600" b="0" i="1" dirty="0" smtClean="0">
                        <a:latin typeface="Cambria Math" panose="02040503050406030204" pitchFamily="18" charset="0"/>
                        <a:ea typeface="华光仿宋_CNKI" panose="02000500000000000000" pitchFamily="2" charset="-122"/>
                      </a:rPr>
                      <m:t> </m:t>
                    </m:r>
                  </m:oMath>
                </a14:m>
                <a:r>
                  <a:rPr lang="zh-CN" altLang="en-US" sz="2600" dirty="0">
                    <a:latin typeface="华光仿宋_CNKI" panose="02000500000000000000" pitchFamily="2" charset="-122"/>
                    <a:ea typeface="华光仿宋_CNKI" panose="02000500000000000000" pitchFamily="2" charset="-122"/>
                  </a:rPr>
                  <a:t>，如果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i="1" dirty="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在当前裁剪边的可见一侧，则保留该顶点作为新顶点存入输出顶点表列中，否则，舍弃该顶点，不作为新顶点输出。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）假设 </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b="0" i="1" dirty="0" smtClean="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𝑖</m:t>
                        </m:r>
                      </m:sub>
                    </m:sSub>
                    <m:r>
                      <a:rPr lang="en-US" altLang="zh-CN" sz="2600" b="0" i="1" dirty="0" smtClean="0">
                        <a:latin typeface="Cambria Math" panose="02040503050406030204" pitchFamily="18" charset="0"/>
                        <a:ea typeface="华光仿宋_CNKI" panose="02000500000000000000" pitchFamily="2" charset="-122"/>
                      </a:rPr>
                      <m:t> </m:t>
                    </m:r>
                  </m:oMath>
                </a14:m>
                <a:r>
                  <a:rPr lang="zh-CN" altLang="en-US" sz="2600" dirty="0">
                    <a:latin typeface="华光仿宋_CNKI" panose="02000500000000000000" pitchFamily="2" charset="-122"/>
                    <a:ea typeface="华光仿宋_CNKI" panose="02000500000000000000" pitchFamily="2" charset="-122"/>
                  </a:rPr>
                  <a:t>（</a:t>
                </a:r>
                <a:r>
                  <a:rPr lang="en-US" altLang="zh-CN" sz="2600" dirty="0" err="1">
                    <a:latin typeface="华光仿宋_CNKI" panose="02000500000000000000" pitchFamily="2" charset="-122"/>
                    <a:ea typeface="华光仿宋_CNKI" panose="02000500000000000000" pitchFamily="2" charset="-122"/>
                  </a:rPr>
                  <a:t>i</a:t>
                </a:r>
                <a:r>
                  <a:rPr lang="en-US" altLang="zh-CN" sz="2600" dirty="0">
                    <a:latin typeface="华光仿宋_CNKI" panose="02000500000000000000" pitchFamily="2" charset="-122"/>
                    <a:ea typeface="华光仿宋_CNKI" panose="02000500000000000000" pitchFamily="2" charset="-122"/>
                  </a:rPr>
                  <a:t>=1,2,…,n−1</a:t>
                </a:r>
                <a:r>
                  <a:rPr lang="zh-CN" altLang="en-US" sz="2600" dirty="0">
                    <a:latin typeface="华光仿宋_CNKI" panose="02000500000000000000" pitchFamily="2" charset="-122"/>
                    <a:ea typeface="华光仿宋_CNKI" panose="02000500000000000000" pitchFamily="2" charset="-122"/>
                  </a:rPr>
                  <a:t>）已作为待裁剪多边形的前一条边的顶点检查完毕，则判断下一点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i="1" dirty="0">
                            <a:latin typeface="Cambria Math" panose="02040503050406030204" pitchFamily="18" charset="0"/>
                            <a:ea typeface="华光仿宋_CNKI" panose="02000500000000000000" pitchFamily="2" charset="-122"/>
                          </a:rPr>
                          <m:t>𝑖</m:t>
                        </m:r>
                        <m:r>
                          <a:rPr lang="en-US" altLang="zh-CN" sz="2600" b="0" i="1" dirty="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和前一顶点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i="1" dirty="0">
                            <a:latin typeface="Cambria Math" panose="02040503050406030204" pitchFamily="18" charset="0"/>
                            <a:ea typeface="华光仿宋_CNKI" panose="02000500000000000000" pitchFamily="2" charset="-122"/>
                          </a:rPr>
                          <m:t>𝑖</m:t>
                        </m:r>
                      </m:sub>
                    </m:sSub>
                  </m:oMath>
                </a14:m>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构成的边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i="1" dirty="0">
                            <a:latin typeface="Cambria Math" panose="02040503050406030204" pitchFamily="18" charset="0"/>
                            <a:ea typeface="华光仿宋_CNKI" panose="02000500000000000000" pitchFamily="2" charset="-122"/>
                          </a:rPr>
                          <m:t>𝑖</m:t>
                        </m:r>
                      </m:sub>
                    </m:sSub>
                    <m:r>
                      <a:rPr lang="en-US" altLang="zh-CN" sz="2600" i="1" dirty="0">
                        <a:latin typeface="Cambria Math" panose="02040503050406030204" pitchFamily="18" charset="0"/>
                        <a:ea typeface="华光仿宋_CNKI" panose="02000500000000000000" pitchFamily="2" charset="-122"/>
                      </a:rPr>
                      <m:t> </m:t>
                    </m:r>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i="1" dirty="0">
                            <a:latin typeface="Cambria Math" panose="02040503050406030204" pitchFamily="18" charset="0"/>
                            <a:ea typeface="华光仿宋_CNKI" panose="02000500000000000000" pitchFamily="2" charset="-122"/>
                          </a:rPr>
                          <m:t>𝑖</m:t>
                        </m:r>
                        <m:r>
                          <a:rPr lang="en-US" altLang="zh-CN" sz="2600" b="0" i="1" dirty="0" smtClean="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与当前裁剪边的位置关系，然后，根据这一位置关系决定哪些点可作为新的顶点输出。这些位置关系可有如下几种情况</a:t>
                </a:r>
                <a:r>
                  <a:rPr lang="en-US" altLang="zh-CN" sz="2600" dirty="0">
                    <a:latin typeface="华光仿宋_CNKI" panose="02000500000000000000" pitchFamily="2" charset="-122"/>
                    <a:ea typeface="华光仿宋_CNKI" panose="02000500000000000000" pitchFamily="2" charset="-122"/>
                  </a:rPr>
                  <a:t>:</a:t>
                </a:r>
              </a:p>
              <a:p>
                <a:pPr marL="0" lvl="3" indent="0">
                  <a:lnSpc>
                    <a:spcPct val="150000"/>
                  </a:lnSpc>
                  <a:spcBef>
                    <a:spcPts val="1000"/>
                  </a:spcBef>
                  <a:buNone/>
                </a:pPr>
                <a:r>
                  <a:rPr lang="zh-CN" altLang="en-US" sz="2600" dirty="0">
                    <a:latin typeface="华光仿宋_CNKI" panose="02000500000000000000" pitchFamily="2" charset="-122"/>
                    <a:ea typeface="华光仿宋_CNKI" panose="02000500000000000000" pitchFamily="2" charset="-122"/>
                  </a:rPr>
                  <a:t>    </a:t>
                </a:r>
                <a:r>
                  <a:rPr lang="zh-CN" altLang="en-US" sz="2600" dirty="0">
                    <a:latin typeface="Calibri" panose="020F0502020204030204" pitchFamily="34" charset="0"/>
                    <a:ea typeface="华光仿宋_CNKI" panose="02000500000000000000" pitchFamily="2" charset="-122"/>
                    <a:cs typeface="Calibri" panose="020F0502020204030204" pitchFamily="34" charset="0"/>
                  </a:rPr>
                  <a:t>① </a:t>
                </a:r>
                <a:r>
                  <a:rPr lang="zh-CN" altLang="en-US" sz="2600" dirty="0">
                    <a:latin typeface="华光仿宋_CNKI" panose="02000500000000000000" pitchFamily="2" charset="-122"/>
                    <a:ea typeface="华光仿宋_CNKI" panose="02000500000000000000" pitchFamily="2" charset="-122"/>
                  </a:rPr>
                  <a:t>边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r>
                      <a:rPr lang="en-US" altLang="zh-CN" sz="2600" dirty="0">
                        <a:latin typeface="Cambria Math" panose="02040503050406030204" pitchFamily="18" charset="0"/>
                        <a:ea typeface="华光仿宋_CNKI" panose="02000500000000000000" pitchFamily="2" charset="-122"/>
                      </a:rPr>
                      <m:t> </m:t>
                    </m:r>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位于裁剪边的窗口可见一侧，此时，将顶点</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作为新的顶点输出。</a:t>
                </a:r>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55319" y="596348"/>
                <a:ext cx="10516263" cy="5883965"/>
              </a:xfrm>
              <a:blipFill>
                <a:blip r:embed="rId2"/>
                <a:stretch>
                  <a:fillRect l="-9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644739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10978" y="636104"/>
                <a:ext cx="10516263" cy="5359179"/>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② 边</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r>
                      <a:rPr lang="en-US" altLang="zh-CN" sz="2600" dirty="0">
                        <a:latin typeface="Cambria Math" panose="02040503050406030204" pitchFamily="18" charset="0"/>
                        <a:ea typeface="华光仿宋_CNKI" panose="02000500000000000000" pitchFamily="2" charset="-122"/>
                      </a:rPr>
                      <m:t> </m:t>
                    </m:r>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位于裁剪边的窗口不可见一侧，此时没有新的顶点输出。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③ </a:t>
                </a:r>
                <a:r>
                  <a:rPr lang="zh-CN" altLang="en-US" sz="2600" dirty="0">
                    <a:latin typeface="华光仿宋_CNKI" panose="02000500000000000000" pitchFamily="2" charset="-122"/>
                    <a:ea typeface="华光仿宋_CNKI" panose="02000500000000000000" pitchFamily="2" charset="-122"/>
                  </a:rPr>
                  <a:t>边</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r>
                      <a:rPr lang="en-US" altLang="zh-CN" sz="2600" dirty="0">
                        <a:latin typeface="Cambria Math" panose="02040503050406030204" pitchFamily="18" charset="0"/>
                        <a:ea typeface="华光仿宋_CNKI" panose="02000500000000000000" pitchFamily="2" charset="-122"/>
                      </a:rPr>
                      <m:t> </m:t>
                    </m:r>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是离开裁剪边的窗口可见一侧的，此时，由于边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r>
                      <a:rPr lang="en-US" altLang="zh-CN" sz="2600" dirty="0">
                        <a:latin typeface="Cambria Math" panose="02040503050406030204" pitchFamily="18" charset="0"/>
                        <a:ea typeface="华光仿宋_CNKI" panose="02000500000000000000" pitchFamily="2" charset="-122"/>
                      </a:rPr>
                      <m:t> </m:t>
                    </m:r>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与裁剪边有交点，</a:t>
                </a:r>
                <a:r>
                  <a:rPr lang="en-US" altLang="zh-CN" sz="2600" dirty="0">
                    <a:ea typeface="华光仿宋_CNKI" panose="02000500000000000000" pitchFamily="2" charset="-122"/>
                  </a:rPr>
                  <a:t>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oMath>
                </a14:m>
                <a:r>
                  <a:rPr lang="zh-CN" altLang="en-US" sz="2600" dirty="0">
                    <a:latin typeface="华光仿宋_CNKI" panose="02000500000000000000" pitchFamily="2" charset="-122"/>
                    <a:ea typeface="华光仿宋_CNKI" panose="02000500000000000000" pitchFamily="2" charset="-122"/>
                  </a:rPr>
                  <a:t>是可见的，而</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是不可见的，因此，该交点应作为新的顶点输出。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zh-CN" sz="2600" dirty="0">
                    <a:latin typeface="华光仿宋_CNKI" panose="02000500000000000000" pitchFamily="2" charset="-122"/>
                    <a:ea typeface="华光仿宋_CNKI" panose="02000500000000000000" pitchFamily="2" charset="-122"/>
                  </a:rPr>
                  <a:t>④</a:t>
                </a: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边</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r>
                      <a:rPr lang="en-US" altLang="zh-CN" sz="2600" dirty="0">
                        <a:latin typeface="Cambria Math" panose="02040503050406030204" pitchFamily="18" charset="0"/>
                        <a:ea typeface="华光仿宋_CNKI" panose="02000500000000000000" pitchFamily="2" charset="-122"/>
                      </a:rPr>
                      <m:t> </m:t>
                    </m:r>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是进入裁剪边的窗口可见一侧的，此时，由于边 </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r>
                      <a:rPr lang="en-US" altLang="zh-CN" sz="2600" dirty="0">
                        <a:latin typeface="Cambria Math" panose="02040503050406030204" pitchFamily="18" charset="0"/>
                        <a:ea typeface="华光仿宋_CNKI" panose="02000500000000000000" pitchFamily="2" charset="-122"/>
                      </a:rPr>
                      <m:t> </m:t>
                    </m:r>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与裁剪边有交点，</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sub>
                    </m:sSub>
                  </m:oMath>
                </a14:m>
                <a:r>
                  <a:rPr lang="zh-CN" altLang="en-US" sz="2600" dirty="0">
                    <a:latin typeface="华光仿宋_CNKI" panose="02000500000000000000" pitchFamily="2" charset="-122"/>
                    <a:ea typeface="华光仿宋_CNKI" panose="02000500000000000000" pitchFamily="2" charset="-122"/>
                  </a:rPr>
                  <a:t>是不可见的，而</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是可见的，因此，该交点和顶点</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𝑖</m:t>
                        </m:r>
                        <m:r>
                          <a:rPr lang="en-US" altLang="zh-CN" sz="2600"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都应作为新的顶点输出。</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10978" y="636104"/>
                <a:ext cx="10516263" cy="5359179"/>
              </a:xfrm>
              <a:blipFill>
                <a:blip r:embed="rId2"/>
                <a:stretch>
                  <a:fillRect l="-10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99334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55319" y="596348"/>
                <a:ext cx="10516263" cy="5883965"/>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）最后还需检查封闭边</a:t>
                </a:r>
                <a14:m>
                  <m:oMath xmlns:m="http://schemas.openxmlformats.org/officeDocument/2006/math">
                    <m:sSub>
                      <m:sSubPr>
                        <m:ctrlPr>
                          <a:rPr lang="en-US" altLang="zh-CN" sz="2600" i="1" dirty="0" smtClean="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𝑛</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b="0" i="1" dirty="0" smtClean="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，如果</a:t>
                </a:r>
                <a14:m>
                  <m:oMath xmlns:m="http://schemas.openxmlformats.org/officeDocument/2006/math">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i="1" dirty="0">
                            <a:latin typeface="Cambria Math" panose="02040503050406030204" pitchFamily="18" charset="0"/>
                            <a:ea typeface="华光仿宋_CNKI" panose="02000500000000000000" pitchFamily="2" charset="-122"/>
                          </a:rPr>
                          <m:t>𝑛</m:t>
                        </m:r>
                      </m:sub>
                    </m:sSub>
                    <m:sSub>
                      <m:sSubPr>
                        <m:ctrlPr>
                          <a:rPr lang="en-US" altLang="zh-CN" sz="2600" i="1" dirty="0">
                            <a:latin typeface="Cambria Math" panose="02040503050406030204" pitchFamily="18" charset="0"/>
                            <a:ea typeface="华光仿宋_CNKI" panose="02000500000000000000" pitchFamily="2" charset="-122"/>
                          </a:rPr>
                        </m:ctrlPr>
                      </m:sSubPr>
                      <m:e>
                        <m:r>
                          <a:rPr lang="en-US" altLang="zh-CN" sz="2600" i="1" dirty="0">
                            <a:latin typeface="Cambria Math" panose="02040503050406030204" pitchFamily="18" charset="0"/>
                            <a:ea typeface="华光仿宋_CNKI" panose="02000500000000000000" pitchFamily="2" charset="-122"/>
                          </a:rPr>
                          <m:t>𝑃</m:t>
                        </m:r>
                      </m:e>
                      <m:sub>
                        <m:r>
                          <a:rPr lang="en-US" altLang="zh-CN" sz="2600" i="1" dirty="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与当前裁剪边相交，则应求出交点并输出该交点到输出顶点表列中。</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 将输出的顶点序列作为下一条裁剪边处理过程的输入，重复步骤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，直到所有窗口边线均作为裁剪边处理完毕为止。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4. </a:t>
                </a:r>
                <a:r>
                  <a:rPr lang="zh-CN" altLang="en-US" sz="2600" dirty="0">
                    <a:latin typeface="华光仿宋_CNKI" panose="02000500000000000000" pitchFamily="2" charset="-122"/>
                    <a:ea typeface="华光仿宋_CNKI" panose="02000500000000000000" pitchFamily="2" charset="-122"/>
                  </a:rPr>
                  <a:t>将输出的新的顶点序列依次连线，可得到裁剪后的多边形。</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上面的算法涉及到一些基础的算法：</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）判断某个顶点是否在裁剪多边形内部。</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）某条边是否位于裁剪边可见一侧。</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55319" y="596348"/>
                <a:ext cx="10516263" cy="5883965"/>
              </a:xfrm>
              <a:blipFill>
                <a:blip r:embed="rId2"/>
                <a:stretch>
                  <a:fillRect l="-9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48868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8099" y="262394"/>
            <a:ext cx="10516263" cy="3586038"/>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）某条边是否位于裁剪边不可见一侧。</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）某条边是否是离开裁剪边窗口可见一侧还是进入裁剪边窗口一侧。</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5</a:t>
            </a:r>
            <a:r>
              <a:rPr lang="zh-CN" altLang="en-US" sz="2600" dirty="0">
                <a:latin typeface="华光仿宋_CNKI" panose="02000500000000000000" pitchFamily="2" charset="-122"/>
                <a:ea typeface="华光仿宋_CNKI" panose="02000500000000000000" pitchFamily="2" charset="-122"/>
              </a:rPr>
              <a:t>）某条边与裁剪边的交点的计算。</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上述算法均在前面</a:t>
            </a:r>
            <a:r>
              <a:rPr lang="en-US" altLang="zh-CN" sz="2600" dirty="0">
                <a:latin typeface="华光仿宋_CNKI" panose="02000500000000000000" pitchFamily="2" charset="-122"/>
                <a:ea typeface="华光仿宋_CNKI" panose="02000500000000000000" pitchFamily="2" charset="-122"/>
              </a:rPr>
              <a:t>Liang-Barsky</a:t>
            </a:r>
            <a:r>
              <a:rPr lang="zh-CN" altLang="en-US" sz="2600" dirty="0">
                <a:latin typeface="华光仿宋_CNKI" panose="02000500000000000000" pitchFamily="2" charset="-122"/>
                <a:ea typeface="华光仿宋_CNKI" panose="02000500000000000000" pitchFamily="2" charset="-122"/>
              </a:rPr>
              <a:t>算法中进行了介绍。</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pic>
        <p:nvPicPr>
          <p:cNvPr id="4" name="图片 3">
            <a:extLst>
              <a:ext uri="{FF2B5EF4-FFF2-40B4-BE49-F238E27FC236}">
                <a16:creationId xmlns:a16="http://schemas.microsoft.com/office/drawing/2014/main" id="{CB4EA4C5-C0CF-78BB-398D-5BB96D8CBCA8}"/>
              </a:ext>
            </a:extLst>
          </p:cNvPr>
          <p:cNvPicPr>
            <a:picLocks noChangeAspect="1"/>
          </p:cNvPicPr>
          <p:nvPr/>
        </p:nvPicPr>
        <p:blipFill>
          <a:blip r:embed="rId2"/>
          <a:stretch>
            <a:fillRect/>
          </a:stretch>
        </p:blipFill>
        <p:spPr>
          <a:xfrm>
            <a:off x="834886" y="3689405"/>
            <a:ext cx="10638183" cy="2546443"/>
          </a:xfrm>
          <a:prstGeom prst="rect">
            <a:avLst/>
          </a:prstGeom>
        </p:spPr>
      </p:pic>
    </p:spTree>
    <p:extLst>
      <p:ext uri="{BB962C8B-B14F-4D97-AF65-F5344CB8AC3E}">
        <p14:creationId xmlns:p14="http://schemas.microsoft.com/office/powerpoint/2010/main" val="6155211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FFF47B2-8D41-294D-ED9C-822909DD4C6C}"/>
              </a:ext>
            </a:extLst>
          </p:cNvPr>
          <p:cNvSpPr/>
          <p:nvPr/>
        </p:nvSpPr>
        <p:spPr>
          <a:xfrm>
            <a:off x="5351227" y="3140765"/>
            <a:ext cx="5565913" cy="22581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a:extLst>
              <a:ext uri="{FF2B5EF4-FFF2-40B4-BE49-F238E27FC236}">
                <a16:creationId xmlns:a16="http://schemas.microsoft.com/office/drawing/2014/main" id="{F6CF8EBF-785C-87AE-E093-D1480831D84E}"/>
              </a:ext>
            </a:extLst>
          </p:cNvPr>
          <p:cNvSpPr>
            <a:spLocks noGrp="1"/>
          </p:cNvSpPr>
          <p:nvPr>
            <p:ph idx="1"/>
          </p:nvPr>
        </p:nvSpPr>
        <p:spPr>
          <a:xfrm>
            <a:off x="622189" y="225617"/>
            <a:ext cx="10515600" cy="1887441"/>
          </a:xfrm>
        </p:spPr>
        <p:txBody>
          <a:bodyPr>
            <a:noAutofit/>
          </a:bodyPr>
          <a:lstStyle/>
          <a:p>
            <a:pPr marL="0" indent="0">
              <a:lnSpc>
                <a:spcPct val="150000"/>
              </a:lnSpc>
              <a:buNone/>
            </a:pPr>
            <a:r>
              <a:rPr lang="zh-CN" altLang="en-US" sz="4000" b="1" dirty="0">
                <a:solidFill>
                  <a:srgbClr val="FF0000"/>
                </a:solidFill>
              </a:rPr>
              <a:t>       如果待裁剪多边形是凹多边形会出现什么情况？如下图所示。</a:t>
            </a:r>
          </a:p>
        </p:txBody>
      </p:sp>
      <p:cxnSp>
        <p:nvCxnSpPr>
          <p:cNvPr id="6" name="直接连接符 5">
            <a:extLst>
              <a:ext uri="{FF2B5EF4-FFF2-40B4-BE49-F238E27FC236}">
                <a16:creationId xmlns:a16="http://schemas.microsoft.com/office/drawing/2014/main" id="{739E927D-FA10-D57C-2BC2-24133AD3C2CF}"/>
              </a:ext>
            </a:extLst>
          </p:cNvPr>
          <p:cNvCxnSpPr>
            <a:cxnSpLocks/>
          </p:cNvCxnSpPr>
          <p:nvPr/>
        </p:nvCxnSpPr>
        <p:spPr>
          <a:xfrm flipV="1">
            <a:off x="4842344" y="2770034"/>
            <a:ext cx="1731397" cy="149981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CDDBEB5D-F87C-3310-D86D-6EEE8324ECF7}"/>
              </a:ext>
            </a:extLst>
          </p:cNvPr>
          <p:cNvCxnSpPr>
            <a:cxnSpLocks/>
          </p:cNvCxnSpPr>
          <p:nvPr/>
        </p:nvCxnSpPr>
        <p:spPr>
          <a:xfrm>
            <a:off x="6547899" y="2761090"/>
            <a:ext cx="1204622" cy="11191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F93D9AB-D5F5-D427-EFED-58236F6302B8}"/>
              </a:ext>
            </a:extLst>
          </p:cNvPr>
          <p:cNvCxnSpPr>
            <a:cxnSpLocks/>
          </p:cNvCxnSpPr>
          <p:nvPr/>
        </p:nvCxnSpPr>
        <p:spPr>
          <a:xfrm flipV="1">
            <a:off x="7752521" y="2584173"/>
            <a:ext cx="1105232" cy="12960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6471F46-2DFD-868C-DBA8-B5D1AB568C0B}"/>
              </a:ext>
            </a:extLst>
          </p:cNvPr>
          <p:cNvCxnSpPr>
            <a:cxnSpLocks/>
          </p:cNvCxnSpPr>
          <p:nvPr/>
        </p:nvCxnSpPr>
        <p:spPr>
          <a:xfrm flipH="1" flipV="1">
            <a:off x="6456459" y="2238293"/>
            <a:ext cx="2401294" cy="3458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8287011-1502-A2FF-369A-ACBACA32F775}"/>
              </a:ext>
            </a:extLst>
          </p:cNvPr>
          <p:cNvCxnSpPr>
            <a:cxnSpLocks/>
          </p:cNvCxnSpPr>
          <p:nvPr/>
        </p:nvCxnSpPr>
        <p:spPr>
          <a:xfrm flipV="1">
            <a:off x="6042991" y="5915770"/>
            <a:ext cx="2592125" cy="5387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0075F74-68B6-5229-A08A-0051B2A60ECC}"/>
              </a:ext>
            </a:extLst>
          </p:cNvPr>
          <p:cNvCxnSpPr/>
          <p:nvPr/>
        </p:nvCxnSpPr>
        <p:spPr>
          <a:xfrm flipH="1" flipV="1">
            <a:off x="7967206" y="4540194"/>
            <a:ext cx="667910" cy="13755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DBF7B19-2DE4-9A8F-F55B-72A76BE6CF2A}"/>
              </a:ext>
            </a:extLst>
          </p:cNvPr>
          <p:cNvCxnSpPr/>
          <p:nvPr/>
        </p:nvCxnSpPr>
        <p:spPr>
          <a:xfrm flipH="1">
            <a:off x="6917634" y="4524292"/>
            <a:ext cx="1033670" cy="149484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DF1DE6F-67C3-66B5-8F39-38FA57B16B95}"/>
              </a:ext>
            </a:extLst>
          </p:cNvPr>
          <p:cNvCxnSpPr>
            <a:cxnSpLocks/>
          </p:cNvCxnSpPr>
          <p:nvPr/>
        </p:nvCxnSpPr>
        <p:spPr>
          <a:xfrm>
            <a:off x="4842344" y="4269850"/>
            <a:ext cx="2075290" cy="17492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86C29300-59A6-CEA4-1F90-5ED6F72E880E}"/>
              </a:ext>
            </a:extLst>
          </p:cNvPr>
          <p:cNvCxnSpPr>
            <a:cxnSpLocks/>
          </p:cNvCxnSpPr>
          <p:nvPr/>
        </p:nvCxnSpPr>
        <p:spPr>
          <a:xfrm flipV="1">
            <a:off x="4842344" y="2246242"/>
            <a:ext cx="1614115" cy="103963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A93B493-CC7B-61F9-89C1-B3409233B775}"/>
              </a:ext>
            </a:extLst>
          </p:cNvPr>
          <p:cNvCxnSpPr/>
          <p:nvPr/>
        </p:nvCxnSpPr>
        <p:spPr>
          <a:xfrm flipH="1" flipV="1">
            <a:off x="4110824" y="5439685"/>
            <a:ext cx="1908313" cy="10147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B0D2946D-72C4-52D9-3C98-582BC17958B5}"/>
              </a:ext>
            </a:extLst>
          </p:cNvPr>
          <p:cNvCxnSpPr>
            <a:cxnSpLocks/>
          </p:cNvCxnSpPr>
          <p:nvPr/>
        </p:nvCxnSpPr>
        <p:spPr>
          <a:xfrm flipH="1">
            <a:off x="4110824" y="3271464"/>
            <a:ext cx="747423" cy="216822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9287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0646" y="892332"/>
            <a:ext cx="5467321" cy="4627848"/>
          </a:xfrm>
        </p:spPr>
        <p:txBody>
          <a:bodyPr>
            <a:noAutofit/>
          </a:bodyPr>
          <a:lstStyle/>
          <a:p>
            <a:pPr marL="0" indent="0">
              <a:lnSpc>
                <a:spcPct val="150000"/>
              </a:lnSpc>
              <a:buNone/>
            </a:pPr>
            <a:r>
              <a:rPr lang="en-US" altLang="zh-CN" sz="2600" dirty="0">
                <a:latin typeface="华光标题宋_CNKI" panose="02000500000000000000" pitchFamily="2" charset="-122"/>
                <a:ea typeface="华光标题宋_CNKI" panose="02000500000000000000" pitchFamily="2" charset="-122"/>
              </a:rPr>
              <a:t>2.2 </a:t>
            </a:r>
            <a:r>
              <a:rPr lang="en-US" altLang="zh-CN" sz="2600" dirty="0" err="1">
                <a:latin typeface="华光标题宋_CNKI" panose="02000500000000000000" pitchFamily="2" charset="-122"/>
                <a:ea typeface="华光标题宋_CNKI" panose="02000500000000000000" pitchFamily="2" charset="-122"/>
              </a:rPr>
              <a:t>Weiler</a:t>
            </a:r>
            <a:r>
              <a:rPr lang="en-US" altLang="zh-CN" sz="2600" dirty="0">
                <a:latin typeface="华光标题宋_CNKI" panose="02000500000000000000" pitchFamily="2" charset="-122"/>
                <a:ea typeface="华光标题宋_CNKI" panose="02000500000000000000" pitchFamily="2" charset="-122"/>
              </a:rPr>
              <a:t>-Atherton</a:t>
            </a:r>
            <a:r>
              <a:rPr lang="zh-CN" altLang="en-US" sz="2600" dirty="0">
                <a:latin typeface="华光标题宋_CNKI" panose="02000500000000000000" pitchFamily="2" charset="-122"/>
                <a:ea typeface="华光标题宋_CNKI" panose="02000500000000000000" pitchFamily="2" charset="-122"/>
              </a:rPr>
              <a:t>算法</a:t>
            </a:r>
            <a:endParaRPr lang="en-US" altLang="zh-CN" sz="26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由于</a:t>
            </a:r>
            <a:r>
              <a:rPr lang="en-US" altLang="zh-CN" sz="2600" dirty="0">
                <a:latin typeface="华光仿宋_CNKI" panose="02000500000000000000" pitchFamily="2" charset="-122"/>
                <a:ea typeface="华光仿宋_CNKI" panose="02000500000000000000" pitchFamily="2" charset="-122"/>
              </a:rPr>
              <a:t>Liang-Barsky</a:t>
            </a:r>
            <a:r>
              <a:rPr lang="zh-CN" altLang="en-US" sz="2600" dirty="0">
                <a:latin typeface="华光仿宋_CNKI" panose="02000500000000000000" pitchFamily="2" charset="-122"/>
                <a:ea typeface="华光仿宋_CNKI" panose="02000500000000000000" pitchFamily="2" charset="-122"/>
              </a:rPr>
              <a:t>算法在对凹多边形进行裁剪时会出现多余的边，因此该算法适合于对凸多边形进行裁剪。</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en-US" altLang="zh-CN" sz="2600" dirty="0" err="1">
                <a:latin typeface="华光仿宋_CNKI" panose="02000500000000000000" pitchFamily="2" charset="-122"/>
                <a:ea typeface="华光仿宋_CNKI" panose="02000500000000000000" pitchFamily="2" charset="-122"/>
              </a:rPr>
              <a:t>Weiler</a:t>
            </a:r>
            <a:r>
              <a:rPr lang="en-US" altLang="zh-CN" sz="2600" dirty="0">
                <a:latin typeface="华光仿宋_CNKI" panose="02000500000000000000" pitchFamily="2" charset="-122"/>
                <a:ea typeface="华光仿宋_CNKI" panose="02000500000000000000" pitchFamily="2" charset="-122"/>
              </a:rPr>
              <a:t>-Atherton</a:t>
            </a:r>
            <a:r>
              <a:rPr lang="zh-CN" altLang="en-US" sz="2600" dirty="0">
                <a:latin typeface="华光仿宋_CNKI" panose="02000500000000000000" pitchFamily="2" charset="-122"/>
                <a:ea typeface="华光仿宋_CNKI" panose="02000500000000000000" pitchFamily="2" charset="-122"/>
              </a:rPr>
              <a:t>算法则可适用于任意类型的多边形，包括内空的多边形。如右图所示。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grpSp>
        <p:nvGrpSpPr>
          <p:cNvPr id="34" name="组合 33">
            <a:extLst>
              <a:ext uri="{FF2B5EF4-FFF2-40B4-BE49-F238E27FC236}">
                <a16:creationId xmlns:a16="http://schemas.microsoft.com/office/drawing/2014/main" id="{445E11F9-40CA-740D-C5C0-B099766053C3}"/>
              </a:ext>
            </a:extLst>
          </p:cNvPr>
          <p:cNvGrpSpPr/>
          <p:nvPr/>
        </p:nvGrpSpPr>
        <p:grpSpPr>
          <a:xfrm>
            <a:off x="6337190" y="186263"/>
            <a:ext cx="5577839" cy="6485473"/>
            <a:chOff x="5216056" y="118084"/>
            <a:chExt cx="5577839" cy="6485473"/>
          </a:xfrm>
        </p:grpSpPr>
        <p:sp>
          <p:nvSpPr>
            <p:cNvPr id="4" name="图文框 3">
              <a:extLst>
                <a:ext uri="{FF2B5EF4-FFF2-40B4-BE49-F238E27FC236}">
                  <a16:creationId xmlns:a16="http://schemas.microsoft.com/office/drawing/2014/main" id="{91BA6DFA-A85A-3723-6B27-C2389543F0F5}"/>
                </a:ext>
              </a:extLst>
            </p:cNvPr>
            <p:cNvSpPr/>
            <p:nvPr/>
          </p:nvSpPr>
          <p:spPr>
            <a:xfrm>
              <a:off x="7124370" y="1248354"/>
              <a:ext cx="3307742" cy="2449002"/>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a:extLst>
                <a:ext uri="{FF2B5EF4-FFF2-40B4-BE49-F238E27FC236}">
                  <a16:creationId xmlns:a16="http://schemas.microsoft.com/office/drawing/2014/main" id="{18414C2B-A521-3DE6-3699-E4B8A86CC66A}"/>
                </a:ext>
              </a:extLst>
            </p:cNvPr>
            <p:cNvSpPr/>
            <p:nvPr/>
          </p:nvSpPr>
          <p:spPr>
            <a:xfrm>
              <a:off x="8173940" y="314077"/>
              <a:ext cx="1932168" cy="5295569"/>
            </a:xfrm>
            <a:prstGeom prst="halfFram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矩形 7">
              <a:extLst>
                <a:ext uri="{FF2B5EF4-FFF2-40B4-BE49-F238E27FC236}">
                  <a16:creationId xmlns:a16="http://schemas.microsoft.com/office/drawing/2014/main" id="{F50609FF-131D-4987-6CD1-431AC0546931}"/>
                </a:ext>
              </a:extLst>
            </p:cNvPr>
            <p:cNvSpPr/>
            <p:nvPr/>
          </p:nvSpPr>
          <p:spPr>
            <a:xfrm>
              <a:off x="8173940" y="1248354"/>
              <a:ext cx="644057" cy="33395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ln>
                  <a:solidFill>
                    <a:srgbClr val="FFFF00"/>
                  </a:solidFill>
                </a:ln>
                <a:solidFill>
                  <a:srgbClr val="FF0000"/>
                </a:solidFill>
              </a:endParaRPr>
            </a:p>
          </p:txBody>
        </p:sp>
        <p:sp>
          <p:nvSpPr>
            <p:cNvPr id="9" name="矩形 8">
              <a:extLst>
                <a:ext uri="{FF2B5EF4-FFF2-40B4-BE49-F238E27FC236}">
                  <a16:creationId xmlns:a16="http://schemas.microsoft.com/office/drawing/2014/main" id="{01731C00-C5BA-6DCD-FB43-5B4AE9773726}"/>
                </a:ext>
              </a:extLst>
            </p:cNvPr>
            <p:cNvSpPr/>
            <p:nvPr/>
          </p:nvSpPr>
          <p:spPr>
            <a:xfrm>
              <a:off x="8165990" y="3379302"/>
              <a:ext cx="644057" cy="33395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ln>
                  <a:solidFill>
                    <a:srgbClr val="FFFF00"/>
                  </a:solidFill>
                </a:ln>
                <a:solidFill>
                  <a:srgbClr val="FF0000"/>
                </a:solidFill>
              </a:endParaRPr>
            </a:p>
          </p:txBody>
        </p:sp>
        <p:sp>
          <p:nvSpPr>
            <p:cNvPr id="11" name="对话气泡: 椭圆形 10">
              <a:extLst>
                <a:ext uri="{FF2B5EF4-FFF2-40B4-BE49-F238E27FC236}">
                  <a16:creationId xmlns:a16="http://schemas.microsoft.com/office/drawing/2014/main" id="{950AF482-9836-BA7D-A6EA-8A9FB0824E02}"/>
                </a:ext>
              </a:extLst>
            </p:cNvPr>
            <p:cNvSpPr/>
            <p:nvPr/>
          </p:nvSpPr>
          <p:spPr>
            <a:xfrm>
              <a:off x="8495968" y="4828635"/>
              <a:ext cx="2297927" cy="771273"/>
            </a:xfrm>
            <a:prstGeom prst="wedgeEllipseCallout">
              <a:avLst>
                <a:gd name="adj1" fmla="val -54743"/>
                <a:gd name="adj2" fmla="val -2077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裁剪后的区域</a:t>
              </a:r>
            </a:p>
          </p:txBody>
        </p:sp>
        <p:sp>
          <p:nvSpPr>
            <p:cNvPr id="14" name="对话气泡: 椭圆形 13">
              <a:extLst>
                <a:ext uri="{FF2B5EF4-FFF2-40B4-BE49-F238E27FC236}">
                  <a16:creationId xmlns:a16="http://schemas.microsoft.com/office/drawing/2014/main" id="{1A1731D5-09B6-BC84-80D6-0BFCB4F97F05}"/>
                </a:ext>
              </a:extLst>
            </p:cNvPr>
            <p:cNvSpPr/>
            <p:nvPr/>
          </p:nvSpPr>
          <p:spPr>
            <a:xfrm>
              <a:off x="5216056" y="159027"/>
              <a:ext cx="2297927" cy="771273"/>
            </a:xfrm>
            <a:prstGeom prst="wedgeEllipseCallout">
              <a:avLst>
                <a:gd name="adj1" fmla="val 53955"/>
                <a:gd name="adj2" fmla="val 11081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填充部分为裁剪多边形</a:t>
              </a:r>
            </a:p>
          </p:txBody>
        </p:sp>
        <p:sp>
          <p:nvSpPr>
            <p:cNvPr id="15" name="对话气泡: 椭圆形 14">
              <a:extLst>
                <a:ext uri="{FF2B5EF4-FFF2-40B4-BE49-F238E27FC236}">
                  <a16:creationId xmlns:a16="http://schemas.microsoft.com/office/drawing/2014/main" id="{6DFFA9D8-0413-A284-AE52-7D77B9FF3444}"/>
                </a:ext>
              </a:extLst>
            </p:cNvPr>
            <p:cNvSpPr/>
            <p:nvPr/>
          </p:nvSpPr>
          <p:spPr>
            <a:xfrm>
              <a:off x="5569889" y="5832284"/>
              <a:ext cx="2297927" cy="771273"/>
            </a:xfrm>
            <a:prstGeom prst="wedgeEllipseCallout">
              <a:avLst>
                <a:gd name="adj1" fmla="val 68440"/>
                <a:gd name="adj2" fmla="val -1850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填充部分为被裁剪多边形</a:t>
              </a:r>
            </a:p>
          </p:txBody>
        </p:sp>
        <p:sp>
          <p:nvSpPr>
            <p:cNvPr id="16" name="文本框 15">
              <a:extLst>
                <a:ext uri="{FF2B5EF4-FFF2-40B4-BE49-F238E27FC236}">
                  <a16:creationId xmlns:a16="http://schemas.microsoft.com/office/drawing/2014/main" id="{2B24C138-3C7D-75B4-588D-E67B46234AF4}"/>
                </a:ext>
              </a:extLst>
            </p:cNvPr>
            <p:cNvSpPr txBox="1"/>
            <p:nvPr/>
          </p:nvSpPr>
          <p:spPr>
            <a:xfrm>
              <a:off x="9752417" y="3067826"/>
              <a:ext cx="425116" cy="369332"/>
            </a:xfrm>
            <a:prstGeom prst="rect">
              <a:avLst/>
            </a:prstGeom>
            <a:noFill/>
          </p:spPr>
          <p:txBody>
            <a:bodyPr wrap="none" rtlCol="0">
              <a:spAutoFit/>
            </a:bodyPr>
            <a:lstStyle/>
            <a:p>
              <a:r>
                <a:rPr lang="en-US" altLang="zh-CN" dirty="0"/>
                <a:t>C7</a:t>
              </a:r>
              <a:endParaRPr lang="zh-CN" altLang="en-US" dirty="0"/>
            </a:p>
          </p:txBody>
        </p:sp>
        <p:sp>
          <p:nvSpPr>
            <p:cNvPr id="17" name="文本框 16">
              <a:extLst>
                <a:ext uri="{FF2B5EF4-FFF2-40B4-BE49-F238E27FC236}">
                  <a16:creationId xmlns:a16="http://schemas.microsoft.com/office/drawing/2014/main" id="{62EEE88D-3B68-4F18-69A9-8B3A81199510}"/>
                </a:ext>
              </a:extLst>
            </p:cNvPr>
            <p:cNvSpPr txBox="1"/>
            <p:nvPr/>
          </p:nvSpPr>
          <p:spPr>
            <a:xfrm>
              <a:off x="10366652" y="1139220"/>
              <a:ext cx="425116" cy="369332"/>
            </a:xfrm>
            <a:prstGeom prst="rect">
              <a:avLst/>
            </a:prstGeom>
            <a:noFill/>
          </p:spPr>
          <p:txBody>
            <a:bodyPr wrap="none" rtlCol="0">
              <a:spAutoFit/>
            </a:bodyPr>
            <a:lstStyle/>
            <a:p>
              <a:r>
                <a:rPr lang="en-US" altLang="zh-CN" dirty="0"/>
                <a:t>C2</a:t>
              </a:r>
              <a:endParaRPr lang="zh-CN" altLang="en-US" dirty="0"/>
            </a:p>
          </p:txBody>
        </p:sp>
        <p:sp>
          <p:nvSpPr>
            <p:cNvPr id="18" name="文本框 17">
              <a:extLst>
                <a:ext uri="{FF2B5EF4-FFF2-40B4-BE49-F238E27FC236}">
                  <a16:creationId xmlns:a16="http://schemas.microsoft.com/office/drawing/2014/main" id="{F3D1E19C-E4CD-6C2D-FF1B-D9F245ADA02E}"/>
                </a:ext>
              </a:extLst>
            </p:cNvPr>
            <p:cNvSpPr txBox="1"/>
            <p:nvPr/>
          </p:nvSpPr>
          <p:spPr>
            <a:xfrm>
              <a:off x="10361875" y="3437158"/>
              <a:ext cx="425116" cy="369332"/>
            </a:xfrm>
            <a:prstGeom prst="rect">
              <a:avLst/>
            </a:prstGeom>
            <a:noFill/>
          </p:spPr>
          <p:txBody>
            <a:bodyPr wrap="none" rtlCol="0">
              <a:spAutoFit/>
            </a:bodyPr>
            <a:lstStyle/>
            <a:p>
              <a:r>
                <a:rPr lang="en-US" altLang="zh-CN" dirty="0"/>
                <a:t>C3</a:t>
              </a:r>
              <a:endParaRPr lang="zh-CN" altLang="en-US" dirty="0"/>
            </a:p>
          </p:txBody>
        </p:sp>
        <p:sp>
          <p:nvSpPr>
            <p:cNvPr id="19" name="文本框 18">
              <a:extLst>
                <a:ext uri="{FF2B5EF4-FFF2-40B4-BE49-F238E27FC236}">
                  <a16:creationId xmlns:a16="http://schemas.microsoft.com/office/drawing/2014/main" id="{E4BD1AA7-763C-A8C2-17FB-F9FA88682FAD}"/>
                </a:ext>
              </a:extLst>
            </p:cNvPr>
            <p:cNvSpPr txBox="1"/>
            <p:nvPr/>
          </p:nvSpPr>
          <p:spPr>
            <a:xfrm>
              <a:off x="6798504" y="3437158"/>
              <a:ext cx="425116" cy="369332"/>
            </a:xfrm>
            <a:prstGeom prst="rect">
              <a:avLst/>
            </a:prstGeom>
            <a:noFill/>
          </p:spPr>
          <p:txBody>
            <a:bodyPr wrap="none" rtlCol="0">
              <a:spAutoFit/>
            </a:bodyPr>
            <a:lstStyle/>
            <a:p>
              <a:r>
                <a:rPr lang="en-US" altLang="zh-CN" dirty="0"/>
                <a:t>C4</a:t>
              </a:r>
              <a:endParaRPr lang="zh-CN" altLang="en-US" dirty="0"/>
            </a:p>
          </p:txBody>
        </p:sp>
        <p:sp>
          <p:nvSpPr>
            <p:cNvPr id="20" name="文本框 19">
              <a:extLst>
                <a:ext uri="{FF2B5EF4-FFF2-40B4-BE49-F238E27FC236}">
                  <a16:creationId xmlns:a16="http://schemas.microsoft.com/office/drawing/2014/main" id="{FA8C52B2-254B-8BE7-2CEC-8E81DA361B61}"/>
                </a:ext>
              </a:extLst>
            </p:cNvPr>
            <p:cNvSpPr txBox="1"/>
            <p:nvPr/>
          </p:nvSpPr>
          <p:spPr>
            <a:xfrm>
              <a:off x="7395271" y="1508552"/>
              <a:ext cx="425116" cy="369332"/>
            </a:xfrm>
            <a:prstGeom prst="rect">
              <a:avLst/>
            </a:prstGeom>
            <a:noFill/>
          </p:spPr>
          <p:txBody>
            <a:bodyPr wrap="none" rtlCol="0">
              <a:spAutoFit/>
            </a:bodyPr>
            <a:lstStyle/>
            <a:p>
              <a:r>
                <a:rPr lang="en-US" altLang="zh-CN" dirty="0"/>
                <a:t>C5</a:t>
              </a:r>
              <a:endParaRPr lang="zh-CN" altLang="en-US" dirty="0"/>
            </a:p>
          </p:txBody>
        </p:sp>
        <p:sp>
          <p:nvSpPr>
            <p:cNvPr id="21" name="文本框 20">
              <a:extLst>
                <a:ext uri="{FF2B5EF4-FFF2-40B4-BE49-F238E27FC236}">
                  <a16:creationId xmlns:a16="http://schemas.microsoft.com/office/drawing/2014/main" id="{053A0077-3496-96ED-FEB5-9CF71F48734F}"/>
                </a:ext>
              </a:extLst>
            </p:cNvPr>
            <p:cNvSpPr txBox="1"/>
            <p:nvPr/>
          </p:nvSpPr>
          <p:spPr>
            <a:xfrm>
              <a:off x="9770864" y="1498818"/>
              <a:ext cx="425116" cy="369332"/>
            </a:xfrm>
            <a:prstGeom prst="rect">
              <a:avLst/>
            </a:prstGeom>
            <a:noFill/>
          </p:spPr>
          <p:txBody>
            <a:bodyPr wrap="none" rtlCol="0">
              <a:spAutoFit/>
            </a:bodyPr>
            <a:lstStyle/>
            <a:p>
              <a:r>
                <a:rPr lang="en-US" altLang="zh-CN" dirty="0"/>
                <a:t>C8</a:t>
              </a:r>
              <a:endParaRPr lang="zh-CN" altLang="en-US" dirty="0"/>
            </a:p>
          </p:txBody>
        </p:sp>
        <p:sp>
          <p:nvSpPr>
            <p:cNvPr id="22" name="文本框 21">
              <a:extLst>
                <a:ext uri="{FF2B5EF4-FFF2-40B4-BE49-F238E27FC236}">
                  <a16:creationId xmlns:a16="http://schemas.microsoft.com/office/drawing/2014/main" id="{C9A9FCAC-8700-74E9-29A7-23B3F37BC58A}"/>
                </a:ext>
              </a:extLst>
            </p:cNvPr>
            <p:cNvSpPr txBox="1"/>
            <p:nvPr/>
          </p:nvSpPr>
          <p:spPr>
            <a:xfrm>
              <a:off x="6800631" y="1193094"/>
              <a:ext cx="425116" cy="369332"/>
            </a:xfrm>
            <a:prstGeom prst="rect">
              <a:avLst/>
            </a:prstGeom>
            <a:noFill/>
          </p:spPr>
          <p:txBody>
            <a:bodyPr wrap="none" rtlCol="0">
              <a:spAutoFit/>
            </a:bodyPr>
            <a:lstStyle/>
            <a:p>
              <a:r>
                <a:rPr lang="en-US" altLang="zh-CN" dirty="0"/>
                <a:t>C1</a:t>
              </a:r>
              <a:endParaRPr lang="zh-CN" altLang="en-US" dirty="0"/>
            </a:p>
          </p:txBody>
        </p:sp>
        <p:sp>
          <p:nvSpPr>
            <p:cNvPr id="23" name="文本框 22">
              <a:extLst>
                <a:ext uri="{FF2B5EF4-FFF2-40B4-BE49-F238E27FC236}">
                  <a16:creationId xmlns:a16="http://schemas.microsoft.com/office/drawing/2014/main" id="{938E5E97-9C97-328F-A533-277ECAE7AFEC}"/>
                </a:ext>
              </a:extLst>
            </p:cNvPr>
            <p:cNvSpPr txBox="1"/>
            <p:nvPr/>
          </p:nvSpPr>
          <p:spPr>
            <a:xfrm>
              <a:off x="7336928" y="3070009"/>
              <a:ext cx="425116" cy="369332"/>
            </a:xfrm>
            <a:prstGeom prst="rect">
              <a:avLst/>
            </a:prstGeom>
            <a:noFill/>
          </p:spPr>
          <p:txBody>
            <a:bodyPr wrap="none" rtlCol="0">
              <a:spAutoFit/>
            </a:bodyPr>
            <a:lstStyle/>
            <a:p>
              <a:r>
                <a:rPr lang="en-US" altLang="zh-CN" dirty="0"/>
                <a:t>C6</a:t>
              </a:r>
              <a:endParaRPr lang="zh-CN" altLang="en-US" dirty="0"/>
            </a:p>
          </p:txBody>
        </p:sp>
        <p:sp>
          <p:nvSpPr>
            <p:cNvPr id="24" name="文本框 23">
              <a:extLst>
                <a:ext uri="{FF2B5EF4-FFF2-40B4-BE49-F238E27FC236}">
                  <a16:creationId xmlns:a16="http://schemas.microsoft.com/office/drawing/2014/main" id="{127FE3C0-121B-5BCD-7091-F12A3883C0E2}"/>
                </a:ext>
              </a:extLst>
            </p:cNvPr>
            <p:cNvSpPr txBox="1"/>
            <p:nvPr/>
          </p:nvSpPr>
          <p:spPr>
            <a:xfrm>
              <a:off x="7820387" y="140865"/>
              <a:ext cx="407484" cy="369332"/>
            </a:xfrm>
            <a:prstGeom prst="rect">
              <a:avLst/>
            </a:prstGeom>
            <a:noFill/>
          </p:spPr>
          <p:txBody>
            <a:bodyPr wrap="none" rtlCol="0">
              <a:spAutoFit/>
            </a:bodyPr>
            <a:lstStyle/>
            <a:p>
              <a:r>
                <a:rPr lang="en-US" altLang="zh-CN" dirty="0"/>
                <a:t>S1</a:t>
              </a:r>
              <a:endParaRPr lang="zh-CN" altLang="en-US" dirty="0"/>
            </a:p>
          </p:txBody>
        </p:sp>
        <p:sp>
          <p:nvSpPr>
            <p:cNvPr id="25" name="文本框 24">
              <a:extLst>
                <a:ext uri="{FF2B5EF4-FFF2-40B4-BE49-F238E27FC236}">
                  <a16:creationId xmlns:a16="http://schemas.microsoft.com/office/drawing/2014/main" id="{E1692B04-BDC5-6B05-ADA9-48A4419F1F17}"/>
                </a:ext>
              </a:extLst>
            </p:cNvPr>
            <p:cNvSpPr txBox="1"/>
            <p:nvPr/>
          </p:nvSpPr>
          <p:spPr>
            <a:xfrm>
              <a:off x="10034545" y="118084"/>
              <a:ext cx="407484" cy="369332"/>
            </a:xfrm>
            <a:prstGeom prst="rect">
              <a:avLst/>
            </a:prstGeom>
            <a:noFill/>
          </p:spPr>
          <p:txBody>
            <a:bodyPr wrap="none" rtlCol="0">
              <a:spAutoFit/>
            </a:bodyPr>
            <a:lstStyle/>
            <a:p>
              <a:r>
                <a:rPr lang="en-US" altLang="zh-CN" dirty="0"/>
                <a:t>S2</a:t>
              </a:r>
              <a:endParaRPr lang="zh-CN" altLang="en-US" dirty="0"/>
            </a:p>
          </p:txBody>
        </p:sp>
        <p:sp>
          <p:nvSpPr>
            <p:cNvPr id="29" name="文本框 28">
              <a:extLst>
                <a:ext uri="{FF2B5EF4-FFF2-40B4-BE49-F238E27FC236}">
                  <a16:creationId xmlns:a16="http://schemas.microsoft.com/office/drawing/2014/main" id="{435C16EB-1A4F-F748-F42A-BE2E54C66DA7}"/>
                </a:ext>
              </a:extLst>
            </p:cNvPr>
            <p:cNvSpPr txBox="1"/>
            <p:nvPr/>
          </p:nvSpPr>
          <p:spPr>
            <a:xfrm>
              <a:off x="9826508" y="801293"/>
              <a:ext cx="407484" cy="369332"/>
            </a:xfrm>
            <a:prstGeom prst="rect">
              <a:avLst/>
            </a:prstGeom>
            <a:noFill/>
          </p:spPr>
          <p:txBody>
            <a:bodyPr wrap="none" rtlCol="0">
              <a:spAutoFit/>
            </a:bodyPr>
            <a:lstStyle/>
            <a:p>
              <a:r>
                <a:rPr lang="en-US" altLang="zh-CN" dirty="0"/>
                <a:t>S3</a:t>
              </a:r>
              <a:endParaRPr lang="zh-CN" altLang="en-US" dirty="0"/>
            </a:p>
          </p:txBody>
        </p:sp>
        <p:sp>
          <p:nvSpPr>
            <p:cNvPr id="30" name="文本框 29">
              <a:extLst>
                <a:ext uri="{FF2B5EF4-FFF2-40B4-BE49-F238E27FC236}">
                  <a16:creationId xmlns:a16="http://schemas.microsoft.com/office/drawing/2014/main" id="{8B388330-C935-01E3-DB51-FD376D3ABABA}"/>
                </a:ext>
              </a:extLst>
            </p:cNvPr>
            <p:cNvSpPr txBox="1"/>
            <p:nvPr/>
          </p:nvSpPr>
          <p:spPr>
            <a:xfrm>
              <a:off x="8687909" y="666726"/>
              <a:ext cx="407484" cy="369332"/>
            </a:xfrm>
            <a:prstGeom prst="rect">
              <a:avLst/>
            </a:prstGeom>
            <a:noFill/>
          </p:spPr>
          <p:txBody>
            <a:bodyPr wrap="none" rtlCol="0">
              <a:spAutoFit/>
            </a:bodyPr>
            <a:lstStyle/>
            <a:p>
              <a:r>
                <a:rPr lang="en-US" altLang="zh-CN" dirty="0"/>
                <a:t>S4</a:t>
              </a:r>
              <a:endParaRPr lang="zh-CN" altLang="en-US" dirty="0"/>
            </a:p>
          </p:txBody>
        </p:sp>
        <p:sp>
          <p:nvSpPr>
            <p:cNvPr id="31" name="文本框 30">
              <a:extLst>
                <a:ext uri="{FF2B5EF4-FFF2-40B4-BE49-F238E27FC236}">
                  <a16:creationId xmlns:a16="http://schemas.microsoft.com/office/drawing/2014/main" id="{CC95662D-3565-8D81-9758-F31A0B5C57B8}"/>
                </a:ext>
              </a:extLst>
            </p:cNvPr>
            <p:cNvSpPr txBox="1"/>
            <p:nvPr/>
          </p:nvSpPr>
          <p:spPr>
            <a:xfrm>
              <a:off x="8743433" y="3763565"/>
              <a:ext cx="497413" cy="369332"/>
            </a:xfrm>
            <a:prstGeom prst="rect">
              <a:avLst/>
            </a:prstGeom>
            <a:noFill/>
          </p:spPr>
          <p:txBody>
            <a:bodyPr wrap="square" rtlCol="0">
              <a:spAutoFit/>
            </a:bodyPr>
            <a:lstStyle/>
            <a:p>
              <a:r>
                <a:rPr lang="en-US" altLang="zh-CN" dirty="0"/>
                <a:t>S5</a:t>
              </a:r>
              <a:endParaRPr lang="zh-CN" altLang="en-US" dirty="0"/>
            </a:p>
          </p:txBody>
        </p:sp>
        <p:sp>
          <p:nvSpPr>
            <p:cNvPr id="32" name="文本框 31">
              <a:extLst>
                <a:ext uri="{FF2B5EF4-FFF2-40B4-BE49-F238E27FC236}">
                  <a16:creationId xmlns:a16="http://schemas.microsoft.com/office/drawing/2014/main" id="{C90B69BE-AEE0-A8E9-E02C-00406B52B56D}"/>
                </a:ext>
              </a:extLst>
            </p:cNvPr>
            <p:cNvSpPr txBox="1"/>
            <p:nvPr/>
          </p:nvSpPr>
          <p:spPr>
            <a:xfrm>
              <a:off x="7966222" y="5589768"/>
              <a:ext cx="407484" cy="369332"/>
            </a:xfrm>
            <a:prstGeom prst="rect">
              <a:avLst/>
            </a:prstGeom>
            <a:noFill/>
          </p:spPr>
          <p:txBody>
            <a:bodyPr wrap="none" rtlCol="0">
              <a:spAutoFit/>
            </a:bodyPr>
            <a:lstStyle/>
            <a:p>
              <a:r>
                <a:rPr lang="en-US" altLang="zh-CN" dirty="0"/>
                <a:t>S6</a:t>
              </a:r>
              <a:endParaRPr lang="zh-CN" altLang="en-US" dirty="0"/>
            </a:p>
          </p:txBody>
        </p:sp>
      </p:grpSp>
      <p:sp>
        <p:nvSpPr>
          <p:cNvPr id="35" name="文本框 34">
            <a:extLst>
              <a:ext uri="{FF2B5EF4-FFF2-40B4-BE49-F238E27FC236}">
                <a16:creationId xmlns:a16="http://schemas.microsoft.com/office/drawing/2014/main" id="{2F85DB56-B965-8DDA-6C5C-4284B095287D}"/>
              </a:ext>
            </a:extLst>
          </p:cNvPr>
          <p:cNvSpPr txBox="1"/>
          <p:nvPr/>
        </p:nvSpPr>
        <p:spPr>
          <a:xfrm>
            <a:off x="9006838" y="959349"/>
            <a:ext cx="359394" cy="369332"/>
          </a:xfrm>
          <a:prstGeom prst="rect">
            <a:avLst/>
          </a:prstGeom>
          <a:noFill/>
        </p:spPr>
        <p:txBody>
          <a:bodyPr wrap="none" rtlCol="0">
            <a:spAutoFit/>
          </a:bodyPr>
          <a:lstStyle/>
          <a:p>
            <a:r>
              <a:rPr lang="en-US" altLang="zh-CN" dirty="0"/>
              <a:t>I1</a:t>
            </a:r>
            <a:endParaRPr lang="zh-CN" altLang="en-US" dirty="0"/>
          </a:p>
        </p:txBody>
      </p:sp>
      <p:sp>
        <p:nvSpPr>
          <p:cNvPr id="36" name="文本框 35">
            <a:extLst>
              <a:ext uri="{FF2B5EF4-FFF2-40B4-BE49-F238E27FC236}">
                <a16:creationId xmlns:a16="http://schemas.microsoft.com/office/drawing/2014/main" id="{2611D6CF-4E01-664E-EF98-7B3B412A8E54}"/>
              </a:ext>
            </a:extLst>
          </p:cNvPr>
          <p:cNvSpPr txBox="1"/>
          <p:nvPr/>
        </p:nvSpPr>
        <p:spPr>
          <a:xfrm>
            <a:off x="9024596" y="1599211"/>
            <a:ext cx="359394" cy="369332"/>
          </a:xfrm>
          <a:prstGeom prst="rect">
            <a:avLst/>
          </a:prstGeom>
          <a:noFill/>
        </p:spPr>
        <p:txBody>
          <a:bodyPr wrap="none" rtlCol="0">
            <a:spAutoFit/>
          </a:bodyPr>
          <a:lstStyle/>
          <a:p>
            <a:r>
              <a:rPr lang="en-US" altLang="zh-CN" dirty="0"/>
              <a:t>I2</a:t>
            </a:r>
            <a:endParaRPr lang="zh-CN" altLang="en-US" dirty="0"/>
          </a:p>
        </p:txBody>
      </p:sp>
      <p:sp>
        <p:nvSpPr>
          <p:cNvPr id="37" name="文本框 36">
            <a:extLst>
              <a:ext uri="{FF2B5EF4-FFF2-40B4-BE49-F238E27FC236}">
                <a16:creationId xmlns:a16="http://schemas.microsoft.com/office/drawing/2014/main" id="{B0340612-25EB-030D-1CD4-850FC73D12B2}"/>
              </a:ext>
            </a:extLst>
          </p:cNvPr>
          <p:cNvSpPr txBox="1"/>
          <p:nvPr/>
        </p:nvSpPr>
        <p:spPr>
          <a:xfrm>
            <a:off x="9024596" y="3125673"/>
            <a:ext cx="359394" cy="369332"/>
          </a:xfrm>
          <a:prstGeom prst="rect">
            <a:avLst/>
          </a:prstGeom>
          <a:noFill/>
        </p:spPr>
        <p:txBody>
          <a:bodyPr wrap="none" rtlCol="0">
            <a:spAutoFit/>
          </a:bodyPr>
          <a:lstStyle/>
          <a:p>
            <a:r>
              <a:rPr lang="en-US" altLang="zh-CN" dirty="0"/>
              <a:t>I3</a:t>
            </a:r>
            <a:endParaRPr lang="zh-CN" altLang="en-US" dirty="0"/>
          </a:p>
        </p:txBody>
      </p:sp>
      <p:sp>
        <p:nvSpPr>
          <p:cNvPr id="38" name="文本框 37">
            <a:extLst>
              <a:ext uri="{FF2B5EF4-FFF2-40B4-BE49-F238E27FC236}">
                <a16:creationId xmlns:a16="http://schemas.microsoft.com/office/drawing/2014/main" id="{C1A7F3DB-F693-EB98-B9FA-E67B36108C3C}"/>
              </a:ext>
            </a:extLst>
          </p:cNvPr>
          <p:cNvSpPr txBox="1"/>
          <p:nvPr/>
        </p:nvSpPr>
        <p:spPr>
          <a:xfrm>
            <a:off x="9024190" y="3690003"/>
            <a:ext cx="359394" cy="369332"/>
          </a:xfrm>
          <a:prstGeom prst="rect">
            <a:avLst/>
          </a:prstGeom>
          <a:noFill/>
        </p:spPr>
        <p:txBody>
          <a:bodyPr wrap="none" rtlCol="0">
            <a:spAutoFit/>
          </a:bodyPr>
          <a:lstStyle/>
          <a:p>
            <a:r>
              <a:rPr lang="en-US" altLang="zh-CN" dirty="0"/>
              <a:t>I4</a:t>
            </a:r>
            <a:endParaRPr lang="zh-CN" altLang="en-US" dirty="0"/>
          </a:p>
        </p:txBody>
      </p:sp>
      <p:sp>
        <p:nvSpPr>
          <p:cNvPr id="39" name="文本框 38">
            <a:extLst>
              <a:ext uri="{FF2B5EF4-FFF2-40B4-BE49-F238E27FC236}">
                <a16:creationId xmlns:a16="http://schemas.microsoft.com/office/drawing/2014/main" id="{CD5C8835-E539-8ED8-B5F5-D8F54CF777E9}"/>
              </a:ext>
            </a:extLst>
          </p:cNvPr>
          <p:cNvSpPr txBox="1"/>
          <p:nvPr/>
        </p:nvSpPr>
        <p:spPr>
          <a:xfrm>
            <a:off x="9892094" y="1049977"/>
            <a:ext cx="359394" cy="369332"/>
          </a:xfrm>
          <a:prstGeom prst="rect">
            <a:avLst/>
          </a:prstGeom>
          <a:noFill/>
        </p:spPr>
        <p:txBody>
          <a:bodyPr wrap="none" rtlCol="0">
            <a:spAutoFit/>
          </a:bodyPr>
          <a:lstStyle/>
          <a:p>
            <a:r>
              <a:rPr lang="en-US" altLang="zh-CN" dirty="0"/>
              <a:t>I5</a:t>
            </a:r>
            <a:endParaRPr lang="zh-CN" altLang="en-US" dirty="0"/>
          </a:p>
        </p:txBody>
      </p:sp>
      <p:sp>
        <p:nvSpPr>
          <p:cNvPr id="40" name="文本框 39">
            <a:extLst>
              <a:ext uri="{FF2B5EF4-FFF2-40B4-BE49-F238E27FC236}">
                <a16:creationId xmlns:a16="http://schemas.microsoft.com/office/drawing/2014/main" id="{7FB138BC-74F0-413B-B514-455FC809D97E}"/>
              </a:ext>
            </a:extLst>
          </p:cNvPr>
          <p:cNvSpPr txBox="1"/>
          <p:nvPr/>
        </p:nvSpPr>
        <p:spPr>
          <a:xfrm>
            <a:off x="9876474" y="1617703"/>
            <a:ext cx="359394" cy="369332"/>
          </a:xfrm>
          <a:prstGeom prst="rect">
            <a:avLst/>
          </a:prstGeom>
          <a:noFill/>
        </p:spPr>
        <p:txBody>
          <a:bodyPr wrap="none" rtlCol="0">
            <a:spAutoFit/>
          </a:bodyPr>
          <a:lstStyle/>
          <a:p>
            <a:r>
              <a:rPr lang="en-US" altLang="zh-CN" dirty="0"/>
              <a:t>I6</a:t>
            </a:r>
            <a:endParaRPr lang="zh-CN" altLang="en-US" dirty="0"/>
          </a:p>
        </p:txBody>
      </p:sp>
      <p:sp>
        <p:nvSpPr>
          <p:cNvPr id="41" name="文本框 40">
            <a:extLst>
              <a:ext uri="{FF2B5EF4-FFF2-40B4-BE49-F238E27FC236}">
                <a16:creationId xmlns:a16="http://schemas.microsoft.com/office/drawing/2014/main" id="{5FB2267C-E348-7F28-1609-6D6F902ACD7B}"/>
              </a:ext>
            </a:extLst>
          </p:cNvPr>
          <p:cNvSpPr txBox="1"/>
          <p:nvPr/>
        </p:nvSpPr>
        <p:spPr>
          <a:xfrm>
            <a:off x="9864250" y="3106858"/>
            <a:ext cx="359394" cy="369332"/>
          </a:xfrm>
          <a:prstGeom prst="rect">
            <a:avLst/>
          </a:prstGeom>
          <a:noFill/>
        </p:spPr>
        <p:txBody>
          <a:bodyPr wrap="none" rtlCol="0">
            <a:spAutoFit/>
          </a:bodyPr>
          <a:lstStyle/>
          <a:p>
            <a:r>
              <a:rPr lang="en-US" altLang="zh-CN" dirty="0"/>
              <a:t>I7</a:t>
            </a:r>
            <a:endParaRPr lang="zh-CN" altLang="en-US" dirty="0"/>
          </a:p>
        </p:txBody>
      </p:sp>
      <p:sp>
        <p:nvSpPr>
          <p:cNvPr id="42" name="文本框 41">
            <a:extLst>
              <a:ext uri="{FF2B5EF4-FFF2-40B4-BE49-F238E27FC236}">
                <a16:creationId xmlns:a16="http://schemas.microsoft.com/office/drawing/2014/main" id="{EB702668-247E-0438-CABA-BDB9646809F9}"/>
              </a:ext>
            </a:extLst>
          </p:cNvPr>
          <p:cNvSpPr txBox="1"/>
          <p:nvPr/>
        </p:nvSpPr>
        <p:spPr>
          <a:xfrm>
            <a:off x="9876474" y="3490031"/>
            <a:ext cx="485506" cy="369332"/>
          </a:xfrm>
          <a:prstGeom prst="rect">
            <a:avLst/>
          </a:prstGeom>
          <a:noFill/>
        </p:spPr>
        <p:txBody>
          <a:bodyPr wrap="square" rtlCol="0">
            <a:spAutoFit/>
          </a:bodyPr>
          <a:lstStyle/>
          <a:p>
            <a:r>
              <a:rPr lang="en-US" altLang="zh-CN" dirty="0"/>
              <a:t>I8</a:t>
            </a:r>
            <a:endParaRPr lang="zh-CN" altLang="en-US" dirty="0"/>
          </a:p>
        </p:txBody>
      </p:sp>
    </p:spTree>
    <p:extLst>
      <p:ext uri="{BB962C8B-B14F-4D97-AF65-F5344CB8AC3E}">
        <p14:creationId xmlns:p14="http://schemas.microsoft.com/office/powerpoint/2010/main" val="7625900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6881" y="803082"/>
            <a:ext cx="10866121" cy="5450174"/>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约定：将裁剪多边形称为</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，被裁剪多边形称为</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算法首先将</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的顶点按照外部边界取顺时针，内部边界取逆时针的的方式将其构成环形链表。对于前面的图，可以构成下面的环形链表：</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CP: C1-&gt;C2-&gt;C3-&gt;C4-&gt;C1 C5-&gt;C6-&gt;C7-&gt;C8-&gt;C5 </a:t>
            </a:r>
            <a:r>
              <a:rPr lang="zh-CN" altLang="en-US" sz="2600" dirty="0">
                <a:latin typeface="华光仿宋_CNKI" panose="02000500000000000000" pitchFamily="2" charset="-122"/>
                <a:ea typeface="华光仿宋_CNKI" panose="02000500000000000000" pitchFamily="2" charset="-122"/>
              </a:rPr>
              <a:t>（外部顺时针形成环形链表，内容逆时针形成环形链表）</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SP: S1-&gt;S2-&gt;S3-&gt;S4-&gt;S5-&gt;S6-&gt;S1</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进点：</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的边进入</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内部区域形成的交点。如上图中</a:t>
            </a:r>
            <a:r>
              <a:rPr lang="en-US" altLang="zh-CN" sz="2600" dirty="0">
                <a:latin typeface="华光仿宋_CNKI" panose="02000500000000000000" pitchFamily="2" charset="-122"/>
                <a:ea typeface="华光仿宋_CNKI" panose="02000500000000000000" pitchFamily="2" charset="-122"/>
              </a:rPr>
              <a:t>I5</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I7</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I4</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I2</a:t>
            </a:r>
            <a:r>
              <a:rPr lang="zh-CN" altLang="en-US" sz="2600" dirty="0">
                <a:latin typeface="华光仿宋_CNKI" panose="02000500000000000000" pitchFamily="2" charset="-122"/>
                <a:ea typeface="华光仿宋_CNKI" panose="02000500000000000000" pitchFamily="2" charset="-122"/>
              </a:rPr>
              <a:t>为进点。</a:t>
            </a: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41678962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6881" y="374155"/>
            <a:ext cx="10866121" cy="6109689"/>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出点：</a:t>
            </a:r>
            <a:r>
              <a:rPr lang="en-US" altLang="zh-CN" sz="2600" dirty="0">
                <a:latin typeface="华光仿宋_CNKI" panose="02000500000000000000" pitchFamily="2" charset="-122"/>
                <a:ea typeface="华光仿宋_CNKI" panose="02000500000000000000" pitchFamily="2" charset="-122"/>
              </a:rPr>
              <a:t> SP</a:t>
            </a:r>
            <a:r>
              <a:rPr lang="zh-CN" altLang="en-US" sz="2600" dirty="0">
                <a:latin typeface="华光仿宋_CNKI" panose="02000500000000000000" pitchFamily="2" charset="-122"/>
                <a:ea typeface="华光仿宋_CNKI" panose="02000500000000000000" pitchFamily="2" charset="-122"/>
              </a:rPr>
              <a:t>的边离开</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内部区域形成的交点。如上图中</a:t>
            </a:r>
            <a:r>
              <a:rPr lang="en-US" altLang="zh-CN" sz="2600" dirty="0">
                <a:latin typeface="华光仿宋_CNKI" panose="02000500000000000000" pitchFamily="2" charset="-122"/>
                <a:ea typeface="华光仿宋_CNKI" panose="02000500000000000000" pitchFamily="2" charset="-122"/>
              </a:rPr>
              <a:t>I1</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I3</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I6</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I8</a:t>
            </a:r>
            <a:r>
              <a:rPr lang="zh-CN" altLang="en-US" sz="2600" dirty="0">
                <a:latin typeface="华光仿宋_CNKI" panose="02000500000000000000" pitchFamily="2" charset="-122"/>
                <a:ea typeface="华光仿宋_CNKI" panose="02000500000000000000" pitchFamily="2" charset="-122"/>
              </a:rPr>
              <a:t>为出点。</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算法开始时，将求出</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与</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边线的所有交点，并将这些交点插入到</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的环形链表中，并标明交点是出点还是进点。如前图中修改后的</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环形链表分别为：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CP: C1-&gt;I1(</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)-&gt;I5</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-&gt;C2-&gt;C3-&gt;I8</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-&gt;I4(</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-&gt;C4-&gt;C1 C5-&gt;C6-&gt;I3(</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)-&gt;I7(</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)-&gt;C7-&gt;C8-&gt; I6(</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)-&gt;I2(</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 C5 </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SP</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S1-&gt;S2-&gt;S3-&gt;S4-&gt;I5(</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)-&gt;I6(</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)-&gt;I7(</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)-&gt;I8(</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)-&gt;S5-&gt;S6-&gt;I4(</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)-&gt;I3(</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)-&gt;I2(</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)-&gt;I1(</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)-&gt;S1</a:t>
            </a: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1989887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939" y="1089329"/>
            <a:ext cx="10866121" cy="4460681"/>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zh-CN" altLang="en-US" sz="2600" b="1" dirty="0">
                <a:solidFill>
                  <a:srgbClr val="FF0000"/>
                </a:solidFill>
                <a:latin typeface="华光标题宋_CNKI" panose="02000500000000000000" pitchFamily="2" charset="-122"/>
                <a:ea typeface="华光标题宋_CNKI" panose="02000500000000000000" pitchFamily="2" charset="-122"/>
              </a:rPr>
              <a:t>算法的基本思想：</a:t>
            </a:r>
            <a:endParaRPr lang="en-US" altLang="zh-CN" sz="2600" b="1" dirty="0">
              <a:solidFill>
                <a:srgbClr val="FF0000"/>
              </a:solidFill>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算法从任意一个进点开始沿着</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的边线按照边线所标示的方向搜集顶点序列，当遇到出点时，则沿着</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的边线所标示的方向搜集顶点序列，当遇到进点时，则沿着</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边线所标示的方向搜集顶点序列，如此交替沿着两个多边形的边线行进，直到回到跟踪的起始点为止。这时搜集到的全部交点或顶点的序列就是裁剪所得的一个多边形。由于可能存在多个裁剪下来的多边形，因此，算法应在将所有进点搜索完毕后结束。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169330985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6881" y="374155"/>
            <a:ext cx="10866121" cy="6109689"/>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前图中：</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CP: C1-&gt;I1(</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)-&gt;I5</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-&gt;C2-&gt;C3-&gt;I8</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-&gt;I4(</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-&gt;C4-&gt;C1 C5-&gt;C6-&gt;I3(</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)-&gt;I7(</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)-&gt;C7-&gt;C8-&gt; I6(</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)-&gt;I2(</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 C5 </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SP</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S1-&gt;S2-&gt;S3-&gt;S4-&gt;I5(</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)-&gt;I6(</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)-&gt;I7(</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)-&gt;I8(</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)-&gt;S5-&gt;S6-&gt;I4(</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)-&gt;I3(</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)-&gt;I2(</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)-&gt;I1(</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)-&gt;S1</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从</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I5(</a:t>
            </a:r>
            <a:r>
              <a:rPr lang="zh-CN" altLang="en-US" sz="2600" dirty="0">
                <a:latin typeface="华光仿宋_CNKI" panose="02000500000000000000" pitchFamily="2" charset="-122"/>
                <a:ea typeface="华光仿宋_CNKI" panose="02000500000000000000" pitchFamily="2" charset="-122"/>
              </a:rPr>
              <a:t>进）出发</a:t>
            </a:r>
            <a:r>
              <a:rPr lang="en-US" altLang="zh-CN" sz="2600" dirty="0">
                <a:latin typeface="华光仿宋_CNKI" panose="02000500000000000000" pitchFamily="2" charset="-122"/>
                <a:ea typeface="华光仿宋_CNKI" panose="02000500000000000000" pitchFamily="2" charset="-122"/>
              </a:rPr>
              <a:t>-&gt;SP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I6(</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-&gt;CP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I2(</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)-&gt;SP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I1(</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)-&gt;CP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I5(</a:t>
            </a:r>
            <a:r>
              <a:rPr lang="zh-CN" altLang="en-US" sz="2600" dirty="0">
                <a:latin typeface="华光仿宋_CNKI" panose="02000500000000000000" pitchFamily="2" charset="-122"/>
                <a:ea typeface="华光仿宋_CNKI" panose="02000500000000000000" pitchFamily="2" charset="-122"/>
              </a:rPr>
              <a:t>进）形成一个环形回到起点。</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从</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I4(</a:t>
            </a:r>
            <a:r>
              <a:rPr lang="zh-CN" altLang="en-US" sz="2600" dirty="0">
                <a:latin typeface="华光仿宋_CNKI" panose="02000500000000000000" pitchFamily="2" charset="-122"/>
                <a:ea typeface="华光仿宋_CNKI" panose="02000500000000000000" pitchFamily="2" charset="-122"/>
              </a:rPr>
              <a:t>进）出发</a:t>
            </a:r>
            <a:r>
              <a:rPr lang="en-US" altLang="zh-CN" sz="2600" dirty="0">
                <a:latin typeface="华光仿宋_CNKI" panose="02000500000000000000" pitchFamily="2" charset="-122"/>
                <a:ea typeface="华光仿宋_CNKI" panose="02000500000000000000" pitchFamily="2" charset="-122"/>
              </a:rPr>
              <a:t>-&gt;SP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I3(</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)-&gt;CP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I7(</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)-&gt;SP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I8(</a:t>
            </a:r>
            <a:r>
              <a:rPr lang="zh-CN" altLang="en-US" sz="2600" dirty="0">
                <a:latin typeface="华光仿宋_CNKI" panose="02000500000000000000" pitchFamily="2" charset="-122"/>
                <a:ea typeface="华光仿宋_CNKI" panose="02000500000000000000" pitchFamily="2" charset="-122"/>
              </a:rPr>
              <a:t>出</a:t>
            </a:r>
            <a:r>
              <a:rPr lang="en-US" altLang="zh-CN" sz="2600" dirty="0">
                <a:latin typeface="华光仿宋_CNKI" panose="02000500000000000000" pitchFamily="2" charset="-122"/>
                <a:ea typeface="华光仿宋_CNKI" panose="02000500000000000000" pitchFamily="2" charset="-122"/>
              </a:rPr>
              <a:t>)-&gt;CP</a:t>
            </a:r>
            <a:r>
              <a:rPr lang="zh-CN" altLang="en-US" sz="2600" dirty="0">
                <a:latin typeface="华光仿宋_CNKI" panose="02000500000000000000" pitchFamily="2" charset="-122"/>
                <a:ea typeface="华光仿宋_CNKI" panose="02000500000000000000" pitchFamily="2" charset="-122"/>
              </a:rPr>
              <a:t>的</a:t>
            </a:r>
            <a:r>
              <a:rPr lang="en-US" altLang="zh-CN" sz="2600" dirty="0">
                <a:latin typeface="华光仿宋_CNKI" panose="02000500000000000000" pitchFamily="2" charset="-122"/>
                <a:ea typeface="华光仿宋_CNKI" panose="02000500000000000000" pitchFamily="2" charset="-122"/>
              </a:rPr>
              <a:t>I4(</a:t>
            </a:r>
            <a:r>
              <a:rPr lang="zh-CN" altLang="en-US" sz="2600" dirty="0">
                <a:latin typeface="华光仿宋_CNKI" panose="02000500000000000000" pitchFamily="2" charset="-122"/>
                <a:ea typeface="华光仿宋_CNKI" panose="02000500000000000000" pitchFamily="2" charset="-122"/>
              </a:rPr>
              <a:t>进</a:t>
            </a:r>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形成一个环形回到起点。形成前图中标识的区域。</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7316074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939" y="1176794"/>
            <a:ext cx="10866121" cy="4913906"/>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zh-CN" altLang="en-US" sz="2600" b="1" dirty="0">
                <a:solidFill>
                  <a:srgbClr val="FF0000"/>
                </a:solidFill>
                <a:latin typeface="华光标题宋_CNKI" panose="02000500000000000000" pitchFamily="2" charset="-122"/>
                <a:ea typeface="华光标题宋_CNKI" panose="02000500000000000000" pitchFamily="2" charset="-122"/>
              </a:rPr>
              <a:t>算法描述如下：</a:t>
            </a:r>
            <a:endParaRPr lang="en-US" altLang="zh-CN" sz="2600" b="1" dirty="0">
              <a:solidFill>
                <a:srgbClr val="FF0000"/>
              </a:solidFill>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sz="1600" dirty="0"/>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：建立两个多边形顶点的环形链表，初始化输出队列 </a:t>
            </a:r>
            <a:r>
              <a:rPr lang="en-US" altLang="zh-CN" sz="2600" dirty="0">
                <a:latin typeface="华光仿宋_CNKI" panose="02000500000000000000" pitchFamily="2" charset="-122"/>
                <a:ea typeface="华光仿宋_CNKI" panose="02000500000000000000" pitchFamily="2" charset="-122"/>
              </a:rPr>
              <a:t>Q</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：求出</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与</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边线的所有有效交点，分别插入到</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的环形链表中，形成新的环形链表，并对插入的点注明“出点”和“进点”标志。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：从 </a:t>
            </a:r>
            <a:r>
              <a:rPr lang="en-US" altLang="zh-CN" sz="2600" dirty="0">
                <a:latin typeface="华光仿宋_CNKI" panose="02000500000000000000" pitchFamily="2" charset="-122"/>
                <a:ea typeface="华光仿宋_CNKI" panose="02000500000000000000" pitchFamily="2" charset="-122"/>
              </a:rPr>
              <a:t>SP </a:t>
            </a:r>
            <a:r>
              <a:rPr lang="zh-CN" altLang="en-US" sz="2600" dirty="0">
                <a:latin typeface="华光仿宋_CNKI" panose="02000500000000000000" pitchFamily="2" charset="-122"/>
                <a:ea typeface="华光仿宋_CNKI" panose="02000500000000000000" pitchFamily="2" charset="-122"/>
              </a:rPr>
              <a:t>的环形链表中的任意一个节点开始搜索进点，如果没有进点，则算法结束，否则，该进点记为</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，并送</a:t>
            </a:r>
            <a:r>
              <a:rPr lang="en-US" altLang="zh-CN" sz="2600" dirty="0">
                <a:latin typeface="华光仿宋_CNKI" panose="02000500000000000000" pitchFamily="2" charset="-122"/>
                <a:ea typeface="华光仿宋_CNKI" panose="02000500000000000000" pitchFamily="2" charset="-122"/>
              </a:rPr>
              <a:t>S</a:t>
            </a:r>
            <a:r>
              <a:rPr lang="zh-CN" altLang="en-US" sz="2600" dirty="0">
                <a:latin typeface="华光仿宋_CNKI" panose="02000500000000000000" pitchFamily="2" charset="-122"/>
                <a:ea typeface="华光仿宋_CNKI" panose="02000500000000000000" pitchFamily="2" charset="-122"/>
              </a:rPr>
              <a:t>暂存，</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点录入到输出队列</a:t>
            </a:r>
            <a:r>
              <a:rPr lang="en-US" altLang="zh-CN" sz="2600" dirty="0">
                <a:latin typeface="华光仿宋_CNKI" panose="02000500000000000000" pitchFamily="2" charset="-122"/>
                <a:ea typeface="华光仿宋_CNKI" panose="02000500000000000000" pitchFamily="2" charset="-122"/>
              </a:rPr>
              <a:t>Q</a:t>
            </a:r>
            <a:r>
              <a:rPr lang="zh-CN" altLang="en-US" sz="2600" dirty="0">
                <a:latin typeface="华光仿宋_CNKI" panose="02000500000000000000" pitchFamily="2" charset="-122"/>
                <a:ea typeface="华光仿宋_CNKI" panose="02000500000000000000" pitchFamily="2" charset="-122"/>
              </a:rPr>
              <a:t>中。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2351473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939" y="683811"/>
            <a:ext cx="10866121" cy="5526157"/>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：从</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的环形链表中删去该进点的“进点”标志。</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5</a:t>
            </a:r>
            <a:r>
              <a:rPr lang="zh-CN" altLang="en-US" sz="2600" dirty="0">
                <a:latin typeface="华光仿宋_CNKI" panose="02000500000000000000" pitchFamily="2" charset="-122"/>
                <a:ea typeface="华光仿宋_CNKI" panose="02000500000000000000" pitchFamily="2" charset="-122"/>
              </a:rPr>
              <a:t>：从</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点开始，沿着</a:t>
            </a:r>
            <a:r>
              <a:rPr lang="en-US" altLang="zh-CN" sz="2600" dirty="0">
                <a:latin typeface="华光仿宋_CNKI" panose="02000500000000000000" pitchFamily="2" charset="-122"/>
                <a:ea typeface="华光仿宋_CNKI" panose="02000500000000000000" pitchFamily="2" charset="-122"/>
              </a:rPr>
              <a:t>SP</a:t>
            </a:r>
            <a:r>
              <a:rPr lang="zh-CN" altLang="en-US" sz="2600" dirty="0">
                <a:latin typeface="华光仿宋_CNKI" panose="02000500000000000000" pitchFamily="2" charset="-122"/>
                <a:ea typeface="华光仿宋_CNKI" panose="02000500000000000000" pitchFamily="2" charset="-122"/>
              </a:rPr>
              <a:t>的环形链表取下一个节点，记为</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，并录入到输出队列</a:t>
            </a:r>
            <a:r>
              <a:rPr lang="en-US" altLang="zh-CN" sz="2600" dirty="0">
                <a:latin typeface="华光仿宋_CNKI" panose="02000500000000000000" pitchFamily="2" charset="-122"/>
                <a:ea typeface="华光仿宋_CNKI" panose="02000500000000000000" pitchFamily="2" charset="-122"/>
              </a:rPr>
              <a:t>Q</a:t>
            </a:r>
            <a:r>
              <a:rPr lang="zh-CN" altLang="en-US" sz="2600" dirty="0">
                <a:latin typeface="华光仿宋_CNKI" panose="02000500000000000000" pitchFamily="2" charset="-122"/>
                <a:ea typeface="华光仿宋_CNKI" panose="02000500000000000000" pitchFamily="2" charset="-122"/>
              </a:rPr>
              <a:t>中， 如果</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是出点，则转步骤 </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，否则转步骤 </a:t>
            </a:r>
            <a:r>
              <a:rPr lang="en-US" altLang="zh-CN" sz="2600" dirty="0">
                <a:latin typeface="华光仿宋_CNKI" panose="02000500000000000000" pitchFamily="2" charset="-122"/>
                <a:ea typeface="华光仿宋_CNKI" panose="02000500000000000000" pitchFamily="2" charset="-122"/>
              </a:rPr>
              <a:t>5</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：从</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点开始，沿着</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的环形链表取下一个节点，记为</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，并录入到输出队列</a:t>
            </a:r>
            <a:r>
              <a:rPr lang="en-US" altLang="zh-CN" sz="2600" dirty="0">
                <a:latin typeface="华光仿宋_CNKI" panose="02000500000000000000" pitchFamily="2" charset="-122"/>
                <a:ea typeface="华光仿宋_CNKI" panose="02000500000000000000" pitchFamily="2" charset="-122"/>
              </a:rPr>
              <a:t>Q</a:t>
            </a:r>
            <a:r>
              <a:rPr lang="zh-CN" altLang="en-US" sz="2600" dirty="0">
                <a:latin typeface="华光仿宋_CNKI" panose="02000500000000000000" pitchFamily="2" charset="-122"/>
                <a:ea typeface="华光仿宋_CNKI" panose="02000500000000000000" pitchFamily="2" charset="-122"/>
              </a:rPr>
              <a:t>中， 如果</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是出点，则转步骤</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，如果</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是进点，则判断</a:t>
            </a:r>
            <a:r>
              <a:rPr lang="en-US" altLang="zh-CN" sz="2600" dirty="0">
                <a:latin typeface="华光仿宋_CNKI" panose="02000500000000000000" pitchFamily="2" charset="-122"/>
                <a:ea typeface="华光仿宋_CNKI" panose="02000500000000000000" pitchFamily="2" charset="-122"/>
              </a:rPr>
              <a:t>P</a:t>
            </a:r>
            <a:r>
              <a:rPr lang="zh-CN" altLang="en-US" sz="2600" dirty="0">
                <a:latin typeface="华光仿宋_CNKI" panose="02000500000000000000" pitchFamily="2" charset="-122"/>
                <a:ea typeface="华光仿宋_CNKI" panose="02000500000000000000" pitchFamily="2" charset="-122"/>
              </a:rPr>
              <a:t>是否等于</a:t>
            </a:r>
            <a:r>
              <a:rPr lang="en-US" altLang="zh-CN" sz="2600" dirty="0">
                <a:latin typeface="华光仿宋_CNKI" panose="02000500000000000000" pitchFamily="2" charset="-122"/>
                <a:ea typeface="华光仿宋_CNKI" panose="02000500000000000000" pitchFamily="2" charset="-122"/>
              </a:rPr>
              <a:t>S</a:t>
            </a:r>
            <a:r>
              <a:rPr lang="zh-CN" altLang="en-US" sz="2600" dirty="0">
                <a:latin typeface="华光仿宋_CNKI" panose="02000500000000000000" pitchFamily="2" charset="-122"/>
                <a:ea typeface="华光仿宋_CNKI" panose="02000500000000000000" pitchFamily="2" charset="-122"/>
              </a:rPr>
              <a:t>，若</a:t>
            </a:r>
            <a:r>
              <a:rPr lang="en-US" altLang="zh-CN" sz="2600" dirty="0">
                <a:latin typeface="华光仿宋_CNKI" panose="02000500000000000000" pitchFamily="2" charset="-122"/>
                <a:ea typeface="华光仿宋_CNKI" panose="02000500000000000000" pitchFamily="2" charset="-122"/>
              </a:rPr>
              <a:t>P≠S</a:t>
            </a:r>
            <a:r>
              <a:rPr lang="zh-CN" altLang="en-US" sz="2600" dirty="0">
                <a:latin typeface="华光仿宋_CNKI" panose="02000500000000000000" pitchFamily="2" charset="-122"/>
                <a:ea typeface="华光仿宋_CNKI" panose="02000500000000000000" pitchFamily="2" charset="-122"/>
              </a:rPr>
              <a:t>，则转步骤</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，若</a:t>
            </a:r>
            <a:r>
              <a:rPr lang="en-US" altLang="zh-CN" sz="2600" dirty="0">
                <a:latin typeface="华光仿宋_CNKI" panose="02000500000000000000" pitchFamily="2" charset="-122"/>
                <a:ea typeface="华光仿宋_CNKI" panose="02000500000000000000" pitchFamily="2" charset="-122"/>
              </a:rPr>
              <a:t>P=S</a:t>
            </a:r>
            <a:r>
              <a:rPr lang="zh-CN" altLang="en-US" sz="2600" dirty="0">
                <a:latin typeface="华光仿宋_CNKI" panose="02000500000000000000" pitchFamily="2" charset="-122"/>
                <a:ea typeface="华光仿宋_CNKI" panose="02000500000000000000" pitchFamily="2" charset="-122"/>
              </a:rPr>
              <a:t>， 则将队列</a:t>
            </a:r>
            <a:r>
              <a:rPr lang="en-US" altLang="zh-CN" sz="2600" dirty="0">
                <a:latin typeface="华光仿宋_CNKI" panose="02000500000000000000" pitchFamily="2" charset="-122"/>
                <a:ea typeface="华光仿宋_CNKI" panose="02000500000000000000" pitchFamily="2" charset="-122"/>
              </a:rPr>
              <a:t>Q</a:t>
            </a:r>
            <a:r>
              <a:rPr lang="zh-CN" altLang="en-US" sz="2600" dirty="0">
                <a:latin typeface="华光仿宋_CNKI" panose="02000500000000000000" pitchFamily="2" charset="-122"/>
                <a:ea typeface="华光仿宋_CNKI" panose="02000500000000000000" pitchFamily="2" charset="-122"/>
              </a:rPr>
              <a:t>中的点组成的顶点序列输出，然后转步骤</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该算法还可用于三维隐藏面的消隐，其中的</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可作为遮挡面使用。</a:t>
            </a: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22562081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5318" y="235452"/>
            <a:ext cx="10897927" cy="3056388"/>
          </a:xfrm>
        </p:spPr>
        <p:txBody>
          <a:bodyPr>
            <a:no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3. </a:t>
            </a:r>
            <a:r>
              <a:rPr lang="zh-CN" altLang="en-US" dirty="0">
                <a:latin typeface="华光超粗黑_CNKI" panose="02000500000000000000" pitchFamily="2" charset="-122"/>
                <a:ea typeface="华光超粗黑_CNKI" panose="02000500000000000000" pitchFamily="2" charset="-122"/>
              </a:rPr>
              <a:t>三维线段裁剪</a:t>
            </a: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三维裁剪主要用于去掉三维场景中不需要显示的物体。所使用的裁剪体主要有长方体和四棱台（视椎体）。如下图所示。长方体主要用于平行投影，而视椎体用于轴测投影（透视投影）。</a:t>
            </a:r>
            <a:endParaRPr lang="en-US" altLang="zh-CN" sz="2600" dirty="0">
              <a:latin typeface="华光仿宋_CNKI" panose="02000500000000000000" pitchFamily="2" charset="-122"/>
              <a:ea typeface="华光仿宋_CNKI" panose="02000500000000000000" pitchFamily="2" charset="-122"/>
            </a:endParaRPr>
          </a:p>
        </p:txBody>
      </p:sp>
      <p:pic>
        <p:nvPicPr>
          <p:cNvPr id="4" name="图片 3">
            <a:extLst>
              <a:ext uri="{FF2B5EF4-FFF2-40B4-BE49-F238E27FC236}">
                <a16:creationId xmlns:a16="http://schemas.microsoft.com/office/drawing/2014/main" id="{92580584-5494-F5AE-F9E6-F6D308E765EE}"/>
              </a:ext>
            </a:extLst>
          </p:cNvPr>
          <p:cNvPicPr>
            <a:picLocks noChangeAspect="1"/>
          </p:cNvPicPr>
          <p:nvPr/>
        </p:nvPicPr>
        <p:blipFill>
          <a:blip r:embed="rId2"/>
          <a:stretch>
            <a:fillRect/>
          </a:stretch>
        </p:blipFill>
        <p:spPr>
          <a:xfrm>
            <a:off x="1272208" y="2957886"/>
            <a:ext cx="8523799" cy="3410220"/>
          </a:xfrm>
          <a:prstGeom prst="rect">
            <a:avLst/>
          </a:prstGeom>
        </p:spPr>
      </p:pic>
    </p:spTree>
    <p:extLst>
      <p:ext uri="{BB962C8B-B14F-4D97-AF65-F5344CB8AC3E}">
        <p14:creationId xmlns:p14="http://schemas.microsoft.com/office/powerpoint/2010/main" val="32079563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9118" y="832554"/>
            <a:ext cx="5687425" cy="5345291"/>
          </a:xfrm>
        </p:spPr>
        <p:txBody>
          <a:bodyPr>
            <a:no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3. 1 </a:t>
            </a:r>
            <a:r>
              <a:rPr lang="zh-CN" altLang="en-US" dirty="0">
                <a:latin typeface="华光超粗黑_CNKI" panose="02000500000000000000" pitchFamily="2" charset="-122"/>
                <a:ea typeface="华光超粗黑_CNKI" panose="02000500000000000000" pitchFamily="2" charset="-122"/>
              </a:rPr>
              <a:t>长方体裁剪</a:t>
            </a: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可采用编码裁剪法和中点分割裁剪法对其进行裁剪。</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对于平行投影，规范化之后的长方体裁剪窗口的</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个面的方程分别为：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y=1,y=-1,x=1,x=-1,z=1,z=-1</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如右图所示。</a:t>
            </a:r>
            <a:endParaRPr lang="en-US" altLang="zh-CN" sz="2600" dirty="0">
              <a:latin typeface="华光仿宋_CNKI" panose="02000500000000000000" pitchFamily="2" charset="-122"/>
              <a:ea typeface="华光仿宋_CNKI" panose="02000500000000000000" pitchFamily="2" charset="-122"/>
            </a:endParaRPr>
          </a:p>
        </p:txBody>
      </p:sp>
      <p:pic>
        <p:nvPicPr>
          <p:cNvPr id="61" name="图片 60">
            <a:extLst>
              <a:ext uri="{FF2B5EF4-FFF2-40B4-BE49-F238E27FC236}">
                <a16:creationId xmlns:a16="http://schemas.microsoft.com/office/drawing/2014/main" id="{776FFDC9-F96C-344F-CC48-C5788117F4D7}"/>
              </a:ext>
            </a:extLst>
          </p:cNvPr>
          <p:cNvPicPr>
            <a:picLocks noChangeAspect="1"/>
          </p:cNvPicPr>
          <p:nvPr/>
        </p:nvPicPr>
        <p:blipFill>
          <a:blip r:embed="rId2"/>
          <a:stretch>
            <a:fillRect/>
          </a:stretch>
        </p:blipFill>
        <p:spPr>
          <a:xfrm>
            <a:off x="6209969" y="740229"/>
            <a:ext cx="5402913" cy="4690512"/>
          </a:xfrm>
          <a:prstGeom prst="rect">
            <a:avLst/>
          </a:prstGeom>
        </p:spPr>
      </p:pic>
      <p:cxnSp>
        <p:nvCxnSpPr>
          <p:cNvPr id="63" name="直接连接符 62">
            <a:extLst>
              <a:ext uri="{FF2B5EF4-FFF2-40B4-BE49-F238E27FC236}">
                <a16:creationId xmlns:a16="http://schemas.microsoft.com/office/drawing/2014/main" id="{19CC52D7-1838-6BB6-3EF8-C8D55AC1087E}"/>
              </a:ext>
            </a:extLst>
          </p:cNvPr>
          <p:cNvCxnSpPr>
            <a:cxnSpLocks/>
          </p:cNvCxnSpPr>
          <p:nvPr/>
        </p:nvCxnSpPr>
        <p:spPr>
          <a:xfrm flipV="1">
            <a:off x="7943850" y="1860605"/>
            <a:ext cx="874147" cy="552395"/>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C6A198B-DEF5-75F2-D2EB-97D8DA662807}"/>
              </a:ext>
            </a:extLst>
          </p:cNvPr>
          <p:cNvCxnSpPr>
            <a:cxnSpLocks/>
          </p:cNvCxnSpPr>
          <p:nvPr/>
        </p:nvCxnSpPr>
        <p:spPr>
          <a:xfrm flipH="1">
            <a:off x="7749540" y="2413000"/>
            <a:ext cx="194310" cy="135890"/>
          </a:xfrm>
          <a:prstGeom prst="line">
            <a:avLst/>
          </a:prstGeom>
          <a:ln w="28575">
            <a:prstDash val="sysDash"/>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213D2617-B15F-F3A3-DF09-C0A32B1CEE0B}"/>
              </a:ext>
            </a:extLst>
          </p:cNvPr>
          <p:cNvCxnSpPr>
            <a:cxnSpLocks/>
          </p:cNvCxnSpPr>
          <p:nvPr/>
        </p:nvCxnSpPr>
        <p:spPr>
          <a:xfrm flipV="1">
            <a:off x="9231464" y="1033670"/>
            <a:ext cx="879447" cy="5589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2B3853BE-CCCE-C644-93B0-2FC924C17547}"/>
              </a:ext>
            </a:extLst>
          </p:cNvPr>
          <p:cNvCxnSpPr>
            <a:cxnSpLocks/>
          </p:cNvCxnSpPr>
          <p:nvPr/>
        </p:nvCxnSpPr>
        <p:spPr>
          <a:xfrm flipV="1">
            <a:off x="6337190" y="2548890"/>
            <a:ext cx="1412350" cy="101329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5AA0ED9-48DF-524C-9429-64B27037967F}"/>
              </a:ext>
            </a:extLst>
          </p:cNvPr>
          <p:cNvCxnSpPr>
            <a:cxnSpLocks/>
          </p:cNvCxnSpPr>
          <p:nvPr/>
        </p:nvCxnSpPr>
        <p:spPr>
          <a:xfrm flipV="1">
            <a:off x="8817997" y="1592580"/>
            <a:ext cx="413467" cy="268025"/>
          </a:xfrm>
          <a:prstGeom prst="line">
            <a:avLst/>
          </a:prstGeom>
          <a:ln w="28575">
            <a:prstDash val="dash"/>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3419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939" y="683811"/>
            <a:ext cx="10580205" cy="5526157"/>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对于三维编码裁剪算法，需采用</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位二进制对不同区域进行编码。可对每个区域按照下面的方式进行编码：</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）当线段端点位于裁剪体的左侧时，即 </a:t>
            </a:r>
            <a:r>
              <a:rPr lang="en-US" altLang="zh-CN" sz="2600" dirty="0">
                <a:latin typeface="华光仿宋_CNKI" panose="02000500000000000000" pitchFamily="2" charset="-122"/>
                <a:ea typeface="华光仿宋_CNKI" panose="02000500000000000000" pitchFamily="2" charset="-122"/>
              </a:rPr>
              <a:t>x &lt; -1</a:t>
            </a:r>
            <a:r>
              <a:rPr lang="zh-CN" altLang="en-US" sz="2600" dirty="0">
                <a:latin typeface="华光仿宋_CNKI" panose="02000500000000000000" pitchFamily="2" charset="-122"/>
                <a:ea typeface="华光仿宋_CNKI" panose="02000500000000000000" pitchFamily="2" charset="-122"/>
              </a:rPr>
              <a:t>时，第 </a:t>
            </a:r>
            <a:r>
              <a:rPr lang="en-US" altLang="zh-CN" sz="2600" dirty="0">
                <a:latin typeface="华光仿宋_CNKI" panose="02000500000000000000" pitchFamily="2" charset="-122"/>
                <a:ea typeface="华光仿宋_CNKI" panose="02000500000000000000" pitchFamily="2" charset="-122"/>
              </a:rPr>
              <a:t>0 </a:t>
            </a:r>
            <a:r>
              <a:rPr lang="zh-CN" altLang="en-US" sz="2600" dirty="0">
                <a:latin typeface="华光仿宋_CNKI" panose="02000500000000000000" pitchFamily="2" charset="-122"/>
                <a:ea typeface="华光仿宋_CNKI" panose="02000500000000000000" pitchFamily="2" charset="-122"/>
              </a:rPr>
              <a:t>位置为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，否则置为 </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 当线段端点位于裁剪体的右侧时，即 </a:t>
            </a:r>
            <a:r>
              <a:rPr lang="en-US" altLang="zh-CN" sz="2600" dirty="0">
                <a:latin typeface="华光仿宋_CNKI" panose="02000500000000000000" pitchFamily="2" charset="-122"/>
                <a:ea typeface="华光仿宋_CNKI" panose="02000500000000000000" pitchFamily="2" charset="-122"/>
              </a:rPr>
              <a:t>x &gt; 1</a:t>
            </a:r>
            <a:r>
              <a:rPr lang="zh-CN" altLang="en-US" sz="2600" dirty="0">
                <a:latin typeface="华光仿宋_CNKI" panose="02000500000000000000" pitchFamily="2" charset="-122"/>
                <a:ea typeface="华光仿宋_CNKI" panose="02000500000000000000" pitchFamily="2" charset="-122"/>
              </a:rPr>
              <a:t>时，第 </a:t>
            </a:r>
            <a:r>
              <a:rPr lang="en-US" altLang="zh-CN" sz="2600" dirty="0">
                <a:latin typeface="华光仿宋_CNKI" panose="02000500000000000000" pitchFamily="2" charset="-122"/>
                <a:ea typeface="华光仿宋_CNKI" panose="02000500000000000000" pitchFamily="2" charset="-122"/>
              </a:rPr>
              <a:t>1 </a:t>
            </a:r>
            <a:r>
              <a:rPr lang="zh-CN" altLang="en-US" sz="2600" dirty="0">
                <a:latin typeface="华光仿宋_CNKI" panose="02000500000000000000" pitchFamily="2" charset="-122"/>
                <a:ea typeface="华光仿宋_CNKI" panose="02000500000000000000" pitchFamily="2" charset="-122"/>
              </a:rPr>
              <a:t>位置为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，否则置为 </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）当线段端点位于裁剪体的下方时，即 </a:t>
            </a:r>
            <a:r>
              <a:rPr lang="en-US" altLang="zh-CN" sz="2600" dirty="0">
                <a:latin typeface="华光仿宋_CNKI" panose="02000500000000000000" pitchFamily="2" charset="-122"/>
                <a:ea typeface="华光仿宋_CNKI" panose="02000500000000000000" pitchFamily="2" charset="-122"/>
              </a:rPr>
              <a:t>y &lt; -1 </a:t>
            </a:r>
            <a:r>
              <a:rPr lang="zh-CN" altLang="en-US" sz="2600" dirty="0">
                <a:latin typeface="华光仿宋_CNKI" panose="02000500000000000000" pitchFamily="2" charset="-122"/>
                <a:ea typeface="华光仿宋_CNKI" panose="02000500000000000000" pitchFamily="2" charset="-122"/>
              </a:rPr>
              <a:t>时，第 </a:t>
            </a:r>
            <a:r>
              <a:rPr lang="en-US" altLang="zh-CN" sz="2600" dirty="0">
                <a:latin typeface="华光仿宋_CNKI" panose="02000500000000000000" pitchFamily="2" charset="-122"/>
                <a:ea typeface="华光仿宋_CNKI" panose="02000500000000000000" pitchFamily="2" charset="-122"/>
              </a:rPr>
              <a:t>2 </a:t>
            </a:r>
            <a:r>
              <a:rPr lang="zh-CN" altLang="en-US" sz="2600" dirty="0">
                <a:latin typeface="华光仿宋_CNKI" panose="02000500000000000000" pitchFamily="2" charset="-122"/>
                <a:ea typeface="华光仿宋_CNKI" panose="02000500000000000000" pitchFamily="2" charset="-122"/>
              </a:rPr>
              <a:t>位置为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，否则置为 </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25397203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2939" y="683811"/>
            <a:ext cx="10580205" cy="5526157"/>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）当线段端点位于裁剪体的上方时，即 </a:t>
            </a:r>
            <a:r>
              <a:rPr lang="en-US" altLang="zh-CN" sz="2600" dirty="0">
                <a:latin typeface="华光仿宋_CNKI" panose="02000500000000000000" pitchFamily="2" charset="-122"/>
                <a:ea typeface="华光仿宋_CNKI" panose="02000500000000000000" pitchFamily="2" charset="-122"/>
              </a:rPr>
              <a:t>y &gt; 1</a:t>
            </a:r>
            <a:r>
              <a:rPr lang="zh-CN" altLang="en-US" sz="2600" dirty="0">
                <a:latin typeface="华光仿宋_CNKI" panose="02000500000000000000" pitchFamily="2" charset="-122"/>
                <a:ea typeface="华光仿宋_CNKI" panose="02000500000000000000" pitchFamily="2" charset="-122"/>
              </a:rPr>
              <a:t>时，第 </a:t>
            </a:r>
            <a:r>
              <a:rPr lang="en-US" altLang="zh-CN" sz="2600" dirty="0">
                <a:latin typeface="华光仿宋_CNKI" panose="02000500000000000000" pitchFamily="2" charset="-122"/>
                <a:ea typeface="华光仿宋_CNKI" panose="02000500000000000000" pitchFamily="2" charset="-122"/>
              </a:rPr>
              <a:t>3 </a:t>
            </a:r>
            <a:r>
              <a:rPr lang="zh-CN" altLang="en-US" sz="2600" dirty="0">
                <a:latin typeface="华光仿宋_CNKI" panose="02000500000000000000" pitchFamily="2" charset="-122"/>
                <a:ea typeface="华光仿宋_CNKI" panose="02000500000000000000" pitchFamily="2" charset="-122"/>
              </a:rPr>
              <a:t>位置为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，否则置为 </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5</a:t>
            </a:r>
            <a:r>
              <a:rPr lang="zh-CN" altLang="en-US" sz="2600" dirty="0">
                <a:latin typeface="华光仿宋_CNKI" panose="02000500000000000000" pitchFamily="2" charset="-122"/>
                <a:ea typeface="华光仿宋_CNKI" panose="02000500000000000000" pitchFamily="2" charset="-122"/>
              </a:rPr>
              <a:t>）当线段端点位于裁剪体的前方时，即 </a:t>
            </a:r>
            <a:r>
              <a:rPr lang="en-US" altLang="zh-CN" sz="2600" dirty="0">
                <a:latin typeface="华光仿宋_CNKI" panose="02000500000000000000" pitchFamily="2" charset="-122"/>
                <a:ea typeface="华光仿宋_CNKI" panose="02000500000000000000" pitchFamily="2" charset="-122"/>
              </a:rPr>
              <a:t>z &gt; 1</a:t>
            </a:r>
            <a:r>
              <a:rPr lang="zh-CN" altLang="en-US" sz="2600" dirty="0">
                <a:latin typeface="华光仿宋_CNKI" panose="02000500000000000000" pitchFamily="2" charset="-122"/>
                <a:ea typeface="华光仿宋_CNKI" panose="02000500000000000000" pitchFamily="2" charset="-122"/>
              </a:rPr>
              <a:t>时，第 </a:t>
            </a:r>
            <a:r>
              <a:rPr lang="en-US" altLang="zh-CN" sz="2600" dirty="0">
                <a:latin typeface="华光仿宋_CNKI" panose="02000500000000000000" pitchFamily="2" charset="-122"/>
                <a:ea typeface="华光仿宋_CNKI" panose="02000500000000000000" pitchFamily="2" charset="-122"/>
              </a:rPr>
              <a:t>4 </a:t>
            </a:r>
            <a:r>
              <a:rPr lang="zh-CN" altLang="en-US" sz="2600" dirty="0">
                <a:latin typeface="华光仿宋_CNKI" panose="02000500000000000000" pitchFamily="2" charset="-122"/>
                <a:ea typeface="华光仿宋_CNKI" panose="02000500000000000000" pitchFamily="2" charset="-122"/>
              </a:rPr>
              <a:t>位置为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，否则置为 </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 当线段端点位于裁剪体的后方时，即 </a:t>
            </a:r>
            <a:r>
              <a:rPr lang="en-US" altLang="zh-CN" sz="2600" dirty="0">
                <a:latin typeface="华光仿宋_CNKI" panose="02000500000000000000" pitchFamily="2" charset="-122"/>
                <a:ea typeface="华光仿宋_CNKI" panose="02000500000000000000" pitchFamily="2" charset="-122"/>
              </a:rPr>
              <a:t>z &lt; -1</a:t>
            </a:r>
            <a:r>
              <a:rPr lang="zh-CN" altLang="en-US" sz="2600" dirty="0">
                <a:latin typeface="华光仿宋_CNKI" panose="02000500000000000000" pitchFamily="2" charset="-122"/>
                <a:ea typeface="华光仿宋_CNKI" panose="02000500000000000000" pitchFamily="2" charset="-122"/>
              </a:rPr>
              <a:t>时，第 </a:t>
            </a:r>
            <a:r>
              <a:rPr lang="en-US" altLang="zh-CN" sz="2600" dirty="0">
                <a:latin typeface="华光仿宋_CNKI" panose="02000500000000000000" pitchFamily="2" charset="-122"/>
                <a:ea typeface="华光仿宋_CNKI" panose="02000500000000000000" pitchFamily="2" charset="-122"/>
              </a:rPr>
              <a:t>5 </a:t>
            </a:r>
            <a:r>
              <a:rPr lang="zh-CN" altLang="en-US" sz="2600" dirty="0">
                <a:latin typeface="华光仿宋_CNKI" panose="02000500000000000000" pitchFamily="2" charset="-122"/>
                <a:ea typeface="华光仿宋_CNKI" panose="02000500000000000000" pitchFamily="2" charset="-122"/>
              </a:rPr>
              <a:t>位置为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，否则置为 </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通过上面的编码，可以得出如下的结论：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）如果线段的两个端点的编码全部为</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，则完全在长方体内部，</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1956739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5897" y="675861"/>
            <a:ext cx="10580205" cy="5041126"/>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因此线段完全可见。</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）如果线段的两个端点同时位于长方体的左侧，右侧，上方，下方，前方或者后方，则两端点编码对应位相与的结果必不为</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，因此该线段完全不可见。</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）如果线段两端点穿越立方体，则会出现两端点对应位相与的结果为</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，这样就会与立方体的某一个面相交，部分可见，部分不可见。则需要求交，然后将线段分割成几个部分，分别判断每一段线段是否可见。</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6637875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79118" y="832554"/>
                <a:ext cx="6243101" cy="5345291"/>
              </a:xfrm>
            </p:spPr>
            <p:txBody>
              <a:bodyPr>
                <a:no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3. 2 </a:t>
                </a:r>
                <a:r>
                  <a:rPr lang="zh-CN" altLang="en-US" dirty="0">
                    <a:latin typeface="华光超粗黑_CNKI" panose="02000500000000000000" pitchFamily="2" charset="-122"/>
                    <a:ea typeface="华光超粗黑_CNKI" panose="02000500000000000000" pitchFamily="2" charset="-122"/>
                  </a:rPr>
                  <a:t>视椎体裁剪</a:t>
                </a: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透视投影中的三维裁剪也可称为视椎体裁剪。如右图所示。同样需要判断线段与各个面之间的位置关系。</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各个面的方程如下：</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右平面方程：</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x-</a:t>
                </a:r>
                <a14:m>
                  <m:oMath xmlns:m="http://schemas.openxmlformats.org/officeDocument/2006/math">
                    <m:f>
                      <m:fPr>
                        <m:ctrlPr>
                          <a:rPr lang="en-US" altLang="zh-CN" sz="2600" i="1" smtClean="0">
                            <a:latin typeface="Cambria Math" panose="02040503050406030204" pitchFamily="18" charset="0"/>
                            <a:ea typeface="华光仿宋_CNKI" panose="02000500000000000000" pitchFamily="2" charset="-122"/>
                          </a:rPr>
                        </m:ctrlPr>
                      </m:fPr>
                      <m:num>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𝑥</m:t>
                            </m:r>
                          </m:e>
                          <m:sub>
                            <m:r>
                              <a:rPr lang="en-US" altLang="zh-CN" sz="2600" b="0" i="1" smtClean="0">
                                <a:latin typeface="Cambria Math" panose="02040503050406030204" pitchFamily="18" charset="0"/>
                                <a:ea typeface="华光仿宋_CNKI" panose="02000500000000000000" pitchFamily="2" charset="-122"/>
                              </a:rPr>
                              <m:t>𝑅</m:t>
                            </m:r>
                          </m:sub>
                        </m:sSub>
                      </m:num>
                      <m:den>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𝑧</m:t>
                            </m:r>
                          </m:e>
                          <m:sub>
                            <m:r>
                              <a:rPr lang="en-US" altLang="zh-CN" sz="2600" b="0" i="1" smtClean="0">
                                <a:latin typeface="Cambria Math" panose="02040503050406030204" pitchFamily="18" charset="0"/>
                                <a:ea typeface="华光仿宋_CNKI" panose="02000500000000000000" pitchFamily="2" charset="-122"/>
                              </a:rPr>
                              <m:t>𝑌</m:t>
                            </m:r>
                          </m:sub>
                        </m:sSub>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𝑑</m:t>
                        </m:r>
                      </m:den>
                    </m:f>
                    <m:r>
                      <a:rPr lang="en-US" altLang="zh-CN" sz="2600" b="0" i="1" smtClean="0">
                        <a:latin typeface="Cambria Math" panose="02040503050406030204" pitchFamily="18" charset="0"/>
                        <a:ea typeface="华光仿宋_CNKI" panose="02000500000000000000" pitchFamily="2" charset="-122"/>
                      </a:rPr>
                      <m:t>𝑧</m:t>
                    </m:r>
                    <m:r>
                      <a:rPr lang="en-US" altLang="zh-CN" sz="2600" b="0" i="1" smtClean="0">
                        <a:latin typeface="Cambria Math" panose="02040503050406030204" pitchFamily="18" charset="0"/>
                        <a:ea typeface="华光仿宋_CNKI" panose="02000500000000000000" pitchFamily="2" charset="-122"/>
                      </a:rPr>
                      <m:t>−</m:t>
                    </m:r>
                    <m:f>
                      <m:fPr>
                        <m:ctrlPr>
                          <a:rPr lang="en-US" altLang="zh-CN" sz="2600" i="1">
                            <a:latin typeface="Cambria Math" panose="02040503050406030204" pitchFamily="18" charset="0"/>
                            <a:ea typeface="华光仿宋_CNKI" panose="02000500000000000000" pitchFamily="2" charset="-122"/>
                          </a:rPr>
                        </m:ctrlPr>
                      </m:fPr>
                      <m:num>
                        <m:sSub>
                          <m:sSubPr>
                            <m:ctrlPr>
                              <a:rPr lang="en-US" altLang="zh-CN" sz="2600" i="1">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𝑑</m:t>
                            </m:r>
                            <m:r>
                              <a:rPr lang="en-US" altLang="zh-CN" sz="2600" i="1">
                                <a:latin typeface="Cambria Math" panose="02040503050406030204" pitchFamily="18" charset="0"/>
                                <a:ea typeface="华光仿宋_CNKI" panose="02000500000000000000" pitchFamily="2" charset="-122"/>
                              </a:rPr>
                              <m:t>𝑥</m:t>
                            </m:r>
                          </m:e>
                          <m:sub>
                            <m:r>
                              <a:rPr lang="en-US" altLang="zh-CN" sz="2600" i="1">
                                <a:latin typeface="Cambria Math" panose="02040503050406030204" pitchFamily="18" charset="0"/>
                                <a:ea typeface="华光仿宋_CNKI" panose="02000500000000000000" pitchFamily="2" charset="-122"/>
                              </a:rPr>
                              <m:t>𝑅</m:t>
                            </m:r>
                          </m:sub>
                        </m:sSub>
                      </m:num>
                      <m:den>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𝑧</m:t>
                            </m:r>
                          </m:e>
                          <m:sub>
                            <m:r>
                              <a:rPr lang="en-US" altLang="zh-CN" sz="2600" i="1">
                                <a:latin typeface="Cambria Math" panose="02040503050406030204" pitchFamily="18" charset="0"/>
                                <a:ea typeface="华光仿宋_CNKI" panose="02000500000000000000" pitchFamily="2" charset="-122"/>
                              </a:rPr>
                              <m:t>𝑌</m:t>
                            </m:r>
                          </m:sub>
                        </m:sSub>
                        <m:r>
                          <a:rPr lang="en-US" altLang="zh-CN" sz="2600" i="1">
                            <a:latin typeface="Cambria Math" panose="02040503050406030204" pitchFamily="18" charset="0"/>
                            <a:ea typeface="华光仿宋_CNKI" panose="02000500000000000000" pitchFamily="2" charset="-122"/>
                          </a:rPr>
                          <m:t>−</m:t>
                        </m:r>
                        <m:r>
                          <a:rPr lang="en-US" altLang="zh-CN" sz="2600" i="1">
                            <a:latin typeface="Cambria Math" panose="02040503050406030204" pitchFamily="18" charset="0"/>
                            <a:ea typeface="华光仿宋_CNKI" panose="02000500000000000000" pitchFamily="2" charset="-122"/>
                          </a:rPr>
                          <m:t>𝑑</m:t>
                        </m:r>
                      </m:den>
                    </m:f>
                  </m:oMath>
                </a14:m>
                <a:r>
                  <a:rPr lang="en-US" altLang="zh-CN" sz="2600" dirty="0">
                    <a:latin typeface="华光仿宋_CNKI" panose="02000500000000000000" pitchFamily="2" charset="-122"/>
                    <a:ea typeface="华光仿宋_CNKI" panose="02000500000000000000" pitchFamily="2" charset="-122"/>
                  </a:rPr>
                  <a:t>=0</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79118" y="832554"/>
                <a:ext cx="6243101" cy="5345291"/>
              </a:xfrm>
              <a:blipFill>
                <a:blip r:embed="rId2"/>
                <a:stretch>
                  <a:fillRect l="-195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5F2566CF-095B-4E03-0206-2B42DDC754BF}"/>
              </a:ext>
            </a:extLst>
          </p:cNvPr>
          <p:cNvPicPr>
            <a:picLocks noChangeAspect="1"/>
          </p:cNvPicPr>
          <p:nvPr/>
        </p:nvPicPr>
        <p:blipFill>
          <a:blip r:embed="rId3"/>
          <a:stretch>
            <a:fillRect/>
          </a:stretch>
        </p:blipFill>
        <p:spPr>
          <a:xfrm>
            <a:off x="7005099" y="3721211"/>
            <a:ext cx="4353340" cy="2719036"/>
          </a:xfrm>
          <a:prstGeom prst="rect">
            <a:avLst/>
          </a:prstGeom>
        </p:spPr>
      </p:pic>
      <p:pic>
        <p:nvPicPr>
          <p:cNvPr id="8" name="图片 7">
            <a:extLst>
              <a:ext uri="{FF2B5EF4-FFF2-40B4-BE49-F238E27FC236}">
                <a16:creationId xmlns:a16="http://schemas.microsoft.com/office/drawing/2014/main" id="{31A476FF-3B5A-13E6-758A-7EC0A219F8A8}"/>
              </a:ext>
            </a:extLst>
          </p:cNvPr>
          <p:cNvPicPr>
            <a:picLocks noChangeAspect="1"/>
          </p:cNvPicPr>
          <p:nvPr/>
        </p:nvPicPr>
        <p:blipFill>
          <a:blip r:embed="rId4"/>
          <a:stretch>
            <a:fillRect/>
          </a:stretch>
        </p:blipFill>
        <p:spPr>
          <a:xfrm>
            <a:off x="6822219" y="263511"/>
            <a:ext cx="5224007" cy="3457700"/>
          </a:xfrm>
          <a:prstGeom prst="rect">
            <a:avLst/>
          </a:prstGeom>
        </p:spPr>
      </p:pic>
    </p:spTree>
    <p:extLst>
      <p:ext uri="{BB962C8B-B14F-4D97-AF65-F5344CB8AC3E}">
        <p14:creationId xmlns:p14="http://schemas.microsoft.com/office/powerpoint/2010/main" val="4218089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55265" y="749727"/>
                <a:ext cx="10926419" cy="4675049"/>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左侧平面的方程：</a:t>
                </a:r>
                <a:r>
                  <a:rPr lang="en-US" altLang="zh-CN" sz="2600" dirty="0">
                    <a:latin typeface="华光仿宋_CNKI" panose="02000500000000000000" pitchFamily="2" charset="-122"/>
                    <a:ea typeface="华光仿宋_CNKI" panose="02000500000000000000" pitchFamily="2" charset="-122"/>
                  </a:rPr>
                  <a:t> x-</a:t>
                </a:r>
                <a14:m>
                  <m:oMath xmlns:m="http://schemas.openxmlformats.org/officeDocument/2006/math">
                    <m:f>
                      <m:fPr>
                        <m:ctrlPr>
                          <a:rPr lang="en-US" altLang="zh-CN" sz="2600" i="1" smtClean="0">
                            <a:latin typeface="Cambria Math" panose="02040503050406030204" pitchFamily="18" charset="0"/>
                            <a:ea typeface="华光仿宋_CNKI" panose="02000500000000000000" pitchFamily="2" charset="-122"/>
                          </a:rPr>
                        </m:ctrlPr>
                      </m:fPr>
                      <m:num>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𝑥</m:t>
                            </m:r>
                          </m:e>
                          <m:sub>
                            <m:r>
                              <m:rPr>
                                <m:sty m:val="p"/>
                              </m:rPr>
                              <a:rPr lang="en-US" altLang="zh-CN" sz="2600" i="1">
                                <a:latin typeface="Cambria Math" panose="02040503050406030204" pitchFamily="18" charset="0"/>
                                <a:ea typeface="华光仿宋_CNKI" panose="02000500000000000000" pitchFamily="2" charset="-122"/>
                              </a:rPr>
                              <m:t>L</m:t>
                            </m:r>
                          </m:sub>
                        </m:sSub>
                      </m:num>
                      <m:den>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𝑧</m:t>
                            </m:r>
                          </m:e>
                          <m:sub>
                            <m:r>
                              <a:rPr lang="en-US" altLang="zh-CN" sz="2600" b="0" i="1" smtClean="0">
                                <a:latin typeface="Cambria Math" panose="02040503050406030204" pitchFamily="18" charset="0"/>
                                <a:ea typeface="华光仿宋_CNKI" panose="02000500000000000000" pitchFamily="2" charset="-122"/>
                              </a:rPr>
                              <m:t>𝑌</m:t>
                            </m:r>
                          </m:sub>
                        </m:sSub>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𝑑</m:t>
                        </m:r>
                      </m:den>
                    </m:f>
                    <m:r>
                      <a:rPr lang="en-US" altLang="zh-CN" sz="2600" b="0" i="1" smtClean="0">
                        <a:latin typeface="Cambria Math" panose="02040503050406030204" pitchFamily="18" charset="0"/>
                        <a:ea typeface="华光仿宋_CNKI" panose="02000500000000000000" pitchFamily="2" charset="-122"/>
                      </a:rPr>
                      <m:t>𝑧</m:t>
                    </m:r>
                    <m:r>
                      <a:rPr lang="en-US" altLang="zh-CN" sz="2600" b="0" i="1" smtClean="0">
                        <a:latin typeface="Cambria Math" panose="02040503050406030204" pitchFamily="18" charset="0"/>
                        <a:ea typeface="华光仿宋_CNKI" panose="02000500000000000000" pitchFamily="2" charset="-122"/>
                      </a:rPr>
                      <m:t>−</m:t>
                    </m:r>
                    <m:f>
                      <m:fPr>
                        <m:ctrlPr>
                          <a:rPr lang="en-US" altLang="zh-CN" sz="2600" i="1">
                            <a:latin typeface="Cambria Math" panose="02040503050406030204" pitchFamily="18" charset="0"/>
                            <a:ea typeface="华光仿宋_CNKI" panose="02000500000000000000" pitchFamily="2" charset="-122"/>
                          </a:rPr>
                        </m:ctrlPr>
                      </m:fPr>
                      <m:num>
                        <m:sSub>
                          <m:sSubPr>
                            <m:ctrlPr>
                              <a:rPr lang="en-US" altLang="zh-CN" sz="2600" i="1">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𝑑</m:t>
                            </m:r>
                            <m:r>
                              <a:rPr lang="en-US" altLang="zh-CN" sz="2600" i="1">
                                <a:latin typeface="Cambria Math" panose="02040503050406030204" pitchFamily="18" charset="0"/>
                                <a:ea typeface="华光仿宋_CNKI" panose="02000500000000000000" pitchFamily="2" charset="-122"/>
                              </a:rPr>
                              <m:t>𝑥</m:t>
                            </m:r>
                          </m:e>
                          <m:sub>
                            <m:r>
                              <m:rPr>
                                <m:sty m:val="p"/>
                              </m:rPr>
                              <a:rPr lang="en-US" altLang="zh-CN" sz="2600" i="1">
                                <a:latin typeface="Cambria Math" panose="02040503050406030204" pitchFamily="18" charset="0"/>
                                <a:ea typeface="华光仿宋_CNKI" panose="02000500000000000000" pitchFamily="2" charset="-122"/>
                              </a:rPr>
                              <m:t>L</m:t>
                            </m:r>
                          </m:sub>
                        </m:sSub>
                      </m:num>
                      <m:den>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𝑧</m:t>
                            </m:r>
                          </m:e>
                          <m:sub>
                            <m:r>
                              <a:rPr lang="en-US" altLang="zh-CN" sz="2600" i="1">
                                <a:latin typeface="Cambria Math" panose="02040503050406030204" pitchFamily="18" charset="0"/>
                                <a:ea typeface="华光仿宋_CNKI" panose="02000500000000000000" pitchFamily="2" charset="-122"/>
                              </a:rPr>
                              <m:t>𝑌</m:t>
                            </m:r>
                          </m:sub>
                        </m:sSub>
                        <m:r>
                          <a:rPr lang="en-US" altLang="zh-CN" sz="2600" i="1">
                            <a:latin typeface="Cambria Math" panose="02040503050406030204" pitchFamily="18" charset="0"/>
                            <a:ea typeface="华光仿宋_CNKI" panose="02000500000000000000" pitchFamily="2" charset="-122"/>
                          </a:rPr>
                          <m:t>−</m:t>
                        </m:r>
                        <m:r>
                          <a:rPr lang="en-US" altLang="zh-CN" sz="2600" i="1">
                            <a:latin typeface="Cambria Math" panose="02040503050406030204" pitchFamily="18" charset="0"/>
                            <a:ea typeface="华光仿宋_CNKI" panose="02000500000000000000" pitchFamily="2" charset="-122"/>
                          </a:rPr>
                          <m:t>𝑑</m:t>
                        </m:r>
                      </m:den>
                    </m:f>
                  </m:oMath>
                </a14:m>
                <a:r>
                  <a:rPr lang="en-US" altLang="zh-CN" sz="2600" dirty="0">
                    <a:latin typeface="华光仿宋_CNKI" panose="02000500000000000000" pitchFamily="2" charset="-122"/>
                    <a:ea typeface="华光仿宋_CNKI" panose="02000500000000000000" pitchFamily="2" charset="-122"/>
                  </a:rPr>
                  <a:t>=0</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顶部平面的方程：</a:t>
                </a:r>
                <a:r>
                  <a:rPr lang="en-US" altLang="zh-CN" sz="2600" dirty="0">
                    <a:latin typeface="华光仿宋_CNKI" panose="02000500000000000000" pitchFamily="2" charset="-122"/>
                    <a:ea typeface="华光仿宋_CNKI" panose="02000500000000000000" pitchFamily="2" charset="-122"/>
                  </a:rPr>
                  <a:t>y-</a:t>
                </a:r>
                <a14:m>
                  <m:oMath xmlns:m="http://schemas.openxmlformats.org/officeDocument/2006/math">
                    <m:f>
                      <m:fPr>
                        <m:ctrlPr>
                          <a:rPr lang="en-US" altLang="zh-CN" sz="2600" i="1" smtClean="0">
                            <a:latin typeface="Cambria Math" panose="02040503050406030204" pitchFamily="18" charset="0"/>
                            <a:ea typeface="华光仿宋_CNKI" panose="02000500000000000000" pitchFamily="2" charset="-122"/>
                          </a:rPr>
                        </m:ctrlPr>
                      </m:fPr>
                      <m:num>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𝑦</m:t>
                            </m:r>
                          </m:e>
                          <m:sub>
                            <m:r>
                              <a:rPr lang="en-US" altLang="zh-CN" sz="2600" b="0" i="1" smtClean="0">
                                <a:latin typeface="Cambria Math" panose="02040503050406030204" pitchFamily="18" charset="0"/>
                                <a:ea typeface="华光仿宋_CNKI" panose="02000500000000000000" pitchFamily="2" charset="-122"/>
                              </a:rPr>
                              <m:t>𝑇</m:t>
                            </m:r>
                          </m:sub>
                        </m:sSub>
                      </m:num>
                      <m:den>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𝑧</m:t>
                            </m:r>
                          </m:e>
                          <m:sub>
                            <m:r>
                              <a:rPr lang="en-US" altLang="zh-CN" sz="2600" b="0" i="1" smtClean="0">
                                <a:latin typeface="Cambria Math" panose="02040503050406030204" pitchFamily="18" charset="0"/>
                                <a:ea typeface="华光仿宋_CNKI" panose="02000500000000000000" pitchFamily="2" charset="-122"/>
                              </a:rPr>
                              <m:t>𝑌</m:t>
                            </m:r>
                          </m:sub>
                        </m:sSub>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𝑑</m:t>
                        </m:r>
                      </m:den>
                    </m:f>
                    <m:r>
                      <a:rPr lang="en-US" altLang="zh-CN" sz="2600" b="0" i="1" smtClean="0">
                        <a:latin typeface="Cambria Math" panose="02040503050406030204" pitchFamily="18" charset="0"/>
                        <a:ea typeface="华光仿宋_CNKI" panose="02000500000000000000" pitchFamily="2" charset="-122"/>
                      </a:rPr>
                      <m:t>𝑧</m:t>
                    </m:r>
                    <m:r>
                      <a:rPr lang="en-US" altLang="zh-CN" sz="2600" b="0" i="1" smtClean="0">
                        <a:latin typeface="Cambria Math" panose="02040503050406030204" pitchFamily="18" charset="0"/>
                        <a:ea typeface="华光仿宋_CNKI" panose="02000500000000000000" pitchFamily="2" charset="-122"/>
                      </a:rPr>
                      <m:t>−</m:t>
                    </m:r>
                    <m:f>
                      <m:fPr>
                        <m:ctrlPr>
                          <a:rPr lang="en-US" altLang="zh-CN" sz="2600" i="1">
                            <a:latin typeface="Cambria Math" panose="02040503050406030204" pitchFamily="18" charset="0"/>
                            <a:ea typeface="华光仿宋_CNKI" panose="02000500000000000000" pitchFamily="2" charset="-122"/>
                          </a:rPr>
                        </m:ctrlPr>
                      </m:fPr>
                      <m:num>
                        <m:sSub>
                          <m:sSubPr>
                            <m:ctrlPr>
                              <a:rPr lang="en-US" altLang="zh-CN" sz="2600" i="1">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𝑑𝑦</m:t>
                            </m:r>
                          </m:e>
                          <m:sub>
                            <m:r>
                              <a:rPr lang="en-US" altLang="zh-CN" sz="2600" b="0" i="1" smtClean="0">
                                <a:latin typeface="Cambria Math" panose="02040503050406030204" pitchFamily="18" charset="0"/>
                                <a:ea typeface="华光仿宋_CNKI" panose="02000500000000000000" pitchFamily="2" charset="-122"/>
                              </a:rPr>
                              <m:t>𝑇</m:t>
                            </m:r>
                          </m:sub>
                        </m:sSub>
                      </m:num>
                      <m:den>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𝑧</m:t>
                            </m:r>
                          </m:e>
                          <m:sub>
                            <m:r>
                              <a:rPr lang="en-US" altLang="zh-CN" sz="2600" i="1">
                                <a:latin typeface="Cambria Math" panose="02040503050406030204" pitchFamily="18" charset="0"/>
                                <a:ea typeface="华光仿宋_CNKI" panose="02000500000000000000" pitchFamily="2" charset="-122"/>
                              </a:rPr>
                              <m:t>𝑌</m:t>
                            </m:r>
                          </m:sub>
                        </m:sSub>
                        <m:r>
                          <a:rPr lang="en-US" altLang="zh-CN" sz="2600" i="1">
                            <a:latin typeface="Cambria Math" panose="02040503050406030204" pitchFamily="18" charset="0"/>
                            <a:ea typeface="华光仿宋_CNKI" panose="02000500000000000000" pitchFamily="2" charset="-122"/>
                          </a:rPr>
                          <m:t>−</m:t>
                        </m:r>
                        <m:r>
                          <a:rPr lang="en-US" altLang="zh-CN" sz="2600" i="1">
                            <a:latin typeface="Cambria Math" panose="02040503050406030204" pitchFamily="18" charset="0"/>
                            <a:ea typeface="华光仿宋_CNKI" panose="02000500000000000000" pitchFamily="2" charset="-122"/>
                          </a:rPr>
                          <m:t>𝑑</m:t>
                        </m:r>
                      </m:den>
                    </m:f>
                  </m:oMath>
                </a14:m>
                <a:r>
                  <a:rPr lang="en-US" altLang="zh-CN" sz="2600" dirty="0">
                    <a:latin typeface="华光仿宋_CNKI" panose="02000500000000000000" pitchFamily="2" charset="-122"/>
                    <a:ea typeface="华光仿宋_CNKI" panose="02000500000000000000" pitchFamily="2" charset="-122"/>
                  </a:rPr>
                  <a:t>=0</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底部平面的方程：</a:t>
                </a:r>
                <a:r>
                  <a:rPr lang="en-US" altLang="zh-CN" sz="2600" dirty="0">
                    <a:latin typeface="华光仿宋_CNKI" panose="02000500000000000000" pitchFamily="2" charset="-122"/>
                    <a:ea typeface="华光仿宋_CNKI" panose="02000500000000000000" pitchFamily="2" charset="-122"/>
                  </a:rPr>
                  <a:t>y-</a:t>
                </a:r>
                <a14:m>
                  <m:oMath xmlns:m="http://schemas.openxmlformats.org/officeDocument/2006/math">
                    <m:f>
                      <m:fPr>
                        <m:ctrlPr>
                          <a:rPr lang="en-US" altLang="zh-CN" sz="2600" i="1" smtClean="0">
                            <a:latin typeface="Cambria Math" panose="02040503050406030204" pitchFamily="18" charset="0"/>
                            <a:ea typeface="华光仿宋_CNKI" panose="02000500000000000000" pitchFamily="2" charset="-122"/>
                          </a:rPr>
                        </m:ctrlPr>
                      </m:fPr>
                      <m:num>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𝑦</m:t>
                            </m:r>
                          </m:e>
                          <m:sub>
                            <m:r>
                              <m:rPr>
                                <m:sty m:val="p"/>
                              </m:rPr>
                              <a:rPr lang="en-US" altLang="zh-CN" sz="2600" i="1">
                                <a:latin typeface="Cambria Math" panose="02040503050406030204" pitchFamily="18" charset="0"/>
                                <a:ea typeface="华光仿宋_CNKI" panose="02000500000000000000" pitchFamily="2" charset="-122"/>
                              </a:rPr>
                              <m:t>B</m:t>
                            </m:r>
                          </m:sub>
                        </m:sSub>
                      </m:num>
                      <m:den>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𝑧</m:t>
                            </m:r>
                          </m:e>
                          <m:sub>
                            <m:r>
                              <a:rPr lang="en-US" altLang="zh-CN" sz="2600" b="0" i="1" smtClean="0">
                                <a:latin typeface="Cambria Math" panose="02040503050406030204" pitchFamily="18" charset="0"/>
                                <a:ea typeface="华光仿宋_CNKI" panose="02000500000000000000" pitchFamily="2" charset="-122"/>
                              </a:rPr>
                              <m:t>𝑌</m:t>
                            </m:r>
                          </m:sub>
                        </m:sSub>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𝑑</m:t>
                        </m:r>
                      </m:den>
                    </m:f>
                    <m:r>
                      <a:rPr lang="en-US" altLang="zh-CN" sz="2600" b="0" i="1" smtClean="0">
                        <a:latin typeface="Cambria Math" panose="02040503050406030204" pitchFamily="18" charset="0"/>
                        <a:ea typeface="华光仿宋_CNKI" panose="02000500000000000000" pitchFamily="2" charset="-122"/>
                      </a:rPr>
                      <m:t>𝑧</m:t>
                    </m:r>
                    <m:r>
                      <a:rPr lang="en-US" altLang="zh-CN" sz="2600" b="0" i="1" smtClean="0">
                        <a:latin typeface="Cambria Math" panose="02040503050406030204" pitchFamily="18" charset="0"/>
                        <a:ea typeface="华光仿宋_CNKI" panose="02000500000000000000" pitchFamily="2" charset="-122"/>
                      </a:rPr>
                      <m:t>−</m:t>
                    </m:r>
                    <m:f>
                      <m:fPr>
                        <m:ctrlPr>
                          <a:rPr lang="en-US" altLang="zh-CN" sz="2600" i="1">
                            <a:latin typeface="Cambria Math" panose="02040503050406030204" pitchFamily="18" charset="0"/>
                            <a:ea typeface="华光仿宋_CNKI" panose="02000500000000000000" pitchFamily="2" charset="-122"/>
                          </a:rPr>
                        </m:ctrlPr>
                      </m:fPr>
                      <m:num>
                        <m:sSub>
                          <m:sSubPr>
                            <m:ctrlPr>
                              <a:rPr lang="en-US" altLang="zh-CN" sz="2600" i="1">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𝑑𝑦</m:t>
                            </m:r>
                          </m:e>
                          <m:sub>
                            <m:r>
                              <a:rPr lang="en-US" altLang="zh-CN" sz="2600" b="0" i="1" smtClean="0">
                                <a:latin typeface="Cambria Math" panose="02040503050406030204" pitchFamily="18" charset="0"/>
                                <a:ea typeface="华光仿宋_CNKI" panose="02000500000000000000" pitchFamily="2" charset="-122"/>
                              </a:rPr>
                              <m:t>𝐵</m:t>
                            </m:r>
                          </m:sub>
                        </m:sSub>
                      </m:num>
                      <m:den>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𝑧</m:t>
                            </m:r>
                          </m:e>
                          <m:sub>
                            <m:r>
                              <a:rPr lang="en-US" altLang="zh-CN" sz="2600" i="1">
                                <a:latin typeface="Cambria Math" panose="02040503050406030204" pitchFamily="18" charset="0"/>
                                <a:ea typeface="华光仿宋_CNKI" panose="02000500000000000000" pitchFamily="2" charset="-122"/>
                              </a:rPr>
                              <m:t>𝑌</m:t>
                            </m:r>
                          </m:sub>
                        </m:sSub>
                        <m:r>
                          <a:rPr lang="en-US" altLang="zh-CN" sz="2600" i="1">
                            <a:latin typeface="Cambria Math" panose="02040503050406030204" pitchFamily="18" charset="0"/>
                            <a:ea typeface="华光仿宋_CNKI" panose="02000500000000000000" pitchFamily="2" charset="-122"/>
                          </a:rPr>
                          <m:t>−</m:t>
                        </m:r>
                        <m:r>
                          <a:rPr lang="en-US" altLang="zh-CN" sz="2600" i="1">
                            <a:latin typeface="Cambria Math" panose="02040503050406030204" pitchFamily="18" charset="0"/>
                            <a:ea typeface="华光仿宋_CNKI" panose="02000500000000000000" pitchFamily="2" charset="-122"/>
                          </a:rPr>
                          <m:t>𝑑</m:t>
                        </m:r>
                      </m:den>
                    </m:f>
                  </m:oMath>
                </a14:m>
                <a:r>
                  <a:rPr lang="en-US" altLang="zh-CN" sz="2600" dirty="0">
                    <a:latin typeface="华光仿宋_CNKI" panose="02000500000000000000" pitchFamily="2" charset="-122"/>
                    <a:ea typeface="华光仿宋_CNKI" panose="02000500000000000000" pitchFamily="2" charset="-122"/>
                  </a:rPr>
                  <a:t>=0</a:t>
                </a:r>
              </a:p>
              <a:p>
                <a:pPr marL="0" indent="0">
                  <a:lnSpc>
                    <a:spcPct val="150000"/>
                  </a:lnSpc>
                  <a:buFont typeface="Arial" panose="020B0604020202020204" pitchFamily="34" charset="0"/>
                  <a:buNone/>
                </a:pPr>
                <a:r>
                  <a:rPr lang="zh-CN" altLang="en-US" sz="2600" dirty="0">
                    <a:latin typeface="华光仿宋_CNKI" panose="02000500000000000000" pitchFamily="2" charset="-122"/>
                    <a:ea typeface="华光仿宋_CNKI" panose="02000500000000000000" pitchFamily="2" charset="-122"/>
                  </a:rPr>
                  <a:t>    近平面的方程：</a:t>
                </a:r>
                <a:r>
                  <a:rPr lang="en-US" altLang="zh-CN" sz="2600" dirty="0">
                    <a:latin typeface="华光仿宋_CNKI" panose="02000500000000000000" pitchFamily="2" charset="-122"/>
                    <a:ea typeface="华光仿宋_CNKI" panose="02000500000000000000" pitchFamily="2" charset="-122"/>
                  </a:rPr>
                  <a:t>z-</a:t>
                </a:r>
                <a:r>
                  <a:rPr lang="en-US" altLang="zh-CN" sz="2600" dirty="0">
                    <a:ea typeface="华光仿宋_CNKI" panose="02000500000000000000" pitchFamily="2" charset="-122"/>
                  </a:rPr>
                  <a:t> </a:t>
                </a:r>
                <a14:m>
                  <m:oMath xmlns:m="http://schemas.openxmlformats.org/officeDocument/2006/math">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𝑧</m:t>
                        </m:r>
                      </m:e>
                      <m:sub>
                        <m:r>
                          <a:rPr lang="en-US" altLang="zh-CN" sz="2600" b="0" i="1" smtClean="0">
                            <a:latin typeface="Cambria Math" panose="02040503050406030204" pitchFamily="18" charset="0"/>
                            <a:ea typeface="华光仿宋_CNKI" panose="02000500000000000000" pitchFamily="2" charset="-122"/>
                          </a:rPr>
                          <m:t>𝐻</m:t>
                        </m:r>
                      </m:sub>
                    </m:sSub>
                  </m:oMath>
                </a14:m>
                <a:r>
                  <a:rPr lang="en-US" altLang="zh-CN" sz="2600" dirty="0">
                    <a:latin typeface="华光仿宋_CNKI" panose="02000500000000000000" pitchFamily="2" charset="-122"/>
                    <a:ea typeface="华光仿宋_CNKI" panose="02000500000000000000" pitchFamily="2" charset="-122"/>
                  </a:rPr>
                  <a:t>=0</a:t>
                </a:r>
              </a:p>
              <a:p>
                <a:pPr marL="0" indent="0">
                  <a:lnSpc>
                    <a:spcPct val="150000"/>
                  </a:lnSpc>
                  <a:buFont typeface="Arial" panose="020B0604020202020204" pitchFamily="34" charset="0"/>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远平面的方程：</a:t>
                </a:r>
                <a:r>
                  <a:rPr lang="en-US" altLang="zh-CN" sz="2600" dirty="0">
                    <a:latin typeface="华光仿宋_CNKI" panose="02000500000000000000" pitchFamily="2" charset="-122"/>
                    <a:ea typeface="华光仿宋_CNKI" panose="02000500000000000000" pitchFamily="2" charset="-122"/>
                  </a:rPr>
                  <a:t>z-</a:t>
                </a:r>
                <a:r>
                  <a:rPr lang="en-US" altLang="zh-CN" sz="2600" dirty="0">
                    <a:ea typeface="华光仿宋_CNKI" panose="02000500000000000000" pitchFamily="2" charset="-122"/>
                  </a:rPr>
                  <a:t> </a:t>
                </a:r>
                <a14:m>
                  <m:oMath xmlns:m="http://schemas.openxmlformats.org/officeDocument/2006/math">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𝑧</m:t>
                        </m:r>
                      </m:e>
                      <m:sub>
                        <m:r>
                          <m:rPr>
                            <m:sty m:val="p"/>
                          </m:rPr>
                          <a:rPr lang="en-US" altLang="zh-CN" sz="2600" i="1">
                            <a:latin typeface="Cambria Math" panose="02040503050406030204" pitchFamily="18" charset="0"/>
                            <a:ea typeface="华光仿宋_CNKI" panose="02000500000000000000" pitchFamily="2" charset="-122"/>
                          </a:rPr>
                          <m:t>Y</m:t>
                        </m:r>
                      </m:sub>
                    </m:sSub>
                  </m:oMath>
                </a14:m>
                <a:r>
                  <a:rPr lang="en-US" altLang="zh-CN" sz="2600" dirty="0">
                    <a:latin typeface="华光仿宋_CNKI" panose="02000500000000000000" pitchFamily="2" charset="-122"/>
                    <a:ea typeface="华光仿宋_CNKI" panose="02000500000000000000" pitchFamily="2" charset="-122"/>
                  </a:rPr>
                  <a:t>=0</a:t>
                </a:r>
              </a:p>
              <a:p>
                <a:pPr marL="0" indent="0">
                  <a:lnSpc>
                    <a:spcPct val="150000"/>
                  </a:lnSpc>
                  <a:buFont typeface="Arial" panose="020B0604020202020204" pitchFamily="34" charset="0"/>
                  <a:buNone/>
                </a:pPr>
                <a:r>
                  <a:rPr lang="en-US" altLang="zh-CN" sz="2600"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55265" y="749727"/>
                <a:ext cx="10926419" cy="4675049"/>
              </a:xfrm>
              <a:blipFill>
                <a:blip r:embed="rId2"/>
                <a:stretch>
                  <a:fillRect/>
                </a:stretch>
              </a:blipFill>
            </p:spPr>
            <p:txBody>
              <a:bodyPr/>
              <a:lstStyle/>
              <a:p>
                <a:r>
                  <a:rPr lang="zh-CN" altLang="en-US">
                    <a:noFill/>
                  </a:rPr>
                  <a:t> </a:t>
                </a:r>
              </a:p>
            </p:txBody>
          </p:sp>
        </mc:Fallback>
      </mc:AlternateContent>
      <p:sp>
        <p:nvSpPr>
          <p:cNvPr id="2" name="内容占位符 2">
            <a:extLst>
              <a:ext uri="{FF2B5EF4-FFF2-40B4-BE49-F238E27FC236}">
                <a16:creationId xmlns:a16="http://schemas.microsoft.com/office/drawing/2014/main" id="{BE44212B-7EC4-D0F6-8DC9-E7BABB72DBE7}"/>
              </a:ext>
            </a:extLst>
          </p:cNvPr>
          <p:cNvSpPr txBox="1">
            <a:spLocks/>
          </p:cNvSpPr>
          <p:nvPr/>
        </p:nvSpPr>
        <p:spPr>
          <a:xfrm>
            <a:off x="8059972" y="2752131"/>
            <a:ext cx="4436828" cy="53452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1805059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5265" y="749727"/>
            <a:ext cx="8405855" cy="5632023"/>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因此可以判断直线的端点与视椎体远近平面所组成的区域的关系：</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）如果对应的方程的值</a:t>
            </a:r>
            <a:r>
              <a:rPr lang="en-US" altLang="zh-CN" sz="2600" dirty="0">
                <a:latin typeface="华光仿宋_CNKI" panose="02000500000000000000" pitchFamily="2" charset="-122"/>
                <a:ea typeface="华光仿宋_CNKI" panose="02000500000000000000" pitchFamily="2" charset="-122"/>
              </a:rPr>
              <a:t>&gt;0</a:t>
            </a:r>
            <a:r>
              <a:rPr lang="zh-CN" altLang="en-US" sz="2600" dirty="0">
                <a:latin typeface="华光仿宋_CNKI" panose="02000500000000000000" pitchFamily="2" charset="-122"/>
                <a:ea typeface="华光仿宋_CNKI" panose="02000500000000000000" pitchFamily="2" charset="-122"/>
              </a:rPr>
              <a:t>，表明在该平面之上。</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 如果对应的方程的值</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，表明端点在该平面上。</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 如果对应的方程的值</a:t>
            </a:r>
            <a:r>
              <a:rPr lang="en-US" altLang="zh-CN" sz="2600" dirty="0">
                <a:latin typeface="华光仿宋_CNKI" panose="02000500000000000000" pitchFamily="2" charset="-122"/>
                <a:ea typeface="华光仿宋_CNKI" panose="02000500000000000000" pitchFamily="2" charset="-122"/>
              </a:rPr>
              <a:t>&lt;0</a:t>
            </a:r>
            <a:r>
              <a:rPr lang="zh-CN" altLang="en-US" sz="2600" dirty="0">
                <a:latin typeface="华光仿宋_CNKI" panose="02000500000000000000" pitchFamily="2" charset="-122"/>
                <a:ea typeface="华光仿宋_CNKI" panose="02000500000000000000" pitchFamily="2" charset="-122"/>
              </a:rPr>
              <a:t>，表明端点在该平面下。</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一般而言，以其外表面的法向方向定义为上，与法向相反的方向为下。</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对应的其它部分的算法可参照长方体的消隐算法。</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
        <p:nvSpPr>
          <p:cNvPr id="2" name="内容占位符 2">
            <a:extLst>
              <a:ext uri="{FF2B5EF4-FFF2-40B4-BE49-F238E27FC236}">
                <a16:creationId xmlns:a16="http://schemas.microsoft.com/office/drawing/2014/main" id="{BE44212B-7EC4-D0F6-8DC9-E7BABB72DBE7}"/>
              </a:ext>
            </a:extLst>
          </p:cNvPr>
          <p:cNvSpPr txBox="1">
            <a:spLocks/>
          </p:cNvSpPr>
          <p:nvPr/>
        </p:nvSpPr>
        <p:spPr>
          <a:xfrm>
            <a:off x="8059972" y="2752131"/>
            <a:ext cx="4436828" cy="53452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sz="2600" dirty="0">
                <a:latin typeface="华光仿宋_CNKI" panose="02000500000000000000" pitchFamily="2" charset="-122"/>
                <a:ea typeface="华光仿宋_CNKI" panose="02000500000000000000" pitchFamily="2" charset="-122"/>
              </a:rPr>
              <a:t>      </a:t>
            </a:r>
          </a:p>
        </p:txBody>
      </p:sp>
      <p:sp>
        <p:nvSpPr>
          <p:cNvPr id="5" name="平行四边形 4">
            <a:extLst>
              <a:ext uri="{FF2B5EF4-FFF2-40B4-BE49-F238E27FC236}">
                <a16:creationId xmlns:a16="http://schemas.microsoft.com/office/drawing/2014/main" id="{E2BDF989-2DB6-EDB6-0EE8-A210C7805851}"/>
              </a:ext>
            </a:extLst>
          </p:cNvPr>
          <p:cNvSpPr/>
          <p:nvPr/>
        </p:nvSpPr>
        <p:spPr>
          <a:xfrm>
            <a:off x="9613127" y="2154803"/>
            <a:ext cx="1868556" cy="1274197"/>
          </a:xfrm>
          <a:prstGeom prst="parallelogram">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529C5ED6-BA52-8C27-49D5-FF0D1E5D4C25}"/>
              </a:ext>
            </a:extLst>
          </p:cNvPr>
          <p:cNvCxnSpPr/>
          <p:nvPr/>
        </p:nvCxnSpPr>
        <p:spPr>
          <a:xfrm flipH="1" flipV="1">
            <a:off x="9676738" y="1432215"/>
            <a:ext cx="795130" cy="1319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AB9DC1E-9746-096A-68B3-CC9BD2FF254C}"/>
              </a:ext>
            </a:extLst>
          </p:cNvPr>
          <p:cNvSpPr txBox="1"/>
          <p:nvPr/>
        </p:nvSpPr>
        <p:spPr>
          <a:xfrm>
            <a:off x="9868780" y="1449098"/>
            <a:ext cx="1107996" cy="369332"/>
          </a:xfrm>
          <a:prstGeom prst="rect">
            <a:avLst/>
          </a:prstGeom>
          <a:noFill/>
        </p:spPr>
        <p:txBody>
          <a:bodyPr wrap="none" rtlCol="0">
            <a:spAutoFit/>
          </a:bodyPr>
          <a:lstStyle/>
          <a:p>
            <a:r>
              <a:rPr lang="zh-CN" altLang="en-US" dirty="0"/>
              <a:t>法线方向</a:t>
            </a:r>
          </a:p>
        </p:txBody>
      </p:sp>
      <p:cxnSp>
        <p:nvCxnSpPr>
          <p:cNvPr id="12" name="直接连接符 11">
            <a:extLst>
              <a:ext uri="{FF2B5EF4-FFF2-40B4-BE49-F238E27FC236}">
                <a16:creationId xmlns:a16="http://schemas.microsoft.com/office/drawing/2014/main" id="{4C3EE8C1-7D20-0C0E-D593-FE2503CB3508}"/>
              </a:ext>
            </a:extLst>
          </p:cNvPr>
          <p:cNvCxnSpPr>
            <a:cxnSpLocks/>
          </p:cNvCxnSpPr>
          <p:nvPr/>
        </p:nvCxnSpPr>
        <p:spPr>
          <a:xfrm>
            <a:off x="10471868" y="2752131"/>
            <a:ext cx="437322" cy="722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1E6DB7A-1780-7883-14E4-2FAC90889BDB}"/>
              </a:ext>
            </a:extLst>
          </p:cNvPr>
          <p:cNvCxnSpPr>
            <a:cxnSpLocks/>
          </p:cNvCxnSpPr>
          <p:nvPr/>
        </p:nvCxnSpPr>
        <p:spPr>
          <a:xfrm>
            <a:off x="10884628" y="3429000"/>
            <a:ext cx="640666" cy="109775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39198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7774" y="1325562"/>
            <a:ext cx="10515600" cy="5132387"/>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消隐的目的是消除被遮挡的部分。即在给定视点和视线方向的情况下，确定场景中哪些物体的表面是可见的，哪些是被遮挡不可见的。</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消隐算法主要分为两种：</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）对象空间消隐算法：直接在摄像机坐标系中确定视点不可见的表面区域。</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）图像空间消隐算法：处理物体的投影图像，即在投影坐标系下，以屏幕像素为采样单位来确定投影与每一个像素的可见景物的表面区域。</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907774"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800" b="1" dirty="0">
                <a:solidFill>
                  <a:srgbClr val="FF0000"/>
                </a:solidFill>
                <a:latin typeface="黑体" panose="02010609060101010101" pitchFamily="49" charset="-122"/>
                <a:ea typeface="黑体" panose="02010609060101010101" pitchFamily="49" charset="-122"/>
              </a:rPr>
              <a:t>图形消隐</a:t>
            </a:r>
          </a:p>
        </p:txBody>
      </p:sp>
    </p:spTree>
    <p:extLst>
      <p:ext uri="{BB962C8B-B14F-4D97-AF65-F5344CB8AC3E}">
        <p14:creationId xmlns:p14="http://schemas.microsoft.com/office/powerpoint/2010/main" val="42737174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862806"/>
            <a:ext cx="10515600" cy="5132387"/>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在实际应用中，由于场景中物体之间的几何关系过于复杂，计算物体之间的遮挡关系也非常复杂，因此图像空间消隐算法效率更高，且更易于实现。</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当然，将二者结合起来使用，也可以提高算法效率。</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1. </a:t>
            </a:r>
            <a:r>
              <a:rPr lang="zh-CN" altLang="en-US" dirty="0">
                <a:latin typeface="华光超粗黑_CNKI" panose="02000500000000000000" pitchFamily="2" charset="-122"/>
                <a:ea typeface="华光超粗黑_CNKI" panose="02000500000000000000" pitchFamily="2" charset="-122"/>
              </a:rPr>
              <a:t>背面剔除算法</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算法思想：在取景变换（将物体从世界坐标系转换到摄像机坐标系）之前，将那些背离视点方向而不可见的景物表面剔除。这种算法只能剔除单个实体中不可见的面，但不能消除实体被遮挡的面。</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0850225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63931" y="866808"/>
                <a:ext cx="8576144" cy="2715256"/>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算法实现步骤：</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(1) </a:t>
                </a:r>
                <a:r>
                  <a:rPr lang="zh-CN" altLang="en-US" sz="2600" dirty="0">
                    <a:latin typeface="华光仿宋_CNKI" panose="02000500000000000000" pitchFamily="2" charset="-122"/>
                    <a:ea typeface="华光仿宋_CNKI" panose="02000500000000000000" pitchFamily="2" charset="-122"/>
                  </a:rPr>
                  <a:t>计算多边形的法向向量</a:t>
                </a:r>
                <a:r>
                  <a:rPr lang="en-US" altLang="zh-CN" sz="2600" dirty="0">
                    <a:latin typeface="华光仿宋_CNKI" panose="02000500000000000000" pitchFamily="2" charset="-122"/>
                    <a:ea typeface="华光仿宋_CNKI" panose="02000500000000000000" pitchFamily="2" charset="-122"/>
                  </a:rPr>
                  <a:t>N</a:t>
                </a:r>
                <a:r>
                  <a:rPr lang="zh-CN" altLang="en-US" sz="2600" dirty="0">
                    <a:latin typeface="华光仿宋_CNKI" panose="02000500000000000000" pitchFamily="2" charset="-122"/>
                    <a:ea typeface="华光仿宋_CNKI" panose="02000500000000000000" pitchFamily="2" charset="-122"/>
                  </a:rPr>
                  <a:t>和视线向量</a:t>
                </a:r>
                <a:r>
                  <a:rPr lang="en-US" altLang="zh-CN" sz="2600" dirty="0">
                    <a:latin typeface="华光仿宋_CNKI" panose="02000500000000000000" pitchFamily="2" charset="-122"/>
                    <a:ea typeface="华光仿宋_CNKI" panose="02000500000000000000" pitchFamily="2" charset="-122"/>
                  </a:rPr>
                  <a:t>V</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(2) </a:t>
                </a:r>
                <a:r>
                  <a:rPr lang="zh-CN" altLang="en-US" sz="2600" dirty="0">
                    <a:latin typeface="华光仿宋_CNKI" panose="02000500000000000000" pitchFamily="2" charset="-122"/>
                    <a:ea typeface="华光仿宋_CNKI" panose="02000500000000000000" pitchFamily="2" charset="-122"/>
                  </a:rPr>
                  <a:t>计算法向向量</a:t>
                </a:r>
                <a:r>
                  <a:rPr lang="en-US" altLang="zh-CN" sz="2600" dirty="0">
                    <a:latin typeface="华光仿宋_CNKI" panose="02000500000000000000" pitchFamily="2" charset="-122"/>
                    <a:ea typeface="华光仿宋_CNKI" panose="02000500000000000000" pitchFamily="2" charset="-122"/>
                  </a:rPr>
                  <a:t>N</a:t>
                </a:r>
                <a:r>
                  <a:rPr lang="zh-CN" altLang="en-US" sz="2600" dirty="0">
                    <a:latin typeface="华光仿宋_CNKI" panose="02000500000000000000" pitchFamily="2" charset="-122"/>
                    <a:ea typeface="华光仿宋_CNKI" panose="02000500000000000000" pitchFamily="2" charset="-122"/>
                  </a:rPr>
                  <a:t>和视线向量</a:t>
                </a:r>
                <a:r>
                  <a:rPr lang="en-US" altLang="zh-CN" sz="2600" dirty="0">
                    <a:latin typeface="华光仿宋_CNKI" panose="02000500000000000000" pitchFamily="2" charset="-122"/>
                    <a:ea typeface="华光仿宋_CNKI" panose="02000500000000000000" pitchFamily="2" charset="-122"/>
                  </a:rPr>
                  <a:t>V</a:t>
                </a:r>
                <a:r>
                  <a:rPr lang="zh-CN" altLang="en-US" sz="2600" dirty="0">
                    <a:latin typeface="华光仿宋_CNKI" panose="02000500000000000000" pitchFamily="2" charset="-122"/>
                    <a:ea typeface="华光仿宋_CNKI" panose="02000500000000000000" pitchFamily="2" charset="-122"/>
                  </a:rPr>
                  <a:t>的夹角</a:t>
                </a:r>
                <a14:m>
                  <m:oMath xmlns:m="http://schemas.openxmlformats.org/officeDocument/2006/math">
                    <m:r>
                      <a:rPr lang="zh-CN" altLang="en-US" sz="2600" i="1" smtClean="0">
                        <a:latin typeface="Cambria Math" panose="02040503050406030204" pitchFamily="18" charset="0"/>
                        <a:ea typeface="华光仿宋_CNKI" panose="02000500000000000000" pitchFamily="2" charset="-122"/>
                      </a:rPr>
                      <m:t>𝜃</m:t>
                    </m:r>
                  </m:oMath>
                </a14:m>
                <a:r>
                  <a:rPr lang="zh-CN" altLang="en-US" sz="2600" dirty="0">
                    <a:latin typeface="华光仿宋_CNKI" panose="02000500000000000000" pitchFamily="2" charset="-122"/>
                    <a:ea typeface="华光仿宋_CNKI" panose="02000500000000000000" pitchFamily="2" charset="-122"/>
                  </a:rPr>
                  <a:t>的余弦</a:t>
                </a:r>
                <a:r>
                  <a:rPr lang="en-US" altLang="zh-CN" sz="2600" dirty="0">
                    <a:latin typeface="华光仿宋_CNKI" panose="02000500000000000000" pitchFamily="2" charset="-122"/>
                    <a:ea typeface="华光仿宋_CNKI" panose="02000500000000000000" pitchFamily="2" charset="-122"/>
                  </a:rPr>
                  <a:t>Cos</a:t>
                </a:r>
                <a14:m>
                  <m:oMath xmlns:m="http://schemas.openxmlformats.org/officeDocument/2006/math">
                    <m:r>
                      <a:rPr lang="zh-CN" altLang="en-US" sz="2600" i="1">
                        <a:latin typeface="Cambria Math" panose="02040503050406030204" pitchFamily="18" charset="0"/>
                        <a:ea typeface="华光仿宋_CNKI" panose="02000500000000000000" pitchFamily="2" charset="-122"/>
                      </a:rPr>
                      <m:t>𝜃</m:t>
                    </m:r>
                  </m:oMath>
                </a14:m>
                <a:r>
                  <a:rPr lang="en-US" altLang="zh-CN" sz="2600" dirty="0">
                    <a:latin typeface="华光仿宋_CNKI" panose="02000500000000000000" pitchFamily="2" charset="-122"/>
                    <a:ea typeface="华光仿宋_CNKI" panose="02000500000000000000" pitchFamily="2" charset="-122"/>
                  </a:rPr>
                  <a:t>=N.V</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63931" y="866808"/>
                <a:ext cx="8576144" cy="2715256"/>
              </a:xfrm>
              <a:blipFill>
                <a:blip r:embed="rId2"/>
                <a:stretch>
                  <a:fillRect l="-1279" b="-3587"/>
                </a:stretch>
              </a:blipFill>
            </p:spPr>
            <p:txBody>
              <a:bodyPr/>
              <a:lstStyle/>
              <a:p>
                <a:r>
                  <a:rPr lang="zh-CN" altLang="en-US">
                    <a:noFill/>
                  </a:rPr>
                  <a:t> </a:t>
                </a:r>
              </a:p>
            </p:txBody>
          </p:sp>
        </mc:Fallback>
      </mc:AlternateContent>
      <p:sp>
        <p:nvSpPr>
          <p:cNvPr id="2" name="立方体 1">
            <a:extLst>
              <a:ext uri="{FF2B5EF4-FFF2-40B4-BE49-F238E27FC236}">
                <a16:creationId xmlns:a16="http://schemas.microsoft.com/office/drawing/2014/main" id="{7C93BB60-D8AD-0ECA-DF34-F9C2EC45CBA4}"/>
              </a:ext>
            </a:extLst>
          </p:cNvPr>
          <p:cNvSpPr/>
          <p:nvPr/>
        </p:nvSpPr>
        <p:spPr>
          <a:xfrm>
            <a:off x="9326879" y="1139023"/>
            <a:ext cx="1995777" cy="1359673"/>
          </a:xfrm>
          <a:prstGeom prst="cub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5" name="直接箭头连接符 4">
            <a:extLst>
              <a:ext uri="{FF2B5EF4-FFF2-40B4-BE49-F238E27FC236}">
                <a16:creationId xmlns:a16="http://schemas.microsoft.com/office/drawing/2014/main" id="{B2D440F0-4B7A-9E5B-A201-71DC10CA07FA}"/>
              </a:ext>
            </a:extLst>
          </p:cNvPr>
          <p:cNvCxnSpPr>
            <a:cxnSpLocks/>
          </p:cNvCxnSpPr>
          <p:nvPr/>
        </p:nvCxnSpPr>
        <p:spPr>
          <a:xfrm flipV="1">
            <a:off x="8627165" y="2011680"/>
            <a:ext cx="1351722" cy="1264257"/>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AF97AE1F-2B24-1DE4-6BDB-E0158B8FA25E}"/>
              </a:ext>
            </a:extLst>
          </p:cNvPr>
          <p:cNvCxnSpPr>
            <a:cxnSpLocks/>
          </p:cNvCxnSpPr>
          <p:nvPr/>
        </p:nvCxnSpPr>
        <p:spPr>
          <a:xfrm flipV="1">
            <a:off x="10964186" y="739471"/>
            <a:ext cx="445273" cy="399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32AD6AB0-098E-AB1F-41D9-6CC1B23B4F5B}"/>
              </a:ext>
            </a:extLst>
          </p:cNvPr>
          <p:cNvSpPr txBox="1"/>
          <p:nvPr/>
        </p:nvSpPr>
        <p:spPr>
          <a:xfrm>
            <a:off x="8214357" y="3275937"/>
            <a:ext cx="1210588" cy="504882"/>
          </a:xfrm>
          <a:prstGeom prst="rect">
            <a:avLst/>
          </a:prstGeom>
        </p:spPr>
        <p:txBody>
          <a:bodyPr vert="horz" lIns="91440" tIns="45720" rIns="91440" bIns="45720" rtlCol="0">
            <a:noAutofit/>
          </a:bodyPr>
          <a:lstStyle>
            <a:defPPr>
              <a:defRPr lang="zh-CN"/>
            </a:defPPr>
            <a:lvl1pPr indent="0">
              <a:lnSpc>
                <a:spcPct val="150000"/>
              </a:lnSpc>
              <a:spcBef>
                <a:spcPts val="1000"/>
              </a:spcBef>
              <a:buFont typeface="Arial" panose="020B0604020202020204" pitchFamily="34" charset="0"/>
              <a:buNone/>
              <a:defRPr sz="2000">
                <a:latin typeface="华光仿宋_CNKI" panose="02000500000000000000" pitchFamily="2" charset="-122"/>
                <a:ea typeface="华光仿宋_CNKI" panose="02000500000000000000" pitchFamily="2"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视线方向</a:t>
            </a:r>
          </a:p>
        </p:txBody>
      </p:sp>
      <p:sp>
        <p:nvSpPr>
          <p:cNvPr id="14" name="文本框 13">
            <a:extLst>
              <a:ext uri="{FF2B5EF4-FFF2-40B4-BE49-F238E27FC236}">
                <a16:creationId xmlns:a16="http://schemas.microsoft.com/office/drawing/2014/main" id="{5267C416-57E2-AAF8-6368-97C017532BA2}"/>
              </a:ext>
            </a:extLst>
          </p:cNvPr>
          <p:cNvSpPr txBox="1"/>
          <p:nvPr/>
        </p:nvSpPr>
        <p:spPr>
          <a:xfrm>
            <a:off x="10137309" y="110901"/>
            <a:ext cx="1792298" cy="628570"/>
          </a:xfrm>
          <a:prstGeom prst="rect">
            <a:avLst/>
          </a:prstGeom>
        </p:spPr>
        <p:txBody>
          <a:bodyPr vert="horz" lIns="91440" tIns="45720" rIns="91440" bIns="45720" rtlCol="0">
            <a:noAutofit/>
          </a:bodyPr>
          <a:lstStyle>
            <a:lvl1pPr indent="0">
              <a:lnSpc>
                <a:spcPct val="150000"/>
              </a:lnSpc>
              <a:spcBef>
                <a:spcPts val="1000"/>
              </a:spcBef>
              <a:buFont typeface="Arial" panose="020B0604020202020204" pitchFamily="34" charset="0"/>
              <a:buNone/>
              <a:defRPr sz="2600">
                <a:latin typeface="华光仿宋_CNKI" panose="02000500000000000000" pitchFamily="2" charset="-122"/>
                <a:ea typeface="华光仿宋_CNKI" panose="02000500000000000000" pitchFamily="2"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000" dirty="0"/>
              <a:t>表面法线方向</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18F9C559-4E82-3CF8-BDDD-49CE48E31BF8}"/>
                  </a:ext>
                </a:extLst>
              </p:cNvPr>
              <p:cNvSpPr txBox="1"/>
              <p:nvPr/>
            </p:nvSpPr>
            <p:spPr>
              <a:xfrm>
                <a:off x="663931" y="3981616"/>
                <a:ext cx="10841605" cy="1828899"/>
              </a:xfrm>
              <a:prstGeom prst="rect">
                <a:avLst/>
              </a:prstGeom>
            </p:spPr>
            <p:txBody>
              <a:bodyPr vert="horz" lIns="91440" tIns="45720" rIns="91440" bIns="45720" rtlCol="0">
                <a:noAutofit/>
              </a:bodyPr>
              <a:lstStyle>
                <a:lvl1pPr indent="0">
                  <a:lnSpc>
                    <a:spcPct val="150000"/>
                  </a:lnSpc>
                  <a:spcBef>
                    <a:spcPts val="1000"/>
                  </a:spcBef>
                  <a:buFont typeface="Arial" panose="020B0604020202020204" pitchFamily="34" charset="0"/>
                  <a:buNone/>
                  <a:defRPr sz="2600">
                    <a:latin typeface="华光仿宋_CNKI" panose="02000500000000000000" pitchFamily="2" charset="-122"/>
                    <a:ea typeface="华光仿宋_CNKI" panose="02000500000000000000" pitchFamily="2"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    (3) </a:t>
                </a:r>
                <a:r>
                  <a:rPr lang="zh-CN" altLang="en-US" dirty="0"/>
                  <a:t>根据</a:t>
                </a:r>
                <a:r>
                  <a:rPr lang="en-US" altLang="zh-CN" dirty="0" err="1"/>
                  <a:t>cos</a:t>
                </a:r>
                <a14:m>
                  <m:oMath xmlns:m="http://schemas.openxmlformats.org/officeDocument/2006/math">
                    <m:r>
                      <a:rPr lang="zh-CN" altLang="en-US">
                        <a:latin typeface="Cambria Math" panose="02040503050406030204" pitchFamily="18" charset="0"/>
                      </a:rPr>
                      <m:t>𝜃</m:t>
                    </m:r>
                  </m:oMath>
                </a14:m>
                <a:r>
                  <a:rPr lang="zh-CN" altLang="en-US" dirty="0"/>
                  <a:t>判断背向视点的多边形表面，如果</a:t>
                </a:r>
                <a:r>
                  <a:rPr lang="en-US" altLang="zh-CN" dirty="0" err="1"/>
                  <a:t>cos</a:t>
                </a:r>
                <a14:m>
                  <m:oMath xmlns:m="http://schemas.openxmlformats.org/officeDocument/2006/math">
                    <m:r>
                      <a:rPr lang="zh-CN" altLang="en-US">
                        <a:latin typeface="Cambria Math" panose="02040503050406030204" pitchFamily="18" charset="0"/>
                      </a:rPr>
                      <m:t>𝜃</m:t>
                    </m:r>
                  </m:oMath>
                </a14:m>
                <a:r>
                  <a:rPr lang="zh-CN" altLang="en-US" dirty="0"/>
                  <a:t>＜</a:t>
                </a:r>
                <a:r>
                  <a:rPr lang="en-US" altLang="zh-CN" dirty="0"/>
                  <a:t>0</a:t>
                </a:r>
                <a:r>
                  <a:rPr lang="zh-CN" altLang="en-US" dirty="0"/>
                  <a:t>，即</a:t>
                </a:r>
                <a14:m>
                  <m:oMath xmlns:m="http://schemas.openxmlformats.org/officeDocument/2006/math">
                    <m:r>
                      <a:rPr lang="zh-CN" altLang="en-US">
                        <a:latin typeface="Cambria Math" panose="02040503050406030204" pitchFamily="18" charset="0"/>
                      </a:rPr>
                      <m:t>𝜃</m:t>
                    </m:r>
                  </m:oMath>
                </a14:m>
                <a:r>
                  <a:rPr lang="zh-CN" altLang="en-US" dirty="0"/>
                  <a:t>＞</a:t>
                </a:r>
                <a:r>
                  <a:rPr lang="en-US" altLang="zh-CN" dirty="0"/>
                  <a:t>90°</a:t>
                </a:r>
                <a:r>
                  <a:rPr lang="zh-CN" altLang="en-US" dirty="0"/>
                  <a:t>， 则该多边形表面为背面，是不可见的，可从用于作取景变换的场景多边形集合中删除。 </a:t>
                </a:r>
              </a:p>
            </p:txBody>
          </p:sp>
        </mc:Choice>
        <mc:Fallback xmlns="">
          <p:sp>
            <p:nvSpPr>
              <p:cNvPr id="16" name="文本框 15">
                <a:extLst>
                  <a:ext uri="{FF2B5EF4-FFF2-40B4-BE49-F238E27FC236}">
                    <a16:creationId xmlns:a16="http://schemas.microsoft.com/office/drawing/2014/main" id="{18F9C559-4E82-3CF8-BDDD-49CE48E31BF8}"/>
                  </a:ext>
                </a:extLst>
              </p:cNvPr>
              <p:cNvSpPr txBox="1">
                <a:spLocks noRot="1" noChangeAspect="1" noMove="1" noResize="1" noEditPoints="1" noAdjustHandles="1" noChangeArrowheads="1" noChangeShapeType="1" noTextEdit="1"/>
              </p:cNvSpPr>
              <p:nvPr/>
            </p:nvSpPr>
            <p:spPr>
              <a:xfrm>
                <a:off x="663931" y="3981616"/>
                <a:ext cx="10841605" cy="1828899"/>
              </a:xfrm>
              <a:prstGeom prst="rect">
                <a:avLst/>
              </a:prstGeom>
              <a:blipFill>
                <a:blip r:embed="rId3"/>
                <a:stretch>
                  <a:fillRect l="-1012" r="-731" b="-7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905219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009816"/>
            <a:ext cx="10515600" cy="4333370"/>
          </a:xfrm>
        </p:spPr>
        <p:txBody>
          <a:bodyPr>
            <a:no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2. </a:t>
            </a:r>
            <a:r>
              <a:rPr lang="zh-CN" altLang="en-US" dirty="0">
                <a:latin typeface="华光超粗黑_CNKI" panose="02000500000000000000" pitchFamily="2" charset="-122"/>
                <a:ea typeface="华光超粗黑_CNKI" panose="02000500000000000000" pitchFamily="2" charset="-122"/>
              </a:rPr>
              <a:t>画家算法</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算法思想：将多边形按照离视点的远近进行排序，然后先画出被遮挡的多边形，再画出不被遮挡的多边形，用后画的多边形覆盖先画的多边形，从而达到自动消隐的目的。</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具体如何对多边形按视点的远近进行排序可参照教材</a:t>
            </a:r>
            <a:r>
              <a:rPr lang="en-US" altLang="zh-CN" sz="2600" dirty="0">
                <a:latin typeface="华光仿宋_CNKI" panose="02000500000000000000" pitchFamily="2" charset="-122"/>
                <a:ea typeface="华光仿宋_CNKI" panose="02000500000000000000" pitchFamily="2" charset="-122"/>
              </a:rPr>
              <a:t>P221</a:t>
            </a:r>
            <a:r>
              <a:rPr lang="zh-CN" altLang="en-US" sz="2600" dirty="0">
                <a:latin typeface="华光仿宋_CNKI" panose="02000500000000000000" pitchFamily="2" charset="-122"/>
                <a:ea typeface="华光仿宋_CNKI" panose="02000500000000000000" pitchFamily="2" charset="-122"/>
              </a:rPr>
              <a:t>，在此不做具体的描述。</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293297073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009816"/>
            <a:ext cx="10515600" cy="5017274"/>
          </a:xfrm>
        </p:spPr>
        <p:txBody>
          <a:bodyPr>
            <a:noAutofit/>
          </a:bodyPr>
          <a:lstStyle/>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3. </a:t>
            </a:r>
            <a:r>
              <a:rPr lang="en-US" altLang="zh-CN" dirty="0" err="1">
                <a:latin typeface="华光超粗黑_CNKI" panose="02000500000000000000" pitchFamily="2" charset="-122"/>
                <a:ea typeface="华光超粗黑_CNKI" panose="02000500000000000000" pitchFamily="2" charset="-122"/>
              </a:rPr>
              <a:t>Weiler</a:t>
            </a:r>
            <a:r>
              <a:rPr lang="en-US" altLang="zh-CN" dirty="0">
                <a:latin typeface="华光超粗黑_CNKI" panose="02000500000000000000" pitchFamily="2" charset="-122"/>
                <a:ea typeface="华光超粗黑_CNKI" panose="02000500000000000000" pitchFamily="2" charset="-122"/>
              </a:rPr>
              <a:t>-Atherton</a:t>
            </a:r>
            <a:r>
              <a:rPr lang="zh-CN" altLang="en-US" dirty="0">
                <a:latin typeface="华光超粗黑_CNKI" panose="02000500000000000000" pitchFamily="2" charset="-122"/>
                <a:ea typeface="华光超粗黑_CNKI" panose="02000500000000000000" pitchFamily="2" charset="-122"/>
              </a:rPr>
              <a:t>算法</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算法思想：采用裁剪算法的思想对隐藏面进行消隐。</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算法步骤如下：</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：先进行初步的深度预排序，即将变换到屏幕坐标系中的景物表面多边形按各顶点的 </a:t>
            </a:r>
            <a:r>
              <a:rPr lang="en-US" altLang="zh-CN" sz="2600" dirty="0">
                <a:latin typeface="华光仿宋_CNKI" panose="02000500000000000000" pitchFamily="2" charset="-122"/>
                <a:ea typeface="华光仿宋_CNKI" panose="02000500000000000000" pitchFamily="2" charset="-122"/>
              </a:rPr>
              <a:t>z </a:t>
            </a:r>
            <a:r>
              <a:rPr lang="zh-CN" altLang="en-US" sz="2600" dirty="0">
                <a:latin typeface="华光仿宋_CNKI" panose="02000500000000000000" pitchFamily="2" charset="-122"/>
                <a:ea typeface="华光仿宋_CNKI" panose="02000500000000000000" pitchFamily="2" charset="-122"/>
              </a:rPr>
              <a:t>最小值进行排序，形成景物多边形表。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：以当前具有最大 </a:t>
            </a:r>
            <a:r>
              <a:rPr lang="en-US" altLang="zh-CN" sz="2600" dirty="0">
                <a:latin typeface="华光仿宋_CNKI" panose="02000500000000000000" pitchFamily="2" charset="-122"/>
                <a:ea typeface="华光仿宋_CNKI" panose="02000500000000000000" pitchFamily="2" charset="-122"/>
              </a:rPr>
              <a:t>z </a:t>
            </a:r>
            <a:r>
              <a:rPr lang="zh-CN" altLang="en-US" sz="2600" dirty="0">
                <a:latin typeface="华光仿宋_CNKI" panose="02000500000000000000" pitchFamily="2" charset="-122"/>
                <a:ea typeface="华光仿宋_CNKI" panose="02000500000000000000" pitchFamily="2" charset="-122"/>
              </a:rPr>
              <a:t>值（即离视点最近）的景物表面作为裁剪多边形 </a:t>
            </a:r>
            <a:r>
              <a:rPr lang="en-US" altLang="zh-CN" sz="2600" dirty="0">
                <a:latin typeface="华光仿宋_CNKI" panose="02000500000000000000" pitchFamily="2" charset="-122"/>
                <a:ea typeface="华光仿宋_CNKI" panose="02000500000000000000" pitchFamily="2" charset="-122"/>
              </a:rPr>
              <a:t>CP </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85441739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041621"/>
            <a:ext cx="10515600" cy="4333370"/>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：用</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对景物多边形表中排在后面的景物表面进行裁剪，产生内部多边形 </a:t>
            </a:r>
            <a:r>
              <a:rPr lang="en-US" altLang="zh-CN" sz="2600" dirty="0">
                <a:latin typeface="华光仿宋_CNKI" panose="02000500000000000000" pitchFamily="2" charset="-122"/>
                <a:ea typeface="华光仿宋_CNKI" panose="02000500000000000000" pitchFamily="2" charset="-122"/>
              </a:rPr>
              <a:t>Pin </a:t>
            </a:r>
            <a:r>
              <a:rPr lang="zh-CN" altLang="en-US" sz="2600" dirty="0">
                <a:latin typeface="华光仿宋_CNKI" panose="02000500000000000000" pitchFamily="2" charset="-122"/>
                <a:ea typeface="华光仿宋_CNKI" panose="02000500000000000000" pitchFamily="2" charset="-122"/>
              </a:rPr>
              <a:t>和外部多边形 </a:t>
            </a:r>
            <a:r>
              <a:rPr lang="en-US" altLang="zh-CN" sz="2600" dirty="0">
                <a:latin typeface="华光仿宋_CNKI" panose="02000500000000000000" pitchFamily="2" charset="-122"/>
                <a:ea typeface="华光仿宋_CNKI" panose="02000500000000000000" pitchFamily="2" charset="-122"/>
              </a:rPr>
              <a:t>Pout </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：由于多边形顶点离视点最近的多边形表面不一定是真正排在最前面的可见面，因此，需比较</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与内部多边形 </a:t>
            </a:r>
            <a:r>
              <a:rPr lang="en-US" altLang="zh-CN" sz="2600" dirty="0">
                <a:latin typeface="华光仿宋_CNKI" panose="02000500000000000000" pitchFamily="2" charset="-122"/>
                <a:ea typeface="华光仿宋_CNKI" panose="02000500000000000000" pitchFamily="2" charset="-122"/>
              </a:rPr>
              <a:t>Pin </a:t>
            </a:r>
            <a:r>
              <a:rPr lang="zh-CN" altLang="en-US" sz="2600" dirty="0">
                <a:latin typeface="华光仿宋_CNKI" panose="02000500000000000000" pitchFamily="2" charset="-122"/>
                <a:ea typeface="华光仿宋_CNKI" panose="02000500000000000000" pitchFamily="2" charset="-122"/>
              </a:rPr>
              <a:t>的深度，检查 </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是否是真正离视点较近的多边形。 如果是，则</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为可见表面，而位于裁剪多边形 </a:t>
            </a:r>
            <a:r>
              <a:rPr lang="en-US" altLang="zh-CN" sz="2600" dirty="0">
                <a:latin typeface="华光仿宋_CNKI" panose="02000500000000000000" pitchFamily="2" charset="-122"/>
                <a:ea typeface="华光仿宋_CNKI" panose="02000500000000000000" pitchFamily="2" charset="-122"/>
              </a:rPr>
              <a:t>CP</a:t>
            </a:r>
            <a:r>
              <a:rPr lang="zh-CN" altLang="en-US" sz="2600" dirty="0">
                <a:latin typeface="华光仿宋_CNKI" panose="02000500000000000000" pitchFamily="2" charset="-122"/>
                <a:ea typeface="华光仿宋_CNKI" panose="02000500000000000000" pitchFamily="2" charset="-122"/>
              </a:rPr>
              <a:t>之内的多边形 </a:t>
            </a:r>
            <a:r>
              <a:rPr lang="en-US" altLang="zh-CN" sz="2600" dirty="0">
                <a:latin typeface="华光仿宋_CNKI" panose="02000500000000000000" pitchFamily="2" charset="-122"/>
                <a:ea typeface="华光仿宋_CNKI" panose="02000500000000000000" pitchFamily="2" charset="-122"/>
              </a:rPr>
              <a:t>Pin </a:t>
            </a:r>
            <a:r>
              <a:rPr lang="zh-CN" altLang="en-US" sz="2600" dirty="0">
                <a:latin typeface="华光仿宋_CNKI" panose="02000500000000000000" pitchFamily="2" charset="-122"/>
                <a:ea typeface="华光仿宋_CNKI" panose="02000500000000000000" pitchFamily="2" charset="-122"/>
              </a:rPr>
              <a:t>为当前视点的隐藏面，可以消去该隐藏面；如果不是，则选择 </a:t>
            </a:r>
            <a:r>
              <a:rPr lang="en-US" altLang="zh-CN" sz="2600" dirty="0">
                <a:latin typeface="华光仿宋_CNKI" panose="02000500000000000000" pitchFamily="2" charset="-122"/>
                <a:ea typeface="华光仿宋_CNKI" panose="02000500000000000000" pitchFamily="2" charset="-122"/>
              </a:rPr>
              <a:t>Pin </a:t>
            </a:r>
            <a:r>
              <a:rPr lang="zh-CN" altLang="en-US" sz="2600" dirty="0">
                <a:latin typeface="华光仿宋_CNKI" panose="02000500000000000000" pitchFamily="2" charset="-122"/>
                <a:ea typeface="华光仿宋_CNKI" panose="02000500000000000000" pitchFamily="2" charset="-122"/>
              </a:rPr>
              <a:t>为新的裁剪多边形，重复步骤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3451579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009816"/>
            <a:ext cx="10515600" cy="4993419"/>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5</a:t>
            </a:r>
            <a:r>
              <a:rPr lang="zh-CN" altLang="en-US" sz="2600" dirty="0">
                <a:latin typeface="华光仿宋_CNKI" panose="02000500000000000000" pitchFamily="2" charset="-122"/>
                <a:ea typeface="华光仿宋_CNKI" panose="02000500000000000000" pitchFamily="2" charset="-122"/>
              </a:rPr>
              <a:t>：将位于裁剪多边形之外的景物表面 </a:t>
            </a:r>
            <a:r>
              <a:rPr lang="en-US" altLang="zh-CN" sz="2600" dirty="0">
                <a:latin typeface="华光仿宋_CNKI" panose="02000500000000000000" pitchFamily="2" charset="-122"/>
                <a:ea typeface="华光仿宋_CNKI" panose="02000500000000000000" pitchFamily="2" charset="-122"/>
              </a:rPr>
              <a:t>Pout </a:t>
            </a:r>
            <a:r>
              <a:rPr lang="zh-CN" altLang="en-US" sz="2600" dirty="0">
                <a:latin typeface="华光仿宋_CNKI" panose="02000500000000000000" pitchFamily="2" charset="-122"/>
                <a:ea typeface="华光仿宋_CNKI" panose="02000500000000000000" pitchFamily="2" charset="-122"/>
              </a:rPr>
              <a:t>组成外裁剪结果多边形表，取表中深度最大即排在最前面的表面为裁剪多边形，重复步骤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，继续对表中其他景物表面进行裁剪。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：上述过程递归进行，直到外裁剪结果多边形表为空时为止。</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超粗黑_CNKI" panose="02000500000000000000" pitchFamily="2" charset="-122"/>
                <a:ea typeface="华光超粗黑_CNKI" panose="02000500000000000000" pitchFamily="2" charset="-122"/>
              </a:rPr>
              <a:t>4. BSP</a:t>
            </a:r>
            <a:r>
              <a:rPr lang="zh-CN" altLang="en-US" dirty="0">
                <a:latin typeface="华光超粗黑_CNKI" panose="02000500000000000000" pitchFamily="2" charset="-122"/>
                <a:ea typeface="华光超粗黑_CNKI" panose="02000500000000000000" pitchFamily="2" charset="-122"/>
              </a:rPr>
              <a:t>树算法</a:t>
            </a: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采用</a:t>
            </a:r>
            <a:r>
              <a:rPr lang="en-US" altLang="zh-CN" sz="2600" dirty="0">
                <a:latin typeface="华光仿宋_CNKI" panose="02000500000000000000" pitchFamily="2" charset="-122"/>
                <a:ea typeface="华光仿宋_CNKI" panose="02000500000000000000" pitchFamily="2" charset="-122"/>
              </a:rPr>
              <a:t>BSP</a:t>
            </a:r>
            <a:r>
              <a:rPr lang="zh-CN" altLang="en-US" sz="2600" dirty="0">
                <a:latin typeface="华光仿宋_CNKI" panose="02000500000000000000" pitchFamily="2" charset="-122"/>
                <a:ea typeface="华光仿宋_CNKI" panose="02000500000000000000" pitchFamily="2" charset="-122"/>
              </a:rPr>
              <a:t>树结构对取景表面进行二叉分类，然后消除景物空间中的隐藏面。</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79012074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4590" y="516835"/>
            <a:ext cx="10515600" cy="5780598"/>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算法思想：</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先在场景中选取一剖分平面 </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（与视点垂直的平面），将场景空间分割成两个半空间。它相应地把场景中的景物分成两组，相对于视点而言，一组景物多边形位于</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的前面，作为</a:t>
            </a:r>
            <a:r>
              <a:rPr lang="en-US" altLang="zh-CN" sz="2600" dirty="0">
                <a:latin typeface="华光仿宋_CNKI" panose="02000500000000000000" pitchFamily="2" charset="-122"/>
                <a:ea typeface="华光仿宋_CNKI" panose="02000500000000000000" pitchFamily="2" charset="-122"/>
              </a:rPr>
              <a:t>BSP</a:t>
            </a:r>
            <a:r>
              <a:rPr lang="zh-CN" altLang="en-US" sz="2600" dirty="0">
                <a:latin typeface="华光仿宋_CNKI" panose="02000500000000000000" pitchFamily="2" charset="-122"/>
                <a:ea typeface="华光仿宋_CNKI" panose="02000500000000000000" pitchFamily="2" charset="-122"/>
              </a:rPr>
              <a:t>树的左孩子（</a:t>
            </a:r>
            <a:r>
              <a:rPr lang="en-US" altLang="zh-CN" sz="2600" dirty="0">
                <a:latin typeface="华光仿宋_CNKI" panose="02000500000000000000" pitchFamily="2" charset="-122"/>
                <a:ea typeface="华光仿宋_CNKI" panose="02000500000000000000" pitchFamily="2" charset="-122"/>
              </a:rPr>
              <a:t>front)</a:t>
            </a:r>
            <a:r>
              <a:rPr lang="zh-CN" altLang="en-US" sz="2600" dirty="0">
                <a:latin typeface="华光仿宋_CNKI" panose="02000500000000000000" pitchFamily="2" charset="-122"/>
                <a:ea typeface="华光仿宋_CNKI" panose="02000500000000000000" pitchFamily="2" charset="-122"/>
              </a:rPr>
              <a:t>，另一组景物多边形位于</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的后面</a:t>
            </a:r>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作为</a:t>
            </a:r>
            <a:r>
              <a:rPr lang="en-US" altLang="zh-CN" sz="2600" dirty="0">
                <a:latin typeface="华光仿宋_CNKI" panose="02000500000000000000" pitchFamily="2" charset="-122"/>
                <a:ea typeface="华光仿宋_CNKI" panose="02000500000000000000" pitchFamily="2" charset="-122"/>
              </a:rPr>
              <a:t>BSP</a:t>
            </a:r>
            <a:r>
              <a:rPr lang="zh-CN" altLang="en-US" sz="2600" dirty="0">
                <a:latin typeface="华光仿宋_CNKI" panose="02000500000000000000" pitchFamily="2" charset="-122"/>
                <a:ea typeface="华光仿宋_CNKI" panose="02000500000000000000" pitchFamily="2" charset="-122"/>
              </a:rPr>
              <a:t>树的右孩子（</a:t>
            </a:r>
            <a:r>
              <a:rPr lang="en-US" altLang="zh-CN" sz="2600" dirty="0">
                <a:latin typeface="华光仿宋_CNKI" panose="02000500000000000000" pitchFamily="2" charset="-122"/>
                <a:ea typeface="华光仿宋_CNKI" panose="02000500000000000000" pitchFamily="2" charset="-122"/>
              </a:rPr>
              <a:t>Back)</a:t>
            </a:r>
            <a:r>
              <a:rPr lang="zh-CN" altLang="en-US" sz="2600" dirty="0">
                <a:latin typeface="华光仿宋_CNKI" panose="02000500000000000000" pitchFamily="2" charset="-122"/>
                <a:ea typeface="华光仿宋_CNKI" panose="02000500000000000000" pitchFamily="2" charset="-122"/>
              </a:rPr>
              <a:t>，如果有物体与 </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相交，就将它分割为两个物体分别标识为</a:t>
            </a:r>
            <a:r>
              <a:rPr lang="en-US" altLang="zh-CN" sz="2600" dirty="0">
                <a:latin typeface="华光仿宋_CNKI" panose="02000500000000000000" pitchFamily="2" charset="-122"/>
                <a:ea typeface="华光仿宋_CNKI" panose="02000500000000000000" pitchFamily="2" charset="-122"/>
              </a:rPr>
              <a:t>A</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，再用平面 </a:t>
            </a:r>
            <a:r>
              <a:rPr lang="en-US" altLang="zh-CN" sz="2600" dirty="0">
                <a:latin typeface="华光仿宋_CNKI" panose="02000500000000000000" pitchFamily="2" charset="-122"/>
                <a:ea typeface="华光仿宋_CNKI" panose="02000500000000000000" pitchFamily="2" charset="-122"/>
              </a:rPr>
              <a:t>P2 </a:t>
            </a:r>
            <a:r>
              <a:rPr lang="zh-CN" altLang="en-US" sz="2600" dirty="0">
                <a:latin typeface="华光仿宋_CNKI" panose="02000500000000000000" pitchFamily="2" charset="-122"/>
                <a:ea typeface="华光仿宋_CNKI" panose="02000500000000000000" pitchFamily="2" charset="-122"/>
              </a:rPr>
              <a:t>对所生成的两个子空间继续进行分割，并对每一子空间所含景物进行分类。上述空间剖分和景物分类过程递归进行，直至每一子空间中所含景物少于给定的阈值为止。 </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087978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888558"/>
            <a:ext cx="10515600" cy="5080883"/>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对于由多边形表面组成的场景，可选择某一多边形所在平面作为分割平面，这样就可以用该平面方程来区分各个多边形顶点的前后位置关系。随着每个多边形作为分割平面，最后可生成一棵 </a:t>
            </a:r>
            <a:r>
              <a:rPr lang="en-US" altLang="zh-CN" sz="2600" dirty="0">
                <a:latin typeface="华光仿宋_CNKI" panose="02000500000000000000" pitchFamily="2" charset="-122"/>
                <a:ea typeface="华光仿宋_CNKI" panose="02000500000000000000" pitchFamily="2" charset="-122"/>
              </a:rPr>
              <a:t>BSP </a:t>
            </a:r>
            <a:r>
              <a:rPr lang="zh-CN" altLang="en-US" sz="2600" dirty="0">
                <a:latin typeface="华光仿宋_CNKI" panose="02000500000000000000" pitchFamily="2" charset="-122"/>
                <a:ea typeface="华光仿宋_CNKI" panose="02000500000000000000" pitchFamily="2" charset="-122"/>
              </a:rPr>
              <a:t>树，当 </a:t>
            </a:r>
            <a:r>
              <a:rPr lang="en-US" altLang="zh-CN" sz="2600" dirty="0">
                <a:latin typeface="华光仿宋_CNKI" panose="02000500000000000000" pitchFamily="2" charset="-122"/>
                <a:ea typeface="华光仿宋_CNKI" panose="02000500000000000000" pitchFamily="2" charset="-122"/>
              </a:rPr>
              <a:t>BSP </a:t>
            </a:r>
            <a:r>
              <a:rPr lang="zh-CN" altLang="en-US" sz="2600" dirty="0">
                <a:latin typeface="华光仿宋_CNKI" panose="02000500000000000000" pitchFamily="2" charset="-122"/>
                <a:ea typeface="华光仿宋_CNKI" panose="02000500000000000000" pitchFamily="2" charset="-122"/>
              </a:rPr>
              <a:t>树构造完成后，依据视点的位置，对场景中每一分割平面所生成的两个子空间进行分类。其中，包含视点的子空间标识为“</a:t>
            </a:r>
            <a:r>
              <a:rPr lang="en-US" altLang="zh-CN" sz="2600" dirty="0">
                <a:latin typeface="华光仿宋_CNKI" panose="02000500000000000000" pitchFamily="2" charset="-122"/>
                <a:ea typeface="华光仿宋_CNKI" panose="02000500000000000000" pitchFamily="2" charset="-122"/>
              </a:rPr>
              <a:t>front”</a:t>
            </a:r>
            <a:r>
              <a:rPr lang="zh-CN" altLang="en-US" sz="2600" dirty="0">
                <a:latin typeface="华光仿宋_CNKI" panose="02000500000000000000" pitchFamily="2" charset="-122"/>
                <a:ea typeface="华光仿宋_CNKI" panose="02000500000000000000" pitchFamily="2" charset="-122"/>
              </a:rPr>
              <a:t>，位于分割平面另一侧的子空间标识为“</a:t>
            </a:r>
            <a:r>
              <a:rPr lang="en-US" altLang="zh-CN" sz="2600" dirty="0">
                <a:latin typeface="华光仿宋_CNKI" panose="02000500000000000000" pitchFamily="2" charset="-122"/>
                <a:ea typeface="华光仿宋_CNKI" panose="02000500000000000000" pitchFamily="2" charset="-122"/>
              </a:rPr>
              <a:t>back”</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递归搜索该 </a:t>
            </a:r>
            <a:r>
              <a:rPr lang="en-US" altLang="zh-CN" sz="2600" dirty="0">
                <a:latin typeface="华光仿宋_CNKI" panose="02000500000000000000" pitchFamily="2" charset="-122"/>
                <a:ea typeface="华光仿宋_CNKI" panose="02000500000000000000" pitchFamily="2" charset="-122"/>
              </a:rPr>
              <a:t>BSP </a:t>
            </a:r>
            <a:r>
              <a:rPr lang="zh-CN" altLang="en-US" sz="2600" dirty="0">
                <a:latin typeface="华光仿宋_CNKI" panose="02000500000000000000" pitchFamily="2" charset="-122"/>
                <a:ea typeface="华光仿宋_CNKI" panose="02000500000000000000" pitchFamily="2" charset="-122"/>
              </a:rPr>
              <a:t>树，优先绘制标识为“</a:t>
            </a:r>
            <a:r>
              <a:rPr lang="en-US" altLang="zh-CN" sz="2600" dirty="0">
                <a:latin typeface="华光仿宋_CNKI" panose="02000500000000000000" pitchFamily="2" charset="-122"/>
                <a:ea typeface="华光仿宋_CNKI" panose="02000500000000000000" pitchFamily="2" charset="-122"/>
              </a:rPr>
              <a:t>back”</a:t>
            </a:r>
            <a:r>
              <a:rPr lang="zh-CN" altLang="en-US" sz="2600" dirty="0">
                <a:latin typeface="华光仿宋_CNKI" panose="02000500000000000000" pitchFamily="2" charset="-122"/>
                <a:ea typeface="华光仿宋_CNKI" panose="02000500000000000000" pitchFamily="2" charset="-122"/>
              </a:rPr>
              <a:t>的子空间中所含的景物，这样可使得前面的物体覆盖后面的物体，从而实现物体的消隐。</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3643219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45274"/>
            <a:ext cx="10515600" cy="5732889"/>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超粗黑_CNKI" panose="02000500000000000000" pitchFamily="2" charset="-122"/>
                <a:ea typeface="华光超粗黑_CNKI" panose="02000500000000000000" pitchFamily="2" charset="-122"/>
              </a:rPr>
              <a:t>5. </a:t>
            </a:r>
            <a:r>
              <a:rPr lang="zh-CN" altLang="en-US" dirty="0">
                <a:latin typeface="华光超粗黑_CNKI" panose="02000500000000000000" pitchFamily="2" charset="-122"/>
                <a:ea typeface="华光超粗黑_CNKI" panose="02000500000000000000" pitchFamily="2" charset="-122"/>
              </a:rPr>
              <a:t>深度缓冲区算法</a:t>
            </a: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目前大多数的硬件实现均采用该方法实现物体的消隐。</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算法思想：对投影到显示屏上的每一个像素所对应的多边形表面的深度进行比较，然后取最近表面的属性值作为该像素的属性值。由于视点通常位于</a:t>
            </a:r>
            <a:r>
              <a:rPr lang="en-US" altLang="zh-CN" sz="2600" dirty="0">
                <a:latin typeface="华光仿宋_CNKI" panose="02000500000000000000" pitchFamily="2" charset="-122"/>
                <a:ea typeface="华光仿宋_CNKI" panose="02000500000000000000" pitchFamily="2" charset="-122"/>
              </a:rPr>
              <a:t>z</a:t>
            </a:r>
            <a:r>
              <a:rPr lang="zh-CN" altLang="en-US" sz="2600" dirty="0">
                <a:latin typeface="华光仿宋_CNKI" panose="02000500000000000000" pitchFamily="2" charset="-122"/>
                <a:ea typeface="华光仿宋_CNKI" panose="02000500000000000000" pitchFamily="2" charset="-122"/>
              </a:rPr>
              <a:t>轴上， </a:t>
            </a:r>
            <a:r>
              <a:rPr lang="en-US" altLang="zh-CN" sz="2600" dirty="0">
                <a:latin typeface="华光仿宋_CNKI" panose="02000500000000000000" pitchFamily="2" charset="-122"/>
                <a:ea typeface="华光仿宋_CNKI" panose="02000500000000000000" pitchFamily="2" charset="-122"/>
              </a:rPr>
              <a:t>z</a:t>
            </a:r>
            <a:r>
              <a:rPr lang="zh-CN" altLang="en-US" sz="2600" dirty="0">
                <a:latin typeface="华光仿宋_CNKI" panose="02000500000000000000" pitchFamily="2" charset="-122"/>
                <a:ea typeface="华光仿宋_CNKI" panose="02000500000000000000" pitchFamily="2" charset="-122"/>
              </a:rPr>
              <a:t>坐标值代表各物体距投影平面的深度，因此可用一个</a:t>
            </a:r>
            <a:r>
              <a:rPr lang="en-US" altLang="zh-CN" sz="2600" b="1" dirty="0">
                <a:latin typeface="华光标题宋_CNKI" panose="02000500000000000000" pitchFamily="2" charset="-122"/>
                <a:ea typeface="华光标题宋_CNKI" panose="02000500000000000000" pitchFamily="2" charset="-122"/>
              </a:rPr>
              <a:t>Z</a:t>
            </a:r>
            <a:r>
              <a:rPr lang="zh-CN" altLang="en-US" sz="2600" b="1" dirty="0">
                <a:latin typeface="华光标题宋_CNKI" panose="02000500000000000000" pitchFamily="2" charset="-122"/>
                <a:ea typeface="华光标题宋_CNKI" panose="02000500000000000000" pitchFamily="2" charset="-122"/>
              </a:rPr>
              <a:t>缓冲器（</a:t>
            </a:r>
            <a:r>
              <a:rPr lang="en-US" altLang="zh-CN" sz="2600" b="1" dirty="0">
                <a:latin typeface="华光标题宋_CNKI" panose="02000500000000000000" pitchFamily="2" charset="-122"/>
                <a:ea typeface="华光标题宋_CNKI" panose="02000500000000000000" pitchFamily="2" charset="-122"/>
              </a:rPr>
              <a:t>Z-buffer</a:t>
            </a:r>
            <a:r>
              <a:rPr lang="zh-CN" altLang="en-US" sz="2600" b="1" dirty="0">
                <a:latin typeface="华光标题宋_CNKI" panose="02000500000000000000" pitchFamily="2" charset="-122"/>
                <a:ea typeface="华光标题宋_CNKI" panose="02000500000000000000" pitchFamily="2" charset="-122"/>
              </a:rPr>
              <a:t>，深度缓冲区）</a:t>
            </a:r>
            <a:r>
              <a:rPr lang="zh-CN" altLang="en-US" sz="2600" dirty="0">
                <a:latin typeface="华光仿宋_CNKI" panose="02000500000000000000" pitchFamily="2" charset="-122"/>
                <a:ea typeface="华光仿宋_CNKI" panose="02000500000000000000" pitchFamily="2" charset="-122"/>
              </a:rPr>
              <a:t>来记录位于投影屏幕上此像素点的最靠近视点的那个多边形表面的深度，同时将此多边形表面的亮度值保存在帧缓冲器中。因此，深度缓冲器只是帧缓冲器的扩充，深度缓冲器算法也称为</a:t>
            </a:r>
            <a:r>
              <a:rPr lang="en-US" altLang="zh-CN" sz="2600" dirty="0">
                <a:latin typeface="华光仿宋_CNKI" panose="02000500000000000000" pitchFamily="2" charset="-122"/>
                <a:ea typeface="华光仿宋_CNKI" panose="02000500000000000000" pitchFamily="2" charset="-122"/>
              </a:rPr>
              <a:t>Z</a:t>
            </a:r>
            <a:r>
              <a:rPr lang="zh-CN" altLang="en-US" sz="2600" dirty="0">
                <a:latin typeface="华光仿宋_CNKI" panose="02000500000000000000" pitchFamily="2" charset="-122"/>
                <a:ea typeface="华光仿宋_CNKI" panose="02000500000000000000" pitchFamily="2" charset="-122"/>
              </a:rPr>
              <a:t>缓冲器算法。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5369951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45274"/>
            <a:ext cx="10515600" cy="5732889"/>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算法实现步骤：</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1600" dirty="0"/>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：将场景中的所有多边形通过取景变换、透视变换变换到屏幕坐标系中，即将物体描述转化为投影坐标，这时多边形表面上的每个点</a:t>
            </a:r>
            <a:r>
              <a:rPr lang="en-US" altLang="zh-CN" sz="2600" dirty="0">
                <a:latin typeface="华光仿宋_CNKI" panose="02000500000000000000" pitchFamily="2" charset="-122"/>
                <a:ea typeface="华光仿宋_CNKI" panose="02000500000000000000" pitchFamily="2" charset="-122"/>
              </a:rPr>
              <a:t>(x, y z, ) </a:t>
            </a:r>
            <a:r>
              <a:rPr lang="zh-CN" altLang="en-US" sz="2600" dirty="0">
                <a:latin typeface="华光仿宋_CNKI" panose="02000500000000000000" pitchFamily="2" charset="-122"/>
                <a:ea typeface="华光仿宋_CNKI" panose="02000500000000000000" pitchFamily="2" charset="-122"/>
              </a:rPr>
              <a:t>均对应于投影平面上正交投影点</a:t>
            </a:r>
            <a:r>
              <a:rPr lang="en-US" altLang="zh-CN" sz="2600" dirty="0">
                <a:latin typeface="华光仿宋_CNKI" panose="02000500000000000000" pitchFamily="2" charset="-122"/>
                <a:ea typeface="华光仿宋_CNKI" panose="02000500000000000000" pitchFamily="2" charset="-122"/>
              </a:rPr>
              <a:t>(x y) </a:t>
            </a:r>
            <a:r>
              <a:rPr lang="zh-CN" altLang="en-US" sz="2600" dirty="0">
                <a:latin typeface="华光仿宋_CNKI" panose="02000500000000000000" pitchFamily="2" charset="-122"/>
                <a:ea typeface="华光仿宋_CNKI" panose="02000500000000000000" pitchFamily="2" charset="-122"/>
              </a:rPr>
              <a:t>。 因此，对于位于投影平面上的每个像素点</a:t>
            </a:r>
            <a:r>
              <a:rPr lang="en-US" altLang="zh-CN" sz="2600" dirty="0">
                <a:latin typeface="华光仿宋_CNKI" panose="02000500000000000000" pitchFamily="2" charset="-122"/>
                <a:ea typeface="华光仿宋_CNKI" panose="02000500000000000000" pitchFamily="2" charset="-122"/>
              </a:rPr>
              <a:t>(x y) </a:t>
            </a:r>
            <a:r>
              <a:rPr lang="zh-CN" altLang="en-US" sz="2600" dirty="0">
                <a:latin typeface="华光仿宋_CNKI" panose="02000500000000000000" pitchFamily="2" charset="-122"/>
                <a:ea typeface="华光仿宋_CNKI" panose="02000500000000000000" pitchFamily="2" charset="-122"/>
              </a:rPr>
              <a:t>，物体的深度比较可通过它们</a:t>
            </a:r>
            <a:r>
              <a:rPr lang="en-US" altLang="zh-CN" sz="2600" dirty="0">
                <a:latin typeface="华光仿宋_CNKI" panose="02000500000000000000" pitchFamily="2" charset="-122"/>
                <a:ea typeface="华光仿宋_CNKI" panose="02000500000000000000" pitchFamily="2" charset="-122"/>
              </a:rPr>
              <a:t>z</a:t>
            </a:r>
            <a:r>
              <a:rPr lang="zh-CN" altLang="en-US" sz="2600" dirty="0">
                <a:latin typeface="华光仿宋_CNKI" panose="02000500000000000000" pitchFamily="2" charset="-122"/>
                <a:ea typeface="华光仿宋_CNKI" panose="02000500000000000000" pitchFamily="2" charset="-122"/>
              </a:rPr>
              <a:t>值的比较来实现。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：初始化深度缓冲存储器和帧缓冲器。由于深度缓冲存储器用于存储各像素点</a:t>
            </a:r>
            <a:r>
              <a:rPr lang="en-US" altLang="zh-CN" sz="2600" dirty="0">
                <a:latin typeface="华光仿宋_CNKI" panose="02000500000000000000" pitchFamily="2" charset="-122"/>
                <a:ea typeface="华光仿宋_CNKI" panose="02000500000000000000" pitchFamily="2" charset="-122"/>
              </a:rPr>
              <a:t>(x y ) </a:t>
            </a:r>
            <a:r>
              <a:rPr lang="zh-CN" altLang="en-US" sz="2600" dirty="0">
                <a:latin typeface="华光仿宋_CNKI" panose="02000500000000000000" pitchFamily="2" charset="-122"/>
                <a:ea typeface="华光仿宋_CNKI" panose="02000500000000000000" pitchFamily="2" charset="-122"/>
              </a:rPr>
              <a:t>所对应的深度值，帧缓冲器用于存储各像素点</a:t>
            </a:r>
            <a:r>
              <a:rPr lang="en-US" altLang="zh-CN" sz="2600" dirty="0">
                <a:latin typeface="华光仿宋_CNKI" panose="02000500000000000000" pitchFamily="2" charset="-122"/>
                <a:ea typeface="华光仿宋_CNKI" panose="02000500000000000000" pitchFamily="2" charset="-122"/>
              </a:rPr>
              <a:t>(x y ) </a:t>
            </a:r>
            <a:r>
              <a:rPr lang="zh-CN" altLang="en-US" sz="2600" dirty="0">
                <a:latin typeface="华光仿宋_CNKI" panose="02000500000000000000" pitchFamily="2" charset="-122"/>
                <a:ea typeface="华光仿宋_CNKI" panose="02000500000000000000" pitchFamily="2" charset="-122"/>
              </a:rPr>
              <a:t>的属性值（亮度或颜色值），因此，深度缓冲器应初始化为离视点</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9461330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45274"/>
            <a:ext cx="10515600" cy="5732889"/>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最远的最大</a:t>
            </a:r>
            <a:r>
              <a:rPr lang="en-US" altLang="zh-CN" sz="2600" dirty="0">
                <a:latin typeface="华光仿宋_CNKI" panose="02000500000000000000" pitchFamily="2" charset="-122"/>
                <a:ea typeface="华光仿宋_CNKI" panose="02000500000000000000" pitchFamily="2" charset="-122"/>
              </a:rPr>
              <a:t>z</a:t>
            </a:r>
            <a:r>
              <a:rPr lang="zh-CN" altLang="en-US" sz="2600" dirty="0">
                <a:latin typeface="华光仿宋_CNKI" panose="02000500000000000000" pitchFamily="2" charset="-122"/>
                <a:ea typeface="华光仿宋_CNKI" panose="02000500000000000000" pitchFamily="2" charset="-122"/>
              </a:rPr>
              <a:t>值（观察坐标系是左手坐标系，视点在坐标系原点，所以离视点 远的 </a:t>
            </a:r>
            <a:r>
              <a:rPr lang="en-US" altLang="zh-CN" sz="2600" dirty="0">
                <a:latin typeface="华光仿宋_CNKI" panose="02000500000000000000" pitchFamily="2" charset="-122"/>
                <a:ea typeface="华光仿宋_CNKI" panose="02000500000000000000" pitchFamily="2" charset="-122"/>
              </a:rPr>
              <a:t>z </a:t>
            </a:r>
            <a:r>
              <a:rPr lang="zh-CN" altLang="en-US" sz="2600" dirty="0">
                <a:latin typeface="华光仿宋_CNKI" panose="02000500000000000000" pitchFamily="2" charset="-122"/>
                <a:ea typeface="华光仿宋_CNKI" panose="02000500000000000000" pitchFamily="2" charset="-122"/>
              </a:rPr>
              <a:t>值大），帧缓冲器应初始化为背景的属性值。</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扫描待显示的每一个多边形，比较当前多边形所覆盖的每一个像素点的深度值，如果其深度值比深度缓冲区中当前像素的深度值小，则取代原来的深度值，并将对应像素的属性值保存到帧缓冲区对应的位置中。反之，则不做任何处理。循环该步骤，直到处理完所有的多边形。</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每个多边形投影到屏幕坐标系后的深度值的计算可参照前面投影变换部分的内容。</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115096466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95130"/>
            <a:ext cx="10515600" cy="5136542"/>
          </a:xfrm>
        </p:spPr>
        <p:txBody>
          <a:bodyPr>
            <a:no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算法优点：</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）算法比较简单，复杂度与场景中物体表面采样点数目有关。</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）易于硬件实现。</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算法缺点：</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）该算法需要很大的存储空间。</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）需要对透明和半透明等效果进行特殊处理。这一点在</a:t>
            </a:r>
            <a:r>
              <a:rPr lang="en-US" altLang="zh-CN" sz="2600" dirty="0">
                <a:latin typeface="华光仿宋_CNKI" panose="02000500000000000000" pitchFamily="2" charset="-122"/>
                <a:ea typeface="华光仿宋_CNKI" panose="02000500000000000000" pitchFamily="2" charset="-122"/>
              </a:rPr>
              <a:t>Direct3D 12</a:t>
            </a:r>
            <a:r>
              <a:rPr lang="zh-CN" altLang="en-US" sz="2600" dirty="0">
                <a:latin typeface="华光仿宋_CNKI" panose="02000500000000000000" pitchFamily="2" charset="-122"/>
                <a:ea typeface="华光仿宋_CNKI" panose="02000500000000000000" pitchFamily="2" charset="-122"/>
              </a:rPr>
              <a:t>编程中为实现透明效果而采用的方法可以体现。</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2668306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842840"/>
            <a:ext cx="10515600" cy="4905954"/>
          </a:xfrm>
        </p:spPr>
        <p:txBody>
          <a:bodyPr>
            <a:no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超粗黑_CNKI" panose="02000500000000000000" pitchFamily="2" charset="-122"/>
                <a:ea typeface="华光超粗黑_CNKI" panose="02000500000000000000" pitchFamily="2" charset="-122"/>
              </a:rPr>
              <a:t>6. Warnock</a:t>
            </a:r>
            <a:r>
              <a:rPr lang="zh-CN" altLang="en-US" dirty="0">
                <a:latin typeface="华光超粗黑_CNKI" panose="02000500000000000000" pitchFamily="2" charset="-122"/>
                <a:ea typeface="华光超粗黑_CNKI" panose="02000500000000000000" pitchFamily="2" charset="-122"/>
              </a:rPr>
              <a:t>算法</a:t>
            </a:r>
          </a:p>
          <a:p>
            <a:pPr marL="0" indent="0">
              <a:lnSpc>
                <a:spcPct val="150000"/>
              </a:lnSpc>
              <a:buNone/>
            </a:pPr>
            <a:r>
              <a:rPr lang="zh-CN" altLang="en-US" sz="1600" dirty="0"/>
              <a:t>           </a:t>
            </a:r>
            <a:r>
              <a:rPr lang="zh-CN" altLang="en-US" sz="2600" dirty="0">
                <a:latin typeface="华光仿宋_CNKI" panose="02000500000000000000" pitchFamily="2" charset="-122"/>
                <a:ea typeface="华光仿宋_CNKI" panose="02000500000000000000" pitchFamily="2" charset="-122"/>
              </a:rPr>
              <a:t>该算法将整个观察范围细分成越来越小的矩形单元，直至每个单元仅包含单个可见面片的投影或不包含任何面片。</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标题宋_CNKI" panose="02000500000000000000" pitchFamily="2" charset="-122"/>
                <a:ea typeface="华光标题宋_CNKI" panose="02000500000000000000" pitchFamily="2" charset="-122"/>
              </a:rPr>
              <a:t>单纯窗口</a:t>
            </a:r>
            <a:r>
              <a:rPr lang="zh-CN" altLang="en-US" sz="2600" dirty="0">
                <a:latin typeface="华光仿宋_CNKI" panose="02000500000000000000" pitchFamily="2" charset="-122"/>
                <a:ea typeface="华光仿宋_CNKI" panose="02000500000000000000" pitchFamily="2" charset="-122"/>
              </a:rPr>
              <a:t>：如果窗口内的景物已经足够简单，简单到可以直接显示输出，则称该窗口为单纯的，否则为非单纯的。</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显然，如果窗口内没有任何可见物体，或者窗口已被一个可见面片完全充满，这时的窗口就是单纯的。</a:t>
            </a: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70024189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直角三角形 9">
            <a:extLst>
              <a:ext uri="{FF2B5EF4-FFF2-40B4-BE49-F238E27FC236}">
                <a16:creationId xmlns:a16="http://schemas.microsoft.com/office/drawing/2014/main" id="{41F5B5E0-25F1-5FD0-3287-4074B01029C4}"/>
              </a:ext>
            </a:extLst>
          </p:cNvPr>
          <p:cNvSpPr/>
          <p:nvPr/>
        </p:nvSpPr>
        <p:spPr>
          <a:xfrm rot="19731541">
            <a:off x="7611479" y="2340774"/>
            <a:ext cx="3935318" cy="3112625"/>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3A1CE4E-3E0F-75AE-CC6B-A58D99CE07F4}"/>
              </a:ext>
            </a:extLst>
          </p:cNvPr>
          <p:cNvSpPr/>
          <p:nvPr/>
        </p:nvSpPr>
        <p:spPr>
          <a:xfrm>
            <a:off x="7641203" y="1995068"/>
            <a:ext cx="1749287" cy="1184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内容占位符 2"/>
          <p:cNvSpPr>
            <a:spLocks noGrp="1"/>
          </p:cNvSpPr>
          <p:nvPr>
            <p:ph idx="1"/>
          </p:nvPr>
        </p:nvSpPr>
        <p:spPr>
          <a:xfrm>
            <a:off x="657974" y="699715"/>
            <a:ext cx="6667831" cy="5311471"/>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多边形与窗口之间的关系如右图所示：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）分离，即多边形面片在窗口之外。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）内含，即多边形面片完全处在窗口之内。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）相交，即多边形面片与窗口相交，部分位于窗口内，部分位于窗口外。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）包围，即多边形面片完全包含整个窗口。</a:t>
            </a:r>
            <a:endParaRPr lang="en-US" altLang="zh-CN" sz="2600" dirty="0">
              <a:latin typeface="华光仿宋_CNKI" panose="02000500000000000000" pitchFamily="2" charset="-122"/>
              <a:ea typeface="华光仿宋_CNKI" panose="02000500000000000000" pitchFamily="2" charset="-122"/>
            </a:endParaRPr>
          </a:p>
        </p:txBody>
      </p:sp>
      <p:sp>
        <p:nvSpPr>
          <p:cNvPr id="2" name="矩形 1">
            <a:extLst>
              <a:ext uri="{FF2B5EF4-FFF2-40B4-BE49-F238E27FC236}">
                <a16:creationId xmlns:a16="http://schemas.microsoft.com/office/drawing/2014/main" id="{4503663B-C0D6-B80C-D054-718458C52B2A}"/>
              </a:ext>
            </a:extLst>
          </p:cNvPr>
          <p:cNvSpPr/>
          <p:nvPr/>
        </p:nvSpPr>
        <p:spPr>
          <a:xfrm>
            <a:off x="7641203" y="300280"/>
            <a:ext cx="1749287" cy="1184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直角三角形 3">
            <a:extLst>
              <a:ext uri="{FF2B5EF4-FFF2-40B4-BE49-F238E27FC236}">
                <a16:creationId xmlns:a16="http://schemas.microsoft.com/office/drawing/2014/main" id="{6C4FDDB7-BC8C-FDA9-CFC9-21DC0DA2B0C0}"/>
              </a:ext>
            </a:extLst>
          </p:cNvPr>
          <p:cNvSpPr/>
          <p:nvPr/>
        </p:nvSpPr>
        <p:spPr>
          <a:xfrm rot="20688322">
            <a:off x="9658532" y="221646"/>
            <a:ext cx="715618" cy="811033"/>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5F44D8A2-492D-64A3-3433-4283140B0283}"/>
              </a:ext>
            </a:extLst>
          </p:cNvPr>
          <p:cNvSpPr/>
          <p:nvPr/>
        </p:nvSpPr>
        <p:spPr>
          <a:xfrm>
            <a:off x="10318806" y="1197560"/>
            <a:ext cx="1749287" cy="1184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直角三角形 5">
            <a:extLst>
              <a:ext uri="{FF2B5EF4-FFF2-40B4-BE49-F238E27FC236}">
                <a16:creationId xmlns:a16="http://schemas.microsoft.com/office/drawing/2014/main" id="{536503A3-6C93-92D9-9370-24AED668BB31}"/>
              </a:ext>
            </a:extLst>
          </p:cNvPr>
          <p:cNvSpPr/>
          <p:nvPr/>
        </p:nvSpPr>
        <p:spPr>
          <a:xfrm rot="19805541">
            <a:off x="10995992" y="1384415"/>
            <a:ext cx="715618" cy="811033"/>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直角三角形 6">
            <a:extLst>
              <a:ext uri="{FF2B5EF4-FFF2-40B4-BE49-F238E27FC236}">
                <a16:creationId xmlns:a16="http://schemas.microsoft.com/office/drawing/2014/main" id="{B922301B-621E-45B0-8E4C-F5EA64772D20}"/>
              </a:ext>
            </a:extLst>
          </p:cNvPr>
          <p:cNvSpPr/>
          <p:nvPr/>
        </p:nvSpPr>
        <p:spPr>
          <a:xfrm rot="19731541">
            <a:off x="8046718" y="1527099"/>
            <a:ext cx="715618" cy="811033"/>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8F31F88-DB34-2863-E605-CAD5C857F717}"/>
              </a:ext>
            </a:extLst>
          </p:cNvPr>
          <p:cNvSpPr/>
          <p:nvPr/>
        </p:nvSpPr>
        <p:spPr>
          <a:xfrm>
            <a:off x="8344739" y="4194313"/>
            <a:ext cx="1749287" cy="1184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25366499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20202"/>
            <a:ext cx="10515600" cy="5557961"/>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算法思想：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1600" dirty="0"/>
              <a:t>            </a:t>
            </a:r>
            <a:r>
              <a:rPr lang="zh-CN" altLang="en-US" sz="2600" dirty="0">
                <a:latin typeface="华光仿宋_CNKI" panose="02000500000000000000" pitchFamily="2" charset="-122"/>
                <a:ea typeface="华光仿宋_CNKI" panose="02000500000000000000" pitchFamily="2" charset="-122"/>
              </a:rPr>
              <a:t>将非单纯的窗口四等分为</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个子窗口，对每个子窗口再进一步判别是否是单纯的，直到窗口单纯或窗口边长已缩减至一个像素点为止，这一过程类似于组织一棵四叉树，这样，即使是一 个 </a:t>
            </a:r>
            <a:r>
              <a:rPr lang="en-US" altLang="zh-CN" sz="2600" dirty="0">
                <a:latin typeface="华光仿宋_CNKI" panose="02000500000000000000" pitchFamily="2" charset="-122"/>
                <a:ea typeface="华光仿宋_CNKI" panose="02000500000000000000" pitchFamily="2" charset="-122"/>
              </a:rPr>
              <a:t>1024×1024 </a:t>
            </a:r>
            <a:r>
              <a:rPr lang="zh-CN" altLang="en-US" sz="2600" dirty="0">
                <a:latin typeface="华光仿宋_CNKI" panose="02000500000000000000" pitchFamily="2" charset="-122"/>
                <a:ea typeface="华光仿宋_CNKI" panose="02000500000000000000" pitchFamily="2" charset="-122"/>
              </a:rPr>
              <a:t>分辨率的视图被细分 </a:t>
            </a:r>
            <a:r>
              <a:rPr lang="en-US" altLang="zh-CN" sz="2600" dirty="0">
                <a:latin typeface="华光仿宋_CNKI" panose="02000500000000000000" pitchFamily="2" charset="-122"/>
                <a:ea typeface="华光仿宋_CNKI" panose="02000500000000000000" pitchFamily="2" charset="-122"/>
              </a:rPr>
              <a:t>10 </a:t>
            </a:r>
            <a:r>
              <a:rPr lang="zh-CN" altLang="en-US" sz="2600" dirty="0">
                <a:latin typeface="华光仿宋_CNKI" panose="02000500000000000000" pitchFamily="2" charset="-122"/>
                <a:ea typeface="华光仿宋_CNKI" panose="02000500000000000000" pitchFamily="2" charset="-122"/>
              </a:rPr>
              <a:t>次以后，也能使每个子窗口覆盖一个像素。</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算法实现步骤：</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：对每个窗口进行判断，若画面中所有多边形均与此窗口分离，即此窗口为空，则按背景光强或颜色直接显示而无需继续分割。</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33364652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30303"/>
            <a:ext cx="10515600" cy="4595853"/>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：若窗口中仅包含一个多边形，则窗口内多边形外的区域按背景光强或颜色填充，多边形内按多边形相应的光强或颜色填充。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：若窗口与一个多边形相交，则窗口内多边形外的区域按背景光强或颜色填充，相交多边形内位于窗口内的部分按多边形相应的光强或颜色填充。</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1600" dirty="0"/>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：若窗口被一个多边形包围且窗口内无其他的多边形，则窗口按此包围多边形相应的光强或颜色填充。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197369508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20202"/>
            <a:ext cx="10515600" cy="5557961"/>
          </a:xfrm>
        </p:spPr>
        <p:txBody>
          <a:bodyPr>
            <a:no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步骤 </a:t>
            </a:r>
            <a:r>
              <a:rPr lang="en-US" altLang="zh-CN" sz="2600" dirty="0">
                <a:latin typeface="华光仿宋_CNKI" panose="02000500000000000000" pitchFamily="2" charset="-122"/>
                <a:ea typeface="华光仿宋_CNKI" panose="02000500000000000000" pitchFamily="2" charset="-122"/>
              </a:rPr>
              <a:t>5</a:t>
            </a:r>
            <a:r>
              <a:rPr lang="zh-CN" altLang="en-US" sz="2600" dirty="0">
                <a:latin typeface="华光仿宋_CNKI" panose="02000500000000000000" pitchFamily="2" charset="-122"/>
                <a:ea typeface="华光仿宋_CNKI" panose="02000500000000000000" pitchFamily="2" charset="-122"/>
              </a:rPr>
              <a:t>：若窗口至少被一个多边形包围且此多边形距离视点最近，则窗口按此离视点最近的包围多边形的相应光强或颜色填充。 </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步骤 </a:t>
            </a:r>
            <a:r>
              <a:rPr lang="en-US" altLang="zh-CN" sz="2600" dirty="0">
                <a:latin typeface="华光仿宋_CNKI" panose="02000500000000000000" pitchFamily="2" charset="-122"/>
                <a:ea typeface="华光仿宋_CNKI" panose="02000500000000000000" pitchFamily="2" charset="-122"/>
              </a:rPr>
              <a:t>6</a:t>
            </a:r>
            <a:r>
              <a:rPr lang="zh-CN" altLang="en-US" sz="2600" dirty="0">
                <a:latin typeface="华光仿宋_CNKI" panose="02000500000000000000" pitchFamily="2" charset="-122"/>
                <a:ea typeface="华光仿宋_CNKI" panose="02000500000000000000" pitchFamily="2" charset="-122"/>
              </a:rPr>
              <a:t>：若以上条件都不满足，则继续细分窗口，并重复以上测试。</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85311905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7774" y="1325562"/>
            <a:ext cx="10515600" cy="5132387"/>
          </a:xfrm>
        </p:spPr>
        <p:txBody>
          <a:bodyPr>
            <a:noAutofit/>
          </a:bodyPr>
          <a:lstStyle/>
          <a:p>
            <a:pPr>
              <a:lnSpc>
                <a:spcPct val="150000"/>
              </a:lnSpc>
              <a:buFont typeface="Wingdings" panose="05000000000000000000" pitchFamily="2" charset="2"/>
              <a:buChar char="ü"/>
            </a:pPr>
            <a:r>
              <a:rPr lang="zh-CN" altLang="en-US" b="1" dirty="0">
                <a:latin typeface="黑体" panose="02010609060101010101" pitchFamily="49" charset="-122"/>
                <a:ea typeface="黑体" panose="02010609060101010101" pitchFamily="49" charset="-122"/>
              </a:rPr>
              <a:t>  复数 </a:t>
            </a:r>
            <a:endParaRPr lang="en-US" altLang="zh-CN" b="1" dirty="0">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ü"/>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四元代数</a:t>
            </a:r>
            <a:endParaRPr lang="en-US" altLang="zh-CN" b="1" dirty="0">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ü"/>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单位四元素及其相关运算</a:t>
            </a:r>
            <a:endParaRPr lang="en-US" altLang="zh-CN" b="1" dirty="0">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ü"/>
            </a:pPr>
            <a:r>
              <a:rPr lang="en-US" altLang="zh-CN" b="1" dirty="0">
                <a:latin typeface="黑体" panose="02010609060101010101" pitchFamily="49" charset="-122"/>
                <a:ea typeface="黑体" panose="02010609060101010101" pitchFamily="49" charset="-122"/>
              </a:rPr>
              <a:t>  DirectX</a:t>
            </a:r>
            <a:r>
              <a:rPr lang="zh-CN" altLang="en-US" b="1" dirty="0">
                <a:latin typeface="黑体" panose="02010609060101010101" pitchFamily="49" charset="-122"/>
                <a:ea typeface="黑体" panose="02010609060101010101" pitchFamily="49" charset="-122"/>
              </a:rPr>
              <a:t>与四元素有关的函数</a:t>
            </a:r>
            <a:r>
              <a:rPr lang="en-US" altLang="zh-CN" b="1" dirty="0">
                <a:latin typeface="黑体" panose="02010609060101010101" pitchFamily="49" charset="-122"/>
                <a:ea typeface="黑体" panose="02010609060101010101" pitchFamily="49" charset="-122"/>
              </a:rPr>
              <a:t> </a:t>
            </a:r>
          </a:p>
          <a:p>
            <a:pPr marL="0" indent="0">
              <a:lnSpc>
                <a:spcPct val="150000"/>
              </a:lnSpc>
              <a:buNone/>
            </a:pPr>
            <a:r>
              <a:rPr lang="en-US" altLang="zh-CN" b="1" dirty="0">
                <a:latin typeface="黑体" panose="02010609060101010101" pitchFamily="49" charset="-122"/>
                <a:ea typeface="黑体" panose="02010609060101010101" pitchFamily="49" charset="-122"/>
              </a:rPr>
              <a:t>      </a:t>
            </a:r>
          </a:p>
        </p:txBody>
      </p:sp>
      <p:sp>
        <p:nvSpPr>
          <p:cNvPr id="4" name="标题 1"/>
          <p:cNvSpPr txBox="1">
            <a:spLocks/>
          </p:cNvSpPr>
          <p:nvPr/>
        </p:nvSpPr>
        <p:spPr>
          <a:xfrm>
            <a:off x="907774"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800" b="1" dirty="0">
                <a:solidFill>
                  <a:srgbClr val="FF0000"/>
                </a:solidFill>
                <a:latin typeface="黑体" panose="02010609060101010101" pitchFamily="49" charset="-122"/>
                <a:ea typeface="黑体" panose="02010609060101010101" pitchFamily="49" charset="-122"/>
              </a:rPr>
              <a:t>四元素</a:t>
            </a:r>
          </a:p>
        </p:txBody>
      </p:sp>
    </p:spTree>
    <p:extLst>
      <p:ext uri="{BB962C8B-B14F-4D97-AF65-F5344CB8AC3E}">
        <p14:creationId xmlns:p14="http://schemas.microsoft.com/office/powerpoint/2010/main" val="306356643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14346" y="546652"/>
            <a:ext cx="10778656" cy="1592249"/>
          </a:xfrm>
        </p:spPr>
        <p:txBody>
          <a:bodyPr>
            <a:normAutofit fontScale="92500"/>
          </a:bodyPr>
          <a:lstStyle/>
          <a:p>
            <a:pPr marL="0" indent="0">
              <a:lnSpc>
                <a:spcPct val="150000"/>
              </a:lnSpc>
              <a:buNone/>
            </a:pPr>
            <a:r>
              <a:rPr lang="en-US" altLang="zh-CN" sz="3200" dirty="0">
                <a:latin typeface="黑体" panose="02010609060101010101" pitchFamily="49" charset="-122"/>
                <a:ea typeface="黑体" panose="02010609060101010101" pitchFamily="49" charset="-122"/>
              </a:rPr>
              <a:t>1</a:t>
            </a:r>
            <a:r>
              <a:rPr lang="zh-CN" altLang="en-US" sz="3200" dirty="0">
                <a:latin typeface="黑体" panose="02010609060101010101" pitchFamily="49" charset="-122"/>
                <a:ea typeface="黑体" panose="02010609060101010101" pitchFamily="49" charset="-122"/>
              </a:rPr>
              <a:t>、复数</a:t>
            </a:r>
            <a:endParaRPr lang="en-US" altLang="zh-CN" sz="3200" dirty="0">
              <a:latin typeface="黑体" panose="02010609060101010101" pitchFamily="49" charset="-122"/>
              <a:ea typeface="黑体" panose="02010609060101010101" pitchFamily="49" charset="-122"/>
            </a:endParaRPr>
          </a:p>
          <a:p>
            <a:pPr marL="0" indent="0">
              <a:lnSpc>
                <a:spcPct val="150000"/>
              </a:lnSpc>
              <a:buNone/>
            </a:pPr>
            <a:r>
              <a:rPr lang="en-US" altLang="zh-CN" dirty="0">
                <a:latin typeface="+mj-ea"/>
                <a:ea typeface="+mj-ea"/>
              </a:rPr>
              <a:t>    </a:t>
            </a:r>
            <a:r>
              <a:rPr lang="zh-CN" altLang="en-US" dirty="0">
                <a:latin typeface="华光仿宋_CNKI" panose="02000500000000000000" pitchFamily="2" charset="-122"/>
                <a:ea typeface="华光仿宋_CNKI" panose="02000500000000000000" pitchFamily="2" charset="-122"/>
              </a:rPr>
              <a:t>与复数有关的运算定义如下，分别表示相等，相加，乘，除运算。</a:t>
            </a: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2" name="图片 1">
            <a:extLst>
              <a:ext uri="{FF2B5EF4-FFF2-40B4-BE49-F238E27FC236}">
                <a16:creationId xmlns:a16="http://schemas.microsoft.com/office/drawing/2014/main" id="{8DA9C433-7FF8-45DD-8B56-C35A491F9E99}"/>
              </a:ext>
            </a:extLst>
          </p:cNvPr>
          <p:cNvPicPr>
            <a:picLocks noChangeAspect="1"/>
          </p:cNvPicPr>
          <p:nvPr/>
        </p:nvPicPr>
        <p:blipFill>
          <a:blip r:embed="rId2"/>
          <a:stretch>
            <a:fillRect/>
          </a:stretch>
        </p:blipFill>
        <p:spPr>
          <a:xfrm>
            <a:off x="1351723" y="2420177"/>
            <a:ext cx="8668081" cy="3779852"/>
          </a:xfrm>
          <a:prstGeom prst="rect">
            <a:avLst/>
          </a:prstGeom>
        </p:spPr>
      </p:pic>
    </p:spTree>
    <p:extLst>
      <p:ext uri="{BB962C8B-B14F-4D97-AF65-F5344CB8AC3E}">
        <p14:creationId xmlns:p14="http://schemas.microsoft.com/office/powerpoint/2010/main" val="22166651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6435" y="500600"/>
            <a:ext cx="10778656" cy="805070"/>
          </a:xfrm>
        </p:spPr>
        <p:txBody>
          <a:bodyPr>
            <a:normAutofit/>
          </a:bodyPr>
          <a:lstStyle/>
          <a:p>
            <a:pPr marL="0" indent="0">
              <a:lnSpc>
                <a:spcPct val="150000"/>
              </a:lnSpc>
              <a:buNone/>
            </a:pPr>
            <a:r>
              <a:rPr lang="en-US" altLang="zh-CN" dirty="0">
                <a:latin typeface="+mn-ea"/>
              </a:rPr>
              <a:t>   </a:t>
            </a:r>
            <a:r>
              <a:rPr lang="zh-CN" altLang="en-US" dirty="0">
                <a:latin typeface="华光仿宋_CNKI" panose="02000500000000000000" pitchFamily="2" charset="-122"/>
                <a:ea typeface="华光仿宋_CNKI" panose="02000500000000000000" pitchFamily="2" charset="-122"/>
              </a:rPr>
              <a:t>也可表示成如下的形式，分别表示加，乘及除法运算。</a:t>
            </a: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5" name="图片 4">
            <a:extLst>
              <a:ext uri="{FF2B5EF4-FFF2-40B4-BE49-F238E27FC236}">
                <a16:creationId xmlns:a16="http://schemas.microsoft.com/office/drawing/2014/main" id="{48BF40A2-DD5F-45DE-9852-59EB10997EFA}"/>
              </a:ext>
            </a:extLst>
          </p:cNvPr>
          <p:cNvPicPr>
            <a:picLocks noChangeAspect="1"/>
          </p:cNvPicPr>
          <p:nvPr/>
        </p:nvPicPr>
        <p:blipFill>
          <a:blip r:embed="rId2"/>
          <a:stretch>
            <a:fillRect/>
          </a:stretch>
        </p:blipFill>
        <p:spPr>
          <a:xfrm>
            <a:off x="1020293" y="1806270"/>
            <a:ext cx="7781925" cy="2447925"/>
          </a:xfrm>
          <a:prstGeom prst="rect">
            <a:avLst/>
          </a:prstGeom>
        </p:spPr>
      </p:pic>
      <p:sp>
        <p:nvSpPr>
          <p:cNvPr id="6" name="内容占位符 2">
            <a:extLst>
              <a:ext uri="{FF2B5EF4-FFF2-40B4-BE49-F238E27FC236}">
                <a16:creationId xmlns:a16="http://schemas.microsoft.com/office/drawing/2014/main" id="{3C3D45A1-3F74-44D1-9BE9-A5B9F987224B}"/>
              </a:ext>
            </a:extLst>
          </p:cNvPr>
          <p:cNvSpPr txBox="1">
            <a:spLocks/>
          </p:cNvSpPr>
          <p:nvPr/>
        </p:nvSpPr>
        <p:spPr>
          <a:xfrm>
            <a:off x="706672" y="4513027"/>
            <a:ext cx="10778656" cy="1767840"/>
          </a:xfrm>
          <a:prstGeom prst="rect">
            <a:avLst/>
          </a:prstGeom>
        </p:spPr>
        <p:txBody>
          <a:bodyPr vert="horz" lIns="91440" tIns="45720" rIns="91440" bIns="45720" rtlCol="0">
            <a:normAutofit/>
          </a:bodyPr>
          <a:lstStyle>
            <a:lvl1pPr indent="0">
              <a:lnSpc>
                <a:spcPct val="150000"/>
              </a:lnSpc>
              <a:spcBef>
                <a:spcPts val="1000"/>
              </a:spcBef>
              <a:buFont typeface="Arial" panose="020B0604020202020204" pitchFamily="34" charset="0"/>
              <a:buNone/>
              <a:defRPr sz="2800">
                <a:latin typeface="+mn-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复数在几何学上与极坐标相关，可表示二维，三维甚至多维空间中的点及相应的变换。与前面的矢量相同。</a:t>
            </a:r>
            <a:endParaRPr lang="en-US" altLang="zh-CN" dirty="0">
              <a:latin typeface="华光仿宋_CNKI" panose="02000500000000000000" pitchFamily="2" charset="-122"/>
              <a:ea typeface="华光仿宋_CNKI" panose="02000500000000000000" pitchFamily="2" charset="-122"/>
            </a:endParaRPr>
          </a:p>
          <a:p>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26221048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6185" y="4790661"/>
            <a:ext cx="10778656" cy="1554480"/>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上左图表示（</a:t>
            </a:r>
            <a:r>
              <a:rPr lang="en-US" altLang="zh-CN" dirty="0" err="1">
                <a:latin typeface="华光仿宋_CNKI" panose="02000500000000000000" pitchFamily="2" charset="-122"/>
                <a:ea typeface="华光仿宋_CNKI" panose="02000500000000000000" pitchFamily="2" charset="-122"/>
              </a:rPr>
              <a:t>c,d</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a,b</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a+c,b+d</a:t>
            </a:r>
            <a:r>
              <a:rPr lang="zh-CN" altLang="en-US" dirty="0">
                <a:latin typeface="华光仿宋_CNKI" panose="02000500000000000000" pitchFamily="2" charset="-122"/>
                <a:ea typeface="华光仿宋_CNKI" panose="02000500000000000000" pitchFamily="2" charset="-122"/>
              </a:rPr>
              <a:t>）也就是复数的加法或者矢量的加法运算。右图表示矢量的长度。</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2" name="图片 1">
            <a:extLst>
              <a:ext uri="{FF2B5EF4-FFF2-40B4-BE49-F238E27FC236}">
                <a16:creationId xmlns:a16="http://schemas.microsoft.com/office/drawing/2014/main" id="{F3612FCA-F006-41DC-8700-D06A0D1C14D7}"/>
              </a:ext>
            </a:extLst>
          </p:cNvPr>
          <p:cNvPicPr>
            <a:picLocks noChangeAspect="1"/>
          </p:cNvPicPr>
          <p:nvPr/>
        </p:nvPicPr>
        <p:blipFill>
          <a:blip r:embed="rId2"/>
          <a:stretch>
            <a:fillRect/>
          </a:stretch>
        </p:blipFill>
        <p:spPr>
          <a:xfrm>
            <a:off x="874645" y="830911"/>
            <a:ext cx="4689405" cy="3675490"/>
          </a:xfrm>
          <a:prstGeom prst="rect">
            <a:avLst/>
          </a:prstGeom>
        </p:spPr>
      </p:pic>
      <p:pic>
        <p:nvPicPr>
          <p:cNvPr id="7" name="图片 6">
            <a:extLst>
              <a:ext uri="{FF2B5EF4-FFF2-40B4-BE49-F238E27FC236}">
                <a16:creationId xmlns:a16="http://schemas.microsoft.com/office/drawing/2014/main" id="{1A4C0BC7-69D7-40C7-8866-20122A6771EA}"/>
              </a:ext>
            </a:extLst>
          </p:cNvPr>
          <p:cNvPicPr>
            <a:picLocks noChangeAspect="1"/>
          </p:cNvPicPr>
          <p:nvPr/>
        </p:nvPicPr>
        <p:blipFill>
          <a:blip r:embed="rId3"/>
          <a:stretch>
            <a:fillRect/>
          </a:stretch>
        </p:blipFill>
        <p:spPr>
          <a:xfrm>
            <a:off x="6432605" y="731168"/>
            <a:ext cx="3815673" cy="3366094"/>
          </a:xfrm>
          <a:prstGeom prst="rect">
            <a:avLst/>
          </a:prstGeom>
        </p:spPr>
      </p:pic>
    </p:spTree>
    <p:extLst>
      <p:ext uri="{BB962C8B-B14F-4D97-AF65-F5344CB8AC3E}">
        <p14:creationId xmlns:p14="http://schemas.microsoft.com/office/powerpoint/2010/main" val="342773482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47646" y="546652"/>
            <a:ext cx="10778656" cy="1488882"/>
          </a:xfrm>
        </p:spPr>
        <p:txBody>
          <a:bodyPr>
            <a:normAutofit/>
          </a:bodyPr>
          <a:lstStyle/>
          <a:p>
            <a:pPr marL="0" indent="0">
              <a:lnSpc>
                <a:spcPct val="150000"/>
              </a:lnSpc>
              <a:buNone/>
            </a:pPr>
            <a:r>
              <a:rPr lang="en-US" altLang="zh-CN" dirty="0">
                <a:latin typeface="+mn-ea"/>
              </a:rPr>
              <a:t>   </a:t>
            </a:r>
            <a:r>
              <a:rPr lang="zh-CN" altLang="en-US" dirty="0">
                <a:latin typeface="+mn-ea"/>
              </a:rPr>
              <a:t>两个复数的乘法运算可用于表示将某个矢量旋转某个角度得到的新的矢量：</a:t>
            </a:r>
            <a:endParaRPr lang="en-US" altLang="zh-CN" dirty="0">
              <a:latin typeface="+mn-ea"/>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8" name="图片 7">
            <a:extLst>
              <a:ext uri="{FF2B5EF4-FFF2-40B4-BE49-F238E27FC236}">
                <a16:creationId xmlns:a16="http://schemas.microsoft.com/office/drawing/2014/main" id="{FF4BA8B3-5528-4A6D-A347-0C7F4679F1A0}"/>
              </a:ext>
            </a:extLst>
          </p:cNvPr>
          <p:cNvPicPr>
            <a:picLocks noChangeAspect="1"/>
          </p:cNvPicPr>
          <p:nvPr/>
        </p:nvPicPr>
        <p:blipFill>
          <a:blip r:embed="rId2"/>
          <a:stretch>
            <a:fillRect/>
          </a:stretch>
        </p:blipFill>
        <p:spPr>
          <a:xfrm>
            <a:off x="349954" y="1977868"/>
            <a:ext cx="4741173" cy="4027515"/>
          </a:xfrm>
          <a:prstGeom prst="rect">
            <a:avLst/>
          </a:prstGeom>
        </p:spPr>
      </p:pic>
      <p:sp>
        <p:nvSpPr>
          <p:cNvPr id="10" name="内容占位符 2">
            <a:extLst>
              <a:ext uri="{FF2B5EF4-FFF2-40B4-BE49-F238E27FC236}">
                <a16:creationId xmlns:a16="http://schemas.microsoft.com/office/drawing/2014/main" id="{0AB1D501-00C0-445F-A462-A80C077818A9}"/>
              </a:ext>
            </a:extLst>
          </p:cNvPr>
          <p:cNvSpPr txBox="1">
            <a:spLocks/>
          </p:cNvSpPr>
          <p:nvPr/>
        </p:nvSpPr>
        <p:spPr>
          <a:xfrm>
            <a:off x="5288819" y="3224256"/>
            <a:ext cx="4951117" cy="7958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dirty="0">
                <a:latin typeface="+mn-ea"/>
              </a:rPr>
              <a:t>如果</a:t>
            </a:r>
            <a:r>
              <a:rPr lang="en-US" altLang="zh-CN" dirty="0">
                <a:latin typeface="+mn-ea"/>
              </a:rPr>
              <a:t>r2=1,</a:t>
            </a:r>
            <a:r>
              <a:rPr lang="zh-CN" altLang="en-US" dirty="0">
                <a:latin typeface="+mn-ea"/>
              </a:rPr>
              <a:t>则</a:t>
            </a:r>
            <a:endParaRPr lang="en-US" altLang="zh-CN" dirty="0">
              <a:latin typeface="+mn-ea"/>
            </a:endParaRPr>
          </a:p>
        </p:txBody>
      </p:sp>
      <p:pic>
        <p:nvPicPr>
          <p:cNvPr id="11" name="图片 10">
            <a:extLst>
              <a:ext uri="{FF2B5EF4-FFF2-40B4-BE49-F238E27FC236}">
                <a16:creationId xmlns:a16="http://schemas.microsoft.com/office/drawing/2014/main" id="{398EF168-9695-46F2-9636-ADC14B29D7F4}"/>
              </a:ext>
            </a:extLst>
          </p:cNvPr>
          <p:cNvPicPr>
            <a:picLocks noChangeAspect="1"/>
          </p:cNvPicPr>
          <p:nvPr/>
        </p:nvPicPr>
        <p:blipFill>
          <a:blip r:embed="rId3"/>
          <a:stretch>
            <a:fillRect/>
          </a:stretch>
        </p:blipFill>
        <p:spPr>
          <a:xfrm>
            <a:off x="5288819" y="4130595"/>
            <a:ext cx="4572000" cy="470917"/>
          </a:xfrm>
          <a:prstGeom prst="rect">
            <a:avLst/>
          </a:prstGeom>
        </p:spPr>
      </p:pic>
      <p:pic>
        <p:nvPicPr>
          <p:cNvPr id="12" name="图片 11">
            <a:extLst>
              <a:ext uri="{FF2B5EF4-FFF2-40B4-BE49-F238E27FC236}">
                <a16:creationId xmlns:a16="http://schemas.microsoft.com/office/drawing/2014/main" id="{8E6015CF-52F8-42BE-8B1E-801A35951FDE}"/>
              </a:ext>
            </a:extLst>
          </p:cNvPr>
          <p:cNvPicPr>
            <a:picLocks noChangeAspect="1"/>
          </p:cNvPicPr>
          <p:nvPr/>
        </p:nvPicPr>
        <p:blipFill>
          <a:blip r:embed="rId4"/>
          <a:stretch>
            <a:fillRect/>
          </a:stretch>
        </p:blipFill>
        <p:spPr>
          <a:xfrm>
            <a:off x="5091127" y="1495848"/>
            <a:ext cx="5725297" cy="1617878"/>
          </a:xfrm>
          <a:prstGeom prst="rect">
            <a:avLst/>
          </a:prstGeom>
        </p:spPr>
      </p:pic>
    </p:spTree>
    <p:extLst>
      <p:ext uri="{BB962C8B-B14F-4D97-AF65-F5344CB8AC3E}">
        <p14:creationId xmlns:p14="http://schemas.microsoft.com/office/powerpoint/2010/main" val="227569634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14346" y="546652"/>
            <a:ext cx="10778656" cy="1592249"/>
          </a:xfrm>
        </p:spPr>
        <p:txBody>
          <a:bodyPr>
            <a:normAutofit/>
          </a:bodyPr>
          <a:lstStyle/>
          <a:p>
            <a:pPr marL="0" indent="0">
              <a:lnSpc>
                <a:spcPct val="150000"/>
              </a:lnSpc>
              <a:buNone/>
            </a:pPr>
            <a:r>
              <a:rPr lang="en-US" altLang="zh-CN" sz="3200" dirty="0">
                <a:latin typeface="华光标题宋_CNKI" panose="02000500000000000000" pitchFamily="2" charset="-122"/>
                <a:ea typeface="华光标题宋_CNKI" panose="02000500000000000000" pitchFamily="2" charset="-122"/>
              </a:rPr>
              <a:t>2</a:t>
            </a:r>
            <a:r>
              <a:rPr lang="zh-CN" altLang="en-US" sz="3200" dirty="0">
                <a:latin typeface="华光标题宋_CNKI" panose="02000500000000000000" pitchFamily="2" charset="-122"/>
                <a:ea typeface="华光标题宋_CNKI" panose="02000500000000000000" pitchFamily="2" charset="-122"/>
              </a:rPr>
              <a:t>、四元代数</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四元素可定义为如下的形式：</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5" name="图片 4">
            <a:extLst>
              <a:ext uri="{FF2B5EF4-FFF2-40B4-BE49-F238E27FC236}">
                <a16:creationId xmlns:a16="http://schemas.microsoft.com/office/drawing/2014/main" id="{7D51C0F3-53EE-4888-9872-FA5DA3711682}"/>
              </a:ext>
            </a:extLst>
          </p:cNvPr>
          <p:cNvPicPr>
            <a:picLocks noChangeAspect="1"/>
          </p:cNvPicPr>
          <p:nvPr/>
        </p:nvPicPr>
        <p:blipFill>
          <a:blip r:embed="rId2"/>
          <a:stretch>
            <a:fillRect/>
          </a:stretch>
        </p:blipFill>
        <p:spPr>
          <a:xfrm>
            <a:off x="1701578" y="2327144"/>
            <a:ext cx="7132321" cy="590985"/>
          </a:xfrm>
          <a:prstGeom prst="rect">
            <a:avLst/>
          </a:prstGeom>
        </p:spPr>
      </p:pic>
      <p:pic>
        <p:nvPicPr>
          <p:cNvPr id="6" name="图片 5">
            <a:extLst>
              <a:ext uri="{FF2B5EF4-FFF2-40B4-BE49-F238E27FC236}">
                <a16:creationId xmlns:a16="http://schemas.microsoft.com/office/drawing/2014/main" id="{BDA092ED-57A6-40D1-A35F-0B8A78D2B7D7}"/>
              </a:ext>
            </a:extLst>
          </p:cNvPr>
          <p:cNvPicPr>
            <a:picLocks noChangeAspect="1"/>
          </p:cNvPicPr>
          <p:nvPr/>
        </p:nvPicPr>
        <p:blipFill>
          <a:blip r:embed="rId3"/>
          <a:stretch>
            <a:fillRect/>
          </a:stretch>
        </p:blipFill>
        <p:spPr>
          <a:xfrm>
            <a:off x="2179029" y="3177043"/>
            <a:ext cx="4285381" cy="503913"/>
          </a:xfrm>
          <a:prstGeom prst="rect">
            <a:avLst/>
          </a:prstGeom>
        </p:spPr>
      </p:pic>
      <p:sp>
        <p:nvSpPr>
          <p:cNvPr id="7" name="内容占位符 2">
            <a:extLst>
              <a:ext uri="{FF2B5EF4-FFF2-40B4-BE49-F238E27FC236}">
                <a16:creationId xmlns:a16="http://schemas.microsoft.com/office/drawing/2014/main" id="{8682A1D8-15D1-45EC-9752-EAD69C5678A0}"/>
              </a:ext>
            </a:extLst>
          </p:cNvPr>
          <p:cNvSpPr txBox="1">
            <a:spLocks/>
          </p:cNvSpPr>
          <p:nvPr/>
        </p:nvSpPr>
        <p:spPr>
          <a:xfrm>
            <a:off x="1467678" y="4097801"/>
            <a:ext cx="7000461" cy="1433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dirty="0">
                <a:latin typeface="华光仿宋_CNKI" panose="02000500000000000000" pitchFamily="2" charset="-122"/>
                <a:ea typeface="华光仿宋_CNKI" panose="02000500000000000000" pitchFamily="2" charset="-122"/>
              </a:rPr>
              <a:t>其中：</a:t>
            </a:r>
            <a:r>
              <a:rPr lang="en-US" altLang="zh-CN" b="1" dirty="0">
                <a:latin typeface="华光仿宋_CNKI" panose="02000500000000000000" pitchFamily="2" charset="-122"/>
                <a:ea typeface="华光仿宋_CNKI" panose="02000500000000000000" pitchFamily="2" charset="-122"/>
              </a:rPr>
              <a:t>u</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x,y,z</a:t>
            </a:r>
            <a:r>
              <a:rPr lang="en-US" altLang="zh-CN" dirty="0">
                <a:latin typeface="华光仿宋_CNKI" panose="02000500000000000000" pitchFamily="2" charset="-122"/>
                <a:ea typeface="华光仿宋_CNKI" panose="02000500000000000000" pitchFamily="2" charset="-122"/>
              </a:rPr>
              <a:t>)</a:t>
            </a:r>
          </a:p>
          <a:p>
            <a:pPr marL="0" indent="0">
              <a:lnSpc>
                <a:spcPct val="150000"/>
              </a:lnSpc>
              <a:buFont typeface="Arial" panose="020B0604020202020204" pitchFamily="34" charset="0"/>
              <a:buNone/>
            </a:pPr>
            <a:r>
              <a:rPr lang="zh-CN" altLang="en-US" dirty="0">
                <a:latin typeface="华光仿宋_CNKI" panose="02000500000000000000" pitchFamily="2" charset="-122"/>
                <a:ea typeface="华光仿宋_CNKI" panose="02000500000000000000" pitchFamily="2" charset="-122"/>
              </a:rPr>
              <a:t>四元组对应的运算如下所示：</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407235863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4300" y="3140435"/>
            <a:ext cx="10778656" cy="841009"/>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进一步分析四元组的乘法运算，可以得到如下的表达式：</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9" name="图片 8">
            <a:extLst>
              <a:ext uri="{FF2B5EF4-FFF2-40B4-BE49-F238E27FC236}">
                <a16:creationId xmlns:a16="http://schemas.microsoft.com/office/drawing/2014/main" id="{08021A40-F2DD-45BB-8A97-4FB57A9DD8D6}"/>
              </a:ext>
            </a:extLst>
          </p:cNvPr>
          <p:cNvPicPr>
            <a:picLocks noChangeAspect="1"/>
          </p:cNvPicPr>
          <p:nvPr/>
        </p:nvPicPr>
        <p:blipFill>
          <a:blip r:embed="rId2"/>
          <a:stretch>
            <a:fillRect/>
          </a:stretch>
        </p:blipFill>
        <p:spPr>
          <a:xfrm>
            <a:off x="1133724" y="655822"/>
            <a:ext cx="10249232" cy="2484613"/>
          </a:xfrm>
          <a:prstGeom prst="rect">
            <a:avLst/>
          </a:prstGeom>
        </p:spPr>
      </p:pic>
      <p:pic>
        <p:nvPicPr>
          <p:cNvPr id="12" name="图片 11">
            <a:extLst>
              <a:ext uri="{FF2B5EF4-FFF2-40B4-BE49-F238E27FC236}">
                <a16:creationId xmlns:a16="http://schemas.microsoft.com/office/drawing/2014/main" id="{D274B74D-8442-4842-AA4B-10EA2338D76A}"/>
              </a:ext>
            </a:extLst>
          </p:cNvPr>
          <p:cNvPicPr>
            <a:picLocks noChangeAspect="1"/>
          </p:cNvPicPr>
          <p:nvPr/>
        </p:nvPicPr>
        <p:blipFill>
          <a:blip r:embed="rId3"/>
          <a:stretch>
            <a:fillRect/>
          </a:stretch>
        </p:blipFill>
        <p:spPr>
          <a:xfrm>
            <a:off x="1253531" y="4019545"/>
            <a:ext cx="7172325" cy="962025"/>
          </a:xfrm>
          <a:prstGeom prst="rect">
            <a:avLst/>
          </a:prstGeom>
        </p:spPr>
      </p:pic>
      <p:pic>
        <p:nvPicPr>
          <p:cNvPr id="13" name="图片 12">
            <a:extLst>
              <a:ext uri="{FF2B5EF4-FFF2-40B4-BE49-F238E27FC236}">
                <a16:creationId xmlns:a16="http://schemas.microsoft.com/office/drawing/2014/main" id="{18ECDEDD-FCC8-4E93-94B5-B40992231390}"/>
              </a:ext>
            </a:extLst>
          </p:cNvPr>
          <p:cNvPicPr>
            <a:picLocks noChangeAspect="1"/>
          </p:cNvPicPr>
          <p:nvPr/>
        </p:nvPicPr>
        <p:blipFill>
          <a:blip r:embed="rId4"/>
          <a:stretch>
            <a:fillRect/>
          </a:stretch>
        </p:blipFill>
        <p:spPr>
          <a:xfrm>
            <a:off x="1386881" y="4860554"/>
            <a:ext cx="7038975" cy="1000125"/>
          </a:xfrm>
          <a:prstGeom prst="rect">
            <a:avLst/>
          </a:prstGeom>
        </p:spPr>
      </p:pic>
    </p:spTree>
    <p:extLst>
      <p:ext uri="{BB962C8B-B14F-4D97-AF65-F5344CB8AC3E}">
        <p14:creationId xmlns:p14="http://schemas.microsoft.com/office/powerpoint/2010/main" val="243492789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3178" y="2905907"/>
            <a:ext cx="7114760" cy="841009"/>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对上述矩阵求转置可得到如下的形式：</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6" name="图片 5">
            <a:extLst>
              <a:ext uri="{FF2B5EF4-FFF2-40B4-BE49-F238E27FC236}">
                <a16:creationId xmlns:a16="http://schemas.microsoft.com/office/drawing/2014/main" id="{B52665A4-D03B-4289-BD7B-6B780E5720B8}"/>
              </a:ext>
            </a:extLst>
          </p:cNvPr>
          <p:cNvPicPr>
            <a:picLocks noChangeAspect="1"/>
          </p:cNvPicPr>
          <p:nvPr/>
        </p:nvPicPr>
        <p:blipFill>
          <a:blip r:embed="rId2"/>
          <a:stretch>
            <a:fillRect/>
          </a:stretch>
        </p:blipFill>
        <p:spPr>
          <a:xfrm>
            <a:off x="2965838" y="320200"/>
            <a:ext cx="5239908" cy="2585707"/>
          </a:xfrm>
          <a:prstGeom prst="rect">
            <a:avLst/>
          </a:prstGeom>
        </p:spPr>
      </p:pic>
      <p:pic>
        <p:nvPicPr>
          <p:cNvPr id="7" name="图片 6">
            <a:extLst>
              <a:ext uri="{FF2B5EF4-FFF2-40B4-BE49-F238E27FC236}">
                <a16:creationId xmlns:a16="http://schemas.microsoft.com/office/drawing/2014/main" id="{D34EFEBF-D67F-404F-8722-5AE3FF1C98C5}"/>
              </a:ext>
            </a:extLst>
          </p:cNvPr>
          <p:cNvPicPr>
            <a:picLocks noChangeAspect="1"/>
          </p:cNvPicPr>
          <p:nvPr/>
        </p:nvPicPr>
        <p:blipFill>
          <a:blip r:embed="rId3"/>
          <a:stretch>
            <a:fillRect/>
          </a:stretch>
        </p:blipFill>
        <p:spPr>
          <a:xfrm>
            <a:off x="1025923" y="3659587"/>
            <a:ext cx="10601325" cy="2809875"/>
          </a:xfrm>
          <a:prstGeom prst="rect">
            <a:avLst/>
          </a:prstGeom>
        </p:spPr>
      </p:pic>
    </p:spTree>
    <p:extLst>
      <p:ext uri="{BB962C8B-B14F-4D97-AF65-F5344CB8AC3E}">
        <p14:creationId xmlns:p14="http://schemas.microsoft.com/office/powerpoint/2010/main" val="280070963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7077" y="696279"/>
            <a:ext cx="10638846" cy="2913614"/>
          </a:xfrm>
        </p:spPr>
        <p:txBody>
          <a:bodyPr>
            <a:normAutofit lnSpcReduction="10000"/>
          </a:bodyPr>
          <a:lstStyle/>
          <a:p>
            <a:pPr marL="0" indent="0">
              <a:lnSpc>
                <a:spcPct val="150000"/>
              </a:lnSpc>
              <a:buNone/>
            </a:pPr>
            <a:r>
              <a:rPr lang="zh-CN" altLang="en-US" sz="3200" dirty="0">
                <a:latin typeface="华光标题宋_CNKI" panose="02000500000000000000" pitchFamily="2" charset="-122"/>
                <a:ea typeface="华光标题宋_CNKI" panose="02000500000000000000" pitchFamily="2" charset="-122"/>
              </a:rPr>
              <a:t>  </a:t>
            </a:r>
            <a:r>
              <a:rPr lang="en-US" altLang="zh-CN" sz="3200" dirty="0">
                <a:latin typeface="华光标题宋_CNKI" panose="02000500000000000000" pitchFamily="2" charset="-122"/>
                <a:ea typeface="华光标题宋_CNKI" panose="02000500000000000000" pitchFamily="2" charset="-122"/>
              </a:rPr>
              <a:t>3.</a:t>
            </a:r>
            <a:r>
              <a:rPr lang="zh-CN" altLang="en-US" sz="3200" dirty="0">
                <a:latin typeface="华光标题宋_CNKI" panose="02000500000000000000" pitchFamily="2" charset="-122"/>
                <a:ea typeface="华光标题宋_CNKI" panose="02000500000000000000" pitchFamily="2" charset="-122"/>
              </a:rPr>
              <a:t>单位四元素及其矩阵变换</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上述的形式表示某个点在空间中的变换。可见，可以将两个四元素的乘积表示成某个点的空间变换。</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如果</a:t>
            </a:r>
            <a:r>
              <a:rPr lang="en-US" altLang="zh-CN" dirty="0" err="1">
                <a:latin typeface="华光仿宋_CNKI" panose="02000500000000000000" pitchFamily="2" charset="-122"/>
                <a:ea typeface="华光仿宋_CNKI" panose="02000500000000000000" pitchFamily="2" charset="-122"/>
              </a:rPr>
              <a:t>i</a:t>
            </a:r>
            <a:r>
              <a:rPr lang="en-US" altLang="zh-CN" dirty="0">
                <a:latin typeface="华光仿宋_CNKI" panose="02000500000000000000" pitchFamily="2" charset="-122"/>
                <a:ea typeface="华光仿宋_CNKI" panose="02000500000000000000" pitchFamily="2" charset="-122"/>
              </a:rPr>
              <a:t>=(1,0,0,0),j=(0,1,0,0),k=(0,0,1,0)</a:t>
            </a:r>
            <a:r>
              <a:rPr lang="zh-CN" altLang="en-US" dirty="0">
                <a:latin typeface="华光仿宋_CNKI" panose="02000500000000000000" pitchFamily="2" charset="-122"/>
                <a:ea typeface="华光仿宋_CNKI" panose="02000500000000000000" pitchFamily="2" charset="-122"/>
              </a:rPr>
              <a:t>，则有如下的结论：</a:t>
            </a:r>
            <a:r>
              <a:rPr lang="en-US" altLang="zh-CN" dirty="0">
                <a:latin typeface="华光仿宋_CNKI" panose="02000500000000000000" pitchFamily="2" charset="-122"/>
                <a:ea typeface="华光仿宋_CNKI" panose="02000500000000000000" pitchFamily="2" charset="-122"/>
              </a:rPr>
              <a:t>  </a:t>
            </a: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2" name="图片 1">
            <a:extLst>
              <a:ext uri="{FF2B5EF4-FFF2-40B4-BE49-F238E27FC236}">
                <a16:creationId xmlns:a16="http://schemas.microsoft.com/office/drawing/2014/main" id="{B4AD4371-D55D-478E-B6F7-9BD0C52E7973}"/>
              </a:ext>
            </a:extLst>
          </p:cNvPr>
          <p:cNvPicPr>
            <a:picLocks noChangeAspect="1"/>
          </p:cNvPicPr>
          <p:nvPr/>
        </p:nvPicPr>
        <p:blipFill>
          <a:blip r:embed="rId2"/>
          <a:stretch>
            <a:fillRect/>
          </a:stretch>
        </p:blipFill>
        <p:spPr>
          <a:xfrm>
            <a:off x="920653" y="3599496"/>
            <a:ext cx="4752975" cy="2562225"/>
          </a:xfrm>
          <a:prstGeom prst="rect">
            <a:avLst/>
          </a:prstGeom>
        </p:spPr>
      </p:pic>
      <p:pic>
        <p:nvPicPr>
          <p:cNvPr id="5" name="图片 4">
            <a:extLst>
              <a:ext uri="{FF2B5EF4-FFF2-40B4-BE49-F238E27FC236}">
                <a16:creationId xmlns:a16="http://schemas.microsoft.com/office/drawing/2014/main" id="{EBA7F30C-13A6-4118-9FB3-CF5C920BE685}"/>
              </a:ext>
            </a:extLst>
          </p:cNvPr>
          <p:cNvPicPr>
            <a:picLocks noChangeAspect="1"/>
          </p:cNvPicPr>
          <p:nvPr/>
        </p:nvPicPr>
        <p:blipFill>
          <a:blip r:embed="rId3"/>
          <a:stretch>
            <a:fillRect/>
          </a:stretch>
        </p:blipFill>
        <p:spPr>
          <a:xfrm>
            <a:off x="4979960" y="3759520"/>
            <a:ext cx="6219825" cy="2619375"/>
          </a:xfrm>
          <a:prstGeom prst="rect">
            <a:avLst/>
          </a:prstGeom>
        </p:spPr>
      </p:pic>
    </p:spTree>
    <p:extLst>
      <p:ext uri="{BB962C8B-B14F-4D97-AF65-F5344CB8AC3E}">
        <p14:creationId xmlns:p14="http://schemas.microsoft.com/office/powerpoint/2010/main" val="401844259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5028" y="370275"/>
            <a:ext cx="10638846" cy="2264133"/>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四元组之间的运算有一系列的性质，可通过相应的数学运算得到。本部分只注重一些重要的结论，以便大家可以直接使用。</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）若给定一个向量</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，将其绕旋转轴</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旋转</a:t>
            </a:r>
            <a:r>
              <a:rPr lang="el-GR" altLang="zh-CN" dirty="0">
                <a:latin typeface="华光仿宋_CNKI" panose="02000500000000000000" pitchFamily="2" charset="-122"/>
                <a:ea typeface="华光仿宋_CNKI" panose="02000500000000000000" pitchFamily="2" charset="-122"/>
              </a:rPr>
              <a:t>θ</a:t>
            </a:r>
            <a:r>
              <a:rPr lang="zh-CN" altLang="en-US" dirty="0">
                <a:latin typeface="华光仿宋_CNKI" panose="02000500000000000000" pitchFamily="2" charset="-122"/>
                <a:ea typeface="华光仿宋_CNKI" panose="02000500000000000000" pitchFamily="2" charset="-122"/>
              </a:rPr>
              <a:t>角</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可表示为：</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6" name="图片 5">
            <a:extLst>
              <a:ext uri="{FF2B5EF4-FFF2-40B4-BE49-F238E27FC236}">
                <a16:creationId xmlns:a16="http://schemas.microsoft.com/office/drawing/2014/main" id="{E9DC807D-5DC1-49C6-BB0C-DEFFB41D4A5F}"/>
              </a:ext>
            </a:extLst>
          </p:cNvPr>
          <p:cNvPicPr>
            <a:picLocks noChangeAspect="1"/>
          </p:cNvPicPr>
          <p:nvPr/>
        </p:nvPicPr>
        <p:blipFill>
          <a:blip r:embed="rId2"/>
          <a:stretch>
            <a:fillRect/>
          </a:stretch>
        </p:blipFill>
        <p:spPr>
          <a:xfrm>
            <a:off x="1351723" y="5152446"/>
            <a:ext cx="4772025" cy="1335279"/>
          </a:xfrm>
          <a:prstGeom prst="rect">
            <a:avLst/>
          </a:prstGeom>
        </p:spPr>
      </p:pic>
      <p:pic>
        <p:nvPicPr>
          <p:cNvPr id="7" name="图片 6">
            <a:extLst>
              <a:ext uri="{FF2B5EF4-FFF2-40B4-BE49-F238E27FC236}">
                <a16:creationId xmlns:a16="http://schemas.microsoft.com/office/drawing/2014/main" id="{6820C872-74F3-4BE2-AF94-22A85FDF7473}"/>
              </a:ext>
            </a:extLst>
          </p:cNvPr>
          <p:cNvPicPr>
            <a:picLocks noChangeAspect="1"/>
          </p:cNvPicPr>
          <p:nvPr/>
        </p:nvPicPr>
        <p:blipFill>
          <a:blip r:embed="rId3"/>
          <a:stretch>
            <a:fillRect/>
          </a:stretch>
        </p:blipFill>
        <p:spPr>
          <a:xfrm>
            <a:off x="1538287" y="2483148"/>
            <a:ext cx="9115425" cy="1990725"/>
          </a:xfrm>
          <a:prstGeom prst="rect">
            <a:avLst/>
          </a:prstGeom>
        </p:spPr>
      </p:pic>
      <p:sp>
        <p:nvSpPr>
          <p:cNvPr id="8" name="内容占位符 2">
            <a:extLst>
              <a:ext uri="{FF2B5EF4-FFF2-40B4-BE49-F238E27FC236}">
                <a16:creationId xmlns:a16="http://schemas.microsoft.com/office/drawing/2014/main" id="{B4862F65-17BC-428A-BC4D-D56793A636E7}"/>
              </a:ext>
            </a:extLst>
          </p:cNvPr>
          <p:cNvSpPr txBox="1">
            <a:spLocks/>
          </p:cNvSpPr>
          <p:nvPr/>
        </p:nvSpPr>
        <p:spPr>
          <a:xfrm>
            <a:off x="1757240" y="4473873"/>
            <a:ext cx="3681452" cy="8825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dirty="0">
                <a:latin typeface="华光仿宋_CNKI" panose="02000500000000000000" pitchFamily="2" charset="-122"/>
                <a:ea typeface="华光仿宋_CNKI" panose="02000500000000000000" pitchFamily="2" charset="-122"/>
              </a:rPr>
              <a:t>其对应的四元组为：</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4884117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7321" y="990477"/>
            <a:ext cx="10638846" cy="973495"/>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可进一步计算得到：</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2" name="图片 1">
            <a:extLst>
              <a:ext uri="{FF2B5EF4-FFF2-40B4-BE49-F238E27FC236}">
                <a16:creationId xmlns:a16="http://schemas.microsoft.com/office/drawing/2014/main" id="{82B3D1F8-EF94-42E1-BF58-6DAA61F1CEF1}"/>
              </a:ext>
            </a:extLst>
          </p:cNvPr>
          <p:cNvPicPr>
            <a:picLocks noChangeAspect="1"/>
          </p:cNvPicPr>
          <p:nvPr/>
        </p:nvPicPr>
        <p:blipFill>
          <a:blip r:embed="rId2"/>
          <a:stretch>
            <a:fillRect/>
          </a:stretch>
        </p:blipFill>
        <p:spPr>
          <a:xfrm>
            <a:off x="940904" y="1743862"/>
            <a:ext cx="9960334" cy="2447925"/>
          </a:xfrm>
          <a:prstGeom prst="rect">
            <a:avLst/>
          </a:prstGeom>
        </p:spPr>
      </p:pic>
      <p:sp>
        <p:nvSpPr>
          <p:cNvPr id="9" name="内容占位符 2">
            <a:extLst>
              <a:ext uri="{FF2B5EF4-FFF2-40B4-BE49-F238E27FC236}">
                <a16:creationId xmlns:a16="http://schemas.microsoft.com/office/drawing/2014/main" id="{D62121DB-85E6-4A50-9358-A9E71FAF8D96}"/>
              </a:ext>
            </a:extLst>
          </p:cNvPr>
          <p:cNvSpPr txBox="1">
            <a:spLocks/>
          </p:cNvSpPr>
          <p:nvPr/>
        </p:nvSpPr>
        <p:spPr>
          <a:xfrm>
            <a:off x="940904" y="4538085"/>
            <a:ext cx="10638846" cy="1608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q=</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v,w</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=(q1,q2,q3,q4)</a:t>
            </a:r>
            <a:r>
              <a:rPr lang="zh-CN" altLang="en-US" dirty="0">
                <a:latin typeface="华光仿宋_CNKI" panose="02000500000000000000" pitchFamily="2" charset="-122"/>
                <a:ea typeface="华光仿宋_CNKI" panose="02000500000000000000" pitchFamily="2" charset="-122"/>
              </a:rPr>
              <a:t>。如果将上式与变换矩阵对应，可计算出相互之间的关系。</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44851212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4298" y="592787"/>
            <a:ext cx="10638846" cy="4193773"/>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从前面的结论可以看出，四元组可用于表示矢量的旋转，在已知起始旋转矩阵和终止旋转矩阵的情况下，还可得到其内插的旋转矩阵。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）设</a:t>
            </a:r>
            <a:r>
              <a:rPr lang="en-US" altLang="zh-CN" dirty="0" err="1">
                <a:latin typeface="华光仿宋_CNKI" panose="02000500000000000000" pitchFamily="2" charset="-122"/>
                <a:ea typeface="华光仿宋_CNKI" panose="02000500000000000000" pitchFamily="2" charset="-122"/>
              </a:rPr>
              <a:t>a,b</a:t>
            </a:r>
            <a:r>
              <a:rPr lang="zh-CN" altLang="en-US" dirty="0">
                <a:latin typeface="华光仿宋_CNKI" panose="02000500000000000000" pitchFamily="2" charset="-122"/>
                <a:ea typeface="华光仿宋_CNKI" panose="02000500000000000000" pitchFamily="2" charset="-122"/>
              </a:rPr>
              <a:t>是四元组，显然</a:t>
            </a:r>
            <a:r>
              <a:rPr lang="en-US" altLang="zh-CN" dirty="0" err="1">
                <a:latin typeface="华光仿宋_CNKI" panose="02000500000000000000" pitchFamily="2" charset="-122"/>
                <a:ea typeface="华光仿宋_CNKI" panose="02000500000000000000" pitchFamily="2" charset="-122"/>
              </a:rPr>
              <a:t>a,b</a:t>
            </a:r>
            <a:r>
              <a:rPr lang="zh-CN" altLang="en-US" dirty="0">
                <a:latin typeface="华光仿宋_CNKI" panose="02000500000000000000" pitchFamily="2" charset="-122"/>
                <a:ea typeface="华光仿宋_CNKI" panose="02000500000000000000" pitchFamily="2" charset="-122"/>
              </a:rPr>
              <a:t>可以用于表示空间变换，如果希望得到</a:t>
            </a:r>
            <a:r>
              <a:rPr lang="en-US" altLang="zh-CN" dirty="0" err="1">
                <a:latin typeface="华光仿宋_CNKI" panose="02000500000000000000" pitchFamily="2" charset="-122"/>
                <a:ea typeface="华光仿宋_CNKI" panose="02000500000000000000" pitchFamily="2" charset="-122"/>
              </a:rPr>
              <a:t>a,b</a:t>
            </a:r>
            <a:r>
              <a:rPr lang="zh-CN" altLang="en-US" dirty="0">
                <a:latin typeface="华光仿宋_CNKI" panose="02000500000000000000" pitchFamily="2" charset="-122"/>
                <a:ea typeface="华光仿宋_CNKI" panose="02000500000000000000" pitchFamily="2" charset="-122"/>
              </a:rPr>
              <a:t>之间的插值，也就是得到在某时间内从</a:t>
            </a:r>
            <a:r>
              <a:rPr lang="en-US" altLang="zh-CN" dirty="0">
                <a:latin typeface="华光仿宋_CNKI" panose="02000500000000000000" pitchFamily="2" charset="-122"/>
                <a:ea typeface="华光仿宋_CNKI" panose="02000500000000000000" pitchFamily="2" charset="-122"/>
              </a:rPr>
              <a:t>a</a:t>
            </a:r>
            <a:r>
              <a:rPr lang="zh-CN" altLang="en-US" dirty="0">
                <a:latin typeface="华光仿宋_CNKI" panose="02000500000000000000" pitchFamily="2" charset="-122"/>
                <a:ea typeface="华光仿宋_CNKI" panose="02000500000000000000" pitchFamily="2" charset="-122"/>
              </a:rPr>
              <a:t>旋转到</a:t>
            </a:r>
            <a:r>
              <a:rPr lang="en-US" altLang="zh-CN" dirty="0">
                <a:latin typeface="华光仿宋_CNKI" panose="02000500000000000000" pitchFamily="2" charset="-122"/>
                <a:ea typeface="华光仿宋_CNKI" panose="02000500000000000000" pitchFamily="2" charset="-122"/>
              </a:rPr>
              <a:t>b</a:t>
            </a:r>
            <a:r>
              <a:rPr lang="zh-CN" altLang="en-US" dirty="0">
                <a:latin typeface="华光仿宋_CNKI" panose="02000500000000000000" pitchFamily="2" charset="-122"/>
                <a:ea typeface="华光仿宋_CNKI" panose="02000500000000000000" pitchFamily="2" charset="-122"/>
              </a:rPr>
              <a:t>，则在其中某个时刻的旋转四元组可用下面的公式计算求得：</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5" name="图片 4">
            <a:extLst>
              <a:ext uri="{FF2B5EF4-FFF2-40B4-BE49-F238E27FC236}">
                <a16:creationId xmlns:a16="http://schemas.microsoft.com/office/drawing/2014/main" id="{DB4D09DD-6A7E-4761-82EE-B60BCC3DDA8F}"/>
              </a:ext>
            </a:extLst>
          </p:cNvPr>
          <p:cNvPicPr>
            <a:picLocks noChangeAspect="1"/>
          </p:cNvPicPr>
          <p:nvPr/>
        </p:nvPicPr>
        <p:blipFill>
          <a:blip r:embed="rId2"/>
          <a:stretch>
            <a:fillRect/>
          </a:stretch>
        </p:blipFill>
        <p:spPr>
          <a:xfrm>
            <a:off x="469126" y="4940576"/>
            <a:ext cx="8886825" cy="1247775"/>
          </a:xfrm>
          <a:prstGeom prst="rect">
            <a:avLst/>
          </a:prstGeom>
        </p:spPr>
      </p:pic>
      <p:pic>
        <p:nvPicPr>
          <p:cNvPr id="6" name="图片 5">
            <a:extLst>
              <a:ext uri="{FF2B5EF4-FFF2-40B4-BE49-F238E27FC236}">
                <a16:creationId xmlns:a16="http://schemas.microsoft.com/office/drawing/2014/main" id="{2AEE2988-BBB8-4891-A0FC-325BE39BD6BB}"/>
              </a:ext>
            </a:extLst>
          </p:cNvPr>
          <p:cNvPicPr>
            <a:picLocks noChangeAspect="1"/>
          </p:cNvPicPr>
          <p:nvPr/>
        </p:nvPicPr>
        <p:blipFill>
          <a:blip r:embed="rId3"/>
          <a:stretch>
            <a:fillRect/>
          </a:stretch>
        </p:blipFill>
        <p:spPr>
          <a:xfrm>
            <a:off x="9055874" y="5277389"/>
            <a:ext cx="2667000" cy="438150"/>
          </a:xfrm>
          <a:prstGeom prst="rect">
            <a:avLst/>
          </a:prstGeom>
        </p:spPr>
      </p:pic>
    </p:spTree>
    <p:extLst>
      <p:ext uri="{BB962C8B-B14F-4D97-AF65-F5344CB8AC3E}">
        <p14:creationId xmlns:p14="http://schemas.microsoft.com/office/powerpoint/2010/main" val="330359866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9126" y="546652"/>
            <a:ext cx="10638846" cy="2363525"/>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通过上面的表达式可以计算出某时刻对应的旋转矩阵。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）单位四元组</a:t>
            </a:r>
            <a:r>
              <a:rPr lang="en-US" altLang="zh-CN" dirty="0">
                <a:latin typeface="华光仿宋_CNKI" panose="02000500000000000000" pitchFamily="2" charset="-122"/>
                <a:ea typeface="华光仿宋_CNKI" panose="02000500000000000000" pitchFamily="2" charset="-122"/>
              </a:rPr>
              <a:t>q</a:t>
            </a:r>
            <a:r>
              <a:rPr lang="zh-CN" altLang="en-US" dirty="0">
                <a:latin typeface="华光仿宋_CNKI" panose="02000500000000000000" pitchFamily="2" charset="-122"/>
                <a:ea typeface="华光仿宋_CNKI" panose="02000500000000000000" pitchFamily="2" charset="-122"/>
              </a:rPr>
              <a:t>与其极坐标相反的单位四元组</a:t>
            </a:r>
            <a:r>
              <a:rPr lang="en-US" altLang="zh-CN" dirty="0">
                <a:latin typeface="华光仿宋_CNKI" panose="02000500000000000000" pitchFamily="2" charset="-122"/>
                <a:ea typeface="华光仿宋_CNKI" panose="02000500000000000000" pitchFamily="2" charset="-122"/>
              </a:rPr>
              <a:t>-q</a:t>
            </a:r>
            <a:r>
              <a:rPr lang="zh-CN" altLang="en-US" dirty="0">
                <a:latin typeface="华光仿宋_CNKI" panose="02000500000000000000" pitchFamily="2" charset="-122"/>
                <a:ea typeface="华光仿宋_CNKI" panose="02000500000000000000" pitchFamily="2" charset="-122"/>
              </a:rPr>
              <a:t>表示相同的方向，这样下面图中表示的旋转具有相同的结果。</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pic>
        <p:nvPicPr>
          <p:cNvPr id="2" name="图片 1">
            <a:extLst>
              <a:ext uri="{FF2B5EF4-FFF2-40B4-BE49-F238E27FC236}">
                <a16:creationId xmlns:a16="http://schemas.microsoft.com/office/drawing/2014/main" id="{43A639AB-32D3-4F7D-9F2E-A88F8725521B}"/>
              </a:ext>
            </a:extLst>
          </p:cNvPr>
          <p:cNvPicPr>
            <a:picLocks noChangeAspect="1"/>
          </p:cNvPicPr>
          <p:nvPr/>
        </p:nvPicPr>
        <p:blipFill>
          <a:blip r:embed="rId2"/>
          <a:stretch>
            <a:fillRect/>
          </a:stretch>
        </p:blipFill>
        <p:spPr>
          <a:xfrm>
            <a:off x="2146853" y="2838617"/>
            <a:ext cx="6146358" cy="3472732"/>
          </a:xfrm>
          <a:prstGeom prst="rect">
            <a:avLst/>
          </a:prstGeom>
        </p:spPr>
      </p:pic>
    </p:spTree>
    <p:extLst>
      <p:ext uri="{BB962C8B-B14F-4D97-AF65-F5344CB8AC3E}">
        <p14:creationId xmlns:p14="http://schemas.microsoft.com/office/powerpoint/2010/main" val="107738345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5029" y="848802"/>
            <a:ext cx="10638846" cy="152863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因此为了能够沿最短的角度进行旋转，则需要判断那一段弧更小，然后进行相应的内插计算。</a:t>
            </a:r>
            <a:endParaRPr lang="en-US" altLang="zh-CN" dirty="0">
              <a:latin typeface="华光仿宋_CNKI" panose="02000500000000000000" pitchFamily="2" charset="-122"/>
              <a:ea typeface="华光仿宋_CNKI" panose="02000500000000000000" pitchFamily="2" charset="-122"/>
            </a:endParaRPr>
          </a:p>
        </p:txBody>
      </p:sp>
      <p:sp>
        <p:nvSpPr>
          <p:cNvPr id="4" name="标题 1"/>
          <p:cNvSpPr txBox="1">
            <a:spLocks/>
          </p:cNvSpPr>
          <p:nvPr/>
        </p:nvSpPr>
        <p:spPr>
          <a:xfrm>
            <a:off x="1" y="0"/>
            <a:ext cx="1351722"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a:solidFill>
                  <a:srgbClr val="0070C0"/>
                </a:solidFill>
                <a:latin typeface="华文楷体" panose="02010600040101010101" pitchFamily="2" charset="-122"/>
                <a:ea typeface="华文楷体" panose="02010600040101010101" pitchFamily="2" charset="-122"/>
              </a:rPr>
              <a:t>四元素</a:t>
            </a:r>
          </a:p>
        </p:txBody>
      </p:sp>
    </p:spTree>
    <p:extLst>
      <p:ext uri="{BB962C8B-B14F-4D97-AF65-F5344CB8AC3E}">
        <p14:creationId xmlns:p14="http://schemas.microsoft.com/office/powerpoint/2010/main" val="284413298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14568" y="1186096"/>
            <a:ext cx="10562864" cy="5528781"/>
          </a:xfrm>
        </p:spPr>
        <p:txBody>
          <a:bodyPr>
            <a:normAutofit/>
          </a:bodyPr>
          <a:lstStyle/>
          <a:p>
            <a:pPr marL="0" indent="0">
              <a:lnSpc>
                <a:spcPct val="150000"/>
              </a:lnSpc>
              <a:buNone/>
            </a:pPr>
            <a:r>
              <a:rPr lang="en-US" altLang="zh-CN" sz="3200" b="1" dirty="0">
                <a:solidFill>
                  <a:srgbClr val="0070C0"/>
                </a:solidFill>
                <a:latin typeface="黑体" panose="02010609060101010101" pitchFamily="49" charset="-122"/>
                <a:ea typeface="黑体" panose="02010609060101010101" pitchFamily="49" charset="-122"/>
              </a:rPr>
              <a:t>  1.</a:t>
            </a:r>
            <a:r>
              <a:rPr lang="zh-CN" altLang="en-US" sz="3200" b="1" dirty="0">
                <a:solidFill>
                  <a:srgbClr val="0070C0"/>
                </a:solidFill>
                <a:latin typeface="黑体" panose="02010609060101010101" pitchFamily="49" charset="-122"/>
                <a:ea typeface="黑体" panose="02010609060101010101" pitchFamily="49" charset="-122"/>
              </a:rPr>
              <a:t>矢量</a:t>
            </a:r>
            <a:endParaRPr lang="en-US" altLang="zh-CN" sz="3200" b="1" dirty="0">
              <a:solidFill>
                <a:srgbClr val="0070C0"/>
              </a:solidFill>
              <a:latin typeface="黑体" panose="02010609060101010101" pitchFamily="49" charset="-122"/>
              <a:ea typeface="黑体" panose="02010609060101010101" pitchFamily="49" charset="-122"/>
            </a:endParaRPr>
          </a:p>
          <a:p>
            <a:pPr marL="0" indent="0">
              <a:lnSpc>
                <a:spcPct val="150000"/>
              </a:lnSpc>
              <a:buNone/>
            </a:pPr>
            <a:r>
              <a:rPr lang="en-US" altLang="zh-CN" dirty="0"/>
              <a:t>      </a:t>
            </a:r>
            <a:r>
              <a:rPr lang="zh-CN" altLang="en-US" sz="2600" dirty="0">
                <a:latin typeface="华光仿宋_CNKI" panose="02000500000000000000" pitchFamily="2" charset="-122"/>
                <a:ea typeface="华光仿宋_CNKI" panose="02000500000000000000" pitchFamily="2" charset="-122"/>
              </a:rPr>
              <a:t>在</a:t>
            </a:r>
            <a:r>
              <a:rPr lang="en-US" altLang="zh-CN" sz="2600" dirty="0">
                <a:latin typeface="华光仿宋_CNKI" panose="02000500000000000000" pitchFamily="2" charset="-122"/>
                <a:ea typeface="华光仿宋_CNKI" panose="02000500000000000000" pitchFamily="2" charset="-122"/>
              </a:rPr>
              <a:t>DirectX</a:t>
            </a:r>
            <a:r>
              <a:rPr lang="zh-CN" altLang="en-US" sz="2600" dirty="0">
                <a:latin typeface="华光仿宋_CNKI" panose="02000500000000000000" pitchFamily="2" charset="-122"/>
                <a:ea typeface="华光仿宋_CNKI" panose="02000500000000000000" pitchFamily="2" charset="-122"/>
              </a:rPr>
              <a:t>的</a:t>
            </a:r>
            <a:r>
              <a:rPr lang="en-US" altLang="zh-CN" sz="2600" dirty="0" err="1">
                <a:latin typeface="华光仿宋_CNKI" panose="02000500000000000000" pitchFamily="2" charset="-122"/>
                <a:ea typeface="华光仿宋_CNKI" panose="02000500000000000000" pitchFamily="2" charset="-122"/>
              </a:rPr>
              <a:t>DirectXMath</a:t>
            </a:r>
            <a:r>
              <a:rPr lang="zh-CN" altLang="en-US" sz="2600" dirty="0">
                <a:latin typeface="华光仿宋_CNKI" panose="02000500000000000000" pitchFamily="2" charset="-122"/>
                <a:ea typeface="华光仿宋_CNKI" panose="02000500000000000000" pitchFamily="2" charset="-122"/>
              </a:rPr>
              <a:t>库对矢量，矩阵变换，四元素等有关的数学运算。可通过添加下面的头文件实现对相关变量和函数的调用。</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#include&lt;DirectXMath.h&gt;</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此外，对于</a:t>
            </a:r>
            <a:r>
              <a:rPr lang="en-US" altLang="zh-CN" sz="2600" dirty="0">
                <a:latin typeface="华光仿宋_CNKI" panose="02000500000000000000" pitchFamily="2" charset="-122"/>
                <a:ea typeface="华光仿宋_CNKI" panose="02000500000000000000" pitchFamily="2" charset="-122"/>
              </a:rPr>
              <a:t>X86</a:t>
            </a:r>
            <a:r>
              <a:rPr lang="zh-CN" altLang="en-US" sz="2600" dirty="0">
                <a:latin typeface="华光仿宋_CNKI" panose="02000500000000000000" pitchFamily="2" charset="-122"/>
                <a:ea typeface="华光仿宋_CNKI" panose="02000500000000000000" pitchFamily="2" charset="-122"/>
              </a:rPr>
              <a:t>平台，需要通过工程属性</a:t>
            </a:r>
            <a:r>
              <a:rPr lang="en-US" altLang="zh-CN" sz="2600" dirty="0">
                <a:latin typeface="华光仿宋_CNKI" panose="02000500000000000000" pitchFamily="2" charset="-122"/>
                <a:ea typeface="华光仿宋_CNKI" panose="02000500000000000000" pitchFamily="2" charset="-122"/>
              </a:rPr>
              <a:t>-&gt;C/C++-&gt;</a:t>
            </a:r>
            <a:r>
              <a:rPr lang="zh-CN" altLang="en-US" sz="2600" dirty="0">
                <a:latin typeface="华光仿宋_CNKI" panose="02000500000000000000" pitchFamily="2" charset="-122"/>
                <a:ea typeface="华光仿宋_CNKI" panose="02000500000000000000" pitchFamily="2" charset="-122"/>
              </a:rPr>
              <a:t>代码生成</a:t>
            </a:r>
            <a:r>
              <a:rPr lang="en-US" altLang="zh-CN" sz="2600" dirty="0">
                <a:latin typeface="华光仿宋_CNKI" panose="02000500000000000000" pitchFamily="2" charset="-122"/>
                <a:ea typeface="华光仿宋_CNKI" panose="02000500000000000000" pitchFamily="2" charset="-122"/>
              </a:rPr>
              <a:t>-&gt;</a:t>
            </a:r>
            <a:r>
              <a:rPr lang="zh-CN" altLang="en-US" sz="2600" dirty="0">
                <a:latin typeface="华光仿宋_CNKI" panose="02000500000000000000" pitchFamily="2" charset="-122"/>
                <a:ea typeface="华光仿宋_CNKI" panose="02000500000000000000" pitchFamily="2" charset="-122"/>
              </a:rPr>
              <a:t>启动增强指令集，将其设置为</a:t>
            </a:r>
            <a:r>
              <a:rPr lang="en-US" altLang="zh-CN" sz="2600" dirty="0">
                <a:latin typeface="华光仿宋_CNKI" panose="02000500000000000000" pitchFamily="2" charset="-122"/>
                <a:ea typeface="华光仿宋_CNKI" panose="02000500000000000000" pitchFamily="2" charset="-122"/>
              </a:rPr>
              <a:t>SSE2, </a:t>
            </a:r>
            <a:r>
              <a:rPr lang="zh-CN" altLang="en-US" sz="2600" dirty="0">
                <a:latin typeface="华光仿宋_CNKI" panose="02000500000000000000" pitchFamily="2" charset="-122"/>
                <a:ea typeface="华光仿宋_CNKI" panose="02000500000000000000" pitchFamily="2" charset="-122"/>
              </a:rPr>
              <a:t>并且将其浮点模型设置为快速，这样才能较好的使用相应的函数库。对于</a:t>
            </a:r>
            <a:r>
              <a:rPr lang="en-US" altLang="zh-CN" sz="2600" dirty="0">
                <a:latin typeface="华光仿宋_CNKI" panose="02000500000000000000" pitchFamily="2" charset="-122"/>
                <a:ea typeface="华光仿宋_CNKI" panose="02000500000000000000" pitchFamily="2" charset="-122"/>
              </a:rPr>
              <a:t>X64</a:t>
            </a:r>
            <a:r>
              <a:rPr lang="zh-CN" altLang="en-US" sz="2600" dirty="0">
                <a:latin typeface="华光仿宋_CNKI" panose="02000500000000000000" pitchFamily="2" charset="-122"/>
                <a:ea typeface="华光仿宋_CNKI" panose="02000500000000000000" pitchFamily="2" charset="-122"/>
              </a:rPr>
              <a:t>平台则无须进行上述设置，因为</a:t>
            </a:r>
            <a:r>
              <a:rPr lang="en-US" altLang="zh-CN" sz="2600" dirty="0">
                <a:latin typeface="华光仿宋_CNKI" panose="02000500000000000000" pitchFamily="2" charset="-122"/>
                <a:ea typeface="华光仿宋_CNKI" panose="02000500000000000000" pitchFamily="2" charset="-122"/>
              </a:rPr>
              <a:t>X64</a:t>
            </a:r>
            <a:r>
              <a:rPr lang="zh-CN" altLang="en-US" sz="2600" dirty="0">
                <a:latin typeface="华光仿宋_CNKI" panose="02000500000000000000" pitchFamily="2" charset="-122"/>
                <a:ea typeface="华光仿宋_CNKI" panose="02000500000000000000" pitchFamily="2" charset="-122"/>
              </a:rPr>
              <a:t>可以直接进行上述的运算。</a:t>
            </a:r>
          </a:p>
        </p:txBody>
      </p:sp>
      <p:sp>
        <p:nvSpPr>
          <p:cNvPr id="4" name="标题 1"/>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
        <p:nvSpPr>
          <p:cNvPr id="5" name="文本框 4">
            <a:extLst>
              <a:ext uri="{FF2B5EF4-FFF2-40B4-BE49-F238E27FC236}">
                <a16:creationId xmlns:a16="http://schemas.microsoft.com/office/drawing/2014/main" id="{1F102D71-3DA3-DDCE-FC4E-F2819C9BBA8D}"/>
              </a:ext>
            </a:extLst>
          </p:cNvPr>
          <p:cNvSpPr txBox="1"/>
          <p:nvPr/>
        </p:nvSpPr>
        <p:spPr>
          <a:xfrm>
            <a:off x="1870544" y="0"/>
            <a:ext cx="8680836" cy="1421928"/>
          </a:xfrm>
          <a:prstGeom prst="rect">
            <a:avLst/>
          </a:prstGeom>
        </p:spPr>
        <p:txBody>
          <a:bodyPr vert="horz" lIns="91440" tIns="45720" rIns="91440" bIns="45720" rtlCol="0" anchor="ctr">
            <a:normAutofit/>
          </a:bodyPr>
          <a:lstStyle>
            <a:defPPr>
              <a:defRPr lang="zh-CN"/>
            </a:defPPr>
            <a:lvl1pPr algn="ctr">
              <a:lnSpc>
                <a:spcPct val="90000"/>
              </a:lnSpc>
              <a:spcBef>
                <a:spcPct val="0"/>
              </a:spcBef>
              <a:buNone/>
              <a:defRPr sz="4800" b="1">
                <a:solidFill>
                  <a:srgbClr val="FF0000"/>
                </a:solidFill>
                <a:latin typeface="黑体" panose="02010609060101010101" pitchFamily="49" charset="-122"/>
                <a:ea typeface="黑体" panose="02010609060101010101" pitchFamily="49" charset="-122"/>
                <a:cs typeface="+mj-cs"/>
              </a:defRPr>
            </a:lvl1pPr>
          </a:lstStyle>
          <a:p>
            <a:r>
              <a:rPr lang="en-US" altLang="zh-CN" dirty="0" err="1"/>
              <a:t>DirectXMath</a:t>
            </a:r>
            <a:r>
              <a:rPr lang="zh-CN" altLang="en-US" dirty="0"/>
              <a:t>库介绍</a:t>
            </a:r>
          </a:p>
        </p:txBody>
      </p:sp>
    </p:spTree>
    <p:extLst>
      <p:ext uri="{BB962C8B-B14F-4D97-AF65-F5344CB8AC3E}">
        <p14:creationId xmlns:p14="http://schemas.microsoft.com/office/powerpoint/2010/main" val="329301490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740780" y="532435"/>
            <a:ext cx="10489195" cy="6149352"/>
          </a:xfrm>
          <a:prstGeom prst="rect">
            <a:avLst/>
          </a:prstGeom>
        </p:spPr>
      </p:pic>
      <p:sp>
        <p:nvSpPr>
          <p:cNvPr id="2" name="标题 1">
            <a:extLst>
              <a:ext uri="{FF2B5EF4-FFF2-40B4-BE49-F238E27FC236}">
                <a16:creationId xmlns:a16="http://schemas.microsoft.com/office/drawing/2014/main" id="{E7C31967-2D28-3E5A-41ED-5DDE5212ABDE}"/>
              </a:ext>
            </a:extLst>
          </p:cNvPr>
          <p:cNvSpPr txBox="1">
            <a:spLocks/>
          </p:cNvSpPr>
          <p:nvPr/>
        </p:nvSpPr>
        <p:spPr>
          <a:xfrm>
            <a:off x="0" y="55659"/>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421692940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6639" y="1075124"/>
            <a:ext cx="10515600" cy="4707751"/>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a:latin typeface="华光标题宋_CNKI" panose="02000500000000000000" pitchFamily="2" charset="-122"/>
                <a:ea typeface="华光标题宋_CNKI" panose="02000500000000000000" pitchFamily="2" charset="-122"/>
              </a:rPr>
              <a:t>1.1  </a:t>
            </a:r>
            <a:r>
              <a:rPr lang="zh-CN" altLang="en-US" dirty="0">
                <a:latin typeface="华光标题宋_CNKI" panose="02000500000000000000" pitchFamily="2" charset="-122"/>
                <a:ea typeface="华光标题宋_CNKI" panose="02000500000000000000" pitchFamily="2" charset="-122"/>
              </a:rPr>
              <a:t>矢量的类型</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DirectX 12</a:t>
            </a:r>
            <a:r>
              <a:rPr lang="zh-CN" altLang="en-US" dirty="0">
                <a:latin typeface="华光仿宋_CNKI" panose="02000500000000000000" pitchFamily="2" charset="-122"/>
                <a:ea typeface="华光仿宋_CNKI" panose="02000500000000000000" pitchFamily="2" charset="-122"/>
              </a:rPr>
              <a:t>中，如果希望能够充分运用</a:t>
            </a:r>
            <a:r>
              <a:rPr lang="en-US" altLang="zh-CN" dirty="0">
                <a:latin typeface="华光仿宋_CNKI" panose="02000500000000000000" pitchFamily="2" charset="-122"/>
                <a:ea typeface="华光仿宋_CNKI" panose="02000500000000000000" pitchFamily="2" charset="-122"/>
              </a:rPr>
              <a:t>DirectX</a:t>
            </a:r>
            <a:r>
              <a:rPr lang="zh-CN" altLang="en-US" dirty="0">
                <a:latin typeface="华光仿宋_CNKI" panose="02000500000000000000" pitchFamily="2" charset="-122"/>
                <a:ea typeface="华光仿宋_CNKI" panose="02000500000000000000" pitchFamily="2" charset="-122"/>
              </a:rPr>
              <a:t>提供的硬件计算能力，建议将矢量的类型设置为：</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因为其映射到</a:t>
            </a:r>
            <a:r>
              <a:rPr lang="en-US" altLang="zh-CN" dirty="0">
                <a:latin typeface="华光仿宋_CNKI" panose="02000500000000000000" pitchFamily="2" charset="-122"/>
                <a:ea typeface="华光仿宋_CNKI" panose="02000500000000000000" pitchFamily="2" charset="-122"/>
              </a:rPr>
              <a:t>SIMD</a:t>
            </a:r>
            <a:r>
              <a:rPr lang="zh-CN" altLang="en-US" dirty="0">
                <a:latin typeface="华光仿宋_CNKI" panose="02000500000000000000" pitchFamily="2" charset="-122"/>
                <a:ea typeface="华光仿宋_CNKI" panose="02000500000000000000" pitchFamily="2" charset="-122"/>
              </a:rPr>
              <a:t>的</a:t>
            </a:r>
            <a:r>
              <a:rPr lang="en-US" altLang="zh-CN" dirty="0">
                <a:latin typeface="华光仿宋_CNKI" panose="02000500000000000000" pitchFamily="2" charset="-122"/>
                <a:ea typeface="华光仿宋_CNKI" panose="02000500000000000000" pitchFamily="2" charset="-122"/>
              </a:rPr>
              <a:t>128</a:t>
            </a:r>
            <a:r>
              <a:rPr lang="zh-CN" altLang="en-US" dirty="0">
                <a:latin typeface="华光仿宋_CNKI" panose="02000500000000000000" pitchFamily="2" charset="-122"/>
                <a:ea typeface="华光仿宋_CNKI" panose="02000500000000000000" pitchFamily="2" charset="-122"/>
              </a:rPr>
              <a:t>位寄存器。</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XMVECTOR</a:t>
            </a:r>
            <a:r>
              <a:rPr lang="zh-CN" altLang="en-US" dirty="0">
                <a:latin typeface="华光仿宋_CNKI" panose="02000500000000000000" pitchFamily="2" charset="-122"/>
                <a:ea typeface="华光仿宋_CNKI" panose="02000500000000000000" pitchFamily="2" charset="-122"/>
              </a:rPr>
              <a:t>的初始定义为</a:t>
            </a:r>
            <a:r>
              <a:rPr lang="en-US" altLang="zh-CN" dirty="0">
                <a:latin typeface="华光仿宋_CNKI" panose="02000500000000000000" pitchFamily="2" charset="-122"/>
                <a:ea typeface="华光仿宋_CNKI" panose="02000500000000000000" pitchFamily="2" charset="-122"/>
              </a:rPr>
              <a:t>__m128,</a:t>
            </a:r>
            <a:r>
              <a:rPr lang="zh-CN" altLang="en-US" dirty="0">
                <a:latin typeface="华光仿宋_CNKI" panose="02000500000000000000" pitchFamily="2" charset="-122"/>
                <a:ea typeface="华光仿宋_CNKI" panose="02000500000000000000" pitchFamily="2" charset="-122"/>
              </a:rPr>
              <a:t>而</a:t>
            </a:r>
            <a:r>
              <a:rPr lang="en-US" altLang="zh-CN" dirty="0">
                <a:latin typeface="华光仿宋_CNKI" panose="02000500000000000000" pitchFamily="2" charset="-122"/>
                <a:ea typeface="华光仿宋_CNKI" panose="02000500000000000000" pitchFamily="2" charset="-122"/>
              </a:rPr>
              <a:t>__m128</a:t>
            </a:r>
            <a:r>
              <a:rPr lang="zh-CN" altLang="en-US" dirty="0">
                <a:latin typeface="华光仿宋_CNKI" panose="02000500000000000000" pitchFamily="2" charset="-122"/>
                <a:ea typeface="华光仿宋_CNKI" panose="02000500000000000000" pitchFamily="2" charset="-122"/>
              </a:rPr>
              <a:t>是一个共用体，其定义如下。从该定义可以大致了解其存储结构。</a:t>
            </a:r>
          </a:p>
        </p:txBody>
      </p:sp>
      <p:sp>
        <p:nvSpPr>
          <p:cNvPr id="2" name="标题 1">
            <a:extLst>
              <a:ext uri="{FF2B5EF4-FFF2-40B4-BE49-F238E27FC236}">
                <a16:creationId xmlns:a16="http://schemas.microsoft.com/office/drawing/2014/main" id="{43961C55-0570-44C0-B671-C38B9999E868}"/>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108002883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7B976BE-3850-4D80-8205-79CB5FDCD6AA}"/>
              </a:ext>
            </a:extLst>
          </p:cNvPr>
          <p:cNvSpPr txBox="1"/>
          <p:nvPr/>
        </p:nvSpPr>
        <p:spPr>
          <a:xfrm>
            <a:off x="1171161" y="769313"/>
            <a:ext cx="9849678" cy="5117940"/>
          </a:xfrm>
          <a:prstGeom prst="rect">
            <a:avLst/>
          </a:prstGeom>
          <a:noFill/>
        </p:spPr>
        <p:txBody>
          <a:bodyPr wrap="square">
            <a:spAutoFit/>
          </a:bodyPr>
          <a:lstStyle/>
          <a:p>
            <a:pPr>
              <a:lnSpc>
                <a:spcPct val="150000"/>
              </a:lnSpc>
            </a:pPr>
            <a:r>
              <a:rPr lang="en-US" altLang="zh-CN" sz="2000" dirty="0">
                <a:solidFill>
                  <a:srgbClr val="0000FF"/>
                </a:solidFill>
                <a:latin typeface="华光仿宋_CNKI" panose="02000500000000000000" pitchFamily="2" charset="-122"/>
                <a:ea typeface="华光仿宋_CNKI" panose="02000500000000000000" pitchFamily="2" charset="-122"/>
              </a:rPr>
              <a:t>typedef</a:t>
            </a: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union</a:t>
            </a: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a:t>
            </a:r>
            <a:r>
              <a:rPr lang="en-US" altLang="zh-CN" sz="2000" dirty="0" err="1">
                <a:solidFill>
                  <a:srgbClr val="0000FF"/>
                </a:solidFill>
                <a:latin typeface="华光仿宋_CNKI" panose="02000500000000000000" pitchFamily="2" charset="-122"/>
                <a:ea typeface="华光仿宋_CNKI" panose="02000500000000000000" pitchFamily="2" charset="-122"/>
              </a:rPr>
              <a:t>declspec</a:t>
            </a:r>
            <a:r>
              <a:rPr lang="en-US" altLang="zh-CN" sz="2000" dirty="0">
                <a:solidFill>
                  <a:srgbClr val="000000"/>
                </a:solidFill>
                <a:latin typeface="华光仿宋_CNKI" panose="02000500000000000000" pitchFamily="2" charset="-122"/>
                <a:ea typeface="华光仿宋_CNKI" panose="02000500000000000000" pitchFamily="2" charset="-122"/>
              </a:rPr>
              <a:t>(</a:t>
            </a:r>
            <a:r>
              <a:rPr lang="en-US" altLang="zh-CN" sz="2000" dirty="0" err="1">
                <a:solidFill>
                  <a:srgbClr val="000000"/>
                </a:solidFill>
                <a:latin typeface="华光仿宋_CNKI" panose="02000500000000000000" pitchFamily="2" charset="-122"/>
                <a:ea typeface="华光仿宋_CNKI" panose="02000500000000000000" pitchFamily="2" charset="-122"/>
              </a:rPr>
              <a:t>intrin_type</a:t>
            </a: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a:t>
            </a:r>
            <a:r>
              <a:rPr lang="en-US" altLang="zh-CN" sz="2000" dirty="0" err="1">
                <a:solidFill>
                  <a:srgbClr val="0000FF"/>
                </a:solidFill>
                <a:latin typeface="华光仿宋_CNKI" panose="02000500000000000000" pitchFamily="2" charset="-122"/>
                <a:ea typeface="华光仿宋_CNKI" panose="02000500000000000000" pitchFamily="2" charset="-122"/>
              </a:rPr>
              <a:t>declspec</a:t>
            </a:r>
            <a:r>
              <a:rPr lang="en-US" altLang="zh-CN" sz="2000" dirty="0">
                <a:solidFill>
                  <a:srgbClr val="000000"/>
                </a:solidFill>
                <a:latin typeface="华光仿宋_CNKI" panose="02000500000000000000" pitchFamily="2" charset="-122"/>
                <a:ea typeface="华光仿宋_CNKI" panose="02000500000000000000" pitchFamily="2" charset="-122"/>
              </a:rPr>
              <a:t>(</a:t>
            </a:r>
            <a:r>
              <a:rPr lang="en-US" altLang="zh-CN" sz="2000" dirty="0">
                <a:solidFill>
                  <a:srgbClr val="0000FF"/>
                </a:solidFill>
                <a:latin typeface="华光仿宋_CNKI" panose="02000500000000000000" pitchFamily="2" charset="-122"/>
                <a:ea typeface="华光仿宋_CNKI" panose="02000500000000000000" pitchFamily="2" charset="-122"/>
              </a:rPr>
              <a:t>align</a:t>
            </a:r>
            <a:r>
              <a:rPr lang="en-US" altLang="zh-CN" sz="2000" dirty="0">
                <a:solidFill>
                  <a:srgbClr val="000000"/>
                </a:solidFill>
                <a:latin typeface="华光仿宋_CNKI" panose="02000500000000000000" pitchFamily="2" charset="-122"/>
                <a:ea typeface="华光仿宋_CNKI" panose="02000500000000000000" pitchFamily="2" charset="-122"/>
              </a:rPr>
              <a:t>(16)) </a:t>
            </a:r>
            <a:r>
              <a:rPr lang="en-US" altLang="zh-CN" sz="2000" dirty="0">
                <a:solidFill>
                  <a:srgbClr val="2B91AF"/>
                </a:solidFill>
                <a:latin typeface="华光仿宋_CNKI" panose="02000500000000000000" pitchFamily="2" charset="-122"/>
                <a:ea typeface="华光仿宋_CNKI" panose="02000500000000000000" pitchFamily="2" charset="-122"/>
              </a:rPr>
              <a:t>__m128</a:t>
            </a:r>
            <a:r>
              <a:rPr lang="en-US" altLang="zh-CN" sz="2000" dirty="0">
                <a:solidFill>
                  <a:srgbClr val="000000"/>
                </a:solidFill>
                <a:latin typeface="华光仿宋_CNKI" panose="02000500000000000000" pitchFamily="2" charset="-122"/>
                <a:ea typeface="华光仿宋_CNKI" panose="02000500000000000000" pitchFamily="2" charset="-122"/>
              </a:rPr>
              <a:t> {</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float</a:t>
            </a:r>
            <a:r>
              <a:rPr lang="en-US" altLang="zh-CN" sz="2000" dirty="0">
                <a:solidFill>
                  <a:srgbClr val="000000"/>
                </a:solidFill>
                <a:latin typeface="华光仿宋_CNKI" panose="02000500000000000000" pitchFamily="2" charset="-122"/>
                <a:ea typeface="华光仿宋_CNKI" panose="02000500000000000000" pitchFamily="2" charset="-122"/>
              </a:rPr>
              <a:t>               m128_f32[4];</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unsigned</a:t>
            </a: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__int64</a:t>
            </a:r>
            <a:r>
              <a:rPr lang="en-US" altLang="zh-CN" sz="2000" dirty="0">
                <a:solidFill>
                  <a:srgbClr val="000000"/>
                </a:solidFill>
                <a:latin typeface="华光仿宋_CNKI" panose="02000500000000000000" pitchFamily="2" charset="-122"/>
                <a:ea typeface="华光仿宋_CNKI" panose="02000500000000000000" pitchFamily="2" charset="-122"/>
              </a:rPr>
              <a:t>    m128_u64[2];</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__int8</a:t>
            </a:r>
            <a:r>
              <a:rPr lang="en-US" altLang="zh-CN" sz="2000" dirty="0">
                <a:solidFill>
                  <a:srgbClr val="000000"/>
                </a:solidFill>
                <a:latin typeface="华光仿宋_CNKI" panose="02000500000000000000" pitchFamily="2" charset="-122"/>
                <a:ea typeface="华光仿宋_CNKI" panose="02000500000000000000" pitchFamily="2" charset="-122"/>
              </a:rPr>
              <a:t>              m128_i8[16];</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__int16</a:t>
            </a:r>
            <a:r>
              <a:rPr lang="en-US" altLang="zh-CN" sz="2000" dirty="0">
                <a:solidFill>
                  <a:srgbClr val="000000"/>
                </a:solidFill>
                <a:latin typeface="华光仿宋_CNKI" panose="02000500000000000000" pitchFamily="2" charset="-122"/>
                <a:ea typeface="华光仿宋_CNKI" panose="02000500000000000000" pitchFamily="2" charset="-122"/>
              </a:rPr>
              <a:t>             m128_i16[8];</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__int32</a:t>
            </a:r>
            <a:r>
              <a:rPr lang="en-US" altLang="zh-CN" sz="2000" dirty="0">
                <a:solidFill>
                  <a:srgbClr val="000000"/>
                </a:solidFill>
                <a:latin typeface="华光仿宋_CNKI" panose="02000500000000000000" pitchFamily="2" charset="-122"/>
                <a:ea typeface="华光仿宋_CNKI" panose="02000500000000000000" pitchFamily="2" charset="-122"/>
              </a:rPr>
              <a:t>             m128_i32[4];</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__int64</a:t>
            </a:r>
            <a:r>
              <a:rPr lang="en-US" altLang="zh-CN" sz="2000" dirty="0">
                <a:solidFill>
                  <a:srgbClr val="000000"/>
                </a:solidFill>
                <a:latin typeface="华光仿宋_CNKI" panose="02000500000000000000" pitchFamily="2" charset="-122"/>
                <a:ea typeface="华光仿宋_CNKI" panose="02000500000000000000" pitchFamily="2" charset="-122"/>
              </a:rPr>
              <a:t>             m128_i64[2];</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unsigned</a:t>
            </a: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__int8</a:t>
            </a:r>
            <a:r>
              <a:rPr lang="en-US" altLang="zh-CN" sz="2000" dirty="0">
                <a:solidFill>
                  <a:srgbClr val="000000"/>
                </a:solidFill>
                <a:latin typeface="华光仿宋_CNKI" panose="02000500000000000000" pitchFamily="2" charset="-122"/>
                <a:ea typeface="华光仿宋_CNKI" panose="02000500000000000000" pitchFamily="2" charset="-122"/>
              </a:rPr>
              <a:t>     m128_u8[16];</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unsigned</a:t>
            </a: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__int16</a:t>
            </a:r>
            <a:r>
              <a:rPr lang="en-US" altLang="zh-CN" sz="2000" dirty="0">
                <a:solidFill>
                  <a:srgbClr val="000000"/>
                </a:solidFill>
                <a:latin typeface="华光仿宋_CNKI" panose="02000500000000000000" pitchFamily="2" charset="-122"/>
                <a:ea typeface="华光仿宋_CNKI" panose="02000500000000000000" pitchFamily="2" charset="-122"/>
              </a:rPr>
              <a:t>    m128_u16[8];</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unsigned</a:t>
            </a:r>
            <a:r>
              <a:rPr lang="en-US" altLang="zh-CN" sz="2000" dirty="0">
                <a:solidFill>
                  <a:srgbClr val="000000"/>
                </a:solidFill>
                <a:latin typeface="华光仿宋_CNKI" panose="02000500000000000000" pitchFamily="2" charset="-122"/>
                <a:ea typeface="华光仿宋_CNKI" panose="02000500000000000000" pitchFamily="2" charset="-122"/>
              </a:rPr>
              <a:t> </a:t>
            </a:r>
            <a:r>
              <a:rPr lang="en-US" altLang="zh-CN" sz="2000" dirty="0">
                <a:solidFill>
                  <a:srgbClr val="0000FF"/>
                </a:solidFill>
                <a:latin typeface="华光仿宋_CNKI" panose="02000500000000000000" pitchFamily="2" charset="-122"/>
                <a:ea typeface="华光仿宋_CNKI" panose="02000500000000000000" pitchFamily="2" charset="-122"/>
              </a:rPr>
              <a:t>__int32</a:t>
            </a:r>
            <a:r>
              <a:rPr lang="en-US" altLang="zh-CN" sz="2000" dirty="0">
                <a:solidFill>
                  <a:srgbClr val="000000"/>
                </a:solidFill>
                <a:latin typeface="华光仿宋_CNKI" panose="02000500000000000000" pitchFamily="2" charset="-122"/>
                <a:ea typeface="华光仿宋_CNKI" panose="02000500000000000000" pitchFamily="2" charset="-122"/>
              </a:rPr>
              <a:t>    m128_u32[4];</a:t>
            </a:r>
          </a:p>
          <a:p>
            <a:pPr>
              <a:lnSpc>
                <a:spcPct val="150000"/>
              </a:lnSpc>
            </a:pPr>
            <a:r>
              <a:rPr lang="en-US" altLang="zh-CN" sz="2000" dirty="0">
                <a:solidFill>
                  <a:srgbClr val="000000"/>
                </a:solidFill>
                <a:latin typeface="华光仿宋_CNKI" panose="02000500000000000000" pitchFamily="2" charset="-122"/>
                <a:ea typeface="华光仿宋_CNKI" panose="02000500000000000000" pitchFamily="2" charset="-122"/>
              </a:rPr>
              <a:t> } </a:t>
            </a:r>
            <a:r>
              <a:rPr lang="en-US" altLang="zh-CN" sz="2000" dirty="0">
                <a:solidFill>
                  <a:srgbClr val="2B91AF"/>
                </a:solidFill>
                <a:latin typeface="华光仿宋_CNKI" panose="02000500000000000000" pitchFamily="2" charset="-122"/>
                <a:ea typeface="华光仿宋_CNKI" panose="02000500000000000000" pitchFamily="2" charset="-122"/>
              </a:rPr>
              <a:t>__m128</a:t>
            </a:r>
            <a:r>
              <a:rPr lang="en-US" altLang="zh-CN" sz="2000" dirty="0">
                <a:solidFill>
                  <a:srgbClr val="000000"/>
                </a:solidFill>
                <a:latin typeface="华光仿宋_CNKI" panose="02000500000000000000" pitchFamily="2" charset="-122"/>
                <a:ea typeface="华光仿宋_CNKI" panose="02000500000000000000" pitchFamily="2" charset="-122"/>
              </a:rPr>
              <a:t>;</a:t>
            </a:r>
            <a:endParaRPr lang="zh-CN" altLang="en-US" sz="20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3B25C7B2-AFE5-2B37-C639-6878F59F57A3}"/>
              </a:ext>
            </a:extLst>
          </p:cNvPr>
          <p:cNvSpPr txBox="1">
            <a:spLocks/>
          </p:cNvSpPr>
          <p:nvPr/>
        </p:nvSpPr>
        <p:spPr>
          <a:xfrm>
            <a:off x="0" y="55659"/>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95056132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48182"/>
            <a:ext cx="10515600" cy="5845215"/>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不过</a:t>
            </a:r>
            <a:r>
              <a:rPr lang="en-US" altLang="zh-CN" dirty="0">
                <a:latin typeface="华光仿宋_CNKI" panose="02000500000000000000" pitchFamily="2" charset="-122"/>
                <a:ea typeface="华光仿宋_CNKI" panose="02000500000000000000" pitchFamily="2" charset="-122"/>
              </a:rPr>
              <a:t>DirectX</a:t>
            </a:r>
            <a:r>
              <a:rPr lang="zh-CN" altLang="en-US" dirty="0">
                <a:latin typeface="华光仿宋_CNKI" panose="02000500000000000000" pitchFamily="2" charset="-122"/>
                <a:ea typeface="华光仿宋_CNKI" panose="02000500000000000000" pitchFamily="2" charset="-122"/>
              </a:rPr>
              <a:t>也定义了</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4D</a:t>
            </a:r>
            <a:r>
              <a:rPr lang="zh-CN" altLang="en-US" dirty="0">
                <a:latin typeface="华光仿宋_CNKI" panose="02000500000000000000" pitchFamily="2" charset="-122"/>
                <a:ea typeface="华光仿宋_CNKI" panose="02000500000000000000" pitchFamily="2" charset="-122"/>
              </a:rPr>
              <a:t>的矢量，分别是：</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XMINT2</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XMFLOAT2</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XMINT3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XMFLOAT3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XMINT4</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XMFLOAT4</a:t>
            </a:r>
            <a:r>
              <a:rPr lang="zh-CN" altLang="en-US" dirty="0">
                <a:latin typeface="华光仿宋_CNKI" panose="02000500000000000000" pitchFamily="2" charset="-122"/>
                <a:ea typeface="华光仿宋_CNKI" panose="02000500000000000000" pitchFamily="2" charset="-122"/>
              </a:rPr>
              <a:t>等，他们也是结构体定义，分别包含</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个，</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个，</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个整数和浮点数，并包括了相应的一系列的操作，比如初始化等。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此外，还定义了相应的矩阵，比如</a:t>
            </a:r>
            <a:r>
              <a:rPr lang="en-US" altLang="zh-CN" dirty="0">
                <a:latin typeface="华光仿宋_CNKI" panose="02000500000000000000" pitchFamily="2" charset="-122"/>
                <a:ea typeface="华光仿宋_CNKI" panose="02000500000000000000" pitchFamily="2" charset="-122"/>
              </a:rPr>
              <a:t>XMFLOAT3X3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XMFLOAT4X3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XMFLOAT3X4</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XMFLOAT4X4</a:t>
            </a:r>
            <a:r>
              <a:rPr lang="zh-CN" altLang="en-US" dirty="0">
                <a:latin typeface="华光仿宋_CNKI" panose="02000500000000000000" pitchFamily="2" charset="-122"/>
                <a:ea typeface="华光仿宋_CNKI" panose="02000500000000000000" pitchFamily="2" charset="-122"/>
              </a:rPr>
              <a:t>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但这些矢量不能充分利用</a:t>
            </a:r>
            <a:r>
              <a:rPr lang="en-US" altLang="zh-CN" dirty="0">
                <a:latin typeface="华光仿宋_CNKI" panose="02000500000000000000" pitchFamily="2" charset="-122"/>
                <a:ea typeface="华光仿宋_CNKI" panose="02000500000000000000" pitchFamily="2" charset="-122"/>
              </a:rPr>
              <a:t>SIMD</a:t>
            </a:r>
            <a:r>
              <a:rPr lang="zh-CN" altLang="en-US" dirty="0">
                <a:latin typeface="华光仿宋_CNKI" panose="02000500000000000000" pitchFamily="2" charset="-122"/>
                <a:ea typeface="华光仿宋_CNKI" panose="02000500000000000000" pitchFamily="2" charset="-122"/>
              </a:rPr>
              <a:t>（单指令乘法数），因此为了提高运算能力，可以采用如下方法：</a:t>
            </a:r>
          </a:p>
        </p:txBody>
      </p:sp>
      <p:sp>
        <p:nvSpPr>
          <p:cNvPr id="2" name="标题 1">
            <a:extLst>
              <a:ext uri="{FF2B5EF4-FFF2-40B4-BE49-F238E27FC236}">
                <a16:creationId xmlns:a16="http://schemas.microsoft.com/office/drawing/2014/main" id="{1814ED4A-5632-9C37-18C9-6DC2E7DADCC5}"/>
              </a:ext>
            </a:extLst>
          </p:cNvPr>
          <p:cNvSpPr txBox="1">
            <a:spLocks/>
          </p:cNvSpPr>
          <p:nvPr/>
        </p:nvSpPr>
        <p:spPr>
          <a:xfrm>
            <a:off x="0" y="55659"/>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377845305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48182"/>
            <a:ext cx="10515600" cy="5845215"/>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）设置</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类型的变量为局部或者全局变量。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）设置</a:t>
            </a:r>
            <a:r>
              <a:rPr lang="en-US" altLang="zh-CN" dirty="0">
                <a:latin typeface="华光仿宋_CNKI" panose="02000500000000000000" pitchFamily="2" charset="-122"/>
                <a:ea typeface="华光仿宋_CNKI" panose="02000500000000000000" pitchFamily="2" charset="-122"/>
              </a:rPr>
              <a:t>XMFLOAT2, XMFLOAT3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XMFLOAT4</a:t>
            </a:r>
            <a:r>
              <a:rPr lang="zh-CN" altLang="en-US" dirty="0">
                <a:latin typeface="华光仿宋_CNKI" panose="02000500000000000000" pitchFamily="2" charset="-122"/>
                <a:ea typeface="华光仿宋_CNKI" panose="02000500000000000000" pitchFamily="2" charset="-122"/>
              </a:rPr>
              <a:t>为类中变量，主要用于数据存储。</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）在计算前，将</a:t>
            </a:r>
            <a:r>
              <a:rPr lang="en-US" altLang="zh-CN" dirty="0">
                <a:latin typeface="华光仿宋_CNKI" panose="02000500000000000000" pitchFamily="2" charset="-122"/>
                <a:ea typeface="华光仿宋_CNKI" panose="02000500000000000000" pitchFamily="2" charset="-122"/>
              </a:rPr>
              <a:t>XMFLOAT2, XMFLOAT3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XMFLOAT4</a:t>
            </a:r>
            <a:r>
              <a:rPr lang="zh-CN" altLang="en-US" dirty="0">
                <a:latin typeface="华光仿宋_CNKI" panose="02000500000000000000" pitchFamily="2" charset="-122"/>
                <a:ea typeface="华光仿宋_CNKI" panose="02000500000000000000" pitchFamily="2" charset="-122"/>
              </a:rPr>
              <a:t>类型的变量转换成</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类型的变量。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）利用</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实例进行计算。</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5</a:t>
            </a:r>
            <a:r>
              <a:rPr lang="zh-CN" altLang="en-US" dirty="0">
                <a:latin typeface="华光仿宋_CNKI" panose="02000500000000000000" pitchFamily="2" charset="-122"/>
                <a:ea typeface="华光仿宋_CNKI" panose="02000500000000000000" pitchFamily="2" charset="-122"/>
              </a:rPr>
              <a:t>）利用</a:t>
            </a:r>
            <a:r>
              <a:rPr lang="en-US" altLang="zh-CN" dirty="0">
                <a:latin typeface="华光仿宋_CNKI" panose="02000500000000000000" pitchFamily="2" charset="-122"/>
                <a:ea typeface="华光仿宋_CNKI" panose="02000500000000000000" pitchFamily="2" charset="-122"/>
              </a:rPr>
              <a:t>DirectX</a:t>
            </a:r>
            <a:r>
              <a:rPr lang="zh-CN" altLang="en-US" dirty="0">
                <a:latin typeface="华光仿宋_CNKI" panose="02000500000000000000" pitchFamily="2" charset="-122"/>
                <a:ea typeface="华光仿宋_CNKI" panose="02000500000000000000" pitchFamily="2" charset="-122"/>
              </a:rPr>
              <a:t>提供的函数将</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变量转换成</a:t>
            </a:r>
            <a:r>
              <a:rPr lang="en-US" altLang="zh-CN" dirty="0">
                <a:latin typeface="华光仿宋_CNKI" panose="02000500000000000000" pitchFamily="2" charset="-122"/>
                <a:ea typeface="华光仿宋_CNKI" panose="02000500000000000000" pitchFamily="2" charset="-122"/>
              </a:rPr>
              <a:t>XMFLOAT2, XMFLOAT3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XMFLOAT4</a:t>
            </a:r>
            <a:r>
              <a:rPr lang="zh-CN" altLang="en-US" dirty="0">
                <a:latin typeface="华光仿宋_CNKI" panose="02000500000000000000" pitchFamily="2" charset="-122"/>
                <a:ea typeface="华光仿宋_CNKI" panose="02000500000000000000" pitchFamily="2" charset="-122"/>
              </a:rPr>
              <a:t>类型的变量存储到类中。</a:t>
            </a:r>
          </a:p>
        </p:txBody>
      </p:sp>
      <p:sp>
        <p:nvSpPr>
          <p:cNvPr id="2" name="标题 1">
            <a:extLst>
              <a:ext uri="{FF2B5EF4-FFF2-40B4-BE49-F238E27FC236}">
                <a16:creationId xmlns:a16="http://schemas.microsoft.com/office/drawing/2014/main" id="{DA5DC7FB-0E5F-5EAB-B344-6013E8178AF8}"/>
              </a:ext>
            </a:extLst>
          </p:cNvPr>
          <p:cNvSpPr txBox="1">
            <a:spLocks/>
          </p:cNvSpPr>
          <p:nvPr/>
        </p:nvSpPr>
        <p:spPr>
          <a:xfrm>
            <a:off x="0" y="55659"/>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42657503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01865" y="602311"/>
            <a:ext cx="10320792" cy="6030410"/>
          </a:xfrm>
        </p:spPr>
        <p:txBody>
          <a:bodyPr>
            <a:normAutofit/>
          </a:bodyPr>
          <a:lstStyle/>
          <a:p>
            <a:pPr marL="0" indent="0">
              <a:lnSpc>
                <a:spcPct val="150000"/>
              </a:lnSpc>
              <a:buNone/>
            </a:pPr>
            <a:r>
              <a:rPr lang="en-US" altLang="zh-CN" dirty="0">
                <a:latin typeface="华光标题宋_CNKI" panose="02000500000000000000" pitchFamily="2" charset="-122"/>
                <a:ea typeface="华光标题宋_CNKI" panose="02000500000000000000" pitchFamily="2" charset="-122"/>
              </a:rPr>
              <a:t>1.2  </a:t>
            </a:r>
            <a:r>
              <a:rPr lang="zh-CN" altLang="en-US" dirty="0">
                <a:latin typeface="华光标题宋_CNKI" panose="02000500000000000000" pitchFamily="2" charset="-122"/>
                <a:ea typeface="华光标题宋_CNKI" panose="02000500000000000000" pitchFamily="2" charset="-122"/>
              </a:rPr>
              <a:t>矢量相关的方法</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1.2.1 </a:t>
            </a:r>
            <a:r>
              <a:rPr lang="zh-CN" altLang="en-US" dirty="0">
                <a:latin typeface="华光仿宋_CNKI" panose="02000500000000000000" pitchFamily="2" charset="-122"/>
                <a:ea typeface="华光仿宋_CNKI" panose="02000500000000000000" pitchFamily="2" charset="-122"/>
              </a:rPr>
              <a:t>加载和存储方法</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如果希望将</a:t>
            </a:r>
            <a:r>
              <a:rPr lang="en-US" altLang="zh-CN" dirty="0">
                <a:latin typeface="华光仿宋_CNKI" panose="02000500000000000000" pitchFamily="2" charset="-122"/>
                <a:ea typeface="华光仿宋_CNKI" panose="02000500000000000000" pitchFamily="2" charset="-122"/>
              </a:rPr>
              <a:t>XMFLOAT2</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XMFLOAT3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XMFLOAT4</a:t>
            </a:r>
            <a:r>
              <a:rPr lang="zh-CN" altLang="en-US" dirty="0">
                <a:latin typeface="华光仿宋_CNKI" panose="02000500000000000000" pitchFamily="2" charset="-122"/>
                <a:ea typeface="华光仿宋_CNKI" panose="02000500000000000000" pitchFamily="2" charset="-122"/>
              </a:rPr>
              <a:t>转换为</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，则可采用：</a:t>
            </a:r>
            <a:endParaRPr lang="en-US" altLang="zh-CN" dirty="0">
              <a:latin typeface="华光仿宋_CNKI" panose="02000500000000000000" pitchFamily="2" charset="-122"/>
              <a:ea typeface="华光仿宋_CNKI" panose="02000500000000000000" pitchFamily="2" charset="-122"/>
            </a:endParaRPr>
          </a:p>
          <a:p>
            <a:pPr marL="0" indent="0">
              <a:buNone/>
            </a:pPr>
            <a:r>
              <a:rPr lang="en-US" altLang="zh-CN" dirty="0">
                <a:latin typeface="华光仿宋_CNKI" panose="02000500000000000000" pitchFamily="2" charset="-122"/>
                <a:ea typeface="华光仿宋_CNKI" panose="02000500000000000000" pitchFamily="2" charset="-122"/>
              </a:rPr>
              <a:t>    XMVECTOR XM_CALLCONV XMLoadFloat2(const XMFLOAT2</a:t>
            </a:r>
          </a:p>
          <a:p>
            <a:pPr marL="0" indent="0">
              <a:buNone/>
            </a:pP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pSource</a:t>
            </a:r>
            <a:r>
              <a:rPr lang="en-US" altLang="zh-CN" dirty="0">
                <a:latin typeface="华光仿宋_CNKI" panose="02000500000000000000" pitchFamily="2" charset="-122"/>
                <a:ea typeface="华光仿宋_CNKI" panose="02000500000000000000" pitchFamily="2" charset="-122"/>
              </a:rPr>
              <a:t>);</a:t>
            </a:r>
          </a:p>
          <a:p>
            <a:pPr marL="0" indent="0">
              <a:buNone/>
            </a:pPr>
            <a:r>
              <a:rPr lang="en-US" altLang="zh-CN" dirty="0">
                <a:latin typeface="华光仿宋_CNKI" panose="02000500000000000000" pitchFamily="2" charset="-122"/>
                <a:ea typeface="华光仿宋_CNKI" panose="02000500000000000000" pitchFamily="2" charset="-122"/>
              </a:rPr>
              <a:t>    XMVECTOR XM_CALLCONV XMLoadFloat3(const XMFLOAT3</a:t>
            </a:r>
          </a:p>
          <a:p>
            <a:pPr marL="0" indent="0">
              <a:buNone/>
            </a:pP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pSource</a:t>
            </a:r>
            <a:r>
              <a:rPr lang="en-US" altLang="zh-CN" dirty="0">
                <a:latin typeface="华光仿宋_CNKI" panose="02000500000000000000" pitchFamily="2" charset="-122"/>
                <a:ea typeface="华光仿宋_CNKI" panose="02000500000000000000" pitchFamily="2" charset="-122"/>
              </a:rPr>
              <a:t>);</a:t>
            </a:r>
          </a:p>
          <a:p>
            <a:pPr marL="0" indent="0">
              <a:buNone/>
            </a:pPr>
            <a:r>
              <a:rPr lang="en-US" altLang="zh-CN" dirty="0">
                <a:latin typeface="华光仿宋_CNKI" panose="02000500000000000000" pitchFamily="2" charset="-122"/>
                <a:ea typeface="华光仿宋_CNKI" panose="02000500000000000000" pitchFamily="2" charset="-122"/>
              </a:rPr>
              <a:t>    XMVECTOR XM_CALLCONV XMLoadFloat4(const XMFLOAT4</a:t>
            </a:r>
          </a:p>
          <a:p>
            <a:pPr marL="0" indent="0">
              <a:buNone/>
            </a:pP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pSource</a:t>
            </a: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endParaRPr lang="zh-CN" altLang="en-US"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F39FFE25-B437-B87F-DFAA-B072B77D5F5B}"/>
              </a:ext>
            </a:extLst>
          </p:cNvPr>
          <p:cNvSpPr txBox="1">
            <a:spLocks/>
          </p:cNvSpPr>
          <p:nvPr/>
        </p:nvSpPr>
        <p:spPr>
          <a:xfrm>
            <a:off x="0" y="55659"/>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72903306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6882" y="890546"/>
            <a:ext cx="10886954" cy="534045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pSource</a:t>
            </a:r>
            <a:r>
              <a:rPr lang="zh-CN" altLang="en-US" dirty="0">
                <a:latin typeface="华光仿宋_CNKI" panose="02000500000000000000" pitchFamily="2" charset="-122"/>
                <a:ea typeface="华光仿宋_CNKI" panose="02000500000000000000" pitchFamily="2" charset="-122"/>
              </a:rPr>
              <a:t>即为需要转换的</a:t>
            </a:r>
            <a:r>
              <a:rPr lang="en-US" altLang="zh-CN" dirty="0" err="1">
                <a:latin typeface="华光仿宋_CNKI" panose="02000500000000000000" pitchFamily="2" charset="-122"/>
                <a:ea typeface="华光仿宋_CNKI" panose="02000500000000000000" pitchFamily="2" charset="-122"/>
              </a:rPr>
              <a:t>XMFLOAT</a:t>
            </a:r>
            <a:r>
              <a:rPr lang="en-US" altLang="zh-CN" i="1" dirty="0" err="1">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类型的数据</a:t>
            </a:r>
            <a:r>
              <a:rPr lang="zh-CN" altLang="en-US" i="1" dirty="0">
                <a:latin typeface="华光仿宋_CNKI" panose="02000500000000000000" pitchFamily="2" charset="-122"/>
                <a:ea typeface="华光仿宋_CNKI" panose="02000500000000000000" pitchFamily="2" charset="-122"/>
              </a:rPr>
              <a:t>。</a:t>
            </a:r>
            <a:endParaRPr lang="en-US" altLang="zh-CN" i="1"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相反，如果希望将</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类型的数据转换为</a:t>
            </a:r>
            <a:r>
              <a:rPr lang="en-US" altLang="zh-CN" dirty="0">
                <a:latin typeface="华光仿宋_CNKI" panose="02000500000000000000" pitchFamily="2" charset="-122"/>
                <a:ea typeface="华光仿宋_CNKI" panose="02000500000000000000" pitchFamily="2" charset="-122"/>
              </a:rPr>
              <a:t>XMFLOAT</a:t>
            </a:r>
            <a:r>
              <a:rPr lang="en-US" altLang="zh-CN" i="1"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类型的数据，则可采用如下的函数：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void XM_CALLCONV XMStoreFloat2(XMFLOAT2  *</a:t>
            </a:r>
            <a:r>
              <a:rPr lang="en-US" altLang="zh-CN" dirty="0" err="1">
                <a:latin typeface="华光仿宋_CNKI" panose="02000500000000000000" pitchFamily="2" charset="-122"/>
                <a:ea typeface="华光仿宋_CNKI" panose="02000500000000000000" pitchFamily="2" charset="-122"/>
              </a:rPr>
              <a:t>pDestination</a:t>
            </a:r>
            <a:r>
              <a:rPr lang="en-US" altLang="zh-CN" dirty="0">
                <a:latin typeface="华光仿宋_CNKI" panose="02000500000000000000" pitchFamily="2" charset="-122"/>
                <a:ea typeface="华光仿宋_CNKI" panose="02000500000000000000" pitchFamily="2" charset="-122"/>
              </a:rPr>
              <a:t>,  FXMVECTOR V);</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此外，还可通过函数设置或者提取</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某个分量的数据，这些分量包括</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W</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a:t>
            </a:r>
            <a:endParaRPr lang="zh-CN" altLang="en-US"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59CBCB58-A027-B481-1070-4AC62E4432A4}"/>
              </a:ext>
            </a:extLst>
          </p:cNvPr>
          <p:cNvSpPr txBox="1">
            <a:spLocks/>
          </p:cNvSpPr>
          <p:nvPr/>
        </p:nvSpPr>
        <p:spPr>
          <a:xfrm>
            <a:off x="0" y="55659"/>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34827841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0736" y="648182"/>
            <a:ext cx="10515600" cy="5845215"/>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1.2.2 </a:t>
            </a:r>
            <a:r>
              <a:rPr lang="zh-CN" altLang="en-US" dirty="0">
                <a:latin typeface="华光仿宋_CNKI" panose="02000500000000000000" pitchFamily="2" charset="-122"/>
                <a:ea typeface="华光仿宋_CNKI" panose="02000500000000000000" pitchFamily="2" charset="-122"/>
              </a:rPr>
              <a:t>与</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有关的函数其参数的定义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如果一个函数的所有参数均希望通过</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类型的变量进行传递，就必须遵循下面的规则，否则无法正常使用</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的类型：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）该函数的前面三个变量的类型为</a:t>
            </a:r>
            <a:r>
              <a:rPr lang="en-US" altLang="zh-CN" dirty="0">
                <a:latin typeface="华光仿宋_CNKI" panose="02000500000000000000" pitchFamily="2" charset="-122"/>
                <a:ea typeface="华光仿宋_CNKI" panose="02000500000000000000" pitchFamily="2" charset="-122"/>
              </a:rPr>
              <a:t>FXMVECTOR</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）第四个变量为</a:t>
            </a:r>
            <a:r>
              <a:rPr lang="en-US" altLang="zh-CN" dirty="0">
                <a:latin typeface="华光仿宋_CNKI" panose="02000500000000000000" pitchFamily="2" charset="-122"/>
                <a:ea typeface="华光仿宋_CNKI" panose="02000500000000000000" pitchFamily="2" charset="-122"/>
              </a:rPr>
              <a:t>GXMVECTOR</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）第五，六两个变量为</a:t>
            </a:r>
            <a:r>
              <a:rPr lang="en-US" altLang="zh-CN" dirty="0">
                <a:latin typeface="华光仿宋_CNKI" panose="02000500000000000000" pitchFamily="2" charset="-122"/>
                <a:ea typeface="华光仿宋_CNKI" panose="02000500000000000000" pitchFamily="2" charset="-122"/>
              </a:rPr>
              <a:t>HXMVECTOR</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）其他剩余的变量为</a:t>
            </a:r>
            <a:r>
              <a:rPr lang="en-US" altLang="zh-CN" dirty="0">
                <a:latin typeface="华光仿宋_CNKI" panose="02000500000000000000" pitchFamily="2" charset="-122"/>
                <a:ea typeface="华光仿宋_CNKI" panose="02000500000000000000" pitchFamily="2" charset="-122"/>
              </a:rPr>
              <a:t>CXMVECTOR</a:t>
            </a:r>
            <a:endParaRPr lang="zh-CN" altLang="en-US"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4A3874F1-5FAB-7D3D-F4E9-19F48D62D47D}"/>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325383369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48182"/>
            <a:ext cx="10886954" cy="5845215"/>
          </a:xfrm>
        </p:spPr>
        <p:txBody>
          <a:bodyPr>
            <a:normAutofit fontScale="92500"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比如定义了如下的函数：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inline XMMATRIX XM_CALLCONV </a:t>
            </a:r>
            <a:r>
              <a:rPr lang="en-US" altLang="zh-CN" dirty="0" err="1">
                <a:latin typeface="华光仿宋_CNKI" panose="02000500000000000000" pitchFamily="2" charset="-122"/>
                <a:ea typeface="华光仿宋_CNKI" panose="02000500000000000000" pitchFamily="2" charset="-122"/>
              </a:rPr>
              <a:t>XMMatrixTransformation</a:t>
            </a:r>
            <a:r>
              <a:rPr lang="en-US" altLang="zh-CN" dirty="0">
                <a:latin typeface="华光仿宋_CNKI" panose="02000500000000000000" pitchFamily="2" charset="-122"/>
                <a:ea typeface="华光仿宋_CNKI" panose="02000500000000000000" pitchFamily="2" charset="-122"/>
              </a:rPr>
              <a:t>(</a:t>
            </a:r>
          </a:p>
          <a:p>
            <a:pPr marL="1371600" lvl="3" indent="-473075">
              <a:lnSpc>
                <a:spcPct val="150000"/>
              </a:lnSpc>
              <a:buNone/>
            </a:pPr>
            <a:r>
              <a:rPr lang="en-US" altLang="zh-CN" sz="2800" dirty="0">
                <a:latin typeface="华光仿宋_CNKI" panose="02000500000000000000" pitchFamily="2" charset="-122"/>
                <a:ea typeface="华光仿宋_CNKI" panose="02000500000000000000" pitchFamily="2" charset="-122"/>
              </a:rPr>
              <a:t>   FXMVECTOR </a:t>
            </a:r>
            <a:r>
              <a:rPr lang="en-US" altLang="zh-CN" sz="2800" dirty="0" err="1">
                <a:latin typeface="华光仿宋_CNKI" panose="02000500000000000000" pitchFamily="2" charset="-122"/>
                <a:ea typeface="华光仿宋_CNKI" panose="02000500000000000000" pitchFamily="2" charset="-122"/>
              </a:rPr>
              <a:t>ScalingOrigin</a:t>
            </a:r>
            <a:r>
              <a:rPr lang="en-US" altLang="zh-CN" sz="2800" dirty="0">
                <a:latin typeface="华光仿宋_CNKI" panose="02000500000000000000" pitchFamily="2" charset="-122"/>
                <a:ea typeface="华光仿宋_CNKI" panose="02000500000000000000" pitchFamily="2" charset="-122"/>
              </a:rPr>
              <a:t>,</a:t>
            </a:r>
          </a:p>
          <a:p>
            <a:pPr marL="1371600" lvl="3" indent="-473075">
              <a:lnSpc>
                <a:spcPct val="150000"/>
              </a:lnSpc>
              <a:buNone/>
            </a:pPr>
            <a:r>
              <a:rPr lang="en-US" altLang="zh-CN" sz="2800" dirty="0">
                <a:latin typeface="华光仿宋_CNKI" panose="02000500000000000000" pitchFamily="2" charset="-122"/>
                <a:ea typeface="华光仿宋_CNKI" panose="02000500000000000000" pitchFamily="2" charset="-122"/>
              </a:rPr>
              <a:t>   FXMVECTOR </a:t>
            </a:r>
            <a:r>
              <a:rPr lang="en-US" altLang="zh-CN" sz="2800" dirty="0" err="1">
                <a:latin typeface="华光仿宋_CNKI" panose="02000500000000000000" pitchFamily="2" charset="-122"/>
                <a:ea typeface="华光仿宋_CNKI" panose="02000500000000000000" pitchFamily="2" charset="-122"/>
              </a:rPr>
              <a:t>ScalingOrientationQuaternion</a:t>
            </a:r>
            <a:r>
              <a:rPr lang="en-US" altLang="zh-CN" sz="2800" dirty="0">
                <a:latin typeface="华光仿宋_CNKI" panose="02000500000000000000" pitchFamily="2" charset="-122"/>
                <a:ea typeface="华光仿宋_CNKI" panose="02000500000000000000" pitchFamily="2" charset="-122"/>
              </a:rPr>
              <a:t>, .</a:t>
            </a:r>
          </a:p>
          <a:p>
            <a:pPr marL="1371600" lvl="3" indent="-473075">
              <a:lnSpc>
                <a:spcPct val="150000"/>
              </a:lnSpc>
              <a:buNone/>
            </a:pPr>
            <a:r>
              <a:rPr lang="en-US" altLang="zh-CN" sz="2800" dirty="0">
                <a:latin typeface="华光仿宋_CNKI" panose="02000500000000000000" pitchFamily="2" charset="-122"/>
                <a:ea typeface="华光仿宋_CNKI" panose="02000500000000000000" pitchFamily="2" charset="-122"/>
              </a:rPr>
              <a:t>   FXMVECTOR Scaling,</a:t>
            </a:r>
          </a:p>
          <a:p>
            <a:pPr marL="1371600" lvl="3" indent="-473075">
              <a:lnSpc>
                <a:spcPct val="150000"/>
              </a:lnSpc>
              <a:buNone/>
            </a:pPr>
            <a:r>
              <a:rPr lang="en-US" altLang="zh-CN" sz="2800" dirty="0">
                <a:latin typeface="华光仿宋_CNKI" panose="02000500000000000000" pitchFamily="2" charset="-122"/>
                <a:ea typeface="华光仿宋_CNKI" panose="02000500000000000000" pitchFamily="2" charset="-122"/>
              </a:rPr>
              <a:t>   GXMVECTOR </a:t>
            </a:r>
            <a:r>
              <a:rPr lang="en-US" altLang="zh-CN" sz="2800" dirty="0" err="1">
                <a:latin typeface="华光仿宋_CNKI" panose="02000500000000000000" pitchFamily="2" charset="-122"/>
                <a:ea typeface="华光仿宋_CNKI" panose="02000500000000000000" pitchFamily="2" charset="-122"/>
              </a:rPr>
              <a:t>RotationOrigin</a:t>
            </a:r>
            <a:r>
              <a:rPr lang="en-US" altLang="zh-CN" sz="2800" dirty="0">
                <a:latin typeface="华光仿宋_CNKI" panose="02000500000000000000" pitchFamily="2" charset="-122"/>
                <a:ea typeface="华光仿宋_CNKI" panose="02000500000000000000" pitchFamily="2" charset="-122"/>
              </a:rPr>
              <a:t>,</a:t>
            </a:r>
          </a:p>
          <a:p>
            <a:pPr marL="1371600" lvl="3" indent="-473075">
              <a:lnSpc>
                <a:spcPct val="150000"/>
              </a:lnSpc>
              <a:buNone/>
            </a:pPr>
            <a:r>
              <a:rPr lang="en-US" altLang="zh-CN" sz="2800" dirty="0">
                <a:latin typeface="华光仿宋_CNKI" panose="02000500000000000000" pitchFamily="2" charset="-122"/>
                <a:ea typeface="华光仿宋_CNKI" panose="02000500000000000000" pitchFamily="2" charset="-122"/>
              </a:rPr>
              <a:t>   HXMVECTOR </a:t>
            </a:r>
            <a:r>
              <a:rPr lang="en-US" altLang="zh-CN" sz="2800" dirty="0" err="1">
                <a:latin typeface="华光仿宋_CNKI" panose="02000500000000000000" pitchFamily="2" charset="-122"/>
                <a:ea typeface="华光仿宋_CNKI" panose="02000500000000000000" pitchFamily="2" charset="-122"/>
              </a:rPr>
              <a:t>RotationQuaternion</a:t>
            </a:r>
            <a:r>
              <a:rPr lang="en-US" altLang="zh-CN" sz="2800" dirty="0">
                <a:latin typeface="华光仿宋_CNKI" panose="02000500000000000000" pitchFamily="2" charset="-122"/>
                <a:ea typeface="华光仿宋_CNKI" panose="02000500000000000000" pitchFamily="2" charset="-122"/>
              </a:rPr>
              <a:t>,</a:t>
            </a:r>
          </a:p>
          <a:p>
            <a:pPr marL="1371600" lvl="3" indent="-473075">
              <a:lnSpc>
                <a:spcPct val="150000"/>
              </a:lnSpc>
              <a:buNone/>
            </a:pPr>
            <a:r>
              <a:rPr lang="en-US" altLang="zh-CN" sz="2800" dirty="0">
                <a:latin typeface="华光仿宋_CNKI" panose="02000500000000000000" pitchFamily="2" charset="-122"/>
                <a:ea typeface="华光仿宋_CNKI" panose="02000500000000000000" pitchFamily="2" charset="-122"/>
              </a:rPr>
              <a:t>   HXMVECTOR Translation);</a:t>
            </a:r>
          </a:p>
          <a:p>
            <a:pPr marL="0" lvl="3"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可以看到上面对函数的定义满足上述规则。当然在中间还可穿插其他</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B64B49D7-83EF-B1FF-1F99-095ACA7C31EA}"/>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403340198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0249" y="546652"/>
            <a:ext cx="10886954" cy="5845215"/>
          </a:xfrm>
        </p:spPr>
        <p:txBody>
          <a:bodyPr>
            <a:normAutofit/>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类型的变量。</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1.2.3 </a:t>
            </a:r>
            <a:r>
              <a:rPr lang="zh-CN" altLang="en-US" dirty="0">
                <a:latin typeface="华光仿宋_CNKI" panose="02000500000000000000" pitchFamily="2" charset="-122"/>
                <a:ea typeface="华光仿宋_CNKI" panose="02000500000000000000" pitchFamily="2" charset="-122"/>
              </a:rPr>
              <a:t>矢量常量的定义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矢量常量的定义必须采用</a:t>
            </a:r>
            <a:r>
              <a:rPr lang="en-US" altLang="zh-CN" dirty="0">
                <a:latin typeface="华光仿宋_CNKI" panose="02000500000000000000" pitchFamily="2" charset="-122"/>
                <a:ea typeface="华光仿宋_CNKI" panose="02000500000000000000" pitchFamily="2" charset="-122"/>
              </a:rPr>
              <a:t>XMVECTORF32</a:t>
            </a:r>
            <a:r>
              <a:rPr lang="zh-CN" altLang="en-US" dirty="0">
                <a:latin typeface="华光仿宋_CNKI" panose="02000500000000000000" pitchFamily="2" charset="-122"/>
                <a:ea typeface="华光仿宋_CNKI" panose="02000500000000000000" pitchFamily="2" charset="-122"/>
              </a:rPr>
              <a:t>类型，比如：</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static const XMVECTORF32 </a:t>
            </a:r>
            <a:r>
              <a:rPr lang="en-US" altLang="zh-CN" dirty="0" err="1">
                <a:latin typeface="华光仿宋_CNKI" panose="02000500000000000000" pitchFamily="2" charset="-122"/>
                <a:ea typeface="华光仿宋_CNKI" panose="02000500000000000000" pitchFamily="2" charset="-122"/>
              </a:rPr>
              <a:t>g_vHalfVector</a:t>
            </a:r>
            <a:r>
              <a:rPr lang="en-US" altLang="zh-CN" dirty="0">
                <a:latin typeface="华光仿宋_CNKI" panose="02000500000000000000" pitchFamily="2" charset="-122"/>
                <a:ea typeface="华光仿宋_CNKI" panose="02000500000000000000" pitchFamily="2" charset="-122"/>
              </a:rPr>
              <a:t> = { 0.5f, 0.5f, 0.5f, 0.5f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1.2.4  </a:t>
            </a:r>
            <a:r>
              <a:rPr lang="zh-CN" altLang="en-US" dirty="0">
                <a:latin typeface="华光仿宋_CNKI" panose="02000500000000000000" pitchFamily="2" charset="-122"/>
                <a:ea typeface="华光仿宋_CNKI" panose="02000500000000000000" pitchFamily="2" charset="-122"/>
              </a:rPr>
              <a:t>矢量的运算</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在</a:t>
            </a:r>
            <a:r>
              <a:rPr lang="en-US" altLang="zh-CN" sz="2800" dirty="0" err="1">
                <a:latin typeface="华光仿宋_CNKI" panose="02000500000000000000" pitchFamily="2" charset="-122"/>
                <a:ea typeface="华光仿宋_CNKI" panose="02000500000000000000" pitchFamily="2" charset="-122"/>
              </a:rPr>
              <a:t>DirectXMath</a:t>
            </a:r>
            <a:r>
              <a:rPr lang="zh-CN" altLang="en-US" sz="2800" dirty="0">
                <a:latin typeface="华光仿宋_CNKI" panose="02000500000000000000" pitchFamily="2" charset="-122"/>
                <a:ea typeface="华光仿宋_CNKI" panose="02000500000000000000" pitchFamily="2" charset="-122"/>
              </a:rPr>
              <a:t>中定义了相应的加、减、乘、除、数乘（除）等运算，因此可直接采用相应的运算符进行相应的运算。</a:t>
            </a:r>
          </a:p>
        </p:txBody>
      </p:sp>
      <p:sp>
        <p:nvSpPr>
          <p:cNvPr id="2" name="标题 1">
            <a:extLst>
              <a:ext uri="{FF2B5EF4-FFF2-40B4-BE49-F238E27FC236}">
                <a16:creationId xmlns:a16="http://schemas.microsoft.com/office/drawing/2014/main" id="{AF71BAE3-B47D-D600-DD4C-1CE2584E99FF}"/>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199324653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90492" y="902624"/>
            <a:ext cx="10261821" cy="4043087"/>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1.2.5 </a:t>
            </a:r>
            <a:r>
              <a:rPr lang="zh-CN" altLang="en-US" dirty="0">
                <a:latin typeface="华光仿宋_CNKI" panose="02000500000000000000" pitchFamily="2" charset="-122"/>
                <a:ea typeface="华光仿宋_CNKI" panose="02000500000000000000" pitchFamily="2" charset="-122"/>
              </a:rPr>
              <a:t>矢量相关的函数及常量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en-US" altLang="zh-CN" sz="2800" dirty="0" err="1">
                <a:latin typeface="华光仿宋_CNKI" panose="02000500000000000000" pitchFamily="2" charset="-122"/>
                <a:ea typeface="华光仿宋_CNKI" panose="02000500000000000000" pitchFamily="2" charset="-122"/>
              </a:rPr>
              <a:t>DirectXMath</a:t>
            </a:r>
            <a:r>
              <a:rPr lang="zh-CN" altLang="en-US" sz="2800" dirty="0">
                <a:latin typeface="华光仿宋_CNKI" panose="02000500000000000000" pitchFamily="2" charset="-122"/>
                <a:ea typeface="华光仿宋_CNKI" panose="02000500000000000000" pitchFamily="2" charset="-122"/>
              </a:rPr>
              <a:t>定义了一系列的函数用于实现前面所介绍的数学运算，同时也定义了相应的变量，可以直接使用。具体内容请参照相关书籍及帮助。</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具体可参照</a:t>
            </a:r>
            <a:r>
              <a:rPr lang="en-US" altLang="zh-CN" dirty="0">
                <a:latin typeface="华光仿宋_CNKI" panose="02000500000000000000" pitchFamily="2" charset="-122"/>
                <a:ea typeface="华光仿宋_CNKI" panose="02000500000000000000" pitchFamily="2" charset="-122"/>
              </a:rPr>
              <a:t>SDK</a:t>
            </a:r>
            <a:r>
              <a:rPr lang="zh-CN" altLang="en-US" dirty="0">
                <a:latin typeface="华光仿宋_CNKI" panose="02000500000000000000" pitchFamily="2" charset="-122"/>
                <a:ea typeface="华光仿宋_CNKI" panose="02000500000000000000" pitchFamily="2" charset="-122"/>
              </a:rPr>
              <a:t>例子。</a:t>
            </a:r>
            <a:endParaRPr lang="zh-CN" altLang="en-US" sz="28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877A3735-226E-44D9-CF30-C2C9467CA673}"/>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165050558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3860" y="596348"/>
            <a:ext cx="10515600" cy="5287617"/>
          </a:xfrm>
        </p:spPr>
        <p:txBody>
          <a:bodyPr>
            <a:normAutofit/>
          </a:bodyPr>
          <a:lstStyle/>
          <a:p>
            <a:pPr marL="0" indent="0">
              <a:lnSpc>
                <a:spcPct val="150000"/>
              </a:lnSpc>
              <a:buNone/>
            </a:pPr>
            <a:r>
              <a:rPr lang="en-US" altLang="zh-CN" sz="3200" b="1" dirty="0">
                <a:solidFill>
                  <a:srgbClr val="0070C0"/>
                </a:solidFill>
                <a:latin typeface="华光标题宋_CNKI" panose="02000500000000000000" pitchFamily="2" charset="-122"/>
                <a:ea typeface="华光标题宋_CNKI" panose="02000500000000000000" pitchFamily="2" charset="-122"/>
              </a:rPr>
              <a:t>2. </a:t>
            </a:r>
            <a:r>
              <a:rPr lang="zh-CN" altLang="en-US" sz="3200" b="1" dirty="0">
                <a:solidFill>
                  <a:srgbClr val="0070C0"/>
                </a:solidFill>
                <a:latin typeface="华光标题宋_CNKI" panose="02000500000000000000" pitchFamily="2" charset="-122"/>
                <a:ea typeface="华光标题宋_CNKI" panose="02000500000000000000" pitchFamily="2" charset="-122"/>
              </a:rPr>
              <a:t>数组</a:t>
            </a:r>
            <a:r>
              <a:rPr lang="en-US" altLang="zh-CN" sz="3200" dirty="0">
                <a:latin typeface="华光标题宋_CNKI" panose="02000500000000000000" pitchFamily="2" charset="-122"/>
                <a:ea typeface="华光标题宋_CNKI" panose="02000500000000000000" pitchFamily="2" charset="-122"/>
              </a:rPr>
              <a:t>  </a:t>
            </a: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由于数组在线性代数中有比较详细的数学介绍，因此在本课程中不再详细介绍有关的数学知识，而是直接介绍其在</a:t>
            </a:r>
            <a:r>
              <a:rPr lang="en-US" altLang="zh-CN" dirty="0">
                <a:latin typeface="华光仿宋_CNKI" panose="02000500000000000000" pitchFamily="2" charset="-122"/>
                <a:ea typeface="华光仿宋_CNKI" panose="02000500000000000000" pitchFamily="2" charset="-122"/>
              </a:rPr>
              <a:t>DirectX 12</a:t>
            </a:r>
            <a:r>
              <a:rPr lang="zh-CN" altLang="en-US" dirty="0">
                <a:latin typeface="华光仿宋_CNKI" panose="02000500000000000000" pitchFamily="2" charset="-122"/>
                <a:ea typeface="华光仿宋_CNKI" panose="02000500000000000000" pitchFamily="2" charset="-122"/>
              </a:rPr>
              <a:t>中如何表示。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标题宋_CNKI" panose="02000500000000000000" pitchFamily="2" charset="-122"/>
                <a:ea typeface="华光标题宋_CNKI" panose="02000500000000000000" pitchFamily="2" charset="-122"/>
              </a:rPr>
              <a:t> 2.1 </a:t>
            </a:r>
            <a:r>
              <a:rPr lang="zh-CN" altLang="en-US" dirty="0">
                <a:latin typeface="华光标题宋_CNKI" panose="02000500000000000000" pitchFamily="2" charset="-122"/>
                <a:ea typeface="华光标题宋_CNKI" panose="02000500000000000000" pitchFamily="2" charset="-122"/>
              </a:rPr>
              <a:t>矩阵的类型</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为表示一个</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的矩阵，我们可以采用</a:t>
            </a:r>
            <a:r>
              <a:rPr lang="en-US" altLang="zh-CN" dirty="0">
                <a:latin typeface="华光仿宋_CNKI" panose="02000500000000000000" pitchFamily="2" charset="-122"/>
                <a:ea typeface="华光仿宋_CNKI" panose="02000500000000000000" pitchFamily="2" charset="-122"/>
              </a:rPr>
              <a:t>XMMATRIX</a:t>
            </a:r>
            <a:r>
              <a:rPr lang="zh-CN" altLang="en-US" dirty="0">
                <a:latin typeface="华光仿宋_CNKI" panose="02000500000000000000" pitchFamily="2" charset="-122"/>
                <a:ea typeface="华光仿宋_CNKI" panose="02000500000000000000" pitchFamily="2" charset="-122"/>
              </a:rPr>
              <a:t>类来定义。同样，与数组有关的运算也可采用</a:t>
            </a:r>
            <a:r>
              <a:rPr lang="en-US" altLang="zh-CN" dirty="0">
                <a:latin typeface="华光仿宋_CNKI" panose="02000500000000000000" pitchFamily="2" charset="-122"/>
                <a:ea typeface="华光仿宋_CNKI" panose="02000500000000000000" pitchFamily="2" charset="-122"/>
              </a:rPr>
              <a:t>SIMD</a:t>
            </a:r>
            <a:r>
              <a:rPr lang="zh-CN" altLang="en-US" dirty="0">
                <a:latin typeface="华光仿宋_CNKI" panose="02000500000000000000" pitchFamily="2" charset="-122"/>
                <a:ea typeface="华光仿宋_CNKI" panose="02000500000000000000" pitchFamily="2" charset="-122"/>
              </a:rPr>
              <a:t>进行运算。</a:t>
            </a:r>
            <a:endParaRPr lang="en-US" altLang="zh-CN"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08FE209D-8D94-1F44-EF75-5662FA6BE871}"/>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28376740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4310" y="874685"/>
            <a:ext cx="10886954" cy="5391891"/>
          </a:xfrm>
        </p:spPr>
        <p:txBody>
          <a:bodyPr>
            <a:normAutofit/>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同样，可通过如下方式对其进行初始化：</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XMMATRIX(FXMVECTOR</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R0,FXMVECTOR R1, FXMVECTOR R2, CXMVECTOR R3</a:t>
            </a:r>
            <a:r>
              <a:rPr lang="en-US" altLang="zh-CN" sz="2800"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XMMATRIX(float m00,float m01,float m02,float m03,float m10,float m11,float m12,float m13,float m20,float m21,float m22,float m23,float 30,float 31,float 32,float 33);</a:t>
            </a: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XMMATRIX(_</a:t>
            </a:r>
            <a:r>
              <a:rPr lang="en-US" altLang="zh-CN" dirty="0" err="1">
                <a:latin typeface="华光仿宋_CNKI" panose="02000500000000000000" pitchFamily="2" charset="-122"/>
                <a:ea typeface="华光仿宋_CNKI" panose="02000500000000000000" pitchFamily="2" charset="-122"/>
              </a:rPr>
              <a:t>In_reads</a:t>
            </a:r>
            <a:r>
              <a:rPr lang="en-US" altLang="zh-CN" dirty="0">
                <a:latin typeface="华光仿宋_CNKI" panose="02000500000000000000" pitchFamily="2" charset="-122"/>
                <a:ea typeface="华光仿宋_CNKI" panose="02000500000000000000" pitchFamily="2" charset="-122"/>
              </a:rPr>
              <a:t>_(16) const float *</a:t>
            </a:r>
            <a:r>
              <a:rPr lang="en-US" altLang="zh-CN" dirty="0" err="1">
                <a:latin typeface="华光仿宋_CNKI" panose="02000500000000000000" pitchFamily="2" charset="-122"/>
                <a:ea typeface="华光仿宋_CNKI" panose="02000500000000000000" pitchFamily="2" charset="-122"/>
              </a:rPr>
              <a:t>pArray</a:t>
            </a:r>
            <a:r>
              <a:rPr lang="en-US" altLang="zh-CN"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   </a:t>
            </a:r>
          </a:p>
        </p:txBody>
      </p:sp>
      <p:sp>
        <p:nvSpPr>
          <p:cNvPr id="2" name="标题 1">
            <a:extLst>
              <a:ext uri="{FF2B5EF4-FFF2-40B4-BE49-F238E27FC236}">
                <a16:creationId xmlns:a16="http://schemas.microsoft.com/office/drawing/2014/main" id="{DBFF6455-A256-0D2B-713D-F00ABE3BF9AE}"/>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337265533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48182"/>
            <a:ext cx="10886954" cy="5845215"/>
          </a:xfrm>
        </p:spPr>
        <p:txBody>
          <a:bodyPr>
            <a:normAutofit/>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同样，可通过如下方式对其进行初始化：</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XMMATRIX XM_CALLCONV </a:t>
            </a:r>
            <a:r>
              <a:rPr lang="en-US" altLang="zh-CN" dirty="0" err="1">
                <a:latin typeface="华光仿宋_CNKI" panose="02000500000000000000" pitchFamily="2" charset="-122"/>
                <a:ea typeface="华光仿宋_CNKI" panose="02000500000000000000" pitchFamily="2" charset="-122"/>
              </a:rPr>
              <a:t>XMMatrixSet</a:t>
            </a:r>
            <a:r>
              <a:rPr lang="en-US" altLang="zh-CN" dirty="0">
                <a:latin typeface="华光仿宋_CNKI" panose="02000500000000000000" pitchFamily="2" charset="-122"/>
                <a:ea typeface="华光仿宋_CNKI" panose="02000500000000000000" pitchFamily="2" charset="-122"/>
              </a:rPr>
              <a:t>(</a:t>
            </a:r>
          </a:p>
          <a:p>
            <a:pPr marL="1371600" lvl="3" indent="0">
              <a:lnSpc>
                <a:spcPct val="150000"/>
              </a:lnSpc>
              <a:buNone/>
            </a:pPr>
            <a:r>
              <a:rPr lang="en-US" altLang="zh-CN" sz="2800" dirty="0">
                <a:latin typeface="华光仿宋_CNKI" panose="02000500000000000000" pitchFamily="2" charset="-122"/>
                <a:ea typeface="华光仿宋_CNKI" panose="02000500000000000000" pitchFamily="2" charset="-122"/>
              </a:rPr>
              <a:t>float m00, float m01, float m02, float m03,</a:t>
            </a:r>
          </a:p>
          <a:p>
            <a:pPr marL="1371600" lvl="3" indent="0">
              <a:lnSpc>
                <a:spcPct val="150000"/>
              </a:lnSpc>
              <a:buNone/>
            </a:pPr>
            <a:r>
              <a:rPr lang="en-US" altLang="zh-CN" sz="2800" dirty="0">
                <a:latin typeface="华光仿宋_CNKI" panose="02000500000000000000" pitchFamily="2" charset="-122"/>
                <a:ea typeface="华光仿宋_CNKI" panose="02000500000000000000" pitchFamily="2" charset="-122"/>
              </a:rPr>
              <a:t>float m10, float m11, float m12, float m13,</a:t>
            </a:r>
          </a:p>
          <a:p>
            <a:pPr marL="1371600" lvl="3" indent="0">
              <a:lnSpc>
                <a:spcPct val="150000"/>
              </a:lnSpc>
              <a:buNone/>
            </a:pPr>
            <a:r>
              <a:rPr lang="en-US" altLang="zh-CN" sz="2800" dirty="0">
                <a:latin typeface="华光仿宋_CNKI" panose="02000500000000000000" pitchFamily="2" charset="-122"/>
                <a:ea typeface="华光仿宋_CNKI" panose="02000500000000000000" pitchFamily="2" charset="-122"/>
              </a:rPr>
              <a:t>float m20, float m21, float m22, float m23,</a:t>
            </a:r>
          </a:p>
          <a:p>
            <a:pPr marL="1371600" lvl="3" indent="0">
              <a:lnSpc>
                <a:spcPct val="150000"/>
              </a:lnSpc>
              <a:buNone/>
            </a:pPr>
            <a:r>
              <a:rPr lang="en-US" altLang="zh-CN" sz="2800" dirty="0">
                <a:latin typeface="华光仿宋_CNKI" panose="02000500000000000000" pitchFamily="2" charset="-122"/>
                <a:ea typeface="华光仿宋_CNKI" panose="02000500000000000000" pitchFamily="2" charset="-122"/>
              </a:rPr>
              <a:t>float m30, float m31, float m32, float m33);</a:t>
            </a:r>
          </a:p>
          <a:p>
            <a:pPr marL="0" lvl="3"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如果在类中进行数据存储，还是建议采用</a:t>
            </a:r>
            <a:r>
              <a:rPr lang="en-US" altLang="zh-CN" sz="2800" dirty="0">
                <a:latin typeface="华光仿宋_CNKI" panose="02000500000000000000" pitchFamily="2" charset="-122"/>
                <a:ea typeface="华光仿宋_CNKI" panose="02000500000000000000" pitchFamily="2" charset="-122"/>
              </a:rPr>
              <a:t>XMFLOAT4X4</a:t>
            </a:r>
            <a:r>
              <a:rPr lang="zh-CN" altLang="en-US" sz="2800" dirty="0">
                <a:latin typeface="华光仿宋_CNKI" panose="02000500000000000000" pitchFamily="2" charset="-122"/>
                <a:ea typeface="华光仿宋_CNKI" panose="02000500000000000000" pitchFamily="2" charset="-122"/>
              </a:rPr>
              <a:t>类型来进行存储，只是在计算时才采用</a:t>
            </a:r>
            <a:r>
              <a:rPr lang="en-US" altLang="zh-CN" sz="2800" dirty="0">
                <a:latin typeface="华光仿宋_CNKI" panose="02000500000000000000" pitchFamily="2" charset="-122"/>
                <a:ea typeface="华光仿宋_CNKI" panose="02000500000000000000" pitchFamily="2" charset="-122"/>
              </a:rPr>
              <a:t>XMMATRIX </a:t>
            </a:r>
            <a:r>
              <a:rPr lang="zh-CN" altLang="en-US" sz="2800" dirty="0">
                <a:latin typeface="华光仿宋_CNKI" panose="02000500000000000000" pitchFamily="2" charset="-122"/>
                <a:ea typeface="华光仿宋_CNKI" panose="02000500000000000000" pitchFamily="2" charset="-122"/>
              </a:rPr>
              <a:t>来进行处理，并在计算结束时</a:t>
            </a:r>
            <a:endParaRPr lang="en-US" altLang="zh-CN" sz="28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771B01B3-456F-17DE-0E64-99D35B56627A}"/>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42683526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48182"/>
            <a:ext cx="10886954" cy="5845215"/>
          </a:xfrm>
        </p:spPr>
        <p:txBody>
          <a:bodyPr>
            <a:normAutofit/>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将其转存到</a:t>
            </a:r>
            <a:r>
              <a:rPr lang="en-US" altLang="zh-CN" dirty="0">
                <a:latin typeface="华光仿宋_CNKI" panose="02000500000000000000" pitchFamily="2" charset="-122"/>
                <a:ea typeface="华光仿宋_CNKI" panose="02000500000000000000" pitchFamily="2" charset="-122"/>
              </a:rPr>
              <a:t>XMFLOAT4X4</a:t>
            </a:r>
            <a:r>
              <a:rPr lang="zh-CN" altLang="en-US" dirty="0">
                <a:latin typeface="华光仿宋_CNKI" panose="02000500000000000000" pitchFamily="2" charset="-122"/>
                <a:ea typeface="华光仿宋_CNKI" panose="02000500000000000000" pitchFamily="2" charset="-122"/>
              </a:rPr>
              <a:t>，可采用如下方法：</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inline XMMATRIX XM_CALLCONV   XMLoadFloat4x4(const XMFLOAT4X4* </a:t>
            </a:r>
            <a:r>
              <a:rPr lang="en-US" altLang="zh-CN" dirty="0" err="1">
                <a:latin typeface="华光仿宋_CNKI" panose="02000500000000000000" pitchFamily="2" charset="-122"/>
                <a:ea typeface="华光仿宋_CNKI" panose="02000500000000000000" pitchFamily="2" charset="-122"/>
              </a:rPr>
              <a:t>pSource</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加载</a:t>
            </a:r>
            <a:r>
              <a:rPr lang="en-US" altLang="zh-CN" dirty="0">
                <a:latin typeface="华光仿宋_CNKI" panose="02000500000000000000" pitchFamily="2" charset="-122"/>
                <a:ea typeface="华光仿宋_CNKI" panose="02000500000000000000" pitchFamily="2" charset="-122"/>
              </a:rPr>
              <a:t>XMFLOAT4X4</a:t>
            </a:r>
            <a:r>
              <a:rPr lang="zh-CN" altLang="en-US" dirty="0">
                <a:latin typeface="华光仿宋_CNKI" panose="02000500000000000000" pitchFamily="2" charset="-122"/>
                <a:ea typeface="华光仿宋_CNKI" panose="02000500000000000000" pitchFamily="2" charset="-122"/>
              </a:rPr>
              <a:t>变量到</a:t>
            </a:r>
            <a:r>
              <a:rPr lang="en-US" altLang="zh-CN" dirty="0">
                <a:latin typeface="华光仿宋_CNKI" panose="02000500000000000000" pitchFamily="2" charset="-122"/>
                <a:ea typeface="华光仿宋_CNKI" panose="02000500000000000000" pitchFamily="2" charset="-122"/>
              </a:rPr>
              <a:t>XMMATRIX</a:t>
            </a:r>
            <a:r>
              <a:rPr lang="zh-CN" altLang="en-US" dirty="0">
                <a:latin typeface="华光仿宋_CNKI" panose="02000500000000000000" pitchFamily="2" charset="-122"/>
                <a:ea typeface="华光仿宋_CNKI" panose="02000500000000000000" pitchFamily="2" charset="-122"/>
              </a:rPr>
              <a:t>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inline void XM_CALLCONV XMStoreFloat4x4(XMFLOAT4X4* </a:t>
            </a:r>
            <a:r>
              <a:rPr lang="en-US" altLang="zh-CN" dirty="0" err="1">
                <a:latin typeface="华光仿宋_CNKI" panose="02000500000000000000" pitchFamily="2" charset="-122"/>
                <a:ea typeface="华光仿宋_CNKI" panose="02000500000000000000" pitchFamily="2" charset="-122"/>
              </a:rPr>
              <a:t>pDestination</a:t>
            </a:r>
            <a:r>
              <a:rPr lang="en-US" altLang="zh-CN" dirty="0">
                <a:latin typeface="华光仿宋_CNKI" panose="02000500000000000000" pitchFamily="2" charset="-122"/>
                <a:ea typeface="华光仿宋_CNKI" panose="02000500000000000000" pitchFamily="2" charset="-122"/>
              </a:rPr>
              <a:t>, FXMMATRIX M);   //</a:t>
            </a:r>
            <a:r>
              <a:rPr lang="zh-CN" altLang="en-US" dirty="0">
                <a:latin typeface="华光仿宋_CNKI" panose="02000500000000000000" pitchFamily="2" charset="-122"/>
                <a:ea typeface="华光仿宋_CNKI" panose="02000500000000000000" pitchFamily="2" charset="-122"/>
              </a:rPr>
              <a:t>将</a:t>
            </a:r>
            <a:r>
              <a:rPr lang="en-US" altLang="zh-CN" dirty="0">
                <a:latin typeface="华光仿宋_CNKI" panose="02000500000000000000" pitchFamily="2" charset="-122"/>
                <a:ea typeface="华光仿宋_CNKI" panose="02000500000000000000" pitchFamily="2" charset="-122"/>
              </a:rPr>
              <a:t>XMMATRIX</a:t>
            </a:r>
            <a:r>
              <a:rPr lang="zh-CN" altLang="en-US" dirty="0">
                <a:latin typeface="华光仿宋_CNKI" panose="02000500000000000000" pitchFamily="2" charset="-122"/>
                <a:ea typeface="华光仿宋_CNKI" panose="02000500000000000000" pitchFamily="2" charset="-122"/>
              </a:rPr>
              <a:t>变量保存到</a:t>
            </a:r>
            <a:r>
              <a:rPr lang="en-US" altLang="zh-CN" dirty="0">
                <a:latin typeface="华光仿宋_CNKI" panose="02000500000000000000" pitchFamily="2" charset="-122"/>
                <a:ea typeface="华光仿宋_CNKI" panose="02000500000000000000" pitchFamily="2" charset="-122"/>
              </a:rPr>
              <a:t>XMFLOAT4X4</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2.2  </a:t>
            </a:r>
            <a:r>
              <a:rPr lang="zh-CN" altLang="en-US" dirty="0">
                <a:latin typeface="华光仿宋_CNKI" panose="02000500000000000000" pitchFamily="2" charset="-122"/>
                <a:ea typeface="华光仿宋_CNKI" panose="02000500000000000000" pitchFamily="2" charset="-122"/>
              </a:rPr>
              <a:t>与矩阵有关的运算函数</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与矩阵有关的函数主要有：求单位矩阵，判断单位矩阵，矩阵相乘，矩阵转置，矩阵行列式的值，矩阵的逆等。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8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9A201E1E-FB29-E847-393E-A1EF317DF2A1}"/>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49789930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48182"/>
            <a:ext cx="10886954" cy="5845215"/>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相关的函数可参照</a:t>
            </a:r>
            <a:r>
              <a:rPr lang="en-US" altLang="zh-CN" dirty="0">
                <a:latin typeface="华光仿宋_CNKI" panose="02000500000000000000" pitchFamily="2" charset="-122"/>
                <a:ea typeface="华光仿宋_CNKI" panose="02000500000000000000" pitchFamily="2" charset="-122"/>
              </a:rPr>
              <a:t>SDK</a:t>
            </a:r>
            <a:r>
              <a:rPr lang="zh-CN" altLang="en-US" dirty="0">
                <a:latin typeface="华光仿宋_CNKI" panose="02000500000000000000" pitchFamily="2" charset="-122"/>
                <a:ea typeface="华光仿宋_CNKI" panose="02000500000000000000" pitchFamily="2" charset="-122"/>
              </a:rPr>
              <a:t>帮助，在此不做详细的介绍。</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需要注意的是，对于与矩阵有关的函数，其第一个参数必须是</a:t>
            </a:r>
            <a:r>
              <a:rPr lang="en-US" altLang="zh-CN" dirty="0">
                <a:latin typeface="华光仿宋_CNKI" panose="02000500000000000000" pitchFamily="2" charset="-122"/>
                <a:ea typeface="华光仿宋_CNKI" panose="02000500000000000000" pitchFamily="2" charset="-122"/>
              </a:rPr>
              <a:t>FXMMATRIX</a:t>
            </a:r>
            <a:r>
              <a:rPr lang="zh-CN" altLang="en-US" dirty="0">
                <a:latin typeface="华光仿宋_CNKI" panose="02000500000000000000" pitchFamily="2" charset="-122"/>
                <a:ea typeface="华光仿宋_CNKI" panose="02000500000000000000" pitchFamily="2" charset="-122"/>
              </a:rPr>
              <a:t>，其他的所有参数必须是</a:t>
            </a:r>
            <a:r>
              <a:rPr lang="en-US" altLang="zh-CN" dirty="0">
                <a:latin typeface="华光仿宋_CNKI" panose="02000500000000000000" pitchFamily="2" charset="-122"/>
                <a:ea typeface="华光仿宋_CNKI" panose="02000500000000000000" pitchFamily="2" charset="-122"/>
              </a:rPr>
              <a:t>CXMMATRIX</a:t>
            </a:r>
            <a:r>
              <a:rPr lang="zh-CN" altLang="en-US" dirty="0">
                <a:latin typeface="华光仿宋_CNKI" panose="02000500000000000000" pitchFamily="2" charset="-122"/>
                <a:ea typeface="华光仿宋_CNKI" panose="02000500000000000000" pitchFamily="2" charset="-122"/>
              </a:rPr>
              <a:t>类型。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8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3E666D30-3D5C-6CC7-BE9C-485CE04525D8}"/>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30118326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7125" y="721581"/>
            <a:ext cx="11001292" cy="5297556"/>
          </a:xfrm>
        </p:spPr>
        <p:txBody>
          <a:bodyPr>
            <a:normAutofit/>
          </a:bodyPr>
          <a:lstStyle/>
          <a:p>
            <a:pPr marL="0" indent="0">
              <a:lnSpc>
                <a:spcPct val="160000"/>
              </a:lnSpc>
              <a:buNone/>
            </a:pPr>
            <a:r>
              <a:rPr lang="en-US" altLang="zh-CN" sz="3200" b="1" dirty="0">
                <a:solidFill>
                  <a:srgbClr val="0070C0"/>
                </a:solidFill>
                <a:latin typeface="华光仿宋_CNKI" panose="02000500000000000000" pitchFamily="2" charset="-122"/>
                <a:ea typeface="华光仿宋_CNKI" panose="02000500000000000000" pitchFamily="2" charset="-122"/>
              </a:rPr>
              <a:t>   </a:t>
            </a:r>
            <a:r>
              <a:rPr lang="en-US" altLang="zh-CN" sz="3200" b="1" dirty="0">
                <a:solidFill>
                  <a:srgbClr val="0070C0"/>
                </a:solidFill>
                <a:latin typeface="黑体" panose="02010609060101010101" pitchFamily="49" charset="-122"/>
                <a:ea typeface="黑体" panose="02010609060101010101" pitchFamily="49" charset="-122"/>
              </a:rPr>
              <a:t>3.</a:t>
            </a:r>
            <a:r>
              <a:rPr lang="zh-CN" altLang="en-US" sz="3200" b="1" dirty="0">
                <a:solidFill>
                  <a:srgbClr val="0070C0"/>
                </a:solidFill>
                <a:latin typeface="黑体" panose="02010609060101010101" pitchFamily="49" charset="-122"/>
                <a:ea typeface="黑体" panose="02010609060101010101" pitchFamily="49" charset="-122"/>
              </a:rPr>
              <a:t>与坐标变换有关的函数</a:t>
            </a:r>
            <a:r>
              <a:rPr lang="en-US" altLang="zh-CN" sz="3200" b="1" dirty="0">
                <a:solidFill>
                  <a:srgbClr val="0070C0"/>
                </a:solidFill>
                <a:latin typeface="黑体" panose="02010609060101010101" pitchFamily="49" charset="-122"/>
                <a:ea typeface="黑体" panose="02010609060101010101" pitchFamily="49" charset="-122"/>
              </a:rPr>
              <a:t> </a:t>
            </a:r>
          </a:p>
          <a:p>
            <a:pPr marL="0" indent="0">
              <a:lnSpc>
                <a:spcPct val="20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DirectXMath</a:t>
            </a:r>
            <a:r>
              <a:rPr lang="zh-CN" altLang="en-US" dirty="0">
                <a:latin typeface="华光仿宋_CNKI" panose="02000500000000000000" pitchFamily="2" charset="-122"/>
                <a:ea typeface="华光仿宋_CNKI" panose="02000500000000000000" pitchFamily="2" charset="-122"/>
              </a:rPr>
              <a:t>中与变换有关的函数主要有：构造一个放大矩阵，旋转矩阵（</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轴以及任意轴），平移矩阵，计算点经过变换之后的矢量</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，计算某个矢量经过某种变换之后的矢量</a:t>
            </a:r>
            <a:r>
              <a:rPr lang="en-US" altLang="zh-CN" dirty="0">
                <a:latin typeface="华光仿宋_CNKI" panose="02000500000000000000" pitchFamily="2" charset="-122"/>
                <a:ea typeface="华光仿宋_CNKI" panose="02000500000000000000" pitchFamily="2" charset="-122"/>
              </a:rPr>
              <a:t>XMVECTOR</a:t>
            </a:r>
            <a:r>
              <a:rPr lang="zh-CN" altLang="en-US" dirty="0">
                <a:latin typeface="华光仿宋_CNKI" panose="02000500000000000000" pitchFamily="2" charset="-122"/>
                <a:ea typeface="华光仿宋_CNKI" panose="02000500000000000000" pitchFamily="2" charset="-122"/>
              </a:rPr>
              <a:t>。由于点和矢量的矩阵变换不同，矢量没有位置，因此</a:t>
            </a:r>
            <a:r>
              <a:rPr lang="en-US" altLang="zh-CN" dirty="0">
                <a:latin typeface="华光仿宋_CNKI" panose="02000500000000000000" pitchFamily="2" charset="-122"/>
                <a:ea typeface="华光仿宋_CNKI" panose="02000500000000000000" pitchFamily="2" charset="-122"/>
              </a:rPr>
              <a:t>w=0, </a:t>
            </a:r>
            <a:r>
              <a:rPr lang="zh-CN" altLang="en-US" dirty="0">
                <a:latin typeface="华光仿宋_CNKI" panose="02000500000000000000" pitchFamily="2" charset="-122"/>
                <a:ea typeface="华光仿宋_CNKI" panose="02000500000000000000" pitchFamily="2" charset="-122"/>
              </a:rPr>
              <a:t>而点有位置，因此</a:t>
            </a:r>
            <a:r>
              <a:rPr lang="en-US" altLang="zh-CN" dirty="0">
                <a:latin typeface="华光仿宋_CNKI" panose="02000500000000000000" pitchFamily="2" charset="-122"/>
                <a:ea typeface="华光仿宋_CNKI" panose="02000500000000000000" pitchFamily="2" charset="-122"/>
              </a:rPr>
              <a:t>w=1. </a:t>
            </a:r>
            <a:r>
              <a:rPr lang="zh-CN" altLang="en-US" dirty="0">
                <a:latin typeface="华光仿宋_CNKI" panose="02000500000000000000" pitchFamily="2" charset="-122"/>
                <a:ea typeface="华光仿宋_CNKI" panose="02000500000000000000" pitchFamily="2" charset="-122"/>
              </a:rPr>
              <a:t>具体的函数请参照相关资料。</a:t>
            </a:r>
            <a:endParaRPr lang="en-US" altLang="zh-CN" dirty="0">
              <a:latin typeface="华光仿宋_CNKI" panose="02000500000000000000" pitchFamily="2" charset="-122"/>
              <a:ea typeface="华光仿宋_CNKI" panose="02000500000000000000" pitchFamily="2" charset="-122"/>
            </a:endParaRPr>
          </a:p>
          <a:p>
            <a:pPr marL="0" indent="0">
              <a:lnSpc>
                <a:spcPct val="21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21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210000"/>
              </a:lnSpc>
              <a:buNone/>
            </a:pPr>
            <a:endParaRPr lang="en-US" altLang="zh-CN"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150F0026-2DD0-B7A3-A254-EA2A251DD3AC}"/>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65658752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4544" y="1020102"/>
            <a:ext cx="11314705" cy="4625325"/>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dirty="0" err="1">
                <a:latin typeface="华光仿宋_CNKI" panose="02000500000000000000" pitchFamily="2" charset="-122"/>
                <a:ea typeface="华光仿宋_CNKI" panose="02000500000000000000" pitchFamily="2" charset="-122"/>
              </a:rPr>
              <a:t>DirectXMath</a:t>
            </a:r>
            <a:r>
              <a:rPr lang="zh-CN" altLang="en-US" dirty="0">
                <a:latin typeface="华光仿宋_CNKI" panose="02000500000000000000" pitchFamily="2" charset="-122"/>
                <a:ea typeface="华光仿宋_CNKI" panose="02000500000000000000" pitchFamily="2" charset="-122"/>
              </a:rPr>
              <a:t>库中与变换有关的函数包括：</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sz="2400" dirty="0">
                <a:latin typeface="华光仿宋_CNKI" panose="02000500000000000000" pitchFamily="2" charset="-122"/>
                <a:ea typeface="华光仿宋_CNKI" panose="02000500000000000000" pitchFamily="2" charset="-122"/>
              </a:rPr>
              <a:t>XMMATRIX XM_CALLCONV </a:t>
            </a:r>
            <a:r>
              <a:rPr lang="en-US" altLang="zh-CN" sz="2400" dirty="0" err="1">
                <a:latin typeface="华光仿宋_CNKI" panose="02000500000000000000" pitchFamily="2" charset="-122"/>
                <a:ea typeface="华光仿宋_CNKI" panose="02000500000000000000" pitchFamily="2" charset="-122"/>
              </a:rPr>
              <a:t>XMMatrixScaling</a:t>
            </a:r>
            <a:r>
              <a:rPr lang="en-US" altLang="zh-CN" sz="2400" dirty="0">
                <a:latin typeface="华光仿宋_CNKI" panose="02000500000000000000" pitchFamily="2" charset="-122"/>
                <a:ea typeface="华光仿宋_CNKI" panose="02000500000000000000" pitchFamily="2" charset="-122"/>
              </a:rPr>
              <a:t>( float </a:t>
            </a:r>
            <a:r>
              <a:rPr lang="en-US" altLang="zh-CN" sz="2400" dirty="0" err="1">
                <a:latin typeface="华光仿宋_CNKI" panose="02000500000000000000" pitchFamily="2" charset="-122"/>
                <a:ea typeface="华光仿宋_CNKI" panose="02000500000000000000" pitchFamily="2" charset="-122"/>
              </a:rPr>
              <a:t>ScaleX</a:t>
            </a:r>
            <a:r>
              <a:rPr lang="en-US" altLang="zh-CN" sz="2400" dirty="0">
                <a:latin typeface="华光仿宋_CNKI" panose="02000500000000000000" pitchFamily="2" charset="-122"/>
                <a:ea typeface="华光仿宋_CNKI" panose="02000500000000000000" pitchFamily="2" charset="-122"/>
              </a:rPr>
              <a:t>, float </a:t>
            </a:r>
            <a:r>
              <a:rPr lang="en-US" altLang="zh-CN" sz="2400" dirty="0" err="1">
                <a:latin typeface="华光仿宋_CNKI" panose="02000500000000000000" pitchFamily="2" charset="-122"/>
                <a:ea typeface="华光仿宋_CNKI" panose="02000500000000000000" pitchFamily="2" charset="-122"/>
              </a:rPr>
              <a:t>ScaleY</a:t>
            </a:r>
            <a:r>
              <a:rPr lang="en-US" altLang="zh-CN" sz="2400" dirty="0">
                <a:latin typeface="华光仿宋_CNKI" panose="02000500000000000000" pitchFamily="2" charset="-122"/>
                <a:ea typeface="华光仿宋_CNKI" panose="02000500000000000000" pitchFamily="2" charset="-122"/>
              </a:rPr>
              <a:t>, float </a:t>
            </a:r>
            <a:r>
              <a:rPr lang="en-US" altLang="zh-CN" sz="2400" dirty="0" err="1">
                <a:latin typeface="华光仿宋_CNKI" panose="02000500000000000000" pitchFamily="2" charset="-122"/>
                <a:ea typeface="华光仿宋_CNKI" panose="02000500000000000000" pitchFamily="2" charset="-122"/>
              </a:rPr>
              <a:t>ScaleZ</a:t>
            </a: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放大矩阵</a:t>
            </a:r>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XMMATRIX XM_CALLCONV </a:t>
            </a:r>
            <a:r>
              <a:rPr lang="en-US" altLang="zh-CN" sz="2400" dirty="0" err="1">
                <a:latin typeface="华光仿宋_CNKI" panose="02000500000000000000" pitchFamily="2" charset="-122"/>
                <a:ea typeface="华光仿宋_CNKI" panose="02000500000000000000" pitchFamily="2" charset="-122"/>
              </a:rPr>
              <a:t>XMMatrixScalingFromVector</a:t>
            </a:r>
            <a:r>
              <a:rPr lang="en-US" altLang="zh-CN" sz="2400" dirty="0">
                <a:latin typeface="华光仿宋_CNKI" panose="02000500000000000000" pitchFamily="2" charset="-122"/>
                <a:ea typeface="华光仿宋_CNKI" panose="02000500000000000000" pitchFamily="2" charset="-122"/>
              </a:rPr>
              <a:t>( FXMVECTOR Scale);       </a:t>
            </a: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放大矩阵，但放大因子是矢量</a:t>
            </a:r>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XMMATRIX XM_CALLCONV </a:t>
            </a:r>
            <a:r>
              <a:rPr lang="en-US" altLang="zh-CN" sz="2400" dirty="0" err="1">
                <a:latin typeface="华光仿宋_CNKI" panose="02000500000000000000" pitchFamily="2" charset="-122"/>
                <a:ea typeface="华光仿宋_CNKI" panose="02000500000000000000" pitchFamily="2" charset="-122"/>
              </a:rPr>
              <a:t>XMMatrixRotationX</a:t>
            </a:r>
            <a:r>
              <a:rPr lang="en-US" altLang="zh-CN" sz="2400" dirty="0">
                <a:latin typeface="华光仿宋_CNKI" panose="02000500000000000000" pitchFamily="2" charset="-122"/>
                <a:ea typeface="华光仿宋_CNKI" panose="02000500000000000000" pitchFamily="2" charset="-122"/>
              </a:rPr>
              <a:t>(   float Angle); </a:t>
            </a: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绕</a:t>
            </a:r>
            <a:r>
              <a:rPr lang="en-US" altLang="zh-CN" sz="2400" dirty="0">
                <a:latin typeface="华光仿宋_CNKI" panose="02000500000000000000" pitchFamily="2" charset="-122"/>
                <a:ea typeface="华光仿宋_CNKI" panose="02000500000000000000" pitchFamily="2" charset="-122"/>
              </a:rPr>
              <a:t>X</a:t>
            </a:r>
            <a:r>
              <a:rPr lang="zh-CN" altLang="en-US" sz="2400" dirty="0">
                <a:latin typeface="华光仿宋_CNKI" panose="02000500000000000000" pitchFamily="2" charset="-122"/>
                <a:ea typeface="华光仿宋_CNKI" panose="02000500000000000000" pitchFamily="2" charset="-122"/>
              </a:rPr>
              <a:t>轴顺时针旋转</a:t>
            </a:r>
            <a:r>
              <a:rPr lang="en-US" altLang="zh-CN" sz="2400" dirty="0">
                <a:latin typeface="华光仿宋_CNKI" panose="02000500000000000000" pitchFamily="2" charset="-122"/>
                <a:ea typeface="华光仿宋_CNKI" panose="02000500000000000000" pitchFamily="2" charset="-122"/>
              </a:rPr>
              <a:t>Angle</a:t>
            </a:r>
            <a:r>
              <a:rPr lang="zh-CN" altLang="en-US" sz="2400" dirty="0">
                <a:latin typeface="华光仿宋_CNKI" panose="02000500000000000000" pitchFamily="2" charset="-122"/>
                <a:ea typeface="华光仿宋_CNKI" panose="02000500000000000000" pitchFamily="2" charset="-122"/>
              </a:rPr>
              <a:t>大小的角度</a:t>
            </a:r>
            <a:r>
              <a:rPr lang="en-US" altLang="zh-CN" sz="2400" dirty="0">
                <a:latin typeface="华光仿宋_CNKI" panose="02000500000000000000" pitchFamily="2" charset="-122"/>
                <a:ea typeface="华光仿宋_CNKI" panose="02000500000000000000" pitchFamily="2" charset="-122"/>
              </a:rPr>
              <a:t> </a:t>
            </a: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5" name="标题 1">
            <a:extLst>
              <a:ext uri="{FF2B5EF4-FFF2-40B4-BE49-F238E27FC236}">
                <a16:creationId xmlns:a16="http://schemas.microsoft.com/office/drawing/2014/main" id="{CDC76A1B-D775-F6CA-D3DF-0BE2FD7C625F}"/>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19412198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6937" y="656439"/>
            <a:ext cx="11036409" cy="5545122"/>
          </a:xfrm>
        </p:spPr>
        <p:txBody>
          <a:bodyPr>
            <a:normAutofit/>
          </a:bodyPr>
          <a:lstStyle/>
          <a:p>
            <a:pPr marL="0" indent="0">
              <a:lnSpc>
                <a:spcPct val="150000"/>
              </a:lnSpc>
              <a:buNone/>
            </a:pPr>
            <a:r>
              <a:rPr lang="en-US" altLang="zh-CN" sz="2400" dirty="0">
                <a:latin typeface="+mn-ea"/>
              </a:rPr>
              <a:t>    </a:t>
            </a:r>
            <a:r>
              <a:rPr lang="en-US" altLang="zh-CN" sz="2400" dirty="0">
                <a:latin typeface="华光仿宋_CNKI" panose="02000500000000000000" pitchFamily="2" charset="-122"/>
                <a:ea typeface="华光仿宋_CNKI" panose="02000500000000000000" pitchFamily="2" charset="-122"/>
              </a:rPr>
              <a:t>XMMATRIX XM_CALLCONV </a:t>
            </a:r>
            <a:r>
              <a:rPr lang="en-US" altLang="zh-CN" sz="2400" dirty="0" err="1">
                <a:latin typeface="华光仿宋_CNKI" panose="02000500000000000000" pitchFamily="2" charset="-122"/>
                <a:ea typeface="华光仿宋_CNKI" panose="02000500000000000000" pitchFamily="2" charset="-122"/>
              </a:rPr>
              <a:t>XMMatrixRotationY</a:t>
            </a:r>
            <a:r>
              <a:rPr lang="en-US" altLang="zh-CN" sz="2400" dirty="0">
                <a:latin typeface="华光仿宋_CNKI" panose="02000500000000000000" pitchFamily="2" charset="-122"/>
                <a:ea typeface="华光仿宋_CNKI" panose="02000500000000000000" pitchFamily="2" charset="-122"/>
              </a:rPr>
              <a:t>(   float Angle); </a:t>
            </a: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绕</a:t>
            </a:r>
            <a:r>
              <a:rPr lang="en-US" altLang="zh-CN" sz="2400" dirty="0">
                <a:latin typeface="华光仿宋_CNKI" panose="02000500000000000000" pitchFamily="2" charset="-122"/>
                <a:ea typeface="华光仿宋_CNKI" panose="02000500000000000000" pitchFamily="2" charset="-122"/>
              </a:rPr>
              <a:t>Y</a:t>
            </a:r>
            <a:r>
              <a:rPr lang="zh-CN" altLang="en-US" sz="2400" dirty="0">
                <a:latin typeface="华光仿宋_CNKI" panose="02000500000000000000" pitchFamily="2" charset="-122"/>
                <a:ea typeface="华光仿宋_CNKI" panose="02000500000000000000" pitchFamily="2" charset="-122"/>
              </a:rPr>
              <a:t>轴顺时针旋转</a:t>
            </a:r>
            <a:r>
              <a:rPr lang="en-US" altLang="zh-CN" sz="2400" dirty="0">
                <a:latin typeface="华光仿宋_CNKI" panose="02000500000000000000" pitchFamily="2" charset="-122"/>
                <a:ea typeface="华光仿宋_CNKI" panose="02000500000000000000" pitchFamily="2" charset="-122"/>
              </a:rPr>
              <a:t>Angle</a:t>
            </a:r>
            <a:r>
              <a:rPr lang="zh-CN" altLang="en-US" sz="2400" dirty="0">
                <a:latin typeface="华光仿宋_CNKI" panose="02000500000000000000" pitchFamily="2" charset="-122"/>
                <a:ea typeface="华光仿宋_CNKI" panose="02000500000000000000" pitchFamily="2" charset="-122"/>
              </a:rPr>
              <a:t>大小的角度</a:t>
            </a:r>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XMMATRIX XM_CALLCONV </a:t>
            </a:r>
            <a:r>
              <a:rPr lang="en-US" altLang="zh-CN" sz="2400" dirty="0" err="1">
                <a:latin typeface="华光仿宋_CNKI" panose="02000500000000000000" pitchFamily="2" charset="-122"/>
                <a:ea typeface="华光仿宋_CNKI" panose="02000500000000000000" pitchFamily="2" charset="-122"/>
              </a:rPr>
              <a:t>XMMatrixRotationZ</a:t>
            </a:r>
            <a:r>
              <a:rPr lang="en-US" altLang="zh-CN" sz="2400" dirty="0">
                <a:latin typeface="华光仿宋_CNKI" panose="02000500000000000000" pitchFamily="2" charset="-122"/>
                <a:ea typeface="华光仿宋_CNKI" panose="02000500000000000000" pitchFamily="2" charset="-122"/>
              </a:rPr>
              <a:t>(   float Angle); </a:t>
            </a: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绕</a:t>
            </a:r>
            <a:r>
              <a:rPr lang="en-US" altLang="zh-CN" sz="2400" dirty="0">
                <a:latin typeface="华光仿宋_CNKI" panose="02000500000000000000" pitchFamily="2" charset="-122"/>
                <a:ea typeface="华光仿宋_CNKI" panose="02000500000000000000" pitchFamily="2" charset="-122"/>
              </a:rPr>
              <a:t>Z</a:t>
            </a:r>
            <a:r>
              <a:rPr lang="zh-CN" altLang="en-US" sz="2400" dirty="0">
                <a:latin typeface="华光仿宋_CNKI" panose="02000500000000000000" pitchFamily="2" charset="-122"/>
                <a:ea typeface="华光仿宋_CNKI" panose="02000500000000000000" pitchFamily="2" charset="-122"/>
              </a:rPr>
              <a:t>轴顺时针旋转</a:t>
            </a:r>
            <a:r>
              <a:rPr lang="en-US" altLang="zh-CN" sz="2400" dirty="0">
                <a:latin typeface="华光仿宋_CNKI" panose="02000500000000000000" pitchFamily="2" charset="-122"/>
                <a:ea typeface="华光仿宋_CNKI" panose="02000500000000000000" pitchFamily="2" charset="-122"/>
              </a:rPr>
              <a:t>Angle</a:t>
            </a:r>
            <a:r>
              <a:rPr lang="zh-CN" altLang="en-US" sz="2400" dirty="0">
                <a:latin typeface="华光仿宋_CNKI" panose="02000500000000000000" pitchFamily="2" charset="-122"/>
                <a:ea typeface="华光仿宋_CNKI" panose="02000500000000000000" pitchFamily="2" charset="-122"/>
              </a:rPr>
              <a:t>大小的角度</a:t>
            </a:r>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XMMATRIX XM_CALLCONV </a:t>
            </a:r>
            <a:r>
              <a:rPr lang="en-US" altLang="zh-CN" sz="2400" dirty="0" err="1">
                <a:latin typeface="华光仿宋_CNKI" panose="02000500000000000000" pitchFamily="2" charset="-122"/>
                <a:ea typeface="华光仿宋_CNKI" panose="02000500000000000000" pitchFamily="2" charset="-122"/>
              </a:rPr>
              <a:t>XMMatrixRotationAxis</a:t>
            </a:r>
            <a:r>
              <a:rPr lang="en-US" altLang="zh-CN" sz="2400" dirty="0">
                <a:latin typeface="华光仿宋_CNKI" panose="02000500000000000000" pitchFamily="2" charset="-122"/>
                <a:ea typeface="华光仿宋_CNKI" panose="02000500000000000000" pitchFamily="2" charset="-122"/>
              </a:rPr>
              <a:t>(   FXMVECTOR Axis, float Angle); //</a:t>
            </a:r>
            <a:r>
              <a:rPr lang="zh-CN" altLang="en-US" sz="2400" dirty="0">
                <a:latin typeface="华光仿宋_CNKI" panose="02000500000000000000" pitchFamily="2" charset="-122"/>
                <a:ea typeface="华光仿宋_CNKI" panose="02000500000000000000" pitchFamily="2" charset="-122"/>
              </a:rPr>
              <a:t>绕</a:t>
            </a:r>
            <a:r>
              <a:rPr lang="en-US" altLang="zh-CN" sz="2400" dirty="0">
                <a:latin typeface="华光仿宋_CNKI" panose="02000500000000000000" pitchFamily="2" charset="-122"/>
                <a:ea typeface="华光仿宋_CNKI" panose="02000500000000000000" pitchFamily="2" charset="-122"/>
              </a:rPr>
              <a:t>Axis</a:t>
            </a:r>
            <a:r>
              <a:rPr lang="zh-CN" altLang="en-US" sz="2400" dirty="0">
                <a:latin typeface="华光仿宋_CNKI" panose="02000500000000000000" pitchFamily="2" charset="-122"/>
                <a:ea typeface="华光仿宋_CNKI" panose="02000500000000000000" pitchFamily="2" charset="-122"/>
              </a:rPr>
              <a:t>矢量顺时针旋转</a:t>
            </a:r>
            <a:r>
              <a:rPr lang="en-US" altLang="zh-CN" sz="2400" dirty="0">
                <a:latin typeface="华光仿宋_CNKI" panose="02000500000000000000" pitchFamily="2" charset="-122"/>
                <a:ea typeface="华光仿宋_CNKI" panose="02000500000000000000" pitchFamily="2" charset="-122"/>
              </a:rPr>
              <a:t>Angle</a:t>
            </a:r>
            <a:r>
              <a:rPr lang="zh-CN" altLang="en-US" sz="2400" dirty="0">
                <a:latin typeface="华光仿宋_CNKI" panose="02000500000000000000" pitchFamily="2" charset="-122"/>
                <a:ea typeface="华光仿宋_CNKI" panose="02000500000000000000" pitchFamily="2" charset="-122"/>
              </a:rPr>
              <a:t>的角度</a:t>
            </a:r>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XMMATRIX XM_CALLCONV </a:t>
            </a:r>
            <a:r>
              <a:rPr lang="en-US" altLang="zh-CN" sz="2400" dirty="0" err="1">
                <a:latin typeface="华光仿宋_CNKI" panose="02000500000000000000" pitchFamily="2" charset="-122"/>
                <a:ea typeface="华光仿宋_CNKI" panose="02000500000000000000" pitchFamily="2" charset="-122"/>
              </a:rPr>
              <a:t>XMMatrixTranslation</a:t>
            </a:r>
            <a:r>
              <a:rPr lang="en-US" altLang="zh-CN" sz="2400" dirty="0">
                <a:latin typeface="华光仿宋_CNKI" panose="02000500000000000000" pitchFamily="2" charset="-122"/>
                <a:ea typeface="华光仿宋_CNKI" panose="02000500000000000000" pitchFamily="2" charset="-122"/>
              </a:rPr>
              <a:t>( float </a:t>
            </a:r>
            <a:r>
              <a:rPr lang="en-US" altLang="zh-CN" sz="2400" dirty="0" err="1">
                <a:latin typeface="华光仿宋_CNKI" panose="02000500000000000000" pitchFamily="2" charset="-122"/>
                <a:ea typeface="华光仿宋_CNKI" panose="02000500000000000000" pitchFamily="2" charset="-122"/>
              </a:rPr>
              <a:t>OffsetX</a:t>
            </a:r>
            <a:r>
              <a:rPr lang="en-US" altLang="zh-CN" sz="2400" dirty="0">
                <a:latin typeface="华光仿宋_CNKI" panose="02000500000000000000" pitchFamily="2" charset="-122"/>
                <a:ea typeface="华光仿宋_CNKI" panose="02000500000000000000" pitchFamily="2" charset="-122"/>
              </a:rPr>
              <a:t>, float </a:t>
            </a:r>
            <a:r>
              <a:rPr lang="en-US" altLang="zh-CN" sz="2400" dirty="0" err="1">
                <a:latin typeface="华光仿宋_CNKI" panose="02000500000000000000" pitchFamily="2" charset="-122"/>
                <a:ea typeface="华光仿宋_CNKI" panose="02000500000000000000" pitchFamily="2" charset="-122"/>
              </a:rPr>
              <a:t>OffsetY</a:t>
            </a:r>
            <a:r>
              <a:rPr lang="en-US" altLang="zh-CN" sz="2400" dirty="0">
                <a:latin typeface="华光仿宋_CNKI" panose="02000500000000000000" pitchFamily="2" charset="-122"/>
                <a:ea typeface="华光仿宋_CNKI" panose="02000500000000000000" pitchFamily="2" charset="-122"/>
              </a:rPr>
              <a:t>, float </a:t>
            </a:r>
            <a:r>
              <a:rPr lang="en-US" altLang="zh-CN" sz="2400" dirty="0" err="1">
                <a:latin typeface="华光仿宋_CNKI" panose="02000500000000000000" pitchFamily="2" charset="-122"/>
                <a:ea typeface="华光仿宋_CNKI" panose="02000500000000000000" pitchFamily="2" charset="-122"/>
              </a:rPr>
              <a:t>OffsetZ</a:t>
            </a: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从当前位置平移</a:t>
            </a:r>
            <a:r>
              <a:rPr lang="en-US" altLang="zh-CN" sz="2400" dirty="0">
                <a:latin typeface="华光仿宋_CNKI" panose="02000500000000000000" pitchFamily="2" charset="-122"/>
                <a:ea typeface="华光仿宋_CNKI" panose="02000500000000000000" pitchFamily="2" charset="-122"/>
              </a:rPr>
              <a:t>(</a:t>
            </a:r>
            <a:r>
              <a:rPr lang="en-US" altLang="zh-CN" sz="2400" dirty="0" err="1">
                <a:latin typeface="华光仿宋_CNKI" panose="02000500000000000000" pitchFamily="2" charset="-122"/>
                <a:ea typeface="华光仿宋_CNKI" panose="02000500000000000000" pitchFamily="2" charset="-122"/>
              </a:rPr>
              <a:t>x,y,z</a:t>
            </a:r>
            <a:r>
              <a:rPr lang="en-US" altLang="zh-CN" sz="2400" dirty="0">
                <a:latin typeface="华光仿宋_CNKI" panose="02000500000000000000" pitchFamily="2" charset="-122"/>
                <a:ea typeface="华光仿宋_CNKI" panose="02000500000000000000" pitchFamily="2" charset="-122"/>
              </a:rPr>
              <a:t>)</a:t>
            </a:r>
            <a:r>
              <a:rPr lang="zh-CN" altLang="en-US" sz="2400" dirty="0">
                <a:latin typeface="华光仿宋_CNKI" panose="02000500000000000000" pitchFamily="2" charset="-122"/>
                <a:ea typeface="华光仿宋_CNKI" panose="02000500000000000000" pitchFamily="2" charset="-122"/>
              </a:rPr>
              <a:t>大小</a:t>
            </a:r>
            <a:endParaRPr lang="en-US" altLang="zh-CN" sz="2400" dirty="0">
              <a:latin typeface="华光仿宋_CNKI" panose="02000500000000000000" pitchFamily="2" charset="-122"/>
              <a:ea typeface="华光仿宋_CNKI" panose="02000500000000000000" pitchFamily="2" charset="-122"/>
            </a:endParaRPr>
          </a:p>
        </p:txBody>
      </p:sp>
      <p:sp>
        <p:nvSpPr>
          <p:cNvPr id="5" name="标题 1">
            <a:extLst>
              <a:ext uri="{FF2B5EF4-FFF2-40B4-BE49-F238E27FC236}">
                <a16:creationId xmlns:a16="http://schemas.microsoft.com/office/drawing/2014/main" id="{EF61C55D-7B07-3B10-8174-881D82122C05}"/>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81071232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0384" y="766307"/>
            <a:ext cx="10660711" cy="5545122"/>
          </a:xfrm>
        </p:spPr>
        <p:txBody>
          <a:bodyPr>
            <a:normAutofit/>
          </a:bodyPr>
          <a:lstStyle/>
          <a:p>
            <a:pPr marL="0" indent="0">
              <a:lnSpc>
                <a:spcPct val="200000"/>
              </a:lnSpc>
              <a:buNone/>
            </a:pPr>
            <a:r>
              <a:rPr lang="en-US" altLang="zh-CN" sz="2400" dirty="0">
                <a:latin typeface="+mn-ea"/>
              </a:rPr>
              <a:t>   </a:t>
            </a:r>
            <a:r>
              <a:rPr lang="en-US" altLang="zh-CN" sz="2400" dirty="0">
                <a:latin typeface="华光仿宋_CNKI" panose="02000500000000000000" pitchFamily="2" charset="-122"/>
                <a:ea typeface="华光仿宋_CNKI" panose="02000500000000000000" pitchFamily="2" charset="-122"/>
              </a:rPr>
              <a:t>XMMATRIX XM_CALLCONV </a:t>
            </a:r>
            <a:r>
              <a:rPr lang="en-US" altLang="zh-CN" sz="2400" dirty="0" err="1">
                <a:latin typeface="华光仿宋_CNKI" panose="02000500000000000000" pitchFamily="2" charset="-122"/>
                <a:ea typeface="华光仿宋_CNKI" panose="02000500000000000000" pitchFamily="2" charset="-122"/>
              </a:rPr>
              <a:t>XMMatrixTranslationFromVector</a:t>
            </a:r>
            <a:r>
              <a:rPr lang="en-US" altLang="zh-CN" sz="2400" dirty="0">
                <a:latin typeface="华光仿宋_CNKI" panose="02000500000000000000" pitchFamily="2" charset="-122"/>
                <a:ea typeface="华光仿宋_CNKI" panose="02000500000000000000" pitchFamily="2" charset="-122"/>
              </a:rPr>
              <a:t>( FXMVECTOR Offset); //</a:t>
            </a:r>
            <a:r>
              <a:rPr lang="zh-CN" altLang="en-US" sz="2400" dirty="0">
                <a:latin typeface="华光仿宋_CNKI" panose="02000500000000000000" pitchFamily="2" charset="-122"/>
                <a:ea typeface="华光仿宋_CNKI" panose="02000500000000000000" pitchFamily="2" charset="-122"/>
              </a:rPr>
              <a:t>从当前位置平移</a:t>
            </a:r>
            <a:r>
              <a:rPr lang="en-US" altLang="zh-CN" sz="2400" dirty="0">
                <a:latin typeface="华光仿宋_CNKI" panose="02000500000000000000" pitchFamily="2" charset="-122"/>
                <a:ea typeface="华光仿宋_CNKI" panose="02000500000000000000" pitchFamily="2" charset="-122"/>
              </a:rPr>
              <a:t>Offset</a:t>
            </a:r>
            <a:r>
              <a:rPr lang="zh-CN" altLang="en-US" sz="2400" dirty="0">
                <a:latin typeface="华光仿宋_CNKI" panose="02000500000000000000" pitchFamily="2" charset="-122"/>
                <a:ea typeface="华光仿宋_CNKI" panose="02000500000000000000" pitchFamily="2" charset="-122"/>
              </a:rPr>
              <a:t>矢量对应的大小 </a:t>
            </a:r>
            <a:endParaRPr lang="en-US" altLang="zh-CN" sz="2400" dirty="0">
              <a:latin typeface="华光仿宋_CNKI" panose="02000500000000000000" pitchFamily="2" charset="-122"/>
              <a:ea typeface="华光仿宋_CNKI" panose="02000500000000000000" pitchFamily="2" charset="-122"/>
            </a:endParaRPr>
          </a:p>
          <a:p>
            <a:pPr marL="0" indent="0">
              <a:lnSpc>
                <a:spcPct val="200000"/>
              </a:lnSpc>
              <a:buNone/>
            </a:pPr>
            <a:r>
              <a:rPr lang="en-US" altLang="zh-CN" sz="2400" dirty="0">
                <a:latin typeface="华光仿宋_CNKI" panose="02000500000000000000" pitchFamily="2" charset="-122"/>
                <a:ea typeface="华光仿宋_CNKI" panose="02000500000000000000" pitchFamily="2" charset="-122"/>
              </a:rPr>
              <a:t>   XMVECTOR XM_CALLCONV XMVector3TransformCoord( FXMVECTOR V,  CXMMATRIX M); //</a:t>
            </a:r>
            <a:r>
              <a:rPr lang="zh-CN" altLang="en-US" sz="2400" dirty="0">
                <a:latin typeface="华光仿宋_CNKI" panose="02000500000000000000" pitchFamily="2" charset="-122"/>
                <a:ea typeface="华光仿宋_CNKI" panose="02000500000000000000" pitchFamily="2" charset="-122"/>
              </a:rPr>
              <a:t>在</a:t>
            </a:r>
            <a:r>
              <a:rPr lang="en-US" altLang="zh-CN" sz="2400" dirty="0" err="1">
                <a:latin typeface="华光仿宋_CNKI" panose="02000500000000000000" pitchFamily="2" charset="-122"/>
                <a:ea typeface="华光仿宋_CNKI" panose="02000500000000000000" pitchFamily="2" charset="-122"/>
              </a:rPr>
              <a:t>Vw</a:t>
            </a:r>
            <a:r>
              <a:rPr lang="en-US" altLang="zh-CN" sz="2400" dirty="0">
                <a:latin typeface="华光仿宋_CNKI" panose="02000500000000000000" pitchFamily="2" charset="-122"/>
                <a:ea typeface="华光仿宋_CNKI" panose="02000500000000000000" pitchFamily="2" charset="-122"/>
              </a:rPr>
              <a:t>=1</a:t>
            </a:r>
            <a:r>
              <a:rPr lang="zh-CN" altLang="en-US" sz="2400" dirty="0">
                <a:latin typeface="华光仿宋_CNKI" panose="02000500000000000000" pitchFamily="2" charset="-122"/>
                <a:ea typeface="华光仿宋_CNKI" panose="02000500000000000000" pitchFamily="2" charset="-122"/>
              </a:rPr>
              <a:t>的情况下计算</a:t>
            </a:r>
            <a:r>
              <a:rPr lang="en-US" altLang="zh-CN" sz="2400" dirty="0">
                <a:latin typeface="华光仿宋_CNKI" panose="02000500000000000000" pitchFamily="2" charset="-122"/>
                <a:ea typeface="华光仿宋_CNKI" panose="02000500000000000000" pitchFamily="2" charset="-122"/>
              </a:rPr>
              <a:t>VM</a:t>
            </a:r>
            <a:r>
              <a:rPr lang="zh-CN" altLang="en-US" sz="2400" dirty="0">
                <a:latin typeface="华光仿宋_CNKI" panose="02000500000000000000" pitchFamily="2" charset="-122"/>
                <a:ea typeface="华光仿宋_CNKI" panose="02000500000000000000" pitchFamily="2" charset="-122"/>
              </a:rPr>
              <a:t>的值</a:t>
            </a:r>
            <a:endParaRPr lang="en-US" altLang="zh-CN" sz="2400" dirty="0">
              <a:latin typeface="华光仿宋_CNKI" panose="02000500000000000000" pitchFamily="2" charset="-122"/>
              <a:ea typeface="华光仿宋_CNKI" panose="02000500000000000000" pitchFamily="2" charset="-122"/>
            </a:endParaRPr>
          </a:p>
          <a:p>
            <a:pPr marL="0" indent="0">
              <a:lnSpc>
                <a:spcPct val="200000"/>
              </a:lnSpc>
              <a:buNone/>
            </a:pPr>
            <a:r>
              <a:rPr lang="en-US" altLang="zh-CN" sz="2400" dirty="0">
                <a:latin typeface="华光仿宋_CNKI" panose="02000500000000000000" pitchFamily="2" charset="-122"/>
                <a:ea typeface="华光仿宋_CNKI" panose="02000500000000000000" pitchFamily="2" charset="-122"/>
              </a:rPr>
              <a:t>   XMVECTOR XM_CALLCONV XMVector3TransformNormal ( FXMVECTOR V,  CXMMATRIX M); //</a:t>
            </a:r>
            <a:r>
              <a:rPr lang="zh-CN" altLang="en-US" sz="2400" dirty="0">
                <a:latin typeface="华光仿宋_CNKI" panose="02000500000000000000" pitchFamily="2" charset="-122"/>
                <a:ea typeface="华光仿宋_CNKI" panose="02000500000000000000" pitchFamily="2" charset="-122"/>
              </a:rPr>
              <a:t>在</a:t>
            </a:r>
            <a:r>
              <a:rPr lang="en-US" altLang="zh-CN" sz="2400" dirty="0" err="1">
                <a:latin typeface="华光仿宋_CNKI" panose="02000500000000000000" pitchFamily="2" charset="-122"/>
                <a:ea typeface="华光仿宋_CNKI" panose="02000500000000000000" pitchFamily="2" charset="-122"/>
              </a:rPr>
              <a:t>Vw</a:t>
            </a:r>
            <a:r>
              <a:rPr lang="en-US" altLang="zh-CN" sz="2400" dirty="0">
                <a:latin typeface="华光仿宋_CNKI" panose="02000500000000000000" pitchFamily="2" charset="-122"/>
                <a:ea typeface="华光仿宋_CNKI" panose="02000500000000000000" pitchFamily="2" charset="-122"/>
              </a:rPr>
              <a:t>=0</a:t>
            </a:r>
            <a:r>
              <a:rPr lang="zh-CN" altLang="en-US" sz="2400" dirty="0">
                <a:latin typeface="华光仿宋_CNKI" panose="02000500000000000000" pitchFamily="2" charset="-122"/>
                <a:ea typeface="华光仿宋_CNKI" panose="02000500000000000000" pitchFamily="2" charset="-122"/>
              </a:rPr>
              <a:t>的情况下计算</a:t>
            </a:r>
            <a:r>
              <a:rPr lang="en-US" altLang="zh-CN" sz="2400" dirty="0">
                <a:latin typeface="华光仿宋_CNKI" panose="02000500000000000000" pitchFamily="2" charset="-122"/>
                <a:ea typeface="华光仿宋_CNKI" panose="02000500000000000000" pitchFamily="2" charset="-122"/>
              </a:rPr>
              <a:t>VM</a:t>
            </a:r>
            <a:r>
              <a:rPr lang="zh-CN" altLang="en-US" sz="2400" dirty="0">
                <a:latin typeface="华光仿宋_CNKI" panose="02000500000000000000" pitchFamily="2" charset="-122"/>
                <a:ea typeface="华光仿宋_CNKI" panose="02000500000000000000" pitchFamily="2" charset="-122"/>
              </a:rPr>
              <a:t>的值</a:t>
            </a:r>
            <a:endParaRPr lang="en-US" altLang="zh-CN" sz="2400" dirty="0">
              <a:latin typeface="华光仿宋_CNKI" panose="02000500000000000000" pitchFamily="2" charset="-122"/>
              <a:ea typeface="华光仿宋_CNKI" panose="02000500000000000000" pitchFamily="2" charset="-122"/>
            </a:endParaRPr>
          </a:p>
        </p:txBody>
      </p:sp>
      <p:sp>
        <p:nvSpPr>
          <p:cNvPr id="5" name="标题 1">
            <a:extLst>
              <a:ext uri="{FF2B5EF4-FFF2-40B4-BE49-F238E27FC236}">
                <a16:creationId xmlns:a16="http://schemas.microsoft.com/office/drawing/2014/main" id="{1AD17353-B7D4-1D2A-C86D-1A9467A1AA5B}"/>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309548009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DD97CD4-BA03-4A89-AB15-7145DD1B11E1}"/>
              </a:ext>
            </a:extLst>
          </p:cNvPr>
          <p:cNvSpPr/>
          <p:nvPr/>
        </p:nvSpPr>
        <p:spPr>
          <a:xfrm>
            <a:off x="624177" y="927740"/>
            <a:ext cx="10943646" cy="5596276"/>
          </a:xfrm>
          <a:prstGeom prst="rect">
            <a:avLst/>
          </a:prstGeom>
        </p:spPr>
        <p:txBody>
          <a:bodyPr wrap="square">
            <a:spAutoFit/>
          </a:bodyPr>
          <a:lstStyle/>
          <a:p>
            <a:pPr>
              <a:lnSpc>
                <a:spcPct val="150000"/>
              </a:lnSpc>
              <a:spcBef>
                <a:spcPts val="1000"/>
              </a:spcBef>
            </a:pPr>
            <a:r>
              <a:rPr lang="zh-CN" altLang="en-US" sz="3200" dirty="0">
                <a:solidFill>
                  <a:schemeClr val="accent1">
                    <a:lumMod val="75000"/>
                  </a:schemeClr>
                </a:solidFill>
                <a:latin typeface="华光标题宋_CNKI" panose="02000500000000000000" pitchFamily="2" charset="-122"/>
                <a:ea typeface="华光标题宋_CNKI" panose="02000500000000000000" pitchFamily="2" charset="-122"/>
              </a:rPr>
              <a:t> </a:t>
            </a:r>
            <a:r>
              <a:rPr lang="en-US" altLang="zh-CN" sz="3200" b="1" dirty="0">
                <a:solidFill>
                  <a:schemeClr val="accent1">
                    <a:lumMod val="75000"/>
                  </a:schemeClr>
                </a:solidFill>
                <a:latin typeface="华光标题宋_CNKI" panose="02000500000000000000" pitchFamily="2" charset="-122"/>
                <a:ea typeface="华光标题宋_CNKI" panose="02000500000000000000" pitchFamily="2" charset="-122"/>
              </a:rPr>
              <a:t>4. DirectX</a:t>
            </a:r>
            <a:r>
              <a:rPr lang="zh-CN" altLang="en-US" sz="3200" b="1" dirty="0">
                <a:solidFill>
                  <a:schemeClr val="accent1">
                    <a:lumMod val="75000"/>
                  </a:schemeClr>
                </a:solidFill>
                <a:latin typeface="华光标题宋_CNKI" panose="02000500000000000000" pitchFamily="2" charset="-122"/>
                <a:ea typeface="华光标题宋_CNKI" panose="02000500000000000000" pitchFamily="2" charset="-122"/>
              </a:rPr>
              <a:t>中与四元数相关的函数</a:t>
            </a:r>
            <a:endParaRPr lang="en-US" altLang="zh-CN" sz="3200" dirty="0">
              <a:latin typeface="华光标题宋_CNKI" panose="02000500000000000000" pitchFamily="2" charset="-122"/>
              <a:ea typeface="华光标题宋_CNKI" panose="02000500000000000000" pitchFamily="2" charset="-122"/>
            </a:endParaRPr>
          </a:p>
          <a:p>
            <a:pPr lvl="2">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四元数点乘结果：</a:t>
            </a:r>
            <a:endParaRPr lang="en-US" altLang="zh-CN" sz="2400" dirty="0">
              <a:latin typeface="华光仿宋_CNKI" panose="02000500000000000000" pitchFamily="2" charset="-122"/>
              <a:ea typeface="华光仿宋_CNKI" panose="02000500000000000000" pitchFamily="2" charset="-122"/>
            </a:endParaRPr>
          </a:p>
          <a:p>
            <a:pPr lvl="2">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XMVECTOR XMQuaternionDot(XMVECTOR Q1, XMVECTOR Q2); </a:t>
            </a:r>
            <a:endParaRPr lang="en-US" altLang="zh-CN" sz="2400" dirty="0">
              <a:latin typeface="华光仿宋_CNKI" panose="02000500000000000000" pitchFamily="2" charset="-122"/>
              <a:ea typeface="华光仿宋_CNKI" panose="02000500000000000000" pitchFamily="2" charset="-122"/>
            </a:endParaRPr>
          </a:p>
          <a:p>
            <a:pPr lvl="2">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计算四元组的乘积：</a:t>
            </a:r>
            <a:endParaRPr lang="en-US" altLang="zh-CN" sz="2400" dirty="0">
              <a:latin typeface="华光仿宋_CNKI" panose="02000500000000000000" pitchFamily="2" charset="-122"/>
              <a:ea typeface="华光仿宋_CNKI" panose="02000500000000000000" pitchFamily="2" charset="-122"/>
            </a:endParaRPr>
          </a:p>
          <a:p>
            <a:pPr lvl="2">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XMVECTOR </a:t>
            </a:r>
            <a:r>
              <a:rPr lang="en-US" altLang="zh-CN" sz="2400" dirty="0" err="1">
                <a:latin typeface="华光仿宋_CNKI" panose="02000500000000000000" pitchFamily="2" charset="-122"/>
                <a:ea typeface="华光仿宋_CNKI" panose="02000500000000000000" pitchFamily="2" charset="-122"/>
              </a:rPr>
              <a:t>XMQuaternionMultiply</a:t>
            </a:r>
            <a:r>
              <a:rPr lang="en-US" altLang="zh-CN" sz="2400" dirty="0">
                <a:latin typeface="华光仿宋_CNKI" panose="02000500000000000000" pitchFamily="2" charset="-122"/>
                <a:ea typeface="华光仿宋_CNKI" panose="02000500000000000000" pitchFamily="2" charset="-122"/>
              </a:rPr>
              <a:t>(XMVECTOR Q1, XMVECTOR Q2); </a:t>
            </a:r>
          </a:p>
          <a:p>
            <a:pPr lvl="2">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根据旋转轴和旋转角得到的四元组：</a:t>
            </a:r>
            <a:endParaRPr lang="en-US" altLang="zh-CN" sz="2400" dirty="0">
              <a:latin typeface="华光仿宋_CNKI" panose="02000500000000000000" pitchFamily="2" charset="-122"/>
              <a:ea typeface="华光仿宋_CNKI" panose="02000500000000000000" pitchFamily="2" charset="-122"/>
            </a:endParaRPr>
          </a:p>
          <a:p>
            <a:pPr lvl="2">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XMVECTOR </a:t>
            </a:r>
            <a:r>
              <a:rPr lang="en-US" altLang="zh-CN" sz="2400" dirty="0" err="1">
                <a:latin typeface="华光仿宋_CNKI" panose="02000500000000000000" pitchFamily="2" charset="-122"/>
                <a:ea typeface="华光仿宋_CNKI" panose="02000500000000000000" pitchFamily="2" charset="-122"/>
              </a:rPr>
              <a:t>XMQuaternionRotationAxis</a:t>
            </a:r>
            <a:r>
              <a:rPr lang="en-US" altLang="zh-CN" sz="2400" dirty="0">
                <a:latin typeface="华光仿宋_CNKI" panose="02000500000000000000" pitchFamily="2" charset="-122"/>
                <a:ea typeface="华光仿宋_CNKI" panose="02000500000000000000" pitchFamily="2" charset="-122"/>
              </a:rPr>
              <a:t>(XMVECTOR Axis, FLOAT Angle); </a:t>
            </a:r>
          </a:p>
          <a:p>
            <a:pPr>
              <a:lnSpc>
                <a:spcPct val="150000"/>
              </a:lnSpc>
            </a:pPr>
            <a:endParaRPr lang="zh-CN" altLang="en-US" sz="2800" dirty="0"/>
          </a:p>
        </p:txBody>
      </p:sp>
      <p:sp>
        <p:nvSpPr>
          <p:cNvPr id="7" name="标题 1">
            <a:extLst>
              <a:ext uri="{FF2B5EF4-FFF2-40B4-BE49-F238E27FC236}">
                <a16:creationId xmlns:a16="http://schemas.microsoft.com/office/drawing/2014/main" id="{08AD05CF-22DD-CE63-601C-0805A5B61B5A}"/>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155016942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DD97CD4-BA03-4A89-AB15-7145DD1B11E1}"/>
              </a:ext>
            </a:extLst>
          </p:cNvPr>
          <p:cNvSpPr/>
          <p:nvPr/>
        </p:nvSpPr>
        <p:spPr>
          <a:xfrm>
            <a:off x="675862" y="1114325"/>
            <a:ext cx="11033761" cy="3970959"/>
          </a:xfrm>
          <a:prstGeom prst="rect">
            <a:avLst/>
          </a:prstGeom>
        </p:spPr>
        <p:txBody>
          <a:bodyPr wrap="square">
            <a:spAutoFit/>
          </a:bodyPr>
          <a:lstStyle/>
          <a:p>
            <a:pPr>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根据规范化旋转轴和旋转角得到的四元组：</a:t>
            </a:r>
            <a:endParaRPr lang="en-US" altLang="zh-CN" sz="2400" dirty="0">
              <a:latin typeface="华光仿宋_CNKI" panose="02000500000000000000" pitchFamily="2" charset="-122"/>
              <a:ea typeface="华光仿宋_CNKI" panose="02000500000000000000" pitchFamily="2" charset="-122"/>
            </a:endParaRP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XMVECTOR </a:t>
            </a:r>
            <a:r>
              <a:rPr lang="en-US" altLang="zh-CN" sz="2400" dirty="0" err="1">
                <a:latin typeface="华光仿宋_CNKI" panose="02000500000000000000" pitchFamily="2" charset="-122"/>
                <a:ea typeface="华光仿宋_CNKI" panose="02000500000000000000" pitchFamily="2" charset="-122"/>
              </a:rPr>
              <a:t>XMQuaternionRotationNormal</a:t>
            </a:r>
            <a:r>
              <a:rPr lang="en-US" altLang="zh-CN" sz="2400" dirty="0">
                <a:latin typeface="华光仿宋_CNKI" panose="02000500000000000000" pitchFamily="2" charset="-122"/>
                <a:ea typeface="华光仿宋_CNKI" panose="02000500000000000000" pitchFamily="2" charset="-122"/>
              </a:rPr>
              <a:t>(XMVECTOR </a:t>
            </a:r>
            <a:r>
              <a:rPr lang="en-US" altLang="zh-CN" sz="2400" dirty="0" err="1">
                <a:latin typeface="华光仿宋_CNKI" panose="02000500000000000000" pitchFamily="2" charset="-122"/>
                <a:ea typeface="华光仿宋_CNKI" panose="02000500000000000000" pitchFamily="2" charset="-122"/>
              </a:rPr>
              <a:t>NormalAxis,FLOAT</a:t>
            </a:r>
            <a:r>
              <a:rPr lang="en-US" altLang="zh-CN" sz="2400" dirty="0">
                <a:latin typeface="华光仿宋_CNKI" panose="02000500000000000000" pitchFamily="2" charset="-122"/>
                <a:ea typeface="华光仿宋_CNKI" panose="02000500000000000000" pitchFamily="2" charset="-122"/>
              </a:rPr>
              <a:t> Angle); </a:t>
            </a:r>
          </a:p>
          <a:p>
            <a:pPr>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根据给定的旋转矩阵计算相应的四元数：</a:t>
            </a:r>
            <a:endParaRPr lang="en-US" altLang="zh-CN" sz="2400" dirty="0">
              <a:latin typeface="华光仿宋_CNKI" panose="02000500000000000000" pitchFamily="2" charset="-122"/>
              <a:ea typeface="华光仿宋_CNKI" panose="02000500000000000000" pitchFamily="2" charset="-122"/>
            </a:endParaRP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XMVECTOR </a:t>
            </a:r>
            <a:r>
              <a:rPr lang="en-US" altLang="zh-CN" sz="2400" dirty="0" err="1">
                <a:latin typeface="华光仿宋_CNKI" panose="02000500000000000000" pitchFamily="2" charset="-122"/>
                <a:ea typeface="华光仿宋_CNKI" panose="02000500000000000000" pitchFamily="2" charset="-122"/>
              </a:rPr>
              <a:t>XMQuaternionRotationMatrix</a:t>
            </a:r>
            <a:r>
              <a:rPr lang="en-US" altLang="zh-CN" sz="2400" dirty="0">
                <a:latin typeface="华光仿宋_CNKI" panose="02000500000000000000" pitchFamily="2" charset="-122"/>
                <a:ea typeface="华光仿宋_CNKI" panose="02000500000000000000" pitchFamily="2" charset="-122"/>
              </a:rPr>
              <a:t>(XMMATRIX M); </a:t>
            </a:r>
          </a:p>
          <a:p>
            <a:pPr>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给定四元数得到对应的旋转矩阵：</a:t>
            </a:r>
            <a:endParaRPr lang="en-US" altLang="zh-CN" sz="2400" dirty="0">
              <a:latin typeface="华光仿宋_CNKI" panose="02000500000000000000" pitchFamily="2" charset="-122"/>
              <a:ea typeface="华光仿宋_CNKI" panose="02000500000000000000" pitchFamily="2" charset="-122"/>
            </a:endParaRP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XMMATRIX </a:t>
            </a:r>
            <a:r>
              <a:rPr lang="en-US" altLang="zh-CN" sz="2400" dirty="0" err="1">
                <a:latin typeface="华光仿宋_CNKI" panose="02000500000000000000" pitchFamily="2" charset="-122"/>
                <a:ea typeface="华光仿宋_CNKI" panose="02000500000000000000" pitchFamily="2" charset="-122"/>
              </a:rPr>
              <a:t>XMMatrixRotationQuaternion</a:t>
            </a:r>
            <a:r>
              <a:rPr lang="en-US" altLang="zh-CN" sz="2400" dirty="0">
                <a:latin typeface="华光仿宋_CNKI" panose="02000500000000000000" pitchFamily="2" charset="-122"/>
                <a:ea typeface="华光仿宋_CNKI" panose="02000500000000000000" pitchFamily="2" charset="-122"/>
              </a:rPr>
              <a:t>(XMVECTOR Quaternion);</a:t>
            </a:r>
            <a:endParaRPr lang="zh-CN" altLang="en-US" sz="24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E81760A4-5D24-3C40-B987-5EB4ABED82FE}"/>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151385647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DD97CD4-BA03-4A89-AB15-7145DD1B11E1}"/>
              </a:ext>
            </a:extLst>
          </p:cNvPr>
          <p:cNvSpPr/>
          <p:nvPr/>
        </p:nvSpPr>
        <p:spPr>
          <a:xfrm>
            <a:off x="675862" y="794946"/>
            <a:ext cx="11391569" cy="2634054"/>
          </a:xfrm>
          <a:prstGeom prst="rect">
            <a:avLst/>
          </a:prstGeom>
        </p:spPr>
        <p:txBody>
          <a:bodyPr wrap="square">
            <a:spAutoFit/>
          </a:bodyPr>
          <a:lstStyle/>
          <a:p>
            <a:pPr>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从四元数中得到对应的旋转轴和旋转角：</a:t>
            </a:r>
            <a:endParaRPr lang="en-US" altLang="zh-CN" sz="2400" dirty="0">
              <a:latin typeface="华光仿宋_CNKI" panose="02000500000000000000" pitchFamily="2" charset="-122"/>
              <a:ea typeface="华光仿宋_CNKI" panose="02000500000000000000" pitchFamily="2" charset="-122"/>
            </a:endParaRP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VOID </a:t>
            </a:r>
            <a:r>
              <a:rPr lang="en-US" altLang="zh-CN" sz="2400" dirty="0" err="1">
                <a:latin typeface="华光仿宋_CNKI" panose="02000500000000000000" pitchFamily="2" charset="-122"/>
                <a:ea typeface="华光仿宋_CNKI" panose="02000500000000000000" pitchFamily="2" charset="-122"/>
              </a:rPr>
              <a:t>XMQuaternionToAxisAngle</a:t>
            </a:r>
            <a:r>
              <a:rPr lang="en-US" altLang="zh-CN" sz="2400" dirty="0">
                <a:latin typeface="华光仿宋_CNKI" panose="02000500000000000000" pitchFamily="2" charset="-122"/>
                <a:ea typeface="华光仿宋_CNKI" panose="02000500000000000000" pitchFamily="2" charset="-122"/>
              </a:rPr>
              <a:t>(XMVECTOR *</a:t>
            </a:r>
            <a:r>
              <a:rPr lang="en-US" altLang="zh-CN" sz="2400" dirty="0" err="1">
                <a:latin typeface="华光仿宋_CNKI" panose="02000500000000000000" pitchFamily="2" charset="-122"/>
                <a:ea typeface="华光仿宋_CNKI" panose="02000500000000000000" pitchFamily="2" charset="-122"/>
              </a:rPr>
              <a:t>pAxis</a:t>
            </a:r>
            <a:r>
              <a:rPr lang="en-US" altLang="zh-CN" sz="2400" dirty="0">
                <a:latin typeface="华光仿宋_CNKI" panose="02000500000000000000" pitchFamily="2" charset="-122"/>
                <a:ea typeface="华光仿宋_CNKI" panose="02000500000000000000" pitchFamily="2" charset="-122"/>
              </a:rPr>
              <a:t>, FLOAT *</a:t>
            </a:r>
            <a:r>
              <a:rPr lang="en-US" altLang="zh-CN" sz="2400" dirty="0" err="1">
                <a:latin typeface="华光仿宋_CNKI" panose="02000500000000000000" pitchFamily="2" charset="-122"/>
                <a:ea typeface="华光仿宋_CNKI" panose="02000500000000000000" pitchFamily="2" charset="-122"/>
              </a:rPr>
              <a:t>pAngle</a:t>
            </a:r>
            <a:r>
              <a:rPr lang="en-US" altLang="zh-CN" sz="2400" dirty="0">
                <a:latin typeface="华光仿宋_CNKI" panose="02000500000000000000" pitchFamily="2" charset="-122"/>
                <a:ea typeface="华光仿宋_CNKI" panose="02000500000000000000" pitchFamily="2" charset="-122"/>
              </a:rPr>
              <a:t>, XMVECTOR Q); </a:t>
            </a:r>
          </a:p>
          <a:p>
            <a:pPr>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输入两个单位四元素（对应相应的旋转轴和旋转角），计算其内插结果：</a:t>
            </a:r>
            <a:endParaRPr lang="en-US" altLang="zh-CN" sz="2400" dirty="0">
              <a:latin typeface="华光仿宋_CNKI" panose="02000500000000000000" pitchFamily="2" charset="-122"/>
              <a:ea typeface="华光仿宋_CNKI" panose="02000500000000000000" pitchFamily="2" charset="-122"/>
            </a:endParaRP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XMVECTOR </a:t>
            </a:r>
            <a:r>
              <a:rPr lang="en-US" altLang="zh-CN" sz="2400" dirty="0" err="1">
                <a:latin typeface="华光仿宋_CNKI" panose="02000500000000000000" pitchFamily="2" charset="-122"/>
                <a:ea typeface="华光仿宋_CNKI" panose="02000500000000000000" pitchFamily="2" charset="-122"/>
              </a:rPr>
              <a:t>XMQuaternionSlerp</a:t>
            </a:r>
            <a:r>
              <a:rPr lang="en-US" altLang="zh-CN" sz="2400" dirty="0">
                <a:latin typeface="华光仿宋_CNKI" panose="02000500000000000000" pitchFamily="2" charset="-122"/>
                <a:ea typeface="华光仿宋_CNKI" panose="02000500000000000000" pitchFamily="2" charset="-122"/>
              </a:rPr>
              <a:t>(XMVECTOR Q0, XMVECTOR Q1, FLOAT t);</a:t>
            </a:r>
            <a:endParaRPr lang="zh-CN" altLang="en-US" sz="2400" dirty="0">
              <a:latin typeface="华光仿宋_CNKI" panose="02000500000000000000" pitchFamily="2" charset="-122"/>
              <a:ea typeface="华光仿宋_CNKI" panose="02000500000000000000" pitchFamily="2" charset="-122"/>
            </a:endParaRPr>
          </a:p>
        </p:txBody>
      </p:sp>
      <p:sp>
        <p:nvSpPr>
          <p:cNvPr id="2" name="标题 1">
            <a:extLst>
              <a:ext uri="{FF2B5EF4-FFF2-40B4-BE49-F238E27FC236}">
                <a16:creationId xmlns:a16="http://schemas.microsoft.com/office/drawing/2014/main" id="{457B9999-1E29-4081-FF3A-D7182ABD350B}"/>
              </a:ext>
            </a:extLst>
          </p:cNvPr>
          <p:cNvSpPr txBox="1">
            <a:spLocks/>
          </p:cNvSpPr>
          <p:nvPr/>
        </p:nvSpPr>
        <p:spPr>
          <a:xfrm>
            <a:off x="0" y="0"/>
            <a:ext cx="2337683" cy="5466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solidFill>
                  <a:srgbClr val="0070C0"/>
                </a:solidFill>
                <a:latin typeface="华文楷体" panose="02010600040101010101" pitchFamily="2" charset="-122"/>
                <a:ea typeface="华文楷体" panose="02010600040101010101" pitchFamily="2" charset="-122"/>
              </a:rPr>
              <a:t>DirectXMath</a:t>
            </a:r>
            <a:r>
              <a:rPr lang="zh-CN" altLang="en-US" sz="2000" dirty="0">
                <a:solidFill>
                  <a:srgbClr val="0070C0"/>
                </a:solidFill>
                <a:latin typeface="华文楷体" panose="02010600040101010101" pitchFamily="2" charset="-122"/>
                <a:ea typeface="华文楷体" panose="02010600040101010101" pitchFamily="2" charset="-122"/>
              </a:rPr>
              <a:t>库介绍</a:t>
            </a:r>
          </a:p>
        </p:txBody>
      </p:sp>
    </p:spTree>
    <p:extLst>
      <p:ext uri="{BB962C8B-B14F-4D97-AF65-F5344CB8AC3E}">
        <p14:creationId xmlns:p14="http://schemas.microsoft.com/office/powerpoint/2010/main" val="261463804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3679</TotalTime>
  <Words>12889</Words>
  <Application>Microsoft Office PowerPoint</Application>
  <PresentationFormat>宽屏</PresentationFormat>
  <Paragraphs>1005</Paragraphs>
  <Slides>161</Slides>
  <Notes>43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161</vt:i4>
      </vt:variant>
    </vt:vector>
  </HeadingPairs>
  <TitlesOfParts>
    <vt:vector size="178" baseType="lpstr">
      <vt:lpstr>-apple-system</vt:lpstr>
      <vt:lpstr>等线</vt:lpstr>
      <vt:lpstr>黑体</vt:lpstr>
      <vt:lpstr>华光标题宋_CNKI</vt:lpstr>
      <vt:lpstr>华光超粗黑_CNKI</vt:lpstr>
      <vt:lpstr>华光大标宋_CNKI</vt:lpstr>
      <vt:lpstr>华光仿宋_CNKI</vt:lpstr>
      <vt:lpstr>华光美黑_CNKI</vt:lpstr>
      <vt:lpstr>华文楷体</vt:lpstr>
      <vt:lpstr>宋体</vt:lpstr>
      <vt:lpstr>Arial</vt:lpstr>
      <vt:lpstr>Calibri</vt:lpstr>
      <vt:lpstr>Calibri Light</vt:lpstr>
      <vt:lpstr>Cambria Math</vt:lpstr>
      <vt:lpstr>Times New Roman</vt:lpstr>
      <vt:lpstr>Wingdings</vt:lpstr>
      <vt:lpstr>Office 主题</vt:lpstr>
      <vt:lpstr>第4章 图形变换与裁剪</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矢量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Direct12游戏编程</dc:title>
  <dc:creator>Microsoft 帐户</dc:creator>
  <cp:lastModifiedBy>黄 海于</cp:lastModifiedBy>
  <cp:revision>442</cp:revision>
  <dcterms:created xsi:type="dcterms:W3CDTF">2016-07-03T09:01:50Z</dcterms:created>
  <dcterms:modified xsi:type="dcterms:W3CDTF">2024-12-19T08:05:38Z</dcterms:modified>
</cp:coreProperties>
</file>