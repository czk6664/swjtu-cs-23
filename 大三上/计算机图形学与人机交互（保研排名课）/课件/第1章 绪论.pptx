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0" r:id="rId12"/>
    <p:sldId id="265" r:id="rId13"/>
    <p:sldId id="267" r:id="rId14"/>
    <p:sldId id="268" r:id="rId15"/>
    <p:sldId id="269" r:id="rId16"/>
    <p:sldId id="271" r:id="rId17"/>
    <p:sldId id="273" r:id="rId18"/>
    <p:sldId id="274" r:id="rId19"/>
    <p:sldId id="275" r:id="rId20"/>
    <p:sldId id="276" r:id="rId21"/>
    <p:sldId id="277" r:id="rId22"/>
    <p:sldId id="272" r:id="rId23"/>
    <p:sldId id="278" r:id="rId24"/>
    <p:sldId id="280" r:id="rId25"/>
    <p:sldId id="285" r:id="rId26"/>
    <p:sldId id="279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7" r:id="rId44"/>
    <p:sldId id="299" r:id="rId45"/>
    <p:sldId id="300" r:id="rId46"/>
    <p:sldId id="301" r:id="rId47"/>
    <p:sldId id="302" r:id="rId48"/>
    <p:sldId id="304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19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2B59E-D1D4-4FC7-91F1-4D2E17747A5F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38485-39F4-42FE-92AF-690A92441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79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38485-39F4-42FE-92AF-690A924410D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87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F2B06-5895-66DC-C48E-2B2B10890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18F51A-B482-5E40-498A-5FDDBDB39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8E5DA4-94CE-BDE3-F969-D123921F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4316A7-4AFF-E728-533E-7C5C1C63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6B302B-9A02-EA1F-A039-D6E8E3C1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4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C17F-5D10-E4CD-0F93-0D042F39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34543E-DBFD-C024-3CC1-30699223D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59336-DFDE-1D30-8763-D3F984A2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43BB98-4584-3386-2705-9BF3E421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F65EC-A3E2-2202-3F37-C6897350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5C6B9-1365-056C-7152-67207203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DC5D1E-4FC7-0E62-4E9E-4D4062B60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13D5AB-9298-7891-1E2D-D3187C91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4904E-672C-F86E-46C8-FA6B9BD6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304761-A7E0-D243-FBBF-041D2C37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89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96FEF-5C34-88ED-A2D4-8700EB28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39D3D1-B2F5-7956-4A46-367364E11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79AFCB-1D2D-2295-F7B6-BC4D46ADA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488382-7388-6828-5B76-CC2622D6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18E181-F78A-0438-ACEF-CD39DDA8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78B314-29EA-DC41-A0FC-588795C8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47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4D6AD-A3B2-BB42-90B1-21CC2DF8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8CE240-5BFD-F14B-DD21-19E12E57D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934D49-BF8A-A821-FD5F-D60DB4AB0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7654EC-C3EE-8175-59C3-DD3E3CB27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7CDC2F-1EAC-6216-6C57-6CD95D71D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BCDC25-6AD5-6378-4E79-802A87BB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4B7FF6-FFD6-7689-1DCE-5541C6C0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48A95D-4A1B-60D7-8939-9F20E051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24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5C20F-DF6D-139B-1BB1-AC8F2A40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E7CA14-9FA9-8397-555E-57935D86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CA0CB3-210D-EB92-861B-B42865B8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28AFBF-A56E-F7D1-804A-4F2D59B4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59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F04F40-9228-985B-83F5-16CC7FED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1AAED2-8B94-65F0-37EC-2BCA058A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B97F93-3BB3-4E89-8DE1-98A0AAC2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14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E5773-1BF4-7354-50A0-3058290F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408EC-35FE-2ABF-AA93-F5865120E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CBF4CD-DD10-8BE6-689F-838E31F9E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210772-7530-0043-9280-F2E692A8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23453C-DB69-A8D5-0306-2993C8F7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BDF4EF-A355-52AA-99DC-51F24477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06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D10BB-2F28-60B5-70D0-E09887E7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3CC1A4-D64F-FE5A-F896-852AF4436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36EA91-8770-8420-CF29-8A06868BC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0E4657-F977-6785-DB82-032183A6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A6A79E-93D3-AAC7-F09F-A889E1FC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6F697D-D949-75CD-E50D-37A08ADF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8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E8619-A200-4DD8-1A43-17F2AC81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144321-47EC-3725-86B6-5516E60F8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7DD0A5-205D-6168-7BB3-3A213467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4C7E6-54E5-09F1-B2DE-7682EE76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CCB95C-1035-016D-EAA1-1AED6DAD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06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AE5BDC-AE6A-D3F8-8793-3D22BD23B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21B05-24D4-5BFE-E194-746095F38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CE387-BD65-88D4-E66B-49C6D673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912A25-25B2-BB54-E1E6-4B9EC840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09B9C6-DF1B-141D-CB96-C1A4C0F9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01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178EE4-FAB5-1B95-5460-36F2BC8B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0E9F65-9919-34CF-C09A-16B15E419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09FB98-1836-7A85-F42D-926508C9B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7A5AF-A8A7-4E50-AA93-7B20CF2767A1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C8F1FE-E049-9D94-32A7-52927685D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E3FC50-0FC1-9350-1AC8-126FD606B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17AB5-240E-46D8-B324-D2AFF6A8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32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7" Type="http://schemas.openxmlformats.org/officeDocument/2006/relationships/image" Target="../media/image73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jpeg"/><Relationship Id="rId4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gif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9C527-0F9F-EF53-5542-F128E74B9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3447"/>
            <a:ext cx="9144000" cy="987288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章  绪论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DCB54C-F977-25F1-0F07-26AE734E0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924" y="1915984"/>
            <a:ext cx="10657114" cy="4198569"/>
          </a:xfrm>
        </p:spPr>
        <p:txBody>
          <a:bodyPr>
            <a:norm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1. </a:t>
            </a:r>
            <a:r>
              <a:rPr lang="zh-CN" altLang="en-US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什么是计算机图形学？</a:t>
            </a:r>
            <a:br>
              <a:rPr lang="en-US" altLang="zh-CN" dirty="0"/>
            </a:br>
            <a:r>
              <a:rPr lang="en-US" altLang="zh-CN" sz="2800" dirty="0"/>
              <a:t>       </a:t>
            </a:r>
            <a:r>
              <a:rPr lang="zh-CN" altLang="en-US" sz="2800" dirty="0"/>
              <a:t>计算机图形学是研究如何将数据转化成图形，并在专门的显示设备上显示的原理、方法和技术的科学。也就是如何</a:t>
            </a:r>
            <a:r>
              <a:rPr lang="zh-CN" altLang="en-US" sz="2800" b="1" dirty="0">
                <a:solidFill>
                  <a:srgbClr val="0070C0"/>
                </a:solidFill>
              </a:rPr>
              <a:t>用计算机生成、处理和显示图形</a:t>
            </a:r>
            <a:r>
              <a:rPr lang="zh-CN" altLang="en-US" sz="2800" dirty="0"/>
              <a:t>的一门学科</a:t>
            </a:r>
            <a:r>
              <a:rPr lang="zh-CN" altLang="en-US" dirty="0"/>
              <a:t>。     </a:t>
            </a:r>
          </a:p>
        </p:txBody>
      </p:sp>
    </p:spTree>
    <p:extLst>
      <p:ext uri="{BB962C8B-B14F-4D97-AF65-F5344CB8AC3E}">
        <p14:creationId xmlns:p14="http://schemas.microsoft.com/office/powerpoint/2010/main" val="695617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1"/>
            <a:ext cx="10657114" cy="2170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</a:pPr>
            <a:r>
              <a:rPr lang="en-US" altLang="zh-CN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2. </a:t>
            </a:r>
            <a:r>
              <a:rPr lang="zh-CN" altLang="en-US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计算机图形学的主要研究内容</a:t>
            </a:r>
            <a:endParaRPr lang="en-US" altLang="zh-CN" sz="3200" b="1" dirty="0">
              <a:latin typeface="华光仿宋_CNKI" panose="02000500000000000000" pitchFamily="2" charset="-122"/>
              <a:ea typeface="华光仿宋_CNKI" panose="02000500000000000000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(1) </a:t>
            </a:r>
            <a:r>
              <a:rPr lang="zh-CN" altLang="en-US" dirty="0"/>
              <a:t>硬件部分包括各种输入</a:t>
            </a:r>
            <a:r>
              <a:rPr lang="en-US" altLang="zh-CN" dirty="0"/>
              <a:t>/</a:t>
            </a:r>
            <a:r>
              <a:rPr lang="zh-CN" altLang="en-US" dirty="0"/>
              <a:t>输出、图形处理设备或器件的研究。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D3814C2-8145-11B0-F7F5-F800B3BDC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665" y="2874396"/>
            <a:ext cx="4436828" cy="291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0CC3F46-BC33-6882-601E-A25DBFD7C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507" y="2782048"/>
            <a:ext cx="5053634" cy="291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94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FD6D43F-5470-3167-5797-794A45FC5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73" y="500932"/>
            <a:ext cx="3212327" cy="29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4729038-329B-7B8F-0BAA-0DF1C12CB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875" y="500932"/>
            <a:ext cx="2980249" cy="277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C912A5E-98E1-A49B-1BEB-528546373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576" y="584420"/>
            <a:ext cx="3684767" cy="277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6372CE3-BFB9-7CF3-D2DD-A551EAD28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11" y="3864334"/>
            <a:ext cx="3283889" cy="236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BFD30F85-D9D8-C1FA-8AB6-C6632B961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875" y="3574276"/>
            <a:ext cx="3385186" cy="294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E6A5B7C9-3CDF-700D-B9BD-2E1118631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036" y="3657764"/>
            <a:ext cx="2980250" cy="277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74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083C7A8-B072-9B31-F09B-41D9719BA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43" y="396654"/>
            <a:ext cx="2762953" cy="274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5C2CB6A-84B4-7E2B-72CC-7EA52F0EB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317" y="396654"/>
            <a:ext cx="3793932" cy="304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6C8DB1DD-13DA-9D18-4D8F-0F349A115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511" y="246490"/>
            <a:ext cx="4101712" cy="331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CC57326-0C84-46EE-13BC-36DBA6BF6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43" y="3858537"/>
            <a:ext cx="3101009" cy="266766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12F04673-C110-6452-387C-A51F6788A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877" y="3657022"/>
            <a:ext cx="3664060" cy="286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D41795C9-4195-CCED-CE08-650464F5B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162" y="3858537"/>
            <a:ext cx="3481346" cy="260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31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77584E4-923E-6E82-973F-BD3A8C08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2" y="485029"/>
            <a:ext cx="4667415" cy="268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B5241F9-CDFF-D423-CFAD-38D5C8120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707" y="1283059"/>
            <a:ext cx="7187151" cy="508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6851C457-991E-70AC-C34B-B435CB32B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174" y="3261733"/>
            <a:ext cx="3333750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20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4003CFE-EB41-74B1-A807-D6AE12CA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0059"/>
            <a:ext cx="59531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B99EFBFA-3CFB-25A3-E852-A46F6564A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69" y="882595"/>
            <a:ext cx="650557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70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DC78D1D3-D8A2-39AC-A484-E6E2890CA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574" y="1347994"/>
            <a:ext cx="5001619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9B355B42-8A23-8C12-FF36-C854B5914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46" y="1347994"/>
            <a:ext cx="5510254" cy="404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93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>
            <a:extLst>
              <a:ext uri="{FF2B5EF4-FFF2-40B4-BE49-F238E27FC236}">
                <a16:creationId xmlns:a16="http://schemas.microsoft.com/office/drawing/2014/main" id="{6863E46D-BAFD-E014-1D8C-8866E3D8A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881" y="370191"/>
            <a:ext cx="4142630" cy="570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B249A605-5673-BE65-3A0B-20EA91421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75" y="1335364"/>
            <a:ext cx="6096000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37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4A00DBB-12B3-D0A4-F5F2-C08981409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71" y="866692"/>
            <a:ext cx="4924509" cy="469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>
            <a:extLst>
              <a:ext uri="{FF2B5EF4-FFF2-40B4-BE49-F238E27FC236}">
                <a16:creationId xmlns:a16="http://schemas.microsoft.com/office/drawing/2014/main" id="{2D194B33-2F9E-9AB5-E2D4-43C6AE026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895" y="723569"/>
            <a:ext cx="5715000" cy="492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96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2340E5B-ACF9-AC3C-11ED-FBF5287D4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31" y="1253324"/>
            <a:ext cx="4882101" cy="419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F7A97EF8-2BA3-863C-FAD7-E4A338D6E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152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498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9A7E6B42-B1EF-7B8C-9A9B-B073B7BEA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693" y="2444861"/>
            <a:ext cx="6317727" cy="421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5982776-6A07-7C34-CA76-3361CC25F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2" y="349857"/>
            <a:ext cx="6469182" cy="3180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21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1CD2DC73-9C2C-BE70-8E95-71CE5CD8A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84" y="447014"/>
            <a:ext cx="5804452" cy="538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F2E1BFE4-C9B9-AA7A-C325-58F832142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976" y="447013"/>
            <a:ext cx="47625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899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>
            <a:extLst>
              <a:ext uri="{FF2B5EF4-FFF2-40B4-BE49-F238E27FC236}">
                <a16:creationId xmlns:a16="http://schemas.microsoft.com/office/drawing/2014/main" id="{4720503D-04C5-4C9B-36E3-A0584056D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756" y="871537"/>
            <a:ext cx="71437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584BD001-2EDF-E9EA-3119-488ACDAAB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13" y="943099"/>
            <a:ext cx="476250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31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DC87FE23-0835-917D-242A-824F8B5EF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98" y="1047750"/>
            <a:ext cx="5302237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0A31748D-D023-8A7A-7B40-FC2442BC8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859" y="102588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6644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>
            <a:extLst>
              <a:ext uri="{FF2B5EF4-FFF2-40B4-BE49-F238E27FC236}">
                <a16:creationId xmlns:a16="http://schemas.microsoft.com/office/drawing/2014/main" id="{5E873D2D-44D5-9186-CEF1-FAD1C7B1E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466" y="848967"/>
            <a:ext cx="5238420" cy="579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4F6C82F9-6232-368A-498B-556888814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17" y="1103409"/>
            <a:ext cx="635317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459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3C384-1A1A-6065-023F-75A494BDF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520"/>
            <a:ext cx="10515600" cy="2934031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）软件部分主要包括如下几个方面的研究内容：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 ●  </a:t>
            </a:r>
            <a:r>
              <a:rPr lang="zh-CN" altLang="en-US" sz="2800" dirty="0"/>
              <a:t>图形生成算法的研究，包括基本图形的生成，比如直线，圆</a:t>
            </a:r>
            <a:r>
              <a:rPr lang="en-US" altLang="zh-CN" sz="2800" dirty="0"/>
              <a:t>/</a:t>
            </a:r>
            <a:r>
              <a:rPr lang="zh-CN" altLang="en-US" sz="2800" dirty="0"/>
              <a:t>圆弧，多边形，曲线</a:t>
            </a:r>
            <a:r>
              <a:rPr lang="en-US" altLang="zh-CN" sz="2800" dirty="0"/>
              <a:t>/</a:t>
            </a:r>
            <a:r>
              <a:rPr lang="zh-CN" altLang="en-US" sz="2800" dirty="0"/>
              <a:t>曲面，多面体，自然现象</a:t>
            </a:r>
            <a:r>
              <a:rPr lang="en-US" altLang="zh-CN" sz="2800" dirty="0"/>
              <a:t>/</a:t>
            </a:r>
            <a:r>
              <a:rPr lang="zh-CN" altLang="en-US" sz="2800" dirty="0"/>
              <a:t>自然景物等。</a:t>
            </a:r>
            <a:endParaRPr lang="en-US" altLang="zh-CN" sz="28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4BA89B9-EC3D-AF2D-D899-1088803EC6CC}"/>
              </a:ext>
            </a:extLst>
          </p:cNvPr>
          <p:cNvCxnSpPr/>
          <p:nvPr/>
        </p:nvCxnSpPr>
        <p:spPr>
          <a:xfrm flipV="1">
            <a:off x="1090655" y="4142629"/>
            <a:ext cx="1828800" cy="128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4BC3B5E-ADD8-7713-F526-DB16E662B997}"/>
              </a:ext>
            </a:extLst>
          </p:cNvPr>
          <p:cNvCxnSpPr/>
          <p:nvPr/>
        </p:nvCxnSpPr>
        <p:spPr>
          <a:xfrm flipV="1">
            <a:off x="2410572" y="4349362"/>
            <a:ext cx="1828800" cy="128811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 7">
            <a:extLst>
              <a:ext uri="{FF2B5EF4-FFF2-40B4-BE49-F238E27FC236}">
                <a16:creationId xmlns:a16="http://schemas.microsoft.com/office/drawing/2014/main" id="{FB70FCEC-0D81-A4E7-134B-CFAB659B2E0C}"/>
              </a:ext>
            </a:extLst>
          </p:cNvPr>
          <p:cNvSpPr/>
          <p:nvPr/>
        </p:nvSpPr>
        <p:spPr>
          <a:xfrm>
            <a:off x="4171784" y="4492487"/>
            <a:ext cx="2043486" cy="187650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弧形 8">
            <a:extLst>
              <a:ext uri="{FF2B5EF4-FFF2-40B4-BE49-F238E27FC236}">
                <a16:creationId xmlns:a16="http://schemas.microsoft.com/office/drawing/2014/main" id="{F5B742ED-3DDB-843F-B021-C372F9CC74CB}"/>
              </a:ext>
            </a:extLst>
          </p:cNvPr>
          <p:cNvSpPr/>
          <p:nvPr/>
        </p:nvSpPr>
        <p:spPr>
          <a:xfrm>
            <a:off x="5739516" y="4414299"/>
            <a:ext cx="2043486" cy="1876508"/>
          </a:xfrm>
          <a:prstGeom prst="arc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19559D2-BA9A-5F3A-3173-184D9F5ACD60}"/>
              </a:ext>
            </a:extLst>
          </p:cNvPr>
          <p:cNvSpPr/>
          <p:nvPr/>
        </p:nvSpPr>
        <p:spPr>
          <a:xfrm>
            <a:off x="8881606" y="4011433"/>
            <a:ext cx="1550504" cy="15505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34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228B73D-3402-B3E4-81DE-1FA19350683B}"/>
              </a:ext>
            </a:extLst>
          </p:cNvPr>
          <p:cNvSpPr/>
          <p:nvPr/>
        </p:nvSpPr>
        <p:spPr>
          <a:xfrm>
            <a:off x="803082" y="644056"/>
            <a:ext cx="2122998" cy="2122998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CD2E63C-ADF8-E551-8CB8-181843A5EE2C}"/>
              </a:ext>
            </a:extLst>
          </p:cNvPr>
          <p:cNvSpPr/>
          <p:nvPr/>
        </p:nvSpPr>
        <p:spPr>
          <a:xfrm>
            <a:off x="3983603" y="1009487"/>
            <a:ext cx="2870421" cy="1392135"/>
          </a:xfrm>
          <a:custGeom>
            <a:avLst/>
            <a:gdLst>
              <a:gd name="connsiteX0" fmla="*/ 0 w 2870421"/>
              <a:gd name="connsiteY0" fmla="*/ 666699 h 1392135"/>
              <a:gd name="connsiteX1" fmla="*/ 850790 w 2870421"/>
              <a:gd name="connsiteY1" fmla="*/ 22643 h 1392135"/>
              <a:gd name="connsiteX2" fmla="*/ 1272209 w 2870421"/>
              <a:gd name="connsiteY2" fmla="*/ 1390268 h 1392135"/>
              <a:gd name="connsiteX3" fmla="*/ 2456953 w 2870421"/>
              <a:gd name="connsiteY3" fmla="*/ 332744 h 1392135"/>
              <a:gd name="connsiteX4" fmla="*/ 2870421 w 2870421"/>
              <a:gd name="connsiteY4" fmla="*/ 960897 h 139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0421" h="1392135">
                <a:moveTo>
                  <a:pt x="0" y="666699"/>
                </a:moveTo>
                <a:cubicBezTo>
                  <a:pt x="319377" y="284373"/>
                  <a:pt x="638755" y="-97952"/>
                  <a:pt x="850790" y="22643"/>
                </a:cubicBezTo>
                <a:cubicBezTo>
                  <a:pt x="1062825" y="143238"/>
                  <a:pt x="1004515" y="1338585"/>
                  <a:pt x="1272209" y="1390268"/>
                </a:cubicBezTo>
                <a:cubicBezTo>
                  <a:pt x="1539903" y="1441952"/>
                  <a:pt x="2190584" y="404306"/>
                  <a:pt x="2456953" y="332744"/>
                </a:cubicBezTo>
                <a:cubicBezTo>
                  <a:pt x="2723322" y="261182"/>
                  <a:pt x="2796871" y="611039"/>
                  <a:pt x="2870421" y="96089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泪滴形 7">
            <a:extLst>
              <a:ext uri="{FF2B5EF4-FFF2-40B4-BE49-F238E27FC236}">
                <a16:creationId xmlns:a16="http://schemas.microsoft.com/office/drawing/2014/main" id="{1FD14E44-EA5D-FC35-1B54-5479C55BA33D}"/>
              </a:ext>
            </a:extLst>
          </p:cNvPr>
          <p:cNvSpPr/>
          <p:nvPr/>
        </p:nvSpPr>
        <p:spPr>
          <a:xfrm>
            <a:off x="7911547" y="1160891"/>
            <a:ext cx="2369489" cy="970059"/>
          </a:xfrm>
          <a:prstGeom prst="teardrop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BBC75D7-8C0F-851B-D06E-E4FE1D6361B7}"/>
              </a:ext>
            </a:extLst>
          </p:cNvPr>
          <p:cNvSpPr/>
          <p:nvPr/>
        </p:nvSpPr>
        <p:spPr>
          <a:xfrm>
            <a:off x="1137036" y="4007458"/>
            <a:ext cx="1630018" cy="1478943"/>
          </a:xfrm>
          <a:prstGeom prst="plaqu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6F3D384-6CCA-7549-4F32-5846F1B0B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24" y="2870466"/>
            <a:ext cx="47625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心形 11">
            <a:extLst>
              <a:ext uri="{FF2B5EF4-FFF2-40B4-BE49-F238E27FC236}">
                <a16:creationId xmlns:a16="http://schemas.microsoft.com/office/drawing/2014/main" id="{B25B64B9-916B-5C2D-2DB1-B19A366810B6}"/>
              </a:ext>
            </a:extLst>
          </p:cNvPr>
          <p:cNvSpPr/>
          <p:nvPr/>
        </p:nvSpPr>
        <p:spPr>
          <a:xfrm>
            <a:off x="4507064" y="3785171"/>
            <a:ext cx="2202511" cy="1923515"/>
          </a:xfrm>
          <a:prstGeom prst="hear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704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0E1AC8FF-E406-3BF2-6CF2-4A29F319B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257" y="652007"/>
            <a:ext cx="9541565" cy="572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82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>
            <a:extLst>
              <a:ext uri="{FF2B5EF4-FFF2-40B4-BE49-F238E27FC236}">
                <a16:creationId xmlns:a16="http://schemas.microsoft.com/office/drawing/2014/main" id="{C230E129-2E57-00F7-0C91-74B0BA8D9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90" y="903549"/>
            <a:ext cx="9128097" cy="554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715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20C5B54C-93ED-04D2-4B93-83692B43B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938" y="459353"/>
            <a:ext cx="4190339" cy="261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>
            <a:extLst>
              <a:ext uri="{FF2B5EF4-FFF2-40B4-BE49-F238E27FC236}">
                <a16:creationId xmlns:a16="http://schemas.microsoft.com/office/drawing/2014/main" id="{0BC499C7-D452-B5D2-D21E-C51E68449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428" y="459353"/>
            <a:ext cx="4584340" cy="261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>
            <a:extLst>
              <a:ext uri="{FF2B5EF4-FFF2-40B4-BE49-F238E27FC236}">
                <a16:creationId xmlns:a16="http://schemas.microsoft.com/office/drawing/2014/main" id="{CCF1FE14-3B2F-71CF-CE88-0362A5944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938" y="3429000"/>
            <a:ext cx="4190339" cy="286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>
            <a:extLst>
              <a:ext uri="{FF2B5EF4-FFF2-40B4-BE49-F238E27FC236}">
                <a16:creationId xmlns:a16="http://schemas.microsoft.com/office/drawing/2014/main" id="{E3C1222C-BF6F-FD06-A214-C91CE6F2F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428" y="3429000"/>
            <a:ext cx="4584340" cy="286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330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669DEE3B-D365-2954-E7EA-07969D04C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160" y="556756"/>
            <a:ext cx="4290142" cy="287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8678F3A8-3707-EE70-ECB9-78DFF7C3D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20" y="556757"/>
            <a:ext cx="4783702" cy="287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4" name="Picture 8">
            <a:extLst>
              <a:ext uri="{FF2B5EF4-FFF2-40B4-BE49-F238E27FC236}">
                <a16:creationId xmlns:a16="http://schemas.microsoft.com/office/drawing/2014/main" id="{ACD0ADE0-365E-A6D1-5037-46C8E7C7F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160" y="3619996"/>
            <a:ext cx="4290142" cy="287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6" name="Picture 10">
            <a:extLst>
              <a:ext uri="{FF2B5EF4-FFF2-40B4-BE49-F238E27FC236}">
                <a16:creationId xmlns:a16="http://schemas.microsoft.com/office/drawing/2014/main" id="{8B85BC7D-733B-9871-04BF-B77140E7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20" y="3619996"/>
            <a:ext cx="4783702" cy="287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174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3C384-1A1A-6065-023F-75A494BDF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365761"/>
            <a:ext cx="10515600" cy="189241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● </a:t>
            </a:r>
            <a:r>
              <a:rPr lang="zh-CN" altLang="en-US" dirty="0"/>
              <a:t>图形变换算法的研究，包括图形在平面或者空间中的变换，各种视窗之间的转换，平面和空间裁剪，消隐等。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DE329D-A211-1C82-6B7B-102D54164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871" y="2679592"/>
            <a:ext cx="3943848" cy="35939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65CDEC-B4BF-A577-0D10-39527C60F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74" y="2679592"/>
            <a:ext cx="4126727" cy="364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54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39FB992-5F81-28FE-5078-997EC4BCC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4" y="1645920"/>
            <a:ext cx="5422791" cy="372916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A77C0AE-FE1C-0C4F-B2A0-FB6A49EA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5772648" cy="372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96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3C384-1A1A-6065-023F-75A494BDF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365761"/>
            <a:ext cx="10515600" cy="189241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● </a:t>
            </a:r>
            <a:r>
              <a:rPr lang="zh-CN" altLang="en-US" dirty="0"/>
              <a:t>图形显示技术研究，包括光照、材质、纹理、阴影、透明、光线追踪等技术的研究。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2C2220-94B5-7A09-7D36-148D9354A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820" y="2580195"/>
            <a:ext cx="5070281" cy="35065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40E5DF2-F117-61CC-1719-7EFA645F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410" y="2580195"/>
            <a:ext cx="5070282" cy="350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93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54A39638-AB6E-5131-106F-A29E6E8F3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377" y="811034"/>
            <a:ext cx="9621079" cy="555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715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7D2E3E5-736A-0A88-FC50-BDBF31A51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58" y="1049571"/>
            <a:ext cx="5143209" cy="403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5644D47-EAF5-6750-8057-7ED38E6F1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49571"/>
            <a:ext cx="5424158" cy="4037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786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517A667-BE4D-934D-EDA1-575F99D85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700" y="1173935"/>
            <a:ext cx="4822300" cy="402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065CA1E-EBB0-6851-6550-989B8DD9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565" y="1173935"/>
            <a:ext cx="3836062" cy="402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957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9630AE9-F9CF-2761-96E6-67885BDDC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1047750"/>
            <a:ext cx="112871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524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F656525-DF54-03EE-79C7-A307DB653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475" y="1007828"/>
            <a:ext cx="9271221" cy="484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78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4D22353-0329-2B03-58F6-BBD9AFF98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17" y="892534"/>
            <a:ext cx="10455965" cy="507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866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1"/>
            <a:ext cx="10657114" cy="2170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</a:pPr>
            <a:r>
              <a:rPr lang="en-US" altLang="zh-CN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3. </a:t>
            </a:r>
            <a:r>
              <a:rPr lang="zh-CN" altLang="en-US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计算机图形学的发展历史</a:t>
            </a:r>
            <a:endParaRPr lang="en-US" altLang="zh-CN" sz="3200" b="1" dirty="0">
              <a:latin typeface="华光仿宋_CNKI" panose="02000500000000000000" pitchFamily="2" charset="-122"/>
              <a:ea typeface="华光仿宋_CNKI" panose="02000500000000000000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(1)  1950</a:t>
            </a:r>
            <a:r>
              <a:rPr lang="zh-CN" altLang="en-US" dirty="0"/>
              <a:t>年，第一台图形显示器诞生</a:t>
            </a:r>
            <a:r>
              <a:rPr lang="en-US" altLang="zh-CN" dirty="0"/>
              <a:t>-CRT</a:t>
            </a:r>
            <a:r>
              <a:rPr lang="zh-CN" altLang="en-US" dirty="0"/>
              <a:t>显示器（</a:t>
            </a:r>
            <a:r>
              <a:rPr lang="en-US" altLang="zh-CN" dirty="0"/>
              <a:t>Whirlwind I)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7F87AB-32D8-947B-B2EC-ED03FBE1F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289" y="2504660"/>
            <a:ext cx="4609892" cy="396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BC112D3-624A-D802-24D6-9345EB7C4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505" y="2504660"/>
            <a:ext cx="4927727" cy="396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103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F8C1A-8F08-4520-067E-96AE2CE3E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1"/>
            <a:ext cx="10515600" cy="140738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1962</a:t>
            </a:r>
            <a:r>
              <a:rPr lang="zh-CN" altLang="en-US" dirty="0"/>
              <a:t>年， </a:t>
            </a:r>
            <a:r>
              <a:rPr lang="en-US" altLang="zh-CN" dirty="0"/>
              <a:t>Sketchpad</a:t>
            </a:r>
            <a:r>
              <a:rPr lang="zh-CN" altLang="en-US" dirty="0"/>
              <a:t>人机交互通信图形系统引入计算机图形学概念</a:t>
            </a:r>
            <a:r>
              <a:rPr lang="en-US" altLang="zh-CN" dirty="0"/>
              <a:t>-</a:t>
            </a:r>
            <a:r>
              <a:rPr lang="zh-CN" altLang="en-US" dirty="0"/>
              <a:t>发展阶段。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13AED7F-044D-8FE4-6145-0D727B5F5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617" y="1979876"/>
            <a:ext cx="7535518" cy="439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522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281055-72B6-23D5-1B94-1AB2F5580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028" y="553416"/>
            <a:ext cx="10515600" cy="296106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（</a:t>
            </a:r>
            <a:r>
              <a:rPr lang="en-US" altLang="zh-CN" dirty="0"/>
              <a:t>3) 1974</a:t>
            </a:r>
            <a:r>
              <a:rPr lang="zh-CN" altLang="en-US" dirty="0"/>
              <a:t>年</a:t>
            </a:r>
            <a:r>
              <a:rPr lang="en-US" altLang="zh-CN" dirty="0"/>
              <a:t>ACM</a:t>
            </a:r>
            <a:r>
              <a:rPr lang="zh-CN" altLang="en-US" dirty="0"/>
              <a:t>成立图形标准化委员会开始制定标准。</a:t>
            </a:r>
            <a:r>
              <a:rPr lang="en-US" altLang="zh-CN" dirty="0"/>
              <a:t>1977</a:t>
            </a:r>
            <a:r>
              <a:rPr lang="zh-CN" altLang="en-US" dirty="0"/>
              <a:t>年制定“核心图形系统（</a:t>
            </a:r>
            <a:r>
              <a:rPr lang="en-US" altLang="zh-CN" dirty="0"/>
              <a:t>CGS</a:t>
            </a:r>
            <a:r>
              <a:rPr lang="zh-CN" altLang="en-US" dirty="0"/>
              <a:t>）</a:t>
            </a:r>
            <a:r>
              <a:rPr lang="en-US" altLang="zh-CN" dirty="0"/>
              <a:t>”</a:t>
            </a:r>
            <a:r>
              <a:rPr lang="zh-CN" altLang="en-US" dirty="0"/>
              <a:t>规范</a:t>
            </a:r>
            <a:r>
              <a:rPr lang="en-US" altLang="zh-CN" dirty="0"/>
              <a:t>-</a:t>
            </a:r>
            <a:r>
              <a:rPr lang="zh-CN" altLang="en-US" dirty="0"/>
              <a:t>推广应用阶段。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80</a:t>
            </a:r>
            <a:r>
              <a:rPr lang="zh-CN" altLang="en-US" dirty="0"/>
              <a:t>年代以后出现了大量的图形制作绘制软件</a:t>
            </a:r>
            <a:r>
              <a:rPr lang="en-US" altLang="zh-CN" dirty="0"/>
              <a:t>-</a:t>
            </a:r>
            <a:r>
              <a:rPr lang="zh-CN" altLang="en-US" dirty="0"/>
              <a:t>系统实用化阶段。</a:t>
            </a:r>
            <a:r>
              <a:rPr lang="en-US" altLang="zh-CN" dirty="0"/>
              <a:t>    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7D1F20-9200-E4E8-45F3-7AFE7FA7B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021" y="3514477"/>
            <a:ext cx="4231417" cy="273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2C2FD21-B9FC-1450-F013-3DDE8EC23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693" y="3514477"/>
            <a:ext cx="4050680" cy="273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195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744C67C-6014-2A17-1551-19AE1EDAF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39" y="426512"/>
            <a:ext cx="3580406" cy="246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D7EAF6C-B842-DBFB-7AAF-CA0C914C5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617" y="426512"/>
            <a:ext cx="3191122" cy="246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C56802AE-D50D-C971-AEB6-764EF2E6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311" y="426512"/>
            <a:ext cx="3191122" cy="246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987D78E1-6A2A-7D87-BAAA-F8CA0B6F9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39" y="3077158"/>
            <a:ext cx="3580406" cy="278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73C42F3-78D5-DCAC-68BD-006990ACF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618" y="3077158"/>
            <a:ext cx="3191121" cy="278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275E093B-72CB-68FE-02C9-E8AE78031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311" y="3077157"/>
            <a:ext cx="3191121" cy="278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5776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>
            <a:extLst>
              <a:ext uri="{FF2B5EF4-FFF2-40B4-BE49-F238E27FC236}">
                <a16:creationId xmlns:a16="http://schemas.microsoft.com/office/drawing/2014/main" id="{A804292F-A182-9F46-B7B5-CCA45628D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63" y="395411"/>
            <a:ext cx="4764942" cy="329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B4BA35ED-C865-37C1-8184-CA81317CA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697" y="395411"/>
            <a:ext cx="4826442" cy="329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97C914BB-E904-03C9-8DD8-54CB75C11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63" y="3888188"/>
            <a:ext cx="4764942" cy="267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>
            <a:extLst>
              <a:ext uri="{FF2B5EF4-FFF2-40B4-BE49-F238E27FC236}">
                <a16:creationId xmlns:a16="http://schemas.microsoft.com/office/drawing/2014/main" id="{708702C7-A00A-39F5-7242-278121FED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782" y="3888188"/>
            <a:ext cx="4575357" cy="267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940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1A40C683-55F3-E31E-15FD-A844E191B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62" y="249472"/>
            <a:ext cx="534352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2A8D97AA-59BA-252F-1C85-87790D7A6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775" y="249472"/>
            <a:ext cx="4842344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DE676311-3D6C-7BF5-B425-41C66AFBF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61" y="3452232"/>
            <a:ext cx="5343525" cy="315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0B3DF42E-FA42-F184-D263-C12EE9B21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776" y="3452232"/>
            <a:ext cx="4842344" cy="315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718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AF80D1C8-3B5F-9CA5-CE74-BAC7F452E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51" y="326003"/>
            <a:ext cx="4632961" cy="310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C740E033-26AF-674F-3B95-295C155CE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157" y="326002"/>
            <a:ext cx="4632961" cy="310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FC439A4A-2F25-480F-C2B7-8C0469D53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50" y="3544460"/>
            <a:ext cx="4632961" cy="321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BDEF69EC-A543-485F-2855-6F5F8FA2B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157" y="3544460"/>
            <a:ext cx="4632961" cy="321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615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FB68A2F-CAA5-A2AC-3B1F-5352683AB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96" y="333375"/>
            <a:ext cx="5110370" cy="311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78AFFEEA-335C-30ED-8F40-414589B84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3375"/>
            <a:ext cx="4940410" cy="311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BD009A5C-7044-77B2-5B18-64179BCAE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96" y="3533775"/>
            <a:ext cx="511037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3D6F7010-6E2B-9787-3173-C1EDE44A3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33775"/>
            <a:ext cx="494041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235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ECBD16BC-7057-7735-A439-9A3797E7D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4" y="866774"/>
            <a:ext cx="525303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C61368C-7C41-2947-524A-9E52641D7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66774"/>
            <a:ext cx="5476874" cy="497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268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1"/>
            <a:ext cx="10657114" cy="2170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</a:pPr>
            <a:r>
              <a:rPr lang="en-US" altLang="zh-CN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4. </a:t>
            </a:r>
            <a:r>
              <a:rPr lang="zh-CN" altLang="en-US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计算机图形学的应用</a:t>
            </a:r>
            <a:endParaRPr lang="en-US" altLang="zh-CN" sz="3200" b="1" dirty="0">
              <a:latin typeface="华光仿宋_CNKI" panose="02000500000000000000" pitchFamily="2" charset="-122"/>
              <a:ea typeface="华光仿宋_CNKI" panose="02000500000000000000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(1) </a:t>
            </a:r>
            <a:r>
              <a:rPr lang="zh-CN" altLang="en-US" dirty="0"/>
              <a:t>图形用户接口。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AAFBBF9-EB13-1378-4698-5D854EC0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589" y="2508638"/>
            <a:ext cx="4891281" cy="369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35DD0AE-184F-E22F-C01D-9BB2085F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479" y="2508638"/>
            <a:ext cx="5006133" cy="369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8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2"/>
            <a:ext cx="10657114" cy="978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(2) </a:t>
            </a:r>
            <a:r>
              <a:rPr lang="zh-CN" altLang="en-US" dirty="0"/>
              <a:t>工业应用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97D7EAE-1B16-E7BC-75D5-589693F88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69" y="1510747"/>
            <a:ext cx="5324723" cy="469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07AB05A-6A97-BD62-5125-54AA8EFE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412" y="1510747"/>
            <a:ext cx="4967145" cy="469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049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2"/>
            <a:ext cx="10657114" cy="978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(3) </a:t>
            </a:r>
            <a:r>
              <a:rPr lang="zh-CN" altLang="en-US" dirty="0"/>
              <a:t>商业领域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52C881-16E0-8E29-279B-B99A4A88D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76" y="1669319"/>
            <a:ext cx="5021107" cy="384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8016641-A501-0586-86E2-750699D35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717" y="1784011"/>
            <a:ext cx="5515554" cy="373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949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2"/>
            <a:ext cx="10657114" cy="978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(4) </a:t>
            </a:r>
            <a:r>
              <a:rPr lang="zh-CN" altLang="en-US" dirty="0"/>
              <a:t>艺术领域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41231F3F-2846-76C9-9196-A71BED80D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209" y="1423284"/>
            <a:ext cx="3823086" cy="46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46E4FC61-8C29-E37F-1620-7728D739B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391" y="1423284"/>
            <a:ext cx="6096000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4883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2"/>
            <a:ext cx="10657114" cy="978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(5) </a:t>
            </a:r>
            <a:r>
              <a:rPr lang="zh-CN" altLang="en-US" dirty="0"/>
              <a:t>科学计算可视化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EB19DC5-439B-4873-8B5F-50BF41769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23" y="1523287"/>
            <a:ext cx="5030153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C7061952-5A1A-767A-BFF0-BF0DA6DF2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426" y="1523287"/>
            <a:ext cx="5507602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725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2"/>
            <a:ext cx="10657114" cy="978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(6) </a:t>
            </a:r>
            <a:r>
              <a:rPr lang="zh-CN" altLang="en-US" dirty="0"/>
              <a:t>虚拟现实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4B2BBC2-523C-7467-7E3B-753F6377C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740" y="1745924"/>
            <a:ext cx="4608981" cy="435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2041F29C-BDA9-0F91-E7DB-47D772BE3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39" y="1745924"/>
            <a:ext cx="5072933" cy="435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142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2"/>
            <a:ext cx="10657114" cy="978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(7) </a:t>
            </a:r>
            <a:r>
              <a:rPr lang="zh-CN" altLang="en-US" dirty="0"/>
              <a:t>系统环境模拟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2F83B46-208A-831D-5CFA-2879B5A8E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003" y="1731563"/>
            <a:ext cx="4952378" cy="415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F85EB55-0458-C1D4-1407-1B9B042D9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31563"/>
            <a:ext cx="5131242" cy="415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9667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767443" y="444991"/>
            <a:ext cx="10657114" cy="5836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</a:pPr>
            <a:r>
              <a:rPr lang="en-US" altLang="zh-CN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5. </a:t>
            </a:r>
            <a:r>
              <a:rPr lang="zh-CN" altLang="en-US" sz="3200" b="1" dirty="0">
                <a:latin typeface="华光仿宋_CNKI" panose="02000500000000000000" pitchFamily="2" charset="-122"/>
                <a:ea typeface="华光仿宋_CNKI" panose="02000500000000000000" pitchFamily="2" charset="-122"/>
              </a:rPr>
              <a:t>图形和图像的区别</a:t>
            </a:r>
            <a:endParaRPr lang="en-US" altLang="zh-CN" sz="3200" b="1" dirty="0">
              <a:latin typeface="华光仿宋_CNKI" panose="02000500000000000000" pitchFamily="2" charset="-122"/>
              <a:ea typeface="华光仿宋_CNKI" panose="02000500000000000000" pitchFamily="2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● </a:t>
            </a:r>
            <a:r>
              <a:rPr lang="zh-CN" altLang="en-US" dirty="0"/>
              <a:t>表示方法不同：图形是由基本几何体（直线，点，圆、曲线、三角形等）构成的实体，同时具有几何属性和视觉属性。图像是由很多像素点构成的点阵信息。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● </a:t>
            </a:r>
            <a:r>
              <a:rPr lang="zh-CN" altLang="en-US" dirty="0"/>
              <a:t>生成方法不同：图形是通过计算机算法生成的，而图像是通过照相机，摄像机等扫描设备或图像生成软件制作而成。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73472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>
            <a:extLst>
              <a:ext uri="{FF2B5EF4-FFF2-40B4-BE49-F238E27FC236}">
                <a16:creationId xmlns:a16="http://schemas.microsoft.com/office/drawing/2014/main" id="{19C84ACC-B946-52E2-79F6-668CA8B1726D}"/>
              </a:ext>
            </a:extLst>
          </p:cNvPr>
          <p:cNvSpPr txBox="1">
            <a:spLocks/>
          </p:cNvSpPr>
          <p:nvPr/>
        </p:nvSpPr>
        <p:spPr>
          <a:xfrm>
            <a:off x="672027" y="747142"/>
            <a:ext cx="10657114" cy="464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● </a:t>
            </a:r>
            <a:r>
              <a:rPr lang="zh-CN" altLang="en-US" dirty="0"/>
              <a:t>研究侧重点不同：图形学主要研究如何使用计算机表示几何体，构建几何模型、如何通过建立数学模型或者算法把真实的或者想象的物体显示出来。图像处理主要研究如何将一种图像处理成另一种图像，包括图像增强、复原、解析和理解、编码、压缩、匹配，识别等。     </a:t>
            </a:r>
          </a:p>
        </p:txBody>
      </p:sp>
    </p:spTree>
    <p:extLst>
      <p:ext uri="{BB962C8B-B14F-4D97-AF65-F5344CB8AC3E}">
        <p14:creationId xmlns:p14="http://schemas.microsoft.com/office/powerpoint/2010/main" val="299332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481</Words>
  <Application>Microsoft Office PowerPoint</Application>
  <PresentationFormat>宽屏</PresentationFormat>
  <Paragraphs>26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4" baseType="lpstr">
      <vt:lpstr>等线</vt:lpstr>
      <vt:lpstr>等线 Light</vt:lpstr>
      <vt:lpstr>华光仿宋_CNKI</vt:lpstr>
      <vt:lpstr>宋体</vt:lpstr>
      <vt:lpstr>Arial</vt:lpstr>
      <vt:lpstr>Office 主题​​</vt:lpstr>
      <vt:lpstr>第1章  绪论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绪论</dc:title>
  <dc:creator>黄海于</dc:creator>
  <cp:lastModifiedBy>黄海于</cp:lastModifiedBy>
  <cp:revision>107</cp:revision>
  <dcterms:created xsi:type="dcterms:W3CDTF">2023-07-10T02:21:05Z</dcterms:created>
  <dcterms:modified xsi:type="dcterms:W3CDTF">2023-07-15T10:33:13Z</dcterms:modified>
</cp:coreProperties>
</file>