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wdp" ContentType="image/vnd.ms-photo"/>
  <Default Extension="gif" ContentType="image/gif"/>
  <Default Extension="mp4" ContentType="video/mp4"/>
  <Default Extension="mov" ContentType="video/quicktime"/>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p:sldMasterIdLst>
    <p:sldMasterId id="2147483648" r:id="rId1"/>
  </p:sldMasterIdLst>
  <p:notesMasterIdLst>
    <p:notesMasterId r:id="rId4"/>
  </p:notesMasterIdLst>
  <p:sldIdLst>
    <p:sldId id="259" r:id="rId3"/>
    <p:sldId id="261" r:id="rId5"/>
    <p:sldId id="267" r:id="rId6"/>
    <p:sldId id="584" r:id="rId7"/>
    <p:sldId id="265" r:id="rId8"/>
    <p:sldId id="1257" r:id="rId9"/>
    <p:sldId id="991" r:id="rId10"/>
    <p:sldId id="257" r:id="rId11"/>
    <p:sldId id="1254" r:id="rId12"/>
    <p:sldId id="275" r:id="rId13"/>
    <p:sldId id="990" r:id="rId14"/>
    <p:sldId id="986" r:id="rId15"/>
    <p:sldId id="356" r:id="rId16"/>
    <p:sldId id="513" r:id="rId17"/>
    <p:sldId id="276" r:id="rId18"/>
    <p:sldId id="1062" r:id="rId19"/>
    <p:sldId id="1250" r:id="rId20"/>
    <p:sldId id="293" r:id="rId21"/>
    <p:sldId id="1094" r:id="rId22"/>
    <p:sldId id="353" r:id="rId23"/>
    <p:sldId id="332" r:id="rId24"/>
    <p:sldId id="331" r:id="rId25"/>
    <p:sldId id="1063" r:id="rId26"/>
    <p:sldId id="1159" r:id="rId27"/>
    <p:sldId id="338" r:id="rId28"/>
    <p:sldId id="336" r:id="rId29"/>
    <p:sldId id="341" r:id="rId30"/>
    <p:sldId id="1160" r:id="rId31"/>
    <p:sldId id="344" r:id="rId32"/>
    <p:sldId id="347" r:id="rId33"/>
    <p:sldId id="345" r:id="rId34"/>
    <p:sldId id="348" r:id="rId35"/>
    <p:sldId id="349" r:id="rId36"/>
    <p:sldId id="351" r:id="rId37"/>
    <p:sldId id="1157" r:id="rId38"/>
    <p:sldId id="1161" r:id="rId39"/>
    <p:sldId id="1158" r:id="rId40"/>
    <p:sldId id="352" r:id="rId41"/>
    <p:sldId id="297" r:id="rId42"/>
    <p:sldId id="307" r:id="rId43"/>
    <p:sldId id="291" r:id="rId44"/>
    <p:sldId id="713" r:id="rId45"/>
    <p:sldId id="704" r:id="rId46"/>
    <p:sldId id="705" r:id="rId47"/>
    <p:sldId id="1015" r:id="rId48"/>
    <p:sldId id="1006" r:id="rId49"/>
    <p:sldId id="1007" r:id="rId50"/>
    <p:sldId id="1000" r:id="rId51"/>
    <p:sldId id="999" r:id="rId52"/>
    <p:sldId id="1008" r:id="rId53"/>
    <p:sldId id="1009" r:id="rId54"/>
    <p:sldId id="1256" r:id="rId55"/>
    <p:sldId id="1010" r:id="rId56"/>
    <p:sldId id="1011" r:id="rId57"/>
    <p:sldId id="1012" r:id="rId58"/>
    <p:sldId id="1014" r:id="rId59"/>
    <p:sldId id="1002" r:id="rId60"/>
    <p:sldId id="266" r:id="rId61"/>
    <p:sldId id="278" r:id="rId62"/>
    <p:sldId id="277" r:id="rId63"/>
    <p:sldId id="279" r:id="rId64"/>
    <p:sldId id="280" r:id="rId65"/>
    <p:sldId id="281" r:id="rId66"/>
    <p:sldId id="1163" r:id="rId67"/>
    <p:sldId id="282" r:id="rId68"/>
    <p:sldId id="283" r:id="rId69"/>
    <p:sldId id="284" r:id="rId70"/>
    <p:sldId id="285" r:id="rId71"/>
    <p:sldId id="1061" r:id="rId72"/>
    <p:sldId id="1001" r:id="rId73"/>
    <p:sldId id="1055" r:id="rId74"/>
    <p:sldId id="1056" r:id="rId75"/>
    <p:sldId id="1057" r:id="rId76"/>
    <p:sldId id="1058" r:id="rId77"/>
    <p:sldId id="1059" r:id="rId78"/>
    <p:sldId id="1245" r:id="rId79"/>
    <p:sldId id="1043" r:id="rId80"/>
    <p:sldId id="1017" r:id="rId81"/>
    <p:sldId id="1036" r:id="rId82"/>
    <p:sldId id="1018" r:id="rId83"/>
    <p:sldId id="1019" r:id="rId84"/>
    <p:sldId id="1033" r:id="rId85"/>
    <p:sldId id="1037" r:id="rId86"/>
    <p:sldId id="1038" r:id="rId87"/>
    <p:sldId id="1040" r:id="rId88"/>
    <p:sldId id="1022" r:id="rId89"/>
    <p:sldId id="1041" r:id="rId90"/>
    <p:sldId id="1024" r:id="rId91"/>
    <p:sldId id="1060" r:id="rId92"/>
    <p:sldId id="997" r:id="rId93"/>
    <p:sldId id="998" r:id="rId94"/>
    <p:sldId id="995" r:id="rId95"/>
    <p:sldId id="1162" r:id="rId96"/>
    <p:sldId id="1244" r:id="rId97"/>
    <p:sldId id="1045" r:id="rId98"/>
    <p:sldId id="1046" r:id="rId99"/>
    <p:sldId id="1047" r:id="rId100"/>
    <p:sldId id="1004" r:id="rId101"/>
    <p:sldId id="269" r:id="rId102"/>
    <p:sldId id="270" r:id="rId103"/>
    <p:sldId id="984" r:id="rId104"/>
    <p:sldId id="271" r:id="rId105"/>
    <p:sldId id="992" r:id="rId106"/>
    <p:sldId id="272" r:id="rId107"/>
    <p:sldId id="357" r:id="rId108"/>
    <p:sldId id="273" r:id="rId109"/>
    <p:sldId id="958" r:id="rId110"/>
    <p:sldId id="359" r:id="rId111"/>
    <p:sldId id="994" r:id="rId112"/>
    <p:sldId id="1258" r:id="rId1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259"/>
            <p14:sldId id="261"/>
            <p14:sldId id="267"/>
            <p14:sldId id="584"/>
            <p14:sldId id="265"/>
            <p14:sldId id="1257"/>
            <p14:sldId id="991"/>
            <p14:sldId id="257"/>
            <p14:sldId id="1254"/>
            <p14:sldId id="275"/>
            <p14:sldId id="990"/>
            <p14:sldId id="986"/>
            <p14:sldId id="356"/>
            <p14:sldId id="513"/>
            <p14:sldId id="276"/>
            <p14:sldId id="1062"/>
            <p14:sldId id="1250"/>
            <p14:sldId id="293"/>
            <p14:sldId id="1094"/>
            <p14:sldId id="353"/>
            <p14:sldId id="332"/>
            <p14:sldId id="331"/>
            <p14:sldId id="1063"/>
            <p14:sldId id="1159"/>
            <p14:sldId id="338"/>
            <p14:sldId id="336"/>
            <p14:sldId id="341"/>
            <p14:sldId id="1160"/>
            <p14:sldId id="344"/>
            <p14:sldId id="347"/>
            <p14:sldId id="345"/>
            <p14:sldId id="348"/>
            <p14:sldId id="349"/>
            <p14:sldId id="351"/>
            <p14:sldId id="1157"/>
            <p14:sldId id="1161"/>
            <p14:sldId id="1158"/>
            <p14:sldId id="352"/>
            <p14:sldId id="297"/>
            <p14:sldId id="307"/>
            <p14:sldId id="291"/>
            <p14:sldId id="713"/>
            <p14:sldId id="704"/>
            <p14:sldId id="705"/>
            <p14:sldId id="1015"/>
            <p14:sldId id="1006"/>
            <p14:sldId id="1007"/>
            <p14:sldId id="1000"/>
            <p14:sldId id="999"/>
            <p14:sldId id="1008"/>
            <p14:sldId id="1009"/>
            <p14:sldId id="1256"/>
            <p14:sldId id="1010"/>
            <p14:sldId id="1011"/>
            <p14:sldId id="1012"/>
            <p14:sldId id="1014"/>
            <p14:sldId id="1002"/>
            <p14:sldId id="266"/>
            <p14:sldId id="278"/>
            <p14:sldId id="277"/>
            <p14:sldId id="279"/>
            <p14:sldId id="280"/>
            <p14:sldId id="281"/>
            <p14:sldId id="1163"/>
            <p14:sldId id="282"/>
            <p14:sldId id="283"/>
            <p14:sldId id="284"/>
            <p14:sldId id="285"/>
            <p14:sldId id="1061"/>
            <p14:sldId id="1001"/>
            <p14:sldId id="1055"/>
            <p14:sldId id="1056"/>
            <p14:sldId id="1057"/>
            <p14:sldId id="1058"/>
            <p14:sldId id="1059"/>
            <p14:sldId id="1245"/>
            <p14:sldId id="1043"/>
            <p14:sldId id="1017"/>
            <p14:sldId id="1036"/>
            <p14:sldId id="1018"/>
            <p14:sldId id="1019"/>
            <p14:sldId id="1033"/>
            <p14:sldId id="1037"/>
            <p14:sldId id="1038"/>
            <p14:sldId id="1040"/>
            <p14:sldId id="1022"/>
            <p14:sldId id="1041"/>
            <p14:sldId id="1024"/>
            <p14:sldId id="1060"/>
            <p14:sldId id="997"/>
            <p14:sldId id="998"/>
            <p14:sldId id="995"/>
            <p14:sldId id="1162"/>
            <p14:sldId id="1244"/>
            <p14:sldId id="1045"/>
            <p14:sldId id="1046"/>
            <p14:sldId id="1047"/>
            <p14:sldId id="1004"/>
            <p14:sldId id="269"/>
            <p14:sldId id="270"/>
            <p14:sldId id="984"/>
            <p14:sldId id="271"/>
            <p14:sldId id="992"/>
            <p14:sldId id="272"/>
            <p14:sldId id="357"/>
            <p14:sldId id="273"/>
            <p14:sldId id="958"/>
            <p14:sldId id="359"/>
            <p14:sldId id="994"/>
            <p14:sldId id="125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307E"/>
    <a:srgbClr val="B962FF"/>
    <a:srgbClr val="FDCB0B"/>
    <a:srgbClr val="FFD700"/>
    <a:srgbClr val="F9BC12"/>
    <a:srgbClr val="FFD801"/>
    <a:srgbClr val="EFB914"/>
    <a:srgbClr val="F5BD15"/>
    <a:srgbClr val="F8BF15"/>
    <a:srgbClr val="FEC6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8"/>
    <p:restoredTop sz="74286" autoAdjust="0"/>
  </p:normalViewPr>
  <p:slideViewPr>
    <p:cSldViewPr snapToGrid="0" snapToObjects="1">
      <p:cViewPr varScale="1">
        <p:scale>
          <a:sx n="65" d="100"/>
          <a:sy n="65" d="100"/>
        </p:scale>
        <p:origin x="1229" y="48"/>
      </p:cViewPr>
      <p:guideLst/>
    </p:cSldViewPr>
  </p:slideViewPr>
  <p:outlineViewPr>
    <p:cViewPr>
      <p:scale>
        <a:sx n="33" d="100"/>
        <a:sy n="33" d="100"/>
      </p:scale>
      <p:origin x="0" y="-2640"/>
    </p:cViewPr>
    <p:sldLst>
      <p:sld r:id="rId1" collapse="1"/>
    </p:sldLst>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6" Type="http://schemas.openxmlformats.org/officeDocument/2006/relationships/tableStyles" Target="tableStyles.xml"/><Relationship Id="rId115" Type="http://schemas.openxmlformats.org/officeDocument/2006/relationships/viewProps" Target="viewProps.xml"/><Relationship Id="rId114" Type="http://schemas.openxmlformats.org/officeDocument/2006/relationships/presProps" Target="presProps.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76.xml.rels><?xml version="1.0" encoding="UTF-8" standalone="yes"?>
<Relationships xmlns="http://schemas.openxmlformats.org/package/2006/relationships"><Relationship Id="rId6" Type="http://schemas.openxmlformats.org/officeDocument/2006/relationships/hyperlink" Target="https://zh.wikipedia.org/wiki/%E7%8A%B9%E4%BB%96%E5%A4%A7%E5%AD%A6" TargetMode="External"/><Relationship Id="rId5" Type="http://schemas.openxmlformats.org/officeDocument/2006/relationships/hyperlink" Target="https://zh.wikipedia.org/wiki/%E5%8A%A0%E5%B7%9E%E5%A4%A7%E5%AD%A6" TargetMode="External"/><Relationship Id="rId4" Type="http://schemas.openxmlformats.org/officeDocument/2006/relationships/hyperlink" Target="https://zh.wikipedia.org/w/index.php?title=%E6%96%AF%E5%9D%A6%E7%A6%8F%E7%A0%94%E7%A9%B6%E9%99%A2&amp;action=edit&amp;redlink=1" TargetMode="External"/><Relationship Id="rId3" Type="http://schemas.openxmlformats.org/officeDocument/2006/relationships/hyperlink" Target="https://zh.wikipedia.org/wiki/%E5%8A%A0%E5%B7%9E%E5%A4%A7%E5%AD%A6%E6%B4%9B%E6%9D%89%E7%9F%B6%E5%88%86%E6%A0%A1" TargetMode="External"/><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D6F2014-9124-7E48-AB8C-EDB67164399A}" type="slidenum">
              <a:rPr lang="en-US" altLang="zh-CN" sz="1300"/>
            </a:fld>
            <a:endParaRPr lang="en-US" altLang="zh-CN" sz="1300"/>
          </a:p>
        </p:txBody>
      </p:sp>
      <p:sp>
        <p:nvSpPr>
          <p:cNvPr id="6147" name="Rectangle 2"/>
          <p:cNvSpPr>
            <a:spLocks noGrp="1" noRot="1" noChangeAspect="1" noChangeArrowheads="1" noTextEdit="1"/>
          </p:cNvSpPr>
          <p:nvPr>
            <p:ph type="sldImg"/>
          </p:nvPr>
        </p:nvSpPr>
        <p:spPr>
          <a:xfrm>
            <a:off x="139700" y="768350"/>
            <a:ext cx="6819900" cy="3836988"/>
          </a:xfrm>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8E136CB-BB75-4C4A-A89B-E36DC574468C}" type="slidenum">
              <a:rPr lang="en-US" altLang="zh-CN" sz="1300"/>
            </a:fld>
            <a:endParaRPr lang="en-US" altLang="zh-CN" sz="1300"/>
          </a:p>
        </p:txBody>
      </p:sp>
      <p:sp>
        <p:nvSpPr>
          <p:cNvPr id="10243" name="Rectangle 2"/>
          <p:cNvSpPr>
            <a:spLocks noGrp="1" noRot="1" noChangeAspect="1" noChangeArrowheads="1" noTextEdit="1"/>
          </p:cNvSpPr>
          <p:nvPr>
            <p:ph type="sldImg"/>
          </p:nvPr>
        </p:nvSpPr>
        <p:spPr>
          <a:xfrm>
            <a:off x="139700" y="768350"/>
            <a:ext cx="6819900" cy="3836988"/>
          </a:xfrm>
        </p:spPr>
      </p:sp>
      <p:sp>
        <p:nvSpPr>
          <p:cNvPr id="10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defRPr sz="1700">
                <a:solidFill>
                  <a:schemeClr val="tx1"/>
                </a:solidFill>
                <a:latin typeface="Times New Roman" panose="02020603050405020304" pitchFamily="18" charset="0"/>
                <a:ea typeface="楷体_GB2312" pitchFamily="49" charset="-122"/>
              </a:defRPr>
            </a:lvl1pPr>
            <a:lvl2pPr marL="804545" indent="-309245">
              <a:defRPr sz="1700">
                <a:solidFill>
                  <a:schemeClr val="tx1"/>
                </a:solidFill>
                <a:latin typeface="Times New Roman" panose="02020603050405020304" pitchFamily="18" charset="0"/>
                <a:ea typeface="楷体_GB2312" pitchFamily="49" charset="-122"/>
              </a:defRPr>
            </a:lvl2pPr>
            <a:lvl3pPr marL="1238250" indent="-247650">
              <a:defRPr sz="1700">
                <a:solidFill>
                  <a:schemeClr val="tx1"/>
                </a:solidFill>
                <a:latin typeface="Times New Roman" panose="02020603050405020304" pitchFamily="18" charset="0"/>
                <a:ea typeface="楷体_GB2312" pitchFamily="49" charset="-122"/>
              </a:defRPr>
            </a:lvl3pPr>
            <a:lvl4pPr marL="1733550" indent="-247650">
              <a:defRPr sz="1700">
                <a:solidFill>
                  <a:schemeClr val="tx1"/>
                </a:solidFill>
                <a:latin typeface="Times New Roman" panose="02020603050405020304" pitchFamily="18" charset="0"/>
                <a:ea typeface="楷体_GB2312" pitchFamily="49" charset="-122"/>
              </a:defRPr>
            </a:lvl4pPr>
            <a:lvl5pPr marL="2228850" indent="-247650">
              <a:defRPr sz="1700">
                <a:solidFill>
                  <a:schemeClr val="tx1"/>
                </a:solidFill>
                <a:latin typeface="Times New Roman" panose="02020603050405020304" pitchFamily="18" charset="0"/>
                <a:ea typeface="楷体_GB2312" pitchFamily="49" charset="-122"/>
              </a:defRPr>
            </a:lvl5pPr>
            <a:lvl6pPr marL="2723515" indent="-247650" eaLnBrk="0" fontAlgn="base" hangingPunct="0">
              <a:spcBef>
                <a:spcPct val="0"/>
              </a:spcBef>
              <a:spcAft>
                <a:spcPct val="0"/>
              </a:spcAft>
              <a:defRPr sz="1700">
                <a:solidFill>
                  <a:schemeClr val="tx1"/>
                </a:solidFill>
                <a:latin typeface="Times New Roman" panose="02020603050405020304" pitchFamily="18" charset="0"/>
                <a:ea typeface="楷体_GB2312" pitchFamily="49" charset="-122"/>
              </a:defRPr>
            </a:lvl6pPr>
            <a:lvl7pPr marL="3218815" indent="-247650" eaLnBrk="0" fontAlgn="base" hangingPunct="0">
              <a:spcBef>
                <a:spcPct val="0"/>
              </a:spcBef>
              <a:spcAft>
                <a:spcPct val="0"/>
              </a:spcAft>
              <a:defRPr sz="1700">
                <a:solidFill>
                  <a:schemeClr val="tx1"/>
                </a:solidFill>
                <a:latin typeface="Times New Roman" panose="02020603050405020304" pitchFamily="18" charset="0"/>
                <a:ea typeface="楷体_GB2312" pitchFamily="49" charset="-122"/>
              </a:defRPr>
            </a:lvl7pPr>
            <a:lvl8pPr marL="3714115" indent="-247650" eaLnBrk="0" fontAlgn="base" hangingPunct="0">
              <a:spcBef>
                <a:spcPct val="0"/>
              </a:spcBef>
              <a:spcAft>
                <a:spcPct val="0"/>
              </a:spcAft>
              <a:defRPr sz="1700">
                <a:solidFill>
                  <a:schemeClr val="tx1"/>
                </a:solidFill>
                <a:latin typeface="Times New Roman" panose="02020603050405020304" pitchFamily="18" charset="0"/>
                <a:ea typeface="楷体_GB2312" pitchFamily="49" charset="-122"/>
              </a:defRPr>
            </a:lvl8pPr>
            <a:lvl9pPr marL="4209415" indent="-247650" eaLnBrk="0" fontAlgn="base" hangingPunct="0">
              <a:spcBef>
                <a:spcPct val="0"/>
              </a:spcBef>
              <a:spcAft>
                <a:spcPct val="0"/>
              </a:spcAft>
              <a:defRPr sz="1700">
                <a:solidFill>
                  <a:schemeClr val="tx1"/>
                </a:solidFill>
                <a:latin typeface="Times New Roman" panose="02020603050405020304" pitchFamily="18" charset="0"/>
                <a:ea typeface="楷体_GB2312" pitchFamily="49" charset="-122"/>
              </a:defRPr>
            </a:lvl9pPr>
          </a:lstStyle>
          <a:p>
            <a:fld id="{F39E65D4-8534-4BE7-A5BB-AE9042FDC162}" type="slidenum">
              <a:rPr lang="en-US" altLang="zh-CN" sz="1300">
                <a:latin typeface="Arial" panose="020B0604020202020204" pitchFamily="34" charset="0"/>
                <a:ea typeface="宋体" panose="02010600030101010101" pitchFamily="2" charset="-122"/>
              </a:rPr>
            </a:fld>
            <a:endParaRPr lang="en-US" altLang="zh-CN" sz="1300">
              <a:latin typeface="Arial" panose="020B0604020202020204" pitchFamily="34" charset="0"/>
              <a:ea typeface="宋体" panose="02010600030101010101" pitchFamily="2" charset="-122"/>
            </a:endParaRPr>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r" defTabSz="990600" rtl="0" eaLnBrk="1" fontAlgn="auto" latinLnBrk="0" hangingPunct="1">
              <a:lnSpc>
                <a:spcPct val="100000"/>
              </a:lnSpc>
              <a:spcBef>
                <a:spcPts val="0"/>
              </a:spcBef>
              <a:spcAft>
                <a:spcPts val="0"/>
              </a:spcAft>
              <a:buClrTx/>
              <a:buSzTx/>
              <a:buFontTx/>
              <a:buNone/>
              <a:defRPr/>
            </a:pPr>
            <a:fld id="{93B10148-1274-2949-8AB2-B079937E94CB}" type="slidenum">
              <a:rPr kumimoji="1" lang="en-US" altLang="zh-CN" sz="13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fld>
            <a:endParaRPr kumimoji="1" lang="en-US" altLang="zh-CN" sz="13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2291" name="Rectangle 2"/>
          <p:cNvSpPr>
            <a:spLocks noGrp="1" noRot="1" noChangeAspect="1" noChangeArrowheads="1" noTextEdit="1"/>
          </p:cNvSpPr>
          <p:nvPr>
            <p:ph type="sldImg"/>
          </p:nvPr>
        </p:nvSpPr>
        <p:spPr>
          <a:xfrm>
            <a:off x="139700" y="768350"/>
            <a:ext cx="6819900" cy="3836988"/>
          </a:xfrm>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18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请各位使用此教案的老师，将</a:t>
            </a:r>
            <a:r>
              <a:rPr kumimoji="1" lang="en-US" altLang="zh-CN" dirty="0"/>
              <a:t>XXXX</a:t>
            </a:r>
            <a:r>
              <a:rPr kumimoji="1" lang="zh-CN" altLang="en-US" dirty="0"/>
              <a:t>替换成自己的名字和学校名称等</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请在</a:t>
            </a:r>
            <a:r>
              <a:rPr kumimoji="1" lang="en-US" altLang="zh-CN" dirty="0"/>
              <a:t>PPT</a:t>
            </a:r>
            <a:r>
              <a:rPr kumimoji="1" lang="zh-CN" altLang="en-US" dirty="0"/>
              <a:t>母版中加入自己学校的图标。具体方法：</a:t>
            </a:r>
            <a:endParaRPr kumimoji="1" lang="en-US" altLang="zh-CN" dirty="0"/>
          </a:p>
          <a:p>
            <a:r>
              <a:rPr kumimoji="1" lang="en-US" altLang="zh-CN" dirty="0"/>
              <a:t>1</a:t>
            </a:r>
            <a:r>
              <a:rPr kumimoji="1" lang="zh-CN" altLang="en-US" dirty="0"/>
              <a:t>、打开幻灯片母版：</a:t>
            </a:r>
            <a:r>
              <a:rPr kumimoji="1" lang="en-US" altLang="zh-CN" dirty="0"/>
              <a:t>PPT</a:t>
            </a:r>
            <a:r>
              <a:rPr kumimoji="1" lang="zh-CN" altLang="en-US" dirty="0"/>
              <a:t>菜单</a:t>
            </a:r>
            <a:r>
              <a:rPr kumimoji="1" lang="en-US" altLang="zh-CN" dirty="0"/>
              <a:t>-&gt;</a:t>
            </a:r>
            <a:r>
              <a:rPr kumimoji="1" lang="zh-CN" altLang="en-US" dirty="0"/>
              <a:t>视图</a:t>
            </a:r>
            <a:r>
              <a:rPr kumimoji="1" lang="en-US" altLang="zh-CN" dirty="0"/>
              <a:t>-&gt;</a:t>
            </a:r>
            <a:r>
              <a:rPr kumimoji="1" lang="zh-CN" altLang="en-US" dirty="0"/>
              <a:t>幻灯片母版；</a:t>
            </a:r>
            <a:endParaRPr kumimoji="1" lang="en-US" altLang="zh-CN" dirty="0"/>
          </a:p>
          <a:p>
            <a:r>
              <a:rPr kumimoji="1" lang="en-US" altLang="zh-CN" dirty="0"/>
              <a:t>2</a:t>
            </a:r>
            <a:r>
              <a:rPr kumimoji="1" lang="zh-CN" altLang="en-US" dirty="0"/>
              <a:t>、将母版的</a:t>
            </a:r>
            <a:r>
              <a:rPr kumimoji="1" lang="en-US" altLang="zh-CN" dirty="0"/>
              <a:t>P3</a:t>
            </a:r>
            <a:r>
              <a:rPr kumimoji="1" lang="zh-CN" altLang="en-US" dirty="0"/>
              <a:t>和</a:t>
            </a:r>
            <a:r>
              <a:rPr kumimoji="1" lang="en-US" altLang="zh-CN" dirty="0"/>
              <a:t>P4</a:t>
            </a:r>
            <a:r>
              <a:rPr kumimoji="1" lang="zh-CN" altLang="en-US" dirty="0"/>
              <a:t>右上角的“我的学校”图标，删去并换成自己学校的图标；</a:t>
            </a:r>
            <a:endParaRPr kumimoji="1" lang="en-US" altLang="zh-CN" dirty="0"/>
          </a:p>
          <a:p>
            <a:r>
              <a:rPr kumimoji="1" lang="en-US" altLang="zh-CN" dirty="0"/>
              <a:t>3</a:t>
            </a:r>
            <a:r>
              <a:rPr kumimoji="1" lang="zh-CN" altLang="en-US" dirty="0"/>
              <a:t>、页面最上面菜单中，关闭母版。</a:t>
            </a:r>
            <a:endParaRPr kumimoji="1" lang="en-US" altLang="zh-CN" dirty="0"/>
          </a:p>
          <a:p>
            <a:r>
              <a:rPr kumimoji="1" lang="zh-CN" altLang="en-US" dirty="0"/>
              <a:t>祝贺你：</a:t>
            </a:r>
            <a:r>
              <a:rPr kumimoji="1" lang="en-US" altLang="zh-CN" dirty="0"/>
              <a:t>PPT</a:t>
            </a:r>
            <a:r>
              <a:rPr kumimoji="1" lang="zh-CN" altLang="en-US" dirty="0"/>
              <a:t>每页正文均有自己学校的图标了！</a:t>
            </a:r>
            <a:endParaRPr kumimoji="1" lang="zh-CN" altLang="en-US" dirty="0"/>
          </a:p>
          <a:p>
            <a:endParaRPr kumimoji="1" lang="en-US" altLang="zh-CN" dirty="0"/>
          </a:p>
          <a:p>
            <a:r>
              <a:rPr kumimoji="1" lang="zh-CN" altLang="en-US" dirty="0"/>
              <a:t>小试牛刀：可以布置作业，让大家以本章所学为基础，给朋友讲讲互联网发展或网络安全方面的故事。</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23BD17A-A8A6-2A40-9724-F7DF77E9644E}" type="slidenum">
              <a:rPr lang="en-US" altLang="zh-CN">
                <a:latin typeface="Tahoma" panose="020B0604030504040204" pitchFamily="34" charset="0"/>
              </a:rPr>
            </a:fld>
            <a:endParaRPr lang="en-US" altLang="zh-CN">
              <a:latin typeface="Tahoma" panose="020B0604030504040204" pitchFamily="34" charset="0"/>
            </a:endParaRPr>
          </a:p>
        </p:txBody>
      </p:sp>
      <p:sp>
        <p:nvSpPr>
          <p:cNvPr id="10243"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t>上天入地</a:t>
            </a:r>
            <a:r>
              <a:rPr lang="en-US" altLang="zh-CN" sz="1400" b="0" dirty="0"/>
              <a:t>,</a:t>
            </a:r>
            <a:r>
              <a:rPr lang="zh-CN" altLang="en-US" sz="1400" b="0" dirty="0"/>
              <a:t> 无处不在的网络和应用</a:t>
            </a:r>
            <a:endParaRPr lang="en-US" altLang="zh-CN" sz="1400" b="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t>讲解几种典型网络和应用，可以根据课时情况，多说说不同网络应用的特色，特别是与网络相关的特色。</a:t>
            </a:r>
            <a:endParaRPr lang="en-US" altLang="zh-CN" sz="1400" b="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t>例如，远程医疗需要网络时延的精准控制，无人码头的远程操控需要可靠性；</a:t>
            </a:r>
            <a:endParaRPr lang="en-US" altLang="zh-CN" sz="1400" b="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latin typeface="微软雅黑" panose="020B0503020204020204" pitchFamily="34" charset="-122"/>
                <a:ea typeface="微软雅黑" panose="020B0503020204020204" pitchFamily="34" charset="-122"/>
              </a:rPr>
              <a:t>井下通信需要无线信号的抗干扰、抗衰减和事故中的应急组网；</a:t>
            </a:r>
            <a:endParaRPr lang="zh-CN" altLang="en-US" sz="1400" b="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t>马斯克的星链计划：预计通过约</a:t>
            </a:r>
            <a:r>
              <a:rPr lang="en-US" altLang="zh-CN" sz="1400" b="0" dirty="0"/>
              <a:t>4000</a:t>
            </a:r>
            <a:r>
              <a:rPr lang="zh-CN" altLang="en-US" sz="1400" b="0" dirty="0"/>
              <a:t>枚卫星和地面站，构筑一个覆盖全球的太空通信系统，动态拓扑，大时延</a:t>
            </a:r>
            <a:endParaRPr lang="en-US" altLang="zh-CN" sz="1400" b="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t>通信大数据行程卡：网络不仅仅是通信，还有定位：</a:t>
            </a:r>
            <a:r>
              <a:rPr lang="en-US" altLang="zh-CN" sz="1400" b="0" dirty="0"/>
              <a:t>GPS</a:t>
            </a:r>
            <a:r>
              <a:rPr lang="zh-CN" altLang="en-US" sz="1400" b="0" dirty="0"/>
              <a:t>定位，基站定位，甚至用蓝牙通信来测试人与人之间的距离</a:t>
            </a:r>
            <a:endParaRPr lang="zh-CN" altLang="en-US" sz="1400" b="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t>顺便分享个小应用：奶牛快传来分享大文件，貌似比</a:t>
            </a:r>
            <a:r>
              <a:rPr lang="en-US" altLang="zh-CN" sz="1400" b="0" dirty="0"/>
              <a:t>U</a:t>
            </a:r>
            <a:r>
              <a:rPr lang="zh-CN" altLang="en-US" sz="1400" b="0" dirty="0"/>
              <a:t>盘都方便</a:t>
            </a:r>
            <a:endParaRPr lang="en-US" altLang="zh-CN" sz="1400" b="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400" b="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dirty="0"/>
              <a:t>开场：</a:t>
            </a:r>
            <a:r>
              <a:rPr lang="zh-CN" altLang="en-US" sz="1400" dirty="0"/>
              <a:t>我们生活在互联网时代！</a:t>
            </a:r>
            <a:endParaRPr kumimoji="1" lang="zh-CN" altLang="en-US" sz="1400" dirty="0"/>
          </a:p>
          <a:p>
            <a:r>
              <a:rPr kumimoji="1" lang="en-US" altLang="zh-CN" sz="1400" dirty="0"/>
              <a:t>http://www.81.cn/</a:t>
            </a:r>
            <a:r>
              <a:rPr kumimoji="1" lang="en-US" altLang="zh-CN" sz="1400" dirty="0" err="1"/>
              <a:t>jmywyl</a:t>
            </a:r>
            <a:r>
              <a:rPr kumimoji="1" lang="en-US" altLang="zh-CN" sz="1400" dirty="0"/>
              <a:t>/2020-04/22/content_9798456.htm</a:t>
            </a:r>
            <a:endParaRPr kumimoji="1" lang="en-US" altLang="zh-CN" sz="1400" dirty="0"/>
          </a:p>
          <a:p>
            <a:r>
              <a:rPr kumimoji="1" lang="zh-CN" altLang="en-US" sz="1400" dirty="0"/>
              <a:t>你有没有想过如果一天没有互联网，你的生活会怎样？比如手机似乎已经成了我们的身体的一部分。</a:t>
            </a:r>
            <a:endParaRPr kumimoji="1" lang="en-US" altLang="zh-CN" sz="1400" dirty="0"/>
          </a:p>
          <a:p>
            <a:r>
              <a:rPr kumimoji="1" lang="zh-CN" altLang="en-US" sz="1400" dirty="0"/>
              <a:t>移动互联网发达的今天，手机不仅用于娱乐，看春晚、在线游戏，也成了消费工具，手机网购、支付，网络几乎渗透到我们生活的方方面面。</a:t>
            </a:r>
            <a:endParaRPr kumimoji="1" lang="en-US" altLang="zh-CN" sz="1400" dirty="0"/>
          </a:p>
          <a:p>
            <a:r>
              <a:rPr kumimoji="1" lang="zh-CN" altLang="en-US" sz="1400" dirty="0"/>
              <a:t>比如说直播，同学们想到的恐怕不是传统电视直播，而是游戏直播或者直播带货了。</a:t>
            </a:r>
            <a:endParaRPr kumimoji="1" lang="en-US" altLang="zh-CN" sz="1400" dirty="0"/>
          </a:p>
          <a:p>
            <a:r>
              <a:rPr kumimoji="1" lang="zh-CN" altLang="en-US" sz="1400" dirty="0"/>
              <a:t>即使在偏僻的农村，手机直播也成为促进农业经济发展的工具，通过直播销售地方特产，如图示中，直播销售草莓，卖绿色蔬菜；</a:t>
            </a:r>
            <a:endParaRPr kumimoji="1"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习总书记在陕西柞水县金米村考察</a:t>
            </a:r>
            <a:r>
              <a:rPr lang="en-US" altLang="zh-CN" sz="1400" dirty="0"/>
              <a:t>…</a:t>
            </a:r>
            <a:r>
              <a:rPr lang="zh-CN" altLang="en-US" sz="1400" dirty="0"/>
              <a:t>或许连当个县长也需要了解时髦的直播了</a:t>
            </a:r>
            <a:endParaRPr lang="en-US" altLang="zh-CN" sz="14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dirty="0"/>
              <a:t>网络还被用于军事领域，每当我们听到美国无人机在中东地区的无人机轰炸，实际上操作者却是远在万里之外的军事基地操做的，这其中也大量使用了网络技术，通过网络，无人机把拍摄目标的图像视频传回指挥中心，通过网络远程操作人员控制无人机进行远程的轰炸。</a:t>
            </a: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无人机如何实现基本通信？卫星作为中继，连接地面站和飞机，需要上下行的双向数据传输（如地面站发送到飞机的控制指令，飞机发往地面站的飞行状态信息）</a:t>
            </a: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需要可靠且实时的网络通信，还需要抗干扰和安全保密，高清视频传输需要大带宽的反向（上行）网络通信。</a:t>
            </a:r>
            <a:endParaRPr lang="zh-CN" altLang="en-US"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无人潜艇在水下如何与外界通信：无线电波被水吸收，因此水深通信只能用低速率的声呐</a:t>
            </a: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深空探索可以考虑用激光或定向的电磁波，但需要考虑超级大的反馈时延</a:t>
            </a: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精确制导：我们应该依靠美国的</a:t>
            </a:r>
            <a:r>
              <a:rPr lang="en-US" altLang="zh-CN" sz="1400" dirty="0"/>
              <a:t>GPS</a:t>
            </a:r>
            <a:r>
              <a:rPr lang="zh-CN" altLang="en-US" sz="1400" dirty="0"/>
              <a:t>还是中国的北斗呢？</a:t>
            </a: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4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solidFill>
                  <a:schemeClr val="bg1"/>
                </a:solidFill>
                <a:latin typeface="微软雅黑" panose="020B0503020204020204" pitchFamily="34" charset="-122"/>
                <a:ea typeface="微软雅黑" panose="020B0503020204020204" pitchFamily="34" charset="-122"/>
              </a:rPr>
              <a:t>互联网已经成为现代社会最为重要的基础设施。</a:t>
            </a:r>
            <a:endParaRPr lang="en-US" altLang="zh-CN" sz="1400" b="0" dirty="0">
              <a:solidFill>
                <a:schemeClr val="bg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solidFill>
                  <a:schemeClr val="bg1"/>
                </a:solidFill>
                <a:latin typeface="微软雅黑" panose="020B0503020204020204" pitchFamily="34" charset="-122"/>
                <a:ea typeface="微软雅黑" panose="020B0503020204020204" pitchFamily="34" charset="-122"/>
              </a:rPr>
              <a:t>从下向上讲解：</a:t>
            </a:r>
            <a:endParaRPr lang="en-US" altLang="zh-CN" sz="1400" b="0" dirty="0">
              <a:solidFill>
                <a:schemeClr val="bg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solidFill>
                  <a:schemeClr val="bg1"/>
                </a:solidFill>
                <a:latin typeface="微软雅黑" panose="020B0503020204020204" pitchFamily="34" charset="-122"/>
                <a:ea typeface="微软雅黑" panose="020B0503020204020204" pitchFamily="34" charset="-122"/>
              </a:rPr>
              <a:t>最下面两层：终端和服务器通过不同的底层通信技术连接在一起，形成一张网，这张网包括有线接入，</a:t>
            </a:r>
            <a:r>
              <a:rPr lang="en-US" altLang="zh-CN" sz="1400" b="0" dirty="0">
                <a:solidFill>
                  <a:schemeClr val="bg1"/>
                </a:solidFill>
                <a:latin typeface="微软雅黑" panose="020B0503020204020204" pitchFamily="34" charset="-122"/>
                <a:ea typeface="微软雅黑" panose="020B0503020204020204" pitchFamily="34" charset="-122"/>
              </a:rPr>
              <a:t>3G/4G/5G+WIFI </a:t>
            </a:r>
            <a:r>
              <a:rPr lang="zh-CN" altLang="en-US" sz="1400" b="0" dirty="0">
                <a:solidFill>
                  <a:schemeClr val="bg1"/>
                </a:solidFill>
                <a:latin typeface="微软雅黑" panose="020B0503020204020204" pitchFamily="34" charset="-122"/>
                <a:ea typeface="微软雅黑" panose="020B0503020204020204" pitchFamily="34" charset="-122"/>
              </a:rPr>
              <a:t>的无线接入网络，超高速光纤的局域</a:t>
            </a:r>
            <a:r>
              <a:rPr lang="en-US" altLang="zh-CN" sz="1400" b="0" dirty="0">
                <a:solidFill>
                  <a:schemeClr val="bg1"/>
                </a:solidFill>
                <a:latin typeface="微软雅黑" panose="020B0503020204020204" pitchFamily="34" charset="-122"/>
                <a:ea typeface="微软雅黑" panose="020B0503020204020204" pitchFamily="34" charset="-122"/>
              </a:rPr>
              <a:t>/</a:t>
            </a:r>
            <a:r>
              <a:rPr lang="zh-CN" altLang="en-US" sz="1400" b="0" dirty="0">
                <a:solidFill>
                  <a:schemeClr val="bg1"/>
                </a:solidFill>
                <a:latin typeface="微软雅黑" panose="020B0503020204020204" pitchFamily="34" charset="-122"/>
                <a:ea typeface="微软雅黑" panose="020B0503020204020204" pitchFamily="34" charset="-122"/>
              </a:rPr>
              <a:t>城域</a:t>
            </a:r>
            <a:r>
              <a:rPr lang="en-US" altLang="zh-CN" sz="1400" b="0" dirty="0">
                <a:solidFill>
                  <a:schemeClr val="bg1"/>
                </a:solidFill>
                <a:latin typeface="微软雅黑" panose="020B0503020204020204" pitchFamily="34" charset="-122"/>
                <a:ea typeface="微软雅黑" panose="020B0503020204020204" pitchFamily="34" charset="-122"/>
              </a:rPr>
              <a:t>/</a:t>
            </a:r>
            <a:r>
              <a:rPr lang="zh-CN" altLang="en-US" sz="1400" b="0" dirty="0">
                <a:solidFill>
                  <a:schemeClr val="bg1"/>
                </a:solidFill>
                <a:latin typeface="微软雅黑" panose="020B0503020204020204" pitchFamily="34" charset="-122"/>
                <a:ea typeface="微软雅黑" panose="020B0503020204020204" pitchFamily="34" charset="-122"/>
              </a:rPr>
              <a:t>广域网，就形成了</a:t>
            </a:r>
            <a:r>
              <a:rPr lang="zh-CN" altLang="en-US" sz="1400" b="0" dirty="0">
                <a:solidFill>
                  <a:srgbClr val="C00000"/>
                </a:solidFill>
                <a:latin typeface="微软雅黑" panose="020B0503020204020204" pitchFamily="34" charset="-122"/>
                <a:ea typeface="微软雅黑" panose="020B0503020204020204" pitchFamily="34" charset="-122"/>
              </a:rPr>
              <a:t>互联网络（并向下一代互联网乃至未来互联网发展）；</a:t>
            </a:r>
            <a:endParaRPr lang="zh-CN" altLang="en-US" sz="1400" b="0" dirty="0">
              <a:solidFill>
                <a:srgbClr val="C00000"/>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solidFill>
                  <a:schemeClr val="bg1"/>
                </a:solidFill>
                <a:latin typeface="微软雅黑" panose="020B0503020204020204" pitchFamily="34" charset="-122"/>
                <a:ea typeface="微软雅黑" panose="020B0503020204020204" pitchFamily="34" charset="-122"/>
              </a:rPr>
              <a:t>向上：这张网把</a:t>
            </a:r>
            <a:r>
              <a:rPr lang="en-US" altLang="zh-CN" sz="1400" b="0" dirty="0">
                <a:solidFill>
                  <a:schemeClr val="bg1"/>
                </a:solidFill>
                <a:latin typeface="微软雅黑" panose="020B0503020204020204" pitchFamily="34" charset="-122"/>
                <a:ea typeface="微软雅黑" panose="020B0503020204020204" pitchFamily="34" charset="-122"/>
              </a:rPr>
              <a:t>IT</a:t>
            </a:r>
            <a:r>
              <a:rPr lang="zh-CN" altLang="en-US" sz="1400" b="0" dirty="0">
                <a:solidFill>
                  <a:schemeClr val="bg1"/>
                </a:solidFill>
                <a:latin typeface="微软雅黑" panose="020B0503020204020204" pitchFamily="34" charset="-122"/>
                <a:ea typeface="微软雅黑" panose="020B0503020204020204" pitchFamily="34" charset="-122"/>
              </a:rPr>
              <a:t>资源连接在一起，与计算存储资源一起，形成了云计算、大数据、</a:t>
            </a:r>
            <a:r>
              <a:rPr lang="en-US" altLang="zh-CN" sz="1400" b="0" dirty="0">
                <a:solidFill>
                  <a:schemeClr val="bg1"/>
                </a:solidFill>
                <a:latin typeface="微软雅黑" panose="020B0503020204020204" pitchFamily="34" charset="-122"/>
                <a:ea typeface="微软雅黑" panose="020B0503020204020204" pitchFamily="34" charset="-122"/>
              </a:rPr>
              <a:t>AI</a:t>
            </a:r>
            <a:r>
              <a:rPr lang="zh-CN" altLang="en-US" sz="1400" b="0" dirty="0">
                <a:solidFill>
                  <a:schemeClr val="bg1"/>
                </a:solidFill>
                <a:latin typeface="微软雅黑" panose="020B0503020204020204" pitchFamily="34" charset="-122"/>
                <a:ea typeface="微软雅黑" panose="020B0503020204020204" pitchFamily="34" charset="-122"/>
              </a:rPr>
              <a:t>等</a:t>
            </a:r>
            <a:r>
              <a:rPr lang="en-US" altLang="zh-CN" sz="1400" b="0" dirty="0">
                <a:solidFill>
                  <a:schemeClr val="bg1"/>
                </a:solidFill>
                <a:latin typeface="微软雅黑" panose="020B0503020204020204" pitchFamily="34" charset="-122"/>
                <a:ea typeface="微软雅黑" panose="020B0503020204020204" pitchFamily="34" charset="-122"/>
              </a:rPr>
              <a:t>IT</a:t>
            </a:r>
            <a:r>
              <a:rPr lang="zh-CN" altLang="en-US" sz="1400" b="0" dirty="0">
                <a:solidFill>
                  <a:schemeClr val="bg1"/>
                </a:solidFill>
                <a:latin typeface="微软雅黑" panose="020B0503020204020204" pitchFamily="34" charset="-122"/>
                <a:ea typeface="微软雅黑" panose="020B0503020204020204" pitchFamily="34" charset="-122"/>
              </a:rPr>
              <a:t>支撑资源技术；</a:t>
            </a:r>
            <a:endParaRPr lang="en-US" altLang="zh-CN" sz="1400" b="0" dirty="0">
              <a:solidFill>
                <a:schemeClr val="bg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solidFill>
                  <a:schemeClr val="bg1"/>
                </a:solidFill>
                <a:latin typeface="微软雅黑" panose="020B0503020204020204" pitchFamily="34" charset="-122"/>
                <a:ea typeface="微软雅黑" panose="020B0503020204020204" pitchFamily="34" charset="-122"/>
              </a:rPr>
              <a:t>最上面：物联网、金融互联网、能源互联网、工业互联网等各个行业应用就是构建在这张网和支撑技术基础之上。</a:t>
            </a: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从过去三十年全球各行各业市值前十名公司的变迁历史，来看看互联网的重要性。</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1990</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年代，前十名公司主要是银行</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6</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家，电信一家，汽车一家，</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IBM</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一家，石油一家，</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到</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2000</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年，微软、思科、英特尔、朗讯这种计算机技术类公司出现并占了</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4</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家；大家听说过思科和朗讯公司吗？做什么业务的？</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2010</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年，经过互联网泡沫后的</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10</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年，前十家公司只有微软和苹果两个计算机公司；</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经过移动互联的发展，</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2019</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年计算机公司雄起，占据了</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7</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席，而且中国有两家公司上榜；</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r>
              <a:rPr kumimoji="1" lang="zh-CN" altLang="zh-CN" sz="1400" b="0" kern="1200" dirty="0">
                <a:solidFill>
                  <a:schemeClr val="tx1"/>
                </a:solidFill>
                <a:effectLst/>
                <a:latin typeface="微软雅黑" panose="020B0503020204020204" pitchFamily="34" charset="-122"/>
                <a:ea typeface="微软雅黑" panose="020B0503020204020204" pitchFamily="34" charset="-122"/>
                <a:cs typeface="+mn-cs"/>
              </a:rPr>
              <a:t>苹果借着移动互联网浪潮，雄踞</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IT</a:t>
            </a:r>
            <a:r>
              <a:rPr kumimoji="1" lang="zh-CN" altLang="zh-CN" sz="1400" b="0" kern="1200" dirty="0">
                <a:solidFill>
                  <a:schemeClr val="tx1"/>
                </a:solidFill>
                <a:effectLst/>
                <a:latin typeface="微软雅黑" panose="020B0503020204020204" pitchFamily="34" charset="-122"/>
                <a:ea typeface="微软雅黑" panose="020B0503020204020204" pitchFamily="34" charset="-122"/>
                <a:cs typeface="+mn-cs"/>
              </a:rPr>
              <a:t>企业排行榜榜首。谷歌</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等</a:t>
            </a:r>
            <a:r>
              <a:rPr kumimoji="1" lang="zh-CN" altLang="zh-CN" sz="1400" b="0" kern="1200" dirty="0">
                <a:solidFill>
                  <a:schemeClr val="tx1"/>
                </a:solidFill>
                <a:effectLst/>
                <a:latin typeface="微软雅黑" panose="020B0503020204020204" pitchFamily="34" charset="-122"/>
                <a:ea typeface="微软雅黑" panose="020B0503020204020204" pitchFamily="34" charset="-122"/>
                <a:cs typeface="+mn-cs"/>
              </a:rPr>
              <a:t>公司的市值也在不断攀升，</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纷纷</a:t>
            </a:r>
            <a:r>
              <a:rPr kumimoji="1" lang="zh-CN" altLang="zh-CN" sz="1400" b="0" kern="1200" dirty="0">
                <a:solidFill>
                  <a:schemeClr val="tx1"/>
                </a:solidFill>
                <a:effectLst/>
                <a:latin typeface="微软雅黑" panose="020B0503020204020204" pitchFamily="34" charset="-122"/>
                <a:ea typeface="微软雅黑" panose="020B0503020204020204" pitchFamily="34" charset="-122"/>
                <a:cs typeface="+mn-cs"/>
              </a:rPr>
              <a:t>突破</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5000</a:t>
            </a:r>
            <a:r>
              <a:rPr kumimoji="1" lang="zh-CN" altLang="zh-CN" sz="1400" b="0" kern="1200" dirty="0">
                <a:solidFill>
                  <a:schemeClr val="tx1"/>
                </a:solidFill>
                <a:effectLst/>
                <a:latin typeface="微软雅黑" panose="020B0503020204020204" pitchFamily="34" charset="-122"/>
                <a:ea typeface="微软雅黑" panose="020B0503020204020204" pitchFamily="34" charset="-122"/>
                <a:cs typeface="+mn-cs"/>
              </a:rPr>
              <a:t>亿大关。</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说明互联网和计算机的重要性</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祝贺大家选对了好专业！</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祝贺大家后，站在计算机专业的角度，想想看为什么美国能</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PK</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掉日本？因为美国有硅谷，而硅谷诞生发展的信息产业。硅谷在美国西部加州的海湾的湾区（包括最擅长创业的大学斯坦福，还有金门大桥的旧金山</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San Francisco</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a:t>
            </a:r>
            <a:r>
              <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rPr>
              <a:t>CISCO</a:t>
            </a: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公司正取名于此。</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kern="1200" dirty="0">
                <a:solidFill>
                  <a:schemeClr val="tx1"/>
                </a:solidFill>
                <a:effectLst/>
                <a:latin typeface="微软雅黑" panose="020B0503020204020204" pitchFamily="34" charset="-122"/>
                <a:ea typeface="微软雅黑" panose="020B0503020204020204" pitchFamily="34" charset="-122"/>
                <a:cs typeface="+mn-cs"/>
              </a:rPr>
              <a:t>中国崛起，就靠在座的同学们了！</a:t>
            </a: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1400" b="0" kern="1200" dirty="0">
              <a:solidFill>
                <a:schemeClr val="tx1"/>
              </a:solidFill>
              <a:effectLst/>
              <a:latin typeface="微软雅黑" panose="020B0503020204020204" pitchFamily="34" charset="-122"/>
              <a:ea typeface="微软雅黑" panose="020B0503020204020204" pitchFamily="34" charset="-122"/>
              <a:cs typeface="+mn-cs"/>
            </a:endParaRPr>
          </a:p>
          <a:p>
            <a:endParaRPr lang="zh-CN" altLang="zh-CN" sz="1400" b="0" kern="1200" dirty="0">
              <a:solidFill>
                <a:schemeClr val="tx1"/>
              </a:solidFill>
              <a:effectLst/>
              <a:latin typeface="Arial" panose="020B0604020202020204" pitchFamily="34" charset="0"/>
              <a:ea typeface="宋体" panose="02010600030101010101" pitchFamily="2" charset="-122"/>
              <a:cs typeface="+mn-cs"/>
            </a:endParaRPr>
          </a:p>
        </p:txBody>
      </p:sp>
      <p:sp>
        <p:nvSpPr>
          <p:cNvPr id="4" name="页眉占位符 3"/>
          <p:cNvSpPr>
            <a:spLocks noGrp="1"/>
          </p:cNvSpPr>
          <p:nvPr>
            <p:ph type="hdr" sz="quarter" idx="10"/>
          </p:nvPr>
        </p:nvSpPr>
        <p:spPr/>
        <p:txBody>
          <a:bodyPr/>
          <a:lstStyle/>
          <a:p>
            <a:pPr>
              <a:defRPr/>
            </a:pPr>
            <a:endParaRPr lang="en-US" altLang="zh-CN"/>
          </a:p>
        </p:txBody>
      </p:sp>
      <p:sp>
        <p:nvSpPr>
          <p:cNvPr id="5" name="日期占位符 4"/>
          <p:cNvSpPr>
            <a:spLocks noGrp="1"/>
          </p:cNvSpPr>
          <p:nvPr>
            <p:ph type="dt" idx="11"/>
          </p:nvPr>
        </p:nvSpPr>
        <p:spPr/>
        <p:txBody>
          <a:bodyPr/>
          <a:lstStyle/>
          <a:p>
            <a:pPr>
              <a:defRPr/>
            </a:pPr>
            <a:fld id="{3F4FA8E3-67C4-B14F-893D-0F6750C6FDF5}"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endParaRPr lang="en-US" altLang="zh-CN"/>
          </a:p>
        </p:txBody>
      </p:sp>
      <p:sp>
        <p:nvSpPr>
          <p:cNvPr id="7" name="灯片编号占位符 6"/>
          <p:cNvSpPr>
            <a:spLocks noGrp="1"/>
          </p:cNvSpPr>
          <p:nvPr>
            <p:ph type="sldNum" sz="quarter" idx="13"/>
          </p:nvPr>
        </p:nvSpPr>
        <p:spPr/>
        <p:txBody>
          <a:bodyPr/>
          <a:lstStyle/>
          <a:p>
            <a:pPr>
              <a:defRPr/>
            </a:pPr>
            <a:fld id="{259C7419-27B1-42A8-BC5C-D2523F6A6D63}"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dirty="0">
                <a:latin typeface="微软雅黑" panose="020B0503020204020204" pitchFamily="34" charset="-122"/>
                <a:ea typeface="微软雅黑" panose="020B0503020204020204" pitchFamily="34" charset="-122"/>
              </a:rPr>
              <a:t>看过世界后，回到国内，从新基建看互联网的重要性。</a:t>
            </a:r>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应对经济金融危机，投资拉动经济是个重要手段。</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2008</a:t>
            </a:r>
            <a:r>
              <a:rPr lang="zh-CN" altLang="en-US" sz="1400" dirty="0">
                <a:latin typeface="微软雅黑" panose="020B0503020204020204" pitchFamily="34" charset="-122"/>
                <a:ea typeface="微软雅黑" panose="020B0503020204020204" pitchFamily="34" charset="-122"/>
              </a:rPr>
              <a:t>年金融危机时，国家通过投资基础设施拉动经济，投资的是高铁、公路和机场；</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新时代的新基建：国家基础设施投资的新基建，与网络相关的设施占了三项：</a:t>
            </a:r>
            <a:r>
              <a:rPr lang="en-US" altLang="zh-CN" sz="1400" dirty="0">
                <a:latin typeface="微软雅黑" panose="020B0503020204020204" pitchFamily="34" charset="-122"/>
                <a:ea typeface="微软雅黑" panose="020B0503020204020204" pitchFamily="34" charset="-122"/>
              </a:rPr>
              <a:t>5G</a:t>
            </a:r>
            <a:r>
              <a:rPr lang="zh-CN" altLang="en-US" sz="1400" dirty="0">
                <a:latin typeface="微软雅黑" panose="020B0503020204020204" pitchFamily="34" charset="-122"/>
                <a:ea typeface="微软雅黑" panose="020B0503020204020204" pitchFamily="34" charset="-122"/>
              </a:rPr>
              <a:t>、数据中心、工业互联网</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此外，其他大部分新基建内容，也都与网络及其信息化应用密切相关</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这也充分说明，网络在国民经济中正在发挥基础性作用</a:t>
            </a:r>
            <a:endParaRPr lang="zh-CN" altLang="en-US" sz="14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600">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不仅仅方头方脑的传统计算机是主机，还有这样奇奇怪怪的主机。</a:t>
            </a:r>
            <a:endParaRPr kumimoji="1" lang="en-US" altLang="zh-CN" dirty="0"/>
          </a:p>
          <a:p>
            <a:r>
              <a:rPr kumimoji="1" lang="zh-CN" altLang="en-US" dirty="0"/>
              <a:t>注：这个烤面包机能够联网并将烤出的面包显示天气情况（多云、晴天）</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可以对着图简单介绍无源光纤网络</a:t>
            </a:r>
            <a:r>
              <a:rPr kumimoji="1" lang="en-US" altLang="zh-CN" dirty="0"/>
              <a:t>PON</a:t>
            </a:r>
            <a:r>
              <a:rPr kumimoji="1" lang="zh-CN" altLang="en-US" dirty="0"/>
              <a:t>，介绍家庭中使用的</a:t>
            </a:r>
            <a:r>
              <a:rPr kumimoji="1" lang="en-US" altLang="zh-CN" dirty="0"/>
              <a:t>FTTH</a:t>
            </a:r>
            <a:r>
              <a:rPr kumimoji="1" lang="zh-CN" altLang="en-US" dirty="0"/>
              <a:t>。</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dirty="0"/>
              <a:t>ONT</a:t>
            </a:r>
            <a:r>
              <a:rPr kumimoji="1" lang="zh-CN" altLang="en-US" dirty="0"/>
              <a:t>（</a:t>
            </a:r>
            <a:r>
              <a:rPr kumimoji="1" lang="en-US" altLang="zh-CN" dirty="0"/>
              <a:t>Optical Network Terminal</a:t>
            </a:r>
            <a:r>
              <a:rPr kumimoji="1" lang="zh-CN" altLang="en-US" dirty="0"/>
              <a:t>）即光网络终端，俗称光猫，是接入网络中为家庭用户提供网络的设备，可以提供高速上网、</a:t>
            </a:r>
            <a:r>
              <a:rPr kumimoji="1" lang="en-US" altLang="zh-CN" dirty="0"/>
              <a:t>IPTV</a:t>
            </a:r>
            <a:r>
              <a:rPr kumimoji="1" lang="zh-CN" altLang="en-US" dirty="0"/>
              <a:t>、语音、</a:t>
            </a:r>
            <a:r>
              <a:rPr kumimoji="1" lang="en-US" altLang="zh-CN" dirty="0"/>
              <a:t>Wi-Fi</a:t>
            </a:r>
            <a:r>
              <a:rPr kumimoji="1" lang="zh-CN" altLang="en-US" dirty="0"/>
              <a:t>等业务。光猫也称为光调制解调器。</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很传统较为古老的</a:t>
            </a:r>
            <a:r>
              <a:rPr kumimoji="1" lang="en-US" altLang="zh-CN" dirty="0"/>
              <a:t>DSL</a:t>
            </a:r>
            <a:r>
              <a:rPr kumimoji="1" lang="zh-CN" altLang="en-US" dirty="0"/>
              <a:t>，其中典型的有</a:t>
            </a:r>
            <a:r>
              <a:rPr kumimoji="1" lang="en-US" altLang="zh-CN" dirty="0"/>
              <a:t>ADSL(Asymmetric Digital Subscriber Line)</a:t>
            </a:r>
            <a:r>
              <a:rPr kumimoji="1" lang="zh-CN" altLang="en-US" dirty="0"/>
              <a:t>，非对称数字</a:t>
            </a:r>
            <a:r>
              <a:rPr kumimoji="1" lang="zh-CN" altLang="en-US"/>
              <a:t>用户线路，在</a:t>
            </a:r>
            <a:r>
              <a:rPr kumimoji="1" lang="zh-CN" altLang="en-US" dirty="0"/>
              <a:t>电话线上产生三个信息通道：一个高速下行通道，用于用户下载信息；一个中速双工通道；一个普通的老式电话服务通道；且这三个通道可以同时工作。</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歌华有线等通过有线电视上网，使用此技术</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实际的网络设备，往往会将多个功能合并在一个盒子里。</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注意：字节</a:t>
            </a:r>
            <a:r>
              <a:rPr kumimoji="1" lang="en-US" altLang="zh-CN" dirty="0"/>
              <a:t>Byte</a:t>
            </a:r>
            <a:r>
              <a:rPr kumimoji="1" lang="zh-CN" altLang="en-US" dirty="0"/>
              <a:t>与比特的区别</a:t>
            </a:r>
            <a:endParaRPr kumimoji="1" lang="en-US" altLang="zh-CN" dirty="0"/>
          </a:p>
          <a:p>
            <a:r>
              <a:rPr kumimoji="1" lang="zh-CN" altLang="en-US" dirty="0"/>
              <a:t>跨级的“</a:t>
            </a:r>
            <a:r>
              <a:rPr kumimoji="1" lang="en-US" altLang="zh-CN" dirty="0"/>
              <a:t>K”</a:t>
            </a:r>
            <a:r>
              <a:rPr kumimoji="1" lang="zh-CN" altLang="en-US" dirty="0"/>
              <a:t>、“</a:t>
            </a:r>
            <a:r>
              <a:rPr kumimoji="1" lang="en-US" altLang="zh-CN" dirty="0"/>
              <a:t>G”</a:t>
            </a:r>
            <a:r>
              <a:rPr kumimoji="1" lang="zh-CN" altLang="en-US" dirty="0"/>
              <a:t>之类的不同：</a:t>
            </a:r>
            <a:r>
              <a:rPr kumimoji="1" lang="en-US" altLang="zh-CN" dirty="0"/>
              <a:t>10^3</a:t>
            </a:r>
            <a:r>
              <a:rPr kumimoji="1" lang="zh-CN" altLang="en-US" dirty="0"/>
              <a:t>和</a:t>
            </a:r>
            <a:r>
              <a:rPr kumimoji="1" lang="en-US" altLang="zh-CN" dirty="0"/>
              <a:t>2^10=1024</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en-US" altLang="zh-CN" dirty="0"/>
              <a:t>https://</a:t>
            </a:r>
            <a:r>
              <a:rPr kumimoji="1" lang="en-US" altLang="zh-CN" dirty="0" err="1"/>
              <a:t>baike.baidu.com</a:t>
            </a:r>
            <a:r>
              <a:rPr kumimoji="1" lang="en-US" altLang="zh-CN" dirty="0"/>
              <a:t>/item/%E9%AB%98%E9%94%9F/2379513</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高锟（</a:t>
            </a:r>
            <a:r>
              <a:rPr kumimoji="1" lang="en-US" altLang="zh-CN" dirty="0"/>
              <a:t>Charles </a:t>
            </a:r>
            <a:r>
              <a:rPr kumimoji="1" lang="en-US" altLang="zh-CN" dirty="0" err="1"/>
              <a:t>Kuen</a:t>
            </a:r>
            <a:r>
              <a:rPr kumimoji="1" lang="en-US" altLang="zh-CN" dirty="0"/>
              <a:t> Kao</a:t>
            </a:r>
            <a:r>
              <a:rPr kumimoji="1" lang="zh-CN" altLang="en-US" dirty="0"/>
              <a:t>，</a:t>
            </a:r>
            <a:r>
              <a:rPr kumimoji="1" lang="en-US" altLang="zh-CN" dirty="0"/>
              <a:t>1933</a:t>
            </a:r>
            <a:r>
              <a:rPr kumimoji="1" lang="zh-CN" altLang="en-US" dirty="0"/>
              <a:t>年</a:t>
            </a:r>
            <a:r>
              <a:rPr kumimoji="1" lang="en-US" altLang="zh-CN" dirty="0"/>
              <a:t>11</a:t>
            </a:r>
            <a:r>
              <a:rPr kumimoji="1" lang="zh-CN" altLang="en-US" dirty="0"/>
              <a:t>月</a:t>
            </a:r>
            <a:r>
              <a:rPr kumimoji="1" lang="en-US" altLang="zh-CN" dirty="0"/>
              <a:t>4</a:t>
            </a:r>
            <a:r>
              <a:rPr kumimoji="1" lang="zh-CN" altLang="en-US" dirty="0"/>
              <a:t>日－</a:t>
            </a:r>
            <a:r>
              <a:rPr kumimoji="1" lang="en-US" altLang="zh-CN" dirty="0"/>
              <a:t>2018</a:t>
            </a:r>
            <a:r>
              <a:rPr kumimoji="1" lang="zh-CN" altLang="en-US" dirty="0"/>
              <a:t>年</a:t>
            </a:r>
            <a:r>
              <a:rPr kumimoji="1" lang="en-US" altLang="zh-CN" dirty="0"/>
              <a:t>9</a:t>
            </a:r>
            <a:r>
              <a:rPr kumimoji="1" lang="zh-CN" altLang="en-US" dirty="0"/>
              <a:t>月</a:t>
            </a:r>
            <a:r>
              <a:rPr kumimoji="1" lang="en-US" altLang="zh-CN" dirty="0"/>
              <a:t>23</a:t>
            </a:r>
            <a:r>
              <a:rPr kumimoji="1" lang="zh-CN" altLang="en-US" dirty="0"/>
              <a:t>日），生于江苏省金山县（今上海市金山区），华裔物理学家、教育家，光纤通讯、电机工程专家，香港中文大学前校长。拥有英国、美国国籍并持中国香港居民身份，华文媒体誉之为“光纤之父”、普世誉之为“光纤通讯之父”</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b="0" i="0" kern="1200" dirty="0">
                <a:solidFill>
                  <a:schemeClr val="tx1"/>
                </a:solidFill>
                <a:effectLst/>
                <a:latin typeface="+mn-lt"/>
                <a:ea typeface="+mn-ea"/>
                <a:cs typeface="+mn-cs"/>
              </a:rPr>
              <a:t>1966</a:t>
            </a:r>
            <a:r>
              <a:rPr lang="zh-CN" altLang="en-US" sz="1200" b="0" i="0" kern="1200" dirty="0">
                <a:solidFill>
                  <a:schemeClr val="tx1"/>
                </a:solidFill>
                <a:effectLst/>
                <a:latin typeface="+mn-lt"/>
                <a:ea typeface="+mn-ea"/>
                <a:cs typeface="+mn-cs"/>
              </a:rPr>
              <a:t>年，高锟发表了一篇题为</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光频率介质纤维表面波导</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的论文，开创性地提出光导纤维在通信上应用的基本原理，描述了长程及高信息量光通信所需绝缘性纤维的结构和材料特性。</a:t>
            </a: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高锟在光通信工程和商业实现的早期发挥了主导作用。</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网络核心</a:t>
            </a:r>
            <a:r>
              <a:rPr lang="zh-CN" altLang="en-US" dirty="0"/>
              <a:t>的两大</a:t>
            </a:r>
            <a:r>
              <a:rPr lang="zh-CN" altLang="en-US" dirty="0">
                <a:sym typeface="+mn-ea"/>
              </a:rPr>
              <a:t>功能：路由和转发</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fld>
            <a:endParaRPr lang="en-US" altLang="zh-CN" sz="1400"/>
          </a:p>
        </p:txBody>
      </p:sp>
      <p:sp>
        <p:nvSpPr>
          <p:cNvPr id="20483" name="Rectangle 2"/>
          <p:cNvSpPr>
            <a:spLocks noGrp="1" noRot="1" noChangeAspect="1" noChangeArrowheads="1" noTextEdit="1"/>
          </p:cNvSpPr>
          <p:nvPr>
            <p:ph type="sldImg"/>
          </p:nvPr>
        </p:nvSpPr>
        <p:spPr>
          <a:xfrm>
            <a:off x="-139700" y="860425"/>
            <a:ext cx="7632700"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3150">
              <a:spcBef>
                <a:spcPct val="30000"/>
              </a:spcBef>
              <a:defRPr kumimoji="1" sz="1300">
                <a:solidFill>
                  <a:schemeClr val="tx1"/>
                </a:solidFill>
                <a:latin typeface="Times New Roman" panose="02020603050405020304" pitchFamily="18" charset="0"/>
                <a:ea typeface="宋体" panose="02010600030101010101" pitchFamily="2" charset="-122"/>
              </a:defRPr>
            </a:lvl1pPr>
            <a:lvl2pPr marL="805180" indent="-309880" defTabSz="1073150">
              <a:spcBef>
                <a:spcPct val="30000"/>
              </a:spcBef>
              <a:defRPr kumimoji="1" sz="1300">
                <a:solidFill>
                  <a:schemeClr val="tx1"/>
                </a:solidFill>
                <a:latin typeface="Times New Roman" panose="02020603050405020304" pitchFamily="18" charset="0"/>
                <a:ea typeface="宋体" panose="02010600030101010101" pitchFamily="2" charset="-122"/>
              </a:defRPr>
            </a:lvl2pPr>
            <a:lvl3pPr marL="12382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3pPr>
            <a:lvl4pPr marL="1733550"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4pPr>
            <a:lvl5pPr marL="2229485" indent="-247650" defTabSz="1073150">
              <a:spcBef>
                <a:spcPct val="30000"/>
              </a:spcBef>
              <a:defRPr kumimoji="1" sz="1300">
                <a:solidFill>
                  <a:schemeClr val="tx1"/>
                </a:solidFill>
                <a:latin typeface="Times New Roman" panose="02020603050405020304" pitchFamily="18" charset="0"/>
                <a:ea typeface="宋体" panose="02010600030101010101" pitchFamily="2" charset="-122"/>
              </a:defRPr>
            </a:lvl5pPr>
            <a:lvl6pPr marL="27247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6pPr>
            <a:lvl7pPr marL="32200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7pPr>
            <a:lvl8pPr marL="37153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8pPr>
            <a:lvl9pPr marL="4210685" indent="-247650" defTabSz="1073150" eaLnBrk="0" fontAlgn="base" hangingPunct="0">
              <a:spcBef>
                <a:spcPct val="30000"/>
              </a:spcBef>
              <a:spcAft>
                <a:spcPct val="0"/>
              </a:spcAft>
              <a:defRPr kumimoji="1" sz="1300">
                <a:solidFill>
                  <a:schemeClr val="tx1"/>
                </a:solidFill>
                <a:latin typeface="Times New Roman" panose="02020603050405020304" pitchFamily="18" charset="0"/>
                <a:ea typeface="宋体" panose="02010600030101010101" pitchFamily="2" charset="-122"/>
              </a:defRPr>
            </a:lvl9pPr>
          </a:lstStyle>
          <a:p>
            <a:pPr>
              <a:spcBef>
                <a:spcPct val="0"/>
              </a:spcBef>
            </a:pPr>
            <a:fld id="{ACCCE740-6CCA-4639-8FA7-289A3E4C9E77}" type="slidenum">
              <a:rPr lang="zh-CN" altLang="en-US" sz="1400"/>
            </a:fld>
            <a:endParaRPr lang="en-US" altLang="zh-CN" sz="1400"/>
          </a:p>
        </p:txBody>
      </p:sp>
      <p:sp>
        <p:nvSpPr>
          <p:cNvPr id="20483" name="Rectangle 2"/>
          <p:cNvSpPr>
            <a:spLocks noGrp="1" noRot="1" noChangeAspect="1" noChangeArrowheads="1" noTextEdit="1"/>
          </p:cNvSpPr>
          <p:nvPr>
            <p:ph type="sldImg"/>
          </p:nvPr>
        </p:nvSpPr>
        <p:spPr>
          <a:xfrm>
            <a:off x="-139700" y="860425"/>
            <a:ext cx="7632700" cy="42941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注：报文交换可以在这页简单介绍一句，然后再给三种交换的对比。</a:t>
            </a:r>
            <a:endParaRPr kumimoji="1" lang="en-US" altLang="zh-CN" dirty="0"/>
          </a:p>
          <a:p>
            <a:r>
              <a:rPr lang="zh-CN" altLang="en-US" dirty="0">
                <a:latin typeface="微软雅黑" panose="020B0503020204020204" pitchFamily="34" charset="-122"/>
                <a:ea typeface="微软雅黑" panose="020B0503020204020204" pitchFamily="34" charset="-122"/>
              </a:rPr>
              <a:t>抗毁性高：在长时间的连接中，如果中间网络损坏，电路交换无法继续传输，而</a:t>
            </a:r>
            <a:r>
              <a:rPr lang="zh-CN" altLang="zh-CN" dirty="0">
                <a:latin typeface="微软雅黑" panose="020B0503020204020204" pitchFamily="34" charset="-122"/>
                <a:ea typeface="微软雅黑" panose="020B0503020204020204" pitchFamily="34" charset="-122"/>
              </a:rPr>
              <a:t>报文交换和分组交换</a:t>
            </a:r>
            <a:r>
              <a:rPr lang="zh-CN" altLang="en-US" dirty="0">
                <a:latin typeface="微软雅黑" panose="020B0503020204020204" pitchFamily="34" charset="-122"/>
                <a:ea typeface="微软雅黑" panose="020B0503020204020204" pitchFamily="34" charset="-122"/>
              </a:rPr>
              <a:t>可以技术传输。</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抛出问题引导学生理解协议的三要素：语法，语义，同步</a:t>
            </a:r>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通过动画展现两个例子：</a:t>
            </a:r>
            <a:endParaRPr lang="zh-CN" altLang="en-US" dirty="0"/>
          </a:p>
          <a:p>
            <a:r>
              <a:rPr lang="zh-CN" altLang="en-US" dirty="0">
                <a:sym typeface="+mn-ea"/>
              </a:rPr>
              <a:t>面向网络的复杂异构和不断发展，应该怎么办？</a:t>
            </a:r>
            <a:endParaRPr lang="zh-CN" altLang="en-US" dirty="0"/>
          </a:p>
          <a:p>
            <a:endParaRPr lang="zh-CN" altLang="en-US" dirty="0"/>
          </a:p>
          <a:p>
            <a:r>
              <a:rPr lang="zh-CN" altLang="en-US" dirty="0"/>
              <a:t>凸显网络参考模型的必要性，参考模型的主要特点：分层结构、统一标准、模块独立。</a:t>
            </a:r>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此处以互联网大厂</a:t>
            </a:r>
            <a:r>
              <a:rPr lang="en-GB" altLang="zh-CN" dirty="0"/>
              <a:t>x</a:t>
            </a:r>
            <a:r>
              <a:rPr lang="zh-CN" altLang="en-US" dirty="0"/>
              <a:t>东和</a:t>
            </a:r>
            <a:r>
              <a:rPr lang="en-GB" altLang="zh-CN" dirty="0"/>
              <a:t>x</a:t>
            </a:r>
            <a:r>
              <a:rPr lang="zh-CN" altLang="en-US" dirty="0"/>
              <a:t>讯的合作为类比，说明参考模型的必要性。</a:t>
            </a:r>
            <a:endParaRPr lang="zh-CN" altLang="en-US" dirty="0"/>
          </a:p>
          <a:p>
            <a:endParaRPr lang="zh-CN" altLang="en-US" dirty="0"/>
          </a:p>
          <a:p>
            <a:r>
              <a:rPr lang="en-US" altLang="zh-CN" dirty="0"/>
              <a:t>1. </a:t>
            </a:r>
            <a:r>
              <a:rPr lang="zh-CN" altLang="en-US" dirty="0"/>
              <a:t>大厂内部有明晰的分层组织架构，总裁</a:t>
            </a:r>
            <a:r>
              <a:rPr lang="en-US" altLang="zh-CN" dirty="0"/>
              <a:t>-</a:t>
            </a:r>
            <a:r>
              <a:rPr lang="zh-CN" altLang="en-US" dirty="0"/>
              <a:t>总监</a:t>
            </a:r>
            <a:r>
              <a:rPr lang="en-US" altLang="zh-CN" dirty="0"/>
              <a:t>-</a:t>
            </a:r>
            <a:r>
              <a:rPr lang="zh-CN" altLang="en-US" dirty="0"/>
              <a:t>经理</a:t>
            </a:r>
            <a:r>
              <a:rPr lang="en-US" altLang="zh-CN" dirty="0"/>
              <a:t>-</a:t>
            </a:r>
            <a:r>
              <a:rPr lang="zh-CN" altLang="en-US" dirty="0"/>
              <a:t>码农，隔层分工明确。（体现分层的概念）</a:t>
            </a:r>
            <a:endParaRPr lang="zh-CN" altLang="en-US" dirty="0"/>
          </a:p>
          <a:p>
            <a:r>
              <a:rPr lang="zh-CN" altLang="en-US" dirty="0"/>
              <a:t>在大厂之间推进合同时，每一个层各有明确分工：</a:t>
            </a:r>
            <a:endParaRPr lang="zh-CN" altLang="en-US" dirty="0"/>
          </a:p>
          <a:p>
            <a:r>
              <a:rPr lang="zh-CN" altLang="en-US" dirty="0"/>
              <a:t>总裁与总裁之间谈“战略合作”；</a:t>
            </a:r>
            <a:endParaRPr lang="zh-CN" altLang="en-US" dirty="0"/>
          </a:p>
          <a:p>
            <a:r>
              <a:rPr lang="zh-CN" altLang="en-US" dirty="0"/>
              <a:t>总监与总监之间谈“合作项目”；</a:t>
            </a:r>
            <a:endParaRPr lang="zh-CN" altLang="en-US" dirty="0"/>
          </a:p>
          <a:p>
            <a:r>
              <a:rPr lang="zh-CN" altLang="en-US" dirty="0"/>
              <a:t>产品经理与产品经理之间谈“产品功能”；</a:t>
            </a:r>
            <a:endParaRPr lang="zh-CN" altLang="en-US" dirty="0"/>
          </a:p>
          <a:p>
            <a:r>
              <a:rPr lang="zh-CN" altLang="en-US" dirty="0"/>
              <a:t>码农与码农之间谈具体“代码接口”。</a:t>
            </a:r>
            <a:endParaRPr lang="zh-CN" altLang="en-US" dirty="0"/>
          </a:p>
          <a:p>
            <a:endParaRPr lang="zh-CN" altLang="en-US" dirty="0"/>
          </a:p>
          <a:p>
            <a:r>
              <a:rPr lang="en-US" altLang="zh-CN" dirty="0"/>
              <a:t>2. </a:t>
            </a:r>
            <a:r>
              <a:rPr lang="zh-CN" altLang="en-US" dirty="0"/>
              <a:t>各层内部彼此独立。（体现模块化的概念）</a:t>
            </a:r>
            <a:endParaRPr lang="zh-CN" altLang="en-US" dirty="0"/>
          </a:p>
          <a:p>
            <a:r>
              <a:rPr lang="zh-CN" altLang="en-US" dirty="0"/>
              <a:t>不管是否有码农离职，或者新码农加入，不影响大厂间的项目合作。</a:t>
            </a:r>
            <a:endParaRPr lang="zh-CN" altLang="en-US" dirty="0"/>
          </a:p>
          <a:p>
            <a:r>
              <a:rPr lang="en-GB" altLang="zh-CN" dirty="0"/>
              <a:t>X</a:t>
            </a:r>
            <a:r>
              <a:rPr lang="zh-CN" altLang="en-US" dirty="0"/>
              <a:t>讯用</a:t>
            </a:r>
            <a:r>
              <a:rPr lang="en-GB" altLang="zh-CN" dirty="0"/>
              <a:t>Python</a:t>
            </a:r>
            <a:r>
              <a:rPr lang="zh-CN" altLang="en-GB" dirty="0"/>
              <a:t>，</a:t>
            </a:r>
            <a:r>
              <a:rPr lang="en-GB" altLang="zh-CN" dirty="0"/>
              <a:t>X</a:t>
            </a:r>
            <a:r>
              <a:rPr lang="zh-CN" altLang="en-US" dirty="0"/>
              <a:t>东可以用</a:t>
            </a:r>
            <a:r>
              <a:rPr lang="en-GB" altLang="zh-CN" dirty="0"/>
              <a:t>GO</a:t>
            </a:r>
            <a:r>
              <a:rPr lang="zh-CN" altLang="en-GB" dirty="0"/>
              <a:t>，</a:t>
            </a:r>
            <a:r>
              <a:rPr lang="zh-CN" altLang="en-US" dirty="0"/>
              <a:t>彼此互不影响。</a:t>
            </a:r>
            <a:endParaRPr lang="zh-CN" altLang="en-US" dirty="0"/>
          </a:p>
          <a:p>
            <a:endParaRPr lang="zh-CN" altLang="en-US" dirty="0"/>
          </a:p>
          <a:p>
            <a:r>
              <a:rPr lang="en-US" altLang="zh-CN" dirty="0"/>
              <a:t>3. </a:t>
            </a:r>
            <a:r>
              <a:rPr lang="zh-CN" altLang="en-US" dirty="0"/>
              <a:t>双方之间的合作、彼此内部之间沟通遵循一定的标准</a:t>
            </a:r>
            <a:endParaRPr lang="zh-CN" altLang="en-US" dirty="0"/>
          </a:p>
          <a:p>
            <a:r>
              <a:rPr lang="zh-CN" altLang="en-US" dirty="0"/>
              <a:t>对等的层之间，通过标准的合同、协议、规范进行沟通。（体现协议的概念）</a:t>
            </a:r>
            <a:endParaRPr lang="zh-CN" altLang="en-US" dirty="0"/>
          </a:p>
          <a:p>
            <a:r>
              <a:rPr lang="zh-CN" altLang="en-US" dirty="0"/>
              <a:t>层与层之间，通过事先约定的日报、周报、月报等形式进行沟通。（体现层与层之间接口的概念）</a:t>
            </a:r>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货物包含多个邮包</a:t>
            </a:r>
            <a:endParaRPr kumimoji="1" lang="en-US" altLang="zh-CN" dirty="0"/>
          </a:p>
          <a:p>
            <a:r>
              <a:rPr kumimoji="1" lang="zh-CN" altLang="en-US" dirty="0"/>
              <a:t>一大包邮包包含很多信件</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将网络分层模型与一个网络通信实例相结合。从而让学生更好了解分层模型在真实网络通信实例中的对应关系。</a:t>
            </a:r>
            <a:endParaRPr lang="zh-CN" altLang="en-US" dirty="0"/>
          </a:p>
          <a:p>
            <a:r>
              <a:rPr lang="zh-CN" altLang="en-US" dirty="0"/>
              <a:t>主机</a:t>
            </a:r>
            <a:r>
              <a:rPr lang="en-US" altLang="zh-CN" dirty="0"/>
              <a:t>A</a:t>
            </a:r>
            <a:r>
              <a:rPr lang="zh-CN" altLang="en-US" dirty="0"/>
              <a:t>向主机</a:t>
            </a:r>
            <a:r>
              <a:rPr lang="en-US" altLang="zh-CN" dirty="0"/>
              <a:t>B</a:t>
            </a:r>
            <a:r>
              <a:rPr lang="zh-CN" altLang="en-US" dirty="0"/>
              <a:t>发送消息，发送端逐层加包头，接收端去包头。明确路由器和交换机工作的层次。</a:t>
            </a:r>
            <a:endParaRPr lang="zh-CN" altLang="en-US" dirty="0"/>
          </a:p>
          <a:p>
            <a:r>
              <a:rPr lang="zh-CN" altLang="en-US" dirty="0"/>
              <a:t>数据在发送端从应用层向下通过各层，经过封装操作，从原始的消息，变成段</a:t>
            </a:r>
            <a:r>
              <a:rPr lang="en-US" altLang="zh-CN" dirty="0"/>
              <a:t>segment</a:t>
            </a:r>
            <a:r>
              <a:rPr lang="zh-CN" altLang="en-US" dirty="0"/>
              <a:t>，成为数据包</a:t>
            </a:r>
            <a:r>
              <a:rPr lang="en-US" altLang="zh-CN" dirty="0"/>
              <a:t>packet</a:t>
            </a:r>
            <a:r>
              <a:rPr lang="zh-CN" altLang="en-US" dirty="0"/>
              <a:t>，再成为帧。这些不同的名称对应于各层的协议数据单元（</a:t>
            </a:r>
            <a:r>
              <a:rPr lang="en-US" altLang="zh-CN" dirty="0"/>
              <a:t>PDU</a:t>
            </a:r>
            <a:r>
              <a:rPr lang="zh-CN" altLang="en-US" dirty="0"/>
              <a:t>）名称。</a:t>
            </a:r>
            <a:endParaRPr lang="zh-CN" altLang="en-US" dirty="0"/>
          </a:p>
          <a:p>
            <a:r>
              <a:rPr lang="zh-CN" altLang="en-US" dirty="0"/>
              <a:t>数据在网络中经过各种网络设备，逐跳转发，被送达接收方主机</a:t>
            </a:r>
            <a:r>
              <a:rPr lang="en-US" altLang="zh-CN" dirty="0"/>
              <a:t>B</a:t>
            </a:r>
            <a:r>
              <a:rPr lang="zh-CN" altLang="en-US" dirty="0"/>
              <a:t>。</a:t>
            </a:r>
            <a:endParaRPr lang="zh-CN" altLang="en-US" dirty="0"/>
          </a:p>
          <a:p>
            <a:r>
              <a:rPr lang="zh-CN" altLang="en-US" dirty="0"/>
              <a:t>为简化起见，图中仅列出了两台交换机和一台路由器。</a:t>
            </a:r>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OSI</a:t>
            </a:r>
            <a:r>
              <a:rPr lang="zh-CN" altLang="en-US" dirty="0"/>
              <a:t>参考模型，开放系统互连参考模型，也称为</a:t>
            </a:r>
            <a:r>
              <a:rPr lang="en-US" altLang="zh-CN" dirty="0"/>
              <a:t>7</a:t>
            </a:r>
            <a:r>
              <a:rPr lang="zh-CN" altLang="en-US" dirty="0"/>
              <a:t>层模型，由</a:t>
            </a:r>
            <a:r>
              <a:rPr kumimoji="1" lang="en-US" altLang="zh-CN" dirty="0">
                <a:sym typeface="+mn-ea"/>
              </a:rPr>
              <a:t>Day, Zimmermann </a:t>
            </a:r>
            <a:r>
              <a:rPr kumimoji="1" lang="zh-CN" altLang="en-US" dirty="0">
                <a:sym typeface="+mn-ea"/>
              </a:rPr>
              <a:t>在</a:t>
            </a:r>
            <a:r>
              <a:rPr kumimoji="1" lang="en-US" altLang="zh-CN" dirty="0">
                <a:sym typeface="+mn-ea"/>
              </a:rPr>
              <a:t>1983</a:t>
            </a:r>
            <a:r>
              <a:rPr kumimoji="1" lang="zh-CN" altLang="en-US" dirty="0">
                <a:sym typeface="+mn-ea"/>
              </a:rPr>
              <a:t>提出，被</a:t>
            </a:r>
            <a:r>
              <a:rPr kumimoji="1" lang="en-US" altLang="zh-CN" dirty="0">
                <a:sym typeface="+mn-ea"/>
              </a:rPr>
              <a:t>ISO</a:t>
            </a:r>
            <a:r>
              <a:rPr kumimoji="1" lang="zh-CN" altLang="en-US" dirty="0">
                <a:sym typeface="+mn-ea"/>
              </a:rPr>
              <a:t>组织设定为国际标准</a:t>
            </a:r>
            <a:endParaRPr kumimoji="1" lang="zh-CN" altLang="en-US" dirty="0">
              <a:sym typeface="+mn-ea"/>
            </a:endParaRPr>
          </a:p>
          <a:p>
            <a:r>
              <a:rPr kumimoji="1" lang="en-US" altLang="zh-CN" dirty="0">
                <a:sym typeface="+mn-ea"/>
              </a:rPr>
              <a:t>7</a:t>
            </a:r>
            <a:r>
              <a:rPr kumimoji="1" lang="zh-CN" altLang="en-US" dirty="0">
                <a:sym typeface="+mn-ea"/>
              </a:rPr>
              <a:t>层由底至上分别为：物理层、数据链路层、网络层、传输层、会话层、表示层和应用层。</a:t>
            </a:r>
            <a:endParaRPr kumimoji="1" lang="zh-CN" altLang="en-US" dirty="0">
              <a:sym typeface="+mn-ea"/>
            </a:endParaRPr>
          </a:p>
          <a:p>
            <a:r>
              <a:rPr kumimoji="1" lang="zh-CN" altLang="en-US" dirty="0">
                <a:sym typeface="+mn-ea"/>
              </a:rPr>
              <a:t>物理层主要定义如何在物理信道上传输二进制的</a:t>
            </a:r>
            <a:r>
              <a:rPr kumimoji="1" lang="en-US" altLang="zh-CN" dirty="0">
                <a:sym typeface="+mn-ea"/>
              </a:rPr>
              <a:t>0</a:t>
            </a:r>
            <a:r>
              <a:rPr kumimoji="1" lang="zh-CN" altLang="en-US" dirty="0">
                <a:sym typeface="+mn-ea"/>
              </a:rPr>
              <a:t>和</a:t>
            </a:r>
            <a:r>
              <a:rPr kumimoji="1" lang="en-US" altLang="zh-CN" dirty="0">
                <a:sym typeface="+mn-ea"/>
              </a:rPr>
              <a:t>1.</a:t>
            </a:r>
            <a:endParaRPr kumimoji="1" lang="en-US" altLang="zh-CN" dirty="0">
              <a:sym typeface="+mn-ea"/>
            </a:endParaRPr>
          </a:p>
          <a:p>
            <a:r>
              <a:rPr kumimoji="1" lang="zh-CN" altLang="en-US" dirty="0">
                <a:sym typeface="+mn-ea"/>
              </a:rPr>
              <a:t>包括了：</a:t>
            </a:r>
            <a:endParaRPr kumimoji="1" lang="zh-CN" altLang="en-US" dirty="0">
              <a:sym typeface="+mn-ea"/>
            </a:endParaRPr>
          </a:p>
          <a:p>
            <a:r>
              <a:rPr kumimoji="1" lang="zh-CN" altLang="en-US" dirty="0">
                <a:sym typeface="+mn-ea"/>
              </a:rPr>
              <a:t>机械接口的定义：包括接口的物理尺寸大小，针口的数量、接口的线缆排列等</a:t>
            </a:r>
            <a:endParaRPr kumimoji="1" lang="zh-CN" altLang="en-US" dirty="0">
              <a:sym typeface="+mn-ea"/>
            </a:endParaRPr>
          </a:p>
          <a:p>
            <a:r>
              <a:rPr kumimoji="1" lang="zh-CN" altLang="en-US" dirty="0">
                <a:sym typeface="+mn-ea"/>
              </a:rPr>
              <a:t>电子信号的定义：包括电压、电流大小，如何以电子信号特征来表示</a:t>
            </a:r>
            <a:r>
              <a:rPr kumimoji="1" lang="en-US" altLang="zh-CN" dirty="0">
                <a:sym typeface="+mn-ea"/>
              </a:rPr>
              <a:t>0</a:t>
            </a:r>
            <a:r>
              <a:rPr kumimoji="1" lang="zh-CN" altLang="en-US" dirty="0">
                <a:sym typeface="+mn-ea"/>
              </a:rPr>
              <a:t>和</a:t>
            </a:r>
            <a:r>
              <a:rPr kumimoji="1" lang="en-US" altLang="zh-CN" dirty="0">
                <a:sym typeface="+mn-ea"/>
              </a:rPr>
              <a:t>1</a:t>
            </a:r>
            <a:r>
              <a:rPr kumimoji="1" lang="zh-CN" altLang="en-US" dirty="0">
                <a:sym typeface="+mn-ea"/>
              </a:rPr>
              <a:t>等</a:t>
            </a:r>
            <a:endParaRPr kumimoji="1" lang="zh-CN" altLang="en-US" dirty="0">
              <a:sym typeface="+mn-ea"/>
            </a:endParaRPr>
          </a:p>
          <a:p>
            <a:r>
              <a:rPr kumimoji="1" lang="zh-CN" altLang="en-US" dirty="0">
                <a:sym typeface="+mn-ea"/>
              </a:rPr>
              <a:t>时序接口的定义：采样频率、每秒传送多少个不同信号（波特率），每秒传送多少比特（比特率</a:t>
            </a:r>
            <a:r>
              <a:rPr kumimoji="1" lang="en-US" altLang="zh-CN" dirty="0">
                <a:sym typeface="+mn-ea"/>
              </a:rPr>
              <a:t>bps</a:t>
            </a:r>
            <a:r>
              <a:rPr kumimoji="1" lang="zh-CN" altLang="en-US" dirty="0">
                <a:sym typeface="+mn-ea"/>
              </a:rPr>
              <a:t>）等</a:t>
            </a:r>
            <a:endParaRPr kumimoji="1" lang="zh-CN" altLang="en-US" dirty="0">
              <a:sym typeface="+mn-ea"/>
            </a:endParaRPr>
          </a:p>
          <a:p>
            <a:r>
              <a:rPr kumimoji="1" lang="zh-CN" altLang="en-US" dirty="0">
                <a:sym typeface="+mn-ea"/>
              </a:rPr>
              <a:t>对传输介质的定义：铜导线，包括电话线、各种网络线（五类线、超五类线、六类线等）、光纤；不同频谱的无线通信：微波、红外、可见光、电磁波等等</a:t>
            </a:r>
            <a:endParaRPr kumimoji="1" lang="zh-CN" altLang="en-US" dirty="0">
              <a:sym typeface="+mn-ea"/>
            </a:endParaRPr>
          </a:p>
          <a:p>
            <a:endParaRPr kumimoji="1" lang="zh-CN" altLang="en-US" dirty="0">
              <a:sym typeface="+mn-ea"/>
            </a:endParaRPr>
          </a:p>
          <a:p>
            <a:endParaRPr kumimoji="1" lang="zh-CN" altLang="en-US" dirty="0">
              <a:sym typeface="+mn-ea"/>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fontAlgn="auto">
              <a:lnSpc>
                <a:spcPct val="120000"/>
              </a:lnSpc>
            </a:pPr>
            <a:r>
              <a:rPr lang="zh-CN" altLang="en-US" dirty="0"/>
              <a:t>数据链路层主要为了实现相邻网络实体间的数据传输，特别是为实现可靠的传输提供可能。</a:t>
            </a:r>
            <a:endParaRPr lang="zh-CN" altLang="en-US" dirty="0"/>
          </a:p>
          <a:p>
            <a:pPr fontAlgn="auto">
              <a:lnSpc>
                <a:spcPct val="120000"/>
              </a:lnSpc>
            </a:pPr>
            <a:r>
              <a:rPr lang="zh-CN" altLang="en-US" dirty="0"/>
              <a:t>数据链路层主要包括以下功能：</a:t>
            </a:r>
            <a:endParaRPr lang="zh-CN" altLang="en-US" dirty="0"/>
          </a:p>
          <a:p>
            <a:pPr fontAlgn="auto">
              <a:lnSpc>
                <a:spcPct val="120000"/>
              </a:lnSpc>
            </a:pPr>
            <a:r>
              <a:rPr lang="zh-CN" altLang="en-US" dirty="0"/>
              <a:t>成帧：将从物理层获取的比特流拆分为离散的帧，可以让学生思考能否在发送时以时间间隙来分离帧。</a:t>
            </a:r>
            <a:endParaRPr lang="zh-CN" altLang="en-US" dirty="0"/>
          </a:p>
          <a:p>
            <a:pPr fontAlgn="auto">
              <a:lnSpc>
                <a:spcPct val="120000"/>
              </a:lnSpc>
            </a:pPr>
            <a:r>
              <a:rPr lang="zh-CN" altLang="en-US" dirty="0"/>
              <a:t>错误检测与纠正：由于网络传输中信号传播存在衰减和延迟，因为通信错误不可避免，通过算法可以实现错误的检测甚至自动纠错，从而为提供可靠数据通信提供可能</a:t>
            </a:r>
            <a:endParaRPr lang="zh-CN" altLang="en-US" dirty="0"/>
          </a:p>
          <a:p>
            <a:pPr fontAlgn="auto">
              <a:lnSpc>
                <a:spcPct val="120000"/>
              </a:lnSpc>
            </a:pPr>
            <a:r>
              <a:rPr lang="zh-CN" altLang="en-US" dirty="0"/>
              <a:t>物理地址或叫</a:t>
            </a:r>
            <a:r>
              <a:rPr lang="en-US" altLang="zh-CN" dirty="0"/>
              <a:t>MAC</a:t>
            </a:r>
            <a:r>
              <a:rPr lang="zh-CN" altLang="en-US" dirty="0"/>
              <a:t>地址：48位，通常以</a:t>
            </a:r>
            <a:r>
              <a:rPr lang="en-US" altLang="zh-CN" dirty="0"/>
              <a:t>12</a:t>
            </a:r>
            <a:r>
              <a:rPr lang="zh-CN" altLang="en-US" dirty="0"/>
              <a:t>个十六进制数字来表示，理论上是全球唯一的网络标识，</a:t>
            </a:r>
            <a:r>
              <a:rPr lang="en-US" altLang="zh-CN" dirty="0"/>
              <a:t>MAC</a:t>
            </a:r>
            <a:r>
              <a:rPr lang="zh-CN" altLang="en-US" dirty="0"/>
              <a:t>地址烧录在网卡上，不便更改</a:t>
            </a:r>
            <a:endParaRPr lang="zh-CN" altLang="en-US" dirty="0"/>
          </a:p>
          <a:p>
            <a:pPr fontAlgn="auto">
              <a:lnSpc>
                <a:spcPct val="120000"/>
              </a:lnSpc>
            </a:pPr>
            <a:r>
              <a:rPr lang="zh-CN" altLang="en-US" dirty="0"/>
              <a:t>流量控制，避免“淹没”（overwhelming）:当快速的发送端遇上慢速的接收端，慢速的接收端来不及出来像洪水一样涌来的数据，导致接收端缓存溢出，因此叫做“淹没”。数据链路层需要根据需要调节发送方的发送速度，这叫做流量控制。</a:t>
            </a:r>
            <a:endParaRPr lang="zh-CN" altLang="en-US" dirty="0"/>
          </a:p>
          <a:p>
            <a:pPr fontAlgn="auto">
              <a:lnSpc>
                <a:spcPct val="120000"/>
              </a:lnSpc>
            </a:pPr>
            <a:r>
              <a:rPr lang="zh-CN" altLang="en-US" dirty="0"/>
              <a:t>共享信道上的访问控制（MAC）：在同一个信道上，多个机器同时传输信号。例如：在同一间教室上课，如果没有课堂纪律，可能有多人同时发言，那就是混乱的菜场，而不是课室。</a:t>
            </a:r>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网络层负责将数据包从源主机送达目的主机。</a:t>
            </a:r>
            <a:endParaRPr lang="en-US" altLang="zh-CN" dirty="0"/>
          </a:p>
          <a:p>
            <a:r>
              <a:rPr lang="zh-CN" altLang="en-US" dirty="0"/>
              <a:t>由于网络的范围大，网络中可能连接了海量设备。寻址除了要求网络地址是唯一可识别之外，还要求网络地址的分层管理和快速可查找。</a:t>
            </a:r>
            <a:endParaRPr lang="zh-CN" altLang="en-US" dirty="0"/>
          </a:p>
          <a:p>
            <a:r>
              <a:rPr lang="zh-CN" altLang="en-US" dirty="0"/>
              <a:t>互联网上最广泛使用的网络层协议是</a:t>
            </a:r>
            <a:r>
              <a:rPr lang="en-US" altLang="zh-CN" dirty="0"/>
              <a:t>IP</a:t>
            </a:r>
            <a:r>
              <a:rPr lang="zh-CN" altLang="en-US" dirty="0"/>
              <a:t>协议。其中</a:t>
            </a:r>
            <a:r>
              <a:rPr lang="en-US" altLang="zh-CN" dirty="0"/>
              <a:t>IPv4</a:t>
            </a:r>
            <a:r>
              <a:rPr lang="zh-CN" altLang="en-US" dirty="0"/>
              <a:t>协议规定用</a:t>
            </a:r>
            <a:r>
              <a:rPr lang="en-US" altLang="zh-CN" dirty="0"/>
              <a:t>32</a:t>
            </a:r>
            <a:r>
              <a:rPr lang="zh-CN" altLang="en-US" dirty="0"/>
              <a:t>位表示</a:t>
            </a:r>
            <a:r>
              <a:rPr lang="en-US" altLang="zh-CN" dirty="0"/>
              <a:t>IP</a:t>
            </a:r>
            <a:r>
              <a:rPr lang="zh-CN" altLang="en-US" dirty="0"/>
              <a:t>地址，目前的互联网正面临</a:t>
            </a:r>
            <a:r>
              <a:rPr lang="en-US" altLang="zh-CN" dirty="0"/>
              <a:t>IPv4</a:t>
            </a:r>
            <a:r>
              <a:rPr lang="zh-CN" altLang="en-US" dirty="0"/>
              <a:t>地址耗尽的问题，因为目前正向下一代互联网发展。</a:t>
            </a:r>
            <a:endParaRPr lang="zh-CN" altLang="en-US" dirty="0"/>
          </a:p>
          <a:p>
            <a:r>
              <a:rPr lang="zh-CN" altLang="en-US" dirty="0"/>
              <a:t>下一代互联网其中一个最重要的特性就是由</a:t>
            </a:r>
            <a:r>
              <a:rPr lang="en-US" altLang="zh-CN" dirty="0"/>
              <a:t>IPv4</a:t>
            </a:r>
            <a:r>
              <a:rPr lang="zh-CN" altLang="en-US" dirty="0"/>
              <a:t>升级到</a:t>
            </a:r>
            <a:r>
              <a:rPr lang="en-US" altLang="zh-CN" dirty="0"/>
              <a:t>IPv6</a:t>
            </a:r>
            <a:r>
              <a:rPr lang="zh-CN" altLang="en-US" dirty="0"/>
              <a:t>，</a:t>
            </a:r>
            <a:r>
              <a:rPr lang="en-US" altLang="zh-CN" dirty="0"/>
              <a:t>IPv6</a:t>
            </a:r>
            <a:r>
              <a:rPr lang="zh-CN" altLang="en-US" dirty="0"/>
              <a:t>协议用</a:t>
            </a:r>
            <a:r>
              <a:rPr lang="en-US" altLang="zh-CN" dirty="0"/>
              <a:t>128</a:t>
            </a:r>
            <a:r>
              <a:rPr lang="zh-CN" altLang="en-US" dirty="0"/>
              <a:t>位表示</a:t>
            </a:r>
            <a:r>
              <a:rPr lang="en-US" altLang="zh-CN" dirty="0"/>
              <a:t>IP</a:t>
            </a:r>
            <a:r>
              <a:rPr lang="zh-CN" altLang="en-US" dirty="0"/>
              <a:t>地址，从而提供了海量的</a:t>
            </a:r>
            <a:r>
              <a:rPr lang="en-US" altLang="zh-CN" dirty="0"/>
              <a:t>IP</a:t>
            </a:r>
            <a:r>
              <a:rPr lang="zh-CN" altLang="en-US" dirty="0"/>
              <a:t>地址空间。</a:t>
            </a:r>
            <a:endParaRPr lang="zh-CN" altLang="en-US" dirty="0"/>
          </a:p>
          <a:p>
            <a:r>
              <a:rPr lang="zh-CN" altLang="en-US" dirty="0"/>
              <a:t>路由是指从源主机寻找一条路径到达目的主机。不管是面向连接还是无连接的通信模式，都需要进行路由。</a:t>
            </a:r>
            <a:endParaRPr lang="zh-CN" altLang="en-US" dirty="0"/>
          </a:p>
          <a:p>
            <a:r>
              <a:rPr lang="zh-CN" altLang="en-US" dirty="0"/>
              <a:t>在超大规模高度动态的网络中，人工寻找路由路径是一件难以完成的工作。因此，在互联网中，我们要利用动态路由算法和协议，实现从源端到目的端转发路径的高效选择。</a:t>
            </a:r>
            <a:endParaRPr lang="zh-CN" altLang="en-US" dirty="0"/>
          </a:p>
          <a:p>
            <a:r>
              <a:rPr lang="zh-CN" altLang="en-US" dirty="0"/>
              <a:t>此外，网络层还负责</a:t>
            </a:r>
            <a:r>
              <a:rPr kumimoji="1" lang="zh-CN" altLang="en-US" dirty="0">
                <a:sym typeface="+mn-ea"/>
              </a:rPr>
              <a:t>服务质量保证的工作，包括：处理网络拥塞、流量整形、保障延迟等。</a:t>
            </a:r>
            <a:endParaRPr kumimoji="1" lang="zh-CN" altLang="en-US" dirty="0">
              <a:sym typeface="+mn-ea"/>
            </a:endParaRPr>
          </a:p>
          <a:p>
            <a:endParaRPr lang="zh-CN" altLang="en-US" dirty="0"/>
          </a:p>
          <a:p>
            <a:r>
              <a:rPr lang="zh-CN" altLang="en-US" dirty="0"/>
              <a:t>可提出一个疑问：</a:t>
            </a:r>
            <a:r>
              <a:rPr lang="en-US" altLang="zh-CN" dirty="0"/>
              <a:t>MAC</a:t>
            </a:r>
            <a:r>
              <a:rPr lang="zh-CN" altLang="en-US" dirty="0"/>
              <a:t>地址也是全球唯一网络标识，为何网络层还需要另外的</a:t>
            </a:r>
            <a:r>
              <a:rPr lang="en-US" altLang="zh-CN" dirty="0"/>
              <a:t>IP</a:t>
            </a:r>
            <a:r>
              <a:rPr lang="zh-CN" altLang="en-US" dirty="0"/>
              <a:t>地址？</a:t>
            </a:r>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突出传输层与网络层的两大不同</a:t>
            </a:r>
            <a:endParaRPr lang="zh-CN" altLang="en-US" dirty="0"/>
          </a:p>
          <a:p>
            <a:r>
              <a:rPr lang="en-US" altLang="zh-CN" dirty="0"/>
              <a:t>1. </a:t>
            </a:r>
            <a:r>
              <a:rPr lang="zh-CN" altLang="en-US" dirty="0"/>
              <a:t>作用域的不同：网络层是主机到主机，传输层是进程到进程</a:t>
            </a:r>
            <a:endParaRPr lang="zh-CN" altLang="en-US" dirty="0"/>
          </a:p>
          <a:p>
            <a:r>
              <a:rPr lang="en-US" altLang="zh-CN" dirty="0"/>
              <a:t>2. </a:t>
            </a:r>
            <a:r>
              <a:rPr lang="zh-CN" altLang="en-US" dirty="0"/>
              <a:t>面对用户的不同：网络层的传输控制，主要面对网络服务的提供商</a:t>
            </a:r>
            <a:r>
              <a:rPr lang="en-US" altLang="zh-CN" dirty="0"/>
              <a:t>/</a:t>
            </a:r>
            <a:r>
              <a:rPr lang="zh-CN" altLang="en-US" dirty="0"/>
              <a:t>运营商；传输层则给终端用户提供了一定的传输控制能力。</a:t>
            </a:r>
            <a:endParaRPr lang="zh-CN" altLang="en-US" dirty="0"/>
          </a:p>
          <a:p>
            <a:r>
              <a:rPr lang="zh-CN" altLang="en-US" dirty="0"/>
              <a:t>如，可选择可靠的传输模式，或相对不可靠，但更快捷的传输模式。</a:t>
            </a:r>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TCP/IP</a:t>
            </a:r>
            <a:r>
              <a:rPr lang="zh-CN" altLang="en-US" dirty="0"/>
              <a:t>模型由</a:t>
            </a:r>
            <a:r>
              <a:rPr lang="en-US" altLang="zh-CN" dirty="0" err="1"/>
              <a:t>Vint</a:t>
            </a:r>
            <a:r>
              <a:rPr lang="en-US" altLang="zh-CN" dirty="0"/>
              <a:t> Cerf</a:t>
            </a:r>
            <a:r>
              <a:rPr lang="zh-CN" altLang="en-US" dirty="0"/>
              <a:t>和</a:t>
            </a:r>
            <a:r>
              <a:rPr lang="en-US" altLang="zh-CN" dirty="0"/>
              <a:t>Bob Khan</a:t>
            </a:r>
            <a:r>
              <a:rPr lang="zh-CN" altLang="en-US" dirty="0"/>
              <a:t>提出，</a:t>
            </a:r>
            <a:r>
              <a:rPr lang="en-US" altLang="zh-CN" dirty="0"/>
              <a:t>ARPNET</a:t>
            </a:r>
            <a:r>
              <a:rPr lang="zh-CN" altLang="en-US" dirty="0"/>
              <a:t>采用</a:t>
            </a:r>
            <a:r>
              <a:rPr lang="en-US" altLang="zh-CN" dirty="0"/>
              <a:t>TCP</a:t>
            </a:r>
            <a:r>
              <a:rPr lang="zh-CN" altLang="en-US" dirty="0"/>
              <a:t>和</a:t>
            </a:r>
            <a:r>
              <a:rPr lang="en-US" altLang="zh-CN" dirty="0"/>
              <a:t>IP</a:t>
            </a:r>
            <a:r>
              <a:rPr lang="zh-CN" altLang="en-US" dirty="0"/>
              <a:t>作为主要协议。</a:t>
            </a:r>
            <a:endParaRPr lang="zh-CN" altLang="en-US" dirty="0"/>
          </a:p>
          <a:p>
            <a:r>
              <a:rPr lang="zh-CN" altLang="en-US" dirty="0"/>
              <a:t>简要介绍</a:t>
            </a:r>
            <a:r>
              <a:rPr lang="en-US" altLang="zh-CN" dirty="0"/>
              <a:t>TCP/IP</a:t>
            </a:r>
            <a:r>
              <a:rPr lang="zh-CN" altLang="en-US" dirty="0"/>
              <a:t>模型四层模型</a:t>
            </a:r>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一方面明确</a:t>
            </a:r>
            <a:r>
              <a:rPr kumimoji="1" lang="en-US" altLang="zh-CN" dirty="0"/>
              <a:t>TCP/IP</a:t>
            </a:r>
            <a:r>
              <a:rPr kumimoji="1" lang="zh-CN" altLang="en-US" dirty="0"/>
              <a:t>参考模型中，</a:t>
            </a:r>
            <a:r>
              <a:rPr kumimoji="1" lang="en-US" altLang="zh-CN" dirty="0"/>
              <a:t>TCP</a:t>
            </a:r>
            <a:r>
              <a:rPr kumimoji="1" lang="zh-CN" altLang="en-US" dirty="0"/>
              <a:t>和</a:t>
            </a:r>
            <a:r>
              <a:rPr kumimoji="1" lang="en-US" altLang="zh-CN" dirty="0"/>
              <a:t>IP</a:t>
            </a:r>
            <a:r>
              <a:rPr kumimoji="1" lang="zh-CN" altLang="en-US" dirty="0"/>
              <a:t>的重要性，另一方面加深</a:t>
            </a:r>
            <a:r>
              <a:rPr kumimoji="1" lang="en-US" altLang="zh-CN" dirty="0"/>
              <a:t>TCP/IP</a:t>
            </a:r>
            <a:r>
              <a:rPr kumimoji="1" lang="zh-CN" altLang="en-US" dirty="0"/>
              <a:t>参考模型的特色（即正文红色部分）</a:t>
            </a:r>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主要介绍</a:t>
            </a:r>
            <a:r>
              <a:rPr lang="en-US" altLang="zh-CN" dirty="0"/>
              <a:t>OSI</a:t>
            </a:r>
            <a:r>
              <a:rPr lang="zh-CN" altLang="en-US" dirty="0"/>
              <a:t>模型与</a:t>
            </a:r>
            <a:r>
              <a:rPr lang="en-US" altLang="zh-CN" dirty="0"/>
              <a:t>TCP/IP</a:t>
            </a:r>
            <a:r>
              <a:rPr lang="zh-CN" altLang="en-US" dirty="0"/>
              <a:t>模型的不同：</a:t>
            </a:r>
            <a:endParaRPr lang="zh-CN" altLang="en-US" dirty="0"/>
          </a:p>
          <a:p>
            <a:r>
              <a:rPr lang="en-US" altLang="zh-CN" dirty="0"/>
              <a:t>1. </a:t>
            </a:r>
            <a:r>
              <a:rPr lang="zh-CN" altLang="en-US" dirty="0"/>
              <a:t>模型本身的不同</a:t>
            </a:r>
            <a:endParaRPr lang="zh-CN" altLang="en-US" dirty="0"/>
          </a:p>
          <a:p>
            <a:r>
              <a:rPr lang="en-US" altLang="zh-CN" dirty="0"/>
              <a:t>OSI</a:t>
            </a:r>
            <a:r>
              <a:rPr lang="zh-CN" altLang="en-US" dirty="0"/>
              <a:t>模型为</a:t>
            </a:r>
            <a:r>
              <a:rPr lang="en-US" altLang="zh-CN" dirty="0"/>
              <a:t>7</a:t>
            </a:r>
            <a:r>
              <a:rPr lang="zh-CN" altLang="en-US" dirty="0"/>
              <a:t>层，</a:t>
            </a:r>
            <a:r>
              <a:rPr lang="en-US" altLang="zh-CN" dirty="0"/>
              <a:t>TCP/IP</a:t>
            </a:r>
            <a:r>
              <a:rPr lang="zh-CN" altLang="en-US" dirty="0"/>
              <a:t>模型定义了</a:t>
            </a:r>
            <a:r>
              <a:rPr lang="en-US" altLang="zh-CN" dirty="0"/>
              <a:t>4</a:t>
            </a:r>
            <a:r>
              <a:rPr lang="zh-CN" altLang="en-US" dirty="0"/>
              <a:t>层。</a:t>
            </a:r>
            <a:endParaRPr lang="zh-CN" altLang="en-US" dirty="0"/>
          </a:p>
          <a:p>
            <a:r>
              <a:rPr lang="zh-CN" altLang="en-US" dirty="0"/>
              <a:t>TCP/IP模型不包括物理层与数据链路层，其链路层定义主机与传输线路之间的接口，描述链路为无连接的互联网层必须提供的基本功能</a:t>
            </a:r>
            <a:endParaRPr lang="zh-CN" altLang="en-US" dirty="0"/>
          </a:p>
          <a:p>
            <a:r>
              <a:rPr lang="zh-CN" altLang="en-US" dirty="0"/>
              <a:t>OSI模型的网络层、传输层与TCP/IP模型的互联网层、传输层大致对应</a:t>
            </a:r>
            <a:endParaRPr lang="zh-CN" altLang="en-US" dirty="0"/>
          </a:p>
          <a:p>
            <a:r>
              <a:rPr lang="zh-CN" altLang="en-US" dirty="0"/>
              <a:t>TCP/IP模型的应用层包含了OSI模型的表示层与会话层</a:t>
            </a:r>
            <a:endParaRPr lang="zh-CN" altLang="en-US" dirty="0"/>
          </a:p>
          <a:p>
            <a:r>
              <a:rPr lang="en-US" altLang="zh-CN" dirty="0"/>
              <a:t>2. </a:t>
            </a:r>
            <a:r>
              <a:rPr lang="en-US" altLang="zh-CN" dirty="0" err="1"/>
              <a:t>基本设计思想</a:t>
            </a:r>
            <a:r>
              <a:rPr lang="zh-CN" altLang="en-US" dirty="0"/>
              <a:t>的不同</a:t>
            </a:r>
            <a:r>
              <a:rPr lang="en-US" altLang="zh-CN" dirty="0"/>
              <a:t>：OSI</a:t>
            </a:r>
            <a:r>
              <a:rPr lang="zh-CN" altLang="en-US" dirty="0"/>
              <a:t>模型注重</a:t>
            </a:r>
            <a:r>
              <a:rPr lang="en-US" altLang="zh-CN" dirty="0" err="1"/>
              <a:t>通用性与TCP</a:t>
            </a:r>
            <a:r>
              <a:rPr lang="en-US" altLang="zh-CN" dirty="0"/>
              <a:t>/IP</a:t>
            </a:r>
            <a:r>
              <a:rPr lang="zh-CN" altLang="en-US" dirty="0"/>
              <a:t>模型侧重</a:t>
            </a:r>
            <a:r>
              <a:rPr lang="en-US" altLang="zh-CN" dirty="0" err="1"/>
              <a:t>实用性</a:t>
            </a:r>
            <a:endParaRPr lang="en-US" altLang="zh-CN" dirty="0"/>
          </a:p>
          <a:p>
            <a:r>
              <a:rPr lang="en-US" altLang="zh-CN" dirty="0" err="1"/>
              <a:t>OSI模型不局限于特定协议</a:t>
            </a:r>
            <a:r>
              <a:rPr lang="en-US" altLang="zh-CN" dirty="0"/>
              <a:t>，</a:t>
            </a:r>
            <a:r>
              <a:rPr lang="zh-CN" altLang="en-US" dirty="0"/>
              <a:t>主要</a:t>
            </a:r>
            <a:r>
              <a:rPr lang="en-US" altLang="zh-CN" dirty="0" err="1"/>
              <a:t>面向服务、协议、接口等核心概念，更具通用性</a:t>
            </a:r>
            <a:endParaRPr lang="en-US" altLang="zh-CN" dirty="0"/>
          </a:p>
          <a:p>
            <a:r>
              <a:rPr lang="en-US" altLang="zh-CN" dirty="0"/>
              <a:t>TCP/</a:t>
            </a:r>
            <a:r>
              <a:rPr lang="en-US" altLang="zh-CN" dirty="0" err="1"/>
              <a:t>IP模型</a:t>
            </a:r>
            <a:r>
              <a:rPr lang="en-US" altLang="zh-CN" dirty="0"/>
              <a:t>，</a:t>
            </a:r>
            <a:r>
              <a:rPr lang="zh-CN" altLang="en-US" dirty="0"/>
              <a:t>则</a:t>
            </a:r>
            <a:r>
              <a:rPr lang="en-US" altLang="zh-CN" dirty="0" err="1"/>
              <a:t>面向</a:t>
            </a:r>
            <a:r>
              <a:rPr lang="zh-CN" altLang="en-US" dirty="0"/>
              <a:t>特定的</a:t>
            </a:r>
            <a:r>
              <a:rPr lang="en-US" altLang="zh-CN" dirty="0"/>
              <a:t>TCP/</a:t>
            </a:r>
            <a:r>
              <a:rPr lang="en-US" altLang="zh-CN" dirty="0" err="1"/>
              <a:t>IP网络</a:t>
            </a:r>
            <a:r>
              <a:rPr lang="en-US" altLang="zh-CN" dirty="0"/>
              <a:t>，</a:t>
            </a:r>
            <a:r>
              <a:rPr lang="zh-CN" altLang="en-US" dirty="0"/>
              <a:t>因此可以对现实中基于</a:t>
            </a:r>
            <a:r>
              <a:rPr lang="en-US" altLang="zh-CN" dirty="0"/>
              <a:t>TCP/IP</a:t>
            </a:r>
            <a:r>
              <a:rPr lang="zh-CN" altLang="en-US" dirty="0"/>
              <a:t>协议的互联网进行完美的描述</a:t>
            </a:r>
            <a:endParaRPr lang="zh-CN" altLang="en-US" dirty="0"/>
          </a:p>
          <a:p>
            <a:r>
              <a:rPr lang="en-US" altLang="zh-CN" dirty="0"/>
              <a:t>3. </a:t>
            </a:r>
            <a:r>
              <a:rPr lang="zh-CN" altLang="en-US" dirty="0"/>
              <a:t>无连接与面向连接的不同</a:t>
            </a:r>
            <a:endParaRPr lang="zh-CN" altLang="en-US" dirty="0"/>
          </a:p>
          <a:p>
            <a:r>
              <a:rPr lang="zh-CN" altLang="en-US" dirty="0"/>
              <a:t>OSI模型的网络层不限定具体的协议类型，可以支持无连接和面向连接通信</a:t>
            </a:r>
            <a:endParaRPr lang="zh-CN" altLang="en-US" dirty="0"/>
          </a:p>
          <a:p>
            <a:r>
              <a:rPr lang="zh-CN" altLang="en-US" dirty="0"/>
              <a:t>TCP/IP模型的网络层仅支持无连接通信，这是IP协议支持的通信模式</a:t>
            </a:r>
            <a:endParaRPr lang="zh-CN" altLang="en-US" dirty="0"/>
          </a:p>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OSI</a:t>
            </a:r>
            <a:r>
              <a:rPr lang="zh-CN" altLang="en-US" dirty="0"/>
              <a:t>模型和</a:t>
            </a:r>
            <a:r>
              <a:rPr lang="en-US" altLang="zh-CN" dirty="0"/>
              <a:t>TCP/IP</a:t>
            </a:r>
            <a:r>
              <a:rPr lang="zh-CN" altLang="en-US" dirty="0"/>
              <a:t>模型各自的不足</a:t>
            </a:r>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结合了</a:t>
            </a:r>
            <a:r>
              <a:rPr lang="en-US" altLang="zh-CN" dirty="0"/>
              <a:t>OSI</a:t>
            </a:r>
            <a:r>
              <a:rPr lang="zh-CN" altLang="en-US" dirty="0"/>
              <a:t>模型和</a:t>
            </a:r>
            <a:r>
              <a:rPr lang="en-US" altLang="zh-CN" dirty="0"/>
              <a:t>TCP/IP</a:t>
            </a:r>
            <a:r>
              <a:rPr lang="zh-CN" altLang="en-US" dirty="0"/>
              <a:t>模型的部分特点，将教程内容划分为物理层、数据链路层、网络层、传输层和应用层。</a:t>
            </a:r>
            <a:endParaRPr lang="zh-CN" altLang="en-US" dirty="0"/>
          </a:p>
          <a:p>
            <a:r>
              <a:rPr lang="zh-CN" altLang="en-US" dirty="0"/>
              <a:t>这样的结构有利于保留</a:t>
            </a:r>
            <a:r>
              <a:rPr lang="en-US" altLang="zh-CN" dirty="0"/>
              <a:t>OSI</a:t>
            </a:r>
            <a:r>
              <a:rPr lang="zh-CN" altLang="en-US" dirty="0"/>
              <a:t>和</a:t>
            </a:r>
            <a:r>
              <a:rPr lang="en-US" altLang="zh-CN" dirty="0"/>
              <a:t>TCP/IP</a:t>
            </a:r>
            <a:r>
              <a:rPr lang="zh-CN" altLang="en-US" dirty="0"/>
              <a:t>的各自优点。</a:t>
            </a:r>
            <a:endParaRPr lang="zh-CN" altLang="en-US" dirty="0"/>
          </a:p>
          <a:p>
            <a:r>
              <a:rPr lang="zh-CN" altLang="en-US" dirty="0">
                <a:sym typeface="+mn-ea"/>
              </a:rPr>
              <a:t>对于教学来说，突出网络中重要的核心概念，如：服务、协议接口</a:t>
            </a:r>
            <a:endParaRPr lang="zh-CN" altLang="en-US" dirty="0">
              <a:sym typeface="+mn-ea"/>
            </a:endParaRPr>
          </a:p>
          <a:p>
            <a:r>
              <a:rPr lang="zh-CN" altLang="en-US" dirty="0">
                <a:sym typeface="+mn-ea"/>
              </a:rPr>
              <a:t>严格区分了接口与分层、在体现网络模型完整性和通用性。</a:t>
            </a:r>
            <a:endParaRPr lang="zh-CN" altLang="en-US" dirty="0">
              <a:sym typeface="+mn-ea"/>
            </a:endParaRPr>
          </a:p>
          <a:p>
            <a:r>
              <a:rPr lang="zh-CN" altLang="en-US" dirty="0">
                <a:sym typeface="+mn-ea"/>
              </a:rPr>
              <a:t>同时，通过简化分层，也更易于教与学。</a:t>
            </a:r>
            <a:endParaRPr lang="zh-CN" altLang="en-US" dirty="0"/>
          </a:p>
          <a:p>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将网络分层模型与一个网络通信实例相结合。从而让学生更好了解分层模型在真实网络通信实例中的对应关系。</a:t>
            </a:r>
            <a:endParaRPr lang="zh-CN" altLang="en-US" dirty="0"/>
          </a:p>
          <a:p>
            <a:r>
              <a:rPr lang="zh-CN" altLang="en-US" dirty="0"/>
              <a:t>主机</a:t>
            </a:r>
            <a:r>
              <a:rPr lang="en-US" altLang="zh-CN" dirty="0"/>
              <a:t>A</a:t>
            </a:r>
            <a:r>
              <a:rPr lang="zh-CN" altLang="en-US" dirty="0"/>
              <a:t>向主机</a:t>
            </a:r>
            <a:r>
              <a:rPr lang="en-US" altLang="zh-CN" dirty="0"/>
              <a:t>B</a:t>
            </a:r>
            <a:r>
              <a:rPr lang="zh-CN" altLang="en-US" dirty="0"/>
              <a:t>发送消息，发送端逐层加包头，接收端去包头。明确路由器和交换机工作的层次。</a:t>
            </a:r>
            <a:endParaRPr lang="zh-CN" altLang="en-US" dirty="0"/>
          </a:p>
          <a:p>
            <a:r>
              <a:rPr lang="zh-CN" altLang="en-US" dirty="0"/>
              <a:t>数据在发送端从应用层向下通过各层，经过封装操作，从原始的消息，变成段</a:t>
            </a:r>
            <a:r>
              <a:rPr lang="en-US" altLang="zh-CN" dirty="0"/>
              <a:t>segment</a:t>
            </a:r>
            <a:r>
              <a:rPr lang="zh-CN" altLang="en-US" dirty="0"/>
              <a:t>，成为数据包</a:t>
            </a:r>
            <a:r>
              <a:rPr lang="en-US" altLang="zh-CN" dirty="0"/>
              <a:t>packet</a:t>
            </a:r>
            <a:r>
              <a:rPr lang="zh-CN" altLang="en-US" dirty="0"/>
              <a:t>，再成为帧。这些不同的名称对应于各层的协议数据单元（</a:t>
            </a:r>
            <a:r>
              <a:rPr lang="en-US" altLang="zh-CN" dirty="0"/>
              <a:t>PDU</a:t>
            </a:r>
            <a:r>
              <a:rPr lang="zh-CN" altLang="en-US" dirty="0"/>
              <a:t>）名称。</a:t>
            </a:r>
            <a:endParaRPr lang="zh-CN" altLang="en-US" dirty="0"/>
          </a:p>
          <a:p>
            <a:r>
              <a:rPr lang="zh-CN" altLang="en-US" dirty="0"/>
              <a:t>数据在网络中经过各种网络设备，逐跳转发，被送达接收方主机</a:t>
            </a:r>
            <a:r>
              <a:rPr lang="en-US" altLang="zh-CN" dirty="0"/>
              <a:t>B</a:t>
            </a:r>
            <a:r>
              <a:rPr lang="zh-CN" altLang="en-US" dirty="0"/>
              <a:t>。</a:t>
            </a:r>
            <a:endParaRPr lang="zh-CN" altLang="en-US" dirty="0"/>
          </a:p>
          <a:p>
            <a:r>
              <a:rPr lang="zh-CN" altLang="en-US" dirty="0"/>
              <a:t>为简化起见，图中仅列出了两台交换机和一台路由器。</a:t>
            </a:r>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lnSpc>
                <a:spcPct val="120000"/>
              </a:lnSpc>
              <a:spcBef>
                <a:spcPts val="0"/>
              </a:spcBef>
              <a:spcAft>
                <a:spcPts val="0"/>
              </a:spcAft>
              <a:buClrTx/>
              <a:buSzTx/>
            </a:pPr>
            <a:r>
              <a:rPr kumimoji="1" lang="zh-CN" altLang="en-US" dirty="0">
                <a:sym typeface="+mn-ea"/>
              </a:rPr>
              <a:t>比特、字节</a:t>
            </a:r>
            <a:endParaRPr kumimoji="1" lang="zh-CN" altLang="en-US" dirty="0"/>
          </a:p>
          <a:p>
            <a:pPr lvl="0">
              <a:lnSpc>
                <a:spcPct val="120000"/>
              </a:lnSpc>
              <a:spcBef>
                <a:spcPts val="0"/>
              </a:spcBef>
              <a:spcAft>
                <a:spcPts val="0"/>
              </a:spcAft>
              <a:buFont typeface="Arial" panose="020B0604020202020204" pitchFamily="34" charset="0"/>
              <a:buChar char="•"/>
            </a:pPr>
            <a:r>
              <a:rPr lang="zh-CN" altLang="en-US" dirty="0">
                <a:effectLst/>
                <a:cs typeface="微软雅黑" panose="020B0503020204020204" pitchFamily="34" charset="-122"/>
                <a:sym typeface="+mn-ea"/>
              </a:rPr>
              <a:t>比特</a:t>
            </a:r>
            <a:r>
              <a:rPr lang="en-US" altLang="zh-CN" dirty="0">
                <a:effectLst/>
                <a:cs typeface="微软雅黑" panose="020B0503020204020204" pitchFamily="34" charset="-122"/>
                <a:sym typeface="+mn-ea"/>
              </a:rPr>
              <a:t>(bit)</a:t>
            </a:r>
            <a:r>
              <a:rPr lang="zh-CN" altLang="en-US" dirty="0">
                <a:effectLst/>
                <a:cs typeface="微软雅黑" panose="020B0503020204020204" pitchFamily="34" charset="-122"/>
                <a:sym typeface="+mn-ea"/>
              </a:rPr>
              <a:t>是计算机中的数据量的单位，一个比特就是二进制数字中的一个</a:t>
            </a:r>
            <a:r>
              <a:rPr lang="en-US" altLang="zh-CN" dirty="0">
                <a:effectLst/>
                <a:cs typeface="微软雅黑" panose="020B0503020204020204" pitchFamily="34" charset="-122"/>
                <a:sym typeface="+mn-ea"/>
              </a:rPr>
              <a:t>1</a:t>
            </a:r>
            <a:r>
              <a:rPr lang="zh-CN" altLang="en-US" dirty="0">
                <a:effectLst/>
                <a:cs typeface="微软雅黑" panose="020B0503020204020204" pitchFamily="34" charset="-122"/>
                <a:sym typeface="+mn-ea"/>
              </a:rPr>
              <a:t>或</a:t>
            </a:r>
            <a:r>
              <a:rPr lang="en-US" altLang="zh-CN" dirty="0">
                <a:effectLst/>
                <a:cs typeface="微软雅黑" panose="020B0503020204020204" pitchFamily="34" charset="-122"/>
                <a:sym typeface="+mn-ea"/>
              </a:rPr>
              <a:t>0</a:t>
            </a:r>
            <a:r>
              <a:rPr lang="zh-CN" altLang="en-US" dirty="0">
                <a:effectLst/>
                <a:cs typeface="微软雅黑" panose="020B0503020204020204" pitchFamily="34" charset="-122"/>
                <a:sym typeface="+mn-ea"/>
              </a:rPr>
              <a:t>。</a:t>
            </a:r>
            <a:endParaRPr lang="en-US" altLang="zh-CN" dirty="0">
              <a:effectLst/>
              <a:cs typeface="微软雅黑" panose="020B0503020204020204" pitchFamily="34" charset="-122"/>
              <a:sym typeface="+mn-ea"/>
            </a:endParaRPr>
          </a:p>
          <a:p>
            <a:pPr lvl="0">
              <a:lnSpc>
                <a:spcPct val="120000"/>
              </a:lnSpc>
              <a:spcBef>
                <a:spcPts val="0"/>
              </a:spcBef>
              <a:spcAft>
                <a:spcPts val="0"/>
              </a:spcAft>
              <a:buFont typeface="Arial" panose="020B0604020202020204" pitchFamily="34" charset="0"/>
              <a:buChar char="•"/>
            </a:pPr>
            <a:r>
              <a:rPr lang="en-US" altLang="zh-CN" dirty="0" err="1"/>
              <a:t>线速转发</a:t>
            </a:r>
            <a:r>
              <a:rPr lang="zh-CN" altLang="en-US" dirty="0"/>
              <a:t>：</a:t>
            </a:r>
            <a:r>
              <a:rPr lang="en-US" altLang="zh-CN" dirty="0" err="1"/>
              <a:t>一般是指</a:t>
            </a:r>
            <a:r>
              <a:rPr lang="zh-CN" altLang="en-US" dirty="0"/>
              <a:t>是否</a:t>
            </a:r>
            <a:r>
              <a:rPr lang="en-US" altLang="zh-CN" dirty="0" err="1"/>
              <a:t>能够做到网卡接口</a:t>
            </a:r>
            <a:r>
              <a:rPr lang="zh-CN" altLang="en-US" dirty="0"/>
              <a:t>速率</a:t>
            </a:r>
            <a:r>
              <a:rPr lang="en-US" altLang="zh-CN" dirty="0" err="1"/>
              <a:t>的转发不出现丢包</a:t>
            </a:r>
            <a:r>
              <a:rPr lang="en-US" altLang="zh-CN" dirty="0"/>
              <a:t>。</a:t>
            </a:r>
            <a:endParaRPr lang="en-US" altLang="zh-CN" dirty="0"/>
          </a:p>
          <a:p>
            <a:pPr marR="0" lvl="0" indent="0" algn="just" defTabSz="914400" rtl="0" eaLnBrk="1" fontAlgn="base" latinLnBrk="0" hangingPunct="1">
              <a:lnSpc>
                <a:spcPct val="110000"/>
              </a:lnSpc>
              <a:spcBef>
                <a:spcPts val="20"/>
              </a:spcBef>
              <a:spcAft>
                <a:spcPts val="0"/>
              </a:spcAft>
              <a:buClr>
                <a:schemeClr val="bg2"/>
              </a:buClr>
              <a:buSzPct val="75000"/>
              <a:buFont typeface="Wingdings" panose="05000000000000000000" pitchFamily="2" charset="2"/>
              <a:buNone/>
              <a:defRPr/>
            </a:pPr>
            <a:r>
              <a:rPr lang="en-US" altLang="zh-CN" dirty="0" err="1"/>
              <a:t>包转发率标志了交换机转发数据包能力的大小</a:t>
            </a:r>
            <a:r>
              <a:rPr lang="zh-CN" altLang="en-US" dirty="0"/>
              <a:t>，</a:t>
            </a:r>
            <a:r>
              <a:rPr lang="en-US" altLang="zh-CN" dirty="0" err="1"/>
              <a:t>是指交换机每秒可以转发多少个数据包（Mpps</a:t>
            </a:r>
            <a:r>
              <a:rPr lang="en-US" altLang="zh-CN" dirty="0"/>
              <a:t>），</a:t>
            </a:r>
            <a:r>
              <a:rPr lang="en-US" altLang="zh-CN" dirty="0" err="1"/>
              <a:t>即交换机能同时转发的数据包的数量</a:t>
            </a:r>
            <a:r>
              <a:rPr lang="en-US" altLang="zh-CN" dirty="0"/>
              <a:t>。</a:t>
            </a:r>
            <a:endParaRPr lang="en-US" altLang="zh-CN" dirty="0"/>
          </a:p>
          <a:p>
            <a:pPr marL="285750" marR="0" lvl="0" indent="-285750" algn="l" defTabSz="914400" rtl="0" eaLnBrk="1" fontAlgn="auto" latinLnBrk="0" hangingPunct="1">
              <a:lnSpc>
                <a:spcPts val="2900"/>
              </a:lnSpc>
              <a:spcBef>
                <a:spcPts val="0"/>
              </a:spcBef>
              <a:spcAft>
                <a:spcPts val="0"/>
              </a:spcAft>
              <a:buClr>
                <a:srgbClr val="0070C0"/>
              </a:buClr>
              <a:buSzTx/>
              <a:buFontTx/>
              <a:buNone/>
              <a:defRPr/>
            </a:pPr>
            <a:r>
              <a:rPr lang="zh-CN" altLang="en-US" dirty="0">
                <a:latin typeface="微软雅黑" panose="020B0503020204020204" pitchFamily="34" charset="-122"/>
                <a:ea typeface="微软雅黑" panose="020B0503020204020204" pitchFamily="34" charset="-122"/>
                <a:sym typeface="+mn-ea"/>
              </a:rPr>
              <a:t>问题答案：</a:t>
            </a:r>
            <a:r>
              <a:rPr lang="zh-CN" altLang="en-US" sz="1200" dirty="0">
                <a:solidFill>
                  <a:prstClr val="black"/>
                </a:solidFill>
                <a:latin typeface="微软雅黑" panose="020B0503020204020204" pitchFamily="34" charset="-122"/>
                <a:ea typeface="微软雅黑" panose="020B0503020204020204" pitchFamily="34" charset="-122"/>
                <a:sym typeface="+mn-ea"/>
              </a:rPr>
              <a:t>在交换机上：大包更容易实现线速，因为大包的</a:t>
            </a:r>
            <a:r>
              <a:rPr lang="en-US" altLang="zh-CN" sz="1200" dirty="0">
                <a:solidFill>
                  <a:prstClr val="black"/>
                </a:solidFill>
                <a:latin typeface="微软雅黑" panose="020B0503020204020204" pitchFamily="34" charset="-122"/>
                <a:ea typeface="微软雅黑" panose="020B0503020204020204" pitchFamily="34" charset="-122"/>
                <a:sym typeface="+mn-ea"/>
              </a:rPr>
              <a:t>PPS</a:t>
            </a:r>
            <a:r>
              <a:rPr lang="zh-CN" altLang="en-US" sz="1200" dirty="0">
                <a:solidFill>
                  <a:prstClr val="black"/>
                </a:solidFill>
                <a:latin typeface="微软雅黑" panose="020B0503020204020204" pitchFamily="34" charset="-122"/>
                <a:ea typeface="微软雅黑" panose="020B0503020204020204" pitchFamily="34" charset="-122"/>
                <a:sym typeface="+mn-ea"/>
              </a:rPr>
              <a:t>更小。</a:t>
            </a:r>
            <a:endParaRPr lang="zh-CN" altLang="en-US" dirty="0">
              <a:solidFill>
                <a:prstClr val="black"/>
              </a:solidFill>
            </a:endParaRPr>
          </a:p>
          <a:p>
            <a:pPr marL="285750" indent="-285750">
              <a:lnSpc>
                <a:spcPts val="2900"/>
              </a:lnSpc>
              <a:buClr>
                <a:srgbClr val="0070C0"/>
              </a:buClr>
            </a:pPr>
            <a:endParaRPr lang="zh-CN" altLang="en-US" dirty="0">
              <a:latin typeface="微软雅黑" panose="020B0503020204020204" pitchFamily="34" charset="-122"/>
              <a:ea typeface="微软雅黑" panose="020B0503020204020204" pitchFamily="34" charset="-122"/>
              <a:sym typeface="+mn-ea"/>
            </a:endParaRPr>
          </a:p>
          <a:p>
            <a:pPr marL="285750" indent="-285750">
              <a:lnSpc>
                <a:spcPts val="2900"/>
              </a:lnSpc>
              <a:buClr>
                <a:srgbClr val="0070C0"/>
              </a:buClr>
            </a:pPr>
            <a:r>
              <a:rPr lang="zh-CN" altLang="en-US" dirty="0">
                <a:latin typeface="微软雅黑" panose="020B0503020204020204" pitchFamily="34" charset="-122"/>
                <a:ea typeface="微软雅黑" panose="020B0503020204020204" pitchFamily="34" charset="-122"/>
                <a:sym typeface="+mn-ea"/>
              </a:rPr>
              <a:t>例如</a:t>
            </a:r>
            <a:r>
              <a:rPr lang="en-US" altLang="zh-CN" dirty="0">
                <a:latin typeface="微软雅黑" panose="020B0503020204020204" pitchFamily="34" charset="-122"/>
                <a:ea typeface="微软雅黑" panose="020B0503020204020204" pitchFamily="34" charset="-122"/>
                <a:sym typeface="+mn-ea"/>
              </a:rPr>
              <a:t>4 </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en-US" altLang="zh-CN" dirty="0">
                <a:latin typeface="微软雅黑" panose="020B0503020204020204" pitchFamily="34" charset="-122"/>
                <a:ea typeface="微软雅黑" panose="020B0503020204020204" pitchFamily="34" charset="-122"/>
                <a:sym typeface="+mn-ea"/>
              </a:rPr>
              <a:t> 10</a:t>
            </a:r>
            <a:r>
              <a:rPr lang="en-US" altLang="zh-CN" baseline="30000" dirty="0">
                <a:latin typeface="微软雅黑" panose="020B0503020204020204" pitchFamily="34" charset="-122"/>
                <a:ea typeface="微软雅黑" panose="020B0503020204020204" pitchFamily="34" charset="-122"/>
                <a:sym typeface="+mn-ea"/>
              </a:rPr>
              <a:t>10  </a:t>
            </a:r>
            <a:r>
              <a:rPr lang="en-US" altLang="zh-CN" dirty="0">
                <a:latin typeface="微软雅黑" panose="020B0503020204020204" pitchFamily="34" charset="-122"/>
                <a:ea typeface="微软雅黑" panose="020B0503020204020204" pitchFamily="34" charset="-122"/>
                <a:sym typeface="+mn-ea"/>
              </a:rPr>
              <a:t>bit/s </a:t>
            </a:r>
            <a:r>
              <a:rPr lang="zh-CN" altLang="zh-CN" dirty="0">
                <a:latin typeface="微软雅黑" panose="020B0503020204020204" pitchFamily="34" charset="-122"/>
                <a:ea typeface="微软雅黑" panose="020B0503020204020204" pitchFamily="34" charset="-122"/>
                <a:sym typeface="+mn-ea"/>
              </a:rPr>
              <a:t>的数据率就记为</a:t>
            </a:r>
            <a:r>
              <a:rPr lang="en-US" altLang="zh-CN" dirty="0">
                <a:latin typeface="微软雅黑" panose="020B0503020204020204" pitchFamily="34" charset="-122"/>
                <a:ea typeface="微软雅黑" panose="020B0503020204020204" pitchFamily="34" charset="-122"/>
                <a:sym typeface="+mn-ea"/>
              </a:rPr>
              <a:t> 40 </a:t>
            </a:r>
            <a:r>
              <a:rPr lang="en-US" altLang="zh-CN" dirty="0" err="1">
                <a:latin typeface="微软雅黑" panose="020B0503020204020204" pitchFamily="34" charset="-122"/>
                <a:ea typeface="微软雅黑" panose="020B0503020204020204" pitchFamily="34" charset="-122"/>
                <a:sym typeface="+mn-ea"/>
              </a:rPr>
              <a:t>Gbit</a:t>
            </a:r>
            <a:r>
              <a:rPr lang="en-US" altLang="zh-CN" dirty="0">
                <a:latin typeface="微软雅黑" panose="020B0503020204020204" pitchFamily="34" charset="-122"/>
                <a:ea typeface="微软雅黑" panose="020B0503020204020204" pitchFamily="34" charset="-122"/>
                <a:sym typeface="+mn-ea"/>
              </a:rPr>
              <a:t>/s</a:t>
            </a:r>
            <a:r>
              <a:rPr lang="zh-CN" altLang="en-US" dirty="0">
                <a:latin typeface="微软雅黑" panose="020B0503020204020204" pitchFamily="34" charset="-122"/>
                <a:ea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endParaRPr>
          </a:p>
          <a:p>
            <a:pPr indent="0">
              <a:lnSpc>
                <a:spcPts val="2900"/>
              </a:lnSpc>
              <a:buClr>
                <a:srgbClr val="0070C0"/>
              </a:buClr>
              <a:buFont typeface="Wingdings" panose="05000000000000000000" pitchFamily="2" charset="2"/>
              <a:buNone/>
            </a:pPr>
            <a:r>
              <a:rPr lang="zh-CN" altLang="en-US" dirty="0">
                <a:solidFill>
                  <a:srgbClr val="0000FF"/>
                </a:solidFill>
                <a:latin typeface="微软雅黑" panose="020B0503020204020204" pitchFamily="34" charset="-122"/>
                <a:ea typeface="微软雅黑" panose="020B0503020204020204" pitchFamily="34" charset="-122"/>
                <a:sym typeface="+mn-ea"/>
              </a:rPr>
              <a:t>速率往往是指额定速率或标称速率，非</a:t>
            </a:r>
            <a:r>
              <a:rPr lang="zh-CN" altLang="zh-CN" dirty="0">
                <a:solidFill>
                  <a:srgbClr val="0000FF"/>
                </a:solidFill>
                <a:latin typeface="微软雅黑" panose="020B0503020204020204" pitchFamily="34" charset="-122"/>
                <a:ea typeface="微软雅黑" panose="020B0503020204020204" pitchFamily="34" charset="-122"/>
                <a:sym typeface="+mn-ea"/>
              </a:rPr>
              <a:t>实际运行速率</a:t>
            </a:r>
            <a:r>
              <a:rPr lang="zh-CN" altLang="en-US" dirty="0">
                <a:solidFill>
                  <a:srgbClr val="0000FF"/>
                </a:solidFill>
                <a:latin typeface="微软雅黑" panose="020B0503020204020204" pitchFamily="34" charset="-122"/>
                <a:ea typeface="微软雅黑" panose="020B0503020204020204" pitchFamily="34" charset="-122"/>
                <a:sym typeface="+mn-ea"/>
              </a:rPr>
              <a:t>。 </a:t>
            </a:r>
            <a:endParaRPr lang="zh-CN" altLang="en-US" dirty="0">
              <a:solidFill>
                <a:srgbClr val="0000FF"/>
              </a:solidFill>
              <a:latin typeface="微软雅黑" panose="020B0503020204020204" pitchFamily="34" charset="-122"/>
              <a:ea typeface="微软雅黑" panose="020B0503020204020204" pitchFamily="34" charset="-122"/>
              <a:sym typeface="+mn-ea"/>
            </a:endParaRPr>
          </a:p>
          <a:p>
            <a:pPr marL="0" lvl="1" indent="0">
              <a:lnSpc>
                <a:spcPts val="2900"/>
              </a:lnSpc>
              <a:buClr>
                <a:srgbClr val="0070C0"/>
              </a:buClr>
              <a:buFont typeface="Wingdings" panose="05000000000000000000" pitchFamily="2" charset="2"/>
              <a:buNone/>
            </a:pPr>
            <a:r>
              <a:rPr lang="zh-CN" altLang="en-US" dirty="0">
                <a:effectLst/>
                <a:cs typeface="微软雅黑" panose="020B0503020204020204" pitchFamily="34" charset="-122"/>
                <a:sym typeface="+mn-ea"/>
              </a:rPr>
              <a:t>包转发率</a:t>
            </a:r>
            <a:r>
              <a:rPr lang="en-US" altLang="zh-CN" dirty="0">
                <a:effectLst/>
                <a:cs typeface="微软雅黑" panose="020B0503020204020204" pitchFamily="34" charset="-122"/>
                <a:sym typeface="+mn-ea"/>
              </a:rPr>
              <a:t>pps</a:t>
            </a:r>
            <a:r>
              <a:rPr lang="zh-CN" altLang="en-US" dirty="0">
                <a:effectLst/>
                <a:cs typeface="微软雅黑" panose="020B0503020204020204" pitchFamily="34" charset="-122"/>
                <a:sym typeface="+mn-ea"/>
              </a:rPr>
              <a:t>标志了交换机转发数据包能力的大小</a:t>
            </a:r>
            <a:endParaRPr lang="zh-CN" altLang="en-US" dirty="0">
              <a:effectLst/>
              <a:cs typeface="微软雅黑" panose="020B0503020204020204" pitchFamily="34" charset="-122"/>
              <a:sym typeface="+mn-ea"/>
            </a:endParaRPr>
          </a:p>
          <a:p>
            <a:pPr marL="0" lvl="1" indent="0">
              <a:lnSpc>
                <a:spcPts val="2900"/>
              </a:lnSpc>
              <a:buClr>
                <a:srgbClr val="0070C0"/>
              </a:buClr>
              <a:buFont typeface="Wingdings" panose="05000000000000000000" pitchFamily="2" charset="2"/>
              <a:buNone/>
            </a:pPr>
            <a:r>
              <a:rPr lang="zh-CN" altLang="en-US" dirty="0">
                <a:effectLst/>
                <a:cs typeface="微软雅黑" panose="020B0503020204020204" pitchFamily="34" charset="-122"/>
                <a:sym typeface="+mn-ea"/>
              </a:rPr>
              <a:t>包转发率，以能够处理最小包长来衡量，对于以太网最小包为64byte，加上帧开销20byte。</a:t>
            </a:r>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R="0" lvl="0" indent="0" algn="just" defTabSz="914400" rtl="0" eaLnBrk="1" fontAlgn="base" latinLnBrk="0" hangingPunct="1">
              <a:lnSpc>
                <a:spcPct val="110000"/>
              </a:lnSpc>
              <a:spcBef>
                <a:spcPts val="20"/>
              </a:spcBef>
              <a:spcAft>
                <a:spcPts val="0"/>
              </a:spcAft>
              <a:buClr>
                <a:schemeClr val="bg2"/>
              </a:buClr>
              <a:buSzPct val="75000"/>
              <a:buFont typeface="Wingdings" panose="05000000000000000000" pitchFamily="2" charset="2"/>
              <a:buNone/>
              <a:defRPr/>
            </a:pPr>
            <a:endParaRPr lang="en-US"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290830" lvl="1" indent="0">
              <a:lnSpc>
                <a:spcPts val="3300"/>
              </a:lnSpc>
              <a:buClr>
                <a:srgbClr val="7030A0"/>
              </a:buClr>
              <a:buNone/>
            </a:pPr>
            <a:r>
              <a:rPr lang="zh-CN" altLang="en-US" sz="1200" dirty="0">
                <a:solidFill>
                  <a:srgbClr val="0000FF"/>
                </a:solidFill>
                <a:latin typeface="微软雅黑" panose="020B0503020204020204" pitchFamily="34" charset="-122"/>
                <a:ea typeface="微软雅黑" panose="020B0503020204020204" pitchFamily="34" charset="-122"/>
                <a:sym typeface="+mn-ea"/>
              </a:rPr>
              <a:t>发送时延与传播时延</a:t>
            </a:r>
            <a:r>
              <a:rPr lang="zh-CN" altLang="zh-CN" sz="1200" dirty="0">
                <a:solidFill>
                  <a:srgbClr val="0000FF"/>
                </a:solidFill>
                <a:latin typeface="微软雅黑" panose="020B0503020204020204" pitchFamily="34" charset="-122"/>
                <a:ea typeface="微软雅黑" panose="020B0503020204020204" pitchFamily="34" charset="-122"/>
                <a:sym typeface="+mn-ea"/>
              </a:rPr>
              <a:t>有本质上的不同</a:t>
            </a:r>
            <a:r>
              <a:rPr lang="zh-CN" altLang="en-US" sz="1200" dirty="0">
                <a:solidFill>
                  <a:srgbClr val="0000FF"/>
                </a:solidFill>
                <a:latin typeface="微软雅黑" panose="020B0503020204020204" pitchFamily="34" charset="-122"/>
                <a:ea typeface="微软雅黑" panose="020B0503020204020204" pitchFamily="34" charset="-122"/>
                <a:sym typeface="+mn-ea"/>
              </a:rPr>
              <a:t>。</a:t>
            </a:r>
            <a:endParaRPr lang="en-US" altLang="zh-CN" sz="1200" dirty="0">
              <a:solidFill>
                <a:srgbClr val="0000FF"/>
              </a:solidFill>
              <a:latin typeface="微软雅黑" panose="020B0503020204020204" pitchFamily="34" charset="-122"/>
              <a:ea typeface="微软雅黑" panose="020B0503020204020204" pitchFamily="34" charset="-122"/>
            </a:endParaRPr>
          </a:p>
          <a:p>
            <a:pPr marL="290830" lvl="1" indent="0">
              <a:lnSpc>
                <a:spcPts val="3300"/>
              </a:lnSpc>
              <a:buClr>
                <a:srgbClr val="7030A0"/>
              </a:buClr>
              <a:buNone/>
            </a:pPr>
            <a:r>
              <a:rPr lang="zh-CN" altLang="en-US" sz="1200" dirty="0">
                <a:latin typeface="微软雅黑" panose="020B0503020204020204" pitchFamily="34" charset="-122"/>
                <a:ea typeface="微软雅黑" panose="020B0503020204020204" pitchFamily="34" charset="-122"/>
                <a:sym typeface="+mn-ea"/>
              </a:rPr>
              <a:t>信号</a:t>
            </a:r>
            <a:r>
              <a:rPr lang="zh-CN" altLang="en-US" sz="1200" dirty="0">
                <a:solidFill>
                  <a:srgbClr val="0000FF"/>
                </a:solidFill>
                <a:latin typeface="微软雅黑" panose="020B0503020204020204" pitchFamily="34" charset="-122"/>
                <a:ea typeface="微软雅黑" panose="020B0503020204020204" pitchFamily="34" charset="-122"/>
                <a:sym typeface="+mn-ea"/>
              </a:rPr>
              <a:t>发送速率</a:t>
            </a:r>
            <a:r>
              <a:rPr lang="zh-CN" altLang="en-US" sz="1200" dirty="0">
                <a:latin typeface="微软雅黑" panose="020B0503020204020204" pitchFamily="34" charset="-122"/>
                <a:ea typeface="微软雅黑" panose="020B0503020204020204" pitchFamily="34" charset="-122"/>
                <a:sym typeface="+mn-ea"/>
              </a:rPr>
              <a:t>和信号在信道上的</a:t>
            </a:r>
            <a:r>
              <a:rPr lang="zh-CN" altLang="en-US" sz="1200" dirty="0">
                <a:solidFill>
                  <a:srgbClr val="0000FF"/>
                </a:solidFill>
                <a:latin typeface="微软雅黑" panose="020B0503020204020204" pitchFamily="34" charset="-122"/>
                <a:ea typeface="微软雅黑" panose="020B0503020204020204" pitchFamily="34" charset="-122"/>
                <a:sym typeface="+mn-ea"/>
              </a:rPr>
              <a:t>传播速率</a:t>
            </a:r>
            <a:r>
              <a:rPr lang="zh-CN" altLang="en-US" sz="1200" dirty="0">
                <a:latin typeface="微软雅黑" panose="020B0503020204020204" pitchFamily="34" charset="-122"/>
                <a:ea typeface="微软雅黑" panose="020B0503020204020204" pitchFamily="34" charset="-122"/>
                <a:sym typeface="+mn-ea"/>
              </a:rPr>
              <a:t>是</a:t>
            </a:r>
            <a:r>
              <a:rPr lang="zh-CN" altLang="en-US" sz="1200" dirty="0">
                <a:solidFill>
                  <a:srgbClr val="0000FF"/>
                </a:solidFill>
                <a:latin typeface="微软雅黑" panose="020B0503020204020204" pitchFamily="34" charset="-122"/>
                <a:ea typeface="微软雅黑" panose="020B0503020204020204" pitchFamily="34" charset="-122"/>
                <a:sym typeface="+mn-ea"/>
              </a:rPr>
              <a:t>完全不同</a:t>
            </a:r>
            <a:r>
              <a:rPr lang="zh-CN" altLang="en-US" sz="1200" dirty="0">
                <a:latin typeface="微软雅黑" panose="020B0503020204020204" pitchFamily="34" charset="-122"/>
                <a:ea typeface="微软雅黑" panose="020B0503020204020204" pitchFamily="34" charset="-122"/>
                <a:sym typeface="+mn-ea"/>
              </a:rPr>
              <a:t>的概念。</a:t>
            </a:r>
            <a:endParaRPr lang="zh-CN" altLang="en-US" sz="1200" dirty="0">
              <a:latin typeface="微软雅黑" panose="020B0503020204020204" pitchFamily="34" charset="-122"/>
              <a:ea typeface="微软雅黑" panose="020B0503020204020204" pitchFamily="34" charset="-122"/>
              <a:sym typeface="+mn-ea"/>
            </a:endParaRPr>
          </a:p>
          <a:p>
            <a:pPr marL="290830" lvl="1" indent="0">
              <a:lnSpc>
                <a:spcPts val="3300"/>
              </a:lnSpc>
              <a:buClr>
                <a:srgbClr val="7030A0"/>
              </a:buClr>
              <a:buNone/>
            </a:pPr>
            <a:r>
              <a:rPr lang="zh-CN" altLang="en-US" sz="1600" b="1" dirty="0">
                <a:latin typeface="微软雅黑" panose="020B0503020204020204" pitchFamily="34" charset="-122"/>
                <a:ea typeface="微软雅黑" panose="020B0503020204020204" pitchFamily="34" charset="-122"/>
                <a:sym typeface="+mn-ea"/>
              </a:rPr>
              <a:t> </a:t>
            </a:r>
            <a:endParaRPr lang="zh-CN" altLang="en-US" sz="1600" dirty="0">
              <a:latin typeface="微软雅黑" panose="020B0503020204020204" pitchFamily="34" charset="-122"/>
              <a:ea typeface="微软雅黑" panose="020B0503020204020204" pitchFamily="34" charset="-122"/>
              <a:sym typeface="+mn-ea"/>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R="0" lvl="0" indent="0" algn="just" defTabSz="914400" rtl="0" eaLnBrk="1" fontAlgn="base" latinLnBrk="0" hangingPunct="1">
              <a:lnSpc>
                <a:spcPct val="120000"/>
              </a:lnSpc>
              <a:spcBef>
                <a:spcPts val="20"/>
              </a:spcBef>
              <a:spcAft>
                <a:spcPts val="0"/>
              </a:spcAft>
              <a:buClr>
                <a:schemeClr val="bg2"/>
              </a:buClr>
              <a:buSzPct val="75000"/>
              <a:buFont typeface="Wingdings" panose="05000000000000000000" pitchFamily="2" charset="2"/>
              <a:buNone/>
              <a:defRPr/>
            </a:pPr>
            <a:r>
              <a:rPr lang="zh-CN" altLang="en-US" kern="0" noProof="0" dirty="0">
                <a:ln>
                  <a:noFill/>
                </a:ln>
                <a:effectLst/>
                <a:uLnTx/>
                <a:uFillTx/>
                <a:latin typeface="微软雅黑" panose="020B0503020204020204" pitchFamily="34" charset="-122"/>
                <a:ea typeface="微软雅黑" panose="020B0503020204020204" pitchFamily="34" charset="-122"/>
                <a:sym typeface="+mn-ea"/>
              </a:rPr>
              <a:t> 在Internet中，往返时延还</a:t>
            </a:r>
            <a:r>
              <a:rPr lang="zh-CN" altLang="en-US" kern="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包括各中间结点的处理时延、排队时延以及转发数据时的发送时延</a:t>
            </a:r>
            <a:r>
              <a:rPr lang="zh-CN" altLang="en-US" kern="0" noProof="0" dirty="0">
                <a:ln>
                  <a:noFill/>
                </a:ln>
                <a:effectLst/>
                <a:uLnTx/>
                <a:uFillTx/>
                <a:latin typeface="微软雅黑" panose="020B0503020204020204" pitchFamily="34" charset="-122"/>
                <a:ea typeface="微软雅黑" panose="020B0503020204020204" pitchFamily="34" charset="-122"/>
                <a:sym typeface="+mn-ea"/>
              </a:rPr>
              <a:t>。</a:t>
            </a:r>
            <a:endParaRPr kumimoji="0" lang="zh-CN" altLang="en-US"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主机无法控制已经发出去的这些</a:t>
            </a:r>
            <a:r>
              <a:rPr lang="en-US" altLang="zh-CN" dirty="0"/>
              <a:t>bit</a:t>
            </a:r>
            <a:r>
              <a:rPr lang="zh-CN" altLang="en-US" dirty="0"/>
              <a:t>。</a:t>
            </a:r>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这里对照图说明吞吐量、有效吞吐量、丢包率、信道利用率、网络利用率的含义。</a:t>
            </a:r>
            <a:endParaRPr lang="zh-CN" altLang="en-US" dirty="0"/>
          </a:p>
          <a:p>
            <a:endParaRPr lang="zh-CN" altLang="en-US" dirty="0"/>
          </a:p>
          <a:p>
            <a:r>
              <a:rPr lang="zh-CN" altLang="en-US" dirty="0"/>
              <a:t>这里要明确吞吐量与</a:t>
            </a:r>
            <a:r>
              <a:rPr lang="zh-CN" altLang="en-US" kern="0" noProof="0" dirty="0">
                <a:ln>
                  <a:noFill/>
                </a:ln>
                <a:effectLst/>
                <a:uLnTx/>
                <a:uFillTx/>
                <a:latin typeface="微软雅黑" panose="020B0503020204020204" pitchFamily="34" charset="-122"/>
                <a:ea typeface="微软雅黑" panose="020B0503020204020204" pitchFamily="34" charset="-122"/>
                <a:sym typeface="+mn-ea"/>
              </a:rPr>
              <a:t>有效吞吐量的区别，有效吞吐量(goodput)</a:t>
            </a:r>
            <a:r>
              <a:rPr lang="zh-CN" altLang="en-US" dirty="0"/>
              <a:t>不包括协议开销和数据包重传数据。</a:t>
            </a:r>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没有网络安全就没有国家安全</a:t>
            </a:r>
            <a:r>
              <a:rPr lang="en-US" altLang="zh-CN" sz="1200" b="0" i="0" kern="1200" dirty="0">
                <a:solidFill>
                  <a:schemeClr val="tx1"/>
                </a:solidFill>
                <a:effectLst/>
                <a:latin typeface="+mn-lt"/>
                <a:ea typeface="+mn-ea"/>
                <a:cs typeface="+mn-cs"/>
              </a:rPr>
              <a:t>……2014</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27</a:t>
            </a:r>
            <a:r>
              <a:rPr lang="zh-CN" altLang="en-US" sz="1200" b="0" i="0" kern="1200" dirty="0">
                <a:solidFill>
                  <a:schemeClr val="tx1"/>
                </a:solidFill>
                <a:effectLst/>
                <a:latin typeface="+mn-lt"/>
                <a:ea typeface="+mn-ea"/>
                <a:cs typeface="+mn-cs"/>
              </a:rPr>
              <a:t>日</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中央网络安全与信息化领导小组正式成立，习近平担任组长。在第一次会议上，提出“网络强国”战略。会议指出</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网络安全和信息化是事关国家安全和发展、事关广大人民群众工作生活重大战略问题</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要从国际国内大势出发</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总体布局</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统筹各方</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创新发展</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努力把我国建成网络强国。</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网络空间安全（</a:t>
            </a:r>
            <a:r>
              <a:rPr lang="en-US" altLang="zh-CN" sz="1200" b="0" i="0" kern="1200" dirty="0">
                <a:solidFill>
                  <a:schemeClr val="tx1"/>
                </a:solidFill>
                <a:effectLst/>
                <a:latin typeface="+mn-lt"/>
                <a:ea typeface="+mn-ea"/>
                <a:cs typeface="+mn-cs"/>
              </a:rPr>
              <a:t>Cyberspace Security</a:t>
            </a:r>
            <a:r>
              <a:rPr lang="zh-CN" altLang="en-US" sz="1200" b="0" i="0" kern="1200" dirty="0">
                <a:solidFill>
                  <a:schemeClr val="tx1"/>
                </a:solidFill>
                <a:effectLst/>
                <a:latin typeface="+mn-lt"/>
                <a:ea typeface="+mn-ea"/>
                <a:cs typeface="+mn-cs"/>
              </a:rPr>
              <a:t>）是针对网络空间中的信息在产生、传输、存储、处理等环节中所面临的威胁和防御措施</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以及网络和系统本身的安全和防护机制。不仅包括传统信息安全所研究的信息的保密性、完整性和可用性，还包括构成网络空间基础设施的安全和可信。需要明确信息安全、网络安全、网络空间安全概念之异同，三者均属于非传统安全，均聚焦于信息安全问题。网络安全及网络空间的核心是信息安全，只是出发点和侧重点有所差别。</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熊猫烧香是一种蠕虫病毒的变种，经过多次变种而来，由于中毒电脑的可执行文件会出现“熊猫烧香”图案，所以也被称为 “熊猫烧香”病毒。但原病毒只会对</a:t>
            </a:r>
            <a:r>
              <a:rPr lang="en-US" altLang="zh-CN" dirty="0"/>
              <a:t>exe</a:t>
            </a:r>
            <a:r>
              <a:rPr lang="zh-CN" altLang="en-US" dirty="0"/>
              <a:t>文件的图标进行替换，并不会对系统本身进行破坏。而大多数是中等病毒变种，用户电脑中毒后可能会出现蓝屏、频繁重启以及系统硬盘中数据文件被破坏等现象。同时，该病毒的某些变种可以通过局域网进行传播，进而感染局域网内所有计算机系统，最终导致企业局域网瘫痪，无法正常使用，它能感染系统中</a:t>
            </a:r>
            <a:r>
              <a:rPr lang="en-US" altLang="zh-CN" dirty="0"/>
              <a:t>exe</a:t>
            </a:r>
            <a:r>
              <a:rPr lang="zh-CN" altLang="en-US" dirty="0"/>
              <a:t>，</a:t>
            </a:r>
            <a:r>
              <a:rPr lang="en-US" altLang="zh-CN" dirty="0"/>
              <a:t>com</a:t>
            </a:r>
            <a:r>
              <a:rPr lang="zh-CN" altLang="en-US" dirty="0"/>
              <a:t>，</a:t>
            </a:r>
            <a:r>
              <a:rPr lang="en-US" altLang="zh-CN" dirty="0" err="1"/>
              <a:t>pif</a:t>
            </a:r>
            <a:r>
              <a:rPr lang="zh-CN" altLang="en-US" dirty="0"/>
              <a:t>，</a:t>
            </a:r>
            <a:r>
              <a:rPr lang="en-US" altLang="zh-CN" dirty="0" err="1"/>
              <a:t>src</a:t>
            </a:r>
            <a:r>
              <a:rPr lang="zh-CN" altLang="en-US" dirty="0"/>
              <a:t>，</a:t>
            </a:r>
            <a:r>
              <a:rPr lang="en-US" altLang="zh-CN" dirty="0"/>
              <a:t>html</a:t>
            </a:r>
            <a:r>
              <a:rPr lang="zh-CN" altLang="en-US" dirty="0"/>
              <a:t>，</a:t>
            </a:r>
            <a:r>
              <a:rPr lang="en-US" altLang="zh-CN" dirty="0"/>
              <a:t>asp</a:t>
            </a:r>
            <a:r>
              <a:rPr lang="zh-CN" altLang="en-US" dirty="0"/>
              <a:t>等文件，它还能终止大量的反病毒软件进程并且会删除扩展名为</a:t>
            </a:r>
            <a:r>
              <a:rPr lang="en-US" altLang="zh-CN" dirty="0" err="1"/>
              <a:t>gho</a:t>
            </a:r>
            <a:r>
              <a:rPr lang="zh-CN" altLang="en-US" dirty="0"/>
              <a:t>的备份文件。被感染的用户系统中所有</a:t>
            </a:r>
            <a:r>
              <a:rPr lang="en-US" altLang="zh-CN" dirty="0"/>
              <a:t>.exe</a:t>
            </a:r>
            <a:r>
              <a:rPr lang="zh-CN" altLang="en-US" dirty="0"/>
              <a:t>可执行文件全部被改成熊猫举着三根香的模样。</a:t>
            </a:r>
            <a:endParaRPr lang="zh-CN" altLang="en-US" dirty="0"/>
          </a:p>
          <a:p>
            <a:r>
              <a:rPr lang="zh-CN" altLang="en-US" dirty="0"/>
              <a:t>除了通过网站带毒感染用户之外，此病毒还会在局域网中传播，在极短时间之内就可以感染几千台计算机，严重时可以导致网络瘫痪。中毒电脑上会出现“熊猫烧香”图案，所以也被称为“熊猫烧香”病毒。中毒电脑会出现蓝屏、频繁重启以及系统硬盘中数据文件被破坏等现象。</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dirty="0"/>
              <a:t>这边可以让学生边看动画，边给学生介绍什么是病毒，什么是蠕虫，然后引出</a:t>
            </a:r>
            <a:r>
              <a:rPr lang="en-US" altLang="zh-CN" sz="1400" dirty="0"/>
              <a:t>WannaCry</a:t>
            </a:r>
            <a:r>
              <a:rPr lang="zh-CN" altLang="en-US" sz="1400" dirty="0"/>
              <a:t>病毒当时造成的危害。</a:t>
            </a:r>
            <a:endParaRPr lang="zh-CN" altLang="en-US" sz="1400"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WannaCry（又叫Wanna Decryptor），一种“蠕虫式”的勒索病毒软件，大小3.3MB，由不法分子利用NSA（National Security Agency，美国国家安全局）泄露的危险漏洞“EternalBlue”（永恒之蓝）进行传播 。WannaCry勒索病毒全球大爆发，至少150个国家、30万名用户中招，造成损失达80亿美元，已经影响到金融，能源，医疗等众多行业，造成严重的危机管理问题。中国部分Windows操作系统用户遭受感染，校园网用户首当其冲，受害严重，大量实验室数据和毕业设计被锁定加密。部分大型企业的应用系统和数据库文件被加密后，无法正常工作，影响巨大。</a:t>
            </a:r>
            <a:endParaRPr lang="zh-CN" altLang="en-US" dirty="0"/>
          </a:p>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DDoS攻击是Distributed Denial of Service的缩写，即不法黑客组织通过控制服务器等资源，发动对包括国家骨干网络、重要网络设施、政企或个人网站在内的互联网上任一目标的攻击，致使目标服务器断网，最终停止提供服务。</a:t>
            </a:r>
            <a:endParaRPr lang="zh-CN" altLang="en-US" dirty="0"/>
          </a:p>
          <a:p>
            <a:r>
              <a:rPr lang="zh-CN" altLang="en-US" dirty="0"/>
              <a:t>打个比方，两家相互竞争的商铺，一家为了抢生意，雇佣大批人挤在对方商铺，赖着不走，让真正的顾客无法进入，或者和店员东拉西扯，妨碍正常工作，让对手错过真正的顾客，造成损失。DDoS攻击利用的就是这种思路。</a:t>
            </a:r>
            <a:endParaRPr lang="zh-CN" alt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2020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日，包括Roku、Flickr、Adobe Spark、Autodesk、Glassdoor、Affirm、纽约大都会交通管理局地铁状态系统等互联网服务纷纷发布服务出现故障的消息，追根朔源，导致这些服务故障的原因是它们所使用的亚马逊云服务AWS出现故障。由于 AWS DNS 服务器受到分布式拒绝服务（DDoS）攻击的阻碍，攻击者试图用垃圾网络流量淹没系统，导致服务无法访问。</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撞库是黑客通过收集互联网已泄露的用户和密码信息，生成对应的字典表，尝试批量登陆其他网站后，得到一系列可以登录的用户。很多用户在不同网站使用的是相同的帐号密码，因此黑客可以通过获取用户在</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网站的账户从而尝试登录</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网址，这就可以理解为撞库攻击。</a:t>
            </a: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baike.baidu.com</a:t>
            </a:r>
            <a:r>
              <a:rPr lang="en-US" altLang="zh-CN" sz="1200" b="0" i="0" kern="1200" dirty="0">
                <a:solidFill>
                  <a:schemeClr val="tx1"/>
                </a:solidFill>
                <a:effectLst/>
                <a:latin typeface="+mn-lt"/>
                <a:ea typeface="+mn-ea"/>
                <a:cs typeface="+mn-cs"/>
              </a:rPr>
              <a:t>/item/%E6%92%9E%E5%BA%93</a:t>
            </a: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”拖库“是指黑客入侵有价值的网络站点，把注册用户的资料数据库全部盗走的行为，因为谐音，也经常被称作“脱裤”，</a:t>
            </a:r>
            <a:r>
              <a:rPr lang="en-US" altLang="zh-CN" sz="1200" b="0" i="0" kern="1200" dirty="0">
                <a:solidFill>
                  <a:schemeClr val="tx1"/>
                </a:solidFill>
                <a:effectLst/>
                <a:latin typeface="+mn-lt"/>
                <a:ea typeface="+mn-ea"/>
                <a:cs typeface="+mn-cs"/>
              </a:rPr>
              <a:t>360</a:t>
            </a:r>
            <a:r>
              <a:rPr lang="zh-CN" altLang="en-US" sz="1200" b="0" i="0" kern="1200" dirty="0">
                <a:solidFill>
                  <a:schemeClr val="tx1"/>
                </a:solidFill>
                <a:effectLst/>
                <a:latin typeface="+mn-lt"/>
                <a:ea typeface="+mn-ea"/>
                <a:cs typeface="+mn-cs"/>
              </a:rPr>
              <a:t>的库带计划，奖励提交漏洞的白帽子，也是因此而得名。在取得大量的用户数据之后，黑客会通过一系列的技术手段和黑色产业链将有价值的用户数据变现，这通常也被称作“洗库”。最后黑客将得到的数据在其它网站上进行尝试登陆，叫做”撞库“，因为很多用户喜欢使用统一的用户名密码，”撞库“也可以使黑客收获颇丰。</a:t>
            </a: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今年</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月，字节跳动内审风控部在工作中接到风控平台预警，经调查人员初步排查后发现，公司旗下抖音</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被黑产人员利用非法代理软件模拟真实用户，使用千万级外部账号密码进行恶意撞库攻击，试图盗取用户抖音账号。公司安全系统实时监测到异常后，为防止黑客进一步实施不法行为，字节跳动安全中心启动应急响应预案，实时对所有疑似被盗账号设置了短信二次登录验证，及时保护账号安全。由于监测发现黑客攻击及时，未造成平台用户的实际损失。</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经内审风控部及安全团队与警方配合，对大量可疑刷量数据进行信息图像化比对，通过分析甄别千万量级撞库代理</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溯源取证黑产犯罪证据链。据了解，该黑产分子不仅控制了多个当下热门网络平台的大量账号，还通过在网上承接刷榜刷量等业务非法牟利，对网络平台安全生态造成威胁。同时其还编写了大量撞库代码，对目前网络上较热门的网络平台进行撞库，通过不法手段，短短两个月累计获利上百万元。该犯罪嫌疑人已被海淀警方刑事拘留，案件正在进一步侦办中。</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包拦截为 伪造身份 提供了便利</a:t>
            </a:r>
            <a:endParaRPr kumimoji="0" lang="zh-CN" altLang="en-US"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“棱镜”窃听计划开始于</a:t>
            </a:r>
            <a:r>
              <a:rPr lang="en-US" altLang="zh-CN" sz="1200" b="0" i="0" kern="1200" dirty="0">
                <a:solidFill>
                  <a:schemeClr val="tx1"/>
                </a:solidFill>
                <a:effectLst/>
                <a:latin typeface="+mn-lt"/>
                <a:ea typeface="+mn-ea"/>
                <a:cs typeface="+mn-cs"/>
              </a:rPr>
              <a:t>2007</a:t>
            </a:r>
            <a:r>
              <a:rPr lang="zh-CN" altLang="en-US" sz="1200" b="0" i="0" kern="1200" dirty="0">
                <a:solidFill>
                  <a:schemeClr val="tx1"/>
                </a:solidFill>
                <a:effectLst/>
                <a:latin typeface="+mn-lt"/>
                <a:ea typeface="+mn-ea"/>
                <a:cs typeface="+mn-cs"/>
              </a:rPr>
              <a:t>年的小布什时期，美国情报机构一直在九家美国互联网公司中进行数据挖掘工作，从音视频、图片、邮件、文档以及连接信息中分析个人的联系方式与行动。监控的类型有</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类：信息电邮，即时消息，视频，照片，存储数据，语音聊天，文件传输，视频会议，登录时间，社交网络资料的细节，其中包括两个秘密监视项目：一、监视、监听民众电话的通话记录</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二、监视民众的网络活动。</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棱镜门事件，通过后门程序，进入了微软、雅虎、谷歌、</a:t>
            </a:r>
            <a:r>
              <a:rPr lang="en-US" altLang="zh-CN" sz="1200" b="0" i="0" kern="1200" dirty="0">
                <a:solidFill>
                  <a:schemeClr val="tx1"/>
                </a:solidFill>
                <a:effectLst/>
                <a:latin typeface="+mn-lt"/>
                <a:ea typeface="+mn-ea"/>
                <a:cs typeface="+mn-cs"/>
              </a:rPr>
              <a:t>FB</a:t>
            </a:r>
            <a:r>
              <a:rPr lang="zh-CN" altLang="en-US" sz="1200" b="0" i="0" kern="1200" dirty="0">
                <a:solidFill>
                  <a:schemeClr val="tx1"/>
                </a:solidFill>
                <a:effectLst/>
                <a:latin typeface="+mn-lt"/>
                <a:ea typeface="+mn-ea"/>
                <a:cs typeface="+mn-cs"/>
              </a:rPr>
              <a:t>等主流科技公司的服务器。</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毫无疑问，棱镜门是一个提醒，美国强大的网络设备企业其实是悬在中国国家安全头顶的“达摩利斯之剑”。这几年年美国封杀华为、中兴之时，就不断有安全专家呼吁政府应重视我国的网络安全问题。</a:t>
            </a:r>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红客</a:t>
            </a:r>
            <a:r>
              <a:rPr kumimoji="1" lang="en-US" altLang="zh-CN" dirty="0"/>
              <a:t>(Honker(A person or thing that honks))</a:t>
            </a:r>
            <a:r>
              <a:rPr kumimoji="1" lang="zh-CN" altLang="en-US" dirty="0"/>
              <a:t>是指维护国家利益，不利用网络技术入侵自己国家电脑，而是“维护正义，为自己国家争光的黑客”。</a:t>
            </a:r>
            <a:endParaRPr kumimoji="1" lang="zh-CN" altLang="en-US" dirty="0"/>
          </a:p>
          <a:p>
            <a:r>
              <a:rPr kumimoji="1" lang="zh-CN" altLang="en-US" dirty="0"/>
              <a:t>“红客”，红客是一种精神，它是一种热爱祖国、坚持正义、开拓进取的精神。所以只要具备这种精神并热爱着计算机技术的都可称为红客。红客通常会利用自己掌握的技术去维护国内网络的安全，并对外来的进攻进行还击。</a:t>
            </a:r>
            <a:endParaRPr kumimoji="1" lang="zh-CN" altLang="en-US" dirty="0"/>
          </a:p>
          <a:p>
            <a:r>
              <a:rPr lang="zh-CN" altLang="en-US" sz="1200" b="0" i="0" kern="1200" dirty="0">
                <a:solidFill>
                  <a:schemeClr val="tx1"/>
                </a:solidFill>
                <a:effectLst/>
                <a:latin typeface="+mn-lt"/>
                <a:ea typeface="+mn-ea"/>
                <a:cs typeface="+mn-cs"/>
              </a:rPr>
              <a:t>黑客：利用公共通讯网路，如互联网和电话系统，在未经许可的情况下，载入对方系统。</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ea typeface="微软雅黑" panose="020B0503020204020204" pitchFamily="34" charset="-122"/>
                <a:sym typeface="+mn-ea"/>
              </a:rPr>
              <a:t>这里，可以简单提及：</a:t>
            </a:r>
            <a:r>
              <a:rPr lang="en-US" altLang="zh-CN" dirty="0"/>
              <a:t>ISO 9000</a:t>
            </a:r>
            <a:r>
              <a:rPr lang="zh-CN" altLang="en-US" dirty="0"/>
              <a:t>质量管理体系、</a:t>
            </a:r>
            <a:r>
              <a:rPr lang="en-US" altLang="zh-CN" dirty="0"/>
              <a:t>CMM/CMMI</a:t>
            </a:r>
            <a:r>
              <a:rPr lang="zh-CN" altLang="en-US" dirty="0"/>
              <a:t>软件能力成熟度模型</a:t>
            </a:r>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注意：</a:t>
            </a:r>
            <a:endParaRPr lang="en-US" altLang="zh-CN" dirty="0"/>
          </a:p>
          <a:p>
            <a:r>
              <a:rPr lang="en-US" altLang="zh-CN" dirty="0"/>
              <a:t>IEEE</a:t>
            </a:r>
            <a:r>
              <a:rPr lang="zh-CN" altLang="en-US" dirty="0"/>
              <a:t>制定标准，而</a:t>
            </a:r>
            <a:r>
              <a:rPr lang="en-US" altLang="zh-CN" dirty="0"/>
              <a:t>WIFI</a:t>
            </a:r>
            <a:r>
              <a:rPr lang="zh-CN" altLang="en-US" dirty="0"/>
              <a:t>联盟则不制定标准，而是进行兼容性认证</a:t>
            </a:r>
            <a:endParaRPr lang="zh-CN" altLang="en-US" dirty="0"/>
          </a:p>
          <a:p>
            <a:r>
              <a:rPr lang="zh-CN" altLang="en-US" dirty="0"/>
              <a:t>（</a:t>
            </a:r>
            <a:r>
              <a:rPr lang="en-US" altLang="zh-CN" dirty="0"/>
              <a:t>1</a:t>
            </a:r>
            <a:r>
              <a:rPr lang="zh-CN" altLang="en-US" dirty="0"/>
              <a:t>）</a:t>
            </a:r>
            <a:r>
              <a:rPr lang="en-US" altLang="zh-CN" dirty="0"/>
              <a:t>IEEE</a:t>
            </a:r>
            <a:r>
              <a:rPr lang="zh-CN" altLang="en-US" dirty="0"/>
              <a:t>的期刊、会议可以简单介绍</a:t>
            </a:r>
            <a:endParaRPr lang="zh-CN" altLang="en-US" dirty="0"/>
          </a:p>
          <a:p>
            <a:r>
              <a:rPr lang="zh-CN" altLang="en-US" dirty="0"/>
              <a:t>（</a:t>
            </a:r>
            <a:r>
              <a:rPr lang="en-US" altLang="zh-CN" dirty="0"/>
              <a:t>2</a:t>
            </a:r>
            <a:r>
              <a:rPr lang="zh-CN" altLang="en-US" dirty="0"/>
              <a:t>）</a:t>
            </a:r>
            <a:r>
              <a:rPr lang="en-US" altLang="zh-CN" dirty="0"/>
              <a:t>IEEE 802.11</a:t>
            </a:r>
            <a:r>
              <a:rPr lang="zh-CN" altLang="en-US" dirty="0"/>
              <a:t>的新标准开始用</a:t>
            </a:r>
            <a:r>
              <a:rPr lang="en-US" altLang="zh-CN" dirty="0" err="1"/>
              <a:t>wifi</a:t>
            </a:r>
            <a:r>
              <a:rPr lang="en-US" altLang="zh-CN" dirty="0"/>
              <a:t> 5</a:t>
            </a:r>
            <a:r>
              <a:rPr lang="zh-CN" altLang="en-US" dirty="0"/>
              <a:t>、</a:t>
            </a:r>
            <a:r>
              <a:rPr lang="en-US" altLang="zh-CN" dirty="0" err="1"/>
              <a:t>wifi</a:t>
            </a:r>
            <a:r>
              <a:rPr lang="en-US" altLang="zh-CN" dirty="0"/>
              <a:t> 6</a:t>
            </a:r>
            <a:r>
              <a:rPr lang="zh-CN" altLang="en-US" dirty="0"/>
              <a:t>命名</a:t>
            </a:r>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ts val="3600"/>
              </a:lnSpc>
              <a:buClr>
                <a:srgbClr val="C00000"/>
              </a:buClr>
              <a:buFont typeface="Wingdings" panose="05000000000000000000" pitchFamily="2" charset="2"/>
              <a:buNone/>
            </a:pPr>
            <a:r>
              <a:rPr lang="zh-CN"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所有互联网标准都以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RFC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的形式在互联网上发表</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从</a:t>
            </a:r>
            <a:r>
              <a:rPr lang="en-US" altLang="zh-CN" dirty="0"/>
              <a:t>RFC</a:t>
            </a:r>
            <a:r>
              <a:rPr lang="zh-CN" altLang="en-US" dirty="0"/>
              <a:t>的名字看不出</a:t>
            </a:r>
            <a:r>
              <a:rPr lang="en-US" altLang="zh-CN" dirty="0"/>
              <a:t>RFC</a:t>
            </a:r>
            <a:r>
              <a:rPr lang="zh-CN" altLang="en-US" dirty="0"/>
              <a:t>是标准，但所有的互联网设备都遵循</a:t>
            </a:r>
            <a:r>
              <a:rPr lang="en-US" altLang="zh-CN" dirty="0"/>
              <a:t>RFC</a:t>
            </a:r>
            <a:r>
              <a:rPr lang="zh-CN" altLang="en-US" dirty="0"/>
              <a:t>才能实现互联互通，所以</a:t>
            </a:r>
            <a:r>
              <a:rPr lang="en-US" altLang="zh-CN" dirty="0"/>
              <a:t>RFC</a:t>
            </a:r>
            <a:r>
              <a:rPr lang="zh-CN" altLang="en-US" dirty="0"/>
              <a:t>是不自称为标准的事实标准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相比其他“标准”组织，制定的标准没有人使用或遵循，那将毫无节制。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我国是互联网大国，而非互联网强国，</a:t>
            </a:r>
            <a:r>
              <a:rPr lang="zh-CN" altLang="en-US" sz="1200" dirty="0">
                <a:solidFill>
                  <a:prstClr val="black"/>
                </a:solidFill>
                <a:latin typeface="微软雅黑" panose="020B0503020204020204" pitchFamily="34" charset="-122"/>
                <a:ea typeface="微软雅黑" panose="020B0503020204020204" pitchFamily="34" charset="-122"/>
              </a:rPr>
              <a:t>我国参与</a:t>
            </a:r>
            <a:r>
              <a:rPr lang="en-US" altLang="zh-CN" sz="1200" dirty="0">
                <a:solidFill>
                  <a:prstClr val="black"/>
                </a:solidFill>
                <a:latin typeface="微软雅黑" panose="020B0503020204020204" pitchFamily="34" charset="-122"/>
                <a:ea typeface="微软雅黑" panose="020B0503020204020204" pitchFamily="34" charset="-122"/>
              </a:rPr>
              <a:t>RFC</a:t>
            </a:r>
            <a:r>
              <a:rPr lang="zh-CN" altLang="en-US" sz="1200" dirty="0">
                <a:solidFill>
                  <a:prstClr val="black"/>
                </a:solidFill>
                <a:latin typeface="微软雅黑" panose="020B0503020204020204" pitchFamily="34" charset="-122"/>
                <a:ea typeface="微软雅黑" panose="020B0503020204020204" pitchFamily="34" charset="-122"/>
              </a:rPr>
              <a:t>的人数少，主导的</a:t>
            </a:r>
            <a:r>
              <a:rPr lang="en-US" altLang="zh-CN" sz="1200" dirty="0">
                <a:solidFill>
                  <a:prstClr val="black"/>
                </a:solidFill>
                <a:latin typeface="微软雅黑" panose="020B0503020204020204" pitchFamily="34" charset="-122"/>
                <a:ea typeface="微软雅黑" panose="020B0503020204020204" pitchFamily="34" charset="-122"/>
              </a:rPr>
              <a:t>RFC</a:t>
            </a:r>
            <a:r>
              <a:rPr lang="zh-CN" altLang="en-US" sz="1200" dirty="0">
                <a:solidFill>
                  <a:prstClr val="black"/>
                </a:solidFill>
                <a:latin typeface="微软雅黑" panose="020B0503020204020204" pitchFamily="34" charset="-122"/>
                <a:ea typeface="微软雅黑" panose="020B0503020204020204" pitchFamily="34" charset="-122"/>
              </a:rPr>
              <a:t>数量有限，</a:t>
            </a:r>
            <a:r>
              <a:rPr lang="en-US" altLang="zh-CN" sz="1200" dirty="0">
                <a:solidFill>
                  <a:prstClr val="black"/>
                </a:solidFill>
                <a:latin typeface="微软雅黑" panose="020B0503020204020204" pitchFamily="34" charset="-122"/>
                <a:ea typeface="微软雅黑" panose="020B0503020204020204" pitchFamily="34" charset="-122"/>
              </a:rPr>
              <a:t>IESG</a:t>
            </a:r>
            <a:r>
              <a:rPr lang="zh-CN" altLang="en-US" sz="1200" dirty="0">
                <a:solidFill>
                  <a:prstClr val="black"/>
                </a:solidFill>
                <a:latin typeface="微软雅黑" panose="020B0503020204020204" pitchFamily="34" charset="-122"/>
                <a:ea typeface="微软雅黑" panose="020B0503020204020204" pitchFamily="34" charset="-122"/>
              </a:rPr>
              <a:t>我国专家还没能进入</a:t>
            </a:r>
            <a:endParaRPr lang="en-US" altLang="zh-CN" sz="1200" dirty="0">
              <a:solidFill>
                <a:prstClr val="black"/>
              </a:solidFill>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2013年，清华大学李星教授（CERNET网络中心副主任）当选国际互联网标准组织（IETF）的体系架构委员会IAB的一员，这个互联网最权威的13人专家组织迎来的第一个来自中国大陆的委员。</a:t>
            </a:r>
            <a:endParaRPr lang="en-US" altLang="zh-CN" dirty="0"/>
          </a:p>
          <a:p>
            <a:r>
              <a:rPr lang="en-US" altLang="zh-CN" dirty="0"/>
              <a:t>RG</a:t>
            </a:r>
            <a:r>
              <a:rPr lang="zh-CN" altLang="en-US" dirty="0"/>
              <a:t>：</a:t>
            </a:r>
            <a:r>
              <a:rPr lang="en-US" altLang="zh-CN" dirty="0"/>
              <a:t>Research</a:t>
            </a:r>
            <a:r>
              <a:rPr lang="zh-CN" altLang="en-US" dirty="0"/>
              <a:t> </a:t>
            </a:r>
            <a:r>
              <a:rPr lang="en-US" altLang="zh-CN" dirty="0"/>
              <a:t>group</a:t>
            </a:r>
            <a:endParaRPr lang="en-US" altLang="zh-CN" dirty="0"/>
          </a:p>
          <a:p>
            <a:r>
              <a:rPr lang="en-US" altLang="zh-CN" dirty="0"/>
              <a:t>WG:</a:t>
            </a:r>
            <a:r>
              <a:rPr lang="zh-CN" altLang="en-US" dirty="0"/>
              <a:t> </a:t>
            </a:r>
            <a:r>
              <a:rPr lang="en-US" altLang="zh-CN" dirty="0"/>
              <a:t>Working</a:t>
            </a:r>
            <a:r>
              <a:rPr lang="zh-CN" altLang="en-US" dirty="0"/>
              <a:t> </a:t>
            </a:r>
            <a:r>
              <a:rPr lang="en-US" altLang="zh-CN" dirty="0"/>
              <a:t>Group</a:t>
            </a:r>
            <a:endParaRPr lang="en-US" altLang="zh-CN" dirty="0"/>
          </a:p>
          <a:p>
            <a:r>
              <a:rPr lang="zh-CN" altLang="en-US" dirty="0"/>
              <a:t>互联网研究指导小组</a:t>
            </a:r>
            <a:r>
              <a:rPr lang="en-US" altLang="zh-CN" dirty="0"/>
              <a:t>IRSG:</a:t>
            </a:r>
            <a:r>
              <a:rPr lang="zh-CN" altLang="en-US" dirty="0"/>
              <a:t> </a:t>
            </a:r>
            <a:r>
              <a:rPr lang="en-US" altLang="zh-CN" dirty="0"/>
              <a:t>Internet</a:t>
            </a:r>
            <a:r>
              <a:rPr lang="zh-CN" altLang="en-US" dirty="0"/>
              <a:t> </a:t>
            </a:r>
            <a:r>
              <a:rPr lang="en-US" altLang="zh-CN" dirty="0"/>
              <a:t>Research</a:t>
            </a:r>
            <a:r>
              <a:rPr lang="zh-CN" altLang="en-US" dirty="0"/>
              <a:t> </a:t>
            </a:r>
            <a:r>
              <a:rPr lang="en-US" altLang="zh-CN" dirty="0"/>
              <a:t>Steering</a:t>
            </a:r>
            <a:r>
              <a:rPr lang="zh-CN" altLang="en-US" dirty="0"/>
              <a:t> </a:t>
            </a:r>
            <a:r>
              <a:rPr lang="en-US" altLang="zh-CN" dirty="0"/>
              <a:t>Group</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互联网工程指导小组</a:t>
            </a:r>
            <a:r>
              <a:rPr lang="en-US" altLang="zh-CN" dirty="0"/>
              <a:t>IESG:</a:t>
            </a:r>
            <a:r>
              <a:rPr lang="zh-CN" altLang="en-US" dirty="0"/>
              <a:t>  </a:t>
            </a:r>
            <a:r>
              <a:rPr lang="en-US" altLang="zh-CN" dirty="0"/>
              <a:t>Internet</a:t>
            </a:r>
            <a:r>
              <a:rPr lang="zh-CN" altLang="en-US" dirty="0"/>
              <a:t> </a:t>
            </a:r>
            <a:r>
              <a:rPr lang="en-US" altLang="zh-CN" dirty="0"/>
              <a:t>Engineering</a:t>
            </a:r>
            <a:r>
              <a:rPr lang="zh-CN" altLang="en-US" dirty="0"/>
              <a:t> </a:t>
            </a:r>
            <a:r>
              <a:rPr lang="en-US" altLang="zh-CN" dirty="0"/>
              <a:t>Steering</a:t>
            </a:r>
            <a:r>
              <a:rPr lang="zh-CN" altLang="en-US" dirty="0"/>
              <a:t> </a:t>
            </a:r>
            <a:r>
              <a:rPr lang="en-US" altLang="zh-CN" dirty="0"/>
              <a:t>Group </a:t>
            </a:r>
            <a:r>
              <a:rPr lang="zh-CN" altLang="en-US" dirty="0"/>
              <a:t>（核心权利机构，负责审批</a:t>
            </a:r>
            <a:r>
              <a:rPr lang="en-US" altLang="zh-CN" dirty="0"/>
              <a:t>RFC</a:t>
            </a:r>
            <a:r>
              <a:rPr lang="zh-CN" altLang="en-US" dirty="0"/>
              <a:t>标准）</a:t>
            </a:r>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effectLst/>
                <a:latin typeface="Times New Roman" panose="02020603050405020304" pitchFamily="18" charset="0"/>
                <a:cs typeface="Times New Roman" panose="02020603050405020304" pitchFamily="18" charset="0"/>
                <a:sym typeface="+mn-ea"/>
              </a:rPr>
              <a:t>CCSA中国通信标准化协会</a:t>
            </a:r>
            <a:r>
              <a:rPr lang="zh-CN" altLang="en-US" dirty="0"/>
              <a:t>网站：www.ccsa.org.cn/</a:t>
            </a:r>
            <a:endParaRPr lang="zh-CN" altLang="en-US" dirty="0"/>
          </a:p>
          <a:p>
            <a:r>
              <a:rPr lang="zh-CN" altLang="en-US" dirty="0"/>
              <a:t>技术委员会</a:t>
            </a:r>
            <a:r>
              <a:rPr lang="en-US" altLang="zh-CN" dirty="0"/>
              <a:t>TC(Technical Committee)</a:t>
            </a:r>
            <a:r>
              <a:rPr lang="zh-CN" altLang="en-US" dirty="0"/>
              <a:t> 下设专门方向的工作组，进行标准的立项、讨论、完善、审核。</a:t>
            </a:r>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开源项目示例：</a:t>
            </a:r>
            <a:endParaRPr lang="zh-CN" altLang="en-US"/>
          </a:p>
          <a:p>
            <a:r>
              <a:rPr lang="zh-CN" altLang="en-US"/>
              <a:t>（</a:t>
            </a:r>
            <a:r>
              <a:rPr lang="en-US" altLang="zh-CN"/>
              <a:t>1</a:t>
            </a:r>
            <a:r>
              <a:rPr lang="zh-CN" altLang="en-US"/>
              <a:t>）</a:t>
            </a:r>
            <a:r>
              <a:rPr lang="en-US" altLang="zh-CN"/>
              <a:t>google </a:t>
            </a:r>
            <a:r>
              <a:rPr lang="zh-CN" altLang="en-US">
                <a:sym typeface="+mn-ea"/>
              </a:rPr>
              <a:t>QUIC</a:t>
            </a:r>
            <a:r>
              <a:rPr lang="zh-CN" altLang="en-US"/>
              <a:t>协议：Quick UDP Internet Connections protocol，由 Google 设计提出，目前由 IETF 工作组推动进展，其设计的目标是替代 TCP 成为 HTTP/3 的数据传输层协议（https://github.com/google/proto-quic ）</a:t>
            </a:r>
            <a:endParaRPr lang="zh-CN" altLang="en-US"/>
          </a:p>
          <a:p>
            <a:r>
              <a:rPr lang="zh-CN" altLang="en-US"/>
              <a:t>（</a:t>
            </a:r>
            <a:r>
              <a:rPr lang="en-US" altLang="zh-CN"/>
              <a:t>2</a:t>
            </a:r>
            <a:r>
              <a:rPr lang="zh-CN" altLang="en-US"/>
              <a:t>）WebRTC 是一项在浏览器内部进行实时视频和音频通信的技术，是谷歌于2010年以6820万美元收购VoIP软件开发商 Global IT Solutions 公司而获得一项技术，谷歌于2011年6月3日开源该项目（https://github.com/webrtc/）</a:t>
            </a:r>
            <a:endParaRPr lang="zh-CN" altLang="en-US"/>
          </a:p>
          <a:p>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dirty="0"/>
              <a:t>1957 </a:t>
            </a:r>
            <a:r>
              <a:rPr lang="zh-CN" altLang="en-US" sz="1400" dirty="0"/>
              <a:t>年，苏联发射第一颗人造地球卫星 </a:t>
            </a:r>
            <a:r>
              <a:rPr lang="en-US" altLang="zh-CN" sz="1400" dirty="0"/>
              <a:t>Sputnik</a:t>
            </a:r>
            <a:r>
              <a:rPr lang="zh-CN" altLang="en-US" sz="1400" dirty="0"/>
              <a:t>。受此事件刺激，</a:t>
            </a:r>
            <a:r>
              <a:rPr lang="en-US" altLang="zh-CN" sz="1400" dirty="0"/>
              <a:t>1958 </a:t>
            </a:r>
            <a:r>
              <a:rPr lang="zh-CN" altLang="en-US" sz="1400" dirty="0"/>
              <a:t>年美国总统 艾森豪威尔发起成立了美国国防部高级研究计划局（</a:t>
            </a:r>
            <a:r>
              <a:rPr lang="en-US" altLang="zh-CN" sz="1400" dirty="0"/>
              <a:t>ARPA</a:t>
            </a:r>
            <a:r>
              <a:rPr lang="zh-CN" altLang="en-US" sz="1400" dirty="0"/>
              <a:t>），以保证美国在技术和科学的领先地位。</a:t>
            </a:r>
            <a:r>
              <a:rPr lang="en-US" altLang="zh-CN" sz="1400" b="0" i="0" dirty="0">
                <a:solidFill>
                  <a:srgbClr val="202122"/>
                </a:solidFill>
                <a:effectLst/>
                <a:latin typeface="Arial" panose="020B0604020202020204" pitchFamily="34" charset="0"/>
              </a:rPr>
              <a:t>1967</a:t>
            </a:r>
            <a:r>
              <a:rPr lang="zh-CN" altLang="en-US" sz="1400" b="0" i="0" dirty="0">
                <a:solidFill>
                  <a:srgbClr val="202122"/>
                </a:solidFill>
                <a:effectLst/>
                <a:latin typeface="Arial" panose="020B0604020202020204" pitchFamily="34" charset="0"/>
              </a:rPr>
              <a:t>年，罗伯茨来到高级研究计划署</a:t>
            </a:r>
            <a:r>
              <a:rPr lang="en-US" altLang="zh-CN" sz="1400" b="0" i="0" dirty="0">
                <a:solidFill>
                  <a:srgbClr val="202122"/>
                </a:solidFill>
                <a:effectLst/>
                <a:latin typeface="Arial" panose="020B0604020202020204" pitchFamily="34" charset="0"/>
              </a:rPr>
              <a:t>ARPA</a:t>
            </a:r>
            <a:r>
              <a:rPr lang="zh-CN" altLang="en-US" sz="1400" b="0" i="0" dirty="0">
                <a:solidFill>
                  <a:srgbClr val="202122"/>
                </a:solidFill>
                <a:effectLst/>
                <a:latin typeface="Arial" panose="020B0604020202020204" pitchFamily="34" charset="0"/>
              </a:rPr>
              <a:t>，着手筹建“分布式网络”。</a:t>
            </a:r>
            <a:r>
              <a:rPr lang="en-US" altLang="zh-CN" sz="1400" b="0" i="0" dirty="0">
                <a:solidFill>
                  <a:srgbClr val="202122"/>
                </a:solidFill>
                <a:effectLst/>
                <a:latin typeface="Arial" panose="020B0604020202020204" pitchFamily="34" charset="0"/>
              </a:rPr>
              <a:t>1968</a:t>
            </a:r>
            <a:r>
              <a:rPr lang="zh-CN" altLang="en-US" sz="1400" b="0" i="0" dirty="0">
                <a:solidFill>
                  <a:srgbClr val="202122"/>
                </a:solidFill>
                <a:effectLst/>
                <a:latin typeface="Arial" panose="020B0604020202020204" pitchFamily="34" charset="0"/>
              </a:rPr>
              <a:t>年，罗伯茨提交研究报告</a:t>
            </a:r>
            <a:r>
              <a:rPr lang="en-US" altLang="zh-CN" sz="1400" b="0" i="0" dirty="0">
                <a:solidFill>
                  <a:srgbClr val="202122"/>
                </a:solidFill>
                <a:effectLst/>
                <a:latin typeface="Arial" panose="020B0604020202020204" pitchFamily="34" charset="0"/>
              </a:rPr>
              <a:t>《</a:t>
            </a:r>
            <a:r>
              <a:rPr lang="zh-CN" altLang="en-US" sz="1400" b="0" i="0" dirty="0">
                <a:solidFill>
                  <a:srgbClr val="202122"/>
                </a:solidFill>
                <a:effectLst/>
                <a:latin typeface="Arial" panose="020B0604020202020204" pitchFamily="34" charset="0"/>
              </a:rPr>
              <a:t>资源共享的计算机网络</a:t>
            </a:r>
            <a:r>
              <a:rPr lang="en-US" altLang="zh-CN" sz="1400" b="0" i="0" dirty="0">
                <a:solidFill>
                  <a:srgbClr val="202122"/>
                </a:solidFill>
                <a:effectLst/>
                <a:latin typeface="Arial" panose="020B0604020202020204" pitchFamily="34" charset="0"/>
              </a:rPr>
              <a:t>》</a:t>
            </a:r>
            <a:r>
              <a:rPr lang="zh-CN" altLang="en-US" sz="1400" b="0" i="0" dirty="0">
                <a:solidFill>
                  <a:srgbClr val="202122"/>
                </a:solidFill>
                <a:effectLst/>
                <a:latin typeface="Arial" panose="020B0604020202020204" pitchFamily="34" charset="0"/>
              </a:rPr>
              <a:t>，其中着力阐发的就是让“阿帕”的电脑达到互相连接，从而使大家分享彼此的研究成果。根据这份报告组建的国防部“高级研究计划网”，就是著名的“阿帕网”，</a:t>
            </a:r>
            <a:r>
              <a:rPr lang="en-US" altLang="zh-CN" sz="1400" b="0" i="0" dirty="0">
                <a:solidFill>
                  <a:srgbClr val="202122"/>
                </a:solidFill>
                <a:effectLst/>
                <a:latin typeface="Arial" panose="020B0604020202020204" pitchFamily="34" charset="0"/>
              </a:rPr>
              <a:t>1969</a:t>
            </a:r>
            <a:r>
              <a:rPr lang="zh-CN" altLang="en-US" sz="1400" b="0" i="0" dirty="0">
                <a:solidFill>
                  <a:srgbClr val="202122"/>
                </a:solidFill>
                <a:effectLst/>
                <a:latin typeface="Arial" panose="020B0604020202020204" pitchFamily="34" charset="0"/>
              </a:rPr>
              <a:t>年底，阿帕网正式投入运行，采用分组交换技术，使用的是自研的一种新的网络协议</a:t>
            </a:r>
            <a:r>
              <a:rPr lang="en-US" altLang="zh-CN" sz="1400" b="0" i="0" dirty="0">
                <a:solidFill>
                  <a:srgbClr val="202122"/>
                </a:solidFill>
                <a:effectLst/>
                <a:latin typeface="Arial" panose="020B0604020202020204" pitchFamily="34" charset="0"/>
              </a:rPr>
              <a:t>NCP</a:t>
            </a:r>
            <a:r>
              <a:rPr lang="zh-CN" altLang="en-US" sz="1400" b="0" i="0" dirty="0">
                <a:solidFill>
                  <a:srgbClr val="202122"/>
                </a:solidFill>
                <a:effectLst/>
                <a:latin typeface="Arial" panose="020B0604020202020204" pitchFamily="34" charset="0"/>
              </a:rPr>
              <a:t>协议。</a:t>
            </a:r>
            <a:endParaRPr lang="en-US" altLang="zh-CN" sz="1400" b="0" i="0" dirty="0">
              <a:solidFill>
                <a:srgbClr val="202122"/>
              </a:solidFill>
              <a:effectLst/>
              <a:latin typeface="Arial" panose="020B0604020202020204" pitchFamily="34" charset="0"/>
            </a:endParaRPr>
          </a:p>
          <a:p>
            <a:endParaRPr lang="zh-CN" altLang="en-US" sz="1400" b="0" i="0" dirty="0">
              <a:solidFill>
                <a:srgbClr val="202122"/>
              </a:solidFill>
              <a:effectLst/>
              <a:latin typeface="Arial" panose="020B0604020202020204" pitchFamily="34" charset="0"/>
            </a:endParaRPr>
          </a:p>
          <a:p>
            <a:r>
              <a:rPr lang="zh-CN" altLang="en-US" sz="1400" dirty="0"/>
              <a:t>建立之初，</a:t>
            </a:r>
            <a:r>
              <a:rPr lang="en-US" altLang="zh-CN" sz="1400" dirty="0"/>
              <a:t>ARPANET</a:t>
            </a:r>
            <a:r>
              <a:rPr lang="zh-CN" altLang="en-US" sz="1400" dirty="0"/>
              <a:t>只有四个节点：</a:t>
            </a:r>
            <a:r>
              <a:rPr lang="en-US" altLang="zh-CN" sz="1400" b="0" i="0" dirty="0">
                <a:solidFill>
                  <a:srgbClr val="202122"/>
                </a:solidFill>
                <a:effectLst/>
                <a:latin typeface="Arial" panose="020B0604020202020204" pitchFamily="34" charset="0"/>
              </a:rPr>
              <a:t>UCLA</a:t>
            </a:r>
            <a:r>
              <a:rPr lang="en-US" altLang="zh-CN" sz="1400" dirty="0">
                <a:solidFill>
                  <a:srgbClr val="202122"/>
                </a:solidFill>
                <a:latin typeface="Arial" panose="020B0604020202020204" pitchFamily="34" charset="0"/>
              </a:rPr>
              <a:t>/</a:t>
            </a:r>
            <a:r>
              <a:rPr lang="en-US" altLang="zh-CN" sz="1400" b="0" i="0" dirty="0">
                <a:solidFill>
                  <a:srgbClr val="202122"/>
                </a:solidFill>
                <a:effectLst/>
                <a:latin typeface="Arial" panose="020B0604020202020204" pitchFamily="34" charset="0"/>
              </a:rPr>
              <a:t>SRI/UCSB/Utah</a:t>
            </a:r>
            <a:r>
              <a:rPr lang="zh-CN" altLang="en-US" sz="1400" b="0" i="0" dirty="0">
                <a:solidFill>
                  <a:srgbClr val="202122"/>
                </a:solidFill>
                <a:effectLst/>
                <a:latin typeface="Arial" panose="020B0604020202020204" pitchFamily="34" charset="0"/>
              </a:rPr>
              <a:t>，第一个节点击在</a:t>
            </a:r>
            <a:r>
              <a:rPr lang="zh-CN" altLang="en-US" sz="1400" b="0" i="0" u="none" strike="noStrike" dirty="0">
                <a:solidFill>
                  <a:srgbClr val="0B0080"/>
                </a:solidFill>
                <a:effectLst/>
                <a:latin typeface="Arial" panose="020B0604020202020204" pitchFamily="34" charset="0"/>
                <a:hlinkClick r:id="rId3" tooltip="加州大学洛杉矶分校"/>
              </a:rPr>
              <a:t>加州大学洛杉矶分校</a:t>
            </a:r>
            <a:r>
              <a:rPr lang="zh-CN" altLang="en-US" sz="1400" b="0" i="0" dirty="0">
                <a:solidFill>
                  <a:srgbClr val="202122"/>
                </a:solidFill>
                <a:effectLst/>
                <a:latin typeface="Arial" panose="020B0604020202020204" pitchFamily="34" charset="0"/>
              </a:rPr>
              <a:t>（</a:t>
            </a:r>
            <a:r>
              <a:rPr lang="en-US" altLang="zh-CN" sz="1400" b="0" i="0" dirty="0">
                <a:solidFill>
                  <a:srgbClr val="202122"/>
                </a:solidFill>
                <a:effectLst/>
                <a:latin typeface="Arial" panose="020B0604020202020204" pitchFamily="34" charset="0"/>
              </a:rPr>
              <a:t>UCLA</a:t>
            </a:r>
            <a:r>
              <a:rPr lang="zh-CN" altLang="en-US" sz="1400" b="0" i="0" dirty="0">
                <a:solidFill>
                  <a:srgbClr val="202122"/>
                </a:solidFill>
                <a:effectLst/>
                <a:latin typeface="Arial" panose="020B0604020202020204" pitchFamily="34" charset="0"/>
              </a:rPr>
              <a:t>），第二个节点击在</a:t>
            </a:r>
            <a:r>
              <a:rPr lang="zh-CN" altLang="en-US" sz="1400" b="0" i="0" u="none" strike="noStrike" dirty="0">
                <a:solidFill>
                  <a:srgbClr val="A55858"/>
                </a:solidFill>
                <a:effectLst/>
                <a:latin typeface="Arial" panose="020B0604020202020204" pitchFamily="34" charset="0"/>
                <a:hlinkClick r:id="rId4" tooltip="斯坦福研究院（页面不存在）"/>
              </a:rPr>
              <a:t>斯坦福研究院</a:t>
            </a:r>
            <a:r>
              <a:rPr lang="zh-CN" altLang="en-US" sz="1400" b="0" i="0" dirty="0">
                <a:solidFill>
                  <a:srgbClr val="202122"/>
                </a:solidFill>
                <a:effectLst/>
                <a:latin typeface="Arial" panose="020B0604020202020204" pitchFamily="34" charset="0"/>
              </a:rPr>
              <a:t>（</a:t>
            </a:r>
            <a:r>
              <a:rPr lang="en-US" altLang="zh-CN" sz="1400" b="0" i="0" dirty="0">
                <a:solidFill>
                  <a:srgbClr val="202122"/>
                </a:solidFill>
                <a:effectLst/>
                <a:latin typeface="Arial" panose="020B0604020202020204" pitchFamily="34" charset="0"/>
              </a:rPr>
              <a:t>SRI</a:t>
            </a:r>
            <a:r>
              <a:rPr lang="zh-CN" altLang="en-US" sz="1400" b="0" i="0" dirty="0">
                <a:solidFill>
                  <a:srgbClr val="202122"/>
                </a:solidFill>
                <a:effectLst/>
                <a:latin typeface="Arial" panose="020B0604020202020204" pitchFamily="34" charset="0"/>
              </a:rPr>
              <a:t>），此外，</a:t>
            </a:r>
            <a:r>
              <a:rPr lang="zh-CN" altLang="en-US" sz="1400" b="0" i="0" u="none" strike="noStrike" dirty="0">
                <a:solidFill>
                  <a:srgbClr val="0B0080"/>
                </a:solidFill>
                <a:effectLst/>
                <a:latin typeface="Arial" panose="020B0604020202020204" pitchFamily="34" charset="0"/>
                <a:hlinkClick r:id="rId5" tooltip="加州大学"/>
              </a:rPr>
              <a:t>加州大学</a:t>
            </a:r>
            <a:r>
              <a:rPr lang="zh-CN" altLang="en-US" sz="1400" b="0" i="0" dirty="0">
                <a:solidFill>
                  <a:srgbClr val="202122"/>
                </a:solidFill>
                <a:effectLst/>
                <a:latin typeface="Arial" panose="020B0604020202020204" pitchFamily="34" charset="0"/>
              </a:rPr>
              <a:t>圣巴巴拉分校（</a:t>
            </a:r>
            <a:r>
              <a:rPr lang="en-US" altLang="zh-CN" sz="1400" b="0" i="0" dirty="0">
                <a:solidFill>
                  <a:srgbClr val="202122"/>
                </a:solidFill>
                <a:effectLst/>
                <a:latin typeface="Arial" panose="020B0604020202020204" pitchFamily="34" charset="0"/>
              </a:rPr>
              <a:t>UCSB</a:t>
            </a:r>
            <a:r>
              <a:rPr lang="zh-CN" altLang="en-US" sz="1400" b="0" i="0" dirty="0">
                <a:solidFill>
                  <a:srgbClr val="202122"/>
                </a:solidFill>
                <a:effectLst/>
                <a:latin typeface="Arial" panose="020B0604020202020204" pitchFamily="34" charset="0"/>
              </a:rPr>
              <a:t>）和</a:t>
            </a:r>
            <a:r>
              <a:rPr lang="zh-CN" altLang="en-US" sz="1400" b="0" i="0" u="none" strike="noStrike" dirty="0">
                <a:solidFill>
                  <a:srgbClr val="0B0080"/>
                </a:solidFill>
                <a:effectLst/>
                <a:latin typeface="Arial" panose="020B0604020202020204" pitchFamily="34" charset="0"/>
                <a:hlinkClick r:id="rId6" tooltip="犹他大学"/>
              </a:rPr>
              <a:t>犹他大学</a:t>
            </a:r>
            <a:r>
              <a:rPr lang="zh-CN" altLang="en-US" sz="1400" b="0" i="0" dirty="0">
                <a:solidFill>
                  <a:srgbClr val="202122"/>
                </a:solidFill>
                <a:effectLst/>
                <a:latin typeface="Arial" panose="020B0604020202020204" pitchFamily="34" charset="0"/>
              </a:rPr>
              <a:t>（</a:t>
            </a:r>
            <a:r>
              <a:rPr lang="en-US" altLang="zh-CN" sz="1400" b="0" i="0" dirty="0">
                <a:solidFill>
                  <a:srgbClr val="202122"/>
                </a:solidFill>
                <a:effectLst/>
                <a:latin typeface="Arial" panose="020B0604020202020204" pitchFamily="34" charset="0"/>
              </a:rPr>
              <a:t>UTAH</a:t>
            </a:r>
            <a:r>
              <a:rPr lang="zh-CN" altLang="en-US" sz="1400" b="0" i="0" dirty="0">
                <a:solidFill>
                  <a:srgbClr val="202122"/>
                </a:solidFill>
                <a:effectLst/>
                <a:latin typeface="Arial" panose="020B0604020202020204" pitchFamily="34" charset="0"/>
              </a:rPr>
              <a:t>）分别被选为三、四节点；</a:t>
            </a:r>
            <a:endParaRPr lang="en-US" altLang="zh-CN" sz="1400"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之后，</a:t>
            </a:r>
            <a:r>
              <a:rPr lang="en-US" altLang="zh-CN" sz="1400" dirty="0"/>
              <a:t>ARPANET</a:t>
            </a:r>
            <a:r>
              <a:rPr lang="zh-CN" altLang="en-US" sz="1400" dirty="0"/>
              <a:t>发展迅速，</a:t>
            </a:r>
            <a:r>
              <a:rPr lang="en-US" altLang="zh-CN" sz="1400" b="0" i="0" dirty="0">
                <a:solidFill>
                  <a:srgbClr val="0A0A0A"/>
                </a:solidFill>
                <a:effectLst/>
                <a:latin typeface="微软雅黑" panose="020B0503020204020204" pitchFamily="34" charset="-122"/>
                <a:ea typeface="微软雅黑" panose="020B0503020204020204" pitchFamily="34" charset="-122"/>
              </a:rPr>
              <a:t>80</a:t>
            </a:r>
            <a:r>
              <a:rPr lang="zh-CN" altLang="en-US" sz="1400" b="0" i="0" dirty="0">
                <a:solidFill>
                  <a:srgbClr val="0A0A0A"/>
                </a:solidFill>
                <a:effectLst/>
                <a:latin typeface="微软雅黑" panose="020B0503020204020204" pitchFamily="34" charset="-122"/>
                <a:ea typeface="微软雅黑" panose="020B0503020204020204" pitchFamily="34" charset="-122"/>
              </a:rPr>
              <a:t>年代中期，</a:t>
            </a:r>
            <a:r>
              <a:rPr lang="en-US" altLang="zh-CN" sz="1400" dirty="0">
                <a:solidFill>
                  <a:srgbClr val="0A0A0A"/>
                </a:solidFill>
                <a:latin typeface="微软雅黑" panose="020B0503020204020204" pitchFamily="34" charset="-122"/>
                <a:ea typeface="微软雅黑" panose="020B0503020204020204" pitchFamily="34" charset="-122"/>
              </a:rPr>
              <a:t>Internet</a:t>
            </a:r>
            <a:r>
              <a:rPr lang="zh-CN" altLang="en-US" sz="1400" b="0" i="0" dirty="0">
                <a:solidFill>
                  <a:srgbClr val="0A0A0A"/>
                </a:solidFill>
                <a:effectLst/>
                <a:latin typeface="微软雅黑" panose="020B0503020204020204" pitchFamily="34" charset="-122"/>
                <a:ea typeface="微软雅黑" panose="020B0503020204020204" pitchFamily="34" charset="-122"/>
              </a:rPr>
              <a:t>横跨北美、欧洲和澳大利亚，成为全球性网络；</a:t>
            </a:r>
            <a:endParaRPr lang="en-US" altLang="zh-CN" sz="1400" b="0" i="0" dirty="0">
              <a:solidFill>
                <a:srgbClr val="0A0A0A"/>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b="0" i="0" dirty="0">
                <a:solidFill>
                  <a:srgbClr val="0A0A0A"/>
                </a:solidFill>
                <a:effectLst/>
                <a:latin typeface="微软雅黑" panose="020B0503020204020204" pitchFamily="34" charset="-122"/>
                <a:ea typeface="微软雅黑" panose="020B0503020204020204" pitchFamily="34" charset="-122"/>
              </a:rPr>
              <a:t>ARPANET</a:t>
            </a:r>
            <a:r>
              <a:rPr lang="zh-CN" altLang="en-US" sz="1400" b="0" i="0" dirty="0">
                <a:solidFill>
                  <a:srgbClr val="0A0A0A"/>
                </a:solidFill>
                <a:effectLst/>
                <a:latin typeface="微软雅黑" panose="020B0503020204020204" pitchFamily="34" charset="-122"/>
                <a:ea typeface="微软雅黑" panose="020B0503020204020204" pitchFamily="34" charset="-122"/>
              </a:rPr>
              <a:t>网络技术不断升级换代，</a:t>
            </a:r>
            <a:r>
              <a:rPr lang="en-US" altLang="zh-CN" sz="1400" b="0" i="0" dirty="0">
                <a:solidFill>
                  <a:srgbClr val="0A0A0A"/>
                </a:solidFill>
                <a:effectLst/>
                <a:latin typeface="微软雅黑" panose="020B0503020204020204" pitchFamily="34" charset="-122"/>
                <a:ea typeface="微软雅黑" panose="020B0503020204020204" pitchFamily="34" charset="-122"/>
              </a:rPr>
              <a:t>1983</a:t>
            </a:r>
            <a:r>
              <a:rPr lang="zh-CN" altLang="en-US" sz="1400" b="0" i="0" dirty="0">
                <a:solidFill>
                  <a:srgbClr val="0A0A0A"/>
                </a:solidFill>
                <a:effectLst/>
                <a:latin typeface="微软雅黑" panose="020B0503020204020204" pitchFamily="34" charset="-122"/>
                <a:ea typeface="微软雅黑" panose="020B0503020204020204" pitchFamily="34" charset="-122"/>
              </a:rPr>
              <a:t>年，</a:t>
            </a:r>
            <a:r>
              <a:rPr lang="en-US" altLang="zh-CN" sz="1400" b="0" i="0" dirty="0">
                <a:solidFill>
                  <a:srgbClr val="0A0A0A"/>
                </a:solidFill>
                <a:effectLst/>
                <a:latin typeface="微软雅黑" panose="020B0503020204020204" pitchFamily="34" charset="-122"/>
                <a:ea typeface="微软雅黑" panose="020B0503020204020204" pitchFamily="34" charset="-122"/>
              </a:rPr>
              <a:t>ARPANET</a:t>
            </a:r>
            <a:r>
              <a:rPr lang="zh-CN" altLang="en-US" sz="1400" b="0" i="0" dirty="0">
                <a:solidFill>
                  <a:srgbClr val="0A0A0A"/>
                </a:solidFill>
                <a:effectLst/>
                <a:latin typeface="微软雅黑" panose="020B0503020204020204" pitchFamily="34" charset="-122"/>
                <a:ea typeface="微软雅黑" panose="020B0503020204020204" pitchFamily="34" charset="-122"/>
              </a:rPr>
              <a:t>开始采用</a:t>
            </a:r>
            <a:r>
              <a:rPr lang="en-US" altLang="zh-CN" sz="1400" b="0" i="0" dirty="0">
                <a:solidFill>
                  <a:srgbClr val="202122"/>
                </a:solidFill>
                <a:effectLst/>
                <a:latin typeface="Arial" panose="020B0604020202020204" pitchFamily="34" charset="0"/>
              </a:rPr>
              <a:t>TCP/IP</a:t>
            </a:r>
            <a:r>
              <a:rPr lang="zh-CN" altLang="en-US" sz="1400" b="0" i="0" dirty="0">
                <a:solidFill>
                  <a:srgbClr val="202122"/>
                </a:solidFill>
                <a:effectLst/>
                <a:latin typeface="Arial" panose="020B0604020202020204" pitchFamily="34" charset="0"/>
              </a:rPr>
              <a:t>做为通用协议，也被业界作为互联网诞生的标志事件。</a:t>
            </a:r>
            <a:endParaRPr lang="en-US" altLang="zh-CN" sz="1400"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b="0" i="0" dirty="0">
                <a:solidFill>
                  <a:srgbClr val="202122"/>
                </a:solidFill>
                <a:effectLst/>
                <a:latin typeface="Arial" panose="020B0604020202020204" pitchFamily="34" charset="0"/>
              </a:rPr>
              <a:t>ARPANET</a:t>
            </a:r>
            <a:r>
              <a:rPr lang="zh-CN" altLang="en-US" sz="1400" b="0" i="0" dirty="0">
                <a:solidFill>
                  <a:srgbClr val="202122"/>
                </a:solidFill>
                <a:effectLst/>
                <a:latin typeface="Arial" panose="020B0604020202020204" pitchFamily="34" charset="0"/>
              </a:rPr>
              <a:t>系统在</a:t>
            </a:r>
            <a:r>
              <a:rPr lang="en-US" altLang="zh-CN" sz="1400" b="0" i="0" dirty="0">
                <a:solidFill>
                  <a:srgbClr val="202122"/>
                </a:solidFill>
                <a:effectLst/>
                <a:latin typeface="Arial" panose="020B0604020202020204" pitchFamily="34" charset="0"/>
              </a:rPr>
              <a:t>1989</a:t>
            </a:r>
            <a:r>
              <a:rPr lang="zh-CN" altLang="en-US" sz="1400" b="0" i="0" dirty="0">
                <a:solidFill>
                  <a:srgbClr val="202122"/>
                </a:solidFill>
                <a:effectLst/>
                <a:latin typeface="Arial" panose="020B0604020202020204" pitchFamily="34" charset="0"/>
              </a:rPr>
              <a:t>年被关闭，</a:t>
            </a:r>
            <a:r>
              <a:rPr lang="en-US" altLang="zh-CN" sz="1400" b="0" i="0" dirty="0">
                <a:solidFill>
                  <a:srgbClr val="202122"/>
                </a:solidFill>
                <a:effectLst/>
                <a:latin typeface="Arial" panose="020B0604020202020204" pitchFamily="34" charset="0"/>
              </a:rPr>
              <a:t>1990</a:t>
            </a:r>
            <a:r>
              <a:rPr lang="zh-CN" altLang="en-US" sz="1400" b="0" i="0" dirty="0">
                <a:solidFill>
                  <a:srgbClr val="202122"/>
                </a:solidFill>
                <a:effectLst/>
                <a:latin typeface="Arial" panose="020B0604020202020204" pitchFamily="34" charset="0"/>
              </a:rPr>
              <a:t>年正式退役，被移交给了</a:t>
            </a:r>
            <a:r>
              <a:rPr lang="en-US" altLang="zh-CN" sz="1400" b="0" i="0" dirty="0">
                <a:solidFill>
                  <a:srgbClr val="202122"/>
                </a:solidFill>
                <a:effectLst/>
                <a:latin typeface="Arial" panose="020B0604020202020204" pitchFamily="34" charset="0"/>
              </a:rPr>
              <a:t>NSFNET</a:t>
            </a:r>
            <a:r>
              <a:rPr lang="zh-CN" altLang="en-US" sz="1400" b="0" i="0" dirty="0">
                <a:solidFill>
                  <a:srgbClr val="202122"/>
                </a:solidFill>
                <a:effectLst/>
                <a:latin typeface="Arial" panose="020B0604020202020204" pitchFamily="34" charset="0"/>
              </a:rPr>
              <a:t>；</a:t>
            </a:r>
            <a:endParaRPr lang="en-US" altLang="zh-CN" sz="1400" b="0" i="0" dirty="0">
              <a:solidFill>
                <a:srgbClr val="202122"/>
              </a:solidFill>
              <a:effectLst/>
              <a:latin typeface="Arial" panose="020B0604020202020204" pitchFamily="34" charset="0"/>
            </a:endParaRPr>
          </a:p>
          <a:p>
            <a:endParaRPr lang="en-US" altLang="zh-CN" sz="1400" dirty="0"/>
          </a:p>
          <a:p>
            <a:endParaRPr lang="en-US" altLang="zh-CN" sz="1400" dirty="0"/>
          </a:p>
          <a:p>
            <a:r>
              <a:rPr lang="en-US" altLang="zh-CN" sz="1400" dirty="0"/>
              <a:t>=================</a:t>
            </a:r>
            <a:endParaRPr lang="en-US" altLang="zh-CN" sz="1400" dirty="0"/>
          </a:p>
          <a:p>
            <a:r>
              <a:rPr lang="en-US" altLang="zh-CN" sz="1400" dirty="0"/>
              <a:t>1961 </a:t>
            </a:r>
            <a:r>
              <a:rPr lang="zh-CN" altLang="en-US" sz="1400" dirty="0"/>
              <a:t>年，美国麻省理工学院的 </a:t>
            </a:r>
            <a:r>
              <a:rPr lang="en-US" altLang="zh-CN" sz="1400" dirty="0"/>
              <a:t>Leonard Kleinrock </a:t>
            </a:r>
            <a:r>
              <a:rPr lang="zh-CN" altLang="en-US" sz="1400" dirty="0"/>
              <a:t>发表了第一篇分组交换的论文</a:t>
            </a:r>
            <a:endParaRPr lang="en-US" altLang="zh-CN" sz="1400" dirty="0"/>
          </a:p>
          <a:p>
            <a:r>
              <a:rPr lang="en-US" altLang="zh-CN" sz="1400" dirty="0"/>
              <a:t>1964 </a:t>
            </a:r>
            <a:r>
              <a:rPr lang="zh-CN" altLang="en-US" sz="1400" dirty="0"/>
              <a:t>年，美国兰德公司的 </a:t>
            </a:r>
            <a:r>
              <a:rPr lang="en-US" altLang="zh-CN" sz="1400" dirty="0"/>
              <a:t>Paul Baran </a:t>
            </a:r>
            <a:r>
              <a:rPr lang="zh-CN" altLang="en-US" sz="1400" dirty="0"/>
              <a:t>提出基 于分组交换技术的信息块交换网络（</a:t>
            </a:r>
            <a:r>
              <a:rPr lang="en-US" altLang="zh-CN" sz="1400" dirty="0"/>
              <a:t>Message Block Switching</a:t>
            </a:r>
            <a:r>
              <a:rPr lang="zh-CN" altLang="en-US" sz="1400" dirty="0"/>
              <a:t>），该网络能在核攻击之后也能提供对核导弹的发射控制，以确保二次打击能力。 </a:t>
            </a:r>
            <a:r>
              <a:rPr lang="en-US" altLang="zh-CN" sz="1400" dirty="0"/>
              <a:t>Paul Baran</a:t>
            </a:r>
            <a:r>
              <a:rPr lang="zh-CN" altLang="en-US" sz="1400" dirty="0"/>
              <a:t>的论文深入分析了中心化，去中心化和 分布式的网络拓扑结构，明确指出：任何中心化的网络都不具有抗毁能力，只有分布式的网络拓扑结构才能够在核打击下生存</a:t>
            </a:r>
            <a:r>
              <a:rPr lang="en-US" altLang="zh-CN" sz="1400" dirty="0"/>
              <a:t>[4]</a:t>
            </a:r>
            <a:r>
              <a:rPr lang="zh-CN" altLang="en-US" sz="1400" dirty="0"/>
              <a:t>。无中心但又能互联互通是传统电话网所无法做到的事情，必须在理念上和技术上有革命性的创新。 </a:t>
            </a:r>
            <a:endParaRPr lang="en-US" altLang="zh-CN" sz="1400" dirty="0"/>
          </a:p>
          <a:p>
            <a:r>
              <a:rPr lang="en-US" altLang="zh-CN" sz="1400" dirty="0"/>
              <a:t>1965 </a:t>
            </a:r>
            <a:r>
              <a:rPr lang="zh-CN" altLang="en-US" sz="1400" dirty="0"/>
              <a:t>年，英格兰国家物理实验室的 </a:t>
            </a:r>
            <a:r>
              <a:rPr lang="en-US" altLang="zh-CN" sz="1400" dirty="0"/>
              <a:t>Donald Davies </a:t>
            </a:r>
            <a:r>
              <a:rPr lang="zh-CN" altLang="en-US" sz="1400" dirty="0"/>
              <a:t>也提出分组交换的概念和术语（</a:t>
            </a:r>
            <a:r>
              <a:rPr lang="en-US" altLang="zh-CN" sz="1400" dirty="0"/>
              <a:t>Packet Switching</a:t>
            </a:r>
            <a:r>
              <a:rPr lang="zh-CN" altLang="en-US" sz="1400" dirty="0"/>
              <a:t>），其目标是振兴英国计算机行业和商业 应用，其后实现了英国 </a:t>
            </a:r>
            <a:r>
              <a:rPr lang="en-US" altLang="zh-CN" sz="1400" dirty="0"/>
              <a:t>NPL </a:t>
            </a:r>
            <a:r>
              <a:rPr lang="zh-CN" altLang="en-US" sz="1400" dirty="0"/>
              <a:t>的试验分组网络</a:t>
            </a:r>
            <a:r>
              <a:rPr lang="en-US" altLang="zh-CN" sz="1400" dirty="0"/>
              <a:t>[5]</a:t>
            </a:r>
            <a:r>
              <a:rPr lang="zh-CN" altLang="en-US" sz="1400" dirty="0"/>
              <a:t>。和很多工程系统不同，互联网并没有设计蓝图，也不是个别天才人物想出来的，而是全世界 千万名计算机和电子工程科学家和工程师在实践中试错，演进而来的。</a:t>
            </a:r>
            <a:endParaRPr lang="en-US" altLang="zh-CN" sz="1400" dirty="0"/>
          </a:p>
          <a:p>
            <a:endParaRPr lang="zh-CN" altLang="en-US" sz="14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dirty="0"/>
              <a:t>事实上，多国都有建立网络互联的计划，包括美国，英国，法国，苏联等，</a:t>
            </a: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最终美国发起的</a:t>
            </a:r>
            <a:r>
              <a:rPr lang="en-US" altLang="zh-CN" sz="1400" dirty="0"/>
              <a:t>ARPNET</a:t>
            </a:r>
            <a:r>
              <a:rPr lang="zh-CN" altLang="en-US" sz="1400" dirty="0"/>
              <a:t>胜出，成为今天的互联网</a:t>
            </a:r>
            <a:endParaRPr lang="zh-CN" altLang="en-US" sz="14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之所以美国能够成功，与</a:t>
            </a:r>
            <a:r>
              <a:rPr lang="zh-CN" altLang="en-US" sz="1400" dirty="0">
                <a:latin typeface="微软雅黑" panose="020B0503020204020204" pitchFamily="34" charset="-122"/>
                <a:ea typeface="微软雅黑" panose="020B0503020204020204" pitchFamily="34" charset="-122"/>
              </a:rPr>
              <a:t>叛逆思想、军方战略、充足经费、市场经济、精英团队要素密切相关；</a:t>
            </a:r>
            <a:endParaRPr lang="en-US" altLang="zh-CN" sz="1400" dirty="0">
              <a:latin typeface="微软雅黑" panose="020B0503020204020204" pitchFamily="34" charset="-122"/>
              <a:ea typeface="微软雅黑" panose="020B0503020204020204" pitchFamily="34" charset="-122"/>
            </a:endParaRPr>
          </a:p>
          <a:p>
            <a:r>
              <a:rPr lang="zh-CN" altLang="en-US" sz="1400" dirty="0"/>
              <a:t>包括</a:t>
            </a:r>
            <a:r>
              <a:rPr lang="en-US" altLang="zh-CN" sz="1400" dirty="0"/>
              <a:t>www</a:t>
            </a:r>
            <a:r>
              <a:rPr lang="zh-CN" altLang="en-US" sz="1400" dirty="0"/>
              <a:t>和</a:t>
            </a:r>
            <a:r>
              <a:rPr lang="en-US" altLang="zh-CN" sz="1400" dirty="0"/>
              <a:t>Linux</a:t>
            </a:r>
            <a:r>
              <a:rPr lang="zh-CN" altLang="en-US" sz="1400" dirty="0"/>
              <a:t>也都是欧洲发明的，但真正的发展壮大也都在美国，如</a:t>
            </a:r>
            <a:r>
              <a:rPr lang="en-US" altLang="zh-CN" sz="1400" dirty="0"/>
              <a:t>Linux</a:t>
            </a:r>
            <a:r>
              <a:rPr lang="zh-CN" altLang="en-US" sz="1400" dirty="0"/>
              <a:t>基金会在美国，这与左边的</a:t>
            </a:r>
            <a:r>
              <a:rPr lang="en-US" altLang="zh-CN" sz="1400" dirty="0"/>
              <a:t>5</a:t>
            </a:r>
            <a:r>
              <a:rPr lang="zh-CN" altLang="en-US" sz="1400" dirty="0"/>
              <a:t>个条件相关。</a:t>
            </a:r>
            <a:endParaRPr lang="en-US" altLang="zh-CN" sz="14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微软雅黑" panose="020B0503020204020204" pitchFamily="34" charset="-122"/>
                <a:ea typeface="微软雅黑" panose="020B0503020204020204" pitchFamily="34" charset="-122"/>
              </a:rPr>
              <a:t>从互联网早期发展的过程中我们得到这些启示</a:t>
            </a:r>
            <a:endParaRPr lang="en-US" altLang="zh-CN" sz="18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dirty="0">
                <a:latin typeface="微软雅黑" panose="020B0503020204020204" pitchFamily="34" charset="-122"/>
                <a:ea typeface="微软雅黑" panose="020B0503020204020204" pitchFamily="34" charset="-122"/>
              </a:rPr>
              <a:t>1993 </a:t>
            </a:r>
            <a:r>
              <a:rPr lang="zh-CN" altLang="en-US" sz="1400" dirty="0">
                <a:latin typeface="微软雅黑" panose="020B0503020204020204" pitchFamily="34" charset="-122"/>
                <a:ea typeface="微软雅黑" panose="020B0503020204020204" pitchFamily="34" charset="-122"/>
              </a:rPr>
              <a:t>年，</a:t>
            </a:r>
            <a:r>
              <a:rPr lang="en-US" altLang="zh-CN" sz="1400" dirty="0">
                <a:latin typeface="微软雅黑" panose="020B0503020204020204" pitchFamily="34" charset="-122"/>
                <a:ea typeface="微软雅黑" panose="020B0503020204020204" pitchFamily="34" charset="-122"/>
              </a:rPr>
              <a:t>Eric Bina </a:t>
            </a:r>
            <a:r>
              <a:rPr lang="zh-CN" altLang="en-US" sz="1400" dirty="0">
                <a:latin typeface="微软雅黑" panose="020B0503020204020204" pitchFamily="34" charset="-122"/>
                <a:ea typeface="微软雅黑" panose="020B0503020204020204" pitchFamily="34" charset="-122"/>
              </a:rPr>
              <a:t>和 </a:t>
            </a:r>
            <a:r>
              <a:rPr lang="en-US" altLang="zh-CN" sz="1400" dirty="0">
                <a:latin typeface="微软雅黑" panose="020B0503020204020204" pitchFamily="34" charset="-122"/>
                <a:ea typeface="微软雅黑" panose="020B0503020204020204" pitchFamily="34" charset="-122"/>
              </a:rPr>
              <a:t>Marc Andreesen </a:t>
            </a:r>
            <a:r>
              <a:rPr lang="zh-CN" altLang="en-US" sz="1400" dirty="0">
                <a:latin typeface="微软雅黑" panose="020B0503020204020204" pitchFamily="34" charset="-122"/>
                <a:ea typeface="微软雅黑" panose="020B0503020204020204" pitchFamily="34" charset="-122"/>
              </a:rPr>
              <a:t>开发出 </a:t>
            </a:r>
            <a:r>
              <a:rPr lang="en-US" altLang="zh-CN" sz="1400" dirty="0">
                <a:latin typeface="微软雅黑" panose="020B0503020204020204" pitchFamily="34" charset="-122"/>
                <a:ea typeface="微软雅黑" panose="020B0503020204020204" pitchFamily="34" charset="-122"/>
              </a:rPr>
              <a:t>Mosaic </a:t>
            </a:r>
            <a:r>
              <a:rPr lang="zh-CN" altLang="en-US" sz="1400" dirty="0">
                <a:latin typeface="微软雅黑" panose="020B0503020204020204" pitchFamily="34" charset="-122"/>
                <a:ea typeface="微软雅黑" panose="020B0503020204020204" pitchFamily="34" charset="-122"/>
              </a:rPr>
              <a:t>浏览器</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次年，在欧盟委员会和国防高等 研究计划署（</a:t>
            </a:r>
            <a:r>
              <a:rPr lang="en-US" altLang="zh-CN" sz="1400" dirty="0">
                <a:latin typeface="微软雅黑" panose="020B0503020204020204" pitchFamily="34" charset="-122"/>
                <a:ea typeface="微软雅黑" panose="020B0503020204020204" pitchFamily="34" charset="-122"/>
              </a:rPr>
              <a:t>DARPA</a:t>
            </a:r>
            <a:r>
              <a:rPr lang="zh-CN" altLang="en-US" sz="1400" dirty="0">
                <a:latin typeface="微软雅黑" panose="020B0503020204020204" pitchFamily="34" charset="-122"/>
                <a:ea typeface="微软雅黑" panose="020B0503020204020204" pitchFamily="34" charset="-122"/>
              </a:rPr>
              <a:t>）的支持下 </a:t>
            </a:r>
            <a:r>
              <a:rPr lang="en-US" altLang="zh-CN" sz="1400" dirty="0">
                <a:latin typeface="微软雅黑" panose="020B0503020204020204" pitchFamily="34" charset="-122"/>
                <a:ea typeface="微软雅黑" panose="020B0503020204020204" pitchFamily="34" charset="-122"/>
              </a:rPr>
              <a:t>Tim Berners- Lee </a:t>
            </a:r>
            <a:r>
              <a:rPr lang="zh-CN" altLang="en-US" sz="1400" dirty="0">
                <a:latin typeface="微软雅黑" panose="020B0503020204020204" pitchFamily="34" charset="-122"/>
                <a:ea typeface="微软雅黑" panose="020B0503020204020204" pitchFamily="34" charset="-122"/>
              </a:rPr>
              <a:t>在美国麻省理工学院成立了万维网联盟（</a:t>
            </a:r>
            <a:r>
              <a:rPr lang="en-US" altLang="zh-CN" sz="1400" dirty="0">
                <a:latin typeface="微软雅黑" panose="020B0503020204020204" pitchFamily="34" charset="-122"/>
                <a:ea typeface="微软雅黑" panose="020B0503020204020204" pitchFamily="34" charset="-122"/>
              </a:rPr>
              <a:t>W3C</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1995 </a:t>
            </a:r>
            <a:r>
              <a:rPr lang="zh-CN" altLang="en-US" sz="1400" dirty="0">
                <a:latin typeface="微软雅黑" panose="020B0503020204020204" pitchFamily="34" charset="-122"/>
                <a:ea typeface="微软雅黑" panose="020B0503020204020204" pitchFamily="34" charset="-122"/>
              </a:rPr>
              <a:t>年，商业界和政府均认识到由私营部门提供互联网服务是一个可行的和有商业前景的发展方向，导致 </a:t>
            </a:r>
            <a:r>
              <a:rPr lang="en-US" altLang="zh-CN" sz="1400" dirty="0">
                <a:latin typeface="微软雅黑" panose="020B0503020204020204" pitchFamily="34" charset="-122"/>
                <a:ea typeface="微软雅黑" panose="020B0503020204020204" pitchFamily="34" charset="-122"/>
              </a:rPr>
              <a:t>NSFNET </a:t>
            </a:r>
            <a:r>
              <a:rPr lang="zh-CN" altLang="en-US" sz="1400" dirty="0">
                <a:latin typeface="微软雅黑" panose="020B0503020204020204" pitchFamily="34" charset="-122"/>
                <a:ea typeface="微软雅黑" panose="020B0503020204020204" pitchFamily="34" charset="-122"/>
              </a:rPr>
              <a:t>退役，由商业网络提供商取代。</a:t>
            </a:r>
            <a:endParaRPr lang="en-US" altLang="zh-CN" sz="1400" dirty="0">
              <a:latin typeface="微软雅黑" panose="020B0503020204020204" pitchFamily="34" charset="-122"/>
              <a:ea typeface="微软雅黑" panose="020B0503020204020204" pitchFamily="34" charset="-122"/>
            </a:endParaRPr>
          </a:p>
          <a:p>
            <a:r>
              <a:rPr lang="en-US" altLang="zh-CN" sz="1400" b="0" i="0" dirty="0">
                <a:solidFill>
                  <a:srgbClr val="121212"/>
                </a:solidFill>
                <a:effectLst/>
                <a:latin typeface="微软雅黑" panose="020B0503020204020204" pitchFamily="34" charset="-122"/>
                <a:ea typeface="微软雅黑" panose="020B0503020204020204" pitchFamily="34" charset="-122"/>
              </a:rPr>
              <a:t>Netscape</a:t>
            </a:r>
            <a:r>
              <a:rPr lang="zh-CN" altLang="en-US" sz="1400" b="0" i="0" dirty="0">
                <a:solidFill>
                  <a:srgbClr val="121212"/>
                </a:solidFill>
                <a:effectLst/>
                <a:latin typeface="微软雅黑" panose="020B0503020204020204" pitchFamily="34" charset="-122"/>
                <a:ea typeface="微软雅黑" panose="020B0503020204020204" pitchFamily="34" charset="-122"/>
              </a:rPr>
              <a:t>在</a:t>
            </a:r>
            <a:r>
              <a:rPr lang="en-US" altLang="zh-CN" sz="1400" b="0" i="0" dirty="0">
                <a:solidFill>
                  <a:srgbClr val="121212"/>
                </a:solidFill>
                <a:effectLst/>
                <a:latin typeface="微软雅黑" panose="020B0503020204020204" pitchFamily="34" charset="-122"/>
                <a:ea typeface="微软雅黑" panose="020B0503020204020204" pitchFamily="34" charset="-122"/>
              </a:rPr>
              <a:t>1994</a:t>
            </a:r>
            <a:r>
              <a:rPr lang="zh-CN" altLang="en-US" sz="1400" b="0" i="0" dirty="0">
                <a:solidFill>
                  <a:srgbClr val="121212"/>
                </a:solidFill>
                <a:effectLst/>
                <a:latin typeface="微软雅黑" panose="020B0503020204020204" pitchFamily="34" charset="-122"/>
                <a:ea typeface="微软雅黑" panose="020B0503020204020204" pitchFamily="34" charset="-122"/>
              </a:rPr>
              <a:t>年成立，第二年就上市了，发行价</a:t>
            </a:r>
            <a:r>
              <a:rPr lang="en-US" altLang="zh-CN" sz="1400" b="0" i="0" dirty="0">
                <a:solidFill>
                  <a:srgbClr val="121212"/>
                </a:solidFill>
                <a:effectLst/>
                <a:latin typeface="微软雅黑" panose="020B0503020204020204" pitchFamily="34" charset="-122"/>
                <a:ea typeface="微软雅黑" panose="020B0503020204020204" pitchFamily="34" charset="-122"/>
              </a:rPr>
              <a:t>28</a:t>
            </a:r>
            <a:r>
              <a:rPr lang="zh-CN" altLang="en-US" sz="1400" b="0" i="0" dirty="0">
                <a:solidFill>
                  <a:srgbClr val="121212"/>
                </a:solidFill>
                <a:effectLst/>
                <a:latin typeface="微软雅黑" panose="020B0503020204020204" pitchFamily="34" charset="-122"/>
                <a:ea typeface="微软雅黑" panose="020B0503020204020204" pitchFamily="34" charset="-122"/>
              </a:rPr>
              <a:t>美元，上市第一天最高就涨到了</a:t>
            </a:r>
            <a:r>
              <a:rPr lang="en-US" altLang="zh-CN" sz="1400" b="0" i="0" dirty="0">
                <a:solidFill>
                  <a:srgbClr val="121212"/>
                </a:solidFill>
                <a:effectLst/>
                <a:latin typeface="微软雅黑" panose="020B0503020204020204" pitchFamily="34" charset="-122"/>
                <a:ea typeface="微软雅黑" panose="020B0503020204020204" pitchFamily="34" charset="-122"/>
              </a:rPr>
              <a:t>75</a:t>
            </a:r>
            <a:r>
              <a:rPr lang="zh-CN" altLang="en-US" sz="1400" b="0" i="0" dirty="0">
                <a:solidFill>
                  <a:srgbClr val="121212"/>
                </a:solidFill>
                <a:effectLst/>
                <a:latin typeface="微软雅黑" panose="020B0503020204020204" pitchFamily="34" charset="-122"/>
                <a:ea typeface="微软雅黑" panose="020B0503020204020204" pitchFamily="34" charset="-122"/>
              </a:rPr>
              <a:t>美元，最后收盘时公司市值</a:t>
            </a:r>
            <a:r>
              <a:rPr lang="en-US" altLang="zh-CN" sz="1400" b="1" i="0" dirty="0">
                <a:solidFill>
                  <a:srgbClr val="121212"/>
                </a:solidFill>
                <a:effectLst/>
                <a:latin typeface="微软雅黑" panose="020B0503020204020204" pitchFamily="34" charset="-122"/>
                <a:ea typeface="微软雅黑" panose="020B0503020204020204" pitchFamily="34" charset="-122"/>
              </a:rPr>
              <a:t>29</a:t>
            </a:r>
            <a:r>
              <a:rPr lang="zh-CN" altLang="en-US" sz="1400" b="1" i="0" dirty="0">
                <a:solidFill>
                  <a:srgbClr val="121212"/>
                </a:solidFill>
                <a:effectLst/>
                <a:latin typeface="微软雅黑" panose="020B0503020204020204" pitchFamily="34" charset="-122"/>
                <a:ea typeface="微软雅黑" panose="020B0503020204020204" pitchFamily="34" charset="-122"/>
              </a:rPr>
              <a:t>亿美元</a:t>
            </a:r>
            <a:r>
              <a:rPr lang="zh-CN" altLang="en-US" sz="1400" b="0" i="0" dirty="0">
                <a:solidFill>
                  <a:srgbClr val="121212"/>
                </a:solidFill>
                <a:effectLst/>
                <a:latin typeface="微软雅黑" panose="020B0503020204020204" pitchFamily="34" charset="-122"/>
                <a:ea typeface="微软雅黑" panose="020B0503020204020204" pitchFamily="34" charset="-122"/>
              </a:rPr>
              <a:t>！美国百年企业通用动力公司花了</a:t>
            </a:r>
            <a:r>
              <a:rPr lang="en-US" altLang="zh-CN" sz="1400" b="0" i="0" dirty="0">
                <a:solidFill>
                  <a:srgbClr val="121212"/>
                </a:solidFill>
                <a:effectLst/>
                <a:latin typeface="微软雅黑" panose="020B0503020204020204" pitchFamily="34" charset="-122"/>
                <a:ea typeface="微软雅黑" panose="020B0503020204020204" pitchFamily="34" charset="-122"/>
              </a:rPr>
              <a:t>43</a:t>
            </a:r>
            <a:r>
              <a:rPr lang="zh-CN" altLang="en-US" sz="1400" b="0" i="0" dirty="0">
                <a:solidFill>
                  <a:srgbClr val="121212"/>
                </a:solidFill>
                <a:effectLst/>
                <a:latin typeface="微软雅黑" panose="020B0503020204020204" pitchFamily="34" charset="-122"/>
                <a:ea typeface="微软雅黑" panose="020B0503020204020204" pitchFamily="34" charset="-122"/>
              </a:rPr>
              <a:t>年才能达到的市值。</a:t>
            </a:r>
            <a:endParaRPr lang="en-US" altLang="zh-CN" sz="1400" b="0" i="0" dirty="0">
              <a:solidFill>
                <a:srgbClr val="121212"/>
              </a:solidFill>
              <a:effectLst/>
              <a:latin typeface="微软雅黑" panose="020B0503020204020204" pitchFamily="34" charset="-122"/>
              <a:ea typeface="微软雅黑" panose="020B0503020204020204" pitchFamily="34" charset="-122"/>
            </a:endParaRPr>
          </a:p>
          <a:p>
            <a:r>
              <a:rPr lang="en-US" altLang="zh-CN" sz="1400" dirty="0">
                <a:solidFill>
                  <a:srgbClr val="C00000"/>
                </a:solidFill>
                <a:latin typeface="微软雅黑" panose="020B0503020204020204" pitchFamily="34" charset="-122"/>
                <a:ea typeface="微软雅黑" panose="020B0503020204020204" pitchFamily="34" charset="-122"/>
              </a:rPr>
              <a:t>Netscape/</a:t>
            </a:r>
            <a:r>
              <a:rPr lang="zh-CN" altLang="en-US" sz="1400" dirty="0">
                <a:solidFill>
                  <a:srgbClr val="C00000"/>
                </a:solidFill>
                <a:latin typeface="微软雅黑" panose="020B0503020204020204" pitchFamily="34" charset="-122"/>
                <a:ea typeface="微软雅黑" panose="020B0503020204020204" pitchFamily="34" charset="-122"/>
              </a:rPr>
              <a:t>微软</a:t>
            </a:r>
            <a:r>
              <a:rPr lang="en-US" altLang="zh-CN" sz="1400" dirty="0">
                <a:solidFill>
                  <a:srgbClr val="C00000"/>
                </a:solidFill>
                <a:latin typeface="微软雅黑" panose="020B0503020204020204" pitchFamily="34" charset="-122"/>
                <a:ea typeface="微软雅黑" panose="020B0503020204020204" pitchFamily="34" charset="-122"/>
              </a:rPr>
              <a:t>IE</a:t>
            </a:r>
            <a:r>
              <a:rPr lang="zh-CN" altLang="en-US" sz="1400" dirty="0">
                <a:solidFill>
                  <a:srgbClr val="C00000"/>
                </a:solidFill>
                <a:latin typeface="微软雅黑" panose="020B0503020204020204" pitchFamily="34" charset="-122"/>
                <a:ea typeface="微软雅黑" panose="020B0503020204020204" pitchFamily="34" charset="-122"/>
              </a:rPr>
              <a:t>世纪之争 </a:t>
            </a:r>
            <a:r>
              <a:rPr lang="en-US" altLang="zh-CN" sz="1400" b="0" i="0" dirty="0">
                <a:solidFill>
                  <a:srgbClr val="121212"/>
                </a:solidFill>
                <a:effectLst/>
                <a:latin typeface="微软雅黑" panose="020B0503020204020204" pitchFamily="34" charset="-122"/>
                <a:ea typeface="微软雅黑" panose="020B0503020204020204" pitchFamily="34" charset="-122"/>
              </a:rPr>
              <a:t>https://</a:t>
            </a:r>
            <a:r>
              <a:rPr lang="en-US" altLang="zh-CN" sz="1400" b="0" i="0" dirty="0" err="1">
                <a:solidFill>
                  <a:srgbClr val="121212"/>
                </a:solidFill>
                <a:effectLst/>
                <a:latin typeface="微软雅黑" panose="020B0503020204020204" pitchFamily="34" charset="-122"/>
                <a:ea typeface="微软雅黑" panose="020B0503020204020204" pitchFamily="34" charset="-122"/>
              </a:rPr>
              <a:t>blog.csdn.net</a:t>
            </a:r>
            <a:r>
              <a:rPr lang="en-US" altLang="zh-CN" sz="1400" b="0" i="0" dirty="0">
                <a:solidFill>
                  <a:srgbClr val="121212"/>
                </a:solidFill>
                <a:effectLst/>
                <a:latin typeface="微软雅黑" panose="020B0503020204020204" pitchFamily="34" charset="-122"/>
                <a:ea typeface="微软雅黑" panose="020B0503020204020204" pitchFamily="34" charset="-122"/>
              </a:rPr>
              <a:t>/sxzxiaofeng168/article/details/100031347</a:t>
            </a:r>
            <a:endParaRPr lang="en-US" altLang="zh-CN" sz="1400" b="0" i="0" dirty="0">
              <a:solidFill>
                <a:srgbClr val="121212"/>
              </a:solidFill>
              <a:effectLst/>
              <a:latin typeface="微软雅黑" panose="020B0503020204020204" pitchFamily="34" charset="-122"/>
              <a:ea typeface="微软雅黑" panose="020B0503020204020204" pitchFamily="34" charset="-122"/>
            </a:endParaRPr>
          </a:p>
          <a:p>
            <a:endParaRPr lang="en-US" altLang="zh-CN" sz="1400" b="0" i="0" dirty="0">
              <a:solidFill>
                <a:srgbClr val="121212"/>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微软雅黑" panose="020B0503020204020204" pitchFamily="34" charset="-122"/>
                <a:ea typeface="微软雅黑" panose="020B0503020204020204" pitchFamily="34" charset="-122"/>
              </a:rPr>
              <a:t>2000 </a:t>
            </a:r>
            <a:r>
              <a:rPr lang="zh-CN" altLang="en-US" sz="1400" dirty="0">
                <a:latin typeface="微软雅黑" panose="020B0503020204020204" pitchFamily="34" charset="-122"/>
                <a:ea typeface="微软雅黑" panose="020B0503020204020204" pitchFamily="34" charset="-122"/>
              </a:rPr>
              <a:t>年，互联网泡沫破灭。，进入低调发展阶段，期间仍然诞生了很多知名的互联网公司：</a:t>
            </a:r>
            <a:endParaRPr lang="zh-CN" altLang="en-US" sz="14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solidFill>
                  <a:srgbClr val="333333"/>
                </a:solidFill>
                <a:latin typeface="微软雅黑" panose="020B0503020204020204" pitchFamily="34" charset="-122"/>
                <a:ea typeface="微软雅黑" panose="020B0503020204020204" pitchFamily="34" charset="-122"/>
              </a:rPr>
              <a:t>Myspace</a:t>
            </a:r>
            <a:r>
              <a:rPr lang="zh-CN" altLang="en-US" sz="1400" dirty="0">
                <a:solidFill>
                  <a:srgbClr val="333333"/>
                </a:solidFill>
                <a:latin typeface="微软雅黑" panose="020B0503020204020204" pitchFamily="34" charset="-122"/>
                <a:ea typeface="微软雅黑" panose="020B0503020204020204" pitchFamily="34" charset="-122"/>
              </a:rPr>
              <a:t>、</a:t>
            </a:r>
            <a:r>
              <a:rPr lang="en-US" altLang="zh-CN" sz="1400" dirty="0">
                <a:solidFill>
                  <a:srgbClr val="333333"/>
                </a:solidFill>
                <a:latin typeface="微软雅黑" panose="020B0503020204020204" pitchFamily="34" charset="-122"/>
                <a:ea typeface="微软雅黑" panose="020B0503020204020204" pitchFamily="34" charset="-122"/>
              </a:rPr>
              <a:t>Skype</a:t>
            </a:r>
            <a:r>
              <a:rPr lang="zh-CN" altLang="en-US" sz="1400" dirty="0">
                <a:solidFill>
                  <a:srgbClr val="333333"/>
                </a:solidFill>
                <a:latin typeface="微软雅黑" panose="020B0503020204020204" pitchFamily="34" charset="-122"/>
                <a:ea typeface="微软雅黑" panose="020B0503020204020204" pitchFamily="34" charset="-122"/>
              </a:rPr>
              <a:t>、</a:t>
            </a:r>
            <a:r>
              <a:rPr lang="en-US" altLang="zh-CN" sz="1400" dirty="0">
                <a:solidFill>
                  <a:srgbClr val="333333"/>
                </a:solidFill>
                <a:latin typeface="微软雅黑" panose="020B0503020204020204" pitchFamily="34" charset="-122"/>
                <a:ea typeface="微软雅黑" panose="020B0503020204020204" pitchFamily="34" charset="-122"/>
              </a:rPr>
              <a:t>Safari</a:t>
            </a:r>
            <a:r>
              <a:rPr lang="zh-CN" altLang="en-US" sz="1400" dirty="0">
                <a:solidFill>
                  <a:srgbClr val="333333"/>
                </a:solidFill>
                <a:latin typeface="微软雅黑" panose="020B0503020204020204" pitchFamily="34" charset="-122"/>
                <a:ea typeface="微软雅黑" panose="020B0503020204020204" pitchFamily="34" charset="-122"/>
              </a:rPr>
              <a:t>，</a:t>
            </a:r>
            <a:r>
              <a:rPr lang="en-US" altLang="zh-CN" sz="1400" dirty="0">
                <a:solidFill>
                  <a:srgbClr val="333333"/>
                </a:solidFill>
                <a:latin typeface="微软雅黑" panose="020B0503020204020204" pitchFamily="34" charset="-122"/>
                <a:ea typeface="微软雅黑" panose="020B0503020204020204" pitchFamily="34" charset="-122"/>
              </a:rPr>
              <a:t>Facebook</a:t>
            </a:r>
            <a:r>
              <a:rPr lang="zh-CN" altLang="en-US" sz="1400" dirty="0">
                <a:solidFill>
                  <a:srgbClr val="333333"/>
                </a:solidFill>
                <a:latin typeface="微软雅黑" panose="020B0503020204020204" pitchFamily="34" charset="-122"/>
                <a:ea typeface="微软雅黑" panose="020B0503020204020204" pitchFamily="34" charset="-122"/>
              </a:rPr>
              <a:t>，</a:t>
            </a:r>
            <a:r>
              <a:rPr lang="en-US" altLang="zh-CN" sz="1400" dirty="0">
                <a:solidFill>
                  <a:srgbClr val="333333"/>
                </a:solidFill>
                <a:latin typeface="微软雅黑" panose="020B0503020204020204" pitchFamily="34" charset="-122"/>
                <a:ea typeface="微软雅黑" panose="020B0503020204020204" pitchFamily="34" charset="-122"/>
              </a:rPr>
              <a:t>Twitter</a:t>
            </a:r>
            <a:r>
              <a:rPr lang="zh-CN" altLang="en-US" sz="1400" dirty="0">
                <a:solidFill>
                  <a:srgbClr val="333333"/>
                </a:solidFill>
                <a:latin typeface="微软雅黑" panose="020B0503020204020204" pitchFamily="34" charset="-122"/>
                <a:ea typeface="微软雅黑" panose="020B0503020204020204" pitchFamily="34" charset="-122"/>
              </a:rPr>
              <a:t>，</a:t>
            </a:r>
            <a:r>
              <a:rPr lang="en-US" altLang="zh-CN" sz="1400" dirty="0" err="1">
                <a:solidFill>
                  <a:srgbClr val="333333"/>
                </a:solidFill>
                <a:latin typeface="微软雅黑" panose="020B0503020204020204" pitchFamily="34" charset="-122"/>
                <a:ea typeface="微软雅黑" panose="020B0503020204020204" pitchFamily="34" charset="-122"/>
              </a:rPr>
              <a:t>youtube</a:t>
            </a:r>
            <a:r>
              <a:rPr lang="zh-CN" altLang="en-US" sz="1400" dirty="0">
                <a:solidFill>
                  <a:srgbClr val="333333"/>
                </a:solidFill>
                <a:latin typeface="微软雅黑" panose="020B0503020204020204" pitchFamily="34" charset="-122"/>
                <a:ea typeface="微软雅黑" panose="020B0503020204020204" pitchFamily="34" charset="-122"/>
              </a:rPr>
              <a:t>，土豆，</a:t>
            </a:r>
            <a:r>
              <a:rPr lang="en-US" altLang="zh-CN" sz="1400" dirty="0" err="1">
                <a:solidFill>
                  <a:srgbClr val="333333"/>
                </a:solidFill>
                <a:latin typeface="微软雅黑" panose="020B0503020204020204" pitchFamily="34" charset="-122"/>
                <a:ea typeface="微软雅黑" panose="020B0503020204020204" pitchFamily="34" charset="-122"/>
              </a:rPr>
              <a:t>youku</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2007 </a:t>
            </a:r>
            <a:r>
              <a:rPr lang="zh-CN" altLang="en-US" sz="1400" dirty="0">
                <a:latin typeface="微软雅黑" panose="020B0503020204020204" pitchFamily="34" charset="-122"/>
                <a:ea typeface="微软雅黑" panose="020B0503020204020204" pitchFamily="34" charset="-122"/>
              </a:rPr>
              <a:t>年，美国苹果公司推出 </a:t>
            </a:r>
            <a:r>
              <a:rPr lang="en-US" altLang="zh-CN" sz="1400" dirty="0">
                <a:latin typeface="微软雅黑" panose="020B0503020204020204" pitchFamily="34" charset="-122"/>
                <a:ea typeface="微软雅黑" panose="020B0503020204020204" pitchFamily="34" charset="-122"/>
              </a:rPr>
              <a:t>iPhone </a:t>
            </a:r>
            <a:r>
              <a:rPr lang="zh-CN" altLang="en-US" sz="1400" dirty="0">
                <a:latin typeface="微软雅黑" panose="020B0503020204020204" pitchFamily="34" charset="-122"/>
                <a:ea typeface="微软雅黑" panose="020B0503020204020204" pitchFamily="34" charset="-122"/>
              </a:rPr>
              <a:t>手机。 </a:t>
            </a:r>
            <a:r>
              <a:rPr lang="en-US" altLang="zh-CN" sz="1400" dirty="0">
                <a:latin typeface="微软雅黑" panose="020B0503020204020204" pitchFamily="34" charset="-122"/>
                <a:ea typeface="微软雅黑" panose="020B0503020204020204" pitchFamily="34" charset="-122"/>
              </a:rPr>
              <a:t>2008 </a:t>
            </a:r>
            <a:r>
              <a:rPr lang="zh-CN" altLang="en-US" sz="1400" dirty="0">
                <a:latin typeface="微软雅黑" panose="020B0503020204020204" pitchFamily="34" charset="-122"/>
                <a:ea typeface="微软雅黑" panose="020B0503020204020204" pitchFamily="34" charset="-122"/>
              </a:rPr>
              <a:t>年，美国谷歌公司推出安卓手机系统 （</a:t>
            </a:r>
            <a:r>
              <a:rPr lang="en-US" altLang="zh-CN" sz="1400" dirty="0">
                <a:latin typeface="微软雅黑" panose="020B0503020204020204" pitchFamily="34" charset="-122"/>
                <a:ea typeface="微软雅黑" panose="020B0503020204020204" pitchFamily="34" charset="-122"/>
              </a:rPr>
              <a:t>Android</a:t>
            </a:r>
            <a:r>
              <a:rPr lang="zh-CN" altLang="en-US" sz="1400" dirty="0">
                <a:latin typeface="微软雅黑" panose="020B0503020204020204" pitchFamily="34" charset="-122"/>
                <a:ea typeface="微软雅黑" panose="020B0503020204020204" pitchFamily="34" charset="-122"/>
              </a:rPr>
              <a:t>）。 </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由此，互联网发展正式开始了移动互联阶段</a:t>
            </a:r>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进入移动互联网阶段后，各种应用爆炸性增长，网络不在只是娱乐社交的工具，互联网</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成了各种颠覆传统经济的催化剂，打车、租房为代表的共享经济，以及各种网购平台、教育，直播带货等新经济形式层出不穷。</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“互联网</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”成了创业的方向；以云、</a:t>
            </a:r>
            <a:r>
              <a:rPr lang="en-US" altLang="zh-CN" sz="1400" dirty="0">
                <a:latin typeface="微软雅黑" panose="020B0503020204020204" pitchFamily="34" charset="-122"/>
                <a:ea typeface="微软雅黑" panose="020B0503020204020204" pitchFamily="34" charset="-122"/>
              </a:rPr>
              <a:t>SDN</a:t>
            </a:r>
            <a:r>
              <a:rPr lang="zh-CN" altLang="en-US" sz="1400" dirty="0">
                <a:latin typeface="微软雅黑" panose="020B0503020204020204" pitchFamily="34" charset="-122"/>
                <a:ea typeface="微软雅黑" panose="020B0503020204020204" pitchFamily="34" charset="-122"/>
              </a:rPr>
              <a:t>、高速网络、</a:t>
            </a:r>
            <a:r>
              <a:rPr lang="en-US" altLang="zh-CN" sz="1400" dirty="0">
                <a:latin typeface="微软雅黑" panose="020B0503020204020204" pitchFamily="34" charset="-122"/>
                <a:ea typeface="微软雅黑" panose="020B0503020204020204" pitchFamily="34" charset="-122"/>
              </a:rPr>
              <a:t>AI</a:t>
            </a:r>
            <a:r>
              <a:rPr lang="zh-CN" altLang="en-US" sz="1400" dirty="0">
                <a:latin typeface="微软雅黑" panose="020B0503020204020204" pitchFamily="34" charset="-122"/>
                <a:ea typeface="微软雅黑" panose="020B0503020204020204" pitchFamily="34" charset="-122"/>
              </a:rPr>
              <a:t>、大数据等代表新技术的叠加，更提升了网络在经济生活中的作用。</a:t>
            </a:r>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5G</a:t>
            </a:r>
            <a:r>
              <a:rPr lang="zh-CN" altLang="en-US" sz="1400" dirty="0">
                <a:latin typeface="微软雅黑" panose="020B0503020204020204" pitchFamily="34" charset="-122"/>
                <a:ea typeface="微软雅黑" panose="020B0503020204020204" pitchFamily="34" charset="-122"/>
              </a:rPr>
              <a:t>技术把网络技术的作用推到了新的巅峰，也成了中美贸易战中最热的话题，</a:t>
            </a:r>
            <a:r>
              <a:rPr lang="en-US" altLang="zh-CN" sz="1400" dirty="0">
                <a:latin typeface="微软雅黑" panose="020B0503020204020204" pitchFamily="34" charset="-122"/>
                <a:ea typeface="微软雅黑" panose="020B0503020204020204" pitchFamily="34" charset="-122"/>
              </a:rPr>
              <a:t>5G</a:t>
            </a:r>
            <a:r>
              <a:rPr lang="zh-CN" altLang="en-US" sz="1400" dirty="0">
                <a:latin typeface="微软雅黑" panose="020B0503020204020204" pitchFamily="34" charset="-122"/>
                <a:ea typeface="微软雅黑" panose="020B0503020204020204" pitchFamily="34" charset="-122"/>
              </a:rPr>
              <a:t>成了国家间战略竞争的焦点。</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5G </a:t>
            </a:r>
            <a:r>
              <a:rPr lang="zh-CN" altLang="en-US" sz="1400" dirty="0">
                <a:latin typeface="微软雅黑" panose="020B0503020204020204" pitchFamily="34" charset="-122"/>
                <a:ea typeface="微软雅黑" panose="020B0503020204020204" pitchFamily="34" charset="-122"/>
              </a:rPr>
              <a:t>不再仅限于人的通信，未来</a:t>
            </a:r>
            <a:r>
              <a:rPr lang="en-US" altLang="zh-CN" sz="1400" dirty="0">
                <a:latin typeface="微软雅黑" panose="020B0503020204020204" pitchFamily="34" charset="-122"/>
                <a:ea typeface="微软雅黑" panose="020B0503020204020204" pitchFamily="34" charset="-122"/>
              </a:rPr>
              <a:t>5G</a:t>
            </a:r>
            <a:r>
              <a:rPr lang="zh-CN" altLang="en-US" sz="1400" dirty="0">
                <a:latin typeface="微软雅黑" panose="020B0503020204020204" pitchFamily="34" charset="-122"/>
                <a:ea typeface="微软雅黑" panose="020B0503020204020204" pitchFamily="34" charset="-122"/>
              </a:rPr>
              <a:t>将成为人与物，机器与机器之间通信的工具，万物互联的基础设施。</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它的代表性产品：车联网，物联网，</a:t>
            </a:r>
            <a:r>
              <a:rPr lang="en-US" altLang="zh-CN" sz="1400" dirty="0">
                <a:latin typeface="微软雅黑" panose="020B0503020204020204" pitchFamily="34" charset="-122"/>
                <a:ea typeface="微软雅黑" panose="020B0503020204020204" pitchFamily="34" charset="-122"/>
              </a:rPr>
              <a:t>5GtoB</a:t>
            </a:r>
            <a:r>
              <a:rPr lang="zh-CN" altLang="en-US" sz="1400" dirty="0">
                <a:latin typeface="微软雅黑" panose="020B0503020204020204" pitchFamily="34" charset="-122"/>
                <a:ea typeface="微软雅黑" panose="020B0503020204020204" pitchFamily="34" charset="-122"/>
              </a:rPr>
              <a:t>在各种工业中的应用。前面提到了无人码头，远程手术的底层网络。</a:t>
            </a:r>
            <a:endParaRPr lang="en-US" altLang="zh-CN"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latin typeface="微软雅黑" panose="020B0503020204020204" pitchFamily="34" charset="-122"/>
                <a:ea typeface="微软雅黑" panose="020B0503020204020204" pitchFamily="34" charset="-122"/>
              </a:rPr>
              <a:t>回顾互联网应用业务发展过程，可以看出一些重要规律：</a:t>
            </a:r>
            <a:endParaRPr lang="en-US" altLang="zh-CN" sz="1400" b="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latin typeface="微软雅黑" panose="020B0503020204020204" pitchFamily="34" charset="-122"/>
                <a:ea typeface="微软雅黑" panose="020B0503020204020204" pitchFamily="34" charset="-122"/>
              </a:rPr>
              <a:t>商业需求是核心驱动力，技术创新提供重要基础</a:t>
            </a:r>
            <a:endParaRPr lang="zh-CN" altLang="en-US" sz="1400" b="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latin typeface="微软雅黑" panose="020B0503020204020204" pitchFamily="34" charset="-122"/>
                <a:ea typeface="微软雅黑" panose="020B0503020204020204" pitchFamily="34" charset="-122"/>
              </a:rPr>
              <a:t>有线</a:t>
            </a:r>
            <a:r>
              <a:rPr lang="en-US" altLang="zh-CN" sz="1400" b="0" dirty="0">
                <a:latin typeface="微软雅黑" panose="020B0503020204020204" pitchFamily="34" charset="-122"/>
                <a:ea typeface="微软雅黑" panose="020B0503020204020204" pitchFamily="34" charset="-122"/>
              </a:rPr>
              <a:t>=&gt;</a:t>
            </a:r>
            <a:r>
              <a:rPr lang="zh-CN" altLang="en-US" sz="1400" b="0" dirty="0">
                <a:latin typeface="微软雅黑" panose="020B0503020204020204" pitchFamily="34" charset="-122"/>
                <a:ea typeface="微软雅黑" panose="020B0503020204020204" pitchFamily="34" charset="-122"/>
              </a:rPr>
              <a:t>无线</a:t>
            </a:r>
            <a:r>
              <a:rPr lang="en-US" altLang="zh-CN" sz="1400" b="0" dirty="0">
                <a:latin typeface="微软雅黑" panose="020B0503020204020204" pitchFamily="34" charset="-122"/>
                <a:ea typeface="微软雅黑" panose="020B0503020204020204" pitchFamily="34" charset="-122"/>
              </a:rPr>
              <a:t>=&gt;</a:t>
            </a:r>
            <a:r>
              <a:rPr lang="zh-CN" altLang="en-US" sz="1400" b="0" dirty="0">
                <a:latin typeface="微软雅黑" panose="020B0503020204020204" pitchFamily="34" charset="-122"/>
                <a:ea typeface="微软雅黑" panose="020B0503020204020204" pitchFamily="34" charset="-122"/>
              </a:rPr>
              <a:t>广覆盖：台式机，笔记本，手机；人们在线方式和在线时长也相应变化，应用业务类型也响应变化</a:t>
            </a:r>
            <a:endParaRPr lang="en-US" altLang="zh-CN" sz="1400" b="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latin typeface="微软雅黑" panose="020B0503020204020204" pitchFamily="34" charset="-122"/>
                <a:ea typeface="微软雅黑" panose="020B0503020204020204" pitchFamily="34" charset="-122"/>
              </a:rPr>
              <a:t>网络应用</a:t>
            </a:r>
            <a:r>
              <a:rPr lang="zh-CN" altLang="en-US" sz="1400" b="0" dirty="0">
                <a:solidFill>
                  <a:srgbClr val="C00000"/>
                </a:solidFill>
                <a:latin typeface="微软雅黑" panose="020B0503020204020204" pitchFamily="34" charset="-122"/>
                <a:ea typeface="微软雅黑" panose="020B0503020204020204" pitchFamily="34" charset="-122"/>
              </a:rPr>
              <a:t>一开始以下载为主，对网络要求是下行带宽要求高</a:t>
            </a:r>
            <a:endParaRPr lang="en-US" altLang="zh-CN" sz="1400" b="0" dirty="0">
              <a:solidFill>
                <a:srgbClr val="C00000"/>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solidFill>
                  <a:srgbClr val="C00000"/>
                </a:solidFill>
                <a:latin typeface="微软雅黑" panose="020B0503020204020204" pitchFamily="34" charset="-122"/>
                <a:ea typeface="微软雅黑" panose="020B0503020204020204" pitchFamily="34" charset="-122"/>
              </a:rPr>
              <a:t>随着网络能力的提升，更大带宽的应用出现，直播上行应用也逐渐出现；</a:t>
            </a:r>
            <a:endParaRPr lang="en-US" altLang="zh-CN" sz="1400" b="0" dirty="0">
              <a:latin typeface="微软雅黑" panose="020B0503020204020204" pitchFamily="34" charset="-122"/>
              <a:ea typeface="微软雅黑" panose="020B0503020204020204" pitchFamily="34" charset="-122"/>
            </a:endParaRPr>
          </a:p>
          <a:p>
            <a:r>
              <a:rPr lang="zh-CN" altLang="en-US" sz="1400" b="0" dirty="0">
                <a:latin typeface="微软雅黑" panose="020B0503020204020204" pitchFamily="34" charset="-122"/>
                <a:ea typeface="微软雅黑" panose="020B0503020204020204" pitchFamily="34" charset="-122"/>
              </a:rPr>
              <a:t>除了带宽以外，网络的延迟也成为网络的关键能力，低延时网络的普及使得能出现更多快速响应的应用。</a:t>
            </a:r>
            <a:endParaRPr lang="zh-CN" altLang="en-US" sz="1400" b="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b="0" i="0" dirty="0">
                <a:solidFill>
                  <a:srgbClr val="333333"/>
                </a:solidFill>
                <a:effectLst/>
                <a:latin typeface="微软雅黑" panose="020B0503020204020204" pitchFamily="34" charset="-122"/>
                <a:ea typeface="微软雅黑" panose="020B0503020204020204" pitchFamily="34" charset="-122"/>
              </a:rPr>
              <a:t>“NCFC”</a:t>
            </a:r>
            <a:r>
              <a:rPr lang="zh-CN" altLang="en-US" sz="1400" b="0" i="0" dirty="0">
                <a:solidFill>
                  <a:srgbClr val="333333"/>
                </a:solidFill>
                <a:effectLst/>
                <a:latin typeface="微软雅黑" panose="020B0503020204020204" pitchFamily="34" charset="-122"/>
                <a:ea typeface="微软雅黑" panose="020B0503020204020204" pitchFamily="34" charset="-122"/>
              </a:rPr>
              <a:t>（中国国家计算机与网络设施，</a:t>
            </a:r>
            <a:r>
              <a:rPr lang="en-US" altLang="zh-CN" sz="1400" b="0" i="0" dirty="0">
                <a:solidFill>
                  <a:srgbClr val="333333"/>
                </a:solidFill>
                <a:effectLst/>
                <a:latin typeface="微软雅黑" panose="020B0503020204020204" pitchFamily="34" charset="-122"/>
                <a:ea typeface="微软雅黑" panose="020B0503020204020204" pitchFamily="34" charset="-122"/>
              </a:rPr>
              <a:t>The National Computing and Networking Facility of China</a:t>
            </a:r>
            <a:r>
              <a:rPr lang="zh-CN" altLang="en-US" sz="1400" b="0" i="0" dirty="0">
                <a:solidFill>
                  <a:srgbClr val="333333"/>
                </a:solidFill>
                <a:effectLst/>
                <a:latin typeface="微软雅黑" panose="020B0503020204020204" pitchFamily="34" charset="-122"/>
                <a:ea typeface="微软雅黑" panose="020B0503020204020204" pitchFamily="34" charset="-122"/>
              </a:rPr>
              <a:t>）</a:t>
            </a:r>
            <a:endParaRPr lang="en-US" altLang="zh-CN" sz="1400" b="0" i="0" dirty="0">
              <a:solidFill>
                <a:srgbClr val="333333"/>
              </a:solidFill>
              <a:effectLst/>
              <a:latin typeface="微软雅黑" panose="020B0503020204020204" pitchFamily="34" charset="-122"/>
              <a:ea typeface="微软雅黑" panose="020B0503020204020204" pitchFamily="34" charset="-122"/>
            </a:endParaRPr>
          </a:p>
          <a:p>
            <a:r>
              <a:rPr lang="zh-CN" altLang="en-US" sz="1400" b="0" i="0" dirty="0">
                <a:solidFill>
                  <a:srgbClr val="333333"/>
                </a:solidFill>
                <a:effectLst/>
                <a:latin typeface="微软雅黑" panose="020B0503020204020204" pitchFamily="34" charset="-122"/>
                <a:ea typeface="微软雅黑" panose="020B0503020204020204" pitchFamily="34" charset="-122"/>
              </a:rPr>
              <a:t>起步阶段：</a:t>
            </a:r>
            <a:endParaRPr lang="en-US" altLang="zh-CN" sz="1400" b="0" i="0" dirty="0">
              <a:solidFill>
                <a:srgbClr val="333333"/>
              </a:solidFill>
              <a:effectLst/>
              <a:latin typeface="微软雅黑" panose="020B0503020204020204" pitchFamily="34" charset="-122"/>
              <a:ea typeface="微软雅黑" panose="020B0503020204020204" pitchFamily="34" charset="-122"/>
            </a:endParaRPr>
          </a:p>
          <a:p>
            <a:r>
              <a:rPr lang="en-US" altLang="zh-CN" sz="1400" b="0" i="0" dirty="0">
                <a:solidFill>
                  <a:srgbClr val="000000"/>
                </a:solidFill>
                <a:effectLst/>
                <a:latin typeface="微软雅黑" panose="020B0503020204020204" pitchFamily="34" charset="-122"/>
                <a:ea typeface="微软雅黑" panose="020B0503020204020204" pitchFamily="34" charset="-122"/>
              </a:rPr>
              <a:t>1987</a:t>
            </a:r>
            <a:r>
              <a:rPr lang="zh-CN" altLang="en-US" sz="1400" b="0" i="0" dirty="0">
                <a:solidFill>
                  <a:srgbClr val="000000"/>
                </a:solidFill>
                <a:effectLst/>
                <a:latin typeface="微软雅黑" panose="020B0503020204020204" pitchFamily="34" charset="-122"/>
                <a:ea typeface="微软雅黑" panose="020B0503020204020204" pitchFamily="34" charset="-122"/>
              </a:rPr>
              <a:t>年</a:t>
            </a:r>
            <a:r>
              <a:rPr lang="en-US" altLang="zh-CN" sz="1400" b="0" i="0" dirty="0">
                <a:solidFill>
                  <a:srgbClr val="000000"/>
                </a:solidFill>
                <a:effectLst/>
                <a:latin typeface="微软雅黑" panose="020B0503020204020204" pitchFamily="34" charset="-122"/>
                <a:ea typeface="微软雅黑" panose="020B0503020204020204" pitchFamily="34" charset="-122"/>
              </a:rPr>
              <a:t>9</a:t>
            </a:r>
            <a:r>
              <a:rPr lang="zh-CN" altLang="en-US" sz="1400" b="0" i="0" dirty="0">
                <a:solidFill>
                  <a:srgbClr val="000000"/>
                </a:solidFill>
                <a:effectLst/>
                <a:latin typeface="微软雅黑" panose="020B0503020204020204" pitchFamily="34" charset="-122"/>
                <a:ea typeface="微软雅黑" panose="020B0503020204020204" pitchFamily="34" charset="-122"/>
              </a:rPr>
              <a:t>月，</a:t>
            </a:r>
            <a:r>
              <a:rPr lang="en-US" altLang="zh-CN" sz="1400" b="0" i="0" dirty="0">
                <a:solidFill>
                  <a:srgbClr val="000000"/>
                </a:solidFill>
                <a:effectLst/>
                <a:latin typeface="微软雅黑" panose="020B0503020204020204" pitchFamily="34" charset="-122"/>
                <a:ea typeface="微软雅黑" panose="020B0503020204020204" pitchFamily="34" charset="-122"/>
              </a:rPr>
              <a:t>CANET</a:t>
            </a:r>
            <a:r>
              <a:rPr lang="zh-CN" altLang="en-US" sz="1400" b="0" i="0" dirty="0">
                <a:solidFill>
                  <a:srgbClr val="000000"/>
                </a:solidFill>
                <a:effectLst/>
                <a:latin typeface="微软雅黑" panose="020B0503020204020204" pitchFamily="34" charset="-122"/>
                <a:ea typeface="微软雅黑" panose="020B0503020204020204" pitchFamily="34" charset="-122"/>
              </a:rPr>
              <a:t>（中国学术网）在北京计算机应用技术研究所内正式建成中国第一个国际互联网电子邮件节点，并于</a:t>
            </a:r>
            <a:r>
              <a:rPr lang="en-US" altLang="zh-CN" sz="1400" b="0" i="0" dirty="0">
                <a:solidFill>
                  <a:srgbClr val="000000"/>
                </a:solidFill>
                <a:effectLst/>
                <a:latin typeface="微软雅黑" panose="020B0503020204020204" pitchFamily="34" charset="-122"/>
                <a:ea typeface="微软雅黑" panose="020B0503020204020204" pitchFamily="34" charset="-122"/>
              </a:rPr>
              <a:t>9</a:t>
            </a:r>
            <a:r>
              <a:rPr lang="zh-CN" altLang="en-US" sz="1400" b="0" i="0" dirty="0">
                <a:solidFill>
                  <a:srgbClr val="000000"/>
                </a:solidFill>
                <a:effectLst/>
                <a:latin typeface="微软雅黑" panose="020B0503020204020204" pitchFamily="34" charset="-122"/>
                <a:ea typeface="微软雅黑" panose="020B0503020204020204" pitchFamily="34" charset="-122"/>
              </a:rPr>
              <a:t>月</a:t>
            </a:r>
            <a:r>
              <a:rPr lang="en-US" altLang="zh-CN" sz="1400" b="0" i="0" dirty="0">
                <a:solidFill>
                  <a:srgbClr val="000000"/>
                </a:solidFill>
                <a:effectLst/>
                <a:latin typeface="微软雅黑" panose="020B0503020204020204" pitchFamily="34" charset="-122"/>
                <a:ea typeface="微软雅黑" panose="020B0503020204020204" pitchFamily="34" charset="-122"/>
              </a:rPr>
              <a:t>14</a:t>
            </a:r>
            <a:r>
              <a:rPr lang="zh-CN" altLang="en-US" sz="1400" b="0" i="0" dirty="0">
                <a:solidFill>
                  <a:srgbClr val="000000"/>
                </a:solidFill>
                <a:effectLst/>
                <a:latin typeface="微软雅黑" panose="020B0503020204020204" pitchFamily="34" charset="-122"/>
                <a:ea typeface="微软雅黑" panose="020B0503020204020204" pitchFamily="34" charset="-122"/>
              </a:rPr>
              <a:t>日发出了中国第一封电子邮件：“</a:t>
            </a:r>
            <a:r>
              <a:rPr lang="en-US" altLang="zh-CN" sz="1400" b="0" i="0" dirty="0">
                <a:solidFill>
                  <a:srgbClr val="000000"/>
                </a:solidFill>
                <a:effectLst/>
                <a:latin typeface="微软雅黑" panose="020B0503020204020204" pitchFamily="34" charset="-122"/>
                <a:ea typeface="微软雅黑" panose="020B0503020204020204" pitchFamily="34" charset="-122"/>
              </a:rPr>
              <a:t>Across the Great Wall we can reach every corner in the world.(</a:t>
            </a:r>
            <a:r>
              <a:rPr lang="zh-CN" altLang="en-US" sz="1400" b="0" i="0" dirty="0">
                <a:solidFill>
                  <a:srgbClr val="000000"/>
                </a:solidFill>
                <a:effectLst/>
                <a:latin typeface="微软雅黑" panose="020B0503020204020204" pitchFamily="34" charset="-122"/>
                <a:ea typeface="微软雅黑" panose="020B0503020204020204" pitchFamily="34" charset="-122"/>
              </a:rPr>
              <a:t>越过长城，走向世界</a:t>
            </a:r>
            <a:r>
              <a:rPr lang="en-US" altLang="zh-CN" sz="1400" b="0" i="0" dirty="0">
                <a:solidFill>
                  <a:srgbClr val="000000"/>
                </a:solidFill>
                <a:effectLst/>
                <a:latin typeface="微软雅黑" panose="020B0503020204020204" pitchFamily="34" charset="-122"/>
                <a:ea typeface="微软雅黑" panose="020B0503020204020204" pitchFamily="34" charset="-122"/>
              </a:rPr>
              <a:t>)”</a:t>
            </a:r>
            <a:r>
              <a:rPr lang="zh-CN" altLang="en-US" sz="1400" b="0" i="0" dirty="0">
                <a:solidFill>
                  <a:srgbClr val="000000"/>
                </a:solidFill>
                <a:effectLst/>
                <a:latin typeface="微软雅黑" panose="020B0503020204020204" pitchFamily="34" charset="-122"/>
                <a:ea typeface="微软雅黑" panose="020B0503020204020204" pitchFamily="34" charset="-122"/>
              </a:rPr>
              <a:t>，揭开了中国人使用互联网的序幕。</a:t>
            </a:r>
            <a:endParaRPr lang="en-US" altLang="zh-CN" sz="1400" b="0" i="0" dirty="0">
              <a:solidFill>
                <a:srgbClr val="000000"/>
              </a:solidFill>
              <a:effectLst/>
              <a:latin typeface="微软雅黑" panose="020B0503020204020204" pitchFamily="34" charset="-122"/>
              <a:ea typeface="微软雅黑" panose="020B0503020204020204" pitchFamily="34" charset="-122"/>
            </a:endParaRPr>
          </a:p>
          <a:p>
            <a:r>
              <a:rPr lang="en-US" altLang="zh-CN" sz="1400" b="0" i="0" dirty="0">
                <a:solidFill>
                  <a:srgbClr val="333333"/>
                </a:solidFill>
                <a:effectLst/>
                <a:latin typeface="微软雅黑" panose="020B0503020204020204" pitchFamily="34" charset="-122"/>
                <a:ea typeface="微软雅黑" panose="020B0503020204020204" pitchFamily="34" charset="-122"/>
              </a:rPr>
              <a:t>1994</a:t>
            </a:r>
            <a:r>
              <a:rPr lang="zh-CN" altLang="en-US" sz="1400" b="0" i="0" dirty="0">
                <a:solidFill>
                  <a:srgbClr val="333333"/>
                </a:solidFill>
                <a:effectLst/>
                <a:latin typeface="微软雅黑" panose="020B0503020204020204" pitchFamily="34" charset="-122"/>
                <a:ea typeface="微软雅黑" panose="020B0503020204020204" pitchFamily="34" charset="-122"/>
              </a:rPr>
              <a:t>年</a:t>
            </a:r>
            <a:r>
              <a:rPr lang="en-US" altLang="zh-CN" sz="1400" b="0" i="0" dirty="0">
                <a:solidFill>
                  <a:srgbClr val="333333"/>
                </a:solidFill>
                <a:effectLst/>
                <a:latin typeface="微软雅黑" panose="020B0503020204020204" pitchFamily="34" charset="-122"/>
                <a:ea typeface="微软雅黑" panose="020B0503020204020204" pitchFamily="34" charset="-122"/>
              </a:rPr>
              <a:t>4</a:t>
            </a:r>
            <a:r>
              <a:rPr lang="zh-CN" altLang="en-US" sz="1400" b="0" i="0" dirty="0">
                <a:solidFill>
                  <a:srgbClr val="333333"/>
                </a:solidFill>
                <a:effectLst/>
                <a:latin typeface="微软雅黑" panose="020B0503020204020204" pitchFamily="34" charset="-122"/>
                <a:ea typeface="微软雅黑" panose="020B0503020204020204" pitchFamily="34" charset="-122"/>
              </a:rPr>
              <a:t>月</a:t>
            </a:r>
            <a:r>
              <a:rPr lang="en-US" altLang="zh-CN" sz="1400" b="0" i="0" dirty="0">
                <a:solidFill>
                  <a:srgbClr val="333333"/>
                </a:solidFill>
                <a:effectLst/>
                <a:latin typeface="微软雅黑" panose="020B0503020204020204" pitchFamily="34" charset="-122"/>
                <a:ea typeface="微软雅黑" panose="020B0503020204020204" pitchFamily="34" charset="-122"/>
              </a:rPr>
              <a:t>20</a:t>
            </a:r>
            <a:r>
              <a:rPr lang="zh-CN" altLang="en-US" sz="1400" b="0" i="0" dirty="0">
                <a:solidFill>
                  <a:srgbClr val="333333"/>
                </a:solidFill>
                <a:effectLst/>
                <a:latin typeface="微软雅黑" panose="020B0503020204020204" pitchFamily="34" charset="-122"/>
                <a:ea typeface="微软雅黑" panose="020B0503020204020204" pitchFamily="34" charset="-122"/>
              </a:rPr>
              <a:t>日，</a:t>
            </a:r>
            <a:r>
              <a:rPr lang="en-US" altLang="zh-CN" sz="1400" b="0" i="0" dirty="0">
                <a:solidFill>
                  <a:srgbClr val="333333"/>
                </a:solidFill>
                <a:effectLst/>
                <a:latin typeface="微软雅黑" panose="020B0503020204020204" pitchFamily="34" charset="-122"/>
                <a:ea typeface="微软雅黑" panose="020B0503020204020204" pitchFamily="34" charset="-122"/>
              </a:rPr>
              <a:t>NCFC</a:t>
            </a:r>
            <a:r>
              <a:rPr lang="zh-CN" altLang="en-US" sz="1400" b="0" i="0" dirty="0">
                <a:solidFill>
                  <a:srgbClr val="333333"/>
                </a:solidFill>
                <a:effectLst/>
                <a:latin typeface="微软雅黑" panose="020B0503020204020204" pitchFamily="34" charset="-122"/>
                <a:ea typeface="微软雅黑" panose="020B0503020204020204" pitchFamily="34" charset="-122"/>
              </a:rPr>
              <a:t>工程通过美国</a:t>
            </a:r>
            <a:r>
              <a:rPr lang="en-US" altLang="zh-CN" sz="1400" b="0" i="0" dirty="0">
                <a:solidFill>
                  <a:srgbClr val="333333"/>
                </a:solidFill>
                <a:effectLst/>
                <a:latin typeface="微软雅黑" panose="020B0503020204020204" pitchFamily="34" charset="-122"/>
                <a:ea typeface="微软雅黑" panose="020B0503020204020204" pitchFamily="34" charset="-122"/>
              </a:rPr>
              <a:t>Sprint</a:t>
            </a:r>
            <a:r>
              <a:rPr lang="zh-CN" altLang="en-US" sz="1400" b="0" i="0" dirty="0">
                <a:solidFill>
                  <a:srgbClr val="333333"/>
                </a:solidFill>
                <a:effectLst/>
                <a:latin typeface="微软雅黑" panose="020B0503020204020204" pitchFamily="34" charset="-122"/>
                <a:ea typeface="微软雅黑" panose="020B0503020204020204" pitchFamily="34" charset="-122"/>
              </a:rPr>
              <a:t>公司连入</a:t>
            </a:r>
            <a:r>
              <a:rPr lang="en-US" altLang="zh-CN" sz="1400" b="0" i="0" dirty="0">
                <a:solidFill>
                  <a:srgbClr val="333333"/>
                </a:solidFill>
                <a:effectLst/>
                <a:latin typeface="微软雅黑" panose="020B0503020204020204" pitchFamily="34" charset="-122"/>
                <a:ea typeface="微软雅黑" panose="020B0503020204020204" pitchFamily="34" charset="-122"/>
              </a:rPr>
              <a:t>Internet</a:t>
            </a:r>
            <a:r>
              <a:rPr lang="zh-CN" altLang="en-US" sz="1400" b="0" i="0" dirty="0">
                <a:solidFill>
                  <a:srgbClr val="333333"/>
                </a:solidFill>
                <a:effectLst/>
                <a:latin typeface="微软雅黑" panose="020B0503020204020204" pitchFamily="34" charset="-122"/>
                <a:ea typeface="微软雅黑" panose="020B0503020204020204" pitchFamily="34" charset="-122"/>
              </a:rPr>
              <a:t>的</a:t>
            </a:r>
            <a:r>
              <a:rPr lang="en-US" altLang="zh-CN" sz="1400" b="0" i="0" dirty="0">
                <a:solidFill>
                  <a:srgbClr val="333333"/>
                </a:solidFill>
                <a:effectLst/>
                <a:latin typeface="微软雅黑" panose="020B0503020204020204" pitchFamily="34" charset="-122"/>
                <a:ea typeface="微软雅黑" panose="020B0503020204020204" pitchFamily="34" charset="-122"/>
              </a:rPr>
              <a:t>64K</a:t>
            </a:r>
            <a:r>
              <a:rPr lang="zh-CN" altLang="en-US" sz="1400" b="0" i="0" dirty="0">
                <a:solidFill>
                  <a:srgbClr val="333333"/>
                </a:solidFill>
                <a:effectLst/>
                <a:latin typeface="微软雅黑" panose="020B0503020204020204" pitchFamily="34" charset="-122"/>
                <a:ea typeface="微软雅黑" panose="020B0503020204020204" pitchFamily="34" charset="-122"/>
              </a:rPr>
              <a:t>国际专线开通，实现了与</a:t>
            </a:r>
            <a:r>
              <a:rPr lang="en-US" altLang="zh-CN" sz="1400" b="0" i="0" dirty="0">
                <a:solidFill>
                  <a:srgbClr val="333333"/>
                </a:solidFill>
                <a:effectLst/>
                <a:latin typeface="微软雅黑" panose="020B0503020204020204" pitchFamily="34" charset="-122"/>
                <a:ea typeface="微软雅黑" panose="020B0503020204020204" pitchFamily="34" charset="-122"/>
              </a:rPr>
              <a:t>Internet</a:t>
            </a:r>
            <a:r>
              <a:rPr lang="zh-CN" altLang="en-US" sz="1400" b="0" i="0" dirty="0">
                <a:solidFill>
                  <a:srgbClr val="333333"/>
                </a:solidFill>
                <a:effectLst/>
                <a:latin typeface="微软雅黑" panose="020B0503020204020204" pitchFamily="34" charset="-122"/>
                <a:ea typeface="微软雅黑" panose="020B0503020204020204" pitchFamily="34" charset="-122"/>
              </a:rPr>
              <a:t>的全功能连接。从此中国被国际上正式承认为真正拥有全功能</a:t>
            </a:r>
            <a:r>
              <a:rPr lang="en-US" altLang="zh-CN" sz="1400" b="0" i="0" dirty="0">
                <a:solidFill>
                  <a:srgbClr val="333333"/>
                </a:solidFill>
                <a:effectLst/>
                <a:latin typeface="微软雅黑" panose="020B0503020204020204" pitchFamily="34" charset="-122"/>
                <a:ea typeface="微软雅黑" panose="020B0503020204020204" pitchFamily="34" charset="-122"/>
              </a:rPr>
              <a:t>Internet</a:t>
            </a:r>
            <a:r>
              <a:rPr lang="zh-CN" altLang="en-US" sz="1400" b="0" i="0" dirty="0">
                <a:solidFill>
                  <a:srgbClr val="333333"/>
                </a:solidFill>
                <a:effectLst/>
                <a:latin typeface="微软雅黑" panose="020B0503020204020204" pitchFamily="34" charset="-122"/>
                <a:ea typeface="微软雅黑" panose="020B0503020204020204" pitchFamily="34" charset="-122"/>
              </a:rPr>
              <a:t>的国家。此事被中国新闻界评为</a:t>
            </a:r>
            <a:r>
              <a:rPr lang="en-US" altLang="zh-CN" sz="1400" b="0" i="0" dirty="0">
                <a:solidFill>
                  <a:srgbClr val="333333"/>
                </a:solidFill>
                <a:effectLst/>
                <a:latin typeface="微软雅黑" panose="020B0503020204020204" pitchFamily="34" charset="-122"/>
                <a:ea typeface="微软雅黑" panose="020B0503020204020204" pitchFamily="34" charset="-122"/>
              </a:rPr>
              <a:t>1994</a:t>
            </a:r>
            <a:r>
              <a:rPr lang="zh-CN" altLang="en-US" sz="1400" b="0" i="0" dirty="0">
                <a:solidFill>
                  <a:srgbClr val="333333"/>
                </a:solidFill>
                <a:effectLst/>
                <a:latin typeface="微软雅黑" panose="020B0503020204020204" pitchFamily="34" charset="-122"/>
                <a:ea typeface="微软雅黑" panose="020B0503020204020204" pitchFamily="34" charset="-122"/>
              </a:rPr>
              <a:t>年中国十大科技新闻之一，被国家统计公报列为中国</a:t>
            </a:r>
            <a:r>
              <a:rPr lang="en-US" altLang="zh-CN" sz="1400" b="0" i="0" dirty="0">
                <a:solidFill>
                  <a:srgbClr val="333333"/>
                </a:solidFill>
                <a:effectLst/>
                <a:latin typeface="微软雅黑" panose="020B0503020204020204" pitchFamily="34" charset="-122"/>
                <a:ea typeface="微软雅黑" panose="020B0503020204020204" pitchFamily="34" charset="-122"/>
              </a:rPr>
              <a:t>1994</a:t>
            </a:r>
            <a:r>
              <a:rPr lang="zh-CN" altLang="en-US" sz="1400" b="0" i="0" dirty="0">
                <a:solidFill>
                  <a:srgbClr val="333333"/>
                </a:solidFill>
                <a:effectLst/>
                <a:latin typeface="微软雅黑" panose="020B0503020204020204" pitchFamily="34" charset="-122"/>
                <a:ea typeface="微软雅黑" panose="020B0503020204020204" pitchFamily="34" charset="-122"/>
              </a:rPr>
              <a:t>年重大科技成就之一。</a:t>
            </a:r>
            <a:endParaRPr lang="en-US" altLang="zh-CN" sz="1400" b="0" i="0" dirty="0">
              <a:solidFill>
                <a:srgbClr val="333333"/>
              </a:solidFill>
              <a:effectLst/>
              <a:latin typeface="微软雅黑" panose="020B0503020204020204" pitchFamily="34" charset="-122"/>
              <a:ea typeface="微软雅黑" panose="020B0503020204020204" pitchFamily="34" charset="-122"/>
            </a:endParaRPr>
          </a:p>
          <a:p>
            <a:r>
              <a:rPr lang="zh-CN" altLang="en-US" sz="1400" b="0" i="0" dirty="0">
                <a:solidFill>
                  <a:srgbClr val="333333"/>
                </a:solidFill>
                <a:effectLst/>
                <a:latin typeface="微软雅黑" panose="020B0503020204020204" pitchFamily="34" charset="-122"/>
                <a:ea typeface="微软雅黑" panose="020B0503020204020204" pitchFamily="34" charset="-122"/>
              </a:rPr>
              <a:t>经过三十多年的发展，我国的网络规模发生了翻天覆地的变化</a:t>
            </a:r>
            <a:r>
              <a:rPr lang="en-US" altLang="zh-CN" sz="1400" b="0" i="0" dirty="0">
                <a:solidFill>
                  <a:srgbClr val="333333"/>
                </a:solidFill>
                <a:effectLst/>
                <a:latin typeface="微软雅黑" panose="020B0503020204020204" pitchFamily="34" charset="-122"/>
                <a:ea typeface="微软雅黑" panose="020B0503020204020204" pitchFamily="34" charset="-122"/>
              </a:rPr>
              <a:t>……</a:t>
            </a:r>
            <a:endParaRPr lang="en-US" altLang="zh-CN" sz="1400" b="0" i="0" dirty="0">
              <a:solidFill>
                <a:srgbClr val="333333"/>
              </a:solidFill>
              <a:effectLst/>
              <a:latin typeface="微软雅黑" panose="020B0503020204020204" pitchFamily="34" charset="-122"/>
              <a:ea typeface="微软雅黑" panose="020B0503020204020204" pitchFamily="34" charset="-122"/>
            </a:endParaRPr>
          </a:p>
          <a:p>
            <a:r>
              <a:rPr lang="zh-CN" altLang="en-US" sz="1400" b="0" i="0" dirty="0">
                <a:solidFill>
                  <a:srgbClr val="333333"/>
                </a:solidFill>
                <a:effectLst/>
                <a:latin typeface="微软雅黑" panose="020B0503020204020204" pitchFamily="34" charset="-122"/>
                <a:ea typeface="微软雅黑" panose="020B0503020204020204" pitchFamily="34" charset="-122"/>
              </a:rPr>
              <a:t>增强民族自豪感：中国互联网应用全球领先，美国维基百科活不下去了，但百度百科、搜狗百科等却非常活跃，中文搜索信息量暴增，我国在线</a:t>
            </a:r>
            <a:r>
              <a:rPr lang="en-US" altLang="zh-CN" sz="1400" b="0" i="0" dirty="0">
                <a:solidFill>
                  <a:srgbClr val="333333"/>
                </a:solidFill>
                <a:effectLst/>
                <a:latin typeface="微软雅黑" panose="020B0503020204020204" pitchFamily="34" charset="-122"/>
                <a:ea typeface="微软雅黑" panose="020B0503020204020204" pitchFamily="34" charset="-122"/>
              </a:rPr>
              <a:t>K12</a:t>
            </a:r>
            <a:r>
              <a:rPr lang="zh-CN" altLang="en-US" sz="1400" b="0" i="0" dirty="0">
                <a:solidFill>
                  <a:srgbClr val="333333"/>
                </a:solidFill>
                <a:effectLst/>
                <a:latin typeface="微软雅黑" panose="020B0503020204020204" pitchFamily="34" charset="-122"/>
                <a:ea typeface="微软雅黑" panose="020B0503020204020204" pitchFamily="34" charset="-122"/>
              </a:rPr>
              <a:t>市场如此火爆，法语、德育、意大利语呢？是不是会衰落呢？</a:t>
            </a:r>
            <a:endParaRPr lang="en-US" altLang="zh-CN" sz="1400" b="0" i="0" dirty="0">
              <a:solidFill>
                <a:srgbClr val="333333"/>
              </a:solidFill>
              <a:effectLst/>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dirty="0"/>
              <a:t>https://</a:t>
            </a:r>
            <a:r>
              <a:rPr lang="en-US" altLang="zh-CN" sz="1400" dirty="0" err="1"/>
              <a:t>baike.baidu.com</a:t>
            </a:r>
            <a:r>
              <a:rPr lang="en-US" altLang="zh-CN" sz="1400" dirty="0"/>
              <a:t>/item/CNGI</a:t>
            </a:r>
            <a:endParaRPr lang="en-US" altLang="zh-CN" sz="1400" dirty="0"/>
          </a:p>
          <a:p>
            <a:r>
              <a:rPr lang="en-US" altLang="zh-CN" sz="1400" dirty="0"/>
              <a:t>http://</a:t>
            </a:r>
            <a:r>
              <a:rPr lang="en-US" altLang="zh-CN" sz="1400" dirty="0" err="1"/>
              <a:t>www.edu.cn</a:t>
            </a:r>
            <a:r>
              <a:rPr lang="en-US" altLang="zh-CN" sz="1400" dirty="0"/>
              <a:t>/</a:t>
            </a:r>
            <a:r>
              <a:rPr lang="en-US" altLang="zh-CN" sz="1400" dirty="0" err="1"/>
              <a:t>cernet_fu_wu</a:t>
            </a:r>
            <a:r>
              <a:rPr lang="en-US" altLang="zh-CN" sz="1400" dirty="0"/>
              <a:t>/internet_n2/internet2/201004/t20100426_469168.shtml</a:t>
            </a:r>
            <a:endParaRPr lang="en-US" altLang="zh-CN" sz="1400" dirty="0"/>
          </a:p>
          <a:p>
            <a:r>
              <a:rPr lang="zh-CN" altLang="en-US" sz="1400" dirty="0"/>
              <a:t>从战略和时间点，看出我国互联网快速发展：技术</a:t>
            </a:r>
            <a:r>
              <a:rPr lang="en-US" altLang="zh-CN" sz="1400" dirty="0"/>
              <a:t>&amp;</a:t>
            </a:r>
            <a:r>
              <a:rPr lang="zh-CN" altLang="en-US" sz="1400" dirty="0"/>
              <a:t>应用业务。</a:t>
            </a:r>
            <a:endParaRPr lang="en-US" altLang="zh-CN" sz="1400" dirty="0"/>
          </a:p>
          <a:p>
            <a:endParaRPr lang="en-US" altLang="zh-CN" sz="1400" dirty="0"/>
          </a:p>
          <a:p>
            <a:r>
              <a:rPr lang="en-US" altLang="zh-CN" sz="1400" dirty="0"/>
              <a:t>NGN</a:t>
            </a:r>
            <a:r>
              <a:rPr lang="zh-CN" altLang="en-US" sz="1400" dirty="0"/>
              <a:t>和</a:t>
            </a:r>
            <a:r>
              <a:rPr lang="en-US" altLang="zh-CN" sz="1400" dirty="0"/>
              <a:t>NGI</a:t>
            </a:r>
            <a:r>
              <a:rPr lang="zh-CN" altLang="en-US" sz="1400" dirty="0"/>
              <a:t>之争</a:t>
            </a:r>
            <a:endParaRPr lang="en-US" altLang="zh-CN" sz="1400" dirty="0"/>
          </a:p>
          <a:p>
            <a:r>
              <a:rPr lang="zh-CN" altLang="en-US" sz="1400" dirty="0"/>
              <a:t>传统电信思路：拨号上网的互联网是电话网的一个服务，好比传真也是依附在电话网上的一种服务，在此基础上发展</a:t>
            </a:r>
            <a:r>
              <a:rPr lang="en-US" altLang="zh-CN" sz="1400" dirty="0"/>
              <a:t>NGN</a:t>
            </a:r>
            <a:r>
              <a:rPr lang="zh-CN" altLang="en-US" sz="1400" dirty="0"/>
              <a:t>；底层传输使用电路交换，充分保障服务质量。</a:t>
            </a:r>
            <a:endParaRPr lang="en-US" altLang="zh-CN" sz="1400" dirty="0"/>
          </a:p>
          <a:p>
            <a:r>
              <a:rPr lang="zh-CN" altLang="en-US" sz="1400" dirty="0"/>
              <a:t>互联网思路：电话业务是互联网上的一个服务，就像电子邮件、文件传输等众多服务一样，在此基础上发展</a:t>
            </a:r>
            <a:r>
              <a:rPr lang="en-US" altLang="zh-CN" sz="1400" dirty="0"/>
              <a:t>NGI</a:t>
            </a:r>
            <a:r>
              <a:rPr lang="zh-CN" altLang="en-US" sz="1400" dirty="0"/>
              <a:t>；底层传输采用分组交换，充分支持灵活高效的复用。</a:t>
            </a:r>
            <a:endParaRPr lang="en-US" altLang="zh-CN" sz="1400" dirty="0"/>
          </a:p>
          <a:p>
            <a:r>
              <a:rPr lang="zh-CN" altLang="en-US" sz="1400" dirty="0"/>
              <a:t>最终结果：电信网络都采用了软交换，即依托分组交换来承载话音业务。分组交换的互联网胜出！</a:t>
            </a:r>
            <a:endParaRPr lang="zh-CN" altLang="en-US" sz="14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800" dirty="0"/>
              <a:t>1989</a:t>
            </a:r>
            <a:r>
              <a:rPr kumimoji="1" lang="zh-CN" altLang="en-US" sz="1800" dirty="0"/>
              <a:t>从加拿大回国投身祖国建设，时势造英雄。</a:t>
            </a:r>
            <a:endParaRPr kumimoji="1"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三个级别：地区级、省级、接入用户</a:t>
            </a:r>
            <a:endParaRPr lang="en-US" altLang="zh-CN" dirty="0"/>
          </a:p>
          <a:p>
            <a:r>
              <a:rPr lang="zh-CN" altLang="en-US" dirty="0"/>
              <a:t>八大地区中心采用</a:t>
            </a:r>
            <a:r>
              <a:rPr lang="en-US" altLang="zh-CN" dirty="0"/>
              <a:t>IBGP</a:t>
            </a:r>
            <a:r>
              <a:rPr lang="zh-CN" altLang="en-US" dirty="0"/>
              <a:t>实现全连接</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075FF09-559A-413E-B23E-0DFCD03CDBD8}"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200" dirty="0">
                <a:solidFill>
                  <a:schemeClr val="tx1"/>
                </a:solidFill>
                <a:latin typeface="+mn-lt"/>
                <a:ea typeface="+mn-ea"/>
                <a:cs typeface="+mn-cs"/>
              </a:rPr>
              <a:t>此处可以选讲我国代表性的设备厂商华为</a:t>
            </a:r>
            <a:endParaRPr lang="en-US" altLang="zh-CN" sz="1800" kern="1200" dirty="0">
              <a:solidFill>
                <a:schemeClr val="tx1"/>
              </a:solidFill>
              <a:latin typeface="+mn-lt"/>
              <a:ea typeface="+mn-ea"/>
              <a:cs typeface="+mn-cs"/>
            </a:endParaRPr>
          </a:p>
          <a:p>
            <a:r>
              <a:rPr lang="en-US" altLang="zh-CN" sz="1800" kern="1200" dirty="0">
                <a:solidFill>
                  <a:schemeClr val="tx1"/>
                </a:solidFill>
                <a:latin typeface="+mn-lt"/>
                <a:ea typeface="+mn-ea"/>
                <a:cs typeface="+mn-cs"/>
              </a:rPr>
              <a:t>https://</a:t>
            </a:r>
            <a:r>
              <a:rPr lang="en-US" altLang="zh-CN" sz="1800" kern="1200" dirty="0" err="1">
                <a:solidFill>
                  <a:schemeClr val="tx1"/>
                </a:solidFill>
                <a:latin typeface="+mn-lt"/>
                <a:ea typeface="+mn-ea"/>
                <a:cs typeface="+mn-cs"/>
              </a:rPr>
              <a:t>baike.baidu.com</a:t>
            </a:r>
            <a:r>
              <a:rPr lang="en-US" altLang="zh-CN" sz="1800" kern="1200" dirty="0">
                <a:solidFill>
                  <a:schemeClr val="tx1"/>
                </a:solidFill>
                <a:latin typeface="+mn-lt"/>
                <a:ea typeface="+mn-ea"/>
                <a:cs typeface="+mn-cs"/>
              </a:rPr>
              <a:t>/item/</a:t>
            </a:r>
            <a:r>
              <a:rPr lang="zh-CN" altLang="en-US" sz="1800" kern="1200" dirty="0">
                <a:solidFill>
                  <a:schemeClr val="tx1"/>
                </a:solidFill>
                <a:latin typeface="+mn-lt"/>
                <a:ea typeface="+mn-ea"/>
                <a:cs typeface="+mn-cs"/>
              </a:rPr>
              <a:t>华为的冬天</a:t>
            </a:r>
            <a:endParaRPr lang="en-US" altLang="zh-CN" sz="1800" kern="1200" dirty="0">
              <a:solidFill>
                <a:schemeClr val="tx1"/>
              </a:solidFill>
              <a:latin typeface="+mn-lt"/>
              <a:ea typeface="+mn-ea"/>
              <a:cs typeface="+mn-cs"/>
            </a:endParaRPr>
          </a:p>
          <a:p>
            <a:r>
              <a:rPr lang="zh-CN" altLang="en-US" sz="1800" kern="1200" dirty="0">
                <a:solidFill>
                  <a:schemeClr val="tx1"/>
                </a:solidFill>
                <a:latin typeface="+mn-lt"/>
                <a:ea typeface="+mn-ea"/>
                <a:cs typeface="+mn-cs"/>
              </a:rPr>
              <a:t>朗讯的倒下</a:t>
            </a:r>
            <a:endParaRPr lang="en-US" altLang="zh-CN" sz="1800" kern="1200" dirty="0">
              <a:solidFill>
                <a:schemeClr val="tx1"/>
              </a:solidFill>
              <a:latin typeface="+mn-lt"/>
              <a:ea typeface="+mn-ea"/>
              <a:cs typeface="+mn-cs"/>
            </a:endParaRPr>
          </a:p>
          <a:p>
            <a:r>
              <a:rPr lang="en-US" altLang="zh-CN" sz="1800" kern="1200" dirty="0">
                <a:solidFill>
                  <a:schemeClr val="tx1"/>
                </a:solidFill>
                <a:latin typeface="+mn-lt"/>
                <a:ea typeface="+mn-ea"/>
                <a:cs typeface="+mn-cs"/>
              </a:rPr>
              <a:t>https://</a:t>
            </a:r>
            <a:r>
              <a:rPr lang="en-US" altLang="zh-CN" sz="1800" kern="1200" dirty="0" err="1">
                <a:solidFill>
                  <a:schemeClr val="tx1"/>
                </a:solidFill>
                <a:latin typeface="+mn-lt"/>
                <a:ea typeface="+mn-ea"/>
                <a:cs typeface="+mn-cs"/>
              </a:rPr>
              <a:t>kuaibao.qq.com</a:t>
            </a:r>
            <a:r>
              <a:rPr lang="en-US" altLang="zh-CN" sz="1800" kern="1200" dirty="0">
                <a:solidFill>
                  <a:schemeClr val="tx1"/>
                </a:solidFill>
                <a:latin typeface="+mn-lt"/>
                <a:ea typeface="+mn-ea"/>
                <a:cs typeface="+mn-cs"/>
              </a:rPr>
              <a:t>/s/20190625A0T58000?refer=spider</a:t>
            </a:r>
            <a:endParaRPr lang="en-US" altLang="zh-CN" sz="1800" kern="1200" dirty="0">
              <a:solidFill>
                <a:schemeClr val="tx1"/>
              </a:solidFill>
              <a:latin typeface="+mn-lt"/>
              <a:ea typeface="+mn-ea"/>
              <a:cs typeface="+mn-cs"/>
            </a:endParaRPr>
          </a:p>
          <a:p>
            <a:r>
              <a:rPr lang="en-US" altLang="zh-CN" sz="1800" kern="1200" dirty="0">
                <a:solidFill>
                  <a:schemeClr val="tx1"/>
                </a:solidFill>
                <a:latin typeface="+mn-lt"/>
                <a:ea typeface="+mn-ea"/>
                <a:cs typeface="+mn-cs"/>
              </a:rPr>
              <a:t>http://</a:t>
            </a:r>
            <a:r>
              <a:rPr lang="en-US" altLang="zh-CN" sz="1800" kern="1200" dirty="0" err="1">
                <a:solidFill>
                  <a:schemeClr val="tx1"/>
                </a:solidFill>
                <a:latin typeface="+mn-lt"/>
                <a:ea typeface="+mn-ea"/>
                <a:cs typeface="+mn-cs"/>
              </a:rPr>
              <a:t>bbs.tianya.cn</a:t>
            </a:r>
            <a:r>
              <a:rPr lang="en-US" altLang="zh-CN" sz="1800" kern="1200" dirty="0">
                <a:solidFill>
                  <a:schemeClr val="tx1"/>
                </a:solidFill>
                <a:latin typeface="+mn-lt"/>
                <a:ea typeface="+mn-ea"/>
                <a:cs typeface="+mn-cs"/>
              </a:rPr>
              <a:t>/post-hn-3821-1.shtml</a:t>
            </a:r>
            <a:endParaRPr lang="en-US" altLang="zh-CN" sz="1800" kern="1200" dirty="0">
              <a:solidFill>
                <a:schemeClr val="tx1"/>
              </a:solidFill>
              <a:latin typeface="+mn-lt"/>
              <a:ea typeface="+mn-ea"/>
              <a:cs typeface="+mn-cs"/>
            </a:endParaRPr>
          </a:p>
          <a:p>
            <a:endParaRPr lang="en-US" altLang="zh-CN" sz="1800" kern="1200" dirty="0">
              <a:solidFill>
                <a:schemeClr val="tx1"/>
              </a:solidFill>
              <a:latin typeface="+mn-lt"/>
              <a:ea typeface="+mn-ea"/>
              <a:cs typeface="+mn-cs"/>
            </a:endParaRPr>
          </a:p>
          <a:p>
            <a:r>
              <a:rPr lang="zh-CN" altLang="en-US" sz="1800" kern="1200" dirty="0">
                <a:solidFill>
                  <a:schemeClr val="tx1"/>
                </a:solidFill>
                <a:latin typeface="+mn-lt"/>
                <a:ea typeface="+mn-ea"/>
                <a:cs typeface="+mn-cs"/>
              </a:rPr>
              <a:t>备胎转正：  </a:t>
            </a:r>
            <a:r>
              <a:rPr lang="en-US" altLang="zh-CN" sz="1800" kern="1200" dirty="0">
                <a:solidFill>
                  <a:schemeClr val="tx1"/>
                </a:solidFill>
                <a:latin typeface="+mn-lt"/>
                <a:ea typeface="+mn-ea"/>
                <a:cs typeface="+mn-cs"/>
              </a:rPr>
              <a:t>https://</a:t>
            </a:r>
            <a:r>
              <a:rPr lang="en-US" altLang="zh-CN" sz="1800" kern="1200" dirty="0" err="1">
                <a:solidFill>
                  <a:schemeClr val="tx1"/>
                </a:solidFill>
                <a:latin typeface="+mn-lt"/>
                <a:ea typeface="+mn-ea"/>
                <a:cs typeface="+mn-cs"/>
              </a:rPr>
              <a:t>www.sohu.com</a:t>
            </a:r>
            <a:r>
              <a:rPr lang="en-US" altLang="zh-CN" sz="1800" kern="1200" dirty="0">
                <a:solidFill>
                  <a:schemeClr val="tx1"/>
                </a:solidFill>
                <a:latin typeface="+mn-lt"/>
                <a:ea typeface="+mn-ea"/>
                <a:cs typeface="+mn-cs"/>
              </a:rPr>
              <a:t>/a/314877520_198937</a:t>
            </a:r>
            <a:endParaRPr lang="en-US" altLang="zh-CN" sz="1800" kern="1200" dirty="0">
              <a:solidFill>
                <a:schemeClr val="tx1"/>
              </a:solidFill>
              <a:latin typeface="+mn-lt"/>
              <a:ea typeface="+mn-ea"/>
              <a:cs typeface="+mn-cs"/>
            </a:endParaRPr>
          </a:p>
          <a:p>
            <a:endParaRPr lang="en-US" altLang="zh-CN" sz="1800" kern="1200" dirty="0">
              <a:solidFill>
                <a:schemeClr val="tx1"/>
              </a:solidFill>
              <a:latin typeface="+mn-lt"/>
              <a:ea typeface="+mn-ea"/>
              <a:cs typeface="+mn-cs"/>
            </a:endParaRPr>
          </a:p>
          <a:p>
            <a:r>
              <a:rPr lang="en-US" altLang="zh-CN" sz="1800" kern="1200" dirty="0">
                <a:solidFill>
                  <a:schemeClr val="tx1"/>
                </a:solidFill>
                <a:latin typeface="+mn-lt"/>
                <a:ea typeface="+mn-ea"/>
                <a:cs typeface="+mn-cs"/>
              </a:rPr>
              <a:t>2018</a:t>
            </a:r>
            <a:r>
              <a:rPr lang="zh-CN" altLang="en-US" sz="1800" kern="1200" dirty="0">
                <a:solidFill>
                  <a:schemeClr val="tx1"/>
                </a:solidFill>
                <a:latin typeface="+mn-lt"/>
                <a:ea typeface="+mn-ea"/>
                <a:cs typeface="+mn-cs"/>
              </a:rPr>
              <a:t>年以后的，中美科技对弈中出现最频繁的一个</a:t>
            </a:r>
            <a:r>
              <a:rPr lang="zh-CN" altLang="en-US" sz="1800" dirty="0"/>
              <a:t>公司就是华为，这里简要介绍一下这家网络公司。</a:t>
            </a:r>
            <a:endParaRPr lang="en-US" altLang="zh-CN" sz="1800" dirty="0"/>
          </a:p>
          <a:p>
            <a:r>
              <a:rPr lang="zh-CN" altLang="en-US" sz="1800" dirty="0"/>
              <a:t>华为成立于</a:t>
            </a:r>
            <a:r>
              <a:rPr lang="en-US" altLang="zh-CN" sz="1800" dirty="0"/>
              <a:t>1987</a:t>
            </a:r>
            <a:r>
              <a:rPr lang="zh-CN" altLang="en-US" sz="1800" dirty="0"/>
              <a:t>年，与另一家网络巨头美国公司思科属于同时代的公司（思科是</a:t>
            </a:r>
            <a:r>
              <a:rPr lang="en-US" altLang="zh-CN" sz="1800" dirty="0"/>
              <a:t>1984</a:t>
            </a:r>
            <a:r>
              <a:rPr lang="zh-CN" altLang="en-US" sz="1800" dirty="0"/>
              <a:t>年），经过三十多年的发展，华为已经发展成为业界第一的网络公司，尤其是在运营商网络领域。</a:t>
            </a:r>
            <a:endParaRPr lang="en-US" altLang="zh-CN" sz="1800" dirty="0"/>
          </a:p>
          <a:p>
            <a:r>
              <a:rPr lang="zh-CN" altLang="en-US" sz="1800" dirty="0"/>
              <a:t>从学术创新，到产业落地的技术创新，到制定国际标准。核心是科技创新能力和具有创新能力的高端人才。</a:t>
            </a:r>
            <a:endParaRPr lang="en-US" altLang="zh-CN" sz="1800" dirty="0"/>
          </a:p>
          <a:p>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华为招聘</a:t>
            </a:r>
            <a:r>
              <a:rPr lang="en-US" altLang="zh-CN" sz="1800" dirty="0"/>
              <a:t>200</a:t>
            </a:r>
            <a:r>
              <a:rPr lang="zh-CN" altLang="en-US" sz="1800" dirty="0"/>
              <a:t>万年薪的“天才少年”，当然不仅仅是个别的</a:t>
            </a:r>
            <a:r>
              <a:rPr lang="en-US" altLang="zh-CN" sz="1800" dirty="0"/>
              <a:t> </a:t>
            </a:r>
            <a:r>
              <a:rPr lang="zh-CN" altLang="en-US" sz="1800" dirty="0"/>
              <a:t>“天才少年”，华为等一批大厂，都向高端技术人员特别是研究人员倾斜，越来越注重核心技术创新！同学们，加油啊！</a:t>
            </a:r>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dirty="0"/>
          </a:p>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endParaRPr kumimoji="1"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endParaRPr kumimoji="1" lang="zh-CN" altLang="en-US" dirty="0"/>
          </a:p>
        </p:txBody>
      </p:sp>
      <p:sp>
        <p:nvSpPr>
          <p:cNvPr id="4" name="日期占位符 3"/>
          <p:cNvSpPr>
            <a:spLocks noGrp="1"/>
          </p:cNvSpPr>
          <p:nvPr>
            <p:ph type="dt" sz="half" idx="10"/>
          </p:nvPr>
        </p:nvSpPr>
        <p:spPr/>
        <p:txBody>
          <a:bodyPr/>
          <a:lstStyle/>
          <a:p>
            <a:fld id="{E6C9AC36-F551-8142-B918-8641B516A611}"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7" name="矩形 6"/>
          <p:cNvSpPr/>
          <p:nvPr userDrawn="1"/>
        </p:nvSpPr>
        <p:spPr>
          <a:xfrm>
            <a:off x="-9939" y="-8627"/>
            <a:ext cx="9307502" cy="567811"/>
          </a:xfrm>
          <a:prstGeom prst="rect">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endParaRPr lang="zh-CN" altLang="en-US" sz="2800" b="0" spc="6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userDrawn="1"/>
        </p:nvSpPr>
        <p:spPr>
          <a:xfrm>
            <a:off x="9569811" y="90612"/>
            <a:ext cx="2297425" cy="369332"/>
          </a:xfrm>
          <a:prstGeom prst="rect">
            <a:avLst/>
          </a:prstGeom>
          <a:noFill/>
        </p:spPr>
        <p:txBody>
          <a:bodyPr wrap="none" rtlCol="0">
            <a:spAutoFit/>
          </a:bodyPr>
          <a:lstStyle/>
          <a:p>
            <a:pPr algn="r"/>
            <a:r>
              <a:rPr lang="zh-CN" altLang="en-US" sz="1800" spc="600" dirty="0">
                <a:solidFill>
                  <a:srgbClr val="5B307E"/>
                </a:solidFill>
                <a:latin typeface="微软雅黑" panose="020B0503020204020204" pitchFamily="34" charset="-122"/>
                <a:ea typeface="微软雅黑" panose="020B0503020204020204" pitchFamily="34" charset="-122"/>
              </a:rPr>
              <a:t>众筹</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网络</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分享</a:t>
            </a:r>
            <a:endParaRPr lang="zh-CN" altLang="en-US" sz="1800" spc="600" dirty="0">
              <a:solidFill>
                <a:srgbClr val="5B307E"/>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p:cNvSpPr/>
          <p:nvPr userDrawn="1"/>
        </p:nvSpPr>
        <p:spPr>
          <a:xfrm>
            <a:off x="667831" y="541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endParaRPr kumimoji="1" lang="zh-CN" altLang="en-US" dirty="0"/>
          </a:p>
        </p:txBody>
      </p:sp>
      <p:sp>
        <p:nvSpPr>
          <p:cNvPr id="3" name="内容占位符 2"/>
          <p:cNvSpPr>
            <a:spLocks noGrp="1"/>
          </p:cNvSpPr>
          <p:nvPr>
            <p:ph idx="1"/>
          </p:nvPr>
        </p:nvSpPr>
        <p:spPr>
          <a:xfrm>
            <a:off x="838200" y="1510758"/>
            <a:ext cx="10515600" cy="4586694"/>
          </a:xfrm>
        </p:spPr>
        <p:txBody>
          <a:bodyPr/>
          <a:lstStyle>
            <a:lvl1pPr marL="360680" indent="-360680">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日期占位符 3"/>
          <p:cNvSpPr>
            <a:spLocks noGrp="1"/>
          </p:cNvSpPr>
          <p:nvPr>
            <p:ph type="dt" sz="half" idx="10"/>
          </p:nvPr>
        </p:nvSpPr>
        <p:spPr/>
        <p:txBody>
          <a:bodyPr/>
          <a:lstStyle/>
          <a:p>
            <a:fld id="{D9F44458-A3AD-7248-AB3A-A80099144E2A}"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userDrawn="1"/>
        </p:nvGrpSpPr>
        <p:grpSpPr>
          <a:xfrm>
            <a:off x="9849450" y="844221"/>
            <a:ext cx="1961485" cy="208345"/>
            <a:chOff x="1368170" y="1165302"/>
            <a:chExt cx="4139947" cy="439737"/>
          </a:xfrm>
        </p:grpSpPr>
        <p:grpSp>
          <p:nvGrpSpPr>
            <p:cNvPr id="42" name="组合 41"/>
            <p:cNvGrpSpPr/>
            <p:nvPr/>
          </p:nvGrpSpPr>
          <p:grpSpPr>
            <a:xfrm>
              <a:off x="1368170" y="1165302"/>
              <a:ext cx="550582" cy="439737"/>
              <a:chOff x="1368170" y="664579"/>
              <a:chExt cx="550582" cy="439737"/>
            </a:xfrm>
          </p:grpSpPr>
          <p:sp>
            <p:nvSpPr>
              <p:cNvPr id="53"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6"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 name="组合 42"/>
            <p:cNvGrpSpPr/>
            <p:nvPr/>
          </p:nvGrpSpPr>
          <p:grpSpPr>
            <a:xfrm>
              <a:off x="2028870" y="1197389"/>
              <a:ext cx="3479247" cy="365353"/>
              <a:chOff x="2028870" y="696666"/>
              <a:chExt cx="3479247" cy="365353"/>
            </a:xfrm>
            <a:solidFill>
              <a:schemeClr val="bg1">
                <a:lumMod val="50000"/>
              </a:schemeClr>
            </a:solidFill>
          </p:grpSpPr>
          <p:sp>
            <p:nvSpPr>
              <p:cNvPr id="44" name="Freeform 12"/>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13"/>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14"/>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15"/>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16"/>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17"/>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8"/>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9"/>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20"/>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64" name="直线连接符 63"/>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7" name="Picture 6"/>
          <p:cNvPicPr>
            <a:picLocks noChangeAspect="1"/>
          </p:cNvPicPr>
          <p:nvPr userDrawn="1"/>
        </p:nvPicPr>
        <p:blipFill>
          <a:blip r:embed="rId2"/>
          <a:stretch>
            <a:fillRect/>
          </a:stretch>
        </p:blipFill>
        <p:spPr>
          <a:xfrm>
            <a:off x="10201492" y="360786"/>
            <a:ext cx="1372094" cy="42321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endParaRPr kumimoji="1" lang="zh-CN" altLang="en-US" dirty="0"/>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5" name="日期占位符 4"/>
          <p:cNvSpPr>
            <a:spLocks noGrp="1"/>
          </p:cNvSpPr>
          <p:nvPr>
            <p:ph type="dt" sz="half" idx="10"/>
          </p:nvPr>
        </p:nvSpPr>
        <p:spPr/>
        <p:txBody>
          <a:bodyPr/>
          <a:lstStyle/>
          <a:p>
            <a:fld id="{4290EBB2-4D7C-084A-BE30-AC939B671EC1}"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
        <p:nvSpPr>
          <p:cNvPr id="8" name="矩形 7"/>
          <p:cNvSpPr/>
          <p:nvPr userDrawn="1"/>
        </p:nvSpPr>
        <p:spPr>
          <a:xfrm>
            <a:off x="667831" y="543035"/>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9849450" y="844221"/>
            <a:ext cx="1961485" cy="208345"/>
            <a:chOff x="1368170" y="1165302"/>
            <a:chExt cx="4139947" cy="439737"/>
          </a:xfrm>
        </p:grpSpPr>
        <p:grpSp>
          <p:nvGrpSpPr>
            <p:cNvPr id="11" name="组合 10"/>
            <p:cNvGrpSpPr/>
            <p:nvPr/>
          </p:nvGrpSpPr>
          <p:grpSpPr>
            <a:xfrm>
              <a:off x="1368170" y="1165302"/>
              <a:ext cx="550582" cy="439737"/>
              <a:chOff x="1368170" y="664579"/>
              <a:chExt cx="550582" cy="439737"/>
            </a:xfrm>
          </p:grpSpPr>
          <p:sp>
            <p:nvSpPr>
              <p:cNvPr id="2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 name="组合 11"/>
            <p:cNvGrpSpPr/>
            <p:nvPr/>
          </p:nvGrpSpPr>
          <p:grpSpPr>
            <a:xfrm>
              <a:off x="2028870" y="1197389"/>
              <a:ext cx="3479247" cy="365353"/>
              <a:chOff x="2028870" y="696666"/>
              <a:chExt cx="3479247" cy="365353"/>
            </a:xfrm>
            <a:solidFill>
              <a:schemeClr val="bg1">
                <a:lumMod val="50000"/>
              </a:schemeClr>
            </a:solidFill>
          </p:grpSpPr>
          <p:sp>
            <p:nvSpPr>
              <p:cNvPr id="13" name="Freeform 12"/>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Freeform 13"/>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Freeform 14"/>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5"/>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6"/>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7"/>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8"/>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9"/>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20"/>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3" name="直线连接符 32"/>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715452" y="636006"/>
            <a:ext cx="403039" cy="321898"/>
            <a:chOff x="1368170" y="664579"/>
            <a:chExt cx="550582" cy="439737"/>
          </a:xfrm>
          <a:solidFill>
            <a:schemeClr val="bg1"/>
          </a:solidFill>
        </p:grpSpPr>
        <p:sp>
          <p:nvSpPr>
            <p:cNvPr id="41"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34" name="Picture 33"/>
          <p:cNvPicPr>
            <a:picLocks noChangeAspect="1"/>
          </p:cNvPicPr>
          <p:nvPr userDrawn="1"/>
        </p:nvPicPr>
        <p:blipFill>
          <a:blip r:embed="rId2"/>
          <a:stretch>
            <a:fillRect/>
          </a:stretch>
        </p:blipFill>
        <p:spPr>
          <a:xfrm>
            <a:off x="10201492" y="360786"/>
            <a:ext cx="1372094" cy="423211"/>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fld id="{45C7992C-DF72-7644-B12E-329898B62496}" type="datetime1">
              <a:rPr lang="zh-CN" altLang="en-US" smtClean="0"/>
            </a:fld>
            <a:endParaRPr lang="en-US" altLang="zh-CN"/>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a:lvl1pPr>
          </a:lstStyle>
          <a:p>
            <a:fld id="{07279A2F-85B5-794E-ADF1-0805CD3C44B7}"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solidFill>
                  <a:srgbClr val="0000FF"/>
                </a:solidFill>
              </a:defRPr>
            </a:lvl1pPr>
          </a:lstStyle>
          <a:p>
            <a:pPr>
              <a:defRPr/>
            </a:pPr>
            <a:endParaRPr lang="en-US" altLang="zh-CN"/>
          </a:p>
          <a:p>
            <a:pPr>
              <a:defRPr/>
            </a:pPr>
            <a:r>
              <a:rPr lang="en-US" altLang="zh-CN">
                <a:solidFill>
                  <a:srgbClr val="3366CC"/>
                </a:solidFill>
              </a:rPr>
              <a:t>Computer Network</a:t>
            </a:r>
            <a:endParaRPr lang="en-US" altLang="zh-CN">
              <a:solidFill>
                <a:srgbClr val="3366CC"/>
              </a:solidFill>
            </a:endParaRPr>
          </a:p>
        </p:txBody>
      </p:sp>
      <p:sp>
        <p:nvSpPr>
          <p:cNvPr id="3" name="Rectangle 3"/>
          <p:cNvSpPr>
            <a:spLocks noGrp="1" noChangeArrowheads="1"/>
          </p:cNvSpPr>
          <p:nvPr>
            <p:ph type="sldNum" sz="quarter" idx="11"/>
          </p:nvPr>
        </p:nvSpPr>
        <p:spPr/>
        <p:txBody>
          <a:bodyPr/>
          <a:lstStyle>
            <a:lvl1pPr>
              <a:defRPr/>
            </a:lvl1pPr>
          </a:lstStyle>
          <a:p>
            <a:pPr>
              <a:defRPr/>
            </a:pPr>
            <a:fld id="{D14F4EB7-F701-4BC0-85EE-D7BE12612223}" type="slidenum">
              <a:rPr lang="en-US" altLang="zh-CN"/>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fld id="{B642DE1C-33F0-4FAC-9F1A-0AAC83473411}" type="datetime1">
              <a:rPr lang="zh-CN" altLang="en-US"/>
            </a:fld>
            <a:endParaRPr lang="en-US" altLang="zh-CN"/>
          </a:p>
        </p:txBody>
      </p:sp>
    </p:spTree>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6B5948C6-0782-6042-A859-FD82FD45C478}" type="datetime1">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8D4D1E41-7A09-AB4A-A4E1-09765ADA269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jpeg"/><Relationship Id="rId7" Type="http://schemas.openxmlformats.org/officeDocument/2006/relationships/image" Target="../media/image22.jpeg"/><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 Id="rId3" Type="http://schemas.openxmlformats.org/officeDocument/2006/relationships/image" Target="../media/image18.jpeg"/><Relationship Id="rId2" Type="http://schemas.openxmlformats.org/officeDocument/2006/relationships/image" Target="../media/image17.jpeg"/><Relationship Id="rId16" Type="http://schemas.openxmlformats.org/officeDocument/2006/relationships/notesSlide" Target="../notesSlides/notesSlide11.xml"/><Relationship Id="rId15" Type="http://schemas.openxmlformats.org/officeDocument/2006/relationships/slideLayout" Target="../slideLayouts/slideLayout2.xml"/><Relationship Id="rId14" Type="http://schemas.openxmlformats.org/officeDocument/2006/relationships/image" Target="../media/image29.jpeg"/><Relationship Id="rId13" Type="http://schemas.openxmlformats.org/officeDocument/2006/relationships/image" Target="../media/image28.jpeg"/><Relationship Id="rId12" Type="http://schemas.openxmlformats.org/officeDocument/2006/relationships/image" Target="../media/image27.jpeg"/><Relationship Id="rId11" Type="http://schemas.openxmlformats.org/officeDocument/2006/relationships/image" Target="../media/image26.jpeg"/><Relationship Id="rId10" Type="http://schemas.openxmlformats.org/officeDocument/2006/relationships/image" Target="../media/image25.jpeg"/><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35.jpeg"/><Relationship Id="rId1" Type="http://schemas.openxmlformats.org/officeDocument/2006/relationships/image" Target="../media/image3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9" Type="http://schemas.openxmlformats.org/officeDocument/2006/relationships/image" Target="../media/image44.png"/><Relationship Id="rId8" Type="http://schemas.openxmlformats.org/officeDocument/2006/relationships/image" Target="../media/image43.png"/><Relationship Id="rId7" Type="http://schemas.openxmlformats.org/officeDocument/2006/relationships/image" Target="../media/image42.png"/><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9" Type="http://schemas.openxmlformats.org/officeDocument/2006/relationships/notesSlide" Target="../notesSlides/notesSlide18.xml"/><Relationship Id="rId28" Type="http://schemas.openxmlformats.org/officeDocument/2006/relationships/slideLayout" Target="../slideLayouts/slideLayout2.xml"/><Relationship Id="rId27" Type="http://schemas.openxmlformats.org/officeDocument/2006/relationships/image" Target="../media/image62.png"/><Relationship Id="rId26" Type="http://schemas.openxmlformats.org/officeDocument/2006/relationships/image" Target="../media/image61.png"/><Relationship Id="rId25" Type="http://schemas.openxmlformats.org/officeDocument/2006/relationships/image" Target="../media/image60.png"/><Relationship Id="rId24" Type="http://schemas.openxmlformats.org/officeDocument/2006/relationships/image" Target="../media/image59.png"/><Relationship Id="rId23" Type="http://schemas.openxmlformats.org/officeDocument/2006/relationships/image" Target="../media/image58.png"/><Relationship Id="rId22" Type="http://schemas.openxmlformats.org/officeDocument/2006/relationships/image" Target="../media/image57.png"/><Relationship Id="rId21" Type="http://schemas.openxmlformats.org/officeDocument/2006/relationships/image" Target="../media/image56.png"/><Relationship Id="rId20" Type="http://schemas.openxmlformats.org/officeDocument/2006/relationships/image" Target="../media/image55.png"/><Relationship Id="rId2" Type="http://schemas.openxmlformats.org/officeDocument/2006/relationships/image" Target="../media/image37.png"/><Relationship Id="rId19" Type="http://schemas.openxmlformats.org/officeDocument/2006/relationships/image" Target="../media/image54.png"/><Relationship Id="rId18" Type="http://schemas.openxmlformats.org/officeDocument/2006/relationships/image" Target="../media/image53.png"/><Relationship Id="rId17" Type="http://schemas.openxmlformats.org/officeDocument/2006/relationships/image" Target="../media/image52.png"/><Relationship Id="rId16" Type="http://schemas.openxmlformats.org/officeDocument/2006/relationships/image" Target="../media/image51.png"/><Relationship Id="rId15" Type="http://schemas.openxmlformats.org/officeDocument/2006/relationships/image" Target="../media/image50.png"/><Relationship Id="rId14" Type="http://schemas.openxmlformats.org/officeDocument/2006/relationships/image" Target="../media/image49.png"/><Relationship Id="rId13" Type="http://schemas.openxmlformats.org/officeDocument/2006/relationships/image" Target="../media/image48.png"/><Relationship Id="rId12" Type="http://schemas.openxmlformats.org/officeDocument/2006/relationships/image" Target="../media/image47.png"/><Relationship Id="rId11" Type="http://schemas.openxmlformats.org/officeDocument/2006/relationships/image" Target="../media/image46.png"/><Relationship Id="rId10" Type="http://schemas.openxmlformats.org/officeDocument/2006/relationships/image" Target="../media/image45.png"/><Relationship Id="rId1" Type="http://schemas.openxmlformats.org/officeDocument/2006/relationships/image" Target="../media/image3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22.xml.rels><?xml version="1.0" encoding="UTF-8" standalone="yes"?>
<Relationships xmlns="http://schemas.openxmlformats.org/package/2006/relationships"><Relationship Id="rId9" Type="http://schemas.openxmlformats.org/officeDocument/2006/relationships/image" Target="../media/image71.jpeg"/><Relationship Id="rId8" Type="http://schemas.openxmlformats.org/officeDocument/2006/relationships/image" Target="../media/image70.jpeg"/><Relationship Id="rId7" Type="http://schemas.openxmlformats.org/officeDocument/2006/relationships/image" Target="../media/image69.png"/><Relationship Id="rId6" Type="http://schemas.openxmlformats.org/officeDocument/2006/relationships/image" Target="../media/image68.emf"/><Relationship Id="rId5" Type="http://schemas.openxmlformats.org/officeDocument/2006/relationships/image" Target="../media/image67.png"/><Relationship Id="rId4" Type="http://schemas.openxmlformats.org/officeDocument/2006/relationships/oleObject" Target="../embeddings/oleObject1.bin"/><Relationship Id="rId3" Type="http://schemas.openxmlformats.org/officeDocument/2006/relationships/image" Target="../media/image66.jpeg"/><Relationship Id="rId2" Type="http://schemas.openxmlformats.org/officeDocument/2006/relationships/image" Target="../media/image65.png"/><Relationship Id="rId17" Type="http://schemas.openxmlformats.org/officeDocument/2006/relationships/notesSlide" Target="../notesSlides/notesSlide19.xml"/><Relationship Id="rId16" Type="http://schemas.openxmlformats.org/officeDocument/2006/relationships/vmlDrawing" Target="../drawings/vmlDrawing1.vml"/><Relationship Id="rId15" Type="http://schemas.openxmlformats.org/officeDocument/2006/relationships/slideLayout" Target="../slideLayouts/slideLayout2.xml"/><Relationship Id="rId14" Type="http://schemas.openxmlformats.org/officeDocument/2006/relationships/image" Target="../media/image76.png"/><Relationship Id="rId13" Type="http://schemas.openxmlformats.org/officeDocument/2006/relationships/image" Target="../media/image75.png"/><Relationship Id="rId12" Type="http://schemas.openxmlformats.org/officeDocument/2006/relationships/image" Target="../media/image74.png"/><Relationship Id="rId11" Type="http://schemas.openxmlformats.org/officeDocument/2006/relationships/image" Target="../media/image73.png"/><Relationship Id="rId10" Type="http://schemas.openxmlformats.org/officeDocument/2006/relationships/image" Target="../media/image72.jpeg"/><Relationship Id="rId1" Type="http://schemas.openxmlformats.org/officeDocument/2006/relationships/image" Target="../media/image6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77.jpe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79.png"/><Relationship Id="rId2" Type="http://schemas.openxmlformats.org/officeDocument/2006/relationships/image" Target="../media/image78.wmf"/><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image" Target="../media/image79.png"/><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27.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5" Type="http://schemas.openxmlformats.org/officeDocument/2006/relationships/slideLayout" Target="../slideLayouts/slideLayout2.xml"/><Relationship Id="rId14" Type="http://schemas.openxmlformats.org/officeDocument/2006/relationships/image" Target="../media/image94.png"/><Relationship Id="rId13" Type="http://schemas.openxmlformats.org/officeDocument/2006/relationships/image" Target="../media/image93.png"/><Relationship Id="rId12" Type="http://schemas.openxmlformats.org/officeDocument/2006/relationships/image" Target="../media/image92.png"/><Relationship Id="rId11" Type="http://schemas.openxmlformats.org/officeDocument/2006/relationships/image" Target="../media/image38.png"/><Relationship Id="rId10" Type="http://schemas.openxmlformats.org/officeDocument/2006/relationships/image" Target="../media/image91.png"/><Relationship Id="rId1" Type="http://schemas.openxmlformats.org/officeDocument/2006/relationships/image" Target="../media/image60.png"/></Relationships>
</file>

<file path=ppt/slides/_rels/slide28.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image" Target="../media/image79.png"/><Relationship Id="rId7" Type="http://schemas.openxmlformats.org/officeDocument/2006/relationships/image" Target="../media/image99.png"/><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image" Target="../media/image83.png"/><Relationship Id="rId13" Type="http://schemas.openxmlformats.org/officeDocument/2006/relationships/notesSlide" Target="../notesSlides/notesSlide24.xml"/><Relationship Id="rId12" Type="http://schemas.openxmlformats.org/officeDocument/2006/relationships/slideLayout" Target="../slideLayouts/slideLayout2.xml"/><Relationship Id="rId11" Type="http://schemas.openxmlformats.org/officeDocument/2006/relationships/image" Target="../media/image100.png"/><Relationship Id="rId10" Type="http://schemas.openxmlformats.org/officeDocument/2006/relationships/image" Target="../media/image88.png"/><Relationship Id="rId1" Type="http://schemas.openxmlformats.org/officeDocument/2006/relationships/image" Target="../media/image6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image" Target="../media/image104.jpeg"/><Relationship Id="rId3" Type="http://schemas.openxmlformats.org/officeDocument/2006/relationships/image" Target="../media/image103.jpeg"/><Relationship Id="rId2" Type="http://schemas.openxmlformats.org/officeDocument/2006/relationships/image" Target="../media/image102.jpeg"/><Relationship Id="rId1" Type="http://schemas.openxmlformats.org/officeDocument/2006/relationships/image" Target="../media/image101.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08.jpeg"/><Relationship Id="rId3" Type="http://schemas.openxmlformats.org/officeDocument/2006/relationships/image" Target="../media/image107.png"/><Relationship Id="rId2" Type="http://schemas.openxmlformats.org/officeDocument/2006/relationships/image" Target="../media/image106.jpeg"/><Relationship Id="rId1" Type="http://schemas.openxmlformats.org/officeDocument/2006/relationships/image" Target="../media/image105.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09.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112.png"/><Relationship Id="rId1" Type="http://schemas.openxmlformats.org/officeDocument/2006/relationships/image" Target="../media/image11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112.png"/><Relationship Id="rId1" Type="http://schemas.openxmlformats.org/officeDocument/2006/relationships/image" Target="../media/image111.png"/></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116.emf"/><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113.png"/></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oleObject" Target="../embeddings/oleObject7.bin"/><Relationship Id="rId7" Type="http://schemas.openxmlformats.org/officeDocument/2006/relationships/oleObject" Target="../embeddings/oleObject6.bin"/><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image" Target="../media/image117.wmf"/><Relationship Id="rId3" Type="http://schemas.openxmlformats.org/officeDocument/2006/relationships/oleObject" Target="../embeddings/oleObject3.bin"/><Relationship Id="rId2" Type="http://schemas.openxmlformats.org/officeDocument/2006/relationships/image" Target="../media/image112.png"/><Relationship Id="rId10" Type="http://schemas.openxmlformats.org/officeDocument/2006/relationships/vmlDrawing" Target="../drawings/vmlDrawing3.vml"/><Relationship Id="rId1" Type="http://schemas.openxmlformats.org/officeDocument/2006/relationships/image" Target="../media/image11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1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0.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image" Target="../media/image123.jpeg"/><Relationship Id="rId2" Type="http://schemas.openxmlformats.org/officeDocument/2006/relationships/image" Target="../media/image122.jpeg"/><Relationship Id="rId1" Type="http://schemas.openxmlformats.org/officeDocument/2006/relationships/image" Target="../media/image7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1.png"/><Relationship Id="rId7" Type="http://schemas.openxmlformats.org/officeDocument/2006/relationships/image" Target="../media/image130.png"/><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 Id="rId3" Type="http://schemas.openxmlformats.org/officeDocument/2006/relationships/image" Target="../media/image126.png"/><Relationship Id="rId2" Type="http://schemas.openxmlformats.org/officeDocument/2006/relationships/image" Target="../media/image125.jpeg"/><Relationship Id="rId10" Type="http://schemas.openxmlformats.org/officeDocument/2006/relationships/notesSlide" Target="../notesSlides/notesSlide36.xml"/><Relationship Id="rId1" Type="http://schemas.openxmlformats.org/officeDocument/2006/relationships/image" Target="../media/image12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9" Type="http://schemas.openxmlformats.org/officeDocument/2006/relationships/image" Target="../media/image138.jpeg"/><Relationship Id="rId8" Type="http://schemas.microsoft.com/office/2007/relationships/hdphoto" Target="../media/image137.wdp"/><Relationship Id="rId7" Type="http://schemas.openxmlformats.org/officeDocument/2006/relationships/image" Target="../media/image136.png"/><Relationship Id="rId6" Type="http://schemas.openxmlformats.org/officeDocument/2006/relationships/hyperlink" Target="http://www.ebay.com/" TargetMode="External"/><Relationship Id="rId5" Type="http://schemas.openxmlformats.org/officeDocument/2006/relationships/image" Target="../media/image135.png"/><Relationship Id="rId4" Type="http://schemas.openxmlformats.org/officeDocument/2006/relationships/hyperlink" Target="http://www.facebook.com/r.php" TargetMode="External"/><Relationship Id="rId32" Type="http://schemas.openxmlformats.org/officeDocument/2006/relationships/notesSlide" Target="../notesSlides/notesSlide45.xml"/><Relationship Id="rId31" Type="http://schemas.openxmlformats.org/officeDocument/2006/relationships/slideLayout" Target="../slideLayouts/slideLayout2.xml"/><Relationship Id="rId30" Type="http://schemas.openxmlformats.org/officeDocument/2006/relationships/image" Target="../media/image157.jpeg"/><Relationship Id="rId3" Type="http://schemas.openxmlformats.org/officeDocument/2006/relationships/image" Target="../media/image134.jpeg"/><Relationship Id="rId29" Type="http://schemas.openxmlformats.org/officeDocument/2006/relationships/image" Target="../media/image156.jpeg"/><Relationship Id="rId28" Type="http://schemas.openxmlformats.org/officeDocument/2006/relationships/image" Target="../media/image155.jpeg"/><Relationship Id="rId27" Type="http://schemas.openxmlformats.org/officeDocument/2006/relationships/image" Target="../media/image154.png"/><Relationship Id="rId26" Type="http://schemas.openxmlformats.org/officeDocument/2006/relationships/image" Target="../media/image153.jpeg"/><Relationship Id="rId25" Type="http://schemas.openxmlformats.org/officeDocument/2006/relationships/hyperlink" Target="http://images.google.com/imgres?imgurl=http://rtmulcahy.files.wordpress.com/2007/06/cellphone.gif&amp;imgrefurl=http://rtmulcahy.wordpress.com/2007/06/&amp;h=360&amp;w=334&amp;sz=36&amp;hl=en&amp;start=1&amp;tbnid=xT9wMZ61r7KFCM:&amp;tbnh=121&amp;tbnw=112&amp;prev=/images?q=cell+phone&amp;gbv=2&amp;hl=en" TargetMode="External"/><Relationship Id="rId24" Type="http://schemas.openxmlformats.org/officeDocument/2006/relationships/image" Target="../media/image152.jpeg"/><Relationship Id="rId23" Type="http://schemas.openxmlformats.org/officeDocument/2006/relationships/hyperlink" Target="http://images.google.com/imgres?imgurl=http://www.wpclipart.com/telephone/telephone_cartoon.png&amp;imgrefurl=http://policeonthescene.libsyn.com/&amp;h=264&amp;w=270&amp;sz=37&amp;hl=en&amp;start=8&amp;tbnid=8sTVCGh5uzf1gM:&amp;tbnh=110&amp;tbnw=113&amp;prev=/images?q=telephone&amp;gbv=2&amp;hl=en" TargetMode="External"/><Relationship Id="rId22" Type="http://schemas.openxmlformats.org/officeDocument/2006/relationships/image" Target="../media/image151.jpeg"/><Relationship Id="rId21" Type="http://schemas.microsoft.com/office/2007/relationships/hdphoto" Target="../media/image150.wdp"/><Relationship Id="rId20" Type="http://schemas.openxmlformats.org/officeDocument/2006/relationships/image" Target="../media/image149.png"/><Relationship Id="rId2" Type="http://schemas.openxmlformats.org/officeDocument/2006/relationships/hyperlink" Target="http://images.google.com/imgres?imgurl=http://www.uberreview.com/wp-content/uploads/youtube_logo.jpg&amp;imgrefurl=http://current.com/items/88859385_youtube_criticised_for_gang_rape_video&amp;h=450&amp;w=600&amp;sz=27&amp;hl=en&amp;start=18&amp;tbnid=uG9PhuBLX4dJJM:&amp;tbnh=101&amp;tbnw=135&amp;prev=/images?q=youtube&amp;gbv=2&amp;hl=en" TargetMode="External"/><Relationship Id="rId19" Type="http://schemas.openxmlformats.org/officeDocument/2006/relationships/image" Target="../media/image148.jpeg"/><Relationship Id="rId18" Type="http://schemas.microsoft.com/office/2007/relationships/hdphoto" Target="../media/image147.wdp"/><Relationship Id="rId17" Type="http://schemas.openxmlformats.org/officeDocument/2006/relationships/image" Target="../media/image146.png"/><Relationship Id="rId16" Type="http://schemas.openxmlformats.org/officeDocument/2006/relationships/image" Target="../media/image145.png"/><Relationship Id="rId15" Type="http://schemas.microsoft.com/office/2007/relationships/hdphoto" Target="../media/image144.wdp"/><Relationship Id="rId14" Type="http://schemas.openxmlformats.org/officeDocument/2006/relationships/image" Target="../media/image143.png"/><Relationship Id="rId13" Type="http://schemas.openxmlformats.org/officeDocument/2006/relationships/image" Target="../media/image142.jpeg"/><Relationship Id="rId12" Type="http://schemas.openxmlformats.org/officeDocument/2006/relationships/image" Target="../media/image141.jpeg"/><Relationship Id="rId11" Type="http://schemas.openxmlformats.org/officeDocument/2006/relationships/image" Target="../media/image140.jpeg"/><Relationship Id="rId10" Type="http://schemas.openxmlformats.org/officeDocument/2006/relationships/image" Target="../media/image139.png"/><Relationship Id="rId1" Type="http://schemas.openxmlformats.org/officeDocument/2006/relationships/image" Target="../media/image13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13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2.xml"/><Relationship Id="rId2" Type="http://schemas.openxmlformats.org/officeDocument/2006/relationships/image" Target="../media/image158.png"/><Relationship Id="rId1" Type="http://schemas.openxmlformats.org/officeDocument/2006/relationships/image" Target="../media/image7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160.jpeg"/></Relationships>
</file>

<file path=ppt/slides/_rels/slide79.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slideLayout" Target="../slideLayouts/slideLayout2.xml"/><Relationship Id="rId4" Type="http://schemas.openxmlformats.org/officeDocument/2006/relationships/image" Target="../media/image162.png"/><Relationship Id="rId3" Type="http://schemas.microsoft.com/office/2007/relationships/media" Target="../media/media2.mp4"/><Relationship Id="rId2" Type="http://schemas.openxmlformats.org/officeDocument/2006/relationships/video" Target="NULL" TargetMode="External"/><Relationship Id="rId1" Type="http://schemas.openxmlformats.org/officeDocument/2006/relationships/image" Target="../media/image161.GIF"/></Relationships>
</file>

<file path=ppt/slides/_rels/slide80.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2.xml"/><Relationship Id="rId3" Type="http://schemas.openxmlformats.org/officeDocument/2006/relationships/image" Target="../media/image163.png"/><Relationship Id="rId2" Type="http://schemas.microsoft.com/office/2007/relationships/media" Target="../media/media3.mov"/><Relationship Id="rId1" Type="http://schemas.openxmlformats.org/officeDocument/2006/relationships/video" Target="../media/media3.mov"/></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164.jpeg"/></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2.xml"/><Relationship Id="rId2" Type="http://schemas.openxmlformats.org/officeDocument/2006/relationships/image" Target="../media/image165.wmf"/><Relationship Id="rId1" Type="http://schemas.openxmlformats.org/officeDocument/2006/relationships/image" Target="../media/image79.png"/></Relationships>
</file>

<file path=ppt/slides/_rels/slide83.xml.rels><?xml version="1.0" encoding="UTF-8" standalone="yes"?>
<Relationships xmlns="http://schemas.openxmlformats.org/package/2006/relationships"><Relationship Id="rId7" Type="http://schemas.openxmlformats.org/officeDocument/2006/relationships/notesSlide" Target="../notesSlides/notesSlide61.xml"/><Relationship Id="rId6"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image" Target="../media/image169.png"/><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image" Target="../media/image166.jpe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image" Target="../media/image172.jpeg"/><Relationship Id="rId1" Type="http://schemas.openxmlformats.org/officeDocument/2006/relationships/image" Target="../media/image171.pn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3.xml"/><Relationship Id="rId2" Type="http://schemas.openxmlformats.org/officeDocument/2006/relationships/image" Target="../media/image165.wmf"/><Relationship Id="rId1" Type="http://schemas.openxmlformats.org/officeDocument/2006/relationships/image" Target="../media/image79.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173.jpe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2.xml"/><Relationship Id="rId2" Type="http://schemas.openxmlformats.org/officeDocument/2006/relationships/image" Target="../media/image175.jpeg"/><Relationship Id="rId1" Type="http://schemas.openxmlformats.org/officeDocument/2006/relationships/image" Target="../media/image174.jpeg"/></Relationships>
</file>

<file path=ppt/slides/_rels/slide91.xml.rels><?xml version="1.0" encoding="UTF-8" standalone="yes"?>
<Relationships xmlns="http://schemas.openxmlformats.org/package/2006/relationships"><Relationship Id="rId5" Type="http://schemas.openxmlformats.org/officeDocument/2006/relationships/notesSlide" Target="../notesSlides/notesSlide69.xml"/><Relationship Id="rId4" Type="http://schemas.openxmlformats.org/officeDocument/2006/relationships/slideLayout" Target="../slideLayouts/slideLayout2.xml"/><Relationship Id="rId3" Type="http://schemas.openxmlformats.org/officeDocument/2006/relationships/image" Target="../media/image178.png"/><Relationship Id="rId2" Type="http://schemas.openxmlformats.org/officeDocument/2006/relationships/image" Target="../media/image177.jpeg"/><Relationship Id="rId1" Type="http://schemas.openxmlformats.org/officeDocument/2006/relationships/image" Target="../media/image176.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179.jpe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180.jpeg"/></Relationships>
</file>

<file path=ppt/slides/_rels/slide94.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slideLayout" Target="../slideLayouts/slideLayout2.xml"/><Relationship Id="rId3" Type="http://schemas.openxmlformats.org/officeDocument/2006/relationships/image" Target="../media/image183.jpeg"/><Relationship Id="rId2" Type="http://schemas.openxmlformats.org/officeDocument/2006/relationships/image" Target="../media/image182.wmf"/><Relationship Id="rId1" Type="http://schemas.openxmlformats.org/officeDocument/2006/relationships/image" Target="../media/image181.wmf"/></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image" Target="../media/image184.png"/></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2.xml"/><Relationship Id="rId2" Type="http://schemas.openxmlformats.org/officeDocument/2006/relationships/image" Target="../media/image185.png"/><Relationship Id="rId1" Type="http://schemas.openxmlformats.org/officeDocument/2006/relationships/hyperlink" Target="https://www.githubs.cn/"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5" Type="http://schemas.openxmlformats.org/officeDocument/2006/relationships/notesSlide" Target="../notesSlides/notesSlide76.xml"/><Relationship Id="rId4" Type="http://schemas.openxmlformats.org/officeDocument/2006/relationships/slideLayout" Target="../slideLayouts/slideLayout2.xml"/><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image" Target="../media/image186.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189.jpe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2.xml"/><Relationship Id="rId2" Type="http://schemas.openxmlformats.org/officeDocument/2006/relationships/image" Target="../media/image191.png"/><Relationship Id="rId1" Type="http://schemas.openxmlformats.org/officeDocument/2006/relationships/image" Target="../media/image190.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image" Target="../media/image192.GIF"/></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2.xml"/><Relationship Id="rId2" Type="http://schemas.openxmlformats.org/officeDocument/2006/relationships/image" Target="../media/image194.jpeg"/><Relationship Id="rId1" Type="http://schemas.openxmlformats.org/officeDocument/2006/relationships/image" Target="../media/image193.png"/></Relationships>
</file>

<file path=ppt/slides/_rels/slide107.xml.rels><?xml version="1.0" encoding="UTF-8" standalone="yes"?>
<Relationships xmlns="http://schemas.openxmlformats.org/package/2006/relationships"><Relationship Id="rId7" Type="http://schemas.openxmlformats.org/officeDocument/2006/relationships/notesSlide" Target="../notesSlides/notesSlide84.xml"/><Relationship Id="rId6" Type="http://schemas.openxmlformats.org/officeDocument/2006/relationships/slideLayout" Target="../slideLayouts/slideLayout2.xml"/><Relationship Id="rId5" Type="http://schemas.openxmlformats.org/officeDocument/2006/relationships/image" Target="../media/image197.wmf"/><Relationship Id="rId4" Type="http://schemas.openxmlformats.org/officeDocument/2006/relationships/image" Target="../media/image196.wmf"/><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95.wmf"/></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2.xml"/><Relationship Id="rId2" Type="http://schemas.openxmlformats.org/officeDocument/2006/relationships/image" Target="../media/image199.jpeg"/><Relationship Id="rId1" Type="http://schemas.openxmlformats.org/officeDocument/2006/relationships/image" Target="../media/image19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275360" y="1981200"/>
            <a:ext cx="7772400" cy="1143000"/>
          </a:xfrm>
        </p:spPr>
        <p:txBody>
          <a:bodyPr/>
          <a:lstStyle/>
          <a:p>
            <a:pPr eaLnBrk="1" hangingPunct="1"/>
            <a:r>
              <a:rPr lang="zh-CN" altLang="en-US" sz="6600" dirty="0"/>
              <a:t>计算机网络</a:t>
            </a:r>
            <a:endParaRPr lang="zh-CN" altLang="en-US" sz="6600" dirty="0"/>
          </a:p>
        </p:txBody>
      </p:sp>
      <p:sp>
        <p:nvSpPr>
          <p:cNvPr id="5123" name="Rectangle 3"/>
          <p:cNvSpPr>
            <a:spLocks noGrp="1" noChangeArrowheads="1"/>
          </p:cNvSpPr>
          <p:nvPr>
            <p:ph type="subTitle" idx="1"/>
          </p:nvPr>
        </p:nvSpPr>
        <p:spPr>
          <a:xfrm>
            <a:off x="389660" y="3995058"/>
            <a:ext cx="7543800" cy="1524000"/>
          </a:xfrm>
        </p:spPr>
        <p:txBody>
          <a:bodyPr>
            <a:normAutofit/>
          </a:bodyPr>
          <a:lstStyle/>
          <a:p>
            <a:pPr>
              <a:lnSpc>
                <a:spcPct val="150000"/>
              </a:lnSpc>
            </a:pPr>
            <a:r>
              <a:rPr kumimoji="1" lang="zh-CN" altLang="en-US" sz="3600" dirty="0"/>
              <a:t>授课</a:t>
            </a:r>
            <a:r>
              <a:rPr kumimoji="1" lang="zh-CN" altLang="en-US" sz="3600"/>
              <a:t>教师：邢焕来</a:t>
            </a:r>
            <a:endParaRPr kumimoji="1" lang="en-US" altLang="zh-CN" sz="3600" dirty="0"/>
          </a:p>
        </p:txBody>
      </p:sp>
      <p:sp>
        <p:nvSpPr>
          <p:cNvPr id="3" name="TextBox 2"/>
          <p:cNvSpPr txBox="1"/>
          <p:nvPr/>
        </p:nvSpPr>
        <p:spPr>
          <a:xfrm>
            <a:off x="1255400" y="6069568"/>
            <a:ext cx="7543800" cy="369332"/>
          </a:xfrm>
          <a:prstGeom prst="rect">
            <a:avLst/>
          </a:prstGeom>
          <a:noFill/>
        </p:spPr>
        <p:txBody>
          <a:bodyPr wrap="square">
            <a:spAutoFit/>
          </a:bodyPr>
          <a:lstStyle/>
          <a:p>
            <a:r>
              <a:rPr kumimoji="1" lang="zh-CN" altLang="en-US" dirty="0"/>
              <a:t>主要内容来自：计算机网络教案社区，版权归原作者所有，有增改</a:t>
            </a:r>
            <a:endParaRPr lang="en-US" dirty="0"/>
          </a:p>
        </p:txBody>
      </p:sp>
      <p:pic>
        <p:nvPicPr>
          <p:cNvPr id="2" name="图片 1"/>
          <p:cNvPicPr>
            <a:picLocks noChangeAspect="1"/>
          </p:cNvPicPr>
          <p:nvPr/>
        </p:nvPicPr>
        <p:blipFill>
          <a:blip r:embed="rId1"/>
          <a:stretch>
            <a:fillRect/>
          </a:stretch>
        </p:blipFill>
        <p:spPr>
          <a:xfrm>
            <a:off x="7614303" y="941510"/>
            <a:ext cx="4026712" cy="48461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r>
              <a:rPr lang="zh-CN" altLang="en-US" dirty="0"/>
              <a:t>课程的任务、目的和基本要求</a:t>
            </a:r>
            <a:endParaRPr lang="zh-CN" altLang="en-US" dirty="0"/>
          </a:p>
        </p:txBody>
      </p:sp>
      <p:sp>
        <p:nvSpPr>
          <p:cNvPr id="9219" name="Rectangle 3"/>
          <p:cNvSpPr>
            <a:spLocks noGrp="1" noChangeArrowheads="1"/>
          </p:cNvSpPr>
          <p:nvPr>
            <p:ph idx="1"/>
          </p:nvPr>
        </p:nvSpPr>
        <p:spPr/>
        <p:txBody>
          <a:bodyPr/>
          <a:lstStyle/>
          <a:p>
            <a:pPr>
              <a:lnSpc>
                <a:spcPct val="120000"/>
              </a:lnSpc>
            </a:pPr>
            <a:r>
              <a:rPr lang="zh-CN" altLang="en-US" dirty="0"/>
              <a:t>掌握计算机网络的基本概念</a:t>
            </a:r>
            <a:endParaRPr lang="zh-CN" altLang="en-US" dirty="0"/>
          </a:p>
          <a:p>
            <a:pPr>
              <a:lnSpc>
                <a:spcPct val="120000"/>
              </a:lnSpc>
            </a:pPr>
            <a:r>
              <a:rPr lang="zh-CN" altLang="en-US" dirty="0"/>
              <a:t>掌握计算机网络的体系结构和参考模型</a:t>
            </a:r>
            <a:endParaRPr lang="en-US" altLang="zh-CN" dirty="0"/>
          </a:p>
          <a:p>
            <a:pPr>
              <a:lnSpc>
                <a:spcPct val="120000"/>
              </a:lnSpc>
            </a:pPr>
            <a:r>
              <a:rPr lang="zh-CN" altLang="en-US" dirty="0"/>
              <a:t>掌握典型计算机网络（</a:t>
            </a:r>
            <a:r>
              <a:rPr lang="en-US" altLang="zh-CN" dirty="0"/>
              <a:t>Internet</a:t>
            </a:r>
            <a:r>
              <a:rPr lang="zh-CN" altLang="en-US" dirty="0"/>
              <a:t>）各层协议的基本工作原理及其所采用的技术</a:t>
            </a:r>
            <a:endParaRPr lang="zh-CN" altLang="en-US" dirty="0"/>
          </a:p>
          <a:p>
            <a:pPr>
              <a:lnSpc>
                <a:spcPct val="120000"/>
              </a:lnSpc>
            </a:pPr>
            <a:r>
              <a:rPr lang="zh-CN" altLang="en-US" dirty="0"/>
              <a:t>掌握计算机网络的一些基本设计方法</a:t>
            </a:r>
            <a:endParaRPr lang="zh-CN" altLang="en-US" dirty="0"/>
          </a:p>
          <a:p>
            <a:pPr>
              <a:lnSpc>
                <a:spcPct val="120000"/>
              </a:lnSpc>
            </a:pPr>
            <a:r>
              <a:rPr lang="zh-CN" altLang="en-US" dirty="0"/>
              <a:t>通过网络实验，掌握计算机网络协议的基本实现技术</a:t>
            </a:r>
            <a:endParaRPr lang="zh-CN" altLang="en-US" dirty="0"/>
          </a:p>
          <a:p>
            <a:pPr>
              <a:lnSpc>
                <a:spcPct val="120000"/>
              </a:lnSpc>
            </a:pPr>
            <a:r>
              <a:rPr lang="zh-CN" altLang="en-US" dirty="0"/>
              <a:t>为以后计算机网络及其应用的专题学习和研究奠定基础</a:t>
            </a:r>
            <a:endParaRPr lang="zh-CN" altLang="en-US" dirty="0"/>
          </a:p>
        </p:txBody>
      </p:sp>
      <p:sp>
        <p:nvSpPr>
          <p:cNvPr id="2" name="灯片编号占位符 1"/>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endParaRPr lang="en-US" altLang="zh-CN"/>
          </a:p>
          <a:p>
            <a:pPr>
              <a:defRPr/>
            </a:pPr>
            <a:r>
              <a:rPr lang="en-US" altLang="zh-CN">
                <a:solidFill>
                  <a:srgbClr val="3366CC"/>
                </a:solidFill>
              </a:rPr>
              <a:t>Computer Network</a:t>
            </a:r>
            <a:endParaRPr lang="en-US" altLang="zh-CN">
              <a:solidFill>
                <a:srgbClr val="3366CC"/>
              </a:solidFill>
            </a:endParaRPr>
          </a:p>
        </p:txBody>
      </p:sp>
      <p:sp>
        <p:nvSpPr>
          <p:cNvPr id="7171"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4CE2CDB-A3A4-48D8-9126-4B8E3345B47D}"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3F86DC54-A78F-4787-B8B0-D7738327A763}" type="datetime1">
              <a:rPr lang="zh-CN" altLang="en-US"/>
            </a:fld>
            <a:endParaRPr lang="en-US" altLang="zh-CN"/>
          </a:p>
        </p:txBody>
      </p:sp>
      <p:sp>
        <p:nvSpPr>
          <p:cNvPr id="328707" name="Rectangle 3"/>
          <p:cNvSpPr>
            <a:spLocks noGrp="1" noChangeArrowheads="1"/>
          </p:cNvSpPr>
          <p:nvPr>
            <p:ph type="body" idx="1"/>
          </p:nvPr>
        </p:nvSpPr>
        <p:spPr>
          <a:xfrm>
            <a:off x="1309815" y="757273"/>
            <a:ext cx="10231396" cy="5472112"/>
          </a:xfrm>
        </p:spPr>
        <p:txBody>
          <a:bodyPr>
            <a:normAutofit/>
          </a:bodyPr>
          <a:lstStyle/>
          <a:p>
            <a:pPr marL="285750" indent="-285750">
              <a:lnSpc>
                <a:spcPct val="120000"/>
              </a:lnSpc>
              <a:buSzPct val="105000"/>
              <a:buNone/>
              <a:defRPr/>
            </a:pPr>
            <a:r>
              <a:rPr lang="zh-CN" altLang="en-US" b="1" dirty="0">
                <a:solidFill>
                  <a:srgbClr val="FF0000"/>
                </a:solidFill>
                <a:effectLst>
                  <a:outerShdw blurRad="38100" dist="38100" dir="2700000" algn="tl">
                    <a:srgbClr val="C0C0C0"/>
                  </a:outerShdw>
                </a:effectLst>
                <a:ea typeface="楷体_GB2312" pitchFamily="49" charset="-122"/>
              </a:rPr>
              <a:t>指定教材：</a:t>
            </a:r>
            <a:endParaRPr lang="zh-CN" altLang="en-US" b="1" dirty="0">
              <a:solidFill>
                <a:srgbClr val="FF0000"/>
              </a:solidFill>
              <a:effectLst>
                <a:outerShdw blurRad="38100" dist="38100" dir="2700000" algn="tl">
                  <a:srgbClr val="C0C0C0"/>
                </a:outerShdw>
              </a:effectLst>
              <a:ea typeface="楷体_GB2312" pitchFamily="49" charset="-122"/>
            </a:endParaRPr>
          </a:p>
          <a:p>
            <a:pPr eaLnBrk="1" hangingPunct="1">
              <a:lnSpc>
                <a:spcPct val="120000"/>
              </a:lnSpc>
              <a:buSzPct val="80000"/>
              <a:buFont typeface="Wingdings" panose="05000000000000000000" pitchFamily="2" charset="2"/>
              <a:buChar char="q"/>
              <a:defRPr/>
            </a:pPr>
            <a:r>
              <a:rPr lang="zh-CN" altLang="en-US" sz="2000" u="sng" dirty="0">
                <a:solidFill>
                  <a:srgbClr val="FF0000"/>
                </a:solidFill>
                <a:effectLst>
                  <a:outerShdw blurRad="38100" dist="38100" dir="2700000" algn="tl">
                    <a:srgbClr val="C0C0C0"/>
                  </a:outerShdw>
                </a:effectLst>
                <a:ea typeface="楷体_GB2312" pitchFamily="49" charset="-122"/>
              </a:rPr>
              <a:t>计算机网络</a:t>
            </a:r>
            <a:r>
              <a:rPr lang="en-US" altLang="zh-CN" sz="2000" u="sng" dirty="0">
                <a:solidFill>
                  <a:srgbClr val="FF0000"/>
                </a:solidFill>
                <a:effectLst>
                  <a:outerShdw blurRad="38100" dist="38100" dir="2700000" algn="tl">
                    <a:srgbClr val="C0C0C0"/>
                  </a:outerShdw>
                </a:effectLst>
                <a:ea typeface="楷体_GB2312" pitchFamily="49" charset="-122"/>
              </a:rPr>
              <a:t>(</a:t>
            </a:r>
            <a:r>
              <a:rPr lang="zh-CN" altLang="en-US" sz="2000" u="sng" dirty="0">
                <a:solidFill>
                  <a:srgbClr val="FF0000"/>
                </a:solidFill>
                <a:effectLst>
                  <a:outerShdw blurRad="38100" dist="38100" dir="2700000" algn="tl">
                    <a:srgbClr val="C0C0C0"/>
                  </a:outerShdw>
                </a:effectLst>
                <a:ea typeface="楷体_GB2312" pitchFamily="49" charset="-122"/>
              </a:rPr>
              <a:t>第四</a:t>
            </a:r>
            <a:r>
              <a:rPr lang="en-US" altLang="zh-CN" sz="2000" u="sng" dirty="0">
                <a:solidFill>
                  <a:srgbClr val="FF0000"/>
                </a:solidFill>
                <a:effectLst>
                  <a:outerShdw blurRad="38100" dist="38100" dir="2700000" algn="tl">
                    <a:srgbClr val="C0C0C0"/>
                  </a:outerShdw>
                </a:effectLst>
                <a:ea typeface="楷体_GB2312" pitchFamily="49" charset="-122"/>
              </a:rPr>
              <a:t>/</a:t>
            </a:r>
            <a:r>
              <a:rPr lang="zh-CN" altLang="en-US" sz="2000" u="sng" dirty="0">
                <a:solidFill>
                  <a:srgbClr val="FF0000"/>
                </a:solidFill>
                <a:effectLst>
                  <a:outerShdw blurRad="38100" dist="38100" dir="2700000" algn="tl">
                    <a:srgbClr val="C0C0C0"/>
                  </a:outerShdw>
                </a:effectLst>
                <a:ea typeface="楷体_GB2312" pitchFamily="49" charset="-122"/>
              </a:rPr>
              <a:t>五</a:t>
            </a:r>
            <a:r>
              <a:rPr lang="en-US" altLang="zh-CN" sz="2000" u="sng" dirty="0">
                <a:solidFill>
                  <a:srgbClr val="FF0000"/>
                </a:solidFill>
                <a:effectLst>
                  <a:outerShdw blurRad="38100" dist="38100" dir="2700000" algn="tl">
                    <a:srgbClr val="C0C0C0"/>
                  </a:outerShdw>
                </a:effectLst>
                <a:ea typeface="楷体_GB2312" pitchFamily="49" charset="-122"/>
              </a:rPr>
              <a:t>/</a:t>
            </a:r>
            <a:r>
              <a:rPr lang="zh-CN" altLang="en-US" sz="2000" u="sng" dirty="0">
                <a:solidFill>
                  <a:srgbClr val="FF0000"/>
                </a:solidFill>
                <a:effectLst>
                  <a:outerShdw blurRad="38100" dist="38100" dir="2700000" algn="tl">
                    <a:srgbClr val="C0C0C0"/>
                  </a:outerShdw>
                </a:effectLst>
                <a:ea typeface="楷体_GB2312" pitchFamily="49" charset="-122"/>
              </a:rPr>
              <a:t>六</a:t>
            </a:r>
            <a:r>
              <a:rPr lang="en-US" altLang="zh-CN" sz="2000" u="sng" dirty="0">
                <a:solidFill>
                  <a:srgbClr val="FF0000"/>
                </a:solidFill>
                <a:effectLst>
                  <a:outerShdw blurRad="38100" dist="38100" dir="2700000" algn="tl">
                    <a:srgbClr val="C0C0C0"/>
                  </a:outerShdw>
                </a:effectLst>
                <a:ea typeface="楷体_GB2312" pitchFamily="49" charset="-122"/>
              </a:rPr>
              <a:t>/</a:t>
            </a:r>
            <a:r>
              <a:rPr lang="zh-CN" altLang="en-US" sz="2000" u="sng" dirty="0">
                <a:solidFill>
                  <a:srgbClr val="FF0000"/>
                </a:solidFill>
                <a:effectLst>
                  <a:outerShdw blurRad="38100" dist="38100" dir="2700000" algn="tl">
                    <a:srgbClr val="C0C0C0"/>
                  </a:outerShdw>
                </a:effectLst>
                <a:ea typeface="楷体_GB2312" pitchFamily="49" charset="-122"/>
              </a:rPr>
              <a:t>七版</a:t>
            </a:r>
            <a:r>
              <a:rPr lang="en-US" altLang="zh-CN" sz="2000" u="sng" dirty="0">
                <a:solidFill>
                  <a:srgbClr val="FF0000"/>
                </a:solidFill>
                <a:effectLst>
                  <a:outerShdw blurRad="38100" dist="38100" dir="2700000" algn="tl">
                    <a:srgbClr val="C0C0C0"/>
                  </a:outerShdw>
                </a:effectLst>
                <a:ea typeface="楷体_GB2312" pitchFamily="49" charset="-122"/>
              </a:rPr>
              <a:t>)</a:t>
            </a:r>
            <a:r>
              <a:rPr lang="zh-CN" altLang="en-US" sz="2000" dirty="0">
                <a:effectLst>
                  <a:outerShdw blurRad="38100" dist="38100" dir="2700000" algn="tl">
                    <a:srgbClr val="C0C0C0"/>
                  </a:outerShdw>
                </a:effectLst>
                <a:ea typeface="楷体_GB2312" pitchFamily="49" charset="-122"/>
              </a:rPr>
              <a:t>， 谢希仁，电子工业出版社 </a:t>
            </a:r>
            <a:r>
              <a:rPr lang="en-US" altLang="zh-CN" sz="2000" dirty="0">
                <a:effectLst>
                  <a:outerShdw blurRad="38100" dist="38100" dir="2700000" algn="tl">
                    <a:srgbClr val="C0C0C0"/>
                  </a:outerShdw>
                </a:effectLst>
                <a:ea typeface="楷体_GB2312" pitchFamily="49" charset="-122"/>
              </a:rPr>
              <a:t>or </a:t>
            </a:r>
            <a:r>
              <a:rPr lang="zh-CN" altLang="en-US" sz="2000" dirty="0">
                <a:effectLst>
                  <a:outerShdw blurRad="38100" dist="38100" dir="2700000" algn="tl">
                    <a:srgbClr val="C0C0C0"/>
                  </a:outerShdw>
                </a:effectLst>
                <a:ea typeface="楷体_GB2312" pitchFamily="49" charset="-122"/>
              </a:rPr>
              <a:t>其他 ，</a:t>
            </a:r>
            <a:endParaRPr lang="zh-CN" altLang="en-US" sz="2000" dirty="0">
              <a:effectLst>
                <a:outerShdw blurRad="38100" dist="38100" dir="2700000" algn="tl">
                  <a:srgbClr val="C0C0C0"/>
                </a:outerShdw>
              </a:effectLst>
              <a:ea typeface="楷体_GB2312" pitchFamily="49" charset="-122"/>
            </a:endParaRPr>
          </a:p>
          <a:p>
            <a:pPr marL="285750" indent="-285750">
              <a:lnSpc>
                <a:spcPct val="120000"/>
              </a:lnSpc>
              <a:buSzPct val="105000"/>
              <a:buNone/>
              <a:defRPr/>
            </a:pPr>
            <a:r>
              <a:rPr lang="zh-CN" altLang="en-US" b="1" dirty="0">
                <a:solidFill>
                  <a:schemeClr val="hlink"/>
                </a:solidFill>
                <a:effectLst>
                  <a:outerShdw blurRad="38100" dist="38100" dir="2700000" algn="tl">
                    <a:srgbClr val="C0C0C0"/>
                  </a:outerShdw>
                </a:effectLst>
                <a:ea typeface="楷体_GB2312" pitchFamily="49" charset="-122"/>
              </a:rPr>
              <a:t>参考书：</a:t>
            </a:r>
            <a:endParaRPr lang="zh-CN" altLang="en-US" b="1" dirty="0">
              <a:solidFill>
                <a:schemeClr val="hlink"/>
              </a:solidFill>
              <a:effectLst>
                <a:outerShdw blurRad="38100" dist="38100" dir="2700000" algn="tl">
                  <a:srgbClr val="C0C0C0"/>
                </a:outerShdw>
              </a:effectLst>
              <a:ea typeface="楷体_GB2312" pitchFamily="49" charset="-122"/>
            </a:endParaRPr>
          </a:p>
          <a:p>
            <a:pPr eaLnBrk="1" hangingPunct="1">
              <a:lnSpc>
                <a:spcPct val="120000"/>
              </a:lnSpc>
              <a:buSzPct val="105000"/>
              <a:buFont typeface="Wingdings" panose="05000000000000000000" pitchFamily="2" charset="2"/>
              <a:buChar char="q"/>
              <a:defRPr/>
            </a:pPr>
            <a:r>
              <a:rPr lang="en-US" altLang="zh-CN" sz="2000" dirty="0">
                <a:effectLst>
                  <a:outerShdw blurRad="38100" dist="38100" dir="2700000" algn="tl">
                    <a:srgbClr val="C0C0C0"/>
                  </a:outerShdw>
                </a:effectLst>
                <a:latin typeface="Verdana" panose="020B0604030504040204" pitchFamily="34" charset="0"/>
                <a:ea typeface="楷体_GB2312" pitchFamily="49" charset="-122"/>
              </a:rPr>
              <a:t>Computer networking (A Top Down Approach) (Ver. 6)</a:t>
            </a:r>
            <a:r>
              <a:rPr lang="zh-CN" altLang="en-US" sz="2000" dirty="0">
                <a:effectLst>
                  <a:outerShdw blurRad="38100" dist="38100" dir="2700000" algn="tl">
                    <a:srgbClr val="C0C0C0"/>
                  </a:outerShdw>
                </a:effectLst>
                <a:latin typeface="Verdana" panose="020B0604030504040204" pitchFamily="34" charset="0"/>
                <a:ea typeface="楷体_GB2312" pitchFamily="49" charset="-122"/>
              </a:rPr>
              <a:t>，</a:t>
            </a:r>
            <a:r>
              <a:rPr lang="en-US" altLang="zh-CN" sz="2000" dirty="0">
                <a:effectLst>
                  <a:outerShdw blurRad="38100" dist="38100" dir="2700000" algn="tl">
                    <a:srgbClr val="C0C0C0"/>
                  </a:outerShdw>
                </a:effectLst>
                <a:latin typeface="Verdana" panose="020B0604030504040204" pitchFamily="34" charset="0"/>
                <a:ea typeface="楷体_GB2312" pitchFamily="49" charset="-122"/>
              </a:rPr>
              <a:t>James F. Kurose; Keith W. Ross</a:t>
            </a:r>
            <a:r>
              <a:rPr lang="zh-CN" altLang="en-US" sz="2000" dirty="0">
                <a:effectLst>
                  <a:outerShdw blurRad="38100" dist="38100" dir="2700000" algn="tl">
                    <a:srgbClr val="C0C0C0"/>
                  </a:outerShdw>
                </a:effectLst>
                <a:latin typeface="Verdana" panose="020B0604030504040204" pitchFamily="34" charset="0"/>
                <a:ea typeface="楷体_GB2312" pitchFamily="49" charset="-122"/>
              </a:rPr>
              <a:t>，</a:t>
            </a:r>
            <a:r>
              <a:rPr lang="en-US" altLang="zh-CN" sz="2000" dirty="0">
                <a:effectLst>
                  <a:outerShdw blurRad="38100" dist="38100" dir="2700000" algn="tl">
                    <a:srgbClr val="C0C0C0"/>
                  </a:outerShdw>
                </a:effectLst>
                <a:latin typeface="Verdana" panose="020B0604030504040204" pitchFamily="34" charset="0"/>
                <a:ea typeface="楷体_GB2312" pitchFamily="49" charset="-122"/>
              </a:rPr>
              <a:t>Pearson,</a:t>
            </a:r>
            <a:r>
              <a:rPr lang="zh-CN" altLang="en-US" sz="2000" dirty="0">
                <a:effectLst>
                  <a:outerShdw blurRad="38100" dist="38100" dir="2700000" algn="tl">
                    <a:srgbClr val="C0C0C0"/>
                  </a:outerShdw>
                </a:effectLst>
                <a:latin typeface="Verdana" panose="020B0604030504040204" pitchFamily="34" charset="0"/>
                <a:ea typeface="楷体_GB2312" pitchFamily="49" charset="-122"/>
              </a:rPr>
              <a:t> </a:t>
            </a:r>
            <a:r>
              <a:rPr lang="en-US" altLang="zh-CN" sz="2000" dirty="0">
                <a:effectLst>
                  <a:outerShdw blurRad="38100" dist="38100" dir="2700000" algn="tl">
                    <a:srgbClr val="C0C0C0"/>
                  </a:outerShdw>
                </a:effectLst>
                <a:latin typeface="Verdana" panose="020B0604030504040204" pitchFamily="34" charset="0"/>
                <a:ea typeface="楷体_GB2312" pitchFamily="49" charset="-122"/>
              </a:rPr>
              <a:t>2012</a:t>
            </a:r>
            <a:endParaRPr lang="zh-CN" altLang="en-US" sz="2000" dirty="0">
              <a:effectLst>
                <a:outerShdw blurRad="38100" dist="38100" dir="2700000" algn="tl">
                  <a:srgbClr val="C0C0C0"/>
                </a:outerShdw>
              </a:effectLst>
              <a:latin typeface="Verdana" panose="020B0604030504040204" pitchFamily="34" charset="0"/>
              <a:ea typeface="楷体_GB2312" pitchFamily="49" charset="-122"/>
            </a:endParaRPr>
          </a:p>
          <a:p>
            <a:pPr eaLnBrk="1" hangingPunct="1">
              <a:lnSpc>
                <a:spcPct val="120000"/>
              </a:lnSpc>
              <a:buSzPct val="105000"/>
              <a:buFont typeface="Wingdings" panose="05000000000000000000" pitchFamily="2" charset="2"/>
              <a:buChar char="q"/>
              <a:defRPr/>
            </a:pPr>
            <a:r>
              <a:rPr lang="en-US" altLang="zh-CN" sz="2000" dirty="0">
                <a:solidFill>
                  <a:srgbClr val="0000FF"/>
                </a:solidFill>
                <a:effectLst>
                  <a:outerShdw blurRad="38100" dist="38100" dir="2700000" algn="tl">
                    <a:srgbClr val="C0C0C0"/>
                  </a:outerShdw>
                </a:effectLst>
                <a:ea typeface="楷体_GB2312" pitchFamily="49" charset="-122"/>
              </a:rPr>
              <a:t>Computer Networks (5th Edition)</a:t>
            </a:r>
            <a:r>
              <a:rPr lang="zh-CN" altLang="en-US" sz="2000" dirty="0">
                <a:effectLst>
                  <a:outerShdw blurRad="38100" dist="38100" dir="2700000" algn="tl">
                    <a:srgbClr val="C0C0C0"/>
                  </a:outerShdw>
                </a:effectLst>
                <a:ea typeface="楷体_GB2312" pitchFamily="49" charset="-122"/>
              </a:rPr>
              <a:t>，</a:t>
            </a:r>
            <a:r>
              <a:rPr lang="en-US" altLang="zh-CN" sz="2000" dirty="0" err="1">
                <a:effectLst>
                  <a:outerShdw blurRad="38100" dist="38100" dir="2700000" algn="tl">
                    <a:srgbClr val="C0C0C0"/>
                  </a:outerShdw>
                </a:effectLst>
                <a:ea typeface="楷体_GB2312" pitchFamily="49" charset="-122"/>
              </a:rPr>
              <a:t>Tanenbaum</a:t>
            </a:r>
            <a:r>
              <a:rPr lang="en-US" altLang="zh-CN" sz="2000" dirty="0">
                <a:effectLst>
                  <a:outerShdw blurRad="38100" dist="38100" dir="2700000" algn="tl">
                    <a:srgbClr val="C0C0C0"/>
                  </a:outerShdw>
                </a:effectLst>
                <a:ea typeface="楷体_GB2312" pitchFamily="49" charset="-122"/>
              </a:rPr>
              <a:t>, Andrew S., </a:t>
            </a:r>
            <a:r>
              <a:rPr lang="en-US" altLang="zh-CN" sz="2000" dirty="0" err="1">
                <a:effectLst>
                  <a:outerShdw blurRad="38100" dist="38100" dir="2700000" algn="tl">
                    <a:srgbClr val="C0C0C0"/>
                  </a:outerShdw>
                </a:effectLst>
                <a:ea typeface="楷体_GB2312" pitchFamily="49" charset="-122"/>
              </a:rPr>
              <a:t>Wetherall</a:t>
            </a:r>
            <a:r>
              <a:rPr lang="en-US" altLang="zh-CN" sz="2000" dirty="0">
                <a:effectLst>
                  <a:outerShdw blurRad="38100" dist="38100" dir="2700000" algn="tl">
                    <a:srgbClr val="C0C0C0"/>
                  </a:outerShdw>
                </a:effectLst>
                <a:ea typeface="楷体_GB2312" pitchFamily="49" charset="-122"/>
              </a:rPr>
              <a:t>, David</a:t>
            </a:r>
            <a:r>
              <a:rPr lang="zh-CN" altLang="en-US" sz="2000" dirty="0">
                <a:effectLst>
                  <a:outerShdw blurRad="38100" dist="38100" dir="2700000" algn="tl">
                    <a:srgbClr val="C0C0C0"/>
                  </a:outerShdw>
                </a:effectLst>
                <a:ea typeface="楷体_GB2312" pitchFamily="49" charset="-122"/>
              </a:rPr>
              <a:t>，</a:t>
            </a:r>
            <a:r>
              <a:rPr lang="en-US" altLang="zh-CN" sz="2000" dirty="0">
                <a:effectLst>
                  <a:outerShdw blurRad="38100" dist="38100" dir="2700000" algn="tl">
                    <a:srgbClr val="C0C0C0"/>
                  </a:outerShdw>
                </a:effectLst>
                <a:ea typeface="楷体_GB2312" pitchFamily="49" charset="-122"/>
              </a:rPr>
              <a:t>Prentice Hall International, 2010</a:t>
            </a:r>
            <a:endParaRPr lang="en-US" altLang="zh-CN" sz="2000" dirty="0">
              <a:effectLst>
                <a:outerShdw blurRad="38100" dist="38100" dir="2700000" algn="tl">
                  <a:srgbClr val="C0C0C0"/>
                </a:outerShdw>
              </a:effectLst>
              <a:ea typeface="楷体_GB2312" pitchFamily="49" charset="-122"/>
            </a:endParaRPr>
          </a:p>
          <a:p>
            <a:pPr eaLnBrk="1" hangingPunct="1">
              <a:lnSpc>
                <a:spcPct val="120000"/>
              </a:lnSpc>
              <a:buSzPct val="105000"/>
              <a:buFont typeface="Wingdings" panose="05000000000000000000" pitchFamily="2" charset="2"/>
              <a:buChar char="q"/>
              <a:defRPr/>
            </a:pPr>
            <a:r>
              <a:rPr lang="en-US" altLang="zh-CN" sz="2000" dirty="0">
                <a:effectLst>
                  <a:outerShdw blurRad="38100" dist="38100" dir="2700000" algn="tl">
                    <a:srgbClr val="C0C0C0"/>
                  </a:outerShdw>
                </a:effectLst>
                <a:ea typeface="楷体_GB2312" pitchFamily="49" charset="-122"/>
              </a:rPr>
              <a:t>TCP/IP</a:t>
            </a:r>
            <a:r>
              <a:rPr lang="zh-CN" altLang="en-US" sz="2000" dirty="0">
                <a:effectLst>
                  <a:outerShdw blurRad="38100" dist="38100" dir="2700000" algn="tl">
                    <a:srgbClr val="C0C0C0"/>
                  </a:outerShdw>
                </a:effectLst>
                <a:ea typeface="楷体_GB2312" pitchFamily="49" charset="-122"/>
              </a:rPr>
              <a:t>详解 卷</a:t>
            </a:r>
            <a:r>
              <a:rPr lang="en-US" altLang="zh-CN" sz="2000" dirty="0">
                <a:effectLst>
                  <a:outerShdw blurRad="38100" dist="38100" dir="2700000" algn="tl">
                    <a:srgbClr val="C0C0C0"/>
                  </a:outerShdw>
                </a:effectLst>
                <a:ea typeface="楷体_GB2312" pitchFamily="49" charset="-122"/>
              </a:rPr>
              <a:t>1</a:t>
            </a:r>
            <a:r>
              <a:rPr lang="zh-CN" altLang="en-US" sz="2000" dirty="0">
                <a:effectLst>
                  <a:outerShdw blurRad="38100" dist="38100" dir="2700000" algn="tl">
                    <a:srgbClr val="C0C0C0"/>
                  </a:outerShdw>
                </a:effectLst>
                <a:ea typeface="楷体_GB2312" pitchFamily="49" charset="-122"/>
              </a:rPr>
              <a:t>：协议，</a:t>
            </a:r>
            <a:r>
              <a:rPr lang="en-US" altLang="zh-CN" sz="2000" dirty="0"/>
              <a:t>Kevin R. Fall,  W. Richard Stevens</a:t>
            </a:r>
            <a:r>
              <a:rPr lang="zh-CN" altLang="en-US" sz="2000" dirty="0">
                <a:effectLst>
                  <a:outerShdw blurRad="38100" dist="38100" dir="2700000" algn="tl">
                    <a:srgbClr val="C0C0C0"/>
                  </a:outerShdw>
                </a:effectLst>
                <a:ea typeface="楷体_GB2312" pitchFamily="49" charset="-122"/>
              </a:rPr>
              <a:t>，机械工业出版社，</a:t>
            </a:r>
            <a:r>
              <a:rPr lang="en-US" altLang="zh-CN" sz="2000" dirty="0">
                <a:effectLst>
                  <a:outerShdw blurRad="38100" dist="38100" dir="2700000" algn="tl">
                    <a:srgbClr val="C0C0C0"/>
                  </a:outerShdw>
                </a:effectLst>
                <a:ea typeface="楷体_GB2312" pitchFamily="49" charset="-122"/>
              </a:rPr>
              <a:t>2016. </a:t>
            </a:r>
            <a:endParaRPr lang="en-US" altLang="zh-CN" sz="2000" dirty="0">
              <a:effectLst>
                <a:outerShdw blurRad="38100" dist="38100" dir="2700000" algn="tl">
                  <a:srgbClr val="C0C0C0"/>
                </a:outerShdw>
              </a:effectLst>
              <a:ea typeface="楷体_GB2312" pitchFamily="49" charset="-122"/>
            </a:endParaRPr>
          </a:p>
          <a:p>
            <a:pPr marL="285750" indent="-285750">
              <a:lnSpc>
                <a:spcPct val="120000"/>
              </a:lnSpc>
              <a:buSzPct val="105000"/>
              <a:buNone/>
              <a:defRPr/>
            </a:pPr>
            <a:r>
              <a:rPr lang="zh-CN" altLang="en-US" b="1" dirty="0">
                <a:solidFill>
                  <a:schemeClr val="hlink"/>
                </a:solidFill>
                <a:effectLst>
                  <a:outerShdw blurRad="38100" dist="38100" dir="2700000" algn="tl">
                    <a:srgbClr val="C0C0C0"/>
                  </a:outerShdw>
                </a:effectLst>
                <a:ea typeface="楷体_GB2312" pitchFamily="49" charset="-122"/>
              </a:rPr>
              <a:t>评分方式</a:t>
            </a:r>
            <a:r>
              <a:rPr lang="en-US" altLang="zh-CN" b="1" dirty="0">
                <a:solidFill>
                  <a:schemeClr val="hlink"/>
                </a:solidFill>
                <a:effectLst>
                  <a:outerShdw blurRad="38100" dist="38100" dir="2700000" algn="tl">
                    <a:srgbClr val="C0C0C0"/>
                  </a:outerShdw>
                </a:effectLst>
                <a:ea typeface="楷体_GB2312" pitchFamily="49" charset="-122"/>
              </a:rPr>
              <a:t>(</a:t>
            </a:r>
            <a:r>
              <a:rPr lang="zh-CN" altLang="en-US" b="1" dirty="0">
                <a:solidFill>
                  <a:schemeClr val="hlink"/>
                </a:solidFill>
                <a:effectLst>
                  <a:outerShdw blurRad="38100" dist="38100" dir="2700000" algn="tl">
                    <a:srgbClr val="C0C0C0"/>
                  </a:outerShdw>
                </a:effectLst>
                <a:ea typeface="楷体_GB2312" pitchFamily="49" charset="-122"/>
              </a:rPr>
              <a:t>预计</a:t>
            </a:r>
            <a:r>
              <a:rPr lang="en-US" altLang="zh-CN" b="1" dirty="0">
                <a:solidFill>
                  <a:schemeClr val="hlink"/>
                </a:solidFill>
                <a:effectLst>
                  <a:outerShdw blurRad="38100" dist="38100" dir="2700000" algn="tl">
                    <a:srgbClr val="C0C0C0"/>
                  </a:outerShdw>
                </a:effectLst>
                <a:ea typeface="楷体_GB2312" pitchFamily="49" charset="-122"/>
              </a:rPr>
              <a:t>)</a:t>
            </a:r>
            <a:r>
              <a:rPr lang="zh-CN" altLang="en-US" b="1" dirty="0">
                <a:solidFill>
                  <a:schemeClr val="hlink"/>
                </a:solidFill>
                <a:effectLst>
                  <a:outerShdw blurRad="38100" dist="38100" dir="2700000" algn="tl">
                    <a:srgbClr val="C0C0C0"/>
                  </a:outerShdw>
                </a:effectLst>
                <a:ea typeface="楷体_GB2312" pitchFamily="49" charset="-122"/>
              </a:rPr>
              <a:t>：</a:t>
            </a:r>
            <a:endParaRPr lang="zh-CN" altLang="en-US" b="1" dirty="0">
              <a:solidFill>
                <a:schemeClr val="hlink"/>
              </a:solidFill>
              <a:effectLst>
                <a:outerShdw blurRad="38100" dist="38100" dir="2700000" algn="tl">
                  <a:srgbClr val="C0C0C0"/>
                </a:outerShdw>
              </a:effectLst>
              <a:ea typeface="楷体_GB2312" pitchFamily="49" charset="-122"/>
            </a:endParaRPr>
          </a:p>
          <a:p>
            <a:pPr eaLnBrk="1" hangingPunct="1">
              <a:lnSpc>
                <a:spcPct val="120000"/>
              </a:lnSpc>
              <a:buSzPct val="105000"/>
              <a:buFont typeface="Wingdings" panose="05000000000000000000" pitchFamily="2" charset="2"/>
              <a:buChar char="q"/>
              <a:defRPr/>
            </a:pPr>
            <a:r>
              <a:rPr lang="zh-CN" altLang="en-US" sz="2000" dirty="0">
                <a:effectLst>
                  <a:outerShdw blurRad="38100" dist="38100" dir="2700000" algn="tl">
                    <a:srgbClr val="C0C0C0"/>
                  </a:outerShdw>
                </a:effectLst>
                <a:ea typeface="楷体_GB2312" pitchFamily="49" charset="-122"/>
              </a:rPr>
              <a:t>线上线下作业</a:t>
            </a:r>
            <a:r>
              <a:rPr lang="en-US" altLang="zh-CN" sz="2000" dirty="0">
                <a:effectLst>
                  <a:outerShdw blurRad="38100" dist="38100" dir="2700000" algn="tl">
                    <a:srgbClr val="C0C0C0"/>
                  </a:outerShdw>
                </a:effectLst>
                <a:ea typeface="楷体_GB2312" pitchFamily="49" charset="-122"/>
              </a:rPr>
              <a:t>+</a:t>
            </a:r>
            <a:r>
              <a:rPr lang="zh-CN" altLang="en-US" sz="2000" dirty="0">
                <a:effectLst>
                  <a:outerShdw blurRad="38100" dist="38100" dir="2700000" algn="tl">
                    <a:srgbClr val="C0C0C0"/>
                  </a:outerShdw>
                </a:effectLst>
                <a:ea typeface="楷体_GB2312" pitchFamily="49" charset="-122"/>
              </a:rPr>
              <a:t>考勤和</a:t>
            </a:r>
            <a:r>
              <a:rPr lang="en-US" altLang="zh-CN" sz="2000" dirty="0">
                <a:effectLst>
                  <a:outerShdw blurRad="38100" dist="38100" dir="2700000" algn="tl">
                    <a:srgbClr val="C0C0C0"/>
                  </a:outerShdw>
                </a:effectLst>
                <a:ea typeface="楷体_GB2312" pitchFamily="49" charset="-122"/>
              </a:rPr>
              <a:t>SPOC+ 2</a:t>
            </a:r>
            <a:r>
              <a:rPr lang="zh-CN" altLang="en-US" sz="2000" dirty="0">
                <a:effectLst>
                  <a:outerShdw blurRad="38100" dist="38100" dir="2700000" algn="tl">
                    <a:srgbClr val="C0C0C0"/>
                  </a:outerShdw>
                </a:effectLst>
                <a:ea typeface="楷体_GB2312" pitchFamily="49" charset="-122"/>
              </a:rPr>
              <a:t>个课程设计</a:t>
            </a:r>
            <a:r>
              <a:rPr lang="en-US" altLang="zh-CN" sz="2000" dirty="0">
                <a:effectLst>
                  <a:outerShdw blurRad="38100" dist="38100" dir="2700000" algn="tl">
                    <a:srgbClr val="C0C0C0"/>
                  </a:outerShdw>
                </a:effectLst>
                <a:ea typeface="楷体_GB2312" pitchFamily="49" charset="-122"/>
              </a:rPr>
              <a:t>+</a:t>
            </a:r>
            <a:r>
              <a:rPr lang="zh-CN" altLang="en-US" sz="2000" dirty="0">
                <a:effectLst>
                  <a:outerShdw blurRad="38100" dist="38100" dir="2700000" algn="tl">
                    <a:srgbClr val="C0C0C0"/>
                  </a:outerShdw>
                </a:effectLst>
                <a:ea typeface="楷体_GB2312" pitchFamily="49" charset="-122"/>
              </a:rPr>
              <a:t>期中：</a:t>
            </a:r>
            <a:r>
              <a:rPr lang="zh-CN" altLang="en-US" sz="2000" dirty="0">
                <a:solidFill>
                  <a:srgbClr val="FF0000"/>
                </a:solidFill>
                <a:effectLst>
                  <a:outerShdw blurRad="38100" dist="38100" dir="2700000" algn="tl">
                    <a:srgbClr val="C0C0C0"/>
                  </a:outerShdw>
                </a:effectLst>
                <a:ea typeface="楷体_GB2312" pitchFamily="49" charset="-122"/>
              </a:rPr>
              <a:t>共</a:t>
            </a:r>
            <a:r>
              <a:rPr lang="en-US" altLang="zh-CN" sz="2000" dirty="0">
                <a:solidFill>
                  <a:srgbClr val="FF0000"/>
                </a:solidFill>
                <a:effectLst>
                  <a:outerShdw blurRad="38100" dist="38100" dir="2700000" algn="tl">
                    <a:srgbClr val="C0C0C0"/>
                  </a:outerShdw>
                </a:effectLst>
                <a:ea typeface="楷体_GB2312" pitchFamily="49" charset="-122"/>
              </a:rPr>
              <a:t>40%       </a:t>
            </a:r>
            <a:endParaRPr lang="en-US" altLang="zh-CN" sz="2000" dirty="0">
              <a:solidFill>
                <a:srgbClr val="FF0000"/>
              </a:solidFill>
              <a:effectLst>
                <a:outerShdw blurRad="38100" dist="38100" dir="2700000" algn="tl">
                  <a:srgbClr val="C0C0C0"/>
                </a:outerShdw>
              </a:effectLst>
              <a:ea typeface="楷体_GB2312" pitchFamily="49" charset="-122"/>
            </a:endParaRPr>
          </a:p>
          <a:p>
            <a:pPr eaLnBrk="1" hangingPunct="1">
              <a:lnSpc>
                <a:spcPct val="120000"/>
              </a:lnSpc>
              <a:buSzPct val="105000"/>
              <a:buFont typeface="Wingdings" panose="05000000000000000000" pitchFamily="2" charset="2"/>
              <a:buChar char="q"/>
              <a:defRPr/>
            </a:pPr>
            <a:r>
              <a:rPr lang="zh-CN" altLang="en-US" sz="2000" dirty="0">
                <a:effectLst>
                  <a:outerShdw blurRad="38100" dist="38100" dir="2700000" algn="tl">
                    <a:srgbClr val="C0C0C0"/>
                  </a:outerShdw>
                </a:effectLst>
                <a:ea typeface="楷体_GB2312" pitchFamily="49" charset="-122"/>
              </a:rPr>
              <a:t>期末考试：  </a:t>
            </a:r>
            <a:r>
              <a:rPr lang="en-US" altLang="zh-CN" sz="2000" dirty="0">
                <a:solidFill>
                  <a:srgbClr val="FF0000"/>
                </a:solidFill>
                <a:effectLst>
                  <a:outerShdw blurRad="38100" dist="38100" dir="2700000" algn="tl">
                    <a:srgbClr val="C0C0C0"/>
                  </a:outerShdw>
                </a:effectLst>
                <a:ea typeface="楷体_GB2312" pitchFamily="49" charset="-122"/>
              </a:rPr>
              <a:t>60%</a:t>
            </a:r>
            <a:endParaRPr lang="en-US" altLang="zh-CN" sz="2000" dirty="0">
              <a:solidFill>
                <a:srgbClr val="FF0000"/>
              </a:solidFill>
              <a:effectLst>
                <a:outerShdw blurRad="38100" dist="38100" dir="2700000" algn="tl">
                  <a:srgbClr val="C0C0C0"/>
                </a:outerShdw>
              </a:effectLst>
              <a:ea typeface="楷体_GB2312" pitchFamily="49" charset="-122"/>
            </a:endParaRPr>
          </a:p>
        </p:txBody>
      </p:sp>
      <p:sp>
        <p:nvSpPr>
          <p:cNvPr id="3" name="椭圆 2"/>
          <p:cNvSpPr/>
          <p:nvPr/>
        </p:nvSpPr>
        <p:spPr bwMode="auto">
          <a:xfrm>
            <a:off x="7320136" y="703874"/>
            <a:ext cx="1584176" cy="346234"/>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spAutoFit/>
          </a:bodyPr>
          <a:lstStyle/>
          <a:p>
            <a:pPr algn="ctr" eaLnBrk="0" fontAlgn="base" hangingPunct="0">
              <a:spcBef>
                <a:spcPct val="0"/>
              </a:spcBef>
              <a:spcAft>
                <a:spcPct val="0"/>
              </a:spcAft>
            </a:pPr>
            <a:endParaRPr lang="zh-CN" altLang="en-US" sz="1600">
              <a:effectLst>
                <a:outerShdw blurRad="38100" dist="38100" dir="2700000" algn="tl">
                  <a:srgbClr val="000000">
                    <a:alpha val="43137"/>
                  </a:srgbClr>
                </a:outerShdw>
              </a:effectLst>
              <a:latin typeface="Times New Roman" panose="02020603050405020304" pitchFamily="18" charset="0"/>
              <a:ea typeface="楷体_GB2312"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3"/>
          <p:cNvSpPr>
            <a:spLocks noGrp="1"/>
          </p:cNvSpPr>
          <p:nvPr>
            <p:ph type="ftr" sz="quarter" idx="10"/>
          </p:nvPr>
        </p:nvSpPr>
        <p:spPr/>
        <p:txBody>
          <a:bodyPr/>
          <a:lstStyle/>
          <a:p>
            <a:pPr>
              <a:defRPr/>
            </a:pPr>
            <a:endParaRPr lang="en-US" altLang="zh-CN"/>
          </a:p>
          <a:p>
            <a:pPr>
              <a:defRPr/>
            </a:pPr>
            <a:r>
              <a:rPr lang="en-US" altLang="zh-CN">
                <a:solidFill>
                  <a:srgbClr val="3366CC"/>
                </a:solidFill>
              </a:rPr>
              <a:t>Computer Network</a:t>
            </a:r>
            <a:endParaRPr lang="en-US" altLang="zh-CN">
              <a:solidFill>
                <a:srgbClr val="3366CC"/>
              </a:solidFill>
            </a:endParaRPr>
          </a:p>
        </p:txBody>
      </p:sp>
      <p:sp>
        <p:nvSpPr>
          <p:cNvPr id="9219"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FF2433A-9B1F-40DC-A37D-363B12C54029}" type="slidenum">
              <a:rPr lang="en-US" altLang="zh-CN" sz="1200">
                <a:latin typeface="Arial Black" panose="020B0A04020102020204" pitchFamily="34" charset="0"/>
              </a:rPr>
            </a:fld>
            <a:endParaRPr lang="en-US" altLang="zh-CN" sz="1200">
              <a:latin typeface="Arial Black" panose="020B0A04020102020204" pitchFamily="34" charset="0"/>
            </a:endParaRPr>
          </a:p>
        </p:txBody>
      </p:sp>
      <p:sp>
        <p:nvSpPr>
          <p:cNvPr id="5" name="日期占位符 5"/>
          <p:cNvSpPr>
            <a:spLocks noGrp="1"/>
          </p:cNvSpPr>
          <p:nvPr>
            <p:ph type="dt" sz="quarter" idx="12"/>
          </p:nvPr>
        </p:nvSpPr>
        <p:spPr/>
        <p:txBody>
          <a:bodyPr/>
          <a:lstStyle/>
          <a:p>
            <a:pPr>
              <a:defRPr/>
            </a:pPr>
            <a:fld id="{FAD37E4C-EA67-4D14-A612-AFC469E75A54}" type="datetime1">
              <a:rPr lang="zh-CN" altLang="en-US"/>
            </a:fld>
            <a:endParaRPr lang="en-US" altLang="zh-CN"/>
          </a:p>
        </p:txBody>
      </p:sp>
      <p:sp>
        <p:nvSpPr>
          <p:cNvPr id="830467" name="Rectangle 3"/>
          <p:cNvSpPr>
            <a:spLocks noGrp="1" noChangeArrowheads="1"/>
          </p:cNvSpPr>
          <p:nvPr>
            <p:ph type="body" idx="1"/>
          </p:nvPr>
        </p:nvSpPr>
        <p:spPr>
          <a:xfrm>
            <a:off x="1631504" y="711456"/>
            <a:ext cx="8579298" cy="5330825"/>
          </a:xfrm>
        </p:spPr>
        <p:txBody>
          <a:bodyPr/>
          <a:lstStyle/>
          <a:p>
            <a:pPr eaLnBrk="1" hangingPunct="1">
              <a:lnSpc>
                <a:spcPct val="114000"/>
              </a:lnSpc>
              <a:buSzTx/>
              <a:buFontTx/>
              <a:buNone/>
              <a:defRPr/>
            </a:pPr>
            <a:r>
              <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rPr>
              <a:t>基础课程</a:t>
            </a:r>
            <a:r>
              <a:rPr lang="en-US" altLang="zh-CN" b="1" dirty="0">
                <a:solidFill>
                  <a:srgbClr val="0000FF"/>
                </a:solidFill>
                <a:effectLst>
                  <a:outerShdw blurRad="38100" dist="38100" dir="2700000" algn="tl">
                    <a:srgbClr val="C0C0C0"/>
                  </a:outerShdw>
                </a:effectLst>
                <a:latin typeface="楷体_GB2312" pitchFamily="49" charset="-122"/>
                <a:ea typeface="楷体_GB2312" pitchFamily="49" charset="-122"/>
              </a:rPr>
              <a:t>:</a:t>
            </a:r>
            <a:endParaRPr lang="en-US" altLang="zh-CN" dirty="0">
              <a:effectLst>
                <a:outerShdw blurRad="38100" dist="38100" dir="2700000" algn="tl">
                  <a:srgbClr val="C0C0C0"/>
                </a:outerShdw>
              </a:effectLst>
              <a:latin typeface="楷体_GB2312" pitchFamily="49" charset="-122"/>
              <a:ea typeface="楷体_GB2312" pitchFamily="49" charset="-122"/>
            </a:endParaRPr>
          </a:p>
          <a:p>
            <a:pPr eaLnBrk="1" hangingPunct="1">
              <a:lnSpc>
                <a:spcPct val="114000"/>
              </a:lnSpc>
              <a:buSzTx/>
              <a:buFontTx/>
              <a:buNone/>
              <a:defRPr/>
            </a:pPr>
            <a:r>
              <a:rPr lang="en-US" altLang="zh-CN" sz="2400" dirty="0">
                <a:latin typeface="楷体_GB2312" pitchFamily="49" charset="-122"/>
                <a:ea typeface="楷体_GB2312" pitchFamily="49" charset="-122"/>
                <a:sym typeface="Wingdings 2" panose="05020102010507070707" pitchFamily="18" charset="2"/>
              </a:rPr>
              <a:t>   </a:t>
            </a:r>
            <a:r>
              <a:rPr lang="en-US" altLang="zh-CN" sz="2400" b="1" dirty="0">
                <a:latin typeface="楷体_GB2312" pitchFamily="49" charset="-122"/>
                <a:ea typeface="楷体_GB2312" pitchFamily="49" charset="-122"/>
                <a:sym typeface="Wingdings 2" panose="05020102010507070707" pitchFamily="18" charset="2"/>
              </a:rPr>
              <a:t></a:t>
            </a:r>
            <a:r>
              <a:rPr lang="en-US" altLang="zh-CN" sz="2400" dirty="0">
                <a:latin typeface="楷体_GB2312" pitchFamily="49" charset="-122"/>
                <a:ea typeface="楷体_GB2312" pitchFamily="49" charset="-122"/>
                <a:sym typeface="Wingdings 2" panose="05020102010507070707" pitchFamily="18" charset="2"/>
              </a:rPr>
              <a:t> </a:t>
            </a:r>
            <a:r>
              <a:rPr lang="zh-CN" altLang="en-US" sz="2400" dirty="0">
                <a:latin typeface="楷体_GB2312" pitchFamily="49" charset="-122"/>
                <a:ea typeface="楷体_GB2312" pitchFamily="49" charset="-122"/>
              </a:rPr>
              <a:t>计算机组成原理，操作系统</a:t>
            </a:r>
            <a:endParaRPr lang="zh-CN" altLang="en-US" sz="2400" dirty="0">
              <a:latin typeface="楷体_GB2312" pitchFamily="49" charset="-122"/>
              <a:ea typeface="楷体_GB2312" pitchFamily="49" charset="-122"/>
            </a:endParaRPr>
          </a:p>
          <a:p>
            <a:pPr eaLnBrk="1" hangingPunct="1">
              <a:lnSpc>
                <a:spcPct val="114000"/>
              </a:lnSpc>
              <a:buSzTx/>
              <a:buFontTx/>
              <a:buNone/>
              <a:defRPr/>
            </a:pPr>
            <a:r>
              <a:rPr lang="zh-CN" altLang="en-US" sz="2400" b="1" dirty="0">
                <a:latin typeface="楷体_GB2312" pitchFamily="49" charset="-122"/>
                <a:ea typeface="楷体_GB2312" pitchFamily="49" charset="-122"/>
                <a:sym typeface="Wingdings 2" panose="05020102010507070707" pitchFamily="18" charset="2"/>
              </a:rPr>
              <a:t>    </a:t>
            </a:r>
            <a:r>
              <a:rPr lang="zh-CN" altLang="en-US" sz="2400" dirty="0">
                <a:latin typeface="楷体_GB2312" pitchFamily="49" charset="-122"/>
                <a:ea typeface="楷体_GB2312" pitchFamily="49" charset="-122"/>
              </a:rPr>
              <a:t>程序设计语言</a:t>
            </a:r>
            <a:endParaRPr lang="zh-CN" altLang="en-US" sz="2400" dirty="0">
              <a:latin typeface="楷体_GB2312" pitchFamily="49" charset="-122"/>
              <a:ea typeface="楷体_GB2312" pitchFamily="49" charset="-122"/>
            </a:endParaRPr>
          </a:p>
          <a:p>
            <a:pPr eaLnBrk="1" hangingPunct="1">
              <a:lnSpc>
                <a:spcPct val="114000"/>
              </a:lnSpc>
              <a:buSzTx/>
              <a:buFontTx/>
              <a:buNone/>
              <a:defRPr/>
            </a:pPr>
            <a:r>
              <a:rPr lang="zh-CN" altLang="en-US" sz="2400" b="1" dirty="0">
                <a:latin typeface="楷体_GB2312" pitchFamily="49" charset="-122"/>
                <a:ea typeface="楷体_GB2312" pitchFamily="49" charset="-122"/>
                <a:sym typeface="Wingdings 2" panose="05020102010507070707" pitchFamily="18" charset="2"/>
              </a:rPr>
              <a:t>    </a:t>
            </a:r>
            <a:r>
              <a:rPr lang="zh-CN" altLang="en-US" sz="2400" dirty="0">
                <a:latin typeface="楷体_GB2312" pitchFamily="49" charset="-122"/>
                <a:ea typeface="楷体_GB2312" pitchFamily="49" charset="-122"/>
              </a:rPr>
              <a:t>通信基础知识</a:t>
            </a:r>
            <a:endParaRPr lang="zh-CN" altLang="en-US" sz="2400" dirty="0">
              <a:latin typeface="楷体_GB2312" pitchFamily="49" charset="-122"/>
              <a:ea typeface="楷体_GB2312" pitchFamily="49" charset="-122"/>
            </a:endParaRPr>
          </a:p>
          <a:p>
            <a:pPr eaLnBrk="1" hangingPunct="1">
              <a:lnSpc>
                <a:spcPct val="114000"/>
              </a:lnSpc>
              <a:buFont typeface="Wingdings" panose="05000000000000000000" pitchFamily="2" charset="2"/>
              <a:buNone/>
              <a:defRPr/>
            </a:pPr>
            <a:r>
              <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rPr>
              <a:t>后续课程</a:t>
            </a:r>
            <a:r>
              <a:rPr lang="en-US" altLang="zh-CN" b="1" dirty="0">
                <a:solidFill>
                  <a:srgbClr val="0000FF"/>
                </a:solidFill>
                <a:effectLst>
                  <a:outerShdw blurRad="38100" dist="38100" dir="2700000" algn="tl">
                    <a:srgbClr val="C0C0C0"/>
                  </a:outerShdw>
                </a:effectLst>
                <a:latin typeface="楷体_GB2312" pitchFamily="49" charset="-122"/>
                <a:ea typeface="楷体_GB2312" pitchFamily="49" charset="-122"/>
              </a:rPr>
              <a:t>:</a:t>
            </a:r>
            <a:endParaRPr lang="en-US" altLang="zh-CN" b="1" dirty="0">
              <a:solidFill>
                <a:srgbClr val="0000FF"/>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4000"/>
              </a:lnSpc>
              <a:buSzTx/>
              <a:buFontTx/>
              <a:buNone/>
              <a:defRPr/>
            </a:pPr>
            <a:r>
              <a:rPr lang="en-US" altLang="zh-CN" sz="2400" b="1" dirty="0">
                <a:latin typeface="楷体_GB2312" pitchFamily="49" charset="-122"/>
                <a:ea typeface="楷体_GB2312" pitchFamily="49" charset="-122"/>
                <a:sym typeface="Wingdings 2" panose="05020102010507070707" pitchFamily="18" charset="2"/>
              </a:rPr>
              <a:t>    </a:t>
            </a:r>
            <a:r>
              <a:rPr lang="zh-CN" altLang="en-US" sz="2400" dirty="0">
                <a:latin typeface="楷体_GB2312" pitchFamily="49" charset="-122"/>
                <a:ea typeface="楷体_GB2312" pitchFamily="49" charset="-122"/>
              </a:rPr>
              <a:t>网络工程实验</a:t>
            </a:r>
            <a:endParaRPr lang="zh-CN" altLang="en-US" sz="2400" dirty="0">
              <a:latin typeface="楷体_GB2312" pitchFamily="49" charset="-122"/>
              <a:ea typeface="楷体_GB2312" pitchFamily="49" charset="-122"/>
            </a:endParaRPr>
          </a:p>
          <a:p>
            <a:pPr eaLnBrk="1" hangingPunct="1">
              <a:lnSpc>
                <a:spcPct val="114000"/>
              </a:lnSpc>
              <a:buSzTx/>
              <a:buFontTx/>
              <a:buNone/>
              <a:defRPr/>
            </a:pPr>
            <a:r>
              <a:rPr lang="zh-CN" altLang="en-US" sz="2400" b="1" dirty="0">
                <a:latin typeface="楷体_GB2312" pitchFamily="49" charset="-122"/>
                <a:ea typeface="楷体_GB2312" pitchFamily="49" charset="-122"/>
                <a:sym typeface="Wingdings 2" panose="05020102010507070707" pitchFamily="18" charset="2"/>
              </a:rPr>
              <a:t>    </a:t>
            </a:r>
            <a:r>
              <a:rPr lang="zh-CN" altLang="en-US" sz="2400" dirty="0">
                <a:latin typeface="楷体_GB2312" pitchFamily="49" charset="-122"/>
                <a:ea typeface="楷体_GB2312" pitchFamily="49" charset="-122"/>
              </a:rPr>
              <a:t>网络编程技术</a:t>
            </a:r>
            <a:endParaRPr lang="zh-CN" altLang="en-US" sz="2400" dirty="0">
              <a:latin typeface="楷体_GB2312" pitchFamily="49" charset="-122"/>
              <a:ea typeface="楷体_GB2312" pitchFamily="49" charset="-122"/>
            </a:endParaRPr>
          </a:p>
          <a:p>
            <a:pPr eaLnBrk="1" hangingPunct="1">
              <a:lnSpc>
                <a:spcPct val="114000"/>
              </a:lnSpc>
              <a:buSzTx/>
              <a:buFontTx/>
              <a:buNone/>
              <a:defRPr/>
            </a:pPr>
            <a:r>
              <a:rPr lang="zh-CN" altLang="en-US" sz="2400" b="1" dirty="0">
                <a:latin typeface="楷体_GB2312" pitchFamily="49" charset="-122"/>
                <a:ea typeface="楷体_GB2312" pitchFamily="49" charset="-122"/>
                <a:sym typeface="Wingdings 2" panose="05020102010507070707" pitchFamily="18" charset="2"/>
              </a:rPr>
              <a:t>    </a:t>
            </a:r>
            <a:r>
              <a:rPr lang="zh-CN" altLang="en-US" sz="2400" dirty="0">
                <a:latin typeface="楷体_GB2312" pitchFamily="49" charset="-122"/>
                <a:ea typeface="楷体_GB2312" pitchFamily="49" charset="-122"/>
              </a:rPr>
              <a:t>网络安全技术</a:t>
            </a:r>
            <a:endParaRPr lang="zh-CN" altLang="en-US" sz="2400" dirty="0">
              <a:latin typeface="楷体_GB2312" pitchFamily="49" charset="-122"/>
              <a:ea typeface="楷体_GB2312" pitchFamily="49" charset="-122"/>
            </a:endParaRPr>
          </a:p>
          <a:p>
            <a:pPr eaLnBrk="1" hangingPunct="1">
              <a:lnSpc>
                <a:spcPct val="114000"/>
              </a:lnSpc>
              <a:buSzPct val="105000"/>
              <a:buFontTx/>
              <a:buNone/>
              <a:defRPr/>
            </a:pPr>
            <a:r>
              <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rPr>
              <a:t>学习方法：</a:t>
            </a:r>
            <a:endPar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4000"/>
              </a:lnSpc>
              <a:buSzPct val="105000"/>
              <a:buFontTx/>
              <a:buNone/>
              <a:defRPr/>
            </a:pPr>
            <a:r>
              <a:rPr lang="zh-CN" altLang="en-US" sz="2400" dirty="0">
                <a:effectLst>
                  <a:outerShdw blurRad="38100" dist="38100" dir="2700000" algn="tl">
                    <a:srgbClr val="C0C0C0"/>
                  </a:outerShdw>
                </a:effectLst>
                <a:latin typeface="楷体_GB2312" pitchFamily="49" charset="-122"/>
                <a:ea typeface="楷体_GB2312" pitchFamily="49" charset="-122"/>
              </a:rPr>
              <a:t>   </a:t>
            </a:r>
            <a:r>
              <a:rPr lang="zh-CN" altLang="en-US" sz="2400" b="1" dirty="0">
                <a:latin typeface="楷体_GB2312" pitchFamily="49" charset="-122"/>
                <a:ea typeface="楷体_GB2312" pitchFamily="49" charset="-122"/>
                <a:sym typeface="Wingdings 2" panose="05020102010507070707" pitchFamily="18" charset="2"/>
              </a:rPr>
              <a:t></a:t>
            </a:r>
            <a:r>
              <a:rPr lang="zh-CN" altLang="en-US" sz="2400" dirty="0">
                <a:effectLst>
                  <a:outerShdw blurRad="38100" dist="38100" dir="2700000" algn="tl">
                    <a:srgbClr val="C0C0C0"/>
                  </a:outerShdw>
                </a:effectLst>
                <a:latin typeface="楷体_GB2312" pitchFamily="49" charset="-122"/>
                <a:ea typeface="楷体_GB2312" pitchFamily="49" charset="-122"/>
              </a:rPr>
              <a:t> 讲课内容为主；参看课本相关内容；</a:t>
            </a:r>
            <a:r>
              <a:rPr lang="zh-CN" altLang="en-US" sz="2400" dirty="0">
                <a:solidFill>
                  <a:srgbClr val="FF0000"/>
                </a:solidFill>
                <a:effectLst>
                  <a:outerShdw blurRad="38100" dist="38100" dir="2700000" algn="tl">
                    <a:srgbClr val="C0C0C0"/>
                  </a:outerShdw>
                </a:effectLst>
                <a:latin typeface="楷体_GB2312" pitchFamily="49" charset="-122"/>
                <a:ea typeface="楷体_GB2312" pitchFamily="49" charset="-122"/>
              </a:rPr>
              <a:t>上机实验结合</a:t>
            </a:r>
            <a:r>
              <a:rPr lang="zh-CN" altLang="en-US" sz="2400" dirty="0">
                <a:effectLst>
                  <a:outerShdw blurRad="38100" dist="38100" dir="2700000" algn="tl">
                    <a:srgbClr val="C0C0C0"/>
                  </a:outerShdw>
                </a:effectLst>
                <a:latin typeface="楷体_GB2312" pitchFamily="49" charset="-122"/>
                <a:ea typeface="楷体_GB2312" pitchFamily="49" charset="-122"/>
              </a:rPr>
              <a:t>。</a:t>
            </a:r>
            <a:endParaRPr lang="zh-CN" altLang="en-US" sz="2400" dirty="0">
              <a:effectLst>
                <a:outerShdw blurRad="38100" dist="38100" dir="2700000" algn="tl">
                  <a:srgbClr val="C0C0C0"/>
                </a:outerShdw>
              </a:effectLst>
              <a:latin typeface="楷体_GB2312" pitchFamily="49" charset="-122"/>
              <a:ea typeface="楷体_GB2312" pitchFamily="49" charset="-122"/>
            </a:endParaRPr>
          </a:p>
        </p:txBody>
      </p:sp>
      <p:pic>
        <p:nvPicPr>
          <p:cNvPr id="4" name="图片 3"/>
          <p:cNvPicPr>
            <a:picLocks noChangeAspect="1"/>
          </p:cNvPicPr>
          <p:nvPr/>
        </p:nvPicPr>
        <p:blipFill>
          <a:blip r:embed="rId1"/>
          <a:stretch>
            <a:fillRect/>
          </a:stretch>
        </p:blipFill>
        <p:spPr>
          <a:xfrm>
            <a:off x="5302667" y="2108041"/>
            <a:ext cx="2266951" cy="3200400"/>
          </a:xfrm>
          <a:prstGeom prst="rect">
            <a:avLst/>
          </a:prstGeom>
        </p:spPr>
      </p:pic>
      <p:pic>
        <p:nvPicPr>
          <p:cNvPr id="2" name="图片 1"/>
          <p:cNvPicPr>
            <a:picLocks noChangeAspect="1"/>
          </p:cNvPicPr>
          <p:nvPr/>
        </p:nvPicPr>
        <p:blipFill>
          <a:blip r:embed="rId2"/>
          <a:stretch>
            <a:fillRect/>
          </a:stretch>
        </p:blipFill>
        <p:spPr>
          <a:xfrm>
            <a:off x="7635560" y="2116281"/>
            <a:ext cx="2924937" cy="3200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dirty="0"/>
              <a:t>主要教学内容</a:t>
            </a:r>
            <a:endParaRPr lang="zh-CN" altLang="en-US" dirty="0"/>
          </a:p>
        </p:txBody>
      </p:sp>
      <p:graphicFrame>
        <p:nvGraphicFramePr>
          <p:cNvPr id="2" name="表格 2"/>
          <p:cNvGraphicFramePr>
            <a:graphicFrameLocks noGrp="1"/>
          </p:cNvGraphicFramePr>
          <p:nvPr/>
        </p:nvGraphicFramePr>
        <p:xfrm>
          <a:off x="1400321" y="1480280"/>
          <a:ext cx="5418666" cy="4572000"/>
        </p:xfrm>
        <a:graphic>
          <a:graphicData uri="http://schemas.openxmlformats.org/drawingml/2006/table">
            <a:tbl>
              <a:tblPr firstRow="1" bandRow="1">
                <a:tableStyleId>{5C22544A-7EE6-4342-B048-85BDC9FD1C3A}</a:tableStyleId>
              </a:tblPr>
              <a:tblGrid>
                <a:gridCol w="2170193"/>
                <a:gridCol w="3248473"/>
              </a:tblGrid>
              <a:tr h="370840">
                <a:tc>
                  <a:txBody>
                    <a:bodyPr/>
                    <a:lstStyle/>
                    <a:p>
                      <a:pPr algn="ctr"/>
                      <a:r>
                        <a:rPr lang="zh-CN" altLang="en-US" sz="2400" dirty="0">
                          <a:latin typeface="微软雅黑" panose="020B0503020204020204" pitchFamily="34" charset="-122"/>
                          <a:ea typeface="微软雅黑" panose="020B0503020204020204" pitchFamily="34" charset="-122"/>
                        </a:rPr>
                        <a:t>章  节</a:t>
                      </a:r>
                      <a:endParaRPr lang="zh-CN" altLang="en-US" sz="2400" dirty="0">
                        <a:latin typeface="微软雅黑" panose="020B0503020204020204" pitchFamily="34" charset="-122"/>
                        <a:ea typeface="微软雅黑" panose="020B0503020204020204" pitchFamily="34" charset="-122"/>
                      </a:endParaRPr>
                    </a:p>
                  </a:txBody>
                  <a:tcPr>
                    <a:solidFill>
                      <a:srgbClr val="5B307E"/>
                    </a:solidFill>
                  </a:tcPr>
                </a:tc>
                <a:tc>
                  <a:txBody>
                    <a:bodyPr/>
                    <a:lstStyle/>
                    <a:p>
                      <a:pPr algn="ctr"/>
                      <a:r>
                        <a:rPr lang="zh-CN" altLang="en-US" sz="2400" dirty="0">
                          <a:latin typeface="微软雅黑" panose="020B0503020204020204" pitchFamily="34" charset="-122"/>
                          <a:ea typeface="微软雅黑" panose="020B0503020204020204" pitchFamily="34" charset="-122"/>
                        </a:rPr>
                        <a:t>主要内容</a:t>
                      </a:r>
                      <a:endParaRPr lang="zh-CN" altLang="en-US" sz="2400" dirty="0">
                        <a:latin typeface="微软雅黑" panose="020B0503020204020204" pitchFamily="34" charset="-122"/>
                        <a:ea typeface="微软雅黑" panose="020B0503020204020204" pitchFamily="34" charset="-122"/>
                      </a:endParaRPr>
                    </a:p>
                  </a:txBody>
                  <a:tcPr>
                    <a:solidFill>
                      <a:srgbClr val="5B307E"/>
                    </a:solidFill>
                  </a:tcPr>
                </a:tc>
              </a:tr>
              <a:tr h="370840">
                <a:tc>
                  <a:txBody>
                    <a:bodyPr/>
                    <a:lstStyle/>
                    <a:p>
                      <a:pPr algn="ctr"/>
                      <a:r>
                        <a:rPr lang="zh-CN" altLang="en-US" sz="2400" dirty="0">
                          <a:latin typeface="微软雅黑" panose="020B0503020204020204" pitchFamily="34" charset="-122"/>
                          <a:ea typeface="微软雅黑" panose="020B0503020204020204" pitchFamily="34" charset="-122"/>
                        </a:rPr>
                        <a:t>第一章</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a:r>
                        <a:rPr lang="zh-CN" altLang="en-US" sz="2400" dirty="0">
                          <a:latin typeface="微软雅黑" panose="020B0503020204020204" pitchFamily="34" charset="-122"/>
                          <a:ea typeface="微软雅黑" panose="020B0503020204020204" pitchFamily="34" charset="-122"/>
                        </a:rPr>
                        <a:t>引  言</a:t>
                      </a:r>
                      <a:endParaRPr lang="zh-CN" altLang="en-US" sz="2400" dirty="0">
                        <a:latin typeface="微软雅黑" panose="020B0503020204020204" pitchFamily="34" charset="-122"/>
                        <a:ea typeface="微软雅黑" panose="020B0503020204020204" pitchFamily="34" charset="-122"/>
                      </a:endParaRPr>
                    </a:p>
                  </a:txBody>
                  <a:tcPr/>
                </a:tc>
              </a:tr>
              <a:tr h="370840">
                <a:tc>
                  <a:txBody>
                    <a:bodyPr/>
                    <a:lstStyle/>
                    <a:p>
                      <a:pPr algn="ctr"/>
                      <a:r>
                        <a:rPr lang="zh-CN" altLang="en-US" sz="2400" dirty="0">
                          <a:latin typeface="微软雅黑" panose="020B0503020204020204" pitchFamily="34" charset="-122"/>
                          <a:ea typeface="微软雅黑" panose="020B0503020204020204" pitchFamily="34" charset="-122"/>
                        </a:rPr>
                        <a:t>第二章</a:t>
                      </a:r>
                      <a:endParaRPr lang="en-US" altLang="zh-CN" sz="2400" dirty="0">
                        <a:latin typeface="微软雅黑" panose="020B0503020204020204" pitchFamily="34" charset="-122"/>
                        <a:ea typeface="微软雅黑" panose="020B0503020204020204" pitchFamily="34" charset="-122"/>
                      </a:endParaRPr>
                    </a:p>
                  </a:txBody>
                  <a:tcPr/>
                </a:tc>
                <a:tc>
                  <a:txBody>
                    <a:bodyPr/>
                    <a:lstStyle/>
                    <a:p>
                      <a:pPr algn="ctr"/>
                      <a:r>
                        <a:rPr lang="zh-CN" altLang="en-US" sz="2400" dirty="0">
                          <a:latin typeface="微软雅黑" panose="020B0503020204020204" pitchFamily="34" charset="-122"/>
                          <a:ea typeface="微软雅黑" panose="020B0503020204020204" pitchFamily="34" charset="-122"/>
                        </a:rPr>
                        <a:t>物理层</a:t>
                      </a:r>
                      <a:endParaRPr lang="zh-CN" altLang="en-US" sz="2400" dirty="0">
                        <a:latin typeface="微软雅黑" panose="020B0503020204020204" pitchFamily="34" charset="-122"/>
                        <a:ea typeface="微软雅黑" panose="020B0503020204020204" pitchFamily="34" charset="-122"/>
                      </a:endParaRPr>
                    </a:p>
                  </a:txBody>
                  <a:tcPr/>
                </a:tc>
              </a:tr>
              <a:tr h="370840">
                <a:tc>
                  <a:txBody>
                    <a:bodyPr/>
                    <a:lstStyle/>
                    <a:p>
                      <a:pPr algn="ctr"/>
                      <a:r>
                        <a:rPr lang="zh-CN" altLang="en-US" sz="2400" dirty="0">
                          <a:latin typeface="微软雅黑" panose="020B0503020204020204" pitchFamily="34" charset="-122"/>
                          <a:ea typeface="微软雅黑" panose="020B0503020204020204" pitchFamily="34" charset="-122"/>
                        </a:rPr>
                        <a:t>第三章</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fontAlgn="ctr" latinLnBrk="0"/>
                      <a:r>
                        <a:rPr lang="zh-CN" altLang="en-US" sz="2400" dirty="0">
                          <a:solidFill>
                            <a:srgbClr val="000000"/>
                          </a:solidFill>
                          <a:effectLst/>
                          <a:latin typeface="微软雅黑" panose="020B0503020204020204" pitchFamily="34" charset="-122"/>
                          <a:ea typeface="微软雅黑" panose="020B0503020204020204" pitchFamily="34" charset="-122"/>
                        </a:rPr>
                        <a:t>数据链路层</a:t>
                      </a:r>
                      <a:endParaRPr lang="zh-CN" altLang="en-US" sz="2400" dirty="0">
                        <a:solidFill>
                          <a:srgbClr val="000000"/>
                        </a:solidFill>
                        <a:effectLst/>
                        <a:latin typeface="微软雅黑" panose="020B0503020204020204" pitchFamily="34" charset="-122"/>
                        <a:ea typeface="微软雅黑" panose="020B0503020204020204" pitchFamily="34" charset="-122"/>
                      </a:endParaRPr>
                    </a:p>
                  </a:txBody>
                  <a:tcPr anchor="ctr"/>
                </a:tc>
              </a:tr>
              <a:tr h="370840">
                <a:tc>
                  <a:txBody>
                    <a:bodyPr/>
                    <a:lstStyle/>
                    <a:p>
                      <a:pPr algn="ctr"/>
                      <a:r>
                        <a:rPr lang="zh-CN" altLang="en-US" sz="2400" dirty="0">
                          <a:latin typeface="微软雅黑" panose="020B0503020204020204" pitchFamily="34" charset="-122"/>
                          <a:ea typeface="微软雅黑" panose="020B0503020204020204" pitchFamily="34" charset="-122"/>
                        </a:rPr>
                        <a:t>第四章</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fontAlgn="ctr" latinLnBrk="0"/>
                      <a:r>
                        <a:rPr lang="en-US" altLang="zh-CN" sz="2400" dirty="0">
                          <a:solidFill>
                            <a:srgbClr val="000000"/>
                          </a:solidFill>
                          <a:effectLst/>
                          <a:latin typeface="微软雅黑" panose="020B0503020204020204" pitchFamily="34" charset="-122"/>
                          <a:ea typeface="微软雅黑" panose="020B0503020204020204" pitchFamily="34" charset="-122"/>
                        </a:rPr>
                        <a:t>MAC</a:t>
                      </a:r>
                      <a:r>
                        <a:rPr lang="zh-CN" altLang="en-US" sz="2400" dirty="0">
                          <a:solidFill>
                            <a:srgbClr val="000000"/>
                          </a:solidFill>
                          <a:effectLst/>
                          <a:latin typeface="微软雅黑" panose="020B0503020204020204" pitchFamily="34" charset="-122"/>
                          <a:ea typeface="微软雅黑" panose="020B0503020204020204" pitchFamily="34" charset="-122"/>
                        </a:rPr>
                        <a:t>子层</a:t>
                      </a:r>
                      <a:endParaRPr lang="zh-CN" altLang="en-US" sz="2400" dirty="0">
                        <a:solidFill>
                          <a:srgbClr val="000000"/>
                        </a:solidFill>
                        <a:effectLst/>
                        <a:latin typeface="微软雅黑" panose="020B0503020204020204" pitchFamily="34" charset="-122"/>
                        <a:ea typeface="微软雅黑" panose="020B0503020204020204" pitchFamily="34" charset="-122"/>
                      </a:endParaRPr>
                    </a:p>
                  </a:txBody>
                  <a:tcPr anchor="ctr"/>
                </a:tc>
              </a:tr>
              <a:tr h="370840">
                <a:tc>
                  <a:txBody>
                    <a:bodyPr/>
                    <a:lstStyle/>
                    <a:p>
                      <a:pPr algn="ctr"/>
                      <a:r>
                        <a:rPr lang="zh-CN" altLang="en-US" sz="2400" dirty="0">
                          <a:latin typeface="微软雅黑" panose="020B0503020204020204" pitchFamily="34" charset="-122"/>
                          <a:ea typeface="微软雅黑" panose="020B0503020204020204" pitchFamily="34" charset="-122"/>
                        </a:rPr>
                        <a:t>第五章</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fontAlgn="ctr" latinLnBrk="0"/>
                      <a:r>
                        <a:rPr lang="zh-CN" altLang="en-US" sz="2400" dirty="0">
                          <a:solidFill>
                            <a:srgbClr val="000000"/>
                          </a:solidFill>
                          <a:effectLst/>
                          <a:latin typeface="微软雅黑" panose="020B0503020204020204" pitchFamily="34" charset="-122"/>
                          <a:ea typeface="微软雅黑" panose="020B0503020204020204" pitchFamily="34" charset="-122"/>
                        </a:rPr>
                        <a:t>网络层</a:t>
                      </a:r>
                      <a:endParaRPr lang="zh-CN" altLang="en-US" sz="2400" dirty="0">
                        <a:solidFill>
                          <a:srgbClr val="000000"/>
                        </a:solidFill>
                        <a:effectLst/>
                        <a:latin typeface="微软雅黑" panose="020B0503020204020204" pitchFamily="34" charset="-122"/>
                        <a:ea typeface="微软雅黑" panose="020B0503020204020204" pitchFamily="34" charset="-122"/>
                      </a:endParaRPr>
                    </a:p>
                  </a:txBody>
                  <a:tcPr anchor="ctr"/>
                </a:tc>
              </a:tr>
              <a:tr h="370840">
                <a:tc>
                  <a:txBody>
                    <a:bodyPr/>
                    <a:lstStyle/>
                    <a:p>
                      <a:pPr algn="ctr"/>
                      <a:r>
                        <a:rPr lang="zh-CN" altLang="en-US" sz="2400" dirty="0">
                          <a:latin typeface="微软雅黑" panose="020B0503020204020204" pitchFamily="34" charset="-122"/>
                          <a:ea typeface="微软雅黑" panose="020B0503020204020204" pitchFamily="34" charset="-122"/>
                        </a:rPr>
                        <a:t>第六章</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fontAlgn="ctr" latinLnBrk="0"/>
                      <a:r>
                        <a:rPr lang="zh-CN" altLang="en-US" sz="2400" dirty="0">
                          <a:solidFill>
                            <a:srgbClr val="000000"/>
                          </a:solidFill>
                          <a:effectLst/>
                          <a:latin typeface="微软雅黑" panose="020B0503020204020204" pitchFamily="34" charset="-122"/>
                          <a:ea typeface="微软雅黑" panose="020B0503020204020204" pitchFamily="34" charset="-122"/>
                        </a:rPr>
                        <a:t>传输层</a:t>
                      </a:r>
                      <a:endParaRPr lang="zh-CN" altLang="en-US" sz="2400" dirty="0">
                        <a:solidFill>
                          <a:srgbClr val="000000"/>
                        </a:solidFill>
                        <a:effectLst/>
                        <a:latin typeface="微软雅黑" panose="020B0503020204020204" pitchFamily="34" charset="-122"/>
                        <a:ea typeface="微软雅黑" panose="020B0503020204020204" pitchFamily="34" charset="-122"/>
                      </a:endParaRPr>
                    </a:p>
                  </a:txBody>
                  <a:tcPr anchor="ctr"/>
                </a:tc>
              </a:tr>
              <a:tr h="370840">
                <a:tc>
                  <a:txBody>
                    <a:bodyPr/>
                    <a:lstStyle/>
                    <a:p>
                      <a:pPr algn="ctr"/>
                      <a:r>
                        <a:rPr lang="zh-CN" altLang="en-US" sz="2400" dirty="0">
                          <a:latin typeface="微软雅黑" panose="020B0503020204020204" pitchFamily="34" charset="-122"/>
                          <a:ea typeface="微软雅黑" panose="020B0503020204020204" pitchFamily="34" charset="-122"/>
                        </a:rPr>
                        <a:t>第七章</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fontAlgn="ctr" latinLnBrk="0"/>
                      <a:r>
                        <a:rPr lang="zh-CN" altLang="en-US" sz="2400" dirty="0">
                          <a:solidFill>
                            <a:srgbClr val="000000"/>
                          </a:solidFill>
                          <a:effectLst/>
                          <a:latin typeface="微软雅黑" panose="020B0503020204020204" pitchFamily="34" charset="-122"/>
                          <a:ea typeface="微软雅黑" panose="020B0503020204020204" pitchFamily="34" charset="-122"/>
                        </a:rPr>
                        <a:t>应用层</a:t>
                      </a:r>
                      <a:endParaRPr lang="zh-CN" altLang="en-US" sz="2400" dirty="0">
                        <a:solidFill>
                          <a:srgbClr val="000000"/>
                        </a:solidFill>
                        <a:effectLst/>
                        <a:latin typeface="微软雅黑" panose="020B0503020204020204" pitchFamily="34" charset="-122"/>
                        <a:ea typeface="微软雅黑" panose="020B0503020204020204" pitchFamily="34" charset="-122"/>
                      </a:endParaRPr>
                    </a:p>
                  </a:txBody>
                  <a:tcPr anchor="ctr"/>
                </a:tc>
              </a:tr>
              <a:tr h="370840">
                <a:tc>
                  <a:txBody>
                    <a:bodyPr/>
                    <a:lstStyle/>
                    <a:p>
                      <a:pPr algn="ctr"/>
                      <a:r>
                        <a:rPr lang="zh-CN" altLang="en-US" sz="2400" dirty="0">
                          <a:latin typeface="微软雅黑" panose="020B0503020204020204" pitchFamily="34" charset="-122"/>
                          <a:ea typeface="微软雅黑" panose="020B0503020204020204" pitchFamily="34" charset="-122"/>
                        </a:rPr>
                        <a:t>第八章</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fontAlgn="ctr" latinLnBrk="0"/>
                      <a:r>
                        <a:rPr lang="zh-CN" altLang="en-US" sz="2400" dirty="0">
                          <a:solidFill>
                            <a:srgbClr val="000000"/>
                          </a:solidFill>
                          <a:effectLst/>
                          <a:latin typeface="微软雅黑" panose="020B0503020204020204" pitchFamily="34" charset="-122"/>
                          <a:ea typeface="微软雅黑" panose="020B0503020204020204" pitchFamily="34" charset="-122"/>
                        </a:rPr>
                        <a:t>网络安全</a:t>
                      </a:r>
                      <a:endParaRPr lang="zh-CN" altLang="en-US" sz="2400" dirty="0">
                        <a:solidFill>
                          <a:srgbClr val="000000"/>
                        </a:solidFill>
                        <a:effectLst/>
                        <a:latin typeface="微软雅黑" panose="020B0503020204020204" pitchFamily="34" charset="-122"/>
                        <a:ea typeface="微软雅黑" panose="020B0503020204020204" pitchFamily="34" charset="-122"/>
                      </a:endParaRPr>
                    </a:p>
                  </a:txBody>
                  <a:tcPr anchor="ctr"/>
                </a:tc>
              </a:tr>
              <a:tr h="370840">
                <a:tc>
                  <a:txBody>
                    <a:bodyPr/>
                    <a:lstStyle/>
                    <a:p>
                      <a:pPr algn="ctr"/>
                      <a:r>
                        <a:rPr lang="zh-CN" altLang="en-US" sz="2400" dirty="0">
                          <a:latin typeface="微软雅黑" panose="020B0503020204020204" pitchFamily="34" charset="-122"/>
                          <a:ea typeface="微软雅黑" panose="020B0503020204020204" pitchFamily="34" charset="-122"/>
                        </a:rPr>
                        <a:t>第九章</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fontAlgn="ctr" latinLnBrk="0"/>
                      <a:r>
                        <a:rPr lang="zh-CN" altLang="en-US" sz="2400" dirty="0">
                          <a:solidFill>
                            <a:srgbClr val="000000"/>
                          </a:solidFill>
                          <a:effectLst/>
                          <a:latin typeface="微软雅黑" panose="020B0503020204020204" pitchFamily="34" charset="-122"/>
                          <a:ea typeface="微软雅黑" panose="020B0503020204020204" pitchFamily="34" charset="-122"/>
                        </a:rPr>
                        <a:t>新型网络</a:t>
                      </a:r>
                      <a:endParaRPr lang="zh-CN" altLang="en-US" sz="2400" dirty="0">
                        <a:solidFill>
                          <a:srgbClr val="000000"/>
                        </a:solidFill>
                        <a:effectLst/>
                        <a:latin typeface="微软雅黑" panose="020B0503020204020204" pitchFamily="34" charset="-122"/>
                        <a:ea typeface="微软雅黑" panose="020B0503020204020204" pitchFamily="34" charset="-122"/>
                      </a:endParaRPr>
                    </a:p>
                  </a:txBody>
                  <a:tcPr anchor="ctr"/>
                </a:tc>
              </a:tr>
            </a:tbl>
          </a:graphicData>
        </a:graphic>
      </p:graphicFrame>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755778"/>
            <a:ext cx="9144000" cy="2002674"/>
          </a:xfrm>
        </p:spPr>
        <p:txBody>
          <a:bodyPr/>
          <a:lstStyle/>
          <a:p>
            <a:r>
              <a:rPr kumimoji="1" lang="zh-CN" altLang="en-US" dirty="0"/>
              <a:t>第一章 引言</a:t>
            </a:r>
            <a:endParaRPr kumimoji="1"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本章目标</a:t>
            </a:r>
            <a:endParaRPr kumimoji="1" lang="zh-CN" altLang="en-US" dirty="0"/>
          </a:p>
        </p:txBody>
      </p:sp>
      <p:sp>
        <p:nvSpPr>
          <p:cNvPr id="3" name="内容占位符 2"/>
          <p:cNvSpPr>
            <a:spLocks noGrp="1"/>
          </p:cNvSpPr>
          <p:nvPr>
            <p:ph idx="1"/>
          </p:nvPr>
        </p:nvSpPr>
        <p:spPr/>
        <p:txBody>
          <a:bodyPr>
            <a:normAutofit lnSpcReduction="10000"/>
          </a:bodyPr>
          <a:lstStyle/>
          <a:p>
            <a:pPr marL="514350" indent="-514350">
              <a:lnSpc>
                <a:spcPct val="120000"/>
              </a:lnSpc>
              <a:buFont typeface="+mj-lt"/>
              <a:buAutoNum type="arabicPeriod"/>
            </a:pPr>
            <a:r>
              <a:rPr kumimoji="1" lang="zh-CN" altLang="en-US" dirty="0"/>
              <a:t>了解计算机网络在经济生活中的应用范围及其重要性</a:t>
            </a:r>
            <a:endParaRPr kumimoji="1" lang="en-US" altLang="zh-CN" dirty="0"/>
          </a:p>
          <a:p>
            <a:pPr marL="514350" indent="-514350">
              <a:lnSpc>
                <a:spcPct val="120000"/>
              </a:lnSpc>
              <a:buFont typeface="+mj-lt"/>
              <a:buAutoNum type="arabicPeriod"/>
            </a:pPr>
            <a:r>
              <a:rPr kumimoji="1" lang="zh-CN" altLang="en-US" dirty="0"/>
              <a:t>了解网络的基本概念，</a:t>
            </a:r>
            <a:r>
              <a:rPr kumimoji="1" lang="zh-CN" altLang="en-US" dirty="0">
                <a:solidFill>
                  <a:srgbClr val="C00000"/>
                </a:solidFill>
              </a:rPr>
              <a:t>掌握典型交换方式及其优缺点</a:t>
            </a:r>
            <a:endParaRPr kumimoji="1" lang="zh-CN" altLang="en-US" dirty="0">
              <a:solidFill>
                <a:srgbClr val="C00000"/>
              </a:solidFill>
            </a:endParaRPr>
          </a:p>
          <a:p>
            <a:pPr marL="514350" indent="-514350">
              <a:lnSpc>
                <a:spcPct val="120000"/>
              </a:lnSpc>
              <a:buFont typeface="+mj-lt"/>
              <a:buAutoNum type="arabicPeriod"/>
            </a:pPr>
            <a:r>
              <a:rPr kumimoji="1" lang="zh-CN" altLang="en-US" dirty="0">
                <a:solidFill>
                  <a:srgbClr val="C00000"/>
                </a:solidFill>
              </a:rPr>
              <a:t>掌握分层结构和网络协议（核心内容）</a:t>
            </a:r>
            <a:endParaRPr kumimoji="1" lang="zh-CN" altLang="en-US" dirty="0">
              <a:solidFill>
                <a:srgbClr val="C00000"/>
              </a:solidFill>
            </a:endParaRPr>
          </a:p>
          <a:p>
            <a:pPr marL="514350" indent="-514350">
              <a:lnSpc>
                <a:spcPct val="120000"/>
              </a:lnSpc>
              <a:buFont typeface="+mj-lt"/>
              <a:buAutoNum type="arabicPeriod"/>
            </a:pPr>
            <a:r>
              <a:rPr kumimoji="1" lang="zh-CN" altLang="en-US" dirty="0">
                <a:solidFill>
                  <a:srgbClr val="C00000"/>
                </a:solidFill>
              </a:rPr>
              <a:t>掌握网络参考模型（核心内容）</a:t>
            </a:r>
            <a:endParaRPr kumimoji="1" lang="zh-CN" altLang="en-US" dirty="0">
              <a:solidFill>
                <a:srgbClr val="C00000"/>
              </a:solidFill>
            </a:endParaRPr>
          </a:p>
          <a:p>
            <a:pPr marL="514350" indent="-514350">
              <a:lnSpc>
                <a:spcPct val="120000"/>
              </a:lnSpc>
              <a:buFont typeface="+mj-lt"/>
              <a:buAutoNum type="arabicPeriod"/>
            </a:pPr>
            <a:r>
              <a:rPr kumimoji="1" lang="zh-CN" altLang="en-US" dirty="0">
                <a:solidFill>
                  <a:srgbClr val="C00000"/>
                </a:solidFill>
              </a:rPr>
              <a:t>掌握计算机网络主要度量的含义</a:t>
            </a:r>
            <a:endParaRPr kumimoji="1" lang="zh-CN" altLang="en-US" dirty="0">
              <a:solidFill>
                <a:srgbClr val="C00000"/>
              </a:solidFill>
            </a:endParaRPr>
          </a:p>
          <a:p>
            <a:pPr marL="514350" indent="-514350">
              <a:lnSpc>
                <a:spcPct val="120000"/>
              </a:lnSpc>
              <a:buFont typeface="+mj-lt"/>
              <a:buAutoNum type="arabicPeriod"/>
            </a:pPr>
            <a:r>
              <a:rPr kumimoji="1" lang="zh-CN" altLang="en-US" dirty="0"/>
              <a:t>了解网络安全与威胁</a:t>
            </a:r>
            <a:endParaRPr kumimoji="1" lang="zh-CN" altLang="en-US" dirty="0"/>
          </a:p>
          <a:p>
            <a:pPr marL="514350" indent="-514350">
              <a:lnSpc>
                <a:spcPct val="120000"/>
              </a:lnSpc>
              <a:buFont typeface="+mj-lt"/>
              <a:buAutoNum type="arabicPeriod"/>
            </a:pPr>
            <a:r>
              <a:rPr kumimoji="1" lang="zh-CN" altLang="en-US" dirty="0"/>
              <a:t>了解制定网络协议的标准化组织</a:t>
            </a:r>
            <a:endParaRPr kumimoji="1" lang="zh-CN" altLang="en-US" dirty="0"/>
          </a:p>
          <a:p>
            <a:pPr marL="514350" indent="-514350">
              <a:lnSpc>
                <a:spcPct val="120000"/>
              </a:lnSpc>
              <a:buFont typeface="+mj-lt"/>
              <a:buAutoNum type="arabicPeriod"/>
            </a:pPr>
            <a:r>
              <a:rPr kumimoji="1" lang="zh-CN" altLang="en-US" dirty="0"/>
              <a:t>了解国内外互联网发展史，以史为鉴</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3" name="内容占位符 2"/>
          <p:cNvSpPr>
            <a:spLocks noGrp="1"/>
          </p:cNvSpPr>
          <p:nvPr>
            <p:ph sz="half" idx="1"/>
          </p:nvPr>
        </p:nvSpPr>
        <p:spPr>
          <a:xfrm>
            <a:off x="1203960" y="1825625"/>
            <a:ext cx="5181600" cy="4351338"/>
          </a:xfrm>
        </p:spPr>
        <p:txBody>
          <a:bodyPr>
            <a:normAutofit/>
          </a:bodyPr>
          <a:lstStyle/>
          <a:p>
            <a:pPr marL="0" indent="0">
              <a:lnSpc>
                <a:spcPct val="150000"/>
              </a:lnSpc>
              <a:buNone/>
            </a:pPr>
            <a:r>
              <a:rPr kumimoji="1" lang="en-US" altLang="zh-CN" dirty="0">
                <a:solidFill>
                  <a:srgbClr val="C00000"/>
                </a:solidFill>
              </a:rPr>
              <a:t>1.1 </a:t>
            </a:r>
            <a:r>
              <a:rPr kumimoji="1" lang="zh-CN" altLang="en-US" dirty="0">
                <a:solidFill>
                  <a:srgbClr val="C00000"/>
                </a:solidFill>
              </a:rPr>
              <a:t>初识互联网</a:t>
            </a:r>
            <a:endParaRPr kumimoji="1" lang="en-US" altLang="zh-CN" dirty="0">
              <a:solidFill>
                <a:srgbClr val="C00000"/>
              </a:solidFill>
            </a:endParaRPr>
          </a:p>
          <a:p>
            <a:pPr marL="0" indent="0">
              <a:lnSpc>
                <a:spcPct val="150000"/>
              </a:lnSpc>
              <a:buNone/>
            </a:pPr>
            <a:r>
              <a:rPr kumimoji="1" lang="en-US" altLang="zh-CN" dirty="0"/>
              <a:t>1.2 </a:t>
            </a:r>
            <a:r>
              <a:rPr kumimoji="1" lang="zh-CN" altLang="en-US" dirty="0"/>
              <a:t>网络实例</a:t>
            </a:r>
            <a:endParaRPr kumimoji="1" lang="en-US" altLang="zh-CN" dirty="0"/>
          </a:p>
          <a:p>
            <a:pPr marL="0" indent="0">
              <a:lnSpc>
                <a:spcPct val="150000"/>
              </a:lnSpc>
              <a:buNone/>
            </a:pPr>
            <a:r>
              <a:rPr kumimoji="1" lang="en-US" altLang="zh-CN" dirty="0"/>
              <a:t>1.3 </a:t>
            </a:r>
            <a:r>
              <a:rPr kumimoji="1" lang="zh-CN" altLang="en-US" dirty="0"/>
              <a:t>协议与分层结构</a:t>
            </a:r>
            <a:endParaRPr kumimoji="1" lang="en-US" altLang="zh-CN" dirty="0"/>
          </a:p>
          <a:p>
            <a:pPr marL="0" indent="0">
              <a:lnSpc>
                <a:spcPct val="150000"/>
              </a:lnSpc>
              <a:buNone/>
            </a:pPr>
            <a:r>
              <a:rPr kumimoji="1" lang="en-US" altLang="zh-CN" dirty="0"/>
              <a:t>1.4 </a:t>
            </a:r>
            <a:r>
              <a:rPr kumimoji="1" lang="zh-CN" altLang="en-US" dirty="0"/>
              <a:t>参考模型</a:t>
            </a:r>
            <a:endParaRPr kumimoji="1" lang="en-US" altLang="zh-CN" dirty="0"/>
          </a:p>
        </p:txBody>
      </p:sp>
      <p:sp>
        <p:nvSpPr>
          <p:cNvPr id="5" name="内容占位符 4"/>
          <p:cNvSpPr>
            <a:spLocks noGrp="1"/>
          </p:cNvSpPr>
          <p:nvPr>
            <p:ph sz="half" idx="2"/>
          </p:nvPr>
        </p:nvSpPr>
        <p:spPr>
          <a:xfrm>
            <a:off x="6096000" y="1825625"/>
            <a:ext cx="5181600" cy="4351338"/>
          </a:xfrm>
        </p:spPr>
        <p:txBody>
          <a:bodyPr/>
          <a:lstStyle/>
          <a:p>
            <a:pPr marL="0" indent="0">
              <a:lnSpc>
                <a:spcPct val="150000"/>
              </a:lnSpc>
              <a:buNone/>
            </a:pPr>
            <a:r>
              <a:rPr kumimoji="1" lang="en-US" altLang="zh-CN" dirty="0"/>
              <a:t>1.5 </a:t>
            </a:r>
            <a:r>
              <a:rPr kumimoji="1" lang="zh-CN" altLang="en-US" dirty="0"/>
              <a:t>计算机网络度量单位</a:t>
            </a:r>
            <a:endParaRPr kumimoji="1" lang="en-US" altLang="zh-CN" dirty="0"/>
          </a:p>
          <a:p>
            <a:pPr marL="0" indent="0">
              <a:lnSpc>
                <a:spcPct val="150000"/>
              </a:lnSpc>
              <a:buNone/>
            </a:pPr>
            <a:r>
              <a:rPr kumimoji="1" lang="en-US" altLang="zh-CN" dirty="0"/>
              <a:t>1.6 </a:t>
            </a:r>
            <a:r>
              <a:rPr kumimoji="1" lang="zh-CN" altLang="en-US" dirty="0"/>
              <a:t>网络安全与威胁</a:t>
            </a:r>
            <a:endParaRPr kumimoji="1" lang="zh-CN" altLang="en-US" dirty="0"/>
          </a:p>
          <a:p>
            <a:pPr marL="0" indent="0">
              <a:lnSpc>
                <a:spcPct val="150000"/>
              </a:lnSpc>
              <a:buNone/>
            </a:pPr>
            <a:r>
              <a:rPr kumimoji="1" lang="en-US" altLang="zh-CN" dirty="0"/>
              <a:t>1.7 </a:t>
            </a:r>
            <a:r>
              <a:rPr kumimoji="1" lang="zh-CN" altLang="en-US" dirty="0"/>
              <a:t>标准化组织</a:t>
            </a:r>
            <a:endParaRPr kumimoji="1" lang="en-US" altLang="zh-CN" dirty="0"/>
          </a:p>
          <a:p>
            <a:pPr marL="0" indent="0">
              <a:lnSpc>
                <a:spcPct val="150000"/>
              </a:lnSpc>
              <a:buNone/>
            </a:pPr>
            <a:r>
              <a:rPr kumimoji="1" lang="en-US" altLang="zh-CN" dirty="0"/>
              <a:t>1.8 </a:t>
            </a:r>
            <a:r>
              <a:rPr kumimoji="1" lang="zh-CN" altLang="en-US" dirty="0"/>
              <a:t>互联网发展史与启示</a:t>
            </a:r>
            <a:endParaRPr kumimoji="1" lang="en-US" altLang="zh-CN"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307508" y="352769"/>
            <a:ext cx="8220812" cy="879086"/>
          </a:xfrm>
        </p:spPr>
        <p:txBody>
          <a:bodyPr/>
          <a:lstStyle/>
          <a:p>
            <a:pPr eaLnBrk="1" hangingPunct="1"/>
            <a:r>
              <a:rPr lang="zh-CN" altLang="en-US" dirty="0"/>
              <a:t>网络的基本功能</a:t>
            </a:r>
            <a:endParaRPr lang="zh-CN" altLang="en-US" sz="2800" dirty="0"/>
          </a:p>
        </p:txBody>
      </p:sp>
      <p:sp>
        <p:nvSpPr>
          <p:cNvPr id="9219" name="Rectangle 3"/>
          <p:cNvSpPr>
            <a:spLocks noGrp="1" noChangeArrowheads="1"/>
          </p:cNvSpPr>
          <p:nvPr>
            <p:ph idx="1"/>
          </p:nvPr>
        </p:nvSpPr>
        <p:spPr>
          <a:xfrm>
            <a:off x="838200" y="1498401"/>
            <a:ext cx="10515600" cy="5006830"/>
          </a:xfrm>
        </p:spPr>
        <p:txBody>
          <a:bodyPr>
            <a:normAutofit/>
          </a:bodyPr>
          <a:lstStyle/>
          <a:p>
            <a:pPr eaLnBrk="1" hangingPunct="1"/>
            <a:r>
              <a:rPr lang="zh-CN" altLang="en-US" dirty="0"/>
              <a:t>网络提供的最基本服务</a:t>
            </a:r>
            <a:r>
              <a:rPr lang="en-US" altLang="zh-CN" dirty="0"/>
              <a:t>: </a:t>
            </a:r>
            <a:r>
              <a:rPr lang="zh-CN" altLang="en-US" dirty="0"/>
              <a:t>信息传递</a:t>
            </a:r>
            <a:endParaRPr lang="zh-CN" altLang="en-US" dirty="0"/>
          </a:p>
          <a:p>
            <a:pPr lvl="1" eaLnBrk="1" hangingPunct="1"/>
            <a:r>
              <a:rPr lang="zh-CN" altLang="en-US" dirty="0"/>
              <a:t>信鸽、烽火、信使、卡车、电报、</a:t>
            </a:r>
            <a:br>
              <a:rPr lang="en-US" altLang="zh-CN" dirty="0"/>
            </a:br>
            <a:r>
              <a:rPr lang="zh-CN" altLang="en-US" dirty="0"/>
              <a:t>电话、互联网</a:t>
            </a:r>
            <a:r>
              <a:rPr lang="en-US" altLang="zh-CN" dirty="0"/>
              <a:t>…</a:t>
            </a:r>
            <a:endParaRPr lang="en-US" altLang="zh-CN" dirty="0"/>
          </a:p>
          <a:p>
            <a:pPr lvl="1"/>
            <a:r>
              <a:rPr lang="zh-CN" altLang="en-US" dirty="0"/>
              <a:t>类比运输服务：物体的传递</a:t>
            </a:r>
            <a:endParaRPr lang="zh-CN" altLang="en-US" dirty="0"/>
          </a:p>
          <a:p>
            <a:pPr lvl="2" eaLnBrk="1" hangingPunct="1"/>
            <a:r>
              <a:rPr lang="zh-CN" altLang="en-US" dirty="0"/>
              <a:t>马车、火车、卡车和飞机</a:t>
            </a:r>
            <a:endParaRPr lang="zh-CN" altLang="en-US" dirty="0"/>
          </a:p>
          <a:p>
            <a:pPr eaLnBrk="1" hangingPunct="1"/>
            <a:r>
              <a:rPr lang="zh-CN" altLang="en-US" dirty="0"/>
              <a:t>不同的网络用什么区分？</a:t>
            </a:r>
            <a:endParaRPr lang="zh-CN" altLang="en-US" dirty="0"/>
          </a:p>
          <a:p>
            <a:pPr lvl="1" eaLnBrk="1" hangingPunct="1"/>
            <a:r>
              <a:rPr lang="zh-CN" altLang="en-US" dirty="0"/>
              <a:t>所提供的服务</a:t>
            </a:r>
            <a:endParaRPr lang="zh-CN" altLang="en-US" dirty="0"/>
          </a:p>
          <a:p>
            <a:pPr eaLnBrk="1" hangingPunct="1"/>
            <a:r>
              <a:rPr lang="zh-CN" altLang="en-US" dirty="0"/>
              <a:t>服务用什么区分？</a:t>
            </a:r>
            <a:endParaRPr lang="zh-CN" altLang="en-US" dirty="0"/>
          </a:p>
          <a:p>
            <a:pPr lvl="1" eaLnBrk="1" hangingPunct="1"/>
            <a:r>
              <a:rPr lang="zh-CN" altLang="en-US" dirty="0"/>
              <a:t>功能、延迟、带宽、丢失率</a:t>
            </a:r>
            <a:endParaRPr lang="en-US" altLang="zh-CN" dirty="0"/>
          </a:p>
          <a:p>
            <a:pPr lvl="1" eaLnBrk="1" hangingPunct="1"/>
            <a:r>
              <a:rPr lang="zh-CN" altLang="en-US" dirty="0"/>
              <a:t>端节点数目、服务接口</a:t>
            </a:r>
            <a:endParaRPr lang="en-US" altLang="zh-CN" dirty="0"/>
          </a:p>
          <a:p>
            <a:pPr lvl="1" eaLnBrk="1" hangingPunct="1"/>
            <a:r>
              <a:rPr lang="zh-CN" altLang="en-US" dirty="0"/>
              <a:t>可靠性、实时</a:t>
            </a:r>
            <a:r>
              <a:rPr lang="en-US" altLang="zh-CN" dirty="0"/>
              <a:t>/</a:t>
            </a:r>
            <a:r>
              <a:rPr lang="zh-CN" altLang="en-US" dirty="0"/>
              <a:t>非实时等外特性</a:t>
            </a:r>
            <a:endParaRPr lang="zh-CN" altLang="en-US" dirty="0"/>
          </a:p>
        </p:txBody>
      </p:sp>
      <p:sp>
        <p:nvSpPr>
          <p:cNvPr id="2" name="矩形 1"/>
          <p:cNvSpPr/>
          <p:nvPr/>
        </p:nvSpPr>
        <p:spPr>
          <a:xfrm>
            <a:off x="6749143" y="3757725"/>
            <a:ext cx="4768187" cy="1844789"/>
          </a:xfrm>
          <a:prstGeom prst="rect">
            <a:avLst/>
          </a:prstGeom>
          <a:ln>
            <a:solidFill>
              <a:srgbClr val="C00000"/>
            </a:solidFill>
          </a:ln>
        </p:spPr>
        <p:txBody>
          <a:bodyPr wrap="square">
            <a:noAutofit/>
          </a:bodyPr>
          <a:lstStyle/>
          <a:p>
            <a:pPr algn="ctr">
              <a:lnSpc>
                <a:spcPct val="130000"/>
              </a:lnSpc>
            </a:pPr>
            <a:r>
              <a:rPr lang="zh-CN" altLang="en-US" sz="2800" dirty="0">
                <a:solidFill>
                  <a:prstClr val="black"/>
                </a:solidFill>
                <a:latin typeface="微软雅黑" panose="020B0503020204020204" pitchFamily="34" charset="-122"/>
                <a:ea typeface="微软雅黑" panose="020B0503020204020204" pitchFamily="34" charset="-122"/>
              </a:rPr>
              <a:t>在烽火戏诸侯的年代，</a:t>
            </a:r>
            <a:br>
              <a:rPr lang="en-US" altLang="zh-CN" sz="2800" dirty="0">
                <a:solidFill>
                  <a:prstClr val="black"/>
                </a:solidFill>
                <a:latin typeface="微软雅黑" panose="020B0503020204020204" pitchFamily="34" charset="-122"/>
                <a:ea typeface="微软雅黑" panose="020B0503020204020204" pitchFamily="34" charset="-122"/>
              </a:rPr>
            </a:br>
            <a:r>
              <a:rPr lang="zh-CN" altLang="en-US" sz="2800" dirty="0">
                <a:solidFill>
                  <a:prstClr val="black"/>
                </a:solidFill>
                <a:latin typeface="微软雅黑" panose="020B0503020204020204" pitchFamily="34" charset="-122"/>
                <a:ea typeface="微软雅黑" panose="020B0503020204020204" pitchFamily="34" charset="-122"/>
              </a:rPr>
              <a:t>可否想到今天多种多样的</a:t>
            </a:r>
            <a:br>
              <a:rPr lang="en-US" altLang="zh-CN" sz="2800" dirty="0">
                <a:solidFill>
                  <a:prstClr val="black"/>
                </a:solidFill>
                <a:latin typeface="微软雅黑" panose="020B0503020204020204" pitchFamily="34" charset="-122"/>
                <a:ea typeface="微软雅黑" panose="020B0503020204020204" pitchFamily="34" charset="-122"/>
              </a:rPr>
            </a:br>
            <a:r>
              <a:rPr lang="zh-CN" altLang="en-US" sz="2800" dirty="0">
                <a:solidFill>
                  <a:prstClr val="black"/>
                </a:solidFill>
                <a:latin typeface="微软雅黑" panose="020B0503020204020204" pitchFamily="34" charset="-122"/>
                <a:ea typeface="微软雅黑" panose="020B0503020204020204" pitchFamily="34" charset="-122"/>
              </a:rPr>
              <a:t>网络服务？</a:t>
            </a:r>
            <a:endParaRPr lang="zh-CN" altLang="en-US" dirty="0"/>
          </a:p>
        </p:txBody>
      </p:sp>
      <p:sp>
        <p:nvSpPr>
          <p:cNvPr id="5" name="矩形 4"/>
          <p:cNvSpPr/>
          <p:nvPr/>
        </p:nvSpPr>
        <p:spPr>
          <a:xfrm>
            <a:off x="6749143" y="1600397"/>
            <a:ext cx="4768187" cy="1499879"/>
          </a:xfrm>
          <a:prstGeom prst="rect">
            <a:avLst/>
          </a:prstGeom>
          <a:ln>
            <a:solidFill>
              <a:srgbClr val="C00000"/>
            </a:solidFill>
          </a:ln>
        </p:spPr>
        <p:txBody>
          <a:bodyPr wrap="square">
            <a:noAutofit/>
          </a:bodyPr>
          <a:lstStyle/>
          <a:p>
            <a:pPr algn="ctr">
              <a:lnSpc>
                <a:spcPct val="150000"/>
              </a:lnSpc>
            </a:pPr>
            <a:r>
              <a:rPr lang="zh-CN" altLang="en-US" sz="2800" dirty="0">
                <a:solidFill>
                  <a:prstClr val="black"/>
                </a:solidFill>
                <a:latin typeface="微软雅黑" panose="020B0503020204020204" pitchFamily="34" charset="-122"/>
                <a:ea typeface="微软雅黑" panose="020B0503020204020204" pitchFamily="34" charset="-122"/>
              </a:rPr>
              <a:t>请思考</a:t>
            </a:r>
            <a:br>
              <a:rPr lang="en-US" altLang="zh-CN" sz="2800" dirty="0">
                <a:solidFill>
                  <a:prstClr val="black"/>
                </a:solidFill>
                <a:latin typeface="微软雅黑" panose="020B0503020204020204" pitchFamily="34" charset="-122"/>
                <a:ea typeface="微软雅黑" panose="020B0503020204020204" pitchFamily="34" charset="-122"/>
              </a:rPr>
            </a:br>
            <a:r>
              <a:rPr lang="zh-CN" altLang="en-US" sz="2800" dirty="0">
                <a:solidFill>
                  <a:prstClr val="black"/>
                </a:solidFill>
                <a:latin typeface="微软雅黑" panose="020B0503020204020204" pitchFamily="34" charset="-122"/>
                <a:ea typeface="微软雅黑" panose="020B0503020204020204" pitchFamily="34" charset="-122"/>
              </a:rPr>
              <a:t>最早的信息传递方式有什么？</a:t>
            </a:r>
            <a:endParaRPr lang="zh-CN" altLang="en-US"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blinds(horizontal)">
                                      <p:cBhvr>
                                        <p:cTn id="7" dur="500"/>
                                        <p:tgtEl>
                                          <p:spTgt spid="921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0" dur="500"/>
                                        <p:tgtEl>
                                          <p:spTgt spid="921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3" dur="500"/>
                                        <p:tgtEl>
                                          <p:spTgt spid="9219">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219">
                                            <p:txEl>
                                              <p:pRg st="4" end="4"/>
                                            </p:txEl>
                                          </p:spTgt>
                                        </p:tgtEl>
                                        <p:attrNameLst>
                                          <p:attrName>style.visibility</p:attrName>
                                        </p:attrNameLst>
                                      </p:cBhvr>
                                      <p:to>
                                        <p:strVal val="visible"/>
                                      </p:to>
                                    </p:set>
                                    <p:animEffect transition="in" filter="blinds(horizontal)">
                                      <p:cBhvr>
                                        <p:cTn id="16" dur="500"/>
                                        <p:tgtEl>
                                          <p:spTgt spid="9219">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9219">
                                            <p:txEl>
                                              <p:pRg st="5" end="5"/>
                                            </p:txEl>
                                          </p:spTgt>
                                        </p:tgtEl>
                                        <p:attrNameLst>
                                          <p:attrName>style.visibility</p:attrName>
                                        </p:attrNameLst>
                                      </p:cBhvr>
                                      <p:to>
                                        <p:strVal val="visible"/>
                                      </p:to>
                                    </p:set>
                                    <p:animEffect transition="in" filter="blinds(horizontal)">
                                      <p:cBhvr>
                                        <p:cTn id="19" dur="500"/>
                                        <p:tgtEl>
                                          <p:spTgt spid="9219">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9219">
                                            <p:txEl>
                                              <p:pRg st="6" end="6"/>
                                            </p:txEl>
                                          </p:spTgt>
                                        </p:tgtEl>
                                        <p:attrNameLst>
                                          <p:attrName>style.visibility</p:attrName>
                                        </p:attrNameLst>
                                      </p:cBhvr>
                                      <p:to>
                                        <p:strVal val="visible"/>
                                      </p:to>
                                    </p:set>
                                    <p:animEffect transition="in" filter="blinds(horizontal)">
                                      <p:cBhvr>
                                        <p:cTn id="22" dur="500"/>
                                        <p:tgtEl>
                                          <p:spTgt spid="9219">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9219">
                                            <p:txEl>
                                              <p:pRg st="7" end="7"/>
                                            </p:txEl>
                                          </p:spTgt>
                                        </p:tgtEl>
                                        <p:attrNameLst>
                                          <p:attrName>style.visibility</p:attrName>
                                        </p:attrNameLst>
                                      </p:cBhvr>
                                      <p:to>
                                        <p:strVal val="visible"/>
                                      </p:to>
                                    </p:set>
                                    <p:animEffect transition="in" filter="blinds(horizontal)">
                                      <p:cBhvr>
                                        <p:cTn id="25" dur="500"/>
                                        <p:tgtEl>
                                          <p:spTgt spid="9219">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9219">
                                            <p:txEl>
                                              <p:pRg st="8" end="8"/>
                                            </p:txEl>
                                          </p:spTgt>
                                        </p:tgtEl>
                                        <p:attrNameLst>
                                          <p:attrName>style.visibility</p:attrName>
                                        </p:attrNameLst>
                                      </p:cBhvr>
                                      <p:to>
                                        <p:strVal val="visible"/>
                                      </p:to>
                                    </p:set>
                                    <p:animEffect transition="in" filter="blinds(horizontal)">
                                      <p:cBhvr>
                                        <p:cTn id="28" dur="500"/>
                                        <p:tgtEl>
                                          <p:spTgt spid="9219">
                                            <p:txEl>
                                              <p:pRg st="8" end="8"/>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9219">
                                            <p:txEl>
                                              <p:pRg st="9" end="9"/>
                                            </p:txEl>
                                          </p:spTgt>
                                        </p:tgtEl>
                                        <p:attrNameLst>
                                          <p:attrName>style.visibility</p:attrName>
                                        </p:attrNameLst>
                                      </p:cBhvr>
                                      <p:to>
                                        <p:strVal val="visible"/>
                                      </p:to>
                                    </p:set>
                                    <p:animEffect transition="in" filter="blinds(horizontal)">
                                      <p:cBhvr>
                                        <p:cTn id="31" dur="500"/>
                                        <p:tgtEl>
                                          <p:spTgt spid="9219">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13411" y="329655"/>
            <a:ext cx="8214909" cy="969656"/>
          </a:xfrm>
        </p:spPr>
        <p:txBody>
          <a:bodyPr>
            <a:normAutofit/>
          </a:bodyPr>
          <a:lstStyle/>
          <a:p>
            <a:r>
              <a:rPr lang="zh-CN" altLang="en-US" dirty="0"/>
              <a:t>多种多样的网络服务</a:t>
            </a:r>
            <a:endParaRPr lang="zh-CN" altLang="en-US" dirty="0"/>
          </a:p>
        </p:txBody>
      </p:sp>
      <p:grpSp>
        <p:nvGrpSpPr>
          <p:cNvPr id="5" name="组合 4"/>
          <p:cNvGrpSpPr/>
          <p:nvPr/>
        </p:nvGrpSpPr>
        <p:grpSpPr>
          <a:xfrm>
            <a:off x="838200" y="1473632"/>
            <a:ext cx="10678734" cy="4907347"/>
            <a:chOff x="846656" y="1379903"/>
            <a:chExt cx="10678734" cy="4907347"/>
          </a:xfrm>
        </p:grpSpPr>
        <p:pic>
          <p:nvPicPr>
            <p:cNvPr id="2050" name="Picture 2" descr="世界最大单体智能码头开港无人码头中国造"/>
            <p:cNvPicPr>
              <a:picLocks noChangeAspect="1" noChangeArrowheads="1"/>
            </p:cNvPicPr>
            <p:nvPr/>
          </p:nvPicPr>
          <p:blipFill>
            <a:blip r:embed="rId1"/>
            <a:srcRect/>
            <a:stretch>
              <a:fillRect/>
            </a:stretch>
          </p:blipFill>
          <p:spPr bwMode="auto">
            <a:xfrm>
              <a:off x="5325644" y="1379903"/>
              <a:ext cx="3624590" cy="1894311"/>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sp>
          <p:nvSpPr>
            <p:cNvPr id="7" name="内容占位符 2"/>
            <p:cNvSpPr txBox="1"/>
            <p:nvPr/>
          </p:nvSpPr>
          <p:spPr>
            <a:xfrm>
              <a:off x="4844031" y="3235940"/>
              <a:ext cx="4587815" cy="56934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zh-CN" altLang="en-US" sz="2400" dirty="0"/>
                <a:t>无人码头的远程操控</a:t>
              </a:r>
              <a:endParaRPr lang="zh-CN" altLang="en-US" sz="2400" dirty="0"/>
            </a:p>
          </p:txBody>
        </p:sp>
        <p:pic>
          <p:nvPicPr>
            <p:cNvPr id="10" name="图片 9"/>
            <p:cNvPicPr>
              <a:picLocks noChangeAspect="1"/>
            </p:cNvPicPr>
            <p:nvPr/>
          </p:nvPicPr>
          <p:blipFill rotWithShape="1">
            <a:blip r:embed="rId2" cstate="print"/>
            <a:srcRect/>
            <a:stretch>
              <a:fillRect/>
            </a:stretch>
          </p:blipFill>
          <p:spPr>
            <a:xfrm>
              <a:off x="895228" y="1379903"/>
              <a:ext cx="4160882" cy="1894311"/>
            </a:xfrm>
            <a:prstGeom prst="rect">
              <a:avLst/>
            </a:prstGeom>
            <a:ln>
              <a:solidFill>
                <a:schemeClr val="bg2">
                  <a:lumMod val="75000"/>
                </a:schemeClr>
              </a:solidFill>
            </a:ln>
          </p:spPr>
        </p:pic>
        <p:sp>
          <p:nvSpPr>
            <p:cNvPr id="11" name="内容占位符 2"/>
            <p:cNvSpPr txBox="1"/>
            <p:nvPr/>
          </p:nvSpPr>
          <p:spPr>
            <a:xfrm>
              <a:off x="846656" y="3274214"/>
              <a:ext cx="4258026" cy="42096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zh-CN" altLang="en-US" sz="2400" dirty="0">
                  <a:solidFill>
                    <a:srgbClr val="000000"/>
                  </a:solidFill>
                  <a:latin typeface="微软雅黑" panose="020B0503020204020204" pitchFamily="34" charset="-122"/>
                  <a:ea typeface="微软雅黑" panose="020B0503020204020204" pitchFamily="34" charset="-122"/>
                </a:rPr>
                <a:t>远程医疗</a:t>
              </a:r>
              <a:endParaRPr lang="zh-CN" altLang="en-US" sz="2400" dirty="0">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rotWithShape="1">
            <a:blip r:embed="rId3" cstate="print"/>
            <a:srcRect/>
            <a:stretch>
              <a:fillRect/>
            </a:stretch>
          </p:blipFill>
          <p:spPr bwMode="auto">
            <a:xfrm>
              <a:off x="895228" y="3802092"/>
              <a:ext cx="4160882" cy="1894311"/>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sp>
          <p:nvSpPr>
            <p:cNvPr id="16" name="内容占位符 2"/>
            <p:cNvSpPr txBox="1"/>
            <p:nvPr/>
          </p:nvSpPr>
          <p:spPr>
            <a:xfrm>
              <a:off x="893922" y="5717906"/>
              <a:ext cx="4164174" cy="56934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400" dirty="0">
                  <a:latin typeface="微软雅黑" panose="020B0503020204020204" pitchFamily="34" charset="-122"/>
                  <a:ea typeface="微软雅黑" panose="020B0503020204020204" pitchFamily="34" charset="-122"/>
                </a:rPr>
                <a:t>矿井下网络监控与通信</a:t>
              </a:r>
              <a:endParaRPr lang="zh-CN" altLang="en-US" sz="2400" dirty="0">
                <a:latin typeface="微软雅黑" panose="020B0503020204020204" pitchFamily="34" charset="-122"/>
                <a:ea typeface="微软雅黑" panose="020B0503020204020204" pitchFamily="34" charset="-122"/>
              </a:endParaRPr>
            </a:p>
          </p:txBody>
        </p:sp>
        <p:sp>
          <p:nvSpPr>
            <p:cNvPr id="17" name="内容占位符 2"/>
            <p:cNvSpPr txBox="1"/>
            <p:nvPr/>
          </p:nvSpPr>
          <p:spPr>
            <a:xfrm>
              <a:off x="9179738" y="3799795"/>
              <a:ext cx="2345651" cy="1065325"/>
            </a:xfrm>
            <a:prstGeom prst="rect">
              <a:avLst/>
            </a:prstGeom>
            <a:ln>
              <a:solidFill>
                <a:srgbClr val="5B307E"/>
              </a:solidFill>
            </a:ln>
          </p:spPr>
          <p:txBody>
            <a:bodyPr vert="horz" lIns="91440" tIns="45720" rIns="91440" bIns="45720" rtlCol="0">
              <a:normAutofit fontScale="85000" lnSpcReduction="2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buFont typeface="Wingdings" panose="05000000000000000000" pitchFamily="2" charset="2"/>
                <a:buNone/>
              </a:pPr>
              <a:r>
                <a:rPr lang="zh-CN" altLang="en-US" sz="2400" dirty="0"/>
                <a:t>异构网络环境</a:t>
              </a:r>
              <a:endParaRPr lang="en-US" altLang="zh-CN" sz="2400" dirty="0"/>
            </a:p>
            <a:p>
              <a:pPr marL="0" indent="0" algn="ctr">
                <a:lnSpc>
                  <a:spcPct val="120000"/>
                </a:lnSpc>
                <a:buFont typeface="Wingdings" panose="05000000000000000000" pitchFamily="2" charset="2"/>
                <a:buNone/>
              </a:pPr>
              <a:r>
                <a:rPr lang="zh-CN" altLang="en-US" sz="2400" dirty="0"/>
                <a:t>有线、无线；距离远近；干扰各异</a:t>
              </a:r>
              <a:endParaRPr lang="en-US" altLang="zh-CN" sz="2400" dirty="0"/>
            </a:p>
          </p:txBody>
        </p:sp>
        <p:pic>
          <p:nvPicPr>
            <p:cNvPr id="1028" name="Picture 4"/>
            <p:cNvPicPr>
              <a:picLocks noChangeAspect="1" noChangeArrowheads="1"/>
            </p:cNvPicPr>
            <p:nvPr/>
          </p:nvPicPr>
          <p:blipFill>
            <a:blip r:embed="rId4"/>
            <a:srcRect/>
            <a:stretch>
              <a:fillRect/>
            </a:stretch>
          </p:blipFill>
          <p:spPr bwMode="auto">
            <a:xfrm>
              <a:off x="5325644" y="3806014"/>
              <a:ext cx="3624590" cy="1890389"/>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sp>
          <p:nvSpPr>
            <p:cNvPr id="19" name="内容占位符 2"/>
            <p:cNvSpPr txBox="1"/>
            <p:nvPr/>
          </p:nvSpPr>
          <p:spPr>
            <a:xfrm>
              <a:off x="4940505" y="5706909"/>
              <a:ext cx="4587815" cy="56934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zh-CN" altLang="en-US" sz="2400" dirty="0"/>
                <a:t>马斯克的星链计划</a:t>
              </a:r>
              <a:r>
                <a:rPr lang="en-US" altLang="zh-CN" sz="2400" dirty="0" err="1"/>
                <a:t>StarLink</a:t>
              </a:r>
              <a:endParaRPr lang="zh-CN" altLang="en-US" sz="2400" dirty="0"/>
            </a:p>
          </p:txBody>
        </p:sp>
        <p:pic>
          <p:nvPicPr>
            <p:cNvPr id="3" name="Picture 2"/>
            <p:cNvPicPr>
              <a:picLocks noChangeAspect="1" noChangeArrowheads="1"/>
            </p:cNvPicPr>
            <p:nvPr/>
          </p:nvPicPr>
          <p:blipFill>
            <a:blip r:embed="rId5" cstate="print"/>
            <a:srcRect/>
            <a:stretch>
              <a:fillRect/>
            </a:stretch>
          </p:blipFill>
          <p:spPr bwMode="auto">
            <a:xfrm>
              <a:off x="9269529" y="1379903"/>
              <a:ext cx="2166070" cy="1890388"/>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sp>
          <p:nvSpPr>
            <p:cNvPr id="15" name="内容占位符 2"/>
            <p:cNvSpPr txBox="1"/>
            <p:nvPr/>
          </p:nvSpPr>
          <p:spPr>
            <a:xfrm>
              <a:off x="9179738" y="3268001"/>
              <a:ext cx="2345652" cy="42096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zh-CN" altLang="en-US" dirty="0"/>
                <a:t>通信大数据行程卡</a:t>
              </a:r>
              <a:endParaRPr lang="en-US" altLang="zh-CN" sz="2400" dirty="0"/>
            </a:p>
          </p:txBody>
        </p:sp>
      </p:gr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21" name="文本框 20"/>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1.1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初识互联网</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8" name="内容占位符 2"/>
          <p:cNvSpPr txBox="1"/>
          <p:nvPr/>
        </p:nvSpPr>
        <p:spPr>
          <a:xfrm>
            <a:off x="9171282" y="5110419"/>
            <a:ext cx="2345651" cy="1065325"/>
          </a:xfrm>
          <a:prstGeom prst="rect">
            <a:avLst/>
          </a:prstGeom>
          <a:ln>
            <a:solidFill>
              <a:srgbClr val="5B307E"/>
            </a:solidFill>
          </a:ln>
        </p:spPr>
        <p:txBody>
          <a:bodyPr vert="horz" lIns="91440" tIns="45720" rIns="91440" bIns="45720" rtlCol="0">
            <a:normAutofit fontScale="85000" lnSpcReduction="2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buFont typeface="Wingdings" panose="05000000000000000000" pitchFamily="2" charset="2"/>
              <a:buNone/>
            </a:pPr>
            <a:r>
              <a:rPr lang="zh-CN" altLang="en-US" sz="2400" dirty="0"/>
              <a:t>业务需求各异</a:t>
            </a:r>
            <a:endParaRPr lang="en-US" altLang="zh-CN" sz="2400" dirty="0"/>
          </a:p>
          <a:p>
            <a:pPr marL="0" indent="0" algn="ctr">
              <a:lnSpc>
                <a:spcPct val="120000"/>
              </a:lnSpc>
              <a:buFont typeface="Wingdings" panose="05000000000000000000" pitchFamily="2" charset="2"/>
              <a:buNone/>
            </a:pPr>
            <a:r>
              <a:rPr lang="zh-CN" altLang="en-US" sz="2400" dirty="0"/>
              <a:t>时延、带宽、可靠性、安全保密</a:t>
            </a:r>
            <a:r>
              <a:rPr lang="en-US" altLang="zh-CN" sz="2400" dirty="0"/>
              <a:t>……</a:t>
            </a:r>
            <a:endParaRPr lang="en-US" altLang="zh-C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网络改变生活</a:t>
            </a:r>
            <a:endParaRPr kumimoji="1" lang="zh-CN" altLang="en-US" dirty="0"/>
          </a:p>
        </p:txBody>
      </p:sp>
      <p:sp>
        <p:nvSpPr>
          <p:cNvPr id="3" name="内容占位符 2"/>
          <p:cNvSpPr>
            <a:spLocks noGrp="1"/>
          </p:cNvSpPr>
          <p:nvPr>
            <p:ph idx="1"/>
          </p:nvPr>
        </p:nvSpPr>
        <p:spPr>
          <a:xfrm>
            <a:off x="811876" y="1427179"/>
            <a:ext cx="6421339" cy="3905109"/>
          </a:xfrm>
        </p:spPr>
        <p:txBody>
          <a:bodyPr>
            <a:normAutofit fontScale="92500" lnSpcReduction="10000"/>
          </a:bodyPr>
          <a:lstStyle/>
          <a:p>
            <a:pPr>
              <a:lnSpc>
                <a:spcPct val="120000"/>
              </a:lnSpc>
              <a:spcBef>
                <a:spcPts val="300"/>
              </a:spcBef>
            </a:pPr>
            <a:r>
              <a:rPr kumimoji="1" lang="zh-CN" altLang="en-US" dirty="0"/>
              <a:t>直播：春晚、游戏，还是带货？</a:t>
            </a:r>
            <a:endParaRPr kumimoji="1" lang="en-US" altLang="zh-CN" dirty="0"/>
          </a:p>
          <a:p>
            <a:pPr>
              <a:lnSpc>
                <a:spcPct val="120000"/>
              </a:lnSpc>
              <a:spcBef>
                <a:spcPts val="300"/>
              </a:spcBef>
            </a:pPr>
            <a:r>
              <a:rPr lang="zh-CN" altLang="en-US" dirty="0"/>
              <a:t>习总书记在陕西柞水县金米村考察</a:t>
            </a:r>
            <a:endParaRPr lang="en-US" altLang="zh-CN" dirty="0"/>
          </a:p>
          <a:p>
            <a:pPr lvl="1">
              <a:lnSpc>
                <a:spcPct val="120000"/>
              </a:lnSpc>
              <a:spcBef>
                <a:spcPts val="300"/>
              </a:spcBef>
            </a:pPr>
            <a:r>
              <a:rPr lang="zh-CN" altLang="en-US" dirty="0"/>
              <a:t>电商作为新兴业态，既可以推销农副产品、帮助群众脱贫致富，又可以推动乡村振兴，是大有可为的</a:t>
            </a:r>
            <a:endParaRPr lang="en-US" altLang="zh-CN" dirty="0"/>
          </a:p>
          <a:p>
            <a:pPr>
              <a:lnSpc>
                <a:spcPct val="120000"/>
              </a:lnSpc>
              <a:spcBef>
                <a:spcPts val="300"/>
              </a:spcBef>
            </a:pPr>
            <a:r>
              <a:rPr lang="zh-CN" altLang="en-US" dirty="0"/>
              <a:t>女副县长雪地策马奔腾</a:t>
            </a:r>
            <a:endParaRPr lang="zh-CN" altLang="en-US" dirty="0"/>
          </a:p>
          <a:p>
            <a:pPr lvl="1">
              <a:lnSpc>
                <a:spcPct val="120000"/>
              </a:lnSpc>
              <a:spcBef>
                <a:spcPts val="300"/>
              </a:spcBef>
            </a:pPr>
            <a:r>
              <a:rPr lang="zh-CN" altLang="en-US" dirty="0"/>
              <a:t>新疆伊犁州昭苏县</a:t>
            </a:r>
            <a:r>
              <a:rPr lang="en-US" altLang="zh-CN" dirty="0"/>
              <a:t>@2020</a:t>
            </a:r>
            <a:r>
              <a:rPr lang="zh-CN" altLang="en-US" dirty="0"/>
              <a:t>年</a:t>
            </a:r>
            <a:r>
              <a:rPr lang="en-US" altLang="zh-CN" dirty="0"/>
              <a:t>11</a:t>
            </a:r>
            <a:r>
              <a:rPr lang="zh-CN" altLang="en-US" dirty="0"/>
              <a:t>月</a:t>
            </a:r>
            <a:endParaRPr lang="en-US" altLang="zh-CN" dirty="0"/>
          </a:p>
          <a:p>
            <a:pPr lvl="1">
              <a:lnSpc>
                <a:spcPct val="120000"/>
              </a:lnSpc>
              <a:spcBef>
                <a:spcPts val="300"/>
              </a:spcBef>
            </a:pPr>
            <a:r>
              <a:rPr lang="zh-CN" altLang="en-US" dirty="0"/>
              <a:t>在抖音上宣传旅游和推销农产品</a:t>
            </a:r>
            <a:endParaRPr lang="en-US" altLang="zh-CN" dirty="0"/>
          </a:p>
          <a:p>
            <a:pPr lvl="1">
              <a:lnSpc>
                <a:spcPct val="120000"/>
              </a:lnSpc>
              <a:spcBef>
                <a:spcPts val="300"/>
              </a:spcBef>
            </a:pPr>
            <a:r>
              <a:rPr lang="en-US" altLang="zh-CN" dirty="0"/>
              <a:t>18</a:t>
            </a:r>
            <a:r>
              <a:rPr lang="zh-CN" altLang="en-US" dirty="0"/>
              <a:t>场次直播带货，销售</a:t>
            </a:r>
            <a:r>
              <a:rPr lang="en-US" altLang="zh-CN" dirty="0"/>
              <a:t>97</a:t>
            </a:r>
            <a:r>
              <a:rPr lang="zh-CN" altLang="en-US" dirty="0"/>
              <a:t>万元农副产品</a:t>
            </a:r>
            <a:endParaRPr lang="en-US" altLang="zh-CN" dirty="0"/>
          </a:p>
          <a:p>
            <a:pPr lvl="1">
              <a:lnSpc>
                <a:spcPct val="120000"/>
              </a:lnSpc>
              <a:spcBef>
                <a:spcPts val="300"/>
              </a:spcBef>
            </a:pPr>
            <a:endParaRPr kumimoji="1" lang="zh-CN" altLang="en-US" dirty="0"/>
          </a:p>
        </p:txBody>
      </p:sp>
      <p:pic>
        <p:nvPicPr>
          <p:cNvPr id="5" name="Picture 2"/>
          <p:cNvPicPr>
            <a:picLocks noChangeAspect="1" noChangeArrowheads="1"/>
          </p:cNvPicPr>
          <p:nvPr/>
        </p:nvPicPr>
        <p:blipFill>
          <a:blip r:embed="rId1"/>
          <a:srcRect/>
          <a:stretch>
            <a:fillRect/>
          </a:stretch>
        </p:blipFill>
        <p:spPr bwMode="auto">
          <a:xfrm>
            <a:off x="7559038" y="1517159"/>
            <a:ext cx="3794762" cy="2330221"/>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sp>
        <p:nvSpPr>
          <p:cNvPr id="6" name="十二角星 5"/>
          <p:cNvSpPr/>
          <p:nvPr/>
        </p:nvSpPr>
        <p:spPr>
          <a:xfrm>
            <a:off x="6508531" y="1354132"/>
            <a:ext cx="2102069" cy="1051035"/>
          </a:xfrm>
          <a:prstGeom prst="star12">
            <a:avLst/>
          </a:prstGeom>
          <a:solidFill>
            <a:schemeClr val="accent1">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solidFill>
                  <a:srgbClr val="C00000"/>
                </a:solidFill>
              </a:rPr>
              <a:t>直播</a:t>
            </a:r>
            <a:endParaRPr kumimoji="1" lang="zh-CN" altLang="en-US" dirty="0">
              <a:solidFill>
                <a:srgbClr val="C00000"/>
              </a:solidFill>
            </a:endParaRPr>
          </a:p>
        </p:txBody>
      </p:sp>
      <p:pic>
        <p:nvPicPr>
          <p:cNvPr id="7" name="videolib_repo_2011_29_1wzvl34a9bg_SD_1wzvl34a9bg-mobile.mp4" descr="videolib_repo_2011_29_1wzvl34a9bg_SD_1wzvl34a9bg-mobile.mp4">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559036" y="4098812"/>
            <a:ext cx="3794764" cy="2134555"/>
          </a:xfrm>
          <a:prstGeom prst="rect">
            <a:avLst/>
          </a:prstGeom>
        </p:spPr>
      </p:pic>
      <p:pic>
        <p:nvPicPr>
          <p:cNvPr id="2050" name="Picture 2"/>
          <p:cNvPicPr>
            <a:picLocks noChangeAspect="1" noChangeArrowheads="1"/>
          </p:cNvPicPr>
          <p:nvPr/>
        </p:nvPicPr>
        <p:blipFill rotWithShape="1">
          <a:blip r:embed="rId5" cstate="print"/>
          <a:srcRect/>
          <a:stretch>
            <a:fillRect/>
          </a:stretch>
        </p:blipFill>
        <p:spPr bwMode="auto">
          <a:xfrm>
            <a:off x="10246819" y="3938356"/>
            <a:ext cx="1432802" cy="879086"/>
          </a:xfrm>
          <a:prstGeom prst="rect">
            <a:avLst/>
          </a:prstGeom>
          <a:noFill/>
          <a:extLst>
            <a:ext uri="{909E8E84-426E-40DD-AFC4-6F175D3DCCD1}">
              <a14:hiddenFill xmlns:a14="http://schemas.microsoft.com/office/drawing/2010/main">
                <a:solidFill>
                  <a:srgbClr val="FFFFFF"/>
                </a:solidFill>
              </a14:hiddenFill>
            </a:ext>
          </a:extLst>
        </p:spPr>
      </p:pic>
      <p:sp>
        <p:nvSpPr>
          <p:cNvPr id="8" name="椭圆 7"/>
          <p:cNvSpPr/>
          <p:nvPr/>
        </p:nvSpPr>
        <p:spPr>
          <a:xfrm>
            <a:off x="7445827" y="2455305"/>
            <a:ext cx="938151" cy="119913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灯片编号占位符 8"/>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 name="文本框 10"/>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1.1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初识互联网</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1006793" y="5321386"/>
            <a:ext cx="5989908" cy="911981"/>
          </a:xfrm>
          <a:prstGeom prst="rect">
            <a:avLst/>
          </a:prstGeom>
          <a:ln>
            <a:solidFill>
              <a:srgbClr val="C00000"/>
            </a:solidFill>
          </a:ln>
        </p:spPr>
        <p:txBody>
          <a:bodyPr wrap="square">
            <a:spAutoFit/>
          </a:bodyPr>
          <a:lstStyle/>
          <a:p>
            <a:pPr lvl="0" algn="ctr">
              <a:lnSpc>
                <a:spcPct val="120000"/>
              </a:lnSpc>
              <a:spcBef>
                <a:spcPts val="300"/>
              </a:spcBef>
            </a:pPr>
            <a:r>
              <a:rPr kumimoji="1" lang="zh-CN" altLang="en-US" sz="2400" dirty="0">
                <a:solidFill>
                  <a:prstClr val="black"/>
                </a:solidFill>
                <a:latin typeface="微软雅黑" panose="020B0503020204020204" pitchFamily="34" charset="-122"/>
                <a:ea typeface="微软雅黑" panose="020B0503020204020204" pitchFamily="34" charset="-122"/>
              </a:rPr>
              <a:t>新时代的“新农业”</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algn="ctr">
              <a:lnSpc>
                <a:spcPct val="120000"/>
              </a:lnSpc>
              <a:spcBef>
                <a:spcPts val="300"/>
              </a:spcBef>
            </a:pPr>
            <a:r>
              <a:rPr kumimoji="1" lang="zh-CN" altLang="en-US" sz="2000" dirty="0">
                <a:solidFill>
                  <a:prstClr val="black"/>
                </a:solidFill>
                <a:latin typeface="微软雅黑" panose="020B0503020204020204" pitchFamily="34" charset="-122"/>
                <a:ea typeface="微软雅黑" panose="020B0503020204020204" pitchFamily="34" charset="-122"/>
              </a:rPr>
              <a:t>直播成为新农活  手机成为新农具  数据成为新资产</a:t>
            </a:r>
            <a:endParaRPr kumimoji="1" lang="en-US" altLang="zh-CN" sz="20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18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网络在军事领域的应用</a:t>
            </a:r>
            <a:endParaRPr lang="zh-CN" altLang="en-US" dirty="0"/>
          </a:p>
        </p:txBody>
      </p:sp>
      <p:pic>
        <p:nvPicPr>
          <p:cNvPr id="5" name="图片 4"/>
          <p:cNvPicPr>
            <a:picLocks noChangeAspect="1"/>
          </p:cNvPicPr>
          <p:nvPr/>
        </p:nvPicPr>
        <p:blipFill>
          <a:blip r:embed="rId1"/>
          <a:stretch>
            <a:fillRect/>
          </a:stretch>
        </p:blipFill>
        <p:spPr>
          <a:xfrm>
            <a:off x="7195879" y="1315637"/>
            <a:ext cx="4664881" cy="4879114"/>
          </a:xfrm>
          <a:prstGeom prst="rect">
            <a:avLst/>
          </a:prstGeom>
          <a:ln>
            <a:solidFill>
              <a:schemeClr val="bg2">
                <a:lumMod val="75000"/>
              </a:schemeClr>
            </a:solidFill>
          </a:ln>
        </p:spPr>
      </p:pic>
      <p:pic>
        <p:nvPicPr>
          <p:cNvPr id="6" name="图片 5"/>
          <p:cNvPicPr>
            <a:picLocks noChangeAspect="1"/>
          </p:cNvPicPr>
          <p:nvPr/>
        </p:nvPicPr>
        <p:blipFill rotWithShape="1">
          <a:blip r:embed="rId2" cstate="print"/>
          <a:srcRect/>
          <a:stretch>
            <a:fillRect/>
          </a:stretch>
        </p:blipFill>
        <p:spPr>
          <a:xfrm>
            <a:off x="3954065" y="4889974"/>
            <a:ext cx="2927698" cy="1304777"/>
          </a:xfrm>
          <a:prstGeom prst="rect">
            <a:avLst/>
          </a:prstGeom>
          <a:ln>
            <a:solidFill>
              <a:schemeClr val="bg2">
                <a:lumMod val="75000"/>
              </a:schemeClr>
            </a:solidFill>
          </a:ln>
        </p:spPr>
      </p:pic>
      <p:pic>
        <p:nvPicPr>
          <p:cNvPr id="7" name="图片 6"/>
          <p:cNvPicPr>
            <a:picLocks noChangeAspect="1"/>
          </p:cNvPicPr>
          <p:nvPr/>
        </p:nvPicPr>
        <p:blipFill rotWithShape="1">
          <a:blip r:embed="rId3" cstate="print"/>
          <a:srcRect/>
          <a:stretch>
            <a:fillRect/>
          </a:stretch>
        </p:blipFill>
        <p:spPr>
          <a:xfrm>
            <a:off x="943180" y="4889974"/>
            <a:ext cx="2927698" cy="1304777"/>
          </a:xfrm>
          <a:prstGeom prst="rect">
            <a:avLst/>
          </a:prstGeom>
          <a:ln>
            <a:solidFill>
              <a:schemeClr val="bg2">
                <a:lumMod val="75000"/>
              </a:schemeClr>
            </a:solidFill>
          </a:ln>
        </p:spPr>
      </p:pic>
      <p:sp>
        <p:nvSpPr>
          <p:cNvPr id="10" name="内容占位符 9"/>
          <p:cNvSpPr>
            <a:spLocks noGrp="1"/>
          </p:cNvSpPr>
          <p:nvPr>
            <p:ph idx="1"/>
          </p:nvPr>
        </p:nvSpPr>
        <p:spPr>
          <a:xfrm>
            <a:off x="859993" y="1415586"/>
            <a:ext cx="6559889" cy="3474388"/>
          </a:xfrm>
        </p:spPr>
        <p:txBody>
          <a:bodyPr>
            <a:normAutofit fontScale="92500" lnSpcReduction="10000"/>
          </a:bodyPr>
          <a:lstStyle/>
          <a:p>
            <a:pPr>
              <a:lnSpc>
                <a:spcPct val="110000"/>
              </a:lnSpc>
            </a:pPr>
            <a:r>
              <a:rPr lang="zh-CN" altLang="en-US" dirty="0"/>
              <a:t>你喜欢“玩”开飞机的游戏吗？</a:t>
            </a:r>
            <a:endParaRPr lang="en-US" altLang="zh-CN" dirty="0"/>
          </a:p>
          <a:p>
            <a:pPr lvl="1">
              <a:lnSpc>
                <a:spcPct val="110000"/>
              </a:lnSpc>
            </a:pPr>
            <a:r>
              <a:rPr lang="zh-CN" altLang="en-US" dirty="0"/>
              <a:t>无人机作战：卫星中继</a:t>
            </a:r>
            <a:endParaRPr lang="en-US" altLang="zh-CN" dirty="0"/>
          </a:p>
          <a:p>
            <a:pPr lvl="1">
              <a:lnSpc>
                <a:spcPct val="110000"/>
              </a:lnSpc>
            </a:pPr>
            <a:r>
              <a:rPr lang="zh-CN" altLang="en-US" dirty="0"/>
              <a:t>可靠且实时的控制（抗干扰</a:t>
            </a:r>
            <a:r>
              <a:rPr lang="en-US" altLang="zh-CN" dirty="0"/>
              <a:t>/</a:t>
            </a:r>
            <a:r>
              <a:rPr lang="zh-CN" altLang="en-US" dirty="0"/>
              <a:t>保密）</a:t>
            </a:r>
            <a:endParaRPr lang="en-US" altLang="zh-CN" dirty="0"/>
          </a:p>
          <a:p>
            <a:pPr lvl="1">
              <a:lnSpc>
                <a:spcPct val="110000"/>
              </a:lnSpc>
            </a:pPr>
            <a:r>
              <a:rPr lang="zh-CN" altLang="en-US" dirty="0"/>
              <a:t>现场信息实时反馈（高清视频）</a:t>
            </a:r>
            <a:endParaRPr lang="en-US" altLang="zh-CN" dirty="0"/>
          </a:p>
          <a:p>
            <a:pPr>
              <a:lnSpc>
                <a:spcPct val="110000"/>
              </a:lnSpc>
            </a:pPr>
            <a:r>
              <a:rPr lang="zh-CN" altLang="en-US" dirty="0"/>
              <a:t>还有什么其他无人设备</a:t>
            </a:r>
            <a:endParaRPr lang="en-US" altLang="zh-CN" dirty="0"/>
          </a:p>
          <a:p>
            <a:pPr lvl="1">
              <a:lnSpc>
                <a:spcPct val="110000"/>
              </a:lnSpc>
            </a:pPr>
            <a:r>
              <a:rPr lang="zh-CN" altLang="en-US" dirty="0"/>
              <a:t>无人坦克，无人舰船，无人潜艇，卫星</a:t>
            </a:r>
            <a:r>
              <a:rPr lang="en-US" altLang="zh-CN" dirty="0"/>
              <a:t>……</a:t>
            </a:r>
            <a:endParaRPr lang="en-US" altLang="zh-CN" dirty="0"/>
          </a:p>
          <a:p>
            <a:pPr lvl="1">
              <a:lnSpc>
                <a:spcPct val="110000"/>
              </a:lnSpc>
            </a:pPr>
            <a:r>
              <a:rPr lang="zh-CN" altLang="en-US" dirty="0"/>
              <a:t>水深网络的声呐通信，深空探索的激光通信</a:t>
            </a:r>
            <a:endParaRPr lang="zh-CN" altLang="en-US" dirty="0"/>
          </a:p>
          <a:p>
            <a:pPr lvl="1">
              <a:lnSpc>
                <a:spcPct val="110000"/>
              </a:lnSpc>
            </a:pPr>
            <a:r>
              <a:rPr lang="zh-CN" altLang="en-US" dirty="0"/>
              <a:t>不仅仅是通信：无人机的精确制导</a:t>
            </a:r>
            <a:endParaRPr lang="en-US" altLang="zh-CN"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 name="文本框 10"/>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1.1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初识互联网</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031" y="330200"/>
            <a:ext cx="8263617" cy="937561"/>
          </a:xfrm>
        </p:spPr>
        <p:txBody>
          <a:bodyPr vert="horz" lIns="91440" tIns="45720" rIns="91440" bIns="45720" rtlCol="0" anchor="ctr">
            <a:noAutofit/>
          </a:bodyPr>
          <a:lstStyle/>
          <a:p>
            <a:r>
              <a:rPr lang="zh-CN" altLang="en-US" dirty="0"/>
              <a:t>互联网成为网络空间的核心</a:t>
            </a:r>
            <a:endParaRPr lang="zh-CN" altLang="en-US" dirty="0"/>
          </a:p>
        </p:txBody>
      </p:sp>
      <p:pic>
        <p:nvPicPr>
          <p:cNvPr id="14" name="图片 13"/>
          <p:cNvPicPr>
            <a:picLocks noChangeAspect="1"/>
          </p:cNvPicPr>
          <p:nvPr/>
        </p:nvPicPr>
        <p:blipFill>
          <a:blip r:embed="rId1" cstate="print"/>
          <a:stretch>
            <a:fillRect/>
          </a:stretch>
        </p:blipFill>
        <p:spPr>
          <a:xfrm>
            <a:off x="4429422" y="1450909"/>
            <a:ext cx="1718310" cy="753935"/>
          </a:xfrm>
          <a:prstGeom prst="rect">
            <a:avLst/>
          </a:prstGeom>
          <a:ln>
            <a:solidFill>
              <a:schemeClr val="bg2">
                <a:lumMod val="75000"/>
              </a:schemeClr>
            </a:solidFill>
          </a:ln>
        </p:spPr>
      </p:pic>
      <p:sp>
        <p:nvSpPr>
          <p:cNvPr id="15" name="矩形 11"/>
          <p:cNvSpPr>
            <a:spLocks noChangeArrowheads="1"/>
          </p:cNvSpPr>
          <p:nvPr/>
        </p:nvSpPr>
        <p:spPr bwMode="auto">
          <a:xfrm>
            <a:off x="6232839" y="2230199"/>
            <a:ext cx="1611312" cy="263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dirty="0">
                <a:latin typeface="黑体" panose="02010609060101010101" pitchFamily="49" charset="-122"/>
                <a:ea typeface="黑体" panose="02010609060101010101" pitchFamily="49" charset="-122"/>
              </a:rPr>
              <a:t>能源互联网</a:t>
            </a:r>
            <a:endParaRPr lang="zh-CN" altLang="en-US" sz="2000" dirty="0">
              <a:latin typeface="黑体" panose="02010609060101010101" pitchFamily="49" charset="-122"/>
              <a:ea typeface="黑体" panose="02010609060101010101" pitchFamily="49" charset="-122"/>
            </a:endParaRPr>
          </a:p>
        </p:txBody>
      </p:sp>
      <p:pic>
        <p:nvPicPr>
          <p:cNvPr id="25" name="图片 24"/>
          <p:cNvPicPr/>
          <p:nvPr/>
        </p:nvPicPr>
        <p:blipFill>
          <a:blip r:embed="rId2" cstate="print"/>
          <a:stretch>
            <a:fillRect/>
          </a:stretch>
        </p:blipFill>
        <p:spPr>
          <a:xfrm>
            <a:off x="9843530" y="1434186"/>
            <a:ext cx="1717199" cy="752400"/>
          </a:xfrm>
          <a:prstGeom prst="rect">
            <a:avLst/>
          </a:prstGeom>
          <a:ln>
            <a:solidFill>
              <a:schemeClr val="bg2">
                <a:lumMod val="75000"/>
              </a:schemeClr>
            </a:solidFill>
          </a:ln>
        </p:spPr>
      </p:pic>
      <p:sp>
        <p:nvSpPr>
          <p:cNvPr id="26" name="矩形 11"/>
          <p:cNvSpPr>
            <a:spLocks noChangeArrowheads="1"/>
          </p:cNvSpPr>
          <p:nvPr/>
        </p:nvSpPr>
        <p:spPr bwMode="auto">
          <a:xfrm>
            <a:off x="10023553" y="2209096"/>
            <a:ext cx="1611312" cy="263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dirty="0">
                <a:latin typeface="黑体" panose="02010609060101010101" pitchFamily="49" charset="-122"/>
                <a:ea typeface="黑体" panose="02010609060101010101" pitchFamily="49" charset="-122"/>
              </a:rPr>
              <a:t>互联网</a:t>
            </a: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pic>
        <p:nvPicPr>
          <p:cNvPr id="27" name="图片 26"/>
          <p:cNvPicPr/>
          <p:nvPr/>
        </p:nvPicPr>
        <p:blipFill>
          <a:blip r:embed="rId3" cstate="print"/>
          <a:stretch>
            <a:fillRect/>
          </a:stretch>
        </p:blipFill>
        <p:spPr>
          <a:xfrm>
            <a:off x="8040429" y="1434186"/>
            <a:ext cx="1719109" cy="752400"/>
          </a:xfrm>
          <a:prstGeom prst="rect">
            <a:avLst/>
          </a:prstGeom>
          <a:ln>
            <a:solidFill>
              <a:schemeClr val="bg2">
                <a:lumMod val="75000"/>
              </a:schemeClr>
            </a:solidFill>
          </a:ln>
        </p:spPr>
      </p:pic>
      <p:sp>
        <p:nvSpPr>
          <p:cNvPr id="28" name="矩形 11"/>
          <p:cNvSpPr>
            <a:spLocks noChangeArrowheads="1"/>
          </p:cNvSpPr>
          <p:nvPr/>
        </p:nvSpPr>
        <p:spPr bwMode="auto">
          <a:xfrm>
            <a:off x="7982333" y="2223067"/>
            <a:ext cx="1611312" cy="263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dirty="0">
                <a:latin typeface="黑体" panose="02010609060101010101" pitchFamily="49" charset="-122"/>
                <a:ea typeface="黑体" panose="02010609060101010101" pitchFamily="49" charset="-122"/>
              </a:rPr>
              <a:t>工业互联网</a:t>
            </a:r>
            <a:endParaRPr lang="zh-CN" altLang="en-US" sz="2000" dirty="0">
              <a:latin typeface="黑体" panose="02010609060101010101" pitchFamily="49" charset="-122"/>
              <a:ea typeface="黑体" panose="02010609060101010101" pitchFamily="49" charset="-122"/>
            </a:endParaRPr>
          </a:p>
        </p:txBody>
      </p:sp>
      <p:sp>
        <p:nvSpPr>
          <p:cNvPr id="30" name="矩形 11"/>
          <p:cNvSpPr>
            <a:spLocks noChangeArrowheads="1"/>
          </p:cNvSpPr>
          <p:nvPr/>
        </p:nvSpPr>
        <p:spPr bwMode="auto">
          <a:xfrm>
            <a:off x="4457544" y="2223067"/>
            <a:ext cx="1611312" cy="263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dirty="0">
                <a:latin typeface="黑体" panose="02010609060101010101" pitchFamily="49" charset="-122"/>
                <a:ea typeface="黑体" panose="02010609060101010101" pitchFamily="49" charset="-122"/>
              </a:rPr>
              <a:t>金融互联网</a:t>
            </a:r>
            <a:endParaRPr lang="zh-CN" altLang="en-US" sz="2000" dirty="0">
              <a:latin typeface="黑体" panose="02010609060101010101" pitchFamily="49" charset="-122"/>
              <a:ea typeface="黑体" panose="02010609060101010101" pitchFamily="49" charset="-122"/>
            </a:endParaRPr>
          </a:p>
        </p:txBody>
      </p:sp>
      <p:pic>
        <p:nvPicPr>
          <p:cNvPr id="31" name="图片 30"/>
          <p:cNvPicPr/>
          <p:nvPr/>
        </p:nvPicPr>
        <p:blipFill>
          <a:blip r:embed="rId4" cstate="print"/>
          <a:stretch>
            <a:fillRect/>
          </a:stretch>
        </p:blipFill>
        <p:spPr>
          <a:xfrm>
            <a:off x="6239269" y="1450909"/>
            <a:ext cx="1717199" cy="752121"/>
          </a:xfrm>
          <a:prstGeom prst="rect">
            <a:avLst/>
          </a:prstGeom>
          <a:ln>
            <a:solidFill>
              <a:schemeClr val="bg2">
                <a:lumMod val="75000"/>
              </a:schemeClr>
            </a:solidFill>
          </a:ln>
        </p:spPr>
      </p:pic>
      <p:pic>
        <p:nvPicPr>
          <p:cNvPr id="4" name="图片 3"/>
          <p:cNvPicPr>
            <a:picLocks noChangeAspect="1"/>
          </p:cNvPicPr>
          <p:nvPr/>
        </p:nvPicPr>
        <p:blipFill>
          <a:blip r:embed="rId5"/>
          <a:stretch>
            <a:fillRect/>
          </a:stretch>
        </p:blipFill>
        <p:spPr>
          <a:xfrm>
            <a:off x="9867525" y="4944981"/>
            <a:ext cx="1669208" cy="1253330"/>
          </a:xfrm>
          <a:prstGeom prst="rect">
            <a:avLst/>
          </a:prstGeom>
        </p:spPr>
      </p:pic>
      <p:pic>
        <p:nvPicPr>
          <p:cNvPr id="5" name="图片 4"/>
          <p:cNvPicPr>
            <a:picLocks noChangeAspect="1"/>
          </p:cNvPicPr>
          <p:nvPr/>
        </p:nvPicPr>
        <p:blipFill>
          <a:blip r:embed="rId6" cstate="print"/>
          <a:stretch>
            <a:fillRect/>
          </a:stretch>
        </p:blipFill>
        <p:spPr>
          <a:xfrm>
            <a:off x="6348632" y="5440845"/>
            <a:ext cx="1551069" cy="699391"/>
          </a:xfrm>
          <a:prstGeom prst="rect">
            <a:avLst/>
          </a:prstGeom>
        </p:spPr>
      </p:pic>
      <p:pic>
        <p:nvPicPr>
          <p:cNvPr id="6" name="图片 5"/>
          <p:cNvPicPr>
            <a:picLocks noChangeAspect="1"/>
          </p:cNvPicPr>
          <p:nvPr/>
        </p:nvPicPr>
        <p:blipFill>
          <a:blip r:embed="rId7" cstate="print"/>
          <a:stretch>
            <a:fillRect/>
          </a:stretch>
        </p:blipFill>
        <p:spPr>
          <a:xfrm>
            <a:off x="2608778" y="5170087"/>
            <a:ext cx="1755304" cy="1161829"/>
          </a:xfrm>
          <a:prstGeom prst="rect">
            <a:avLst/>
          </a:prstGeom>
        </p:spPr>
      </p:pic>
      <p:sp>
        <p:nvSpPr>
          <p:cNvPr id="21" name="椭圆 20"/>
          <p:cNvSpPr/>
          <p:nvPr/>
        </p:nvSpPr>
        <p:spPr>
          <a:xfrm>
            <a:off x="3429322" y="4197397"/>
            <a:ext cx="7272808" cy="1193565"/>
          </a:xfrm>
          <a:prstGeom prst="ellipse">
            <a:avLst/>
          </a:prstGeom>
          <a:solidFill>
            <a:schemeClr val="bg1"/>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400" b="1" dirty="0">
                <a:solidFill>
                  <a:srgbClr val="5B307E"/>
                </a:solidFill>
                <a:latin typeface="微软雅黑" panose="020B0503020204020204" pitchFamily="34" charset="-122"/>
                <a:ea typeface="微软雅黑" panose="020B0503020204020204" pitchFamily="34" charset="-122"/>
              </a:rPr>
              <a:t>互联网</a:t>
            </a:r>
            <a:br>
              <a:rPr lang="en-US" altLang="zh-CN" sz="2400" b="1" dirty="0">
                <a:solidFill>
                  <a:srgbClr val="5B307E"/>
                </a:solidFill>
                <a:latin typeface="微软雅黑" panose="020B0503020204020204" pitchFamily="34" charset="-122"/>
                <a:ea typeface="微软雅黑" panose="020B0503020204020204" pitchFamily="34" charset="-122"/>
              </a:rPr>
            </a:br>
            <a:r>
              <a:rPr lang="zh-CN" altLang="en-US" sz="2400" b="1" dirty="0">
                <a:solidFill>
                  <a:srgbClr val="5B307E"/>
                </a:solidFill>
                <a:latin typeface="微软雅黑" panose="020B0503020204020204" pitchFamily="34" charset="-122"/>
                <a:ea typeface="微软雅黑" panose="020B0503020204020204" pitchFamily="34" charset="-122"/>
              </a:rPr>
              <a:t>（下一代互联网</a:t>
            </a:r>
            <a:r>
              <a:rPr lang="en-US" altLang="zh-CN" sz="2400" b="1" dirty="0">
                <a:solidFill>
                  <a:srgbClr val="5B307E"/>
                </a:solidFill>
                <a:latin typeface="微软雅黑" panose="020B0503020204020204" pitchFamily="34" charset="-122"/>
                <a:ea typeface="微软雅黑" panose="020B0503020204020204" pitchFamily="34" charset="-122"/>
              </a:rPr>
              <a:t>/</a:t>
            </a:r>
            <a:r>
              <a:rPr lang="zh-CN" altLang="en-US" sz="2400" b="1" dirty="0">
                <a:solidFill>
                  <a:srgbClr val="5B307E"/>
                </a:solidFill>
                <a:latin typeface="微软雅黑" panose="020B0503020204020204" pitchFamily="34" charset="-122"/>
                <a:ea typeface="微软雅黑" panose="020B0503020204020204" pitchFamily="34" charset="-122"/>
              </a:rPr>
              <a:t>未来互联网）</a:t>
            </a:r>
            <a:endParaRPr lang="zh-CN" altLang="en-US" sz="2400" b="1" dirty="0">
              <a:solidFill>
                <a:srgbClr val="5B307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8" cstate="print"/>
          <a:stretch>
            <a:fillRect/>
          </a:stretch>
        </p:blipFill>
        <p:spPr>
          <a:xfrm>
            <a:off x="10642028" y="4213651"/>
            <a:ext cx="708174" cy="614012"/>
          </a:xfrm>
          <a:prstGeom prst="rect">
            <a:avLst/>
          </a:prstGeom>
        </p:spPr>
      </p:pic>
      <p:pic>
        <p:nvPicPr>
          <p:cNvPr id="32" name="图片 31"/>
          <p:cNvPicPr>
            <a:picLocks noChangeAspect="1"/>
          </p:cNvPicPr>
          <p:nvPr/>
        </p:nvPicPr>
        <p:blipFill>
          <a:blip r:embed="rId8" cstate="print"/>
          <a:stretch>
            <a:fillRect/>
          </a:stretch>
        </p:blipFill>
        <p:spPr>
          <a:xfrm>
            <a:off x="2721148" y="4223225"/>
            <a:ext cx="708174" cy="614012"/>
          </a:xfrm>
          <a:prstGeom prst="rect">
            <a:avLst/>
          </a:prstGeom>
        </p:spPr>
      </p:pic>
      <p:pic>
        <p:nvPicPr>
          <p:cNvPr id="33" name="内容占位符 18"/>
          <p:cNvPicPr>
            <a:picLocks noGrp="1"/>
          </p:cNvPicPr>
          <p:nvPr>
            <p:ph idx="1"/>
          </p:nvPr>
        </p:nvPicPr>
        <p:blipFill>
          <a:blip r:embed="rId9" cstate="print"/>
          <a:stretch>
            <a:fillRect/>
          </a:stretch>
        </p:blipFill>
        <p:spPr>
          <a:xfrm>
            <a:off x="8107811" y="2806335"/>
            <a:ext cx="1717199" cy="752400"/>
          </a:xfrm>
          <a:ln w="12700">
            <a:solidFill>
              <a:schemeClr val="bg2">
                <a:lumMod val="75000"/>
              </a:schemeClr>
            </a:solidFill>
          </a:ln>
        </p:spPr>
      </p:pic>
      <p:sp>
        <p:nvSpPr>
          <p:cNvPr id="34" name="矩形 11"/>
          <p:cNvSpPr>
            <a:spLocks noChangeArrowheads="1"/>
          </p:cNvSpPr>
          <p:nvPr/>
        </p:nvSpPr>
        <p:spPr bwMode="auto">
          <a:xfrm>
            <a:off x="2747112" y="3576751"/>
            <a:ext cx="11581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dirty="0">
                <a:latin typeface="黑体" panose="02010609060101010101" pitchFamily="49" charset="-122"/>
                <a:ea typeface="黑体" panose="02010609060101010101" pitchFamily="49" charset="-122"/>
              </a:rPr>
              <a:t>云计算</a:t>
            </a:r>
            <a:endParaRPr lang="zh-CN" altLang="en-US" sz="2000" dirty="0">
              <a:latin typeface="黑体" panose="02010609060101010101" pitchFamily="49" charset="-122"/>
              <a:ea typeface="黑体" panose="02010609060101010101" pitchFamily="49" charset="-122"/>
            </a:endParaRPr>
          </a:p>
        </p:txBody>
      </p:sp>
      <p:sp>
        <p:nvSpPr>
          <p:cNvPr id="35" name="矩形 11"/>
          <p:cNvSpPr>
            <a:spLocks noChangeArrowheads="1"/>
          </p:cNvSpPr>
          <p:nvPr/>
        </p:nvSpPr>
        <p:spPr bwMode="auto">
          <a:xfrm>
            <a:off x="2818603" y="2141285"/>
            <a:ext cx="949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dirty="0">
                <a:latin typeface="黑体" panose="02010609060101010101" pitchFamily="49" charset="-122"/>
                <a:ea typeface="黑体" panose="02010609060101010101" pitchFamily="49" charset="-122"/>
              </a:rPr>
              <a:t>物联网</a:t>
            </a:r>
            <a:endParaRPr lang="zh-CN" altLang="en-US" sz="2000" dirty="0">
              <a:latin typeface="黑体" panose="02010609060101010101" pitchFamily="49" charset="-122"/>
              <a:ea typeface="黑体" panose="02010609060101010101" pitchFamily="49" charset="-122"/>
            </a:endParaRPr>
          </a:p>
        </p:txBody>
      </p:sp>
      <p:sp>
        <p:nvSpPr>
          <p:cNvPr id="36" name="矩形 11"/>
          <p:cNvSpPr>
            <a:spLocks noChangeArrowheads="1"/>
          </p:cNvSpPr>
          <p:nvPr/>
        </p:nvSpPr>
        <p:spPr bwMode="auto">
          <a:xfrm>
            <a:off x="8425320" y="3576751"/>
            <a:ext cx="949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latin typeface="微软雅黑" panose="020B0503020204020204" pitchFamily="34" charset="-122"/>
                <a:ea typeface="微软雅黑" panose="020B0503020204020204" pitchFamily="34" charset="-122"/>
              </a:rPr>
              <a:t>大数据</a:t>
            </a:r>
            <a:endParaRPr lang="zh-CN" altLang="en-US" dirty="0">
              <a:latin typeface="微软雅黑" panose="020B0503020204020204" pitchFamily="34" charset="-122"/>
              <a:ea typeface="微软雅黑" panose="020B0503020204020204" pitchFamily="34" charset="-122"/>
            </a:endParaRPr>
          </a:p>
        </p:txBody>
      </p:sp>
      <p:pic>
        <p:nvPicPr>
          <p:cNvPr id="37" name="图片 1"/>
          <p:cNvPicPr/>
          <p:nvPr/>
        </p:nvPicPr>
        <p:blipFill>
          <a:blip r:embed="rId10" cstate="print"/>
          <a:srcRect/>
          <a:stretch>
            <a:fillRect/>
          </a:stretch>
        </p:blipFill>
        <p:spPr bwMode="auto">
          <a:xfrm>
            <a:off x="6278090" y="2806232"/>
            <a:ext cx="1717199" cy="752400"/>
          </a:xfrm>
          <a:prstGeom prst="rect">
            <a:avLst/>
          </a:prstGeom>
          <a:noFill/>
          <a:ln w="9525">
            <a:solidFill>
              <a:schemeClr val="bg2">
                <a:lumMod val="75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38" name="矩形 11"/>
          <p:cNvSpPr>
            <a:spLocks noChangeArrowheads="1"/>
          </p:cNvSpPr>
          <p:nvPr/>
        </p:nvSpPr>
        <p:spPr bwMode="auto">
          <a:xfrm>
            <a:off x="6395660" y="3576751"/>
            <a:ext cx="13753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dirty="0">
                <a:latin typeface="黑体" panose="02010609060101010101" pitchFamily="49" charset="-122"/>
                <a:ea typeface="黑体" panose="02010609060101010101" pitchFamily="49" charset="-122"/>
              </a:rPr>
              <a:t>三网融合</a:t>
            </a:r>
            <a:endParaRPr lang="zh-CN" altLang="en-US" sz="2000" dirty="0">
              <a:latin typeface="黑体" panose="02010609060101010101" pitchFamily="49" charset="-122"/>
              <a:ea typeface="黑体" panose="02010609060101010101" pitchFamily="49" charset="-122"/>
            </a:endParaRPr>
          </a:p>
        </p:txBody>
      </p:sp>
      <p:pic>
        <p:nvPicPr>
          <p:cNvPr id="39" name="图片 9" descr="云计算.jpg"/>
          <p:cNvPicPr/>
          <p:nvPr/>
        </p:nvPicPr>
        <p:blipFill>
          <a:blip r:embed="rId11" cstate="print"/>
          <a:srcRect/>
          <a:stretch>
            <a:fillRect/>
          </a:stretch>
        </p:blipFill>
        <p:spPr bwMode="auto">
          <a:xfrm>
            <a:off x="2561127" y="2851221"/>
            <a:ext cx="1717199" cy="752400"/>
          </a:xfrm>
          <a:prstGeom prst="rect">
            <a:avLst/>
          </a:prstGeom>
          <a:noFill/>
          <a:ln w="3175">
            <a:solidFill>
              <a:schemeClr val="bg2">
                <a:lumMod val="75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40" name="图片 10" descr="物联网.jpg"/>
          <p:cNvPicPr>
            <a:picLocks noChangeAspect="1"/>
          </p:cNvPicPr>
          <p:nvPr/>
        </p:nvPicPr>
        <p:blipFill>
          <a:blip r:embed="rId12" cstate="print"/>
          <a:srcRect/>
          <a:stretch>
            <a:fillRect/>
          </a:stretch>
        </p:blipFill>
        <p:spPr bwMode="auto">
          <a:xfrm>
            <a:off x="2538454" y="1466943"/>
            <a:ext cx="1739011" cy="752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1" name="图片 40"/>
          <p:cNvPicPr/>
          <p:nvPr/>
        </p:nvPicPr>
        <p:blipFill>
          <a:blip r:embed="rId13" cstate="print"/>
          <a:stretch>
            <a:fillRect/>
          </a:stretch>
        </p:blipFill>
        <p:spPr>
          <a:xfrm>
            <a:off x="4448369" y="2850546"/>
            <a:ext cx="1717199" cy="752400"/>
          </a:xfrm>
          <a:prstGeom prst="rect">
            <a:avLst/>
          </a:prstGeom>
          <a:ln>
            <a:solidFill>
              <a:schemeClr val="bg2">
                <a:lumMod val="75000"/>
              </a:schemeClr>
            </a:solidFill>
          </a:ln>
        </p:spPr>
      </p:pic>
      <p:sp>
        <p:nvSpPr>
          <p:cNvPr id="42" name="矩形 11"/>
          <p:cNvSpPr>
            <a:spLocks noChangeArrowheads="1"/>
          </p:cNvSpPr>
          <p:nvPr/>
        </p:nvSpPr>
        <p:spPr bwMode="auto">
          <a:xfrm>
            <a:off x="4495442" y="3592371"/>
            <a:ext cx="13904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dirty="0">
                <a:latin typeface="黑体" panose="02010609060101010101" pitchFamily="49" charset="-122"/>
                <a:ea typeface="黑体" panose="02010609060101010101" pitchFamily="49" charset="-122"/>
              </a:rPr>
              <a:t>智慧城市</a:t>
            </a:r>
            <a:endParaRPr lang="zh-CN" altLang="en-US" sz="2000" dirty="0">
              <a:latin typeface="黑体" panose="02010609060101010101" pitchFamily="49" charset="-122"/>
              <a:ea typeface="黑体" panose="02010609060101010101" pitchFamily="49" charset="-122"/>
            </a:endParaRPr>
          </a:p>
        </p:txBody>
      </p:sp>
      <p:pic>
        <p:nvPicPr>
          <p:cNvPr id="43" name="图片 42"/>
          <p:cNvPicPr/>
          <p:nvPr/>
        </p:nvPicPr>
        <p:blipFill>
          <a:blip r:embed="rId14" cstate="print"/>
          <a:stretch>
            <a:fillRect/>
          </a:stretch>
        </p:blipFill>
        <p:spPr>
          <a:xfrm>
            <a:off x="9917666" y="2800912"/>
            <a:ext cx="1717199" cy="752400"/>
          </a:xfrm>
          <a:prstGeom prst="rect">
            <a:avLst/>
          </a:prstGeom>
          <a:ln>
            <a:solidFill>
              <a:schemeClr val="bg2">
                <a:lumMod val="75000"/>
              </a:schemeClr>
            </a:solidFill>
          </a:ln>
        </p:spPr>
      </p:pic>
      <p:sp>
        <p:nvSpPr>
          <p:cNvPr id="44" name="矩形 11"/>
          <p:cNvSpPr>
            <a:spLocks noChangeArrowheads="1"/>
          </p:cNvSpPr>
          <p:nvPr/>
        </p:nvSpPr>
        <p:spPr bwMode="auto">
          <a:xfrm>
            <a:off x="10146721" y="3561752"/>
            <a:ext cx="12034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latin typeface="微软雅黑" panose="020B0503020204020204" pitchFamily="34" charset="-122"/>
                <a:ea typeface="微软雅黑" panose="020B0503020204020204" pitchFamily="34" charset="-122"/>
              </a:rPr>
              <a:t>人工智能</a:t>
            </a:r>
            <a:endParaRPr lang="zh-CN" altLang="en-US" dirty="0">
              <a:latin typeface="微软雅黑" panose="020B0503020204020204" pitchFamily="34" charset="-122"/>
              <a:ea typeface="微软雅黑" panose="020B0503020204020204" pitchFamily="34" charset="-122"/>
            </a:endParaRPr>
          </a:p>
        </p:txBody>
      </p:sp>
      <p:sp>
        <p:nvSpPr>
          <p:cNvPr id="18" name="文本框 17"/>
          <p:cNvSpPr txBox="1"/>
          <p:nvPr/>
        </p:nvSpPr>
        <p:spPr>
          <a:xfrm flipH="1">
            <a:off x="4653458" y="5597693"/>
            <a:ext cx="1394442"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3G/4G/5G</a:t>
            </a:r>
            <a:endParaRPr lang="zh-CN" altLang="en-US"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8667968" y="5513978"/>
            <a:ext cx="133882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超高速光纤</a:t>
            </a:r>
            <a:endParaRPr lang="zh-CN" altLang="en-US" dirty="0">
              <a:latin typeface="微软雅黑" panose="020B0503020204020204" pitchFamily="34" charset="-122"/>
              <a:ea typeface="微软雅黑" panose="020B0503020204020204" pitchFamily="34" charset="-122"/>
            </a:endParaRPr>
          </a:p>
        </p:txBody>
      </p:sp>
      <p:sp>
        <p:nvSpPr>
          <p:cNvPr id="45" name="文本框 44"/>
          <p:cNvSpPr txBox="1"/>
          <p:nvPr/>
        </p:nvSpPr>
        <p:spPr>
          <a:xfrm flipH="1">
            <a:off x="7877965" y="5534977"/>
            <a:ext cx="746370" cy="369332"/>
          </a:xfrm>
          <a:prstGeom prst="rect">
            <a:avLst/>
          </a:prstGeom>
          <a:noFill/>
        </p:spPr>
        <p:txBody>
          <a:bodyPr wrap="square" rtlCol="0">
            <a:spAutoFit/>
          </a:bodyPr>
          <a:lstStyle/>
          <a:p>
            <a:r>
              <a:rPr lang="en-US" altLang="zh-CN" dirty="0" err="1">
                <a:latin typeface="微软雅黑" panose="020B0503020204020204" pitchFamily="34" charset="-122"/>
                <a:ea typeface="微软雅黑" panose="020B0503020204020204" pitchFamily="34" charset="-122"/>
              </a:rPr>
              <a:t>WiFi</a:t>
            </a:r>
            <a:endParaRPr lang="zh-CN" altLang="en-US"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366562" y="1600611"/>
            <a:ext cx="2408408" cy="4479178"/>
            <a:chOff x="367205" y="1631863"/>
            <a:chExt cx="2137419" cy="4479178"/>
          </a:xfrm>
        </p:grpSpPr>
        <p:sp>
          <p:nvSpPr>
            <p:cNvPr id="46" name="文本框 45"/>
            <p:cNvSpPr txBox="1"/>
            <p:nvPr/>
          </p:nvSpPr>
          <p:spPr>
            <a:xfrm flipH="1">
              <a:off x="425791" y="5649376"/>
              <a:ext cx="2078833" cy="461665"/>
            </a:xfrm>
            <a:prstGeom prst="rect">
              <a:avLst/>
            </a:prstGeom>
            <a:noFill/>
          </p:spPr>
          <p:txBody>
            <a:bodyPr wrap="square" rtlCol="0">
              <a:spAutoFit/>
            </a:bodyPr>
            <a:lstStyle/>
            <a:p>
              <a:pPr algn="ctr"/>
              <a:r>
                <a:rPr lang="zh-CN" altLang="en-US" sz="2400" dirty="0">
                  <a:solidFill>
                    <a:srgbClr val="5B307E"/>
                  </a:solidFill>
                  <a:latin typeface="微软雅黑" panose="020B0503020204020204" pitchFamily="34" charset="-122"/>
                  <a:ea typeface="微软雅黑" panose="020B0503020204020204" pitchFamily="34" charset="-122"/>
                </a:rPr>
                <a:t>底层通信技术</a:t>
              </a:r>
              <a:endParaRPr lang="en-US" altLang="zh-CN" sz="2400" dirty="0">
                <a:solidFill>
                  <a:srgbClr val="5B307E"/>
                </a:solidFill>
                <a:latin typeface="微软雅黑" panose="020B0503020204020204" pitchFamily="34" charset="-122"/>
                <a:ea typeface="微软雅黑" panose="020B0503020204020204" pitchFamily="34" charset="-122"/>
              </a:endParaRPr>
            </a:p>
          </p:txBody>
        </p:sp>
        <p:sp>
          <p:nvSpPr>
            <p:cNvPr id="47" name="文本框 46"/>
            <p:cNvSpPr txBox="1"/>
            <p:nvPr/>
          </p:nvSpPr>
          <p:spPr>
            <a:xfrm flipH="1">
              <a:off x="420927" y="4321076"/>
              <a:ext cx="1561855" cy="461665"/>
            </a:xfrm>
            <a:prstGeom prst="rect">
              <a:avLst/>
            </a:prstGeom>
            <a:noFill/>
          </p:spPr>
          <p:txBody>
            <a:bodyPr wrap="square" rtlCol="0">
              <a:spAutoFit/>
            </a:bodyPr>
            <a:lstStyle/>
            <a:p>
              <a:pPr algn="ctr"/>
              <a:r>
                <a:rPr lang="zh-CN" altLang="en-US" sz="2400" dirty="0">
                  <a:solidFill>
                    <a:srgbClr val="5B307E"/>
                  </a:solidFill>
                  <a:latin typeface="微软雅黑" panose="020B0503020204020204" pitchFamily="34" charset="-122"/>
                  <a:ea typeface="微软雅黑" panose="020B0503020204020204" pitchFamily="34" charset="-122"/>
                </a:rPr>
                <a:t>计算系统</a:t>
              </a:r>
              <a:endParaRPr lang="en-US" altLang="zh-CN" sz="2400" dirty="0">
                <a:solidFill>
                  <a:srgbClr val="5B307E"/>
                </a:solidFill>
                <a:latin typeface="微软雅黑" panose="020B0503020204020204" pitchFamily="34" charset="-122"/>
                <a:ea typeface="微软雅黑" panose="020B0503020204020204" pitchFamily="34" charset="-122"/>
              </a:endParaRPr>
            </a:p>
          </p:txBody>
        </p:sp>
        <p:sp>
          <p:nvSpPr>
            <p:cNvPr id="48" name="文本框 47"/>
            <p:cNvSpPr txBox="1"/>
            <p:nvPr/>
          </p:nvSpPr>
          <p:spPr>
            <a:xfrm flipH="1">
              <a:off x="367205" y="2989294"/>
              <a:ext cx="2137419" cy="461665"/>
            </a:xfrm>
            <a:prstGeom prst="rect">
              <a:avLst/>
            </a:prstGeom>
            <a:noFill/>
          </p:spPr>
          <p:txBody>
            <a:bodyPr wrap="square" rtlCol="0">
              <a:spAutoFit/>
            </a:bodyPr>
            <a:lstStyle/>
            <a:p>
              <a:pPr algn="ctr"/>
              <a:r>
                <a:rPr lang="zh-CN" altLang="en-US" sz="2400" dirty="0">
                  <a:solidFill>
                    <a:srgbClr val="5B307E"/>
                  </a:solidFill>
                  <a:latin typeface="微软雅黑" panose="020B0503020204020204" pitchFamily="34" charset="-122"/>
                  <a:ea typeface="微软雅黑" panose="020B0503020204020204" pitchFamily="34" charset="-122"/>
                </a:rPr>
                <a:t>应用支撑技术</a:t>
              </a:r>
              <a:endParaRPr lang="en-US" altLang="zh-CN" sz="2400" dirty="0">
                <a:solidFill>
                  <a:srgbClr val="5B307E"/>
                </a:solidFill>
                <a:latin typeface="微软雅黑" panose="020B0503020204020204" pitchFamily="34" charset="-122"/>
                <a:ea typeface="微软雅黑" panose="020B0503020204020204" pitchFamily="34" charset="-122"/>
              </a:endParaRPr>
            </a:p>
          </p:txBody>
        </p:sp>
        <p:sp>
          <p:nvSpPr>
            <p:cNvPr id="49" name="文本框 48"/>
            <p:cNvSpPr txBox="1"/>
            <p:nvPr/>
          </p:nvSpPr>
          <p:spPr>
            <a:xfrm flipH="1">
              <a:off x="437525" y="1631863"/>
              <a:ext cx="1739013" cy="461665"/>
            </a:xfrm>
            <a:prstGeom prst="rect">
              <a:avLst/>
            </a:prstGeom>
            <a:noFill/>
          </p:spPr>
          <p:txBody>
            <a:bodyPr wrap="square" rtlCol="0">
              <a:spAutoFit/>
            </a:bodyPr>
            <a:lstStyle/>
            <a:p>
              <a:pPr algn="ctr"/>
              <a:r>
                <a:rPr lang="zh-CN" altLang="en-US" sz="2400" dirty="0">
                  <a:solidFill>
                    <a:srgbClr val="5B307E"/>
                  </a:solidFill>
                  <a:latin typeface="微软雅黑" panose="020B0503020204020204" pitchFamily="34" charset="-122"/>
                  <a:ea typeface="微软雅黑" panose="020B0503020204020204" pitchFamily="34" charset="-122"/>
                </a:rPr>
                <a:t>行业互联网</a:t>
              </a:r>
              <a:endParaRPr lang="en-US" altLang="zh-CN" sz="2400" dirty="0">
                <a:solidFill>
                  <a:srgbClr val="5B307E"/>
                </a:solidFill>
                <a:latin typeface="微软雅黑" panose="020B0503020204020204" pitchFamily="34" charset="-122"/>
                <a:ea typeface="微软雅黑" panose="020B0503020204020204" pitchFamily="34" charset="-122"/>
              </a:endParaRPr>
            </a:p>
          </p:txBody>
        </p:sp>
      </p:grpSp>
      <p:sp>
        <p:nvSpPr>
          <p:cNvPr id="9" name="灯片编号占位符 8"/>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2" name="文本框 51"/>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1.1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初识互联网</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全球市值前十名公司的变迁</a:t>
            </a:r>
            <a:endParaRPr kumimoji="1" lang="zh-CN" altLang="en-US"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内容占位符 2"/>
          <p:cNvSpPr>
            <a:spLocks noGrp="1"/>
          </p:cNvSpPr>
          <p:nvPr>
            <p:ph idx="1"/>
          </p:nvPr>
        </p:nvSpPr>
        <p:spPr>
          <a:xfrm>
            <a:off x="555321" y="1476590"/>
            <a:ext cx="8124529" cy="5038196"/>
          </a:xfrm>
        </p:spPr>
        <p:txBody>
          <a:bodyPr/>
          <a:lstStyle/>
          <a:p>
            <a:pPr>
              <a:spcBef>
                <a:spcPts val="0"/>
              </a:spcBef>
              <a:buClr>
                <a:schemeClr val="tx1"/>
              </a:buClr>
            </a:pPr>
            <a:endParaRPr kumimoji="1" lang="en-US" alt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ts val="0"/>
              </a:spcBef>
              <a:buClr>
                <a:schemeClr val="tx1"/>
              </a:buClr>
            </a:pPr>
            <a:endParaRPr kumimoji="1" lang="en-US" alt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ts val="0"/>
              </a:spcBef>
              <a:buClr>
                <a:schemeClr val="tx1"/>
              </a:buClr>
            </a:pPr>
            <a:endParaRPr kumimoji="1" lang="en-US" alt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ts val="0"/>
              </a:spcBef>
              <a:buClr>
                <a:schemeClr val="tx1"/>
              </a:buClr>
            </a:pPr>
            <a:endParaRPr kumimoji="1"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spcBef>
                <a:spcPts val="0"/>
              </a:spcBef>
              <a:buClr>
                <a:schemeClr val="tx1"/>
              </a:buClr>
            </a:pPr>
            <a:endParaRPr kumimoji="1" lang="en-US" alt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lvl="1">
              <a:spcBef>
                <a:spcPts val="100"/>
              </a:spcBef>
              <a:buClr>
                <a:schemeClr val="tx1"/>
              </a:buClr>
            </a:pPr>
            <a:endParaRPr kumimoji="1" lang="en-US" altLang="zh-CN" b="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lvl="1">
              <a:spcBef>
                <a:spcPts val="100"/>
              </a:spcBef>
              <a:buClr>
                <a:schemeClr val="tx1"/>
              </a:buClr>
            </a:pPr>
            <a:endParaRPr kumimoji="1" lang="en-US" altLang="zh-CN" b="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lvl="1">
              <a:spcBef>
                <a:spcPts val="100"/>
              </a:spcBef>
              <a:buClr>
                <a:schemeClr val="tx1"/>
              </a:buClr>
            </a:pPr>
            <a:endParaRPr kumimoji="1"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spcBef>
                <a:spcPts val="100"/>
              </a:spcBef>
              <a:buClr>
                <a:schemeClr val="tx1"/>
              </a:buClr>
            </a:pPr>
            <a:endParaRPr kumimoji="1" lang="en-US" altLang="zh-CN" b="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ts val="100"/>
              </a:spcBef>
              <a:buClr>
                <a:schemeClr val="tx1"/>
              </a:buClr>
            </a:pPr>
            <a:r>
              <a:rPr kumimoji="1" lang="zh-CN" altLang="zh-CN" sz="2400" b="0"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苹果</a:t>
            </a:r>
            <a:r>
              <a:rPr kumimoji="1" lang="zh-CN" altLang="en-US" sz="2400" b="0"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、谷歌、微软、亚马逊、腾讯、</a:t>
            </a:r>
            <a:r>
              <a:rPr kumimoji="1" lang="en-US" altLang="zh-CN" sz="2400" b="0"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FB</a:t>
            </a:r>
            <a:r>
              <a:rPr kumimoji="1" lang="zh-CN" altLang="en-US" sz="2400" b="0"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突破</a:t>
            </a:r>
            <a:r>
              <a:rPr kumimoji="1" lang="en-US" altLang="zh-CN" sz="2400" b="0"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zh-CN" altLang="en-US" sz="2400" b="0"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千亿美元</a:t>
            </a:r>
            <a:endParaRPr kumimoji="1" lang="zh-CN" altLang="en-US" sz="2400" b="0"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ts val="100"/>
              </a:spcBef>
              <a:buClr>
                <a:schemeClr val="tx1"/>
              </a:buClr>
            </a:pPr>
            <a:r>
              <a:rPr kumimoji="1" lang="zh-CN" altLang="en-US" sz="2400" b="0"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阿里、伯克希尔哈撒伟</a:t>
            </a:r>
            <a:r>
              <a:rPr kumimoji="1" lang="zh-CN" altLang="en-US" sz="2400" b="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、强生、摩根</a:t>
            </a:r>
            <a:endParaRPr kumimoji="1" lang="en-US" altLang="zh-CN" sz="2400" b="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850474" y="6077247"/>
            <a:ext cx="6003344" cy="461665"/>
          </a:xfrm>
          <a:prstGeom prst="rect">
            <a:avLst/>
          </a:prstGeom>
          <a:noFill/>
          <a:ln>
            <a:solidFill>
              <a:srgbClr val="7030A0"/>
            </a:solidFill>
          </a:ln>
        </p:spPr>
        <p:txBody>
          <a:bodyPr wrap="square" rtlCol="0">
            <a:spAutoFit/>
          </a:bodyPr>
          <a:lstStyle/>
          <a:p>
            <a:pPr algn="ct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祝贺大家：计算机类荣登最热门专业榜首</a:t>
            </a:r>
            <a:endPar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p:cNvPicPr>
            <a:picLocks noChangeAspect="1"/>
          </p:cNvPicPr>
          <p:nvPr/>
        </p:nvPicPr>
        <p:blipFill rotWithShape="1">
          <a:blip r:embed="rId1" cstate="print"/>
          <a:srcRect/>
          <a:stretch>
            <a:fillRect/>
          </a:stretch>
        </p:blipFill>
        <p:spPr>
          <a:xfrm>
            <a:off x="687414" y="1476590"/>
            <a:ext cx="8329465" cy="3507675"/>
          </a:xfrm>
          <a:prstGeom prst="rect">
            <a:avLst/>
          </a:prstGeom>
          <a:ln>
            <a:solidFill>
              <a:schemeClr val="bg2">
                <a:lumMod val="75000"/>
              </a:schemeClr>
            </a:solidFill>
          </a:ln>
        </p:spPr>
      </p:pic>
      <p:grpSp>
        <p:nvGrpSpPr>
          <p:cNvPr id="14" name="组合 13"/>
          <p:cNvGrpSpPr/>
          <p:nvPr/>
        </p:nvGrpSpPr>
        <p:grpSpPr>
          <a:xfrm>
            <a:off x="9170232" y="1480894"/>
            <a:ext cx="2997608" cy="1275057"/>
            <a:chOff x="8942913" y="1861098"/>
            <a:chExt cx="2997608" cy="1275057"/>
          </a:xfrm>
        </p:grpSpPr>
        <p:pic>
          <p:nvPicPr>
            <p:cNvPr id="2054" name="Picture 6"/>
            <p:cNvPicPr>
              <a:picLocks noChangeAspect="1" noChangeArrowheads="1"/>
            </p:cNvPicPr>
            <p:nvPr/>
          </p:nvPicPr>
          <p:blipFill>
            <a:blip r:embed="rId2" cstate="print"/>
            <a:srcRect/>
            <a:stretch>
              <a:fillRect/>
            </a:stretch>
          </p:blipFill>
          <p:spPr bwMode="auto">
            <a:xfrm>
              <a:off x="9894794" y="1989151"/>
              <a:ext cx="1230595" cy="1117811"/>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8942913" y="1861098"/>
              <a:ext cx="1005403" cy="584775"/>
            </a:xfrm>
            <a:prstGeom prst="rect">
              <a:avLst/>
            </a:prstGeom>
            <a:noFill/>
          </p:spPr>
          <p:txBody>
            <a:bodyPr wrap="none" rtlCol="0">
              <a:spAutoFit/>
            </a:bodyPr>
            <a:lstStyle/>
            <a:p>
              <a:r>
                <a:rPr kumimoji="1" lang="zh-CN" altLang="en-US" sz="3200" dirty="0">
                  <a:latin typeface="微软雅黑" panose="020B0503020204020204" pitchFamily="34" charset="-122"/>
                  <a:ea typeface="微软雅黑" panose="020B0503020204020204" pitchFamily="34" charset="-122"/>
                </a:rPr>
                <a:t>美国</a:t>
              </a:r>
              <a:endParaRPr kumimoji="1" lang="zh-CN" altLang="en-US" sz="3200"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10935118" y="2551380"/>
              <a:ext cx="1005403" cy="584775"/>
            </a:xfrm>
            <a:prstGeom prst="rect">
              <a:avLst/>
            </a:prstGeom>
            <a:noFill/>
          </p:spPr>
          <p:txBody>
            <a:bodyPr wrap="none" rtlCol="0">
              <a:spAutoFit/>
            </a:bodyPr>
            <a:lstStyle/>
            <a:p>
              <a:r>
                <a:rPr kumimoji="1" lang="zh-CN" altLang="en-US" sz="3200" dirty="0">
                  <a:latin typeface="微软雅黑" panose="020B0503020204020204" pitchFamily="34" charset="-122"/>
                  <a:ea typeface="微软雅黑" panose="020B0503020204020204" pitchFamily="34" charset="-122"/>
                </a:rPr>
                <a:t>日本</a:t>
              </a:r>
              <a:endParaRPr kumimoji="1" lang="en-US" altLang="zh-CN" sz="3200" dirty="0">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9031266" y="3230428"/>
            <a:ext cx="2633683" cy="2705747"/>
            <a:chOff x="9031266" y="3804787"/>
            <a:chExt cx="2633683" cy="2705747"/>
          </a:xfrm>
        </p:grpSpPr>
        <p:sp>
          <p:nvSpPr>
            <p:cNvPr id="13" name="矩形 12"/>
            <p:cNvSpPr/>
            <p:nvPr/>
          </p:nvSpPr>
          <p:spPr>
            <a:xfrm>
              <a:off x="9031266" y="5741093"/>
              <a:ext cx="2633683" cy="769441"/>
            </a:xfrm>
            <a:prstGeom prst="rect">
              <a:avLst/>
            </a:prstGeom>
          </p:spPr>
          <p:txBody>
            <a:bodyPr wrap="square">
              <a:spAutoFit/>
            </a:bodyPr>
            <a:lstStyle/>
            <a:p>
              <a:pPr lvl="0" algn="ctr"/>
              <a:r>
                <a:rPr kumimoji="1" lang="zh-CN" altLang="en-US" sz="2400" dirty="0">
                  <a:solidFill>
                    <a:prstClr val="black"/>
                  </a:solidFill>
                  <a:latin typeface="微软雅黑" panose="020B0503020204020204" pitchFamily="34" charset="-122"/>
                  <a:ea typeface="微软雅黑" panose="020B0503020204020204" pitchFamily="34" charset="-122"/>
                </a:rPr>
                <a:t>硅谷在哪里？</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lvl="0" algn="ctr"/>
              <a:r>
                <a:rPr lang="zh-CN" altLang="en-US" sz="2000" dirty="0">
                  <a:latin typeface="微软雅黑" panose="020B0503020204020204" pitchFamily="34" charset="-122"/>
                  <a:ea typeface="微软雅黑" panose="020B0503020204020204" pitchFamily="34" charset="-122"/>
                </a:rPr>
                <a:t>美国西部荒凉的湾区</a:t>
              </a:r>
              <a:endParaRPr lang="zh-CN" altLang="en-US" sz="2000" dirty="0">
                <a:latin typeface="微软雅黑" panose="020B0503020204020204" pitchFamily="34" charset="-122"/>
                <a:ea typeface="微软雅黑" panose="020B0503020204020204" pitchFamily="34" charset="-122"/>
              </a:endParaRPr>
            </a:p>
          </p:txBody>
        </p:sp>
        <p:pic>
          <p:nvPicPr>
            <p:cNvPr id="2056" name="Picture 8"/>
            <p:cNvPicPr>
              <a:picLocks noChangeAspect="1" noChangeArrowheads="1"/>
            </p:cNvPicPr>
            <p:nvPr/>
          </p:nvPicPr>
          <p:blipFill>
            <a:blip r:embed="rId3" cstate="print"/>
            <a:srcRect/>
            <a:stretch>
              <a:fillRect/>
            </a:stretch>
          </p:blipFill>
          <p:spPr bwMode="auto">
            <a:xfrm>
              <a:off x="9269178" y="3804787"/>
              <a:ext cx="2202024" cy="1959801"/>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矩形 20"/>
          <p:cNvSpPr/>
          <p:nvPr/>
        </p:nvSpPr>
        <p:spPr>
          <a:xfrm>
            <a:off x="10103290" y="2858603"/>
            <a:ext cx="1905565" cy="769441"/>
          </a:xfrm>
          <a:prstGeom prst="rect">
            <a:avLst/>
          </a:prstGeom>
          <a:solidFill>
            <a:schemeClr val="bg1">
              <a:alpha val="33000"/>
            </a:schemeClr>
          </a:solidFill>
        </p:spPr>
        <p:txBody>
          <a:bodyPr wrap="square">
            <a:spAutoFit/>
          </a:bodyPr>
          <a:lstStyle/>
          <a:p>
            <a:pPr lvl="0" algn="ctr"/>
            <a:r>
              <a:rPr kumimoji="1" lang="en-US" altLang="zh-CN" sz="2400" dirty="0">
                <a:solidFill>
                  <a:srgbClr val="C00000"/>
                </a:solidFill>
                <a:latin typeface="微软雅黑" panose="020B0503020204020204" pitchFamily="34" charset="-122"/>
                <a:ea typeface="微软雅黑" panose="020B0503020204020204" pitchFamily="34" charset="-122"/>
              </a:rPr>
              <a:t>CISCO</a:t>
            </a:r>
            <a:endParaRPr kumimoji="1" lang="en-US" altLang="zh-CN" sz="2400" dirty="0">
              <a:solidFill>
                <a:srgbClr val="C00000"/>
              </a:solidFill>
              <a:latin typeface="微软雅黑" panose="020B0503020204020204" pitchFamily="34" charset="-122"/>
              <a:ea typeface="微软雅黑" panose="020B0503020204020204" pitchFamily="34" charset="-122"/>
            </a:endParaRPr>
          </a:p>
          <a:p>
            <a:pPr lvl="0" algn="ctr"/>
            <a:r>
              <a:rPr lang="en-US" altLang="zh-CN" sz="2000" dirty="0">
                <a:solidFill>
                  <a:srgbClr val="C00000"/>
                </a:solidFill>
                <a:latin typeface="微软雅黑" panose="020B0503020204020204" pitchFamily="34" charset="-122"/>
                <a:ea typeface="微软雅黑" panose="020B0503020204020204" pitchFamily="34" charset="-122"/>
              </a:rPr>
              <a:t>San</a:t>
            </a:r>
            <a:r>
              <a:rPr lang="zh-CN" altLang="en-US" sz="2000" dirty="0">
                <a:solidFill>
                  <a:srgbClr val="C00000"/>
                </a:solidFill>
                <a:latin typeface="微软雅黑" panose="020B0503020204020204" pitchFamily="34" charset="-122"/>
                <a:ea typeface="微软雅黑" panose="020B0503020204020204" pitchFamily="34" charset="-122"/>
              </a:rPr>
              <a:t> </a:t>
            </a:r>
            <a:r>
              <a:rPr lang="en-US" altLang="zh-CN" sz="2000" dirty="0">
                <a:solidFill>
                  <a:srgbClr val="C00000"/>
                </a:solidFill>
                <a:latin typeface="微软雅黑" panose="020B0503020204020204" pitchFamily="34" charset="-122"/>
                <a:ea typeface="微软雅黑" panose="020B0503020204020204" pitchFamily="34" charset="-122"/>
              </a:rPr>
              <a:t>Francisco</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9242337" y="5991871"/>
            <a:ext cx="2198375" cy="461665"/>
          </a:xfrm>
          <a:prstGeom prst="rect">
            <a:avLst/>
          </a:prstGeom>
          <a:noFill/>
          <a:ln>
            <a:solidFill>
              <a:srgbClr val="7030A0"/>
            </a:solidFill>
          </a:ln>
        </p:spPr>
        <p:txBody>
          <a:bodyPr wrap="square" rtlCol="0">
            <a:spAutoFit/>
          </a:bodyPr>
          <a:lstStyle/>
          <a:p>
            <a:pPr algn="ct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我辈中人？</a:t>
            </a:r>
            <a:endPar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9" name="文本框 18"/>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1.1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初识互联网</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我国的新基建</a:t>
            </a:r>
            <a:endParaRPr lang="zh-CN" altLang="en-US" dirty="0"/>
          </a:p>
        </p:txBody>
      </p:sp>
      <p:sp>
        <p:nvSpPr>
          <p:cNvPr id="15" name="文本框 14"/>
          <p:cNvSpPr txBox="1"/>
          <p:nvPr/>
        </p:nvSpPr>
        <p:spPr>
          <a:xfrm>
            <a:off x="6907777" y="4294907"/>
            <a:ext cx="4970535" cy="1938992"/>
          </a:xfrm>
          <a:prstGeom prst="rect">
            <a:avLst/>
          </a:prstGeom>
          <a:noFill/>
          <a:ln>
            <a:solidFill>
              <a:srgbClr val="7030A0"/>
            </a:solidFill>
          </a:ln>
        </p:spPr>
        <p:txBody>
          <a:bodyPr wrap="square" rtlCol="0">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作为数字经济的发展基石、转型升级的重要支撑</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稳投资、扩内需、拉动经济增长的重要途径</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促升级、优结构、提升经济发展质量的重要环节</a:t>
            </a:r>
            <a:endParaRPr lang="zh-CN" altLang="en-US" sz="2000" dirty="0">
              <a:latin typeface="微软雅黑" panose="020B0503020204020204" pitchFamily="34" charset="-122"/>
              <a:ea typeface="微软雅黑" panose="020B0503020204020204" pitchFamily="34" charset="-122"/>
            </a:endParaRPr>
          </a:p>
        </p:txBody>
      </p:sp>
      <p:sp>
        <p:nvSpPr>
          <p:cNvPr id="6" name="内容占位符 5"/>
          <p:cNvSpPr>
            <a:spLocks noGrp="1"/>
          </p:cNvSpPr>
          <p:nvPr>
            <p:ph idx="1"/>
          </p:nvPr>
        </p:nvSpPr>
        <p:spPr>
          <a:xfrm>
            <a:off x="838199" y="1393241"/>
            <a:ext cx="6069577" cy="5328233"/>
          </a:xfrm>
        </p:spPr>
        <p:txBody>
          <a:bodyPr>
            <a:normAutofit fontScale="92500" lnSpcReduction="20000"/>
          </a:bodyPr>
          <a:lstStyle/>
          <a:p>
            <a:pPr>
              <a:lnSpc>
                <a:spcPct val="120000"/>
              </a:lnSpc>
              <a:spcBef>
                <a:spcPts val="300"/>
              </a:spcBef>
            </a:pPr>
            <a:r>
              <a:rPr kumimoji="1" lang="zh-CN" altLang="en-US" dirty="0"/>
              <a:t>当年的</a:t>
            </a:r>
            <a:r>
              <a:rPr lang="zh-CN" altLang="en-US" dirty="0"/>
              <a:t>“铁公基”</a:t>
            </a:r>
            <a:r>
              <a:rPr lang="en-US" altLang="zh-CN" dirty="0"/>
              <a:t>/</a:t>
            </a:r>
            <a:r>
              <a:rPr lang="zh-CN" altLang="en-US" dirty="0"/>
              <a:t>“铁公机”</a:t>
            </a:r>
            <a:endParaRPr kumimoji="1" lang="en-US" altLang="zh-CN" dirty="0"/>
          </a:p>
          <a:p>
            <a:pPr lvl="1">
              <a:lnSpc>
                <a:spcPct val="120000"/>
              </a:lnSpc>
              <a:spcBef>
                <a:spcPts val="300"/>
              </a:spcBef>
            </a:pPr>
            <a:r>
              <a:rPr lang="zh-CN" altLang="en-US" dirty="0"/>
              <a:t>集中建设基础设施</a:t>
            </a:r>
            <a:br>
              <a:rPr lang="en-US" altLang="zh-CN" dirty="0"/>
            </a:br>
            <a:r>
              <a:rPr lang="zh-CN" altLang="en-US" dirty="0"/>
              <a:t>（铁路、公路、机场</a:t>
            </a:r>
            <a:r>
              <a:rPr lang="en-US" altLang="zh-CN" dirty="0"/>
              <a:t>/</a:t>
            </a:r>
            <a:r>
              <a:rPr lang="zh-CN" altLang="en-US" dirty="0"/>
              <a:t>基础设施）</a:t>
            </a:r>
            <a:endParaRPr lang="en-US" altLang="zh-CN" dirty="0"/>
          </a:p>
          <a:p>
            <a:pPr lvl="1">
              <a:lnSpc>
                <a:spcPct val="120000"/>
              </a:lnSpc>
              <a:spcBef>
                <a:spcPts val="300"/>
              </a:spcBef>
            </a:pPr>
            <a:r>
              <a:rPr lang="en-US" altLang="zh-CN" dirty="0"/>
              <a:t>2008</a:t>
            </a:r>
            <a:r>
              <a:rPr lang="zh-CN" altLang="en-US" dirty="0"/>
              <a:t>年金融危机，国家四万亿投资中的</a:t>
            </a:r>
            <a:r>
              <a:rPr lang="en-US" altLang="zh-CN" dirty="0"/>
              <a:t>1.5</a:t>
            </a:r>
            <a:r>
              <a:rPr lang="zh-CN" altLang="en-US" dirty="0"/>
              <a:t>万亿投入基础设施建设</a:t>
            </a:r>
            <a:endParaRPr kumimoji="1" lang="en-US" altLang="zh-CN" dirty="0"/>
          </a:p>
          <a:p>
            <a:pPr>
              <a:lnSpc>
                <a:spcPct val="120000"/>
              </a:lnSpc>
              <a:spcBef>
                <a:spcPts val="300"/>
              </a:spcBef>
            </a:pPr>
            <a:r>
              <a:rPr kumimoji="1" lang="zh-CN" altLang="en-US" dirty="0"/>
              <a:t>与时俱进的新基建</a:t>
            </a:r>
            <a:endParaRPr kumimoji="1" lang="en-US" altLang="zh-CN" dirty="0"/>
          </a:p>
          <a:p>
            <a:pPr lvl="1">
              <a:lnSpc>
                <a:spcPct val="120000"/>
              </a:lnSpc>
              <a:spcBef>
                <a:spcPts val="300"/>
              </a:spcBef>
            </a:pPr>
            <a:r>
              <a:rPr kumimoji="1" lang="en-US" altLang="zh-CN" dirty="0"/>
              <a:t>2018</a:t>
            </a:r>
            <a:r>
              <a:rPr kumimoji="1" lang="zh-CN" altLang="en-US" dirty="0"/>
              <a:t>年，中央经济工作会议重新定义了基础设施建设</a:t>
            </a:r>
            <a:endParaRPr kumimoji="1" lang="en-US" altLang="zh-CN" dirty="0"/>
          </a:p>
          <a:p>
            <a:pPr lvl="1">
              <a:lnSpc>
                <a:spcPct val="120000"/>
              </a:lnSpc>
              <a:spcBef>
                <a:spcPts val="300"/>
              </a:spcBef>
            </a:pPr>
            <a:r>
              <a:rPr kumimoji="1" lang="en-US" altLang="zh-CN" dirty="0"/>
              <a:t>2019</a:t>
            </a:r>
            <a:r>
              <a:rPr kumimoji="1" lang="zh-CN" altLang="en-US" dirty="0"/>
              <a:t>年，“加强新一代信息基础设施建设”被列入政府工作报告</a:t>
            </a:r>
            <a:endParaRPr kumimoji="1" lang="en-US" altLang="zh-CN" dirty="0"/>
          </a:p>
          <a:p>
            <a:pPr lvl="1">
              <a:lnSpc>
                <a:spcPct val="120000"/>
              </a:lnSpc>
              <a:spcBef>
                <a:spcPts val="300"/>
              </a:spcBef>
            </a:pPr>
            <a:r>
              <a:rPr lang="zh-CN" altLang="en-US" dirty="0"/>
              <a:t>新基建：</a:t>
            </a:r>
            <a:r>
              <a:rPr lang="en-US" altLang="zh-CN" dirty="0">
                <a:solidFill>
                  <a:srgbClr val="FF0000"/>
                </a:solidFill>
              </a:rPr>
              <a:t>5G</a:t>
            </a:r>
            <a:r>
              <a:rPr lang="zh-CN" altLang="en-US" dirty="0">
                <a:solidFill>
                  <a:srgbClr val="FF0000"/>
                </a:solidFill>
              </a:rPr>
              <a:t>基站建设</a:t>
            </a:r>
            <a:r>
              <a:rPr lang="zh-CN" altLang="en-US" dirty="0">
                <a:solidFill>
                  <a:srgbClr val="C00000"/>
                </a:solidFill>
              </a:rPr>
              <a:t>、特高压、城际高速铁路和城市轨道交通、新能源汽车充电桩、</a:t>
            </a:r>
            <a:r>
              <a:rPr lang="zh-CN" altLang="en-US" dirty="0">
                <a:solidFill>
                  <a:srgbClr val="FF0000"/>
                </a:solidFill>
              </a:rPr>
              <a:t>大数据中心</a:t>
            </a:r>
            <a:r>
              <a:rPr lang="zh-CN" altLang="en-US" dirty="0">
                <a:solidFill>
                  <a:srgbClr val="C00000"/>
                </a:solidFill>
              </a:rPr>
              <a:t>、人工智能、</a:t>
            </a:r>
            <a:r>
              <a:rPr lang="zh-CN" altLang="en-US" dirty="0">
                <a:solidFill>
                  <a:srgbClr val="FF0000"/>
                </a:solidFill>
              </a:rPr>
              <a:t>工业互联网</a:t>
            </a:r>
            <a:r>
              <a:rPr lang="zh-CN" altLang="en-US" dirty="0"/>
              <a:t>七大领域</a:t>
            </a:r>
            <a:endParaRPr kumimoji="1" lang="zh-CN" altLang="en-US" dirty="0"/>
          </a:p>
          <a:p>
            <a:pPr>
              <a:lnSpc>
                <a:spcPct val="120000"/>
              </a:lnSpc>
            </a:pPr>
            <a:endParaRPr lang="zh-CN" altLang="en-US" dirty="0"/>
          </a:p>
        </p:txBody>
      </p:sp>
      <p:pic>
        <p:nvPicPr>
          <p:cNvPr id="9" name="Picture 2"/>
          <p:cNvPicPr>
            <a:picLocks noChangeAspect="1" noChangeArrowheads="1"/>
          </p:cNvPicPr>
          <p:nvPr/>
        </p:nvPicPr>
        <p:blipFill>
          <a:blip r:embed="rId1"/>
          <a:stretch>
            <a:fillRect/>
          </a:stretch>
        </p:blipFill>
        <p:spPr bwMode="auto">
          <a:xfrm>
            <a:off x="6907777" y="1393242"/>
            <a:ext cx="4970535" cy="2765217"/>
          </a:xfrm>
          <a:prstGeom prst="rect">
            <a:avLst/>
          </a:prstGeom>
          <a:solidFill>
            <a:schemeClr val="accent4">
              <a:lumMod val="60000"/>
              <a:lumOff val="40000"/>
            </a:schemeClr>
          </a:solidFill>
          <a:ln>
            <a:solidFill>
              <a:schemeClr val="bg2">
                <a:lumMod val="75000"/>
              </a:schemeClr>
            </a:solidFill>
          </a:ln>
        </p:spPr>
      </p:pic>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 name="文本框 10"/>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1.1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初识互联网</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5" name="内容占位符 4"/>
          <p:cNvSpPr>
            <a:spLocks noGrp="1"/>
          </p:cNvSpPr>
          <p:nvPr>
            <p:ph idx="1"/>
          </p:nvPr>
        </p:nvSpPr>
        <p:spPr>
          <a:xfrm>
            <a:off x="1307508" y="1409610"/>
            <a:ext cx="10515600" cy="4982116"/>
          </a:xfrm>
        </p:spPr>
        <p:txBody>
          <a:bodyPr>
            <a:normAutofit lnSpcReduction="10000"/>
          </a:bodyPr>
          <a:lstStyle/>
          <a:p>
            <a:pPr marL="0" indent="0">
              <a:lnSpc>
                <a:spcPct val="130000"/>
              </a:lnSpc>
              <a:buNone/>
            </a:pPr>
            <a:r>
              <a:rPr kumimoji="1" lang="en-US" altLang="zh-CN" dirty="0"/>
              <a:t>1.1 </a:t>
            </a:r>
            <a:r>
              <a:rPr kumimoji="1" lang="zh-CN" altLang="en-US" dirty="0"/>
              <a:t>初识互联网</a:t>
            </a:r>
            <a:endParaRPr kumimoji="1" lang="en-US" altLang="zh-CN" dirty="0"/>
          </a:p>
          <a:p>
            <a:pPr marL="0" indent="0">
              <a:lnSpc>
                <a:spcPct val="130000"/>
              </a:lnSpc>
              <a:buNone/>
            </a:pPr>
            <a:r>
              <a:rPr kumimoji="1" lang="en-US" altLang="zh-CN" dirty="0">
                <a:solidFill>
                  <a:srgbClr val="C00000"/>
                </a:solidFill>
              </a:rPr>
              <a:t>1.2 </a:t>
            </a:r>
            <a:r>
              <a:rPr kumimoji="1" lang="zh-CN" altLang="en-US" dirty="0">
                <a:solidFill>
                  <a:srgbClr val="C00000"/>
                </a:solidFill>
              </a:rPr>
              <a:t>网络实例</a:t>
            </a:r>
            <a:endParaRPr kumimoji="1" lang="en-US" altLang="zh-CN" dirty="0">
              <a:solidFill>
                <a:srgbClr val="C00000"/>
              </a:solidFill>
            </a:endParaRPr>
          </a:p>
          <a:p>
            <a:pPr marL="0" indent="0">
              <a:lnSpc>
                <a:spcPct val="130000"/>
              </a:lnSpc>
              <a:buNone/>
            </a:pPr>
            <a:r>
              <a:rPr kumimoji="1" lang="en-US" altLang="zh-CN" dirty="0"/>
              <a:t>1.3 </a:t>
            </a:r>
            <a:r>
              <a:rPr kumimoji="1" lang="zh-CN" altLang="en-US" dirty="0"/>
              <a:t>协议与分层结构</a:t>
            </a:r>
            <a:endParaRPr kumimoji="1" lang="en-US" altLang="zh-CN" dirty="0"/>
          </a:p>
          <a:p>
            <a:pPr marL="0" indent="0">
              <a:lnSpc>
                <a:spcPct val="130000"/>
              </a:lnSpc>
              <a:buNone/>
            </a:pPr>
            <a:r>
              <a:rPr kumimoji="1" lang="en-US" altLang="zh-CN" dirty="0"/>
              <a:t>1.4 </a:t>
            </a:r>
            <a:r>
              <a:rPr kumimoji="1" lang="zh-CN" altLang="en-US" dirty="0"/>
              <a:t>参考模型</a:t>
            </a:r>
            <a:endParaRPr kumimoji="1" lang="en-US" altLang="zh-CN" dirty="0"/>
          </a:p>
          <a:p>
            <a:pPr marL="0" indent="0">
              <a:lnSpc>
                <a:spcPct val="130000"/>
              </a:lnSpc>
              <a:buNone/>
            </a:pPr>
            <a:r>
              <a:rPr kumimoji="1" lang="en-US" altLang="zh-CN" dirty="0"/>
              <a:t>1.5 </a:t>
            </a:r>
            <a:r>
              <a:rPr kumimoji="1" lang="zh-CN" altLang="en-US" dirty="0"/>
              <a:t>计算机网络度量单位</a:t>
            </a:r>
            <a:endParaRPr kumimoji="1" lang="en-US" altLang="zh-CN" dirty="0"/>
          </a:p>
          <a:p>
            <a:pPr marL="0" indent="0">
              <a:lnSpc>
                <a:spcPct val="130000"/>
              </a:lnSpc>
              <a:buNone/>
            </a:pPr>
            <a:r>
              <a:rPr kumimoji="1" lang="en-US" altLang="zh-CN" dirty="0"/>
              <a:t>1.6 </a:t>
            </a:r>
            <a:r>
              <a:rPr kumimoji="1" lang="zh-CN" altLang="en-US" dirty="0"/>
              <a:t>网络安全与威胁</a:t>
            </a:r>
            <a:endParaRPr kumimoji="1" lang="zh-CN" altLang="en-US" dirty="0"/>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7" name="矩形标注 6"/>
          <p:cNvSpPr/>
          <p:nvPr/>
        </p:nvSpPr>
        <p:spPr>
          <a:xfrm>
            <a:off x="6096000" y="1620254"/>
            <a:ext cx="3814781" cy="1808746"/>
          </a:xfrm>
          <a:prstGeom prst="wedgeRectCallout">
            <a:avLst>
              <a:gd name="adj1" fmla="val -80689"/>
              <a:gd name="adj2" fmla="val -1413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网络分类与构成</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网络边缘</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网络核心</a:t>
            </a:r>
            <a:endParaRPr kumimoji="1"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网络分类（按地域规模）</a:t>
            </a:r>
            <a:endParaRPr kumimoji="1" lang="zh-CN" altLang="en-US" dirty="0"/>
          </a:p>
        </p:txBody>
      </p:sp>
      <p:sp>
        <p:nvSpPr>
          <p:cNvPr id="486" name="内容占位符 485"/>
          <p:cNvSpPr>
            <a:spLocks noGrp="1"/>
          </p:cNvSpPr>
          <p:nvPr>
            <p:ph idx="1"/>
          </p:nvPr>
        </p:nvSpPr>
        <p:spPr>
          <a:xfrm>
            <a:off x="795655" y="1418590"/>
            <a:ext cx="6813550" cy="5302885"/>
          </a:xfrm>
        </p:spPr>
        <p:txBody>
          <a:bodyPr anchor="t" anchorCtr="0">
            <a:normAutofit lnSpcReduction="10000"/>
          </a:bodyPr>
          <a:lstStyle/>
          <a:p>
            <a:r>
              <a:rPr lang="zh-CN" altLang="en-US" sz="2400" dirty="0">
                <a:solidFill>
                  <a:srgbClr val="C00000"/>
                </a:solidFill>
              </a:rPr>
              <a:t>个域网</a:t>
            </a:r>
            <a:r>
              <a:rPr lang="en-US" altLang="zh-CN" sz="2400" dirty="0">
                <a:solidFill>
                  <a:srgbClr val="C00000"/>
                </a:solidFill>
              </a:rPr>
              <a:t>PAN</a:t>
            </a:r>
            <a:r>
              <a:rPr lang="zh-CN" altLang="en-US" sz="2400" dirty="0"/>
              <a:t>（</a:t>
            </a:r>
            <a:r>
              <a:rPr lang="en-US" altLang="zh-CN" sz="2400" dirty="0"/>
              <a:t> Personal</a:t>
            </a:r>
            <a:r>
              <a:rPr lang="zh-CN" altLang="en-US" sz="2400" dirty="0"/>
              <a:t> </a:t>
            </a:r>
            <a:r>
              <a:rPr lang="en-US" altLang="zh-CN" sz="2400" dirty="0"/>
              <a:t>Area</a:t>
            </a:r>
            <a:r>
              <a:rPr lang="zh-CN" altLang="en-US" sz="2400" dirty="0"/>
              <a:t> </a:t>
            </a:r>
            <a:r>
              <a:rPr lang="en-US" altLang="zh-CN" sz="2400" dirty="0"/>
              <a:t>Network </a:t>
            </a:r>
            <a:r>
              <a:rPr lang="zh-CN" altLang="en-US" sz="2400" dirty="0"/>
              <a:t>）</a:t>
            </a:r>
            <a:endParaRPr lang="en-US" altLang="zh-CN" sz="2400" dirty="0"/>
          </a:p>
          <a:p>
            <a:pPr lvl="1"/>
            <a:r>
              <a:rPr lang="zh-CN" altLang="en-US" sz="2000" dirty="0"/>
              <a:t>能在便携式消费电器与通信设备之间进行短距离通信的网络</a:t>
            </a:r>
            <a:endParaRPr lang="en-US" altLang="zh-CN" sz="2000" dirty="0"/>
          </a:p>
          <a:p>
            <a:pPr lvl="1"/>
            <a:r>
              <a:rPr lang="zh-CN" altLang="en-US" sz="2000" dirty="0"/>
              <a:t>覆盖范围一般在</a:t>
            </a:r>
            <a:r>
              <a:rPr lang="en-US" altLang="zh-CN" sz="2000" dirty="0"/>
              <a:t>10</a:t>
            </a:r>
            <a:r>
              <a:rPr lang="zh-CN" altLang="en-US" sz="2000" dirty="0"/>
              <a:t>米半径以内，如蓝牙耳机等</a:t>
            </a:r>
            <a:endParaRPr lang="en-US" altLang="zh-CN" sz="2000" dirty="0"/>
          </a:p>
          <a:p>
            <a:r>
              <a:rPr lang="zh-CN" altLang="en-US" sz="2400" dirty="0">
                <a:solidFill>
                  <a:srgbClr val="C00000"/>
                </a:solidFill>
              </a:rPr>
              <a:t>局域网</a:t>
            </a:r>
            <a:r>
              <a:rPr lang="en-US" altLang="zh-CN" sz="2400" dirty="0">
                <a:solidFill>
                  <a:srgbClr val="C00000"/>
                </a:solidFill>
              </a:rPr>
              <a:t>LAN</a:t>
            </a:r>
            <a:r>
              <a:rPr lang="zh-CN" altLang="en-US" sz="2400" dirty="0"/>
              <a:t>（</a:t>
            </a:r>
            <a:r>
              <a:rPr lang="en-US" altLang="zh-CN" sz="2400" dirty="0"/>
              <a:t>Local</a:t>
            </a:r>
            <a:r>
              <a:rPr lang="zh-CN" altLang="en-US" sz="2400" dirty="0"/>
              <a:t> </a:t>
            </a:r>
            <a:r>
              <a:rPr lang="en-US" altLang="zh-CN" sz="2400" dirty="0"/>
              <a:t>Area</a:t>
            </a:r>
            <a:r>
              <a:rPr lang="zh-CN" altLang="en-US" sz="2400" dirty="0"/>
              <a:t> </a:t>
            </a:r>
            <a:r>
              <a:rPr lang="en-US" altLang="zh-CN" sz="2400" dirty="0"/>
              <a:t>Network</a:t>
            </a:r>
            <a:r>
              <a:rPr lang="zh-CN" altLang="en-US" sz="2400" dirty="0"/>
              <a:t>）</a:t>
            </a:r>
            <a:endParaRPr lang="en-US" altLang="zh-CN" sz="2400" dirty="0"/>
          </a:p>
          <a:p>
            <a:pPr lvl="1"/>
            <a:r>
              <a:rPr lang="zh-CN" altLang="en-US" sz="2000" dirty="0"/>
              <a:t>局部地区形成的区域网络，如企业网络</a:t>
            </a:r>
            <a:endParaRPr lang="en-US" altLang="zh-CN" sz="2000" dirty="0"/>
          </a:p>
          <a:p>
            <a:pPr lvl="1"/>
            <a:r>
              <a:rPr lang="zh-CN" altLang="en-US" sz="2000" dirty="0"/>
              <a:t>分布地区范围有限，可大可小，大到一栋建筑、小到办公室内的组网</a:t>
            </a:r>
            <a:endParaRPr lang="en-US" altLang="zh-CN" sz="2000" dirty="0"/>
          </a:p>
          <a:p>
            <a:pPr lvl="1"/>
            <a:r>
              <a:rPr lang="zh-CN" altLang="en-US" sz="2000" dirty="0"/>
              <a:t>电脑</a:t>
            </a:r>
            <a:r>
              <a:rPr lang="en-US" altLang="zh-CN" sz="2000" dirty="0"/>
              <a:t>WLAN</a:t>
            </a:r>
            <a:r>
              <a:rPr lang="zh-CN" altLang="en-US" sz="2000" dirty="0"/>
              <a:t>接入，打印机共享等等</a:t>
            </a:r>
            <a:endParaRPr lang="en-US" altLang="zh-CN" sz="2000" dirty="0"/>
          </a:p>
          <a:p>
            <a:r>
              <a:rPr lang="zh-CN" altLang="en-US" sz="2400" dirty="0">
                <a:solidFill>
                  <a:srgbClr val="C00000"/>
                </a:solidFill>
              </a:rPr>
              <a:t>城域网</a:t>
            </a:r>
            <a:r>
              <a:rPr lang="en-US" altLang="zh-CN" sz="2400" dirty="0">
                <a:solidFill>
                  <a:srgbClr val="C00000"/>
                </a:solidFill>
              </a:rPr>
              <a:t>MAN</a:t>
            </a:r>
            <a:r>
              <a:rPr lang="zh-CN" altLang="en-US" sz="2400" dirty="0"/>
              <a:t>（</a:t>
            </a:r>
            <a:r>
              <a:rPr lang="en-US" altLang="zh-CN" sz="2400" dirty="0"/>
              <a:t>Metropolitan Area Network</a:t>
            </a:r>
            <a:r>
              <a:rPr lang="en-US" altLang="zh-CN" sz="2000" dirty="0"/>
              <a:t> </a:t>
            </a:r>
            <a:r>
              <a:rPr lang="zh-CN" altLang="en-US" sz="2400" dirty="0"/>
              <a:t>）</a:t>
            </a:r>
            <a:endParaRPr lang="en-US" altLang="zh-CN" sz="2400" dirty="0"/>
          </a:p>
          <a:p>
            <a:pPr lvl="1"/>
            <a:r>
              <a:rPr lang="zh-CN" altLang="en-US" sz="2000" dirty="0"/>
              <a:t>范围覆盖一个城市的网络</a:t>
            </a:r>
            <a:endParaRPr lang="en-US" altLang="zh-CN" sz="2000" dirty="0"/>
          </a:p>
          <a:p>
            <a:r>
              <a:rPr lang="zh-CN" altLang="en-US" sz="2400" dirty="0">
                <a:solidFill>
                  <a:srgbClr val="C00000"/>
                </a:solidFill>
              </a:rPr>
              <a:t>广域网</a:t>
            </a:r>
            <a:r>
              <a:rPr lang="en-US" altLang="zh-CN" sz="2400" dirty="0">
                <a:solidFill>
                  <a:srgbClr val="C00000"/>
                </a:solidFill>
              </a:rPr>
              <a:t>WAN</a:t>
            </a:r>
            <a:r>
              <a:rPr lang="zh-CN" altLang="en-US" sz="2400" dirty="0"/>
              <a:t>（</a:t>
            </a:r>
            <a:r>
              <a:rPr lang="en-US" altLang="zh-CN" sz="2400" dirty="0"/>
              <a:t>Wide</a:t>
            </a:r>
            <a:r>
              <a:rPr lang="zh-CN" altLang="en-US" sz="2400" dirty="0"/>
              <a:t> </a:t>
            </a:r>
            <a:r>
              <a:rPr lang="en-US" altLang="zh-CN" sz="2400" dirty="0"/>
              <a:t>Area</a:t>
            </a:r>
            <a:r>
              <a:rPr lang="zh-CN" altLang="en-US" sz="2400" dirty="0"/>
              <a:t> </a:t>
            </a:r>
            <a:r>
              <a:rPr lang="en-US" altLang="zh-CN" sz="2400" dirty="0"/>
              <a:t>Network</a:t>
            </a:r>
            <a:r>
              <a:rPr lang="zh-CN" altLang="en-US" sz="2400" dirty="0"/>
              <a:t>）</a:t>
            </a:r>
            <a:endParaRPr lang="zh-CN" altLang="en-US" sz="2400" dirty="0"/>
          </a:p>
          <a:p>
            <a:pPr lvl="1"/>
            <a:r>
              <a:rPr lang="zh-CN" altLang="en-US" sz="2000" dirty="0"/>
              <a:t>覆盖很大地理区域，乃至覆盖地区和国家</a:t>
            </a:r>
            <a:endParaRPr lang="en-US" altLang="zh-CN" sz="2000"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458" name="文本框 457"/>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9218" name="Picture 2"/>
          <p:cNvPicPr>
            <a:picLocks noChangeAspect="1" noChangeArrowheads="1"/>
          </p:cNvPicPr>
          <p:nvPr/>
        </p:nvPicPr>
        <p:blipFill rotWithShape="1">
          <a:blip r:embed="rId1" cstate="print"/>
          <a:srcRect/>
          <a:stretch>
            <a:fillRect/>
          </a:stretch>
        </p:blipFill>
        <p:spPr bwMode="auto">
          <a:xfrm>
            <a:off x="8119072" y="1922451"/>
            <a:ext cx="2477984" cy="124570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8368050" y="3200235"/>
            <a:ext cx="1980029" cy="707886"/>
          </a:xfrm>
          <a:prstGeom prst="rect">
            <a:avLst/>
          </a:prstGeom>
        </p:spPr>
        <p:txBody>
          <a:bodyPr wrap="none">
            <a:spAutoFit/>
          </a:bodyPr>
          <a:lstStyle/>
          <a:p>
            <a:pPr algn="ctr"/>
            <a:r>
              <a:rPr lang="zh-CN" altLang="en-US" sz="2000" dirty="0">
                <a:solidFill>
                  <a:prstClr val="black"/>
                </a:solidFill>
                <a:latin typeface="微软雅黑" panose="020B0503020204020204" pitchFamily="34" charset="-122"/>
                <a:ea typeface="微软雅黑" panose="020B0503020204020204" pitchFamily="34" charset="-122"/>
              </a:rPr>
              <a:t>典型个域网设备</a:t>
            </a:r>
            <a:endParaRPr lang="en-US" altLang="zh-CN" sz="2000" dirty="0">
              <a:solidFill>
                <a:prstClr val="black"/>
              </a:solidFill>
              <a:latin typeface="微软雅黑" panose="020B0503020204020204" pitchFamily="34" charset="-122"/>
              <a:ea typeface="微软雅黑" panose="020B0503020204020204" pitchFamily="34" charset="-122"/>
            </a:endParaRPr>
          </a:p>
          <a:p>
            <a:pPr algn="ctr"/>
            <a:r>
              <a:rPr lang="zh-CN" altLang="en-US" sz="2000" dirty="0">
                <a:solidFill>
                  <a:prstClr val="black"/>
                </a:solidFill>
                <a:latin typeface="微软雅黑" panose="020B0503020204020204" pitchFamily="34" charset="-122"/>
                <a:ea typeface="微软雅黑" panose="020B0503020204020204" pitchFamily="34" charset="-122"/>
              </a:rPr>
              <a:t>蓝牙耳机</a:t>
            </a:r>
            <a:endParaRPr lang="zh-CN" altLang="en-US" dirty="0"/>
          </a:p>
        </p:txBody>
      </p:sp>
      <p:pic>
        <p:nvPicPr>
          <p:cNvPr id="9220" name="Picture 4"/>
          <p:cNvPicPr>
            <a:picLocks noChangeAspect="1" noChangeArrowheads="1"/>
          </p:cNvPicPr>
          <p:nvPr/>
        </p:nvPicPr>
        <p:blipFill>
          <a:blip r:embed="rId2" cstate="print"/>
          <a:srcRect/>
          <a:stretch>
            <a:fillRect/>
          </a:stretch>
        </p:blipFill>
        <p:spPr bwMode="auto">
          <a:xfrm>
            <a:off x="8439799" y="3991962"/>
            <a:ext cx="1836530" cy="1836530"/>
          </a:xfrm>
          <a:prstGeom prst="rect">
            <a:avLst/>
          </a:prstGeom>
          <a:noFill/>
          <a:extLst>
            <a:ext uri="{909E8E84-426E-40DD-AFC4-6F175D3DCCD1}">
              <a14:hiddenFill xmlns:a14="http://schemas.microsoft.com/office/drawing/2010/main">
                <a:solidFill>
                  <a:srgbClr val="FFFFFF"/>
                </a:solidFill>
              </a14:hiddenFill>
            </a:ext>
          </a:extLst>
        </p:spPr>
      </p:pic>
      <p:sp>
        <p:nvSpPr>
          <p:cNvPr id="455" name="矩形 454"/>
          <p:cNvSpPr/>
          <p:nvPr/>
        </p:nvSpPr>
        <p:spPr>
          <a:xfrm>
            <a:off x="8368050" y="5648464"/>
            <a:ext cx="1980029" cy="707886"/>
          </a:xfrm>
          <a:prstGeom prst="rect">
            <a:avLst/>
          </a:prstGeom>
        </p:spPr>
        <p:txBody>
          <a:bodyPr wrap="none">
            <a:spAutoFit/>
          </a:bodyPr>
          <a:lstStyle/>
          <a:p>
            <a:pPr algn="ctr"/>
            <a:r>
              <a:rPr lang="zh-CN" altLang="en-US" sz="2000" dirty="0">
                <a:solidFill>
                  <a:prstClr val="black"/>
                </a:solidFill>
                <a:latin typeface="微软雅黑" panose="020B0503020204020204" pitchFamily="34" charset="-122"/>
                <a:ea typeface="微软雅黑" panose="020B0503020204020204" pitchFamily="34" charset="-122"/>
              </a:rPr>
              <a:t>典型局域网设备</a:t>
            </a:r>
            <a:endParaRPr lang="en-US" altLang="zh-CN" sz="2000" dirty="0">
              <a:solidFill>
                <a:prstClr val="black"/>
              </a:solidFill>
              <a:latin typeface="微软雅黑" panose="020B0503020204020204" pitchFamily="34" charset="-122"/>
              <a:ea typeface="微软雅黑" panose="020B0503020204020204" pitchFamily="34" charset="-122"/>
            </a:endParaRPr>
          </a:p>
          <a:p>
            <a:pPr algn="ctr"/>
            <a:r>
              <a:rPr lang="zh-CN" altLang="en-US" sz="2000" dirty="0">
                <a:solidFill>
                  <a:prstClr val="black"/>
                </a:solidFill>
                <a:latin typeface="微软雅黑" panose="020B0503020204020204" pitchFamily="34" charset="-122"/>
                <a:ea typeface="微软雅黑" panose="020B0503020204020204" pitchFamily="34" charset="-122"/>
              </a:rPr>
              <a:t>无线路由器</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网络的网络</a:t>
            </a:r>
            <a:endParaRPr lang="zh-CN" altLang="en-US" dirty="0"/>
          </a:p>
        </p:txBody>
      </p:sp>
      <p:sp>
        <p:nvSpPr>
          <p:cNvPr id="3" name="文本框 2"/>
          <p:cNvSpPr txBox="1"/>
          <p:nvPr/>
        </p:nvSpPr>
        <p:spPr>
          <a:xfrm>
            <a:off x="3968432" y="1440654"/>
            <a:ext cx="4255135" cy="521970"/>
          </a:xfrm>
          <a:prstGeom prst="rect">
            <a:avLst/>
          </a:prstGeom>
          <a:noFill/>
        </p:spPr>
        <p:txBody>
          <a:bodyPr wrap="square" rtlCol="0" anchor="t">
            <a:spAutoFit/>
          </a:bodyPr>
          <a:lstStyle/>
          <a:p>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Internet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 与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internet</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2" name="表格 11"/>
          <p:cNvGraphicFramePr>
            <a:graphicFrameLocks noGrp="1"/>
          </p:cNvGraphicFramePr>
          <p:nvPr/>
        </p:nvGraphicFramePr>
        <p:xfrm>
          <a:off x="1202498" y="2159066"/>
          <a:ext cx="9787001" cy="4062997"/>
        </p:xfrm>
        <a:graphic>
          <a:graphicData uri="http://schemas.openxmlformats.org/drawingml/2006/table">
            <a:tbl>
              <a:tblPr/>
              <a:tblGrid>
                <a:gridCol w="4908935"/>
                <a:gridCol w="4878066"/>
              </a:tblGrid>
              <a:tr h="741677">
                <a:tc>
                  <a:txBody>
                    <a:bodyPr/>
                    <a:lstStyle/>
                    <a:p>
                      <a:pPr algn="ctr" fontAlgn="t"/>
                      <a:r>
                        <a:rPr lang="zh-CN" altLang="en-US" sz="2000" b="0" i="0" u="none" strike="noStrike" dirty="0">
                          <a:solidFill>
                            <a:schemeClr val="tx1"/>
                          </a:solidFill>
                          <a:effectLst/>
                          <a:latin typeface="微软雅黑" panose="020B0503020204020204" pitchFamily="34" charset="-122"/>
                          <a:ea typeface="微软雅黑" panose="020B0503020204020204" pitchFamily="34" charset="-122"/>
                        </a:rPr>
                        <a:t>互联网（</a:t>
                      </a:r>
                      <a:r>
                        <a:rPr lang="en-GB" sz="2000" b="0" i="0" u="none" strike="noStrike" dirty="0">
                          <a:solidFill>
                            <a:srgbClr val="C00000"/>
                          </a:solidFill>
                          <a:effectLst/>
                          <a:latin typeface="微软雅黑" panose="020B0503020204020204" pitchFamily="34" charset="-122"/>
                          <a:ea typeface="微软雅黑" panose="020B0503020204020204" pitchFamily="34" charset="-122"/>
                        </a:rPr>
                        <a:t>I</a:t>
                      </a:r>
                      <a:r>
                        <a:rPr lang="en-GB" sz="2000" b="0" i="0" u="none" strike="noStrike" dirty="0">
                          <a:solidFill>
                            <a:schemeClr val="tx1"/>
                          </a:solidFill>
                          <a:effectLst/>
                          <a:latin typeface="微软雅黑" panose="020B0503020204020204" pitchFamily="34" charset="-122"/>
                          <a:ea typeface="微软雅黑" panose="020B0503020204020204" pitchFamily="34" charset="-122"/>
                        </a:rPr>
                        <a:t>nternet）</a:t>
                      </a:r>
                      <a:endParaRPr lang="en-GB" sz="2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3E3FA"/>
                    </a:solidFill>
                  </a:tcPr>
                </a:tc>
                <a:tc>
                  <a:txBody>
                    <a:bodyPr/>
                    <a:lstStyle/>
                    <a:p>
                      <a:pPr algn="ctr" fontAlgn="t"/>
                      <a:r>
                        <a:rPr lang="zh-CN" altLang="en-US" sz="2000" b="0" i="0" u="none" strike="noStrike" dirty="0">
                          <a:solidFill>
                            <a:schemeClr val="tx1"/>
                          </a:solidFill>
                          <a:effectLst/>
                          <a:latin typeface="微软雅黑" panose="020B0503020204020204" pitchFamily="34" charset="-122"/>
                          <a:ea typeface="微软雅黑" panose="020B0503020204020204" pitchFamily="34" charset="-122"/>
                        </a:rPr>
                        <a:t>互连网（</a:t>
                      </a:r>
                      <a:r>
                        <a:rPr lang="en-GB" sz="2000" b="0" i="0" u="none" strike="noStrike" dirty="0">
                          <a:solidFill>
                            <a:srgbClr val="C00000"/>
                          </a:solidFill>
                          <a:effectLst/>
                          <a:latin typeface="微软雅黑" panose="020B0503020204020204" pitchFamily="34" charset="-122"/>
                          <a:ea typeface="微软雅黑" panose="020B0503020204020204" pitchFamily="34" charset="-122"/>
                        </a:rPr>
                        <a:t>i</a:t>
                      </a:r>
                      <a:r>
                        <a:rPr lang="en-GB" sz="2000" b="0" i="0" u="none" strike="noStrike" dirty="0">
                          <a:solidFill>
                            <a:schemeClr val="tx1"/>
                          </a:solidFill>
                          <a:effectLst/>
                          <a:latin typeface="微软雅黑" panose="020B0503020204020204" pitchFamily="34" charset="-122"/>
                          <a:ea typeface="微软雅黑" panose="020B0503020204020204" pitchFamily="34" charset="-122"/>
                        </a:rPr>
                        <a:t>nternet）</a:t>
                      </a:r>
                      <a:endParaRPr lang="en-GB" sz="2000" b="0" i="0" u="none" strike="noStrike" dirty="0">
                        <a:solidFill>
                          <a:schemeClr val="tx1"/>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3E3FA"/>
                    </a:solidFill>
                  </a:tcPr>
                </a:tc>
              </a:tr>
              <a:tr h="381599">
                <a:tc gridSpan="2">
                  <a:txBody>
                    <a:bodyPr/>
                    <a:lstStyle/>
                    <a:p>
                      <a:pPr algn="ctr" rtl="0" fontAlgn="ctr"/>
                      <a:r>
                        <a:rPr lang="zh-CN" altLang="en-US" sz="2000" b="0" i="0" u="none" strike="noStrike" dirty="0">
                          <a:solidFill>
                            <a:srgbClr val="C00000"/>
                          </a:solidFill>
                          <a:effectLst/>
                          <a:latin typeface="微软雅黑" panose="020B0503020204020204" pitchFamily="34" charset="-122"/>
                          <a:ea typeface="微软雅黑" panose="020B0503020204020204" pitchFamily="34" charset="-122"/>
                        </a:rPr>
                        <a:t>相似之处</a:t>
                      </a:r>
                      <a:endParaRPr lang="zh-CN" altLang="en-US" sz="2000" b="0" i="0" u="none" strike="noStrike" dirty="0">
                        <a:solidFill>
                          <a:srgbClr val="C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692529">
                <a:tc>
                  <a:txBody>
                    <a:bodyPr/>
                    <a:lstStyle/>
                    <a:p>
                      <a:pPr algn="ctr" rtl="0"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网络的网络</a:t>
                      </a:r>
                      <a:br>
                        <a:rPr lang="en-US" altLang="zh-CN" sz="18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（这种类型的一个具体实例）</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网络的网络</a:t>
                      </a:r>
                      <a:b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（泛指这种类型）</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r h="381599">
                <a:tc gridSpan="2">
                  <a:txBody>
                    <a:bodyPr/>
                    <a:lstStyle/>
                    <a:p>
                      <a:pPr algn="ctr" rtl="0" fontAlgn="ctr"/>
                      <a:r>
                        <a:rPr lang="zh-CN" altLang="en-US" sz="2000" b="0" i="0" u="none" strike="noStrike" dirty="0">
                          <a:solidFill>
                            <a:srgbClr val="C00000"/>
                          </a:solidFill>
                          <a:effectLst/>
                          <a:latin typeface="微软雅黑" panose="020B0503020204020204" pitchFamily="34" charset="-122"/>
                          <a:ea typeface="微软雅黑" panose="020B0503020204020204" pitchFamily="34" charset="-122"/>
                        </a:rPr>
                        <a:t>不同之处</a:t>
                      </a:r>
                      <a:endParaRPr lang="zh-CN" altLang="en-US" sz="2000" b="0" i="0" u="none" strike="noStrike" dirty="0">
                        <a:solidFill>
                          <a:srgbClr val="C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158929">
                <a:tc>
                  <a:txBody>
                    <a:bodyPr/>
                    <a:lstStyle/>
                    <a:p>
                      <a:pPr marL="92075" indent="0" algn="ctr" rtl="0" fontAlgn="ctr"/>
                      <a:r>
                        <a:rPr lang="zh-CN" altLang="en-US" sz="2000" b="0" i="0" u="none" strike="noStrike" dirty="0">
                          <a:solidFill>
                            <a:srgbClr val="000000"/>
                          </a:solidFill>
                          <a:effectLst/>
                          <a:latin typeface="微软雅黑" panose="020B0503020204020204" pitchFamily="34" charset="-122"/>
                          <a:ea typeface="微软雅黑" panose="020B0503020204020204" pitchFamily="34" charset="-122"/>
                        </a:rPr>
                        <a:t>特指遵循 </a:t>
                      </a:r>
                      <a:r>
                        <a:rPr lang="en-GB" sz="2000" b="0" i="0" u="none" strike="noStrike" dirty="0">
                          <a:solidFill>
                            <a:srgbClr val="000000"/>
                          </a:solidFill>
                          <a:effectLst/>
                          <a:latin typeface="微软雅黑" panose="020B0503020204020204" pitchFamily="34" charset="-122"/>
                          <a:ea typeface="微软雅黑" panose="020B0503020204020204" pitchFamily="34" charset="-122"/>
                        </a:rPr>
                        <a:t>TCP/IP </a:t>
                      </a:r>
                      <a:r>
                        <a:rPr lang="zh-CN" altLang="en-US" sz="2000" b="0" i="0" u="none" strike="noStrike" dirty="0">
                          <a:solidFill>
                            <a:srgbClr val="000000"/>
                          </a:solidFill>
                          <a:effectLst/>
                          <a:latin typeface="微软雅黑" panose="020B0503020204020204" pitchFamily="34" charset="-122"/>
                          <a:ea typeface="微软雅黑" panose="020B0503020204020204" pitchFamily="34" charset="-122"/>
                        </a:rPr>
                        <a:t>标准、利用路由器将各种计算机网络互连起来而形成的、覆盖全球的、特定的互连网</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92075" indent="0" algn="ctr" rtl="0" fontAlgn="ctr"/>
                      <a:r>
                        <a:rPr lang="zh-CN" altLang="en-US" sz="2000" b="0" i="0" u="none" strike="noStrike" dirty="0">
                          <a:solidFill>
                            <a:srgbClr val="000000"/>
                          </a:solidFill>
                          <a:effectLst/>
                          <a:latin typeface="微软雅黑" panose="020B0503020204020204" pitchFamily="34" charset="-122"/>
                          <a:ea typeface="微软雅黑" panose="020B0503020204020204" pitchFamily="34" charset="-122"/>
                        </a:rPr>
                        <a:t>泛指由多个不同类型计算机网络互连而成的网络</a:t>
                      </a:r>
                      <a:endParaRPr lang="zh-CN" altLang="en-US"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53332">
                <a:tc>
                  <a:txBody>
                    <a:bodyPr/>
                    <a:lstStyle/>
                    <a:p>
                      <a:pPr algn="ct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使用 </a:t>
                      </a:r>
                      <a:r>
                        <a:rPr lang="en-GB" sz="1800" b="0" i="0" u="none" strike="noStrike">
                          <a:solidFill>
                            <a:srgbClr val="000000"/>
                          </a:solidFill>
                          <a:effectLst/>
                          <a:latin typeface="微软雅黑" panose="020B0503020204020204" pitchFamily="34" charset="-122"/>
                          <a:ea typeface="微软雅黑" panose="020B0503020204020204" pitchFamily="34" charset="-122"/>
                        </a:rPr>
                        <a:t>TCP/IP</a:t>
                      </a:r>
                      <a:endParaRPr lang="en-GB" sz="1800" b="0" i="0" u="none" strike="noStrike">
                        <a:solidFill>
                          <a:srgbClr val="0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除 </a:t>
                      </a:r>
                      <a:r>
                        <a:rPr lang="en-GB" sz="1800" b="0" i="0" u="none" strike="noStrike">
                          <a:solidFill>
                            <a:srgbClr val="000000"/>
                          </a:solidFill>
                          <a:effectLst/>
                          <a:latin typeface="微软雅黑" panose="020B0503020204020204" pitchFamily="34" charset="-122"/>
                          <a:ea typeface="微软雅黑" panose="020B0503020204020204" pitchFamily="34" charset="-122"/>
                        </a:rPr>
                        <a:t>TCP/IP </a:t>
                      </a: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外，还可以使用其他协议</a:t>
                      </a:r>
                      <a:endParaRPr lang="zh-CN" altLang="en-US" sz="1800" b="0" i="0" u="none" strike="noStrike">
                        <a:solidFill>
                          <a:srgbClr val="0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53332">
                <a:tc>
                  <a:txBody>
                    <a:bodyPr/>
                    <a:lstStyle/>
                    <a:p>
                      <a:pPr algn="ct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是一个专用名词</a:t>
                      </a:r>
                      <a:endParaRPr lang="zh-CN" altLang="en-US" sz="1800" b="0" i="0" u="none" strike="noStrike">
                        <a:solidFill>
                          <a:srgbClr val="0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是一个通用名词</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bl>
          </a:graphicData>
        </a:graphic>
      </p:graphicFrame>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Oval 242"/>
          <p:cNvSpPr>
            <a:spLocks noChangeArrowheads="1"/>
          </p:cNvSpPr>
          <p:nvPr/>
        </p:nvSpPr>
        <p:spPr bwMode="auto">
          <a:xfrm>
            <a:off x="8482694" y="5115397"/>
            <a:ext cx="760772" cy="539790"/>
          </a:xfrm>
          <a:prstGeom prst="ellipse">
            <a:avLst/>
          </a:prstGeom>
          <a:solidFill>
            <a:srgbClr val="0089FA"/>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nvGrpSpPr>
          <p:cNvPr id="4" name="组合 3"/>
          <p:cNvGrpSpPr/>
          <p:nvPr/>
        </p:nvGrpSpPr>
        <p:grpSpPr>
          <a:xfrm>
            <a:off x="3306152" y="1336872"/>
            <a:ext cx="8757149" cy="4401359"/>
            <a:chOff x="1207518" y="1920367"/>
            <a:chExt cx="6596729" cy="2860675"/>
          </a:xfrm>
        </p:grpSpPr>
        <p:cxnSp>
          <p:nvCxnSpPr>
            <p:cNvPr id="5" name="AutoShape 252"/>
            <p:cNvCxnSpPr>
              <a:cxnSpLocks noChangeShapeType="1"/>
              <a:stCxn id="76" idx="7"/>
              <a:endCxn id="74" idx="2"/>
            </p:cNvCxnSpPr>
            <p:nvPr/>
          </p:nvCxnSpPr>
          <p:spPr bwMode="auto">
            <a:xfrm flipV="1">
              <a:off x="3061701" y="2095786"/>
              <a:ext cx="1011505" cy="214099"/>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AutoShape 253"/>
            <p:cNvCxnSpPr>
              <a:cxnSpLocks noChangeShapeType="1"/>
              <a:endCxn id="78" idx="1"/>
            </p:cNvCxnSpPr>
            <p:nvPr/>
          </p:nvCxnSpPr>
          <p:spPr bwMode="auto">
            <a:xfrm>
              <a:off x="5030788" y="2096581"/>
              <a:ext cx="844550" cy="21272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AutoShape 254"/>
            <p:cNvCxnSpPr>
              <a:cxnSpLocks noChangeShapeType="1"/>
              <a:stCxn id="76" idx="6"/>
            </p:cNvCxnSpPr>
            <p:nvPr/>
          </p:nvCxnSpPr>
          <p:spPr bwMode="auto">
            <a:xfrm>
              <a:off x="3178176" y="2434717"/>
              <a:ext cx="2593975" cy="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AutoShape 255"/>
            <p:cNvCxnSpPr>
              <a:cxnSpLocks noChangeShapeType="1"/>
              <a:endCxn id="65" idx="7"/>
            </p:cNvCxnSpPr>
            <p:nvPr/>
          </p:nvCxnSpPr>
          <p:spPr bwMode="auto">
            <a:xfrm flipH="1">
              <a:off x="2103438" y="2553781"/>
              <a:ext cx="685800" cy="331787"/>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256"/>
            <p:cNvCxnSpPr>
              <a:cxnSpLocks noChangeShapeType="1"/>
              <a:endCxn id="67" idx="1"/>
            </p:cNvCxnSpPr>
            <p:nvPr/>
          </p:nvCxnSpPr>
          <p:spPr bwMode="auto">
            <a:xfrm>
              <a:off x="2789238" y="2553781"/>
              <a:ext cx="544512" cy="331787"/>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257"/>
            <p:cNvCxnSpPr>
              <a:cxnSpLocks noChangeShapeType="1"/>
              <a:endCxn id="69" idx="7"/>
            </p:cNvCxnSpPr>
            <p:nvPr/>
          </p:nvCxnSpPr>
          <p:spPr bwMode="auto">
            <a:xfrm flipH="1">
              <a:off x="5656263" y="2553781"/>
              <a:ext cx="512762" cy="331787"/>
            </a:xfrm>
            <a:prstGeom prst="straightConnector1">
              <a:avLst/>
            </a:prstGeom>
            <a:noFill/>
            <a:ln w="19050">
              <a:solidFill>
                <a:srgbClr val="85D1F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258"/>
            <p:cNvCxnSpPr>
              <a:cxnSpLocks noChangeShapeType="1"/>
              <a:endCxn id="71" idx="1"/>
            </p:cNvCxnSpPr>
            <p:nvPr/>
          </p:nvCxnSpPr>
          <p:spPr bwMode="auto">
            <a:xfrm>
              <a:off x="6165851" y="2553781"/>
              <a:ext cx="492125" cy="331787"/>
            </a:xfrm>
            <a:prstGeom prst="straightConnector1">
              <a:avLst/>
            </a:prstGeom>
            <a:noFill/>
            <a:ln w="19050">
              <a:solidFill>
                <a:srgbClr val="85D1F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259"/>
            <p:cNvCxnSpPr>
              <a:cxnSpLocks noChangeShapeType="1"/>
            </p:cNvCxnSpPr>
            <p:nvPr/>
          </p:nvCxnSpPr>
          <p:spPr bwMode="auto">
            <a:xfrm flipH="1">
              <a:off x="1531938" y="3130043"/>
              <a:ext cx="298450" cy="51752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260"/>
            <p:cNvCxnSpPr>
              <a:cxnSpLocks noChangeShapeType="1"/>
              <a:endCxn id="33" idx="0"/>
            </p:cNvCxnSpPr>
            <p:nvPr/>
          </p:nvCxnSpPr>
          <p:spPr bwMode="auto">
            <a:xfrm>
              <a:off x="3174681" y="3960793"/>
              <a:ext cx="308767" cy="546102"/>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261"/>
            <p:cNvCxnSpPr>
              <a:cxnSpLocks noChangeShapeType="1"/>
            </p:cNvCxnSpPr>
            <p:nvPr/>
          </p:nvCxnSpPr>
          <p:spPr bwMode="auto">
            <a:xfrm flipH="1">
              <a:off x="3182938" y="3130043"/>
              <a:ext cx="438150" cy="500063"/>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262"/>
            <p:cNvCxnSpPr>
              <a:cxnSpLocks noChangeShapeType="1"/>
              <a:endCxn id="55" idx="0"/>
            </p:cNvCxnSpPr>
            <p:nvPr/>
          </p:nvCxnSpPr>
          <p:spPr bwMode="auto">
            <a:xfrm flipH="1">
              <a:off x="4932364" y="3130043"/>
              <a:ext cx="377825" cy="500063"/>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263"/>
            <p:cNvCxnSpPr>
              <a:cxnSpLocks noChangeShapeType="1"/>
            </p:cNvCxnSpPr>
            <p:nvPr/>
          </p:nvCxnSpPr>
          <p:spPr bwMode="auto">
            <a:xfrm flipH="1">
              <a:off x="6554788" y="3130043"/>
              <a:ext cx="366712" cy="500063"/>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264"/>
            <p:cNvCxnSpPr>
              <a:cxnSpLocks noChangeShapeType="1"/>
              <a:endCxn id="57" idx="0"/>
            </p:cNvCxnSpPr>
            <p:nvPr/>
          </p:nvCxnSpPr>
          <p:spPr bwMode="auto">
            <a:xfrm>
              <a:off x="5310189" y="3130043"/>
              <a:ext cx="465137" cy="500063"/>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65"/>
            <p:cNvCxnSpPr>
              <a:cxnSpLocks noChangeShapeType="1"/>
            </p:cNvCxnSpPr>
            <p:nvPr/>
          </p:nvCxnSpPr>
          <p:spPr bwMode="auto">
            <a:xfrm>
              <a:off x="3638551" y="3130042"/>
              <a:ext cx="346075" cy="49530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266"/>
            <p:cNvCxnSpPr>
              <a:cxnSpLocks noChangeShapeType="1"/>
            </p:cNvCxnSpPr>
            <p:nvPr/>
          </p:nvCxnSpPr>
          <p:spPr bwMode="auto">
            <a:xfrm>
              <a:off x="6904039" y="3130042"/>
              <a:ext cx="433387" cy="49530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267"/>
            <p:cNvCxnSpPr>
              <a:cxnSpLocks noChangeShapeType="1"/>
              <a:endCxn id="35" idx="0"/>
            </p:cNvCxnSpPr>
            <p:nvPr/>
          </p:nvCxnSpPr>
          <p:spPr bwMode="auto">
            <a:xfrm flipH="1">
              <a:off x="2736994" y="3944155"/>
              <a:ext cx="423068" cy="56832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68"/>
            <p:cNvCxnSpPr>
              <a:cxnSpLocks noChangeShapeType="1"/>
            </p:cNvCxnSpPr>
            <p:nvPr/>
          </p:nvCxnSpPr>
          <p:spPr bwMode="auto">
            <a:xfrm flipH="1">
              <a:off x="5565776" y="3973006"/>
              <a:ext cx="119063"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269"/>
            <p:cNvCxnSpPr>
              <a:cxnSpLocks noChangeShapeType="1"/>
            </p:cNvCxnSpPr>
            <p:nvPr/>
          </p:nvCxnSpPr>
          <p:spPr bwMode="auto">
            <a:xfrm>
              <a:off x="4900614" y="3925381"/>
              <a:ext cx="9525" cy="363537"/>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270"/>
            <p:cNvCxnSpPr>
              <a:cxnSpLocks noChangeShapeType="1"/>
            </p:cNvCxnSpPr>
            <p:nvPr/>
          </p:nvCxnSpPr>
          <p:spPr bwMode="auto">
            <a:xfrm>
              <a:off x="4900614" y="3925380"/>
              <a:ext cx="547687" cy="45085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283"/>
            <p:cNvCxnSpPr>
              <a:cxnSpLocks noChangeShapeType="1"/>
            </p:cNvCxnSpPr>
            <p:nvPr/>
          </p:nvCxnSpPr>
          <p:spPr bwMode="auto">
            <a:xfrm>
              <a:off x="5915025" y="3947606"/>
              <a:ext cx="101600"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284"/>
            <p:cNvCxnSpPr>
              <a:cxnSpLocks noChangeShapeType="1"/>
            </p:cNvCxnSpPr>
            <p:nvPr/>
          </p:nvCxnSpPr>
          <p:spPr bwMode="auto">
            <a:xfrm flipH="1">
              <a:off x="6324601" y="3973006"/>
              <a:ext cx="119063"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85"/>
            <p:cNvCxnSpPr>
              <a:cxnSpLocks noChangeShapeType="1"/>
            </p:cNvCxnSpPr>
            <p:nvPr/>
          </p:nvCxnSpPr>
          <p:spPr bwMode="auto">
            <a:xfrm>
              <a:off x="6673850" y="3947606"/>
              <a:ext cx="101600"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287"/>
            <p:cNvCxnSpPr>
              <a:cxnSpLocks noChangeShapeType="1"/>
            </p:cNvCxnSpPr>
            <p:nvPr/>
          </p:nvCxnSpPr>
          <p:spPr bwMode="auto">
            <a:xfrm>
              <a:off x="1585404" y="3813439"/>
              <a:ext cx="545592" cy="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289"/>
            <p:cNvCxnSpPr>
              <a:cxnSpLocks noChangeShapeType="1"/>
            </p:cNvCxnSpPr>
            <p:nvPr/>
          </p:nvCxnSpPr>
          <p:spPr bwMode="auto">
            <a:xfrm>
              <a:off x="7378700" y="3947606"/>
              <a:ext cx="101600" cy="30797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Line 271"/>
            <p:cNvSpPr>
              <a:spLocks noChangeShapeType="1"/>
            </p:cNvSpPr>
            <p:nvPr/>
          </p:nvSpPr>
          <p:spPr bwMode="auto">
            <a:xfrm>
              <a:off x="5684839" y="3017330"/>
              <a:ext cx="973137"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nvGrpSpPr>
            <p:cNvPr id="32" name="Group 213"/>
            <p:cNvGrpSpPr/>
            <p:nvPr/>
          </p:nvGrpSpPr>
          <p:grpSpPr bwMode="auto">
            <a:xfrm>
              <a:off x="3160713" y="4431792"/>
              <a:ext cx="628650" cy="349250"/>
              <a:chOff x="2569" y="3268"/>
              <a:chExt cx="542" cy="300"/>
            </a:xfrm>
          </p:grpSpPr>
          <p:sp>
            <p:nvSpPr>
              <p:cNvPr id="92" name="Oval 1429"/>
              <p:cNvSpPr>
                <a:spLocks noChangeArrowheads="1"/>
              </p:cNvSpPr>
              <p:nvPr/>
            </p:nvSpPr>
            <p:spPr bwMode="auto">
              <a:xfrm>
                <a:off x="2695" y="3268"/>
                <a:ext cx="235" cy="81"/>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93" name="Oval 1430"/>
              <p:cNvSpPr>
                <a:spLocks noChangeArrowheads="1"/>
              </p:cNvSpPr>
              <p:nvPr/>
            </p:nvSpPr>
            <p:spPr bwMode="auto">
              <a:xfrm rot="900000">
                <a:off x="2893" y="3296"/>
                <a:ext cx="159" cy="66"/>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94" name="Oval 1431"/>
              <p:cNvSpPr>
                <a:spLocks noChangeArrowheads="1"/>
              </p:cNvSpPr>
              <p:nvPr/>
            </p:nvSpPr>
            <p:spPr bwMode="auto">
              <a:xfrm rot="1500000">
                <a:off x="2973" y="3363"/>
                <a:ext cx="138" cy="77"/>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95" name="Oval 1432"/>
              <p:cNvSpPr>
                <a:spLocks noChangeArrowheads="1"/>
              </p:cNvSpPr>
              <p:nvPr/>
            </p:nvSpPr>
            <p:spPr bwMode="auto">
              <a:xfrm rot="-1560000">
                <a:off x="2928" y="3439"/>
                <a:ext cx="168" cy="95"/>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96" name="Oval 1433"/>
              <p:cNvSpPr>
                <a:spLocks noChangeArrowheads="1"/>
              </p:cNvSpPr>
              <p:nvPr/>
            </p:nvSpPr>
            <p:spPr bwMode="auto">
              <a:xfrm>
                <a:off x="2723" y="3448"/>
                <a:ext cx="271" cy="120"/>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97" name="Oval 1434"/>
              <p:cNvSpPr>
                <a:spLocks noChangeArrowheads="1"/>
              </p:cNvSpPr>
              <p:nvPr/>
            </p:nvSpPr>
            <p:spPr bwMode="auto">
              <a:xfrm rot="1080000">
                <a:off x="2612" y="3448"/>
                <a:ext cx="152" cy="78"/>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98" name="Oval 1435"/>
              <p:cNvSpPr>
                <a:spLocks noChangeArrowheads="1"/>
              </p:cNvSpPr>
              <p:nvPr/>
            </p:nvSpPr>
            <p:spPr bwMode="auto">
              <a:xfrm>
                <a:off x="2569" y="3386"/>
                <a:ext cx="125" cy="79"/>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99" name="Oval 1436"/>
              <p:cNvSpPr>
                <a:spLocks noChangeArrowheads="1"/>
              </p:cNvSpPr>
              <p:nvPr/>
            </p:nvSpPr>
            <p:spPr bwMode="auto">
              <a:xfrm rot="-1860000">
                <a:off x="2589" y="3325"/>
                <a:ext cx="170" cy="78"/>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100" name="Freeform 1437"/>
              <p:cNvSpPr/>
              <p:nvPr/>
            </p:nvSpPr>
            <p:spPr bwMode="auto">
              <a:xfrm>
                <a:off x="2628" y="3320"/>
                <a:ext cx="425" cy="204"/>
              </a:xfrm>
              <a:custGeom>
                <a:avLst/>
                <a:gdLst>
                  <a:gd name="T0" fmla="*/ 62 w 738"/>
                  <a:gd name="T1" fmla="*/ 41 h 407"/>
                  <a:gd name="T2" fmla="*/ 84 w 738"/>
                  <a:gd name="T3" fmla="*/ 39 h 407"/>
                  <a:gd name="T4" fmla="*/ 105 w 738"/>
                  <a:gd name="T5" fmla="*/ 36 h 407"/>
                  <a:gd name="T6" fmla="*/ 124 w 738"/>
                  <a:gd name="T7" fmla="*/ 34 h 407"/>
                  <a:gd name="T8" fmla="*/ 136 w 738"/>
                  <a:gd name="T9" fmla="*/ 23 h 407"/>
                  <a:gd name="T10" fmla="*/ 117 w 738"/>
                  <a:gd name="T11" fmla="*/ 21 h 407"/>
                  <a:gd name="T12" fmla="*/ 99 w 738"/>
                  <a:gd name="T13" fmla="*/ 23 h 407"/>
                  <a:gd name="T14" fmla="*/ 90 w 738"/>
                  <a:gd name="T15" fmla="*/ 23 h 407"/>
                  <a:gd name="T16" fmla="*/ 108 w 738"/>
                  <a:gd name="T17" fmla="*/ 13 h 407"/>
                  <a:gd name="T18" fmla="*/ 130 w 738"/>
                  <a:gd name="T19" fmla="*/ 8 h 407"/>
                  <a:gd name="T20" fmla="*/ 149 w 738"/>
                  <a:gd name="T21" fmla="*/ 5 h 407"/>
                  <a:gd name="T22" fmla="*/ 167 w 738"/>
                  <a:gd name="T23" fmla="*/ 3 h 407"/>
                  <a:gd name="T24" fmla="*/ 186 w 738"/>
                  <a:gd name="T25" fmla="*/ 0 h 407"/>
                  <a:gd name="T26" fmla="*/ 204 w 738"/>
                  <a:gd name="T27" fmla="*/ 0 h 407"/>
                  <a:gd name="T28" fmla="*/ 223 w 738"/>
                  <a:gd name="T29" fmla="*/ 0 h 407"/>
                  <a:gd name="T30" fmla="*/ 267 w 738"/>
                  <a:gd name="T31" fmla="*/ 0 h 407"/>
                  <a:gd name="T32" fmla="*/ 291 w 738"/>
                  <a:gd name="T33" fmla="*/ 0 h 407"/>
                  <a:gd name="T34" fmla="*/ 313 w 738"/>
                  <a:gd name="T35" fmla="*/ 8 h 407"/>
                  <a:gd name="T36" fmla="*/ 328 w 738"/>
                  <a:gd name="T37" fmla="*/ 18 h 407"/>
                  <a:gd name="T38" fmla="*/ 347 w 738"/>
                  <a:gd name="T39" fmla="*/ 26 h 407"/>
                  <a:gd name="T40" fmla="*/ 366 w 738"/>
                  <a:gd name="T41" fmla="*/ 29 h 407"/>
                  <a:gd name="T42" fmla="*/ 384 w 738"/>
                  <a:gd name="T43" fmla="*/ 39 h 407"/>
                  <a:gd name="T44" fmla="*/ 400 w 738"/>
                  <a:gd name="T45" fmla="*/ 49 h 407"/>
                  <a:gd name="T46" fmla="*/ 412 w 738"/>
                  <a:gd name="T47" fmla="*/ 64 h 407"/>
                  <a:gd name="T48" fmla="*/ 415 w 738"/>
                  <a:gd name="T49" fmla="*/ 82 h 407"/>
                  <a:gd name="T50" fmla="*/ 418 w 738"/>
                  <a:gd name="T51" fmla="*/ 98 h 407"/>
                  <a:gd name="T52" fmla="*/ 418 w 738"/>
                  <a:gd name="T53" fmla="*/ 113 h 407"/>
                  <a:gd name="T54" fmla="*/ 418 w 738"/>
                  <a:gd name="T55" fmla="*/ 129 h 407"/>
                  <a:gd name="T56" fmla="*/ 424 w 738"/>
                  <a:gd name="T57" fmla="*/ 144 h 407"/>
                  <a:gd name="T58" fmla="*/ 424 w 738"/>
                  <a:gd name="T59" fmla="*/ 160 h 407"/>
                  <a:gd name="T60" fmla="*/ 412 w 738"/>
                  <a:gd name="T61" fmla="*/ 175 h 407"/>
                  <a:gd name="T62" fmla="*/ 390 w 738"/>
                  <a:gd name="T63" fmla="*/ 183 h 407"/>
                  <a:gd name="T64" fmla="*/ 372 w 738"/>
                  <a:gd name="T65" fmla="*/ 190 h 407"/>
                  <a:gd name="T66" fmla="*/ 353 w 738"/>
                  <a:gd name="T67" fmla="*/ 198 h 407"/>
                  <a:gd name="T68" fmla="*/ 335 w 738"/>
                  <a:gd name="T69" fmla="*/ 201 h 407"/>
                  <a:gd name="T70" fmla="*/ 310 w 738"/>
                  <a:gd name="T71" fmla="*/ 203 h 407"/>
                  <a:gd name="T72" fmla="*/ 288 w 738"/>
                  <a:gd name="T73" fmla="*/ 203 h 407"/>
                  <a:gd name="T74" fmla="*/ 270 w 738"/>
                  <a:gd name="T75" fmla="*/ 203 h 407"/>
                  <a:gd name="T76" fmla="*/ 251 w 738"/>
                  <a:gd name="T77" fmla="*/ 203 h 407"/>
                  <a:gd name="T78" fmla="*/ 232 w 738"/>
                  <a:gd name="T79" fmla="*/ 203 h 407"/>
                  <a:gd name="T80" fmla="*/ 214 w 738"/>
                  <a:gd name="T81" fmla="*/ 203 h 407"/>
                  <a:gd name="T82" fmla="*/ 195 w 738"/>
                  <a:gd name="T83" fmla="*/ 203 h 407"/>
                  <a:gd name="T84" fmla="*/ 177 w 738"/>
                  <a:gd name="T85" fmla="*/ 203 h 407"/>
                  <a:gd name="T86" fmla="*/ 155 w 738"/>
                  <a:gd name="T87" fmla="*/ 203 h 407"/>
                  <a:gd name="T88" fmla="*/ 136 w 738"/>
                  <a:gd name="T89" fmla="*/ 203 h 407"/>
                  <a:gd name="T90" fmla="*/ 117 w 738"/>
                  <a:gd name="T91" fmla="*/ 203 h 407"/>
                  <a:gd name="T92" fmla="*/ 99 w 738"/>
                  <a:gd name="T93" fmla="*/ 196 h 407"/>
                  <a:gd name="T94" fmla="*/ 81 w 738"/>
                  <a:gd name="T95" fmla="*/ 190 h 407"/>
                  <a:gd name="T96" fmla="*/ 62 w 738"/>
                  <a:gd name="T97" fmla="*/ 183 h 407"/>
                  <a:gd name="T98" fmla="*/ 47 w 738"/>
                  <a:gd name="T99" fmla="*/ 170 h 407"/>
                  <a:gd name="T100" fmla="*/ 34 w 738"/>
                  <a:gd name="T101" fmla="*/ 160 h 407"/>
                  <a:gd name="T102" fmla="*/ 22 w 738"/>
                  <a:gd name="T103" fmla="*/ 144 h 407"/>
                  <a:gd name="T104" fmla="*/ 9 w 738"/>
                  <a:gd name="T105" fmla="*/ 126 h 407"/>
                  <a:gd name="T106" fmla="*/ 0 w 738"/>
                  <a:gd name="T107" fmla="*/ 108 h 407"/>
                  <a:gd name="T108" fmla="*/ 0 w 738"/>
                  <a:gd name="T109" fmla="*/ 93 h 407"/>
                  <a:gd name="T110" fmla="*/ 3 w 738"/>
                  <a:gd name="T111" fmla="*/ 75 h 407"/>
                  <a:gd name="T112" fmla="*/ 16 w 738"/>
                  <a:gd name="T113" fmla="*/ 62 h 407"/>
                  <a:gd name="T114" fmla="*/ 31 w 738"/>
                  <a:gd name="T115" fmla="*/ 54 h 407"/>
                  <a:gd name="T116" fmla="*/ 50 w 738"/>
                  <a:gd name="T117" fmla="*/ 49 h 407"/>
                  <a:gd name="T118" fmla="*/ 65 w 738"/>
                  <a:gd name="T119" fmla="*/ 41 h 407"/>
                  <a:gd name="T120" fmla="*/ 74 w 738"/>
                  <a:gd name="T121" fmla="*/ 49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101" name="Freeform 1438"/>
              <p:cNvSpPr/>
              <p:nvPr/>
            </p:nvSpPr>
            <p:spPr bwMode="auto">
              <a:xfrm>
                <a:off x="2710" y="3305"/>
                <a:ext cx="67" cy="59"/>
              </a:xfrm>
              <a:custGeom>
                <a:avLst/>
                <a:gdLst>
                  <a:gd name="T0" fmla="*/ 3 w 117"/>
                  <a:gd name="T1" fmla="*/ 33 h 118"/>
                  <a:gd name="T2" fmla="*/ 0 w 117"/>
                  <a:gd name="T3" fmla="*/ 26 h 118"/>
                  <a:gd name="T4" fmla="*/ 0 w 117"/>
                  <a:gd name="T5" fmla="*/ 18 h 118"/>
                  <a:gd name="T6" fmla="*/ 9 w 117"/>
                  <a:gd name="T7" fmla="*/ 13 h 118"/>
                  <a:gd name="T8" fmla="*/ 18 w 117"/>
                  <a:gd name="T9" fmla="*/ 8 h 118"/>
                  <a:gd name="T10" fmla="*/ 27 w 117"/>
                  <a:gd name="T11" fmla="*/ 0 h 118"/>
                  <a:gd name="T12" fmla="*/ 36 w 117"/>
                  <a:gd name="T13" fmla="*/ 0 h 118"/>
                  <a:gd name="T14" fmla="*/ 45 w 117"/>
                  <a:gd name="T15" fmla="*/ 0 h 118"/>
                  <a:gd name="T16" fmla="*/ 48 w 117"/>
                  <a:gd name="T17" fmla="*/ 8 h 118"/>
                  <a:gd name="T18" fmla="*/ 54 w 117"/>
                  <a:gd name="T19" fmla="*/ 16 h 118"/>
                  <a:gd name="T20" fmla="*/ 60 w 117"/>
                  <a:gd name="T21" fmla="*/ 23 h 118"/>
                  <a:gd name="T22" fmla="*/ 64 w 117"/>
                  <a:gd name="T23" fmla="*/ 31 h 118"/>
                  <a:gd name="T24" fmla="*/ 66 w 117"/>
                  <a:gd name="T25" fmla="*/ 38 h 118"/>
                  <a:gd name="T26" fmla="*/ 66 w 117"/>
                  <a:gd name="T27" fmla="*/ 46 h 118"/>
                  <a:gd name="T28" fmla="*/ 66 w 117"/>
                  <a:gd name="T29" fmla="*/ 54 h 118"/>
                  <a:gd name="T30" fmla="*/ 57 w 117"/>
                  <a:gd name="T31" fmla="*/ 59 h 118"/>
                  <a:gd name="T32" fmla="*/ 48 w 117"/>
                  <a:gd name="T33" fmla="*/ 59 h 118"/>
                  <a:gd name="T34" fmla="*/ 40 w 117"/>
                  <a:gd name="T35" fmla="*/ 59 h 118"/>
                  <a:gd name="T36" fmla="*/ 30 w 117"/>
                  <a:gd name="T37" fmla="*/ 59 h 118"/>
                  <a:gd name="T38" fmla="*/ 21 w 117"/>
                  <a:gd name="T39" fmla="*/ 56 h 118"/>
                  <a:gd name="T40" fmla="*/ 12 w 117"/>
                  <a:gd name="T41" fmla="*/ 51 h 118"/>
                  <a:gd name="T42" fmla="*/ 6 w 117"/>
                  <a:gd name="T43" fmla="*/ 43 h 118"/>
                  <a:gd name="T44" fmla="*/ 3 w 117"/>
                  <a:gd name="T45" fmla="*/ 36 h 118"/>
                  <a:gd name="T46" fmla="*/ 3 w 117"/>
                  <a:gd name="T47" fmla="*/ 3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102" name="Freeform 1439"/>
              <p:cNvSpPr/>
              <p:nvPr/>
            </p:nvSpPr>
            <p:spPr bwMode="auto">
              <a:xfrm>
                <a:off x="2869" y="3290"/>
                <a:ext cx="47" cy="43"/>
              </a:xfrm>
              <a:custGeom>
                <a:avLst/>
                <a:gdLst>
                  <a:gd name="T0" fmla="*/ 0 w 82"/>
                  <a:gd name="T1" fmla="*/ 0 h 87"/>
                  <a:gd name="T2" fmla="*/ 9 w 82"/>
                  <a:gd name="T3" fmla="*/ 5 h 87"/>
                  <a:gd name="T4" fmla="*/ 18 w 82"/>
                  <a:gd name="T5" fmla="*/ 10 h 87"/>
                  <a:gd name="T6" fmla="*/ 28 w 82"/>
                  <a:gd name="T7" fmla="*/ 10 h 87"/>
                  <a:gd name="T8" fmla="*/ 37 w 82"/>
                  <a:gd name="T9" fmla="*/ 15 h 87"/>
                  <a:gd name="T10" fmla="*/ 44 w 82"/>
                  <a:gd name="T11" fmla="*/ 23 h 87"/>
                  <a:gd name="T12" fmla="*/ 46 w 82"/>
                  <a:gd name="T13" fmla="*/ 30 h 87"/>
                  <a:gd name="T14" fmla="*/ 46 w 82"/>
                  <a:gd name="T15" fmla="*/ 38 h 87"/>
                  <a:gd name="T16" fmla="*/ 37 w 82"/>
                  <a:gd name="T17" fmla="*/ 43 h 87"/>
                  <a:gd name="T18" fmla="*/ 28 w 82"/>
                  <a:gd name="T19" fmla="*/ 43 h 87"/>
                  <a:gd name="T20" fmla="*/ 15 w 82"/>
                  <a:gd name="T21" fmla="*/ 40 h 87"/>
                  <a:gd name="T22" fmla="*/ 6 w 82"/>
                  <a:gd name="T23" fmla="*/ 35 h 87"/>
                  <a:gd name="T24" fmla="*/ 3 w 82"/>
                  <a:gd name="T25" fmla="*/ 28 h 87"/>
                  <a:gd name="T26" fmla="*/ 0 w 82"/>
                  <a:gd name="T27" fmla="*/ 20 h 87"/>
                  <a:gd name="T28" fmla="*/ 0 w 82"/>
                  <a:gd name="T29" fmla="*/ 12 h 87"/>
                  <a:gd name="T30" fmla="*/ 6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33" name="Text Box 1524"/>
            <p:cNvSpPr txBox="1">
              <a:spLocks noChangeArrowheads="1"/>
            </p:cNvSpPr>
            <p:nvPr/>
          </p:nvSpPr>
          <p:spPr bwMode="auto">
            <a:xfrm>
              <a:off x="3168329" y="4506895"/>
              <a:ext cx="630238"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校园网</a:t>
              </a:r>
              <a:endParaRPr kumimoji="1" lang="zh-CN" altLang="en-US" sz="1600" dirty="0">
                <a:latin typeface="微软雅黑" panose="020B0503020204020204" pitchFamily="34" charset="-122"/>
                <a:ea typeface="微软雅黑" panose="020B0503020204020204" pitchFamily="34" charset="-122"/>
              </a:endParaRPr>
            </a:p>
          </p:txBody>
        </p:sp>
        <p:grpSp>
          <p:nvGrpSpPr>
            <p:cNvPr id="34" name="Group 228"/>
            <p:cNvGrpSpPr/>
            <p:nvPr/>
          </p:nvGrpSpPr>
          <p:grpSpPr bwMode="auto">
            <a:xfrm>
              <a:off x="2427289" y="4431792"/>
              <a:ext cx="630237" cy="349250"/>
              <a:chOff x="2569" y="3268"/>
              <a:chExt cx="542" cy="300"/>
            </a:xfrm>
          </p:grpSpPr>
          <p:sp>
            <p:nvSpPr>
              <p:cNvPr id="81" name="Oval 1429"/>
              <p:cNvSpPr>
                <a:spLocks noChangeArrowheads="1"/>
              </p:cNvSpPr>
              <p:nvPr/>
            </p:nvSpPr>
            <p:spPr bwMode="auto">
              <a:xfrm>
                <a:off x="2695" y="3268"/>
                <a:ext cx="235" cy="81"/>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82" name="Oval 1430"/>
              <p:cNvSpPr>
                <a:spLocks noChangeArrowheads="1"/>
              </p:cNvSpPr>
              <p:nvPr/>
            </p:nvSpPr>
            <p:spPr bwMode="auto">
              <a:xfrm rot="900000">
                <a:off x="2893" y="3296"/>
                <a:ext cx="159" cy="66"/>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83" name="Oval 1431"/>
              <p:cNvSpPr>
                <a:spLocks noChangeArrowheads="1"/>
              </p:cNvSpPr>
              <p:nvPr/>
            </p:nvSpPr>
            <p:spPr bwMode="auto">
              <a:xfrm rot="1500000">
                <a:off x="2973" y="3363"/>
                <a:ext cx="138" cy="77"/>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84" name="Oval 1432"/>
              <p:cNvSpPr>
                <a:spLocks noChangeArrowheads="1"/>
              </p:cNvSpPr>
              <p:nvPr/>
            </p:nvSpPr>
            <p:spPr bwMode="auto">
              <a:xfrm rot="-1560000">
                <a:off x="2928" y="3439"/>
                <a:ext cx="168" cy="95"/>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85" name="Oval 1433"/>
              <p:cNvSpPr>
                <a:spLocks noChangeArrowheads="1"/>
              </p:cNvSpPr>
              <p:nvPr/>
            </p:nvSpPr>
            <p:spPr bwMode="auto">
              <a:xfrm>
                <a:off x="2723" y="3448"/>
                <a:ext cx="271" cy="120"/>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86" name="Oval 1434"/>
              <p:cNvSpPr>
                <a:spLocks noChangeArrowheads="1"/>
              </p:cNvSpPr>
              <p:nvPr/>
            </p:nvSpPr>
            <p:spPr bwMode="auto">
              <a:xfrm rot="1080000">
                <a:off x="2612" y="3448"/>
                <a:ext cx="152" cy="78"/>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87" name="Oval 1435"/>
              <p:cNvSpPr>
                <a:spLocks noChangeArrowheads="1"/>
              </p:cNvSpPr>
              <p:nvPr/>
            </p:nvSpPr>
            <p:spPr bwMode="auto">
              <a:xfrm>
                <a:off x="2569" y="3386"/>
                <a:ext cx="125" cy="79"/>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88" name="Oval 1436"/>
              <p:cNvSpPr>
                <a:spLocks noChangeArrowheads="1"/>
              </p:cNvSpPr>
              <p:nvPr/>
            </p:nvSpPr>
            <p:spPr bwMode="auto">
              <a:xfrm rot="-1860000">
                <a:off x="2589" y="3325"/>
                <a:ext cx="170" cy="78"/>
              </a:xfrm>
              <a:prstGeom prst="ellipse">
                <a:avLst/>
              </a:prstGeom>
              <a:solidFill>
                <a:srgbClr val="C5E5FB"/>
              </a:solidFill>
              <a:ln>
                <a:noFill/>
              </a:ln>
              <a:extLst>
                <a:ext uri="{91240B29-F687-4F45-9708-019B960494DF}">
                  <a14:hiddenLine xmlns:a14="http://schemas.microsoft.com/office/drawing/2010/main" w="12700">
                    <a:solidFill>
                      <a:schemeClr val="tx1"/>
                    </a:solidFill>
                    <a:round/>
                  </a14:hiddenLine>
                </a:ext>
              </a:extLst>
            </p:spPr>
            <p:txBody>
              <a:bodyPr wrap="none" anchor="ctr"/>
              <a:lstStyle/>
              <a:p>
                <a:pPr eaLnBrk="0" hangingPunct="0"/>
                <a:endParaRPr lang="zh-CN" altLang="en-US" sz="1600">
                  <a:latin typeface="微软雅黑" panose="020B0503020204020204" pitchFamily="34" charset="-122"/>
                  <a:ea typeface="微软雅黑" panose="020B0503020204020204" pitchFamily="34" charset="-122"/>
                </a:endParaRPr>
              </a:p>
            </p:txBody>
          </p:sp>
          <p:sp>
            <p:nvSpPr>
              <p:cNvPr id="89" name="Freeform 1437"/>
              <p:cNvSpPr/>
              <p:nvPr/>
            </p:nvSpPr>
            <p:spPr bwMode="auto">
              <a:xfrm>
                <a:off x="2628" y="3320"/>
                <a:ext cx="425" cy="204"/>
              </a:xfrm>
              <a:custGeom>
                <a:avLst/>
                <a:gdLst>
                  <a:gd name="T0" fmla="*/ 62 w 738"/>
                  <a:gd name="T1" fmla="*/ 41 h 407"/>
                  <a:gd name="T2" fmla="*/ 84 w 738"/>
                  <a:gd name="T3" fmla="*/ 39 h 407"/>
                  <a:gd name="T4" fmla="*/ 105 w 738"/>
                  <a:gd name="T5" fmla="*/ 36 h 407"/>
                  <a:gd name="T6" fmla="*/ 124 w 738"/>
                  <a:gd name="T7" fmla="*/ 34 h 407"/>
                  <a:gd name="T8" fmla="*/ 136 w 738"/>
                  <a:gd name="T9" fmla="*/ 23 h 407"/>
                  <a:gd name="T10" fmla="*/ 117 w 738"/>
                  <a:gd name="T11" fmla="*/ 21 h 407"/>
                  <a:gd name="T12" fmla="*/ 99 w 738"/>
                  <a:gd name="T13" fmla="*/ 23 h 407"/>
                  <a:gd name="T14" fmla="*/ 90 w 738"/>
                  <a:gd name="T15" fmla="*/ 23 h 407"/>
                  <a:gd name="T16" fmla="*/ 108 w 738"/>
                  <a:gd name="T17" fmla="*/ 13 h 407"/>
                  <a:gd name="T18" fmla="*/ 130 w 738"/>
                  <a:gd name="T19" fmla="*/ 8 h 407"/>
                  <a:gd name="T20" fmla="*/ 149 w 738"/>
                  <a:gd name="T21" fmla="*/ 5 h 407"/>
                  <a:gd name="T22" fmla="*/ 167 w 738"/>
                  <a:gd name="T23" fmla="*/ 3 h 407"/>
                  <a:gd name="T24" fmla="*/ 186 w 738"/>
                  <a:gd name="T25" fmla="*/ 0 h 407"/>
                  <a:gd name="T26" fmla="*/ 204 w 738"/>
                  <a:gd name="T27" fmla="*/ 0 h 407"/>
                  <a:gd name="T28" fmla="*/ 223 w 738"/>
                  <a:gd name="T29" fmla="*/ 0 h 407"/>
                  <a:gd name="T30" fmla="*/ 267 w 738"/>
                  <a:gd name="T31" fmla="*/ 0 h 407"/>
                  <a:gd name="T32" fmla="*/ 291 w 738"/>
                  <a:gd name="T33" fmla="*/ 0 h 407"/>
                  <a:gd name="T34" fmla="*/ 313 w 738"/>
                  <a:gd name="T35" fmla="*/ 8 h 407"/>
                  <a:gd name="T36" fmla="*/ 328 w 738"/>
                  <a:gd name="T37" fmla="*/ 18 h 407"/>
                  <a:gd name="T38" fmla="*/ 347 w 738"/>
                  <a:gd name="T39" fmla="*/ 26 h 407"/>
                  <a:gd name="T40" fmla="*/ 366 w 738"/>
                  <a:gd name="T41" fmla="*/ 29 h 407"/>
                  <a:gd name="T42" fmla="*/ 384 w 738"/>
                  <a:gd name="T43" fmla="*/ 39 h 407"/>
                  <a:gd name="T44" fmla="*/ 400 w 738"/>
                  <a:gd name="T45" fmla="*/ 49 h 407"/>
                  <a:gd name="T46" fmla="*/ 412 w 738"/>
                  <a:gd name="T47" fmla="*/ 64 h 407"/>
                  <a:gd name="T48" fmla="*/ 415 w 738"/>
                  <a:gd name="T49" fmla="*/ 82 h 407"/>
                  <a:gd name="T50" fmla="*/ 418 w 738"/>
                  <a:gd name="T51" fmla="*/ 98 h 407"/>
                  <a:gd name="T52" fmla="*/ 418 w 738"/>
                  <a:gd name="T53" fmla="*/ 113 h 407"/>
                  <a:gd name="T54" fmla="*/ 418 w 738"/>
                  <a:gd name="T55" fmla="*/ 129 h 407"/>
                  <a:gd name="T56" fmla="*/ 424 w 738"/>
                  <a:gd name="T57" fmla="*/ 144 h 407"/>
                  <a:gd name="T58" fmla="*/ 424 w 738"/>
                  <a:gd name="T59" fmla="*/ 160 h 407"/>
                  <a:gd name="T60" fmla="*/ 412 w 738"/>
                  <a:gd name="T61" fmla="*/ 175 h 407"/>
                  <a:gd name="T62" fmla="*/ 390 w 738"/>
                  <a:gd name="T63" fmla="*/ 183 h 407"/>
                  <a:gd name="T64" fmla="*/ 372 w 738"/>
                  <a:gd name="T65" fmla="*/ 190 h 407"/>
                  <a:gd name="T66" fmla="*/ 353 w 738"/>
                  <a:gd name="T67" fmla="*/ 198 h 407"/>
                  <a:gd name="T68" fmla="*/ 335 w 738"/>
                  <a:gd name="T69" fmla="*/ 201 h 407"/>
                  <a:gd name="T70" fmla="*/ 310 w 738"/>
                  <a:gd name="T71" fmla="*/ 203 h 407"/>
                  <a:gd name="T72" fmla="*/ 288 w 738"/>
                  <a:gd name="T73" fmla="*/ 203 h 407"/>
                  <a:gd name="T74" fmla="*/ 270 w 738"/>
                  <a:gd name="T75" fmla="*/ 203 h 407"/>
                  <a:gd name="T76" fmla="*/ 251 w 738"/>
                  <a:gd name="T77" fmla="*/ 203 h 407"/>
                  <a:gd name="T78" fmla="*/ 232 w 738"/>
                  <a:gd name="T79" fmla="*/ 203 h 407"/>
                  <a:gd name="T80" fmla="*/ 214 w 738"/>
                  <a:gd name="T81" fmla="*/ 203 h 407"/>
                  <a:gd name="T82" fmla="*/ 195 w 738"/>
                  <a:gd name="T83" fmla="*/ 203 h 407"/>
                  <a:gd name="T84" fmla="*/ 177 w 738"/>
                  <a:gd name="T85" fmla="*/ 203 h 407"/>
                  <a:gd name="T86" fmla="*/ 155 w 738"/>
                  <a:gd name="T87" fmla="*/ 203 h 407"/>
                  <a:gd name="T88" fmla="*/ 136 w 738"/>
                  <a:gd name="T89" fmla="*/ 203 h 407"/>
                  <a:gd name="T90" fmla="*/ 117 w 738"/>
                  <a:gd name="T91" fmla="*/ 203 h 407"/>
                  <a:gd name="T92" fmla="*/ 99 w 738"/>
                  <a:gd name="T93" fmla="*/ 196 h 407"/>
                  <a:gd name="T94" fmla="*/ 81 w 738"/>
                  <a:gd name="T95" fmla="*/ 190 h 407"/>
                  <a:gd name="T96" fmla="*/ 62 w 738"/>
                  <a:gd name="T97" fmla="*/ 183 h 407"/>
                  <a:gd name="T98" fmla="*/ 47 w 738"/>
                  <a:gd name="T99" fmla="*/ 170 h 407"/>
                  <a:gd name="T100" fmla="*/ 34 w 738"/>
                  <a:gd name="T101" fmla="*/ 160 h 407"/>
                  <a:gd name="T102" fmla="*/ 22 w 738"/>
                  <a:gd name="T103" fmla="*/ 144 h 407"/>
                  <a:gd name="T104" fmla="*/ 9 w 738"/>
                  <a:gd name="T105" fmla="*/ 126 h 407"/>
                  <a:gd name="T106" fmla="*/ 0 w 738"/>
                  <a:gd name="T107" fmla="*/ 108 h 407"/>
                  <a:gd name="T108" fmla="*/ 0 w 738"/>
                  <a:gd name="T109" fmla="*/ 93 h 407"/>
                  <a:gd name="T110" fmla="*/ 3 w 738"/>
                  <a:gd name="T111" fmla="*/ 75 h 407"/>
                  <a:gd name="T112" fmla="*/ 16 w 738"/>
                  <a:gd name="T113" fmla="*/ 62 h 407"/>
                  <a:gd name="T114" fmla="*/ 31 w 738"/>
                  <a:gd name="T115" fmla="*/ 54 h 407"/>
                  <a:gd name="T116" fmla="*/ 50 w 738"/>
                  <a:gd name="T117" fmla="*/ 49 h 407"/>
                  <a:gd name="T118" fmla="*/ 65 w 738"/>
                  <a:gd name="T119" fmla="*/ 41 h 407"/>
                  <a:gd name="T120" fmla="*/ 74 w 738"/>
                  <a:gd name="T121" fmla="*/ 49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90" name="Freeform 1438"/>
              <p:cNvSpPr/>
              <p:nvPr/>
            </p:nvSpPr>
            <p:spPr bwMode="auto">
              <a:xfrm>
                <a:off x="2710" y="3305"/>
                <a:ext cx="67" cy="59"/>
              </a:xfrm>
              <a:custGeom>
                <a:avLst/>
                <a:gdLst>
                  <a:gd name="T0" fmla="*/ 3 w 117"/>
                  <a:gd name="T1" fmla="*/ 33 h 118"/>
                  <a:gd name="T2" fmla="*/ 0 w 117"/>
                  <a:gd name="T3" fmla="*/ 26 h 118"/>
                  <a:gd name="T4" fmla="*/ 0 w 117"/>
                  <a:gd name="T5" fmla="*/ 18 h 118"/>
                  <a:gd name="T6" fmla="*/ 9 w 117"/>
                  <a:gd name="T7" fmla="*/ 13 h 118"/>
                  <a:gd name="T8" fmla="*/ 18 w 117"/>
                  <a:gd name="T9" fmla="*/ 8 h 118"/>
                  <a:gd name="T10" fmla="*/ 27 w 117"/>
                  <a:gd name="T11" fmla="*/ 0 h 118"/>
                  <a:gd name="T12" fmla="*/ 36 w 117"/>
                  <a:gd name="T13" fmla="*/ 0 h 118"/>
                  <a:gd name="T14" fmla="*/ 45 w 117"/>
                  <a:gd name="T15" fmla="*/ 0 h 118"/>
                  <a:gd name="T16" fmla="*/ 48 w 117"/>
                  <a:gd name="T17" fmla="*/ 8 h 118"/>
                  <a:gd name="T18" fmla="*/ 54 w 117"/>
                  <a:gd name="T19" fmla="*/ 16 h 118"/>
                  <a:gd name="T20" fmla="*/ 60 w 117"/>
                  <a:gd name="T21" fmla="*/ 23 h 118"/>
                  <a:gd name="T22" fmla="*/ 64 w 117"/>
                  <a:gd name="T23" fmla="*/ 31 h 118"/>
                  <a:gd name="T24" fmla="*/ 66 w 117"/>
                  <a:gd name="T25" fmla="*/ 38 h 118"/>
                  <a:gd name="T26" fmla="*/ 66 w 117"/>
                  <a:gd name="T27" fmla="*/ 46 h 118"/>
                  <a:gd name="T28" fmla="*/ 66 w 117"/>
                  <a:gd name="T29" fmla="*/ 54 h 118"/>
                  <a:gd name="T30" fmla="*/ 57 w 117"/>
                  <a:gd name="T31" fmla="*/ 59 h 118"/>
                  <a:gd name="T32" fmla="*/ 48 w 117"/>
                  <a:gd name="T33" fmla="*/ 59 h 118"/>
                  <a:gd name="T34" fmla="*/ 40 w 117"/>
                  <a:gd name="T35" fmla="*/ 59 h 118"/>
                  <a:gd name="T36" fmla="*/ 30 w 117"/>
                  <a:gd name="T37" fmla="*/ 59 h 118"/>
                  <a:gd name="T38" fmla="*/ 21 w 117"/>
                  <a:gd name="T39" fmla="*/ 56 h 118"/>
                  <a:gd name="T40" fmla="*/ 12 w 117"/>
                  <a:gd name="T41" fmla="*/ 51 h 118"/>
                  <a:gd name="T42" fmla="*/ 6 w 117"/>
                  <a:gd name="T43" fmla="*/ 43 h 118"/>
                  <a:gd name="T44" fmla="*/ 3 w 117"/>
                  <a:gd name="T45" fmla="*/ 36 h 118"/>
                  <a:gd name="T46" fmla="*/ 3 w 117"/>
                  <a:gd name="T47" fmla="*/ 3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91" name="Freeform 1439"/>
              <p:cNvSpPr/>
              <p:nvPr/>
            </p:nvSpPr>
            <p:spPr bwMode="auto">
              <a:xfrm>
                <a:off x="2869" y="3290"/>
                <a:ext cx="47" cy="43"/>
              </a:xfrm>
              <a:custGeom>
                <a:avLst/>
                <a:gdLst>
                  <a:gd name="T0" fmla="*/ 0 w 82"/>
                  <a:gd name="T1" fmla="*/ 0 h 87"/>
                  <a:gd name="T2" fmla="*/ 9 w 82"/>
                  <a:gd name="T3" fmla="*/ 5 h 87"/>
                  <a:gd name="T4" fmla="*/ 18 w 82"/>
                  <a:gd name="T5" fmla="*/ 10 h 87"/>
                  <a:gd name="T6" fmla="*/ 28 w 82"/>
                  <a:gd name="T7" fmla="*/ 10 h 87"/>
                  <a:gd name="T8" fmla="*/ 37 w 82"/>
                  <a:gd name="T9" fmla="*/ 15 h 87"/>
                  <a:gd name="T10" fmla="*/ 44 w 82"/>
                  <a:gd name="T11" fmla="*/ 23 h 87"/>
                  <a:gd name="T12" fmla="*/ 46 w 82"/>
                  <a:gd name="T13" fmla="*/ 30 h 87"/>
                  <a:gd name="T14" fmla="*/ 46 w 82"/>
                  <a:gd name="T15" fmla="*/ 38 h 87"/>
                  <a:gd name="T16" fmla="*/ 37 w 82"/>
                  <a:gd name="T17" fmla="*/ 43 h 87"/>
                  <a:gd name="T18" fmla="*/ 28 w 82"/>
                  <a:gd name="T19" fmla="*/ 43 h 87"/>
                  <a:gd name="T20" fmla="*/ 15 w 82"/>
                  <a:gd name="T21" fmla="*/ 40 h 87"/>
                  <a:gd name="T22" fmla="*/ 6 w 82"/>
                  <a:gd name="T23" fmla="*/ 35 h 87"/>
                  <a:gd name="T24" fmla="*/ 3 w 82"/>
                  <a:gd name="T25" fmla="*/ 28 h 87"/>
                  <a:gd name="T26" fmla="*/ 0 w 82"/>
                  <a:gd name="T27" fmla="*/ 20 h 87"/>
                  <a:gd name="T28" fmla="*/ 0 w 82"/>
                  <a:gd name="T29" fmla="*/ 12 h 87"/>
                  <a:gd name="T30" fmla="*/ 6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35" name="Text Box 1524"/>
            <p:cNvSpPr txBox="1">
              <a:spLocks noChangeArrowheads="1"/>
            </p:cNvSpPr>
            <p:nvPr/>
          </p:nvSpPr>
          <p:spPr bwMode="auto">
            <a:xfrm>
              <a:off x="2434576" y="4512480"/>
              <a:ext cx="604837"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校园网</a:t>
              </a:r>
              <a:endParaRPr kumimoji="1" lang="zh-CN" altLang="en-US" sz="1600" dirty="0">
                <a:latin typeface="微软雅黑" panose="020B0503020204020204" pitchFamily="34" charset="-122"/>
                <a:ea typeface="微软雅黑" panose="020B0503020204020204" pitchFamily="34" charset="-122"/>
              </a:endParaRPr>
            </a:p>
          </p:txBody>
        </p:sp>
        <p:sp>
          <p:nvSpPr>
            <p:cNvPr id="36" name="Oval 242"/>
            <p:cNvSpPr>
              <a:spLocks noChangeArrowheads="1"/>
            </p:cNvSpPr>
            <p:nvPr/>
          </p:nvSpPr>
          <p:spPr bwMode="auto">
            <a:xfrm>
              <a:off x="4008439" y="4393692"/>
              <a:ext cx="573087" cy="350838"/>
            </a:xfrm>
            <a:prstGeom prst="ellipse">
              <a:avLst/>
            </a:prstGeom>
            <a:solidFill>
              <a:srgbClr val="0089FA"/>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7" name="Text Box 1524"/>
            <p:cNvSpPr txBox="1">
              <a:spLocks noChangeArrowheads="1"/>
            </p:cNvSpPr>
            <p:nvPr/>
          </p:nvSpPr>
          <p:spPr bwMode="auto">
            <a:xfrm>
              <a:off x="4073206" y="4470487"/>
              <a:ext cx="448238" cy="220044"/>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zh-CN" altLang="en-US" sz="1600" dirty="0">
                  <a:solidFill>
                    <a:schemeClr val="bg1"/>
                  </a:solidFill>
                  <a:latin typeface="微软雅黑" panose="020B0503020204020204" pitchFamily="34" charset="-122"/>
                  <a:ea typeface="微软雅黑" panose="020B0503020204020204" pitchFamily="34" charset="-122"/>
                </a:rPr>
                <a:t>公司</a:t>
              </a:r>
              <a:endParaRPr kumimoji="1"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42" name="Oval 273"/>
            <p:cNvSpPr>
              <a:spLocks noChangeArrowheads="1"/>
            </p:cNvSpPr>
            <p:nvPr/>
          </p:nvSpPr>
          <p:spPr bwMode="auto">
            <a:xfrm>
              <a:off x="5976939" y="2896681"/>
              <a:ext cx="369887" cy="225425"/>
            </a:xfrm>
            <a:prstGeom prst="ellipse">
              <a:avLst/>
            </a:prstGeom>
            <a:solidFill>
              <a:srgbClr val="FFC000"/>
            </a:solidFill>
            <a:ln w="9525">
              <a:solidFill>
                <a:srgbClr val="368AD6"/>
              </a:solidFill>
              <a:round/>
            </a:ln>
            <a:effec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3" name="Text Box 1524"/>
            <p:cNvSpPr txBox="1">
              <a:spLocks noChangeArrowheads="1"/>
            </p:cNvSpPr>
            <p:nvPr/>
          </p:nvSpPr>
          <p:spPr bwMode="auto">
            <a:xfrm>
              <a:off x="5980114" y="2880806"/>
              <a:ext cx="379408"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600" dirty="0">
                  <a:latin typeface="微软雅黑" panose="020B0503020204020204" pitchFamily="34" charset="-122"/>
                  <a:ea typeface="微软雅黑" panose="020B0503020204020204" pitchFamily="34" charset="-122"/>
                </a:rPr>
                <a:t>IXP</a:t>
              </a:r>
              <a:endParaRPr kumimoji="1" lang="en-US" altLang="zh-CN" sz="1600" dirty="0">
                <a:latin typeface="微软雅黑" panose="020B0503020204020204" pitchFamily="34" charset="-122"/>
                <a:ea typeface="微软雅黑" panose="020B0503020204020204" pitchFamily="34" charset="-122"/>
              </a:endParaRPr>
            </a:p>
          </p:txBody>
        </p:sp>
        <p:sp>
          <p:nvSpPr>
            <p:cNvPr id="44" name="Line 278"/>
            <p:cNvSpPr>
              <a:spLocks noChangeShapeType="1"/>
            </p:cNvSpPr>
            <p:nvPr/>
          </p:nvSpPr>
          <p:spPr bwMode="auto">
            <a:xfrm>
              <a:off x="2503488" y="3026855"/>
              <a:ext cx="531812"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45" name="Line 279"/>
            <p:cNvSpPr>
              <a:spLocks noChangeShapeType="1"/>
            </p:cNvSpPr>
            <p:nvPr/>
          </p:nvSpPr>
          <p:spPr bwMode="auto">
            <a:xfrm>
              <a:off x="4271963" y="3026855"/>
              <a:ext cx="514350" cy="0"/>
            </a:xfrm>
            <a:prstGeom prst="line">
              <a:avLst/>
            </a:prstGeom>
            <a:noFill/>
            <a:ln w="2857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49" name="Oval 186"/>
            <p:cNvSpPr>
              <a:spLocks noChangeArrowheads="1"/>
            </p:cNvSpPr>
            <p:nvPr/>
          </p:nvSpPr>
          <p:spPr bwMode="auto">
            <a:xfrm>
              <a:off x="2085975" y="3647935"/>
              <a:ext cx="573088" cy="350837"/>
            </a:xfrm>
            <a:prstGeom prst="ellipse">
              <a:avLst/>
            </a:prstGeom>
            <a:solidFill>
              <a:schemeClr val="bg1">
                <a:lumMod val="75000"/>
              </a:schemeClr>
            </a:solidFill>
            <a:ln>
              <a:noFill/>
            </a:ln>
            <a:effec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0" name="Text Box 1524"/>
            <p:cNvSpPr txBox="1">
              <a:spLocks noChangeArrowheads="1"/>
            </p:cNvSpPr>
            <p:nvPr/>
          </p:nvSpPr>
          <p:spPr bwMode="auto">
            <a:xfrm>
              <a:off x="2020267" y="3711800"/>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本地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51" name="Oval 191"/>
            <p:cNvSpPr>
              <a:spLocks noChangeArrowheads="1"/>
            </p:cNvSpPr>
            <p:nvPr/>
          </p:nvSpPr>
          <p:spPr bwMode="auto">
            <a:xfrm>
              <a:off x="2906714" y="3630106"/>
              <a:ext cx="574675" cy="350837"/>
            </a:xfrm>
            <a:prstGeom prst="ellipse">
              <a:avLst/>
            </a:prstGeom>
            <a:solidFill>
              <a:schemeClr val="bg1">
                <a:lumMod val="75000"/>
              </a:schemeClr>
            </a:solidFill>
            <a:ln>
              <a:noFill/>
            </a:ln>
            <a:effec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2" name="Text Box 1524"/>
            <p:cNvSpPr txBox="1">
              <a:spLocks noChangeArrowheads="1"/>
            </p:cNvSpPr>
            <p:nvPr/>
          </p:nvSpPr>
          <p:spPr bwMode="auto">
            <a:xfrm>
              <a:off x="2852971" y="37034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本地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53" name="Oval 194"/>
            <p:cNvSpPr>
              <a:spLocks noChangeArrowheads="1"/>
            </p:cNvSpPr>
            <p:nvPr/>
          </p:nvSpPr>
          <p:spPr bwMode="auto">
            <a:xfrm>
              <a:off x="3749676" y="3630106"/>
              <a:ext cx="574675" cy="350837"/>
            </a:xfrm>
            <a:prstGeom prst="ellipse">
              <a:avLst/>
            </a:prstGeom>
            <a:solidFill>
              <a:schemeClr val="bg1">
                <a:lumMod val="75000"/>
              </a:schemeClr>
            </a:solidFill>
            <a:ln>
              <a:noFill/>
            </a:ln>
            <a:effec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4" name="Text Box 1524"/>
            <p:cNvSpPr txBox="1">
              <a:spLocks noChangeArrowheads="1"/>
            </p:cNvSpPr>
            <p:nvPr/>
          </p:nvSpPr>
          <p:spPr bwMode="auto">
            <a:xfrm>
              <a:off x="3684857" y="37034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本地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55" name="Oval 197"/>
            <p:cNvSpPr>
              <a:spLocks noChangeArrowheads="1"/>
            </p:cNvSpPr>
            <p:nvPr/>
          </p:nvSpPr>
          <p:spPr bwMode="auto">
            <a:xfrm>
              <a:off x="4645025" y="3630106"/>
              <a:ext cx="573088" cy="350837"/>
            </a:xfrm>
            <a:prstGeom prst="ellipse">
              <a:avLst/>
            </a:prstGeom>
            <a:solidFill>
              <a:schemeClr val="bg1">
                <a:lumMod val="75000"/>
              </a:schemeClr>
            </a:solidFill>
            <a:ln>
              <a:noFill/>
            </a:ln>
            <a:effec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6" name="Text Box 1524"/>
            <p:cNvSpPr txBox="1">
              <a:spLocks noChangeArrowheads="1"/>
            </p:cNvSpPr>
            <p:nvPr/>
          </p:nvSpPr>
          <p:spPr bwMode="auto">
            <a:xfrm>
              <a:off x="4548360" y="3710634"/>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本地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57" name="Oval 200"/>
            <p:cNvSpPr>
              <a:spLocks noChangeArrowheads="1"/>
            </p:cNvSpPr>
            <p:nvPr/>
          </p:nvSpPr>
          <p:spPr bwMode="auto">
            <a:xfrm>
              <a:off x="5487989" y="3630106"/>
              <a:ext cx="573087" cy="350837"/>
            </a:xfrm>
            <a:prstGeom prst="ellipse">
              <a:avLst/>
            </a:prstGeom>
            <a:solidFill>
              <a:schemeClr val="bg1">
                <a:lumMod val="75000"/>
              </a:schemeClr>
            </a:solidFill>
            <a:ln>
              <a:noFill/>
            </a:ln>
            <a:effec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8" name="Text Box 1524"/>
            <p:cNvSpPr txBox="1">
              <a:spLocks noChangeArrowheads="1"/>
            </p:cNvSpPr>
            <p:nvPr/>
          </p:nvSpPr>
          <p:spPr bwMode="auto">
            <a:xfrm>
              <a:off x="5437522" y="3710634"/>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本地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59" name="Oval 203"/>
            <p:cNvSpPr>
              <a:spLocks noChangeArrowheads="1"/>
            </p:cNvSpPr>
            <p:nvPr/>
          </p:nvSpPr>
          <p:spPr bwMode="auto">
            <a:xfrm>
              <a:off x="6265864" y="3630106"/>
              <a:ext cx="573087" cy="350837"/>
            </a:xfrm>
            <a:prstGeom prst="ellipse">
              <a:avLst/>
            </a:prstGeom>
            <a:solidFill>
              <a:schemeClr val="bg1">
                <a:lumMod val="75000"/>
              </a:schemeClr>
            </a:solidFill>
            <a:ln>
              <a:noFill/>
            </a:ln>
            <a:effec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0" name="Text Box 1524"/>
            <p:cNvSpPr txBox="1">
              <a:spLocks noChangeArrowheads="1"/>
            </p:cNvSpPr>
            <p:nvPr/>
          </p:nvSpPr>
          <p:spPr bwMode="auto">
            <a:xfrm>
              <a:off x="6199451" y="3717050"/>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本地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61" name="Oval 206"/>
            <p:cNvSpPr>
              <a:spLocks noChangeArrowheads="1"/>
            </p:cNvSpPr>
            <p:nvPr/>
          </p:nvSpPr>
          <p:spPr bwMode="auto">
            <a:xfrm>
              <a:off x="7129464" y="3630106"/>
              <a:ext cx="573087" cy="350837"/>
            </a:xfrm>
            <a:prstGeom prst="ellipse">
              <a:avLst/>
            </a:prstGeom>
            <a:solidFill>
              <a:schemeClr val="bg1">
                <a:lumMod val="75000"/>
              </a:schemeClr>
            </a:solidFill>
            <a:ln>
              <a:noFill/>
            </a:ln>
            <a:effec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2" name="Text Box 1524"/>
            <p:cNvSpPr txBox="1">
              <a:spLocks noChangeArrowheads="1"/>
            </p:cNvSpPr>
            <p:nvPr/>
          </p:nvSpPr>
          <p:spPr bwMode="auto">
            <a:xfrm>
              <a:off x="7080691" y="3691323"/>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本地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63" name="Oval 209"/>
            <p:cNvSpPr>
              <a:spLocks noChangeArrowheads="1"/>
            </p:cNvSpPr>
            <p:nvPr/>
          </p:nvSpPr>
          <p:spPr bwMode="auto">
            <a:xfrm>
              <a:off x="1222375" y="3630106"/>
              <a:ext cx="573088" cy="350837"/>
            </a:xfrm>
            <a:prstGeom prst="ellipse">
              <a:avLst/>
            </a:prstGeom>
            <a:solidFill>
              <a:srgbClr val="0089FA"/>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4" name="Text Box 1524"/>
            <p:cNvSpPr txBox="1">
              <a:spLocks noChangeArrowheads="1"/>
            </p:cNvSpPr>
            <p:nvPr/>
          </p:nvSpPr>
          <p:spPr bwMode="auto">
            <a:xfrm>
              <a:off x="1207518" y="3680905"/>
              <a:ext cx="602802"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a:solidFill>
                    <a:schemeClr val="bg1"/>
                  </a:solidFill>
                  <a:latin typeface="微软雅黑" panose="020B0503020204020204" pitchFamily="34" charset="-122"/>
                  <a:ea typeface="微软雅黑" panose="020B0503020204020204" pitchFamily="34" charset="-122"/>
                </a:rPr>
                <a:t>大公司</a:t>
              </a:r>
              <a:endParaRPr kumimoji="1" lang="en-US" altLang="zh-CN" sz="1600">
                <a:solidFill>
                  <a:schemeClr val="bg1"/>
                </a:solidFill>
                <a:latin typeface="微软雅黑" panose="020B0503020204020204" pitchFamily="34" charset="-122"/>
                <a:ea typeface="微软雅黑" panose="020B0503020204020204" pitchFamily="34" charset="-122"/>
              </a:endParaRPr>
            </a:p>
          </p:txBody>
        </p:sp>
        <p:sp>
          <p:nvSpPr>
            <p:cNvPr id="65" name="Oval 170"/>
            <p:cNvSpPr>
              <a:spLocks noChangeArrowheads="1"/>
            </p:cNvSpPr>
            <p:nvPr/>
          </p:nvSpPr>
          <p:spPr bwMode="auto">
            <a:xfrm>
              <a:off x="1423989"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6" name="Text Box 1524"/>
            <p:cNvSpPr txBox="1">
              <a:spLocks noChangeArrowheads="1"/>
            </p:cNvSpPr>
            <p:nvPr/>
          </p:nvSpPr>
          <p:spPr bwMode="auto">
            <a:xfrm>
              <a:off x="1447180" y="28919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地区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67" name="Oval 177"/>
            <p:cNvSpPr>
              <a:spLocks noChangeArrowheads="1"/>
            </p:cNvSpPr>
            <p:nvPr/>
          </p:nvSpPr>
          <p:spPr bwMode="auto">
            <a:xfrm>
              <a:off x="3217864"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8" name="Text Box 1524"/>
            <p:cNvSpPr txBox="1">
              <a:spLocks noChangeArrowheads="1"/>
            </p:cNvSpPr>
            <p:nvPr/>
          </p:nvSpPr>
          <p:spPr bwMode="auto">
            <a:xfrm>
              <a:off x="3262486" y="28919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地区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69" name="Oval 180"/>
            <p:cNvSpPr>
              <a:spLocks noChangeArrowheads="1"/>
            </p:cNvSpPr>
            <p:nvPr/>
          </p:nvSpPr>
          <p:spPr bwMode="auto">
            <a:xfrm>
              <a:off x="4976814"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0" name="Text Box 1524"/>
            <p:cNvSpPr txBox="1">
              <a:spLocks noChangeArrowheads="1"/>
            </p:cNvSpPr>
            <p:nvPr/>
          </p:nvSpPr>
          <p:spPr bwMode="auto">
            <a:xfrm>
              <a:off x="4928567" y="28919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地区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71" name="Oval 183"/>
            <p:cNvSpPr>
              <a:spLocks noChangeArrowheads="1"/>
            </p:cNvSpPr>
            <p:nvPr/>
          </p:nvSpPr>
          <p:spPr bwMode="auto">
            <a:xfrm>
              <a:off x="6540501" y="2834767"/>
              <a:ext cx="796925"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2" name="Text Box 1524"/>
            <p:cNvSpPr txBox="1">
              <a:spLocks noChangeArrowheads="1"/>
            </p:cNvSpPr>
            <p:nvPr/>
          </p:nvSpPr>
          <p:spPr bwMode="auto">
            <a:xfrm>
              <a:off x="6689105" y="28919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地区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73" name="Line 276"/>
            <p:cNvSpPr>
              <a:spLocks noChangeShapeType="1"/>
            </p:cNvSpPr>
            <p:nvPr/>
          </p:nvSpPr>
          <p:spPr bwMode="auto">
            <a:xfrm>
              <a:off x="5640389" y="3203067"/>
              <a:ext cx="1093787" cy="0"/>
            </a:xfrm>
            <a:prstGeom prst="line">
              <a:avLst/>
            </a:prstGeom>
            <a:noFill/>
            <a:ln w="38100">
              <a:solidFill>
                <a:srgbClr val="C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74" name="Oval 158"/>
            <p:cNvSpPr>
              <a:spLocks noChangeArrowheads="1"/>
            </p:cNvSpPr>
            <p:nvPr/>
          </p:nvSpPr>
          <p:spPr bwMode="auto">
            <a:xfrm>
              <a:off x="4073207" y="1920367"/>
              <a:ext cx="957583" cy="350838"/>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5" name="Text Box 1524"/>
            <p:cNvSpPr txBox="1">
              <a:spLocks noChangeArrowheads="1"/>
            </p:cNvSpPr>
            <p:nvPr/>
          </p:nvSpPr>
          <p:spPr bwMode="auto">
            <a:xfrm>
              <a:off x="4043803" y="1979536"/>
              <a:ext cx="1045969"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600" dirty="0">
                  <a:latin typeface="微软雅黑" panose="020B0503020204020204" pitchFamily="34" charset="-122"/>
                  <a:ea typeface="微软雅黑" panose="020B0503020204020204" pitchFamily="34" charset="-122"/>
                </a:rPr>
                <a:t>Tier</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One</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76" name="Oval 167"/>
            <p:cNvSpPr>
              <a:spLocks noChangeArrowheads="1"/>
            </p:cNvSpPr>
            <p:nvPr/>
          </p:nvSpPr>
          <p:spPr bwMode="auto">
            <a:xfrm>
              <a:off x="2382839" y="2258506"/>
              <a:ext cx="795337" cy="350837"/>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7" name="Text Box 1524"/>
            <p:cNvSpPr txBox="1">
              <a:spLocks noChangeArrowheads="1"/>
            </p:cNvSpPr>
            <p:nvPr/>
          </p:nvSpPr>
          <p:spPr bwMode="auto">
            <a:xfrm>
              <a:off x="2420317" y="230136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主干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sp>
          <p:nvSpPr>
            <p:cNvPr id="78" name="Oval 173"/>
            <p:cNvSpPr>
              <a:spLocks noChangeArrowheads="1"/>
            </p:cNvSpPr>
            <p:nvPr/>
          </p:nvSpPr>
          <p:spPr bwMode="auto">
            <a:xfrm>
              <a:off x="5759450" y="2258506"/>
              <a:ext cx="795338" cy="350837"/>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9" name="Text Box 1524"/>
            <p:cNvSpPr txBox="1">
              <a:spLocks noChangeArrowheads="1"/>
            </p:cNvSpPr>
            <p:nvPr/>
          </p:nvSpPr>
          <p:spPr bwMode="auto">
            <a:xfrm>
              <a:off x="5796930" y="230136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dirty="0">
                  <a:latin typeface="微软雅黑" panose="020B0503020204020204" pitchFamily="34" charset="-122"/>
                  <a:ea typeface="微软雅黑" panose="020B0503020204020204" pitchFamily="34" charset="-122"/>
                </a:rPr>
                <a:t>主干 </a:t>
              </a:r>
              <a:r>
                <a:rPr kumimoji="1" lang="en-US" altLang="zh-CN" sz="1600" dirty="0">
                  <a:latin typeface="微软雅黑" panose="020B0503020204020204" pitchFamily="34" charset="-122"/>
                  <a:ea typeface="微软雅黑" panose="020B0503020204020204" pitchFamily="34" charset="-122"/>
                </a:rPr>
                <a:t>ISP</a:t>
              </a:r>
              <a:endParaRPr kumimoji="1" lang="en-US" altLang="zh-CN" sz="1600" dirty="0">
                <a:latin typeface="微软雅黑" panose="020B0503020204020204" pitchFamily="34" charset="-122"/>
                <a:ea typeface="微软雅黑" panose="020B0503020204020204" pitchFamily="34" charset="-122"/>
              </a:endParaRPr>
            </a:p>
          </p:txBody>
        </p:sp>
      </p:grpSp>
      <p:sp>
        <p:nvSpPr>
          <p:cNvPr id="103" name="Text Box 1524"/>
          <p:cNvSpPr txBox="1">
            <a:spLocks noChangeArrowheads="1"/>
          </p:cNvSpPr>
          <p:nvPr/>
        </p:nvSpPr>
        <p:spPr bwMode="auto">
          <a:xfrm>
            <a:off x="8553421" y="5235080"/>
            <a:ext cx="595035" cy="338554"/>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zh-CN" altLang="en-US" sz="1600" dirty="0">
                <a:solidFill>
                  <a:schemeClr val="bg1"/>
                </a:solidFill>
                <a:latin typeface="微软雅黑" panose="020B0503020204020204" pitchFamily="34" charset="-122"/>
                <a:ea typeface="微软雅黑" panose="020B0503020204020204" pitchFamily="34" charset="-122"/>
              </a:rPr>
              <a:t>公司</a:t>
            </a:r>
            <a:endParaRPr kumimoji="1"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105" name="Text Box 1524"/>
          <p:cNvSpPr txBox="1">
            <a:spLocks noChangeArrowheads="1"/>
          </p:cNvSpPr>
          <p:nvPr/>
        </p:nvSpPr>
        <p:spPr bwMode="auto">
          <a:xfrm>
            <a:off x="9091734" y="1388282"/>
            <a:ext cx="2854220" cy="369332"/>
          </a:xfrm>
          <a:prstGeom prst="rect">
            <a:avLst/>
          </a:prstGeom>
          <a:noFill/>
          <a:ln w="9525">
            <a:solidFill>
              <a:srgbClr val="C0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en-US" altLang="zh-CN" b="1" dirty="0">
                <a:solidFill>
                  <a:srgbClr val="7030A0"/>
                </a:solidFill>
                <a:latin typeface="微软雅黑" panose="020B0503020204020204" pitchFamily="34" charset="-122"/>
                <a:ea typeface="微软雅黑" panose="020B0503020204020204" pitchFamily="34" charset="-122"/>
              </a:rPr>
              <a:t>IXP</a:t>
            </a:r>
            <a:r>
              <a:rPr lang="zh-CN" altLang="en-US" b="1" dirty="0">
                <a:solidFill>
                  <a:srgbClr val="7030A0"/>
                </a:solidFill>
                <a:latin typeface="微软雅黑" panose="020B0503020204020204" pitchFamily="34" charset="-122"/>
                <a:ea typeface="微软雅黑" panose="020B0503020204020204" pitchFamily="34" charset="-122"/>
              </a:rPr>
              <a:t>或</a:t>
            </a:r>
            <a:r>
              <a:rPr lang="en-US" altLang="zh-CN" b="1" dirty="0">
                <a:solidFill>
                  <a:srgbClr val="7030A0"/>
                </a:solidFill>
                <a:latin typeface="微软雅黑" panose="020B0503020204020204" pitchFamily="34" charset="-122"/>
                <a:ea typeface="微软雅黑" panose="020B0503020204020204" pitchFamily="34" charset="-122"/>
              </a:rPr>
              <a:t>IX</a:t>
            </a:r>
            <a:r>
              <a:rPr lang="zh-CN" altLang="en-US" b="1" dirty="0">
                <a:solidFill>
                  <a:srgbClr val="7030A0"/>
                </a:solidFill>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互联网交换点</a:t>
            </a:r>
            <a:r>
              <a:rPr lang="en-US" altLang="zh-CN" dirty="0">
                <a:latin typeface="微软雅黑" panose="020B0503020204020204" pitchFamily="34" charset="-122"/>
                <a:ea typeface="微软雅黑" panose="020B0503020204020204" pitchFamily="34" charset="-122"/>
              </a:rPr>
              <a:t> </a:t>
            </a:r>
            <a:endParaRPr kumimoji="1" lang="en-US" altLang="zh-CN" dirty="0">
              <a:latin typeface="微软雅黑" panose="020B0503020204020204" pitchFamily="34" charset="-122"/>
              <a:ea typeface="微软雅黑" panose="020B0503020204020204" pitchFamily="34" charset="-122"/>
            </a:endParaRPr>
          </a:p>
        </p:txBody>
      </p:sp>
      <p:cxnSp>
        <p:nvCxnSpPr>
          <p:cNvPr id="107" name="AutoShape 261"/>
          <p:cNvCxnSpPr>
            <a:cxnSpLocks noChangeShapeType="1"/>
            <a:stCxn id="65" idx="5"/>
            <a:endCxn id="49" idx="0"/>
          </p:cNvCxnSpPr>
          <p:nvPr/>
        </p:nvCxnSpPr>
        <p:spPr bwMode="auto">
          <a:xfrm>
            <a:off x="4494705" y="3204483"/>
            <a:ext cx="357984" cy="790378"/>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AutoShape 254"/>
          <p:cNvCxnSpPr>
            <a:cxnSpLocks noChangeShapeType="1"/>
            <a:stCxn id="56" idx="3"/>
            <a:endCxn id="58" idx="1"/>
          </p:cNvCxnSpPr>
          <p:nvPr/>
        </p:nvCxnSpPr>
        <p:spPr bwMode="auto">
          <a:xfrm>
            <a:off x="8701635" y="4260607"/>
            <a:ext cx="219842" cy="0"/>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AutoShape 287"/>
          <p:cNvCxnSpPr>
            <a:cxnSpLocks noChangeShapeType="1"/>
            <a:stCxn id="55" idx="3"/>
            <a:endCxn id="36" idx="0"/>
          </p:cNvCxnSpPr>
          <p:nvPr/>
        </p:nvCxnSpPr>
        <p:spPr bwMode="auto">
          <a:xfrm flipH="1">
            <a:off x="7404756" y="4428170"/>
            <a:ext cx="576094" cy="714095"/>
          </a:xfrm>
          <a:prstGeom prst="straightConnector1">
            <a:avLst/>
          </a:prstGeom>
          <a:noFill/>
          <a:ln w="19050">
            <a:solidFill>
              <a:srgbClr val="0089F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标题 1"/>
          <p:cNvSpPr>
            <a:spLocks noGrp="1"/>
          </p:cNvSpPr>
          <p:nvPr>
            <p:ph type="title"/>
          </p:nvPr>
        </p:nvSpPr>
        <p:spPr/>
        <p:txBody>
          <a:bodyPr>
            <a:normAutofit/>
          </a:bodyPr>
          <a:lstStyle/>
          <a:p>
            <a:r>
              <a:rPr kumimoji="1" lang="zh-CN" altLang="en-US" dirty="0"/>
              <a:t>互联网的层级结构</a:t>
            </a:r>
            <a:endParaRPr lang="zh-CN" altLang="en-US" b="1" dirty="0">
              <a:latin typeface="微软雅黑" panose="020B0503020204020204" pitchFamily="34" charset="-122"/>
              <a:ea typeface="微软雅黑" panose="020B0503020204020204" pitchFamily="34" charset="-122"/>
            </a:endParaRPr>
          </a:p>
        </p:txBody>
      </p:sp>
      <p:sp>
        <p:nvSpPr>
          <p:cNvPr id="46" name="内容占位符 45"/>
          <p:cNvSpPr>
            <a:spLocks noGrp="1"/>
          </p:cNvSpPr>
          <p:nvPr>
            <p:ph idx="1"/>
          </p:nvPr>
        </p:nvSpPr>
        <p:spPr>
          <a:xfrm>
            <a:off x="359540" y="1357710"/>
            <a:ext cx="4976254" cy="5297733"/>
          </a:xfrm>
        </p:spPr>
        <p:txBody>
          <a:bodyPr>
            <a:normAutofit lnSpcReduction="10000"/>
          </a:bodyPr>
          <a:lstStyle/>
          <a:p>
            <a:r>
              <a:rPr lang="en-US" altLang="zh-CN" sz="2400" dirty="0"/>
              <a:t>Tier-1</a:t>
            </a:r>
            <a:r>
              <a:rPr lang="zh-CN" altLang="en-US" sz="2400" dirty="0"/>
              <a:t> </a:t>
            </a:r>
            <a:r>
              <a:rPr lang="en-US" altLang="zh-CN" sz="2400" dirty="0"/>
              <a:t>ISP</a:t>
            </a:r>
            <a:endParaRPr lang="en-US" altLang="zh-CN" sz="2400" dirty="0"/>
          </a:p>
          <a:p>
            <a:pPr lvl="1"/>
            <a:r>
              <a:rPr lang="zh-CN" altLang="en-US" sz="2000" dirty="0"/>
              <a:t>全球最高级别</a:t>
            </a:r>
            <a:r>
              <a:rPr lang="en-US" altLang="zh-CN" sz="2000" dirty="0"/>
              <a:t>ISP</a:t>
            </a:r>
            <a:r>
              <a:rPr lang="zh-CN" altLang="en-US" sz="2000" dirty="0"/>
              <a:t>，互不结算</a:t>
            </a:r>
            <a:endParaRPr lang="en-US" altLang="zh-CN" sz="2000" dirty="0"/>
          </a:p>
          <a:p>
            <a:pPr lvl="1"/>
            <a:r>
              <a:rPr lang="zh-CN" altLang="en-US" sz="2000" dirty="0"/>
              <a:t>中国电信、中国联通</a:t>
            </a:r>
            <a:endParaRPr lang="en-US" altLang="zh-CN" sz="2000" dirty="0"/>
          </a:p>
          <a:p>
            <a:pPr lvl="1"/>
            <a:r>
              <a:rPr lang="zh-CN" altLang="en-US" sz="2000" dirty="0"/>
              <a:t>美国</a:t>
            </a:r>
            <a:r>
              <a:rPr lang="en-US" altLang="zh-CN" sz="2000" dirty="0"/>
              <a:t>AT&amp;T</a:t>
            </a:r>
            <a:endParaRPr lang="en-US" altLang="zh-CN" sz="2000" dirty="0"/>
          </a:p>
          <a:p>
            <a:pPr lvl="1"/>
            <a:r>
              <a:rPr lang="zh-CN" altLang="en-US" sz="2000" dirty="0"/>
              <a:t>美国</a:t>
            </a:r>
            <a:r>
              <a:rPr lang="en-US" altLang="zh-CN" sz="2000" dirty="0"/>
              <a:t>Verizon</a:t>
            </a:r>
            <a:endParaRPr lang="en-US" altLang="zh-CN" sz="2000" dirty="0"/>
          </a:p>
          <a:p>
            <a:pPr lvl="1"/>
            <a:r>
              <a:rPr lang="zh-CN" altLang="en-US" sz="2000" dirty="0"/>
              <a:t>美国</a:t>
            </a:r>
            <a:r>
              <a:rPr lang="en-US" altLang="zh-CN" sz="2000" dirty="0"/>
              <a:t>Sprint</a:t>
            </a:r>
            <a:endParaRPr lang="en-US" altLang="zh-CN" sz="2000" dirty="0"/>
          </a:p>
          <a:p>
            <a:pPr lvl="1"/>
            <a:r>
              <a:rPr lang="zh-CN" altLang="en-US" sz="2000" dirty="0"/>
              <a:t>日本</a:t>
            </a:r>
            <a:r>
              <a:rPr lang="en-US" altLang="zh-CN" sz="2000" dirty="0"/>
              <a:t>NTT</a:t>
            </a:r>
            <a:endParaRPr lang="en-US" altLang="zh-CN" sz="2000" dirty="0"/>
          </a:p>
          <a:p>
            <a:pPr lvl="1"/>
            <a:r>
              <a:rPr lang="zh-CN" altLang="en-US" sz="2000" dirty="0"/>
              <a:t>日本</a:t>
            </a:r>
            <a:r>
              <a:rPr lang="en-US" altLang="zh-CN" sz="2000" dirty="0"/>
              <a:t>KDDI</a:t>
            </a:r>
            <a:endParaRPr lang="en-US" altLang="zh-CN" sz="2000" dirty="0"/>
          </a:p>
          <a:p>
            <a:pPr lvl="1"/>
            <a:r>
              <a:rPr lang="zh-CN" altLang="en-US" sz="2000" dirty="0"/>
              <a:t>新加坡</a:t>
            </a:r>
            <a:r>
              <a:rPr lang="en-US" altLang="zh-CN" sz="2000" dirty="0"/>
              <a:t>SingTel</a:t>
            </a:r>
            <a:endParaRPr lang="en-US" altLang="zh-CN" sz="2000" dirty="0"/>
          </a:p>
          <a:p>
            <a:pPr lvl="1"/>
            <a:r>
              <a:rPr lang="zh-CN" altLang="en-US" sz="2000" dirty="0"/>
              <a:t>英国</a:t>
            </a:r>
            <a:r>
              <a:rPr lang="en-US" altLang="zh-CN" sz="2000" dirty="0"/>
              <a:t>British Telecom</a:t>
            </a:r>
            <a:endParaRPr lang="en-US" altLang="zh-CN" sz="2000" dirty="0"/>
          </a:p>
          <a:p>
            <a:pPr lvl="1"/>
            <a:r>
              <a:rPr lang="zh-CN" altLang="en-US" sz="2000" dirty="0"/>
              <a:t>德国</a:t>
            </a:r>
            <a:r>
              <a:rPr lang="en-US" altLang="zh-CN" sz="2000" dirty="0"/>
              <a:t>Deutsche Telekom</a:t>
            </a:r>
            <a:endParaRPr lang="en-US" altLang="zh-CN" sz="2000" dirty="0"/>
          </a:p>
          <a:p>
            <a:r>
              <a:rPr lang="en-US" altLang="zh-CN" sz="2400" dirty="0"/>
              <a:t>Tier-2 ISP</a:t>
            </a:r>
            <a:endParaRPr lang="en-US" altLang="zh-CN" sz="2400" dirty="0"/>
          </a:p>
          <a:p>
            <a:pPr lvl="1"/>
            <a:r>
              <a:rPr lang="zh-CN" altLang="en-US" sz="2000" dirty="0"/>
              <a:t>教育网、中国移动</a:t>
            </a:r>
            <a:endParaRPr lang="en-US" altLang="zh-CN" sz="2000" dirty="0"/>
          </a:p>
          <a:p>
            <a:pPr lvl="1"/>
            <a:r>
              <a:rPr lang="zh-CN" altLang="en-US" sz="2000" dirty="0"/>
              <a:t>往往需要向更高级别</a:t>
            </a:r>
            <a:r>
              <a:rPr lang="en-US" altLang="zh-CN" sz="2000" dirty="0"/>
              <a:t>ISP</a:t>
            </a:r>
            <a:r>
              <a:rPr lang="zh-CN" altLang="en-US" sz="2000" dirty="0"/>
              <a:t>交流量费</a:t>
            </a:r>
            <a:endParaRPr lang="zh-CN" altLang="en-US" sz="2000" dirty="0"/>
          </a:p>
        </p:txBody>
      </p:sp>
      <p:sp>
        <p:nvSpPr>
          <p:cNvPr id="9" name="矩形 8"/>
          <p:cNvSpPr/>
          <p:nvPr/>
        </p:nvSpPr>
        <p:spPr>
          <a:xfrm>
            <a:off x="5845344" y="5823260"/>
            <a:ext cx="4411785" cy="707886"/>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网络服务提供商（</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ISP</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）及层次化结构</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（实际网络结构要复杂得多）</a:t>
            </a:r>
            <a:endPar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0" name="矩形 109"/>
          <p:cNvSpPr/>
          <p:nvPr/>
        </p:nvSpPr>
        <p:spPr>
          <a:xfrm>
            <a:off x="4265919" y="6518067"/>
            <a:ext cx="3262432"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计算机网络</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，徐敬东等</a:t>
            </a:r>
            <a:endParaRPr lang="zh-CN" altLang="en-US" sz="1600" dirty="0">
              <a:solidFill>
                <a:schemeClr val="bg1">
                  <a:lumMod val="65000"/>
                </a:schemeClr>
              </a:solidFill>
            </a:endParaRPr>
          </a:p>
        </p:txBody>
      </p:sp>
      <p:sp>
        <p:nvSpPr>
          <p:cNvPr id="111" name="文本框 110"/>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互联网的构成</a:t>
            </a:r>
            <a:endParaRPr kumimoji="1" lang="zh-CN" altLang="en-US" dirty="0"/>
          </a:p>
        </p:txBody>
      </p:sp>
      <p:grpSp>
        <p:nvGrpSpPr>
          <p:cNvPr id="6" name="Group 800"/>
          <p:cNvGrpSpPr/>
          <p:nvPr/>
        </p:nvGrpSpPr>
        <p:grpSpPr>
          <a:xfrm>
            <a:off x="6576935" y="1317389"/>
            <a:ext cx="5395871" cy="4750089"/>
            <a:chOff x="7211070" y="1381732"/>
            <a:chExt cx="4716352" cy="4906833"/>
          </a:xfrm>
        </p:grpSpPr>
        <p:sp>
          <p:nvSpPr>
            <p:cNvPr id="421" name="Freeform 370"/>
            <p:cNvSpPr/>
            <p:nvPr/>
          </p:nvSpPr>
          <p:spPr>
            <a:xfrm>
              <a:off x="9048399" y="3278377"/>
              <a:ext cx="1124807" cy="1077683"/>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1" fmla="*/ 434989 w 1537226"/>
                <a:gd name="connsiteY0-2" fmla="*/ 253346 h 1763594"/>
                <a:gd name="connsiteX1-3" fmla="*/ 488 w 1537226"/>
                <a:gd name="connsiteY1-4" fmla="*/ 921706 h 1763594"/>
                <a:gd name="connsiteX2-5" fmla="*/ 368142 w 1537226"/>
                <a:gd name="connsiteY2-6" fmla="*/ 1489812 h 1763594"/>
                <a:gd name="connsiteX3-7" fmla="*/ 1187008 w 1537226"/>
                <a:gd name="connsiteY3-8" fmla="*/ 1757156 h 1763594"/>
                <a:gd name="connsiteX4-9" fmla="*/ 1521239 w 1537226"/>
                <a:gd name="connsiteY4-10" fmla="*/ 1239177 h 1763594"/>
                <a:gd name="connsiteX5-11" fmla="*/ 1468998 w 1537226"/>
                <a:gd name="connsiteY5-12" fmla="*/ 654362 h 1763594"/>
                <a:gd name="connsiteX6-13" fmla="*/ 1337412 w 1537226"/>
                <a:gd name="connsiteY6-14" fmla="*/ 136383 h 1763594"/>
                <a:gd name="connsiteX7-15" fmla="*/ 1086739 w 1537226"/>
                <a:gd name="connsiteY7-16" fmla="*/ 2711 h 1763594"/>
                <a:gd name="connsiteX8-17" fmla="*/ 434989 w 1537226"/>
                <a:gd name="connsiteY8-18" fmla="*/ 253346 h 1763594"/>
                <a:gd name="connsiteX0-19" fmla="*/ 434989 w 1537226"/>
                <a:gd name="connsiteY0-20" fmla="*/ 253346 h 1763594"/>
                <a:gd name="connsiteX1-21" fmla="*/ 488 w 1537226"/>
                <a:gd name="connsiteY1-22" fmla="*/ 921706 h 1763594"/>
                <a:gd name="connsiteX2-23" fmla="*/ 368142 w 1537226"/>
                <a:gd name="connsiteY2-24" fmla="*/ 1489812 h 1763594"/>
                <a:gd name="connsiteX3-25" fmla="*/ 1187008 w 1537226"/>
                <a:gd name="connsiteY3-26" fmla="*/ 1757156 h 1763594"/>
                <a:gd name="connsiteX4-27" fmla="*/ 1521239 w 1537226"/>
                <a:gd name="connsiteY4-28" fmla="*/ 1239177 h 1763594"/>
                <a:gd name="connsiteX5-29" fmla="*/ 1468998 w 1537226"/>
                <a:gd name="connsiteY5-30" fmla="*/ 654362 h 1763594"/>
                <a:gd name="connsiteX6-31" fmla="*/ 1337412 w 1537226"/>
                <a:gd name="connsiteY6-32" fmla="*/ 136383 h 1763594"/>
                <a:gd name="connsiteX7-33" fmla="*/ 839572 w 1537226"/>
                <a:gd name="connsiteY7-34" fmla="*/ 2711 h 1763594"/>
                <a:gd name="connsiteX8-35" fmla="*/ 434989 w 1537226"/>
                <a:gd name="connsiteY8-36" fmla="*/ 253346 h 1763594"/>
                <a:gd name="connsiteX0-37" fmla="*/ 360357 w 1536743"/>
                <a:gd name="connsiteY0-38" fmla="*/ 534641 h 1782088"/>
                <a:gd name="connsiteX1-39" fmla="*/ 5 w 1536743"/>
                <a:gd name="connsiteY1-40" fmla="*/ 940200 h 1782088"/>
                <a:gd name="connsiteX2-41" fmla="*/ 367659 w 1536743"/>
                <a:gd name="connsiteY2-42" fmla="*/ 1508306 h 1782088"/>
                <a:gd name="connsiteX3-43" fmla="*/ 1186525 w 1536743"/>
                <a:gd name="connsiteY3-44" fmla="*/ 1775650 h 1782088"/>
                <a:gd name="connsiteX4-45" fmla="*/ 1520756 w 1536743"/>
                <a:gd name="connsiteY4-46" fmla="*/ 1257671 h 1782088"/>
                <a:gd name="connsiteX5-47" fmla="*/ 1468515 w 1536743"/>
                <a:gd name="connsiteY5-48" fmla="*/ 672856 h 1782088"/>
                <a:gd name="connsiteX6-49" fmla="*/ 1336929 w 1536743"/>
                <a:gd name="connsiteY6-50" fmla="*/ 154877 h 1782088"/>
                <a:gd name="connsiteX7-51" fmla="*/ 839089 w 1536743"/>
                <a:gd name="connsiteY7-52" fmla="*/ 21205 h 1782088"/>
                <a:gd name="connsiteX8-53" fmla="*/ 360357 w 1536743"/>
                <a:gd name="connsiteY8-54" fmla="*/ 534641 h 1782088"/>
                <a:gd name="connsiteX0-55" fmla="*/ 360355 w 1536741"/>
                <a:gd name="connsiteY0-56" fmla="*/ 534641 h 1782088"/>
                <a:gd name="connsiteX1-57" fmla="*/ 3 w 1536741"/>
                <a:gd name="connsiteY1-58" fmla="*/ 940200 h 1782088"/>
                <a:gd name="connsiteX2-59" fmla="*/ 367657 w 1536741"/>
                <a:gd name="connsiteY2-60" fmla="*/ 1508306 h 1782088"/>
                <a:gd name="connsiteX3-61" fmla="*/ 1186523 w 1536741"/>
                <a:gd name="connsiteY3-62" fmla="*/ 1775650 h 1782088"/>
                <a:gd name="connsiteX4-63" fmla="*/ 1520754 w 1536741"/>
                <a:gd name="connsiteY4-64" fmla="*/ 1257671 h 1782088"/>
                <a:gd name="connsiteX5-65" fmla="*/ 1468513 w 1536741"/>
                <a:gd name="connsiteY5-66" fmla="*/ 672856 h 1782088"/>
                <a:gd name="connsiteX6-67" fmla="*/ 1336927 w 1536741"/>
                <a:gd name="connsiteY6-68" fmla="*/ 154877 h 1782088"/>
                <a:gd name="connsiteX7-69" fmla="*/ 839087 w 1536741"/>
                <a:gd name="connsiteY7-70" fmla="*/ 21205 h 1782088"/>
                <a:gd name="connsiteX8-71" fmla="*/ 360355 w 1536741"/>
                <a:gd name="connsiteY8-72" fmla="*/ 534641 h 1782088"/>
                <a:gd name="connsiteX0-73" fmla="*/ 382604 w 1558990"/>
                <a:gd name="connsiteY0-74" fmla="*/ 534641 h 1810599"/>
                <a:gd name="connsiteX1-75" fmla="*/ 22252 w 1558990"/>
                <a:gd name="connsiteY1-76" fmla="*/ 940200 h 1810599"/>
                <a:gd name="connsiteX2-77" fmla="*/ 167457 w 1558990"/>
                <a:gd name="connsiteY2-78" fmla="*/ 1672556 h 1810599"/>
                <a:gd name="connsiteX3-79" fmla="*/ 1208772 w 1558990"/>
                <a:gd name="connsiteY3-80" fmla="*/ 1775650 h 1810599"/>
                <a:gd name="connsiteX4-81" fmla="*/ 1543003 w 1558990"/>
                <a:gd name="connsiteY4-82" fmla="*/ 1257671 h 1810599"/>
                <a:gd name="connsiteX5-83" fmla="*/ 1490762 w 1558990"/>
                <a:gd name="connsiteY5-84" fmla="*/ 672856 h 1810599"/>
                <a:gd name="connsiteX6-85" fmla="*/ 1359176 w 1558990"/>
                <a:gd name="connsiteY6-86" fmla="*/ 154877 h 1810599"/>
                <a:gd name="connsiteX7-87" fmla="*/ 861336 w 1558990"/>
                <a:gd name="connsiteY7-88" fmla="*/ 21205 h 1810599"/>
                <a:gd name="connsiteX8-89" fmla="*/ 382604 w 1558990"/>
                <a:gd name="connsiteY8-90" fmla="*/ 534641 h 1810599"/>
                <a:gd name="connsiteX0-91" fmla="*/ 393458 w 1593840"/>
                <a:gd name="connsiteY0-92" fmla="*/ 534641 h 1793264"/>
                <a:gd name="connsiteX1-93" fmla="*/ 33106 w 1593840"/>
                <a:gd name="connsiteY1-94" fmla="*/ 940200 h 1793264"/>
                <a:gd name="connsiteX2-95" fmla="*/ 178311 w 1593840"/>
                <a:gd name="connsiteY2-96" fmla="*/ 1672556 h 1793264"/>
                <a:gd name="connsiteX3-97" fmla="*/ 1464139 w 1593840"/>
                <a:gd name="connsiteY3-98" fmla="*/ 1752440 h 1793264"/>
                <a:gd name="connsiteX4-99" fmla="*/ 1553857 w 1593840"/>
                <a:gd name="connsiteY4-100" fmla="*/ 1257671 h 1793264"/>
                <a:gd name="connsiteX5-101" fmla="*/ 1501616 w 1593840"/>
                <a:gd name="connsiteY5-102" fmla="*/ 672856 h 1793264"/>
                <a:gd name="connsiteX6-103" fmla="*/ 1370030 w 1593840"/>
                <a:gd name="connsiteY6-104" fmla="*/ 154877 h 1793264"/>
                <a:gd name="connsiteX7-105" fmla="*/ 872190 w 1593840"/>
                <a:gd name="connsiteY7-106" fmla="*/ 21205 h 1793264"/>
                <a:gd name="connsiteX8-107" fmla="*/ 393458 w 1593840"/>
                <a:gd name="connsiteY8-108" fmla="*/ 534641 h 1793264"/>
                <a:gd name="connsiteX0-109" fmla="*/ 393458 w 1566550"/>
                <a:gd name="connsiteY0-110" fmla="*/ 534641 h 1840341"/>
                <a:gd name="connsiteX1-111" fmla="*/ 33106 w 1566550"/>
                <a:gd name="connsiteY1-112" fmla="*/ 940200 h 1840341"/>
                <a:gd name="connsiteX2-113" fmla="*/ 178311 w 1566550"/>
                <a:gd name="connsiteY2-114" fmla="*/ 1672556 h 1840341"/>
                <a:gd name="connsiteX3-115" fmla="*/ 1464139 w 1566550"/>
                <a:gd name="connsiteY3-116" fmla="*/ 1752440 h 1840341"/>
                <a:gd name="connsiteX4-117" fmla="*/ 1553857 w 1566550"/>
                <a:gd name="connsiteY4-118" fmla="*/ 1257671 h 1840341"/>
                <a:gd name="connsiteX5-119" fmla="*/ 1501616 w 1566550"/>
                <a:gd name="connsiteY5-120" fmla="*/ 672856 h 1840341"/>
                <a:gd name="connsiteX6-121" fmla="*/ 1370030 w 1566550"/>
                <a:gd name="connsiteY6-122" fmla="*/ 154877 h 1840341"/>
                <a:gd name="connsiteX7-123" fmla="*/ 872190 w 1566550"/>
                <a:gd name="connsiteY7-124" fmla="*/ 21205 h 1840341"/>
                <a:gd name="connsiteX8-125" fmla="*/ 393458 w 1566550"/>
                <a:gd name="connsiteY8-126" fmla="*/ 534641 h 1840341"/>
                <a:gd name="connsiteX0-127" fmla="*/ 393458 w 1555557"/>
                <a:gd name="connsiteY0-128" fmla="*/ 534641 h 1787187"/>
                <a:gd name="connsiteX1-129" fmla="*/ 33106 w 1555557"/>
                <a:gd name="connsiteY1-130" fmla="*/ 940200 h 1787187"/>
                <a:gd name="connsiteX2-131" fmla="*/ 178311 w 1555557"/>
                <a:gd name="connsiteY2-132" fmla="*/ 1672556 h 1787187"/>
                <a:gd name="connsiteX3-133" fmla="*/ 1464139 w 1555557"/>
                <a:gd name="connsiteY3-134" fmla="*/ 1752440 h 1787187"/>
                <a:gd name="connsiteX4-135" fmla="*/ 1553857 w 1555557"/>
                <a:gd name="connsiteY4-136" fmla="*/ 1257671 h 1787187"/>
                <a:gd name="connsiteX5-137" fmla="*/ 1501616 w 1555557"/>
                <a:gd name="connsiteY5-138" fmla="*/ 672856 h 1787187"/>
                <a:gd name="connsiteX6-139" fmla="*/ 1370030 w 1555557"/>
                <a:gd name="connsiteY6-140" fmla="*/ 154877 h 1787187"/>
                <a:gd name="connsiteX7-141" fmla="*/ 872190 w 1555557"/>
                <a:gd name="connsiteY7-142" fmla="*/ 21205 h 1787187"/>
                <a:gd name="connsiteX8-143" fmla="*/ 393458 w 1555557"/>
                <a:gd name="connsiteY8-144" fmla="*/ 534641 h 1787187"/>
                <a:gd name="connsiteX0-145" fmla="*/ 401126 w 1664928"/>
                <a:gd name="connsiteY0-146" fmla="*/ 534641 h 1783934"/>
                <a:gd name="connsiteX1-147" fmla="*/ 40774 w 1664928"/>
                <a:gd name="connsiteY1-148" fmla="*/ 940200 h 1783934"/>
                <a:gd name="connsiteX2-149" fmla="*/ 185979 w 1664928"/>
                <a:gd name="connsiteY2-150" fmla="*/ 1672556 h 1783934"/>
                <a:gd name="connsiteX3-151" fmla="*/ 1618513 w 1664928"/>
                <a:gd name="connsiteY3-152" fmla="*/ 1747798 h 1783934"/>
                <a:gd name="connsiteX4-153" fmla="*/ 1561525 w 1664928"/>
                <a:gd name="connsiteY4-154" fmla="*/ 1257671 h 1783934"/>
                <a:gd name="connsiteX5-155" fmla="*/ 1509284 w 1664928"/>
                <a:gd name="connsiteY5-156" fmla="*/ 672856 h 1783934"/>
                <a:gd name="connsiteX6-157" fmla="*/ 1377698 w 1664928"/>
                <a:gd name="connsiteY6-158" fmla="*/ 154877 h 1783934"/>
                <a:gd name="connsiteX7-159" fmla="*/ 879858 w 1664928"/>
                <a:gd name="connsiteY7-160" fmla="*/ 21205 h 1783934"/>
                <a:gd name="connsiteX8-161" fmla="*/ 401126 w 1664928"/>
                <a:gd name="connsiteY8-162" fmla="*/ 534641 h 1783934"/>
                <a:gd name="connsiteX0-163" fmla="*/ 408119 w 1718774"/>
                <a:gd name="connsiteY0-164" fmla="*/ 534641 h 1826522"/>
                <a:gd name="connsiteX1-165" fmla="*/ 47767 w 1718774"/>
                <a:gd name="connsiteY1-166" fmla="*/ 940200 h 1826522"/>
                <a:gd name="connsiteX2-167" fmla="*/ 179001 w 1718774"/>
                <a:gd name="connsiteY2-168" fmla="*/ 1742186 h 1826522"/>
                <a:gd name="connsiteX3-169" fmla="*/ 1625506 w 1718774"/>
                <a:gd name="connsiteY3-170" fmla="*/ 1747798 h 1826522"/>
                <a:gd name="connsiteX4-171" fmla="*/ 1568518 w 1718774"/>
                <a:gd name="connsiteY4-172" fmla="*/ 1257671 h 1826522"/>
                <a:gd name="connsiteX5-173" fmla="*/ 1516277 w 1718774"/>
                <a:gd name="connsiteY5-174" fmla="*/ 672856 h 1826522"/>
                <a:gd name="connsiteX6-175" fmla="*/ 1384691 w 1718774"/>
                <a:gd name="connsiteY6-176" fmla="*/ 154877 h 1826522"/>
                <a:gd name="connsiteX7-177" fmla="*/ 886851 w 1718774"/>
                <a:gd name="connsiteY7-178" fmla="*/ 21205 h 1826522"/>
                <a:gd name="connsiteX8-179" fmla="*/ 408119 w 1718774"/>
                <a:gd name="connsiteY8-180" fmla="*/ 534641 h 1826522"/>
                <a:gd name="connsiteX0-181" fmla="*/ 477759 w 1796623"/>
                <a:gd name="connsiteY0-182" fmla="*/ 534641 h 1818043"/>
                <a:gd name="connsiteX1-183" fmla="*/ 117407 w 1796623"/>
                <a:gd name="connsiteY1-184" fmla="*/ 940200 h 1818043"/>
                <a:gd name="connsiteX2-185" fmla="*/ 136864 w 1796623"/>
                <a:gd name="connsiteY2-186" fmla="*/ 1728260 h 1818043"/>
                <a:gd name="connsiteX3-187" fmla="*/ 1695146 w 1796623"/>
                <a:gd name="connsiteY3-188" fmla="*/ 1747798 h 1818043"/>
                <a:gd name="connsiteX4-189" fmla="*/ 1638158 w 1796623"/>
                <a:gd name="connsiteY4-190" fmla="*/ 1257671 h 1818043"/>
                <a:gd name="connsiteX5-191" fmla="*/ 1585917 w 1796623"/>
                <a:gd name="connsiteY5-192" fmla="*/ 672856 h 1818043"/>
                <a:gd name="connsiteX6-193" fmla="*/ 1454331 w 1796623"/>
                <a:gd name="connsiteY6-194" fmla="*/ 154877 h 1818043"/>
                <a:gd name="connsiteX7-195" fmla="*/ 956491 w 1796623"/>
                <a:gd name="connsiteY7-196" fmla="*/ 21205 h 1818043"/>
                <a:gd name="connsiteX8-197" fmla="*/ 477759 w 1796623"/>
                <a:gd name="connsiteY8-198" fmla="*/ 534641 h 1818043"/>
                <a:gd name="connsiteX0-199" fmla="*/ 396783 w 1688820"/>
                <a:gd name="connsiteY0-200" fmla="*/ 534641 h 1815615"/>
                <a:gd name="connsiteX1-201" fmla="*/ 36431 w 1688820"/>
                <a:gd name="connsiteY1-202" fmla="*/ 940200 h 1815615"/>
                <a:gd name="connsiteX2-203" fmla="*/ 55888 w 1688820"/>
                <a:gd name="connsiteY2-204" fmla="*/ 1728260 h 1815615"/>
                <a:gd name="connsiteX3-205" fmla="*/ 421834 w 1688820"/>
                <a:gd name="connsiteY3-206" fmla="*/ 1798118 h 1815615"/>
                <a:gd name="connsiteX4-207" fmla="*/ 1614170 w 1688820"/>
                <a:gd name="connsiteY4-208" fmla="*/ 1747798 h 1815615"/>
                <a:gd name="connsiteX5-209" fmla="*/ 1557182 w 1688820"/>
                <a:gd name="connsiteY5-210" fmla="*/ 1257671 h 1815615"/>
                <a:gd name="connsiteX6-211" fmla="*/ 1504941 w 1688820"/>
                <a:gd name="connsiteY6-212" fmla="*/ 672856 h 1815615"/>
                <a:gd name="connsiteX7-213" fmla="*/ 1373355 w 1688820"/>
                <a:gd name="connsiteY7-214" fmla="*/ 154877 h 1815615"/>
                <a:gd name="connsiteX8-215" fmla="*/ 875515 w 1688820"/>
                <a:gd name="connsiteY8-216" fmla="*/ 21205 h 1815615"/>
                <a:gd name="connsiteX9" fmla="*/ 396783 w 1688820"/>
                <a:gd name="connsiteY9" fmla="*/ 534641 h 1815615"/>
                <a:gd name="connsiteX0-217" fmla="*/ 394951 w 1689541"/>
                <a:gd name="connsiteY0-218" fmla="*/ 534641 h 1877271"/>
                <a:gd name="connsiteX1-219" fmla="*/ 34599 w 1689541"/>
                <a:gd name="connsiteY1-220" fmla="*/ 940200 h 1877271"/>
                <a:gd name="connsiteX2-221" fmla="*/ 54056 w 1689541"/>
                <a:gd name="connsiteY2-222" fmla="*/ 1728260 h 1877271"/>
                <a:gd name="connsiteX3-223" fmla="*/ 385071 w 1689541"/>
                <a:gd name="connsiteY3-224" fmla="*/ 1877032 h 1877271"/>
                <a:gd name="connsiteX4-225" fmla="*/ 1612338 w 1689541"/>
                <a:gd name="connsiteY4-226" fmla="*/ 1747798 h 1877271"/>
                <a:gd name="connsiteX5-227" fmla="*/ 1555350 w 1689541"/>
                <a:gd name="connsiteY5-228" fmla="*/ 1257671 h 1877271"/>
                <a:gd name="connsiteX6-229" fmla="*/ 1503109 w 1689541"/>
                <a:gd name="connsiteY6-230" fmla="*/ 672856 h 1877271"/>
                <a:gd name="connsiteX7-231" fmla="*/ 1371523 w 1689541"/>
                <a:gd name="connsiteY7-232" fmla="*/ 154877 h 1877271"/>
                <a:gd name="connsiteX8-233" fmla="*/ 873683 w 1689541"/>
                <a:gd name="connsiteY8-234" fmla="*/ 21205 h 1877271"/>
                <a:gd name="connsiteX9-235" fmla="*/ 394951 w 1689541"/>
                <a:gd name="connsiteY9-236" fmla="*/ 534641 h 1877271"/>
                <a:gd name="connsiteX0-237" fmla="*/ 394949 w 1689541"/>
                <a:gd name="connsiteY0-238" fmla="*/ 534641 h 1877032"/>
                <a:gd name="connsiteX1-239" fmla="*/ 34597 w 1689541"/>
                <a:gd name="connsiteY1-240" fmla="*/ 940200 h 1877032"/>
                <a:gd name="connsiteX2-241" fmla="*/ 54054 w 1689541"/>
                <a:gd name="connsiteY2-242" fmla="*/ 1728260 h 1877032"/>
                <a:gd name="connsiteX3-243" fmla="*/ 385069 w 1689541"/>
                <a:gd name="connsiteY3-244" fmla="*/ 1877032 h 1877032"/>
                <a:gd name="connsiteX4-245" fmla="*/ 1612336 w 1689541"/>
                <a:gd name="connsiteY4-246" fmla="*/ 1747798 h 1877032"/>
                <a:gd name="connsiteX5-247" fmla="*/ 1555348 w 1689541"/>
                <a:gd name="connsiteY5-248" fmla="*/ 1257671 h 1877032"/>
                <a:gd name="connsiteX6-249" fmla="*/ 1503107 w 1689541"/>
                <a:gd name="connsiteY6-250" fmla="*/ 672856 h 1877032"/>
                <a:gd name="connsiteX7-251" fmla="*/ 1371521 w 1689541"/>
                <a:gd name="connsiteY7-252" fmla="*/ 154877 h 1877032"/>
                <a:gd name="connsiteX8-253" fmla="*/ 873681 w 1689541"/>
                <a:gd name="connsiteY8-254" fmla="*/ 21205 h 1877032"/>
                <a:gd name="connsiteX9-255" fmla="*/ 394949 w 1689541"/>
                <a:gd name="connsiteY9-256" fmla="*/ 534641 h 1877032"/>
                <a:gd name="connsiteX0-257" fmla="*/ 394949 w 1683795"/>
                <a:gd name="connsiteY0-258" fmla="*/ 534641 h 1877032"/>
                <a:gd name="connsiteX1-259" fmla="*/ 34597 w 1683795"/>
                <a:gd name="connsiteY1-260" fmla="*/ 940200 h 1877032"/>
                <a:gd name="connsiteX2-261" fmla="*/ 54054 w 1683795"/>
                <a:gd name="connsiteY2-262" fmla="*/ 1728260 h 1877032"/>
                <a:gd name="connsiteX3-263" fmla="*/ 385069 w 1683795"/>
                <a:gd name="connsiteY3-264" fmla="*/ 1877032 h 1877032"/>
                <a:gd name="connsiteX4-265" fmla="*/ 1605349 w 1683795"/>
                <a:gd name="connsiteY4-266" fmla="*/ 1798860 h 1877032"/>
                <a:gd name="connsiteX5-267" fmla="*/ 1555348 w 1683795"/>
                <a:gd name="connsiteY5-268" fmla="*/ 1257671 h 1877032"/>
                <a:gd name="connsiteX6-269" fmla="*/ 1503107 w 1683795"/>
                <a:gd name="connsiteY6-270" fmla="*/ 672856 h 1877032"/>
                <a:gd name="connsiteX7-271" fmla="*/ 1371521 w 1683795"/>
                <a:gd name="connsiteY7-272" fmla="*/ 154877 h 1877032"/>
                <a:gd name="connsiteX8-273" fmla="*/ 873681 w 1683795"/>
                <a:gd name="connsiteY8-274" fmla="*/ 21205 h 1877032"/>
                <a:gd name="connsiteX9-275" fmla="*/ 394949 w 1683795"/>
                <a:gd name="connsiteY9-276" fmla="*/ 534641 h 1877032"/>
                <a:gd name="connsiteX0-277" fmla="*/ 394949 w 1720794"/>
                <a:gd name="connsiteY0-278" fmla="*/ 534641 h 1877032"/>
                <a:gd name="connsiteX1-279" fmla="*/ 34597 w 1720794"/>
                <a:gd name="connsiteY1-280" fmla="*/ 940200 h 1877032"/>
                <a:gd name="connsiteX2-281" fmla="*/ 54054 w 1720794"/>
                <a:gd name="connsiteY2-282" fmla="*/ 1728260 h 1877032"/>
                <a:gd name="connsiteX3-283" fmla="*/ 385069 w 1720794"/>
                <a:gd name="connsiteY3-284" fmla="*/ 1877032 h 1877032"/>
                <a:gd name="connsiteX4-285" fmla="*/ 1605349 w 1720794"/>
                <a:gd name="connsiteY4-286" fmla="*/ 1798860 h 1877032"/>
                <a:gd name="connsiteX5-287" fmla="*/ 1555348 w 1720794"/>
                <a:gd name="connsiteY5-288" fmla="*/ 1257671 h 1877032"/>
                <a:gd name="connsiteX6-289" fmla="*/ 1503107 w 1720794"/>
                <a:gd name="connsiteY6-290" fmla="*/ 672856 h 1877032"/>
                <a:gd name="connsiteX7-291" fmla="*/ 1371521 w 1720794"/>
                <a:gd name="connsiteY7-292" fmla="*/ 154877 h 1877032"/>
                <a:gd name="connsiteX8-293" fmla="*/ 873681 w 1720794"/>
                <a:gd name="connsiteY8-294" fmla="*/ 21205 h 1877032"/>
                <a:gd name="connsiteX9-295" fmla="*/ 394949 w 1720794"/>
                <a:gd name="connsiteY9-296" fmla="*/ 534641 h 1877032"/>
                <a:gd name="connsiteX0-297" fmla="*/ 394949 w 1720794"/>
                <a:gd name="connsiteY0-298" fmla="*/ 534641 h 1877032"/>
                <a:gd name="connsiteX1-299" fmla="*/ 34597 w 1720794"/>
                <a:gd name="connsiteY1-300" fmla="*/ 940200 h 1877032"/>
                <a:gd name="connsiteX2-301" fmla="*/ 54054 w 1720794"/>
                <a:gd name="connsiteY2-302" fmla="*/ 1728260 h 1877032"/>
                <a:gd name="connsiteX3-303" fmla="*/ 385069 w 1720794"/>
                <a:gd name="connsiteY3-304" fmla="*/ 1877032 h 1877032"/>
                <a:gd name="connsiteX4-305" fmla="*/ 1605349 w 1720794"/>
                <a:gd name="connsiteY4-306" fmla="*/ 1798860 h 1877032"/>
                <a:gd name="connsiteX5-307" fmla="*/ 1555348 w 1720794"/>
                <a:gd name="connsiteY5-308" fmla="*/ 1257671 h 1877032"/>
                <a:gd name="connsiteX6-309" fmla="*/ 1503107 w 1720794"/>
                <a:gd name="connsiteY6-310" fmla="*/ 672856 h 1877032"/>
                <a:gd name="connsiteX7-311" fmla="*/ 1371521 w 1720794"/>
                <a:gd name="connsiteY7-312" fmla="*/ 154877 h 1877032"/>
                <a:gd name="connsiteX8-313" fmla="*/ 873681 w 1720794"/>
                <a:gd name="connsiteY8-314" fmla="*/ 21205 h 1877032"/>
                <a:gd name="connsiteX9-315" fmla="*/ 394949 w 1720794"/>
                <a:gd name="connsiteY9-316" fmla="*/ 534641 h 1877032"/>
                <a:gd name="connsiteX0-317" fmla="*/ 394949 w 1671512"/>
                <a:gd name="connsiteY0-318" fmla="*/ 534641 h 1877032"/>
                <a:gd name="connsiteX1-319" fmla="*/ 34597 w 1671512"/>
                <a:gd name="connsiteY1-320" fmla="*/ 940200 h 1877032"/>
                <a:gd name="connsiteX2-321" fmla="*/ 54054 w 1671512"/>
                <a:gd name="connsiteY2-322" fmla="*/ 1728260 h 1877032"/>
                <a:gd name="connsiteX3-323" fmla="*/ 385069 w 1671512"/>
                <a:gd name="connsiteY3-324" fmla="*/ 1877032 h 1877032"/>
                <a:gd name="connsiteX4-325" fmla="*/ 1605349 w 1671512"/>
                <a:gd name="connsiteY4-326" fmla="*/ 1798860 h 1877032"/>
                <a:gd name="connsiteX5-327" fmla="*/ 1555348 w 1671512"/>
                <a:gd name="connsiteY5-328" fmla="*/ 1257671 h 1877032"/>
                <a:gd name="connsiteX6-329" fmla="*/ 1503107 w 1671512"/>
                <a:gd name="connsiteY6-330" fmla="*/ 672856 h 1877032"/>
                <a:gd name="connsiteX7-331" fmla="*/ 1371521 w 1671512"/>
                <a:gd name="connsiteY7-332" fmla="*/ 154877 h 1877032"/>
                <a:gd name="connsiteX8-333" fmla="*/ 873681 w 1671512"/>
                <a:gd name="connsiteY8-334" fmla="*/ 21205 h 1877032"/>
                <a:gd name="connsiteX9-335" fmla="*/ 394949 w 1671512"/>
                <a:gd name="connsiteY9-336" fmla="*/ 534641 h 1877032"/>
                <a:gd name="connsiteX0-337" fmla="*/ 394949 w 1677296"/>
                <a:gd name="connsiteY0-338" fmla="*/ 534641 h 1877032"/>
                <a:gd name="connsiteX1-339" fmla="*/ 34597 w 1677296"/>
                <a:gd name="connsiteY1-340" fmla="*/ 940200 h 1877032"/>
                <a:gd name="connsiteX2-341" fmla="*/ 54054 w 1677296"/>
                <a:gd name="connsiteY2-342" fmla="*/ 1728260 h 1877032"/>
                <a:gd name="connsiteX3-343" fmla="*/ 385069 w 1677296"/>
                <a:gd name="connsiteY3-344" fmla="*/ 1877032 h 1877032"/>
                <a:gd name="connsiteX4-345" fmla="*/ 1612334 w 1677296"/>
                <a:gd name="connsiteY4-346" fmla="*/ 1840637 h 1877032"/>
                <a:gd name="connsiteX5-347" fmla="*/ 1555348 w 1677296"/>
                <a:gd name="connsiteY5-348" fmla="*/ 1257671 h 1877032"/>
                <a:gd name="connsiteX6-349" fmla="*/ 1503107 w 1677296"/>
                <a:gd name="connsiteY6-350" fmla="*/ 672856 h 1877032"/>
                <a:gd name="connsiteX7-351" fmla="*/ 1371521 w 1677296"/>
                <a:gd name="connsiteY7-352" fmla="*/ 154877 h 1877032"/>
                <a:gd name="connsiteX8-353" fmla="*/ 873681 w 1677296"/>
                <a:gd name="connsiteY8-354" fmla="*/ 21205 h 1877032"/>
                <a:gd name="connsiteX9-355" fmla="*/ 394949 w 1677296"/>
                <a:gd name="connsiteY9-356" fmla="*/ 534641 h 1877032"/>
                <a:gd name="connsiteX0-357" fmla="*/ 394949 w 1677298"/>
                <a:gd name="connsiteY0-358" fmla="*/ 534641 h 1877032"/>
                <a:gd name="connsiteX1-359" fmla="*/ 34597 w 1677298"/>
                <a:gd name="connsiteY1-360" fmla="*/ 940200 h 1877032"/>
                <a:gd name="connsiteX2-361" fmla="*/ 54054 w 1677298"/>
                <a:gd name="connsiteY2-362" fmla="*/ 1728260 h 1877032"/>
                <a:gd name="connsiteX3-363" fmla="*/ 385069 w 1677298"/>
                <a:gd name="connsiteY3-364" fmla="*/ 1877032 h 1877032"/>
                <a:gd name="connsiteX4-365" fmla="*/ 1612334 w 1677298"/>
                <a:gd name="connsiteY4-366" fmla="*/ 1840637 h 1877032"/>
                <a:gd name="connsiteX5-367" fmla="*/ 1555348 w 1677298"/>
                <a:gd name="connsiteY5-368" fmla="*/ 1257671 h 1877032"/>
                <a:gd name="connsiteX6-369" fmla="*/ 1503107 w 1677298"/>
                <a:gd name="connsiteY6-370" fmla="*/ 672856 h 1877032"/>
                <a:gd name="connsiteX7-371" fmla="*/ 1371521 w 1677298"/>
                <a:gd name="connsiteY7-372" fmla="*/ 154877 h 1877032"/>
                <a:gd name="connsiteX8-373" fmla="*/ 873681 w 1677298"/>
                <a:gd name="connsiteY8-374" fmla="*/ 21205 h 1877032"/>
                <a:gd name="connsiteX9-375" fmla="*/ 394949 w 1677298"/>
                <a:gd name="connsiteY9-376" fmla="*/ 534641 h 1877032"/>
                <a:gd name="connsiteX0-377" fmla="*/ 394949 w 1677296"/>
                <a:gd name="connsiteY0-378" fmla="*/ 534641 h 1904936"/>
                <a:gd name="connsiteX1-379" fmla="*/ 34597 w 1677296"/>
                <a:gd name="connsiteY1-380" fmla="*/ 940200 h 1904936"/>
                <a:gd name="connsiteX2-381" fmla="*/ 54054 w 1677296"/>
                <a:gd name="connsiteY2-382" fmla="*/ 1728260 h 1904936"/>
                <a:gd name="connsiteX3-383" fmla="*/ 385069 w 1677296"/>
                <a:gd name="connsiteY3-384" fmla="*/ 1877032 h 1904936"/>
                <a:gd name="connsiteX4-385" fmla="*/ 1612334 w 1677296"/>
                <a:gd name="connsiteY4-386" fmla="*/ 1840637 h 1904936"/>
                <a:gd name="connsiteX5-387" fmla="*/ 1555348 w 1677296"/>
                <a:gd name="connsiteY5-388" fmla="*/ 1257671 h 1904936"/>
                <a:gd name="connsiteX6-389" fmla="*/ 1503107 w 1677296"/>
                <a:gd name="connsiteY6-390" fmla="*/ 672856 h 1904936"/>
                <a:gd name="connsiteX7-391" fmla="*/ 1371521 w 1677296"/>
                <a:gd name="connsiteY7-392" fmla="*/ 154877 h 1904936"/>
                <a:gd name="connsiteX8-393" fmla="*/ 873681 w 1677296"/>
                <a:gd name="connsiteY8-394" fmla="*/ 21205 h 1904936"/>
                <a:gd name="connsiteX9-395" fmla="*/ 394949 w 1677296"/>
                <a:gd name="connsiteY9-396" fmla="*/ 534641 h 1904936"/>
                <a:gd name="connsiteX0-397" fmla="*/ 461539 w 1743887"/>
                <a:gd name="connsiteY0-398" fmla="*/ 534641 h 1904936"/>
                <a:gd name="connsiteX1-399" fmla="*/ 101187 w 1743887"/>
                <a:gd name="connsiteY1-400" fmla="*/ 940200 h 1904936"/>
                <a:gd name="connsiteX2-401" fmla="*/ 22840 w 1743887"/>
                <a:gd name="connsiteY2-402" fmla="*/ 1737812 h 1904936"/>
                <a:gd name="connsiteX3-403" fmla="*/ 451659 w 1743887"/>
                <a:gd name="connsiteY3-404" fmla="*/ 1877032 h 1904936"/>
                <a:gd name="connsiteX4-405" fmla="*/ 1678924 w 1743887"/>
                <a:gd name="connsiteY4-406" fmla="*/ 1840637 h 1904936"/>
                <a:gd name="connsiteX5-407" fmla="*/ 1621938 w 1743887"/>
                <a:gd name="connsiteY5-408" fmla="*/ 1257671 h 1904936"/>
                <a:gd name="connsiteX6-409" fmla="*/ 1569697 w 1743887"/>
                <a:gd name="connsiteY6-410" fmla="*/ 672856 h 1904936"/>
                <a:gd name="connsiteX7-411" fmla="*/ 1438111 w 1743887"/>
                <a:gd name="connsiteY7-412" fmla="*/ 154877 h 1904936"/>
                <a:gd name="connsiteX8-413" fmla="*/ 940271 w 1743887"/>
                <a:gd name="connsiteY8-414" fmla="*/ 21205 h 1904936"/>
                <a:gd name="connsiteX9-415" fmla="*/ 461539 w 1743887"/>
                <a:gd name="connsiteY9-416" fmla="*/ 534641 h 1904936"/>
                <a:gd name="connsiteX0-417" fmla="*/ 452050 w 1756359"/>
                <a:gd name="connsiteY0-418" fmla="*/ 534641 h 1891359"/>
                <a:gd name="connsiteX1-419" fmla="*/ 91698 w 1756359"/>
                <a:gd name="connsiteY1-420" fmla="*/ 940200 h 1891359"/>
                <a:gd name="connsiteX2-421" fmla="*/ 13351 w 1756359"/>
                <a:gd name="connsiteY2-422" fmla="*/ 1737812 h 1891359"/>
                <a:gd name="connsiteX3-423" fmla="*/ 309435 w 1756359"/>
                <a:gd name="connsiteY3-424" fmla="*/ 1891359 h 1891359"/>
                <a:gd name="connsiteX4-425" fmla="*/ 1669435 w 1756359"/>
                <a:gd name="connsiteY4-426" fmla="*/ 1840637 h 1891359"/>
                <a:gd name="connsiteX5-427" fmla="*/ 1612449 w 1756359"/>
                <a:gd name="connsiteY5-428" fmla="*/ 1257671 h 1891359"/>
                <a:gd name="connsiteX6-429" fmla="*/ 1560208 w 1756359"/>
                <a:gd name="connsiteY6-430" fmla="*/ 672856 h 1891359"/>
                <a:gd name="connsiteX7-431" fmla="*/ 1428622 w 1756359"/>
                <a:gd name="connsiteY7-432" fmla="*/ 154877 h 1891359"/>
                <a:gd name="connsiteX8-433" fmla="*/ 930782 w 1756359"/>
                <a:gd name="connsiteY8-434" fmla="*/ 21205 h 1891359"/>
                <a:gd name="connsiteX9-435" fmla="*/ 452050 w 1756359"/>
                <a:gd name="connsiteY9-436" fmla="*/ 534641 h 1891359"/>
                <a:gd name="connsiteX0-437" fmla="*/ 452050 w 1756257"/>
                <a:gd name="connsiteY0-438" fmla="*/ 534641 h 1891359"/>
                <a:gd name="connsiteX1-439" fmla="*/ 91698 w 1756257"/>
                <a:gd name="connsiteY1-440" fmla="*/ 940200 h 1891359"/>
                <a:gd name="connsiteX2-441" fmla="*/ 13351 w 1756257"/>
                <a:gd name="connsiteY2-442" fmla="*/ 1737812 h 1891359"/>
                <a:gd name="connsiteX3-443" fmla="*/ 309435 w 1756257"/>
                <a:gd name="connsiteY3-444" fmla="*/ 1891359 h 1891359"/>
                <a:gd name="connsiteX4-445" fmla="*/ 1669435 w 1756257"/>
                <a:gd name="connsiteY4-446" fmla="*/ 1840637 h 1891359"/>
                <a:gd name="connsiteX5-447" fmla="*/ 1612449 w 1756257"/>
                <a:gd name="connsiteY5-448" fmla="*/ 1257671 h 1891359"/>
                <a:gd name="connsiteX6-449" fmla="*/ 1563496 w 1756257"/>
                <a:gd name="connsiteY6-450" fmla="*/ 959631 h 1891359"/>
                <a:gd name="connsiteX7-451" fmla="*/ 1560208 w 1756257"/>
                <a:gd name="connsiteY7-452" fmla="*/ 672856 h 1891359"/>
                <a:gd name="connsiteX8-453" fmla="*/ 1428622 w 1756257"/>
                <a:gd name="connsiteY8-454" fmla="*/ 154877 h 1891359"/>
                <a:gd name="connsiteX9-455" fmla="*/ 930782 w 1756257"/>
                <a:gd name="connsiteY9-456" fmla="*/ 21205 h 1891359"/>
                <a:gd name="connsiteX10" fmla="*/ 452050 w 1756257"/>
                <a:gd name="connsiteY10" fmla="*/ 534641 h 1891359"/>
                <a:gd name="connsiteX0-457" fmla="*/ 452050 w 1764590"/>
                <a:gd name="connsiteY0-458" fmla="*/ 534641 h 1891359"/>
                <a:gd name="connsiteX1-459" fmla="*/ 91698 w 1764590"/>
                <a:gd name="connsiteY1-460" fmla="*/ 940200 h 1891359"/>
                <a:gd name="connsiteX2-461" fmla="*/ 13351 w 1764590"/>
                <a:gd name="connsiteY2-462" fmla="*/ 1737812 h 1891359"/>
                <a:gd name="connsiteX3-463" fmla="*/ 309435 w 1764590"/>
                <a:gd name="connsiteY3-464" fmla="*/ 1891359 h 1891359"/>
                <a:gd name="connsiteX4-465" fmla="*/ 1669435 w 1764590"/>
                <a:gd name="connsiteY4-466" fmla="*/ 1840637 h 1891359"/>
                <a:gd name="connsiteX5-467" fmla="*/ 1612449 w 1764590"/>
                <a:gd name="connsiteY5-468" fmla="*/ 1257671 h 1891359"/>
                <a:gd name="connsiteX6-469" fmla="*/ 1309780 w 1764590"/>
                <a:gd name="connsiteY6-470" fmla="*/ 1046341 h 1891359"/>
                <a:gd name="connsiteX7-471" fmla="*/ 1560208 w 1764590"/>
                <a:gd name="connsiteY7-472" fmla="*/ 672856 h 1891359"/>
                <a:gd name="connsiteX8-473" fmla="*/ 1428622 w 1764590"/>
                <a:gd name="connsiteY8-474" fmla="*/ 154877 h 1891359"/>
                <a:gd name="connsiteX9-475" fmla="*/ 930782 w 1764590"/>
                <a:gd name="connsiteY9-476" fmla="*/ 21205 h 1891359"/>
                <a:gd name="connsiteX10-477" fmla="*/ 452050 w 1764590"/>
                <a:gd name="connsiteY10-478" fmla="*/ 534641 h 1891359"/>
                <a:gd name="connsiteX0-479" fmla="*/ 452050 w 1764592"/>
                <a:gd name="connsiteY0-480" fmla="*/ 534641 h 1891359"/>
                <a:gd name="connsiteX1-481" fmla="*/ 91698 w 1764592"/>
                <a:gd name="connsiteY1-482" fmla="*/ 940200 h 1891359"/>
                <a:gd name="connsiteX2-483" fmla="*/ 13351 w 1764592"/>
                <a:gd name="connsiteY2-484" fmla="*/ 1737812 h 1891359"/>
                <a:gd name="connsiteX3-485" fmla="*/ 309435 w 1764592"/>
                <a:gd name="connsiteY3-486" fmla="*/ 1891359 h 1891359"/>
                <a:gd name="connsiteX4-487" fmla="*/ 1669435 w 1764592"/>
                <a:gd name="connsiteY4-488" fmla="*/ 1840637 h 1891359"/>
                <a:gd name="connsiteX5-489" fmla="*/ 1612449 w 1764592"/>
                <a:gd name="connsiteY5-490" fmla="*/ 1257671 h 1891359"/>
                <a:gd name="connsiteX6-491" fmla="*/ 1309780 w 1764592"/>
                <a:gd name="connsiteY6-492" fmla="*/ 1046341 h 1891359"/>
                <a:gd name="connsiteX7-493" fmla="*/ 1560208 w 1764592"/>
                <a:gd name="connsiteY7-494" fmla="*/ 672856 h 1891359"/>
                <a:gd name="connsiteX8-495" fmla="*/ 1428622 w 1764592"/>
                <a:gd name="connsiteY8-496" fmla="*/ 154877 h 1891359"/>
                <a:gd name="connsiteX9-497" fmla="*/ 930782 w 1764592"/>
                <a:gd name="connsiteY9-498" fmla="*/ 21205 h 1891359"/>
                <a:gd name="connsiteX10-499" fmla="*/ 452050 w 1764592"/>
                <a:gd name="connsiteY10-500" fmla="*/ 534641 h 1891359"/>
                <a:gd name="connsiteX0-501" fmla="*/ 452050 w 1764590"/>
                <a:gd name="connsiteY0-502" fmla="*/ 534641 h 1891359"/>
                <a:gd name="connsiteX1-503" fmla="*/ 91698 w 1764590"/>
                <a:gd name="connsiteY1-504" fmla="*/ 940200 h 1891359"/>
                <a:gd name="connsiteX2-505" fmla="*/ 13351 w 1764590"/>
                <a:gd name="connsiteY2-506" fmla="*/ 1737812 h 1891359"/>
                <a:gd name="connsiteX3-507" fmla="*/ 309435 w 1764590"/>
                <a:gd name="connsiteY3-508" fmla="*/ 1891359 h 1891359"/>
                <a:gd name="connsiteX4-509" fmla="*/ 1669435 w 1764590"/>
                <a:gd name="connsiteY4-510" fmla="*/ 1840637 h 1891359"/>
                <a:gd name="connsiteX5-511" fmla="*/ 1612449 w 1764590"/>
                <a:gd name="connsiteY5-512" fmla="*/ 1257671 h 1891359"/>
                <a:gd name="connsiteX6-513" fmla="*/ 1309780 w 1764590"/>
                <a:gd name="connsiteY6-514" fmla="*/ 1046341 h 1891359"/>
                <a:gd name="connsiteX7-515" fmla="*/ 1560208 w 1764590"/>
                <a:gd name="connsiteY7-516" fmla="*/ 672856 h 1891359"/>
                <a:gd name="connsiteX8-517" fmla="*/ 1428622 w 1764590"/>
                <a:gd name="connsiteY8-518" fmla="*/ 154877 h 1891359"/>
                <a:gd name="connsiteX9-519" fmla="*/ 930782 w 1764590"/>
                <a:gd name="connsiteY9-520" fmla="*/ 21205 h 1891359"/>
                <a:gd name="connsiteX10-521" fmla="*/ 452050 w 1764590"/>
                <a:gd name="connsiteY10-522" fmla="*/ 534641 h 1891359"/>
                <a:gd name="connsiteX0-523" fmla="*/ 452050 w 1792731"/>
                <a:gd name="connsiteY0-524" fmla="*/ 534641 h 1891359"/>
                <a:gd name="connsiteX1-525" fmla="*/ 91698 w 1792731"/>
                <a:gd name="connsiteY1-526" fmla="*/ 940200 h 1891359"/>
                <a:gd name="connsiteX2-527" fmla="*/ 13351 w 1792731"/>
                <a:gd name="connsiteY2-528" fmla="*/ 1737812 h 1891359"/>
                <a:gd name="connsiteX3-529" fmla="*/ 309435 w 1792731"/>
                <a:gd name="connsiteY3-530" fmla="*/ 1891359 h 1891359"/>
                <a:gd name="connsiteX4-531" fmla="*/ 1669435 w 1792731"/>
                <a:gd name="connsiteY4-532" fmla="*/ 1840637 h 1891359"/>
                <a:gd name="connsiteX5-533" fmla="*/ 1688563 w 1792731"/>
                <a:gd name="connsiteY5-534" fmla="*/ 1292355 h 1891359"/>
                <a:gd name="connsiteX6-535" fmla="*/ 1309780 w 1792731"/>
                <a:gd name="connsiteY6-536" fmla="*/ 1046341 h 1891359"/>
                <a:gd name="connsiteX7-537" fmla="*/ 1560208 w 1792731"/>
                <a:gd name="connsiteY7-538" fmla="*/ 672856 h 1891359"/>
                <a:gd name="connsiteX8-539" fmla="*/ 1428622 w 1792731"/>
                <a:gd name="connsiteY8-540" fmla="*/ 154877 h 1891359"/>
                <a:gd name="connsiteX9-541" fmla="*/ 930782 w 1792731"/>
                <a:gd name="connsiteY9-542" fmla="*/ 21205 h 1891359"/>
                <a:gd name="connsiteX10-543" fmla="*/ 452050 w 1792731"/>
                <a:gd name="connsiteY10-544" fmla="*/ 534641 h 1891359"/>
                <a:gd name="connsiteX0-545" fmla="*/ 452050 w 1814809"/>
                <a:gd name="connsiteY0-546" fmla="*/ 534641 h 1891359"/>
                <a:gd name="connsiteX1-547" fmla="*/ 91698 w 1814809"/>
                <a:gd name="connsiteY1-548" fmla="*/ 940200 h 1891359"/>
                <a:gd name="connsiteX2-549" fmla="*/ 13351 w 1814809"/>
                <a:gd name="connsiteY2-550" fmla="*/ 1737812 h 1891359"/>
                <a:gd name="connsiteX3-551" fmla="*/ 309435 w 1814809"/>
                <a:gd name="connsiteY3-552" fmla="*/ 1891359 h 1891359"/>
                <a:gd name="connsiteX4-553" fmla="*/ 1669435 w 1814809"/>
                <a:gd name="connsiteY4-554" fmla="*/ 1840637 h 1891359"/>
                <a:gd name="connsiteX5-555" fmla="*/ 1688563 w 1814809"/>
                <a:gd name="connsiteY5-556" fmla="*/ 1292355 h 1891359"/>
                <a:gd name="connsiteX6-557" fmla="*/ 1309780 w 1814809"/>
                <a:gd name="connsiteY6-558" fmla="*/ 1046341 h 1891359"/>
                <a:gd name="connsiteX7-559" fmla="*/ 1560208 w 1814809"/>
                <a:gd name="connsiteY7-560" fmla="*/ 672856 h 1891359"/>
                <a:gd name="connsiteX8-561" fmla="*/ 1428622 w 1814809"/>
                <a:gd name="connsiteY8-562" fmla="*/ 154877 h 1891359"/>
                <a:gd name="connsiteX9-563" fmla="*/ 930782 w 1814809"/>
                <a:gd name="connsiteY9-564" fmla="*/ 21205 h 1891359"/>
                <a:gd name="connsiteX10-565" fmla="*/ 452050 w 1814809"/>
                <a:gd name="connsiteY10-566" fmla="*/ 534641 h 1891359"/>
                <a:gd name="connsiteX0-567" fmla="*/ 452050 w 1814809"/>
                <a:gd name="connsiteY0-568" fmla="*/ 534641 h 1891359"/>
                <a:gd name="connsiteX1-569" fmla="*/ 91698 w 1814809"/>
                <a:gd name="connsiteY1-570" fmla="*/ 940200 h 1891359"/>
                <a:gd name="connsiteX2-571" fmla="*/ 13351 w 1814809"/>
                <a:gd name="connsiteY2-572" fmla="*/ 1737812 h 1891359"/>
                <a:gd name="connsiteX3-573" fmla="*/ 309435 w 1814809"/>
                <a:gd name="connsiteY3-574" fmla="*/ 1891359 h 1891359"/>
                <a:gd name="connsiteX4-575" fmla="*/ 1669435 w 1814809"/>
                <a:gd name="connsiteY4-576" fmla="*/ 1840637 h 1891359"/>
                <a:gd name="connsiteX5-577" fmla="*/ 1688563 w 1814809"/>
                <a:gd name="connsiteY5-578" fmla="*/ 1292355 h 1891359"/>
                <a:gd name="connsiteX6-579" fmla="*/ 1309780 w 1814809"/>
                <a:gd name="connsiteY6-580" fmla="*/ 1046341 h 1891359"/>
                <a:gd name="connsiteX7-581" fmla="*/ 1619996 w 1814809"/>
                <a:gd name="connsiteY7-582" fmla="*/ 526399 h 1891359"/>
                <a:gd name="connsiteX8-583" fmla="*/ 1428622 w 1814809"/>
                <a:gd name="connsiteY8-584" fmla="*/ 154877 h 1891359"/>
                <a:gd name="connsiteX9-585" fmla="*/ 930782 w 1814809"/>
                <a:gd name="connsiteY9-586" fmla="*/ 21205 h 1891359"/>
                <a:gd name="connsiteX10-587" fmla="*/ 452050 w 1814809"/>
                <a:gd name="connsiteY10-588" fmla="*/ 534641 h 1891359"/>
                <a:gd name="connsiteX0-589" fmla="*/ 452050 w 1814809"/>
                <a:gd name="connsiteY0-590" fmla="*/ 542872 h 1899590"/>
                <a:gd name="connsiteX1-591" fmla="*/ 91698 w 1814809"/>
                <a:gd name="connsiteY1-592" fmla="*/ 948431 h 1899590"/>
                <a:gd name="connsiteX2-593" fmla="*/ 13351 w 1814809"/>
                <a:gd name="connsiteY2-594" fmla="*/ 1746043 h 1899590"/>
                <a:gd name="connsiteX3-595" fmla="*/ 309435 w 1814809"/>
                <a:gd name="connsiteY3-596" fmla="*/ 1899590 h 1899590"/>
                <a:gd name="connsiteX4-597" fmla="*/ 1669435 w 1814809"/>
                <a:gd name="connsiteY4-598" fmla="*/ 1848868 h 1899590"/>
                <a:gd name="connsiteX5-599" fmla="*/ 1688563 w 1814809"/>
                <a:gd name="connsiteY5-600" fmla="*/ 1300586 h 1899590"/>
                <a:gd name="connsiteX6-601" fmla="*/ 1309780 w 1814809"/>
                <a:gd name="connsiteY6-602" fmla="*/ 1054572 h 1899590"/>
                <a:gd name="connsiteX7-603" fmla="*/ 1619996 w 1814809"/>
                <a:gd name="connsiteY7-604" fmla="*/ 534630 h 1899590"/>
                <a:gd name="connsiteX8-605" fmla="*/ 1488411 w 1814809"/>
                <a:gd name="connsiteY8-606" fmla="*/ 129049 h 1899590"/>
                <a:gd name="connsiteX9-607" fmla="*/ 930782 w 1814809"/>
                <a:gd name="connsiteY9-608" fmla="*/ 29436 h 1899590"/>
                <a:gd name="connsiteX10-609" fmla="*/ 452050 w 1814809"/>
                <a:gd name="connsiteY10-610" fmla="*/ 542872 h 1899590"/>
                <a:gd name="connsiteX0-611" fmla="*/ 452050 w 1814809"/>
                <a:gd name="connsiteY0-612" fmla="*/ 540513 h 1897231"/>
                <a:gd name="connsiteX1-613" fmla="*/ 91698 w 1814809"/>
                <a:gd name="connsiteY1-614" fmla="*/ 946072 h 1897231"/>
                <a:gd name="connsiteX2-615" fmla="*/ 13351 w 1814809"/>
                <a:gd name="connsiteY2-616" fmla="*/ 1743684 h 1897231"/>
                <a:gd name="connsiteX3-617" fmla="*/ 309435 w 1814809"/>
                <a:gd name="connsiteY3-618" fmla="*/ 1897231 h 1897231"/>
                <a:gd name="connsiteX4-619" fmla="*/ 1669435 w 1814809"/>
                <a:gd name="connsiteY4-620" fmla="*/ 1846509 h 1897231"/>
                <a:gd name="connsiteX5-621" fmla="*/ 1688563 w 1814809"/>
                <a:gd name="connsiteY5-622" fmla="*/ 1298227 h 1897231"/>
                <a:gd name="connsiteX6-623" fmla="*/ 1309780 w 1814809"/>
                <a:gd name="connsiteY6-624" fmla="*/ 1052213 h 1897231"/>
                <a:gd name="connsiteX7-625" fmla="*/ 1619996 w 1814809"/>
                <a:gd name="connsiteY7-626" fmla="*/ 532271 h 1897231"/>
                <a:gd name="connsiteX8-627" fmla="*/ 1488411 w 1814809"/>
                <a:gd name="connsiteY8-628" fmla="*/ 126690 h 1897231"/>
                <a:gd name="connsiteX9-629" fmla="*/ 930782 w 1814809"/>
                <a:gd name="connsiteY9-630" fmla="*/ 27077 h 1897231"/>
                <a:gd name="connsiteX10-631" fmla="*/ 452050 w 1814809"/>
                <a:gd name="connsiteY10-632" fmla="*/ 540513 h 1897231"/>
                <a:gd name="connsiteX0-633" fmla="*/ 452050 w 1814809"/>
                <a:gd name="connsiteY0-634" fmla="*/ 540513 h 1897231"/>
                <a:gd name="connsiteX1-635" fmla="*/ 91698 w 1814809"/>
                <a:gd name="connsiteY1-636" fmla="*/ 946072 h 1897231"/>
                <a:gd name="connsiteX2-637" fmla="*/ 13351 w 1814809"/>
                <a:gd name="connsiteY2-638" fmla="*/ 1743684 h 1897231"/>
                <a:gd name="connsiteX3-639" fmla="*/ 309435 w 1814809"/>
                <a:gd name="connsiteY3-640" fmla="*/ 1897231 h 1897231"/>
                <a:gd name="connsiteX4-641" fmla="*/ 1669435 w 1814809"/>
                <a:gd name="connsiteY4-642" fmla="*/ 1846509 h 1897231"/>
                <a:gd name="connsiteX5-643" fmla="*/ 1688563 w 1814809"/>
                <a:gd name="connsiteY5-644" fmla="*/ 1298227 h 1897231"/>
                <a:gd name="connsiteX6-645" fmla="*/ 1309780 w 1814809"/>
                <a:gd name="connsiteY6-646" fmla="*/ 1052213 h 1897231"/>
                <a:gd name="connsiteX7-647" fmla="*/ 1619996 w 1814809"/>
                <a:gd name="connsiteY7-648" fmla="*/ 532271 h 1897231"/>
                <a:gd name="connsiteX8-649" fmla="*/ 1488411 w 1814809"/>
                <a:gd name="connsiteY8-650" fmla="*/ 126690 h 1897231"/>
                <a:gd name="connsiteX9-651" fmla="*/ 930782 w 1814809"/>
                <a:gd name="connsiteY9-652" fmla="*/ 27077 h 1897231"/>
                <a:gd name="connsiteX10-653" fmla="*/ 452050 w 1814809"/>
                <a:gd name="connsiteY10-654" fmla="*/ 540513 h 1897231"/>
                <a:gd name="connsiteX0-655" fmla="*/ 288567 w 1811701"/>
                <a:gd name="connsiteY0-656" fmla="*/ 555674 h 1898251"/>
                <a:gd name="connsiteX1-657" fmla="*/ 88590 w 1811701"/>
                <a:gd name="connsiteY1-658" fmla="*/ 947092 h 1898251"/>
                <a:gd name="connsiteX2-659" fmla="*/ 10243 w 1811701"/>
                <a:gd name="connsiteY2-660" fmla="*/ 1744704 h 1898251"/>
                <a:gd name="connsiteX3-661" fmla="*/ 306327 w 1811701"/>
                <a:gd name="connsiteY3-662" fmla="*/ 1898251 h 1898251"/>
                <a:gd name="connsiteX4-663" fmla="*/ 1666327 w 1811701"/>
                <a:gd name="connsiteY4-664" fmla="*/ 1847529 h 1898251"/>
                <a:gd name="connsiteX5-665" fmla="*/ 1685455 w 1811701"/>
                <a:gd name="connsiteY5-666" fmla="*/ 1299247 h 1898251"/>
                <a:gd name="connsiteX6-667" fmla="*/ 1306672 w 1811701"/>
                <a:gd name="connsiteY6-668" fmla="*/ 1053233 h 1898251"/>
                <a:gd name="connsiteX7-669" fmla="*/ 1616888 w 1811701"/>
                <a:gd name="connsiteY7-670" fmla="*/ 533291 h 1898251"/>
                <a:gd name="connsiteX8-671" fmla="*/ 1485303 w 1811701"/>
                <a:gd name="connsiteY8-672" fmla="*/ 127710 h 1898251"/>
                <a:gd name="connsiteX9-673" fmla="*/ 927674 w 1811701"/>
                <a:gd name="connsiteY9-674" fmla="*/ 28097 h 1898251"/>
                <a:gd name="connsiteX10-675" fmla="*/ 288567 w 1811701"/>
                <a:gd name="connsiteY10-676" fmla="*/ 555674 h 1898251"/>
                <a:gd name="connsiteX0-677" fmla="*/ 288567 w 1811701"/>
                <a:gd name="connsiteY0-678" fmla="*/ 479828 h 1822405"/>
                <a:gd name="connsiteX1-679" fmla="*/ 88590 w 1811701"/>
                <a:gd name="connsiteY1-680" fmla="*/ 871246 h 1822405"/>
                <a:gd name="connsiteX2-681" fmla="*/ 10243 w 1811701"/>
                <a:gd name="connsiteY2-682" fmla="*/ 1668858 h 1822405"/>
                <a:gd name="connsiteX3-683" fmla="*/ 306327 w 1811701"/>
                <a:gd name="connsiteY3-684" fmla="*/ 1822405 h 1822405"/>
                <a:gd name="connsiteX4-685" fmla="*/ 1666327 w 1811701"/>
                <a:gd name="connsiteY4-686" fmla="*/ 1771683 h 1822405"/>
                <a:gd name="connsiteX5-687" fmla="*/ 1685455 w 1811701"/>
                <a:gd name="connsiteY5-688" fmla="*/ 1223401 h 1822405"/>
                <a:gd name="connsiteX6-689" fmla="*/ 1306672 w 1811701"/>
                <a:gd name="connsiteY6-690" fmla="*/ 977387 h 1822405"/>
                <a:gd name="connsiteX7-691" fmla="*/ 1616888 w 1811701"/>
                <a:gd name="connsiteY7-692" fmla="*/ 457445 h 1822405"/>
                <a:gd name="connsiteX8-693" fmla="*/ 1485303 w 1811701"/>
                <a:gd name="connsiteY8-694" fmla="*/ 51864 h 1822405"/>
                <a:gd name="connsiteX9-695" fmla="*/ 895599 w 1811701"/>
                <a:gd name="connsiteY9-696" fmla="*/ 79530 h 1822405"/>
                <a:gd name="connsiteX10-697" fmla="*/ 288567 w 1811701"/>
                <a:gd name="connsiteY10-698" fmla="*/ 479828 h 1822405"/>
                <a:gd name="connsiteX0-699" fmla="*/ 288567 w 1811701"/>
                <a:gd name="connsiteY0-700" fmla="*/ 419258 h 1761835"/>
                <a:gd name="connsiteX1-701" fmla="*/ 88590 w 1811701"/>
                <a:gd name="connsiteY1-702" fmla="*/ 810676 h 1761835"/>
                <a:gd name="connsiteX2-703" fmla="*/ 10243 w 1811701"/>
                <a:gd name="connsiteY2-704" fmla="*/ 1608288 h 1761835"/>
                <a:gd name="connsiteX3-705" fmla="*/ 306327 w 1811701"/>
                <a:gd name="connsiteY3-706" fmla="*/ 1761835 h 1761835"/>
                <a:gd name="connsiteX4-707" fmla="*/ 1666327 w 1811701"/>
                <a:gd name="connsiteY4-708" fmla="*/ 1711113 h 1761835"/>
                <a:gd name="connsiteX5-709" fmla="*/ 1685455 w 1811701"/>
                <a:gd name="connsiteY5-710" fmla="*/ 1162831 h 1761835"/>
                <a:gd name="connsiteX6-711" fmla="*/ 1306672 w 1811701"/>
                <a:gd name="connsiteY6-712" fmla="*/ 916817 h 1761835"/>
                <a:gd name="connsiteX7-713" fmla="*/ 1616888 w 1811701"/>
                <a:gd name="connsiteY7-714" fmla="*/ 396875 h 1761835"/>
                <a:gd name="connsiteX8-715" fmla="*/ 1373040 w 1811701"/>
                <a:gd name="connsiteY8-716" fmla="*/ 118574 h 1761835"/>
                <a:gd name="connsiteX9-717" fmla="*/ 895599 w 1811701"/>
                <a:gd name="connsiteY9-718" fmla="*/ 18960 h 1761835"/>
                <a:gd name="connsiteX10-719" fmla="*/ 288567 w 1811701"/>
                <a:gd name="connsiteY10-720" fmla="*/ 419258 h 1761835"/>
                <a:gd name="connsiteX0-721" fmla="*/ 288567 w 1811701"/>
                <a:gd name="connsiteY0-722" fmla="*/ 419258 h 1761835"/>
                <a:gd name="connsiteX1-723" fmla="*/ 88590 w 1811701"/>
                <a:gd name="connsiteY1-724" fmla="*/ 810676 h 1761835"/>
                <a:gd name="connsiteX2-725" fmla="*/ 10243 w 1811701"/>
                <a:gd name="connsiteY2-726" fmla="*/ 1608288 h 1761835"/>
                <a:gd name="connsiteX3-727" fmla="*/ 306327 w 1811701"/>
                <a:gd name="connsiteY3-728" fmla="*/ 1761835 h 1761835"/>
                <a:gd name="connsiteX4-729" fmla="*/ 1666327 w 1811701"/>
                <a:gd name="connsiteY4-730" fmla="*/ 1711113 h 1761835"/>
                <a:gd name="connsiteX5-731" fmla="*/ 1685455 w 1811701"/>
                <a:gd name="connsiteY5-732" fmla="*/ 1162831 h 1761835"/>
                <a:gd name="connsiteX6-733" fmla="*/ 1306672 w 1811701"/>
                <a:gd name="connsiteY6-734" fmla="*/ 916817 h 1761835"/>
                <a:gd name="connsiteX7-735" fmla="*/ 1584814 w 1811701"/>
                <a:gd name="connsiteY7-736" fmla="*/ 510012 h 1761835"/>
                <a:gd name="connsiteX8-737" fmla="*/ 1373040 w 1811701"/>
                <a:gd name="connsiteY8-738" fmla="*/ 118574 h 1761835"/>
                <a:gd name="connsiteX9-739" fmla="*/ 895599 w 1811701"/>
                <a:gd name="connsiteY9-740" fmla="*/ 18960 h 1761835"/>
                <a:gd name="connsiteX10-741" fmla="*/ 288567 w 1811701"/>
                <a:gd name="connsiteY10-742" fmla="*/ 419258 h 1761835"/>
                <a:gd name="connsiteX0-743" fmla="*/ 288567 w 1770444"/>
                <a:gd name="connsiteY0-744" fmla="*/ 419258 h 1761835"/>
                <a:gd name="connsiteX1-745" fmla="*/ 88590 w 1770444"/>
                <a:gd name="connsiteY1-746" fmla="*/ 810676 h 1761835"/>
                <a:gd name="connsiteX2-747" fmla="*/ 10243 w 1770444"/>
                <a:gd name="connsiteY2-748" fmla="*/ 1608288 h 1761835"/>
                <a:gd name="connsiteX3-749" fmla="*/ 306327 w 1770444"/>
                <a:gd name="connsiteY3-750" fmla="*/ 1761835 h 1761835"/>
                <a:gd name="connsiteX4-751" fmla="*/ 1666327 w 1770444"/>
                <a:gd name="connsiteY4-752" fmla="*/ 1711113 h 1761835"/>
                <a:gd name="connsiteX5-753" fmla="*/ 1589229 w 1770444"/>
                <a:gd name="connsiteY5-754" fmla="*/ 1176973 h 1761835"/>
                <a:gd name="connsiteX6-755" fmla="*/ 1306672 w 1770444"/>
                <a:gd name="connsiteY6-756" fmla="*/ 916817 h 1761835"/>
                <a:gd name="connsiteX7-757" fmla="*/ 1584814 w 1770444"/>
                <a:gd name="connsiteY7-758" fmla="*/ 510012 h 1761835"/>
                <a:gd name="connsiteX8-759" fmla="*/ 1373040 w 1770444"/>
                <a:gd name="connsiteY8-760" fmla="*/ 118574 h 1761835"/>
                <a:gd name="connsiteX9-761" fmla="*/ 895599 w 1770444"/>
                <a:gd name="connsiteY9-762" fmla="*/ 18960 h 1761835"/>
                <a:gd name="connsiteX10-763" fmla="*/ 288567 w 1770444"/>
                <a:gd name="connsiteY10-764" fmla="*/ 419258 h 1761835"/>
                <a:gd name="connsiteX0-765" fmla="*/ 288567 w 1592514"/>
                <a:gd name="connsiteY0-766" fmla="*/ 419258 h 1863058"/>
                <a:gd name="connsiteX1-767" fmla="*/ 88590 w 1592514"/>
                <a:gd name="connsiteY1-768" fmla="*/ 810676 h 1863058"/>
                <a:gd name="connsiteX2-769" fmla="*/ 10243 w 1592514"/>
                <a:gd name="connsiteY2-770" fmla="*/ 1608288 h 1863058"/>
                <a:gd name="connsiteX3-771" fmla="*/ 306327 w 1592514"/>
                <a:gd name="connsiteY3-772" fmla="*/ 1761835 h 1863058"/>
                <a:gd name="connsiteX4-773" fmla="*/ 1377650 w 1592514"/>
                <a:gd name="connsiteY4-774" fmla="*/ 1838393 h 1863058"/>
                <a:gd name="connsiteX5-775" fmla="*/ 1589229 w 1592514"/>
                <a:gd name="connsiteY5-776" fmla="*/ 1176973 h 1863058"/>
                <a:gd name="connsiteX6-777" fmla="*/ 1306672 w 1592514"/>
                <a:gd name="connsiteY6-778" fmla="*/ 916817 h 1863058"/>
                <a:gd name="connsiteX7-779" fmla="*/ 1584814 w 1592514"/>
                <a:gd name="connsiteY7-780" fmla="*/ 510012 h 1863058"/>
                <a:gd name="connsiteX8-781" fmla="*/ 1373040 w 1592514"/>
                <a:gd name="connsiteY8-782" fmla="*/ 118574 h 1863058"/>
                <a:gd name="connsiteX9-783" fmla="*/ 895599 w 1592514"/>
                <a:gd name="connsiteY9-784" fmla="*/ 18960 h 1863058"/>
                <a:gd name="connsiteX10-785" fmla="*/ 288567 w 1592514"/>
                <a:gd name="connsiteY10-786" fmla="*/ 419258 h 1863058"/>
                <a:gd name="connsiteX0-787" fmla="*/ 421322 w 1594935"/>
                <a:gd name="connsiteY0-788" fmla="*/ 616342 h 1876292"/>
                <a:gd name="connsiteX1-789" fmla="*/ 91011 w 1594935"/>
                <a:gd name="connsiteY1-790" fmla="*/ 823910 h 1876292"/>
                <a:gd name="connsiteX2-791" fmla="*/ 12664 w 1594935"/>
                <a:gd name="connsiteY2-792" fmla="*/ 1621522 h 1876292"/>
                <a:gd name="connsiteX3-793" fmla="*/ 308748 w 1594935"/>
                <a:gd name="connsiteY3-794" fmla="*/ 1775069 h 1876292"/>
                <a:gd name="connsiteX4-795" fmla="*/ 1380071 w 1594935"/>
                <a:gd name="connsiteY4-796" fmla="*/ 1851627 h 1876292"/>
                <a:gd name="connsiteX5-797" fmla="*/ 1591650 w 1594935"/>
                <a:gd name="connsiteY5-798" fmla="*/ 1190207 h 1876292"/>
                <a:gd name="connsiteX6-799" fmla="*/ 1309093 w 1594935"/>
                <a:gd name="connsiteY6-800" fmla="*/ 930051 h 1876292"/>
                <a:gd name="connsiteX7-801" fmla="*/ 1587235 w 1594935"/>
                <a:gd name="connsiteY7-802" fmla="*/ 523246 h 1876292"/>
                <a:gd name="connsiteX8-803" fmla="*/ 1375461 w 1594935"/>
                <a:gd name="connsiteY8-804" fmla="*/ 131808 h 1876292"/>
                <a:gd name="connsiteX9-805" fmla="*/ 898020 w 1594935"/>
                <a:gd name="connsiteY9-806" fmla="*/ 32194 h 1876292"/>
                <a:gd name="connsiteX10-807" fmla="*/ 421322 w 1594935"/>
                <a:gd name="connsiteY10-808" fmla="*/ 616342 h 1876292"/>
                <a:gd name="connsiteX0-809" fmla="*/ 413257 w 1586870"/>
                <a:gd name="connsiteY0-810" fmla="*/ 616342 h 1876292"/>
                <a:gd name="connsiteX1-811" fmla="*/ 140873 w 1586870"/>
                <a:gd name="connsiteY1-812" fmla="*/ 993617 h 1876292"/>
                <a:gd name="connsiteX2-813" fmla="*/ 4599 w 1586870"/>
                <a:gd name="connsiteY2-814" fmla="*/ 1621522 h 1876292"/>
                <a:gd name="connsiteX3-815" fmla="*/ 300683 w 1586870"/>
                <a:gd name="connsiteY3-816" fmla="*/ 1775069 h 1876292"/>
                <a:gd name="connsiteX4-817" fmla="*/ 1372006 w 1586870"/>
                <a:gd name="connsiteY4-818" fmla="*/ 1851627 h 1876292"/>
                <a:gd name="connsiteX5-819" fmla="*/ 1583585 w 1586870"/>
                <a:gd name="connsiteY5-820" fmla="*/ 1190207 h 1876292"/>
                <a:gd name="connsiteX6-821" fmla="*/ 1301028 w 1586870"/>
                <a:gd name="connsiteY6-822" fmla="*/ 930051 h 1876292"/>
                <a:gd name="connsiteX7-823" fmla="*/ 1579170 w 1586870"/>
                <a:gd name="connsiteY7-824" fmla="*/ 523246 h 1876292"/>
                <a:gd name="connsiteX8-825" fmla="*/ 1367396 w 1586870"/>
                <a:gd name="connsiteY8-826" fmla="*/ 131808 h 1876292"/>
                <a:gd name="connsiteX9-827" fmla="*/ 889955 w 1586870"/>
                <a:gd name="connsiteY9-828" fmla="*/ 32194 h 1876292"/>
                <a:gd name="connsiteX10-829" fmla="*/ 413257 w 1586870"/>
                <a:gd name="connsiteY10-830" fmla="*/ 616342 h 1876292"/>
                <a:gd name="connsiteX0-831" fmla="*/ 284962 w 1458575"/>
                <a:gd name="connsiteY0-832" fmla="*/ 616342 h 1908017"/>
                <a:gd name="connsiteX1-833" fmla="*/ 12578 w 1458575"/>
                <a:gd name="connsiteY1-834" fmla="*/ 993617 h 1908017"/>
                <a:gd name="connsiteX2-835" fmla="*/ 172388 w 1458575"/>
                <a:gd name="connsiteY2-836" fmla="*/ 1775069 h 1908017"/>
                <a:gd name="connsiteX3-837" fmla="*/ 1243711 w 1458575"/>
                <a:gd name="connsiteY3-838" fmla="*/ 1851627 h 1908017"/>
                <a:gd name="connsiteX4-839" fmla="*/ 1455290 w 1458575"/>
                <a:gd name="connsiteY4-840" fmla="*/ 1190207 h 1908017"/>
                <a:gd name="connsiteX5-841" fmla="*/ 1172733 w 1458575"/>
                <a:gd name="connsiteY5-842" fmla="*/ 930051 h 1908017"/>
                <a:gd name="connsiteX6-843" fmla="*/ 1450875 w 1458575"/>
                <a:gd name="connsiteY6-844" fmla="*/ 523246 h 1908017"/>
                <a:gd name="connsiteX7-845" fmla="*/ 1239101 w 1458575"/>
                <a:gd name="connsiteY7-846" fmla="*/ 131808 h 1908017"/>
                <a:gd name="connsiteX8-847" fmla="*/ 761660 w 1458575"/>
                <a:gd name="connsiteY8-848" fmla="*/ 32194 h 1908017"/>
                <a:gd name="connsiteX9-849" fmla="*/ 284962 w 1458575"/>
                <a:gd name="connsiteY9-850" fmla="*/ 616342 h 1908017"/>
                <a:gd name="connsiteX0-851" fmla="*/ 343858 w 1519131"/>
                <a:gd name="connsiteY0-852" fmla="*/ 616342 h 1885036"/>
                <a:gd name="connsiteX1-853" fmla="*/ 71474 w 1519131"/>
                <a:gd name="connsiteY1-854" fmla="*/ 993617 h 1885036"/>
                <a:gd name="connsiteX2-855" fmla="*/ 115432 w 1519131"/>
                <a:gd name="connsiteY2-856" fmla="*/ 1704358 h 1885036"/>
                <a:gd name="connsiteX3-857" fmla="*/ 1302607 w 1519131"/>
                <a:gd name="connsiteY3-858" fmla="*/ 1851627 h 1885036"/>
                <a:gd name="connsiteX4-859" fmla="*/ 1514186 w 1519131"/>
                <a:gd name="connsiteY4-860" fmla="*/ 1190207 h 1885036"/>
                <a:gd name="connsiteX5-861" fmla="*/ 1231629 w 1519131"/>
                <a:gd name="connsiteY5-862" fmla="*/ 930051 h 1885036"/>
                <a:gd name="connsiteX6-863" fmla="*/ 1509771 w 1519131"/>
                <a:gd name="connsiteY6-864" fmla="*/ 523246 h 1885036"/>
                <a:gd name="connsiteX7-865" fmla="*/ 1297997 w 1519131"/>
                <a:gd name="connsiteY7-866" fmla="*/ 131808 h 1885036"/>
                <a:gd name="connsiteX8-867" fmla="*/ 820556 w 1519131"/>
                <a:gd name="connsiteY8-868" fmla="*/ 32194 h 1885036"/>
                <a:gd name="connsiteX9-869" fmla="*/ 343858 w 1519131"/>
                <a:gd name="connsiteY9-870" fmla="*/ 616342 h 1885036"/>
                <a:gd name="connsiteX0-871" fmla="*/ 343858 w 1549812"/>
                <a:gd name="connsiteY0-872" fmla="*/ 616342 h 1800235"/>
                <a:gd name="connsiteX1-873" fmla="*/ 71474 w 1549812"/>
                <a:gd name="connsiteY1-874" fmla="*/ 993617 h 1800235"/>
                <a:gd name="connsiteX2-875" fmla="*/ 115432 w 1549812"/>
                <a:gd name="connsiteY2-876" fmla="*/ 1704358 h 1800235"/>
                <a:gd name="connsiteX3-877" fmla="*/ 1389496 w 1549812"/>
                <a:gd name="connsiteY3-878" fmla="*/ 1724347 h 1800235"/>
                <a:gd name="connsiteX4-879" fmla="*/ 1514186 w 1549812"/>
                <a:gd name="connsiteY4-880" fmla="*/ 1190207 h 1800235"/>
                <a:gd name="connsiteX5-881" fmla="*/ 1231629 w 1549812"/>
                <a:gd name="connsiteY5-882" fmla="*/ 930051 h 1800235"/>
                <a:gd name="connsiteX6-883" fmla="*/ 1509771 w 1549812"/>
                <a:gd name="connsiteY6-884" fmla="*/ 523246 h 1800235"/>
                <a:gd name="connsiteX7-885" fmla="*/ 1297997 w 1549812"/>
                <a:gd name="connsiteY7-886" fmla="*/ 131808 h 1800235"/>
                <a:gd name="connsiteX8-887" fmla="*/ 820556 w 1549812"/>
                <a:gd name="connsiteY8-888" fmla="*/ 32194 h 1800235"/>
                <a:gd name="connsiteX9-889" fmla="*/ 343858 w 1549812"/>
                <a:gd name="connsiteY9-890" fmla="*/ 616342 h 180023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235" y="connsiteY9-236"/>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22" name="Freeform 417"/>
            <p:cNvSpPr/>
            <p:nvPr/>
          </p:nvSpPr>
          <p:spPr bwMode="auto">
            <a:xfrm>
              <a:off x="7211070" y="1782787"/>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C4F0FF"/>
            </a:solidFill>
            <a:ln>
              <a:noFill/>
            </a:ln>
          </p:spPr>
          <p:txBody>
            <a:bodyPr/>
            <a:lstStyle/>
            <a:p>
              <a:endParaRPr lang="en-US" dirty="0"/>
            </a:p>
          </p:txBody>
        </p:sp>
        <p:grpSp>
          <p:nvGrpSpPr>
            <p:cNvPr id="423" name="Group 418"/>
            <p:cNvGrpSpPr/>
            <p:nvPr/>
          </p:nvGrpSpPr>
          <p:grpSpPr bwMode="auto">
            <a:xfrm>
              <a:off x="7268561" y="3259155"/>
              <a:ext cx="1458912" cy="933450"/>
              <a:chOff x="2889" y="1631"/>
              <a:chExt cx="980" cy="743"/>
            </a:xfrm>
          </p:grpSpPr>
          <p:sp>
            <p:nvSpPr>
              <p:cNvPr id="453" name="Rectangle 419"/>
              <p:cNvSpPr>
                <a:spLocks noChangeArrowheads="1"/>
              </p:cNvSpPr>
              <p:nvPr/>
            </p:nvSpPr>
            <p:spPr bwMode="auto">
              <a:xfrm>
                <a:off x="3046" y="1841"/>
                <a:ext cx="663" cy="533"/>
              </a:xfrm>
              <a:prstGeom prst="rect">
                <a:avLst/>
              </a:prstGeom>
              <a:solidFill>
                <a:srgbClr val="C4F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454" name="AutoShape 420"/>
              <p:cNvSpPr>
                <a:spLocks noChangeArrowheads="1"/>
              </p:cNvSpPr>
              <p:nvPr/>
            </p:nvSpPr>
            <p:spPr bwMode="auto">
              <a:xfrm>
                <a:off x="2889" y="1631"/>
                <a:ext cx="980" cy="253"/>
              </a:xfrm>
              <a:prstGeom prst="triangle">
                <a:avLst>
                  <a:gd name="adj" fmla="val 50000"/>
                </a:avLst>
              </a:prstGeom>
              <a:solidFill>
                <a:srgbClr val="C4F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endParaRPr lang="en-US" altLang="en-US" sz="2400" dirty="0">
                  <a:solidFill>
                    <a:srgbClr val="00CCFF"/>
                  </a:solidFill>
                  <a:latin typeface="Arial" panose="020B0604020202020204" pitchFamily="34" charset="0"/>
                </a:endParaRPr>
              </a:p>
            </p:txBody>
          </p:sp>
        </p:grpSp>
        <p:sp>
          <p:nvSpPr>
            <p:cNvPr id="424" name="Freeform 427"/>
            <p:cNvSpPr/>
            <p:nvPr/>
          </p:nvSpPr>
          <p:spPr bwMode="auto">
            <a:xfrm>
              <a:off x="7852271" y="4648236"/>
              <a:ext cx="2705712" cy="1608445"/>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C4F0FF"/>
            </a:solidFill>
            <a:ln>
              <a:noFill/>
            </a:ln>
          </p:spPr>
          <p:txBody>
            <a:bodyPr/>
            <a:lstStyle/>
            <a:p>
              <a:endParaRPr lang="en-US" dirty="0"/>
            </a:p>
          </p:txBody>
        </p:sp>
        <p:sp>
          <p:nvSpPr>
            <p:cNvPr id="425" name="Text Box 580"/>
            <p:cNvSpPr txBox="1">
              <a:spLocks noChangeArrowheads="1"/>
            </p:cNvSpPr>
            <p:nvPr/>
          </p:nvSpPr>
          <p:spPr bwMode="auto">
            <a:xfrm>
              <a:off x="7555447" y="1456963"/>
              <a:ext cx="1339406" cy="411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移动网络</a:t>
              </a:r>
              <a:endParaRPr lang="zh-CN" altLang="en-US" sz="2000" dirty="0">
                <a:latin typeface="微软雅黑" panose="020B0503020204020204" pitchFamily="34" charset="-122"/>
                <a:ea typeface="微软雅黑" panose="020B0503020204020204" pitchFamily="34" charset="-122"/>
              </a:endParaRPr>
            </a:p>
          </p:txBody>
        </p:sp>
        <p:sp>
          <p:nvSpPr>
            <p:cNvPr id="426" name="Text Box 580"/>
            <p:cNvSpPr txBox="1">
              <a:spLocks noChangeArrowheads="1"/>
            </p:cNvSpPr>
            <p:nvPr/>
          </p:nvSpPr>
          <p:spPr bwMode="auto">
            <a:xfrm>
              <a:off x="7552739" y="4182263"/>
              <a:ext cx="1075422" cy="35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家庭网络</a:t>
              </a:r>
              <a:endParaRPr lang="zh-CN" altLang="en-US" sz="1400" dirty="0">
                <a:latin typeface="+mn-lt"/>
                <a:ea typeface="宋体" panose="02010600030101010101" pitchFamily="2" charset="-122"/>
              </a:endParaRPr>
            </a:p>
          </p:txBody>
        </p:sp>
        <p:sp>
          <p:nvSpPr>
            <p:cNvPr id="427" name="Text Box 580"/>
            <p:cNvSpPr txBox="1">
              <a:spLocks noChangeArrowheads="1"/>
            </p:cNvSpPr>
            <p:nvPr/>
          </p:nvSpPr>
          <p:spPr bwMode="auto">
            <a:xfrm>
              <a:off x="7487273" y="5938839"/>
              <a:ext cx="1671522" cy="349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企业网</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校园网</a:t>
              </a:r>
              <a:endParaRPr lang="zh-CN" altLang="en-US" sz="2000" dirty="0">
                <a:latin typeface="微软雅黑" panose="020B0503020204020204" pitchFamily="34" charset="-122"/>
                <a:ea typeface="微软雅黑" panose="020B0503020204020204" pitchFamily="34" charset="-122"/>
              </a:endParaRPr>
            </a:p>
          </p:txBody>
        </p:sp>
        <p:sp>
          <p:nvSpPr>
            <p:cNvPr id="428" name="Freeform 371"/>
            <p:cNvSpPr/>
            <p:nvPr/>
          </p:nvSpPr>
          <p:spPr>
            <a:xfrm>
              <a:off x="10285357" y="3149444"/>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1" fmla="*/ 434989 w 1537226"/>
                <a:gd name="connsiteY0-2" fmla="*/ 253346 h 1763594"/>
                <a:gd name="connsiteX1-3" fmla="*/ 488 w 1537226"/>
                <a:gd name="connsiteY1-4" fmla="*/ 921706 h 1763594"/>
                <a:gd name="connsiteX2-5" fmla="*/ 368142 w 1537226"/>
                <a:gd name="connsiteY2-6" fmla="*/ 1489812 h 1763594"/>
                <a:gd name="connsiteX3-7" fmla="*/ 1187008 w 1537226"/>
                <a:gd name="connsiteY3-8" fmla="*/ 1757156 h 1763594"/>
                <a:gd name="connsiteX4-9" fmla="*/ 1521239 w 1537226"/>
                <a:gd name="connsiteY4-10" fmla="*/ 1239177 h 1763594"/>
                <a:gd name="connsiteX5-11" fmla="*/ 1468998 w 1537226"/>
                <a:gd name="connsiteY5-12" fmla="*/ 654362 h 1763594"/>
                <a:gd name="connsiteX6-13" fmla="*/ 1337412 w 1537226"/>
                <a:gd name="connsiteY6-14" fmla="*/ 136383 h 1763594"/>
                <a:gd name="connsiteX7-15" fmla="*/ 1086739 w 1537226"/>
                <a:gd name="connsiteY7-16" fmla="*/ 2711 h 1763594"/>
                <a:gd name="connsiteX8-17" fmla="*/ 434989 w 1537226"/>
                <a:gd name="connsiteY8-18" fmla="*/ 253346 h 1763594"/>
                <a:gd name="connsiteX0-19" fmla="*/ 434989 w 1537226"/>
                <a:gd name="connsiteY0-20" fmla="*/ 253346 h 1763594"/>
                <a:gd name="connsiteX1-21" fmla="*/ 488 w 1537226"/>
                <a:gd name="connsiteY1-22" fmla="*/ 921706 h 1763594"/>
                <a:gd name="connsiteX2-23" fmla="*/ 368142 w 1537226"/>
                <a:gd name="connsiteY2-24" fmla="*/ 1489812 h 1763594"/>
                <a:gd name="connsiteX3-25" fmla="*/ 1187008 w 1537226"/>
                <a:gd name="connsiteY3-26" fmla="*/ 1757156 h 1763594"/>
                <a:gd name="connsiteX4-27" fmla="*/ 1521239 w 1537226"/>
                <a:gd name="connsiteY4-28" fmla="*/ 1239177 h 1763594"/>
                <a:gd name="connsiteX5-29" fmla="*/ 1468998 w 1537226"/>
                <a:gd name="connsiteY5-30" fmla="*/ 654362 h 1763594"/>
                <a:gd name="connsiteX6-31" fmla="*/ 1337412 w 1537226"/>
                <a:gd name="connsiteY6-32" fmla="*/ 136383 h 1763594"/>
                <a:gd name="connsiteX7-33" fmla="*/ 839572 w 1537226"/>
                <a:gd name="connsiteY7-34" fmla="*/ 2711 h 1763594"/>
                <a:gd name="connsiteX8-35" fmla="*/ 434989 w 1537226"/>
                <a:gd name="connsiteY8-36" fmla="*/ 253346 h 1763594"/>
                <a:gd name="connsiteX0-37" fmla="*/ 360357 w 1536743"/>
                <a:gd name="connsiteY0-38" fmla="*/ 534641 h 1782088"/>
                <a:gd name="connsiteX1-39" fmla="*/ 5 w 1536743"/>
                <a:gd name="connsiteY1-40" fmla="*/ 940200 h 1782088"/>
                <a:gd name="connsiteX2-41" fmla="*/ 367659 w 1536743"/>
                <a:gd name="connsiteY2-42" fmla="*/ 1508306 h 1782088"/>
                <a:gd name="connsiteX3-43" fmla="*/ 1186525 w 1536743"/>
                <a:gd name="connsiteY3-44" fmla="*/ 1775650 h 1782088"/>
                <a:gd name="connsiteX4-45" fmla="*/ 1520756 w 1536743"/>
                <a:gd name="connsiteY4-46" fmla="*/ 1257671 h 1782088"/>
                <a:gd name="connsiteX5-47" fmla="*/ 1468515 w 1536743"/>
                <a:gd name="connsiteY5-48" fmla="*/ 672856 h 1782088"/>
                <a:gd name="connsiteX6-49" fmla="*/ 1336929 w 1536743"/>
                <a:gd name="connsiteY6-50" fmla="*/ 154877 h 1782088"/>
                <a:gd name="connsiteX7-51" fmla="*/ 839089 w 1536743"/>
                <a:gd name="connsiteY7-52" fmla="*/ 21205 h 1782088"/>
                <a:gd name="connsiteX8-53" fmla="*/ 360357 w 1536743"/>
                <a:gd name="connsiteY8-54" fmla="*/ 534641 h 1782088"/>
                <a:gd name="connsiteX0-55" fmla="*/ 360355 w 1536741"/>
                <a:gd name="connsiteY0-56" fmla="*/ 534641 h 1782088"/>
                <a:gd name="connsiteX1-57" fmla="*/ 3 w 1536741"/>
                <a:gd name="connsiteY1-58" fmla="*/ 940200 h 1782088"/>
                <a:gd name="connsiteX2-59" fmla="*/ 367657 w 1536741"/>
                <a:gd name="connsiteY2-60" fmla="*/ 1508306 h 1782088"/>
                <a:gd name="connsiteX3-61" fmla="*/ 1186523 w 1536741"/>
                <a:gd name="connsiteY3-62" fmla="*/ 1775650 h 1782088"/>
                <a:gd name="connsiteX4-63" fmla="*/ 1520754 w 1536741"/>
                <a:gd name="connsiteY4-64" fmla="*/ 1257671 h 1782088"/>
                <a:gd name="connsiteX5-65" fmla="*/ 1468513 w 1536741"/>
                <a:gd name="connsiteY5-66" fmla="*/ 672856 h 1782088"/>
                <a:gd name="connsiteX6-67" fmla="*/ 1336927 w 1536741"/>
                <a:gd name="connsiteY6-68" fmla="*/ 154877 h 1782088"/>
                <a:gd name="connsiteX7-69" fmla="*/ 839087 w 1536741"/>
                <a:gd name="connsiteY7-70" fmla="*/ 21205 h 1782088"/>
                <a:gd name="connsiteX8-71" fmla="*/ 360355 w 1536741"/>
                <a:gd name="connsiteY8-72" fmla="*/ 534641 h 1782088"/>
                <a:gd name="connsiteX0-73" fmla="*/ 360355 w 1534770"/>
                <a:gd name="connsiteY0-74" fmla="*/ 553225 h 1800672"/>
                <a:gd name="connsiteX1-75" fmla="*/ 3 w 1534770"/>
                <a:gd name="connsiteY1-76" fmla="*/ 958784 h 1800672"/>
                <a:gd name="connsiteX2-77" fmla="*/ 367657 w 1534770"/>
                <a:gd name="connsiteY2-78" fmla="*/ 1526890 h 1800672"/>
                <a:gd name="connsiteX3-79" fmla="*/ 1186523 w 1534770"/>
                <a:gd name="connsiteY3-80" fmla="*/ 1794234 h 1800672"/>
                <a:gd name="connsiteX4-81" fmla="*/ 1520754 w 1534770"/>
                <a:gd name="connsiteY4-82" fmla="*/ 1276255 h 1800672"/>
                <a:gd name="connsiteX5-83" fmla="*/ 1468513 w 1534770"/>
                <a:gd name="connsiteY5-84" fmla="*/ 691440 h 1800672"/>
                <a:gd name="connsiteX6-85" fmla="*/ 1435794 w 1534770"/>
                <a:gd name="connsiteY6-86" fmla="*/ 107761 h 1800672"/>
                <a:gd name="connsiteX7-87" fmla="*/ 839087 w 1534770"/>
                <a:gd name="connsiteY7-88" fmla="*/ 39789 h 1800672"/>
                <a:gd name="connsiteX8-89" fmla="*/ 360355 w 1534770"/>
                <a:gd name="connsiteY8-90" fmla="*/ 553225 h 1800672"/>
                <a:gd name="connsiteX0-91" fmla="*/ 360355 w 1580585"/>
                <a:gd name="connsiteY0-92" fmla="*/ 553225 h 1880420"/>
                <a:gd name="connsiteX1-93" fmla="*/ 3 w 1580585"/>
                <a:gd name="connsiteY1-94" fmla="*/ 958784 h 1880420"/>
                <a:gd name="connsiteX2-95" fmla="*/ 367657 w 1580585"/>
                <a:gd name="connsiteY2-96" fmla="*/ 1526890 h 1880420"/>
                <a:gd name="connsiteX3-97" fmla="*/ 1186523 w 1580585"/>
                <a:gd name="connsiteY3-98" fmla="*/ 1794234 h 1880420"/>
                <a:gd name="connsiteX4-99" fmla="*/ 1570188 w 1580585"/>
                <a:gd name="connsiteY4-100" fmla="*/ 1785433 h 1880420"/>
                <a:gd name="connsiteX5-101" fmla="*/ 1468513 w 1580585"/>
                <a:gd name="connsiteY5-102" fmla="*/ 691440 h 1880420"/>
                <a:gd name="connsiteX6-103" fmla="*/ 1435794 w 1580585"/>
                <a:gd name="connsiteY6-104" fmla="*/ 107761 h 1880420"/>
                <a:gd name="connsiteX7-105" fmla="*/ 839087 w 1580585"/>
                <a:gd name="connsiteY7-106" fmla="*/ 39789 h 1880420"/>
                <a:gd name="connsiteX8-107" fmla="*/ 360355 w 1580585"/>
                <a:gd name="connsiteY8-108" fmla="*/ 553225 h 1880420"/>
                <a:gd name="connsiteX0-109" fmla="*/ 316588 w 1580732"/>
                <a:gd name="connsiteY0-110" fmla="*/ 359285 h 1867156"/>
                <a:gd name="connsiteX1-111" fmla="*/ 150 w 1580732"/>
                <a:gd name="connsiteY1-112" fmla="*/ 945520 h 1867156"/>
                <a:gd name="connsiteX2-113" fmla="*/ 367804 w 1580732"/>
                <a:gd name="connsiteY2-114" fmla="*/ 1513626 h 1867156"/>
                <a:gd name="connsiteX3-115" fmla="*/ 1186670 w 1580732"/>
                <a:gd name="connsiteY3-116" fmla="*/ 1780970 h 1867156"/>
                <a:gd name="connsiteX4-117" fmla="*/ 1570335 w 1580732"/>
                <a:gd name="connsiteY4-118" fmla="*/ 1772169 h 1867156"/>
                <a:gd name="connsiteX5-119" fmla="*/ 1468660 w 1580732"/>
                <a:gd name="connsiteY5-120" fmla="*/ 678176 h 1867156"/>
                <a:gd name="connsiteX6-121" fmla="*/ 1435941 w 1580732"/>
                <a:gd name="connsiteY6-122" fmla="*/ 94497 h 1867156"/>
                <a:gd name="connsiteX7-123" fmla="*/ 839234 w 1580732"/>
                <a:gd name="connsiteY7-124" fmla="*/ 26525 h 1867156"/>
                <a:gd name="connsiteX8-125" fmla="*/ 316588 w 1580732"/>
                <a:gd name="connsiteY8-126" fmla="*/ 359285 h 1867156"/>
                <a:gd name="connsiteX0-127" fmla="*/ 163575 w 1427719"/>
                <a:gd name="connsiteY0-128" fmla="*/ 359285 h 1867156"/>
                <a:gd name="connsiteX1-129" fmla="*/ 836 w 1427719"/>
                <a:gd name="connsiteY1-130" fmla="*/ 1076921 h 1867156"/>
                <a:gd name="connsiteX2-131" fmla="*/ 214791 w 1427719"/>
                <a:gd name="connsiteY2-132" fmla="*/ 1513626 h 1867156"/>
                <a:gd name="connsiteX3-133" fmla="*/ 1033657 w 1427719"/>
                <a:gd name="connsiteY3-134" fmla="*/ 1780970 h 1867156"/>
                <a:gd name="connsiteX4-135" fmla="*/ 1417322 w 1427719"/>
                <a:gd name="connsiteY4-136" fmla="*/ 1772169 h 1867156"/>
                <a:gd name="connsiteX5-137" fmla="*/ 1315647 w 1427719"/>
                <a:gd name="connsiteY5-138" fmla="*/ 678176 h 1867156"/>
                <a:gd name="connsiteX6-139" fmla="*/ 1282928 w 1427719"/>
                <a:gd name="connsiteY6-140" fmla="*/ 94497 h 1867156"/>
                <a:gd name="connsiteX7-141" fmla="*/ 686221 w 1427719"/>
                <a:gd name="connsiteY7-142" fmla="*/ 26525 h 1867156"/>
                <a:gd name="connsiteX8-143" fmla="*/ 163575 w 1427719"/>
                <a:gd name="connsiteY8-144" fmla="*/ 359285 h 1867156"/>
                <a:gd name="connsiteX0-145" fmla="*/ 163575 w 1426632"/>
                <a:gd name="connsiteY0-146" fmla="*/ 394322 h 1902193"/>
                <a:gd name="connsiteX1-147" fmla="*/ 836 w 1426632"/>
                <a:gd name="connsiteY1-148" fmla="*/ 1111958 h 1902193"/>
                <a:gd name="connsiteX2-149" fmla="*/ 214791 w 1426632"/>
                <a:gd name="connsiteY2-150" fmla="*/ 1548663 h 1902193"/>
                <a:gd name="connsiteX3-151" fmla="*/ 1033657 w 1426632"/>
                <a:gd name="connsiteY3-152" fmla="*/ 1816007 h 1902193"/>
                <a:gd name="connsiteX4-153" fmla="*/ 1417322 w 1426632"/>
                <a:gd name="connsiteY4-154" fmla="*/ 1807206 h 1902193"/>
                <a:gd name="connsiteX5-155" fmla="*/ 1315647 w 1426632"/>
                <a:gd name="connsiteY5-156" fmla="*/ 713213 h 1902193"/>
                <a:gd name="connsiteX6-157" fmla="*/ 1401843 w 1426632"/>
                <a:gd name="connsiteY6-158" fmla="*/ 63834 h 1902193"/>
                <a:gd name="connsiteX7-159" fmla="*/ 686221 w 1426632"/>
                <a:gd name="connsiteY7-160" fmla="*/ 61562 h 1902193"/>
                <a:gd name="connsiteX8-161" fmla="*/ 163575 w 1426632"/>
                <a:gd name="connsiteY8-162" fmla="*/ 394322 h 1902193"/>
                <a:gd name="connsiteX0-163" fmla="*/ 163575 w 1435249"/>
                <a:gd name="connsiteY0-164" fmla="*/ 394322 h 1885560"/>
                <a:gd name="connsiteX1-165" fmla="*/ 836 w 1435249"/>
                <a:gd name="connsiteY1-166" fmla="*/ 1111958 h 1885560"/>
                <a:gd name="connsiteX2-167" fmla="*/ 214791 w 1435249"/>
                <a:gd name="connsiteY2-168" fmla="*/ 1548663 h 1885560"/>
                <a:gd name="connsiteX3-169" fmla="*/ 1033657 w 1435249"/>
                <a:gd name="connsiteY3-170" fmla="*/ 1816007 h 1885560"/>
                <a:gd name="connsiteX4-171" fmla="*/ 1417322 w 1435249"/>
                <a:gd name="connsiteY4-172" fmla="*/ 1807206 h 1885560"/>
                <a:gd name="connsiteX5-173" fmla="*/ 1375103 w 1435249"/>
                <a:gd name="connsiteY5-174" fmla="*/ 943164 h 1885560"/>
                <a:gd name="connsiteX6-175" fmla="*/ 1401843 w 1435249"/>
                <a:gd name="connsiteY6-176" fmla="*/ 63834 h 1885560"/>
                <a:gd name="connsiteX7-177" fmla="*/ 686221 w 1435249"/>
                <a:gd name="connsiteY7-178" fmla="*/ 61562 h 1885560"/>
                <a:gd name="connsiteX8-179" fmla="*/ 163575 w 1435249"/>
                <a:gd name="connsiteY8-180" fmla="*/ 394322 h 1885560"/>
                <a:gd name="connsiteX0-181" fmla="*/ 128947 w 1438213"/>
                <a:gd name="connsiteY0-182" fmla="*/ 345176 h 1883146"/>
                <a:gd name="connsiteX1-183" fmla="*/ 3802 w 1438213"/>
                <a:gd name="connsiteY1-184" fmla="*/ 1109544 h 1883146"/>
                <a:gd name="connsiteX2-185" fmla="*/ 217757 w 1438213"/>
                <a:gd name="connsiteY2-186" fmla="*/ 1546249 h 1883146"/>
                <a:gd name="connsiteX3-187" fmla="*/ 1036623 w 1438213"/>
                <a:gd name="connsiteY3-188" fmla="*/ 1813593 h 1883146"/>
                <a:gd name="connsiteX4-189" fmla="*/ 1420288 w 1438213"/>
                <a:gd name="connsiteY4-190" fmla="*/ 1804792 h 1883146"/>
                <a:gd name="connsiteX5-191" fmla="*/ 1378069 w 1438213"/>
                <a:gd name="connsiteY5-192" fmla="*/ 940750 h 1883146"/>
                <a:gd name="connsiteX6-193" fmla="*/ 1404809 w 1438213"/>
                <a:gd name="connsiteY6-194" fmla="*/ 61420 h 1883146"/>
                <a:gd name="connsiteX7-195" fmla="*/ 689187 w 1438213"/>
                <a:gd name="connsiteY7-196" fmla="*/ 59148 h 1883146"/>
                <a:gd name="connsiteX8-197" fmla="*/ 128947 w 1438213"/>
                <a:gd name="connsiteY8-198" fmla="*/ 345176 h 1883146"/>
                <a:gd name="connsiteX0-199" fmla="*/ 126587 w 1435854"/>
                <a:gd name="connsiteY0-200" fmla="*/ 353278 h 1891248"/>
                <a:gd name="connsiteX1-201" fmla="*/ 1442 w 1435854"/>
                <a:gd name="connsiteY1-202" fmla="*/ 1117646 h 1891248"/>
                <a:gd name="connsiteX2-203" fmla="*/ 215397 w 1435854"/>
                <a:gd name="connsiteY2-204" fmla="*/ 1554351 h 1891248"/>
                <a:gd name="connsiteX3-205" fmla="*/ 1034263 w 1435854"/>
                <a:gd name="connsiteY3-206" fmla="*/ 1821695 h 1891248"/>
                <a:gd name="connsiteX4-207" fmla="*/ 1417928 w 1435854"/>
                <a:gd name="connsiteY4-208" fmla="*/ 1812894 h 1891248"/>
                <a:gd name="connsiteX5-209" fmla="*/ 1375709 w 1435854"/>
                <a:gd name="connsiteY5-210" fmla="*/ 948852 h 1891248"/>
                <a:gd name="connsiteX6-211" fmla="*/ 1402449 w 1435854"/>
                <a:gd name="connsiteY6-212" fmla="*/ 69522 h 1891248"/>
                <a:gd name="connsiteX7-213" fmla="*/ 221605 w 1435854"/>
                <a:gd name="connsiteY7-214" fmla="*/ 47778 h 1891248"/>
                <a:gd name="connsiteX8-215" fmla="*/ 126587 w 1435854"/>
                <a:gd name="connsiteY8-216" fmla="*/ 353278 h 1891248"/>
                <a:gd name="connsiteX0-217" fmla="*/ 35803 w 1453152"/>
                <a:gd name="connsiteY0-218" fmla="*/ 439993 h 1896181"/>
                <a:gd name="connsiteX1-219" fmla="*/ 18740 w 1453152"/>
                <a:gd name="connsiteY1-220" fmla="*/ 1122579 h 1896181"/>
                <a:gd name="connsiteX2-221" fmla="*/ 232695 w 1453152"/>
                <a:gd name="connsiteY2-222" fmla="*/ 1559284 h 1896181"/>
                <a:gd name="connsiteX3-223" fmla="*/ 1051561 w 1453152"/>
                <a:gd name="connsiteY3-224" fmla="*/ 1826628 h 1896181"/>
                <a:gd name="connsiteX4-225" fmla="*/ 1435226 w 1453152"/>
                <a:gd name="connsiteY4-226" fmla="*/ 1817827 h 1896181"/>
                <a:gd name="connsiteX5-227" fmla="*/ 1393007 w 1453152"/>
                <a:gd name="connsiteY5-228" fmla="*/ 953785 h 1896181"/>
                <a:gd name="connsiteX6-229" fmla="*/ 1419747 w 1453152"/>
                <a:gd name="connsiteY6-230" fmla="*/ 74455 h 1896181"/>
                <a:gd name="connsiteX7-231" fmla="*/ 238903 w 1453152"/>
                <a:gd name="connsiteY7-232" fmla="*/ 52711 h 1896181"/>
                <a:gd name="connsiteX8-233" fmla="*/ 35803 w 1453152"/>
                <a:gd name="connsiteY8-234" fmla="*/ 439993 h 1896181"/>
                <a:gd name="connsiteX0-235" fmla="*/ 35803 w 1447873"/>
                <a:gd name="connsiteY0-236" fmla="*/ 439993 h 1952840"/>
                <a:gd name="connsiteX1-237" fmla="*/ 18740 w 1447873"/>
                <a:gd name="connsiteY1-238" fmla="*/ 1122579 h 1952840"/>
                <a:gd name="connsiteX2-239" fmla="*/ 232695 w 1447873"/>
                <a:gd name="connsiteY2-240" fmla="*/ 1559284 h 1952840"/>
                <a:gd name="connsiteX3-241" fmla="*/ 1130848 w 1447873"/>
                <a:gd name="connsiteY3-242" fmla="*/ 1925181 h 1952840"/>
                <a:gd name="connsiteX4-243" fmla="*/ 1435226 w 1447873"/>
                <a:gd name="connsiteY4-244" fmla="*/ 1817827 h 1952840"/>
                <a:gd name="connsiteX5-245" fmla="*/ 1393007 w 1447873"/>
                <a:gd name="connsiteY5-246" fmla="*/ 953785 h 1952840"/>
                <a:gd name="connsiteX6-247" fmla="*/ 1419747 w 1447873"/>
                <a:gd name="connsiteY6-248" fmla="*/ 74455 h 1952840"/>
                <a:gd name="connsiteX7-249" fmla="*/ 238903 w 1447873"/>
                <a:gd name="connsiteY7-250" fmla="*/ 52711 h 1952840"/>
                <a:gd name="connsiteX8-251" fmla="*/ 35803 w 1447873"/>
                <a:gd name="connsiteY8-252" fmla="*/ 439993 h 19528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nvGrpSpPr>
            <p:cNvPr id="429" name="Group 373"/>
            <p:cNvGrpSpPr/>
            <p:nvPr/>
          </p:nvGrpSpPr>
          <p:grpSpPr>
            <a:xfrm>
              <a:off x="10900911" y="3897954"/>
              <a:ext cx="687393" cy="721548"/>
              <a:chOff x="5203089" y="1751190"/>
              <a:chExt cx="858331" cy="662414"/>
            </a:xfrm>
          </p:grpSpPr>
          <p:sp>
            <p:nvSpPr>
              <p:cNvPr id="445" name="Freeform 381"/>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1" fmla="*/ 3618 w 651290"/>
                  <a:gd name="connsiteY0-2" fmla="*/ 593378 h 593378"/>
                  <a:gd name="connsiteX1-3" fmla="*/ 0 w 651290"/>
                  <a:gd name="connsiteY1-4" fmla="*/ 242416 h 593378"/>
                  <a:gd name="connsiteX2-5" fmla="*/ 423338 w 651290"/>
                  <a:gd name="connsiteY2-6" fmla="*/ 101308 h 593378"/>
                  <a:gd name="connsiteX3-7" fmla="*/ 647672 w 651290"/>
                  <a:gd name="connsiteY3-8" fmla="*/ 0 h 593378"/>
                  <a:gd name="connsiteX4-9" fmla="*/ 651290 w 651290"/>
                  <a:gd name="connsiteY4-10" fmla="*/ 593378 h 593378"/>
                  <a:gd name="connsiteX5-11" fmla="*/ 3618 w 651290"/>
                  <a:gd name="connsiteY5-12" fmla="*/ 593378 h 593378"/>
                  <a:gd name="connsiteX0-13" fmla="*/ 3618 w 651290"/>
                  <a:gd name="connsiteY0-14" fmla="*/ 662124 h 662124"/>
                  <a:gd name="connsiteX1-15" fmla="*/ 0 w 651290"/>
                  <a:gd name="connsiteY1-16" fmla="*/ 311162 h 662124"/>
                  <a:gd name="connsiteX2-17" fmla="*/ 376300 w 651290"/>
                  <a:gd name="connsiteY2-18" fmla="*/ 0 h 662124"/>
                  <a:gd name="connsiteX3-19" fmla="*/ 647672 w 651290"/>
                  <a:gd name="connsiteY3-20" fmla="*/ 68746 h 662124"/>
                  <a:gd name="connsiteX4-21" fmla="*/ 651290 w 651290"/>
                  <a:gd name="connsiteY4-22" fmla="*/ 662124 h 662124"/>
                  <a:gd name="connsiteX5-23" fmla="*/ 3618 w 651290"/>
                  <a:gd name="connsiteY5-24" fmla="*/ 662124 h 662124"/>
                  <a:gd name="connsiteX0-25" fmla="*/ 0 w 647672"/>
                  <a:gd name="connsiteY0-26" fmla="*/ 662124 h 662124"/>
                  <a:gd name="connsiteX1-27" fmla="*/ 123021 w 647672"/>
                  <a:gd name="connsiteY1-28" fmla="*/ 83217 h 662124"/>
                  <a:gd name="connsiteX2-29" fmla="*/ 372682 w 647672"/>
                  <a:gd name="connsiteY2-30" fmla="*/ 0 h 662124"/>
                  <a:gd name="connsiteX3-31" fmla="*/ 644054 w 647672"/>
                  <a:gd name="connsiteY3-32" fmla="*/ 68746 h 662124"/>
                  <a:gd name="connsiteX4-33" fmla="*/ 647672 w 647672"/>
                  <a:gd name="connsiteY4-34" fmla="*/ 662124 h 662124"/>
                  <a:gd name="connsiteX5-35" fmla="*/ 0 w 647672"/>
                  <a:gd name="connsiteY5-36" fmla="*/ 662124 h 662124"/>
                  <a:gd name="connsiteX0-37" fmla="*/ 7238 w 524651"/>
                  <a:gd name="connsiteY0-38" fmla="*/ 669360 h 669360"/>
                  <a:gd name="connsiteX1-39" fmla="*/ 0 w 524651"/>
                  <a:gd name="connsiteY1-40" fmla="*/ 83217 h 669360"/>
                  <a:gd name="connsiteX2-41" fmla="*/ 249661 w 524651"/>
                  <a:gd name="connsiteY2-42" fmla="*/ 0 h 669360"/>
                  <a:gd name="connsiteX3-43" fmla="*/ 521033 w 524651"/>
                  <a:gd name="connsiteY3-44" fmla="*/ 68746 h 669360"/>
                  <a:gd name="connsiteX4-45" fmla="*/ 524651 w 524651"/>
                  <a:gd name="connsiteY4-46" fmla="*/ 662124 h 669360"/>
                  <a:gd name="connsiteX5-47" fmla="*/ 7238 w 524651"/>
                  <a:gd name="connsiteY5-48" fmla="*/ 669360 h 669360"/>
                  <a:gd name="connsiteX0-49" fmla="*/ 438 w 528706"/>
                  <a:gd name="connsiteY0-50" fmla="*/ 665742 h 665742"/>
                  <a:gd name="connsiteX1-51" fmla="*/ 4055 w 528706"/>
                  <a:gd name="connsiteY1-52" fmla="*/ 83217 h 665742"/>
                  <a:gd name="connsiteX2-53" fmla="*/ 253716 w 528706"/>
                  <a:gd name="connsiteY2-54" fmla="*/ 0 h 665742"/>
                  <a:gd name="connsiteX3-55" fmla="*/ 525088 w 528706"/>
                  <a:gd name="connsiteY3-56" fmla="*/ 68746 h 665742"/>
                  <a:gd name="connsiteX4-57" fmla="*/ 528706 w 528706"/>
                  <a:gd name="connsiteY4-58" fmla="*/ 662124 h 665742"/>
                  <a:gd name="connsiteX5-59" fmla="*/ 438 w 528706"/>
                  <a:gd name="connsiteY5-60" fmla="*/ 665742 h 665742"/>
                  <a:gd name="connsiteX0-61" fmla="*/ 155 w 546514"/>
                  <a:gd name="connsiteY0-62" fmla="*/ 662124 h 662124"/>
                  <a:gd name="connsiteX1-63" fmla="*/ 21863 w 546514"/>
                  <a:gd name="connsiteY1-64" fmla="*/ 83217 h 662124"/>
                  <a:gd name="connsiteX2-65" fmla="*/ 271524 w 546514"/>
                  <a:gd name="connsiteY2-66" fmla="*/ 0 h 662124"/>
                  <a:gd name="connsiteX3-67" fmla="*/ 542896 w 546514"/>
                  <a:gd name="connsiteY3-68" fmla="*/ 68746 h 662124"/>
                  <a:gd name="connsiteX4-69" fmla="*/ 546514 w 546514"/>
                  <a:gd name="connsiteY4-70" fmla="*/ 662124 h 662124"/>
                  <a:gd name="connsiteX5-71" fmla="*/ 155 w 546514"/>
                  <a:gd name="connsiteY5-72" fmla="*/ 662124 h 662124"/>
                  <a:gd name="connsiteX0-73" fmla="*/ 10856 w 524651"/>
                  <a:gd name="connsiteY0-74" fmla="*/ 658506 h 662124"/>
                  <a:gd name="connsiteX1-75" fmla="*/ 0 w 524651"/>
                  <a:gd name="connsiteY1-76" fmla="*/ 83217 h 662124"/>
                  <a:gd name="connsiteX2-77" fmla="*/ 249661 w 524651"/>
                  <a:gd name="connsiteY2-78" fmla="*/ 0 h 662124"/>
                  <a:gd name="connsiteX3-79" fmla="*/ 521033 w 524651"/>
                  <a:gd name="connsiteY3-80" fmla="*/ 68746 h 662124"/>
                  <a:gd name="connsiteX4-81" fmla="*/ 524651 w 524651"/>
                  <a:gd name="connsiteY4-82" fmla="*/ 662124 h 662124"/>
                  <a:gd name="connsiteX5-83" fmla="*/ 10856 w 524651"/>
                  <a:gd name="connsiteY5-84" fmla="*/ 658506 h 66212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46" name="Freeform 382"/>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cxnSp>
            <p:nvCxnSpPr>
              <p:cNvPr id="447" name="Straight Connector 383"/>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8" name="Straight Connector 384"/>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9" name="Straight Connector 385"/>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50" name="Straight Connector 386"/>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51" name="Straight Connector 387"/>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52" name="Straight Connector 388"/>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430" name="Group 390"/>
            <p:cNvGrpSpPr/>
            <p:nvPr/>
          </p:nvGrpSpPr>
          <p:grpSpPr>
            <a:xfrm>
              <a:off x="10834382" y="3164075"/>
              <a:ext cx="594613" cy="648336"/>
              <a:chOff x="5203089" y="1751190"/>
              <a:chExt cx="858331" cy="662414"/>
            </a:xfrm>
          </p:grpSpPr>
          <p:sp>
            <p:nvSpPr>
              <p:cNvPr id="437" name="Freeform 398"/>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1" fmla="*/ 3618 w 651290"/>
                  <a:gd name="connsiteY0-2" fmla="*/ 593378 h 593378"/>
                  <a:gd name="connsiteX1-3" fmla="*/ 0 w 651290"/>
                  <a:gd name="connsiteY1-4" fmla="*/ 242416 h 593378"/>
                  <a:gd name="connsiteX2-5" fmla="*/ 423338 w 651290"/>
                  <a:gd name="connsiteY2-6" fmla="*/ 101308 h 593378"/>
                  <a:gd name="connsiteX3-7" fmla="*/ 647672 w 651290"/>
                  <a:gd name="connsiteY3-8" fmla="*/ 0 h 593378"/>
                  <a:gd name="connsiteX4-9" fmla="*/ 651290 w 651290"/>
                  <a:gd name="connsiteY4-10" fmla="*/ 593378 h 593378"/>
                  <a:gd name="connsiteX5-11" fmla="*/ 3618 w 651290"/>
                  <a:gd name="connsiteY5-12" fmla="*/ 593378 h 593378"/>
                  <a:gd name="connsiteX0-13" fmla="*/ 3618 w 651290"/>
                  <a:gd name="connsiteY0-14" fmla="*/ 662124 h 662124"/>
                  <a:gd name="connsiteX1-15" fmla="*/ 0 w 651290"/>
                  <a:gd name="connsiteY1-16" fmla="*/ 311162 h 662124"/>
                  <a:gd name="connsiteX2-17" fmla="*/ 376300 w 651290"/>
                  <a:gd name="connsiteY2-18" fmla="*/ 0 h 662124"/>
                  <a:gd name="connsiteX3-19" fmla="*/ 647672 w 651290"/>
                  <a:gd name="connsiteY3-20" fmla="*/ 68746 h 662124"/>
                  <a:gd name="connsiteX4-21" fmla="*/ 651290 w 651290"/>
                  <a:gd name="connsiteY4-22" fmla="*/ 662124 h 662124"/>
                  <a:gd name="connsiteX5-23" fmla="*/ 3618 w 651290"/>
                  <a:gd name="connsiteY5-24" fmla="*/ 662124 h 662124"/>
                  <a:gd name="connsiteX0-25" fmla="*/ 0 w 647672"/>
                  <a:gd name="connsiteY0-26" fmla="*/ 662124 h 662124"/>
                  <a:gd name="connsiteX1-27" fmla="*/ 123021 w 647672"/>
                  <a:gd name="connsiteY1-28" fmla="*/ 83217 h 662124"/>
                  <a:gd name="connsiteX2-29" fmla="*/ 372682 w 647672"/>
                  <a:gd name="connsiteY2-30" fmla="*/ 0 h 662124"/>
                  <a:gd name="connsiteX3-31" fmla="*/ 644054 w 647672"/>
                  <a:gd name="connsiteY3-32" fmla="*/ 68746 h 662124"/>
                  <a:gd name="connsiteX4-33" fmla="*/ 647672 w 647672"/>
                  <a:gd name="connsiteY4-34" fmla="*/ 662124 h 662124"/>
                  <a:gd name="connsiteX5-35" fmla="*/ 0 w 647672"/>
                  <a:gd name="connsiteY5-36" fmla="*/ 662124 h 662124"/>
                  <a:gd name="connsiteX0-37" fmla="*/ 7238 w 524651"/>
                  <a:gd name="connsiteY0-38" fmla="*/ 669360 h 669360"/>
                  <a:gd name="connsiteX1-39" fmla="*/ 0 w 524651"/>
                  <a:gd name="connsiteY1-40" fmla="*/ 83217 h 669360"/>
                  <a:gd name="connsiteX2-41" fmla="*/ 249661 w 524651"/>
                  <a:gd name="connsiteY2-42" fmla="*/ 0 h 669360"/>
                  <a:gd name="connsiteX3-43" fmla="*/ 521033 w 524651"/>
                  <a:gd name="connsiteY3-44" fmla="*/ 68746 h 669360"/>
                  <a:gd name="connsiteX4-45" fmla="*/ 524651 w 524651"/>
                  <a:gd name="connsiteY4-46" fmla="*/ 662124 h 669360"/>
                  <a:gd name="connsiteX5-47" fmla="*/ 7238 w 524651"/>
                  <a:gd name="connsiteY5-48" fmla="*/ 669360 h 669360"/>
                  <a:gd name="connsiteX0-49" fmla="*/ 438 w 528706"/>
                  <a:gd name="connsiteY0-50" fmla="*/ 665742 h 665742"/>
                  <a:gd name="connsiteX1-51" fmla="*/ 4055 w 528706"/>
                  <a:gd name="connsiteY1-52" fmla="*/ 83217 h 665742"/>
                  <a:gd name="connsiteX2-53" fmla="*/ 253716 w 528706"/>
                  <a:gd name="connsiteY2-54" fmla="*/ 0 h 665742"/>
                  <a:gd name="connsiteX3-55" fmla="*/ 525088 w 528706"/>
                  <a:gd name="connsiteY3-56" fmla="*/ 68746 h 665742"/>
                  <a:gd name="connsiteX4-57" fmla="*/ 528706 w 528706"/>
                  <a:gd name="connsiteY4-58" fmla="*/ 662124 h 665742"/>
                  <a:gd name="connsiteX5-59" fmla="*/ 438 w 528706"/>
                  <a:gd name="connsiteY5-60" fmla="*/ 665742 h 665742"/>
                  <a:gd name="connsiteX0-61" fmla="*/ 155 w 546514"/>
                  <a:gd name="connsiteY0-62" fmla="*/ 662124 h 662124"/>
                  <a:gd name="connsiteX1-63" fmla="*/ 21863 w 546514"/>
                  <a:gd name="connsiteY1-64" fmla="*/ 83217 h 662124"/>
                  <a:gd name="connsiteX2-65" fmla="*/ 271524 w 546514"/>
                  <a:gd name="connsiteY2-66" fmla="*/ 0 h 662124"/>
                  <a:gd name="connsiteX3-67" fmla="*/ 542896 w 546514"/>
                  <a:gd name="connsiteY3-68" fmla="*/ 68746 h 662124"/>
                  <a:gd name="connsiteX4-69" fmla="*/ 546514 w 546514"/>
                  <a:gd name="connsiteY4-70" fmla="*/ 662124 h 662124"/>
                  <a:gd name="connsiteX5-71" fmla="*/ 155 w 546514"/>
                  <a:gd name="connsiteY5-72" fmla="*/ 662124 h 662124"/>
                  <a:gd name="connsiteX0-73" fmla="*/ 10856 w 524651"/>
                  <a:gd name="connsiteY0-74" fmla="*/ 658506 h 662124"/>
                  <a:gd name="connsiteX1-75" fmla="*/ 0 w 524651"/>
                  <a:gd name="connsiteY1-76" fmla="*/ 83217 h 662124"/>
                  <a:gd name="connsiteX2-77" fmla="*/ 249661 w 524651"/>
                  <a:gd name="connsiteY2-78" fmla="*/ 0 h 662124"/>
                  <a:gd name="connsiteX3-79" fmla="*/ 521033 w 524651"/>
                  <a:gd name="connsiteY3-80" fmla="*/ 68746 h 662124"/>
                  <a:gd name="connsiteX4-81" fmla="*/ 524651 w 524651"/>
                  <a:gd name="connsiteY4-82" fmla="*/ 662124 h 662124"/>
                  <a:gd name="connsiteX5-83" fmla="*/ 10856 w 524651"/>
                  <a:gd name="connsiteY5-84" fmla="*/ 658506 h 66212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38" name="Freeform 399"/>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cxnSp>
            <p:nvCxnSpPr>
              <p:cNvPr id="439" name="Straight Connector 400"/>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0" name="Straight Connector 401"/>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1" name="Straight Connector 402"/>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2" name="Straight Connector 403"/>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3" name="Straight Connector 404"/>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44" name="Straight Connector 405"/>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431" name="Freeform 561"/>
            <p:cNvSpPr/>
            <p:nvPr/>
          </p:nvSpPr>
          <p:spPr>
            <a:xfrm>
              <a:off x="9749097" y="1798401"/>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1" fmla="*/ 434989 w 1537226"/>
                <a:gd name="connsiteY0-2" fmla="*/ 253346 h 1763594"/>
                <a:gd name="connsiteX1-3" fmla="*/ 488 w 1537226"/>
                <a:gd name="connsiteY1-4" fmla="*/ 921706 h 1763594"/>
                <a:gd name="connsiteX2-5" fmla="*/ 368142 w 1537226"/>
                <a:gd name="connsiteY2-6" fmla="*/ 1489812 h 1763594"/>
                <a:gd name="connsiteX3-7" fmla="*/ 1187008 w 1537226"/>
                <a:gd name="connsiteY3-8" fmla="*/ 1757156 h 1763594"/>
                <a:gd name="connsiteX4-9" fmla="*/ 1521239 w 1537226"/>
                <a:gd name="connsiteY4-10" fmla="*/ 1239177 h 1763594"/>
                <a:gd name="connsiteX5-11" fmla="*/ 1468998 w 1537226"/>
                <a:gd name="connsiteY5-12" fmla="*/ 654362 h 1763594"/>
                <a:gd name="connsiteX6-13" fmla="*/ 1337412 w 1537226"/>
                <a:gd name="connsiteY6-14" fmla="*/ 136383 h 1763594"/>
                <a:gd name="connsiteX7-15" fmla="*/ 1086739 w 1537226"/>
                <a:gd name="connsiteY7-16" fmla="*/ 2711 h 1763594"/>
                <a:gd name="connsiteX8-17" fmla="*/ 434989 w 1537226"/>
                <a:gd name="connsiteY8-18" fmla="*/ 253346 h 1763594"/>
                <a:gd name="connsiteX0-19" fmla="*/ 434989 w 1537226"/>
                <a:gd name="connsiteY0-20" fmla="*/ 253346 h 1763594"/>
                <a:gd name="connsiteX1-21" fmla="*/ 488 w 1537226"/>
                <a:gd name="connsiteY1-22" fmla="*/ 921706 h 1763594"/>
                <a:gd name="connsiteX2-23" fmla="*/ 368142 w 1537226"/>
                <a:gd name="connsiteY2-24" fmla="*/ 1489812 h 1763594"/>
                <a:gd name="connsiteX3-25" fmla="*/ 1187008 w 1537226"/>
                <a:gd name="connsiteY3-26" fmla="*/ 1757156 h 1763594"/>
                <a:gd name="connsiteX4-27" fmla="*/ 1521239 w 1537226"/>
                <a:gd name="connsiteY4-28" fmla="*/ 1239177 h 1763594"/>
                <a:gd name="connsiteX5-29" fmla="*/ 1468998 w 1537226"/>
                <a:gd name="connsiteY5-30" fmla="*/ 654362 h 1763594"/>
                <a:gd name="connsiteX6-31" fmla="*/ 1337412 w 1537226"/>
                <a:gd name="connsiteY6-32" fmla="*/ 136383 h 1763594"/>
                <a:gd name="connsiteX7-33" fmla="*/ 839572 w 1537226"/>
                <a:gd name="connsiteY7-34" fmla="*/ 2711 h 1763594"/>
                <a:gd name="connsiteX8-35" fmla="*/ 434989 w 1537226"/>
                <a:gd name="connsiteY8-36" fmla="*/ 253346 h 1763594"/>
                <a:gd name="connsiteX0-37" fmla="*/ 360357 w 1536743"/>
                <a:gd name="connsiteY0-38" fmla="*/ 534641 h 1782088"/>
                <a:gd name="connsiteX1-39" fmla="*/ 5 w 1536743"/>
                <a:gd name="connsiteY1-40" fmla="*/ 940200 h 1782088"/>
                <a:gd name="connsiteX2-41" fmla="*/ 367659 w 1536743"/>
                <a:gd name="connsiteY2-42" fmla="*/ 1508306 h 1782088"/>
                <a:gd name="connsiteX3-43" fmla="*/ 1186525 w 1536743"/>
                <a:gd name="connsiteY3-44" fmla="*/ 1775650 h 1782088"/>
                <a:gd name="connsiteX4-45" fmla="*/ 1520756 w 1536743"/>
                <a:gd name="connsiteY4-46" fmla="*/ 1257671 h 1782088"/>
                <a:gd name="connsiteX5-47" fmla="*/ 1468515 w 1536743"/>
                <a:gd name="connsiteY5-48" fmla="*/ 672856 h 1782088"/>
                <a:gd name="connsiteX6-49" fmla="*/ 1336929 w 1536743"/>
                <a:gd name="connsiteY6-50" fmla="*/ 154877 h 1782088"/>
                <a:gd name="connsiteX7-51" fmla="*/ 839089 w 1536743"/>
                <a:gd name="connsiteY7-52" fmla="*/ 21205 h 1782088"/>
                <a:gd name="connsiteX8-53" fmla="*/ 360357 w 1536743"/>
                <a:gd name="connsiteY8-54" fmla="*/ 534641 h 1782088"/>
                <a:gd name="connsiteX0-55" fmla="*/ 360355 w 1536741"/>
                <a:gd name="connsiteY0-56" fmla="*/ 534641 h 1782088"/>
                <a:gd name="connsiteX1-57" fmla="*/ 3 w 1536741"/>
                <a:gd name="connsiteY1-58" fmla="*/ 940200 h 1782088"/>
                <a:gd name="connsiteX2-59" fmla="*/ 367657 w 1536741"/>
                <a:gd name="connsiteY2-60" fmla="*/ 1508306 h 1782088"/>
                <a:gd name="connsiteX3-61" fmla="*/ 1186523 w 1536741"/>
                <a:gd name="connsiteY3-62" fmla="*/ 1775650 h 1782088"/>
                <a:gd name="connsiteX4-63" fmla="*/ 1520754 w 1536741"/>
                <a:gd name="connsiteY4-64" fmla="*/ 1257671 h 1782088"/>
                <a:gd name="connsiteX5-65" fmla="*/ 1468513 w 1536741"/>
                <a:gd name="connsiteY5-66" fmla="*/ 672856 h 1782088"/>
                <a:gd name="connsiteX6-67" fmla="*/ 1336927 w 1536741"/>
                <a:gd name="connsiteY6-68" fmla="*/ 154877 h 1782088"/>
                <a:gd name="connsiteX7-69" fmla="*/ 839087 w 1536741"/>
                <a:gd name="connsiteY7-70" fmla="*/ 21205 h 1782088"/>
                <a:gd name="connsiteX8-71" fmla="*/ 360355 w 1536741"/>
                <a:gd name="connsiteY8-72" fmla="*/ 534641 h 1782088"/>
                <a:gd name="connsiteX0-73" fmla="*/ 360355 w 1494463"/>
                <a:gd name="connsiteY0-74" fmla="*/ 534641 h 1775651"/>
                <a:gd name="connsiteX1-75" fmla="*/ 3 w 1494463"/>
                <a:gd name="connsiteY1-76" fmla="*/ 940200 h 1775651"/>
                <a:gd name="connsiteX2-77" fmla="*/ 367657 w 1494463"/>
                <a:gd name="connsiteY2-78" fmla="*/ 1508306 h 1775651"/>
                <a:gd name="connsiteX3-79" fmla="*/ 1186523 w 1494463"/>
                <a:gd name="connsiteY3-80" fmla="*/ 1775650 h 1775651"/>
                <a:gd name="connsiteX4-81" fmla="*/ 1467465 w 1494463"/>
                <a:gd name="connsiteY4-82" fmla="*/ 1510813 h 1775651"/>
                <a:gd name="connsiteX5-83" fmla="*/ 1468513 w 1494463"/>
                <a:gd name="connsiteY5-84" fmla="*/ 672856 h 1775651"/>
                <a:gd name="connsiteX6-85" fmla="*/ 1336927 w 1494463"/>
                <a:gd name="connsiteY6-86" fmla="*/ 154877 h 1775651"/>
                <a:gd name="connsiteX7-87" fmla="*/ 839087 w 1494463"/>
                <a:gd name="connsiteY7-88" fmla="*/ 21205 h 1775651"/>
                <a:gd name="connsiteX8-89" fmla="*/ 360355 w 1494463"/>
                <a:gd name="connsiteY8-90" fmla="*/ 534641 h 1775651"/>
                <a:gd name="connsiteX0-91" fmla="*/ 360355 w 1491064"/>
                <a:gd name="connsiteY0-92" fmla="*/ 552327 h 1793337"/>
                <a:gd name="connsiteX1-93" fmla="*/ 3 w 1491064"/>
                <a:gd name="connsiteY1-94" fmla="*/ 957886 h 1793337"/>
                <a:gd name="connsiteX2-95" fmla="*/ 367657 w 1491064"/>
                <a:gd name="connsiteY2-96" fmla="*/ 1525992 h 1793337"/>
                <a:gd name="connsiteX3-97" fmla="*/ 1186523 w 1491064"/>
                <a:gd name="connsiteY3-98" fmla="*/ 1793336 h 1793337"/>
                <a:gd name="connsiteX4-99" fmla="*/ 1467465 w 1491064"/>
                <a:gd name="connsiteY4-100" fmla="*/ 1528499 h 1793337"/>
                <a:gd name="connsiteX5-101" fmla="*/ 1468513 w 1491064"/>
                <a:gd name="connsiteY5-102" fmla="*/ 690542 h 1793337"/>
                <a:gd name="connsiteX6-103" fmla="*/ 1407977 w 1491064"/>
                <a:gd name="connsiteY6-104" fmla="*/ 109278 h 1793337"/>
                <a:gd name="connsiteX7-105" fmla="*/ 839087 w 1491064"/>
                <a:gd name="connsiteY7-106" fmla="*/ 38891 h 1793337"/>
                <a:gd name="connsiteX8-107" fmla="*/ 360355 w 1491064"/>
                <a:gd name="connsiteY8-108" fmla="*/ 552327 h 1793337"/>
                <a:gd name="connsiteX0-109" fmla="*/ 360355 w 1502818"/>
                <a:gd name="connsiteY0-110" fmla="*/ 552327 h 1612281"/>
                <a:gd name="connsiteX1-111" fmla="*/ 3 w 1502818"/>
                <a:gd name="connsiteY1-112" fmla="*/ 957886 h 1612281"/>
                <a:gd name="connsiteX2-113" fmla="*/ 367657 w 1502818"/>
                <a:gd name="connsiteY2-114" fmla="*/ 1525992 h 1612281"/>
                <a:gd name="connsiteX3-115" fmla="*/ 1026659 w 1502818"/>
                <a:gd name="connsiteY3-116" fmla="*/ 1582385 h 1612281"/>
                <a:gd name="connsiteX4-117" fmla="*/ 1467465 w 1502818"/>
                <a:gd name="connsiteY4-118" fmla="*/ 1528499 h 1612281"/>
                <a:gd name="connsiteX5-119" fmla="*/ 1468513 w 1502818"/>
                <a:gd name="connsiteY5-120" fmla="*/ 690542 h 1612281"/>
                <a:gd name="connsiteX6-121" fmla="*/ 1407977 w 1502818"/>
                <a:gd name="connsiteY6-122" fmla="*/ 109278 h 1612281"/>
                <a:gd name="connsiteX7-123" fmla="*/ 839087 w 1502818"/>
                <a:gd name="connsiteY7-124" fmla="*/ 38891 h 1612281"/>
                <a:gd name="connsiteX8-125" fmla="*/ 360355 w 1502818"/>
                <a:gd name="connsiteY8-126" fmla="*/ 552327 h 1612281"/>
                <a:gd name="connsiteX0-127" fmla="*/ 360384 w 1502847"/>
                <a:gd name="connsiteY0-128" fmla="*/ 552327 h 1803602"/>
                <a:gd name="connsiteX1-129" fmla="*/ 32 w 1502847"/>
                <a:gd name="connsiteY1-130" fmla="*/ 957886 h 1803602"/>
                <a:gd name="connsiteX2-131" fmla="*/ 385448 w 1502847"/>
                <a:gd name="connsiteY2-132" fmla="*/ 1779134 h 1803602"/>
                <a:gd name="connsiteX3-133" fmla="*/ 1026688 w 1502847"/>
                <a:gd name="connsiteY3-134" fmla="*/ 1582385 h 1803602"/>
                <a:gd name="connsiteX4-135" fmla="*/ 1467494 w 1502847"/>
                <a:gd name="connsiteY4-136" fmla="*/ 1528499 h 1803602"/>
                <a:gd name="connsiteX5-137" fmla="*/ 1468542 w 1502847"/>
                <a:gd name="connsiteY5-138" fmla="*/ 690542 h 1803602"/>
                <a:gd name="connsiteX6-139" fmla="*/ 1408006 w 1502847"/>
                <a:gd name="connsiteY6-140" fmla="*/ 109278 h 1803602"/>
                <a:gd name="connsiteX7-141" fmla="*/ 839116 w 1502847"/>
                <a:gd name="connsiteY7-142" fmla="*/ 38891 h 1803602"/>
                <a:gd name="connsiteX8-143" fmla="*/ 360384 w 1502847"/>
                <a:gd name="connsiteY8-144" fmla="*/ 552327 h 1803602"/>
                <a:gd name="connsiteX0-145" fmla="*/ 360384 w 1502847"/>
                <a:gd name="connsiteY0-146" fmla="*/ 552327 h 1826319"/>
                <a:gd name="connsiteX1-147" fmla="*/ 32 w 1502847"/>
                <a:gd name="connsiteY1-148" fmla="*/ 957886 h 1826319"/>
                <a:gd name="connsiteX2-149" fmla="*/ 385448 w 1502847"/>
                <a:gd name="connsiteY2-150" fmla="*/ 1779134 h 1826319"/>
                <a:gd name="connsiteX3-151" fmla="*/ 1026688 w 1502847"/>
                <a:gd name="connsiteY3-152" fmla="*/ 1582385 h 1826319"/>
                <a:gd name="connsiteX4-153" fmla="*/ 1467494 w 1502847"/>
                <a:gd name="connsiteY4-154" fmla="*/ 1528499 h 1826319"/>
                <a:gd name="connsiteX5-155" fmla="*/ 1468542 w 1502847"/>
                <a:gd name="connsiteY5-156" fmla="*/ 690542 h 1826319"/>
                <a:gd name="connsiteX6-157" fmla="*/ 1408006 w 1502847"/>
                <a:gd name="connsiteY6-158" fmla="*/ 109278 h 1826319"/>
                <a:gd name="connsiteX7-159" fmla="*/ 839116 w 1502847"/>
                <a:gd name="connsiteY7-160" fmla="*/ 38891 h 1826319"/>
                <a:gd name="connsiteX8-161" fmla="*/ 360384 w 1502847"/>
                <a:gd name="connsiteY8-162" fmla="*/ 552327 h 1826319"/>
                <a:gd name="connsiteX0-163" fmla="*/ 289852 w 1503366"/>
                <a:gd name="connsiteY0-164" fmla="*/ 461730 h 1820101"/>
                <a:gd name="connsiteX1-165" fmla="*/ 551 w 1503366"/>
                <a:gd name="connsiteY1-166" fmla="*/ 951668 h 1820101"/>
                <a:gd name="connsiteX2-167" fmla="*/ 385967 w 1503366"/>
                <a:gd name="connsiteY2-168" fmla="*/ 1772916 h 1820101"/>
                <a:gd name="connsiteX3-169" fmla="*/ 1027207 w 1503366"/>
                <a:gd name="connsiteY3-170" fmla="*/ 1576167 h 1820101"/>
                <a:gd name="connsiteX4-171" fmla="*/ 1468013 w 1503366"/>
                <a:gd name="connsiteY4-172" fmla="*/ 1522281 h 1820101"/>
                <a:gd name="connsiteX5-173" fmla="*/ 1469061 w 1503366"/>
                <a:gd name="connsiteY5-174" fmla="*/ 684324 h 1820101"/>
                <a:gd name="connsiteX6-175" fmla="*/ 1408525 w 1503366"/>
                <a:gd name="connsiteY6-176" fmla="*/ 103060 h 1820101"/>
                <a:gd name="connsiteX7-177" fmla="*/ 839635 w 1503366"/>
                <a:gd name="connsiteY7-178" fmla="*/ 32673 h 1820101"/>
                <a:gd name="connsiteX8-179" fmla="*/ 289852 w 1503366"/>
                <a:gd name="connsiteY8-180" fmla="*/ 461730 h 1820101"/>
                <a:gd name="connsiteX0-181" fmla="*/ 293376 w 1506890"/>
                <a:gd name="connsiteY0-182" fmla="*/ 461730 h 1820101"/>
                <a:gd name="connsiteX1-183" fmla="*/ 4075 w 1506890"/>
                <a:gd name="connsiteY1-184" fmla="*/ 951668 h 1820101"/>
                <a:gd name="connsiteX2-185" fmla="*/ 389491 w 1506890"/>
                <a:gd name="connsiteY2-186" fmla="*/ 1772916 h 1820101"/>
                <a:gd name="connsiteX3-187" fmla="*/ 1030731 w 1506890"/>
                <a:gd name="connsiteY3-188" fmla="*/ 1576167 h 1820101"/>
                <a:gd name="connsiteX4-189" fmla="*/ 1471537 w 1506890"/>
                <a:gd name="connsiteY4-190" fmla="*/ 1522281 h 1820101"/>
                <a:gd name="connsiteX5-191" fmla="*/ 1472585 w 1506890"/>
                <a:gd name="connsiteY5-192" fmla="*/ 684324 h 1820101"/>
                <a:gd name="connsiteX6-193" fmla="*/ 1412049 w 1506890"/>
                <a:gd name="connsiteY6-194" fmla="*/ 103060 h 1820101"/>
                <a:gd name="connsiteX7-195" fmla="*/ 843159 w 1506890"/>
                <a:gd name="connsiteY7-196" fmla="*/ 32673 h 1820101"/>
                <a:gd name="connsiteX8-197" fmla="*/ 293376 w 1506890"/>
                <a:gd name="connsiteY8-198" fmla="*/ 461730 h 1820101"/>
                <a:gd name="connsiteX0-199" fmla="*/ 203955 w 1545103"/>
                <a:gd name="connsiteY0-200" fmla="*/ 206126 h 1802639"/>
                <a:gd name="connsiteX1-201" fmla="*/ 42288 w 1545103"/>
                <a:gd name="connsiteY1-202" fmla="*/ 934206 h 1802639"/>
                <a:gd name="connsiteX2-203" fmla="*/ 427704 w 1545103"/>
                <a:gd name="connsiteY2-204" fmla="*/ 1755454 h 1802639"/>
                <a:gd name="connsiteX3-205" fmla="*/ 1068944 w 1545103"/>
                <a:gd name="connsiteY3-206" fmla="*/ 1558705 h 1802639"/>
                <a:gd name="connsiteX4-207" fmla="*/ 1509750 w 1545103"/>
                <a:gd name="connsiteY4-208" fmla="*/ 1504819 h 1802639"/>
                <a:gd name="connsiteX5-209" fmla="*/ 1510798 w 1545103"/>
                <a:gd name="connsiteY5-210" fmla="*/ 666862 h 1802639"/>
                <a:gd name="connsiteX6-211" fmla="*/ 1450262 w 1545103"/>
                <a:gd name="connsiteY6-212" fmla="*/ 85598 h 1802639"/>
                <a:gd name="connsiteX7-213" fmla="*/ 881372 w 1545103"/>
                <a:gd name="connsiteY7-214" fmla="*/ 15211 h 1802639"/>
                <a:gd name="connsiteX8-215" fmla="*/ 203955 w 1545103"/>
                <a:gd name="connsiteY8-216" fmla="*/ 206126 h 1802639"/>
                <a:gd name="connsiteX0-217" fmla="*/ 147252 w 1634267"/>
                <a:gd name="connsiteY0-218" fmla="*/ 113266 h 1796376"/>
                <a:gd name="connsiteX1-219" fmla="*/ 131452 w 1634267"/>
                <a:gd name="connsiteY1-220" fmla="*/ 927943 h 1796376"/>
                <a:gd name="connsiteX2-221" fmla="*/ 516868 w 1634267"/>
                <a:gd name="connsiteY2-222" fmla="*/ 1749191 h 1796376"/>
                <a:gd name="connsiteX3-223" fmla="*/ 1158108 w 1634267"/>
                <a:gd name="connsiteY3-224" fmla="*/ 1552442 h 1796376"/>
                <a:gd name="connsiteX4-225" fmla="*/ 1598914 w 1634267"/>
                <a:gd name="connsiteY4-226" fmla="*/ 1498556 h 1796376"/>
                <a:gd name="connsiteX5-227" fmla="*/ 1599962 w 1634267"/>
                <a:gd name="connsiteY5-228" fmla="*/ 660599 h 1796376"/>
                <a:gd name="connsiteX6-229" fmla="*/ 1539426 w 1634267"/>
                <a:gd name="connsiteY6-230" fmla="*/ 79335 h 1796376"/>
                <a:gd name="connsiteX7-231" fmla="*/ 970536 w 1634267"/>
                <a:gd name="connsiteY7-232" fmla="*/ 8948 h 1796376"/>
                <a:gd name="connsiteX8-233" fmla="*/ 147252 w 1634267"/>
                <a:gd name="connsiteY8-234" fmla="*/ 113266 h 17963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32" name="TextBox 572"/>
            <p:cNvSpPr txBox="1"/>
            <p:nvPr/>
          </p:nvSpPr>
          <p:spPr>
            <a:xfrm>
              <a:off x="9688571" y="1381732"/>
              <a:ext cx="1725088" cy="380453"/>
            </a:xfrm>
            <a:prstGeom prst="rect">
              <a:avLst/>
            </a:prstGeom>
            <a:noFill/>
          </p:spPr>
          <p:txBody>
            <a:bodyPr wrap="square" rtlCol="0">
              <a:spAutoFit/>
            </a:bodyPr>
            <a:lstStyle/>
            <a:p>
              <a:pPr>
                <a:lnSpc>
                  <a:spcPct val="90000"/>
                </a:lnSpc>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国家或全球ISP</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433" name="Rectangle 654"/>
            <p:cNvSpPr/>
            <p:nvPr/>
          </p:nvSpPr>
          <p:spPr>
            <a:xfrm>
              <a:off x="9342279" y="3647812"/>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4" name="TextBox 652"/>
            <p:cNvSpPr txBox="1"/>
            <p:nvPr/>
          </p:nvSpPr>
          <p:spPr>
            <a:xfrm>
              <a:off x="8712332" y="3162722"/>
              <a:ext cx="954956" cy="381519"/>
            </a:xfrm>
            <a:prstGeom prst="rect">
              <a:avLst/>
            </a:prstGeom>
            <a:noFill/>
          </p:spPr>
          <p:txBody>
            <a:bodyPr wrap="square" rtlCol="0">
              <a:spAutoFit/>
            </a:bodyPr>
            <a:lstStyle/>
            <a:p>
              <a:pPr>
                <a:lnSpc>
                  <a:spcPct val="9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地区IS</a:t>
              </a:r>
              <a:r>
                <a:rPr lang="en-US" sz="2000" dirty="0">
                  <a:latin typeface="微软雅黑" panose="020B0503020204020204" pitchFamily="34" charset="-122"/>
                  <a:ea typeface="微软雅黑" panose="020B0503020204020204" pitchFamily="34" charset="-122"/>
                  <a:cs typeface="微软雅黑" panose="020B0503020204020204" pitchFamily="34" charset="-122"/>
                </a:rPr>
                <a:t>P</a:t>
              </a:r>
              <a:endParaRPr 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6" name="TextBox 657"/>
            <p:cNvSpPr txBox="1"/>
            <p:nvPr/>
          </p:nvSpPr>
          <p:spPr>
            <a:xfrm>
              <a:off x="10557286" y="4964442"/>
              <a:ext cx="1370136" cy="639045"/>
            </a:xfrm>
            <a:prstGeom prst="rect">
              <a:avLst/>
            </a:prstGeom>
            <a:noFill/>
          </p:spPr>
          <p:txBody>
            <a:bodyPr wrap="square" rtlCol="0">
              <a:spAutoFit/>
            </a:bodyPr>
            <a:lstStyle/>
            <a:p>
              <a:pPr algn="ctr">
                <a:lnSpc>
                  <a:spcPct val="90000"/>
                </a:lnSpc>
              </a:pPr>
              <a:r>
                <a:rPr lang="en-US" sz="2000" dirty="0" err="1">
                  <a:latin typeface="微软雅黑" panose="020B0503020204020204" pitchFamily="34" charset="-122"/>
                  <a:ea typeface="微软雅黑" panose="020B0503020204020204" pitchFamily="34" charset="-122"/>
                </a:rPr>
                <a:t>内容提供商</a:t>
              </a:r>
              <a:br>
                <a:rPr lang="en-US" sz="2000" dirty="0">
                  <a:latin typeface="微软雅黑" panose="020B0503020204020204" pitchFamily="34" charset="-122"/>
                  <a:ea typeface="微软雅黑" panose="020B0503020204020204" pitchFamily="34" charset="-122"/>
                </a:rPr>
              </a:br>
              <a:r>
                <a:rPr lang="en-US" altLang="zh-CN" dirty="0" err="1">
                  <a:latin typeface="微软雅黑" panose="020B0503020204020204" pitchFamily="34" charset="-122"/>
                  <a:ea typeface="微软雅黑" panose="020B0503020204020204" pitchFamily="34" charset="-122"/>
                </a:rPr>
                <a:t>数据中心网络</a:t>
              </a:r>
              <a:endParaRPr lang="en-US" altLang="zh-CN" sz="2000" dirty="0">
                <a:latin typeface="微软雅黑" panose="020B0503020204020204" pitchFamily="34" charset="-122"/>
                <a:ea typeface="微软雅黑" panose="020B0503020204020204" pitchFamily="34" charset="-122"/>
              </a:endParaRPr>
            </a:p>
          </p:txBody>
        </p:sp>
      </p:grpSp>
      <p:cxnSp>
        <p:nvCxnSpPr>
          <p:cNvPr id="380" name="Straight Connector 829"/>
          <p:cNvCxnSpPr/>
          <p:nvPr/>
        </p:nvCxnSpPr>
        <p:spPr>
          <a:xfrm flipH="1" flipV="1">
            <a:off x="10480495" y="3422625"/>
            <a:ext cx="472436" cy="616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1" name="Straight Connector 826"/>
          <p:cNvCxnSpPr/>
          <p:nvPr/>
        </p:nvCxnSpPr>
        <p:spPr>
          <a:xfrm flipH="1" flipV="1">
            <a:off x="10595943" y="3481256"/>
            <a:ext cx="395675" cy="71544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2" name="Straight Connector 824"/>
          <p:cNvCxnSpPr/>
          <p:nvPr/>
        </p:nvCxnSpPr>
        <p:spPr>
          <a:xfrm flipV="1">
            <a:off x="10568557" y="3474224"/>
            <a:ext cx="384374" cy="38275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3" name="Straight Connector 822"/>
          <p:cNvCxnSpPr/>
          <p:nvPr/>
        </p:nvCxnSpPr>
        <p:spPr>
          <a:xfrm flipH="1" flipV="1">
            <a:off x="10492912" y="3436926"/>
            <a:ext cx="1" cy="47028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4" name="Straight Connector 818"/>
          <p:cNvCxnSpPr/>
          <p:nvPr/>
        </p:nvCxnSpPr>
        <p:spPr>
          <a:xfrm flipH="1" flipV="1">
            <a:off x="10469855" y="3898494"/>
            <a:ext cx="581780" cy="33754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5" name="Straight Connector 817"/>
          <p:cNvCxnSpPr/>
          <p:nvPr/>
        </p:nvCxnSpPr>
        <p:spPr>
          <a:xfrm flipH="1">
            <a:off x="9720040" y="3914081"/>
            <a:ext cx="74981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6" name="Straight Connector 815"/>
          <p:cNvCxnSpPr/>
          <p:nvPr/>
        </p:nvCxnSpPr>
        <p:spPr>
          <a:xfrm flipH="1">
            <a:off x="8947169" y="3914081"/>
            <a:ext cx="74981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7" name="Straight Connector 812"/>
          <p:cNvCxnSpPr/>
          <p:nvPr/>
        </p:nvCxnSpPr>
        <p:spPr>
          <a:xfrm flipH="1">
            <a:off x="9012666" y="3352479"/>
            <a:ext cx="437498" cy="50058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8" name="Straight Connector 810"/>
          <p:cNvCxnSpPr/>
          <p:nvPr/>
        </p:nvCxnSpPr>
        <p:spPr>
          <a:xfrm>
            <a:off x="9534566" y="3352479"/>
            <a:ext cx="0" cy="52309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9" name="Straight Connector 807"/>
          <p:cNvCxnSpPr/>
          <p:nvPr/>
        </p:nvCxnSpPr>
        <p:spPr>
          <a:xfrm>
            <a:off x="9997433" y="2623471"/>
            <a:ext cx="558478" cy="81261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0" name="Straight Connector 562"/>
          <p:cNvCxnSpPr/>
          <p:nvPr/>
        </p:nvCxnSpPr>
        <p:spPr>
          <a:xfrm flipH="1">
            <a:off x="9609670" y="2565692"/>
            <a:ext cx="435219" cy="672686"/>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grpSp>
        <p:nvGrpSpPr>
          <p:cNvPr id="391" name="Group 802"/>
          <p:cNvGrpSpPr/>
          <p:nvPr/>
        </p:nvGrpSpPr>
        <p:grpSpPr>
          <a:xfrm>
            <a:off x="7051106" y="2016078"/>
            <a:ext cx="4094272" cy="3524387"/>
            <a:chOff x="7562238" y="2127325"/>
            <a:chExt cx="3578867" cy="3640283"/>
          </a:xfrm>
        </p:grpSpPr>
        <p:grpSp>
          <p:nvGrpSpPr>
            <p:cNvPr id="392" name="Group 799"/>
            <p:cNvGrpSpPr/>
            <p:nvPr/>
          </p:nvGrpSpPr>
          <p:grpSpPr>
            <a:xfrm>
              <a:off x="7857253" y="2127325"/>
              <a:ext cx="3283852" cy="3640283"/>
              <a:chOff x="7881336" y="2104198"/>
              <a:chExt cx="3283852" cy="3640283"/>
            </a:xfrm>
          </p:grpSpPr>
          <p:sp>
            <p:nvSpPr>
              <p:cNvPr id="397" name="Line 428"/>
              <p:cNvSpPr>
                <a:spLocks noChangeShapeType="1"/>
              </p:cNvSpPr>
              <p:nvPr/>
            </p:nvSpPr>
            <p:spPr bwMode="auto">
              <a:xfrm rot="16200000" flipV="1">
                <a:off x="9813692" y="5228612"/>
                <a:ext cx="388062" cy="75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398" name="Line 430"/>
              <p:cNvSpPr>
                <a:spLocks noChangeShapeType="1"/>
              </p:cNvSpPr>
              <p:nvPr/>
            </p:nvSpPr>
            <p:spPr bwMode="auto">
              <a:xfrm rot="16200000">
                <a:off x="10234009" y="5382159"/>
                <a:ext cx="0" cy="11430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399" name="Line 431"/>
              <p:cNvSpPr>
                <a:spLocks noChangeShapeType="1"/>
              </p:cNvSpPr>
              <p:nvPr/>
            </p:nvSpPr>
            <p:spPr bwMode="auto">
              <a:xfrm>
                <a:off x="9457042" y="4815390"/>
                <a:ext cx="524483" cy="261537"/>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sp>
            <p:nvSpPr>
              <p:cNvPr id="400" name="Line 432"/>
              <p:cNvSpPr>
                <a:spLocks noChangeShapeType="1"/>
              </p:cNvSpPr>
              <p:nvPr/>
            </p:nvSpPr>
            <p:spPr bwMode="auto">
              <a:xfrm flipV="1">
                <a:off x="8874149" y="4815390"/>
                <a:ext cx="569255" cy="246266"/>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sp>
            <p:nvSpPr>
              <p:cNvPr id="401" name="Line 433"/>
              <p:cNvSpPr>
                <a:spLocks noChangeShapeType="1"/>
              </p:cNvSpPr>
              <p:nvPr/>
            </p:nvSpPr>
            <p:spPr bwMode="auto">
              <a:xfrm flipV="1">
                <a:off x="8845827" y="5085749"/>
                <a:ext cx="1030502" cy="0"/>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sp>
            <p:nvSpPr>
              <p:cNvPr id="402" name="Line 435"/>
              <p:cNvSpPr>
                <a:spLocks noChangeShapeType="1"/>
              </p:cNvSpPr>
              <p:nvPr/>
            </p:nvSpPr>
            <p:spPr bwMode="auto">
              <a:xfrm>
                <a:off x="8234290" y="5094207"/>
                <a:ext cx="226800" cy="127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3" name="Line 436"/>
              <p:cNvSpPr>
                <a:spLocks noChangeShapeType="1"/>
              </p:cNvSpPr>
              <p:nvPr/>
            </p:nvSpPr>
            <p:spPr bwMode="auto">
              <a:xfrm flipV="1">
                <a:off x="7972450" y="5267343"/>
                <a:ext cx="412750" cy="127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4" name="Line 439"/>
              <p:cNvSpPr>
                <a:spLocks noChangeShapeType="1"/>
              </p:cNvSpPr>
              <p:nvPr/>
            </p:nvSpPr>
            <p:spPr bwMode="auto">
              <a:xfrm flipH="1">
                <a:off x="8397900" y="5259125"/>
                <a:ext cx="68080" cy="2939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5" name="Line 440"/>
              <p:cNvSpPr>
                <a:spLocks noChangeShapeType="1"/>
              </p:cNvSpPr>
              <p:nvPr/>
            </p:nvSpPr>
            <p:spPr bwMode="auto">
              <a:xfrm flipH="1" flipV="1">
                <a:off x="8512814" y="5284804"/>
                <a:ext cx="280374" cy="2698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6" name="Line 441"/>
              <p:cNvSpPr>
                <a:spLocks noChangeShapeType="1"/>
              </p:cNvSpPr>
              <p:nvPr/>
            </p:nvSpPr>
            <p:spPr bwMode="auto">
              <a:xfrm>
                <a:off x="8512814" y="5234921"/>
                <a:ext cx="914184" cy="4686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7" name="Line 443"/>
              <p:cNvSpPr>
                <a:spLocks noChangeShapeType="1"/>
              </p:cNvSpPr>
              <p:nvPr/>
            </p:nvSpPr>
            <p:spPr bwMode="auto">
              <a:xfrm>
                <a:off x="8271861" y="3806843"/>
                <a:ext cx="0" cy="1317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8" name="Line 449"/>
              <p:cNvSpPr>
                <a:spLocks noChangeShapeType="1"/>
              </p:cNvSpPr>
              <p:nvPr/>
            </p:nvSpPr>
            <p:spPr bwMode="auto">
              <a:xfrm flipV="1">
                <a:off x="7881336" y="4017980"/>
                <a:ext cx="168275" cy="31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9" name="Line 428"/>
              <p:cNvSpPr>
                <a:spLocks noChangeShapeType="1"/>
              </p:cNvSpPr>
              <p:nvPr/>
            </p:nvSpPr>
            <p:spPr bwMode="auto">
              <a:xfrm rot="16200000" flipV="1">
                <a:off x="9909628" y="5560344"/>
                <a:ext cx="366793" cy="148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410" name="Line 440"/>
              <p:cNvSpPr>
                <a:spLocks noChangeShapeType="1"/>
              </p:cNvSpPr>
              <p:nvPr/>
            </p:nvSpPr>
            <p:spPr bwMode="auto">
              <a:xfrm flipV="1">
                <a:off x="8483508" y="5013435"/>
                <a:ext cx="404236" cy="20777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cxnSp>
            <p:nvCxnSpPr>
              <p:cNvPr id="411" name="Straight Connector 563"/>
              <p:cNvCxnSpPr/>
              <p:nvPr/>
            </p:nvCxnSpPr>
            <p:spPr>
              <a:xfrm flipH="1">
                <a:off x="10124718" y="2146305"/>
                <a:ext cx="761467" cy="577355"/>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2" name="Straight Connector 564"/>
              <p:cNvCxnSpPr/>
              <p:nvPr/>
            </p:nvCxnSpPr>
            <p:spPr>
              <a:xfrm flipH="1">
                <a:off x="10124718" y="2245186"/>
                <a:ext cx="3970" cy="518461"/>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3" name="Straight Connector 565"/>
              <p:cNvCxnSpPr/>
              <p:nvPr/>
            </p:nvCxnSpPr>
            <p:spPr>
              <a:xfrm flipH="1">
                <a:off x="10696218" y="2177379"/>
                <a:ext cx="149360" cy="518461"/>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4" name="Straight Connector 566"/>
              <p:cNvCxnSpPr/>
              <p:nvPr/>
            </p:nvCxnSpPr>
            <p:spPr>
              <a:xfrm flipH="1">
                <a:off x="10166249" y="2695840"/>
                <a:ext cx="574283" cy="27820"/>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5" name="Straight Connector 567"/>
              <p:cNvCxnSpPr/>
              <p:nvPr/>
            </p:nvCxnSpPr>
            <p:spPr>
              <a:xfrm flipH="1">
                <a:off x="10093625" y="2146305"/>
                <a:ext cx="788589" cy="98881"/>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6" name="Straight Connector 568"/>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7" name="Straight Connector 569"/>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8" name="Straight Connector 573"/>
              <p:cNvCxnSpPr/>
              <p:nvPr/>
            </p:nvCxnSpPr>
            <p:spPr>
              <a:xfrm flipH="1">
                <a:off x="8793306" y="2245186"/>
                <a:ext cx="1300319" cy="606622"/>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419" name="Line 541"/>
              <p:cNvSpPr>
                <a:spLocks noChangeShapeType="1"/>
              </p:cNvSpPr>
              <p:nvPr/>
            </p:nvSpPr>
            <p:spPr bwMode="auto">
              <a:xfrm flipV="1">
                <a:off x="9402788" y="4090252"/>
                <a:ext cx="429324" cy="705603"/>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sp>
            <p:nvSpPr>
              <p:cNvPr id="420" name="Line 424"/>
              <p:cNvSpPr>
                <a:spLocks noChangeShapeType="1"/>
              </p:cNvSpPr>
              <p:nvPr/>
            </p:nvSpPr>
            <p:spPr bwMode="auto">
              <a:xfrm flipV="1">
                <a:off x="8268637" y="4024329"/>
                <a:ext cx="969051" cy="3175"/>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grpSp>
        <p:pic>
          <p:nvPicPr>
            <p:cNvPr id="393" name="Picture 778" descr="antenna_radiation_stylized"/>
            <p:cNvPicPr>
              <a:picLocks noChangeAspect="1" noChangeArrowheads="1"/>
            </p:cNvPicPr>
            <p:nvPr/>
          </p:nvPicPr>
          <p:blipFill>
            <a:blip r:embed="rId1" cstate="print"/>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4" name="Picture 781" descr="antenna_radiation_stylized"/>
            <p:cNvPicPr>
              <a:picLocks noChangeAspect="1" noChangeArrowheads="1"/>
            </p:cNvPicPr>
            <p:nvPr/>
          </p:nvPicPr>
          <p:blipFill>
            <a:blip r:embed="rId2" cstate="print"/>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5" name="Picture 799" descr="cell_tower_radiation copy"/>
            <p:cNvPicPr>
              <a:picLocks noChangeAspect="1" noChangeArrowheads="1"/>
            </p:cNvPicPr>
            <p:nvPr/>
          </p:nvPicPr>
          <p:blipFill>
            <a:blip r:embed="rId3"/>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6" name="Oval 800"/>
            <p:cNvSpPr>
              <a:spLocks noChangeArrowheads="1"/>
            </p:cNvSpPr>
            <p:nvPr/>
          </p:nvSpPr>
          <p:spPr bwMode="auto">
            <a:xfrm>
              <a:off x="8174541" y="2292995"/>
              <a:ext cx="52388" cy="49485"/>
            </a:xfrm>
            <a:prstGeom prst="ellipse">
              <a:avLst/>
            </a:prstGeom>
            <a:solidFill>
              <a:schemeClr val="tx2"/>
            </a:soli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pic>
        <p:nvPicPr>
          <p:cNvPr id="378" name="Picture 653" descr="iphone_stylized_small"/>
          <p:cNvPicPr>
            <a:picLocks noChangeAspect="1" noChangeArrowheads="1"/>
          </p:cNvPicPr>
          <p:nvPr/>
        </p:nvPicPr>
        <p:blipFill>
          <a:blip r:embed="rId4" cstate="print"/>
          <a:srcRect/>
          <a:stretch>
            <a:fillRect/>
          </a:stretch>
        </p:blipFill>
        <p:spPr bwMode="auto">
          <a:xfrm>
            <a:off x="7420060" y="1843476"/>
            <a:ext cx="156537" cy="317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 name="Picture 654" descr="antenna_radiation_stylized"/>
          <p:cNvPicPr>
            <a:picLocks noChangeAspect="1" noChangeArrowheads="1"/>
          </p:cNvPicPr>
          <p:nvPr/>
        </p:nvPicPr>
        <p:blipFill>
          <a:blip r:embed="rId5"/>
          <a:srcRect/>
          <a:stretch>
            <a:fillRect/>
          </a:stretch>
        </p:blipFill>
        <p:spPr bwMode="auto">
          <a:xfrm>
            <a:off x="7237777" y="1788004"/>
            <a:ext cx="475789" cy="8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 name="Freeform 1039"/>
          <p:cNvSpPr/>
          <p:nvPr/>
        </p:nvSpPr>
        <p:spPr bwMode="auto">
          <a:xfrm flipV="1">
            <a:off x="7254338" y="2570576"/>
            <a:ext cx="135453" cy="71190"/>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349" name="Group 739"/>
          <p:cNvGrpSpPr/>
          <p:nvPr/>
        </p:nvGrpSpPr>
        <p:grpSpPr>
          <a:xfrm>
            <a:off x="8198197" y="2134381"/>
            <a:ext cx="607086" cy="462765"/>
            <a:chOff x="8631407" y="2290407"/>
            <a:chExt cx="530702" cy="478009"/>
          </a:xfrm>
        </p:grpSpPr>
        <p:pic>
          <p:nvPicPr>
            <p:cNvPr id="353" name="Picture 568" descr="light2.png"/>
            <p:cNvPicPr>
              <a:picLocks noChangeAspect="1"/>
            </p:cNvPicPr>
            <p:nvPr/>
          </p:nvPicPr>
          <p:blipFill>
            <a:blip r:embed="rId6"/>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4" name="Picture 1017" descr="antenna_stylized"/>
            <p:cNvPicPr>
              <a:picLocks noChangeAspect="1" noChangeArrowheads="1"/>
            </p:cNvPicPr>
            <p:nvPr/>
          </p:nvPicPr>
          <p:blipFill>
            <a:blip r:embed="rId7" cstate="print"/>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51" name="Picture 603" descr="car_icon_small"/>
          <p:cNvPicPr>
            <a:picLocks noChangeAspect="1" noChangeArrowheads="1"/>
          </p:cNvPicPr>
          <p:nvPr/>
        </p:nvPicPr>
        <p:blipFill>
          <a:blip r:embed="rId8"/>
          <a:srcRect/>
          <a:stretch>
            <a:fillRect/>
          </a:stretch>
        </p:blipFill>
        <p:spPr bwMode="auto">
          <a:xfrm>
            <a:off x="7953055" y="1917761"/>
            <a:ext cx="971553" cy="16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2" name="Picture 1017" descr="antenna_stylized"/>
          <p:cNvPicPr>
            <a:picLocks noChangeAspect="1" noChangeArrowheads="1"/>
          </p:cNvPicPr>
          <p:nvPr/>
        </p:nvPicPr>
        <p:blipFill>
          <a:blip r:embed="rId7" cstate="print"/>
          <a:srcRect/>
          <a:stretch>
            <a:fillRect/>
          </a:stretch>
        </p:blipFill>
        <p:spPr bwMode="auto">
          <a:xfrm>
            <a:off x="8198197" y="1788004"/>
            <a:ext cx="607086" cy="216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7" name="Group 791"/>
          <p:cNvGrpSpPr/>
          <p:nvPr/>
        </p:nvGrpSpPr>
        <p:grpSpPr>
          <a:xfrm>
            <a:off x="6967472" y="3305580"/>
            <a:ext cx="401298" cy="295774"/>
            <a:chOff x="7487144" y="3389820"/>
            <a:chExt cx="350807" cy="305517"/>
          </a:xfrm>
        </p:grpSpPr>
        <p:pic>
          <p:nvPicPr>
            <p:cNvPr id="324" name="Picture 1115" descr="antenna_stylized"/>
            <p:cNvPicPr>
              <a:picLocks noChangeAspect="1" noChangeArrowheads="1"/>
            </p:cNvPicPr>
            <p:nvPr/>
          </p:nvPicPr>
          <p:blipFill>
            <a:blip r:embed="rId9"/>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5" name="Picture 1116" descr="laptop_keyboard"/>
            <p:cNvPicPr>
              <a:picLocks noChangeAspect="1" noChangeArrowheads="1"/>
            </p:cNvPicPr>
            <p:nvPr/>
          </p:nvPicPr>
          <p:blipFill>
            <a:blip r:embed="rId10" cstate="print"/>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6" name="Freeform 1117"/>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en-US" dirty="0"/>
            </a:p>
          </p:txBody>
        </p:sp>
        <p:pic>
          <p:nvPicPr>
            <p:cNvPr id="327" name="Picture 1118" descr="screen"/>
            <p:cNvPicPr>
              <a:picLocks noChangeAspect="1" noChangeArrowheads="1"/>
            </p:cNvPicPr>
            <p:nvPr/>
          </p:nvPicPr>
          <p:blipFill>
            <a:blip r:embed="rId11"/>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 name="Freeform 1119"/>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29" name="Freeform 1120"/>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0" name="Freeform 1121"/>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1" name="Freeform 1122"/>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2" name="Freeform 1123"/>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3" name="Freeform 1124"/>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334" name="Group 1125"/>
            <p:cNvGrpSpPr/>
            <p:nvPr/>
          </p:nvGrpSpPr>
          <p:grpSpPr bwMode="auto">
            <a:xfrm>
              <a:off x="7593395" y="3625649"/>
              <a:ext cx="64747" cy="27592"/>
              <a:chOff x="1740" y="2642"/>
              <a:chExt cx="752" cy="327"/>
            </a:xfrm>
          </p:grpSpPr>
          <p:sp>
            <p:nvSpPr>
              <p:cNvPr id="341" name="Freeform 1126"/>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2" name="Freeform 1127"/>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3" name="Freeform 1128"/>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4" name="Freeform 1129"/>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5" name="Freeform 1130"/>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6" name="Freeform 1131"/>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335" name="Freeform 1132"/>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6" name="Freeform 1133"/>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7" name="Freeform 1134"/>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8" name="Freeform 1135"/>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9" name="Freeform 1136"/>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0" name="Freeform 1137"/>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grpSp>
        <p:nvGrpSpPr>
          <p:cNvPr id="318" name="Group 1139"/>
          <p:cNvGrpSpPr/>
          <p:nvPr/>
        </p:nvGrpSpPr>
        <p:grpSpPr bwMode="auto">
          <a:xfrm flipH="1">
            <a:off x="7514347" y="3440970"/>
            <a:ext cx="410969" cy="331137"/>
            <a:chOff x="2839" y="3501"/>
            <a:chExt cx="755" cy="803"/>
          </a:xfrm>
        </p:grpSpPr>
        <p:pic>
          <p:nvPicPr>
            <p:cNvPr id="322" name="Picture 1140" descr="desktop_computer_stylized_medium"/>
            <p:cNvPicPr>
              <a:picLocks noChangeAspect="1" noChangeArrowheads="1"/>
            </p:cNvPicPr>
            <p:nvPr/>
          </p:nvPicPr>
          <p:blipFill>
            <a:blip r:embed="rId12"/>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3" name="Freeform 1141"/>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319" name="Group 693"/>
          <p:cNvGrpSpPr/>
          <p:nvPr/>
        </p:nvGrpSpPr>
        <p:grpSpPr>
          <a:xfrm>
            <a:off x="7298646" y="3206960"/>
            <a:ext cx="398084" cy="383971"/>
            <a:chOff x="7797061" y="3296104"/>
            <a:chExt cx="347997" cy="396620"/>
          </a:xfrm>
        </p:grpSpPr>
        <p:pic>
          <p:nvPicPr>
            <p:cNvPr id="320" name="Picture 571" descr="fridge2.png"/>
            <p:cNvPicPr>
              <a:picLocks noChangeAspect="1"/>
            </p:cNvPicPr>
            <p:nvPr/>
          </p:nvPicPr>
          <p:blipFill>
            <a:blip r:embed="rId13" cstate="print"/>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1" name="Picture 1115" descr="antenna_stylized"/>
            <p:cNvPicPr>
              <a:picLocks noChangeAspect="1" noChangeArrowheads="1"/>
            </p:cNvPicPr>
            <p:nvPr/>
          </p:nvPicPr>
          <p:blipFill>
            <a:blip r:embed="rId9"/>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5" name="Group 374"/>
          <p:cNvGrpSpPr/>
          <p:nvPr/>
        </p:nvGrpSpPr>
        <p:grpSpPr>
          <a:xfrm>
            <a:off x="11062314" y="4042909"/>
            <a:ext cx="560341" cy="437407"/>
            <a:chOff x="5103720" y="2693365"/>
            <a:chExt cx="611650" cy="414788"/>
          </a:xfrm>
        </p:grpSpPr>
        <p:cxnSp>
          <p:nvCxnSpPr>
            <p:cNvPr id="312" name="Straight Connector 375"/>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3" name="Group 377"/>
            <p:cNvGrpSpPr/>
            <p:nvPr/>
          </p:nvGrpSpPr>
          <p:grpSpPr>
            <a:xfrm>
              <a:off x="5275406" y="2693365"/>
              <a:ext cx="439964" cy="414788"/>
              <a:chOff x="5275406" y="2711455"/>
              <a:chExt cx="452949" cy="405518"/>
            </a:xfrm>
          </p:grpSpPr>
          <p:pic>
            <p:nvPicPr>
              <p:cNvPr id="314" name="Picture 378" descr="server_rack.png"/>
              <p:cNvPicPr>
                <a:picLocks noChangeAspect="1"/>
              </p:cNvPicPr>
              <p:nvPr/>
            </p:nvPicPr>
            <p:blipFill>
              <a:blip r:embed="rId14" cstate="print"/>
              <a:stretch>
                <a:fillRect/>
              </a:stretch>
            </p:blipFill>
            <p:spPr>
              <a:xfrm>
                <a:off x="5537367" y="2770786"/>
                <a:ext cx="190988" cy="313366"/>
              </a:xfrm>
              <a:prstGeom prst="rect">
                <a:avLst/>
              </a:prstGeom>
            </p:spPr>
          </p:pic>
          <p:pic>
            <p:nvPicPr>
              <p:cNvPr id="315" name="Picture 379" descr="server_rack.png"/>
              <p:cNvPicPr>
                <a:picLocks noChangeAspect="1"/>
              </p:cNvPicPr>
              <p:nvPr/>
            </p:nvPicPr>
            <p:blipFill>
              <a:blip r:embed="rId14" cstate="print"/>
              <a:stretch>
                <a:fillRect/>
              </a:stretch>
            </p:blipFill>
            <p:spPr>
              <a:xfrm>
                <a:off x="5275406" y="2764002"/>
                <a:ext cx="190988" cy="313366"/>
              </a:xfrm>
              <a:prstGeom prst="rect">
                <a:avLst/>
              </a:prstGeom>
            </p:spPr>
          </p:pic>
          <p:pic>
            <p:nvPicPr>
              <p:cNvPr id="316" name="Picture 380" descr="server_rack.png"/>
              <p:cNvPicPr>
                <a:picLocks noChangeAspect="1"/>
              </p:cNvPicPr>
              <p:nvPr/>
            </p:nvPicPr>
            <p:blipFill>
              <a:blip r:embed="rId15" cstate="print"/>
              <a:stretch>
                <a:fillRect/>
              </a:stretch>
            </p:blipFill>
            <p:spPr>
              <a:xfrm>
                <a:off x="5385676" y="2711455"/>
                <a:ext cx="247152" cy="405518"/>
              </a:xfrm>
              <a:prstGeom prst="rect">
                <a:avLst/>
              </a:prstGeom>
            </p:spPr>
          </p:pic>
        </p:grpSp>
      </p:grpSp>
      <p:grpSp>
        <p:nvGrpSpPr>
          <p:cNvPr id="306" name="Group 391"/>
          <p:cNvGrpSpPr/>
          <p:nvPr/>
        </p:nvGrpSpPr>
        <p:grpSpPr>
          <a:xfrm>
            <a:off x="11029587" y="3306734"/>
            <a:ext cx="484710" cy="393026"/>
            <a:chOff x="5103720" y="2693365"/>
            <a:chExt cx="611650" cy="414788"/>
          </a:xfrm>
        </p:grpSpPr>
        <p:cxnSp>
          <p:nvCxnSpPr>
            <p:cNvPr id="307" name="Straight Connector 392"/>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08" name="Group 394"/>
            <p:cNvGrpSpPr/>
            <p:nvPr/>
          </p:nvGrpSpPr>
          <p:grpSpPr>
            <a:xfrm>
              <a:off x="5275406" y="2693365"/>
              <a:ext cx="439964" cy="414788"/>
              <a:chOff x="5275406" y="2711455"/>
              <a:chExt cx="452949" cy="405518"/>
            </a:xfrm>
          </p:grpSpPr>
          <p:pic>
            <p:nvPicPr>
              <p:cNvPr id="309" name="Picture 395" descr="server_rack.png"/>
              <p:cNvPicPr>
                <a:picLocks noChangeAspect="1"/>
              </p:cNvPicPr>
              <p:nvPr/>
            </p:nvPicPr>
            <p:blipFill>
              <a:blip r:embed="rId16" cstate="print"/>
              <a:stretch>
                <a:fillRect/>
              </a:stretch>
            </p:blipFill>
            <p:spPr>
              <a:xfrm>
                <a:off x="5537367" y="2770786"/>
                <a:ext cx="190988" cy="313366"/>
              </a:xfrm>
              <a:prstGeom prst="rect">
                <a:avLst/>
              </a:prstGeom>
            </p:spPr>
          </p:pic>
          <p:pic>
            <p:nvPicPr>
              <p:cNvPr id="310" name="Picture 396" descr="server_rack.png"/>
              <p:cNvPicPr>
                <a:picLocks noChangeAspect="1"/>
              </p:cNvPicPr>
              <p:nvPr/>
            </p:nvPicPr>
            <p:blipFill>
              <a:blip r:embed="rId16" cstate="print"/>
              <a:stretch>
                <a:fillRect/>
              </a:stretch>
            </p:blipFill>
            <p:spPr>
              <a:xfrm>
                <a:off x="5275406" y="2764002"/>
                <a:ext cx="190988" cy="313366"/>
              </a:xfrm>
              <a:prstGeom prst="rect">
                <a:avLst/>
              </a:prstGeom>
            </p:spPr>
          </p:pic>
          <p:pic>
            <p:nvPicPr>
              <p:cNvPr id="311" name="Picture 397" descr="server_rack.png"/>
              <p:cNvPicPr>
                <a:picLocks noChangeAspect="1"/>
              </p:cNvPicPr>
              <p:nvPr/>
            </p:nvPicPr>
            <p:blipFill>
              <a:blip r:embed="rId17" cstate="print"/>
              <a:stretch>
                <a:fillRect/>
              </a:stretch>
            </p:blipFill>
            <p:spPr>
              <a:xfrm>
                <a:off x="5385676" y="2711455"/>
                <a:ext cx="247152" cy="405518"/>
              </a:xfrm>
              <a:prstGeom prst="rect">
                <a:avLst/>
              </a:prstGeom>
            </p:spPr>
          </p:pic>
        </p:grpSp>
      </p:grpSp>
      <p:grpSp>
        <p:nvGrpSpPr>
          <p:cNvPr id="178" name="Group 950"/>
          <p:cNvGrpSpPr/>
          <p:nvPr/>
        </p:nvGrpSpPr>
        <p:grpSpPr bwMode="auto">
          <a:xfrm>
            <a:off x="10141841" y="5093347"/>
            <a:ext cx="202688" cy="320283"/>
            <a:chOff x="4140" y="429"/>
            <a:chExt cx="1425" cy="2396"/>
          </a:xfrm>
        </p:grpSpPr>
        <p:sp>
          <p:nvSpPr>
            <p:cNvPr id="27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74" name="Rectangle 952"/>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7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7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77" name="Rectangle 955"/>
            <p:cNvSpPr>
              <a:spLocks noChangeArrowheads="1"/>
            </p:cNvSpPr>
            <p:nvPr/>
          </p:nvSpPr>
          <p:spPr bwMode="auto">
            <a:xfrm>
              <a:off x="4210" y="690"/>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278" name="Group 956"/>
            <p:cNvGrpSpPr/>
            <p:nvPr/>
          </p:nvGrpSpPr>
          <p:grpSpPr bwMode="auto">
            <a:xfrm>
              <a:off x="4749" y="668"/>
              <a:ext cx="581" cy="145"/>
              <a:chOff x="614" y="2568"/>
              <a:chExt cx="725" cy="139"/>
            </a:xfrm>
          </p:grpSpPr>
          <p:sp>
            <p:nvSpPr>
              <p:cNvPr id="303" name="AutoShape 957"/>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304" name="AutoShape 958"/>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279" name="Rectangle 959"/>
            <p:cNvSpPr>
              <a:spLocks noChangeArrowheads="1"/>
            </p:cNvSpPr>
            <p:nvPr/>
          </p:nvSpPr>
          <p:spPr bwMode="auto">
            <a:xfrm>
              <a:off x="4220" y="1022"/>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280" name="Group 960"/>
            <p:cNvGrpSpPr/>
            <p:nvPr/>
          </p:nvGrpSpPr>
          <p:grpSpPr bwMode="auto">
            <a:xfrm>
              <a:off x="4747" y="994"/>
              <a:ext cx="581" cy="134"/>
              <a:chOff x="614" y="2568"/>
              <a:chExt cx="725" cy="139"/>
            </a:xfrm>
          </p:grpSpPr>
          <p:sp>
            <p:nvSpPr>
              <p:cNvPr id="301" name="AutoShape 961"/>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302" name="AutoShape 962"/>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281" name="Rectangle 963"/>
            <p:cNvSpPr>
              <a:spLocks noChangeArrowheads="1"/>
            </p:cNvSpPr>
            <p:nvPr/>
          </p:nvSpPr>
          <p:spPr bwMode="auto">
            <a:xfrm>
              <a:off x="4220" y="1354"/>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82" name="Rectangle 964"/>
            <p:cNvSpPr>
              <a:spLocks noChangeArrowheads="1"/>
            </p:cNvSpPr>
            <p:nvPr/>
          </p:nvSpPr>
          <p:spPr bwMode="auto">
            <a:xfrm>
              <a:off x="4230" y="1655"/>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283" name="Group 965"/>
            <p:cNvGrpSpPr/>
            <p:nvPr/>
          </p:nvGrpSpPr>
          <p:grpSpPr bwMode="auto">
            <a:xfrm>
              <a:off x="4735" y="1627"/>
              <a:ext cx="582" cy="151"/>
              <a:chOff x="614" y="2568"/>
              <a:chExt cx="725" cy="139"/>
            </a:xfrm>
          </p:grpSpPr>
          <p:sp>
            <p:nvSpPr>
              <p:cNvPr id="299" name="AutoShape 966"/>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300" name="AutoShape 967"/>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28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285" name="Group 969"/>
            <p:cNvGrpSpPr/>
            <p:nvPr/>
          </p:nvGrpSpPr>
          <p:grpSpPr bwMode="auto">
            <a:xfrm>
              <a:off x="4739" y="1327"/>
              <a:ext cx="582" cy="139"/>
              <a:chOff x="614" y="2568"/>
              <a:chExt cx="725" cy="139"/>
            </a:xfrm>
          </p:grpSpPr>
          <p:sp>
            <p:nvSpPr>
              <p:cNvPr id="297" name="AutoShape 970"/>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8" name="AutoShape 971"/>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286" name="Rectangle 972"/>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8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88" name="Freeform 974"/>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89" name="Oval 975"/>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0" name="Freeform 976"/>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9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2" name="AutoShape 978"/>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3" name="Oval 979"/>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4" name="Oval 980"/>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dirty="0">
                <a:solidFill>
                  <a:srgbClr val="FF0000"/>
                </a:solidFill>
                <a:latin typeface="Arial" panose="020B0604020202020204" pitchFamily="34" charset="0"/>
              </a:endParaRPr>
            </a:p>
          </p:txBody>
        </p:sp>
        <p:sp>
          <p:nvSpPr>
            <p:cNvPr id="295" name="Oval 981"/>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6" name="Rectangle 982"/>
            <p:cNvSpPr>
              <a:spLocks noChangeArrowheads="1"/>
            </p:cNvSpPr>
            <p:nvPr/>
          </p:nvSpPr>
          <p:spPr bwMode="auto">
            <a:xfrm>
              <a:off x="5067" y="1837"/>
              <a:ext cx="80" cy="759"/>
            </a:xfrm>
            <a:prstGeom prst="rect">
              <a:avLst/>
            </a:prstGeom>
            <a:solidFill>
              <a:srgbClr val="292929"/>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grpSp>
        <p:nvGrpSpPr>
          <p:cNvPr id="213" name="Group 590"/>
          <p:cNvGrpSpPr/>
          <p:nvPr/>
        </p:nvGrpSpPr>
        <p:grpSpPr bwMode="auto">
          <a:xfrm flipH="1">
            <a:off x="7501602" y="4731476"/>
            <a:ext cx="395376" cy="310087"/>
            <a:chOff x="2839" y="3501"/>
            <a:chExt cx="755" cy="803"/>
          </a:xfrm>
        </p:grpSpPr>
        <p:pic>
          <p:nvPicPr>
            <p:cNvPr id="271" name="Picture 591" descr="desktop_computer_stylized_medium"/>
            <p:cNvPicPr>
              <a:picLocks noChangeAspect="1" noChangeArrowheads="1"/>
            </p:cNvPicPr>
            <p:nvPr/>
          </p:nvPicPr>
          <p:blipFill>
            <a:blip r:embed="rId18" cstate="print"/>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Freeform 592"/>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214" name="Group 1064"/>
          <p:cNvGrpSpPr/>
          <p:nvPr/>
        </p:nvGrpSpPr>
        <p:grpSpPr bwMode="auto">
          <a:xfrm>
            <a:off x="8898141" y="5653745"/>
            <a:ext cx="354831" cy="297992"/>
            <a:chOff x="877" y="1008"/>
            <a:chExt cx="2747" cy="2591"/>
          </a:xfrm>
        </p:grpSpPr>
        <p:pic>
          <p:nvPicPr>
            <p:cNvPr id="248" name="Picture 1065" descr="antenna_stylized"/>
            <p:cNvPicPr>
              <a:picLocks noChangeAspect="1" noChangeArrowheads="1"/>
            </p:cNvPicPr>
            <p:nvPr/>
          </p:nvPicPr>
          <p:blipFill>
            <a:blip r:embed="rId19" cstate="print"/>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9" name="Picture 1066" descr="laptop_keyboard"/>
            <p:cNvPicPr>
              <a:picLocks noChangeAspect="1" noChangeArrowheads="1"/>
            </p:cNvPicPr>
            <p:nvPr/>
          </p:nvPicPr>
          <p:blipFill>
            <a:blip r:embed="rId20" cstate="print"/>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 name="Freeform 1067"/>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en-US" dirty="0"/>
            </a:p>
          </p:txBody>
        </p:sp>
        <p:pic>
          <p:nvPicPr>
            <p:cNvPr id="251" name="Picture 1068" descr="screen"/>
            <p:cNvPicPr>
              <a:picLocks noChangeAspect="1" noChangeArrowheads="1"/>
            </p:cNvPicPr>
            <p:nvPr/>
          </p:nvPicPr>
          <p:blipFill>
            <a:blip r:embed="rId21" cstate="print"/>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69"/>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3" name="Freeform 1070"/>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4" name="Freeform 1071"/>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5" name="Freeform 1072"/>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6" name="Freeform 1073"/>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7" name="Freeform 1074"/>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258" name="Group 1075"/>
            <p:cNvGrpSpPr/>
            <p:nvPr/>
          </p:nvGrpSpPr>
          <p:grpSpPr bwMode="auto">
            <a:xfrm>
              <a:off x="1709" y="3008"/>
              <a:ext cx="507" cy="234"/>
              <a:chOff x="1740" y="2642"/>
              <a:chExt cx="752" cy="327"/>
            </a:xfrm>
          </p:grpSpPr>
          <p:sp>
            <p:nvSpPr>
              <p:cNvPr id="265" name="Freeform 1076"/>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6" name="Freeform 1077"/>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7" name="Freeform 1078"/>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8" name="Freeform 1079"/>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9" name="Freeform 1080"/>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70" name="Freeform 1081"/>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259" name="Freeform 1082"/>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0" name="Freeform 1083"/>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1" name="Freeform 1084"/>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2" name="Freeform 1085"/>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3" name="Freeform 1086"/>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4" name="Freeform 1087"/>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grpSp>
        <p:nvGrpSpPr>
          <p:cNvPr id="215" name="Group 590"/>
          <p:cNvGrpSpPr/>
          <p:nvPr/>
        </p:nvGrpSpPr>
        <p:grpSpPr bwMode="auto">
          <a:xfrm flipH="1">
            <a:off x="7264951" y="5100231"/>
            <a:ext cx="395376" cy="310087"/>
            <a:chOff x="2839" y="3501"/>
            <a:chExt cx="755" cy="803"/>
          </a:xfrm>
        </p:grpSpPr>
        <p:pic>
          <p:nvPicPr>
            <p:cNvPr id="246" name="Picture 591" descr="desktop_computer_stylized_medium"/>
            <p:cNvPicPr>
              <a:picLocks noChangeAspect="1" noChangeArrowheads="1"/>
            </p:cNvPicPr>
            <p:nvPr/>
          </p:nvPicPr>
          <p:blipFill>
            <a:blip r:embed="rId18" cstate="print"/>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 name="Freeform 592"/>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216" name="Group 590"/>
          <p:cNvGrpSpPr/>
          <p:nvPr/>
        </p:nvGrpSpPr>
        <p:grpSpPr bwMode="auto">
          <a:xfrm flipH="1">
            <a:off x="7699562" y="5316696"/>
            <a:ext cx="395376" cy="310087"/>
            <a:chOff x="2839" y="3501"/>
            <a:chExt cx="755" cy="803"/>
          </a:xfrm>
        </p:grpSpPr>
        <p:pic>
          <p:nvPicPr>
            <p:cNvPr id="244" name="Picture 591" descr="desktop_computer_stylized_medium"/>
            <p:cNvPicPr>
              <a:picLocks noChangeAspect="1" noChangeArrowheads="1"/>
            </p:cNvPicPr>
            <p:nvPr/>
          </p:nvPicPr>
          <p:blipFill>
            <a:blip r:embed="rId18" cstate="print"/>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 name="Freeform 592"/>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217" name="Group 590"/>
          <p:cNvGrpSpPr/>
          <p:nvPr/>
        </p:nvGrpSpPr>
        <p:grpSpPr bwMode="auto">
          <a:xfrm flipH="1">
            <a:off x="8155104" y="5337486"/>
            <a:ext cx="395376" cy="310087"/>
            <a:chOff x="2839" y="3501"/>
            <a:chExt cx="755" cy="803"/>
          </a:xfrm>
        </p:grpSpPr>
        <p:pic>
          <p:nvPicPr>
            <p:cNvPr id="242" name="Picture 591" descr="desktop_computer_stylized_medium"/>
            <p:cNvPicPr>
              <a:picLocks noChangeAspect="1" noChangeArrowheads="1"/>
            </p:cNvPicPr>
            <p:nvPr/>
          </p:nvPicPr>
          <p:blipFill>
            <a:blip r:embed="rId18" cstate="print"/>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Freeform 592"/>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218" name="Group 1064"/>
          <p:cNvGrpSpPr/>
          <p:nvPr/>
        </p:nvGrpSpPr>
        <p:grpSpPr bwMode="auto">
          <a:xfrm>
            <a:off x="9279156" y="5597907"/>
            <a:ext cx="365216" cy="245298"/>
            <a:chOff x="877" y="1008"/>
            <a:chExt cx="2747" cy="2591"/>
          </a:xfrm>
        </p:grpSpPr>
        <p:pic>
          <p:nvPicPr>
            <p:cNvPr id="219" name="Picture 1065" descr="antenna_stylized"/>
            <p:cNvPicPr>
              <a:picLocks noChangeAspect="1" noChangeArrowheads="1"/>
            </p:cNvPicPr>
            <p:nvPr/>
          </p:nvPicPr>
          <p:blipFill>
            <a:blip r:embed="rId22" cstate="print"/>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0" name="Picture 1066" descr="laptop_keyboard"/>
            <p:cNvPicPr>
              <a:picLocks noChangeAspect="1" noChangeArrowheads="1"/>
            </p:cNvPicPr>
            <p:nvPr/>
          </p:nvPicPr>
          <p:blipFill>
            <a:blip r:embed="rId23" cstate="print"/>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 name="Freeform 1067"/>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en-US" dirty="0"/>
            </a:p>
          </p:txBody>
        </p:sp>
        <p:pic>
          <p:nvPicPr>
            <p:cNvPr id="222" name="Picture 1068" descr="screen"/>
            <p:cNvPicPr>
              <a:picLocks noChangeAspect="1" noChangeArrowheads="1"/>
            </p:cNvPicPr>
            <p:nvPr/>
          </p:nvPicPr>
          <p:blipFill>
            <a:blip r:embed="rId24" cstate="print"/>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 name="Freeform 1069"/>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4" name="Freeform 1070"/>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5" name="Freeform 1071"/>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6" name="Freeform 1072"/>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7" name="Freeform 1073"/>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8" name="Freeform 1074"/>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229" name="Group 1075"/>
            <p:cNvGrpSpPr/>
            <p:nvPr/>
          </p:nvGrpSpPr>
          <p:grpSpPr bwMode="auto">
            <a:xfrm>
              <a:off x="1709" y="3008"/>
              <a:ext cx="507" cy="234"/>
              <a:chOff x="1740" y="2642"/>
              <a:chExt cx="752" cy="327"/>
            </a:xfrm>
          </p:grpSpPr>
          <p:sp>
            <p:nvSpPr>
              <p:cNvPr id="236" name="Freeform 1076"/>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7" name="Freeform 1077"/>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8" name="Freeform 1078"/>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9" name="Freeform 1079"/>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40" name="Freeform 1080"/>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41" name="Freeform 1081"/>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230" name="Freeform 1082"/>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1" name="Freeform 1083"/>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2" name="Freeform 1084"/>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3" name="Freeform 1085"/>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4" name="Freeform 1086"/>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5" name="Freeform 1087"/>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grpSp>
        <p:nvGrpSpPr>
          <p:cNvPr id="180" name="Group 983"/>
          <p:cNvGrpSpPr/>
          <p:nvPr/>
        </p:nvGrpSpPr>
        <p:grpSpPr bwMode="auto">
          <a:xfrm>
            <a:off x="9831839" y="5444224"/>
            <a:ext cx="196136" cy="337817"/>
            <a:chOff x="4140" y="429"/>
            <a:chExt cx="1425" cy="2396"/>
          </a:xfrm>
        </p:grpSpPr>
        <p:sp>
          <p:nvSpPr>
            <p:cNvPr id="181" name="Freeform 984"/>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82" name="Rectangle 985"/>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183" name="Freeform 986"/>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84" name="Freeform 987"/>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85" name="Rectangle 988"/>
            <p:cNvSpPr>
              <a:spLocks noChangeArrowheads="1"/>
            </p:cNvSpPr>
            <p:nvPr/>
          </p:nvSpPr>
          <p:spPr bwMode="auto">
            <a:xfrm>
              <a:off x="4210" y="690"/>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186" name="Group 989"/>
            <p:cNvGrpSpPr/>
            <p:nvPr/>
          </p:nvGrpSpPr>
          <p:grpSpPr bwMode="auto">
            <a:xfrm>
              <a:off x="4749" y="668"/>
              <a:ext cx="581" cy="145"/>
              <a:chOff x="614" y="2568"/>
              <a:chExt cx="725" cy="139"/>
            </a:xfrm>
          </p:grpSpPr>
          <p:sp>
            <p:nvSpPr>
              <p:cNvPr id="211" name="AutoShape 990"/>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12" name="AutoShape 991"/>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187" name="Rectangle 992"/>
            <p:cNvSpPr>
              <a:spLocks noChangeArrowheads="1"/>
            </p:cNvSpPr>
            <p:nvPr/>
          </p:nvSpPr>
          <p:spPr bwMode="auto">
            <a:xfrm>
              <a:off x="4220" y="1022"/>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188" name="Group 993"/>
            <p:cNvGrpSpPr/>
            <p:nvPr/>
          </p:nvGrpSpPr>
          <p:grpSpPr bwMode="auto">
            <a:xfrm>
              <a:off x="4747" y="994"/>
              <a:ext cx="581" cy="134"/>
              <a:chOff x="614" y="2568"/>
              <a:chExt cx="725" cy="139"/>
            </a:xfrm>
          </p:grpSpPr>
          <p:sp>
            <p:nvSpPr>
              <p:cNvPr id="209" name="AutoShape 994"/>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10" name="AutoShape 995"/>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189" name="Rectangle 996"/>
            <p:cNvSpPr>
              <a:spLocks noChangeArrowheads="1"/>
            </p:cNvSpPr>
            <p:nvPr/>
          </p:nvSpPr>
          <p:spPr bwMode="auto">
            <a:xfrm>
              <a:off x="4220" y="1354"/>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190" name="Rectangle 997"/>
            <p:cNvSpPr>
              <a:spLocks noChangeArrowheads="1"/>
            </p:cNvSpPr>
            <p:nvPr/>
          </p:nvSpPr>
          <p:spPr bwMode="auto">
            <a:xfrm>
              <a:off x="4230" y="1655"/>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191" name="Group 998"/>
            <p:cNvGrpSpPr/>
            <p:nvPr/>
          </p:nvGrpSpPr>
          <p:grpSpPr bwMode="auto">
            <a:xfrm>
              <a:off x="4735" y="1627"/>
              <a:ext cx="582" cy="151"/>
              <a:chOff x="614" y="2568"/>
              <a:chExt cx="725" cy="139"/>
            </a:xfrm>
          </p:grpSpPr>
          <p:sp>
            <p:nvSpPr>
              <p:cNvPr id="207" name="AutoShape 999"/>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8" name="AutoShape 1000"/>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192" name="Freeform 1001"/>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193" name="Group 1002"/>
            <p:cNvGrpSpPr/>
            <p:nvPr/>
          </p:nvGrpSpPr>
          <p:grpSpPr bwMode="auto">
            <a:xfrm>
              <a:off x="4739" y="1327"/>
              <a:ext cx="582" cy="139"/>
              <a:chOff x="614" y="2568"/>
              <a:chExt cx="725" cy="139"/>
            </a:xfrm>
          </p:grpSpPr>
          <p:sp>
            <p:nvSpPr>
              <p:cNvPr id="205" name="AutoShape 1003"/>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6" name="AutoShape 1004"/>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194" name="Rectangle 1005"/>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195" name="Freeform 1006"/>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96" name="Freeform 1007"/>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97" name="Oval 1008"/>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198" name="Freeform 1009"/>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99" name="AutoShape 1010"/>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0" name="AutoShape 1011"/>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1" name="Oval 1012"/>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2" name="Oval 1013"/>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dirty="0">
                <a:solidFill>
                  <a:srgbClr val="FF0000"/>
                </a:solidFill>
                <a:latin typeface="Arial" panose="020B0604020202020204" pitchFamily="34" charset="0"/>
              </a:endParaRPr>
            </a:p>
          </p:txBody>
        </p:sp>
        <p:sp>
          <p:nvSpPr>
            <p:cNvPr id="203" name="Oval 1014"/>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4" name="Rectangle 1015"/>
            <p:cNvSpPr>
              <a:spLocks noChangeArrowheads="1"/>
            </p:cNvSpPr>
            <p:nvPr/>
          </p:nvSpPr>
          <p:spPr bwMode="auto">
            <a:xfrm>
              <a:off x="5067" y="1837"/>
              <a:ext cx="80" cy="759"/>
            </a:xfrm>
            <a:prstGeom prst="rect">
              <a:avLst/>
            </a:prstGeom>
            <a:solidFill>
              <a:srgbClr val="292929"/>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grpSp>
        <p:nvGrpSpPr>
          <p:cNvPr id="9" name="Group 1023"/>
          <p:cNvGrpSpPr/>
          <p:nvPr/>
        </p:nvGrpSpPr>
        <p:grpSpPr>
          <a:xfrm>
            <a:off x="7109949" y="1997635"/>
            <a:ext cx="4049958" cy="3614756"/>
            <a:chOff x="7619038" y="2102861"/>
            <a:chExt cx="3540395" cy="3733733"/>
          </a:xfrm>
        </p:grpSpPr>
        <p:sp>
          <p:nvSpPr>
            <p:cNvPr id="11" name="Line 426"/>
            <p:cNvSpPr>
              <a:spLocks noChangeShapeType="1"/>
            </p:cNvSpPr>
            <p:nvPr/>
          </p:nvSpPr>
          <p:spPr bwMode="auto">
            <a:xfrm>
              <a:off x="8213016" y="2695257"/>
              <a:ext cx="227964" cy="1743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grpSp>
          <p:nvGrpSpPr>
            <p:cNvPr id="12" name="Group 783"/>
            <p:cNvGrpSpPr/>
            <p:nvPr/>
          </p:nvGrpSpPr>
          <p:grpSpPr bwMode="auto">
            <a:xfrm>
              <a:off x="8055854" y="2304274"/>
              <a:ext cx="298450" cy="464008"/>
              <a:chOff x="3130" y="3288"/>
              <a:chExt cx="410" cy="742"/>
            </a:xfrm>
          </p:grpSpPr>
          <p:sp>
            <p:nvSpPr>
              <p:cNvPr id="159" name="Line 270"/>
              <p:cNvSpPr>
                <a:spLocks noChangeShapeType="1"/>
              </p:cNvSpPr>
              <p:nvPr/>
            </p:nvSpPr>
            <p:spPr bwMode="auto">
              <a:xfrm flipH="1">
                <a:off x="3130" y="3288"/>
                <a:ext cx="205" cy="6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0" name="Line 271"/>
              <p:cNvSpPr>
                <a:spLocks noChangeShapeType="1"/>
              </p:cNvSpPr>
              <p:nvPr/>
            </p:nvSpPr>
            <p:spPr bwMode="auto">
              <a:xfrm>
                <a:off x="3335" y="3288"/>
                <a:ext cx="205" cy="6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1" name="Line 272"/>
              <p:cNvSpPr>
                <a:spLocks noChangeShapeType="1"/>
              </p:cNvSpPr>
              <p:nvPr/>
            </p:nvSpPr>
            <p:spPr bwMode="auto">
              <a:xfrm>
                <a:off x="3130"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2" name="Line 273"/>
              <p:cNvSpPr>
                <a:spLocks noChangeShapeType="1"/>
              </p:cNvSpPr>
              <p:nvPr/>
            </p:nvSpPr>
            <p:spPr bwMode="auto">
              <a:xfrm flipH="1">
                <a:off x="3335"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3" name="Line 274"/>
              <p:cNvSpPr>
                <a:spLocks noChangeShapeType="1"/>
              </p:cNvSpPr>
              <p:nvPr/>
            </p:nvSpPr>
            <p:spPr bwMode="auto">
              <a:xfrm>
                <a:off x="3335" y="3303"/>
                <a:ext cx="0" cy="7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4" name="Line 275"/>
              <p:cNvSpPr>
                <a:spLocks noChangeShapeType="1"/>
              </p:cNvSpPr>
              <p:nvPr/>
            </p:nvSpPr>
            <p:spPr bwMode="auto">
              <a:xfrm flipV="1">
                <a:off x="3130" y="3888"/>
                <a:ext cx="205" cy="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5" name="Line 276"/>
              <p:cNvSpPr>
                <a:spLocks noChangeShapeType="1"/>
              </p:cNvSpPr>
              <p:nvPr/>
            </p:nvSpPr>
            <p:spPr bwMode="auto">
              <a:xfrm flipH="1" flipV="1">
                <a:off x="3335" y="3888"/>
                <a:ext cx="205" cy="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6" name="Line 277"/>
              <p:cNvSpPr>
                <a:spLocks noChangeShapeType="1"/>
              </p:cNvSpPr>
              <p:nvPr/>
            </p:nvSpPr>
            <p:spPr bwMode="auto">
              <a:xfrm>
                <a:off x="3217" y="3668"/>
                <a:ext cx="118"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7" name="Line 278"/>
              <p:cNvSpPr>
                <a:spLocks noChangeShapeType="1"/>
              </p:cNvSpPr>
              <p:nvPr/>
            </p:nvSpPr>
            <p:spPr bwMode="auto">
              <a:xfrm flipV="1">
                <a:off x="3335" y="3668"/>
                <a:ext cx="124"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8" name="Line 279"/>
              <p:cNvSpPr>
                <a:spLocks noChangeShapeType="1"/>
              </p:cNvSpPr>
              <p:nvPr/>
            </p:nvSpPr>
            <p:spPr bwMode="auto">
              <a:xfrm>
                <a:off x="3178" y="3766"/>
                <a:ext cx="152" cy="7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9" name="Line 280"/>
              <p:cNvSpPr>
                <a:spLocks noChangeShapeType="1"/>
              </p:cNvSpPr>
              <p:nvPr/>
            </p:nvSpPr>
            <p:spPr bwMode="auto">
              <a:xfrm flipV="1">
                <a:off x="3335" y="3781"/>
                <a:ext cx="153" cy="6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70" name="Line 281"/>
              <p:cNvSpPr>
                <a:spLocks noChangeShapeType="1"/>
              </p:cNvSpPr>
              <p:nvPr/>
            </p:nvSpPr>
            <p:spPr bwMode="auto">
              <a:xfrm flipV="1">
                <a:off x="3335" y="3567"/>
                <a:ext cx="78" cy="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71" name="Line 282"/>
              <p:cNvSpPr>
                <a:spLocks noChangeShapeType="1"/>
              </p:cNvSpPr>
              <p:nvPr/>
            </p:nvSpPr>
            <p:spPr bwMode="auto">
              <a:xfrm flipV="1">
                <a:off x="3335" y="3428"/>
                <a:ext cx="49" cy="2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72" name="Line 283"/>
              <p:cNvSpPr>
                <a:spLocks noChangeShapeType="1"/>
              </p:cNvSpPr>
              <p:nvPr/>
            </p:nvSpPr>
            <p:spPr bwMode="auto">
              <a:xfrm>
                <a:off x="3247" y="3558"/>
                <a:ext cx="9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73" name="Line 284"/>
              <p:cNvSpPr>
                <a:spLocks noChangeShapeType="1"/>
              </p:cNvSpPr>
              <p:nvPr/>
            </p:nvSpPr>
            <p:spPr bwMode="auto">
              <a:xfrm>
                <a:off x="3289" y="3422"/>
                <a:ext cx="5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grpSp>
        <p:pic>
          <p:nvPicPr>
            <p:cNvPr id="13" name="Picture 777" descr="access_point_stylized_small"/>
            <p:cNvPicPr>
              <a:picLocks noChangeAspect="1" noChangeArrowheads="1"/>
            </p:cNvPicPr>
            <p:nvPr/>
          </p:nvPicPr>
          <p:blipFill>
            <a:blip r:embed="rId25"/>
            <a:srcRect/>
            <a:stretch>
              <a:fillRect/>
            </a:stretch>
          </p:blipFill>
          <p:spPr bwMode="auto">
            <a:xfrm>
              <a:off x="7619038" y="3856797"/>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780" descr="access_point_stylized_small"/>
            <p:cNvPicPr>
              <a:picLocks noChangeAspect="1" noChangeArrowheads="1"/>
            </p:cNvPicPr>
            <p:nvPr/>
          </p:nvPicPr>
          <p:blipFill>
            <a:blip r:embed="rId25"/>
            <a:srcRect/>
            <a:stretch>
              <a:fillRect/>
            </a:stretch>
          </p:blipFill>
          <p:spPr bwMode="auto">
            <a:xfrm>
              <a:off x="9295766" y="5519130"/>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470"/>
            <p:cNvGrpSpPr/>
            <p:nvPr/>
          </p:nvGrpSpPr>
          <p:grpSpPr>
            <a:xfrm>
              <a:off x="9788714" y="4984881"/>
              <a:ext cx="393760" cy="218578"/>
              <a:chOff x="7493876" y="2774731"/>
              <a:chExt cx="1481958" cy="894622"/>
            </a:xfrm>
          </p:grpSpPr>
          <p:sp>
            <p:nvSpPr>
              <p:cNvPr id="152" name="Freeform 471"/>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153" name="Oval 472"/>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154" name="Group 473"/>
              <p:cNvGrpSpPr/>
              <p:nvPr/>
            </p:nvGrpSpPr>
            <p:grpSpPr>
              <a:xfrm>
                <a:off x="7713663" y="2848339"/>
                <a:ext cx="1042107" cy="425543"/>
                <a:chOff x="7786941" y="2884917"/>
                <a:chExt cx="897649" cy="353919"/>
              </a:xfrm>
            </p:grpSpPr>
            <p:sp>
              <p:nvSpPr>
                <p:cNvPr id="155" name="Freeform 474"/>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Freeform 475"/>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Freeform 476"/>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Freeform 477"/>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6" name="Group 519"/>
            <p:cNvGrpSpPr/>
            <p:nvPr/>
          </p:nvGrpSpPr>
          <p:grpSpPr>
            <a:xfrm>
              <a:off x="9854521" y="5333935"/>
              <a:ext cx="309740" cy="190838"/>
              <a:chOff x="3668110" y="2448910"/>
              <a:chExt cx="3794234" cy="2165130"/>
            </a:xfrm>
          </p:grpSpPr>
          <p:sp>
            <p:nvSpPr>
              <p:cNvPr id="145" name="Rectangle 520"/>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6" name="Freeform 521"/>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7" name="Group 522"/>
              <p:cNvGrpSpPr/>
              <p:nvPr/>
            </p:nvGrpSpPr>
            <p:grpSpPr>
              <a:xfrm>
                <a:off x="3941378" y="2603243"/>
                <a:ext cx="3202061" cy="1066110"/>
                <a:chOff x="7939341" y="3037317"/>
                <a:chExt cx="897649" cy="353919"/>
              </a:xfrm>
            </p:grpSpPr>
            <p:sp>
              <p:nvSpPr>
                <p:cNvPr id="148" name="Freeform 523"/>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9" name="Freeform 524"/>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Freeform 525"/>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Freeform 526"/>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7" name="Group 478"/>
            <p:cNvGrpSpPr/>
            <p:nvPr/>
          </p:nvGrpSpPr>
          <p:grpSpPr>
            <a:xfrm>
              <a:off x="8681775" y="4962318"/>
              <a:ext cx="393760" cy="218578"/>
              <a:chOff x="7493876" y="2774731"/>
              <a:chExt cx="1481958" cy="894622"/>
            </a:xfrm>
          </p:grpSpPr>
          <p:sp>
            <p:nvSpPr>
              <p:cNvPr id="138" name="Freeform 479"/>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139" name="Oval 480"/>
              <p:cNvSpPr/>
              <p:nvPr/>
            </p:nvSpPr>
            <p:spPr>
              <a:xfrm>
                <a:off x="7494728" y="2774731"/>
                <a:ext cx="1480162" cy="579139"/>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140" name="Group 481"/>
              <p:cNvGrpSpPr/>
              <p:nvPr/>
            </p:nvGrpSpPr>
            <p:grpSpPr>
              <a:xfrm>
                <a:off x="7713663" y="2848339"/>
                <a:ext cx="1042107" cy="425543"/>
                <a:chOff x="7786941" y="2884917"/>
                <a:chExt cx="897649" cy="353919"/>
              </a:xfrm>
            </p:grpSpPr>
            <p:sp>
              <p:nvSpPr>
                <p:cNvPr id="141" name="Freeform 482"/>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Freeform 483"/>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Freeform 484"/>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Freeform 485"/>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8" name="Group 528"/>
            <p:cNvGrpSpPr/>
            <p:nvPr/>
          </p:nvGrpSpPr>
          <p:grpSpPr>
            <a:xfrm>
              <a:off x="8316676" y="5189331"/>
              <a:ext cx="309740" cy="190838"/>
              <a:chOff x="3668110" y="2448910"/>
              <a:chExt cx="3794234" cy="2165130"/>
            </a:xfrm>
          </p:grpSpPr>
          <p:sp>
            <p:nvSpPr>
              <p:cNvPr id="131" name="Rectangle 529"/>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Freeform 530"/>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3" name="Group 531"/>
              <p:cNvGrpSpPr/>
              <p:nvPr/>
            </p:nvGrpSpPr>
            <p:grpSpPr>
              <a:xfrm>
                <a:off x="3941378" y="2603243"/>
                <a:ext cx="3202061" cy="1066110"/>
                <a:chOff x="7939341" y="3037317"/>
                <a:chExt cx="897649" cy="353919"/>
              </a:xfrm>
            </p:grpSpPr>
            <p:sp>
              <p:nvSpPr>
                <p:cNvPr id="134" name="Freeform 532"/>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Freeform 533"/>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Freeform 534"/>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7" name="Freeform 535"/>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9" name="Group 406"/>
            <p:cNvGrpSpPr/>
            <p:nvPr/>
          </p:nvGrpSpPr>
          <p:grpSpPr>
            <a:xfrm>
              <a:off x="8444981" y="2810143"/>
              <a:ext cx="354091" cy="165341"/>
              <a:chOff x="7493876" y="2790332"/>
              <a:chExt cx="1483690" cy="879021"/>
            </a:xfrm>
          </p:grpSpPr>
          <p:sp>
            <p:nvSpPr>
              <p:cNvPr id="124" name="Freeform 407"/>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125" name="Oval 408"/>
              <p:cNvSpPr/>
              <p:nvPr/>
            </p:nvSpPr>
            <p:spPr>
              <a:xfrm>
                <a:off x="7497403" y="2790332"/>
                <a:ext cx="1480163" cy="579141"/>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126" name="Group 409"/>
              <p:cNvGrpSpPr/>
              <p:nvPr/>
            </p:nvGrpSpPr>
            <p:grpSpPr>
              <a:xfrm>
                <a:off x="7713663" y="2848339"/>
                <a:ext cx="1042107" cy="425543"/>
                <a:chOff x="7786941" y="2884917"/>
                <a:chExt cx="897649" cy="353919"/>
              </a:xfrm>
            </p:grpSpPr>
            <p:sp>
              <p:nvSpPr>
                <p:cNvPr id="127" name="Freeform 410"/>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8" name="Freeform 411"/>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Freeform 412"/>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Freeform 413"/>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0" name="Group 414"/>
            <p:cNvGrpSpPr/>
            <p:nvPr/>
          </p:nvGrpSpPr>
          <p:grpSpPr>
            <a:xfrm>
              <a:off x="8055226" y="3960892"/>
              <a:ext cx="354986" cy="175668"/>
              <a:chOff x="7493876" y="2774731"/>
              <a:chExt cx="1481958" cy="894622"/>
            </a:xfrm>
          </p:grpSpPr>
          <p:sp>
            <p:nvSpPr>
              <p:cNvPr id="117" name="Freeform 415"/>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118" name="Oval 416"/>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119" name="Group 417"/>
              <p:cNvGrpSpPr/>
              <p:nvPr/>
            </p:nvGrpSpPr>
            <p:grpSpPr>
              <a:xfrm>
                <a:off x="7713663" y="2848339"/>
                <a:ext cx="1042107" cy="425543"/>
                <a:chOff x="7786941" y="2884917"/>
                <a:chExt cx="897649" cy="353919"/>
              </a:xfrm>
            </p:grpSpPr>
            <p:sp>
              <p:nvSpPr>
                <p:cNvPr id="120" name="Freeform 418"/>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Freeform 419"/>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Freeform 420"/>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Freeform 421"/>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1" name="Group 454"/>
            <p:cNvGrpSpPr/>
            <p:nvPr/>
          </p:nvGrpSpPr>
          <p:grpSpPr>
            <a:xfrm>
              <a:off x="10889241" y="3596263"/>
              <a:ext cx="170989" cy="97052"/>
              <a:chOff x="7493876" y="2774731"/>
              <a:chExt cx="1481958" cy="894622"/>
            </a:xfrm>
          </p:grpSpPr>
          <p:sp>
            <p:nvSpPr>
              <p:cNvPr id="110" name="Freeform 455"/>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111" name="Oval 456"/>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112" name="Group 457"/>
              <p:cNvGrpSpPr/>
              <p:nvPr/>
            </p:nvGrpSpPr>
            <p:grpSpPr>
              <a:xfrm>
                <a:off x="7713663" y="2848339"/>
                <a:ext cx="1042107" cy="425543"/>
                <a:chOff x="7786941" y="2884917"/>
                <a:chExt cx="897649" cy="353919"/>
              </a:xfrm>
            </p:grpSpPr>
            <p:sp>
              <p:nvSpPr>
                <p:cNvPr id="113" name="Freeform 458"/>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Freeform 459"/>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Freeform 460"/>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Freeform 461"/>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2" name="Group 614"/>
            <p:cNvGrpSpPr/>
            <p:nvPr/>
          </p:nvGrpSpPr>
          <p:grpSpPr>
            <a:xfrm>
              <a:off x="10415765" y="3491036"/>
              <a:ext cx="353678" cy="198344"/>
              <a:chOff x="7493876" y="2774731"/>
              <a:chExt cx="1481958" cy="894622"/>
            </a:xfrm>
          </p:grpSpPr>
          <p:sp>
            <p:nvSpPr>
              <p:cNvPr id="103" name="Freeform 615"/>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104" name="Oval 616"/>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105" name="Group 617"/>
              <p:cNvGrpSpPr/>
              <p:nvPr/>
            </p:nvGrpSpPr>
            <p:grpSpPr>
              <a:xfrm>
                <a:off x="7713663" y="2848339"/>
                <a:ext cx="1042107" cy="425543"/>
                <a:chOff x="7786941" y="2884917"/>
                <a:chExt cx="897649" cy="353919"/>
              </a:xfrm>
            </p:grpSpPr>
            <p:sp>
              <p:nvSpPr>
                <p:cNvPr id="106" name="Freeform 618"/>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Freeform 619"/>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Freeform 620"/>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Freeform 621"/>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3" name="Group 576"/>
            <p:cNvGrpSpPr/>
            <p:nvPr/>
          </p:nvGrpSpPr>
          <p:grpSpPr>
            <a:xfrm>
              <a:off x="9953880" y="2197190"/>
              <a:ext cx="353678" cy="198344"/>
              <a:chOff x="7493876" y="2774731"/>
              <a:chExt cx="1481958" cy="894622"/>
            </a:xfrm>
          </p:grpSpPr>
          <p:sp>
            <p:nvSpPr>
              <p:cNvPr id="96" name="Freeform 577"/>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97" name="Oval 578"/>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98" name="Group 579"/>
              <p:cNvGrpSpPr/>
              <p:nvPr/>
            </p:nvGrpSpPr>
            <p:grpSpPr>
              <a:xfrm>
                <a:off x="7713663" y="2848339"/>
                <a:ext cx="1042107" cy="425543"/>
                <a:chOff x="7786941" y="2884917"/>
                <a:chExt cx="897649" cy="353919"/>
              </a:xfrm>
            </p:grpSpPr>
            <p:sp>
              <p:nvSpPr>
                <p:cNvPr id="99" name="Freeform 580"/>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Freeform 581"/>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Freeform 582"/>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Freeform 583"/>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4" name="Group 592"/>
            <p:cNvGrpSpPr/>
            <p:nvPr/>
          </p:nvGrpSpPr>
          <p:grpSpPr>
            <a:xfrm>
              <a:off x="10532370" y="2608265"/>
              <a:ext cx="353678" cy="198344"/>
              <a:chOff x="7493876" y="2774731"/>
              <a:chExt cx="1481958" cy="894622"/>
            </a:xfrm>
          </p:grpSpPr>
          <p:sp>
            <p:nvSpPr>
              <p:cNvPr id="89" name="Freeform 593"/>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90" name="Oval 594"/>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91" name="Group 595"/>
              <p:cNvGrpSpPr/>
              <p:nvPr/>
            </p:nvGrpSpPr>
            <p:grpSpPr>
              <a:xfrm>
                <a:off x="7713663" y="2848339"/>
                <a:ext cx="1042107" cy="425543"/>
                <a:chOff x="7786941" y="2884917"/>
                <a:chExt cx="897649" cy="353919"/>
              </a:xfrm>
            </p:grpSpPr>
            <p:sp>
              <p:nvSpPr>
                <p:cNvPr id="92" name="Freeform 596"/>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Freeform 597"/>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Freeform 598"/>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Freeform 599"/>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5" name="Group 600"/>
            <p:cNvGrpSpPr/>
            <p:nvPr/>
          </p:nvGrpSpPr>
          <p:grpSpPr>
            <a:xfrm>
              <a:off x="10648981" y="2102861"/>
              <a:ext cx="353678" cy="198344"/>
              <a:chOff x="7493876" y="2774731"/>
              <a:chExt cx="1481958" cy="894622"/>
            </a:xfrm>
          </p:grpSpPr>
          <p:sp>
            <p:nvSpPr>
              <p:cNvPr id="82" name="Freeform 601"/>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83" name="Oval 602"/>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84" name="Group 603"/>
              <p:cNvGrpSpPr/>
              <p:nvPr/>
            </p:nvGrpSpPr>
            <p:grpSpPr>
              <a:xfrm>
                <a:off x="7713663" y="2848339"/>
                <a:ext cx="1042107" cy="425543"/>
                <a:chOff x="7786941" y="2884917"/>
                <a:chExt cx="897649" cy="353919"/>
              </a:xfrm>
            </p:grpSpPr>
            <p:sp>
              <p:nvSpPr>
                <p:cNvPr id="85" name="Freeform 604"/>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Freeform 605"/>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Freeform 606"/>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Freeform 607"/>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6" name="Group 553"/>
            <p:cNvGrpSpPr/>
            <p:nvPr/>
          </p:nvGrpSpPr>
          <p:grpSpPr>
            <a:xfrm>
              <a:off x="9104155" y="3951521"/>
              <a:ext cx="369427" cy="236298"/>
              <a:chOff x="7494729" y="2774731"/>
              <a:chExt cx="1490849" cy="879709"/>
            </a:xfrm>
          </p:grpSpPr>
          <p:sp>
            <p:nvSpPr>
              <p:cNvPr id="75" name="Freeform 554"/>
              <p:cNvSpPr/>
              <p:nvPr/>
            </p:nvSpPr>
            <p:spPr>
              <a:xfrm>
                <a:off x="7503620" y="3069485"/>
                <a:ext cx="1481958" cy="584955"/>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76" name="Oval 555"/>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77" name="Group 556"/>
              <p:cNvGrpSpPr/>
              <p:nvPr/>
            </p:nvGrpSpPr>
            <p:grpSpPr>
              <a:xfrm>
                <a:off x="7713663" y="2848339"/>
                <a:ext cx="1042107" cy="425543"/>
                <a:chOff x="7786941" y="2884917"/>
                <a:chExt cx="897649" cy="353919"/>
              </a:xfrm>
            </p:grpSpPr>
            <p:sp>
              <p:nvSpPr>
                <p:cNvPr id="78" name="Freeform 557"/>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Freeform 558"/>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Freeform 559"/>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Freeform 560"/>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7" name="Group 584"/>
            <p:cNvGrpSpPr/>
            <p:nvPr/>
          </p:nvGrpSpPr>
          <p:grpSpPr>
            <a:xfrm>
              <a:off x="9985282" y="2656463"/>
              <a:ext cx="353678" cy="198344"/>
              <a:chOff x="7493876" y="2774731"/>
              <a:chExt cx="1481958" cy="894622"/>
            </a:xfrm>
          </p:grpSpPr>
          <p:sp>
            <p:nvSpPr>
              <p:cNvPr id="68" name="Freeform 585"/>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69" name="Oval 586"/>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70" name="Group 587"/>
              <p:cNvGrpSpPr/>
              <p:nvPr/>
            </p:nvGrpSpPr>
            <p:grpSpPr>
              <a:xfrm>
                <a:off x="7713663" y="2848339"/>
                <a:ext cx="1042107" cy="425543"/>
                <a:chOff x="7786941" y="2884917"/>
                <a:chExt cx="897649" cy="353919"/>
              </a:xfrm>
            </p:grpSpPr>
            <p:sp>
              <p:nvSpPr>
                <p:cNvPr id="71" name="Freeform 588"/>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Freeform 589"/>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590"/>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591"/>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8" name="Group 537"/>
            <p:cNvGrpSpPr/>
            <p:nvPr/>
          </p:nvGrpSpPr>
          <p:grpSpPr>
            <a:xfrm>
              <a:off x="9502294" y="3388930"/>
              <a:ext cx="367224" cy="240304"/>
              <a:chOff x="7493876" y="2774731"/>
              <a:chExt cx="1481958" cy="894622"/>
            </a:xfrm>
          </p:grpSpPr>
          <p:sp>
            <p:nvSpPr>
              <p:cNvPr id="61" name="Freeform 53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62" name="Oval 53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63" name="Group 540"/>
              <p:cNvGrpSpPr/>
              <p:nvPr/>
            </p:nvGrpSpPr>
            <p:grpSpPr>
              <a:xfrm>
                <a:off x="7713663" y="2848339"/>
                <a:ext cx="1042107" cy="425543"/>
                <a:chOff x="7786941" y="2884917"/>
                <a:chExt cx="897649" cy="353919"/>
              </a:xfrm>
            </p:grpSpPr>
            <p:sp>
              <p:nvSpPr>
                <p:cNvPr id="64" name="Freeform 54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54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Freeform 54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Freeform 54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9" name="Group 545"/>
            <p:cNvGrpSpPr/>
            <p:nvPr/>
          </p:nvGrpSpPr>
          <p:grpSpPr>
            <a:xfrm>
              <a:off x="9606710" y="3994661"/>
              <a:ext cx="367224" cy="240304"/>
              <a:chOff x="7493876" y="2774731"/>
              <a:chExt cx="1481958" cy="894622"/>
            </a:xfrm>
          </p:grpSpPr>
          <p:sp>
            <p:nvSpPr>
              <p:cNvPr id="54" name="Freeform 546"/>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55" name="Oval 547"/>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56" name="Group 548"/>
              <p:cNvGrpSpPr/>
              <p:nvPr/>
            </p:nvGrpSpPr>
            <p:grpSpPr>
              <a:xfrm>
                <a:off x="7713663" y="2848339"/>
                <a:ext cx="1042107" cy="425543"/>
                <a:chOff x="7786941" y="2884917"/>
                <a:chExt cx="897649" cy="353919"/>
              </a:xfrm>
            </p:grpSpPr>
            <p:sp>
              <p:nvSpPr>
                <p:cNvPr id="57" name="Freeform 549"/>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550"/>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Freeform 551"/>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Freeform 552"/>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0" name="Group 622"/>
            <p:cNvGrpSpPr/>
            <p:nvPr/>
          </p:nvGrpSpPr>
          <p:grpSpPr>
            <a:xfrm>
              <a:off x="10380415" y="3987223"/>
              <a:ext cx="353678" cy="198344"/>
              <a:chOff x="7493876" y="2774731"/>
              <a:chExt cx="1481958" cy="894622"/>
            </a:xfrm>
          </p:grpSpPr>
          <p:sp>
            <p:nvSpPr>
              <p:cNvPr id="47" name="Freeform 623"/>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48" name="Oval 624"/>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49" name="Group 625"/>
              <p:cNvGrpSpPr/>
              <p:nvPr/>
            </p:nvGrpSpPr>
            <p:grpSpPr>
              <a:xfrm>
                <a:off x="7713663" y="2848339"/>
                <a:ext cx="1042107" cy="425543"/>
                <a:chOff x="7786941" y="2884917"/>
                <a:chExt cx="897649" cy="353919"/>
              </a:xfrm>
            </p:grpSpPr>
            <p:sp>
              <p:nvSpPr>
                <p:cNvPr id="50" name="Freeform 626"/>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Freeform 627"/>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628"/>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Freeform 629"/>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1" name="Group 462"/>
            <p:cNvGrpSpPr/>
            <p:nvPr/>
          </p:nvGrpSpPr>
          <p:grpSpPr>
            <a:xfrm>
              <a:off x="9253049" y="4770584"/>
              <a:ext cx="393760" cy="218578"/>
              <a:chOff x="7493876" y="2774731"/>
              <a:chExt cx="1481958" cy="894622"/>
            </a:xfrm>
          </p:grpSpPr>
          <p:sp>
            <p:nvSpPr>
              <p:cNvPr id="40" name="Freeform 463"/>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41" name="Oval 464"/>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42" name="Group 465"/>
              <p:cNvGrpSpPr/>
              <p:nvPr/>
            </p:nvGrpSpPr>
            <p:grpSpPr>
              <a:xfrm>
                <a:off x="7713663" y="2848339"/>
                <a:ext cx="1042107" cy="425543"/>
                <a:chOff x="7786941" y="2884917"/>
                <a:chExt cx="897649" cy="353919"/>
              </a:xfrm>
            </p:grpSpPr>
            <p:sp>
              <p:nvSpPr>
                <p:cNvPr id="43" name="Freeform 466"/>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467"/>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468"/>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469"/>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2" name="Group 446"/>
            <p:cNvGrpSpPr/>
            <p:nvPr/>
          </p:nvGrpSpPr>
          <p:grpSpPr>
            <a:xfrm>
              <a:off x="10931138" y="4364023"/>
              <a:ext cx="228295" cy="120400"/>
              <a:chOff x="7493876" y="2774731"/>
              <a:chExt cx="1481958" cy="894622"/>
            </a:xfrm>
          </p:grpSpPr>
          <p:sp>
            <p:nvSpPr>
              <p:cNvPr id="33" name="Freeform 447"/>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sp>
            <p:nvSpPr>
              <p:cNvPr id="34" name="Oval 448"/>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p>
            </p:txBody>
          </p:sp>
          <p:grpSp>
            <p:nvGrpSpPr>
              <p:cNvPr id="35" name="Group 449"/>
              <p:cNvGrpSpPr/>
              <p:nvPr/>
            </p:nvGrpSpPr>
            <p:grpSpPr>
              <a:xfrm>
                <a:off x="7713663" y="2848339"/>
                <a:ext cx="1042107" cy="425543"/>
                <a:chOff x="7786941" y="2884917"/>
                <a:chExt cx="897649" cy="353919"/>
              </a:xfrm>
            </p:grpSpPr>
            <p:sp>
              <p:nvSpPr>
                <p:cNvPr id="36" name="Freeform 450"/>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451"/>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452"/>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reeform 453"/>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sp>
        <p:nvSpPr>
          <p:cNvPr id="10" name="Freeform 2"/>
          <p:cNvSpPr/>
          <p:nvPr/>
        </p:nvSpPr>
        <p:spPr>
          <a:xfrm>
            <a:off x="6615976" y="1654628"/>
            <a:ext cx="4691414" cy="4018823"/>
          </a:xfrm>
          <a:custGeom>
            <a:avLst/>
            <a:gdLst>
              <a:gd name="connsiteX0" fmla="*/ 2112364 w 4107620"/>
              <a:gd name="connsiteY0" fmla="*/ 1261685 h 4330718"/>
              <a:gd name="connsiteX1" fmla="*/ 1712971 w 4107620"/>
              <a:gd name="connsiteY1" fmla="*/ 1293216 h 4330718"/>
              <a:gd name="connsiteX2" fmla="*/ 1387150 w 4107620"/>
              <a:gd name="connsiteY2" fmla="*/ 904333 h 4330718"/>
              <a:gd name="connsiteX3" fmla="*/ 1134902 w 4107620"/>
              <a:gd name="connsiteY3" fmla="*/ 568002 h 4330718"/>
              <a:gd name="connsiteX4" fmla="*/ 840612 w 4107620"/>
              <a:gd name="connsiteY4" fmla="*/ 851781 h 4330718"/>
              <a:gd name="connsiteX5" fmla="*/ 703978 w 4107620"/>
              <a:gd name="connsiteY5" fmla="*/ 1356278 h 4330718"/>
              <a:gd name="connsiteX6" fmla="*/ 1240006 w 4107620"/>
              <a:gd name="connsiteY6" fmla="*/ 1955368 h 4330718"/>
              <a:gd name="connsiteX7" fmla="*/ 1303068 w 4107620"/>
              <a:gd name="connsiteY7" fmla="*/ 2375781 h 4330718"/>
              <a:gd name="connsiteX8" fmla="*/ 220502 w 4107620"/>
              <a:gd name="connsiteY8" fmla="*/ 2302209 h 4330718"/>
              <a:gd name="connsiteX9" fmla="*/ 83868 w 4107620"/>
              <a:gd name="connsiteY9" fmla="*/ 2943340 h 4330718"/>
              <a:gd name="connsiteX10" fmla="*/ 1218985 w 4107620"/>
              <a:gd name="connsiteY10" fmla="*/ 3258650 h 4330718"/>
              <a:gd name="connsiteX11" fmla="*/ 1124392 w 4107620"/>
              <a:gd name="connsiteY11" fmla="*/ 3647533 h 4330718"/>
              <a:gd name="connsiteX12" fmla="*/ 924695 w 4107620"/>
              <a:gd name="connsiteY12" fmla="*/ 3763147 h 4330718"/>
              <a:gd name="connsiteX13" fmla="*/ 1324088 w 4107620"/>
              <a:gd name="connsiteY13" fmla="*/ 3962843 h 4330718"/>
              <a:gd name="connsiteX14" fmla="*/ 1576337 w 4107620"/>
              <a:gd name="connsiteY14" fmla="*/ 3899781 h 4330718"/>
              <a:gd name="connsiteX15" fmla="*/ 1818075 w 4107620"/>
              <a:gd name="connsiteY15" fmla="*/ 4036416 h 4330718"/>
              <a:gd name="connsiteX16" fmla="*/ 1996750 w 4107620"/>
              <a:gd name="connsiteY16" fmla="*/ 4299174 h 4330718"/>
              <a:gd name="connsiteX17" fmla="*/ 2448695 w 4107620"/>
              <a:gd name="connsiteY17" fmla="*/ 4299174 h 4330718"/>
              <a:gd name="connsiteX18" fmla="*/ 2764006 w 4107620"/>
              <a:gd name="connsiteY18" fmla="*/ 4057436 h 4330718"/>
              <a:gd name="connsiteX19" fmla="*/ 2995233 w 4107620"/>
              <a:gd name="connsiteY19" fmla="*/ 4025905 h 4330718"/>
              <a:gd name="connsiteX20" fmla="*/ 3016254 w 4107620"/>
              <a:gd name="connsiteY20" fmla="*/ 3731616 h 4330718"/>
              <a:gd name="connsiteX21" fmla="*/ 3194930 w 4107620"/>
              <a:gd name="connsiteY21" fmla="*/ 3300692 h 4330718"/>
              <a:gd name="connsiteX22" fmla="*/ 3972695 w 4107620"/>
              <a:gd name="connsiteY22" fmla="*/ 3122016 h 4330718"/>
              <a:gd name="connsiteX23" fmla="*/ 3909633 w 4107620"/>
              <a:gd name="connsiteY23" fmla="*/ 1818733 h 4330718"/>
              <a:gd name="connsiteX24" fmla="*/ 4046268 w 4107620"/>
              <a:gd name="connsiteY24" fmla="*/ 904333 h 4330718"/>
              <a:gd name="connsiteX25" fmla="*/ 3962185 w 4107620"/>
              <a:gd name="connsiteY25" fmla="*/ 147588 h 4330718"/>
              <a:gd name="connsiteX26" fmla="*/ 2480226 w 4107620"/>
              <a:gd name="connsiteY26" fmla="*/ 63505 h 4330718"/>
              <a:gd name="connsiteX27" fmla="*/ 2133385 w 4107620"/>
              <a:gd name="connsiteY27" fmla="*/ 872802 h 4330718"/>
              <a:gd name="connsiteX28" fmla="*/ 2238488 w 4107620"/>
              <a:gd name="connsiteY28" fmla="*/ 1230154 h 4330718"/>
              <a:gd name="connsiteX29" fmla="*/ 2112364 w 4107620"/>
              <a:gd name="connsiteY29" fmla="*/ 1261685 h 4330718"/>
              <a:gd name="connsiteX0-1" fmla="*/ 1996750 w 4107620"/>
              <a:gd name="connsiteY0-2" fmla="*/ 1366789 h 4330718"/>
              <a:gd name="connsiteX1-3" fmla="*/ 1712971 w 4107620"/>
              <a:gd name="connsiteY1-4" fmla="*/ 1293216 h 4330718"/>
              <a:gd name="connsiteX2-5" fmla="*/ 1387150 w 4107620"/>
              <a:gd name="connsiteY2-6" fmla="*/ 904333 h 4330718"/>
              <a:gd name="connsiteX3-7" fmla="*/ 1134902 w 4107620"/>
              <a:gd name="connsiteY3-8" fmla="*/ 568002 h 4330718"/>
              <a:gd name="connsiteX4-9" fmla="*/ 840612 w 4107620"/>
              <a:gd name="connsiteY4-10" fmla="*/ 851781 h 4330718"/>
              <a:gd name="connsiteX5-11" fmla="*/ 703978 w 4107620"/>
              <a:gd name="connsiteY5-12" fmla="*/ 1356278 h 4330718"/>
              <a:gd name="connsiteX6-13" fmla="*/ 1240006 w 4107620"/>
              <a:gd name="connsiteY6-14" fmla="*/ 1955368 h 4330718"/>
              <a:gd name="connsiteX7-15" fmla="*/ 1303068 w 4107620"/>
              <a:gd name="connsiteY7-16" fmla="*/ 2375781 h 4330718"/>
              <a:gd name="connsiteX8-17" fmla="*/ 220502 w 4107620"/>
              <a:gd name="connsiteY8-18" fmla="*/ 2302209 h 4330718"/>
              <a:gd name="connsiteX9-19" fmla="*/ 83868 w 4107620"/>
              <a:gd name="connsiteY9-20" fmla="*/ 2943340 h 4330718"/>
              <a:gd name="connsiteX10-21" fmla="*/ 1218985 w 4107620"/>
              <a:gd name="connsiteY10-22" fmla="*/ 3258650 h 4330718"/>
              <a:gd name="connsiteX11-23" fmla="*/ 1124392 w 4107620"/>
              <a:gd name="connsiteY11-24" fmla="*/ 3647533 h 4330718"/>
              <a:gd name="connsiteX12-25" fmla="*/ 924695 w 4107620"/>
              <a:gd name="connsiteY12-26" fmla="*/ 3763147 h 4330718"/>
              <a:gd name="connsiteX13-27" fmla="*/ 1324088 w 4107620"/>
              <a:gd name="connsiteY13-28" fmla="*/ 3962843 h 4330718"/>
              <a:gd name="connsiteX14-29" fmla="*/ 1576337 w 4107620"/>
              <a:gd name="connsiteY14-30" fmla="*/ 3899781 h 4330718"/>
              <a:gd name="connsiteX15-31" fmla="*/ 1818075 w 4107620"/>
              <a:gd name="connsiteY15-32" fmla="*/ 4036416 h 4330718"/>
              <a:gd name="connsiteX16-33" fmla="*/ 1996750 w 4107620"/>
              <a:gd name="connsiteY16-34" fmla="*/ 4299174 h 4330718"/>
              <a:gd name="connsiteX17-35" fmla="*/ 2448695 w 4107620"/>
              <a:gd name="connsiteY17-36" fmla="*/ 4299174 h 4330718"/>
              <a:gd name="connsiteX18-37" fmla="*/ 2764006 w 4107620"/>
              <a:gd name="connsiteY18-38" fmla="*/ 4057436 h 4330718"/>
              <a:gd name="connsiteX19-39" fmla="*/ 2995233 w 4107620"/>
              <a:gd name="connsiteY19-40" fmla="*/ 4025905 h 4330718"/>
              <a:gd name="connsiteX20-41" fmla="*/ 3016254 w 4107620"/>
              <a:gd name="connsiteY20-42" fmla="*/ 3731616 h 4330718"/>
              <a:gd name="connsiteX21-43" fmla="*/ 3194930 w 4107620"/>
              <a:gd name="connsiteY21-44" fmla="*/ 3300692 h 4330718"/>
              <a:gd name="connsiteX22-45" fmla="*/ 3972695 w 4107620"/>
              <a:gd name="connsiteY22-46" fmla="*/ 3122016 h 4330718"/>
              <a:gd name="connsiteX23-47" fmla="*/ 3909633 w 4107620"/>
              <a:gd name="connsiteY23-48" fmla="*/ 1818733 h 4330718"/>
              <a:gd name="connsiteX24-49" fmla="*/ 4046268 w 4107620"/>
              <a:gd name="connsiteY24-50" fmla="*/ 904333 h 4330718"/>
              <a:gd name="connsiteX25-51" fmla="*/ 3962185 w 4107620"/>
              <a:gd name="connsiteY25-52" fmla="*/ 147588 h 4330718"/>
              <a:gd name="connsiteX26-53" fmla="*/ 2480226 w 4107620"/>
              <a:gd name="connsiteY26-54" fmla="*/ 63505 h 4330718"/>
              <a:gd name="connsiteX27-55" fmla="*/ 2133385 w 4107620"/>
              <a:gd name="connsiteY27-56" fmla="*/ 872802 h 4330718"/>
              <a:gd name="connsiteX28-57" fmla="*/ 2238488 w 4107620"/>
              <a:gd name="connsiteY28-58" fmla="*/ 1230154 h 4330718"/>
              <a:gd name="connsiteX29-59" fmla="*/ 1996750 w 4107620"/>
              <a:gd name="connsiteY29-60" fmla="*/ 1366789 h 4330718"/>
              <a:gd name="connsiteX0-61" fmla="*/ 1996750 w 4107620"/>
              <a:gd name="connsiteY0-62" fmla="*/ 1339069 h 4302998"/>
              <a:gd name="connsiteX1-63" fmla="*/ 1712971 w 4107620"/>
              <a:gd name="connsiteY1-64" fmla="*/ 1265496 h 4302998"/>
              <a:gd name="connsiteX2-65" fmla="*/ 1387150 w 4107620"/>
              <a:gd name="connsiteY2-66" fmla="*/ 876613 h 4302998"/>
              <a:gd name="connsiteX3-67" fmla="*/ 1134902 w 4107620"/>
              <a:gd name="connsiteY3-68" fmla="*/ 540282 h 4302998"/>
              <a:gd name="connsiteX4-69" fmla="*/ 840612 w 4107620"/>
              <a:gd name="connsiteY4-70" fmla="*/ 824061 h 4302998"/>
              <a:gd name="connsiteX5-71" fmla="*/ 703978 w 4107620"/>
              <a:gd name="connsiteY5-72" fmla="*/ 1328558 h 4302998"/>
              <a:gd name="connsiteX6-73" fmla="*/ 1240006 w 4107620"/>
              <a:gd name="connsiteY6-74" fmla="*/ 1927648 h 4302998"/>
              <a:gd name="connsiteX7-75" fmla="*/ 1303068 w 4107620"/>
              <a:gd name="connsiteY7-76" fmla="*/ 2348061 h 4302998"/>
              <a:gd name="connsiteX8-77" fmla="*/ 220502 w 4107620"/>
              <a:gd name="connsiteY8-78" fmla="*/ 2274489 h 4302998"/>
              <a:gd name="connsiteX9-79" fmla="*/ 83868 w 4107620"/>
              <a:gd name="connsiteY9-80" fmla="*/ 2915620 h 4302998"/>
              <a:gd name="connsiteX10-81" fmla="*/ 1218985 w 4107620"/>
              <a:gd name="connsiteY10-82" fmla="*/ 3230930 h 4302998"/>
              <a:gd name="connsiteX11-83" fmla="*/ 1124392 w 4107620"/>
              <a:gd name="connsiteY11-84" fmla="*/ 3619813 h 4302998"/>
              <a:gd name="connsiteX12-85" fmla="*/ 924695 w 4107620"/>
              <a:gd name="connsiteY12-86" fmla="*/ 3735427 h 4302998"/>
              <a:gd name="connsiteX13-87" fmla="*/ 1324088 w 4107620"/>
              <a:gd name="connsiteY13-88" fmla="*/ 3935123 h 4302998"/>
              <a:gd name="connsiteX14-89" fmla="*/ 1576337 w 4107620"/>
              <a:gd name="connsiteY14-90" fmla="*/ 3872061 h 4302998"/>
              <a:gd name="connsiteX15-91" fmla="*/ 1818075 w 4107620"/>
              <a:gd name="connsiteY15-92" fmla="*/ 4008696 h 4302998"/>
              <a:gd name="connsiteX16-93" fmla="*/ 1996750 w 4107620"/>
              <a:gd name="connsiteY16-94" fmla="*/ 4271454 h 4302998"/>
              <a:gd name="connsiteX17-95" fmla="*/ 2448695 w 4107620"/>
              <a:gd name="connsiteY17-96" fmla="*/ 4271454 h 4302998"/>
              <a:gd name="connsiteX18-97" fmla="*/ 2764006 w 4107620"/>
              <a:gd name="connsiteY18-98" fmla="*/ 4029716 h 4302998"/>
              <a:gd name="connsiteX19-99" fmla="*/ 2995233 w 4107620"/>
              <a:gd name="connsiteY19-100" fmla="*/ 3998185 h 4302998"/>
              <a:gd name="connsiteX20-101" fmla="*/ 3016254 w 4107620"/>
              <a:gd name="connsiteY20-102" fmla="*/ 3703896 h 4302998"/>
              <a:gd name="connsiteX21-103" fmla="*/ 3194930 w 4107620"/>
              <a:gd name="connsiteY21-104" fmla="*/ 3272972 h 4302998"/>
              <a:gd name="connsiteX22-105" fmla="*/ 3972695 w 4107620"/>
              <a:gd name="connsiteY22-106" fmla="*/ 3094296 h 4302998"/>
              <a:gd name="connsiteX23-107" fmla="*/ 3909633 w 4107620"/>
              <a:gd name="connsiteY23-108" fmla="*/ 1791013 h 4302998"/>
              <a:gd name="connsiteX24-109" fmla="*/ 4046268 w 4107620"/>
              <a:gd name="connsiteY24-110" fmla="*/ 876613 h 4302998"/>
              <a:gd name="connsiteX25-111" fmla="*/ 3962185 w 4107620"/>
              <a:gd name="connsiteY25-112" fmla="*/ 119868 h 4302998"/>
              <a:gd name="connsiteX26-113" fmla="*/ 2480226 w 4107620"/>
              <a:gd name="connsiteY26-114" fmla="*/ 35785 h 4302998"/>
              <a:gd name="connsiteX27-115" fmla="*/ 2185936 w 4107620"/>
              <a:gd name="connsiteY27-116" fmla="*/ 466709 h 4302998"/>
              <a:gd name="connsiteX28-117" fmla="*/ 2238488 w 4107620"/>
              <a:gd name="connsiteY28-118" fmla="*/ 1202434 h 4302998"/>
              <a:gd name="connsiteX29-119" fmla="*/ 1996750 w 4107620"/>
              <a:gd name="connsiteY29-120" fmla="*/ 1339069 h 4302998"/>
              <a:gd name="connsiteX0-121" fmla="*/ 1996750 w 4107620"/>
              <a:gd name="connsiteY0-122" fmla="*/ 1339069 h 4302998"/>
              <a:gd name="connsiteX1-123" fmla="*/ 1712971 w 4107620"/>
              <a:gd name="connsiteY1-124" fmla="*/ 1265496 h 4302998"/>
              <a:gd name="connsiteX2-125" fmla="*/ 1387150 w 4107620"/>
              <a:gd name="connsiteY2-126" fmla="*/ 876613 h 4302998"/>
              <a:gd name="connsiteX3-127" fmla="*/ 1134902 w 4107620"/>
              <a:gd name="connsiteY3-128" fmla="*/ 540282 h 4302998"/>
              <a:gd name="connsiteX4-129" fmla="*/ 840612 w 4107620"/>
              <a:gd name="connsiteY4-130" fmla="*/ 824061 h 4302998"/>
              <a:gd name="connsiteX5-131" fmla="*/ 703978 w 4107620"/>
              <a:gd name="connsiteY5-132" fmla="*/ 1328558 h 4302998"/>
              <a:gd name="connsiteX6-133" fmla="*/ 1240006 w 4107620"/>
              <a:gd name="connsiteY6-134" fmla="*/ 1927648 h 4302998"/>
              <a:gd name="connsiteX7-135" fmla="*/ 1303068 w 4107620"/>
              <a:gd name="connsiteY7-136" fmla="*/ 2348061 h 4302998"/>
              <a:gd name="connsiteX8-137" fmla="*/ 220502 w 4107620"/>
              <a:gd name="connsiteY8-138" fmla="*/ 2274489 h 4302998"/>
              <a:gd name="connsiteX9-139" fmla="*/ 83868 w 4107620"/>
              <a:gd name="connsiteY9-140" fmla="*/ 2915620 h 4302998"/>
              <a:gd name="connsiteX10-141" fmla="*/ 1218985 w 4107620"/>
              <a:gd name="connsiteY10-142" fmla="*/ 3230930 h 4302998"/>
              <a:gd name="connsiteX11-143" fmla="*/ 1124392 w 4107620"/>
              <a:gd name="connsiteY11-144" fmla="*/ 3619813 h 4302998"/>
              <a:gd name="connsiteX12-145" fmla="*/ 924695 w 4107620"/>
              <a:gd name="connsiteY12-146" fmla="*/ 3735427 h 4302998"/>
              <a:gd name="connsiteX13-147" fmla="*/ 1324088 w 4107620"/>
              <a:gd name="connsiteY13-148" fmla="*/ 3935123 h 4302998"/>
              <a:gd name="connsiteX14-149" fmla="*/ 1576337 w 4107620"/>
              <a:gd name="connsiteY14-150" fmla="*/ 3872061 h 4302998"/>
              <a:gd name="connsiteX15-151" fmla="*/ 1818075 w 4107620"/>
              <a:gd name="connsiteY15-152" fmla="*/ 4008696 h 4302998"/>
              <a:gd name="connsiteX16-153" fmla="*/ 1996750 w 4107620"/>
              <a:gd name="connsiteY16-154" fmla="*/ 4271454 h 4302998"/>
              <a:gd name="connsiteX17-155" fmla="*/ 2448695 w 4107620"/>
              <a:gd name="connsiteY17-156" fmla="*/ 4271454 h 4302998"/>
              <a:gd name="connsiteX18-157" fmla="*/ 2764006 w 4107620"/>
              <a:gd name="connsiteY18-158" fmla="*/ 4029716 h 4302998"/>
              <a:gd name="connsiteX19-159" fmla="*/ 2995233 w 4107620"/>
              <a:gd name="connsiteY19-160" fmla="*/ 3998185 h 4302998"/>
              <a:gd name="connsiteX20-161" fmla="*/ 3016254 w 4107620"/>
              <a:gd name="connsiteY20-162" fmla="*/ 3703896 h 4302998"/>
              <a:gd name="connsiteX21-163" fmla="*/ 3194930 w 4107620"/>
              <a:gd name="connsiteY21-164" fmla="*/ 3272972 h 4302998"/>
              <a:gd name="connsiteX22-165" fmla="*/ 3972695 w 4107620"/>
              <a:gd name="connsiteY22-166" fmla="*/ 3094296 h 4302998"/>
              <a:gd name="connsiteX23-167" fmla="*/ 3909633 w 4107620"/>
              <a:gd name="connsiteY23-168" fmla="*/ 1791013 h 4302998"/>
              <a:gd name="connsiteX24-169" fmla="*/ 4046268 w 4107620"/>
              <a:gd name="connsiteY24-170" fmla="*/ 876613 h 4302998"/>
              <a:gd name="connsiteX25-171" fmla="*/ 3962185 w 4107620"/>
              <a:gd name="connsiteY25-172" fmla="*/ 119868 h 4302998"/>
              <a:gd name="connsiteX26-173" fmla="*/ 2480226 w 4107620"/>
              <a:gd name="connsiteY26-174" fmla="*/ 35785 h 4302998"/>
              <a:gd name="connsiteX27-175" fmla="*/ 2270019 w 4107620"/>
              <a:gd name="connsiteY27-176" fmla="*/ 466709 h 4302998"/>
              <a:gd name="connsiteX28-177" fmla="*/ 2238488 w 4107620"/>
              <a:gd name="connsiteY28-178" fmla="*/ 1202434 h 4302998"/>
              <a:gd name="connsiteX29-179" fmla="*/ 1996750 w 4107620"/>
              <a:gd name="connsiteY29-180" fmla="*/ 1339069 h 4302998"/>
              <a:gd name="connsiteX0-181" fmla="*/ 1996750 w 4101062"/>
              <a:gd name="connsiteY0-182" fmla="*/ 1290412 h 4254341"/>
              <a:gd name="connsiteX1-183" fmla="*/ 1712971 w 4101062"/>
              <a:gd name="connsiteY1-184" fmla="*/ 1216839 h 4254341"/>
              <a:gd name="connsiteX2-185" fmla="*/ 1387150 w 4101062"/>
              <a:gd name="connsiteY2-186" fmla="*/ 827956 h 4254341"/>
              <a:gd name="connsiteX3-187" fmla="*/ 1134902 w 4101062"/>
              <a:gd name="connsiteY3-188" fmla="*/ 491625 h 4254341"/>
              <a:gd name="connsiteX4-189" fmla="*/ 840612 w 4101062"/>
              <a:gd name="connsiteY4-190" fmla="*/ 775404 h 4254341"/>
              <a:gd name="connsiteX5-191" fmla="*/ 703978 w 4101062"/>
              <a:gd name="connsiteY5-192" fmla="*/ 1279901 h 4254341"/>
              <a:gd name="connsiteX6-193" fmla="*/ 1240006 w 4101062"/>
              <a:gd name="connsiteY6-194" fmla="*/ 1878991 h 4254341"/>
              <a:gd name="connsiteX7-195" fmla="*/ 1303068 w 4101062"/>
              <a:gd name="connsiteY7-196" fmla="*/ 2299404 h 4254341"/>
              <a:gd name="connsiteX8-197" fmla="*/ 220502 w 4101062"/>
              <a:gd name="connsiteY8-198" fmla="*/ 2225832 h 4254341"/>
              <a:gd name="connsiteX9-199" fmla="*/ 83868 w 4101062"/>
              <a:gd name="connsiteY9-200" fmla="*/ 2866963 h 4254341"/>
              <a:gd name="connsiteX10-201" fmla="*/ 1218985 w 4101062"/>
              <a:gd name="connsiteY10-202" fmla="*/ 3182273 h 4254341"/>
              <a:gd name="connsiteX11-203" fmla="*/ 1124392 w 4101062"/>
              <a:gd name="connsiteY11-204" fmla="*/ 3571156 h 4254341"/>
              <a:gd name="connsiteX12-205" fmla="*/ 924695 w 4101062"/>
              <a:gd name="connsiteY12-206" fmla="*/ 3686770 h 4254341"/>
              <a:gd name="connsiteX13-207" fmla="*/ 1324088 w 4101062"/>
              <a:gd name="connsiteY13-208" fmla="*/ 3886466 h 4254341"/>
              <a:gd name="connsiteX14-209" fmla="*/ 1576337 w 4101062"/>
              <a:gd name="connsiteY14-210" fmla="*/ 3823404 h 4254341"/>
              <a:gd name="connsiteX15-211" fmla="*/ 1818075 w 4101062"/>
              <a:gd name="connsiteY15-212" fmla="*/ 3960039 h 4254341"/>
              <a:gd name="connsiteX16-213" fmla="*/ 1996750 w 4101062"/>
              <a:gd name="connsiteY16-214" fmla="*/ 4222797 h 4254341"/>
              <a:gd name="connsiteX17-215" fmla="*/ 2448695 w 4101062"/>
              <a:gd name="connsiteY17-216" fmla="*/ 4222797 h 4254341"/>
              <a:gd name="connsiteX18-217" fmla="*/ 2764006 w 4101062"/>
              <a:gd name="connsiteY18-218" fmla="*/ 3981059 h 4254341"/>
              <a:gd name="connsiteX19-219" fmla="*/ 2995233 w 4101062"/>
              <a:gd name="connsiteY19-220" fmla="*/ 3949528 h 4254341"/>
              <a:gd name="connsiteX20-221" fmla="*/ 3016254 w 4101062"/>
              <a:gd name="connsiteY20-222" fmla="*/ 3655239 h 4254341"/>
              <a:gd name="connsiteX21-223" fmla="*/ 3194930 w 4101062"/>
              <a:gd name="connsiteY21-224" fmla="*/ 3224315 h 4254341"/>
              <a:gd name="connsiteX22-225" fmla="*/ 3972695 w 4101062"/>
              <a:gd name="connsiteY22-226" fmla="*/ 3045639 h 4254341"/>
              <a:gd name="connsiteX23-227" fmla="*/ 3909633 w 4101062"/>
              <a:gd name="connsiteY23-228" fmla="*/ 1742356 h 4254341"/>
              <a:gd name="connsiteX24-229" fmla="*/ 4046268 w 4101062"/>
              <a:gd name="connsiteY24-230" fmla="*/ 827956 h 4254341"/>
              <a:gd name="connsiteX25-231" fmla="*/ 3962185 w 4101062"/>
              <a:gd name="connsiteY25-232" fmla="*/ 71211 h 4254341"/>
              <a:gd name="connsiteX26-233" fmla="*/ 2574819 w 4101062"/>
              <a:gd name="connsiteY26-234" fmla="*/ 71211 h 4254341"/>
              <a:gd name="connsiteX27-235" fmla="*/ 2270019 w 4101062"/>
              <a:gd name="connsiteY27-236" fmla="*/ 418052 h 4254341"/>
              <a:gd name="connsiteX28-237" fmla="*/ 2238488 w 4101062"/>
              <a:gd name="connsiteY28-238" fmla="*/ 1153777 h 4254341"/>
              <a:gd name="connsiteX29-239" fmla="*/ 1996750 w 4101062"/>
              <a:gd name="connsiteY29-240" fmla="*/ 1290412 h 42543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Lst>
            <a:rect l="l" t="t" r="r" b="b"/>
            <a:pathLst>
              <a:path w="4101062" h="4254341">
                <a:moveTo>
                  <a:pt x="1996750" y="1290412"/>
                </a:moveTo>
                <a:cubicBezTo>
                  <a:pt x="1909164" y="1300922"/>
                  <a:pt x="1814571" y="1293915"/>
                  <a:pt x="1712971" y="1216839"/>
                </a:cubicBezTo>
                <a:cubicBezTo>
                  <a:pt x="1611371" y="1139763"/>
                  <a:pt x="1483495" y="948825"/>
                  <a:pt x="1387150" y="827956"/>
                </a:cubicBezTo>
                <a:cubicBezTo>
                  <a:pt x="1290805" y="707087"/>
                  <a:pt x="1225992" y="500384"/>
                  <a:pt x="1134902" y="491625"/>
                </a:cubicBezTo>
                <a:cubicBezTo>
                  <a:pt x="1043812" y="482866"/>
                  <a:pt x="912433" y="644025"/>
                  <a:pt x="840612" y="775404"/>
                </a:cubicBezTo>
                <a:cubicBezTo>
                  <a:pt x="768791" y="906783"/>
                  <a:pt x="637412" y="1095970"/>
                  <a:pt x="703978" y="1279901"/>
                </a:cubicBezTo>
                <a:cubicBezTo>
                  <a:pt x="770544" y="1463832"/>
                  <a:pt x="1140158" y="1709074"/>
                  <a:pt x="1240006" y="1878991"/>
                </a:cubicBezTo>
                <a:cubicBezTo>
                  <a:pt x="1339854" y="2048908"/>
                  <a:pt x="1472985" y="2241597"/>
                  <a:pt x="1303068" y="2299404"/>
                </a:cubicBezTo>
                <a:cubicBezTo>
                  <a:pt x="1133151" y="2357211"/>
                  <a:pt x="423702" y="2131239"/>
                  <a:pt x="220502" y="2225832"/>
                </a:cubicBezTo>
                <a:cubicBezTo>
                  <a:pt x="17302" y="2320425"/>
                  <a:pt x="-82546" y="2707556"/>
                  <a:pt x="83868" y="2866963"/>
                </a:cubicBezTo>
                <a:cubicBezTo>
                  <a:pt x="250282" y="3026370"/>
                  <a:pt x="1045564" y="3064908"/>
                  <a:pt x="1218985" y="3182273"/>
                </a:cubicBezTo>
                <a:cubicBezTo>
                  <a:pt x="1392406" y="3299638"/>
                  <a:pt x="1173440" y="3487073"/>
                  <a:pt x="1124392" y="3571156"/>
                </a:cubicBezTo>
                <a:cubicBezTo>
                  <a:pt x="1075344" y="3655239"/>
                  <a:pt x="891412" y="3634218"/>
                  <a:pt x="924695" y="3686770"/>
                </a:cubicBezTo>
                <a:cubicBezTo>
                  <a:pt x="957978" y="3739322"/>
                  <a:pt x="1215481" y="3863694"/>
                  <a:pt x="1324088" y="3886466"/>
                </a:cubicBezTo>
                <a:cubicBezTo>
                  <a:pt x="1432695" y="3909238"/>
                  <a:pt x="1494006" y="3811142"/>
                  <a:pt x="1576337" y="3823404"/>
                </a:cubicBezTo>
                <a:cubicBezTo>
                  <a:pt x="1658668" y="3835666"/>
                  <a:pt x="1748006" y="3893474"/>
                  <a:pt x="1818075" y="3960039"/>
                </a:cubicBezTo>
                <a:cubicBezTo>
                  <a:pt x="1888144" y="4026604"/>
                  <a:pt x="1891647" y="4179004"/>
                  <a:pt x="1996750" y="4222797"/>
                </a:cubicBezTo>
                <a:cubicBezTo>
                  <a:pt x="2101853" y="4266590"/>
                  <a:pt x="2320819" y="4263087"/>
                  <a:pt x="2448695" y="4222797"/>
                </a:cubicBezTo>
                <a:cubicBezTo>
                  <a:pt x="2576571" y="4182507"/>
                  <a:pt x="2672916" y="4026604"/>
                  <a:pt x="2764006" y="3981059"/>
                </a:cubicBezTo>
                <a:cubicBezTo>
                  <a:pt x="2855096" y="3935514"/>
                  <a:pt x="2953192" y="4003831"/>
                  <a:pt x="2995233" y="3949528"/>
                </a:cubicBezTo>
                <a:cubicBezTo>
                  <a:pt x="3037274" y="3895225"/>
                  <a:pt x="2982971" y="3776108"/>
                  <a:pt x="3016254" y="3655239"/>
                </a:cubicBezTo>
                <a:cubicBezTo>
                  <a:pt x="3049537" y="3534370"/>
                  <a:pt x="3035523" y="3325915"/>
                  <a:pt x="3194930" y="3224315"/>
                </a:cubicBezTo>
                <a:cubicBezTo>
                  <a:pt x="3354337" y="3122715"/>
                  <a:pt x="3853578" y="3292632"/>
                  <a:pt x="3972695" y="3045639"/>
                </a:cubicBezTo>
                <a:cubicBezTo>
                  <a:pt x="4091812" y="2798646"/>
                  <a:pt x="3897371" y="2111970"/>
                  <a:pt x="3909633" y="1742356"/>
                </a:cubicBezTo>
                <a:cubicBezTo>
                  <a:pt x="3921895" y="1372742"/>
                  <a:pt x="4037509" y="1106480"/>
                  <a:pt x="4046268" y="827956"/>
                </a:cubicBezTo>
                <a:cubicBezTo>
                  <a:pt x="4055027" y="549432"/>
                  <a:pt x="4207426" y="197335"/>
                  <a:pt x="3962185" y="71211"/>
                </a:cubicBezTo>
                <a:cubicBezTo>
                  <a:pt x="3716944" y="-54913"/>
                  <a:pt x="2856847" y="13404"/>
                  <a:pt x="2574819" y="71211"/>
                </a:cubicBezTo>
                <a:cubicBezTo>
                  <a:pt x="2292791" y="129018"/>
                  <a:pt x="2310309" y="223611"/>
                  <a:pt x="2270019" y="418052"/>
                </a:cubicBezTo>
                <a:cubicBezTo>
                  <a:pt x="2229729" y="612493"/>
                  <a:pt x="2284033" y="1008384"/>
                  <a:pt x="2238488" y="1153777"/>
                </a:cubicBezTo>
                <a:cubicBezTo>
                  <a:pt x="2192943" y="1299170"/>
                  <a:pt x="2084336" y="1279902"/>
                  <a:pt x="1996750" y="1290412"/>
                </a:cubicBezTo>
                <a:close/>
              </a:path>
            </a:pathLst>
          </a:custGeom>
          <a:noFill/>
          <a:ln w="28575">
            <a:solidFill>
              <a:srgbClr val="002060">
                <a:alpha val="5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1" name="Group 791"/>
          <p:cNvGrpSpPr/>
          <p:nvPr/>
        </p:nvGrpSpPr>
        <p:grpSpPr>
          <a:xfrm>
            <a:off x="6826912" y="2216937"/>
            <a:ext cx="648759" cy="444532"/>
            <a:chOff x="7487144" y="3389820"/>
            <a:chExt cx="350807" cy="305517"/>
          </a:xfrm>
        </p:grpSpPr>
        <p:pic>
          <p:nvPicPr>
            <p:cNvPr id="462" name="Picture 1115" descr="antenna_stylized"/>
            <p:cNvPicPr>
              <a:picLocks noChangeAspect="1" noChangeArrowheads="1"/>
            </p:cNvPicPr>
            <p:nvPr/>
          </p:nvPicPr>
          <p:blipFill>
            <a:blip r:embed="rId9"/>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3" name="Picture 1116" descr="laptop_keyboard"/>
            <p:cNvPicPr>
              <a:picLocks noChangeAspect="1" noChangeArrowheads="1"/>
            </p:cNvPicPr>
            <p:nvPr/>
          </p:nvPicPr>
          <p:blipFill>
            <a:blip r:embed="rId10" cstate="print"/>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4" name="Freeform 1117"/>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en-US" dirty="0"/>
            </a:p>
          </p:txBody>
        </p:sp>
        <p:pic>
          <p:nvPicPr>
            <p:cNvPr id="465" name="Picture 1118" descr="screen"/>
            <p:cNvPicPr>
              <a:picLocks noChangeAspect="1" noChangeArrowheads="1"/>
            </p:cNvPicPr>
            <p:nvPr/>
          </p:nvPicPr>
          <p:blipFill>
            <a:blip r:embed="rId11"/>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6" name="Freeform 1119"/>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67" name="Freeform 1120"/>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68" name="Freeform 1121"/>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69" name="Freeform 1122"/>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0" name="Freeform 1123"/>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1" name="Freeform 1124"/>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472" name="Group 1125"/>
            <p:cNvGrpSpPr/>
            <p:nvPr/>
          </p:nvGrpSpPr>
          <p:grpSpPr bwMode="auto">
            <a:xfrm>
              <a:off x="7593395" y="3625649"/>
              <a:ext cx="64747" cy="27592"/>
              <a:chOff x="1740" y="2642"/>
              <a:chExt cx="752" cy="327"/>
            </a:xfrm>
          </p:grpSpPr>
          <p:sp>
            <p:nvSpPr>
              <p:cNvPr id="479" name="Freeform 1126"/>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0" name="Freeform 1127"/>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1" name="Freeform 1128"/>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2" name="Freeform 1129"/>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3" name="Freeform 1130"/>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4" name="Freeform 1131"/>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473" name="Freeform 1132"/>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4" name="Freeform 1133"/>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5" name="Freeform 1134"/>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6" name="Freeform 1135"/>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7" name="Freeform 1136"/>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8" name="Freeform 1137"/>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486" name="内容占位符 485"/>
          <p:cNvSpPr>
            <a:spLocks noGrp="1"/>
          </p:cNvSpPr>
          <p:nvPr>
            <p:ph idx="1"/>
          </p:nvPr>
        </p:nvSpPr>
        <p:spPr>
          <a:xfrm>
            <a:off x="795454" y="1418897"/>
            <a:ext cx="5799704" cy="5302578"/>
          </a:xfrm>
        </p:spPr>
        <p:txBody>
          <a:bodyPr anchor="t" anchorCtr="0">
            <a:normAutofit fontScale="92500" lnSpcReduction="20000"/>
          </a:bodyPr>
          <a:lstStyle/>
          <a:p>
            <a:pPr>
              <a:lnSpc>
                <a:spcPct val="140000"/>
              </a:lnSpc>
            </a:pPr>
            <a:r>
              <a:rPr lang="zh-CN" altLang="en-US" dirty="0">
                <a:solidFill>
                  <a:srgbClr val="C00000"/>
                </a:solidFill>
              </a:rPr>
              <a:t>网络边缘</a:t>
            </a:r>
            <a:endParaRPr lang="en-US" altLang="zh-CN" dirty="0">
              <a:solidFill>
                <a:srgbClr val="C00000"/>
              </a:solidFill>
            </a:endParaRPr>
          </a:p>
          <a:p>
            <a:pPr lvl="1">
              <a:lnSpc>
                <a:spcPct val="140000"/>
              </a:lnSpc>
            </a:pPr>
            <a:r>
              <a:rPr lang="zh-CN" altLang="en-US" dirty="0">
                <a:sym typeface="+mn-ea"/>
              </a:rPr>
              <a:t>端系统：</a:t>
            </a:r>
            <a:r>
              <a:rPr lang="zh-CN" altLang="en-US" dirty="0"/>
              <a:t>位于互联网边缘与互联网相连的计算机和其他设备</a:t>
            </a:r>
            <a:endParaRPr lang="zh-CN" altLang="en-US" dirty="0"/>
          </a:p>
          <a:p>
            <a:pPr lvl="1">
              <a:lnSpc>
                <a:spcPct val="140000"/>
              </a:lnSpc>
            </a:pPr>
            <a:r>
              <a:rPr lang="zh-CN" altLang="en-US" dirty="0">
                <a:sym typeface="+mn-ea"/>
              </a:rPr>
              <a:t>端系统由各类主机</a:t>
            </a:r>
            <a:r>
              <a:rPr lang="en-US" altLang="zh-CN" dirty="0">
                <a:sym typeface="+mn-ea"/>
              </a:rPr>
              <a:t>(host)</a:t>
            </a:r>
            <a:r>
              <a:rPr lang="zh-CN" altLang="en-US" dirty="0">
                <a:sym typeface="+mn-ea"/>
              </a:rPr>
              <a:t>构成：</a:t>
            </a:r>
            <a:br>
              <a:rPr lang="en-US" altLang="zh-CN" dirty="0">
                <a:sym typeface="+mn-ea"/>
              </a:rPr>
            </a:br>
            <a:r>
              <a:rPr lang="zh-CN" altLang="en-US" dirty="0"/>
              <a:t>桌面计算机、移动计算机、服务器、其他智能终端设备</a:t>
            </a:r>
            <a:endParaRPr lang="en-US" altLang="zh-CN" dirty="0"/>
          </a:p>
          <a:p>
            <a:pPr>
              <a:lnSpc>
                <a:spcPct val="140000"/>
              </a:lnSpc>
            </a:pPr>
            <a:r>
              <a:rPr lang="zh-CN" altLang="en-US" dirty="0">
                <a:solidFill>
                  <a:srgbClr val="C00000"/>
                </a:solidFill>
              </a:rPr>
              <a:t>网络核心</a:t>
            </a:r>
            <a:endParaRPr lang="zh-CN" altLang="en-US" dirty="0">
              <a:solidFill>
                <a:srgbClr val="C00000"/>
              </a:solidFill>
            </a:endParaRPr>
          </a:p>
          <a:p>
            <a:pPr lvl="1">
              <a:lnSpc>
                <a:spcPct val="140000"/>
              </a:lnSpc>
            </a:pPr>
            <a:r>
              <a:rPr lang="zh-CN" altLang="en-US" dirty="0"/>
              <a:t>由互联端系统的分组交换设备和通信链路构成的网状网络</a:t>
            </a:r>
            <a:endParaRPr lang="zh-CN" altLang="en-US" dirty="0"/>
          </a:p>
          <a:p>
            <a:pPr lvl="2">
              <a:lnSpc>
                <a:spcPct val="140000"/>
              </a:lnSpc>
            </a:pPr>
            <a:r>
              <a:rPr lang="zh-CN" altLang="en-US" sz="2100" dirty="0"/>
              <a:t>分组交换（     路由器、     链路层交换机）</a:t>
            </a:r>
            <a:endParaRPr lang="zh-CN" altLang="en-US" sz="2100" dirty="0"/>
          </a:p>
          <a:p>
            <a:pPr lvl="2">
              <a:lnSpc>
                <a:spcPct val="140000"/>
              </a:lnSpc>
            </a:pPr>
            <a:r>
              <a:rPr lang="zh-CN" altLang="en-US" sz="2100" dirty="0"/>
              <a:t>通信链路</a:t>
            </a:r>
            <a:r>
              <a:rPr lang="en-US" altLang="zh-CN" sz="2100" dirty="0"/>
              <a:t>(</a:t>
            </a:r>
            <a:r>
              <a:rPr lang="zh-CN" altLang="en-US" sz="2100" dirty="0"/>
              <a:t>光纤、铜缆、无线电、激光链路</a:t>
            </a:r>
            <a:r>
              <a:rPr lang="en-US" altLang="zh-CN" sz="2100" dirty="0"/>
              <a:t>)</a:t>
            </a:r>
            <a:endParaRPr lang="zh-CN" altLang="en-US" sz="2100" dirty="0"/>
          </a:p>
        </p:txBody>
      </p:sp>
      <p:cxnSp>
        <p:nvCxnSpPr>
          <p:cNvPr id="487" name="Straight Connector 563"/>
          <p:cNvCxnSpPr>
            <a:endCxn id="90" idx="0"/>
          </p:cNvCxnSpPr>
          <p:nvPr/>
        </p:nvCxnSpPr>
        <p:spPr>
          <a:xfrm>
            <a:off x="10167254" y="2199942"/>
            <a:ext cx="477617" cy="286992"/>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pic>
        <p:nvPicPr>
          <p:cNvPr id="5" name="图片 4"/>
          <p:cNvPicPr>
            <a:picLocks noChangeAspect="1"/>
          </p:cNvPicPr>
          <p:nvPr/>
        </p:nvPicPr>
        <p:blipFill>
          <a:blip r:embed="rId26"/>
          <a:stretch>
            <a:fillRect/>
          </a:stretch>
        </p:blipFill>
        <p:spPr>
          <a:xfrm>
            <a:off x="3149957" y="5673451"/>
            <a:ext cx="367891" cy="256409"/>
          </a:xfrm>
          <a:prstGeom prst="rect">
            <a:avLst/>
          </a:prstGeom>
        </p:spPr>
      </p:pic>
      <p:pic>
        <p:nvPicPr>
          <p:cNvPr id="8" name="图片 7" descr="卡通人物&#10;&#10;描述已自动生成"/>
          <p:cNvPicPr>
            <a:picLocks noChangeAspect="1"/>
          </p:cNvPicPr>
          <p:nvPr/>
        </p:nvPicPr>
        <p:blipFill>
          <a:blip r:embed="rId27"/>
          <a:stretch>
            <a:fillRect/>
          </a:stretch>
        </p:blipFill>
        <p:spPr>
          <a:xfrm>
            <a:off x="4471229" y="5612360"/>
            <a:ext cx="381000" cy="317500"/>
          </a:xfrm>
          <a:prstGeom prst="rect">
            <a:avLst/>
          </a:prstGeom>
        </p:spPr>
      </p:pic>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456" name="矩形 455"/>
          <p:cNvSpPr/>
          <p:nvPr/>
        </p:nvSpPr>
        <p:spPr>
          <a:xfrm>
            <a:off x="4471229" y="6492874"/>
            <a:ext cx="3262432"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计算机网络</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，徐敬东等</a:t>
            </a:r>
            <a:endParaRPr lang="zh-CN" altLang="en-US" sz="1600" dirty="0">
              <a:solidFill>
                <a:schemeClr val="bg1">
                  <a:lumMod val="65000"/>
                </a:schemeClr>
              </a:solidFill>
            </a:endParaRPr>
          </a:p>
        </p:txBody>
      </p:sp>
      <p:sp>
        <p:nvSpPr>
          <p:cNvPr id="458" name="文本框 457"/>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网络边缘</a:t>
            </a:r>
            <a:endParaRPr lang="zh-CN" altLang="en-US" dirty="0">
              <a:sym typeface="+mn-ea"/>
            </a:endParaRPr>
          </a:p>
        </p:txBody>
      </p:sp>
      <p:sp>
        <p:nvSpPr>
          <p:cNvPr id="6" name="内容占位符 5"/>
          <p:cNvSpPr>
            <a:spLocks noGrp="1"/>
          </p:cNvSpPr>
          <p:nvPr>
            <p:ph idx="1"/>
          </p:nvPr>
        </p:nvSpPr>
        <p:spPr>
          <a:xfrm>
            <a:off x="862810" y="1478147"/>
            <a:ext cx="5854736" cy="4586694"/>
          </a:xfrm>
        </p:spPr>
        <p:txBody>
          <a:bodyPr>
            <a:normAutofit/>
          </a:bodyPr>
          <a:lstStyle/>
          <a:p>
            <a:pPr>
              <a:lnSpc>
                <a:spcPct val="130000"/>
              </a:lnSpc>
            </a:pPr>
            <a:r>
              <a:rPr lang="zh-CN" altLang="en-US" dirty="0"/>
              <a:t>主机</a:t>
            </a:r>
            <a:r>
              <a:rPr lang="en-US" altLang="zh-CN" dirty="0"/>
              <a:t>Host</a:t>
            </a:r>
            <a:endParaRPr lang="zh-CN" altLang="en-US" dirty="0"/>
          </a:p>
          <a:p>
            <a:pPr lvl="1">
              <a:lnSpc>
                <a:spcPct val="130000"/>
              </a:lnSpc>
            </a:pPr>
            <a:r>
              <a:rPr lang="zh-CN" altLang="en-US" dirty="0"/>
              <a:t>客户端：便携机、智能手机、平板电脑，智能手环等各类智能终端</a:t>
            </a:r>
            <a:endParaRPr lang="en-US" altLang="zh-CN" dirty="0"/>
          </a:p>
          <a:p>
            <a:pPr lvl="1">
              <a:lnSpc>
                <a:spcPct val="130000"/>
              </a:lnSpc>
            </a:pPr>
            <a:r>
              <a:rPr lang="zh-CN" altLang="en-US" dirty="0"/>
              <a:t>服务器（服务器通常位于数据中心）</a:t>
            </a:r>
            <a:endParaRPr lang="zh-CN" altLang="en-US" dirty="0"/>
          </a:p>
          <a:p>
            <a:pPr>
              <a:lnSpc>
                <a:spcPct val="130000"/>
              </a:lnSpc>
              <a:buFont typeface="Wingdings" panose="05000000000000000000" charset="0"/>
              <a:buChar char="Ø"/>
            </a:pPr>
            <a:r>
              <a:rPr lang="zh-CN" altLang="en-US" dirty="0">
                <a:sym typeface="+mn-ea"/>
              </a:rPr>
              <a:t>主机的功能</a:t>
            </a:r>
            <a:endParaRPr lang="zh-CN" altLang="en-US" dirty="0"/>
          </a:p>
          <a:p>
            <a:pPr lvl="1">
              <a:lnSpc>
                <a:spcPct val="130000"/>
              </a:lnSpc>
            </a:pPr>
            <a:r>
              <a:rPr lang="zh-CN" altLang="en-US" dirty="0">
                <a:sym typeface="+mn-ea"/>
              </a:rPr>
              <a:t>容纳（即运行）应用程序</a:t>
            </a:r>
            <a:endParaRPr lang="en-US" altLang="zh-CN" dirty="0">
              <a:sym typeface="+mn-ea"/>
            </a:endParaRPr>
          </a:p>
          <a:p>
            <a:pPr lvl="1">
              <a:lnSpc>
                <a:spcPct val="130000"/>
              </a:lnSpc>
            </a:pPr>
            <a:r>
              <a:rPr lang="zh-CN" altLang="en-US" dirty="0">
                <a:sym typeface="+mn-ea"/>
              </a:rPr>
              <a:t>产生信息并向接入网发送数据</a:t>
            </a:r>
            <a:endParaRPr lang="en-US" altLang="zh-CN" dirty="0">
              <a:sym typeface="+mn-ea"/>
            </a:endParaRPr>
          </a:p>
          <a:p>
            <a:pPr lvl="1">
              <a:lnSpc>
                <a:spcPct val="130000"/>
              </a:lnSpc>
            </a:pPr>
            <a:r>
              <a:rPr lang="zh-CN" altLang="en-US" dirty="0"/>
              <a:t>从网络接收数据并提供给应用程序</a:t>
            </a:r>
            <a:endParaRPr lang="zh-CN" altLang="en-US" dirty="0"/>
          </a:p>
          <a:p>
            <a:endParaRPr lang="zh-CN" altLang="en-US" dirty="0"/>
          </a:p>
        </p:txBody>
      </p:sp>
      <p:grpSp>
        <p:nvGrpSpPr>
          <p:cNvPr id="653" name="组合 652"/>
          <p:cNvGrpSpPr/>
          <p:nvPr/>
        </p:nvGrpSpPr>
        <p:grpSpPr>
          <a:xfrm>
            <a:off x="6949442" y="1357016"/>
            <a:ext cx="4953402" cy="4798764"/>
            <a:chOff x="7543553" y="1481714"/>
            <a:chExt cx="4304454" cy="4798764"/>
          </a:xfrm>
        </p:grpSpPr>
        <p:pic>
          <p:nvPicPr>
            <p:cNvPr id="657" name="图片 656" descr="图示, 工程绘图&#10;&#10;描述已自动生成"/>
            <p:cNvPicPr>
              <a:picLocks noChangeAspect="1"/>
            </p:cNvPicPr>
            <p:nvPr/>
          </p:nvPicPr>
          <p:blipFill>
            <a:blip r:embed="rId1"/>
            <a:stretch>
              <a:fillRect/>
            </a:stretch>
          </p:blipFill>
          <p:spPr>
            <a:xfrm>
              <a:off x="7543553" y="1481714"/>
              <a:ext cx="4161405" cy="4798764"/>
            </a:xfrm>
            <a:prstGeom prst="rect">
              <a:avLst/>
            </a:prstGeom>
          </p:spPr>
        </p:pic>
        <p:sp>
          <p:nvSpPr>
            <p:cNvPr id="658" name="Rectangle 8"/>
            <p:cNvSpPr/>
            <p:nvPr/>
          </p:nvSpPr>
          <p:spPr>
            <a:xfrm>
              <a:off x="9604200" y="1734285"/>
              <a:ext cx="1904507" cy="1579880"/>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3" name="Rectangle 8"/>
            <p:cNvSpPr/>
            <p:nvPr/>
          </p:nvSpPr>
          <p:spPr>
            <a:xfrm>
              <a:off x="8916963" y="3307194"/>
              <a:ext cx="1904507" cy="1281586"/>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5" name="椭圆 664"/>
            <p:cNvSpPr/>
            <p:nvPr/>
          </p:nvSpPr>
          <p:spPr>
            <a:xfrm>
              <a:off x="7819407" y="1876057"/>
              <a:ext cx="552184" cy="964087"/>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4" name="椭圆 693"/>
            <p:cNvSpPr/>
            <p:nvPr/>
          </p:nvSpPr>
          <p:spPr>
            <a:xfrm>
              <a:off x="7751007" y="3347293"/>
              <a:ext cx="957438" cy="46415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0" name="椭圆 739"/>
            <p:cNvSpPr/>
            <p:nvPr/>
          </p:nvSpPr>
          <p:spPr>
            <a:xfrm>
              <a:off x="11107569" y="4223655"/>
              <a:ext cx="692755"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5" name="椭圆 784"/>
            <p:cNvSpPr/>
            <p:nvPr/>
          </p:nvSpPr>
          <p:spPr>
            <a:xfrm>
              <a:off x="11026061" y="3479547"/>
              <a:ext cx="821946"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6" name="椭圆 785"/>
            <p:cNvSpPr/>
            <p:nvPr/>
          </p:nvSpPr>
          <p:spPr>
            <a:xfrm>
              <a:off x="8084128" y="5282687"/>
              <a:ext cx="1038737" cy="54060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7" name="椭圆 786"/>
            <p:cNvSpPr/>
            <p:nvPr/>
          </p:nvSpPr>
          <p:spPr>
            <a:xfrm>
              <a:off x="9949779" y="5329434"/>
              <a:ext cx="928264" cy="60137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6" name="文本框 1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7" name="椭圆 16"/>
          <p:cNvSpPr/>
          <p:nvPr/>
        </p:nvSpPr>
        <p:spPr>
          <a:xfrm>
            <a:off x="8854820" y="5589597"/>
            <a:ext cx="1068211" cy="60137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p:nvSpPr>
        <p:spPr>
          <a:xfrm>
            <a:off x="8449138" y="1751358"/>
            <a:ext cx="635432" cy="964087"/>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54331"/>
            <a:ext cx="8220812" cy="879086"/>
          </a:xfrm>
        </p:spPr>
        <p:txBody>
          <a:bodyPr>
            <a:normAutofit/>
          </a:bodyPr>
          <a:lstStyle/>
          <a:p>
            <a:r>
              <a:rPr lang="zh-CN" altLang="en-US" dirty="0">
                <a:sym typeface="+mn-ea"/>
              </a:rPr>
              <a:t>网络边缘设备</a:t>
            </a:r>
            <a:endParaRPr lang="zh-CN" altLang="en-US" dirty="0"/>
          </a:p>
        </p:txBody>
      </p:sp>
      <p:sp>
        <p:nvSpPr>
          <p:cNvPr id="3" name="内容占位符 2"/>
          <p:cNvSpPr txBox="1">
            <a:spLocks noGrp="1"/>
          </p:cNvSpPr>
          <p:nvPr>
            <p:ph idx="1"/>
          </p:nvPr>
        </p:nvSpPr>
        <p:spPr>
          <a:xfrm>
            <a:off x="935125" y="1564680"/>
            <a:ext cx="10515600" cy="523220"/>
          </a:xfrm>
          <a:noFill/>
        </p:spPr>
        <p:txBody>
          <a:bodyPr wrap="square" rtlCol="0">
            <a:spAutoFit/>
          </a:bodyPr>
          <a:lstStyle/>
          <a:p>
            <a:pPr marL="0" lvl="0" indent="0" algn="ctr">
              <a:buClrTx/>
              <a:buSzTx/>
              <a:buNone/>
            </a:pPr>
            <a:r>
              <a:rPr lang="en-US" altLang="en-US" dirty="0" err="1">
                <a:cs typeface="Arial" panose="020B0604020202020204" pitchFamily="34" charset="0"/>
                <a:sym typeface="+mn-ea"/>
              </a:rPr>
              <a:t>各式各样的</a:t>
            </a:r>
            <a:r>
              <a:rPr lang="zh-CN" altLang="en-US" dirty="0">
                <a:cs typeface="Arial" panose="020B0604020202020204" pitchFamily="34" charset="0"/>
                <a:sym typeface="+mn-ea"/>
              </a:rPr>
              <a:t>“主机”（</a:t>
            </a:r>
            <a:r>
              <a:rPr lang="en-US" altLang="zh-CN" dirty="0">
                <a:cs typeface="Arial" panose="020B0604020202020204" pitchFamily="34" charset="0"/>
                <a:sym typeface="+mn-ea"/>
              </a:rPr>
              <a:t>Host</a:t>
            </a:r>
            <a:r>
              <a:rPr lang="zh-CN" altLang="en-US" dirty="0">
                <a:cs typeface="Arial" panose="020B0604020202020204" pitchFamily="34" charset="0"/>
                <a:sym typeface="+mn-ea"/>
              </a:rPr>
              <a:t>）</a:t>
            </a:r>
            <a:endParaRPr lang="en-US" altLang="en-US" dirty="0">
              <a:cs typeface="Arial" panose="020B0604020202020204" pitchFamily="34" charset="0"/>
              <a:sym typeface="+mn-ea"/>
            </a:endParaRPr>
          </a:p>
        </p:txBody>
      </p:sp>
      <p:pic>
        <p:nvPicPr>
          <p:cNvPr id="59" name="Picture 3" descr="toaster"/>
          <p:cNvPicPr>
            <a:picLocks noChangeAspect="1" noChangeArrowheads="1"/>
          </p:cNvPicPr>
          <p:nvPr/>
        </p:nvPicPr>
        <p:blipFill>
          <a:blip r:embed="rId1" cstate="print"/>
          <a:srcRect/>
          <a:stretch>
            <a:fillRect/>
          </a:stretch>
        </p:blipFill>
        <p:spPr bwMode="auto">
          <a:xfrm>
            <a:off x="2508363" y="4206953"/>
            <a:ext cx="1601102" cy="1468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8"/>
          <p:cNvSpPr txBox="1">
            <a:spLocks noChangeArrowheads="1"/>
          </p:cNvSpPr>
          <p:nvPr/>
        </p:nvSpPr>
        <p:spPr bwMode="auto">
          <a:xfrm>
            <a:off x="8654056" y="3448039"/>
            <a:ext cx="1473389" cy="398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en-US" altLang="en-US" sz="2000" dirty="0">
                <a:latin typeface="微软雅黑" panose="020B0503020204020204" pitchFamily="34" charset="-122"/>
                <a:ea typeface="微软雅黑" panose="020B0503020204020204" pitchFamily="34" charset="-122"/>
              </a:rPr>
              <a:t>安全摄像头</a:t>
            </a:r>
            <a:endParaRPr lang="en-US" altLang="en-US" sz="1600" dirty="0">
              <a:latin typeface="+mn-lt"/>
            </a:endParaRPr>
          </a:p>
        </p:txBody>
      </p:sp>
      <p:pic>
        <p:nvPicPr>
          <p:cNvPr id="69" name="Picture 21"/>
          <p:cNvPicPr>
            <a:picLocks noChangeAspect="1"/>
          </p:cNvPicPr>
          <p:nvPr/>
        </p:nvPicPr>
        <p:blipFill>
          <a:blip r:embed="rId2" cstate="print"/>
          <a:stretch>
            <a:fillRect/>
          </a:stretch>
        </p:blipFill>
        <p:spPr>
          <a:xfrm>
            <a:off x="8777473" y="2463433"/>
            <a:ext cx="1074597" cy="989700"/>
          </a:xfrm>
          <a:prstGeom prst="rect">
            <a:avLst/>
          </a:prstGeom>
        </p:spPr>
      </p:pic>
      <p:pic>
        <p:nvPicPr>
          <p:cNvPr id="73" name="Picture 4" descr="whisper"/>
          <p:cNvPicPr>
            <a:picLocks noChangeAspect="1" noChangeArrowheads="1"/>
          </p:cNvPicPr>
          <p:nvPr/>
        </p:nvPicPr>
        <p:blipFill>
          <a:blip r:embed="rId3"/>
          <a:srcRect/>
          <a:stretch>
            <a:fillRect/>
          </a:stretch>
        </p:blipFill>
        <p:spPr bwMode="auto">
          <a:xfrm>
            <a:off x="2537791" y="2342738"/>
            <a:ext cx="1641058" cy="1231090"/>
          </a:xfrm>
          <a:prstGeom prst="rect">
            <a:avLst/>
          </a:prstGeom>
          <a:noFill/>
          <a:ln>
            <a:noFill/>
          </a:ln>
        </p:spPr>
      </p:pic>
      <p:sp>
        <p:nvSpPr>
          <p:cNvPr id="74" name="Text Box 7"/>
          <p:cNvSpPr txBox="1">
            <a:spLocks noChangeArrowheads="1"/>
          </p:cNvSpPr>
          <p:nvPr/>
        </p:nvSpPr>
        <p:spPr bwMode="auto">
          <a:xfrm>
            <a:off x="2438980" y="3448039"/>
            <a:ext cx="1450804" cy="398780"/>
          </a:xfrm>
          <a:prstGeom prst="rect">
            <a:avLst/>
          </a:prstGeom>
          <a:noFill/>
          <a:ln>
            <a:noFill/>
          </a:ln>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rPr>
              <a:t>IP相框</a:t>
            </a:r>
            <a:endParaRPr lang="en-US" altLang="en-US" sz="2000" dirty="0">
              <a:latin typeface="微软雅黑" panose="020B0503020204020204" pitchFamily="34" charset="-122"/>
              <a:ea typeface="微软雅黑" panose="020B0503020204020204" pitchFamily="34" charset="-122"/>
            </a:endParaRPr>
          </a:p>
        </p:txBody>
      </p:sp>
      <p:graphicFrame>
        <p:nvGraphicFramePr>
          <p:cNvPr id="76" name="Object 14"/>
          <p:cNvGraphicFramePr>
            <a:graphicFrameLocks noChangeAspect="1"/>
          </p:cNvGraphicFramePr>
          <p:nvPr/>
        </p:nvGraphicFramePr>
        <p:xfrm>
          <a:off x="10559802" y="4103404"/>
          <a:ext cx="767792" cy="1675594"/>
        </p:xfrm>
        <a:graphic>
          <a:graphicData uri="http://schemas.openxmlformats.org/presentationml/2006/ole">
            <mc:AlternateContent xmlns:mc="http://schemas.openxmlformats.org/markup-compatibility/2006">
              <mc:Choice xmlns:v="urn:schemas-microsoft-com:vml" Requires="v">
                <p:oleObj spid="_x0000_s1026" name="" r:id="rId4" imgW="1435100" imgH="3873500" progId="">
                  <p:embed/>
                </p:oleObj>
              </mc:Choice>
              <mc:Fallback>
                <p:oleObj name="" r:id="rId4" imgW="1435100" imgH="3873500" progId="">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59802" y="4103404"/>
                        <a:ext cx="767792" cy="1675594"/>
                      </a:xfrm>
                      <a:prstGeom prst="rect">
                        <a:avLst/>
                      </a:prstGeom>
                      <a:noFill/>
                      <a:ln>
                        <a:noFill/>
                      </a:ln>
                      <a:effectLst/>
                    </p:spPr>
                  </p:pic>
                </p:oleObj>
              </mc:Fallback>
            </mc:AlternateContent>
          </a:graphicData>
        </a:graphic>
      </p:graphicFrame>
      <p:sp>
        <p:nvSpPr>
          <p:cNvPr id="78" name="Text Box 8"/>
          <p:cNvSpPr txBox="1">
            <a:spLocks noChangeArrowheads="1"/>
          </p:cNvSpPr>
          <p:nvPr/>
        </p:nvSpPr>
        <p:spPr bwMode="auto">
          <a:xfrm>
            <a:off x="10258606" y="5757713"/>
            <a:ext cx="14733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en-US" altLang="en-US" sz="2000" dirty="0" err="1">
                <a:latin typeface="微软雅黑" panose="020B0503020204020204" pitchFamily="34" charset="-122"/>
                <a:ea typeface="微软雅黑" panose="020B0503020204020204" pitchFamily="34" charset="-122"/>
              </a:rPr>
              <a:t>互联网冰箱</a:t>
            </a:r>
            <a:endParaRPr lang="en-US" altLang="en-US" sz="2000" dirty="0">
              <a:latin typeface="微软雅黑" panose="020B0503020204020204" pitchFamily="34" charset="-122"/>
              <a:ea typeface="微软雅黑" panose="020B0503020204020204" pitchFamily="34" charset="-122"/>
            </a:endParaRPr>
          </a:p>
        </p:txBody>
      </p:sp>
      <p:pic>
        <p:nvPicPr>
          <p:cNvPr id="80" name="Picture 23"/>
          <p:cNvPicPr>
            <a:picLocks noChangeAspect="1" noChangeArrowheads="1"/>
          </p:cNvPicPr>
          <p:nvPr/>
        </p:nvPicPr>
        <p:blipFill>
          <a:blip r:embed="rId6" cstate="print"/>
          <a:srcRect/>
          <a:stretch>
            <a:fillRect/>
          </a:stretch>
        </p:blipFill>
        <p:spPr bwMode="auto">
          <a:xfrm>
            <a:off x="9022823" y="4363126"/>
            <a:ext cx="804256" cy="1156150"/>
          </a:xfrm>
          <a:prstGeom prst="rect">
            <a:avLst/>
          </a:prstGeom>
          <a:noFill/>
          <a:ln>
            <a:no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10"/>
          <p:cNvSpPr txBox="1">
            <a:spLocks noChangeArrowheads="1"/>
          </p:cNvSpPr>
          <p:nvPr/>
        </p:nvSpPr>
        <p:spPr bwMode="auto">
          <a:xfrm>
            <a:off x="8524141" y="5757713"/>
            <a:ext cx="1733219"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en-US" altLang="en-US" sz="2000" dirty="0">
                <a:latin typeface="微软雅黑" panose="020B0503020204020204" pitchFamily="34" charset="-122"/>
                <a:ea typeface="微软雅黑" panose="020B0503020204020204" pitchFamily="34" charset="-122"/>
              </a:rPr>
              <a:t>能源监测器</a:t>
            </a:r>
            <a:endParaRPr lang="en-US" altLang="en-US" sz="2000" dirty="0">
              <a:latin typeface="微软雅黑" panose="020B0503020204020204" pitchFamily="34" charset="-122"/>
              <a:ea typeface="微软雅黑" panose="020B0503020204020204" pitchFamily="34" charset="-122"/>
            </a:endParaRPr>
          </a:p>
        </p:txBody>
      </p:sp>
      <p:pic>
        <p:nvPicPr>
          <p:cNvPr id="83" name="Picture 1"/>
          <p:cNvPicPr>
            <a:picLocks noChangeAspect="1"/>
          </p:cNvPicPr>
          <p:nvPr/>
        </p:nvPicPr>
        <p:blipFill>
          <a:blip r:embed="rId7" cstate="print"/>
          <a:srcRect/>
          <a:stretch>
            <a:fillRect/>
          </a:stretch>
        </p:blipFill>
        <p:spPr bwMode="auto">
          <a:xfrm>
            <a:off x="4476588" y="4268546"/>
            <a:ext cx="1232110" cy="1345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Text Box 8"/>
          <p:cNvSpPr txBox="1">
            <a:spLocks noChangeArrowheads="1"/>
          </p:cNvSpPr>
          <p:nvPr/>
        </p:nvSpPr>
        <p:spPr bwMode="auto">
          <a:xfrm>
            <a:off x="4515849" y="5757713"/>
            <a:ext cx="1305578" cy="40011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sym typeface="+mn-ea"/>
              </a:rPr>
              <a:t>感应床垫</a:t>
            </a:r>
            <a:endParaRPr lang="en-US" altLang="en-US" sz="2000" dirty="0">
              <a:latin typeface="微软雅黑" panose="020B0503020204020204" pitchFamily="34" charset="-122"/>
              <a:ea typeface="微软雅黑" panose="020B0503020204020204" pitchFamily="34" charset="-122"/>
              <a:sym typeface="+mn-ea"/>
            </a:endParaRPr>
          </a:p>
        </p:txBody>
      </p:sp>
      <p:pic>
        <p:nvPicPr>
          <p:cNvPr id="86" name="Picture 23"/>
          <p:cNvPicPr>
            <a:picLocks noChangeAspect="1"/>
          </p:cNvPicPr>
          <p:nvPr/>
        </p:nvPicPr>
        <p:blipFill>
          <a:blip r:embed="rId8" cstate="print"/>
          <a:stretch>
            <a:fillRect/>
          </a:stretch>
        </p:blipFill>
        <p:spPr>
          <a:xfrm>
            <a:off x="1304422" y="2457600"/>
            <a:ext cx="526028" cy="1001367"/>
          </a:xfrm>
          <a:prstGeom prst="rect">
            <a:avLst/>
          </a:prstGeom>
        </p:spPr>
      </p:pic>
      <p:sp>
        <p:nvSpPr>
          <p:cNvPr id="87" name="Text Box 8"/>
          <p:cNvSpPr txBox="1">
            <a:spLocks noChangeArrowheads="1"/>
          </p:cNvSpPr>
          <p:nvPr/>
        </p:nvSpPr>
        <p:spPr bwMode="auto">
          <a:xfrm>
            <a:off x="964960" y="3448039"/>
            <a:ext cx="12481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智能音箱</a:t>
            </a:r>
            <a:endParaRPr lang="zh-CN" altLang="en-US" sz="2000" dirty="0">
              <a:latin typeface="微软雅黑" panose="020B0503020204020204" pitchFamily="34" charset="-122"/>
              <a:ea typeface="微软雅黑" panose="020B0503020204020204" pitchFamily="34" charset="-122"/>
            </a:endParaRPr>
          </a:p>
        </p:txBody>
      </p:sp>
      <p:grpSp>
        <p:nvGrpSpPr>
          <p:cNvPr id="90" name="Group 26"/>
          <p:cNvGrpSpPr/>
          <p:nvPr/>
        </p:nvGrpSpPr>
        <p:grpSpPr>
          <a:xfrm>
            <a:off x="6211242" y="2635355"/>
            <a:ext cx="2163652" cy="645857"/>
            <a:chOff x="1382479" y="5420084"/>
            <a:chExt cx="2587556" cy="821190"/>
          </a:xfrm>
          <a:effectLst>
            <a:outerShdw blurRad="50800" dist="38100" dir="8100000" algn="tr" rotWithShape="0">
              <a:prstClr val="black">
                <a:alpha val="40000"/>
              </a:prstClr>
            </a:outerShdw>
          </a:effectLst>
        </p:grpSpPr>
        <p:pic>
          <p:nvPicPr>
            <p:cNvPr id="91" name="Picture 28"/>
            <p:cNvPicPr>
              <a:picLocks noChangeAspect="1"/>
            </p:cNvPicPr>
            <p:nvPr/>
          </p:nvPicPr>
          <p:blipFill>
            <a:blip r:embed="rId9" cstate="print"/>
            <a:stretch>
              <a:fillRect/>
            </a:stretch>
          </p:blipFill>
          <p:spPr bwMode="auto">
            <a:xfrm>
              <a:off x="1382479" y="5420084"/>
              <a:ext cx="1476590" cy="82119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2" name="Picture 29"/>
            <p:cNvPicPr>
              <a:picLocks noChangeAspect="1"/>
            </p:cNvPicPr>
            <p:nvPr/>
          </p:nvPicPr>
          <p:blipFill rotWithShape="1">
            <a:blip r:embed="rId10" cstate="print"/>
            <a:srcRect/>
            <a:stretch>
              <a:fillRect/>
            </a:stretch>
          </p:blipFill>
          <p:spPr>
            <a:xfrm>
              <a:off x="2859067" y="5420084"/>
              <a:ext cx="1110968" cy="821190"/>
            </a:xfrm>
            <a:prstGeom prst="rect">
              <a:avLst/>
            </a:prstGeom>
          </p:spPr>
        </p:pic>
      </p:grpSp>
      <p:sp>
        <p:nvSpPr>
          <p:cNvPr id="93" name="Text Box 8"/>
          <p:cNvSpPr txBox="1">
            <a:spLocks noChangeArrowheads="1"/>
          </p:cNvSpPr>
          <p:nvPr/>
        </p:nvSpPr>
        <p:spPr bwMode="auto">
          <a:xfrm>
            <a:off x="6247588" y="3448039"/>
            <a:ext cx="22010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rPr>
              <a:t>起搏器和监护仪</a:t>
            </a:r>
            <a:endParaRPr lang="en-US" altLang="en-US" sz="2000" dirty="0">
              <a:latin typeface="微软雅黑" panose="020B0503020204020204" pitchFamily="34" charset="-122"/>
              <a:ea typeface="微软雅黑" panose="020B0503020204020204" pitchFamily="34" charset="-122"/>
            </a:endParaRPr>
          </a:p>
        </p:txBody>
      </p:sp>
      <p:pic>
        <p:nvPicPr>
          <p:cNvPr id="95" name="Picture 33"/>
          <p:cNvPicPr>
            <a:picLocks noChangeAspect="1"/>
          </p:cNvPicPr>
          <p:nvPr/>
        </p:nvPicPr>
        <p:blipFill>
          <a:blip r:embed="rId11"/>
          <a:stretch>
            <a:fillRect/>
          </a:stretch>
        </p:blipFill>
        <p:spPr>
          <a:xfrm>
            <a:off x="4300929" y="2627697"/>
            <a:ext cx="1696157" cy="661172"/>
          </a:xfrm>
          <a:prstGeom prst="rect">
            <a:avLst/>
          </a:prstGeom>
        </p:spPr>
      </p:pic>
      <p:sp>
        <p:nvSpPr>
          <p:cNvPr id="96" name="Text Box 10"/>
          <p:cNvSpPr txBox="1">
            <a:spLocks noChangeArrowheads="1"/>
          </p:cNvSpPr>
          <p:nvPr/>
        </p:nvSpPr>
        <p:spPr bwMode="auto">
          <a:xfrm>
            <a:off x="4472770" y="3448039"/>
            <a:ext cx="1471992" cy="40011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sym typeface="+mn-ea"/>
              </a:rPr>
              <a:t>AR 眼镜</a:t>
            </a:r>
            <a:endParaRPr lang="en-US" altLang="en-US" sz="2000" dirty="0">
              <a:latin typeface="微软雅黑" panose="020B0503020204020204" pitchFamily="34" charset="-122"/>
              <a:ea typeface="微软雅黑" panose="020B0503020204020204" pitchFamily="34" charset="-122"/>
              <a:sym typeface="+mn-ea"/>
            </a:endParaRPr>
          </a:p>
        </p:txBody>
      </p:sp>
      <p:pic>
        <p:nvPicPr>
          <p:cNvPr id="98" name="Picture 31"/>
          <p:cNvPicPr>
            <a:picLocks noChangeAspect="1"/>
          </p:cNvPicPr>
          <p:nvPr/>
        </p:nvPicPr>
        <p:blipFill>
          <a:blip r:embed="rId12" cstate="print"/>
          <a:stretch>
            <a:fillRect/>
          </a:stretch>
        </p:blipFill>
        <p:spPr>
          <a:xfrm>
            <a:off x="998809" y="4378559"/>
            <a:ext cx="1250266" cy="1125284"/>
          </a:xfrm>
          <a:prstGeom prst="rect">
            <a:avLst/>
          </a:prstGeom>
        </p:spPr>
      </p:pic>
      <p:sp>
        <p:nvSpPr>
          <p:cNvPr id="99" name="Text Box 10"/>
          <p:cNvSpPr txBox="1">
            <a:spLocks noChangeArrowheads="1"/>
          </p:cNvSpPr>
          <p:nvPr/>
        </p:nvSpPr>
        <p:spPr bwMode="auto">
          <a:xfrm>
            <a:off x="840991" y="5757713"/>
            <a:ext cx="1496124" cy="398772"/>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sym typeface="+mn-ea"/>
              </a:rPr>
              <a:t>智能手环</a:t>
            </a:r>
            <a:endParaRPr lang="en-US" altLang="en-US" sz="2000" dirty="0">
              <a:latin typeface="微软雅黑" panose="020B0503020204020204" pitchFamily="34" charset="-122"/>
              <a:ea typeface="微软雅黑" panose="020B0503020204020204" pitchFamily="34" charset="-122"/>
              <a:sym typeface="+mn-ea"/>
            </a:endParaRPr>
          </a:p>
        </p:txBody>
      </p:sp>
      <p:pic>
        <p:nvPicPr>
          <p:cNvPr id="101" name="Picture 53"/>
          <p:cNvPicPr>
            <a:picLocks noChangeAspect="1"/>
          </p:cNvPicPr>
          <p:nvPr/>
        </p:nvPicPr>
        <p:blipFill>
          <a:blip r:embed="rId13" cstate="print"/>
          <a:stretch>
            <a:fillRect/>
          </a:stretch>
        </p:blipFill>
        <p:spPr>
          <a:xfrm>
            <a:off x="10395478" y="2507388"/>
            <a:ext cx="1096440" cy="901791"/>
          </a:xfrm>
          <a:prstGeom prst="rect">
            <a:avLst/>
          </a:prstGeom>
        </p:spPr>
      </p:pic>
      <p:pic>
        <p:nvPicPr>
          <p:cNvPr id="103" name="Picture 46"/>
          <p:cNvPicPr>
            <a:picLocks noChangeAspect="1"/>
          </p:cNvPicPr>
          <p:nvPr/>
        </p:nvPicPr>
        <p:blipFill>
          <a:blip r:embed="rId14" cstate="print"/>
          <a:stretch>
            <a:fillRect/>
          </a:stretch>
        </p:blipFill>
        <p:spPr>
          <a:xfrm>
            <a:off x="6554541" y="4429714"/>
            <a:ext cx="1647342" cy="1022974"/>
          </a:xfrm>
          <a:prstGeom prst="rect">
            <a:avLst/>
          </a:prstGeom>
        </p:spPr>
      </p:pic>
      <p:sp>
        <p:nvSpPr>
          <p:cNvPr id="104" name="TextBox 49"/>
          <p:cNvSpPr txBox="1"/>
          <p:nvPr/>
        </p:nvSpPr>
        <p:spPr>
          <a:xfrm>
            <a:off x="6733311" y="5757713"/>
            <a:ext cx="1266850" cy="400110"/>
          </a:xfrm>
          <a:prstGeom prst="rect">
            <a:avLst/>
          </a:prstGeom>
          <a:noFill/>
        </p:spPr>
        <p:txBody>
          <a:bodyPr wrap="square" rtlCol="0">
            <a:spAutoFit/>
          </a:bodyPr>
          <a:lstStyle/>
          <a:p>
            <a:pPr algn="ctr">
              <a:buClrTx/>
              <a:buSzTx/>
              <a:buFontTx/>
            </a:pPr>
            <a:r>
              <a:rPr lang="en-US" altLang="en-US" sz="2000" dirty="0" err="1">
                <a:latin typeface="微软雅黑" panose="020B0503020204020204" pitchFamily="34" charset="-122"/>
                <a:ea typeface="微软雅黑" panose="020B0503020204020204" pitchFamily="34" charset="-122"/>
                <a:cs typeface="Arial" panose="020B0604020202020204" pitchFamily="34" charset="0"/>
              </a:rPr>
              <a:t>智能汽车</a:t>
            </a:r>
            <a:endParaRPr lang="en-US" altLang="en-US"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06" name="TextBox 55"/>
          <p:cNvSpPr txBox="1"/>
          <p:nvPr/>
        </p:nvSpPr>
        <p:spPr>
          <a:xfrm>
            <a:off x="10382035" y="3448039"/>
            <a:ext cx="1123326" cy="398748"/>
          </a:xfrm>
          <a:prstGeom prst="rect">
            <a:avLst/>
          </a:prstGeom>
          <a:noFill/>
        </p:spPr>
        <p:txBody>
          <a:bodyPr wrap="square" rtlCol="0">
            <a:spAutoFit/>
          </a:bodyPr>
          <a:lstStyle/>
          <a:p>
            <a:pPr algn="ctr">
              <a:buClrTx/>
              <a:buSzTx/>
              <a:buFontTx/>
            </a:pPr>
            <a:r>
              <a:rPr lang="en-US" altLang="en-US" sz="2000" dirty="0">
                <a:latin typeface="微软雅黑" panose="020B0503020204020204" pitchFamily="34" charset="-122"/>
                <a:ea typeface="微软雅黑" panose="020B0503020204020204" pitchFamily="34" charset="-122"/>
                <a:cs typeface="Arial" panose="020B0604020202020204" pitchFamily="34" charset="0"/>
              </a:rPr>
              <a:t>自行车</a:t>
            </a:r>
            <a:endParaRPr lang="en-US" altLang="en-US"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08" name="文本框 107"/>
          <p:cNvSpPr txBox="1"/>
          <p:nvPr/>
        </p:nvSpPr>
        <p:spPr>
          <a:xfrm>
            <a:off x="2438719" y="5757713"/>
            <a:ext cx="1740390" cy="400110"/>
          </a:xfrm>
          <a:prstGeom prst="rect">
            <a:avLst/>
          </a:prstGeom>
          <a:noFill/>
        </p:spPr>
        <p:txBody>
          <a:bodyPr vert="horz" wrap="square" lIns="91440" tIns="45720" rIns="91440" bIns="45720" rtlCol="0">
            <a:spAutoFit/>
          </a:bodyPr>
          <a:lstStyle/>
          <a:p>
            <a:pPr lvl="0" indent="-228600" algn="ctr">
              <a:spcBef>
                <a:spcPts val="600"/>
              </a:spcBef>
              <a:buClrTx/>
              <a:buSzTx/>
              <a:buFontTx/>
            </a:pPr>
            <a:r>
              <a:rPr lang="en-US" altLang="en-US" sz="2000" dirty="0" err="1">
                <a:latin typeface="微软雅黑" panose="020B0503020204020204" pitchFamily="34" charset="-122"/>
                <a:ea typeface="微软雅黑" panose="020B0503020204020204" pitchFamily="34" charset="-122"/>
                <a:cs typeface="Arial" panose="020B0604020202020204" pitchFamily="34" charset="0"/>
                <a:sym typeface="+mn-ea"/>
              </a:rPr>
              <a:t>烤面包机</a:t>
            </a:r>
            <a:endParaRPr lang="en-US" altLang="en-US" sz="2000" dirty="0">
              <a:latin typeface="微软雅黑" panose="020B0503020204020204" pitchFamily="34" charset="-122"/>
              <a:ea typeface="微软雅黑" panose="020B0503020204020204" pitchFamily="34" charset="-122"/>
              <a:cs typeface="Arial" panose="020B0604020202020204" pitchFamily="34" charset="0"/>
              <a:sym typeface="+mn-ea"/>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33" name="文本框 32"/>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接入网概述</a:t>
            </a:r>
            <a:endParaRPr lang="zh-CN" altLang="en-US" dirty="0"/>
          </a:p>
        </p:txBody>
      </p:sp>
      <p:sp>
        <p:nvSpPr>
          <p:cNvPr id="3" name="内容占位符 2"/>
          <p:cNvSpPr>
            <a:spLocks noGrp="1"/>
          </p:cNvSpPr>
          <p:nvPr>
            <p:ph idx="1"/>
          </p:nvPr>
        </p:nvSpPr>
        <p:spPr>
          <a:xfrm>
            <a:off x="690741" y="1420951"/>
            <a:ext cx="6507441" cy="4798763"/>
          </a:xfrm>
        </p:spPr>
        <p:txBody>
          <a:bodyPr>
            <a:normAutofit fontScale="92500"/>
          </a:bodyPr>
          <a:lstStyle/>
          <a:p>
            <a:pPr>
              <a:lnSpc>
                <a:spcPct val="110000"/>
              </a:lnSpc>
              <a:spcBef>
                <a:spcPts val="300"/>
              </a:spcBef>
            </a:pPr>
            <a:r>
              <a:rPr lang="zh-CN" altLang="en-US" dirty="0">
                <a:solidFill>
                  <a:srgbClr val="C00000"/>
                </a:solidFill>
                <a:sym typeface="+mn-ea"/>
              </a:rPr>
              <a:t>接入网目标</a:t>
            </a:r>
            <a:endParaRPr lang="en-US" altLang="zh-CN" dirty="0">
              <a:solidFill>
                <a:srgbClr val="C00000"/>
              </a:solidFill>
              <a:sym typeface="+mn-ea"/>
            </a:endParaRPr>
          </a:p>
          <a:p>
            <a:pPr lvl="1">
              <a:lnSpc>
                <a:spcPct val="110000"/>
              </a:lnSpc>
              <a:spcBef>
                <a:spcPts val="300"/>
              </a:spcBef>
            </a:pPr>
            <a:r>
              <a:rPr lang="zh-CN" altLang="en-US" dirty="0">
                <a:sym typeface="+mn-ea"/>
              </a:rPr>
              <a:t>接入网的目标是将主机连接到边缘路由器上</a:t>
            </a:r>
            <a:endParaRPr lang="en-US" altLang="zh-CN" dirty="0">
              <a:sym typeface="+mn-ea"/>
            </a:endParaRPr>
          </a:p>
          <a:p>
            <a:pPr lvl="1">
              <a:lnSpc>
                <a:spcPct val="110000"/>
              </a:lnSpc>
              <a:spcBef>
                <a:spcPts val="300"/>
              </a:spcBef>
            </a:pPr>
            <a:r>
              <a:rPr lang="zh-CN" altLang="en-US" dirty="0">
                <a:solidFill>
                  <a:srgbClr val="C00000"/>
                </a:solidFill>
                <a:sym typeface="+mn-ea"/>
              </a:rPr>
              <a:t>边缘路由器</a:t>
            </a:r>
            <a:r>
              <a:rPr lang="zh-CN" altLang="en-US" dirty="0">
                <a:sym typeface="+mn-ea"/>
              </a:rPr>
              <a:t>是端系统</a:t>
            </a:r>
            <a:r>
              <a:rPr lang="en-US" altLang="zh-CN" dirty="0">
                <a:sym typeface="+mn-ea"/>
              </a:rPr>
              <a:t>Host</a:t>
            </a:r>
            <a:r>
              <a:rPr lang="zh-CN" altLang="en-US" dirty="0">
                <a:sym typeface="+mn-ea"/>
              </a:rPr>
              <a:t>去往任何其他远程端系统的路径上的第一台路由器</a:t>
            </a:r>
            <a:endParaRPr lang="en-US" altLang="zh-CN" dirty="0">
              <a:sym typeface="+mn-ea"/>
            </a:endParaRPr>
          </a:p>
          <a:p>
            <a:pPr>
              <a:lnSpc>
                <a:spcPct val="110000"/>
              </a:lnSpc>
              <a:spcBef>
                <a:spcPts val="300"/>
              </a:spcBef>
            </a:pPr>
            <a:r>
              <a:rPr lang="zh-CN" altLang="en-US" dirty="0">
                <a:sym typeface="+mn-ea"/>
              </a:rPr>
              <a:t>如何将终端系统连接到边缘路由器？</a:t>
            </a:r>
            <a:endParaRPr lang="zh-CN" altLang="en-US" dirty="0"/>
          </a:p>
          <a:p>
            <a:pPr lvl="1">
              <a:lnSpc>
                <a:spcPct val="110000"/>
              </a:lnSpc>
              <a:spcBef>
                <a:spcPts val="300"/>
              </a:spcBef>
            </a:pPr>
            <a:r>
              <a:rPr lang="zh-CN" altLang="en-US" dirty="0">
                <a:sym typeface="+mn-ea"/>
              </a:rPr>
              <a:t>有线网络接入技术：光纤到户</a:t>
            </a:r>
            <a:r>
              <a:rPr lang="en-US" altLang="zh-CN" dirty="0">
                <a:sym typeface="+mn-ea"/>
              </a:rPr>
              <a:t>FTTH</a:t>
            </a:r>
            <a:r>
              <a:rPr lang="zh-CN" altLang="en-US" dirty="0">
                <a:sym typeface="+mn-ea"/>
              </a:rPr>
              <a:t>，以太网，同轴电缆，双绞线的</a:t>
            </a:r>
            <a:r>
              <a:rPr lang="en-US" altLang="zh-CN" dirty="0">
                <a:sym typeface="+mn-ea"/>
              </a:rPr>
              <a:t>DSL</a:t>
            </a:r>
            <a:r>
              <a:rPr lang="zh-CN" altLang="en-US" dirty="0">
                <a:sym typeface="+mn-ea"/>
              </a:rPr>
              <a:t>，古老的拨号上网</a:t>
            </a:r>
            <a:endParaRPr lang="en-US" altLang="zh-CN" dirty="0">
              <a:sym typeface="+mn-ea"/>
            </a:endParaRPr>
          </a:p>
          <a:p>
            <a:pPr lvl="1">
              <a:lnSpc>
                <a:spcPct val="110000"/>
              </a:lnSpc>
              <a:spcBef>
                <a:spcPts val="300"/>
              </a:spcBef>
            </a:pPr>
            <a:r>
              <a:rPr lang="zh-CN" altLang="en-US" dirty="0">
                <a:sym typeface="+mn-ea"/>
              </a:rPr>
              <a:t>无线网络接入技术：WiFi、4G/5G，卫星广域覆盖</a:t>
            </a:r>
            <a:endParaRPr lang="en-US" altLang="zh-CN" dirty="0">
              <a:sym typeface="+mn-ea"/>
            </a:endParaRPr>
          </a:p>
          <a:p>
            <a:pPr lvl="1">
              <a:lnSpc>
                <a:spcPct val="110000"/>
              </a:lnSpc>
              <a:spcBef>
                <a:spcPts val="300"/>
              </a:spcBef>
            </a:pPr>
            <a:r>
              <a:rPr lang="zh-CN" altLang="en-US" dirty="0">
                <a:sym typeface="+mn-ea"/>
              </a:rPr>
              <a:t>接入场景：住宅（家庭）接入网，机构（学校、公司）接入网，移动接入网络（WiFi、4G/5G）</a:t>
            </a:r>
            <a:endParaRPr lang="zh-CN" altLang="en-US" dirty="0">
              <a:sym typeface="+mn-ea"/>
            </a:endParaRPr>
          </a:p>
          <a:p>
            <a:pPr marL="0" indent="0">
              <a:lnSpc>
                <a:spcPct val="110000"/>
              </a:lnSpc>
              <a:spcBef>
                <a:spcPts val="300"/>
              </a:spcBef>
              <a:buNone/>
            </a:pPr>
            <a:endParaRPr lang="zh-CN" altLang="en-US" dirty="0"/>
          </a:p>
          <a:p>
            <a:pPr marL="0" indent="0">
              <a:lnSpc>
                <a:spcPct val="110000"/>
              </a:lnSpc>
              <a:spcBef>
                <a:spcPts val="300"/>
              </a:spcBef>
              <a:buNone/>
            </a:pPr>
            <a:endParaRPr lang="zh-CN" altLang="en-US" dirty="0"/>
          </a:p>
        </p:txBody>
      </p:sp>
      <p:sp>
        <p:nvSpPr>
          <p:cNvPr id="7" name="文本框 6"/>
          <p:cNvSpPr txBox="1"/>
          <p:nvPr/>
        </p:nvSpPr>
        <p:spPr>
          <a:xfrm>
            <a:off x="1419101" y="5935175"/>
            <a:ext cx="5631180" cy="461665"/>
          </a:xfrm>
          <a:prstGeom prst="rect">
            <a:avLst/>
          </a:prstGeom>
          <a:solidFill>
            <a:schemeClr val="bg1">
              <a:alpha val="68000"/>
            </a:schemeClr>
          </a:solidFill>
          <a:ln w="12700" cmpd="sng">
            <a:solidFill>
              <a:schemeClr val="tx1"/>
            </a:solidFill>
            <a:prstDash val="solid"/>
          </a:ln>
        </p:spPr>
        <p:txBody>
          <a:bodyPr wrap="square" rtlCol="0">
            <a:spAutoFit/>
          </a:bodyPr>
          <a:lstStyle/>
          <a:p>
            <a:pPr marL="0" indent="0" algn="ctr">
              <a:buNone/>
            </a:pPr>
            <a:r>
              <a:rPr lang="zh-CN" altLang="en-US" sz="2400" dirty="0">
                <a:solidFill>
                  <a:srgbClr val="C00000"/>
                </a:solidFill>
                <a:latin typeface="微软雅黑" panose="020B0503020204020204" pitchFamily="34" charset="-122"/>
                <a:ea typeface="微软雅黑" panose="020B0503020204020204" pitchFamily="34" charset="-122"/>
                <a:sym typeface="+mn-ea"/>
              </a:rPr>
              <a:t>各种异构网络通过边缘路由器接入</a:t>
            </a:r>
            <a:endParaRPr lang="zh-CN" altLang="en-US" sz="2400" dirty="0">
              <a:solidFill>
                <a:srgbClr val="C00000"/>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7620364" y="1397396"/>
            <a:ext cx="4161405" cy="4798764"/>
            <a:chOff x="7543553" y="1481714"/>
            <a:chExt cx="4161405" cy="4798764"/>
          </a:xfrm>
        </p:grpSpPr>
        <p:pic>
          <p:nvPicPr>
            <p:cNvPr id="11" name="图片 10" descr="图示, 工程绘图&#10;&#10;描述已自动生成"/>
            <p:cNvPicPr>
              <a:picLocks noChangeAspect="1"/>
            </p:cNvPicPr>
            <p:nvPr/>
          </p:nvPicPr>
          <p:blipFill>
            <a:blip r:embed="rId1"/>
            <a:stretch>
              <a:fillRect/>
            </a:stretch>
          </p:blipFill>
          <p:spPr>
            <a:xfrm>
              <a:off x="7543553" y="1481714"/>
              <a:ext cx="4161405" cy="4798764"/>
            </a:xfrm>
            <a:prstGeom prst="rect">
              <a:avLst/>
            </a:prstGeom>
          </p:spPr>
        </p:pic>
        <p:sp>
          <p:nvSpPr>
            <p:cNvPr id="9" name="Rectangle 8"/>
            <p:cNvSpPr/>
            <p:nvPr/>
          </p:nvSpPr>
          <p:spPr>
            <a:xfrm>
              <a:off x="9640246" y="1604514"/>
              <a:ext cx="1861014" cy="1579880"/>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8"/>
            <p:cNvSpPr/>
            <p:nvPr/>
          </p:nvSpPr>
          <p:spPr>
            <a:xfrm>
              <a:off x="8890979" y="3178484"/>
              <a:ext cx="2089785" cy="1579880"/>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椭圆 21"/>
            <p:cNvSpPr/>
            <p:nvPr/>
          </p:nvSpPr>
          <p:spPr>
            <a:xfrm>
              <a:off x="8451592" y="2553095"/>
              <a:ext cx="893234" cy="783198"/>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p:cNvSpPr/>
            <p:nvPr/>
          </p:nvSpPr>
          <p:spPr>
            <a:xfrm>
              <a:off x="8196778" y="3801376"/>
              <a:ext cx="585011" cy="46415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10782402" y="4223655"/>
              <a:ext cx="692755"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10686761" y="3446327"/>
              <a:ext cx="821946"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8440258" y="4838920"/>
              <a:ext cx="1038737" cy="54060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9640245" y="4829983"/>
              <a:ext cx="928264" cy="60137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8" name="文本框 1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接入网：光纤到户</a:t>
            </a:r>
            <a:r>
              <a:rPr lang="en-US" altLang="zh-CN" dirty="0">
                <a:sym typeface="+mn-ea"/>
              </a:rPr>
              <a:t>FTTH</a:t>
            </a:r>
            <a:endParaRPr kumimoji="1" lang="zh-CN" altLang="en-US" dirty="0"/>
          </a:p>
        </p:txBody>
      </p:sp>
      <p:sp>
        <p:nvSpPr>
          <p:cNvPr id="6" name="内容占位符 5"/>
          <p:cNvSpPr>
            <a:spLocks noGrp="1"/>
          </p:cNvSpPr>
          <p:nvPr>
            <p:ph idx="1"/>
          </p:nvPr>
        </p:nvSpPr>
        <p:spPr>
          <a:xfrm>
            <a:off x="849773" y="1452885"/>
            <a:ext cx="7009435" cy="4586694"/>
          </a:xfrm>
        </p:spPr>
        <p:txBody>
          <a:bodyPr>
            <a:normAutofit/>
          </a:bodyPr>
          <a:lstStyle/>
          <a:p>
            <a:r>
              <a:rPr lang="en-US" altLang="zh-CN" sz="2400" dirty="0" err="1">
                <a:sym typeface="+mn-ea"/>
              </a:rPr>
              <a:t>光纤到户</a:t>
            </a:r>
            <a:r>
              <a:rPr lang="en-US" altLang="zh-CN" sz="2400" dirty="0" err="1"/>
              <a:t>FTTH</a:t>
            </a:r>
            <a:endParaRPr lang="en-US" altLang="zh-CN" sz="2400" dirty="0">
              <a:sym typeface="+mn-ea"/>
            </a:endParaRPr>
          </a:p>
          <a:p>
            <a:pPr lvl="1"/>
            <a:r>
              <a:rPr lang="en-US" altLang="zh-CN" sz="2000" dirty="0">
                <a:sym typeface="+mn-ea"/>
              </a:rPr>
              <a:t>FTTH:</a:t>
            </a:r>
            <a:r>
              <a:rPr lang="zh-CN" altLang="en-US" sz="2000" dirty="0">
                <a:sym typeface="+mn-ea"/>
              </a:rPr>
              <a:t> </a:t>
            </a:r>
            <a:r>
              <a:rPr lang="en-US" altLang="zh-CN" sz="2000" dirty="0">
                <a:sym typeface="+mn-ea"/>
              </a:rPr>
              <a:t>Fiber To The Home</a:t>
            </a:r>
            <a:endParaRPr lang="en-US" altLang="zh-CN" sz="2000" dirty="0">
              <a:sym typeface="+mn-ea"/>
            </a:endParaRPr>
          </a:p>
          <a:p>
            <a:pPr lvl="1"/>
            <a:r>
              <a:rPr lang="zh-CN" altLang="en-US" sz="2000" dirty="0">
                <a:sym typeface="+mn-ea"/>
              </a:rPr>
              <a:t>我国及全球先进地区普遍采用的</a:t>
            </a:r>
            <a:r>
              <a:rPr lang="en-US" altLang="zh-CN" sz="2000" dirty="0" err="1"/>
              <a:t>光纤通信的传输方法</a:t>
            </a:r>
            <a:endParaRPr lang="en-US" altLang="zh-CN" sz="2000" dirty="0"/>
          </a:p>
          <a:p>
            <a:pPr lvl="1"/>
            <a:r>
              <a:rPr lang="zh-CN" altLang="en-US" sz="2000" dirty="0"/>
              <a:t>分为两类：有源光纤网络</a:t>
            </a:r>
            <a:r>
              <a:rPr lang="en-US" altLang="zh-CN" sz="2000" dirty="0"/>
              <a:t>AON</a:t>
            </a:r>
            <a:r>
              <a:rPr lang="zh-CN" altLang="en-US" sz="2000" dirty="0"/>
              <a:t>和无源光纤网络</a:t>
            </a:r>
            <a:r>
              <a:rPr lang="en-US" altLang="zh-CN" sz="2000" dirty="0"/>
              <a:t>PON</a:t>
            </a:r>
            <a:endParaRPr lang="en-US" altLang="zh-CN" sz="2000" dirty="0"/>
          </a:p>
          <a:p>
            <a:pPr lvl="1"/>
            <a:r>
              <a:rPr lang="zh-CN" altLang="en-US" sz="2000" dirty="0"/>
              <a:t>带宽大、线路稳定</a:t>
            </a:r>
            <a:endParaRPr lang="en-US" altLang="zh-CN" sz="2000" dirty="0"/>
          </a:p>
          <a:p>
            <a:r>
              <a:rPr lang="zh-CN" altLang="en-US" sz="2400" dirty="0"/>
              <a:t>无源光纤网络</a:t>
            </a:r>
            <a:r>
              <a:rPr lang="en-US" altLang="zh-CN" sz="2400" dirty="0"/>
              <a:t>PON</a:t>
            </a:r>
            <a:endParaRPr lang="en-US" altLang="zh-CN" sz="2400" dirty="0"/>
          </a:p>
          <a:p>
            <a:pPr lvl="1"/>
            <a:r>
              <a:rPr lang="en-US" altLang="zh-CN" sz="2000" dirty="0"/>
              <a:t>PON:</a:t>
            </a:r>
            <a:r>
              <a:rPr lang="zh-CN" altLang="en-US" sz="2000" dirty="0"/>
              <a:t> </a:t>
            </a:r>
            <a:r>
              <a:rPr lang="en-US" altLang="zh-CN" sz="2000" dirty="0"/>
              <a:t>Passive</a:t>
            </a:r>
            <a:r>
              <a:rPr lang="zh-CN" altLang="en-US" sz="2000" dirty="0"/>
              <a:t> </a:t>
            </a:r>
            <a:r>
              <a:rPr lang="en-US" altLang="zh-CN" sz="2000" dirty="0"/>
              <a:t>Optical</a:t>
            </a:r>
            <a:r>
              <a:rPr lang="zh-CN" altLang="en-US" sz="2000" dirty="0"/>
              <a:t> </a:t>
            </a:r>
            <a:r>
              <a:rPr lang="en-US" altLang="zh-CN" sz="2000" dirty="0"/>
              <a:t>Network</a:t>
            </a:r>
            <a:endParaRPr lang="en-US" altLang="zh-CN" sz="2000" dirty="0"/>
          </a:p>
          <a:p>
            <a:pPr lvl="1"/>
            <a:r>
              <a:rPr lang="en-US" altLang="zh-CN" sz="2000" dirty="0"/>
              <a:t>OLT</a:t>
            </a:r>
            <a:r>
              <a:rPr lang="zh-CN" altLang="en-US" sz="2000" dirty="0"/>
              <a:t>：局端的光线路终端</a:t>
            </a:r>
            <a:endParaRPr lang="zh-CN" altLang="en-US" sz="2000" dirty="0"/>
          </a:p>
          <a:p>
            <a:pPr lvl="1"/>
            <a:r>
              <a:rPr lang="en-US" altLang="zh-CN" sz="2000" dirty="0"/>
              <a:t>ONU</a:t>
            </a:r>
            <a:r>
              <a:rPr lang="zh-CN" altLang="en-US" sz="2000" dirty="0"/>
              <a:t>光网络单元（如光猫</a:t>
            </a:r>
            <a:r>
              <a:rPr lang="en-US" altLang="zh-CN" sz="2000" dirty="0"/>
              <a:t>ONT</a:t>
            </a:r>
            <a:r>
              <a:rPr lang="zh-CN" altLang="en-US" sz="2000" dirty="0"/>
              <a:t>）</a:t>
            </a:r>
            <a:endParaRPr lang="en-US" altLang="zh-CN" sz="2000" dirty="0"/>
          </a:p>
          <a:p>
            <a:pPr lvl="1"/>
            <a:r>
              <a:rPr lang="zh-CN" altLang="en-US" sz="2000" dirty="0"/>
              <a:t>光猫</a:t>
            </a:r>
            <a:r>
              <a:rPr lang="en-US" altLang="zh-CN" sz="2000" dirty="0"/>
              <a:t>ONT</a:t>
            </a:r>
            <a:r>
              <a:rPr lang="zh-CN" altLang="en-US" sz="2000" dirty="0"/>
              <a:t>通过一个或多个无源</a:t>
            </a:r>
            <a:br>
              <a:rPr lang="en-US" altLang="zh-CN" sz="2000" dirty="0"/>
            </a:br>
            <a:r>
              <a:rPr lang="zh-CN" altLang="en-US" sz="2000" dirty="0"/>
              <a:t>分光器，连接到局端的光线路</a:t>
            </a:r>
            <a:br>
              <a:rPr lang="en-US" altLang="zh-CN" sz="2000" dirty="0"/>
            </a:br>
            <a:r>
              <a:rPr lang="zh-CN" altLang="en-US" sz="2000" dirty="0"/>
              <a:t>终端</a:t>
            </a:r>
            <a:r>
              <a:rPr lang="en-US" altLang="zh-CN" sz="2000" dirty="0"/>
              <a:t>OLT</a:t>
            </a:r>
            <a:endParaRPr lang="zh-CN" altLang="en-US" sz="2000" dirty="0"/>
          </a:p>
        </p:txBody>
      </p:sp>
      <p:pic>
        <p:nvPicPr>
          <p:cNvPr id="15364" name="Picture 4"/>
          <p:cNvPicPr>
            <a:picLocks noChangeAspect="1" noChangeArrowheads="1"/>
          </p:cNvPicPr>
          <p:nvPr/>
        </p:nvPicPr>
        <p:blipFill>
          <a:blip r:embed="rId1"/>
          <a:srcRect/>
          <a:stretch>
            <a:fillRect/>
          </a:stretch>
        </p:blipFill>
        <p:spPr bwMode="auto">
          <a:xfrm>
            <a:off x="5566083" y="3155963"/>
            <a:ext cx="5669197" cy="3092289"/>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7106856" y="3429000"/>
            <a:ext cx="3125164" cy="369332"/>
          </a:xfrm>
          <a:prstGeom prst="rect">
            <a:avLst/>
          </a:prstGeom>
          <a:solidFill>
            <a:schemeClr val="bg1"/>
          </a:solid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无源光纤网络</a:t>
            </a:r>
            <a:r>
              <a:rPr lang="en-US" altLang="zh-CN" dirty="0">
                <a:latin typeface="微软雅黑" panose="020B0503020204020204" pitchFamily="34" charset="-122"/>
                <a:ea typeface="微软雅黑" panose="020B0503020204020204" pitchFamily="34" charset="-122"/>
              </a:rPr>
              <a:t>PON</a:t>
            </a:r>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8513952" y="1888926"/>
            <a:ext cx="2179315" cy="830997"/>
          </a:xfrm>
          <a:prstGeom prst="rect">
            <a:avLst/>
          </a:prstGeom>
          <a:ln>
            <a:solidFill>
              <a:srgbClr val="C00000"/>
            </a:solidFill>
          </a:ln>
        </p:spPr>
        <p:txBody>
          <a:bodyPr wrap="none">
            <a:spAutoFit/>
          </a:bodyPr>
          <a:lstStyle/>
          <a:p>
            <a:pPr algn="ctr"/>
            <a:r>
              <a:rPr lang="zh-CN" altLang="en-US" sz="2400" dirty="0">
                <a:solidFill>
                  <a:prstClr val="black"/>
                </a:solidFill>
                <a:latin typeface="微软雅黑" panose="020B0503020204020204" pitchFamily="34" charset="-122"/>
                <a:ea typeface="微软雅黑" panose="020B0503020204020204" pitchFamily="34" charset="-122"/>
              </a:rPr>
              <a:t>我国</a:t>
            </a:r>
            <a:r>
              <a:rPr lang="en-US" altLang="zh-CN" sz="2400" dirty="0">
                <a:solidFill>
                  <a:prstClr val="black"/>
                </a:solidFill>
                <a:latin typeface="微软雅黑" panose="020B0503020204020204" pitchFamily="34" charset="-122"/>
                <a:ea typeface="微软雅黑" panose="020B0503020204020204" pitchFamily="34" charset="-122"/>
              </a:rPr>
              <a:t>FTTH</a:t>
            </a:r>
            <a:r>
              <a:rPr lang="zh-CN" altLang="en-US" sz="2400" dirty="0">
                <a:solidFill>
                  <a:prstClr val="black"/>
                </a:solidFill>
                <a:latin typeface="微软雅黑" panose="020B0503020204020204" pitchFamily="34" charset="-122"/>
                <a:ea typeface="微软雅黑" panose="020B0503020204020204" pitchFamily="34" charset="-122"/>
              </a:rPr>
              <a:t>用户</a:t>
            </a:r>
            <a:br>
              <a:rPr lang="en-US" altLang="zh-CN" sz="2400" dirty="0">
                <a:solidFill>
                  <a:prstClr val="black"/>
                </a:solidFill>
                <a:latin typeface="微软雅黑" panose="020B0503020204020204" pitchFamily="34" charset="-122"/>
                <a:ea typeface="微软雅黑" panose="020B0503020204020204" pitchFamily="34" charset="-122"/>
              </a:rPr>
            </a:br>
            <a:r>
              <a:rPr lang="zh-CN" altLang="en-US" sz="2400" dirty="0">
                <a:solidFill>
                  <a:prstClr val="black"/>
                </a:solidFill>
                <a:latin typeface="微软雅黑" panose="020B0503020204020204" pitchFamily="34" charset="-122"/>
                <a:ea typeface="微软雅黑" panose="020B0503020204020204" pitchFamily="34" charset="-122"/>
              </a:rPr>
              <a:t>已接近</a:t>
            </a:r>
            <a:r>
              <a:rPr lang="en-US" altLang="zh-CN" sz="2400" dirty="0">
                <a:solidFill>
                  <a:prstClr val="black"/>
                </a:solidFill>
                <a:latin typeface="微软雅黑" panose="020B0503020204020204" pitchFamily="34" charset="-122"/>
                <a:ea typeface="微软雅黑" panose="020B0503020204020204" pitchFamily="34" charset="-122"/>
              </a:rPr>
              <a:t>5</a:t>
            </a:r>
            <a:r>
              <a:rPr lang="zh-CN" altLang="en-US" sz="2400" dirty="0">
                <a:solidFill>
                  <a:prstClr val="black"/>
                </a:solidFill>
                <a:latin typeface="微软雅黑" panose="020B0503020204020204" pitchFamily="34" charset="-122"/>
                <a:ea typeface="微软雅黑" panose="020B0503020204020204" pitchFamily="34" charset="-122"/>
              </a:rPr>
              <a:t>亿</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接入网：数字用户线</a:t>
            </a:r>
            <a:r>
              <a:rPr lang="en-US" altLang="zh-CN" dirty="0">
                <a:sym typeface="+mn-ea"/>
              </a:rPr>
              <a:t>DSL</a:t>
            </a:r>
            <a:endParaRPr lang="zh-CN" altLang="en-US" dirty="0"/>
          </a:p>
        </p:txBody>
      </p:sp>
      <p:sp>
        <p:nvSpPr>
          <p:cNvPr id="115" name="内容占位符 2"/>
          <p:cNvSpPr>
            <a:spLocks noGrp="1"/>
          </p:cNvSpPr>
          <p:nvPr>
            <p:ph idx="1"/>
          </p:nvPr>
        </p:nvSpPr>
        <p:spPr>
          <a:xfrm>
            <a:off x="838200" y="1510758"/>
            <a:ext cx="9799735" cy="4586694"/>
          </a:xfrm>
        </p:spPr>
        <p:txBody>
          <a:bodyPr>
            <a:normAutofit/>
          </a:bodyPr>
          <a:lstStyle/>
          <a:p>
            <a:pPr>
              <a:buFont typeface="Wingdings" panose="05000000000000000000" charset="0"/>
              <a:buChar char="Ø"/>
            </a:pPr>
            <a:r>
              <a:rPr lang="zh-CN" altLang="en-US" sz="2400" dirty="0">
                <a:sym typeface="+mn-ea"/>
              </a:rPr>
              <a:t>数字用户线</a:t>
            </a:r>
            <a:r>
              <a:rPr lang="en-US" altLang="zh-CN" sz="2400" dirty="0">
                <a:sym typeface="+mn-ea"/>
              </a:rPr>
              <a:t>DSL</a:t>
            </a:r>
            <a:r>
              <a:rPr lang="zh-CN" altLang="en-US" sz="2400" dirty="0">
                <a:sym typeface="+mn-ea"/>
              </a:rPr>
              <a:t>：</a:t>
            </a:r>
            <a:r>
              <a:rPr lang="en-US" altLang="zh-CN" sz="2400" dirty="0">
                <a:sym typeface="+mn-ea"/>
              </a:rPr>
              <a:t>Digital</a:t>
            </a:r>
            <a:r>
              <a:rPr lang="zh-CN" altLang="en-US" sz="2400" dirty="0">
                <a:sym typeface="+mn-ea"/>
              </a:rPr>
              <a:t> </a:t>
            </a:r>
            <a:r>
              <a:rPr lang="en-US" altLang="zh-CN" sz="2400" dirty="0">
                <a:sym typeface="+mn-ea"/>
              </a:rPr>
              <a:t>Subscriber</a:t>
            </a:r>
            <a:r>
              <a:rPr lang="zh-CN" altLang="en-US" sz="2400" dirty="0">
                <a:sym typeface="+mn-ea"/>
              </a:rPr>
              <a:t> </a:t>
            </a:r>
            <a:r>
              <a:rPr lang="en-US" altLang="zh-CN" sz="2400" dirty="0">
                <a:sym typeface="+mn-ea"/>
              </a:rPr>
              <a:t>Line</a:t>
            </a:r>
            <a:endParaRPr lang="en-US" altLang="zh-CN" sz="2400" dirty="0"/>
          </a:p>
          <a:p>
            <a:pPr>
              <a:buFont typeface="Wingdings" panose="05000000000000000000" charset="0"/>
              <a:buChar char="Ø"/>
            </a:pPr>
            <a:r>
              <a:rPr lang="zh-CN" altLang="en-US" sz="2400" dirty="0"/>
              <a:t>使用电话线连接到数字用户线接入复用器</a:t>
            </a:r>
            <a:r>
              <a:rPr lang="en-US" altLang="zh-CN" sz="2400" dirty="0"/>
              <a:t>(</a:t>
            </a:r>
            <a:r>
              <a:rPr lang="zh-CN" altLang="en-US" sz="2400" dirty="0"/>
              <a:t>DSLAM</a:t>
            </a:r>
            <a:r>
              <a:rPr lang="en-US" altLang="zh-CN" sz="2400" dirty="0"/>
              <a:t>)</a:t>
            </a:r>
            <a:endParaRPr lang="zh-CN" altLang="en-US" sz="2400" dirty="0"/>
          </a:p>
          <a:p>
            <a:pPr lvl="1"/>
            <a:r>
              <a:rPr lang="zh-CN" altLang="en-US" sz="2000" dirty="0"/>
              <a:t>DSL电话线上，语音和数据可以同时传输</a:t>
            </a:r>
            <a:endParaRPr lang="en-US" altLang="zh-CN" sz="2000" dirty="0"/>
          </a:p>
          <a:p>
            <a:pPr lvl="1"/>
            <a:r>
              <a:rPr lang="zh-CN" altLang="en-US" sz="2000" dirty="0"/>
              <a:t>数据进入互联网，语音连接到电话网</a:t>
            </a:r>
            <a:endParaRPr lang="zh-CN" altLang="en-US" sz="2000" dirty="0"/>
          </a:p>
          <a:p>
            <a:pPr>
              <a:buFont typeface="Wingdings" panose="05000000000000000000" charset="0"/>
              <a:buChar char="Ø"/>
            </a:pPr>
            <a:r>
              <a:rPr lang="zh-CN" altLang="en-US" sz="2400" dirty="0"/>
              <a:t>上下行速率不对称</a:t>
            </a:r>
            <a:endParaRPr lang="en-US" altLang="zh-CN" sz="2400" dirty="0"/>
          </a:p>
          <a:p>
            <a:pPr lvl="1">
              <a:buFont typeface="Wingdings" panose="05000000000000000000" charset="0"/>
              <a:buChar char="Ø"/>
            </a:pPr>
            <a:r>
              <a:rPr lang="zh-CN" altLang="en-US" sz="2000" dirty="0"/>
              <a:t>24-52 Mbps下行速率，3.5-16 Mbps上行速率</a:t>
            </a:r>
            <a:endParaRPr lang="zh-CN" altLang="en-US" sz="2000" dirty="0"/>
          </a:p>
        </p:txBody>
      </p:sp>
      <p:grpSp>
        <p:nvGrpSpPr>
          <p:cNvPr id="8" name="组合 7"/>
          <p:cNvGrpSpPr/>
          <p:nvPr/>
        </p:nvGrpSpPr>
        <p:grpSpPr>
          <a:xfrm>
            <a:off x="1729621" y="4188172"/>
            <a:ext cx="8732758" cy="2533304"/>
            <a:chOff x="2105191" y="1353015"/>
            <a:chExt cx="6592066" cy="2851985"/>
          </a:xfrm>
        </p:grpSpPr>
        <p:grpSp>
          <p:nvGrpSpPr>
            <p:cNvPr id="6" name="组合 5"/>
            <p:cNvGrpSpPr/>
            <p:nvPr/>
          </p:nvGrpSpPr>
          <p:grpSpPr>
            <a:xfrm>
              <a:off x="2105191" y="1414749"/>
              <a:ext cx="6592066" cy="2790251"/>
              <a:chOff x="2330998" y="1304925"/>
              <a:chExt cx="6592066" cy="2790251"/>
            </a:xfrm>
          </p:grpSpPr>
          <p:sp>
            <p:nvSpPr>
              <p:cNvPr id="133" name="AutoShape 102"/>
              <p:cNvSpPr>
                <a:spLocks noChangeArrowheads="1"/>
              </p:cNvSpPr>
              <p:nvPr/>
            </p:nvSpPr>
            <p:spPr bwMode="auto">
              <a:xfrm>
                <a:off x="2553248" y="1346200"/>
                <a:ext cx="2498725" cy="46831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5" name="组合 4"/>
              <p:cNvGrpSpPr/>
              <p:nvPr/>
            </p:nvGrpSpPr>
            <p:grpSpPr>
              <a:xfrm>
                <a:off x="2330998" y="1304925"/>
                <a:ext cx="6592066" cy="2790251"/>
                <a:chOff x="2330998" y="1304925"/>
                <a:chExt cx="6592066" cy="2790251"/>
              </a:xfrm>
            </p:grpSpPr>
            <p:sp>
              <p:nvSpPr>
                <p:cNvPr id="122" name="Rectangle 90"/>
                <p:cNvSpPr>
                  <a:spLocks noChangeArrowheads="1"/>
                </p:cNvSpPr>
                <p:nvPr/>
              </p:nvSpPr>
              <p:spPr bwMode="auto">
                <a:xfrm>
                  <a:off x="2809153" y="1796098"/>
                  <a:ext cx="1978025" cy="1395412"/>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57" name="Group 156"/>
                <p:cNvGrpSpPr/>
                <p:nvPr/>
              </p:nvGrpSpPr>
              <p:grpSpPr>
                <a:xfrm>
                  <a:off x="6745014" y="2947413"/>
                  <a:ext cx="2178050" cy="1147763"/>
                  <a:chOff x="6634372" y="2940623"/>
                  <a:chExt cx="2178050" cy="1147763"/>
                </a:xfrm>
              </p:grpSpPr>
              <p:sp>
                <p:nvSpPr>
                  <p:cNvPr id="158" name="Freeform 129"/>
                  <p:cNvSpPr/>
                  <p:nvPr/>
                </p:nvSpPr>
                <p:spPr bwMode="auto">
                  <a:xfrm>
                    <a:off x="6634372" y="2940623"/>
                    <a:ext cx="2178050" cy="1147763"/>
                  </a:xfrm>
                  <a:custGeom>
                    <a:avLst/>
                    <a:gdLst>
                      <a:gd name="T0" fmla="*/ 1509012 w 765"/>
                      <a:gd name="T1" fmla="*/ 5729 h 459"/>
                      <a:gd name="T2" fmla="*/ 1027025 w 765"/>
                      <a:gd name="T3" fmla="*/ 40395 h 459"/>
                      <a:gd name="T4" fmla="*/ 340902 w 765"/>
                      <a:gd name="T5" fmla="*/ 58024 h 459"/>
                      <a:gd name="T6" fmla="*/ 49874 w 765"/>
                      <a:gd name="T7" fmla="*/ 194383 h 459"/>
                      <a:gd name="T8" fmla="*/ 640932 w 765"/>
                      <a:gd name="T9" fmla="*/ 256788 h 459"/>
                      <a:gd name="T10" fmla="*/ 1233656 w 765"/>
                      <a:gd name="T11" fmla="*/ 246677 h 459"/>
                      <a:gd name="T12" fmla="*/ 2079640 w 765"/>
                      <a:gd name="T13" fmla="*/ 256788 h 459"/>
                      <a:gd name="T14" fmla="*/ 2485867 w 765"/>
                      <a:gd name="T15" fmla="*/ 251149 h 459"/>
                      <a:gd name="T16" fmla="*/ 2678580 w 765"/>
                      <a:gd name="T17" fmla="*/ 215337 h 459"/>
                      <a:gd name="T18" fmla="*/ 2671282 w 765"/>
                      <a:gd name="T19" fmla="*/ 91397 h 459"/>
                      <a:gd name="T20" fmla="*/ 2357408 w 765"/>
                      <a:gd name="T21" fmla="*/ 19830 h 459"/>
                      <a:gd name="T22" fmla="*/ 1509012 w 765"/>
                      <a:gd name="T23" fmla="*/ 5729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9CDFF9"/>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9" name="Line 130"/>
                  <p:cNvSpPr>
                    <a:spLocks noChangeShapeType="1"/>
                  </p:cNvSpPr>
                  <p:nvPr/>
                </p:nvSpPr>
                <p:spPr bwMode="auto">
                  <a:xfrm flipV="1">
                    <a:off x="7464635" y="3294636"/>
                    <a:ext cx="168275" cy="1206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0" name="Line 131"/>
                  <p:cNvSpPr>
                    <a:spLocks noChangeShapeType="1"/>
                  </p:cNvSpPr>
                  <p:nvPr/>
                </p:nvSpPr>
                <p:spPr bwMode="auto">
                  <a:xfrm>
                    <a:off x="7231272" y="3534348"/>
                    <a:ext cx="0" cy="1143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1" name="Line 132"/>
                  <p:cNvSpPr>
                    <a:spLocks noChangeShapeType="1"/>
                  </p:cNvSpPr>
                  <p:nvPr/>
                </p:nvSpPr>
                <p:spPr bwMode="auto">
                  <a:xfrm flipV="1">
                    <a:off x="7464635" y="3391473"/>
                    <a:ext cx="358775" cy="400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2" name="Line 133"/>
                  <p:cNvSpPr>
                    <a:spLocks noChangeShapeType="1"/>
                  </p:cNvSpPr>
                  <p:nvPr/>
                </p:nvSpPr>
                <p:spPr bwMode="auto">
                  <a:xfrm>
                    <a:off x="7961522" y="3389886"/>
                    <a:ext cx="0" cy="2714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3" name="Line 134"/>
                  <p:cNvSpPr>
                    <a:spLocks noChangeShapeType="1"/>
                  </p:cNvSpPr>
                  <p:nvPr/>
                </p:nvSpPr>
                <p:spPr bwMode="auto">
                  <a:xfrm>
                    <a:off x="7490035" y="3813748"/>
                    <a:ext cx="2571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4" name="Line 135"/>
                  <p:cNvSpPr>
                    <a:spLocks noChangeShapeType="1"/>
                  </p:cNvSpPr>
                  <p:nvPr/>
                </p:nvSpPr>
                <p:spPr bwMode="auto">
                  <a:xfrm>
                    <a:off x="8245685" y="3801048"/>
                    <a:ext cx="241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5" name="Line 172"/>
                  <p:cNvSpPr>
                    <a:spLocks noChangeShapeType="1"/>
                  </p:cNvSpPr>
                  <p:nvPr/>
                </p:nvSpPr>
                <p:spPr bwMode="auto">
                  <a:xfrm>
                    <a:off x="8510797" y="3797873"/>
                    <a:ext cx="242888"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6" name="Text Box 580"/>
                  <p:cNvSpPr txBox="1">
                    <a:spLocks noChangeArrowheads="1"/>
                  </p:cNvSpPr>
                  <p:nvPr/>
                </p:nvSpPr>
                <p:spPr bwMode="auto">
                  <a:xfrm>
                    <a:off x="8207585" y="3191448"/>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ISP</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67" name="Group 166"/>
                  <p:cNvGrpSpPr/>
                  <p:nvPr/>
                </p:nvGrpSpPr>
                <p:grpSpPr>
                  <a:xfrm>
                    <a:off x="6972551" y="3193191"/>
                    <a:ext cx="576221" cy="330754"/>
                    <a:chOff x="7493876" y="2774731"/>
                    <a:chExt cx="1481958" cy="894622"/>
                  </a:xfrm>
                </p:grpSpPr>
                <p:sp>
                  <p:nvSpPr>
                    <p:cNvPr id="192" name="Freeform 191"/>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3" name="Oval 192"/>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94" name="Group 193"/>
                    <p:cNvGrpSpPr/>
                    <p:nvPr/>
                  </p:nvGrpSpPr>
                  <p:grpSpPr>
                    <a:xfrm>
                      <a:off x="7713663" y="2848339"/>
                      <a:ext cx="1042107" cy="425543"/>
                      <a:chOff x="7786941" y="2884917"/>
                      <a:chExt cx="897649" cy="353919"/>
                    </a:xfrm>
                  </p:grpSpPr>
                  <p:sp>
                    <p:nvSpPr>
                      <p:cNvPr id="195" name="Freeform 194"/>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6" name="Freeform 195"/>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Freeform 196"/>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197"/>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8" name="Group 167"/>
                  <p:cNvGrpSpPr/>
                  <p:nvPr/>
                </p:nvGrpSpPr>
                <p:grpSpPr>
                  <a:xfrm>
                    <a:off x="6955883" y="3598924"/>
                    <a:ext cx="576221" cy="330754"/>
                    <a:chOff x="7493876" y="2774731"/>
                    <a:chExt cx="1481958" cy="894622"/>
                  </a:xfrm>
                </p:grpSpPr>
                <p:sp>
                  <p:nvSpPr>
                    <p:cNvPr id="185" name="Freeform 184"/>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6" name="Oval 185"/>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7" name="Group 186"/>
                    <p:cNvGrpSpPr/>
                    <p:nvPr/>
                  </p:nvGrpSpPr>
                  <p:grpSpPr>
                    <a:xfrm>
                      <a:off x="7713663" y="2848339"/>
                      <a:ext cx="1042107" cy="425543"/>
                      <a:chOff x="7786941" y="2884917"/>
                      <a:chExt cx="897649" cy="353919"/>
                    </a:xfrm>
                  </p:grpSpPr>
                  <p:sp>
                    <p:nvSpPr>
                      <p:cNvPr id="188" name="Freeform 187"/>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Freeform 188"/>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189"/>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190"/>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9" name="Group 168"/>
                  <p:cNvGrpSpPr/>
                  <p:nvPr/>
                </p:nvGrpSpPr>
                <p:grpSpPr>
                  <a:xfrm>
                    <a:off x="7720114" y="3593282"/>
                    <a:ext cx="576221" cy="330754"/>
                    <a:chOff x="7493876" y="2774731"/>
                    <a:chExt cx="1481958" cy="894622"/>
                  </a:xfrm>
                </p:grpSpPr>
                <p:sp>
                  <p:nvSpPr>
                    <p:cNvPr id="178" name="Freeform 177"/>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9" name="Oval 178"/>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0" name="Group 179"/>
                    <p:cNvGrpSpPr/>
                    <p:nvPr/>
                  </p:nvGrpSpPr>
                  <p:grpSpPr>
                    <a:xfrm>
                      <a:off x="7713663" y="2848339"/>
                      <a:ext cx="1042107" cy="425543"/>
                      <a:chOff x="7786941" y="2884917"/>
                      <a:chExt cx="897649" cy="353919"/>
                    </a:xfrm>
                  </p:grpSpPr>
                  <p:sp>
                    <p:nvSpPr>
                      <p:cNvPr id="181" name="Freeform 180"/>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181"/>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182"/>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 name="Freeform 183"/>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0" name="Group 169"/>
                  <p:cNvGrpSpPr/>
                  <p:nvPr/>
                </p:nvGrpSpPr>
                <p:grpSpPr>
                  <a:xfrm>
                    <a:off x="7618622" y="3082478"/>
                    <a:ext cx="576221" cy="330754"/>
                    <a:chOff x="7493876" y="2774731"/>
                    <a:chExt cx="1481958" cy="894622"/>
                  </a:xfrm>
                </p:grpSpPr>
                <p:sp>
                  <p:nvSpPr>
                    <p:cNvPr id="171" name="Freeform 170"/>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2" name="Oval 171"/>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73" name="Group 172"/>
                    <p:cNvGrpSpPr/>
                    <p:nvPr/>
                  </p:nvGrpSpPr>
                  <p:grpSpPr>
                    <a:xfrm>
                      <a:off x="7713663" y="2848339"/>
                      <a:ext cx="1042107" cy="425543"/>
                      <a:chOff x="7786941" y="2884917"/>
                      <a:chExt cx="897649" cy="353919"/>
                    </a:xfrm>
                  </p:grpSpPr>
                  <p:sp>
                    <p:nvSpPr>
                      <p:cNvPr id="174" name="Freeform 173"/>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Freeform 174"/>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Freeform 175"/>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7" name="Freeform 176"/>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95" name="Freeform 3"/>
                <p:cNvSpPr/>
                <p:nvPr/>
              </p:nvSpPr>
              <p:spPr bwMode="auto">
                <a:xfrm>
                  <a:off x="5902873" y="1444625"/>
                  <a:ext cx="1670975" cy="1477963"/>
                </a:xfrm>
                <a:custGeom>
                  <a:avLst/>
                  <a:gdLst>
                    <a:gd name="T0" fmla="*/ 2147483647 w 1396"/>
                    <a:gd name="T1" fmla="*/ 2147483647 h 931"/>
                    <a:gd name="T2" fmla="*/ 2147483647 w 1396"/>
                    <a:gd name="T3" fmla="*/ 2147483647 h 931"/>
                    <a:gd name="T4" fmla="*/ 2147483647 w 1396"/>
                    <a:gd name="T5" fmla="*/ 2147483647 h 931"/>
                    <a:gd name="T6" fmla="*/ 2147483647 w 1396"/>
                    <a:gd name="T7" fmla="*/ 2147483647 h 931"/>
                    <a:gd name="T8" fmla="*/ 2147483647 w 1396"/>
                    <a:gd name="T9" fmla="*/ 2147483647 h 931"/>
                    <a:gd name="T10" fmla="*/ 2147483647 w 1396"/>
                    <a:gd name="T11" fmla="*/ 2147483647 h 931"/>
                    <a:gd name="T12" fmla="*/ 2147483647 w 1396"/>
                    <a:gd name="T13" fmla="*/ 2147483647 h 931"/>
                    <a:gd name="T14" fmla="*/ 2147483647 w 1396"/>
                    <a:gd name="T15" fmla="*/ 2147483647 h 931"/>
                    <a:gd name="T16" fmla="*/ 2147483647 w 1396"/>
                    <a:gd name="T17" fmla="*/ 2147483647 h 931"/>
                    <a:gd name="T18" fmla="*/ 2147483647 w 1396"/>
                    <a:gd name="T19" fmla="*/ 2147483647 h 931"/>
                    <a:gd name="T20" fmla="*/ 2147483647 w 1396"/>
                    <a:gd name="T21" fmla="*/ 2147483647 h 931"/>
                    <a:gd name="T22" fmla="*/ 2147483647 w 1396"/>
                    <a:gd name="T23" fmla="*/ 2147483647 h 931"/>
                    <a:gd name="T24" fmla="*/ 2147483647 w 1396"/>
                    <a:gd name="T25" fmla="*/ 2147483647 h 931"/>
                    <a:gd name="T26" fmla="*/ 2147483647 w 1396"/>
                    <a:gd name="T27" fmla="*/ 2147483647 h 931"/>
                    <a:gd name="T28" fmla="*/ 2147483647 w 1396"/>
                    <a:gd name="T29" fmla="*/ 2147483647 h 931"/>
                    <a:gd name="T30" fmla="*/ 2147483647 w 1396"/>
                    <a:gd name="T31" fmla="*/ 2147483647 h 9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96"/>
                    <a:gd name="T49" fmla="*/ 0 h 931"/>
                    <a:gd name="T50" fmla="*/ 1396 w 1396"/>
                    <a:gd name="T51" fmla="*/ 931 h 93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96" h="931">
                      <a:moveTo>
                        <a:pt x="873" y="18"/>
                      </a:moveTo>
                      <a:cubicBezTo>
                        <a:pt x="787" y="32"/>
                        <a:pt x="625" y="55"/>
                        <a:pt x="526" y="89"/>
                      </a:cubicBezTo>
                      <a:cubicBezTo>
                        <a:pt x="426" y="122"/>
                        <a:pt x="346" y="184"/>
                        <a:pt x="278" y="216"/>
                      </a:cubicBezTo>
                      <a:cubicBezTo>
                        <a:pt x="210" y="248"/>
                        <a:pt x="159" y="236"/>
                        <a:pt x="118" y="283"/>
                      </a:cubicBezTo>
                      <a:cubicBezTo>
                        <a:pt x="77" y="330"/>
                        <a:pt x="46" y="416"/>
                        <a:pt x="30" y="497"/>
                      </a:cubicBezTo>
                      <a:cubicBezTo>
                        <a:pt x="14" y="578"/>
                        <a:pt x="0" y="714"/>
                        <a:pt x="24" y="768"/>
                      </a:cubicBezTo>
                      <a:cubicBezTo>
                        <a:pt x="49" y="821"/>
                        <a:pt x="112" y="796"/>
                        <a:pt x="178" y="818"/>
                      </a:cubicBezTo>
                      <a:cubicBezTo>
                        <a:pt x="244" y="840"/>
                        <a:pt x="318" y="886"/>
                        <a:pt x="421" y="902"/>
                      </a:cubicBezTo>
                      <a:cubicBezTo>
                        <a:pt x="524" y="918"/>
                        <a:pt x="681" y="916"/>
                        <a:pt x="793" y="916"/>
                      </a:cubicBezTo>
                      <a:cubicBezTo>
                        <a:pt x="905" y="916"/>
                        <a:pt x="1004" y="931"/>
                        <a:pt x="1095" y="902"/>
                      </a:cubicBezTo>
                      <a:cubicBezTo>
                        <a:pt x="1186" y="873"/>
                        <a:pt x="1291" y="813"/>
                        <a:pt x="1337" y="744"/>
                      </a:cubicBezTo>
                      <a:cubicBezTo>
                        <a:pt x="1383" y="675"/>
                        <a:pt x="1365" y="580"/>
                        <a:pt x="1372" y="487"/>
                      </a:cubicBezTo>
                      <a:cubicBezTo>
                        <a:pt x="1378" y="393"/>
                        <a:pt x="1396" y="256"/>
                        <a:pt x="1377" y="179"/>
                      </a:cubicBezTo>
                      <a:cubicBezTo>
                        <a:pt x="1358" y="102"/>
                        <a:pt x="1314" y="57"/>
                        <a:pt x="1259" y="28"/>
                      </a:cubicBezTo>
                      <a:cubicBezTo>
                        <a:pt x="1203" y="0"/>
                        <a:pt x="1110" y="7"/>
                        <a:pt x="1046" y="5"/>
                      </a:cubicBezTo>
                      <a:cubicBezTo>
                        <a:pt x="981" y="3"/>
                        <a:pt x="959" y="5"/>
                        <a:pt x="873" y="18"/>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Rectangle 44"/>
                <p:cNvSpPr>
                  <a:spLocks noChangeArrowheads="1"/>
                </p:cNvSpPr>
                <p:nvPr/>
              </p:nvSpPr>
              <p:spPr bwMode="auto">
                <a:xfrm>
                  <a:off x="6182273" y="1900238"/>
                  <a:ext cx="955675" cy="700087"/>
                </a:xfrm>
                <a:prstGeom prst="rect">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grpSp>
              <p:nvGrpSpPr>
                <p:cNvPr id="104" name="Group 108"/>
                <p:cNvGrpSpPr/>
                <p:nvPr/>
              </p:nvGrpSpPr>
              <p:grpSpPr bwMode="auto">
                <a:xfrm>
                  <a:off x="6239423" y="2017713"/>
                  <a:ext cx="368300" cy="519112"/>
                  <a:chOff x="1852" y="2562"/>
                  <a:chExt cx="355" cy="471"/>
                </a:xfrm>
              </p:grpSpPr>
              <p:sp>
                <p:nvSpPr>
                  <p:cNvPr id="105" name="Freeform 109"/>
                  <p:cNvSpPr/>
                  <p:nvPr/>
                </p:nvSpPr>
                <p:spPr bwMode="auto">
                  <a:xfrm>
                    <a:off x="1852" y="2621"/>
                    <a:ext cx="318" cy="412"/>
                  </a:xfrm>
                  <a:custGeom>
                    <a:avLst/>
                    <a:gdLst>
                      <a:gd name="T0" fmla="*/ 0 w 318"/>
                      <a:gd name="T1" fmla="*/ 412 h 412"/>
                      <a:gd name="T2" fmla="*/ 3 w 318"/>
                      <a:gd name="T3" fmla="*/ 1 h 412"/>
                      <a:gd name="T4" fmla="*/ 74 w 318"/>
                      <a:gd name="T5" fmla="*/ 0 h 412"/>
                      <a:gd name="T6" fmla="*/ 254 w 318"/>
                      <a:gd name="T7" fmla="*/ 111 h 412"/>
                      <a:gd name="T8" fmla="*/ 318 w 318"/>
                      <a:gd name="T9" fmla="*/ 115 h 412"/>
                      <a:gd name="T10" fmla="*/ 318 w 318"/>
                      <a:gd name="T11" fmla="*/ 308 h 412"/>
                      <a:gd name="T12" fmla="*/ 246 w 318"/>
                      <a:gd name="T13" fmla="*/ 308 h 412"/>
                      <a:gd name="T14" fmla="*/ 74 w 318"/>
                      <a:gd name="T15" fmla="*/ 412 h 412"/>
                      <a:gd name="T16" fmla="*/ 0 w 318"/>
                      <a:gd name="T17" fmla="*/ 412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100000">
                        <a:schemeClr val="accent1"/>
                      </a:gs>
                    </a:gsLst>
                    <a:lin ang="0" scaled="1"/>
                  </a:gra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Freeform 110"/>
                  <p:cNvSpPr/>
                  <p:nvPr/>
                </p:nvSpPr>
                <p:spPr bwMode="auto">
                  <a:xfrm>
                    <a:off x="1854" y="2562"/>
                    <a:ext cx="353" cy="369"/>
                  </a:xfrm>
                  <a:custGeom>
                    <a:avLst/>
                    <a:gdLst>
                      <a:gd name="T0" fmla="*/ 0 w 353"/>
                      <a:gd name="T1" fmla="*/ 59 h 369"/>
                      <a:gd name="T2" fmla="*/ 32 w 353"/>
                      <a:gd name="T3" fmla="*/ 0 h 369"/>
                      <a:gd name="T4" fmla="*/ 105 w 353"/>
                      <a:gd name="T5" fmla="*/ 0 h 369"/>
                      <a:gd name="T6" fmla="*/ 276 w 353"/>
                      <a:gd name="T7" fmla="*/ 113 h 369"/>
                      <a:gd name="T8" fmla="*/ 353 w 353"/>
                      <a:gd name="T9" fmla="*/ 113 h 369"/>
                      <a:gd name="T10" fmla="*/ 353 w 353"/>
                      <a:gd name="T11" fmla="*/ 315 h 369"/>
                      <a:gd name="T12" fmla="*/ 318 w 353"/>
                      <a:gd name="T13" fmla="*/ 369 h 369"/>
                      <a:gd name="T14" fmla="*/ 315 w 353"/>
                      <a:gd name="T15" fmla="*/ 173 h 369"/>
                      <a:gd name="T16" fmla="*/ 254 w 353"/>
                      <a:gd name="T17" fmla="*/ 173 h 369"/>
                      <a:gd name="T18" fmla="*/ 75 w 353"/>
                      <a:gd name="T19" fmla="*/ 60 h 369"/>
                      <a:gd name="T20" fmla="*/ 0 w 353"/>
                      <a:gd name="T21" fmla="*/ 59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chemeClr val="accent1"/>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Line 111"/>
                  <p:cNvSpPr>
                    <a:spLocks noChangeShapeType="1"/>
                  </p:cNvSpPr>
                  <p:nvPr/>
                </p:nvSpPr>
                <p:spPr bwMode="auto">
                  <a:xfrm flipH="1">
                    <a:off x="2167" y="2674"/>
                    <a:ext cx="34" cy="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Line 112"/>
                  <p:cNvSpPr>
                    <a:spLocks noChangeShapeType="1"/>
                  </p:cNvSpPr>
                  <p:nvPr/>
                </p:nvSpPr>
                <p:spPr bwMode="auto">
                  <a:xfrm>
                    <a:off x="1880" y="2830"/>
                    <a:ext cx="26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Freeform 113"/>
                  <p:cNvSpPr/>
                  <p:nvPr/>
                </p:nvSpPr>
                <p:spPr bwMode="auto">
                  <a:xfrm>
                    <a:off x="1874" y="2670"/>
                    <a:ext cx="264" cy="105"/>
                  </a:xfrm>
                  <a:custGeom>
                    <a:avLst/>
                    <a:gdLst>
                      <a:gd name="T0" fmla="*/ 0 w 264"/>
                      <a:gd name="T1" fmla="*/ 0 h 105"/>
                      <a:gd name="T2" fmla="*/ 52 w 264"/>
                      <a:gd name="T3" fmla="*/ 0 h 105"/>
                      <a:gd name="T4" fmla="*/ 207 w 264"/>
                      <a:gd name="T5" fmla="*/ 105 h 105"/>
                      <a:gd name="T6" fmla="*/ 264 w 264"/>
                      <a:gd name="T7" fmla="*/ 105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Freeform 114"/>
                  <p:cNvSpPr/>
                  <p:nvPr/>
                </p:nvSpPr>
                <p:spPr bwMode="auto">
                  <a:xfrm flipV="1">
                    <a:off x="1874" y="2884"/>
                    <a:ext cx="264" cy="105"/>
                  </a:xfrm>
                  <a:custGeom>
                    <a:avLst/>
                    <a:gdLst>
                      <a:gd name="T0" fmla="*/ 0 w 264"/>
                      <a:gd name="T1" fmla="*/ 0 h 105"/>
                      <a:gd name="T2" fmla="*/ 52 w 264"/>
                      <a:gd name="T3" fmla="*/ 0 h 105"/>
                      <a:gd name="T4" fmla="*/ 207 w 264"/>
                      <a:gd name="T5" fmla="*/ 105 h 105"/>
                      <a:gd name="T6" fmla="*/ 264 w 264"/>
                      <a:gd name="T7" fmla="*/ 105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2" name="Group 118"/>
                <p:cNvGrpSpPr/>
                <p:nvPr/>
              </p:nvGrpSpPr>
              <p:grpSpPr bwMode="auto">
                <a:xfrm>
                  <a:off x="4980536" y="1304925"/>
                  <a:ext cx="796925" cy="658813"/>
                  <a:chOff x="1671" y="1861"/>
                  <a:chExt cx="502" cy="415"/>
                </a:xfrm>
              </p:grpSpPr>
              <p:sp>
                <p:nvSpPr>
                  <p:cNvPr id="113" name="Rectangle 116"/>
                  <p:cNvSpPr>
                    <a:spLocks noChangeArrowheads="1"/>
                  </p:cNvSpPr>
                  <p:nvPr/>
                </p:nvSpPr>
                <p:spPr bwMode="auto">
                  <a:xfrm>
                    <a:off x="1742" y="1966"/>
                    <a:ext cx="360" cy="31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14" name="AutoShape 117"/>
                  <p:cNvSpPr>
                    <a:spLocks noChangeArrowheads="1"/>
                  </p:cNvSpPr>
                  <p:nvPr/>
                </p:nvSpPr>
                <p:spPr bwMode="auto">
                  <a:xfrm>
                    <a:off x="1671" y="1861"/>
                    <a:ext cx="502" cy="129"/>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grpSp>
              <p:nvGrpSpPr>
                <p:cNvPr id="126" name="Group 94"/>
                <p:cNvGrpSpPr/>
                <p:nvPr/>
              </p:nvGrpSpPr>
              <p:grpSpPr bwMode="auto">
                <a:xfrm>
                  <a:off x="3677198" y="2195513"/>
                  <a:ext cx="614363" cy="220662"/>
                  <a:chOff x="322" y="890"/>
                  <a:chExt cx="872" cy="339"/>
                </a:xfrm>
              </p:grpSpPr>
              <p:sp>
                <p:nvSpPr>
                  <p:cNvPr id="127" name="Rectangle 95"/>
                  <p:cNvSpPr>
                    <a:spLocks noChangeArrowheads="1"/>
                  </p:cNvSpPr>
                  <p:nvPr/>
                </p:nvSpPr>
                <p:spPr bwMode="auto">
                  <a:xfrm>
                    <a:off x="322" y="1005"/>
                    <a:ext cx="872" cy="224"/>
                  </a:xfrm>
                  <a:prstGeom prst="rect">
                    <a:avLst/>
                  </a:prstGeom>
                  <a:solidFill>
                    <a:schemeClr val="bg1">
                      <a:lumMod val="7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8" name="Rectangle 96"/>
                  <p:cNvSpPr>
                    <a:spLocks noChangeArrowheads="1"/>
                  </p:cNvSpPr>
                  <p:nvPr/>
                </p:nvSpPr>
                <p:spPr bwMode="auto">
                  <a:xfrm>
                    <a:off x="394" y="1073"/>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9" name="Rectangle 97"/>
                  <p:cNvSpPr>
                    <a:spLocks noChangeArrowheads="1"/>
                  </p:cNvSpPr>
                  <p:nvPr/>
                </p:nvSpPr>
                <p:spPr bwMode="auto">
                  <a:xfrm>
                    <a:off x="466" y="1073"/>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0" name="Rectangle 98"/>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1" name="Rectangle 99"/>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2" name="AutoShape 100"/>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8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4" name="Rectangle 103"/>
                <p:cNvSpPr>
                  <a:spLocks noChangeArrowheads="1"/>
                </p:cNvSpPr>
                <p:nvPr/>
              </p:nvSpPr>
              <p:spPr bwMode="auto">
                <a:xfrm>
                  <a:off x="4531273" y="2246313"/>
                  <a:ext cx="166688" cy="144462"/>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5" name="Freeform 104"/>
                <p:cNvSpPr/>
                <p:nvPr/>
              </p:nvSpPr>
              <p:spPr bwMode="auto">
                <a:xfrm>
                  <a:off x="4007398" y="1801813"/>
                  <a:ext cx="604838" cy="434975"/>
                </a:xfrm>
                <a:custGeom>
                  <a:avLst/>
                  <a:gdLst>
                    <a:gd name="T0" fmla="*/ 2147483647 w 381"/>
                    <a:gd name="T1" fmla="*/ 2147483647 h 274"/>
                    <a:gd name="T2" fmla="*/ 2147483647 w 381"/>
                    <a:gd name="T3" fmla="*/ 2147483647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36" name="Object 3"/>
                <p:cNvGraphicFramePr>
                  <a:graphicFrameLocks noChangeAspect="1"/>
                </p:cNvGraphicFramePr>
                <p:nvPr/>
              </p:nvGraphicFramePr>
              <p:xfrm>
                <a:off x="3667673" y="1598613"/>
                <a:ext cx="490538" cy="369887"/>
              </p:xfrm>
              <a:graphic>
                <a:graphicData uri="http://schemas.openxmlformats.org/presentationml/2006/ole">
                  <mc:AlternateContent xmlns:mc="http://schemas.openxmlformats.org/markup-compatibility/2006">
                    <mc:Choice xmlns:v="urn:schemas-microsoft-com:vml" Requires="v">
                      <p:oleObj spid="_x0000_s2050" name="Clip" r:id="rId1" imgW="9515475" imgH="6705600" progId="MS_ClipArt_Gallery.2">
                        <p:embed/>
                      </p:oleObj>
                    </mc:Choice>
                    <mc:Fallback>
                      <p:oleObj name="Clip" r:id="rId1" imgW="9515475" imgH="6705600" progId="MS_ClipArt_Gallery.2">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673" y="1598613"/>
                              <a:ext cx="49053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8" name="AutoShape 131"/>
                <p:cNvSpPr>
                  <a:spLocks noChangeArrowheads="1"/>
                </p:cNvSpPr>
                <p:nvPr/>
              </p:nvSpPr>
              <p:spPr bwMode="auto">
                <a:xfrm>
                  <a:off x="6042573" y="1646238"/>
                  <a:ext cx="1206500" cy="261937"/>
                </a:xfrm>
                <a:prstGeom prst="triangle">
                  <a:avLst>
                    <a:gd name="adj" fmla="val 50000"/>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42" name="Group 141"/>
                <p:cNvGrpSpPr/>
                <p:nvPr/>
              </p:nvGrpSpPr>
              <p:grpSpPr bwMode="auto">
                <a:xfrm>
                  <a:off x="2740573" y="1985963"/>
                  <a:ext cx="642938" cy="644525"/>
                  <a:chOff x="-44" y="1473"/>
                  <a:chExt cx="981" cy="1105"/>
                </a:xfrm>
              </p:grpSpPr>
              <p:pic>
                <p:nvPicPr>
                  <p:cNvPr id="143" name="Picture 142" descr="desktop_computer_stylized_medium"/>
                  <p:cNvPicPr>
                    <a:picLocks noChangeAspect="1" noChangeArrowheads="1"/>
                  </p:cNvPicPr>
                  <p:nvPr/>
                </p:nvPicPr>
                <p:blipFill>
                  <a:blip r:embed="rId3"/>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 name="Freeform 143"/>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9" name="Line 16"/>
                <p:cNvSpPr>
                  <a:spLocks noChangeShapeType="1"/>
                </p:cNvSpPr>
                <p:nvPr/>
              </p:nvSpPr>
              <p:spPr bwMode="auto">
                <a:xfrm>
                  <a:off x="7384011" y="1897063"/>
                  <a:ext cx="469236" cy="26566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Line 14"/>
                <p:cNvSpPr>
                  <a:spLocks noChangeShapeType="1"/>
                </p:cNvSpPr>
                <p:nvPr/>
              </p:nvSpPr>
              <p:spPr bwMode="auto">
                <a:xfrm flipV="1">
                  <a:off x="4288386" y="2306638"/>
                  <a:ext cx="1938337"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 name="Freeform 123"/>
                <p:cNvSpPr/>
                <p:nvPr/>
              </p:nvSpPr>
              <p:spPr bwMode="auto">
                <a:xfrm>
                  <a:off x="6612486" y="2327275"/>
                  <a:ext cx="463550" cy="1009650"/>
                </a:xfrm>
                <a:custGeom>
                  <a:avLst/>
                  <a:gdLst>
                    <a:gd name="T0" fmla="*/ 0 w 292"/>
                    <a:gd name="T1" fmla="*/ 0 h 636"/>
                    <a:gd name="T2" fmla="*/ 2147483647 w 292"/>
                    <a:gd name="T3" fmla="*/ 0 h 636"/>
                    <a:gd name="T4" fmla="*/ 2147483647 w 292"/>
                    <a:gd name="T5" fmla="*/ 2147483647 h 636"/>
                    <a:gd name="T6" fmla="*/ 2147483647 w 292"/>
                    <a:gd name="T7" fmla="*/ 2147483647 h 636"/>
                    <a:gd name="T8" fmla="*/ 0 60000 65536"/>
                    <a:gd name="T9" fmla="*/ 0 60000 65536"/>
                    <a:gd name="T10" fmla="*/ 0 60000 65536"/>
                    <a:gd name="T11" fmla="*/ 0 60000 65536"/>
                    <a:gd name="T12" fmla="*/ 0 w 292"/>
                    <a:gd name="T13" fmla="*/ 0 h 636"/>
                    <a:gd name="T14" fmla="*/ 292 w 292"/>
                    <a:gd name="T15" fmla="*/ 636 h 636"/>
                  </a:gdLst>
                  <a:ahLst/>
                  <a:cxnLst>
                    <a:cxn ang="T8">
                      <a:pos x="T0" y="T1"/>
                    </a:cxn>
                    <a:cxn ang="T9">
                      <a:pos x="T2" y="T3"/>
                    </a:cxn>
                    <a:cxn ang="T10">
                      <a:pos x="T4" y="T5"/>
                    </a:cxn>
                    <a:cxn ang="T11">
                      <a:pos x="T6" y="T7"/>
                    </a:cxn>
                  </a:cxnLst>
                  <a:rect l="T12" t="T13" r="T14" b="T15"/>
                  <a:pathLst>
                    <a:path w="292" h="636">
                      <a:moveTo>
                        <a:pt x="0" y="0"/>
                      </a:moveTo>
                      <a:lnTo>
                        <a:pt x="130" y="0"/>
                      </a:lnTo>
                      <a:lnTo>
                        <a:pt x="130" y="636"/>
                      </a:lnTo>
                      <a:lnTo>
                        <a:pt x="292" y="636"/>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Line 7"/>
                <p:cNvSpPr>
                  <a:spLocks noChangeShapeType="1"/>
                </p:cNvSpPr>
                <p:nvPr/>
              </p:nvSpPr>
              <p:spPr bwMode="auto">
                <a:xfrm flipV="1">
                  <a:off x="3321598" y="2308225"/>
                  <a:ext cx="365125"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7" name="Line 130"/>
                <p:cNvSpPr>
                  <a:spLocks noChangeShapeType="1"/>
                </p:cNvSpPr>
                <p:nvPr/>
              </p:nvSpPr>
              <p:spPr bwMode="auto">
                <a:xfrm flipH="1">
                  <a:off x="4294736" y="2308225"/>
                  <a:ext cx="2397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Oval 12"/>
                <p:cNvSpPr>
                  <a:spLocks noChangeArrowheads="1"/>
                </p:cNvSpPr>
                <p:nvPr/>
              </p:nvSpPr>
              <p:spPr bwMode="auto">
                <a:xfrm>
                  <a:off x="7283998" y="1779588"/>
                  <a:ext cx="193675" cy="193675"/>
                </a:xfrm>
                <a:prstGeom prst="ellipse">
                  <a:avLst/>
                </a:prstGeom>
                <a:solidFill>
                  <a:schemeClr val="tx1"/>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98" name="Line 15"/>
                <p:cNvSpPr>
                  <a:spLocks noChangeShapeType="1"/>
                </p:cNvSpPr>
                <p:nvPr/>
              </p:nvSpPr>
              <p:spPr bwMode="auto">
                <a:xfrm flipV="1">
                  <a:off x="6990311" y="1920875"/>
                  <a:ext cx="317500" cy="3365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8" name="Group 135"/>
                <p:cNvGrpSpPr/>
                <p:nvPr/>
              </p:nvGrpSpPr>
              <p:grpSpPr bwMode="auto">
                <a:xfrm>
                  <a:off x="2330998" y="2384425"/>
                  <a:ext cx="3162300" cy="1281113"/>
                  <a:chOff x="462" y="1538"/>
                  <a:chExt cx="1992" cy="807"/>
                </a:xfrm>
              </p:grpSpPr>
              <p:sp>
                <p:nvSpPr>
                  <p:cNvPr id="119" name="Text Box 124"/>
                  <p:cNvSpPr txBox="1">
                    <a:spLocks noChangeArrowheads="1"/>
                  </p:cNvSpPr>
                  <p:nvPr/>
                </p:nvSpPr>
                <p:spPr bwMode="auto">
                  <a:xfrm>
                    <a:off x="462" y="2094"/>
                    <a:ext cx="17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lvl="0" algn="ctr">
                      <a:lnSpc>
                        <a:spcPct val="85000"/>
                      </a:lnSpc>
                      <a:defRPr/>
                    </a:pPr>
                    <a:r>
                      <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语音、数据在不同频率</a:t>
                    </a:r>
                    <a:r>
                      <a:rPr lang="zh-CN" altLang="en-US" sz="2000" dirty="0">
                        <a:solidFill>
                          <a:prstClr val="black"/>
                        </a:solidFill>
                        <a:latin typeface="微软雅黑" panose="020B0503020204020204" pitchFamily="34" charset="-122"/>
                        <a:ea typeface="微软雅黑" panose="020B0503020204020204" pitchFamily="34" charset="-122"/>
                      </a:rPr>
                      <a:t>下传输</a:t>
                    </a:r>
                    <a:endPar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0" name="Line 125"/>
                  <p:cNvSpPr>
                    <a:spLocks noChangeShapeType="1"/>
                  </p:cNvSpPr>
                  <p:nvPr/>
                </p:nvSpPr>
                <p:spPr bwMode="auto">
                  <a:xfrm flipV="1">
                    <a:off x="2093" y="1538"/>
                    <a:ext cx="361" cy="584"/>
                  </a:xfrm>
                  <a:prstGeom prst="line">
                    <a:avLst/>
                  </a:prstGeom>
                  <a:noFill/>
                  <a:ln w="9525">
                    <a:solidFill>
                      <a:srgbClr val="CC0000"/>
                    </a:solidFill>
                    <a:round/>
                    <a:headEnd type="none" w="med" len="me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11" name="Text Box 115"/>
                <p:cNvSpPr txBox="1">
                  <a:spLocks noChangeArrowheads="1"/>
                </p:cNvSpPr>
                <p:nvPr/>
              </p:nvSpPr>
              <p:spPr bwMode="auto">
                <a:xfrm>
                  <a:off x="5491827" y="2558769"/>
                  <a:ext cx="1462693" cy="72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数字用户线接入复用器</a:t>
                  </a:r>
                  <a:r>
                    <a:rPr lang="en-US" altLang="zh-CN" sz="18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DSLAM</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3" name="Text Box 17"/>
                <p:cNvSpPr txBox="1">
                  <a:spLocks noChangeArrowheads="1"/>
                </p:cNvSpPr>
                <p:nvPr/>
              </p:nvSpPr>
              <p:spPr bwMode="auto">
                <a:xfrm>
                  <a:off x="7514683" y="1655142"/>
                  <a:ext cx="119888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电话网络</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 name="Oval 12"/>
                <p:cNvSpPr>
                  <a:spLocks noChangeArrowheads="1"/>
                </p:cNvSpPr>
                <p:nvPr/>
              </p:nvSpPr>
              <p:spPr bwMode="auto">
                <a:xfrm>
                  <a:off x="6806478" y="2198053"/>
                  <a:ext cx="193675" cy="193675"/>
                </a:xfrm>
                <a:prstGeom prst="ellipse">
                  <a:avLst/>
                </a:prstGeom>
                <a:solidFill>
                  <a:schemeClr val="tx1"/>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614" name="Text Box 39"/>
                <p:cNvSpPr txBox="1">
                  <a:spLocks noChangeArrowheads="1"/>
                </p:cNvSpPr>
                <p:nvPr/>
              </p:nvSpPr>
              <p:spPr bwMode="auto">
                <a:xfrm>
                  <a:off x="3110230" y="2505960"/>
                  <a:ext cx="1605915" cy="72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电缆</a:t>
                  </a:r>
                  <a:endPar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调制解调器</a:t>
                  </a:r>
                  <a:endPar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7" name="Text Box 41"/>
                <p:cNvSpPr txBox="1">
                  <a:spLocks noChangeArrowheads="1"/>
                </p:cNvSpPr>
                <p:nvPr/>
              </p:nvSpPr>
              <p:spPr bwMode="auto">
                <a:xfrm>
                  <a:off x="4158615" y="2424430"/>
                  <a:ext cx="104457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80000"/>
                    </a:lnSpc>
                    <a:spcBef>
                      <a:spcPts val="0"/>
                    </a:spcBef>
                    <a:spcAft>
                      <a:spcPts val="0"/>
                    </a:spcAft>
                    <a:buClrTx/>
                    <a:buSzTx/>
                    <a:buFontTx/>
                    <a:buNone/>
                    <a:defRPr/>
                  </a:pP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分路器</a:t>
                  </a:r>
                  <a:endPar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sp>
          <p:nvSpPr>
            <p:cNvPr id="141" name="Text Box 133"/>
            <p:cNvSpPr txBox="1">
              <a:spLocks noChangeArrowheads="1"/>
            </p:cNvSpPr>
            <p:nvPr/>
          </p:nvSpPr>
          <p:spPr bwMode="auto">
            <a:xfrm>
              <a:off x="5730583" y="1353015"/>
              <a:ext cx="836389" cy="634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auto" latinLnBrk="0" hangingPunct="1">
                <a:lnSpc>
                  <a:spcPct val="85000"/>
                </a:lnSpc>
                <a:spcBef>
                  <a:spcPts val="0"/>
                </a:spcBef>
                <a:spcAft>
                  <a:spcPts val="0"/>
                </a:spcAft>
                <a:buClrTx/>
                <a:buSzTx/>
                <a:buFontTx/>
                <a:buNone/>
                <a:defRPr/>
              </a:pPr>
              <a:r>
                <a:rPr kumimoji="0" lang="zh-CN" altLang="en-US" sz="18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DSL接入</a:t>
              </a:r>
              <a:endParaRPr kumimoji="0" lang="zh-CN" altLang="en-US" sz="18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85000"/>
                </a:lnSpc>
                <a:spcBef>
                  <a:spcPts val="0"/>
                </a:spcBef>
                <a:spcAft>
                  <a:spcPts val="0"/>
                </a:spcAft>
                <a:buClrTx/>
                <a:buSzTx/>
                <a:buFontTx/>
                <a:buNone/>
                <a:defRPr/>
              </a:pPr>
              <a:r>
                <a:rPr kumimoji="0" lang="zh-CN" altLang="en-US" sz="18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多路复用</a:t>
              </a:r>
              <a:endParaRPr kumimoji="0" lang="zh-CN" altLang="en-US" sz="18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1" name="矩形 10"/>
          <p:cNvSpPr/>
          <p:nvPr/>
        </p:nvSpPr>
        <p:spPr>
          <a:xfrm>
            <a:off x="7353531" y="2801467"/>
            <a:ext cx="3477234" cy="830997"/>
          </a:xfrm>
          <a:prstGeom prst="rect">
            <a:avLst/>
          </a:prstGeom>
          <a:ln>
            <a:solidFill>
              <a:srgbClr val="C00000"/>
            </a:solidFill>
          </a:ln>
        </p:spPr>
        <p:txBody>
          <a:bodyPr wrap="none">
            <a:spAutoFit/>
          </a:bodyPr>
          <a:lstStyle/>
          <a:p>
            <a:pPr algn="ctr"/>
            <a:r>
              <a:rPr lang="zh-CN" altLang="en-US" sz="2400" dirty="0">
                <a:solidFill>
                  <a:prstClr val="black"/>
                </a:solidFill>
                <a:latin typeface="微软雅黑" panose="020B0503020204020204" pitchFamily="34" charset="-122"/>
                <a:ea typeface="微软雅黑" panose="020B0503020204020204" pitchFamily="34" charset="-122"/>
              </a:rPr>
              <a:t>我国已广泛升级为</a:t>
            </a:r>
            <a:r>
              <a:rPr lang="en-US" altLang="zh-CN" sz="2400" dirty="0">
                <a:solidFill>
                  <a:prstClr val="black"/>
                </a:solidFill>
                <a:latin typeface="微软雅黑" panose="020B0503020204020204" pitchFamily="34" charset="-122"/>
                <a:ea typeface="微软雅黑" panose="020B0503020204020204" pitchFamily="34" charset="-122"/>
              </a:rPr>
              <a:t>FTTH</a:t>
            </a:r>
            <a:endParaRPr lang="en-US" altLang="zh-CN" sz="2400" dirty="0">
              <a:solidFill>
                <a:prstClr val="black"/>
              </a:solidFill>
              <a:latin typeface="微软雅黑" panose="020B0503020204020204" pitchFamily="34" charset="-122"/>
              <a:ea typeface="微软雅黑" panose="020B0503020204020204" pitchFamily="34" charset="-122"/>
            </a:endParaRPr>
          </a:p>
          <a:p>
            <a:pPr algn="ctr"/>
            <a:r>
              <a:rPr lang="zh-CN" altLang="en-US" sz="2400" dirty="0">
                <a:solidFill>
                  <a:prstClr val="black"/>
                </a:solidFill>
                <a:latin typeface="微软雅黑" panose="020B0503020204020204" pitchFamily="34" charset="-122"/>
                <a:ea typeface="微软雅黑" panose="020B0503020204020204" pitchFamily="34" charset="-122"/>
              </a:rPr>
              <a:t>国外依然大量使用</a:t>
            </a:r>
            <a:r>
              <a:rPr lang="en-US" altLang="zh-CN" sz="2400" dirty="0">
                <a:solidFill>
                  <a:prstClr val="black"/>
                </a:solidFill>
                <a:latin typeface="微软雅黑" panose="020B0503020204020204" pitchFamily="34" charset="-122"/>
                <a:ea typeface="微软雅黑" panose="020B0503020204020204" pitchFamily="34" charset="-122"/>
              </a:rPr>
              <a:t>DSL</a:t>
            </a:r>
            <a:r>
              <a:rPr lang="en-US" altLang="zh-CN" sz="24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a:t>
            </a:r>
            <a:endParaRPr lang="zh-CN" altLang="en-US" dirty="0"/>
          </a:p>
        </p:txBody>
      </p:sp>
      <p:sp>
        <p:nvSpPr>
          <p:cNvPr id="116" name="Text Box 17"/>
          <p:cNvSpPr txBox="1">
            <a:spLocks noChangeArrowheads="1"/>
          </p:cNvSpPr>
          <p:nvPr/>
        </p:nvSpPr>
        <p:spPr bwMode="auto">
          <a:xfrm>
            <a:off x="9222314" y="5458989"/>
            <a:ext cx="121058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defRPr/>
            </a:pPr>
            <a:r>
              <a:rPr lang="zh-CN" altLang="en-US" sz="2000" dirty="0">
                <a:solidFill>
                  <a:prstClr val="black"/>
                </a:solidFill>
                <a:latin typeface="微软雅黑" panose="020B0503020204020204" pitchFamily="34" charset="-122"/>
                <a:ea typeface="微软雅黑" panose="020B0503020204020204" pitchFamily="34" charset="-122"/>
              </a:rPr>
              <a:t>数据</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01" name="文本框 100"/>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接入网：</a:t>
            </a:r>
            <a:r>
              <a:rPr lang="zh-CN" altLang="en-US" dirty="0"/>
              <a:t>同轴</a:t>
            </a:r>
            <a:r>
              <a:rPr lang="zh-CN" altLang="en-US" dirty="0">
                <a:sym typeface="+mn-ea"/>
              </a:rPr>
              <a:t>电缆</a:t>
            </a:r>
            <a:endParaRPr lang="zh-CN" altLang="en-US" dirty="0"/>
          </a:p>
        </p:txBody>
      </p:sp>
      <p:sp>
        <p:nvSpPr>
          <p:cNvPr id="3" name="内容占位符 2"/>
          <p:cNvSpPr>
            <a:spLocks noGrp="1"/>
          </p:cNvSpPr>
          <p:nvPr>
            <p:ph idx="1"/>
          </p:nvPr>
        </p:nvSpPr>
        <p:spPr>
          <a:xfrm>
            <a:off x="852507" y="1307122"/>
            <a:ext cx="10515600" cy="2549292"/>
          </a:xfrm>
        </p:spPr>
        <p:txBody>
          <a:bodyPr>
            <a:noAutofit/>
          </a:bodyPr>
          <a:lstStyle/>
          <a:p>
            <a:pPr>
              <a:spcBef>
                <a:spcPts val="300"/>
              </a:spcBef>
            </a:pPr>
            <a:r>
              <a:rPr lang="zh-CN" altLang="en-US" sz="2400" dirty="0"/>
              <a:t>同轴</a:t>
            </a:r>
            <a:r>
              <a:rPr lang="zh-CN" altLang="en-US" sz="2400" dirty="0">
                <a:sym typeface="+mn-ea"/>
              </a:rPr>
              <a:t>电缆：</a:t>
            </a:r>
            <a:r>
              <a:rPr lang="en-US" altLang="zh-CN" sz="2400" dirty="0">
                <a:sym typeface="+mn-ea"/>
              </a:rPr>
              <a:t>Cable</a:t>
            </a:r>
            <a:endParaRPr lang="zh-CN" altLang="en-US" sz="2400" dirty="0"/>
          </a:p>
          <a:p>
            <a:pPr lvl="1">
              <a:spcBef>
                <a:spcPts val="300"/>
              </a:spcBef>
            </a:pPr>
            <a:r>
              <a:rPr lang="zh-CN" altLang="en-US" sz="2000" dirty="0"/>
              <a:t>家庭利用传统</a:t>
            </a:r>
            <a:r>
              <a:rPr lang="zh-CN" altLang="en-US" sz="2000" dirty="0">
                <a:solidFill>
                  <a:srgbClr val="C00000"/>
                </a:solidFill>
              </a:rPr>
              <a:t>有线电视信号线</a:t>
            </a:r>
            <a:r>
              <a:rPr lang="zh-CN" altLang="en-US" sz="2000" dirty="0"/>
              <a:t>（同轴电缆）接入头端上网</a:t>
            </a:r>
            <a:endParaRPr lang="zh-CN" altLang="en-US" sz="2000" dirty="0"/>
          </a:p>
          <a:p>
            <a:pPr lvl="1">
              <a:spcBef>
                <a:spcPts val="300"/>
              </a:spcBef>
            </a:pPr>
            <a:r>
              <a:rPr lang="zh-CN" altLang="en-US" sz="2000" dirty="0"/>
              <a:t>多个家庭共享有线电视的头端</a:t>
            </a:r>
            <a:endParaRPr lang="en-US" altLang="zh-CN" sz="2000" dirty="0"/>
          </a:p>
          <a:p>
            <a:pPr lvl="1">
              <a:spcBef>
                <a:spcPts val="300"/>
              </a:spcBef>
            </a:pPr>
            <a:r>
              <a:rPr lang="zh-CN" altLang="en-US" sz="2000" dirty="0"/>
              <a:t>不对称：高达40 Mbps–1.2 Gbps下行传输速率，</a:t>
            </a:r>
            <a:br>
              <a:rPr lang="en-US" altLang="zh-CN" sz="2000" dirty="0"/>
            </a:br>
            <a:r>
              <a:rPr lang="zh-CN" altLang="en-US" sz="2000" dirty="0"/>
              <a:t>30-100 Mbps上行传输速率</a:t>
            </a:r>
            <a:endParaRPr lang="en-US" altLang="zh-CN" sz="2000" dirty="0"/>
          </a:p>
          <a:p>
            <a:pPr>
              <a:spcBef>
                <a:spcPts val="300"/>
              </a:spcBef>
            </a:pPr>
            <a:r>
              <a:rPr lang="zh-CN" altLang="en-US" sz="2400" dirty="0"/>
              <a:t>混合光纤同轴电缆</a:t>
            </a:r>
            <a:r>
              <a:rPr lang="en-US" altLang="zh-CN" sz="2400" dirty="0"/>
              <a:t>HFC</a:t>
            </a:r>
            <a:endParaRPr lang="en-US" altLang="zh-CN" sz="2400" dirty="0"/>
          </a:p>
          <a:p>
            <a:pPr lvl="1">
              <a:spcBef>
                <a:spcPts val="300"/>
              </a:spcBef>
            </a:pPr>
            <a:r>
              <a:rPr lang="zh-CN" altLang="en-US" sz="2000" dirty="0"/>
              <a:t>先用同轴电缆接入光纤节点，再用光纤连接到头端</a:t>
            </a:r>
            <a:endParaRPr lang="zh-CN" altLang="en-US" sz="2000" dirty="0"/>
          </a:p>
          <a:p>
            <a:pPr lvl="1">
              <a:spcBef>
                <a:spcPts val="300"/>
              </a:spcBef>
            </a:pPr>
            <a:endParaRPr lang="zh-CN" altLang="en-US" sz="2000" dirty="0"/>
          </a:p>
        </p:txBody>
      </p:sp>
      <p:grpSp>
        <p:nvGrpSpPr>
          <p:cNvPr id="6" name="组合 5"/>
          <p:cNvGrpSpPr/>
          <p:nvPr/>
        </p:nvGrpSpPr>
        <p:grpSpPr>
          <a:xfrm>
            <a:off x="1180200" y="3908425"/>
            <a:ext cx="9776216" cy="2813050"/>
            <a:chOff x="1278391" y="1275336"/>
            <a:chExt cx="9776216" cy="2813050"/>
          </a:xfrm>
        </p:grpSpPr>
        <p:sp>
          <p:nvSpPr>
            <p:cNvPr id="64" name="AutoShape 72"/>
            <p:cNvSpPr>
              <a:spLocks noChangeArrowheads="1"/>
            </p:cNvSpPr>
            <p:nvPr/>
          </p:nvSpPr>
          <p:spPr bwMode="auto">
            <a:xfrm>
              <a:off x="1870447" y="1275336"/>
              <a:ext cx="2268538" cy="468312"/>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50" name="Text Box 45"/>
            <p:cNvSpPr txBox="1">
              <a:spLocks noChangeArrowheads="1"/>
            </p:cNvSpPr>
            <p:nvPr/>
          </p:nvSpPr>
          <p:spPr bwMode="auto">
            <a:xfrm>
              <a:off x="8510797" y="2170739"/>
              <a:ext cx="2543810"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80000"/>
                </a:lnSpc>
                <a:spcBef>
                  <a:spcPts val="0"/>
                </a:spcBef>
                <a:spcAft>
                  <a:spcPts val="0"/>
                </a:spcAft>
                <a:buClrTx/>
                <a:buSzTx/>
                <a:buFontTx/>
                <a:buNone/>
                <a:defRPr/>
              </a:pPr>
              <a:r>
                <a:rPr kumimoji="0" lang="en-US" altLang="en-US"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有线电视数据转发器</a:t>
              </a:r>
              <a:b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algn="ctr">
                <a:lnSpc>
                  <a:spcPct val="80000"/>
                </a:lnSpc>
                <a:defRPr/>
              </a:pPr>
              <a:r>
                <a:rPr lang="en-US" altLang="en-US" sz="1800" dirty="0" err="1">
                  <a:solidFill>
                    <a:prstClr val="black"/>
                  </a:solidFill>
                  <a:latin typeface="微软雅黑" panose="020B0503020204020204" pitchFamily="34" charset="-122"/>
                  <a:ea typeface="微软雅黑" panose="020B0503020204020204" pitchFamily="34" charset="-122"/>
                </a:rPr>
                <a:t>电缆调制解调器</a:t>
              </a:r>
              <a:endParaRPr lang="en-US" altLang="en-US" sz="1800" dirty="0">
                <a:solidFill>
                  <a:prstClr val="black"/>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278391" y="1426783"/>
              <a:ext cx="9202494" cy="2661603"/>
              <a:chOff x="1278391" y="1426783"/>
              <a:chExt cx="9202494" cy="2661603"/>
            </a:xfrm>
          </p:grpSpPr>
          <p:sp>
            <p:nvSpPr>
              <p:cNvPr id="209" name="Rectangle 60"/>
              <p:cNvSpPr>
                <a:spLocks noChangeArrowheads="1"/>
              </p:cNvSpPr>
              <p:nvPr/>
            </p:nvSpPr>
            <p:spPr bwMode="auto">
              <a:xfrm>
                <a:off x="2074282" y="1699198"/>
                <a:ext cx="1793875" cy="925513"/>
              </a:xfrm>
              <a:prstGeom prst="rect">
                <a:avLst/>
              </a:prstGeom>
              <a:solidFill>
                <a:srgbClr val="DDDDDD"/>
              </a:solidFill>
              <a:ln>
                <a:noFill/>
              </a:ln>
              <a:effectLst>
                <a:outerShdw blurRad="50800" dist="50800" dir="5400000" algn="ctr" rotWithShape="0">
                  <a:srgbClr val="000000">
                    <a:alpha val="10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57" name="Group 64"/>
              <p:cNvGrpSpPr/>
              <p:nvPr/>
            </p:nvGrpSpPr>
            <p:grpSpPr bwMode="auto">
              <a:xfrm>
                <a:off x="2744842" y="2113536"/>
                <a:ext cx="614363" cy="220662"/>
                <a:chOff x="322" y="890"/>
                <a:chExt cx="872" cy="339"/>
              </a:xfrm>
            </p:grpSpPr>
            <p:sp>
              <p:nvSpPr>
                <p:cNvPr id="58" name="Rectangle 65"/>
                <p:cNvSpPr>
                  <a:spLocks noChangeArrowheads="1"/>
                </p:cNvSpPr>
                <p:nvPr/>
              </p:nvSpPr>
              <p:spPr bwMode="auto">
                <a:xfrm>
                  <a:off x="322" y="1005"/>
                  <a:ext cx="872" cy="224"/>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59" name="Rectangle 66"/>
                <p:cNvSpPr>
                  <a:spLocks noChangeArrowheads="1"/>
                </p:cNvSpPr>
                <p:nvPr/>
              </p:nvSpPr>
              <p:spPr bwMode="auto">
                <a:xfrm>
                  <a:off x="394" y="1073"/>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0" name="Rectangle 67"/>
                <p:cNvSpPr>
                  <a:spLocks noChangeArrowheads="1"/>
                </p:cNvSpPr>
                <p:nvPr/>
              </p:nvSpPr>
              <p:spPr bwMode="auto">
                <a:xfrm>
                  <a:off x="466" y="1073"/>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1" name="Rectangle 68"/>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2" name="Rectangle 69"/>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3" name="AutoShape 70"/>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49" name="Rectangle 73"/>
              <p:cNvSpPr>
                <a:spLocks noChangeArrowheads="1"/>
              </p:cNvSpPr>
              <p:nvPr/>
            </p:nvSpPr>
            <p:spPr bwMode="auto">
              <a:xfrm>
                <a:off x="3475092" y="2175448"/>
                <a:ext cx="166688" cy="144463"/>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50" name="Freeform 74"/>
              <p:cNvSpPr/>
              <p:nvPr/>
            </p:nvSpPr>
            <p:spPr bwMode="auto">
              <a:xfrm>
                <a:off x="3084567" y="1730948"/>
                <a:ext cx="479425" cy="434975"/>
              </a:xfrm>
              <a:custGeom>
                <a:avLst/>
                <a:gdLst>
                  <a:gd name="T0" fmla="*/ 2147483647 w 381"/>
                  <a:gd name="T1" fmla="*/ 2147483647 h 274"/>
                  <a:gd name="T2" fmla="*/ 2147483647 w 381"/>
                  <a:gd name="T3" fmla="*/ 2147483647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 name="Picture 96" descr="tv"/>
              <p:cNvPicPr>
                <a:picLocks noChangeAspect="1" noChangeArrowheads="1"/>
              </p:cNvPicPr>
              <p:nvPr/>
            </p:nvPicPr>
            <p:blipFill>
              <a:blip r:embed="rId1" cstate="print"/>
              <a:srcRect/>
              <a:stretch>
                <a:fillRect/>
              </a:stretch>
            </p:blipFill>
            <p:spPr bwMode="auto">
              <a:xfrm>
                <a:off x="2685787" y="1426783"/>
                <a:ext cx="75565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 name="Group 117"/>
              <p:cNvGrpSpPr/>
              <p:nvPr/>
            </p:nvGrpSpPr>
            <p:grpSpPr bwMode="auto">
              <a:xfrm>
                <a:off x="4116442" y="1505523"/>
                <a:ext cx="850900" cy="527050"/>
                <a:chOff x="-490" y="1664"/>
                <a:chExt cx="1429" cy="842"/>
              </a:xfrm>
            </p:grpSpPr>
            <p:sp>
              <p:nvSpPr>
                <p:cNvPr id="67" name="AutoShape 111"/>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68" name="Group 116"/>
                <p:cNvGrpSpPr/>
                <p:nvPr/>
              </p:nvGrpSpPr>
              <p:grpSpPr bwMode="auto">
                <a:xfrm>
                  <a:off x="-427" y="1737"/>
                  <a:ext cx="1217" cy="769"/>
                  <a:chOff x="-427" y="1737"/>
                  <a:chExt cx="1217" cy="769"/>
                </a:xfrm>
              </p:grpSpPr>
              <p:sp>
                <p:nvSpPr>
                  <p:cNvPr id="69" name="Rectangle 99"/>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0"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1" name="Group 103"/>
                  <p:cNvGrpSpPr/>
                  <p:nvPr/>
                </p:nvGrpSpPr>
                <p:grpSpPr bwMode="auto">
                  <a:xfrm>
                    <a:off x="68" y="2192"/>
                    <a:ext cx="387" cy="139"/>
                    <a:chOff x="322" y="890"/>
                    <a:chExt cx="872" cy="339"/>
                  </a:xfrm>
                </p:grpSpPr>
                <p:sp>
                  <p:nvSpPr>
                    <p:cNvPr id="72" name="Rectangle 104"/>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3" name="Rectangle 105"/>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4" name="Rectangle 106"/>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5" name="Rectangle 107"/>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6" name="Rectangle 108"/>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7" name="AutoShape 109"/>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78" name="Picture 110" descr="desktop_computer_stylized_small"/>
                  <p:cNvPicPr>
                    <a:picLocks noChangeAspect="1" noChangeArrowheads="1"/>
                  </p:cNvPicPr>
                  <p:nvPr/>
                </p:nvPicPr>
                <p:blipFill>
                  <a:blip r:embed="rId2"/>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Rectangle 112"/>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80" name="Freeform 113"/>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Line 114"/>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2" name="Picture 115" descr="tv"/>
                  <p:cNvPicPr>
                    <a:picLocks noChangeAspect="1" noChangeArrowheads="1"/>
                  </p:cNvPicPr>
                  <p:nvPr/>
                </p:nvPicPr>
                <p:blipFill>
                  <a:blip r:embed="rId3"/>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83" name="Group 118"/>
              <p:cNvGrpSpPr/>
              <p:nvPr/>
            </p:nvGrpSpPr>
            <p:grpSpPr bwMode="auto">
              <a:xfrm>
                <a:off x="5029572" y="1499173"/>
                <a:ext cx="850900" cy="527050"/>
                <a:chOff x="-490" y="1664"/>
                <a:chExt cx="1429" cy="842"/>
              </a:xfrm>
            </p:grpSpPr>
            <p:sp>
              <p:nvSpPr>
                <p:cNvPr id="84" name="AutoShape 119"/>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85" name="Group 120"/>
                <p:cNvGrpSpPr/>
                <p:nvPr/>
              </p:nvGrpSpPr>
              <p:grpSpPr bwMode="auto">
                <a:xfrm>
                  <a:off x="-427" y="1737"/>
                  <a:ext cx="1217" cy="769"/>
                  <a:chOff x="-427" y="1737"/>
                  <a:chExt cx="1217" cy="769"/>
                </a:xfrm>
              </p:grpSpPr>
              <p:sp>
                <p:nvSpPr>
                  <p:cNvPr id="86" name="Rectangle 121"/>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87"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8" name="Group 123"/>
                  <p:cNvGrpSpPr/>
                  <p:nvPr/>
                </p:nvGrpSpPr>
                <p:grpSpPr bwMode="auto">
                  <a:xfrm>
                    <a:off x="68" y="2192"/>
                    <a:ext cx="387" cy="139"/>
                    <a:chOff x="322" y="890"/>
                    <a:chExt cx="872" cy="339"/>
                  </a:xfrm>
                </p:grpSpPr>
                <p:sp>
                  <p:nvSpPr>
                    <p:cNvPr id="89" name="Rectangle 124"/>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0" name="Rectangle 125"/>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1" name="Rectangle 126"/>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2" name="Rectangle 127"/>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3" name="Rectangle 128"/>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4" name="AutoShape 129"/>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95" name="Picture 130" descr="desktop_computer_stylized_small"/>
                  <p:cNvPicPr>
                    <a:picLocks noChangeAspect="1" noChangeArrowheads="1"/>
                  </p:cNvPicPr>
                  <p:nvPr/>
                </p:nvPicPr>
                <p:blipFill>
                  <a:blip r:embed="rId2"/>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Rectangle 131"/>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7" name="Freeform 132"/>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Line 133"/>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9" name="Picture 134" descr="tv"/>
                  <p:cNvPicPr>
                    <a:picLocks noChangeAspect="1" noChangeArrowheads="1"/>
                  </p:cNvPicPr>
                  <p:nvPr/>
                </p:nvPicPr>
                <p:blipFill>
                  <a:blip r:embed="rId3"/>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00" name="Group 135"/>
              <p:cNvGrpSpPr/>
              <p:nvPr/>
            </p:nvGrpSpPr>
            <p:grpSpPr bwMode="auto">
              <a:xfrm>
                <a:off x="4203755" y="2345311"/>
                <a:ext cx="850900" cy="527050"/>
                <a:chOff x="-490" y="1664"/>
                <a:chExt cx="1429" cy="842"/>
              </a:xfrm>
            </p:grpSpPr>
            <p:sp>
              <p:nvSpPr>
                <p:cNvPr id="101" name="AutoShape 136"/>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02" name="Group 137"/>
                <p:cNvGrpSpPr/>
                <p:nvPr/>
              </p:nvGrpSpPr>
              <p:grpSpPr bwMode="auto">
                <a:xfrm>
                  <a:off x="-427" y="1737"/>
                  <a:ext cx="1217" cy="769"/>
                  <a:chOff x="-427" y="1737"/>
                  <a:chExt cx="1217" cy="769"/>
                </a:xfrm>
              </p:grpSpPr>
              <p:sp>
                <p:nvSpPr>
                  <p:cNvPr id="103" name="Rectangle 138"/>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04"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5" name="Group 140"/>
                  <p:cNvGrpSpPr/>
                  <p:nvPr/>
                </p:nvGrpSpPr>
                <p:grpSpPr bwMode="auto">
                  <a:xfrm>
                    <a:off x="68" y="2192"/>
                    <a:ext cx="387" cy="139"/>
                    <a:chOff x="322" y="890"/>
                    <a:chExt cx="872" cy="339"/>
                  </a:xfrm>
                </p:grpSpPr>
                <p:sp>
                  <p:nvSpPr>
                    <p:cNvPr id="106" name="Rectangle 141"/>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07" name="Rectangle 142"/>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08" name="Rectangle 143"/>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09" name="Rectangle 144"/>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10" name="Rectangle 145"/>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11" name="AutoShape 146"/>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12" name="Picture 147" descr="desktop_computer_stylized_small"/>
                  <p:cNvPicPr>
                    <a:picLocks noChangeAspect="1" noChangeArrowheads="1"/>
                  </p:cNvPicPr>
                  <p:nvPr/>
                </p:nvPicPr>
                <p:blipFill>
                  <a:blip r:embed="rId2"/>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48"/>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14" name="Freeform 149"/>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5" name="Line 150"/>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6" name="Picture 151" descr="tv"/>
                  <p:cNvPicPr>
                    <a:picLocks noChangeAspect="1" noChangeArrowheads="1"/>
                  </p:cNvPicPr>
                  <p:nvPr/>
                </p:nvPicPr>
                <p:blipFill>
                  <a:blip r:embed="rId3"/>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17" name="Group 152"/>
              <p:cNvGrpSpPr/>
              <p:nvPr/>
            </p:nvGrpSpPr>
            <p:grpSpPr bwMode="auto">
              <a:xfrm>
                <a:off x="5070530" y="2354836"/>
                <a:ext cx="850900" cy="527050"/>
                <a:chOff x="-490" y="1664"/>
                <a:chExt cx="1429" cy="842"/>
              </a:xfrm>
            </p:grpSpPr>
            <p:sp>
              <p:nvSpPr>
                <p:cNvPr id="118" name="AutoShape 153"/>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19" name="Group 154"/>
                <p:cNvGrpSpPr/>
                <p:nvPr/>
              </p:nvGrpSpPr>
              <p:grpSpPr bwMode="auto">
                <a:xfrm>
                  <a:off x="-427" y="1737"/>
                  <a:ext cx="1217" cy="769"/>
                  <a:chOff x="-427" y="1737"/>
                  <a:chExt cx="1217" cy="769"/>
                </a:xfrm>
              </p:grpSpPr>
              <p:sp>
                <p:nvSpPr>
                  <p:cNvPr id="120" name="Rectangle 155"/>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1"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2" name="Group 157"/>
                  <p:cNvGrpSpPr/>
                  <p:nvPr/>
                </p:nvGrpSpPr>
                <p:grpSpPr bwMode="auto">
                  <a:xfrm>
                    <a:off x="68" y="2192"/>
                    <a:ext cx="387" cy="139"/>
                    <a:chOff x="322" y="890"/>
                    <a:chExt cx="872" cy="339"/>
                  </a:xfrm>
                </p:grpSpPr>
                <p:sp>
                  <p:nvSpPr>
                    <p:cNvPr id="123" name="Rectangle 158"/>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4" name="Rectangle 159"/>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5" name="Rectangle 160"/>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6" name="Rectangle 161"/>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7" name="Rectangle 162"/>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8" name="AutoShape 163"/>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29" name="Picture 164" descr="desktop_computer_stylized_small"/>
                  <p:cNvPicPr>
                    <a:picLocks noChangeAspect="1" noChangeArrowheads="1"/>
                  </p:cNvPicPr>
                  <p:nvPr/>
                </p:nvPicPr>
                <p:blipFill>
                  <a:blip r:embed="rId2"/>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 name="Rectangle 165"/>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1" name="Freeform 166"/>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2" name="Line 167"/>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3" name="Picture 168" descr="tv"/>
                  <p:cNvPicPr>
                    <a:picLocks noChangeAspect="1" noChangeArrowheads="1"/>
                  </p:cNvPicPr>
                  <p:nvPr/>
                </p:nvPicPr>
                <p:blipFill>
                  <a:blip r:embed="rId3"/>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725" name="Line 169"/>
              <p:cNvSpPr>
                <a:spLocks noChangeShapeType="1"/>
              </p:cNvSpPr>
              <p:nvPr/>
            </p:nvSpPr>
            <p:spPr bwMode="auto">
              <a:xfrm>
                <a:off x="3657655" y="2248473"/>
                <a:ext cx="369093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4" name="Group 170"/>
              <p:cNvGrpSpPr/>
              <p:nvPr/>
            </p:nvGrpSpPr>
            <p:grpSpPr bwMode="auto">
              <a:xfrm>
                <a:off x="6170985" y="1507111"/>
                <a:ext cx="850900" cy="527050"/>
                <a:chOff x="-490" y="1664"/>
                <a:chExt cx="1429" cy="842"/>
              </a:xfrm>
            </p:grpSpPr>
            <p:sp>
              <p:nvSpPr>
                <p:cNvPr id="135" name="AutoShape 171"/>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36" name="Group 172"/>
                <p:cNvGrpSpPr/>
                <p:nvPr/>
              </p:nvGrpSpPr>
              <p:grpSpPr bwMode="auto">
                <a:xfrm>
                  <a:off x="-427" y="1737"/>
                  <a:ext cx="1217" cy="769"/>
                  <a:chOff x="-427" y="1737"/>
                  <a:chExt cx="1217" cy="769"/>
                </a:xfrm>
              </p:grpSpPr>
              <p:sp>
                <p:nvSpPr>
                  <p:cNvPr id="137" name="Rectangle 173"/>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8"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9" name="Group 175"/>
                  <p:cNvGrpSpPr/>
                  <p:nvPr/>
                </p:nvGrpSpPr>
                <p:grpSpPr bwMode="auto">
                  <a:xfrm>
                    <a:off x="68" y="2192"/>
                    <a:ext cx="387" cy="139"/>
                    <a:chOff x="322" y="890"/>
                    <a:chExt cx="872" cy="339"/>
                  </a:xfrm>
                </p:grpSpPr>
                <p:sp>
                  <p:nvSpPr>
                    <p:cNvPr id="140" name="Rectangle 176"/>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1" name="Rectangle 177"/>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2" name="Rectangle 178"/>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3" name="Rectangle 179"/>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4" name="Rectangle 180"/>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5" name="AutoShape 181"/>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46" name="Picture 182" descr="desktop_computer_stylized_small"/>
                  <p:cNvPicPr>
                    <a:picLocks noChangeAspect="1" noChangeArrowheads="1"/>
                  </p:cNvPicPr>
                  <p:nvPr/>
                </p:nvPicPr>
                <p:blipFill>
                  <a:blip r:embed="rId2"/>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 name="Rectangle 183"/>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8" name="Freeform 184"/>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9" name="Line 185"/>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0" name="Picture 186" descr="tv"/>
                  <p:cNvPicPr>
                    <a:picLocks noChangeAspect="1" noChangeArrowheads="1"/>
                  </p:cNvPicPr>
                  <p:nvPr/>
                </p:nvPicPr>
                <p:blipFill>
                  <a:blip r:embed="rId3"/>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51" name="Line 205"/>
              <p:cNvSpPr>
                <a:spLocks noChangeShapeType="1"/>
              </p:cNvSpPr>
              <p:nvPr/>
            </p:nvSpPr>
            <p:spPr bwMode="auto">
              <a:xfrm flipH="1">
                <a:off x="4762872" y="1918273"/>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2" name="Line 206"/>
              <p:cNvSpPr>
                <a:spLocks noChangeShapeType="1"/>
              </p:cNvSpPr>
              <p:nvPr/>
            </p:nvSpPr>
            <p:spPr bwMode="auto">
              <a:xfrm flipH="1">
                <a:off x="5656317" y="1918273"/>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3" name="Line 207"/>
              <p:cNvSpPr>
                <a:spLocks noChangeShapeType="1"/>
              </p:cNvSpPr>
              <p:nvPr/>
            </p:nvSpPr>
            <p:spPr bwMode="auto">
              <a:xfrm flipH="1">
                <a:off x="6792967" y="1918273"/>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4" name="Freeform 208"/>
              <p:cNvSpPr/>
              <p:nvPr/>
            </p:nvSpPr>
            <p:spPr bwMode="auto">
              <a:xfrm>
                <a:off x="5742042" y="2254823"/>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9" name="Rectangle 44"/>
              <p:cNvSpPr>
                <a:spLocks noChangeArrowheads="1"/>
              </p:cNvSpPr>
              <p:nvPr/>
            </p:nvSpPr>
            <p:spPr bwMode="auto">
              <a:xfrm>
                <a:off x="7086655" y="1823023"/>
                <a:ext cx="955675" cy="700088"/>
              </a:xfrm>
              <a:prstGeom prst="rect">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55" name="Freeform 217"/>
              <p:cNvSpPr/>
              <p:nvPr/>
            </p:nvSpPr>
            <p:spPr bwMode="auto">
              <a:xfrm>
                <a:off x="7345417" y="1940498"/>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chemeClr val="accent1">
                  <a:lumMod val="75000"/>
                </a:schemeClr>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6" name="Freeform 221"/>
              <p:cNvSpPr/>
              <p:nvPr/>
            </p:nvSpPr>
            <p:spPr bwMode="auto">
              <a:xfrm flipV="1">
                <a:off x="7366055" y="2296098"/>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6" name="AutoShape 225"/>
              <p:cNvSpPr>
                <a:spLocks noChangeArrowheads="1"/>
              </p:cNvSpPr>
              <p:nvPr/>
            </p:nvSpPr>
            <p:spPr bwMode="auto">
              <a:xfrm>
                <a:off x="6958385" y="1559498"/>
                <a:ext cx="1206500" cy="261938"/>
              </a:xfrm>
              <a:prstGeom prst="triangle">
                <a:avLst>
                  <a:gd name="adj" fmla="val 50000"/>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57" name="Group 326"/>
              <p:cNvGrpSpPr/>
              <p:nvPr/>
            </p:nvGrpSpPr>
            <p:grpSpPr bwMode="auto">
              <a:xfrm>
                <a:off x="2000305" y="1964311"/>
                <a:ext cx="609600" cy="609600"/>
                <a:chOff x="-44" y="1473"/>
                <a:chExt cx="981" cy="1105"/>
              </a:xfrm>
            </p:grpSpPr>
            <p:pic>
              <p:nvPicPr>
                <p:cNvPr id="158" name="Picture 327" descr="desktop_computer_stylized_medium"/>
                <p:cNvPicPr>
                  <a:picLocks noChangeAspect="1" noChangeArrowheads="1"/>
                </p:cNvPicPr>
                <p:nvPr/>
              </p:nvPicPr>
              <p:blipFill>
                <a:blip r:embed="rId4"/>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 name="Freeform 328"/>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59" name="Group 5"/>
              <p:cNvGrpSpPr/>
              <p:nvPr/>
            </p:nvGrpSpPr>
            <p:grpSpPr bwMode="auto">
              <a:xfrm>
                <a:off x="1278391" y="2337689"/>
                <a:ext cx="3887788" cy="1490663"/>
                <a:chOff x="-245" y="1511"/>
                <a:chExt cx="2449" cy="939"/>
              </a:xfrm>
            </p:grpSpPr>
            <p:sp>
              <p:nvSpPr>
                <p:cNvPr id="260" name="Text Box 6"/>
                <p:cNvSpPr txBox="1">
                  <a:spLocks noChangeArrowheads="1"/>
                </p:cNvSpPr>
                <p:nvPr/>
              </p:nvSpPr>
              <p:spPr bwMode="auto">
                <a:xfrm>
                  <a:off x="-245" y="2004"/>
                  <a:ext cx="244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lvl="0" algn="ctr">
                    <a:defRPr/>
                  </a:pPr>
                  <a:r>
                    <a:rPr kumimoji="0" lang="en-US" altLang="en-US" sz="2000" b="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数据、电视</a:t>
                  </a:r>
                  <a:r>
                    <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信号</a:t>
                  </a:r>
                  <a:r>
                    <a:rPr lang="zh-CN" altLang="en-US" sz="2000" dirty="0">
                      <a:solidFill>
                        <a:prstClr val="black"/>
                      </a:solidFill>
                      <a:latin typeface="微软雅黑" panose="020B0503020204020204" pitchFamily="34" charset="-122"/>
                      <a:ea typeface="微软雅黑" panose="020B0503020204020204" pitchFamily="34" charset="-122"/>
                    </a:rPr>
                    <a:t>，</a:t>
                  </a:r>
                  <a:br>
                    <a:rPr lang="en-US" altLang="zh-CN" sz="2000" dirty="0">
                      <a:solidFill>
                        <a:prstClr val="black"/>
                      </a:solidFill>
                      <a:latin typeface="微软雅黑" panose="020B0503020204020204" pitchFamily="34" charset="-122"/>
                      <a:ea typeface="微软雅黑" panose="020B0503020204020204" pitchFamily="34" charset="-122"/>
                    </a:rPr>
                  </a:br>
                  <a:r>
                    <a:rPr kumimoji="0" lang="en-US" altLang="en-US" sz="2000" b="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以不同的频率</a:t>
                  </a:r>
                  <a:r>
                    <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a:t>
                  </a:r>
                  <a:r>
                    <a:rPr lang="en-US" altLang="en-US" sz="2000" dirty="0" err="1">
                      <a:solidFill>
                        <a:prstClr val="black"/>
                      </a:solidFill>
                      <a:latin typeface="微软雅黑" panose="020B0503020204020204" pitchFamily="34" charset="-122"/>
                      <a:ea typeface="微软雅黑" panose="020B0503020204020204" pitchFamily="34" charset="-122"/>
                    </a:rPr>
                    <a:t>共享电缆上传输</a:t>
                  </a:r>
                  <a:endPar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61" name="Line 7"/>
                <p:cNvSpPr>
                  <a:spLocks noChangeShapeType="1"/>
                </p:cNvSpPr>
                <p:nvPr/>
              </p:nvSpPr>
              <p:spPr bwMode="auto">
                <a:xfrm flipV="1">
                  <a:off x="1470" y="1511"/>
                  <a:ext cx="282" cy="476"/>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60" name="Group 4"/>
              <p:cNvGrpSpPr/>
              <p:nvPr/>
            </p:nvGrpSpPr>
            <p:grpSpPr>
              <a:xfrm>
                <a:off x="6470486" y="2229423"/>
                <a:ext cx="4010399" cy="1858963"/>
                <a:chOff x="6470486" y="2229423"/>
                <a:chExt cx="4010399" cy="1858963"/>
              </a:xfrm>
            </p:grpSpPr>
            <p:grpSp>
              <p:nvGrpSpPr>
                <p:cNvPr id="161" name="Group 175"/>
                <p:cNvGrpSpPr/>
                <p:nvPr/>
              </p:nvGrpSpPr>
              <p:grpSpPr bwMode="auto">
                <a:xfrm>
                  <a:off x="7701172" y="2411990"/>
                  <a:ext cx="2779713" cy="338138"/>
                  <a:chOff x="3912" y="1497"/>
                  <a:chExt cx="1751" cy="213"/>
                </a:xfrm>
              </p:grpSpPr>
              <p:sp>
                <p:nvSpPr>
                  <p:cNvPr id="162" name="Line 176"/>
                  <p:cNvSpPr>
                    <a:spLocks noChangeShapeType="1"/>
                  </p:cNvSpPr>
                  <p:nvPr/>
                </p:nvSpPr>
                <p:spPr bwMode="auto">
                  <a:xfrm flipH="1" flipV="1">
                    <a:off x="3912" y="1497"/>
                    <a:ext cx="711" cy="94"/>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3" name="Text Box 177"/>
                  <p:cNvSpPr txBox="1">
                    <a:spLocks noChangeArrowheads="1"/>
                  </p:cNvSpPr>
                  <p:nvPr/>
                </p:nvSpPr>
                <p:spPr bwMode="auto">
                  <a:xfrm>
                    <a:off x="4411" y="1504"/>
                    <a:ext cx="125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auto" latinLnBrk="0" hangingPunct="1">
                      <a:lnSpc>
                        <a:spcPct val="85000"/>
                      </a:lnSpc>
                      <a:spcBef>
                        <a:spcPts val="0"/>
                      </a:spcBef>
                      <a:spcAft>
                        <a:spcPts val="0"/>
                      </a:spcAft>
                      <a:buClrTx/>
                      <a:buSzTx/>
                      <a:buFontTx/>
                      <a:buNone/>
                      <a:defRPr/>
                    </a:pPr>
                    <a:endParaRPr kumimoji="0" lang="en-US" altLang="en-US" sz="18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64" name="Text Box 126"/>
                <p:cNvSpPr txBox="1">
                  <a:spLocks noChangeArrowheads="1"/>
                </p:cNvSpPr>
                <p:nvPr/>
              </p:nvSpPr>
              <p:spPr bwMode="auto">
                <a:xfrm>
                  <a:off x="6470486" y="2525371"/>
                  <a:ext cx="14092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电缆头端</a:t>
                  </a:r>
                  <a:endPar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5" name="Freeform 174"/>
                <p:cNvSpPr/>
                <p:nvPr/>
              </p:nvSpPr>
              <p:spPr bwMode="auto">
                <a:xfrm>
                  <a:off x="7742447" y="2229423"/>
                  <a:ext cx="206375" cy="927100"/>
                </a:xfrm>
                <a:custGeom>
                  <a:avLst/>
                  <a:gdLst>
                    <a:gd name="T0" fmla="*/ 0 w 130"/>
                    <a:gd name="T1" fmla="*/ 0 h 584"/>
                    <a:gd name="T2" fmla="*/ 2147483647 w 130"/>
                    <a:gd name="T3" fmla="*/ 0 h 584"/>
                    <a:gd name="T4" fmla="*/ 2147483647 w 130"/>
                    <a:gd name="T5" fmla="*/ 2147483647 h 584"/>
                    <a:gd name="T6" fmla="*/ 0 60000 65536"/>
                    <a:gd name="T7" fmla="*/ 0 60000 65536"/>
                    <a:gd name="T8" fmla="*/ 0 60000 65536"/>
                    <a:gd name="T9" fmla="*/ 0 w 130"/>
                    <a:gd name="T10" fmla="*/ 0 h 584"/>
                    <a:gd name="T11" fmla="*/ 130 w 130"/>
                    <a:gd name="T12" fmla="*/ 584 h 584"/>
                  </a:gdLst>
                  <a:ahLst/>
                  <a:cxnLst>
                    <a:cxn ang="T6">
                      <a:pos x="T0" y="T1"/>
                    </a:cxn>
                    <a:cxn ang="T7">
                      <a:pos x="T2" y="T3"/>
                    </a:cxn>
                    <a:cxn ang="T8">
                      <a:pos x="T4" y="T5"/>
                    </a:cxn>
                  </a:cxnLst>
                  <a:rect l="T9" t="T10" r="T11" b="T12"/>
                  <a:pathLst>
                    <a:path w="130" h="584">
                      <a:moveTo>
                        <a:pt x="0" y="0"/>
                      </a:moveTo>
                      <a:lnTo>
                        <a:pt x="130" y="0"/>
                      </a:lnTo>
                      <a:lnTo>
                        <a:pt x="130" y="584"/>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66" name="Group 3"/>
                <p:cNvGrpSpPr/>
                <p:nvPr/>
              </p:nvGrpSpPr>
              <p:grpSpPr>
                <a:xfrm>
                  <a:off x="6634372" y="2940623"/>
                  <a:ext cx="2178050" cy="1147763"/>
                  <a:chOff x="6634372" y="2940623"/>
                  <a:chExt cx="2178050" cy="1147763"/>
                </a:xfrm>
              </p:grpSpPr>
              <p:sp>
                <p:nvSpPr>
                  <p:cNvPr id="167" name="Freeform 129"/>
                  <p:cNvSpPr/>
                  <p:nvPr/>
                </p:nvSpPr>
                <p:spPr bwMode="auto">
                  <a:xfrm>
                    <a:off x="6634372" y="2940623"/>
                    <a:ext cx="2178050" cy="1147763"/>
                  </a:xfrm>
                  <a:custGeom>
                    <a:avLst/>
                    <a:gdLst>
                      <a:gd name="T0" fmla="*/ 1509012 w 765"/>
                      <a:gd name="T1" fmla="*/ 5729 h 459"/>
                      <a:gd name="T2" fmla="*/ 1027025 w 765"/>
                      <a:gd name="T3" fmla="*/ 40395 h 459"/>
                      <a:gd name="T4" fmla="*/ 340902 w 765"/>
                      <a:gd name="T5" fmla="*/ 58024 h 459"/>
                      <a:gd name="T6" fmla="*/ 49874 w 765"/>
                      <a:gd name="T7" fmla="*/ 194383 h 459"/>
                      <a:gd name="T8" fmla="*/ 640932 w 765"/>
                      <a:gd name="T9" fmla="*/ 256788 h 459"/>
                      <a:gd name="T10" fmla="*/ 1233656 w 765"/>
                      <a:gd name="T11" fmla="*/ 246677 h 459"/>
                      <a:gd name="T12" fmla="*/ 2079640 w 765"/>
                      <a:gd name="T13" fmla="*/ 256788 h 459"/>
                      <a:gd name="T14" fmla="*/ 2485867 w 765"/>
                      <a:gd name="T15" fmla="*/ 251149 h 459"/>
                      <a:gd name="T16" fmla="*/ 2678580 w 765"/>
                      <a:gd name="T17" fmla="*/ 215337 h 459"/>
                      <a:gd name="T18" fmla="*/ 2671282 w 765"/>
                      <a:gd name="T19" fmla="*/ 91397 h 459"/>
                      <a:gd name="T20" fmla="*/ 2357408 w 765"/>
                      <a:gd name="T21" fmla="*/ 19830 h 459"/>
                      <a:gd name="T22" fmla="*/ 1509012 w 765"/>
                      <a:gd name="T23" fmla="*/ 5729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8" name="Line 130"/>
                  <p:cNvSpPr>
                    <a:spLocks noChangeShapeType="1"/>
                  </p:cNvSpPr>
                  <p:nvPr/>
                </p:nvSpPr>
                <p:spPr bwMode="auto">
                  <a:xfrm flipV="1">
                    <a:off x="7464635" y="3294636"/>
                    <a:ext cx="168275" cy="1206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9" name="Line 131"/>
                  <p:cNvSpPr>
                    <a:spLocks noChangeShapeType="1"/>
                  </p:cNvSpPr>
                  <p:nvPr/>
                </p:nvSpPr>
                <p:spPr bwMode="auto">
                  <a:xfrm>
                    <a:off x="7231272" y="3534348"/>
                    <a:ext cx="0" cy="1143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0" name="Line 132"/>
                  <p:cNvSpPr>
                    <a:spLocks noChangeShapeType="1"/>
                  </p:cNvSpPr>
                  <p:nvPr/>
                </p:nvSpPr>
                <p:spPr bwMode="auto">
                  <a:xfrm flipV="1">
                    <a:off x="7464635" y="3391473"/>
                    <a:ext cx="358775" cy="400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1" name="Line 133"/>
                  <p:cNvSpPr>
                    <a:spLocks noChangeShapeType="1"/>
                  </p:cNvSpPr>
                  <p:nvPr/>
                </p:nvSpPr>
                <p:spPr bwMode="auto">
                  <a:xfrm>
                    <a:off x="7961522" y="3389886"/>
                    <a:ext cx="0" cy="2714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2" name="Line 134"/>
                  <p:cNvSpPr>
                    <a:spLocks noChangeShapeType="1"/>
                  </p:cNvSpPr>
                  <p:nvPr/>
                </p:nvSpPr>
                <p:spPr bwMode="auto">
                  <a:xfrm>
                    <a:off x="7490035" y="3813748"/>
                    <a:ext cx="2571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Line 135"/>
                  <p:cNvSpPr>
                    <a:spLocks noChangeShapeType="1"/>
                  </p:cNvSpPr>
                  <p:nvPr/>
                </p:nvSpPr>
                <p:spPr bwMode="auto">
                  <a:xfrm>
                    <a:off x="8245685" y="3801048"/>
                    <a:ext cx="241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Line 172"/>
                  <p:cNvSpPr>
                    <a:spLocks noChangeShapeType="1"/>
                  </p:cNvSpPr>
                  <p:nvPr/>
                </p:nvSpPr>
                <p:spPr bwMode="auto">
                  <a:xfrm>
                    <a:off x="8510797" y="3797873"/>
                    <a:ext cx="242888"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5" name="Text Box 580"/>
                  <p:cNvSpPr txBox="1">
                    <a:spLocks noChangeArrowheads="1"/>
                  </p:cNvSpPr>
                  <p:nvPr/>
                </p:nvSpPr>
                <p:spPr bwMode="auto">
                  <a:xfrm>
                    <a:off x="8207585" y="3191448"/>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ISP</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76" name="Group 301"/>
                  <p:cNvGrpSpPr/>
                  <p:nvPr/>
                </p:nvGrpSpPr>
                <p:grpSpPr>
                  <a:xfrm>
                    <a:off x="6972551" y="3193191"/>
                    <a:ext cx="576221" cy="330754"/>
                    <a:chOff x="7493876" y="2774731"/>
                    <a:chExt cx="1481958" cy="894622"/>
                  </a:xfrm>
                </p:grpSpPr>
                <p:sp>
                  <p:nvSpPr>
                    <p:cNvPr id="177" name="Freeform 302"/>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8" name="Oval 303"/>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79" name="Group 304"/>
                    <p:cNvGrpSpPr/>
                    <p:nvPr/>
                  </p:nvGrpSpPr>
                  <p:grpSpPr>
                    <a:xfrm>
                      <a:off x="7713663" y="2848339"/>
                      <a:ext cx="1042107" cy="425543"/>
                      <a:chOff x="7786941" y="2884917"/>
                      <a:chExt cx="897649" cy="353919"/>
                    </a:xfrm>
                  </p:grpSpPr>
                  <p:sp>
                    <p:nvSpPr>
                      <p:cNvPr id="180" name="Freeform 305"/>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1" name="Freeform 306"/>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307"/>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308"/>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4" name="Group 309"/>
                  <p:cNvGrpSpPr/>
                  <p:nvPr/>
                </p:nvGrpSpPr>
                <p:grpSpPr>
                  <a:xfrm>
                    <a:off x="6955883" y="3598924"/>
                    <a:ext cx="576221" cy="330754"/>
                    <a:chOff x="7493876" y="2774731"/>
                    <a:chExt cx="1481958" cy="894622"/>
                  </a:xfrm>
                </p:grpSpPr>
                <p:sp>
                  <p:nvSpPr>
                    <p:cNvPr id="185" name="Freeform 310"/>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6" name="Oval 311"/>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7" name="Group 312"/>
                    <p:cNvGrpSpPr/>
                    <p:nvPr/>
                  </p:nvGrpSpPr>
                  <p:grpSpPr>
                    <a:xfrm>
                      <a:off x="7713663" y="2848339"/>
                      <a:ext cx="1042107" cy="425543"/>
                      <a:chOff x="7786941" y="2884917"/>
                      <a:chExt cx="897649" cy="353919"/>
                    </a:xfrm>
                  </p:grpSpPr>
                  <p:sp>
                    <p:nvSpPr>
                      <p:cNvPr id="188" name="Freeform 313"/>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Freeform 314"/>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315"/>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316"/>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2" name="Group 317"/>
                  <p:cNvGrpSpPr/>
                  <p:nvPr/>
                </p:nvGrpSpPr>
                <p:grpSpPr>
                  <a:xfrm>
                    <a:off x="7720114" y="3593282"/>
                    <a:ext cx="576221" cy="330754"/>
                    <a:chOff x="7493876" y="2774731"/>
                    <a:chExt cx="1481958" cy="894622"/>
                  </a:xfrm>
                </p:grpSpPr>
                <p:sp>
                  <p:nvSpPr>
                    <p:cNvPr id="193" name="Freeform 31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4" name="Oval 31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95" name="Group 320"/>
                    <p:cNvGrpSpPr/>
                    <p:nvPr/>
                  </p:nvGrpSpPr>
                  <p:grpSpPr>
                    <a:xfrm>
                      <a:off x="7713663" y="2848339"/>
                      <a:ext cx="1042107" cy="425543"/>
                      <a:chOff x="7786941" y="2884917"/>
                      <a:chExt cx="897649" cy="353919"/>
                    </a:xfrm>
                  </p:grpSpPr>
                  <p:sp>
                    <p:nvSpPr>
                      <p:cNvPr id="196" name="Freeform 32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Freeform 32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32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9" name="Freeform 32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0" name="Group 266"/>
                  <p:cNvGrpSpPr/>
                  <p:nvPr/>
                </p:nvGrpSpPr>
                <p:grpSpPr>
                  <a:xfrm>
                    <a:off x="7618622" y="3082478"/>
                    <a:ext cx="576221" cy="330754"/>
                    <a:chOff x="7493876" y="2774731"/>
                    <a:chExt cx="1481958" cy="894622"/>
                  </a:xfrm>
                </p:grpSpPr>
                <p:sp>
                  <p:nvSpPr>
                    <p:cNvPr id="201" name="Freeform 275"/>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2" name="Oval 276"/>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03" name="Group 277"/>
                    <p:cNvGrpSpPr/>
                    <p:nvPr/>
                  </p:nvGrpSpPr>
                  <p:grpSpPr>
                    <a:xfrm>
                      <a:off x="7713663" y="2848339"/>
                      <a:ext cx="1042107" cy="425543"/>
                      <a:chOff x="7786941" y="2884917"/>
                      <a:chExt cx="897649" cy="353919"/>
                    </a:xfrm>
                  </p:grpSpPr>
                  <p:sp>
                    <p:nvSpPr>
                      <p:cNvPr id="204" name="Freeform 278"/>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5" name="Freeform 279"/>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80"/>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 name="Freeform 281"/>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sp>
            <p:nvSpPr>
              <p:cNvPr id="751" name="Freeform 216"/>
              <p:cNvSpPr/>
              <p:nvPr/>
            </p:nvSpPr>
            <p:spPr bwMode="auto">
              <a:xfrm>
                <a:off x="7343830" y="2005586"/>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100000">
                    <a:schemeClr val="accent1">
                      <a:lumMod val="60000"/>
                      <a:lumOff val="40000"/>
                    </a:schemeClr>
                  </a:gs>
                </a:gsLst>
                <a:lin ang="0" scaled="1"/>
              </a:gra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5" name="Freeform 220"/>
              <p:cNvSpPr/>
              <p:nvPr/>
            </p:nvSpPr>
            <p:spPr bwMode="auto">
              <a:xfrm>
                <a:off x="7366055" y="2059561"/>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8" name="Freeform 221"/>
              <p:cNvSpPr/>
              <p:nvPr/>
            </p:nvSpPr>
            <p:spPr bwMode="auto">
              <a:xfrm flipV="1">
                <a:off x="7371770" y="2266888"/>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4" name="Line 219"/>
              <p:cNvSpPr>
                <a:spLocks noChangeShapeType="1"/>
              </p:cNvSpPr>
              <p:nvPr/>
            </p:nvSpPr>
            <p:spPr bwMode="auto">
              <a:xfrm>
                <a:off x="7372405" y="2235773"/>
                <a:ext cx="2682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4" name="Text Box 39"/>
              <p:cNvSpPr txBox="1">
                <a:spLocks noChangeArrowheads="1"/>
              </p:cNvSpPr>
              <p:nvPr/>
            </p:nvSpPr>
            <p:spPr bwMode="auto">
              <a:xfrm>
                <a:off x="2595602" y="2248699"/>
                <a:ext cx="877163" cy="777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en-US"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调制</a:t>
                </a:r>
                <a:b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r>
                  <a:rPr kumimoji="0" lang="en-US" altLang="en-US"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解调器</a:t>
                </a:r>
                <a:endPar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7" name="Text Box 41"/>
              <p:cNvSpPr txBox="1">
                <a:spLocks noChangeArrowheads="1"/>
              </p:cNvSpPr>
              <p:nvPr/>
            </p:nvSpPr>
            <p:spPr bwMode="auto">
              <a:xfrm>
                <a:off x="3395975" y="2348444"/>
                <a:ext cx="877163"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80000"/>
                  </a:lnSpc>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分路器</a:t>
                </a:r>
                <a:endPar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sp>
        <p:nvSpPr>
          <p:cNvPr id="210" name="矩形 209"/>
          <p:cNvSpPr/>
          <p:nvPr/>
        </p:nvSpPr>
        <p:spPr>
          <a:xfrm>
            <a:off x="7417566" y="2409100"/>
            <a:ext cx="3898824" cy="1200329"/>
          </a:xfrm>
          <a:prstGeom prst="rect">
            <a:avLst/>
          </a:prstGeom>
          <a:ln>
            <a:solidFill>
              <a:srgbClr val="C00000"/>
            </a:solidFill>
          </a:ln>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我国已广泛升级为</a:t>
            </a:r>
            <a:r>
              <a:rPr lang="en-US" altLang="zh-CN" sz="2400" dirty="0">
                <a:solidFill>
                  <a:prstClr val="black"/>
                </a:solidFill>
                <a:latin typeface="微软雅黑" panose="020B0503020204020204" pitchFamily="34" charset="-122"/>
                <a:ea typeface="微软雅黑" panose="020B0503020204020204" pitchFamily="34" charset="-122"/>
              </a:rPr>
              <a:t>FTTH</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r>
              <a:rPr lang="zh-CN" altLang="en-US" sz="2400" dirty="0">
                <a:solidFill>
                  <a:prstClr val="black"/>
                </a:solidFill>
                <a:latin typeface="微软雅黑" panose="020B0503020204020204" pitchFamily="34" charset="-122"/>
                <a:ea typeface="微软雅黑" panose="020B0503020204020204" pitchFamily="34" charset="-122"/>
              </a:rPr>
              <a:t>美国住宅依然有</a:t>
            </a:r>
            <a:r>
              <a:rPr lang="en-US" altLang="zh-CN" sz="2400" dirty="0">
                <a:solidFill>
                  <a:prstClr val="black"/>
                </a:solidFill>
                <a:latin typeface="微软雅黑" panose="020B0503020204020204" pitchFamily="34" charset="-122"/>
                <a:ea typeface="微软雅黑" panose="020B0503020204020204" pitchFamily="34" charset="-122"/>
              </a:rPr>
              <a:t>80%</a:t>
            </a:r>
            <a:r>
              <a:rPr lang="zh-CN" altLang="en-US" sz="2400" dirty="0">
                <a:solidFill>
                  <a:prstClr val="black"/>
                </a:solidFill>
                <a:latin typeface="微软雅黑" panose="020B0503020204020204" pitchFamily="34" charset="-122"/>
                <a:ea typeface="微软雅黑" panose="020B0503020204020204" pitchFamily="34" charset="-122"/>
              </a:rPr>
              <a:t>多使用</a:t>
            </a:r>
            <a:br>
              <a:rPr lang="en-US" altLang="zh-CN" sz="2400" dirty="0">
                <a:solidFill>
                  <a:prstClr val="black"/>
                </a:solidFill>
                <a:latin typeface="微软雅黑" panose="020B0503020204020204" pitchFamily="34" charset="-122"/>
                <a:ea typeface="微软雅黑" panose="020B0503020204020204" pitchFamily="34" charset="-122"/>
              </a:rPr>
            </a:br>
            <a:r>
              <a:rPr lang="en-US" altLang="zh-CN" sz="2400" dirty="0">
                <a:solidFill>
                  <a:prstClr val="black"/>
                </a:solidFill>
                <a:latin typeface="微软雅黑" panose="020B0503020204020204" pitchFamily="34" charset="-122"/>
                <a:ea typeface="微软雅黑" panose="020B0503020204020204" pitchFamily="34" charset="-122"/>
              </a:rPr>
              <a:t>DSL</a:t>
            </a:r>
            <a:r>
              <a:rPr lang="zh-CN" altLang="en-US" sz="2400" dirty="0">
                <a:solidFill>
                  <a:prstClr val="black"/>
                </a:solidFill>
                <a:latin typeface="微软雅黑" panose="020B0503020204020204" pitchFamily="34" charset="-122"/>
                <a:ea typeface="微软雅黑" panose="020B0503020204020204" pitchFamily="34" charset="-122"/>
              </a:rPr>
              <a:t>和同轴电缆接入</a:t>
            </a:r>
            <a:r>
              <a:rPr lang="en-US" altLang="zh-CN" sz="24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a:t>
            </a:r>
            <a:endParaRPr lang="zh-CN" altLang="en-US"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212" name="文本框 211"/>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blinds(horizontal)">
                                      <p:cBhvr>
                                        <p:cTn id="7"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接入网：无线接入</a:t>
            </a:r>
            <a:endParaRPr lang="zh-CN" altLang="en-US" dirty="0"/>
          </a:p>
        </p:txBody>
      </p:sp>
      <p:sp>
        <p:nvSpPr>
          <p:cNvPr id="3" name="内容占位符 2"/>
          <p:cNvSpPr>
            <a:spLocks noGrp="1"/>
          </p:cNvSpPr>
          <p:nvPr>
            <p:ph idx="1"/>
          </p:nvPr>
        </p:nvSpPr>
        <p:spPr/>
        <p:txBody>
          <a:bodyPr/>
          <a:lstStyle/>
          <a:p>
            <a:r>
              <a:rPr lang="zh-CN" altLang="en-US" dirty="0"/>
              <a:t>无线接入网</a:t>
            </a:r>
            <a:r>
              <a:rPr lang="zh-CN" altLang="en-US" dirty="0">
                <a:sym typeface="+mn-ea"/>
              </a:rPr>
              <a:t>通过基站</a:t>
            </a:r>
            <a:r>
              <a:rPr lang="en-US" altLang="zh-CN" dirty="0">
                <a:sym typeface="+mn-ea"/>
              </a:rPr>
              <a:t>(</a:t>
            </a:r>
            <a:r>
              <a:rPr lang="zh-CN" altLang="en-US" dirty="0">
                <a:sym typeface="+mn-ea"/>
              </a:rPr>
              <a:t>“接入点”</a:t>
            </a:r>
            <a:r>
              <a:rPr lang="en-US" altLang="zh-CN" dirty="0">
                <a:sym typeface="+mn-ea"/>
              </a:rPr>
              <a:t>)</a:t>
            </a:r>
            <a:r>
              <a:rPr lang="zh-CN" altLang="en-US" dirty="0">
                <a:sym typeface="+mn-ea"/>
              </a:rPr>
              <a:t>将</a:t>
            </a:r>
            <a:r>
              <a:rPr lang="zh-CN" altLang="en-US" dirty="0"/>
              <a:t>终端系统连接到路由器上</a:t>
            </a:r>
            <a:endParaRPr lang="zh-CN" altLang="en-US" dirty="0"/>
          </a:p>
        </p:txBody>
      </p:sp>
      <p:grpSp>
        <p:nvGrpSpPr>
          <p:cNvPr id="5" name="Group 2"/>
          <p:cNvGrpSpPr/>
          <p:nvPr/>
        </p:nvGrpSpPr>
        <p:grpSpPr>
          <a:xfrm>
            <a:off x="1027781" y="2172337"/>
            <a:ext cx="4720964" cy="3872818"/>
            <a:chOff x="928086" y="2531112"/>
            <a:chExt cx="4720964" cy="3872818"/>
          </a:xfrm>
        </p:grpSpPr>
        <p:sp>
          <p:nvSpPr>
            <p:cNvPr id="275" name="Rectangle 3"/>
            <p:cNvSpPr>
              <a:spLocks noChangeArrowheads="1"/>
            </p:cNvSpPr>
            <p:nvPr/>
          </p:nvSpPr>
          <p:spPr bwMode="auto">
            <a:xfrm>
              <a:off x="928086" y="2531112"/>
              <a:ext cx="4720964" cy="296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MS PGothic" panose="020B0600070205080204" pitchFamily="34" charset="-128"/>
                </a:defRPr>
              </a:lvl1pPr>
              <a:lvl2pPr marL="682625" indent="-225425">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342900" marR="0" lvl="0" indent="-342900" algn="l" defTabSz="914400" rtl="0" eaLnBrk="1" fontAlgn="auto" latinLnBrk="0" hangingPunct="1">
                <a:lnSpc>
                  <a:spcPct val="110000"/>
                </a:lnSpc>
                <a:spcBef>
                  <a:spcPct val="20000"/>
                </a:spcBef>
                <a:spcAft>
                  <a:spcPts val="0"/>
                </a:spcAft>
                <a:buClr>
                  <a:srgbClr val="000099"/>
                </a:buClr>
                <a:buSzPct val="65000"/>
                <a:buFont typeface="Wingdings" panose="05000000000000000000" pitchFamily="2" charset="2"/>
                <a:buNone/>
                <a:defRPr/>
              </a:pPr>
              <a:r>
                <a:rPr kumimoji="0" lang="en-US" altLang="en-US" b="0" i="0" u="none" strike="noStrike" kern="1200" cap="none" spc="0" normalizeH="0" baseline="0" noProof="0" dirty="0" err="1">
                  <a:ln>
                    <a:noFill/>
                  </a:ln>
                  <a:solidFill>
                    <a:srgbClr val="CC0000"/>
                  </a:solidFill>
                  <a:effectLst/>
                  <a:uLnTx/>
                  <a:uFillTx/>
                  <a:latin typeface="微软雅黑" panose="020B0503020204020204" pitchFamily="34" charset="-122"/>
                  <a:ea typeface="微软雅黑" panose="020B0503020204020204" pitchFamily="34" charset="-122"/>
                  <a:cs typeface="+mn-cs"/>
                </a:rPr>
                <a:t>无线局域网</a:t>
              </a:r>
              <a:r>
                <a:rPr kumimoji="0" lang="zh-CN" altLang="en-US"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a:t>
              </a:r>
              <a:r>
                <a:rPr kumimoji="0" lang="en-US" altLang="zh-CN"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WLAN</a:t>
              </a:r>
              <a:r>
                <a:rPr kumimoji="0" lang="zh-CN" altLang="en-US"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a:t>
              </a:r>
              <a:endParaRPr kumimoji="0" lang="en-US" altLang="en-US" b="0" i="0" u="none" strike="noStrike" kern="1200" cap="none" spc="0" normalizeH="0" baseline="0" noProof="0" dirty="0">
                <a:ln>
                  <a:noFill/>
                </a:ln>
                <a:solidFill>
                  <a:srgbClr val="CC0000"/>
                </a:solidFill>
                <a:effectLst/>
                <a:uLnTx/>
                <a:uFillTx/>
                <a:latin typeface="Calibri" panose="020F0502020204030204"/>
                <a:ea typeface="MS PGothic" panose="020B0600070205080204" pitchFamily="34" charset="-128"/>
                <a:cs typeface="+mn-cs"/>
              </a:endParaRPr>
            </a:p>
            <a:p>
              <a:pPr marL="342900" marR="0" lvl="0" indent="-342900" algn="l" defTabSz="914400" rtl="0" eaLnBrk="1" fontAlgn="auto" latinLnBrk="0" hangingPunct="1">
                <a:lnSpc>
                  <a:spcPct val="110000"/>
                </a:lnSpc>
                <a:spcBef>
                  <a:spcPct val="20000"/>
                </a:spcBef>
                <a:spcAft>
                  <a:spcPts val="0"/>
                </a:spcAft>
                <a:buClr>
                  <a:srgbClr val="000099"/>
                </a:buClr>
                <a:buSzPct val="65000"/>
                <a:buFont typeface="Arial" panose="020B0604020202020204" pitchFamily="34" charset="0"/>
                <a:buChar char="•"/>
                <a:defRPr/>
              </a:pPr>
              <a:r>
                <a:rPr kumimoji="0" lang="en-US" altLang="en-US" sz="20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通常在建筑物内或周围</a:t>
              </a: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10</a:t>
              </a:r>
              <a:r>
                <a:rPr lang="en-US"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米</a:t>
              </a: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fontAlgn="auto" latinLnBrk="0" hangingPunct="1">
                <a:lnSpc>
                  <a:spcPct val="110000"/>
                </a:lnSpc>
                <a:spcBef>
                  <a:spcPct val="20000"/>
                </a:spcBef>
                <a:spcAft>
                  <a:spcPts val="0"/>
                </a:spcAft>
                <a:buClr>
                  <a:srgbClr val="000099"/>
                </a:buClr>
                <a:buSzPct val="65000"/>
                <a:buFont typeface="Arial" panose="020B0604020202020204" pitchFamily="34" charset="0"/>
                <a:buChar char="•"/>
                <a:defRPr/>
              </a:pP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802.11b/g/</a:t>
              </a:r>
              <a:r>
                <a:rPr kumimoji="0" lang="en-US" altLang="en-US" sz="20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n（WiFi</a:t>
              </a: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b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b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11、54、450 </a:t>
              </a:r>
              <a:r>
                <a:rPr kumimoji="0" lang="en-US" altLang="en-US" sz="20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Mbps等传输速率</a:t>
              </a:r>
              <a:endPar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spcBef>
                  <a:spcPct val="20000"/>
                </a:spcBef>
                <a:buClr>
                  <a:srgbClr val="000099"/>
                </a:buClr>
                <a:buSzPct val="65000"/>
                <a:buFont typeface="Arial" panose="020B0604020202020204" pitchFamily="34" charset="0"/>
                <a:buChar char="•"/>
                <a:defRPr/>
              </a:pP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Wi-Fi 6</a:t>
              </a:r>
              <a:r>
                <a:rPr lang="zh-CN"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最高速率可达</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9.6</a:t>
              </a:r>
              <a:r>
                <a:rPr lang="en-US"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Gbps</a:t>
              </a:r>
              <a:endPar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76" name="Group 85"/>
            <p:cNvGrpSpPr/>
            <p:nvPr/>
          </p:nvGrpSpPr>
          <p:grpSpPr bwMode="auto">
            <a:xfrm>
              <a:off x="1457197" y="4740844"/>
              <a:ext cx="2487613" cy="1562100"/>
              <a:chOff x="2889" y="1631"/>
              <a:chExt cx="980" cy="743"/>
            </a:xfrm>
          </p:grpSpPr>
          <p:sp>
            <p:nvSpPr>
              <p:cNvPr id="277" name="Rectangle 86"/>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278" name="AutoShape 87"/>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mn-cs"/>
                </a:endParaRPr>
              </a:p>
            </p:txBody>
          </p:sp>
        </p:grpSp>
        <p:sp>
          <p:nvSpPr>
            <p:cNvPr id="279" name="Line 110"/>
            <p:cNvSpPr>
              <a:spLocks noChangeShapeType="1"/>
            </p:cNvSpPr>
            <p:nvPr/>
          </p:nvSpPr>
          <p:spPr bwMode="auto">
            <a:xfrm>
              <a:off x="3123661" y="6082085"/>
              <a:ext cx="934073" cy="396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0" name="Line 116"/>
            <p:cNvSpPr>
              <a:spLocks noChangeShapeType="1"/>
            </p:cNvSpPr>
            <p:nvPr/>
          </p:nvSpPr>
          <p:spPr bwMode="auto">
            <a:xfrm flipV="1">
              <a:off x="2501772" y="6010844"/>
              <a:ext cx="287338" cy="47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3" name="Group 246"/>
            <p:cNvGrpSpPr/>
            <p:nvPr/>
          </p:nvGrpSpPr>
          <p:grpSpPr bwMode="auto">
            <a:xfrm>
              <a:off x="2025522" y="5620319"/>
              <a:ext cx="863600" cy="588962"/>
              <a:chOff x="2967" y="478"/>
              <a:chExt cx="788" cy="625"/>
            </a:xfrm>
          </p:grpSpPr>
          <p:pic>
            <p:nvPicPr>
              <p:cNvPr id="384" name="Picture 247" descr="access_point_stylized_small"/>
              <p:cNvPicPr>
                <a:picLocks noChangeAspect="1" noChangeArrowheads="1"/>
              </p:cNvPicPr>
              <p:nvPr/>
            </p:nvPicPr>
            <p:blipFill>
              <a:blip r:embed="rId1"/>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5" name="Picture 248" descr="antenna_radiation_stylized"/>
              <p:cNvPicPr>
                <a:picLocks noChangeAspect="1" noChangeArrowheads="1"/>
              </p:cNvPicPr>
              <p:nvPr/>
            </p:nvPicPr>
            <p:blipFill>
              <a:blip r:embed="rId2"/>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86" name="Group 390"/>
            <p:cNvGrpSpPr/>
            <p:nvPr/>
          </p:nvGrpSpPr>
          <p:grpSpPr bwMode="auto">
            <a:xfrm>
              <a:off x="1939797" y="4851969"/>
              <a:ext cx="757238" cy="682625"/>
              <a:chOff x="877" y="1008"/>
              <a:chExt cx="2747" cy="2591"/>
            </a:xfrm>
          </p:grpSpPr>
          <p:pic>
            <p:nvPicPr>
              <p:cNvPr id="387" name="Picture 391" descr="antenna_stylized"/>
              <p:cNvPicPr>
                <a:picLocks noChangeAspect="1" noChangeArrowheads="1"/>
              </p:cNvPicPr>
              <p:nvPr/>
            </p:nvPicPr>
            <p:blipFill>
              <a:blip r:embed="rId3"/>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8" name="Picture 392" descr="laptop_keyboard"/>
              <p:cNvPicPr>
                <a:picLocks noChangeAspect="1" noChangeArrowheads="1"/>
              </p:cNvPicPr>
              <p:nvPr/>
            </p:nvPicPr>
            <p:blipFill>
              <a:blip r:embed="rId4"/>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 name="Freeform 393"/>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0" name="Picture 394" descr="screen"/>
              <p:cNvPicPr>
                <a:picLocks noChangeAspect="1" noChangeArrowheads="1"/>
              </p:cNvPicPr>
              <p:nvPr/>
            </p:nvPicPr>
            <p:blipFill>
              <a:blip r:embed="rId5"/>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1" name="Freeform 395"/>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2" name="Freeform 396"/>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3" name="Freeform 397"/>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4" name="Freeform 398"/>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1" name="Freeform 399"/>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2" name="Freeform 400"/>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13" name="Group 401"/>
              <p:cNvGrpSpPr/>
              <p:nvPr/>
            </p:nvGrpSpPr>
            <p:grpSpPr bwMode="auto">
              <a:xfrm>
                <a:off x="1709" y="3008"/>
                <a:ext cx="507" cy="234"/>
                <a:chOff x="1740" y="2642"/>
                <a:chExt cx="752" cy="327"/>
              </a:xfrm>
            </p:grpSpPr>
            <p:sp>
              <p:nvSpPr>
                <p:cNvPr id="428" name="Freeform 402"/>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9" name="Freeform 403"/>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0" name="Freeform 404"/>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1" name="Freeform 405"/>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2" name="Freeform 406"/>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3" name="Freeform 407"/>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14" name="Freeform 408"/>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5" name="Freeform 409"/>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6" name="Freeform 410"/>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7" name="Freeform 411"/>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8" name="Freeform 412"/>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7" name="Freeform 413"/>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94" name="Text Box 446"/>
            <p:cNvSpPr txBox="1">
              <a:spLocks noChangeArrowheads="1"/>
            </p:cNvSpPr>
            <p:nvPr/>
          </p:nvSpPr>
          <p:spPr bwMode="auto">
            <a:xfrm>
              <a:off x="3690431" y="6037217"/>
              <a:ext cx="1212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1"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mn-cs"/>
                </a:rPr>
                <a:t>to Internet</a:t>
              </a:r>
              <a:endParaRPr kumimoji="0" lang="en-US" altLang="en-US" sz="1800" b="0" i="1"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mn-cs"/>
              </a:endParaRPr>
            </a:p>
          </p:txBody>
        </p:sp>
        <p:grpSp>
          <p:nvGrpSpPr>
            <p:cNvPr id="496" name="Group 114"/>
            <p:cNvGrpSpPr/>
            <p:nvPr/>
          </p:nvGrpSpPr>
          <p:grpSpPr bwMode="auto">
            <a:xfrm>
              <a:off x="2828797" y="4912294"/>
              <a:ext cx="636588" cy="879475"/>
              <a:chOff x="5806938" y="3011924"/>
              <a:chExt cx="347997" cy="396620"/>
            </a:xfrm>
          </p:grpSpPr>
          <p:pic>
            <p:nvPicPr>
              <p:cNvPr id="497" name="Picture 117" descr="fridge2.png"/>
              <p:cNvPicPr>
                <a:picLocks noChangeAspect="1"/>
              </p:cNvPicPr>
              <p:nvPr/>
            </p:nvPicPr>
            <p:blipFill>
              <a:blip r:embed="rId6"/>
              <a:srcRect/>
              <a:stretch>
                <a:fillRect/>
              </a:stretch>
            </p:blipFill>
            <p:spPr bwMode="auto">
              <a:xfrm>
                <a:off x="5906702" y="307151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8" name="Picture 1115" descr="antenna_stylized"/>
              <p:cNvPicPr>
                <a:picLocks noChangeAspect="1" noChangeArrowheads="1"/>
              </p:cNvPicPr>
              <p:nvPr/>
            </p:nvPicPr>
            <p:blipFill>
              <a:blip r:embed="rId7"/>
              <a:srcRect/>
              <a:stretch>
                <a:fillRect/>
              </a:stretch>
            </p:blipFill>
            <p:spPr bwMode="auto">
              <a:xfrm>
                <a:off x="5806938" y="301192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20" name="Group 519"/>
            <p:cNvGrpSpPr/>
            <p:nvPr/>
          </p:nvGrpSpPr>
          <p:grpSpPr>
            <a:xfrm>
              <a:off x="2789999" y="5883655"/>
              <a:ext cx="686068" cy="362749"/>
              <a:chOff x="7493876" y="2774731"/>
              <a:chExt cx="1481958" cy="894622"/>
            </a:xfrm>
          </p:grpSpPr>
          <p:sp>
            <p:nvSpPr>
              <p:cNvPr id="521" name="Freeform 520"/>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2" name="Oval 521"/>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23" name="Group 522"/>
              <p:cNvGrpSpPr/>
              <p:nvPr/>
            </p:nvGrpSpPr>
            <p:grpSpPr>
              <a:xfrm>
                <a:off x="7713663" y="2848339"/>
                <a:ext cx="1042107" cy="425543"/>
                <a:chOff x="7786941" y="2884917"/>
                <a:chExt cx="897649" cy="353919"/>
              </a:xfrm>
            </p:grpSpPr>
            <p:sp>
              <p:nvSpPr>
                <p:cNvPr id="524" name="Freeform 523"/>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5" name="Freeform 524"/>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6" name="Freeform 525"/>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7" name="Freeform 526"/>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6" name="Group 1"/>
          <p:cNvGrpSpPr/>
          <p:nvPr/>
        </p:nvGrpSpPr>
        <p:grpSpPr>
          <a:xfrm>
            <a:off x="6438177" y="2172337"/>
            <a:ext cx="5443549" cy="3889326"/>
            <a:chOff x="6525807" y="2286637"/>
            <a:chExt cx="5443549" cy="3889326"/>
          </a:xfrm>
        </p:grpSpPr>
        <p:sp>
          <p:nvSpPr>
            <p:cNvPr id="435" name="Freeform 84"/>
            <p:cNvSpPr/>
            <p:nvPr/>
          </p:nvSpPr>
          <p:spPr bwMode="auto">
            <a:xfrm>
              <a:off x="6874928" y="4765952"/>
              <a:ext cx="2365994" cy="1410011"/>
            </a:xfrm>
            <a:custGeom>
              <a:avLst/>
              <a:gdLst>
                <a:gd name="T0" fmla="*/ 1388 w 1036"/>
                <a:gd name="T1" fmla="*/ 11 h 675"/>
                <a:gd name="T2" fmla="*/ 837 w 1036"/>
                <a:gd name="T3" fmla="*/ 53 h 675"/>
                <a:gd name="T4" fmla="*/ 442 w 1036"/>
                <a:gd name="T5" fmla="*/ 129 h 675"/>
                <a:gd name="T6" fmla="*/ 329 w 1036"/>
                <a:gd name="T7" fmla="*/ 229 h 675"/>
                <a:gd name="T8" fmla="*/ 45 w 1036"/>
                <a:gd name="T9" fmla="*/ 297 h 675"/>
                <a:gd name="T10" fmla="*/ 37 w 1036"/>
                <a:gd name="T11" fmla="*/ 459 h 675"/>
                <a:gd name="T12" fmla="*/ 282 w 1036"/>
                <a:gd name="T13" fmla="*/ 489 h 675"/>
                <a:gd name="T14" fmla="*/ 984 w 1036"/>
                <a:gd name="T15" fmla="*/ 489 h 675"/>
                <a:gd name="T16" fmla="*/ 1281 w 1036"/>
                <a:gd name="T17" fmla="*/ 555 h 675"/>
                <a:gd name="T18" fmla="*/ 1612 w 1036"/>
                <a:gd name="T19" fmla="*/ 657 h 675"/>
                <a:gd name="T20" fmla="*/ 1865 w 1036"/>
                <a:gd name="T21" fmla="*/ 661 h 675"/>
                <a:gd name="T22" fmla="*/ 2039 w 1036"/>
                <a:gd name="T23" fmla="*/ 603 h 675"/>
                <a:gd name="T24" fmla="*/ 2128 w 1036"/>
                <a:gd name="T25" fmla="*/ 445 h 675"/>
                <a:gd name="T26" fmla="*/ 2183 w 1036"/>
                <a:gd name="T27" fmla="*/ 291 h 675"/>
                <a:gd name="T28" fmla="*/ 2189 w 1036"/>
                <a:gd name="T29" fmla="*/ 107 h 675"/>
                <a:gd name="T30" fmla="*/ 2001 w 1036"/>
                <a:gd name="T31" fmla="*/ 17 h 675"/>
                <a:gd name="T32" fmla="*/ 1662 w 1036"/>
                <a:gd name="T33" fmla="*/ 3 h 675"/>
                <a:gd name="T34" fmla="*/ 138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6" name="Line 93"/>
            <p:cNvSpPr>
              <a:spLocks noChangeShapeType="1"/>
            </p:cNvSpPr>
            <p:nvPr/>
          </p:nvSpPr>
          <p:spPr bwMode="auto">
            <a:xfrm>
              <a:off x="8360702" y="5771600"/>
              <a:ext cx="203294" cy="325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37" name="Picture 133" descr="car_icon_small"/>
            <p:cNvPicPr>
              <a:picLocks noChangeAspect="1" noChangeArrowheads="1"/>
            </p:cNvPicPr>
            <p:nvPr/>
          </p:nvPicPr>
          <p:blipFill>
            <a:blip r:embed="rId8"/>
            <a:srcRect/>
            <a:stretch>
              <a:fillRect/>
            </a:stretch>
          </p:blipFill>
          <p:spPr bwMode="auto">
            <a:xfrm>
              <a:off x="8427747" y="4780575"/>
              <a:ext cx="1157044" cy="22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8" name="Group 134"/>
            <p:cNvGrpSpPr/>
            <p:nvPr/>
          </p:nvGrpSpPr>
          <p:grpSpPr bwMode="auto">
            <a:xfrm>
              <a:off x="7435067" y="4550795"/>
              <a:ext cx="566627" cy="507604"/>
              <a:chOff x="2751" y="1851"/>
              <a:chExt cx="462" cy="478"/>
            </a:xfrm>
          </p:grpSpPr>
          <p:pic>
            <p:nvPicPr>
              <p:cNvPr id="492" name="Picture 135" descr="iphone_stylized_small"/>
              <p:cNvPicPr>
                <a:picLocks noChangeAspect="1" noChangeArrowheads="1"/>
              </p:cNvPicPr>
              <p:nvPr/>
            </p:nvPicPr>
            <p:blipFill>
              <a:blip r:embed="rId9" cstate="print"/>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3" name="Picture 136" descr="antenna_radiation_stylized"/>
              <p:cNvPicPr>
                <a:picLocks noChangeAspect="1" noChangeArrowheads="1"/>
              </p:cNvPicPr>
              <p:nvPr/>
            </p:nvPicPr>
            <p:blipFill>
              <a:blip r:embed="rId10"/>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9" name="Group 252"/>
            <p:cNvGrpSpPr/>
            <p:nvPr/>
          </p:nvGrpSpPr>
          <p:grpSpPr bwMode="auto">
            <a:xfrm>
              <a:off x="8044949" y="4943509"/>
              <a:ext cx="622858" cy="831384"/>
              <a:chOff x="742" y="2409"/>
              <a:chExt cx="576" cy="881"/>
            </a:xfrm>
          </p:grpSpPr>
          <p:grpSp>
            <p:nvGrpSpPr>
              <p:cNvPr id="474" name="Group 253"/>
              <p:cNvGrpSpPr/>
              <p:nvPr/>
            </p:nvGrpSpPr>
            <p:grpSpPr bwMode="auto">
              <a:xfrm>
                <a:off x="832" y="2643"/>
                <a:ext cx="376" cy="647"/>
                <a:chOff x="3130" y="3288"/>
                <a:chExt cx="410" cy="742"/>
              </a:xfrm>
            </p:grpSpPr>
            <p:sp>
              <p:nvSpPr>
                <p:cNvPr id="477" name="Line 270"/>
                <p:cNvSpPr>
                  <a:spLocks noChangeShapeType="1"/>
                </p:cNvSpPr>
                <p:nvPr/>
              </p:nvSpPr>
              <p:spPr bwMode="auto">
                <a:xfrm flipH="1">
                  <a:off x="3130" y="3288"/>
                  <a:ext cx="205" cy="6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8" name="Line 271"/>
                <p:cNvSpPr>
                  <a:spLocks noChangeShapeType="1"/>
                </p:cNvSpPr>
                <p:nvPr/>
              </p:nvSpPr>
              <p:spPr bwMode="auto">
                <a:xfrm>
                  <a:off x="3335" y="3288"/>
                  <a:ext cx="205" cy="6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9" name="Line 272"/>
                <p:cNvSpPr>
                  <a:spLocks noChangeShapeType="1"/>
                </p:cNvSpPr>
                <p:nvPr/>
              </p:nvSpPr>
              <p:spPr bwMode="auto">
                <a:xfrm>
                  <a:off x="3130"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0" name="Line 273"/>
                <p:cNvSpPr>
                  <a:spLocks noChangeShapeType="1"/>
                </p:cNvSpPr>
                <p:nvPr/>
              </p:nvSpPr>
              <p:spPr bwMode="auto">
                <a:xfrm flipH="1">
                  <a:off x="3335"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1" name="Line 274"/>
                <p:cNvSpPr>
                  <a:spLocks noChangeShapeType="1"/>
                </p:cNvSpPr>
                <p:nvPr/>
              </p:nvSpPr>
              <p:spPr bwMode="auto">
                <a:xfrm>
                  <a:off x="3335" y="3303"/>
                  <a:ext cx="0" cy="7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2" name="Line 275"/>
                <p:cNvSpPr>
                  <a:spLocks noChangeShapeType="1"/>
                </p:cNvSpPr>
                <p:nvPr/>
              </p:nvSpPr>
              <p:spPr bwMode="auto">
                <a:xfrm flipV="1">
                  <a:off x="3130" y="3888"/>
                  <a:ext cx="205" cy="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3" name="Line 276"/>
                <p:cNvSpPr>
                  <a:spLocks noChangeShapeType="1"/>
                </p:cNvSpPr>
                <p:nvPr/>
              </p:nvSpPr>
              <p:spPr bwMode="auto">
                <a:xfrm flipH="1" flipV="1">
                  <a:off x="3335" y="3888"/>
                  <a:ext cx="205" cy="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4" name="Line 277"/>
                <p:cNvSpPr>
                  <a:spLocks noChangeShapeType="1"/>
                </p:cNvSpPr>
                <p:nvPr/>
              </p:nvSpPr>
              <p:spPr bwMode="auto">
                <a:xfrm>
                  <a:off x="3217" y="3668"/>
                  <a:ext cx="118"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5" name="Line 278"/>
                <p:cNvSpPr>
                  <a:spLocks noChangeShapeType="1"/>
                </p:cNvSpPr>
                <p:nvPr/>
              </p:nvSpPr>
              <p:spPr bwMode="auto">
                <a:xfrm flipV="1">
                  <a:off x="3335" y="3668"/>
                  <a:ext cx="124"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Line 279"/>
                <p:cNvSpPr>
                  <a:spLocks noChangeShapeType="1"/>
                </p:cNvSpPr>
                <p:nvPr/>
              </p:nvSpPr>
              <p:spPr bwMode="auto">
                <a:xfrm>
                  <a:off x="3178" y="3766"/>
                  <a:ext cx="152" cy="7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7" name="Line 280"/>
                <p:cNvSpPr>
                  <a:spLocks noChangeShapeType="1"/>
                </p:cNvSpPr>
                <p:nvPr/>
              </p:nvSpPr>
              <p:spPr bwMode="auto">
                <a:xfrm flipV="1">
                  <a:off x="3335" y="3781"/>
                  <a:ext cx="153" cy="6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Line 281"/>
                <p:cNvSpPr>
                  <a:spLocks noChangeShapeType="1"/>
                </p:cNvSpPr>
                <p:nvPr/>
              </p:nvSpPr>
              <p:spPr bwMode="auto">
                <a:xfrm flipV="1">
                  <a:off x="3335" y="3567"/>
                  <a:ext cx="78" cy="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Line 282"/>
                <p:cNvSpPr>
                  <a:spLocks noChangeShapeType="1"/>
                </p:cNvSpPr>
                <p:nvPr/>
              </p:nvSpPr>
              <p:spPr bwMode="auto">
                <a:xfrm flipV="1">
                  <a:off x="3335" y="3428"/>
                  <a:ext cx="49" cy="2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0" name="Line 283"/>
                <p:cNvSpPr>
                  <a:spLocks noChangeShapeType="1"/>
                </p:cNvSpPr>
                <p:nvPr/>
              </p:nvSpPr>
              <p:spPr bwMode="auto">
                <a:xfrm>
                  <a:off x="3247" y="3558"/>
                  <a:ext cx="9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1" name="Line 284"/>
                <p:cNvSpPr>
                  <a:spLocks noChangeShapeType="1"/>
                </p:cNvSpPr>
                <p:nvPr/>
              </p:nvSpPr>
              <p:spPr bwMode="auto">
                <a:xfrm>
                  <a:off x="3289" y="3422"/>
                  <a:ext cx="5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475" name="Picture 269" descr="cell_tower_radiation copy"/>
              <p:cNvPicPr>
                <a:picLocks noChangeAspect="1" noChangeArrowheads="1"/>
              </p:cNvPicPr>
              <p:nvPr/>
            </p:nvPicPr>
            <p:blipFill>
              <a:blip r:embed="rId11"/>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6" name="Oval 270"/>
              <p:cNvSpPr>
                <a:spLocks noChangeArrowheads="1"/>
              </p:cNvSpPr>
              <p:nvPr/>
            </p:nvSpPr>
            <p:spPr bwMode="auto">
              <a:xfrm>
                <a:off x="986" y="2597"/>
                <a:ext cx="65" cy="67"/>
              </a:xfrm>
              <a:prstGeom prst="ellipse">
                <a:avLst/>
              </a:prstGeom>
              <a:solidFill>
                <a:schemeClr val="tx2"/>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grpSp>
          <p:nvGrpSpPr>
            <p:cNvPr id="440" name="Group 342"/>
            <p:cNvGrpSpPr/>
            <p:nvPr/>
          </p:nvGrpSpPr>
          <p:grpSpPr bwMode="auto">
            <a:xfrm>
              <a:off x="7011178" y="5204622"/>
              <a:ext cx="728830" cy="536849"/>
              <a:chOff x="877" y="1008"/>
              <a:chExt cx="2747" cy="2591"/>
            </a:xfrm>
          </p:grpSpPr>
          <p:pic>
            <p:nvPicPr>
              <p:cNvPr id="451" name="Picture 343" descr="antenna_stylized"/>
              <p:cNvPicPr>
                <a:picLocks noChangeAspect="1" noChangeArrowheads="1"/>
              </p:cNvPicPr>
              <p:nvPr/>
            </p:nvPicPr>
            <p:blipFill>
              <a:blip r:embed="rId12" cstate="print"/>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2" name="Picture 344" descr="laptop_keyboard"/>
              <p:cNvPicPr>
                <a:picLocks noChangeAspect="1" noChangeArrowheads="1"/>
              </p:cNvPicPr>
              <p:nvPr/>
            </p:nvPicPr>
            <p:blipFill>
              <a:blip r:embed="rId13" cstate="print"/>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3" name="Freeform 345"/>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54" name="Picture 346" descr="screen"/>
              <p:cNvPicPr>
                <a:picLocks noChangeAspect="1" noChangeArrowheads="1"/>
              </p:cNvPicPr>
              <p:nvPr/>
            </p:nvPicPr>
            <p:blipFill>
              <a:blip r:embed="rId14"/>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5" name="Freeform 347"/>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6" name="Freeform 348"/>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7" name="Freeform 349"/>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8" name="Freeform 350"/>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9" name="Freeform 351"/>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0" name="Freeform 352"/>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61" name="Group 353"/>
              <p:cNvGrpSpPr/>
              <p:nvPr/>
            </p:nvGrpSpPr>
            <p:grpSpPr bwMode="auto">
              <a:xfrm>
                <a:off x="1709" y="3008"/>
                <a:ext cx="507" cy="234"/>
                <a:chOff x="1740" y="2642"/>
                <a:chExt cx="752" cy="327"/>
              </a:xfrm>
            </p:grpSpPr>
            <p:sp>
              <p:nvSpPr>
                <p:cNvPr id="468" name="Freeform 354"/>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9" name="Freeform 355"/>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0" name="Freeform 356"/>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1" name="Freeform 357"/>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2" name="Freeform 358"/>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3" name="Freeform 359"/>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62" name="Freeform 360"/>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3" name="Freeform 361"/>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4" name="Freeform 362"/>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5" name="Freeform 363"/>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6" name="Freeform 364"/>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7" name="Freeform 365"/>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42" name="Line 444"/>
            <p:cNvSpPr>
              <a:spLocks noChangeShapeType="1"/>
            </p:cNvSpPr>
            <p:nvPr/>
          </p:nvSpPr>
          <p:spPr bwMode="auto">
            <a:xfrm>
              <a:off x="8933050" y="5885917"/>
              <a:ext cx="62934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5" name="Text Box 447"/>
            <p:cNvSpPr txBox="1">
              <a:spLocks noChangeArrowheads="1"/>
            </p:cNvSpPr>
            <p:nvPr/>
          </p:nvSpPr>
          <p:spPr bwMode="auto">
            <a:xfrm>
              <a:off x="9277842" y="5809251"/>
              <a:ext cx="1212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1"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mn-cs"/>
                </a:rPr>
                <a:t>to Internet</a:t>
              </a:r>
              <a:endParaRPr kumimoji="0" lang="en-US" altLang="en-US" sz="1800" b="0" i="1"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mn-cs"/>
              </a:endParaRPr>
            </a:p>
          </p:txBody>
        </p:sp>
        <p:sp>
          <p:nvSpPr>
            <p:cNvPr id="519" name="Rectangle 3"/>
            <p:cNvSpPr>
              <a:spLocks noChangeArrowheads="1"/>
            </p:cNvSpPr>
            <p:nvPr/>
          </p:nvSpPr>
          <p:spPr bwMode="auto">
            <a:xfrm>
              <a:off x="6525807" y="2286637"/>
              <a:ext cx="5443549" cy="2381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MS PGothic" panose="020B0600070205080204" pitchFamily="34" charset="-128"/>
                </a:defRPr>
              </a:lvl1pPr>
              <a:lvl2pPr marL="682625" indent="-225425">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342900" marR="0" lvl="0" indent="-342900" algn="l" defTabSz="914400" rtl="0" eaLnBrk="1" fontAlgn="auto" latinLnBrk="0" hangingPunct="1">
                <a:lnSpc>
                  <a:spcPct val="130000"/>
                </a:lnSpc>
                <a:spcBef>
                  <a:spcPct val="20000"/>
                </a:spcBef>
                <a:spcAft>
                  <a:spcPts val="0"/>
                </a:spcAft>
                <a:buClr>
                  <a:srgbClr val="000099"/>
                </a:buClr>
                <a:buSzPct val="65000"/>
                <a:buFont typeface="Wingdings" panose="05000000000000000000" pitchFamily="2" charset="2"/>
                <a:buNone/>
                <a:defRPr/>
              </a:pPr>
              <a:r>
                <a:rPr kumimoji="0" lang="en-US" altLang="en-US" b="0" i="0" u="none" strike="noStrike" kern="1200" cap="none" spc="0" normalizeH="0" baseline="0" noProof="0" dirty="0" err="1">
                  <a:ln>
                    <a:noFill/>
                  </a:ln>
                  <a:solidFill>
                    <a:srgbClr val="CC0000"/>
                  </a:solidFill>
                  <a:effectLst/>
                  <a:uLnTx/>
                  <a:uFillTx/>
                  <a:latin typeface="微软雅黑" panose="020B0503020204020204" pitchFamily="34" charset="-122"/>
                  <a:ea typeface="微软雅黑" panose="020B0503020204020204" pitchFamily="34" charset="-122"/>
                  <a:cs typeface="Calibri" panose="020F0502020204030204" pitchFamily="34" charset="0"/>
                </a:rPr>
                <a:t>广域蜂窝接入网</a:t>
              </a:r>
              <a:endParaRPr kumimoji="0" lang="en-US" altLang="en-US"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Calibri" panose="020F0502020204030204" pitchFamily="34" charset="0"/>
              </a:endParaRPr>
            </a:p>
            <a:p>
              <a:pPr marL="342900" marR="0" lvl="0" indent="-342900" algn="l" defTabSz="914400" rtl="0" eaLnBrk="1" fontAlgn="auto" latinLnBrk="0" hangingPunct="1">
                <a:lnSpc>
                  <a:spcPct val="130000"/>
                </a:lnSpc>
                <a:spcBef>
                  <a:spcPct val="20000"/>
                </a:spcBef>
                <a:spcAft>
                  <a:spcPts val="0"/>
                </a:spcAft>
                <a:buClr>
                  <a:srgbClr val="000099"/>
                </a:buClr>
                <a:buSzPct val="65000"/>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由移动蜂窝网络运营商提供（10公里）</a:t>
              </a:r>
              <a:endPar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spcBef>
                  <a:spcPct val="20000"/>
                </a:spcBef>
                <a:buClr>
                  <a:srgbClr val="000099"/>
                </a:buClr>
                <a:buSzPct val="65000"/>
                <a:buFont typeface="Arial" panose="020B0604020202020204" pitchFamily="34" charset="0"/>
                <a:buChar char="•"/>
                <a:defRPr/>
              </a:pP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2G/3G/4G/5G等蜂窝网络</a:t>
              </a:r>
              <a:endPar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30000"/>
                </a:lnSpc>
                <a:spcBef>
                  <a:spcPct val="20000"/>
                </a:spcBef>
                <a:buClr>
                  <a:srgbClr val="000099"/>
                </a:buClr>
                <a:buSzPct val="65000"/>
                <a:buFont typeface="Arial" panose="020B0604020202020204" pitchFamily="34"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0.</a:t>
              </a:r>
              <a:r>
                <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1000 </a:t>
              </a:r>
              <a:r>
                <a:rPr kumimoji="0" lang="en-US" sz="20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Mbps速率</a:t>
              </a:r>
              <a:endPar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528" name="Group 527"/>
            <p:cNvGrpSpPr/>
            <p:nvPr/>
          </p:nvGrpSpPr>
          <p:grpSpPr>
            <a:xfrm>
              <a:off x="8517156" y="5755545"/>
              <a:ext cx="499292" cy="246225"/>
              <a:chOff x="7493876" y="2774731"/>
              <a:chExt cx="1481958" cy="894622"/>
            </a:xfrm>
          </p:grpSpPr>
          <p:sp>
            <p:nvSpPr>
              <p:cNvPr id="529" name="Freeform 52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0" name="Oval 52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31" name="Group 530"/>
              <p:cNvGrpSpPr/>
              <p:nvPr/>
            </p:nvGrpSpPr>
            <p:grpSpPr>
              <a:xfrm>
                <a:off x="7713663" y="2848339"/>
                <a:ext cx="1042107" cy="425543"/>
                <a:chOff x="7786941" y="2884917"/>
                <a:chExt cx="897649" cy="353919"/>
              </a:xfrm>
            </p:grpSpPr>
            <p:sp>
              <p:nvSpPr>
                <p:cNvPr id="532" name="Freeform 53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3" name="Freeform 53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4" name="Freeform 53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5" name="Freeform 53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3" name="文本框 112"/>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461936" cy="879086"/>
          </a:xfrm>
        </p:spPr>
        <p:txBody>
          <a:bodyPr>
            <a:normAutofit/>
          </a:bodyPr>
          <a:lstStyle/>
          <a:p>
            <a:r>
              <a:rPr lang="zh-CN" altLang="en-US" dirty="0"/>
              <a:t>接入网：企业和家庭网络</a:t>
            </a:r>
            <a:endParaRPr kumimoji="1" lang="zh-CN" altLang="en-US" dirty="0"/>
          </a:p>
        </p:txBody>
      </p:sp>
      <p:sp>
        <p:nvSpPr>
          <p:cNvPr id="3" name="内容占位符 2"/>
          <p:cNvSpPr>
            <a:spLocks noGrp="1"/>
          </p:cNvSpPr>
          <p:nvPr>
            <p:ph idx="1"/>
          </p:nvPr>
        </p:nvSpPr>
        <p:spPr>
          <a:xfrm>
            <a:off x="923314" y="1433231"/>
            <a:ext cx="5150783" cy="4858387"/>
          </a:xfrm>
        </p:spPr>
        <p:txBody>
          <a:bodyPr>
            <a:noAutofit/>
          </a:bodyPr>
          <a:lstStyle/>
          <a:p>
            <a:r>
              <a:rPr lang="zh-CN" altLang="en-US" dirty="0"/>
              <a:t>实际的接入网</a:t>
            </a:r>
            <a:endParaRPr lang="zh-CN" altLang="en-US" dirty="0"/>
          </a:p>
          <a:p>
            <a:pPr lvl="1"/>
            <a:r>
              <a:rPr lang="zh-CN" altLang="en-US" dirty="0"/>
              <a:t>往往采用有线、无线等多种技术的混合</a:t>
            </a:r>
            <a:endParaRPr lang="en-US" altLang="zh-CN" dirty="0"/>
          </a:p>
          <a:p>
            <a:pPr lvl="1"/>
            <a:r>
              <a:rPr lang="zh-CN" altLang="en-US" dirty="0"/>
              <a:t>甚至</a:t>
            </a:r>
            <a:r>
              <a:rPr lang="en-US" altLang="zh-CN" dirty="0" err="1"/>
              <a:t>WiFi</a:t>
            </a:r>
            <a:r>
              <a:rPr lang="zh-CN" altLang="en-US" dirty="0"/>
              <a:t>和</a:t>
            </a:r>
            <a:r>
              <a:rPr lang="en-US" altLang="zh-CN" dirty="0"/>
              <a:t>4G</a:t>
            </a:r>
            <a:r>
              <a:rPr lang="zh-CN" altLang="en-US" dirty="0"/>
              <a:t>等多种无线技术的混合接入</a:t>
            </a:r>
            <a:endParaRPr lang="zh-CN" altLang="en-US" dirty="0"/>
          </a:p>
          <a:p>
            <a:r>
              <a:rPr lang="zh-CN" altLang="en-US" dirty="0"/>
              <a:t>有线以太网接入</a:t>
            </a:r>
            <a:endParaRPr lang="en-US" altLang="zh-CN" dirty="0"/>
          </a:p>
          <a:p>
            <a:pPr lvl="1"/>
            <a:r>
              <a:rPr lang="zh-CN" altLang="en-US" dirty="0"/>
              <a:t>100Mbps、1Gbps、</a:t>
            </a:r>
            <a:br>
              <a:rPr lang="en-US" altLang="zh-CN" dirty="0"/>
            </a:br>
            <a:r>
              <a:rPr lang="zh-CN" altLang="en-US" dirty="0"/>
              <a:t>10Gbps等接入速率</a:t>
            </a:r>
            <a:endParaRPr lang="zh-CN" altLang="en-US" dirty="0"/>
          </a:p>
          <a:p>
            <a:r>
              <a:rPr lang="zh-CN" altLang="en-US" dirty="0"/>
              <a:t>无线WiFi接入</a:t>
            </a:r>
            <a:endParaRPr lang="en-US" altLang="zh-CN" dirty="0"/>
          </a:p>
          <a:p>
            <a:pPr lvl="1"/>
            <a:r>
              <a:rPr lang="zh-CN" altLang="en-US" dirty="0"/>
              <a:t>11、54、450Mbps等</a:t>
            </a:r>
            <a:endParaRPr lang="zh-CN" altLang="en-US" sz="1800" dirty="0"/>
          </a:p>
        </p:txBody>
      </p:sp>
      <p:sp>
        <p:nvSpPr>
          <p:cNvPr id="6" name="AutoShape 99"/>
          <p:cNvSpPr>
            <a:spLocks noChangeArrowheads="1"/>
          </p:cNvSpPr>
          <p:nvPr/>
        </p:nvSpPr>
        <p:spPr bwMode="auto">
          <a:xfrm>
            <a:off x="6626444" y="2565286"/>
            <a:ext cx="4542014" cy="455507"/>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Rectangle 87"/>
          <p:cNvSpPr>
            <a:spLocks noChangeArrowheads="1"/>
          </p:cNvSpPr>
          <p:nvPr/>
        </p:nvSpPr>
        <p:spPr bwMode="auto">
          <a:xfrm>
            <a:off x="6976124" y="3012323"/>
            <a:ext cx="3843930" cy="15782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8" name="Picture 120" descr="access_point_stylized_small"/>
          <p:cNvPicPr>
            <a:picLocks noChangeAspect="1" noChangeArrowheads="1"/>
          </p:cNvPicPr>
          <p:nvPr/>
        </p:nvPicPr>
        <p:blipFill>
          <a:blip r:embed="rId1"/>
          <a:srcRect/>
          <a:stretch>
            <a:fillRect/>
          </a:stretch>
        </p:blipFill>
        <p:spPr bwMode="auto">
          <a:xfrm>
            <a:off x="7527997" y="3651353"/>
            <a:ext cx="627815" cy="423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1" descr="antenna_radiation_stylized"/>
          <p:cNvPicPr>
            <a:picLocks noChangeAspect="1" noChangeArrowheads="1"/>
          </p:cNvPicPr>
          <p:nvPr/>
        </p:nvPicPr>
        <p:blipFill>
          <a:blip r:embed="rId2"/>
          <a:srcRect/>
          <a:stretch>
            <a:fillRect/>
          </a:stretch>
        </p:blipFill>
        <p:spPr bwMode="auto">
          <a:xfrm>
            <a:off x="7478949" y="3588295"/>
            <a:ext cx="858886" cy="146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44" descr="iphone_stylized_small"/>
          <p:cNvPicPr>
            <a:picLocks noChangeAspect="1" noChangeArrowheads="1"/>
          </p:cNvPicPr>
          <p:nvPr/>
        </p:nvPicPr>
        <p:blipFill>
          <a:blip r:embed="rId3" cstate="print"/>
          <a:srcRect/>
          <a:stretch>
            <a:fillRect/>
          </a:stretch>
        </p:blipFill>
        <p:spPr bwMode="auto">
          <a:xfrm>
            <a:off x="7358986" y="3103613"/>
            <a:ext cx="193983" cy="38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5" descr="antenna_radiation_stylized"/>
          <p:cNvPicPr>
            <a:picLocks noChangeAspect="1" noChangeArrowheads="1"/>
          </p:cNvPicPr>
          <p:nvPr/>
        </p:nvPicPr>
        <p:blipFill>
          <a:blip r:embed="rId4" cstate="print"/>
          <a:srcRect/>
          <a:stretch>
            <a:fillRect/>
          </a:stretch>
        </p:blipFill>
        <p:spPr bwMode="auto">
          <a:xfrm>
            <a:off x="7133097" y="3036792"/>
            <a:ext cx="589607" cy="103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47"/>
          <p:cNvSpPr>
            <a:spLocks noChangeArrowheads="1"/>
          </p:cNvSpPr>
          <p:nvPr/>
        </p:nvSpPr>
        <p:spPr bwMode="auto">
          <a:xfrm>
            <a:off x="7023089" y="3657618"/>
            <a:ext cx="3935817" cy="480299"/>
          </a:xfrm>
          <a:prstGeom prst="ellipse">
            <a:avLst/>
          </a:prstGeom>
          <a:noFill/>
          <a:ln w="19050">
            <a:solidFill>
              <a:srgbClr val="CC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13" name="Picture 152" descr="antenna_stylized"/>
          <p:cNvPicPr>
            <a:picLocks noChangeAspect="1" noChangeArrowheads="1"/>
          </p:cNvPicPr>
          <p:nvPr/>
        </p:nvPicPr>
        <p:blipFill>
          <a:blip r:embed="rId5" cstate="print"/>
          <a:srcRect/>
          <a:stretch>
            <a:fillRect/>
          </a:stretch>
        </p:blipFill>
        <p:spPr bwMode="auto">
          <a:xfrm>
            <a:off x="7933278" y="2807157"/>
            <a:ext cx="760856" cy="333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3" descr="laptop_keyboard"/>
          <p:cNvPicPr>
            <a:picLocks noChangeAspect="1" noChangeArrowheads="1"/>
          </p:cNvPicPr>
          <p:nvPr/>
        </p:nvPicPr>
        <p:blipFill>
          <a:blip r:embed="rId6" cstate="print"/>
          <a:srcRect/>
          <a:stretch>
            <a:fillRect/>
          </a:stretch>
        </p:blipFill>
        <p:spPr bwMode="auto">
          <a:xfrm rot="109064" flipH="1">
            <a:off x="7970134" y="3178002"/>
            <a:ext cx="626834" cy="23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Freeform 154"/>
          <p:cNvSpPr/>
          <p:nvPr/>
        </p:nvSpPr>
        <p:spPr bwMode="auto">
          <a:xfrm>
            <a:off x="8177869" y="2946988"/>
            <a:ext cx="504539" cy="310683"/>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16" name="Picture 155" descr="screen"/>
          <p:cNvPicPr>
            <a:picLocks noChangeAspect="1" noChangeArrowheads="1"/>
          </p:cNvPicPr>
          <p:nvPr/>
        </p:nvPicPr>
        <p:blipFill>
          <a:blip r:embed="rId7" cstate="print"/>
          <a:srcRect/>
          <a:stretch>
            <a:fillRect/>
          </a:stretch>
        </p:blipFill>
        <p:spPr bwMode="auto">
          <a:xfrm>
            <a:off x="8202719" y="2954978"/>
            <a:ext cx="458468" cy="28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Freeform 156"/>
          <p:cNvSpPr/>
          <p:nvPr/>
        </p:nvSpPr>
        <p:spPr bwMode="auto">
          <a:xfrm>
            <a:off x="8269730" y="2937822"/>
            <a:ext cx="427475" cy="57812"/>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8" name="Freeform 157"/>
          <p:cNvSpPr/>
          <p:nvPr/>
        </p:nvSpPr>
        <p:spPr bwMode="auto">
          <a:xfrm>
            <a:off x="8173402" y="2937352"/>
            <a:ext cx="118666" cy="240650"/>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9" name="Freeform 158"/>
          <p:cNvSpPr/>
          <p:nvPr/>
        </p:nvSpPr>
        <p:spPr bwMode="auto">
          <a:xfrm>
            <a:off x="8566255" y="2980359"/>
            <a:ext cx="127879" cy="2777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0" name="Freeform 159"/>
          <p:cNvSpPr/>
          <p:nvPr/>
        </p:nvSpPr>
        <p:spPr bwMode="auto">
          <a:xfrm>
            <a:off x="8172005" y="3165782"/>
            <a:ext cx="469078" cy="9376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1" name="Freeform 160"/>
          <p:cNvSpPr/>
          <p:nvPr/>
        </p:nvSpPr>
        <p:spPr bwMode="auto">
          <a:xfrm>
            <a:off x="8580495" y="2982709"/>
            <a:ext cx="119782" cy="27895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2" name="Freeform 161"/>
          <p:cNvSpPr/>
          <p:nvPr/>
        </p:nvSpPr>
        <p:spPr bwMode="auto">
          <a:xfrm>
            <a:off x="8172564" y="3178238"/>
            <a:ext cx="417145" cy="925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23" name="Group 162"/>
          <p:cNvGrpSpPr/>
          <p:nvPr/>
        </p:nvGrpSpPr>
        <p:grpSpPr bwMode="auto">
          <a:xfrm>
            <a:off x="8165584" y="3277177"/>
            <a:ext cx="141561" cy="54992"/>
            <a:chOff x="1740" y="2642"/>
            <a:chExt cx="752" cy="327"/>
          </a:xfrm>
        </p:grpSpPr>
        <p:sp>
          <p:nvSpPr>
            <p:cNvPr id="66" name="Freeform 163"/>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7" name="Freeform 164"/>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8" name="Freeform 165"/>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9" name="Freeform 166"/>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0" name="Freeform 167"/>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1" name="Freeform 168"/>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24" name="Freeform 169"/>
          <p:cNvSpPr/>
          <p:nvPr/>
        </p:nvSpPr>
        <p:spPr bwMode="auto">
          <a:xfrm>
            <a:off x="8407941" y="3285402"/>
            <a:ext cx="171437" cy="120795"/>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5" name="Freeform 170"/>
          <p:cNvSpPr/>
          <p:nvPr/>
        </p:nvSpPr>
        <p:spPr bwMode="auto">
          <a:xfrm>
            <a:off x="7970414" y="3295037"/>
            <a:ext cx="438644" cy="110220"/>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6" name="Freeform 171"/>
          <p:cNvSpPr/>
          <p:nvPr/>
        </p:nvSpPr>
        <p:spPr bwMode="auto">
          <a:xfrm>
            <a:off x="7970693" y="3274826"/>
            <a:ext cx="4746" cy="22326"/>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7" name="Freeform 172"/>
          <p:cNvSpPr/>
          <p:nvPr/>
        </p:nvSpPr>
        <p:spPr bwMode="auto">
          <a:xfrm>
            <a:off x="7970972" y="3183878"/>
            <a:ext cx="203825" cy="92359"/>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8" name="Freeform 173"/>
          <p:cNvSpPr/>
          <p:nvPr/>
        </p:nvSpPr>
        <p:spPr bwMode="auto">
          <a:xfrm>
            <a:off x="7984654" y="3279527"/>
            <a:ext cx="416028" cy="10598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Freeform 174"/>
          <p:cNvSpPr/>
          <p:nvPr/>
        </p:nvSpPr>
        <p:spPr bwMode="auto">
          <a:xfrm flipV="1">
            <a:off x="8400123" y="3272006"/>
            <a:ext cx="169761" cy="109750"/>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30" name="Picture 176" descr="desktop_computer_stylized_medium"/>
          <p:cNvPicPr>
            <a:picLocks noChangeAspect="1" noChangeArrowheads="1"/>
          </p:cNvPicPr>
          <p:nvPr/>
        </p:nvPicPr>
        <p:blipFill>
          <a:blip r:embed="rId8"/>
          <a:srcRect/>
          <a:stretch>
            <a:fillRect/>
          </a:stretch>
        </p:blipFill>
        <p:spPr bwMode="auto">
          <a:xfrm flipH="1">
            <a:off x="8552237" y="3082907"/>
            <a:ext cx="903553" cy="511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Freeform 177"/>
          <p:cNvSpPr/>
          <p:nvPr/>
        </p:nvSpPr>
        <p:spPr bwMode="auto">
          <a:xfrm flipH="1">
            <a:off x="8937237" y="3131930"/>
            <a:ext cx="439343" cy="234012"/>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32" name="Picture 179" descr="desktop_computer_stylized_medium"/>
          <p:cNvPicPr>
            <a:picLocks noChangeAspect="1" noChangeArrowheads="1"/>
          </p:cNvPicPr>
          <p:nvPr/>
        </p:nvPicPr>
        <p:blipFill>
          <a:blip r:embed="rId8"/>
          <a:srcRect/>
          <a:stretch>
            <a:fillRect/>
          </a:stretch>
        </p:blipFill>
        <p:spPr bwMode="auto">
          <a:xfrm flipH="1">
            <a:off x="8477963" y="4153913"/>
            <a:ext cx="682769" cy="42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180"/>
          <p:cNvSpPr/>
          <p:nvPr/>
        </p:nvSpPr>
        <p:spPr bwMode="auto">
          <a:xfrm flipH="1">
            <a:off x="8768888" y="4194449"/>
            <a:ext cx="331989" cy="193502"/>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34" name="Picture 101" descr="fridge2.png"/>
          <p:cNvPicPr>
            <a:picLocks noChangeAspect="1"/>
          </p:cNvPicPr>
          <p:nvPr/>
        </p:nvPicPr>
        <p:blipFill>
          <a:blip r:embed="rId9"/>
          <a:srcRect/>
          <a:stretch>
            <a:fillRect/>
          </a:stretch>
        </p:blipFill>
        <p:spPr bwMode="auto">
          <a:xfrm>
            <a:off x="9847784" y="3004608"/>
            <a:ext cx="419923" cy="642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1115" descr="antenna_stylized"/>
          <p:cNvPicPr>
            <a:picLocks noChangeAspect="1" noChangeArrowheads="1"/>
          </p:cNvPicPr>
          <p:nvPr/>
        </p:nvPicPr>
        <p:blipFill>
          <a:blip r:embed="rId10"/>
          <a:srcRect/>
          <a:stretch>
            <a:fillRect/>
          </a:stretch>
        </p:blipFill>
        <p:spPr bwMode="auto">
          <a:xfrm>
            <a:off x="9626802" y="2890917"/>
            <a:ext cx="770828" cy="319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281"/>
          <p:cNvSpPr/>
          <p:nvPr/>
        </p:nvSpPr>
        <p:spPr>
          <a:xfrm>
            <a:off x="8583430" y="3864435"/>
            <a:ext cx="958423" cy="226321"/>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                   </a:t>
            </a:r>
            <a:endParaRPr kumimoji="0" 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7" name="Oval 282"/>
          <p:cNvSpPr/>
          <p:nvPr/>
        </p:nvSpPr>
        <p:spPr>
          <a:xfrm>
            <a:off x="8583981" y="3744623"/>
            <a:ext cx="957262" cy="224071"/>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              </a:t>
            </a:r>
            <a:endParaRPr kumimoji="0" 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38" name="Group 283"/>
          <p:cNvGrpSpPr/>
          <p:nvPr/>
        </p:nvGrpSpPr>
        <p:grpSpPr>
          <a:xfrm>
            <a:off x="8725572" y="3773103"/>
            <a:ext cx="673959" cy="164644"/>
            <a:chOff x="7786941" y="2884917"/>
            <a:chExt cx="897649" cy="353919"/>
          </a:xfrm>
        </p:grpSpPr>
        <p:sp>
          <p:nvSpPr>
            <p:cNvPr id="62" name="Freeform 284"/>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3" name="Freeform 285"/>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4" name="Freeform 286"/>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5" name="Freeform 287"/>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39" name="Text Box 26"/>
          <p:cNvSpPr txBox="1">
            <a:spLocks noChangeArrowheads="1"/>
          </p:cNvSpPr>
          <p:nvPr/>
        </p:nvSpPr>
        <p:spPr bwMode="auto">
          <a:xfrm>
            <a:off x="10615443" y="3561087"/>
            <a:ext cx="1283937" cy="30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algn="r" defTabSz="914400" rtl="0" eaLnBrk="1" fontAlgn="auto" latinLnBrk="0" hangingPunct="1">
              <a:lnSpc>
                <a:spcPct val="85000"/>
              </a:lnSpc>
              <a:spcBef>
                <a:spcPts val="0"/>
              </a:spcBef>
              <a:spcAft>
                <a:spcPts val="0"/>
              </a:spcAft>
              <a:buClrTx/>
              <a:buSzTx/>
              <a:buFontTx/>
              <a:buNone/>
              <a:defRPr/>
            </a:pPr>
            <a:r>
              <a:rPr kumimoji="0" lang="en-US" altLang="en-US"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至前端</a:t>
            </a: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0" name="Line 116"/>
          <p:cNvSpPr>
            <a:spLocks noChangeShapeType="1"/>
          </p:cNvSpPr>
          <p:nvPr/>
        </p:nvSpPr>
        <p:spPr bwMode="auto">
          <a:xfrm flipH="1">
            <a:off x="7959568" y="3931807"/>
            <a:ext cx="661074"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277" name="组合 276"/>
          <p:cNvGrpSpPr/>
          <p:nvPr/>
        </p:nvGrpSpPr>
        <p:grpSpPr>
          <a:xfrm>
            <a:off x="8694134" y="4074859"/>
            <a:ext cx="1600756" cy="1328966"/>
            <a:chOff x="3717978" y="4719110"/>
            <a:chExt cx="1600756" cy="1328966"/>
          </a:xfrm>
        </p:grpSpPr>
        <p:sp>
          <p:nvSpPr>
            <p:cNvPr id="41" name="Text Box 39"/>
            <p:cNvSpPr txBox="1">
              <a:spLocks noChangeArrowheads="1"/>
            </p:cNvSpPr>
            <p:nvPr/>
          </p:nvSpPr>
          <p:spPr bwMode="auto">
            <a:xfrm>
              <a:off x="3717978" y="5327879"/>
              <a:ext cx="1600756"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algn="ctr" defTabSz="914400" rtl="0" eaLnBrk="1" fontAlgn="auto" latinLnBrk="0" hangingPunct="1">
                <a:lnSpc>
                  <a:spcPct val="85000"/>
                </a:lnSpc>
                <a:spcBef>
                  <a:spcPts val="0"/>
                </a:spcBef>
                <a:spcAft>
                  <a:spcPts val="0"/>
                </a:spcAft>
                <a:buClrTx/>
                <a:buSzTx/>
                <a:buFontTx/>
                <a:buNone/>
                <a:defRPr/>
              </a:pPr>
              <a:r>
                <a:rPr kumimoji="0" lang="en-US" altLang="en-US"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路由器</a:t>
              </a:r>
              <a:b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br>
              <a:r>
                <a:rPr kumimoji="0" lang="en-US" altLang="en-US"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防火墙</a:t>
              </a:r>
              <a:b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br>
              <a: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NAT</a:t>
              </a: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2" name="Line 133"/>
            <p:cNvSpPr>
              <a:spLocks noChangeShapeType="1"/>
            </p:cNvSpPr>
            <p:nvPr/>
          </p:nvSpPr>
          <p:spPr bwMode="auto">
            <a:xfrm>
              <a:off x="4400255" y="4719110"/>
              <a:ext cx="0" cy="599607"/>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nvGrpSpPr>
          <p:cNvPr id="278" name="组合 277"/>
          <p:cNvGrpSpPr/>
          <p:nvPr/>
        </p:nvGrpSpPr>
        <p:grpSpPr>
          <a:xfrm>
            <a:off x="7030933" y="4122070"/>
            <a:ext cx="1324515" cy="1027291"/>
            <a:chOff x="2054777" y="4766321"/>
            <a:chExt cx="1324515" cy="1027291"/>
          </a:xfrm>
        </p:grpSpPr>
        <p:sp>
          <p:nvSpPr>
            <p:cNvPr id="43" name="Line 136"/>
            <p:cNvSpPr>
              <a:spLocks noChangeShapeType="1"/>
            </p:cNvSpPr>
            <p:nvPr/>
          </p:nvSpPr>
          <p:spPr bwMode="auto">
            <a:xfrm>
              <a:off x="2771768" y="4766321"/>
              <a:ext cx="0" cy="500491"/>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4" name="Text Box 39"/>
            <p:cNvSpPr txBox="1">
              <a:spLocks noChangeArrowheads="1"/>
            </p:cNvSpPr>
            <p:nvPr/>
          </p:nvSpPr>
          <p:spPr bwMode="auto">
            <a:xfrm>
              <a:off x="2054777" y="5282062"/>
              <a:ext cx="1324515" cy="51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indent="11430" algn="ctr">
                <a:lnSpc>
                  <a:spcPct val="85000"/>
                </a:lnSpc>
                <a:defRPr/>
              </a:pPr>
              <a:r>
                <a:rPr kumimoji="0" lang="en-US" altLang="en-US"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WiFi</a:t>
              </a:r>
              <a:b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br>
              <a:r>
                <a:rPr kumimoji="0" lang="en-US" altLang="en-US"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无线接入点</a:t>
              </a: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nvGrpSpPr>
          <p:cNvPr id="46" name="Group 91"/>
          <p:cNvGrpSpPr/>
          <p:nvPr/>
        </p:nvGrpSpPr>
        <p:grpSpPr bwMode="auto">
          <a:xfrm>
            <a:off x="9905271" y="3795720"/>
            <a:ext cx="819324" cy="214578"/>
            <a:chOff x="322" y="890"/>
            <a:chExt cx="872" cy="339"/>
          </a:xfrm>
        </p:grpSpPr>
        <p:sp>
          <p:nvSpPr>
            <p:cNvPr id="56" name="Rectangle 92"/>
            <p:cNvSpPr>
              <a:spLocks noChangeArrowheads="1"/>
            </p:cNvSpPr>
            <p:nvPr/>
          </p:nvSpPr>
          <p:spPr bwMode="auto">
            <a:xfrm>
              <a:off x="323" y="1004"/>
              <a:ext cx="871" cy="225"/>
            </a:xfrm>
            <a:prstGeom prst="rect">
              <a:avLst/>
            </a:prstGeom>
            <a:solidFill>
              <a:schemeClr val="bg1">
                <a:lumMod val="7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7" name="Rectangle 93"/>
            <p:cNvSpPr>
              <a:spLocks noChangeArrowheads="1"/>
            </p:cNvSpPr>
            <p:nvPr/>
          </p:nvSpPr>
          <p:spPr bwMode="auto">
            <a:xfrm>
              <a:off x="393" y="1073"/>
              <a:ext cx="57" cy="5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8" name="Rectangle 94"/>
            <p:cNvSpPr>
              <a:spLocks noChangeArrowheads="1"/>
            </p:cNvSpPr>
            <p:nvPr/>
          </p:nvSpPr>
          <p:spPr bwMode="auto">
            <a:xfrm>
              <a:off x="467" y="1073"/>
              <a:ext cx="56" cy="57"/>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9" name="Rectangle 95"/>
            <p:cNvSpPr>
              <a:spLocks noChangeArrowheads="1"/>
            </p:cNvSpPr>
            <p:nvPr/>
          </p:nvSpPr>
          <p:spPr bwMode="auto">
            <a:xfrm>
              <a:off x="541" y="1071"/>
              <a:ext cx="56" cy="5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0" name="Rectangle 96"/>
            <p:cNvSpPr>
              <a:spLocks noChangeArrowheads="1"/>
            </p:cNvSpPr>
            <p:nvPr/>
          </p:nvSpPr>
          <p:spPr bwMode="auto">
            <a:xfrm>
              <a:off x="615" y="1071"/>
              <a:ext cx="56" cy="5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1" name="AutoShape 97"/>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8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47" name="Line 102"/>
          <p:cNvSpPr>
            <a:spLocks noChangeShapeType="1"/>
          </p:cNvSpPr>
          <p:nvPr/>
        </p:nvSpPr>
        <p:spPr bwMode="auto">
          <a:xfrm flipH="1">
            <a:off x="10720766" y="3935948"/>
            <a:ext cx="1228986"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8" name="Line 104"/>
          <p:cNvSpPr>
            <a:spLocks noChangeShapeType="1"/>
          </p:cNvSpPr>
          <p:nvPr/>
        </p:nvSpPr>
        <p:spPr bwMode="auto">
          <a:xfrm flipH="1">
            <a:off x="9537724" y="3938771"/>
            <a:ext cx="36754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9" name="Line 122"/>
          <p:cNvSpPr>
            <a:spLocks noChangeShapeType="1"/>
          </p:cNvSpPr>
          <p:nvPr/>
        </p:nvSpPr>
        <p:spPr bwMode="auto">
          <a:xfrm flipH="1" flipV="1">
            <a:off x="9016943" y="3495470"/>
            <a:ext cx="0" cy="27763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5" name="Text Box 142"/>
          <p:cNvSpPr txBox="1">
            <a:spLocks noChangeArrowheads="1"/>
          </p:cNvSpPr>
          <p:nvPr/>
        </p:nvSpPr>
        <p:spPr bwMode="auto">
          <a:xfrm>
            <a:off x="10203965" y="2615219"/>
            <a:ext cx="121058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90000"/>
              </a:lnSpc>
              <a:spcBef>
                <a:spcPts val="0"/>
              </a:spcBef>
              <a:spcAft>
                <a:spcPts val="0"/>
              </a:spcAft>
              <a:buClrTx/>
              <a:buSzTx/>
              <a:buFontTx/>
              <a:buNone/>
              <a:defRPr/>
            </a:pPr>
            <a: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无线和有线</a:t>
            </a: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90000"/>
              </a:lnSpc>
              <a:spcBef>
                <a:spcPts val="0"/>
              </a:spcBef>
              <a:spcAft>
                <a:spcPts val="0"/>
              </a:spcAft>
              <a:buClrTx/>
              <a:buSzTx/>
              <a:buFontTx/>
              <a:buNone/>
              <a:defRPr/>
            </a:pPr>
            <a: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设备</a:t>
            </a: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0" name="Text Box 148"/>
          <p:cNvSpPr txBox="1">
            <a:spLocks noChangeArrowheads="1"/>
          </p:cNvSpPr>
          <p:nvPr/>
        </p:nvSpPr>
        <p:spPr bwMode="auto">
          <a:xfrm>
            <a:off x="5238537" y="4035142"/>
            <a:ext cx="1428329"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defRPr/>
            </a:pPr>
            <a:r>
              <a:rPr kumimoji="0" lang="en-US" altLang="en-US" sz="1800" b="0" i="0" u="none" strike="noStrike" kern="120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rPr>
              <a:t>经常合并在一个盒子里</a:t>
            </a:r>
            <a:endParaRPr kumimoji="0" lang="en-US"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51" name="Line 149"/>
          <p:cNvSpPr>
            <a:spLocks noChangeShapeType="1"/>
          </p:cNvSpPr>
          <p:nvPr/>
        </p:nvSpPr>
        <p:spPr bwMode="auto">
          <a:xfrm flipV="1">
            <a:off x="6561676" y="3877682"/>
            <a:ext cx="488214" cy="244388"/>
          </a:xfrm>
          <a:prstGeom prst="line">
            <a:avLst/>
          </a:prstGeom>
          <a:noFill/>
          <a:ln w="28575">
            <a:solidFill>
              <a:srgbClr val="C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280" name="组合 279"/>
          <p:cNvGrpSpPr/>
          <p:nvPr/>
        </p:nvGrpSpPr>
        <p:grpSpPr>
          <a:xfrm>
            <a:off x="8179183" y="4590408"/>
            <a:ext cx="1324515" cy="1169987"/>
            <a:chOff x="7633273" y="5518447"/>
            <a:chExt cx="1324515" cy="1169987"/>
          </a:xfrm>
        </p:grpSpPr>
        <p:sp>
          <p:nvSpPr>
            <p:cNvPr id="52" name="Line 134"/>
            <p:cNvSpPr>
              <a:spLocks noChangeShapeType="1"/>
            </p:cNvSpPr>
            <p:nvPr/>
          </p:nvSpPr>
          <p:spPr bwMode="auto">
            <a:xfrm>
              <a:off x="8351541" y="5518447"/>
              <a:ext cx="0" cy="639654"/>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3" name="Text Box 39"/>
            <p:cNvSpPr txBox="1">
              <a:spLocks noChangeArrowheads="1"/>
            </p:cNvSpPr>
            <p:nvPr/>
          </p:nvSpPr>
          <p:spPr bwMode="auto">
            <a:xfrm>
              <a:off x="7633273" y="6202147"/>
              <a:ext cx="1324515"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defRPr/>
              </a:pPr>
              <a: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有线以太网（1 Gbps）</a:t>
              </a: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4" name="Text Box 39"/>
          <p:cNvSpPr txBox="1">
            <a:spLocks noChangeArrowheads="1"/>
          </p:cNvSpPr>
          <p:nvPr/>
        </p:nvSpPr>
        <p:spPr bwMode="auto">
          <a:xfrm>
            <a:off x="9952863" y="4634672"/>
            <a:ext cx="1902716"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defRPr/>
            </a:pPr>
            <a:r>
              <a:rPr kumimoji="0" lang="en-US" altLang="en-US"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电缆或DSL</a:t>
            </a:r>
            <a:br>
              <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br>
            <a:r>
              <a:rPr kumimoji="0" lang="en-US" altLang="en-US" sz="16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调制解调器</a:t>
            </a:r>
            <a:endParaRPr kumimoji="0" lang="en-US"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5" name="Line 129"/>
          <p:cNvSpPr>
            <a:spLocks noChangeShapeType="1"/>
          </p:cNvSpPr>
          <p:nvPr/>
        </p:nvSpPr>
        <p:spPr bwMode="auto">
          <a:xfrm>
            <a:off x="10397375" y="4035142"/>
            <a:ext cx="0" cy="555266"/>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矩形 4"/>
          <p:cNvSpPr/>
          <p:nvPr/>
        </p:nvSpPr>
        <p:spPr>
          <a:xfrm>
            <a:off x="7049889" y="2001392"/>
            <a:ext cx="3570208"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校园、企业、家庭等网络</a:t>
            </a:r>
            <a:endParaRPr lang="zh-CN" altLang="en-US" sz="2400" dirty="0">
              <a:latin typeface="微软雅黑" panose="020B0503020204020204" pitchFamily="34" charset="-122"/>
              <a:ea typeface="微软雅黑" panose="020B0503020204020204" pitchFamily="34" charset="-122"/>
            </a:endParaRPr>
          </a:p>
        </p:txBody>
      </p:sp>
      <p:pic>
        <p:nvPicPr>
          <p:cNvPr id="12290" name="Picture 2"/>
          <p:cNvPicPr>
            <a:picLocks noChangeAspect="1" noChangeArrowheads="1"/>
          </p:cNvPicPr>
          <p:nvPr/>
        </p:nvPicPr>
        <p:blipFill>
          <a:blip r:embed="rId11" cstate="print"/>
          <a:srcRect/>
          <a:stretch>
            <a:fillRect/>
          </a:stretch>
        </p:blipFill>
        <p:spPr bwMode="auto">
          <a:xfrm>
            <a:off x="4862089" y="4620212"/>
            <a:ext cx="2202893" cy="1474141"/>
          </a:xfrm>
          <a:prstGeom prst="rect">
            <a:avLst/>
          </a:prstGeom>
          <a:noFill/>
          <a:extLst>
            <a:ext uri="{909E8E84-426E-40DD-AFC4-6F175D3DCCD1}">
              <a14:hiddenFill xmlns:a14="http://schemas.microsoft.com/office/drawing/2010/main">
                <a:solidFill>
                  <a:srgbClr val="FFFFFF"/>
                </a:solidFill>
              </a14:hiddenFill>
            </a:ext>
          </a:extLst>
        </p:spPr>
      </p:pic>
      <p:sp>
        <p:nvSpPr>
          <p:cNvPr id="72" name="灯片编号占位符 71"/>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7" name="文本框 7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linds(horizontal)">
                                      <p:cBhvr>
                                        <p:cTn id="7" dur="500"/>
                                        <p:tgtEl>
                                          <p:spTgt spid="5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linds(horizontal)">
                                      <p:cBhvr>
                                        <p:cTn id="10" dur="500"/>
                                        <p:tgtEl>
                                          <p:spTgt spid="5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par>
                                <p:cTn id="14" presetID="3" presetClass="entr" presetSubtype="10" fill="hold" nodeType="withEffect">
                                  <p:stCondLst>
                                    <p:cond delay="0"/>
                                  </p:stCondLst>
                                  <p:childTnLst>
                                    <p:set>
                                      <p:cBhvr>
                                        <p:cTn id="15" dur="1" fill="hold">
                                          <p:stCondLst>
                                            <p:cond delay="0"/>
                                          </p:stCondLst>
                                        </p:cTn>
                                        <p:tgtEl>
                                          <p:spTgt spid="12290"/>
                                        </p:tgtEl>
                                        <p:attrNameLst>
                                          <p:attrName>style.visibility</p:attrName>
                                        </p:attrNameLst>
                                      </p:cBhvr>
                                      <p:to>
                                        <p:strVal val="visible"/>
                                      </p:to>
                                    </p:set>
                                    <p:animEffect transition="in" filter="blinds(horizontal)">
                                      <p:cBhvr>
                                        <p:cTn id="16"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0" grpId="0"/>
      <p:bldP spid="5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物理</a:t>
            </a:r>
            <a:r>
              <a:rPr lang="zh-CN" altLang="en-US" dirty="0"/>
              <a:t>介质</a:t>
            </a:r>
            <a:endParaRPr lang="en-US" altLang="zh-CN" dirty="0"/>
          </a:p>
        </p:txBody>
      </p:sp>
      <p:sp>
        <p:nvSpPr>
          <p:cNvPr id="3" name="内容占位符 2"/>
          <p:cNvSpPr>
            <a:spLocks noGrp="1"/>
          </p:cNvSpPr>
          <p:nvPr>
            <p:ph idx="1"/>
          </p:nvPr>
        </p:nvSpPr>
        <p:spPr>
          <a:xfrm>
            <a:off x="838200" y="1510758"/>
            <a:ext cx="9888940" cy="4845592"/>
          </a:xfrm>
        </p:spPr>
        <p:txBody>
          <a:bodyPr>
            <a:normAutofit lnSpcReduction="10000"/>
          </a:bodyPr>
          <a:lstStyle/>
          <a:p>
            <a:pPr fontAlgn="auto">
              <a:lnSpc>
                <a:spcPct val="130000"/>
              </a:lnSpc>
            </a:pPr>
            <a:r>
              <a:rPr lang="zh-CN" altLang="en-US" dirty="0"/>
              <a:t>传输单元：位（</a:t>
            </a:r>
            <a:r>
              <a:rPr lang="en-US" altLang="zh-CN" dirty="0"/>
              <a:t>bit</a:t>
            </a:r>
            <a:r>
              <a:rPr lang="zh-CN" altLang="en-US" dirty="0"/>
              <a:t>）</a:t>
            </a:r>
            <a:endParaRPr lang="en-US" altLang="zh-CN" dirty="0"/>
          </a:p>
          <a:p>
            <a:pPr lvl="1">
              <a:lnSpc>
                <a:spcPct val="130000"/>
              </a:lnSpc>
            </a:pPr>
            <a:r>
              <a:rPr lang="zh-CN" altLang="en-US" dirty="0"/>
              <a:t>在发射机/接收机之间的物理介质上传播的</a:t>
            </a:r>
            <a:br>
              <a:rPr lang="en-US" altLang="zh-CN" dirty="0"/>
            </a:br>
            <a:r>
              <a:rPr lang="zh-CN" altLang="en-US" dirty="0"/>
              <a:t>数据的最小单元</a:t>
            </a:r>
            <a:endParaRPr lang="en-US" altLang="zh-CN" dirty="0"/>
          </a:p>
          <a:p>
            <a:pPr lvl="1">
              <a:lnSpc>
                <a:spcPct val="130000"/>
              </a:lnSpc>
            </a:pPr>
            <a:r>
              <a:rPr lang="zh-CN" altLang="en-US" dirty="0"/>
              <a:t>用比特表示（</a:t>
            </a:r>
            <a:r>
              <a:rPr lang="en-US" altLang="zh-CN" dirty="0"/>
              <a:t>bit</a:t>
            </a:r>
            <a:r>
              <a:rPr lang="zh-CN" altLang="en-US" dirty="0"/>
              <a:t>）</a:t>
            </a:r>
            <a:endParaRPr lang="zh-CN" altLang="en-US" dirty="0"/>
          </a:p>
          <a:p>
            <a:pPr fontAlgn="auto">
              <a:lnSpc>
                <a:spcPct val="130000"/>
              </a:lnSpc>
            </a:pPr>
            <a:r>
              <a:rPr lang="zh-CN" altLang="en-US" dirty="0"/>
              <a:t>物理媒体</a:t>
            </a:r>
            <a:endParaRPr lang="en-US" altLang="zh-CN" dirty="0"/>
          </a:p>
          <a:p>
            <a:pPr lvl="1">
              <a:lnSpc>
                <a:spcPct val="130000"/>
              </a:lnSpc>
            </a:pPr>
            <a:r>
              <a:rPr lang="zh-CN" altLang="en-US" dirty="0"/>
              <a:t>是指发射机和接收机之间的具体链路介质</a:t>
            </a:r>
            <a:endParaRPr lang="zh-CN" altLang="en-US" dirty="0"/>
          </a:p>
          <a:p>
            <a:pPr lvl="1">
              <a:lnSpc>
                <a:spcPct val="130000"/>
              </a:lnSpc>
            </a:pPr>
            <a:r>
              <a:rPr lang="zh-CN" altLang="en-US" dirty="0">
                <a:solidFill>
                  <a:srgbClr val="C00000"/>
                </a:solidFill>
              </a:rPr>
              <a:t>引导型介质</a:t>
            </a:r>
            <a:r>
              <a:rPr lang="zh-CN" altLang="en-US" dirty="0"/>
              <a:t>：信号在固体介质中传播，例如铜、光纤、同轴电缆</a:t>
            </a:r>
            <a:endParaRPr lang="zh-CN" altLang="en-US" dirty="0"/>
          </a:p>
          <a:p>
            <a:pPr lvl="1">
              <a:lnSpc>
                <a:spcPct val="130000"/>
              </a:lnSpc>
            </a:pPr>
            <a:r>
              <a:rPr lang="zh-CN" altLang="en-US" dirty="0">
                <a:solidFill>
                  <a:srgbClr val="C00000"/>
                </a:solidFill>
              </a:rPr>
              <a:t>非引导型介质</a:t>
            </a:r>
            <a:r>
              <a:rPr lang="zh-CN" altLang="en-US" dirty="0"/>
              <a:t>：信号自由传播，例如无线电（陆地无线电、卫星无线电信道)</a:t>
            </a:r>
            <a:endParaRPr lang="en-US" altLang="zh-CN" dirty="0"/>
          </a:p>
        </p:txBody>
      </p:sp>
      <p:sp>
        <p:nvSpPr>
          <p:cNvPr id="5" name="矩形 4"/>
          <p:cNvSpPr/>
          <p:nvPr/>
        </p:nvSpPr>
        <p:spPr>
          <a:xfrm>
            <a:off x="7786496" y="1549281"/>
            <a:ext cx="3483646" cy="1762021"/>
          </a:xfrm>
          <a:prstGeom prst="rect">
            <a:avLst/>
          </a:prstGeom>
          <a:ln>
            <a:solidFill>
              <a:srgbClr val="C00000"/>
            </a:solidFill>
          </a:ln>
        </p:spPr>
        <p:txBody>
          <a:bodyPr wrap="none">
            <a:spAutoFit/>
          </a:bodyPr>
          <a:lstStyle/>
          <a:p>
            <a:pPr algn="ctr"/>
            <a:r>
              <a:rPr lang="zh-CN" altLang="en-US" sz="2400" dirty="0">
                <a:solidFill>
                  <a:srgbClr val="C00000"/>
                </a:solidFill>
                <a:latin typeface="微软雅黑" panose="020B0503020204020204" pitchFamily="34" charset="-122"/>
                <a:ea typeface="微软雅黑" panose="020B0503020204020204" pitchFamily="34" charset="-122"/>
              </a:rPr>
              <a:t>存储</a:t>
            </a:r>
            <a:r>
              <a:rPr lang="zh-CN" altLang="en-US" sz="2400" dirty="0">
                <a:solidFill>
                  <a:prstClr val="black"/>
                </a:solidFill>
                <a:latin typeface="微软雅黑" panose="020B0503020204020204" pitchFamily="34" charset="-122"/>
                <a:ea typeface="微软雅黑" panose="020B0503020204020204" pitchFamily="34" charset="-122"/>
              </a:rPr>
              <a:t>常用</a:t>
            </a:r>
            <a:r>
              <a:rPr lang="zh-CN" altLang="en-US" sz="2400" dirty="0">
                <a:solidFill>
                  <a:srgbClr val="C00000"/>
                </a:solidFill>
                <a:latin typeface="微软雅黑" panose="020B0503020204020204" pitchFamily="34" charset="-122"/>
                <a:ea typeface="微软雅黑" panose="020B0503020204020204" pitchFamily="34" charset="-122"/>
              </a:rPr>
              <a:t>字节</a:t>
            </a:r>
            <a:r>
              <a:rPr lang="en-US" altLang="zh-CN" sz="2400" dirty="0">
                <a:solidFill>
                  <a:srgbClr val="C00000"/>
                </a:solidFill>
                <a:latin typeface="微软雅黑" panose="020B0503020204020204" pitchFamily="34" charset="-122"/>
                <a:ea typeface="微软雅黑" panose="020B0503020204020204" pitchFamily="34" charset="-122"/>
              </a:rPr>
              <a:t>Byte</a:t>
            </a:r>
            <a:endParaRPr lang="en-US" altLang="zh-CN" sz="2400" dirty="0">
              <a:solidFill>
                <a:srgbClr val="C00000"/>
              </a:solidFill>
              <a:latin typeface="微软雅黑" panose="020B0503020204020204" pitchFamily="34" charset="-122"/>
              <a:ea typeface="微软雅黑" panose="020B0503020204020204" pitchFamily="34" charset="-122"/>
            </a:endParaRPr>
          </a:p>
          <a:p>
            <a:pPr algn="ctr"/>
            <a:r>
              <a:rPr lang="en-US" altLang="zh-CN" sz="2400" dirty="0">
                <a:latin typeface="微软雅黑" panose="020B0503020204020204" pitchFamily="34" charset="-122"/>
                <a:ea typeface="微软雅黑" panose="020B0503020204020204" pitchFamily="34" charset="-122"/>
              </a:rPr>
              <a:t>K/M/G</a:t>
            </a:r>
            <a:r>
              <a:rPr lang="zh-CN" altLang="en-US" sz="2400" dirty="0">
                <a:latin typeface="微软雅黑" panose="020B0503020204020204" pitchFamily="34" charset="-122"/>
                <a:ea typeface="微软雅黑" panose="020B0503020204020204" pitchFamily="34" charset="-122"/>
              </a:rPr>
              <a:t>层级为</a:t>
            </a:r>
            <a:r>
              <a:rPr lang="en-US" altLang="zh-CN" sz="2400" dirty="0">
                <a:latin typeface="微软雅黑" panose="020B0503020204020204" pitchFamily="34" charset="-122"/>
                <a:ea typeface="微软雅黑" panose="020B0503020204020204" pitchFamily="34" charset="-122"/>
              </a:rPr>
              <a:t>2^10</a:t>
            </a:r>
            <a:r>
              <a:rPr lang="zh-CN" altLang="en-US" sz="2400" dirty="0">
                <a:latin typeface="微软雅黑" panose="020B0503020204020204" pitchFamily="34" charset="-122"/>
                <a:ea typeface="微软雅黑" panose="020B0503020204020204" pitchFamily="34" charset="-122"/>
              </a:rPr>
              <a:t>进制</a:t>
            </a:r>
            <a:endParaRPr lang="en-US" altLang="zh-CN" sz="2400" dirty="0">
              <a:solidFill>
                <a:srgbClr val="C00000"/>
              </a:solidFill>
              <a:latin typeface="微软雅黑" panose="020B0503020204020204" pitchFamily="34" charset="-122"/>
              <a:ea typeface="微软雅黑" panose="020B0503020204020204" pitchFamily="34" charset="-122"/>
            </a:endParaRPr>
          </a:p>
          <a:p>
            <a:pPr algn="ctr">
              <a:lnSpc>
                <a:spcPts val="1500"/>
              </a:lnSpc>
            </a:pPr>
            <a:endParaRPr lang="en-US" altLang="zh-CN" sz="2400" dirty="0">
              <a:solidFill>
                <a:srgbClr val="C00000"/>
              </a:solidFill>
              <a:latin typeface="微软雅黑" panose="020B0503020204020204" pitchFamily="34" charset="-122"/>
              <a:ea typeface="微软雅黑" panose="020B0503020204020204" pitchFamily="34" charset="-122"/>
            </a:endParaRPr>
          </a:p>
          <a:p>
            <a:pPr algn="ctr"/>
            <a:r>
              <a:rPr lang="zh-CN" altLang="en-US" sz="2400" dirty="0">
                <a:solidFill>
                  <a:srgbClr val="C00000"/>
                </a:solidFill>
                <a:latin typeface="微软雅黑" panose="020B0503020204020204" pitchFamily="34" charset="-122"/>
                <a:ea typeface="微软雅黑" panose="020B0503020204020204" pitchFamily="34" charset="-122"/>
              </a:rPr>
              <a:t>传输</a:t>
            </a:r>
            <a:r>
              <a:rPr lang="zh-CN" altLang="en-US" sz="2400" dirty="0">
                <a:solidFill>
                  <a:prstClr val="black"/>
                </a:solidFill>
                <a:latin typeface="微软雅黑" panose="020B0503020204020204" pitchFamily="34" charset="-122"/>
                <a:ea typeface="微软雅黑" panose="020B0503020204020204" pitchFamily="34" charset="-122"/>
              </a:rPr>
              <a:t>常用</a:t>
            </a:r>
            <a:r>
              <a:rPr lang="zh-CN" altLang="en-US" sz="2400" dirty="0">
                <a:solidFill>
                  <a:srgbClr val="C00000"/>
                </a:solidFill>
                <a:latin typeface="微软雅黑" panose="020B0503020204020204" pitchFamily="34" charset="-122"/>
                <a:ea typeface="微软雅黑" panose="020B0503020204020204" pitchFamily="34" charset="-122"/>
              </a:rPr>
              <a:t>比特</a:t>
            </a:r>
            <a:r>
              <a:rPr lang="en-US" altLang="zh-CN" sz="2400" dirty="0">
                <a:solidFill>
                  <a:srgbClr val="C00000"/>
                </a:solidFill>
                <a:latin typeface="微软雅黑" panose="020B0503020204020204" pitchFamily="34" charset="-122"/>
                <a:ea typeface="微软雅黑" panose="020B0503020204020204" pitchFamily="34" charset="-122"/>
              </a:rPr>
              <a:t>Bit</a:t>
            </a:r>
            <a:endParaRPr lang="en-US" altLang="zh-CN" sz="2400" dirty="0">
              <a:solidFill>
                <a:srgbClr val="C00000"/>
              </a:solidFill>
              <a:latin typeface="微软雅黑" panose="020B0503020204020204" pitchFamily="34" charset="-122"/>
              <a:ea typeface="微软雅黑" panose="020B0503020204020204" pitchFamily="34" charset="-122"/>
            </a:endParaRPr>
          </a:p>
          <a:p>
            <a:pPr algn="ctr"/>
            <a:r>
              <a:rPr lang="en-US" altLang="zh-CN" sz="2400" dirty="0">
                <a:latin typeface="微软雅黑" panose="020B0503020204020204" pitchFamily="34" charset="-122"/>
                <a:ea typeface="微软雅黑" panose="020B0503020204020204" pitchFamily="34" charset="-122"/>
              </a:rPr>
              <a:t>K/M/G</a:t>
            </a:r>
            <a:r>
              <a:rPr lang="zh-CN" altLang="en-US" sz="2400" dirty="0">
                <a:latin typeface="微软雅黑" panose="020B0503020204020204" pitchFamily="34" charset="-122"/>
                <a:ea typeface="微软雅黑" panose="020B0503020204020204" pitchFamily="34" charset="-122"/>
              </a:rPr>
              <a:t>层级为</a:t>
            </a:r>
            <a:r>
              <a:rPr lang="en-US" altLang="zh-CN" sz="2400" dirty="0">
                <a:latin typeface="微软雅黑" panose="020B0503020204020204" pitchFamily="34" charset="-122"/>
                <a:ea typeface="微软雅黑" panose="020B0503020204020204" pitchFamily="34" charset="-122"/>
              </a:rPr>
              <a:t>10^3</a:t>
            </a:r>
            <a:r>
              <a:rPr lang="zh-CN" altLang="en-US" sz="2400" dirty="0">
                <a:latin typeface="微软雅黑" panose="020B0503020204020204" pitchFamily="34" charset="-122"/>
                <a:ea typeface="微软雅黑" panose="020B0503020204020204" pitchFamily="34" charset="-122"/>
              </a:rPr>
              <a:t>进制</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7786496" y="3614218"/>
            <a:ext cx="3483646" cy="461665"/>
          </a:xfrm>
          <a:prstGeom prst="rect">
            <a:avLst/>
          </a:prstGeom>
          <a:ln>
            <a:solidFill>
              <a:srgbClr val="C00000"/>
            </a:solidFill>
          </a:ln>
        </p:spPr>
        <p:txBody>
          <a:bodyPr wrap="square">
            <a:spAutoFit/>
          </a:bodyPr>
          <a:lstStyle/>
          <a:p>
            <a:pPr algn="ctr"/>
            <a:r>
              <a:rPr lang="en-US" altLang="zh-CN" sz="2400" dirty="0">
                <a:solidFill>
                  <a:srgbClr val="C00000"/>
                </a:solidFill>
                <a:latin typeface="微软雅黑" panose="020B0503020204020204" pitchFamily="34" charset="-122"/>
                <a:ea typeface="微软雅黑" panose="020B0503020204020204" pitchFamily="34" charset="-122"/>
              </a:rPr>
              <a:t>1B=8b</a:t>
            </a:r>
            <a:r>
              <a:rPr lang="zh-CN" altLang="en-US" sz="2400" dirty="0">
                <a:solidFill>
                  <a:srgbClr val="C00000"/>
                </a:solidFill>
                <a:latin typeface="微软雅黑" panose="020B0503020204020204" pitchFamily="34" charset="-122"/>
                <a:ea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rPr>
              <a:t>（注意大小写）</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物理</a:t>
            </a:r>
            <a:r>
              <a:rPr lang="zh-CN" altLang="en-US" dirty="0"/>
              <a:t>介质：光纤</a:t>
            </a:r>
            <a:endParaRPr lang="zh-CN" altLang="en-US" dirty="0"/>
          </a:p>
        </p:txBody>
      </p:sp>
      <p:sp>
        <p:nvSpPr>
          <p:cNvPr id="3" name="内容占位符 2"/>
          <p:cNvSpPr>
            <a:spLocks noGrp="1"/>
          </p:cNvSpPr>
          <p:nvPr>
            <p:ph idx="1"/>
          </p:nvPr>
        </p:nvSpPr>
        <p:spPr>
          <a:xfrm>
            <a:off x="838200" y="1332756"/>
            <a:ext cx="10515600" cy="4586694"/>
          </a:xfrm>
        </p:spPr>
        <p:txBody>
          <a:bodyPr/>
          <a:lstStyle/>
          <a:p>
            <a:r>
              <a:rPr lang="zh-CN" altLang="en-US" dirty="0"/>
              <a:t>光纤</a:t>
            </a:r>
            <a:endParaRPr lang="zh-CN" altLang="en-US" dirty="0"/>
          </a:p>
          <a:p>
            <a:pPr lvl="1"/>
            <a:r>
              <a:rPr lang="zh-CN" altLang="en-US" dirty="0"/>
              <a:t>玻璃纤维携带光脉冲，每个脉冲一位</a:t>
            </a:r>
            <a:endParaRPr lang="zh-CN" altLang="en-US" dirty="0"/>
          </a:p>
          <a:p>
            <a:pPr>
              <a:buFont typeface="Wingdings" panose="05000000000000000000" charset="0"/>
              <a:buChar char="Ø"/>
            </a:pPr>
            <a:r>
              <a:rPr lang="zh-CN" altLang="en-US" dirty="0"/>
              <a:t>高速运行</a:t>
            </a:r>
            <a:endParaRPr lang="zh-CN" altLang="en-US" dirty="0"/>
          </a:p>
          <a:p>
            <a:pPr lvl="1"/>
            <a:r>
              <a:rPr lang="zh-CN" altLang="en-US" dirty="0"/>
              <a:t>高速点对点传输（10-100 Gbps以上）</a:t>
            </a:r>
            <a:endParaRPr lang="zh-CN" altLang="en-US" dirty="0"/>
          </a:p>
          <a:p>
            <a:pPr>
              <a:buFont typeface="Wingdings" panose="05000000000000000000" charset="0"/>
              <a:buChar char="Ø"/>
            </a:pPr>
            <a:r>
              <a:rPr lang="zh-CN" altLang="en-US" dirty="0"/>
              <a:t>低误码率</a:t>
            </a:r>
            <a:endParaRPr lang="zh-CN" altLang="en-US" dirty="0"/>
          </a:p>
          <a:p>
            <a:pPr lvl="1"/>
            <a:r>
              <a:rPr lang="zh-CN" altLang="en-US" dirty="0"/>
              <a:t>中继器相距很远，对电磁噪声免疫</a:t>
            </a:r>
            <a:endParaRPr lang="zh-CN" altLang="en-US" dirty="0"/>
          </a:p>
        </p:txBody>
      </p:sp>
      <p:pic>
        <p:nvPicPr>
          <p:cNvPr id="12290" name="Picture 2" descr="Image result for optical fiber"/>
          <p:cNvPicPr>
            <a:picLocks noChangeAspect="1" noChangeArrowheads="1"/>
          </p:cNvPicPr>
          <p:nvPr/>
        </p:nvPicPr>
        <p:blipFill>
          <a:blip r:embed="rId1"/>
          <a:srcRect/>
          <a:stretch>
            <a:fillRect/>
          </a:stretch>
        </p:blipFill>
        <p:spPr bwMode="auto">
          <a:xfrm>
            <a:off x="7287481" y="4065678"/>
            <a:ext cx="3367260" cy="222240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rotWithShape="1">
          <a:blip r:embed="rId2" cstate="print"/>
          <a:srcRect/>
          <a:stretch>
            <a:fillRect/>
          </a:stretch>
        </p:blipFill>
        <p:spPr bwMode="auto">
          <a:xfrm>
            <a:off x="1537259" y="4212456"/>
            <a:ext cx="2256970" cy="1728316"/>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p:cNvPicPr>
            <a:picLocks noChangeAspect="1" noChangeArrowheads="1"/>
          </p:cNvPicPr>
          <p:nvPr/>
        </p:nvPicPr>
        <p:blipFill rotWithShape="1">
          <a:blip r:embed="rId3" cstate="print"/>
          <a:srcRect/>
          <a:stretch>
            <a:fillRect/>
          </a:stretch>
        </p:blipFill>
        <p:spPr bwMode="auto">
          <a:xfrm>
            <a:off x="4159084" y="4324576"/>
            <a:ext cx="2961185" cy="1674349"/>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9454949" y="4324576"/>
            <a:ext cx="1620545" cy="707886"/>
          </a:xfrm>
          <a:prstGeom prst="rect">
            <a:avLst/>
          </a:prstGeom>
        </p:spPr>
        <p:txBody>
          <a:bodyPr wrap="square">
            <a:spAutoFit/>
          </a:bodyPr>
          <a:lstStyle/>
          <a:p>
            <a:pPr marL="53975" lvl="1"/>
            <a:r>
              <a:rPr lang="zh-CN" altLang="en-US" sz="2000" dirty="0">
                <a:latin typeface="微软雅黑" panose="020B0503020204020204" pitchFamily="34" charset="-122"/>
                <a:ea typeface="微软雅黑" panose="020B0503020204020204" pitchFamily="34" charset="-122"/>
              </a:rPr>
              <a:t>由多根光纤构成的光缆</a:t>
            </a:r>
            <a:endParaRPr lang="zh-CN" altLang="en-US" sz="2000" dirty="0">
              <a:latin typeface="微软雅黑" panose="020B0503020204020204" pitchFamily="34" charset="-122"/>
              <a:ea typeface="微软雅黑" panose="020B0503020204020204" pitchFamily="34" charset="-122"/>
            </a:endParaRPr>
          </a:p>
        </p:txBody>
      </p:sp>
      <p:sp>
        <p:nvSpPr>
          <p:cNvPr id="9" name="矩形 8"/>
          <p:cNvSpPr/>
          <p:nvPr/>
        </p:nvSpPr>
        <p:spPr>
          <a:xfrm>
            <a:off x="2273078" y="5956240"/>
            <a:ext cx="785332" cy="400110"/>
          </a:xfrm>
          <a:prstGeom prst="rect">
            <a:avLst/>
          </a:prstGeom>
        </p:spPr>
        <p:txBody>
          <a:bodyPr wrap="square">
            <a:spAutoFit/>
          </a:bodyPr>
          <a:lstStyle/>
          <a:p>
            <a:pPr marL="53975" lvl="1"/>
            <a:r>
              <a:rPr lang="zh-CN" altLang="en-US" sz="2000" dirty="0">
                <a:latin typeface="微软雅黑" panose="020B0503020204020204" pitchFamily="34" charset="-122"/>
                <a:ea typeface="微软雅黑" panose="020B0503020204020204" pitchFamily="34" charset="-122"/>
              </a:rPr>
              <a:t>光纤</a:t>
            </a:r>
            <a:endParaRPr lang="zh-CN" altLang="en-US" sz="2000" dirty="0">
              <a:latin typeface="微软雅黑" panose="020B0503020204020204" pitchFamily="34" charset="-122"/>
              <a:ea typeface="微软雅黑" panose="020B0503020204020204" pitchFamily="34" charset="-122"/>
            </a:endParaRPr>
          </a:p>
        </p:txBody>
      </p:sp>
      <p:sp>
        <p:nvSpPr>
          <p:cNvPr id="10" name="矩形 9"/>
          <p:cNvSpPr/>
          <p:nvPr/>
        </p:nvSpPr>
        <p:spPr>
          <a:xfrm>
            <a:off x="5025248" y="5897397"/>
            <a:ext cx="1402848" cy="400110"/>
          </a:xfrm>
          <a:prstGeom prst="rect">
            <a:avLst/>
          </a:prstGeom>
        </p:spPr>
        <p:txBody>
          <a:bodyPr wrap="square">
            <a:spAutoFit/>
          </a:bodyPr>
          <a:lstStyle/>
          <a:p>
            <a:pPr marL="53975" lvl="1"/>
            <a:r>
              <a:rPr lang="zh-CN" altLang="en-US" sz="2000" dirty="0">
                <a:latin typeface="微软雅黑" panose="020B0503020204020204" pitchFamily="34" charset="-122"/>
                <a:ea typeface="微软雅黑" panose="020B0503020204020204" pitchFamily="34" charset="-122"/>
              </a:rPr>
              <a:t>光纤接口</a:t>
            </a:r>
            <a:endParaRPr lang="zh-CN" altLang="en-US" sz="2000" dirty="0">
              <a:latin typeface="微软雅黑" panose="020B0503020204020204" pitchFamily="34" charset="-122"/>
              <a:ea typeface="微软雅黑" panose="020B0503020204020204" pitchFamily="34" charset="-122"/>
            </a:endParaRPr>
          </a:p>
        </p:txBody>
      </p:sp>
      <p:pic>
        <p:nvPicPr>
          <p:cNvPr id="12294" name="Picture 6"/>
          <p:cNvPicPr>
            <a:picLocks noChangeAspect="1" noChangeArrowheads="1"/>
          </p:cNvPicPr>
          <p:nvPr/>
        </p:nvPicPr>
        <p:blipFill>
          <a:blip r:embed="rId4"/>
          <a:srcRect/>
          <a:stretch>
            <a:fillRect/>
          </a:stretch>
        </p:blipFill>
        <p:spPr bwMode="auto">
          <a:xfrm>
            <a:off x="8001891" y="1494232"/>
            <a:ext cx="2906116" cy="2371391"/>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4" name="文本框 1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1"/>
          <a:srcRect/>
          <a:stretch>
            <a:fillRect/>
          </a:stretch>
        </p:blipFill>
        <p:spPr bwMode="auto">
          <a:xfrm>
            <a:off x="6898183" y="4186266"/>
            <a:ext cx="3453799" cy="197873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normAutofit/>
          </a:bodyPr>
          <a:lstStyle/>
          <a:p>
            <a:r>
              <a:rPr lang="en-US" altLang="zh-CN" sz="4000" dirty="0" err="1"/>
              <a:t>物理</a:t>
            </a:r>
            <a:r>
              <a:rPr lang="zh-CN" altLang="en-US" sz="4000" dirty="0"/>
              <a:t>介质：双绞线和同轴电缆</a:t>
            </a:r>
            <a:endParaRPr lang="zh-CN" altLang="en-US" sz="4000" dirty="0"/>
          </a:p>
        </p:txBody>
      </p:sp>
      <p:sp>
        <p:nvSpPr>
          <p:cNvPr id="3" name="内容占位符 2"/>
          <p:cNvSpPr>
            <a:spLocks noGrp="1"/>
          </p:cNvSpPr>
          <p:nvPr>
            <p:ph sz="half" idx="1"/>
          </p:nvPr>
        </p:nvSpPr>
        <p:spPr>
          <a:xfrm>
            <a:off x="838200" y="1313869"/>
            <a:ext cx="5181600" cy="4932751"/>
          </a:xfrm>
        </p:spPr>
        <p:txBody>
          <a:bodyPr/>
          <a:lstStyle/>
          <a:p>
            <a:r>
              <a:rPr lang="zh-CN" altLang="en-US" dirty="0"/>
              <a:t>双绞线（</a:t>
            </a:r>
            <a:r>
              <a:rPr lang="en-US" altLang="zh-CN" dirty="0"/>
              <a:t>Twisted</a:t>
            </a:r>
            <a:r>
              <a:rPr lang="zh-CN" altLang="en-US" dirty="0"/>
              <a:t> P</a:t>
            </a:r>
            <a:r>
              <a:rPr lang="en-US" altLang="zh-CN" dirty="0"/>
              <a:t>air</a:t>
            </a:r>
            <a:r>
              <a:rPr lang="zh-CN" altLang="en-US" dirty="0"/>
              <a:t>）</a:t>
            </a:r>
            <a:endParaRPr lang="en-US" altLang="zh-CN" dirty="0"/>
          </a:p>
          <a:p>
            <a:pPr lvl="1"/>
            <a:r>
              <a:rPr lang="zh-CN" altLang="en-US" dirty="0"/>
              <a:t>两根绝缘铜线互相缠绕为一对</a:t>
            </a:r>
            <a:endParaRPr lang="en-US" altLang="zh-CN" dirty="0"/>
          </a:p>
          <a:p>
            <a:pPr lvl="1"/>
            <a:r>
              <a:rPr lang="zh-CN" altLang="en-US" dirty="0">
                <a:solidFill>
                  <a:srgbClr val="C00000"/>
                </a:solidFill>
              </a:rPr>
              <a:t>电话线</a:t>
            </a:r>
            <a:r>
              <a:rPr lang="zh-CN" altLang="en-US" dirty="0"/>
              <a:t>为</a:t>
            </a:r>
            <a:r>
              <a:rPr lang="en-US" altLang="zh-CN" dirty="0"/>
              <a:t>1</a:t>
            </a:r>
            <a:r>
              <a:rPr lang="zh-CN" altLang="en-US" dirty="0"/>
              <a:t>对双绞线</a:t>
            </a:r>
            <a:endParaRPr lang="en-US" altLang="zh-CN" dirty="0"/>
          </a:p>
          <a:p>
            <a:pPr lvl="1"/>
            <a:r>
              <a:rPr lang="zh-CN" altLang="en-US" dirty="0">
                <a:solidFill>
                  <a:srgbClr val="C00000"/>
                </a:solidFill>
              </a:rPr>
              <a:t>网线</a:t>
            </a:r>
            <a:r>
              <a:rPr lang="zh-CN" altLang="en-US" dirty="0"/>
              <a:t>为</a:t>
            </a:r>
            <a:r>
              <a:rPr lang="en-US" altLang="zh-CN" dirty="0"/>
              <a:t>4</a:t>
            </a:r>
            <a:r>
              <a:rPr lang="zh-CN" altLang="en-US" dirty="0"/>
              <a:t>对双绞线，广泛用于计算机网络（以太网）双向传输</a:t>
            </a:r>
            <a:endParaRPr lang="zh-CN" altLang="en-US" dirty="0"/>
          </a:p>
          <a:p>
            <a:pPr lvl="1"/>
            <a:r>
              <a:rPr lang="zh-CN" altLang="en-US" dirty="0"/>
              <a:t>第5类：100 Mbps</a:t>
            </a:r>
            <a:r>
              <a:rPr lang="en-US" altLang="zh-CN" dirty="0"/>
              <a:t>~</a:t>
            </a:r>
            <a:r>
              <a:rPr lang="zh-CN" altLang="en-US" dirty="0"/>
              <a:t>1 Gbps</a:t>
            </a:r>
            <a:endParaRPr lang="zh-CN" altLang="en-US" dirty="0"/>
          </a:p>
          <a:p>
            <a:pPr lvl="1"/>
            <a:r>
              <a:rPr lang="zh-CN" altLang="en-US" dirty="0"/>
              <a:t>第6类：10Gbps</a:t>
            </a:r>
            <a:endParaRPr lang="zh-CN" altLang="en-US" dirty="0"/>
          </a:p>
          <a:p>
            <a:endParaRPr lang="zh-CN" altLang="en-US" dirty="0"/>
          </a:p>
        </p:txBody>
      </p:sp>
      <p:sp>
        <p:nvSpPr>
          <p:cNvPr id="7" name="内容占位符 6"/>
          <p:cNvSpPr>
            <a:spLocks noGrp="1"/>
          </p:cNvSpPr>
          <p:nvPr>
            <p:ph sz="half" idx="2"/>
          </p:nvPr>
        </p:nvSpPr>
        <p:spPr>
          <a:xfrm>
            <a:off x="6241538" y="1353942"/>
            <a:ext cx="5181600" cy="4351338"/>
          </a:xfrm>
        </p:spPr>
        <p:txBody>
          <a:bodyPr/>
          <a:lstStyle/>
          <a:p>
            <a:r>
              <a:rPr lang="zh-CN" altLang="en-US" dirty="0"/>
              <a:t>同轴电缆</a:t>
            </a:r>
            <a:endParaRPr lang="zh-CN" altLang="en-US" dirty="0"/>
          </a:p>
          <a:p>
            <a:pPr lvl="1"/>
            <a:r>
              <a:rPr lang="zh-CN" altLang="en-US" dirty="0"/>
              <a:t>两根同心铜导线，双向传输</a:t>
            </a:r>
            <a:endParaRPr lang="zh-CN" altLang="en-US" dirty="0"/>
          </a:p>
          <a:p>
            <a:pPr lvl="1"/>
            <a:r>
              <a:rPr lang="zh-CN" altLang="en-US" dirty="0"/>
              <a:t>电缆上的多个频率通道</a:t>
            </a:r>
            <a:endParaRPr lang="zh-CN" altLang="en-US" dirty="0"/>
          </a:p>
          <a:p>
            <a:pPr lvl="1"/>
            <a:r>
              <a:rPr lang="zh-CN" altLang="en-US" dirty="0"/>
              <a:t>带宽可达</a:t>
            </a:r>
            <a:r>
              <a:rPr lang="en-US" altLang="zh-CN" dirty="0"/>
              <a:t>100Mbps</a:t>
            </a:r>
            <a:endParaRPr lang="en-US" altLang="zh-CN" dirty="0"/>
          </a:p>
          <a:p>
            <a:endParaRPr lang="zh-CN" altLang="en-US" dirty="0"/>
          </a:p>
        </p:txBody>
      </p:sp>
      <p:pic>
        <p:nvPicPr>
          <p:cNvPr id="11268" name="Picture 4" descr="Image result for twisted pair"/>
          <p:cNvPicPr>
            <a:picLocks noChangeAspect="1" noChangeArrowheads="1"/>
          </p:cNvPicPr>
          <p:nvPr/>
        </p:nvPicPr>
        <p:blipFill rotWithShape="1">
          <a:blip r:embed="rId2" cstate="print"/>
          <a:srcRect/>
          <a:stretch>
            <a:fillRect/>
          </a:stretch>
        </p:blipFill>
        <p:spPr bwMode="auto">
          <a:xfrm>
            <a:off x="3307792" y="4606454"/>
            <a:ext cx="2139334" cy="12120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p:cNvPicPr>
          <p:nvPr/>
        </p:nvPicPr>
        <p:blipFill>
          <a:blip r:embed="rId3" cstate="print"/>
          <a:stretch>
            <a:fillRect/>
          </a:stretch>
        </p:blipFill>
        <p:spPr>
          <a:xfrm rot="2692153">
            <a:off x="7283813" y="2708139"/>
            <a:ext cx="2442210" cy="2442210"/>
          </a:xfrm>
          <a:prstGeom prst="rect">
            <a:avLst/>
          </a:prstGeom>
        </p:spPr>
      </p:pic>
      <p:sp>
        <p:nvSpPr>
          <p:cNvPr id="8" name="矩形 7"/>
          <p:cNvSpPr/>
          <p:nvPr/>
        </p:nvSpPr>
        <p:spPr>
          <a:xfrm>
            <a:off x="1329053" y="5811354"/>
            <a:ext cx="1361271" cy="707886"/>
          </a:xfrm>
          <a:prstGeom prst="rect">
            <a:avLst/>
          </a:prstGeom>
        </p:spPr>
        <p:txBody>
          <a:bodyPr wrap="none">
            <a:spAutoFit/>
          </a:bodyPr>
          <a:lstStyle/>
          <a:p>
            <a:pPr algn="ctr"/>
            <a:r>
              <a:rPr lang="en-US" altLang="zh-CN" sz="2000" dirty="0">
                <a:solidFill>
                  <a:prstClr val="black"/>
                </a:solidFill>
                <a:latin typeface="微软雅黑" panose="020B0503020204020204" pitchFamily="34" charset="-122"/>
                <a:ea typeface="微软雅黑" panose="020B0503020204020204" pitchFamily="34" charset="-122"/>
              </a:rPr>
              <a:t>4</a:t>
            </a:r>
            <a:r>
              <a:rPr lang="zh-CN" altLang="en-US" sz="2000" dirty="0">
                <a:solidFill>
                  <a:prstClr val="black"/>
                </a:solidFill>
                <a:latin typeface="微软雅黑" panose="020B0503020204020204" pitchFamily="34" charset="-122"/>
                <a:ea typeface="微软雅黑" panose="020B0503020204020204" pitchFamily="34" charset="-122"/>
              </a:rPr>
              <a:t>对双绞线</a:t>
            </a:r>
            <a:br>
              <a:rPr lang="en-US" altLang="zh-CN" sz="2000" dirty="0">
                <a:solidFill>
                  <a:prstClr val="black"/>
                </a:solidFill>
                <a:latin typeface="微软雅黑" panose="020B0503020204020204" pitchFamily="34" charset="-122"/>
                <a:ea typeface="微软雅黑" panose="020B0503020204020204" pitchFamily="34" charset="-122"/>
              </a:rPr>
            </a:br>
            <a:r>
              <a:rPr lang="zh-CN" altLang="en-US" sz="2000" dirty="0">
                <a:solidFill>
                  <a:prstClr val="black"/>
                </a:solidFill>
                <a:latin typeface="微软雅黑" panose="020B0503020204020204" pitchFamily="34" charset="-122"/>
                <a:ea typeface="微软雅黑" panose="020B0503020204020204" pitchFamily="34" charset="-122"/>
              </a:rPr>
              <a:t>构成网线</a:t>
            </a:r>
            <a:endParaRPr lang="zh-CN" altLang="en-US" sz="1400" dirty="0"/>
          </a:p>
        </p:txBody>
      </p:sp>
      <p:sp>
        <p:nvSpPr>
          <p:cNvPr id="11" name="矩形 10"/>
          <p:cNvSpPr/>
          <p:nvPr/>
        </p:nvSpPr>
        <p:spPr>
          <a:xfrm>
            <a:off x="3658361" y="5853344"/>
            <a:ext cx="1210588" cy="707886"/>
          </a:xfrm>
          <a:prstGeom prst="rect">
            <a:avLst/>
          </a:prstGeom>
        </p:spPr>
        <p:txBody>
          <a:bodyPr wrap="none">
            <a:spAutoFit/>
          </a:bodyPr>
          <a:lstStyle/>
          <a:p>
            <a:pPr algn="ctr"/>
            <a:r>
              <a:rPr lang="zh-CN" altLang="en-US" sz="2000" dirty="0">
                <a:solidFill>
                  <a:prstClr val="black"/>
                </a:solidFill>
                <a:latin typeface="微软雅黑" panose="020B0503020204020204" pitchFamily="34" charset="-122"/>
                <a:ea typeface="微软雅黑" panose="020B0503020204020204" pitchFamily="34" charset="-122"/>
              </a:rPr>
              <a:t>网线接口</a:t>
            </a:r>
            <a:endParaRPr lang="en-US" altLang="zh-CN" sz="2000" dirty="0">
              <a:solidFill>
                <a:prstClr val="black"/>
              </a:solidFill>
              <a:latin typeface="微软雅黑" panose="020B0503020204020204" pitchFamily="34" charset="-122"/>
              <a:ea typeface="微软雅黑" panose="020B0503020204020204" pitchFamily="34" charset="-122"/>
            </a:endParaRPr>
          </a:p>
          <a:p>
            <a:pPr algn="ctr"/>
            <a:r>
              <a:rPr lang="zh-CN" altLang="en-US" sz="2000" dirty="0">
                <a:solidFill>
                  <a:prstClr val="black"/>
                </a:solidFill>
                <a:latin typeface="微软雅黑" panose="020B0503020204020204" pitchFamily="34" charset="-122"/>
                <a:ea typeface="微软雅黑" panose="020B0503020204020204" pitchFamily="34" charset="-122"/>
              </a:rPr>
              <a:t>水晶头</a:t>
            </a:r>
            <a:endParaRPr lang="zh-CN" altLang="en-US" sz="1400" dirty="0"/>
          </a:p>
        </p:txBody>
      </p:sp>
      <p:sp>
        <p:nvSpPr>
          <p:cNvPr id="12" name="矩形 11"/>
          <p:cNvSpPr/>
          <p:nvPr/>
        </p:nvSpPr>
        <p:spPr>
          <a:xfrm>
            <a:off x="8019789" y="6114490"/>
            <a:ext cx="1210588"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同轴电缆</a:t>
            </a:r>
            <a:endParaRPr lang="zh-CN" altLang="en-US" sz="1400" dirty="0"/>
          </a:p>
        </p:txBody>
      </p:sp>
      <p:pic>
        <p:nvPicPr>
          <p:cNvPr id="13318" name="Picture 6"/>
          <p:cNvPicPr>
            <a:picLocks noChangeAspect="1" noChangeArrowheads="1"/>
          </p:cNvPicPr>
          <p:nvPr/>
        </p:nvPicPr>
        <p:blipFill rotWithShape="1">
          <a:blip r:embed="rId4" cstate="print"/>
          <a:srcRect/>
          <a:stretch>
            <a:fillRect/>
          </a:stretch>
        </p:blipFill>
        <p:spPr bwMode="auto">
          <a:xfrm rot="5400000">
            <a:off x="1523446" y="4254778"/>
            <a:ext cx="1212061" cy="1978739"/>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
        <p:nvSpPr>
          <p:cNvPr id="14" name="文本框 1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err="1"/>
              <a:t>物理</a:t>
            </a:r>
            <a:r>
              <a:rPr lang="zh-CN" altLang="en-US" dirty="0"/>
              <a:t>介质：非引导型介质</a:t>
            </a:r>
            <a:endParaRPr lang="zh-CN" altLang="en-US" dirty="0"/>
          </a:p>
        </p:txBody>
      </p:sp>
      <p:sp>
        <p:nvSpPr>
          <p:cNvPr id="3" name="内容占位符 2"/>
          <p:cNvSpPr>
            <a:spLocks noGrp="1"/>
          </p:cNvSpPr>
          <p:nvPr>
            <p:ph idx="1"/>
          </p:nvPr>
        </p:nvSpPr>
        <p:spPr>
          <a:xfrm>
            <a:off x="838200" y="1367155"/>
            <a:ext cx="5073015" cy="4730115"/>
          </a:xfrm>
        </p:spPr>
        <p:txBody>
          <a:bodyPr>
            <a:normAutofit/>
          </a:bodyPr>
          <a:lstStyle/>
          <a:p>
            <a:r>
              <a:rPr lang="zh-CN" altLang="en-US" dirty="0">
                <a:solidFill>
                  <a:srgbClr val="C00000"/>
                </a:solidFill>
              </a:rPr>
              <a:t>无线电</a:t>
            </a:r>
            <a:endParaRPr lang="zh-CN" altLang="en-US" dirty="0"/>
          </a:p>
          <a:p>
            <a:pPr lvl="1"/>
            <a:r>
              <a:rPr lang="zh-CN" altLang="en-US" dirty="0"/>
              <a:t>电磁频谱中各种“波段”携带的信号</a:t>
            </a:r>
            <a:endParaRPr lang="zh-CN" altLang="en-US" dirty="0"/>
          </a:p>
          <a:p>
            <a:pPr lvl="1"/>
            <a:r>
              <a:rPr lang="zh-CN" altLang="en-US" dirty="0"/>
              <a:t>没有物理“电线”</a:t>
            </a:r>
            <a:endParaRPr lang="zh-CN" altLang="en-US" dirty="0"/>
          </a:p>
          <a:p>
            <a:pPr lvl="1"/>
            <a:r>
              <a:rPr lang="zh-CN" altLang="en-US" dirty="0"/>
              <a:t>不依赖介质的广播</a:t>
            </a:r>
            <a:endParaRPr lang="en-US" altLang="zh-CN" dirty="0"/>
          </a:p>
          <a:p>
            <a:pPr lvl="1"/>
            <a:r>
              <a:rPr lang="zh-CN" altLang="en-US" dirty="0"/>
              <a:t>半双工（发送方到接收方）</a:t>
            </a:r>
            <a:endParaRPr lang="zh-CN" altLang="en-US" dirty="0"/>
          </a:p>
          <a:p>
            <a:r>
              <a:rPr lang="zh-CN" altLang="en-US" dirty="0"/>
              <a:t>传播环境影响</a:t>
            </a:r>
            <a:endParaRPr lang="zh-CN" altLang="en-US" dirty="0"/>
          </a:p>
          <a:p>
            <a:pPr lvl="1"/>
            <a:r>
              <a:rPr lang="zh-CN" altLang="en-US" dirty="0"/>
              <a:t>反射</a:t>
            </a:r>
            <a:endParaRPr lang="zh-CN" altLang="en-US" dirty="0"/>
          </a:p>
          <a:p>
            <a:pPr lvl="1"/>
            <a:r>
              <a:rPr lang="zh-CN" altLang="en-US" dirty="0"/>
              <a:t>物体阻挡</a:t>
            </a:r>
            <a:endParaRPr lang="zh-CN" altLang="en-US" dirty="0"/>
          </a:p>
          <a:p>
            <a:pPr lvl="1"/>
            <a:r>
              <a:rPr lang="zh-CN" altLang="en-US" dirty="0"/>
              <a:t>干扰/噪声</a:t>
            </a:r>
            <a:endParaRPr lang="zh-CN" altLang="en-US" dirty="0"/>
          </a:p>
        </p:txBody>
      </p:sp>
      <p:sp>
        <p:nvSpPr>
          <p:cNvPr id="6" name="内容占位符 2"/>
          <p:cNvSpPr>
            <a:spLocks noGrp="1"/>
          </p:cNvSpPr>
          <p:nvPr/>
        </p:nvSpPr>
        <p:spPr>
          <a:xfrm>
            <a:off x="6215380" y="1367155"/>
            <a:ext cx="5138420" cy="498919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ClrTx/>
              <a:buSzTx/>
            </a:pPr>
            <a:r>
              <a:rPr lang="zh-CN" altLang="en-US" sz="2800" dirty="0">
                <a:solidFill>
                  <a:srgbClr val="C00000"/>
                </a:solidFill>
              </a:rPr>
              <a:t>无线链路类型</a:t>
            </a:r>
            <a:endParaRPr lang="zh-CN" altLang="en-US" sz="2300" dirty="0">
              <a:solidFill>
                <a:srgbClr val="C00000"/>
              </a:solidFill>
            </a:endParaRPr>
          </a:p>
          <a:p>
            <a:pPr lvl="1">
              <a:buFont typeface="Wingdings" panose="05000000000000000000" charset="0"/>
              <a:buChar char="Ø"/>
            </a:pPr>
            <a:r>
              <a:rPr lang="zh-CN" altLang="en-US" dirty="0"/>
              <a:t>无线局域网（WiFi）</a:t>
            </a:r>
            <a:endParaRPr lang="zh-CN" altLang="en-US" dirty="0"/>
          </a:p>
          <a:p>
            <a:pPr lvl="2"/>
            <a:r>
              <a:rPr lang="zh-CN" altLang="en-US" dirty="0"/>
              <a:t>10-100 Mbps；10米</a:t>
            </a:r>
            <a:endParaRPr lang="zh-CN" altLang="en-US" dirty="0"/>
          </a:p>
          <a:p>
            <a:pPr lvl="1">
              <a:buFont typeface="Wingdings" panose="05000000000000000000" pitchFamily="2" charset="2"/>
              <a:buChar char="Ø"/>
            </a:pPr>
            <a:r>
              <a:rPr lang="zh-CN" altLang="en-US" dirty="0"/>
              <a:t>广域（如</a:t>
            </a:r>
            <a:r>
              <a:rPr lang="en-US" altLang="zh-CN" dirty="0"/>
              <a:t>3/</a:t>
            </a:r>
            <a:r>
              <a:rPr lang="zh-CN" altLang="en-US" dirty="0"/>
              <a:t>4</a:t>
            </a:r>
            <a:r>
              <a:rPr lang="en-US" altLang="zh-CN" dirty="0"/>
              <a:t>/5</a:t>
            </a:r>
            <a:r>
              <a:rPr lang="zh-CN" altLang="en-US" dirty="0"/>
              <a:t>G蜂窝）</a:t>
            </a:r>
            <a:endParaRPr lang="zh-CN" altLang="en-US" dirty="0"/>
          </a:p>
          <a:p>
            <a:pPr lvl="2"/>
            <a:r>
              <a:rPr lang="zh-CN" altLang="en-US" dirty="0"/>
              <a:t>在~10公里范围内</a:t>
            </a:r>
            <a:endParaRPr lang="zh-CN" altLang="en-US" dirty="0"/>
          </a:p>
          <a:p>
            <a:pPr lvl="1">
              <a:buFont typeface="Wingdings" panose="05000000000000000000" pitchFamily="2" charset="2"/>
              <a:buChar char="Ø"/>
            </a:pPr>
            <a:r>
              <a:rPr lang="zh-CN" altLang="en-US" dirty="0"/>
              <a:t>蓝牙：短距离，有限速率</a:t>
            </a:r>
            <a:endParaRPr lang="zh-CN" altLang="en-US" dirty="0"/>
          </a:p>
          <a:p>
            <a:pPr lvl="1">
              <a:buFont typeface="Wingdings" panose="05000000000000000000" pitchFamily="2" charset="2"/>
              <a:buChar char="Ø"/>
            </a:pPr>
            <a:r>
              <a:rPr lang="zh-CN" altLang="en-US" dirty="0"/>
              <a:t>地面微波：点对点；45 Mbps</a:t>
            </a:r>
            <a:endParaRPr lang="zh-CN" altLang="en-US" dirty="0"/>
          </a:p>
          <a:p>
            <a:pPr lvl="1">
              <a:buFont typeface="Wingdings" panose="05000000000000000000" charset="0"/>
              <a:buChar char="Ø"/>
            </a:pPr>
            <a:r>
              <a:rPr lang="zh-CN" altLang="en-US" dirty="0"/>
              <a:t>卫星</a:t>
            </a:r>
            <a:endParaRPr lang="zh-CN" altLang="en-US" dirty="0"/>
          </a:p>
          <a:p>
            <a:pPr lvl="2"/>
            <a:r>
              <a:rPr lang="zh-CN" altLang="en-US" dirty="0"/>
              <a:t>同步卫星：</a:t>
            </a:r>
            <a:r>
              <a:rPr lang="en-US" altLang="zh-CN" dirty="0"/>
              <a:t>36000km</a:t>
            </a:r>
            <a:r>
              <a:rPr lang="zh-CN" altLang="en-US" dirty="0"/>
              <a:t>高空， 2</a:t>
            </a:r>
            <a:r>
              <a:rPr lang="en-US" altLang="zh-CN" dirty="0"/>
              <a:t>8</a:t>
            </a:r>
            <a:r>
              <a:rPr lang="zh-CN" altLang="en-US" dirty="0"/>
              <a:t>0毫秒的往返时延</a:t>
            </a:r>
            <a:endParaRPr lang="en-US" altLang="zh-CN" dirty="0"/>
          </a:p>
          <a:p>
            <a:pPr lvl="2"/>
            <a:r>
              <a:rPr lang="zh-CN" altLang="en-US" dirty="0"/>
              <a:t>低轨卫星：近地，但围绕地球高速运动，需要大量卫星才能覆盖地球</a:t>
            </a:r>
            <a:endParaRPr lang="zh-CN" altLang="en-US" dirty="0"/>
          </a:p>
          <a:p>
            <a:pPr lvl="2"/>
            <a:endParaRPr lang="zh-CN" altLang="en-US" dirty="0"/>
          </a:p>
        </p:txBody>
      </p:sp>
      <p:grpSp>
        <p:nvGrpSpPr>
          <p:cNvPr id="7" name="组合 6"/>
          <p:cNvGrpSpPr/>
          <p:nvPr/>
        </p:nvGrpSpPr>
        <p:grpSpPr>
          <a:xfrm>
            <a:off x="3929068" y="4205302"/>
            <a:ext cx="2977692" cy="2272919"/>
            <a:chOff x="3929068" y="4205302"/>
            <a:chExt cx="2977692" cy="2272919"/>
          </a:xfrm>
        </p:grpSpPr>
        <p:pic>
          <p:nvPicPr>
            <p:cNvPr id="13314" name="Picture 2"/>
            <p:cNvPicPr>
              <a:picLocks noChangeAspect="1" noChangeArrowheads="1"/>
            </p:cNvPicPr>
            <p:nvPr/>
          </p:nvPicPr>
          <p:blipFill>
            <a:blip r:embed="rId1"/>
            <a:srcRect/>
            <a:stretch>
              <a:fillRect/>
            </a:stretch>
          </p:blipFill>
          <p:spPr bwMode="auto">
            <a:xfrm>
              <a:off x="4366989" y="4205302"/>
              <a:ext cx="2101850" cy="1579547"/>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929068" y="5831890"/>
              <a:ext cx="2977692" cy="646331"/>
            </a:xfrm>
            <a:prstGeom prst="rect">
              <a:avLst/>
            </a:prstGeom>
          </p:spPr>
          <p:txBody>
            <a:bodyPr wrap="square">
              <a:spAutoFit/>
            </a:bodyPr>
            <a:lstStyle/>
            <a:p>
              <a:pPr algn="ctr"/>
              <a:r>
                <a:rPr lang="zh-CN" altLang="en-US" dirty="0">
                  <a:latin typeface="微软雅黑" panose="020B0503020204020204" pitchFamily="34" charset="-122"/>
                  <a:ea typeface="微软雅黑" panose="020B0503020204020204" pitchFamily="34" charset="-122"/>
                </a:rPr>
                <a:t>马斯克的星链计划</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采用低轨卫星降低通信时延</a:t>
              </a:r>
              <a:endParaRPr lang="zh-CN" altLang="en-US" dirty="0">
                <a:latin typeface="微软雅黑" panose="020B0503020204020204" pitchFamily="34" charset="-122"/>
                <a:ea typeface="微软雅黑" panose="020B0503020204020204" pitchFamily="34" charset="-122"/>
              </a:endParaRPr>
            </a:p>
          </p:txBody>
        </p:sp>
      </p:grpSp>
      <p:sp>
        <p:nvSpPr>
          <p:cNvPr id="8" name="灯片编号占位符 7"/>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 name="文本框 10"/>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网络核心</a:t>
            </a:r>
            <a:endParaRPr lang="zh-CN" altLang="en-US" dirty="0"/>
          </a:p>
        </p:txBody>
      </p:sp>
      <p:sp>
        <p:nvSpPr>
          <p:cNvPr id="5" name="内容占位符 4"/>
          <p:cNvSpPr>
            <a:spLocks noGrp="1"/>
          </p:cNvSpPr>
          <p:nvPr>
            <p:ph idx="1"/>
          </p:nvPr>
        </p:nvSpPr>
        <p:spPr>
          <a:xfrm>
            <a:off x="704064" y="1485723"/>
            <a:ext cx="6340522" cy="4586605"/>
          </a:xfrm>
        </p:spPr>
        <p:txBody>
          <a:bodyPr>
            <a:normAutofit lnSpcReduction="10000"/>
          </a:bodyPr>
          <a:lstStyle/>
          <a:p>
            <a:pPr marL="412750" indent="-282575">
              <a:lnSpc>
                <a:spcPct val="130000"/>
              </a:lnSpc>
            </a:pPr>
            <a:r>
              <a:rPr lang="zh-CN" altLang="en-US" dirty="0"/>
              <a:t>网络核心</a:t>
            </a:r>
            <a:endParaRPr lang="en-US" altLang="zh-CN" dirty="0"/>
          </a:p>
          <a:p>
            <a:pPr marL="779145" lvl="1" indent="-282575">
              <a:lnSpc>
                <a:spcPct val="130000"/>
              </a:lnSpc>
            </a:pPr>
            <a:r>
              <a:rPr lang="zh-CN" altLang="en-US" dirty="0"/>
              <a:t>目标：将海量的端系统互联起来</a:t>
            </a:r>
            <a:endParaRPr lang="en-US" altLang="zh-CN" dirty="0"/>
          </a:p>
          <a:p>
            <a:pPr marL="779145" lvl="1" indent="-282575">
              <a:lnSpc>
                <a:spcPct val="130000"/>
              </a:lnSpc>
            </a:pPr>
            <a:r>
              <a:rPr lang="zh-CN" altLang="en-US" dirty="0"/>
              <a:t>由各类交换机（路由器）和链路，构成的网状网络</a:t>
            </a:r>
            <a:endParaRPr lang="zh-CN" altLang="en-US" dirty="0"/>
          </a:p>
          <a:p>
            <a:pPr marL="412750" indent="-282575">
              <a:lnSpc>
                <a:spcPct val="130000"/>
              </a:lnSpc>
            </a:pPr>
            <a:r>
              <a:rPr lang="zh-CN" altLang="en-US" dirty="0"/>
              <a:t>分组交换（也称包交换）</a:t>
            </a:r>
            <a:endParaRPr lang="en-US" altLang="zh-CN" dirty="0"/>
          </a:p>
          <a:p>
            <a:pPr marL="930275" lvl="1" indent="-342900">
              <a:lnSpc>
                <a:spcPct val="130000"/>
              </a:lnSpc>
            </a:pPr>
            <a:r>
              <a:rPr lang="zh-CN" altLang="en-US" dirty="0"/>
              <a:t>主机将数据分成分组，发送到网络</a:t>
            </a:r>
            <a:endParaRPr lang="en-US" altLang="zh-CN" dirty="0"/>
          </a:p>
          <a:p>
            <a:pPr marL="930275" lvl="1" indent="-342900">
              <a:lnSpc>
                <a:spcPct val="130000"/>
              </a:lnSpc>
            </a:pPr>
            <a:r>
              <a:rPr lang="zh-CN" altLang="en-US" dirty="0"/>
              <a:t>网络将数据分组从一个路由器转发到下一个路由器，通过从源到目标的路径上的链路，</a:t>
            </a:r>
            <a:r>
              <a:rPr lang="zh-CN" altLang="en-US" dirty="0">
                <a:solidFill>
                  <a:srgbClr val="C00000"/>
                </a:solidFill>
              </a:rPr>
              <a:t>逐跳传输</a:t>
            </a:r>
            <a:r>
              <a:rPr lang="zh-CN" altLang="en-US" dirty="0"/>
              <a:t>抵达目的地</a:t>
            </a:r>
            <a:endParaRPr lang="zh-CN" altLang="en-US" dirty="0"/>
          </a:p>
        </p:txBody>
      </p:sp>
      <p:pic>
        <p:nvPicPr>
          <p:cNvPr id="6" name="图片 5"/>
          <p:cNvPicPr>
            <a:picLocks noChangeAspect="1"/>
          </p:cNvPicPr>
          <p:nvPr/>
        </p:nvPicPr>
        <p:blipFill>
          <a:blip r:embed="rId1"/>
          <a:stretch>
            <a:fillRect/>
          </a:stretch>
        </p:blipFill>
        <p:spPr>
          <a:xfrm>
            <a:off x="7044586" y="1272187"/>
            <a:ext cx="4883785" cy="4516120"/>
          </a:xfrm>
          <a:prstGeom prst="rect">
            <a:avLst/>
          </a:prstGeom>
        </p:spPr>
      </p:pic>
      <p:sp>
        <p:nvSpPr>
          <p:cNvPr id="7" name="Freeform 4"/>
          <p:cNvSpPr/>
          <p:nvPr/>
        </p:nvSpPr>
        <p:spPr>
          <a:xfrm>
            <a:off x="6928485" y="1393372"/>
            <a:ext cx="4770029" cy="5328104"/>
          </a:xfrm>
          <a:custGeom>
            <a:avLst/>
            <a:gdLst>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713187 w 4656083"/>
              <a:gd name="connsiteY6" fmla="*/ 3100551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1" fmla="*/ 0 w 4656083"/>
              <a:gd name="connsiteY0-2" fmla="*/ 0 h 4939862"/>
              <a:gd name="connsiteX1-3" fmla="*/ 0 w 4656083"/>
              <a:gd name="connsiteY1-4" fmla="*/ 0 h 4939862"/>
              <a:gd name="connsiteX2-5" fmla="*/ 94593 w 4656083"/>
              <a:gd name="connsiteY2-6" fmla="*/ 10510 h 4939862"/>
              <a:gd name="connsiteX3-7" fmla="*/ 2375338 w 4656083"/>
              <a:gd name="connsiteY3-8" fmla="*/ 42041 h 4939862"/>
              <a:gd name="connsiteX4-9" fmla="*/ 2375338 w 4656083"/>
              <a:gd name="connsiteY4-10" fmla="*/ 1418896 h 4939862"/>
              <a:gd name="connsiteX5-11" fmla="*/ 1660635 w 4656083"/>
              <a:gd name="connsiteY5-12" fmla="*/ 1923393 h 4939862"/>
              <a:gd name="connsiteX6-13" fmla="*/ 1660635 w 4656083"/>
              <a:gd name="connsiteY6-14" fmla="*/ 2459420 h 4939862"/>
              <a:gd name="connsiteX7-15" fmla="*/ 3079531 w 4656083"/>
              <a:gd name="connsiteY7-16" fmla="*/ 3037489 h 4939862"/>
              <a:gd name="connsiteX8-17" fmla="*/ 3552497 w 4656083"/>
              <a:gd name="connsiteY8-18" fmla="*/ 2858813 h 4939862"/>
              <a:gd name="connsiteX9-19" fmla="*/ 3762704 w 4656083"/>
              <a:gd name="connsiteY9-20" fmla="*/ 2585544 h 4939862"/>
              <a:gd name="connsiteX10-21" fmla="*/ 3825766 w 4656083"/>
              <a:gd name="connsiteY10-22" fmla="*/ 2259724 h 4939862"/>
              <a:gd name="connsiteX11-23" fmla="*/ 3783725 w 4656083"/>
              <a:gd name="connsiteY11-24" fmla="*/ 2060027 h 4939862"/>
              <a:gd name="connsiteX12-25" fmla="*/ 3689131 w 4656083"/>
              <a:gd name="connsiteY12-26" fmla="*/ 1881351 h 4939862"/>
              <a:gd name="connsiteX13-27" fmla="*/ 3447393 w 4656083"/>
              <a:gd name="connsiteY13-28" fmla="*/ 1723696 h 4939862"/>
              <a:gd name="connsiteX14-29" fmla="*/ 4498428 w 4656083"/>
              <a:gd name="connsiteY14-30" fmla="*/ 1587062 h 4939862"/>
              <a:gd name="connsiteX15-31" fmla="*/ 4656083 w 4656083"/>
              <a:gd name="connsiteY15-32" fmla="*/ 2921875 h 4939862"/>
              <a:gd name="connsiteX16-33" fmla="*/ 4508938 w 4656083"/>
              <a:gd name="connsiteY16-34" fmla="*/ 4561489 h 4939862"/>
              <a:gd name="connsiteX17-35" fmla="*/ 3499945 w 4656083"/>
              <a:gd name="connsiteY17-36" fmla="*/ 4939862 h 4939862"/>
              <a:gd name="connsiteX18-37" fmla="*/ 105104 w 4656083"/>
              <a:gd name="connsiteY18-38" fmla="*/ 4897820 h 4939862"/>
              <a:gd name="connsiteX19-39" fmla="*/ 0 w 4656083"/>
              <a:gd name="connsiteY19-40" fmla="*/ 0 h 4939862"/>
              <a:gd name="connsiteX0-41" fmla="*/ 0 w 4656083"/>
              <a:gd name="connsiteY0-42" fmla="*/ 0 h 4939862"/>
              <a:gd name="connsiteX1-43" fmla="*/ 0 w 4656083"/>
              <a:gd name="connsiteY1-44" fmla="*/ 0 h 4939862"/>
              <a:gd name="connsiteX2-45" fmla="*/ 94593 w 4656083"/>
              <a:gd name="connsiteY2-46" fmla="*/ 10510 h 4939862"/>
              <a:gd name="connsiteX3-47" fmla="*/ 2375338 w 4656083"/>
              <a:gd name="connsiteY3-48" fmla="*/ 42041 h 4939862"/>
              <a:gd name="connsiteX4-49" fmla="*/ 2375338 w 4656083"/>
              <a:gd name="connsiteY4-50" fmla="*/ 1418896 h 4939862"/>
              <a:gd name="connsiteX5-51" fmla="*/ 1660635 w 4656083"/>
              <a:gd name="connsiteY5-52" fmla="*/ 1923393 h 4939862"/>
              <a:gd name="connsiteX6-53" fmla="*/ 1660635 w 4656083"/>
              <a:gd name="connsiteY6-54" fmla="*/ 2459420 h 4939862"/>
              <a:gd name="connsiteX7-55" fmla="*/ 3079531 w 4656083"/>
              <a:gd name="connsiteY7-56" fmla="*/ 3037489 h 4939862"/>
              <a:gd name="connsiteX8-57" fmla="*/ 3552497 w 4656083"/>
              <a:gd name="connsiteY8-58" fmla="*/ 2858813 h 4939862"/>
              <a:gd name="connsiteX9-59" fmla="*/ 3762704 w 4656083"/>
              <a:gd name="connsiteY9-60" fmla="*/ 2585544 h 4939862"/>
              <a:gd name="connsiteX10-61" fmla="*/ 3825766 w 4656083"/>
              <a:gd name="connsiteY10-62" fmla="*/ 2259724 h 4939862"/>
              <a:gd name="connsiteX11-63" fmla="*/ 3783725 w 4656083"/>
              <a:gd name="connsiteY11-64" fmla="*/ 2060027 h 4939862"/>
              <a:gd name="connsiteX12-65" fmla="*/ 3689131 w 4656083"/>
              <a:gd name="connsiteY12-66" fmla="*/ 1881351 h 4939862"/>
              <a:gd name="connsiteX13-67" fmla="*/ 3447393 w 4656083"/>
              <a:gd name="connsiteY13-68" fmla="*/ 1723696 h 4939862"/>
              <a:gd name="connsiteX14-69" fmla="*/ 4498428 w 4656083"/>
              <a:gd name="connsiteY14-70" fmla="*/ 1587062 h 4939862"/>
              <a:gd name="connsiteX15-71" fmla="*/ 4656083 w 4656083"/>
              <a:gd name="connsiteY15-72" fmla="*/ 2921875 h 4939862"/>
              <a:gd name="connsiteX16-73" fmla="*/ 4508938 w 4656083"/>
              <a:gd name="connsiteY16-74" fmla="*/ 4561489 h 4939862"/>
              <a:gd name="connsiteX17-75" fmla="*/ 3499945 w 4656083"/>
              <a:gd name="connsiteY17-76" fmla="*/ 4939862 h 4939862"/>
              <a:gd name="connsiteX18-77" fmla="*/ 105104 w 4656083"/>
              <a:gd name="connsiteY18-78" fmla="*/ 4897820 h 4939862"/>
              <a:gd name="connsiteX19-79" fmla="*/ 0 w 4656083"/>
              <a:gd name="connsiteY19-80" fmla="*/ 0 h 4939862"/>
              <a:gd name="connsiteX0-81" fmla="*/ 0 w 4656083"/>
              <a:gd name="connsiteY0-82" fmla="*/ 0 h 4939862"/>
              <a:gd name="connsiteX1-83" fmla="*/ 0 w 4656083"/>
              <a:gd name="connsiteY1-84" fmla="*/ 0 h 4939862"/>
              <a:gd name="connsiteX2-85" fmla="*/ 94593 w 4656083"/>
              <a:gd name="connsiteY2-86" fmla="*/ 10510 h 4939862"/>
              <a:gd name="connsiteX3-87" fmla="*/ 2375338 w 4656083"/>
              <a:gd name="connsiteY3-88" fmla="*/ 42041 h 4939862"/>
              <a:gd name="connsiteX4-89" fmla="*/ 2375338 w 4656083"/>
              <a:gd name="connsiteY4-90" fmla="*/ 1418896 h 4939862"/>
              <a:gd name="connsiteX5-91" fmla="*/ 1660635 w 4656083"/>
              <a:gd name="connsiteY5-92" fmla="*/ 1923393 h 4939862"/>
              <a:gd name="connsiteX6-93" fmla="*/ 1660635 w 4656083"/>
              <a:gd name="connsiteY6-94" fmla="*/ 2459420 h 4939862"/>
              <a:gd name="connsiteX7-95" fmla="*/ 3079531 w 4656083"/>
              <a:gd name="connsiteY7-96" fmla="*/ 3037489 h 4939862"/>
              <a:gd name="connsiteX8-97" fmla="*/ 3552497 w 4656083"/>
              <a:gd name="connsiteY8-98" fmla="*/ 2858813 h 4939862"/>
              <a:gd name="connsiteX9-99" fmla="*/ 3762704 w 4656083"/>
              <a:gd name="connsiteY9-100" fmla="*/ 2585544 h 4939862"/>
              <a:gd name="connsiteX10-101" fmla="*/ 3825766 w 4656083"/>
              <a:gd name="connsiteY10-102" fmla="*/ 2259724 h 4939862"/>
              <a:gd name="connsiteX11-103" fmla="*/ 3783725 w 4656083"/>
              <a:gd name="connsiteY11-104" fmla="*/ 2060027 h 4939862"/>
              <a:gd name="connsiteX12-105" fmla="*/ 3689131 w 4656083"/>
              <a:gd name="connsiteY12-106" fmla="*/ 1881351 h 4939862"/>
              <a:gd name="connsiteX13-107" fmla="*/ 3447393 w 4656083"/>
              <a:gd name="connsiteY13-108" fmla="*/ 1723696 h 4939862"/>
              <a:gd name="connsiteX14-109" fmla="*/ 4498428 w 4656083"/>
              <a:gd name="connsiteY14-110" fmla="*/ 1587062 h 4939862"/>
              <a:gd name="connsiteX15-111" fmla="*/ 4656083 w 4656083"/>
              <a:gd name="connsiteY15-112" fmla="*/ 2921875 h 4939862"/>
              <a:gd name="connsiteX16-113" fmla="*/ 4508938 w 4656083"/>
              <a:gd name="connsiteY16-114" fmla="*/ 4561489 h 4939862"/>
              <a:gd name="connsiteX17-115" fmla="*/ 3499945 w 4656083"/>
              <a:gd name="connsiteY17-116" fmla="*/ 4939862 h 4939862"/>
              <a:gd name="connsiteX18-117" fmla="*/ 105104 w 4656083"/>
              <a:gd name="connsiteY18-118" fmla="*/ 4897820 h 4939862"/>
              <a:gd name="connsiteX19-119" fmla="*/ 0 w 4656083"/>
              <a:gd name="connsiteY19-120" fmla="*/ 0 h 4939862"/>
              <a:gd name="connsiteX0-121" fmla="*/ 0 w 4656083"/>
              <a:gd name="connsiteY0-122" fmla="*/ 0 h 4939862"/>
              <a:gd name="connsiteX1-123" fmla="*/ 0 w 4656083"/>
              <a:gd name="connsiteY1-124" fmla="*/ 0 h 4939862"/>
              <a:gd name="connsiteX2-125" fmla="*/ 94593 w 4656083"/>
              <a:gd name="connsiteY2-126" fmla="*/ 10510 h 4939862"/>
              <a:gd name="connsiteX3-127" fmla="*/ 2375338 w 4656083"/>
              <a:gd name="connsiteY3-128" fmla="*/ 42041 h 4939862"/>
              <a:gd name="connsiteX4-129" fmla="*/ 2375338 w 4656083"/>
              <a:gd name="connsiteY4-130" fmla="*/ 1418896 h 4939862"/>
              <a:gd name="connsiteX5-131" fmla="*/ 1660635 w 4656083"/>
              <a:gd name="connsiteY5-132" fmla="*/ 1923393 h 4939862"/>
              <a:gd name="connsiteX6-133" fmla="*/ 1660635 w 4656083"/>
              <a:gd name="connsiteY6-134" fmla="*/ 2459420 h 4939862"/>
              <a:gd name="connsiteX7-135" fmla="*/ 3079531 w 4656083"/>
              <a:gd name="connsiteY7-136" fmla="*/ 3037489 h 4939862"/>
              <a:gd name="connsiteX8-137" fmla="*/ 3552497 w 4656083"/>
              <a:gd name="connsiteY8-138" fmla="*/ 2858813 h 4939862"/>
              <a:gd name="connsiteX9-139" fmla="*/ 3762704 w 4656083"/>
              <a:gd name="connsiteY9-140" fmla="*/ 2585544 h 4939862"/>
              <a:gd name="connsiteX10-141" fmla="*/ 3825766 w 4656083"/>
              <a:gd name="connsiteY10-142" fmla="*/ 2259724 h 4939862"/>
              <a:gd name="connsiteX11-143" fmla="*/ 3783725 w 4656083"/>
              <a:gd name="connsiteY11-144" fmla="*/ 2060027 h 4939862"/>
              <a:gd name="connsiteX12-145" fmla="*/ 3689131 w 4656083"/>
              <a:gd name="connsiteY12-146" fmla="*/ 1881351 h 4939862"/>
              <a:gd name="connsiteX13-147" fmla="*/ 3447393 w 4656083"/>
              <a:gd name="connsiteY13-148" fmla="*/ 1723696 h 4939862"/>
              <a:gd name="connsiteX14-149" fmla="*/ 4498428 w 4656083"/>
              <a:gd name="connsiteY14-150" fmla="*/ 1587062 h 4939862"/>
              <a:gd name="connsiteX15-151" fmla="*/ 4656083 w 4656083"/>
              <a:gd name="connsiteY15-152" fmla="*/ 2921875 h 4939862"/>
              <a:gd name="connsiteX16-153" fmla="*/ 4508938 w 4656083"/>
              <a:gd name="connsiteY16-154" fmla="*/ 4561489 h 4939862"/>
              <a:gd name="connsiteX17-155" fmla="*/ 3499945 w 4656083"/>
              <a:gd name="connsiteY17-156" fmla="*/ 4939862 h 4939862"/>
              <a:gd name="connsiteX18-157" fmla="*/ 105104 w 4656083"/>
              <a:gd name="connsiteY18-158" fmla="*/ 4897820 h 4939862"/>
              <a:gd name="connsiteX19-159" fmla="*/ 0 w 4656083"/>
              <a:gd name="connsiteY19-160" fmla="*/ 0 h 4939862"/>
              <a:gd name="connsiteX0-161" fmla="*/ 0 w 4656083"/>
              <a:gd name="connsiteY0-162" fmla="*/ 0 h 4939862"/>
              <a:gd name="connsiteX1-163" fmla="*/ 0 w 4656083"/>
              <a:gd name="connsiteY1-164" fmla="*/ 0 h 4939862"/>
              <a:gd name="connsiteX2-165" fmla="*/ 94593 w 4656083"/>
              <a:gd name="connsiteY2-166" fmla="*/ 10510 h 4939862"/>
              <a:gd name="connsiteX3-167" fmla="*/ 2375338 w 4656083"/>
              <a:gd name="connsiteY3-168" fmla="*/ 42041 h 4939862"/>
              <a:gd name="connsiteX4-169" fmla="*/ 2375338 w 4656083"/>
              <a:gd name="connsiteY4-170" fmla="*/ 1418896 h 4939862"/>
              <a:gd name="connsiteX5-171" fmla="*/ 1660635 w 4656083"/>
              <a:gd name="connsiteY5-172" fmla="*/ 1923393 h 4939862"/>
              <a:gd name="connsiteX6-173" fmla="*/ 1660635 w 4656083"/>
              <a:gd name="connsiteY6-174" fmla="*/ 2459420 h 4939862"/>
              <a:gd name="connsiteX7-175" fmla="*/ 3132083 w 4656083"/>
              <a:gd name="connsiteY7-176" fmla="*/ 3090041 h 4939862"/>
              <a:gd name="connsiteX8-177" fmla="*/ 3552497 w 4656083"/>
              <a:gd name="connsiteY8-178" fmla="*/ 2858813 h 4939862"/>
              <a:gd name="connsiteX9-179" fmla="*/ 3762704 w 4656083"/>
              <a:gd name="connsiteY9-180" fmla="*/ 2585544 h 4939862"/>
              <a:gd name="connsiteX10-181" fmla="*/ 3825766 w 4656083"/>
              <a:gd name="connsiteY10-182" fmla="*/ 2259724 h 4939862"/>
              <a:gd name="connsiteX11-183" fmla="*/ 3783725 w 4656083"/>
              <a:gd name="connsiteY11-184" fmla="*/ 2060027 h 4939862"/>
              <a:gd name="connsiteX12-185" fmla="*/ 3689131 w 4656083"/>
              <a:gd name="connsiteY12-186" fmla="*/ 1881351 h 4939862"/>
              <a:gd name="connsiteX13-187" fmla="*/ 3447393 w 4656083"/>
              <a:gd name="connsiteY13-188" fmla="*/ 1723696 h 4939862"/>
              <a:gd name="connsiteX14-189" fmla="*/ 4498428 w 4656083"/>
              <a:gd name="connsiteY14-190" fmla="*/ 1587062 h 4939862"/>
              <a:gd name="connsiteX15-191" fmla="*/ 4656083 w 4656083"/>
              <a:gd name="connsiteY15-192" fmla="*/ 2921875 h 4939862"/>
              <a:gd name="connsiteX16-193" fmla="*/ 4508938 w 4656083"/>
              <a:gd name="connsiteY16-194" fmla="*/ 4561489 h 4939862"/>
              <a:gd name="connsiteX17-195" fmla="*/ 3499945 w 4656083"/>
              <a:gd name="connsiteY17-196" fmla="*/ 4939862 h 4939862"/>
              <a:gd name="connsiteX18-197" fmla="*/ 105104 w 4656083"/>
              <a:gd name="connsiteY18-198" fmla="*/ 4897820 h 4939862"/>
              <a:gd name="connsiteX19-199" fmla="*/ 0 w 4656083"/>
              <a:gd name="connsiteY19-200" fmla="*/ 0 h 4939862"/>
              <a:gd name="connsiteX0-201" fmla="*/ 0 w 4656083"/>
              <a:gd name="connsiteY0-202" fmla="*/ 0 h 4939862"/>
              <a:gd name="connsiteX1-203" fmla="*/ 0 w 4656083"/>
              <a:gd name="connsiteY1-204" fmla="*/ 0 h 4939862"/>
              <a:gd name="connsiteX2-205" fmla="*/ 94593 w 4656083"/>
              <a:gd name="connsiteY2-206" fmla="*/ 10510 h 4939862"/>
              <a:gd name="connsiteX3-207" fmla="*/ 2375338 w 4656083"/>
              <a:gd name="connsiteY3-208" fmla="*/ 42041 h 4939862"/>
              <a:gd name="connsiteX4-209" fmla="*/ 2375338 w 4656083"/>
              <a:gd name="connsiteY4-210" fmla="*/ 1418896 h 4939862"/>
              <a:gd name="connsiteX5-211" fmla="*/ 1660635 w 4656083"/>
              <a:gd name="connsiteY5-212" fmla="*/ 1923393 h 4939862"/>
              <a:gd name="connsiteX6-213" fmla="*/ 1660635 w 4656083"/>
              <a:gd name="connsiteY6-214" fmla="*/ 2459420 h 4939862"/>
              <a:gd name="connsiteX7-215" fmla="*/ 3132083 w 4656083"/>
              <a:gd name="connsiteY7-216" fmla="*/ 3090041 h 4939862"/>
              <a:gd name="connsiteX8-217" fmla="*/ 3605049 w 4656083"/>
              <a:gd name="connsiteY8-218" fmla="*/ 2869324 h 4939862"/>
              <a:gd name="connsiteX9-219" fmla="*/ 3762704 w 4656083"/>
              <a:gd name="connsiteY9-220" fmla="*/ 2585544 h 4939862"/>
              <a:gd name="connsiteX10-221" fmla="*/ 3825766 w 4656083"/>
              <a:gd name="connsiteY10-222" fmla="*/ 2259724 h 4939862"/>
              <a:gd name="connsiteX11-223" fmla="*/ 3783725 w 4656083"/>
              <a:gd name="connsiteY11-224" fmla="*/ 2060027 h 4939862"/>
              <a:gd name="connsiteX12-225" fmla="*/ 3689131 w 4656083"/>
              <a:gd name="connsiteY12-226" fmla="*/ 1881351 h 4939862"/>
              <a:gd name="connsiteX13-227" fmla="*/ 3447393 w 4656083"/>
              <a:gd name="connsiteY13-228" fmla="*/ 1723696 h 4939862"/>
              <a:gd name="connsiteX14-229" fmla="*/ 4498428 w 4656083"/>
              <a:gd name="connsiteY14-230" fmla="*/ 1587062 h 4939862"/>
              <a:gd name="connsiteX15-231" fmla="*/ 4656083 w 4656083"/>
              <a:gd name="connsiteY15-232" fmla="*/ 2921875 h 4939862"/>
              <a:gd name="connsiteX16-233" fmla="*/ 4508938 w 4656083"/>
              <a:gd name="connsiteY16-234" fmla="*/ 4561489 h 4939862"/>
              <a:gd name="connsiteX17-235" fmla="*/ 3499945 w 4656083"/>
              <a:gd name="connsiteY17-236" fmla="*/ 4939862 h 4939862"/>
              <a:gd name="connsiteX18-237" fmla="*/ 105104 w 4656083"/>
              <a:gd name="connsiteY18-238" fmla="*/ 4897820 h 4939862"/>
              <a:gd name="connsiteX19-239" fmla="*/ 0 w 4656083"/>
              <a:gd name="connsiteY19-240" fmla="*/ 0 h 4939862"/>
              <a:gd name="connsiteX0-241" fmla="*/ 0 w 4656083"/>
              <a:gd name="connsiteY0-242" fmla="*/ 0 h 4939862"/>
              <a:gd name="connsiteX1-243" fmla="*/ 0 w 4656083"/>
              <a:gd name="connsiteY1-244" fmla="*/ 0 h 4939862"/>
              <a:gd name="connsiteX2-245" fmla="*/ 94593 w 4656083"/>
              <a:gd name="connsiteY2-246" fmla="*/ 10510 h 4939862"/>
              <a:gd name="connsiteX3-247" fmla="*/ 2375338 w 4656083"/>
              <a:gd name="connsiteY3-248" fmla="*/ 42041 h 4939862"/>
              <a:gd name="connsiteX4-249" fmla="*/ 2375338 w 4656083"/>
              <a:gd name="connsiteY4-250" fmla="*/ 1418896 h 4939862"/>
              <a:gd name="connsiteX5-251" fmla="*/ 1660635 w 4656083"/>
              <a:gd name="connsiteY5-252" fmla="*/ 1923393 h 4939862"/>
              <a:gd name="connsiteX6-253" fmla="*/ 1660635 w 4656083"/>
              <a:gd name="connsiteY6-254" fmla="*/ 2459420 h 4939862"/>
              <a:gd name="connsiteX7-255" fmla="*/ 3132083 w 4656083"/>
              <a:gd name="connsiteY7-256" fmla="*/ 3090041 h 4939862"/>
              <a:gd name="connsiteX8-257" fmla="*/ 3605049 w 4656083"/>
              <a:gd name="connsiteY8-258" fmla="*/ 2869324 h 4939862"/>
              <a:gd name="connsiteX9-259" fmla="*/ 3804745 w 4656083"/>
              <a:gd name="connsiteY9-260" fmla="*/ 2596054 h 4939862"/>
              <a:gd name="connsiteX10-261" fmla="*/ 3825766 w 4656083"/>
              <a:gd name="connsiteY10-262" fmla="*/ 2259724 h 4939862"/>
              <a:gd name="connsiteX11-263" fmla="*/ 3783725 w 4656083"/>
              <a:gd name="connsiteY11-264" fmla="*/ 2060027 h 4939862"/>
              <a:gd name="connsiteX12-265" fmla="*/ 3689131 w 4656083"/>
              <a:gd name="connsiteY12-266" fmla="*/ 1881351 h 4939862"/>
              <a:gd name="connsiteX13-267" fmla="*/ 3447393 w 4656083"/>
              <a:gd name="connsiteY13-268" fmla="*/ 1723696 h 4939862"/>
              <a:gd name="connsiteX14-269" fmla="*/ 4498428 w 4656083"/>
              <a:gd name="connsiteY14-270" fmla="*/ 1587062 h 4939862"/>
              <a:gd name="connsiteX15-271" fmla="*/ 4656083 w 4656083"/>
              <a:gd name="connsiteY15-272" fmla="*/ 2921875 h 4939862"/>
              <a:gd name="connsiteX16-273" fmla="*/ 4508938 w 4656083"/>
              <a:gd name="connsiteY16-274" fmla="*/ 4561489 h 4939862"/>
              <a:gd name="connsiteX17-275" fmla="*/ 3499945 w 4656083"/>
              <a:gd name="connsiteY17-276" fmla="*/ 4939862 h 4939862"/>
              <a:gd name="connsiteX18-277" fmla="*/ 105104 w 4656083"/>
              <a:gd name="connsiteY18-278" fmla="*/ 4897820 h 4939862"/>
              <a:gd name="connsiteX19-279" fmla="*/ 0 w 4656083"/>
              <a:gd name="connsiteY19-280" fmla="*/ 0 h 4939862"/>
              <a:gd name="connsiteX0-281" fmla="*/ 0 w 4656083"/>
              <a:gd name="connsiteY0-282" fmla="*/ 0 h 4939862"/>
              <a:gd name="connsiteX1-283" fmla="*/ 0 w 4656083"/>
              <a:gd name="connsiteY1-284" fmla="*/ 0 h 4939862"/>
              <a:gd name="connsiteX2-285" fmla="*/ 94593 w 4656083"/>
              <a:gd name="connsiteY2-286" fmla="*/ 10510 h 4939862"/>
              <a:gd name="connsiteX3-287" fmla="*/ 2375338 w 4656083"/>
              <a:gd name="connsiteY3-288" fmla="*/ 42041 h 4939862"/>
              <a:gd name="connsiteX4-289" fmla="*/ 2375338 w 4656083"/>
              <a:gd name="connsiteY4-290" fmla="*/ 1418896 h 4939862"/>
              <a:gd name="connsiteX5-291" fmla="*/ 1660635 w 4656083"/>
              <a:gd name="connsiteY5-292" fmla="*/ 1923393 h 4939862"/>
              <a:gd name="connsiteX6-293" fmla="*/ 1555531 w 4656083"/>
              <a:gd name="connsiteY6-294" fmla="*/ 2469930 h 4939862"/>
              <a:gd name="connsiteX7-295" fmla="*/ 3132083 w 4656083"/>
              <a:gd name="connsiteY7-296" fmla="*/ 3090041 h 4939862"/>
              <a:gd name="connsiteX8-297" fmla="*/ 3605049 w 4656083"/>
              <a:gd name="connsiteY8-298" fmla="*/ 2869324 h 4939862"/>
              <a:gd name="connsiteX9-299" fmla="*/ 3804745 w 4656083"/>
              <a:gd name="connsiteY9-300" fmla="*/ 2596054 h 4939862"/>
              <a:gd name="connsiteX10-301" fmla="*/ 3825766 w 4656083"/>
              <a:gd name="connsiteY10-302" fmla="*/ 2259724 h 4939862"/>
              <a:gd name="connsiteX11-303" fmla="*/ 3783725 w 4656083"/>
              <a:gd name="connsiteY11-304" fmla="*/ 2060027 h 4939862"/>
              <a:gd name="connsiteX12-305" fmla="*/ 3689131 w 4656083"/>
              <a:gd name="connsiteY12-306" fmla="*/ 1881351 h 4939862"/>
              <a:gd name="connsiteX13-307" fmla="*/ 3447393 w 4656083"/>
              <a:gd name="connsiteY13-308" fmla="*/ 1723696 h 4939862"/>
              <a:gd name="connsiteX14-309" fmla="*/ 4498428 w 4656083"/>
              <a:gd name="connsiteY14-310" fmla="*/ 1587062 h 4939862"/>
              <a:gd name="connsiteX15-311" fmla="*/ 4656083 w 4656083"/>
              <a:gd name="connsiteY15-312" fmla="*/ 2921875 h 4939862"/>
              <a:gd name="connsiteX16-313" fmla="*/ 4508938 w 4656083"/>
              <a:gd name="connsiteY16-314" fmla="*/ 4561489 h 4939862"/>
              <a:gd name="connsiteX17-315" fmla="*/ 3499945 w 4656083"/>
              <a:gd name="connsiteY17-316" fmla="*/ 4939862 h 4939862"/>
              <a:gd name="connsiteX18-317" fmla="*/ 105104 w 4656083"/>
              <a:gd name="connsiteY18-318" fmla="*/ 4897820 h 4939862"/>
              <a:gd name="connsiteX19-319" fmla="*/ 0 w 4656083"/>
              <a:gd name="connsiteY19-320" fmla="*/ 0 h 4939862"/>
              <a:gd name="connsiteX0-321" fmla="*/ 0 w 4656083"/>
              <a:gd name="connsiteY0-322" fmla="*/ 0 h 4939862"/>
              <a:gd name="connsiteX1-323" fmla="*/ 0 w 4656083"/>
              <a:gd name="connsiteY1-324" fmla="*/ 0 h 4939862"/>
              <a:gd name="connsiteX2-325" fmla="*/ 94593 w 4656083"/>
              <a:gd name="connsiteY2-326" fmla="*/ 10510 h 4939862"/>
              <a:gd name="connsiteX3-327" fmla="*/ 2375338 w 4656083"/>
              <a:gd name="connsiteY3-328" fmla="*/ 42041 h 4939862"/>
              <a:gd name="connsiteX4-329" fmla="*/ 2375338 w 4656083"/>
              <a:gd name="connsiteY4-330" fmla="*/ 1418896 h 4939862"/>
              <a:gd name="connsiteX5-331" fmla="*/ 1692166 w 4656083"/>
              <a:gd name="connsiteY5-332" fmla="*/ 1923393 h 4939862"/>
              <a:gd name="connsiteX6-333" fmla="*/ 1555531 w 4656083"/>
              <a:gd name="connsiteY6-334" fmla="*/ 2469930 h 4939862"/>
              <a:gd name="connsiteX7-335" fmla="*/ 3132083 w 4656083"/>
              <a:gd name="connsiteY7-336" fmla="*/ 3090041 h 4939862"/>
              <a:gd name="connsiteX8-337" fmla="*/ 3605049 w 4656083"/>
              <a:gd name="connsiteY8-338" fmla="*/ 2869324 h 4939862"/>
              <a:gd name="connsiteX9-339" fmla="*/ 3804745 w 4656083"/>
              <a:gd name="connsiteY9-340" fmla="*/ 2596054 h 4939862"/>
              <a:gd name="connsiteX10-341" fmla="*/ 3825766 w 4656083"/>
              <a:gd name="connsiteY10-342" fmla="*/ 2259724 h 4939862"/>
              <a:gd name="connsiteX11-343" fmla="*/ 3783725 w 4656083"/>
              <a:gd name="connsiteY11-344" fmla="*/ 2060027 h 4939862"/>
              <a:gd name="connsiteX12-345" fmla="*/ 3689131 w 4656083"/>
              <a:gd name="connsiteY12-346" fmla="*/ 1881351 h 4939862"/>
              <a:gd name="connsiteX13-347" fmla="*/ 3447393 w 4656083"/>
              <a:gd name="connsiteY13-348" fmla="*/ 1723696 h 4939862"/>
              <a:gd name="connsiteX14-349" fmla="*/ 4498428 w 4656083"/>
              <a:gd name="connsiteY14-350" fmla="*/ 1587062 h 4939862"/>
              <a:gd name="connsiteX15-351" fmla="*/ 4656083 w 4656083"/>
              <a:gd name="connsiteY15-352" fmla="*/ 2921875 h 4939862"/>
              <a:gd name="connsiteX16-353" fmla="*/ 4508938 w 4656083"/>
              <a:gd name="connsiteY16-354" fmla="*/ 4561489 h 4939862"/>
              <a:gd name="connsiteX17-355" fmla="*/ 3499945 w 4656083"/>
              <a:gd name="connsiteY17-356" fmla="*/ 4939862 h 4939862"/>
              <a:gd name="connsiteX18-357" fmla="*/ 105104 w 4656083"/>
              <a:gd name="connsiteY18-358" fmla="*/ 4897820 h 4939862"/>
              <a:gd name="connsiteX19-359" fmla="*/ 0 w 4656083"/>
              <a:gd name="connsiteY19-360" fmla="*/ 0 h 4939862"/>
              <a:gd name="connsiteX0-361" fmla="*/ 0 w 4656083"/>
              <a:gd name="connsiteY0-362" fmla="*/ 0 h 4939862"/>
              <a:gd name="connsiteX1-363" fmla="*/ 0 w 4656083"/>
              <a:gd name="connsiteY1-364" fmla="*/ 0 h 4939862"/>
              <a:gd name="connsiteX2-365" fmla="*/ 94593 w 4656083"/>
              <a:gd name="connsiteY2-366" fmla="*/ 10510 h 4939862"/>
              <a:gd name="connsiteX3-367" fmla="*/ 2375338 w 4656083"/>
              <a:gd name="connsiteY3-368" fmla="*/ 42041 h 4939862"/>
              <a:gd name="connsiteX4-369" fmla="*/ 2438400 w 4656083"/>
              <a:gd name="connsiteY4-370" fmla="*/ 1471447 h 4939862"/>
              <a:gd name="connsiteX5-371" fmla="*/ 1692166 w 4656083"/>
              <a:gd name="connsiteY5-372" fmla="*/ 1923393 h 4939862"/>
              <a:gd name="connsiteX6-373" fmla="*/ 1555531 w 4656083"/>
              <a:gd name="connsiteY6-374" fmla="*/ 2469930 h 4939862"/>
              <a:gd name="connsiteX7-375" fmla="*/ 3132083 w 4656083"/>
              <a:gd name="connsiteY7-376" fmla="*/ 3090041 h 4939862"/>
              <a:gd name="connsiteX8-377" fmla="*/ 3605049 w 4656083"/>
              <a:gd name="connsiteY8-378" fmla="*/ 2869324 h 4939862"/>
              <a:gd name="connsiteX9-379" fmla="*/ 3804745 w 4656083"/>
              <a:gd name="connsiteY9-380" fmla="*/ 2596054 h 4939862"/>
              <a:gd name="connsiteX10-381" fmla="*/ 3825766 w 4656083"/>
              <a:gd name="connsiteY10-382" fmla="*/ 2259724 h 4939862"/>
              <a:gd name="connsiteX11-383" fmla="*/ 3783725 w 4656083"/>
              <a:gd name="connsiteY11-384" fmla="*/ 2060027 h 4939862"/>
              <a:gd name="connsiteX12-385" fmla="*/ 3689131 w 4656083"/>
              <a:gd name="connsiteY12-386" fmla="*/ 1881351 h 4939862"/>
              <a:gd name="connsiteX13-387" fmla="*/ 3447393 w 4656083"/>
              <a:gd name="connsiteY13-388" fmla="*/ 1723696 h 4939862"/>
              <a:gd name="connsiteX14-389" fmla="*/ 4498428 w 4656083"/>
              <a:gd name="connsiteY14-390" fmla="*/ 1587062 h 4939862"/>
              <a:gd name="connsiteX15-391" fmla="*/ 4656083 w 4656083"/>
              <a:gd name="connsiteY15-392" fmla="*/ 2921875 h 4939862"/>
              <a:gd name="connsiteX16-393" fmla="*/ 4508938 w 4656083"/>
              <a:gd name="connsiteY16-394" fmla="*/ 4561489 h 4939862"/>
              <a:gd name="connsiteX17-395" fmla="*/ 3499945 w 4656083"/>
              <a:gd name="connsiteY17-396" fmla="*/ 4939862 h 4939862"/>
              <a:gd name="connsiteX18-397" fmla="*/ 105104 w 4656083"/>
              <a:gd name="connsiteY18-398" fmla="*/ 4897820 h 4939862"/>
              <a:gd name="connsiteX19-399" fmla="*/ 0 w 4656083"/>
              <a:gd name="connsiteY19-400" fmla="*/ 0 h 4939862"/>
              <a:gd name="connsiteX0-401" fmla="*/ 0 w 4656083"/>
              <a:gd name="connsiteY0-402" fmla="*/ 0 h 4939862"/>
              <a:gd name="connsiteX1-403" fmla="*/ 0 w 4656083"/>
              <a:gd name="connsiteY1-404" fmla="*/ 0 h 4939862"/>
              <a:gd name="connsiteX2-405" fmla="*/ 94593 w 4656083"/>
              <a:gd name="connsiteY2-406" fmla="*/ 10510 h 4939862"/>
              <a:gd name="connsiteX3-407" fmla="*/ 2375338 w 4656083"/>
              <a:gd name="connsiteY3-408" fmla="*/ 42041 h 4939862"/>
              <a:gd name="connsiteX4-409" fmla="*/ 2438400 w 4656083"/>
              <a:gd name="connsiteY4-410" fmla="*/ 1471447 h 4939862"/>
              <a:gd name="connsiteX5-411" fmla="*/ 1692166 w 4656083"/>
              <a:gd name="connsiteY5-412" fmla="*/ 1923393 h 4939862"/>
              <a:gd name="connsiteX6-413" fmla="*/ 1555531 w 4656083"/>
              <a:gd name="connsiteY6-414" fmla="*/ 2469930 h 4939862"/>
              <a:gd name="connsiteX7-415" fmla="*/ 3132083 w 4656083"/>
              <a:gd name="connsiteY7-416" fmla="*/ 3090041 h 4939862"/>
              <a:gd name="connsiteX8-417" fmla="*/ 3605049 w 4656083"/>
              <a:gd name="connsiteY8-418" fmla="*/ 2869324 h 4939862"/>
              <a:gd name="connsiteX9-419" fmla="*/ 3804745 w 4656083"/>
              <a:gd name="connsiteY9-420" fmla="*/ 2596054 h 4939862"/>
              <a:gd name="connsiteX10-421" fmla="*/ 3825766 w 4656083"/>
              <a:gd name="connsiteY10-422" fmla="*/ 2259724 h 4939862"/>
              <a:gd name="connsiteX11-423" fmla="*/ 3783725 w 4656083"/>
              <a:gd name="connsiteY11-424" fmla="*/ 2060027 h 4939862"/>
              <a:gd name="connsiteX12-425" fmla="*/ 3689131 w 4656083"/>
              <a:gd name="connsiteY12-426" fmla="*/ 1881351 h 4939862"/>
              <a:gd name="connsiteX13-427" fmla="*/ 3447393 w 4656083"/>
              <a:gd name="connsiteY13-428" fmla="*/ 1723696 h 4939862"/>
              <a:gd name="connsiteX14-429" fmla="*/ 4498428 w 4656083"/>
              <a:gd name="connsiteY14-430" fmla="*/ 1587062 h 4939862"/>
              <a:gd name="connsiteX15-431" fmla="*/ 4656083 w 4656083"/>
              <a:gd name="connsiteY15-432" fmla="*/ 2921875 h 4939862"/>
              <a:gd name="connsiteX16-433" fmla="*/ 4508938 w 4656083"/>
              <a:gd name="connsiteY16-434" fmla="*/ 4561489 h 4939862"/>
              <a:gd name="connsiteX17-435" fmla="*/ 3499945 w 4656083"/>
              <a:gd name="connsiteY17-436" fmla="*/ 4939862 h 4939862"/>
              <a:gd name="connsiteX18-437" fmla="*/ 105104 w 4656083"/>
              <a:gd name="connsiteY18-438" fmla="*/ 4897820 h 4939862"/>
              <a:gd name="connsiteX19-439" fmla="*/ 0 w 4656083"/>
              <a:gd name="connsiteY19-440" fmla="*/ 0 h 4939862"/>
              <a:gd name="connsiteX0-441" fmla="*/ 126410 w 4656369"/>
              <a:gd name="connsiteY0-442" fmla="*/ 234571 h 4953715"/>
              <a:gd name="connsiteX1-443" fmla="*/ 286 w 4656369"/>
              <a:gd name="connsiteY1-444" fmla="*/ 13853 h 4953715"/>
              <a:gd name="connsiteX2-445" fmla="*/ 94879 w 4656369"/>
              <a:gd name="connsiteY2-446" fmla="*/ 24363 h 4953715"/>
              <a:gd name="connsiteX3-447" fmla="*/ 2375624 w 4656369"/>
              <a:gd name="connsiteY3-448" fmla="*/ 55894 h 4953715"/>
              <a:gd name="connsiteX4-449" fmla="*/ 2438686 w 4656369"/>
              <a:gd name="connsiteY4-450" fmla="*/ 1485300 h 4953715"/>
              <a:gd name="connsiteX5-451" fmla="*/ 1692452 w 4656369"/>
              <a:gd name="connsiteY5-452" fmla="*/ 1937246 h 4953715"/>
              <a:gd name="connsiteX6-453" fmla="*/ 1555817 w 4656369"/>
              <a:gd name="connsiteY6-454" fmla="*/ 2483783 h 4953715"/>
              <a:gd name="connsiteX7-455" fmla="*/ 3132369 w 4656369"/>
              <a:gd name="connsiteY7-456" fmla="*/ 3103894 h 4953715"/>
              <a:gd name="connsiteX8-457" fmla="*/ 3605335 w 4656369"/>
              <a:gd name="connsiteY8-458" fmla="*/ 2883177 h 4953715"/>
              <a:gd name="connsiteX9-459" fmla="*/ 3805031 w 4656369"/>
              <a:gd name="connsiteY9-460" fmla="*/ 2609907 h 4953715"/>
              <a:gd name="connsiteX10-461" fmla="*/ 3826052 w 4656369"/>
              <a:gd name="connsiteY10-462" fmla="*/ 2273577 h 4953715"/>
              <a:gd name="connsiteX11-463" fmla="*/ 3784011 w 4656369"/>
              <a:gd name="connsiteY11-464" fmla="*/ 2073880 h 4953715"/>
              <a:gd name="connsiteX12-465" fmla="*/ 3689417 w 4656369"/>
              <a:gd name="connsiteY12-466" fmla="*/ 1895204 h 4953715"/>
              <a:gd name="connsiteX13-467" fmla="*/ 3447679 w 4656369"/>
              <a:gd name="connsiteY13-468" fmla="*/ 1737549 h 4953715"/>
              <a:gd name="connsiteX14-469" fmla="*/ 4498714 w 4656369"/>
              <a:gd name="connsiteY14-470" fmla="*/ 1600915 h 4953715"/>
              <a:gd name="connsiteX15-471" fmla="*/ 4656369 w 4656369"/>
              <a:gd name="connsiteY15-472" fmla="*/ 2935728 h 4953715"/>
              <a:gd name="connsiteX16-473" fmla="*/ 4509224 w 4656369"/>
              <a:gd name="connsiteY16-474" fmla="*/ 4575342 h 4953715"/>
              <a:gd name="connsiteX17-475" fmla="*/ 3500231 w 4656369"/>
              <a:gd name="connsiteY17-476" fmla="*/ 4953715 h 4953715"/>
              <a:gd name="connsiteX18-477" fmla="*/ 105390 w 4656369"/>
              <a:gd name="connsiteY18-478" fmla="*/ 4911673 h 4953715"/>
              <a:gd name="connsiteX19-479" fmla="*/ 126410 w 4656369"/>
              <a:gd name="connsiteY19-480" fmla="*/ 234571 h 4953715"/>
              <a:gd name="connsiteX0-481" fmla="*/ 190699 w 4720658"/>
              <a:gd name="connsiteY0-482" fmla="*/ 417353 h 5136497"/>
              <a:gd name="connsiteX1-483" fmla="*/ 159168 w 4720658"/>
              <a:gd name="connsiteY1-484" fmla="*/ 207145 h 5136497"/>
              <a:gd name="connsiteX2-485" fmla="*/ 2439913 w 4720658"/>
              <a:gd name="connsiteY2-486" fmla="*/ 238676 h 5136497"/>
              <a:gd name="connsiteX3-487" fmla="*/ 2502975 w 4720658"/>
              <a:gd name="connsiteY3-488" fmla="*/ 1668082 h 5136497"/>
              <a:gd name="connsiteX4-489" fmla="*/ 1756741 w 4720658"/>
              <a:gd name="connsiteY4-490" fmla="*/ 2120028 h 5136497"/>
              <a:gd name="connsiteX5-491" fmla="*/ 1620106 w 4720658"/>
              <a:gd name="connsiteY5-492" fmla="*/ 2666565 h 5136497"/>
              <a:gd name="connsiteX6-493" fmla="*/ 3196658 w 4720658"/>
              <a:gd name="connsiteY6-494" fmla="*/ 3286676 h 5136497"/>
              <a:gd name="connsiteX7-495" fmla="*/ 3669624 w 4720658"/>
              <a:gd name="connsiteY7-496" fmla="*/ 3065959 h 5136497"/>
              <a:gd name="connsiteX8-497" fmla="*/ 3869320 w 4720658"/>
              <a:gd name="connsiteY8-498" fmla="*/ 2792689 h 5136497"/>
              <a:gd name="connsiteX9-499" fmla="*/ 3890341 w 4720658"/>
              <a:gd name="connsiteY9-500" fmla="*/ 2456359 h 5136497"/>
              <a:gd name="connsiteX10-501" fmla="*/ 3848300 w 4720658"/>
              <a:gd name="connsiteY10-502" fmla="*/ 2256662 h 5136497"/>
              <a:gd name="connsiteX11-503" fmla="*/ 3753706 w 4720658"/>
              <a:gd name="connsiteY11-504" fmla="*/ 2077986 h 5136497"/>
              <a:gd name="connsiteX12-505" fmla="*/ 3511968 w 4720658"/>
              <a:gd name="connsiteY12-506" fmla="*/ 1920331 h 5136497"/>
              <a:gd name="connsiteX13-507" fmla="*/ 4563003 w 4720658"/>
              <a:gd name="connsiteY13-508" fmla="*/ 1783697 h 5136497"/>
              <a:gd name="connsiteX14-509" fmla="*/ 4720658 w 4720658"/>
              <a:gd name="connsiteY14-510" fmla="*/ 3118510 h 5136497"/>
              <a:gd name="connsiteX15-511" fmla="*/ 4573513 w 4720658"/>
              <a:gd name="connsiteY15-512" fmla="*/ 4758124 h 5136497"/>
              <a:gd name="connsiteX16-513" fmla="*/ 3564520 w 4720658"/>
              <a:gd name="connsiteY16-514" fmla="*/ 5136497 h 5136497"/>
              <a:gd name="connsiteX17-515" fmla="*/ 169679 w 4720658"/>
              <a:gd name="connsiteY17-516" fmla="*/ 5094455 h 5136497"/>
              <a:gd name="connsiteX18-517" fmla="*/ 190699 w 4720658"/>
              <a:gd name="connsiteY18-518" fmla="*/ 417353 h 5136497"/>
              <a:gd name="connsiteX0-519" fmla="*/ 21020 w 4550979"/>
              <a:gd name="connsiteY0-520" fmla="*/ 476180 h 5195324"/>
              <a:gd name="connsiteX1-521" fmla="*/ 2270234 w 4550979"/>
              <a:gd name="connsiteY1-522" fmla="*/ 297503 h 5195324"/>
              <a:gd name="connsiteX2-523" fmla="*/ 2333296 w 4550979"/>
              <a:gd name="connsiteY2-524" fmla="*/ 1726909 h 5195324"/>
              <a:gd name="connsiteX3-525" fmla="*/ 1587062 w 4550979"/>
              <a:gd name="connsiteY3-526" fmla="*/ 2178855 h 5195324"/>
              <a:gd name="connsiteX4-527" fmla="*/ 1450427 w 4550979"/>
              <a:gd name="connsiteY4-528" fmla="*/ 2725392 h 5195324"/>
              <a:gd name="connsiteX5-529" fmla="*/ 3026979 w 4550979"/>
              <a:gd name="connsiteY5-530" fmla="*/ 3345503 h 5195324"/>
              <a:gd name="connsiteX6-531" fmla="*/ 3499945 w 4550979"/>
              <a:gd name="connsiteY6-532" fmla="*/ 3124786 h 5195324"/>
              <a:gd name="connsiteX7-533" fmla="*/ 3699641 w 4550979"/>
              <a:gd name="connsiteY7-534" fmla="*/ 2851516 h 5195324"/>
              <a:gd name="connsiteX8-535" fmla="*/ 3720662 w 4550979"/>
              <a:gd name="connsiteY8-536" fmla="*/ 2515186 h 5195324"/>
              <a:gd name="connsiteX9-537" fmla="*/ 3678621 w 4550979"/>
              <a:gd name="connsiteY9-538" fmla="*/ 2315489 h 5195324"/>
              <a:gd name="connsiteX10-539" fmla="*/ 3584027 w 4550979"/>
              <a:gd name="connsiteY10-540" fmla="*/ 2136813 h 5195324"/>
              <a:gd name="connsiteX11-541" fmla="*/ 3342289 w 4550979"/>
              <a:gd name="connsiteY11-542" fmla="*/ 1979158 h 5195324"/>
              <a:gd name="connsiteX12-543" fmla="*/ 4393324 w 4550979"/>
              <a:gd name="connsiteY12-544" fmla="*/ 1842524 h 5195324"/>
              <a:gd name="connsiteX13-545" fmla="*/ 4550979 w 4550979"/>
              <a:gd name="connsiteY13-546" fmla="*/ 3177337 h 5195324"/>
              <a:gd name="connsiteX14-547" fmla="*/ 4403834 w 4550979"/>
              <a:gd name="connsiteY14-548" fmla="*/ 4816951 h 5195324"/>
              <a:gd name="connsiteX15-549" fmla="*/ 3394841 w 4550979"/>
              <a:gd name="connsiteY15-550" fmla="*/ 5195324 h 5195324"/>
              <a:gd name="connsiteX16-551" fmla="*/ 0 w 4550979"/>
              <a:gd name="connsiteY16-552" fmla="*/ 5153282 h 5195324"/>
              <a:gd name="connsiteX17-553" fmla="*/ 21020 w 4550979"/>
              <a:gd name="connsiteY17-554" fmla="*/ 476180 h 5195324"/>
              <a:gd name="connsiteX0-555" fmla="*/ 21020 w 4550979"/>
              <a:gd name="connsiteY0-556" fmla="*/ 258442 h 4977586"/>
              <a:gd name="connsiteX1-557" fmla="*/ 2270234 w 4550979"/>
              <a:gd name="connsiteY1-558" fmla="*/ 79765 h 4977586"/>
              <a:gd name="connsiteX2-559" fmla="*/ 2333296 w 4550979"/>
              <a:gd name="connsiteY2-560" fmla="*/ 1509171 h 4977586"/>
              <a:gd name="connsiteX3-561" fmla="*/ 1587062 w 4550979"/>
              <a:gd name="connsiteY3-562" fmla="*/ 1961117 h 4977586"/>
              <a:gd name="connsiteX4-563" fmla="*/ 1450427 w 4550979"/>
              <a:gd name="connsiteY4-564" fmla="*/ 2507654 h 4977586"/>
              <a:gd name="connsiteX5-565" fmla="*/ 3026979 w 4550979"/>
              <a:gd name="connsiteY5-566" fmla="*/ 3127765 h 4977586"/>
              <a:gd name="connsiteX6-567" fmla="*/ 3499945 w 4550979"/>
              <a:gd name="connsiteY6-568" fmla="*/ 2907048 h 4977586"/>
              <a:gd name="connsiteX7-569" fmla="*/ 3699641 w 4550979"/>
              <a:gd name="connsiteY7-570" fmla="*/ 2633778 h 4977586"/>
              <a:gd name="connsiteX8-571" fmla="*/ 3720662 w 4550979"/>
              <a:gd name="connsiteY8-572" fmla="*/ 2297448 h 4977586"/>
              <a:gd name="connsiteX9-573" fmla="*/ 3678621 w 4550979"/>
              <a:gd name="connsiteY9-574" fmla="*/ 2097751 h 4977586"/>
              <a:gd name="connsiteX10-575" fmla="*/ 3584027 w 4550979"/>
              <a:gd name="connsiteY10-576" fmla="*/ 1919075 h 4977586"/>
              <a:gd name="connsiteX11-577" fmla="*/ 3342289 w 4550979"/>
              <a:gd name="connsiteY11-578" fmla="*/ 1761420 h 4977586"/>
              <a:gd name="connsiteX12-579" fmla="*/ 4393324 w 4550979"/>
              <a:gd name="connsiteY12-580" fmla="*/ 1624786 h 4977586"/>
              <a:gd name="connsiteX13-581" fmla="*/ 4550979 w 4550979"/>
              <a:gd name="connsiteY13-582" fmla="*/ 2959599 h 4977586"/>
              <a:gd name="connsiteX14-583" fmla="*/ 4403834 w 4550979"/>
              <a:gd name="connsiteY14-584" fmla="*/ 4599213 h 4977586"/>
              <a:gd name="connsiteX15-585" fmla="*/ 3394841 w 4550979"/>
              <a:gd name="connsiteY15-586" fmla="*/ 4977586 h 4977586"/>
              <a:gd name="connsiteX16-587" fmla="*/ 0 w 4550979"/>
              <a:gd name="connsiteY16-588" fmla="*/ 4935544 h 4977586"/>
              <a:gd name="connsiteX17-589" fmla="*/ 21020 w 4550979"/>
              <a:gd name="connsiteY17-590" fmla="*/ 258442 h 4977586"/>
              <a:gd name="connsiteX0-591" fmla="*/ 21020 w 4550979"/>
              <a:gd name="connsiteY0-592" fmla="*/ 178677 h 4897821"/>
              <a:gd name="connsiteX1-593" fmla="*/ 2270234 w 4550979"/>
              <a:gd name="connsiteY1-594" fmla="*/ 0 h 4897821"/>
              <a:gd name="connsiteX2-595" fmla="*/ 2333296 w 4550979"/>
              <a:gd name="connsiteY2-596" fmla="*/ 1429406 h 4897821"/>
              <a:gd name="connsiteX3-597" fmla="*/ 1587062 w 4550979"/>
              <a:gd name="connsiteY3-598" fmla="*/ 1881352 h 4897821"/>
              <a:gd name="connsiteX4-599" fmla="*/ 1450427 w 4550979"/>
              <a:gd name="connsiteY4-600" fmla="*/ 2427889 h 4897821"/>
              <a:gd name="connsiteX5-601" fmla="*/ 3026979 w 4550979"/>
              <a:gd name="connsiteY5-602" fmla="*/ 3048000 h 4897821"/>
              <a:gd name="connsiteX6-603" fmla="*/ 3499945 w 4550979"/>
              <a:gd name="connsiteY6-604" fmla="*/ 2827283 h 4897821"/>
              <a:gd name="connsiteX7-605" fmla="*/ 3699641 w 4550979"/>
              <a:gd name="connsiteY7-606" fmla="*/ 2554013 h 4897821"/>
              <a:gd name="connsiteX8-607" fmla="*/ 3720662 w 4550979"/>
              <a:gd name="connsiteY8-608" fmla="*/ 2217683 h 4897821"/>
              <a:gd name="connsiteX9-609" fmla="*/ 3678621 w 4550979"/>
              <a:gd name="connsiteY9-610" fmla="*/ 2017986 h 4897821"/>
              <a:gd name="connsiteX10-611" fmla="*/ 3584027 w 4550979"/>
              <a:gd name="connsiteY10-612" fmla="*/ 1839310 h 4897821"/>
              <a:gd name="connsiteX11-613" fmla="*/ 3342289 w 4550979"/>
              <a:gd name="connsiteY11-614" fmla="*/ 1681655 h 4897821"/>
              <a:gd name="connsiteX12-615" fmla="*/ 4393324 w 4550979"/>
              <a:gd name="connsiteY12-616" fmla="*/ 1545021 h 4897821"/>
              <a:gd name="connsiteX13-617" fmla="*/ 4550979 w 4550979"/>
              <a:gd name="connsiteY13-618" fmla="*/ 2879834 h 4897821"/>
              <a:gd name="connsiteX14-619" fmla="*/ 4403834 w 4550979"/>
              <a:gd name="connsiteY14-620" fmla="*/ 4519448 h 4897821"/>
              <a:gd name="connsiteX15-621" fmla="*/ 3394841 w 4550979"/>
              <a:gd name="connsiteY15-622" fmla="*/ 4897821 h 4897821"/>
              <a:gd name="connsiteX16-623" fmla="*/ 0 w 4550979"/>
              <a:gd name="connsiteY16-624" fmla="*/ 4855779 h 4897821"/>
              <a:gd name="connsiteX17-625" fmla="*/ 21020 w 4550979"/>
              <a:gd name="connsiteY17-626" fmla="*/ 178677 h 4897821"/>
              <a:gd name="connsiteX0-627" fmla="*/ 21020 w 4550979"/>
              <a:gd name="connsiteY0-628" fmla="*/ 178677 h 4897821"/>
              <a:gd name="connsiteX1-629" fmla="*/ 2270234 w 4550979"/>
              <a:gd name="connsiteY1-630" fmla="*/ 0 h 4897821"/>
              <a:gd name="connsiteX2-631" fmla="*/ 2333296 w 4550979"/>
              <a:gd name="connsiteY2-632" fmla="*/ 1429406 h 4897821"/>
              <a:gd name="connsiteX3-633" fmla="*/ 1587062 w 4550979"/>
              <a:gd name="connsiteY3-634" fmla="*/ 1881352 h 4897821"/>
              <a:gd name="connsiteX4-635" fmla="*/ 1450427 w 4550979"/>
              <a:gd name="connsiteY4-636" fmla="*/ 2427889 h 4897821"/>
              <a:gd name="connsiteX5-637" fmla="*/ 3026979 w 4550979"/>
              <a:gd name="connsiteY5-638" fmla="*/ 3048000 h 4897821"/>
              <a:gd name="connsiteX6-639" fmla="*/ 3443339 w 4550979"/>
              <a:gd name="connsiteY6-640" fmla="*/ 2779385 h 4897821"/>
              <a:gd name="connsiteX7-641" fmla="*/ 3699641 w 4550979"/>
              <a:gd name="connsiteY7-642" fmla="*/ 2554013 h 4897821"/>
              <a:gd name="connsiteX8-643" fmla="*/ 3720662 w 4550979"/>
              <a:gd name="connsiteY8-644" fmla="*/ 2217683 h 4897821"/>
              <a:gd name="connsiteX9-645" fmla="*/ 3678621 w 4550979"/>
              <a:gd name="connsiteY9-646" fmla="*/ 2017986 h 4897821"/>
              <a:gd name="connsiteX10-647" fmla="*/ 3584027 w 4550979"/>
              <a:gd name="connsiteY10-648" fmla="*/ 1839310 h 4897821"/>
              <a:gd name="connsiteX11-649" fmla="*/ 3342289 w 4550979"/>
              <a:gd name="connsiteY11-650" fmla="*/ 1681655 h 4897821"/>
              <a:gd name="connsiteX12-651" fmla="*/ 4393324 w 4550979"/>
              <a:gd name="connsiteY12-652" fmla="*/ 1545021 h 4897821"/>
              <a:gd name="connsiteX13-653" fmla="*/ 4550979 w 4550979"/>
              <a:gd name="connsiteY13-654" fmla="*/ 2879834 h 4897821"/>
              <a:gd name="connsiteX14-655" fmla="*/ 4403834 w 4550979"/>
              <a:gd name="connsiteY14-656" fmla="*/ 4519448 h 4897821"/>
              <a:gd name="connsiteX15-657" fmla="*/ 3394841 w 4550979"/>
              <a:gd name="connsiteY15-658" fmla="*/ 4897821 h 4897821"/>
              <a:gd name="connsiteX16-659" fmla="*/ 0 w 4550979"/>
              <a:gd name="connsiteY16-660" fmla="*/ 4855779 h 4897821"/>
              <a:gd name="connsiteX17-661" fmla="*/ 21020 w 4550979"/>
              <a:gd name="connsiteY17-662" fmla="*/ 178677 h 4897821"/>
              <a:gd name="connsiteX0-663" fmla="*/ 21020 w 4550979"/>
              <a:gd name="connsiteY0-664" fmla="*/ 178677 h 4897821"/>
              <a:gd name="connsiteX1-665" fmla="*/ 2270234 w 4550979"/>
              <a:gd name="connsiteY1-666" fmla="*/ 0 h 4897821"/>
              <a:gd name="connsiteX2-667" fmla="*/ 2333296 w 4550979"/>
              <a:gd name="connsiteY2-668" fmla="*/ 1429406 h 4897821"/>
              <a:gd name="connsiteX3-669" fmla="*/ 1587062 w 4550979"/>
              <a:gd name="connsiteY3-670" fmla="*/ 1881352 h 4897821"/>
              <a:gd name="connsiteX4-671" fmla="*/ 1450427 w 4550979"/>
              <a:gd name="connsiteY4-672" fmla="*/ 2427889 h 4897821"/>
              <a:gd name="connsiteX5-673" fmla="*/ 3044396 w 4550979"/>
              <a:gd name="connsiteY5-674" fmla="*/ 2786743 h 4897821"/>
              <a:gd name="connsiteX6-675" fmla="*/ 3443339 w 4550979"/>
              <a:gd name="connsiteY6-676" fmla="*/ 2779385 h 4897821"/>
              <a:gd name="connsiteX7-677" fmla="*/ 3699641 w 4550979"/>
              <a:gd name="connsiteY7-678" fmla="*/ 2554013 h 4897821"/>
              <a:gd name="connsiteX8-679" fmla="*/ 3720662 w 4550979"/>
              <a:gd name="connsiteY8-680" fmla="*/ 2217683 h 4897821"/>
              <a:gd name="connsiteX9-681" fmla="*/ 3678621 w 4550979"/>
              <a:gd name="connsiteY9-682" fmla="*/ 2017986 h 4897821"/>
              <a:gd name="connsiteX10-683" fmla="*/ 3584027 w 4550979"/>
              <a:gd name="connsiteY10-684" fmla="*/ 1839310 h 4897821"/>
              <a:gd name="connsiteX11-685" fmla="*/ 3342289 w 4550979"/>
              <a:gd name="connsiteY11-686" fmla="*/ 1681655 h 4897821"/>
              <a:gd name="connsiteX12-687" fmla="*/ 4393324 w 4550979"/>
              <a:gd name="connsiteY12-688" fmla="*/ 1545021 h 4897821"/>
              <a:gd name="connsiteX13-689" fmla="*/ 4550979 w 4550979"/>
              <a:gd name="connsiteY13-690" fmla="*/ 2879834 h 4897821"/>
              <a:gd name="connsiteX14-691" fmla="*/ 4403834 w 4550979"/>
              <a:gd name="connsiteY14-692" fmla="*/ 4519448 h 4897821"/>
              <a:gd name="connsiteX15-693" fmla="*/ 3394841 w 4550979"/>
              <a:gd name="connsiteY15-694" fmla="*/ 4897821 h 4897821"/>
              <a:gd name="connsiteX16-695" fmla="*/ 0 w 4550979"/>
              <a:gd name="connsiteY16-696" fmla="*/ 4855779 h 4897821"/>
              <a:gd name="connsiteX17-697" fmla="*/ 21020 w 4550979"/>
              <a:gd name="connsiteY17-698" fmla="*/ 178677 h 4897821"/>
              <a:gd name="connsiteX0-699" fmla="*/ 21020 w 4550979"/>
              <a:gd name="connsiteY0-700" fmla="*/ 178677 h 4897821"/>
              <a:gd name="connsiteX1-701" fmla="*/ 2270234 w 4550979"/>
              <a:gd name="connsiteY1-702" fmla="*/ 0 h 4897821"/>
              <a:gd name="connsiteX2-703" fmla="*/ 2333296 w 4550979"/>
              <a:gd name="connsiteY2-704" fmla="*/ 1429406 h 4897821"/>
              <a:gd name="connsiteX3-705" fmla="*/ 1587062 w 4550979"/>
              <a:gd name="connsiteY3-706" fmla="*/ 1881352 h 4897821"/>
              <a:gd name="connsiteX4-707" fmla="*/ 1450427 w 4550979"/>
              <a:gd name="connsiteY4-708" fmla="*/ 2427889 h 4897821"/>
              <a:gd name="connsiteX5-709" fmla="*/ 3109710 w 4550979"/>
              <a:gd name="connsiteY5-710" fmla="*/ 2969623 h 4897821"/>
              <a:gd name="connsiteX6-711" fmla="*/ 3443339 w 4550979"/>
              <a:gd name="connsiteY6-712" fmla="*/ 2779385 h 4897821"/>
              <a:gd name="connsiteX7-713" fmla="*/ 3699641 w 4550979"/>
              <a:gd name="connsiteY7-714" fmla="*/ 2554013 h 4897821"/>
              <a:gd name="connsiteX8-715" fmla="*/ 3720662 w 4550979"/>
              <a:gd name="connsiteY8-716" fmla="*/ 2217683 h 4897821"/>
              <a:gd name="connsiteX9-717" fmla="*/ 3678621 w 4550979"/>
              <a:gd name="connsiteY9-718" fmla="*/ 2017986 h 4897821"/>
              <a:gd name="connsiteX10-719" fmla="*/ 3584027 w 4550979"/>
              <a:gd name="connsiteY10-720" fmla="*/ 1839310 h 4897821"/>
              <a:gd name="connsiteX11-721" fmla="*/ 3342289 w 4550979"/>
              <a:gd name="connsiteY11-722" fmla="*/ 1681655 h 4897821"/>
              <a:gd name="connsiteX12-723" fmla="*/ 4393324 w 4550979"/>
              <a:gd name="connsiteY12-724" fmla="*/ 1545021 h 4897821"/>
              <a:gd name="connsiteX13-725" fmla="*/ 4550979 w 4550979"/>
              <a:gd name="connsiteY13-726" fmla="*/ 2879834 h 4897821"/>
              <a:gd name="connsiteX14-727" fmla="*/ 4403834 w 4550979"/>
              <a:gd name="connsiteY14-728" fmla="*/ 4519448 h 4897821"/>
              <a:gd name="connsiteX15-729" fmla="*/ 3394841 w 4550979"/>
              <a:gd name="connsiteY15-730" fmla="*/ 4897821 h 4897821"/>
              <a:gd name="connsiteX16-731" fmla="*/ 0 w 4550979"/>
              <a:gd name="connsiteY16-732" fmla="*/ 4855779 h 4897821"/>
              <a:gd name="connsiteX17-733" fmla="*/ 21020 w 4550979"/>
              <a:gd name="connsiteY17-734" fmla="*/ 178677 h 4897821"/>
              <a:gd name="connsiteX0-735" fmla="*/ 21020 w 4550979"/>
              <a:gd name="connsiteY0-736" fmla="*/ 178677 h 4897821"/>
              <a:gd name="connsiteX1-737" fmla="*/ 2270234 w 4550979"/>
              <a:gd name="connsiteY1-738" fmla="*/ 0 h 4897821"/>
              <a:gd name="connsiteX2-739" fmla="*/ 2333296 w 4550979"/>
              <a:gd name="connsiteY2-740" fmla="*/ 1429406 h 4897821"/>
              <a:gd name="connsiteX3-741" fmla="*/ 1587062 w 4550979"/>
              <a:gd name="connsiteY3-742" fmla="*/ 1881352 h 4897821"/>
              <a:gd name="connsiteX4-743" fmla="*/ 1450427 w 4550979"/>
              <a:gd name="connsiteY4-744" fmla="*/ 2427889 h 4897821"/>
              <a:gd name="connsiteX5-745" fmla="*/ 3109710 w 4550979"/>
              <a:gd name="connsiteY5-746" fmla="*/ 2969623 h 4897821"/>
              <a:gd name="connsiteX6-747" fmla="*/ 3443339 w 4550979"/>
              <a:gd name="connsiteY6-748" fmla="*/ 2779385 h 4897821"/>
              <a:gd name="connsiteX7-749" fmla="*/ 3699641 w 4550979"/>
              <a:gd name="connsiteY7-750" fmla="*/ 2554013 h 4897821"/>
              <a:gd name="connsiteX8-751" fmla="*/ 3720662 w 4550979"/>
              <a:gd name="connsiteY8-752" fmla="*/ 2217683 h 4897821"/>
              <a:gd name="connsiteX9-753" fmla="*/ 3678621 w 4550979"/>
              <a:gd name="connsiteY9-754" fmla="*/ 2017986 h 4897821"/>
              <a:gd name="connsiteX10-755" fmla="*/ 3584027 w 4550979"/>
              <a:gd name="connsiteY10-756" fmla="*/ 1839310 h 4897821"/>
              <a:gd name="connsiteX11-757" fmla="*/ 3342289 w 4550979"/>
              <a:gd name="connsiteY11-758" fmla="*/ 1681655 h 4897821"/>
              <a:gd name="connsiteX12-759" fmla="*/ 4393324 w 4550979"/>
              <a:gd name="connsiteY12-760" fmla="*/ 1545021 h 4897821"/>
              <a:gd name="connsiteX13-761" fmla="*/ 4550979 w 4550979"/>
              <a:gd name="connsiteY13-762" fmla="*/ 2879834 h 4897821"/>
              <a:gd name="connsiteX14-763" fmla="*/ 4403834 w 4550979"/>
              <a:gd name="connsiteY14-764" fmla="*/ 4519448 h 4897821"/>
              <a:gd name="connsiteX15-765" fmla="*/ 3394841 w 4550979"/>
              <a:gd name="connsiteY15-766" fmla="*/ 4897821 h 4897821"/>
              <a:gd name="connsiteX16-767" fmla="*/ 0 w 4550979"/>
              <a:gd name="connsiteY16-768" fmla="*/ 4855779 h 4897821"/>
              <a:gd name="connsiteX17-769" fmla="*/ 21020 w 4550979"/>
              <a:gd name="connsiteY17-770" fmla="*/ 178677 h 4897821"/>
              <a:gd name="connsiteX0-771" fmla="*/ 21020 w 4550979"/>
              <a:gd name="connsiteY0-772" fmla="*/ 178677 h 4897821"/>
              <a:gd name="connsiteX1-773" fmla="*/ 2270234 w 4550979"/>
              <a:gd name="connsiteY1-774" fmla="*/ 0 h 4897821"/>
              <a:gd name="connsiteX2-775" fmla="*/ 2333296 w 4550979"/>
              <a:gd name="connsiteY2-776" fmla="*/ 1429406 h 4897821"/>
              <a:gd name="connsiteX3-777" fmla="*/ 1587062 w 4550979"/>
              <a:gd name="connsiteY3-778" fmla="*/ 1881352 h 4897821"/>
              <a:gd name="connsiteX4-779" fmla="*/ 1450427 w 4550979"/>
              <a:gd name="connsiteY4-780" fmla="*/ 2427889 h 4897821"/>
              <a:gd name="connsiteX5-781" fmla="*/ 3109710 w 4550979"/>
              <a:gd name="connsiteY5-782" fmla="*/ 2969623 h 4897821"/>
              <a:gd name="connsiteX6-783" fmla="*/ 3443339 w 4550979"/>
              <a:gd name="connsiteY6-784" fmla="*/ 2779385 h 4897821"/>
              <a:gd name="connsiteX7-785" fmla="*/ 3699641 w 4550979"/>
              <a:gd name="connsiteY7-786" fmla="*/ 2554013 h 4897821"/>
              <a:gd name="connsiteX8-787" fmla="*/ 3720662 w 4550979"/>
              <a:gd name="connsiteY8-788" fmla="*/ 2217683 h 4897821"/>
              <a:gd name="connsiteX9-789" fmla="*/ 3678621 w 4550979"/>
              <a:gd name="connsiteY9-790" fmla="*/ 2017986 h 4897821"/>
              <a:gd name="connsiteX10-791" fmla="*/ 3584027 w 4550979"/>
              <a:gd name="connsiteY10-792" fmla="*/ 1839310 h 4897821"/>
              <a:gd name="connsiteX11-793" fmla="*/ 3342289 w 4550979"/>
              <a:gd name="connsiteY11-794" fmla="*/ 1681655 h 4897821"/>
              <a:gd name="connsiteX12-795" fmla="*/ 4393324 w 4550979"/>
              <a:gd name="connsiteY12-796" fmla="*/ 1545021 h 4897821"/>
              <a:gd name="connsiteX13-797" fmla="*/ 4550979 w 4550979"/>
              <a:gd name="connsiteY13-798" fmla="*/ 2879834 h 4897821"/>
              <a:gd name="connsiteX14-799" fmla="*/ 4403834 w 4550979"/>
              <a:gd name="connsiteY14-800" fmla="*/ 4519448 h 4897821"/>
              <a:gd name="connsiteX15-801" fmla="*/ 3394841 w 4550979"/>
              <a:gd name="connsiteY15-802" fmla="*/ 4897821 h 4897821"/>
              <a:gd name="connsiteX16-803" fmla="*/ 0 w 4550979"/>
              <a:gd name="connsiteY16-804" fmla="*/ 4855779 h 4897821"/>
              <a:gd name="connsiteX17-805" fmla="*/ 21020 w 4550979"/>
              <a:gd name="connsiteY17-806" fmla="*/ 178677 h 4897821"/>
              <a:gd name="connsiteX0-807" fmla="*/ 21020 w 4550979"/>
              <a:gd name="connsiteY0-808" fmla="*/ 178677 h 4897821"/>
              <a:gd name="connsiteX1-809" fmla="*/ 2270234 w 4550979"/>
              <a:gd name="connsiteY1-810" fmla="*/ 0 h 4897821"/>
              <a:gd name="connsiteX2-811" fmla="*/ 2333296 w 4550979"/>
              <a:gd name="connsiteY2-812" fmla="*/ 1429406 h 4897821"/>
              <a:gd name="connsiteX3-813" fmla="*/ 1587062 w 4550979"/>
              <a:gd name="connsiteY3-814" fmla="*/ 1881352 h 4897821"/>
              <a:gd name="connsiteX4-815" fmla="*/ 1450427 w 4550979"/>
              <a:gd name="connsiteY4-816" fmla="*/ 2427889 h 4897821"/>
              <a:gd name="connsiteX5-817" fmla="*/ 3109710 w 4550979"/>
              <a:gd name="connsiteY5-818" fmla="*/ 2969623 h 4897821"/>
              <a:gd name="connsiteX6-819" fmla="*/ 3447693 w 4550979"/>
              <a:gd name="connsiteY6-820" fmla="*/ 2801156 h 4897821"/>
              <a:gd name="connsiteX7-821" fmla="*/ 3699641 w 4550979"/>
              <a:gd name="connsiteY7-822" fmla="*/ 2554013 h 4897821"/>
              <a:gd name="connsiteX8-823" fmla="*/ 3720662 w 4550979"/>
              <a:gd name="connsiteY8-824" fmla="*/ 2217683 h 4897821"/>
              <a:gd name="connsiteX9-825" fmla="*/ 3678621 w 4550979"/>
              <a:gd name="connsiteY9-826" fmla="*/ 2017986 h 4897821"/>
              <a:gd name="connsiteX10-827" fmla="*/ 3584027 w 4550979"/>
              <a:gd name="connsiteY10-828" fmla="*/ 1839310 h 4897821"/>
              <a:gd name="connsiteX11-829" fmla="*/ 3342289 w 4550979"/>
              <a:gd name="connsiteY11-830" fmla="*/ 1681655 h 4897821"/>
              <a:gd name="connsiteX12-831" fmla="*/ 4393324 w 4550979"/>
              <a:gd name="connsiteY12-832" fmla="*/ 1545021 h 4897821"/>
              <a:gd name="connsiteX13-833" fmla="*/ 4550979 w 4550979"/>
              <a:gd name="connsiteY13-834" fmla="*/ 2879834 h 4897821"/>
              <a:gd name="connsiteX14-835" fmla="*/ 4403834 w 4550979"/>
              <a:gd name="connsiteY14-836" fmla="*/ 4519448 h 4897821"/>
              <a:gd name="connsiteX15-837" fmla="*/ 3394841 w 4550979"/>
              <a:gd name="connsiteY15-838" fmla="*/ 4897821 h 4897821"/>
              <a:gd name="connsiteX16-839" fmla="*/ 0 w 4550979"/>
              <a:gd name="connsiteY16-840" fmla="*/ 4855779 h 4897821"/>
              <a:gd name="connsiteX17-841" fmla="*/ 21020 w 4550979"/>
              <a:gd name="connsiteY17-842" fmla="*/ 178677 h 489782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4550979" h="4897821">
                <a:moveTo>
                  <a:pt x="21020" y="178677"/>
                </a:moveTo>
                <a:cubicBezTo>
                  <a:pt x="1030013" y="42043"/>
                  <a:pt x="1453930" y="54304"/>
                  <a:pt x="2270234" y="0"/>
                </a:cubicBezTo>
                <a:cubicBezTo>
                  <a:pt x="2291255" y="476469"/>
                  <a:pt x="1902372" y="963447"/>
                  <a:pt x="2333296" y="1429406"/>
                </a:cubicBezTo>
                <a:lnTo>
                  <a:pt x="1587062" y="1881352"/>
                </a:lnTo>
                <a:lnTo>
                  <a:pt x="1450427" y="2427889"/>
                </a:lnTo>
                <a:cubicBezTo>
                  <a:pt x="1681655" y="2998951"/>
                  <a:pt x="2604013" y="3143444"/>
                  <a:pt x="3109710" y="2969623"/>
                </a:cubicBezTo>
                <a:cubicBezTo>
                  <a:pt x="3247046" y="2914919"/>
                  <a:pt x="3336483" y="2864569"/>
                  <a:pt x="3447693" y="2801156"/>
                </a:cubicBezTo>
                <a:lnTo>
                  <a:pt x="3699641" y="2554013"/>
                </a:lnTo>
                <a:lnTo>
                  <a:pt x="3720662" y="2217683"/>
                </a:lnTo>
                <a:lnTo>
                  <a:pt x="3678621" y="2017986"/>
                </a:lnTo>
                <a:lnTo>
                  <a:pt x="3584027" y="1839310"/>
                </a:lnTo>
                <a:lnTo>
                  <a:pt x="3342289" y="1681655"/>
                </a:lnTo>
                <a:lnTo>
                  <a:pt x="4393324" y="1545021"/>
                </a:lnTo>
                <a:lnTo>
                  <a:pt x="4550979" y="2879834"/>
                </a:lnTo>
                <a:lnTo>
                  <a:pt x="4403834" y="4519448"/>
                </a:lnTo>
                <a:lnTo>
                  <a:pt x="3394841" y="4897821"/>
                </a:lnTo>
                <a:lnTo>
                  <a:pt x="0" y="4855779"/>
                </a:lnTo>
                <a:cubicBezTo>
                  <a:pt x="7007" y="3296745"/>
                  <a:pt x="14013" y="1737711"/>
                  <a:pt x="21020" y="178677"/>
                </a:cubicBezTo>
                <a:close/>
              </a:path>
            </a:pathLst>
          </a:cu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椭圆 7"/>
          <p:cNvSpPr/>
          <p:nvPr/>
        </p:nvSpPr>
        <p:spPr>
          <a:xfrm>
            <a:off x="8937523" y="4078514"/>
            <a:ext cx="1165122" cy="53702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 name="文本框 10"/>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网络核心</a:t>
            </a:r>
            <a:r>
              <a:rPr lang="zh-CN" altLang="en-US" dirty="0"/>
              <a:t>的两大</a:t>
            </a:r>
            <a:r>
              <a:rPr lang="zh-CN" altLang="en-US" dirty="0">
                <a:sym typeface="+mn-ea"/>
              </a:rPr>
              <a:t>功能</a:t>
            </a:r>
            <a:endParaRPr lang="en-US" altLang="zh-CN" dirty="0">
              <a:sym typeface="+mn-ea"/>
            </a:endParaRPr>
          </a:p>
        </p:txBody>
      </p:sp>
      <p:sp>
        <p:nvSpPr>
          <p:cNvPr id="3" name="内容占位符 2"/>
          <p:cNvSpPr>
            <a:spLocks noGrp="1"/>
          </p:cNvSpPr>
          <p:nvPr>
            <p:ph idx="1"/>
          </p:nvPr>
        </p:nvSpPr>
        <p:spPr>
          <a:xfrm>
            <a:off x="704336" y="1369695"/>
            <a:ext cx="5187208" cy="4977076"/>
          </a:xfrm>
        </p:spPr>
        <p:txBody>
          <a:bodyPr>
            <a:normAutofit fontScale="85000" lnSpcReduction="10000"/>
          </a:bodyPr>
          <a:lstStyle/>
          <a:p>
            <a:pPr>
              <a:lnSpc>
                <a:spcPct val="130000"/>
              </a:lnSpc>
            </a:pPr>
            <a:r>
              <a:rPr lang="zh-CN" altLang="en-US" dirty="0">
                <a:cs typeface="微软雅黑" panose="020B0503020204020204" pitchFamily="34" charset="-122"/>
              </a:rPr>
              <a:t>功能</a:t>
            </a:r>
            <a:r>
              <a:rPr lang="en-US" altLang="zh-CN" dirty="0">
                <a:cs typeface="微软雅黑" panose="020B0503020204020204" pitchFamily="34" charset="-122"/>
              </a:rPr>
              <a:t>1</a:t>
            </a:r>
            <a:r>
              <a:rPr lang="zh-CN" altLang="en-US" dirty="0">
                <a:cs typeface="微软雅黑" panose="020B0503020204020204" pitchFamily="34" charset="-122"/>
              </a:rPr>
              <a:t>：</a:t>
            </a:r>
            <a:r>
              <a:rPr lang="zh-CN" altLang="en-US" dirty="0">
                <a:solidFill>
                  <a:srgbClr val="C00000"/>
                </a:solidFill>
                <a:cs typeface="微软雅黑" panose="020B0503020204020204" pitchFamily="34" charset="-122"/>
              </a:rPr>
              <a:t>路由</a:t>
            </a:r>
            <a:endParaRPr lang="en-US" altLang="zh-CN" dirty="0">
              <a:solidFill>
                <a:srgbClr val="C00000"/>
              </a:solidFill>
              <a:cs typeface="微软雅黑" panose="020B0503020204020204" pitchFamily="34" charset="-122"/>
            </a:endParaRPr>
          </a:p>
          <a:p>
            <a:pPr lvl="1">
              <a:lnSpc>
                <a:spcPct val="130000"/>
              </a:lnSpc>
            </a:pPr>
            <a:r>
              <a:rPr lang="zh-CN" altLang="en-US" dirty="0">
                <a:solidFill>
                  <a:srgbClr val="C00000"/>
                </a:solidFill>
                <a:cs typeface="微软雅黑" panose="020B0503020204020204" pitchFamily="34" charset="-122"/>
              </a:rPr>
              <a:t>全局操作</a:t>
            </a:r>
            <a:r>
              <a:rPr lang="zh-CN" altLang="en-US" dirty="0">
                <a:cs typeface="微软雅黑" panose="020B0503020204020204" pitchFamily="34" charset="-122"/>
              </a:rPr>
              <a:t>：确定数据分组从源到目标所使用的路径</a:t>
            </a:r>
            <a:endParaRPr lang="en-US" altLang="zh-CN" dirty="0">
              <a:cs typeface="微软雅黑" panose="020B0503020204020204" pitchFamily="34" charset="-122"/>
            </a:endParaRPr>
          </a:p>
          <a:p>
            <a:pPr lvl="1">
              <a:lnSpc>
                <a:spcPct val="130000"/>
              </a:lnSpc>
            </a:pPr>
            <a:r>
              <a:rPr lang="zh-CN" altLang="en-US" dirty="0">
                <a:cs typeface="微软雅黑" panose="020B0503020204020204" pitchFamily="34" charset="-122"/>
              </a:rPr>
              <a:t>需要路由协议和路由算法，产生路由表</a:t>
            </a:r>
            <a:endParaRPr lang="zh-CN" altLang="en-US" dirty="0">
              <a:cs typeface="微软雅黑" panose="020B0503020204020204" pitchFamily="34" charset="-122"/>
            </a:endParaRPr>
          </a:p>
          <a:p>
            <a:pPr>
              <a:lnSpc>
                <a:spcPct val="130000"/>
              </a:lnSpc>
            </a:pPr>
            <a:r>
              <a:rPr lang="zh-CN" altLang="en-US" dirty="0"/>
              <a:t>功能</a:t>
            </a:r>
            <a:r>
              <a:rPr lang="en-US" altLang="zh-CN" dirty="0"/>
              <a:t>2</a:t>
            </a:r>
            <a:r>
              <a:rPr lang="zh-CN" altLang="en-US" dirty="0"/>
              <a:t>：</a:t>
            </a:r>
            <a:r>
              <a:rPr lang="zh-CN" altLang="en-US" dirty="0">
                <a:solidFill>
                  <a:srgbClr val="C00000"/>
                </a:solidFill>
              </a:rPr>
              <a:t>转发</a:t>
            </a:r>
            <a:endParaRPr lang="en-US" altLang="zh-CN" dirty="0">
              <a:solidFill>
                <a:srgbClr val="C00000"/>
              </a:solidFill>
            </a:endParaRPr>
          </a:p>
          <a:p>
            <a:pPr lvl="1">
              <a:lnSpc>
                <a:spcPct val="130000"/>
              </a:lnSpc>
            </a:pPr>
            <a:r>
              <a:rPr lang="zh-CN" altLang="en-US" dirty="0">
                <a:solidFill>
                  <a:srgbClr val="C00000"/>
                </a:solidFill>
              </a:rPr>
              <a:t>本地操作</a:t>
            </a:r>
            <a:r>
              <a:rPr lang="zh-CN" altLang="en-US" dirty="0"/>
              <a:t>：路由器或交换机将接收到的数据分组转发出去（即移动到该设备的某个输出接口）</a:t>
            </a:r>
            <a:endParaRPr lang="en-US" altLang="zh-CN" dirty="0"/>
          </a:p>
          <a:p>
            <a:pPr lvl="1">
              <a:lnSpc>
                <a:spcPct val="130000"/>
              </a:lnSpc>
            </a:pPr>
            <a:r>
              <a:rPr lang="zh-CN" altLang="en-US" dirty="0"/>
              <a:t>确定转发出去的接口</a:t>
            </a:r>
            <a:r>
              <a:rPr lang="en-US" altLang="zh-CN" dirty="0"/>
              <a:t>/</a:t>
            </a:r>
            <a:r>
              <a:rPr lang="zh-CN" altLang="en-US" dirty="0"/>
              <a:t>链路：根据从“入接口”收到分组头中的目的地址，查找本地</a:t>
            </a:r>
            <a:r>
              <a:rPr lang="zh-CN" altLang="en-US" dirty="0">
                <a:solidFill>
                  <a:srgbClr val="C00000"/>
                </a:solidFill>
              </a:rPr>
              <a:t>路由表</a:t>
            </a:r>
            <a:r>
              <a:rPr lang="zh-CN" altLang="en-US" dirty="0"/>
              <a:t>，确定“出接口”</a:t>
            </a:r>
            <a:endParaRPr lang="en-US" altLang="zh-CN" dirty="0"/>
          </a:p>
        </p:txBody>
      </p:sp>
      <p:grpSp>
        <p:nvGrpSpPr>
          <p:cNvPr id="6" name="Group 2"/>
          <p:cNvGrpSpPr/>
          <p:nvPr/>
        </p:nvGrpSpPr>
        <p:grpSpPr>
          <a:xfrm>
            <a:off x="6158032" y="1645591"/>
            <a:ext cx="2317750" cy="3038266"/>
            <a:chOff x="3563785" y="1706808"/>
            <a:chExt cx="2317750" cy="3038266"/>
          </a:xfrm>
        </p:grpSpPr>
        <p:sp>
          <p:nvSpPr>
            <p:cNvPr id="539" name="Freeform 3"/>
            <p:cNvSpPr/>
            <p:nvPr/>
          </p:nvSpPr>
          <p:spPr bwMode="auto">
            <a:xfrm rot="16200000">
              <a:off x="4355018" y="3236963"/>
              <a:ext cx="721461" cy="2294761"/>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 name="connsiteX0" fmla="*/ 0 w 10000"/>
                <a:gd name="connsiteY0" fmla="*/ 0 h 9714"/>
                <a:gd name="connsiteX1" fmla="*/ 3718 w 10000"/>
                <a:gd name="connsiteY1" fmla="*/ 8779 h 9714"/>
                <a:gd name="connsiteX2" fmla="*/ 9148 w 10000"/>
                <a:gd name="connsiteY2" fmla="*/ 9657 h 9714"/>
                <a:gd name="connsiteX3" fmla="*/ 10000 w 10000"/>
                <a:gd name="connsiteY3" fmla="*/ 61 h 9714"/>
                <a:gd name="connsiteX4" fmla="*/ 0 w 10000"/>
                <a:gd name="connsiteY4" fmla="*/ 0 h 9714"/>
                <a:gd name="connsiteX0-1" fmla="*/ 0 w 10000"/>
                <a:gd name="connsiteY0-2" fmla="*/ 0 h 9095"/>
                <a:gd name="connsiteX1-3" fmla="*/ 3718 w 10000"/>
                <a:gd name="connsiteY1-4" fmla="*/ 9037 h 9095"/>
                <a:gd name="connsiteX2-5" fmla="*/ 5712 w 10000"/>
                <a:gd name="connsiteY2-6" fmla="*/ 8929 h 9095"/>
                <a:gd name="connsiteX3-7" fmla="*/ 10000 w 10000"/>
                <a:gd name="connsiteY3-8" fmla="*/ 63 h 9095"/>
                <a:gd name="connsiteX4-9" fmla="*/ 0 w 10000"/>
                <a:gd name="connsiteY4-10" fmla="*/ 0 h 9095"/>
                <a:gd name="connsiteX0-11" fmla="*/ 0 w 10000"/>
                <a:gd name="connsiteY0-12" fmla="*/ 0 h 10000"/>
                <a:gd name="connsiteX1-13" fmla="*/ 3718 w 10000"/>
                <a:gd name="connsiteY1-14" fmla="*/ 9936 h 10000"/>
                <a:gd name="connsiteX2-15" fmla="*/ 5712 w 10000"/>
                <a:gd name="connsiteY2-16" fmla="*/ 9817 h 10000"/>
                <a:gd name="connsiteX3-17" fmla="*/ 10000 w 10000"/>
                <a:gd name="connsiteY3-18" fmla="*/ 69 h 10000"/>
                <a:gd name="connsiteX4-19" fmla="*/ 0 w 10000"/>
                <a:gd name="connsiteY4-20" fmla="*/ 0 h 10000"/>
                <a:gd name="connsiteX0-21" fmla="*/ 0 w 10000"/>
                <a:gd name="connsiteY0-22" fmla="*/ 0 h 10000"/>
                <a:gd name="connsiteX1-23" fmla="*/ 3718 w 10000"/>
                <a:gd name="connsiteY1-24" fmla="*/ 9936 h 10000"/>
                <a:gd name="connsiteX2-25" fmla="*/ 5712 w 10000"/>
                <a:gd name="connsiteY2-26" fmla="*/ 9817 h 10000"/>
                <a:gd name="connsiteX3-27" fmla="*/ 10000 w 10000"/>
                <a:gd name="connsiteY3-28" fmla="*/ 69 h 10000"/>
                <a:gd name="connsiteX4-29" fmla="*/ 0 w 10000"/>
                <a:gd name="connsiteY4-30" fmla="*/ 0 h 10000"/>
                <a:gd name="connsiteX0-31" fmla="*/ 0 w 10000"/>
                <a:gd name="connsiteY0-32" fmla="*/ 0 h 10000"/>
                <a:gd name="connsiteX1-33" fmla="*/ 3718 w 10000"/>
                <a:gd name="connsiteY1-34" fmla="*/ 9936 h 10000"/>
                <a:gd name="connsiteX2-35" fmla="*/ 5712 w 10000"/>
                <a:gd name="connsiteY2-36" fmla="*/ 9817 h 10000"/>
                <a:gd name="connsiteX3-37" fmla="*/ 10000 w 10000"/>
                <a:gd name="connsiteY3-38" fmla="*/ 69 h 10000"/>
                <a:gd name="connsiteX4-39" fmla="*/ 0 w 10000"/>
                <a:gd name="connsiteY4-40" fmla="*/ 0 h 10000"/>
                <a:gd name="connsiteX0-41" fmla="*/ 0 w 10000"/>
                <a:gd name="connsiteY0-42" fmla="*/ 0 h 10000"/>
                <a:gd name="connsiteX1-43" fmla="*/ 3718 w 10000"/>
                <a:gd name="connsiteY1-44" fmla="*/ 9936 h 10000"/>
                <a:gd name="connsiteX2-45" fmla="*/ 5712 w 10000"/>
                <a:gd name="connsiteY2-46" fmla="*/ 9817 h 10000"/>
                <a:gd name="connsiteX3-47" fmla="*/ 10000 w 10000"/>
                <a:gd name="connsiteY3-48" fmla="*/ 69 h 10000"/>
                <a:gd name="connsiteX4-49" fmla="*/ 0 w 10000"/>
                <a:gd name="connsiteY4-50" fmla="*/ 0 h 10000"/>
                <a:gd name="connsiteX0-51" fmla="*/ 0 w 8989"/>
                <a:gd name="connsiteY0-52" fmla="*/ 0 h 11618"/>
                <a:gd name="connsiteX1-53" fmla="*/ 2707 w 8989"/>
                <a:gd name="connsiteY1-54" fmla="*/ 11554 h 11618"/>
                <a:gd name="connsiteX2-55" fmla="*/ 4701 w 8989"/>
                <a:gd name="connsiteY2-56" fmla="*/ 11435 h 11618"/>
                <a:gd name="connsiteX3-57" fmla="*/ 8989 w 8989"/>
                <a:gd name="connsiteY3-58" fmla="*/ 1687 h 11618"/>
                <a:gd name="connsiteX4-59" fmla="*/ 0 w 8989"/>
                <a:gd name="connsiteY4-60" fmla="*/ 0 h 11618"/>
                <a:gd name="connsiteX0-61" fmla="*/ 0 w 9888"/>
                <a:gd name="connsiteY0-62" fmla="*/ 115 h 10115"/>
                <a:gd name="connsiteX1-63" fmla="*/ 3011 w 9888"/>
                <a:gd name="connsiteY1-64" fmla="*/ 10060 h 10115"/>
                <a:gd name="connsiteX2-65" fmla="*/ 5230 w 9888"/>
                <a:gd name="connsiteY2-66" fmla="*/ 9957 h 10115"/>
                <a:gd name="connsiteX3-67" fmla="*/ 9888 w 9888"/>
                <a:gd name="connsiteY3-68" fmla="*/ 0 h 10115"/>
                <a:gd name="connsiteX4-69" fmla="*/ 0 w 9888"/>
                <a:gd name="connsiteY4-70" fmla="*/ 115 h 10115"/>
                <a:gd name="connsiteX0-71" fmla="*/ 0 w 9829"/>
                <a:gd name="connsiteY0-72" fmla="*/ 0 h 10833"/>
                <a:gd name="connsiteX1-73" fmla="*/ 2874 w 9829"/>
                <a:gd name="connsiteY1-74" fmla="*/ 10779 h 10833"/>
                <a:gd name="connsiteX2-75" fmla="*/ 5118 w 9829"/>
                <a:gd name="connsiteY2-76" fmla="*/ 10677 h 10833"/>
                <a:gd name="connsiteX3-77" fmla="*/ 9829 w 9829"/>
                <a:gd name="connsiteY3-78" fmla="*/ 833 h 10833"/>
                <a:gd name="connsiteX4-79" fmla="*/ 0 w 9829"/>
                <a:gd name="connsiteY4-80" fmla="*/ 0 h 10833"/>
                <a:gd name="connsiteX0-81" fmla="*/ 0 w 10289"/>
                <a:gd name="connsiteY0-82" fmla="*/ 0 h 10000"/>
                <a:gd name="connsiteX1-83" fmla="*/ 2924 w 10289"/>
                <a:gd name="connsiteY1-84" fmla="*/ 9950 h 10000"/>
                <a:gd name="connsiteX2-85" fmla="*/ 5207 w 10289"/>
                <a:gd name="connsiteY2-86" fmla="*/ 9856 h 10000"/>
                <a:gd name="connsiteX3-87" fmla="*/ 10289 w 10289"/>
                <a:gd name="connsiteY3-88" fmla="*/ 54 h 10000"/>
                <a:gd name="connsiteX4-89" fmla="*/ 0 w 10289"/>
                <a:gd name="connsiteY4-90" fmla="*/ 0 h 10000"/>
                <a:gd name="connsiteX0-91" fmla="*/ 0 w 10289"/>
                <a:gd name="connsiteY0-92" fmla="*/ 0 h 10953"/>
                <a:gd name="connsiteX1-93" fmla="*/ 2924 w 10289"/>
                <a:gd name="connsiteY1-94" fmla="*/ 9950 h 10953"/>
                <a:gd name="connsiteX2-95" fmla="*/ 3723 w 10289"/>
                <a:gd name="connsiteY2-96" fmla="*/ 10695 h 10953"/>
                <a:gd name="connsiteX3-97" fmla="*/ 5207 w 10289"/>
                <a:gd name="connsiteY3-98" fmla="*/ 9856 h 10953"/>
                <a:gd name="connsiteX4-99" fmla="*/ 10289 w 10289"/>
                <a:gd name="connsiteY4-100" fmla="*/ 54 h 10953"/>
                <a:gd name="connsiteX5" fmla="*/ 0 w 10289"/>
                <a:gd name="connsiteY5" fmla="*/ 0 h 10953"/>
                <a:gd name="connsiteX0-101" fmla="*/ 0 w 10289"/>
                <a:gd name="connsiteY0-102" fmla="*/ 0 h 11138"/>
                <a:gd name="connsiteX1-103" fmla="*/ 2924 w 10289"/>
                <a:gd name="connsiteY1-104" fmla="*/ 9950 h 11138"/>
                <a:gd name="connsiteX2-105" fmla="*/ 5207 w 10289"/>
                <a:gd name="connsiteY2-106" fmla="*/ 9856 h 11138"/>
                <a:gd name="connsiteX3-107" fmla="*/ 10289 w 10289"/>
                <a:gd name="connsiteY3-108" fmla="*/ 54 h 11138"/>
                <a:gd name="connsiteX4-109" fmla="*/ 0 w 10289"/>
                <a:gd name="connsiteY4-110" fmla="*/ 0 h 11138"/>
                <a:gd name="connsiteX0-111" fmla="*/ 0 w 10289"/>
                <a:gd name="connsiteY0-112" fmla="*/ 0 h 10669"/>
                <a:gd name="connsiteX1-113" fmla="*/ 2924 w 10289"/>
                <a:gd name="connsiteY1-114" fmla="*/ 9950 h 10669"/>
                <a:gd name="connsiteX2-115" fmla="*/ 5207 w 10289"/>
                <a:gd name="connsiteY2-116" fmla="*/ 9856 h 10669"/>
                <a:gd name="connsiteX3-117" fmla="*/ 10289 w 10289"/>
                <a:gd name="connsiteY3-118" fmla="*/ 54 h 10669"/>
                <a:gd name="connsiteX4-119" fmla="*/ 0 w 10289"/>
                <a:gd name="connsiteY4-120" fmla="*/ 0 h 10669"/>
                <a:gd name="connsiteX0-121" fmla="*/ 0 w 10289"/>
                <a:gd name="connsiteY0-122" fmla="*/ 0 h 10734"/>
                <a:gd name="connsiteX1-123" fmla="*/ 2924 w 10289"/>
                <a:gd name="connsiteY1-124" fmla="*/ 9950 h 10734"/>
                <a:gd name="connsiteX2-125" fmla="*/ 4455 w 10289"/>
                <a:gd name="connsiteY2-126" fmla="*/ 10094 h 10734"/>
                <a:gd name="connsiteX3-127" fmla="*/ 10289 w 10289"/>
                <a:gd name="connsiteY3-128" fmla="*/ 54 h 10734"/>
                <a:gd name="connsiteX4-129" fmla="*/ 0 w 10289"/>
                <a:gd name="connsiteY4-130" fmla="*/ 0 h 10734"/>
                <a:gd name="connsiteX0-131" fmla="*/ 0 w 10289"/>
                <a:gd name="connsiteY0-132" fmla="*/ 0 h 10107"/>
                <a:gd name="connsiteX1-133" fmla="*/ 2924 w 10289"/>
                <a:gd name="connsiteY1-134" fmla="*/ 9950 h 10107"/>
                <a:gd name="connsiteX2-135" fmla="*/ 4455 w 10289"/>
                <a:gd name="connsiteY2-136" fmla="*/ 10094 h 10107"/>
                <a:gd name="connsiteX3-137" fmla="*/ 10289 w 10289"/>
                <a:gd name="connsiteY3-138" fmla="*/ 54 h 10107"/>
                <a:gd name="connsiteX4-139" fmla="*/ 0 w 10289"/>
                <a:gd name="connsiteY4-140" fmla="*/ 0 h 10107"/>
                <a:gd name="connsiteX0-141" fmla="*/ 0 w 10289"/>
                <a:gd name="connsiteY0-142" fmla="*/ 0 h 10107"/>
                <a:gd name="connsiteX1-143" fmla="*/ 2924 w 10289"/>
                <a:gd name="connsiteY1-144" fmla="*/ 9950 h 10107"/>
                <a:gd name="connsiteX2-145" fmla="*/ 4455 w 10289"/>
                <a:gd name="connsiteY2-146" fmla="*/ 10094 h 10107"/>
                <a:gd name="connsiteX3-147" fmla="*/ 10289 w 10289"/>
                <a:gd name="connsiteY3-148" fmla="*/ 54 h 10107"/>
                <a:gd name="connsiteX4-149" fmla="*/ 0 w 10289"/>
                <a:gd name="connsiteY4-150" fmla="*/ 0 h 10107"/>
                <a:gd name="connsiteX0-151" fmla="*/ 0 w 10289"/>
                <a:gd name="connsiteY0-152" fmla="*/ 0 h 10107"/>
                <a:gd name="connsiteX1-153" fmla="*/ 2924 w 10289"/>
                <a:gd name="connsiteY1-154" fmla="*/ 9950 h 10107"/>
                <a:gd name="connsiteX2-155" fmla="*/ 4455 w 10289"/>
                <a:gd name="connsiteY2-156" fmla="*/ 10094 h 10107"/>
                <a:gd name="connsiteX3-157" fmla="*/ 10289 w 10289"/>
                <a:gd name="connsiteY3-158" fmla="*/ 54 h 10107"/>
                <a:gd name="connsiteX4-159" fmla="*/ 0 w 10289"/>
                <a:gd name="connsiteY4-160" fmla="*/ 0 h 10107"/>
                <a:gd name="connsiteX0-161" fmla="*/ 0 w 10289"/>
                <a:gd name="connsiteY0-162" fmla="*/ 0 h 9960"/>
                <a:gd name="connsiteX1-163" fmla="*/ 2924 w 10289"/>
                <a:gd name="connsiteY1-164" fmla="*/ 9950 h 9960"/>
                <a:gd name="connsiteX2-165" fmla="*/ 4166 w 10289"/>
                <a:gd name="connsiteY2-166" fmla="*/ 9776 h 9960"/>
                <a:gd name="connsiteX3-167" fmla="*/ 10289 w 10289"/>
                <a:gd name="connsiteY3-168" fmla="*/ 54 h 9960"/>
                <a:gd name="connsiteX4-169" fmla="*/ 0 w 10289"/>
                <a:gd name="connsiteY4-170" fmla="*/ 0 h 9960"/>
                <a:gd name="connsiteX0-171" fmla="*/ 0 w 10000"/>
                <a:gd name="connsiteY0-172" fmla="*/ 0 h 10000"/>
                <a:gd name="connsiteX1-173" fmla="*/ 2842 w 10000"/>
                <a:gd name="connsiteY1-174" fmla="*/ 9990 h 10000"/>
                <a:gd name="connsiteX2-175" fmla="*/ 4049 w 10000"/>
                <a:gd name="connsiteY2-176" fmla="*/ 9815 h 10000"/>
                <a:gd name="connsiteX3-177" fmla="*/ 10000 w 10000"/>
                <a:gd name="connsiteY3-178" fmla="*/ 54 h 10000"/>
                <a:gd name="connsiteX4-179" fmla="*/ 0 w 10000"/>
                <a:gd name="connsiteY4-180" fmla="*/ 0 h 10000"/>
                <a:gd name="connsiteX0-181" fmla="*/ 0 w 10000"/>
                <a:gd name="connsiteY0-182" fmla="*/ 0 h 10400"/>
                <a:gd name="connsiteX1-183" fmla="*/ 2740 w 10000"/>
                <a:gd name="connsiteY1-184" fmla="*/ 10397 h 10400"/>
                <a:gd name="connsiteX2-185" fmla="*/ 4049 w 10000"/>
                <a:gd name="connsiteY2-186" fmla="*/ 9815 h 10400"/>
                <a:gd name="connsiteX3-187" fmla="*/ 10000 w 10000"/>
                <a:gd name="connsiteY3-188" fmla="*/ 54 h 10400"/>
                <a:gd name="connsiteX4-189" fmla="*/ 0 w 10000"/>
                <a:gd name="connsiteY4-190" fmla="*/ 0 h 10400"/>
                <a:gd name="connsiteX0-191" fmla="*/ 0 w 10000"/>
                <a:gd name="connsiteY0-192" fmla="*/ 0 h 10419"/>
                <a:gd name="connsiteX1-193" fmla="*/ 2740 w 10000"/>
                <a:gd name="connsiteY1-194" fmla="*/ 10397 h 10419"/>
                <a:gd name="connsiteX2-195" fmla="*/ 3599 w 10000"/>
                <a:gd name="connsiteY2-196" fmla="*/ 10338 h 10419"/>
                <a:gd name="connsiteX3-197" fmla="*/ 10000 w 10000"/>
                <a:gd name="connsiteY3-198" fmla="*/ 54 h 10419"/>
                <a:gd name="connsiteX4-199" fmla="*/ 0 w 10000"/>
                <a:gd name="connsiteY4-200" fmla="*/ 0 h 10419"/>
                <a:gd name="connsiteX0-201" fmla="*/ 0 w 10000"/>
                <a:gd name="connsiteY0-202" fmla="*/ 0 h 10397"/>
                <a:gd name="connsiteX1-203" fmla="*/ 2740 w 10000"/>
                <a:gd name="connsiteY1-204" fmla="*/ 10397 h 10397"/>
                <a:gd name="connsiteX2-205" fmla="*/ 3599 w 10000"/>
                <a:gd name="connsiteY2-206" fmla="*/ 10338 h 10397"/>
                <a:gd name="connsiteX3-207" fmla="*/ 10000 w 10000"/>
                <a:gd name="connsiteY3-208" fmla="*/ 54 h 10397"/>
                <a:gd name="connsiteX4-209" fmla="*/ 0 w 10000"/>
                <a:gd name="connsiteY4-210" fmla="*/ 0 h 10397"/>
                <a:gd name="connsiteX0-211" fmla="*/ 0 w 10614"/>
                <a:gd name="connsiteY0-212" fmla="*/ 0 h 10397"/>
                <a:gd name="connsiteX1-213" fmla="*/ 2740 w 10614"/>
                <a:gd name="connsiteY1-214" fmla="*/ 10397 h 10397"/>
                <a:gd name="connsiteX2-215" fmla="*/ 3599 w 10614"/>
                <a:gd name="connsiteY2-216" fmla="*/ 10338 h 10397"/>
                <a:gd name="connsiteX3-217" fmla="*/ 10614 w 10614"/>
                <a:gd name="connsiteY3-218" fmla="*/ 112 h 10397"/>
                <a:gd name="connsiteX4-219" fmla="*/ 0 w 10614"/>
                <a:gd name="connsiteY4-220" fmla="*/ 0 h 10397"/>
                <a:gd name="connsiteX0-221" fmla="*/ 0 w 10614"/>
                <a:gd name="connsiteY0-222" fmla="*/ 0 h 10397"/>
                <a:gd name="connsiteX1-223" fmla="*/ 2740 w 10614"/>
                <a:gd name="connsiteY1-224" fmla="*/ 10397 h 10397"/>
                <a:gd name="connsiteX2-225" fmla="*/ 3599 w 10614"/>
                <a:gd name="connsiteY2-226" fmla="*/ 10338 h 10397"/>
                <a:gd name="connsiteX3-227" fmla="*/ 10614 w 10614"/>
                <a:gd name="connsiteY3-228" fmla="*/ 112 h 10397"/>
                <a:gd name="connsiteX4-229" fmla="*/ 0 w 10614"/>
                <a:gd name="connsiteY4-230" fmla="*/ 0 h 10397"/>
                <a:gd name="connsiteX0-231" fmla="*/ 0 w 10675"/>
                <a:gd name="connsiteY0-232" fmla="*/ 0 h 10310"/>
                <a:gd name="connsiteX1-233" fmla="*/ 2801 w 10675"/>
                <a:gd name="connsiteY1-234" fmla="*/ 10310 h 10310"/>
                <a:gd name="connsiteX2-235" fmla="*/ 3660 w 10675"/>
                <a:gd name="connsiteY2-236" fmla="*/ 10251 h 10310"/>
                <a:gd name="connsiteX3-237" fmla="*/ 10675 w 10675"/>
                <a:gd name="connsiteY3-238" fmla="*/ 25 h 10310"/>
                <a:gd name="connsiteX4-239" fmla="*/ 0 w 10675"/>
                <a:gd name="connsiteY4-240" fmla="*/ 0 h 10310"/>
                <a:gd name="connsiteX0-241" fmla="*/ 0 w 6741"/>
                <a:gd name="connsiteY0-242" fmla="*/ 0 h 15505"/>
                <a:gd name="connsiteX1-243" fmla="*/ 2801 w 6741"/>
                <a:gd name="connsiteY1-244" fmla="*/ 10310 h 15505"/>
                <a:gd name="connsiteX2-245" fmla="*/ 3660 w 6741"/>
                <a:gd name="connsiteY2-246" fmla="*/ 10251 h 15505"/>
                <a:gd name="connsiteX3-247" fmla="*/ 6741 w 6741"/>
                <a:gd name="connsiteY3-248" fmla="*/ 14932 h 15505"/>
                <a:gd name="connsiteX4-249" fmla="*/ 0 w 6741"/>
                <a:gd name="connsiteY4-250" fmla="*/ 0 h 15505"/>
                <a:gd name="connsiteX0-251" fmla="*/ 5612 w 7164"/>
                <a:gd name="connsiteY0-252" fmla="*/ 0 h 10410"/>
                <a:gd name="connsiteX1-253" fmla="*/ 13 w 7164"/>
                <a:gd name="connsiteY1-254" fmla="*/ 7060 h 10410"/>
                <a:gd name="connsiteX2-255" fmla="*/ 1287 w 7164"/>
                <a:gd name="connsiteY2-256" fmla="*/ 7022 h 10410"/>
                <a:gd name="connsiteX3-257" fmla="*/ 5858 w 7164"/>
                <a:gd name="connsiteY3-258" fmla="*/ 10041 h 10410"/>
                <a:gd name="connsiteX4-259" fmla="*/ 5612 w 7164"/>
                <a:gd name="connsiteY4-260" fmla="*/ 0 h 10410"/>
                <a:gd name="connsiteX0-261" fmla="*/ 7932 w 10098"/>
                <a:gd name="connsiteY0-262" fmla="*/ 0 h 10001"/>
                <a:gd name="connsiteX1-263" fmla="*/ 116 w 10098"/>
                <a:gd name="connsiteY1-264" fmla="*/ 6782 h 10001"/>
                <a:gd name="connsiteX2-265" fmla="*/ 1894 w 10098"/>
                <a:gd name="connsiteY2-266" fmla="*/ 6745 h 10001"/>
                <a:gd name="connsiteX3-267" fmla="*/ 8275 w 10098"/>
                <a:gd name="connsiteY3-268" fmla="*/ 9646 h 10001"/>
                <a:gd name="connsiteX4-269" fmla="*/ 7932 w 10098"/>
                <a:gd name="connsiteY4-270" fmla="*/ 0 h 10001"/>
                <a:gd name="connsiteX0-271" fmla="*/ 7932 w 11399"/>
                <a:gd name="connsiteY0-272" fmla="*/ 0 h 10001"/>
                <a:gd name="connsiteX1-273" fmla="*/ 116 w 11399"/>
                <a:gd name="connsiteY1-274" fmla="*/ 6782 h 10001"/>
                <a:gd name="connsiteX2-275" fmla="*/ 1894 w 11399"/>
                <a:gd name="connsiteY2-276" fmla="*/ 6745 h 10001"/>
                <a:gd name="connsiteX3-277" fmla="*/ 8275 w 11399"/>
                <a:gd name="connsiteY3-278" fmla="*/ 9646 h 10001"/>
                <a:gd name="connsiteX4-279" fmla="*/ 7932 w 11399"/>
                <a:gd name="connsiteY4-280" fmla="*/ 0 h 10001"/>
                <a:gd name="connsiteX0-281" fmla="*/ 7932 w 8463"/>
                <a:gd name="connsiteY0-282" fmla="*/ 0 h 10001"/>
                <a:gd name="connsiteX1-283" fmla="*/ 116 w 8463"/>
                <a:gd name="connsiteY1-284" fmla="*/ 6782 h 10001"/>
                <a:gd name="connsiteX2-285" fmla="*/ 1894 w 8463"/>
                <a:gd name="connsiteY2-286" fmla="*/ 6745 h 10001"/>
                <a:gd name="connsiteX3-287" fmla="*/ 8275 w 8463"/>
                <a:gd name="connsiteY3-288" fmla="*/ 9646 h 10001"/>
                <a:gd name="connsiteX4-289" fmla="*/ 7932 w 8463"/>
                <a:gd name="connsiteY4-290" fmla="*/ 0 h 10001"/>
                <a:gd name="connsiteX0-291" fmla="*/ 10170 w 10376"/>
                <a:gd name="connsiteY0-292" fmla="*/ 0 h 9753"/>
                <a:gd name="connsiteX1-293" fmla="*/ 109 w 10376"/>
                <a:gd name="connsiteY1-294" fmla="*/ 6534 h 9753"/>
                <a:gd name="connsiteX2-295" fmla="*/ 2210 w 10376"/>
                <a:gd name="connsiteY2-296" fmla="*/ 6497 h 9753"/>
                <a:gd name="connsiteX3-297" fmla="*/ 9750 w 10376"/>
                <a:gd name="connsiteY3-298" fmla="*/ 9398 h 9753"/>
                <a:gd name="connsiteX4-299" fmla="*/ 10170 w 10376"/>
                <a:gd name="connsiteY4-300" fmla="*/ 0 h 9753"/>
                <a:gd name="connsiteX0-301" fmla="*/ 9801 w 9999"/>
                <a:gd name="connsiteY0-302" fmla="*/ 0 h 9636"/>
                <a:gd name="connsiteX1-303" fmla="*/ 105 w 9999"/>
                <a:gd name="connsiteY1-304" fmla="*/ 6699 h 9636"/>
                <a:gd name="connsiteX2-305" fmla="*/ 2130 w 9999"/>
                <a:gd name="connsiteY2-306" fmla="*/ 6662 h 9636"/>
                <a:gd name="connsiteX3-307" fmla="*/ 9397 w 9999"/>
                <a:gd name="connsiteY3-308" fmla="*/ 9636 h 9636"/>
                <a:gd name="connsiteX4-309" fmla="*/ 9801 w 9999"/>
                <a:gd name="connsiteY4-310" fmla="*/ 0 h 9636"/>
                <a:gd name="connsiteX0-311" fmla="*/ 9802 w 10000"/>
                <a:gd name="connsiteY0-312" fmla="*/ 0 h 10000"/>
                <a:gd name="connsiteX1-313" fmla="*/ 105 w 10000"/>
                <a:gd name="connsiteY1-314" fmla="*/ 6952 h 10000"/>
                <a:gd name="connsiteX2-315" fmla="*/ 2130 w 10000"/>
                <a:gd name="connsiteY2-316" fmla="*/ 6914 h 10000"/>
                <a:gd name="connsiteX3-317" fmla="*/ 9398 w 10000"/>
                <a:gd name="connsiteY3-318" fmla="*/ 10000 h 10000"/>
                <a:gd name="connsiteX4-319" fmla="*/ 9802 w 10000"/>
                <a:gd name="connsiteY4-320" fmla="*/ 0 h 10000"/>
                <a:gd name="connsiteX0-321" fmla="*/ 9697 w 9895"/>
                <a:gd name="connsiteY0-322" fmla="*/ 0 h 10000"/>
                <a:gd name="connsiteX1-323" fmla="*/ 0 w 9895"/>
                <a:gd name="connsiteY1-324" fmla="*/ 6952 h 10000"/>
                <a:gd name="connsiteX2-325" fmla="*/ 2025 w 9895"/>
                <a:gd name="connsiteY2-326" fmla="*/ 6914 h 10000"/>
                <a:gd name="connsiteX3-327" fmla="*/ 9293 w 9895"/>
                <a:gd name="connsiteY3-328" fmla="*/ 10000 h 10000"/>
                <a:gd name="connsiteX4-329" fmla="*/ 9697 w 9895"/>
                <a:gd name="connsiteY4-330" fmla="*/ 0 h 10000"/>
                <a:gd name="connsiteX0-331" fmla="*/ 9800 w 10001"/>
                <a:gd name="connsiteY0-332" fmla="*/ 0 h 10000"/>
                <a:gd name="connsiteX1-333" fmla="*/ 0 w 10001"/>
                <a:gd name="connsiteY1-334" fmla="*/ 6952 h 10000"/>
                <a:gd name="connsiteX2-335" fmla="*/ 2314 w 10001"/>
                <a:gd name="connsiteY2-336" fmla="*/ 7860 h 10000"/>
                <a:gd name="connsiteX3-337" fmla="*/ 9392 w 10001"/>
                <a:gd name="connsiteY3-338" fmla="*/ 10000 h 10000"/>
                <a:gd name="connsiteX4-339" fmla="*/ 9800 w 10001"/>
                <a:gd name="connsiteY4-340" fmla="*/ 0 h 10000"/>
                <a:gd name="connsiteX0-341" fmla="*/ 9800 w 10001"/>
                <a:gd name="connsiteY0-342" fmla="*/ 0 h 10000"/>
                <a:gd name="connsiteX1-343" fmla="*/ 0 w 10001"/>
                <a:gd name="connsiteY1-344" fmla="*/ 6952 h 10000"/>
                <a:gd name="connsiteX2-345" fmla="*/ 2314 w 10001"/>
                <a:gd name="connsiteY2-346" fmla="*/ 7860 h 10000"/>
                <a:gd name="connsiteX3-347" fmla="*/ 9392 w 10001"/>
                <a:gd name="connsiteY3-348" fmla="*/ 10000 h 10000"/>
                <a:gd name="connsiteX4-349" fmla="*/ 9800 w 10001"/>
                <a:gd name="connsiteY4-350" fmla="*/ 0 h 10000"/>
                <a:gd name="connsiteX0-351" fmla="*/ 9800 w 10001"/>
                <a:gd name="connsiteY0-352" fmla="*/ 0 h 10000"/>
                <a:gd name="connsiteX1-353" fmla="*/ 0 w 10001"/>
                <a:gd name="connsiteY1-354" fmla="*/ 6952 h 10000"/>
                <a:gd name="connsiteX2-355" fmla="*/ 2314 w 10001"/>
                <a:gd name="connsiteY2-356" fmla="*/ 7860 h 10000"/>
                <a:gd name="connsiteX3-357" fmla="*/ 9392 w 10001"/>
                <a:gd name="connsiteY3-358" fmla="*/ 10000 h 10000"/>
                <a:gd name="connsiteX4-359" fmla="*/ 9800 w 10001"/>
                <a:gd name="connsiteY4-360" fmla="*/ 0 h 10000"/>
                <a:gd name="connsiteX0-361" fmla="*/ 9800 w 10148"/>
                <a:gd name="connsiteY0-362" fmla="*/ 0 h 10158"/>
                <a:gd name="connsiteX1-363" fmla="*/ 0 w 10148"/>
                <a:gd name="connsiteY1-364" fmla="*/ 6952 h 10158"/>
                <a:gd name="connsiteX2-365" fmla="*/ 2314 w 10148"/>
                <a:gd name="connsiteY2-366" fmla="*/ 7860 h 10158"/>
                <a:gd name="connsiteX3-367" fmla="*/ 9794 w 10148"/>
                <a:gd name="connsiteY3-368" fmla="*/ 10158 h 10158"/>
                <a:gd name="connsiteX4-369" fmla="*/ 9800 w 10148"/>
                <a:gd name="connsiteY4-370" fmla="*/ 0 h 10158"/>
                <a:gd name="connsiteX0-371" fmla="*/ 9800 w 10148"/>
                <a:gd name="connsiteY0-372" fmla="*/ 0 h 10158"/>
                <a:gd name="connsiteX1-373" fmla="*/ 0 w 10148"/>
                <a:gd name="connsiteY1-374" fmla="*/ 6952 h 10158"/>
                <a:gd name="connsiteX2-375" fmla="*/ 1653 w 10148"/>
                <a:gd name="connsiteY2-376" fmla="*/ 8453 h 10158"/>
                <a:gd name="connsiteX3-377" fmla="*/ 9794 w 10148"/>
                <a:gd name="connsiteY3-378" fmla="*/ 10158 h 10158"/>
                <a:gd name="connsiteX4-379" fmla="*/ 9800 w 10148"/>
                <a:gd name="connsiteY4-380" fmla="*/ 0 h 10158"/>
                <a:gd name="connsiteX0-381" fmla="*/ 9800 w 10148"/>
                <a:gd name="connsiteY0-382" fmla="*/ 0 h 10158"/>
                <a:gd name="connsiteX1-383" fmla="*/ 0 w 10148"/>
                <a:gd name="connsiteY1-384" fmla="*/ 6952 h 10158"/>
                <a:gd name="connsiteX2-385" fmla="*/ 1653 w 10148"/>
                <a:gd name="connsiteY2-386" fmla="*/ 8453 h 10158"/>
                <a:gd name="connsiteX3-387" fmla="*/ 9794 w 10148"/>
                <a:gd name="connsiteY3-388" fmla="*/ 10158 h 10158"/>
                <a:gd name="connsiteX4-389" fmla="*/ 9800 w 10148"/>
                <a:gd name="connsiteY4-390" fmla="*/ 0 h 10158"/>
                <a:gd name="connsiteX0-391" fmla="*/ 8194 w 8542"/>
                <a:gd name="connsiteY0-392" fmla="*/ 0 h 10158"/>
                <a:gd name="connsiteX1-393" fmla="*/ 0 w 8542"/>
                <a:gd name="connsiteY1-394" fmla="*/ 7601 h 10158"/>
                <a:gd name="connsiteX2-395" fmla="*/ 47 w 8542"/>
                <a:gd name="connsiteY2-396" fmla="*/ 8453 h 10158"/>
                <a:gd name="connsiteX3-397" fmla="*/ 8188 w 8542"/>
                <a:gd name="connsiteY3-398" fmla="*/ 10158 h 10158"/>
                <a:gd name="connsiteX4-399" fmla="*/ 8194 w 8542"/>
                <a:gd name="connsiteY4-400" fmla="*/ 0 h 10158"/>
                <a:gd name="connsiteX0-401" fmla="*/ 9538 w 9975"/>
                <a:gd name="connsiteY0-402" fmla="*/ 0 h 10128"/>
                <a:gd name="connsiteX1-403" fmla="*/ 0 w 9975"/>
                <a:gd name="connsiteY1-404" fmla="*/ 7611 h 10128"/>
                <a:gd name="connsiteX2-405" fmla="*/ 55 w 9975"/>
                <a:gd name="connsiteY2-406" fmla="*/ 8450 h 10128"/>
                <a:gd name="connsiteX3-407" fmla="*/ 9586 w 9975"/>
                <a:gd name="connsiteY3-408" fmla="*/ 10128 h 10128"/>
                <a:gd name="connsiteX4-409" fmla="*/ 9538 w 9975"/>
                <a:gd name="connsiteY4-410" fmla="*/ 0 h 10128"/>
                <a:gd name="connsiteX0-411" fmla="*/ 9562 w 9999"/>
                <a:gd name="connsiteY0-412" fmla="*/ 0 h 10000"/>
                <a:gd name="connsiteX1-413" fmla="*/ 0 w 9999"/>
                <a:gd name="connsiteY1-414" fmla="*/ 7515 h 10000"/>
                <a:gd name="connsiteX2-415" fmla="*/ 55 w 9999"/>
                <a:gd name="connsiteY2-416" fmla="*/ 8343 h 10000"/>
                <a:gd name="connsiteX3-417" fmla="*/ 9610 w 9999"/>
                <a:gd name="connsiteY3-418" fmla="*/ 10000 h 10000"/>
                <a:gd name="connsiteX4-419" fmla="*/ 9562 w 9999"/>
                <a:gd name="connsiteY4-420" fmla="*/ 0 h 10000"/>
                <a:gd name="connsiteX0-421" fmla="*/ 9563 w 10000"/>
                <a:gd name="connsiteY0-422" fmla="*/ 0 h 10126"/>
                <a:gd name="connsiteX1-423" fmla="*/ 0 w 10000"/>
                <a:gd name="connsiteY1-424" fmla="*/ 7515 h 10126"/>
                <a:gd name="connsiteX2-425" fmla="*/ 55 w 10000"/>
                <a:gd name="connsiteY2-426" fmla="*/ 8343 h 10126"/>
                <a:gd name="connsiteX3-427" fmla="*/ 9611 w 10000"/>
                <a:gd name="connsiteY3-428" fmla="*/ 10126 h 10126"/>
                <a:gd name="connsiteX4-429" fmla="*/ 9563 w 10000"/>
                <a:gd name="connsiteY4-430" fmla="*/ 0 h 10126"/>
                <a:gd name="connsiteX0-431" fmla="*/ 9563 w 10000"/>
                <a:gd name="connsiteY0-432" fmla="*/ 0 h 10126"/>
                <a:gd name="connsiteX1-433" fmla="*/ 0 w 10000"/>
                <a:gd name="connsiteY1-434" fmla="*/ 7515 h 10126"/>
                <a:gd name="connsiteX2-435" fmla="*/ 55 w 10000"/>
                <a:gd name="connsiteY2-436" fmla="*/ 8343 h 10126"/>
                <a:gd name="connsiteX3-437" fmla="*/ 9611 w 10000"/>
                <a:gd name="connsiteY3-438" fmla="*/ 10126 h 10126"/>
                <a:gd name="connsiteX4-439" fmla="*/ 9563 w 10000"/>
                <a:gd name="connsiteY4-440" fmla="*/ 0 h 10126"/>
                <a:gd name="connsiteX0-441" fmla="*/ 9563 w 9799"/>
                <a:gd name="connsiteY0-442" fmla="*/ 0 h 10126"/>
                <a:gd name="connsiteX1-443" fmla="*/ 0 w 9799"/>
                <a:gd name="connsiteY1-444" fmla="*/ 7515 h 10126"/>
                <a:gd name="connsiteX2-445" fmla="*/ 55 w 9799"/>
                <a:gd name="connsiteY2-446" fmla="*/ 8343 h 10126"/>
                <a:gd name="connsiteX3-447" fmla="*/ 9611 w 9799"/>
                <a:gd name="connsiteY3-448" fmla="*/ 10126 h 10126"/>
                <a:gd name="connsiteX4-449" fmla="*/ 9563 w 9799"/>
                <a:gd name="connsiteY4-450" fmla="*/ 0 h 1012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99" h="10126">
                  <a:moveTo>
                    <a:pt x="9563" y="0"/>
                  </a:moveTo>
                  <a:cubicBezTo>
                    <a:pt x="6380" y="3447"/>
                    <a:pt x="4378" y="4742"/>
                    <a:pt x="0" y="7515"/>
                  </a:cubicBezTo>
                  <a:cubicBezTo>
                    <a:pt x="19" y="7790"/>
                    <a:pt x="36" y="8067"/>
                    <a:pt x="55" y="8343"/>
                  </a:cubicBezTo>
                  <a:cubicBezTo>
                    <a:pt x="3592" y="8754"/>
                    <a:pt x="6787" y="8518"/>
                    <a:pt x="9611" y="10126"/>
                  </a:cubicBezTo>
                  <a:cubicBezTo>
                    <a:pt x="9580" y="4725"/>
                    <a:pt x="10082" y="3581"/>
                    <a:pt x="9563" y="0"/>
                  </a:cubicBezTo>
                  <a:close/>
                </a:path>
              </a:pathLst>
            </a:custGeom>
            <a:gradFill rotWithShape="1">
              <a:gsLst>
                <a:gs pos="75000">
                  <a:schemeClr val="bg1">
                    <a:lumMod val="85000"/>
                  </a:schemeClr>
                </a:gs>
                <a:gs pos="0">
                  <a:schemeClr val="bg1">
                    <a:lumMod val="75000"/>
                  </a:schemeClr>
                </a:gs>
                <a:gs pos="100000">
                  <a:srgbClr val="FFFFFF"/>
                </a:gs>
              </a:gsLst>
              <a:lin ang="10800000" scaled="0"/>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1" name="Rectangle 4"/>
            <p:cNvSpPr>
              <a:spLocks noChangeArrowheads="1"/>
            </p:cNvSpPr>
            <p:nvPr/>
          </p:nvSpPr>
          <p:spPr bwMode="auto">
            <a:xfrm>
              <a:off x="3563785" y="1706808"/>
              <a:ext cx="2317750" cy="2333625"/>
            </a:xfrm>
            <a:prstGeom prst="rect">
              <a:avLst/>
            </a:prstGeom>
            <a:solidFill>
              <a:schemeClr val="bg1">
                <a:lumMod val="85000"/>
              </a:schemeClr>
            </a:solidFill>
            <a:ln w="190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2" name="Oval 5"/>
            <p:cNvSpPr>
              <a:spLocks noChangeArrowheads="1"/>
            </p:cNvSpPr>
            <p:nvPr/>
          </p:nvSpPr>
          <p:spPr bwMode="auto">
            <a:xfrm>
              <a:off x="3689197" y="1759196"/>
              <a:ext cx="2095500" cy="604837"/>
            </a:xfrm>
            <a:prstGeom prst="ellipse">
              <a:avLst/>
            </a:prstGeom>
            <a:solidFill>
              <a:srgbClr val="FFFFFF"/>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3" name="Text Box 108"/>
            <p:cNvSpPr txBox="1">
              <a:spLocks noChangeArrowheads="1"/>
            </p:cNvSpPr>
            <p:nvPr/>
          </p:nvSpPr>
          <p:spPr bwMode="auto">
            <a:xfrm>
              <a:off x="3812415" y="1866181"/>
              <a:ext cx="1863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MS PGothic" panose="020B0600070205080204" pitchFamily="34" charset="-128"/>
                  <a:cs typeface="Arial" panose="020B0604020202020204"/>
                </a:rPr>
                <a:t>routing algorithm</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MS PGothic" panose="020B0600070205080204" pitchFamily="34" charset="-128"/>
                <a:cs typeface="Arial" panose="020B0604020202020204"/>
              </a:endParaRPr>
            </a:p>
          </p:txBody>
        </p:sp>
        <p:sp>
          <p:nvSpPr>
            <p:cNvPr id="544" name="Rectangle 109"/>
            <p:cNvSpPr>
              <a:spLocks noChangeArrowheads="1"/>
            </p:cNvSpPr>
            <p:nvPr/>
          </p:nvSpPr>
          <p:spPr bwMode="auto">
            <a:xfrm>
              <a:off x="3743172" y="2586219"/>
              <a:ext cx="2005013" cy="1357378"/>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6" name="Text Box 111"/>
            <p:cNvSpPr txBox="1">
              <a:spLocks noChangeArrowheads="1"/>
            </p:cNvSpPr>
            <p:nvPr/>
          </p:nvSpPr>
          <p:spPr bwMode="auto">
            <a:xfrm>
              <a:off x="3706660" y="2864096"/>
              <a:ext cx="121285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a:rPr>
                <a:t>分组头</a:t>
              </a:r>
              <a:r>
                <a:rPr kumimoji="0" lang="en-US" altLang="en-US" sz="1400" b="1"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值</a:t>
              </a:r>
              <a:endParaRPr kumimoji="0" lang="en-US" altLang="en-US" sz="1400" b="1"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7" name="Text Box 112"/>
            <p:cNvSpPr txBox="1">
              <a:spLocks noChangeArrowheads="1"/>
            </p:cNvSpPr>
            <p:nvPr/>
          </p:nvSpPr>
          <p:spPr bwMode="auto">
            <a:xfrm>
              <a:off x="4773460" y="2865683"/>
              <a:ext cx="104140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a:rPr>
                <a:t>输出链路</a:t>
              </a:r>
              <a:endParaRPr kumimoji="0" lang="zh-CN" altLang="en-US" sz="1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a:endParaRPr>
            </a:p>
          </p:txBody>
        </p:sp>
        <p:sp>
          <p:nvSpPr>
            <p:cNvPr id="548" name="Line 113"/>
            <p:cNvSpPr>
              <a:spLocks noChangeShapeType="1"/>
            </p:cNvSpPr>
            <p:nvPr/>
          </p:nvSpPr>
          <p:spPr bwMode="auto">
            <a:xfrm>
              <a:off x="4871885" y="2876796"/>
              <a:ext cx="7937" cy="1066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9" name="Text Box 114"/>
            <p:cNvSpPr txBox="1">
              <a:spLocks noChangeArrowheads="1"/>
            </p:cNvSpPr>
            <p:nvPr/>
          </p:nvSpPr>
          <p:spPr bwMode="auto">
            <a:xfrm>
              <a:off x="4362297" y="3148258"/>
              <a:ext cx="520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0100</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0101</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0111</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1001</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50" name="Text Box 115"/>
            <p:cNvSpPr txBox="1">
              <a:spLocks noChangeArrowheads="1"/>
            </p:cNvSpPr>
            <p:nvPr/>
          </p:nvSpPr>
          <p:spPr bwMode="auto">
            <a:xfrm>
              <a:off x="4887760" y="3148258"/>
              <a:ext cx="2682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3</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2</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2</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1</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51" name="Line 116"/>
            <p:cNvSpPr>
              <a:spLocks noChangeShapeType="1"/>
            </p:cNvSpPr>
            <p:nvPr/>
          </p:nvSpPr>
          <p:spPr bwMode="auto">
            <a:xfrm>
              <a:off x="3743172" y="3133971"/>
              <a:ext cx="2006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52" name="Line 117"/>
            <p:cNvSpPr>
              <a:spLocks noChangeShapeType="1"/>
            </p:cNvSpPr>
            <p:nvPr/>
          </p:nvSpPr>
          <p:spPr bwMode="auto">
            <a:xfrm>
              <a:off x="3735235" y="2886321"/>
              <a:ext cx="2006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53" name="AutoShape 118"/>
            <p:cNvSpPr>
              <a:spLocks noChangeArrowheads="1"/>
            </p:cNvSpPr>
            <p:nvPr/>
          </p:nvSpPr>
          <p:spPr bwMode="auto">
            <a:xfrm rot="5400000">
              <a:off x="4641697" y="2356096"/>
              <a:ext cx="241300" cy="273050"/>
            </a:xfrm>
            <a:prstGeom prst="rightArrow">
              <a:avLst>
                <a:gd name="adj1" fmla="val 51167"/>
                <a:gd name="adj2" fmla="val 39736"/>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sp>
        <p:nvSpPr>
          <p:cNvPr id="175" name="Text Box 110"/>
          <p:cNvSpPr txBox="1">
            <a:spLocks noChangeArrowheads="1"/>
          </p:cNvSpPr>
          <p:nvPr/>
        </p:nvSpPr>
        <p:spPr bwMode="auto">
          <a:xfrm>
            <a:off x="6365541" y="2498661"/>
            <a:ext cx="1945005" cy="39878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2000" i="0" u="none" strike="noStrike" kern="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Calibri" panose="020F0502020204030204" pitchFamily="34" charset="0"/>
              </a:rPr>
              <a:t>路由表</a:t>
            </a:r>
            <a:endParaRPr kumimoji="0" lang="en-US" altLang="en-US" sz="200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anose="020F0502020204030204" pitchFamily="34" charset="0"/>
            </a:endParaRPr>
          </a:p>
        </p:txBody>
      </p:sp>
      <p:grpSp>
        <p:nvGrpSpPr>
          <p:cNvPr id="193" name="Group 192"/>
          <p:cNvGrpSpPr/>
          <p:nvPr/>
        </p:nvGrpSpPr>
        <p:grpSpPr>
          <a:xfrm>
            <a:off x="6295509" y="1697978"/>
            <a:ext cx="2095500" cy="604837"/>
            <a:chOff x="3713849" y="1785090"/>
            <a:chExt cx="2095500" cy="604837"/>
          </a:xfrm>
        </p:grpSpPr>
        <p:sp>
          <p:nvSpPr>
            <p:cNvPr id="194" name="Oval 5"/>
            <p:cNvSpPr>
              <a:spLocks noChangeArrowheads="1"/>
            </p:cNvSpPr>
            <p:nvPr/>
          </p:nvSpPr>
          <p:spPr bwMode="auto">
            <a:xfrm>
              <a:off x="3713849" y="1785090"/>
              <a:ext cx="2095500" cy="604837"/>
            </a:xfrm>
            <a:prstGeom prst="ellipse">
              <a:avLst/>
            </a:prstGeom>
            <a:solidFill>
              <a:srgbClr val="C00000"/>
            </a:solidFill>
            <a:ln w="9525">
              <a:no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C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95" name="Text Box 108"/>
            <p:cNvSpPr txBox="1">
              <a:spLocks noChangeArrowheads="1"/>
            </p:cNvSpPr>
            <p:nvPr/>
          </p:nvSpPr>
          <p:spPr bwMode="auto">
            <a:xfrm>
              <a:off x="3853660" y="1906589"/>
              <a:ext cx="18637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a:rPr>
                <a:t>路由算法</a:t>
              </a:r>
              <a:endParaRPr kumimoji="0" lang="en-US"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a:endParaRPr>
            </a:p>
          </p:txBody>
        </p:sp>
      </p:grpSp>
      <p:sp>
        <p:nvSpPr>
          <p:cNvPr id="30" name="Freeform 2"/>
          <p:cNvSpPr/>
          <p:nvPr/>
        </p:nvSpPr>
        <p:spPr bwMode="auto">
          <a:xfrm>
            <a:off x="8025749" y="4253511"/>
            <a:ext cx="2848871" cy="1480906"/>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31" name="Group 775"/>
          <p:cNvGrpSpPr/>
          <p:nvPr/>
        </p:nvGrpSpPr>
        <p:grpSpPr>
          <a:xfrm>
            <a:off x="9561102" y="5308197"/>
            <a:ext cx="578032" cy="285706"/>
            <a:chOff x="7493876" y="2774731"/>
            <a:chExt cx="1481958" cy="894622"/>
          </a:xfrm>
        </p:grpSpPr>
        <p:sp>
          <p:nvSpPr>
            <p:cNvPr id="32" name="Freeform 776"/>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Oval 777"/>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4" name="Group 778"/>
            <p:cNvGrpSpPr/>
            <p:nvPr/>
          </p:nvGrpSpPr>
          <p:grpSpPr>
            <a:xfrm>
              <a:off x="7713663" y="2848339"/>
              <a:ext cx="1042107" cy="425543"/>
              <a:chOff x="7786941" y="2884917"/>
              <a:chExt cx="897649" cy="353919"/>
            </a:xfrm>
          </p:grpSpPr>
          <p:sp>
            <p:nvSpPr>
              <p:cNvPr id="35" name="Freeform 779"/>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Freeform 780"/>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Freeform 781"/>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Freeform 782"/>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9" name="Group 783"/>
          <p:cNvGrpSpPr/>
          <p:nvPr/>
        </p:nvGrpSpPr>
        <p:grpSpPr>
          <a:xfrm>
            <a:off x="8404628" y="5259528"/>
            <a:ext cx="578032" cy="285706"/>
            <a:chOff x="7493876" y="2774731"/>
            <a:chExt cx="1481958" cy="894622"/>
          </a:xfrm>
        </p:grpSpPr>
        <p:sp>
          <p:nvSpPr>
            <p:cNvPr id="40" name="Freeform 784"/>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 name="Oval 785"/>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42" name="Group 786"/>
            <p:cNvGrpSpPr/>
            <p:nvPr/>
          </p:nvGrpSpPr>
          <p:grpSpPr>
            <a:xfrm>
              <a:off x="7713663" y="2848339"/>
              <a:ext cx="1042107" cy="425543"/>
              <a:chOff x="7786941" y="2884917"/>
              <a:chExt cx="897649" cy="353919"/>
            </a:xfrm>
          </p:grpSpPr>
          <p:sp>
            <p:nvSpPr>
              <p:cNvPr id="43" name="Freeform 787"/>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Freeform 788"/>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Freeform 789"/>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790"/>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7" name="Group 791"/>
          <p:cNvGrpSpPr/>
          <p:nvPr/>
        </p:nvGrpSpPr>
        <p:grpSpPr>
          <a:xfrm>
            <a:off x="9020923" y="4344129"/>
            <a:ext cx="578032" cy="285706"/>
            <a:chOff x="7493876" y="2774731"/>
            <a:chExt cx="1481958" cy="894622"/>
          </a:xfrm>
        </p:grpSpPr>
        <p:sp>
          <p:nvSpPr>
            <p:cNvPr id="48" name="Freeform 792"/>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Oval 793"/>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0" name="Group 794"/>
            <p:cNvGrpSpPr/>
            <p:nvPr/>
          </p:nvGrpSpPr>
          <p:grpSpPr>
            <a:xfrm>
              <a:off x="7713663" y="2848339"/>
              <a:ext cx="1042107" cy="425543"/>
              <a:chOff x="7786941" y="2884917"/>
              <a:chExt cx="897649" cy="353919"/>
            </a:xfrm>
          </p:grpSpPr>
          <p:sp>
            <p:nvSpPr>
              <p:cNvPr id="51" name="Freeform 795"/>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 name="Freeform 796"/>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 name="Freeform 797"/>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Freeform 798"/>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7" name="Group 767"/>
          <p:cNvGrpSpPr/>
          <p:nvPr/>
        </p:nvGrpSpPr>
        <p:grpSpPr>
          <a:xfrm>
            <a:off x="9929230" y="4632847"/>
            <a:ext cx="578032" cy="285706"/>
            <a:chOff x="7493876" y="2774731"/>
            <a:chExt cx="1481958" cy="894622"/>
          </a:xfrm>
        </p:grpSpPr>
        <p:sp>
          <p:nvSpPr>
            <p:cNvPr id="58" name="Freeform 76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 name="Oval 76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60" name="Group 770"/>
            <p:cNvGrpSpPr/>
            <p:nvPr/>
          </p:nvGrpSpPr>
          <p:grpSpPr>
            <a:xfrm>
              <a:off x="7713663" y="2848339"/>
              <a:ext cx="1042107" cy="425543"/>
              <a:chOff x="7786941" y="2884917"/>
              <a:chExt cx="897649" cy="353919"/>
            </a:xfrm>
          </p:grpSpPr>
          <p:sp>
            <p:nvSpPr>
              <p:cNvPr id="61" name="Freeform 77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 name="Freeform 77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 name="Freeform 77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 name="Freeform 77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73" name="Group 807"/>
          <p:cNvGrpSpPr/>
          <p:nvPr/>
        </p:nvGrpSpPr>
        <p:grpSpPr>
          <a:xfrm>
            <a:off x="7974110" y="4630675"/>
            <a:ext cx="578032" cy="285706"/>
            <a:chOff x="7493876" y="2774731"/>
            <a:chExt cx="1481958" cy="894622"/>
          </a:xfrm>
        </p:grpSpPr>
        <p:sp>
          <p:nvSpPr>
            <p:cNvPr id="74" name="Freeform 80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 name="Oval 80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6" name="Group 810"/>
            <p:cNvGrpSpPr/>
            <p:nvPr/>
          </p:nvGrpSpPr>
          <p:grpSpPr>
            <a:xfrm>
              <a:off x="7713663" y="2848339"/>
              <a:ext cx="1042107" cy="425543"/>
              <a:chOff x="7786941" y="2884917"/>
              <a:chExt cx="897649" cy="353919"/>
            </a:xfrm>
          </p:grpSpPr>
          <p:sp>
            <p:nvSpPr>
              <p:cNvPr id="77" name="Freeform 81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Freeform 81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81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81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556" name="Freeform 6"/>
          <p:cNvSpPr/>
          <p:nvPr/>
        </p:nvSpPr>
        <p:spPr bwMode="auto">
          <a:xfrm>
            <a:off x="8547284" y="4470951"/>
            <a:ext cx="543096" cy="295229"/>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63" name="Freeform 91"/>
          <p:cNvSpPr/>
          <p:nvPr/>
        </p:nvSpPr>
        <p:spPr bwMode="auto">
          <a:xfrm>
            <a:off x="9646557" y="4448553"/>
            <a:ext cx="509270" cy="17208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66" name="Freeform 94"/>
          <p:cNvSpPr/>
          <p:nvPr/>
        </p:nvSpPr>
        <p:spPr bwMode="auto">
          <a:xfrm>
            <a:off x="10071150" y="4858871"/>
            <a:ext cx="206440" cy="50792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67" name="Freeform 95"/>
          <p:cNvSpPr/>
          <p:nvPr/>
        </p:nvSpPr>
        <p:spPr bwMode="auto">
          <a:xfrm>
            <a:off x="8955066" y="5397902"/>
            <a:ext cx="736832" cy="7460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81" name="Group 11"/>
          <p:cNvGrpSpPr/>
          <p:nvPr/>
        </p:nvGrpSpPr>
        <p:grpSpPr>
          <a:xfrm>
            <a:off x="8234506" y="4470616"/>
            <a:ext cx="623918" cy="823754"/>
            <a:chOff x="5240209" y="4473413"/>
            <a:chExt cx="623918" cy="823754"/>
          </a:xfrm>
        </p:grpSpPr>
        <p:sp>
          <p:nvSpPr>
            <p:cNvPr id="569" name="Text Box 100"/>
            <p:cNvSpPr txBox="1">
              <a:spLocks noChangeArrowheads="1"/>
            </p:cNvSpPr>
            <p:nvPr/>
          </p:nvSpPr>
          <p:spPr bwMode="auto">
            <a:xfrm>
              <a:off x="5552962" y="4473413"/>
              <a:ext cx="311165" cy="366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1</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70" name="Text Box 101"/>
            <p:cNvSpPr txBox="1">
              <a:spLocks noChangeArrowheads="1"/>
            </p:cNvSpPr>
            <p:nvPr/>
          </p:nvSpPr>
          <p:spPr bwMode="auto">
            <a:xfrm>
              <a:off x="5491046" y="4887671"/>
              <a:ext cx="296876" cy="33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2</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71" name="Text Box 102"/>
            <p:cNvSpPr txBox="1">
              <a:spLocks noChangeArrowheads="1"/>
            </p:cNvSpPr>
            <p:nvPr/>
          </p:nvSpPr>
          <p:spPr bwMode="auto">
            <a:xfrm>
              <a:off x="5240209" y="4960682"/>
              <a:ext cx="296876" cy="33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3</a:t>
              </a: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cxnSp>
        <p:nvCxnSpPr>
          <p:cNvPr id="82" name="直接连接符 81"/>
          <p:cNvCxnSpPr>
            <a:endCxn id="571" idx="2"/>
          </p:cNvCxnSpPr>
          <p:nvPr/>
        </p:nvCxnSpPr>
        <p:spPr>
          <a:xfrm>
            <a:off x="8186057" y="4954648"/>
            <a:ext cx="196850" cy="339725"/>
          </a:xfrm>
          <a:prstGeom prst="line">
            <a:avLst/>
          </a:prstGeom>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8440692" y="4887973"/>
            <a:ext cx="480060" cy="213360"/>
          </a:xfrm>
          <a:prstGeom prst="line">
            <a:avLst/>
          </a:prstGeom>
        </p:spPr>
        <p:style>
          <a:lnRef idx="1">
            <a:schemeClr val="dk1"/>
          </a:lnRef>
          <a:fillRef idx="0">
            <a:schemeClr val="dk1"/>
          </a:fillRef>
          <a:effectRef idx="0">
            <a:schemeClr val="dk1"/>
          </a:effectRef>
          <a:fontRef idx="minor">
            <a:schemeClr val="tx1"/>
          </a:fontRef>
        </p:style>
      </p:cxnSp>
      <p:sp>
        <p:nvSpPr>
          <p:cNvPr id="55" name="Freeform 120"/>
          <p:cNvSpPr/>
          <p:nvPr/>
        </p:nvSpPr>
        <p:spPr bwMode="auto">
          <a:xfrm>
            <a:off x="7609006" y="4730089"/>
            <a:ext cx="1041867" cy="336451"/>
          </a:xfrm>
          <a:custGeom>
            <a:avLst/>
            <a:gdLst>
              <a:gd name="T0" fmla="*/ 0 w 10844"/>
              <a:gd name="T1" fmla="*/ 2147483647 h 14797"/>
              <a:gd name="T2" fmla="*/ 2147483647 w 10844"/>
              <a:gd name="T3" fmla="*/ 2147483647 h 14797"/>
              <a:gd name="T4" fmla="*/ 2147483647 w 10844"/>
              <a:gd name="T5" fmla="*/ 2147483647 h 14797"/>
              <a:gd name="T6" fmla="*/ 0 60000 65536"/>
              <a:gd name="T7" fmla="*/ 0 60000 65536"/>
              <a:gd name="T8" fmla="*/ 0 60000 65536"/>
              <a:gd name="T9" fmla="*/ 0 w 10844"/>
              <a:gd name="T10" fmla="*/ 0 h 14797"/>
              <a:gd name="T11" fmla="*/ 10844 w 10844"/>
              <a:gd name="T12" fmla="*/ 14797 h 14797"/>
            </a:gdLst>
            <a:ahLst/>
            <a:cxnLst>
              <a:cxn ang="T6">
                <a:pos x="T0" y="T1"/>
              </a:cxn>
              <a:cxn ang="T7">
                <a:pos x="T2" y="T3"/>
              </a:cxn>
              <a:cxn ang="T8">
                <a:pos x="T4" y="T5"/>
              </a:cxn>
            </a:cxnLst>
            <a:rect l="T9" t="T10" r="T11" b="T12"/>
            <a:pathLst>
              <a:path w="10844" h="14797">
                <a:moveTo>
                  <a:pt x="0" y="14797"/>
                </a:moveTo>
                <a:cubicBezTo>
                  <a:pt x="2168" y="9517"/>
                  <a:pt x="5654" y="-1331"/>
                  <a:pt x="7042" y="135"/>
                </a:cubicBezTo>
                <a:cubicBezTo>
                  <a:pt x="8563" y="1950"/>
                  <a:pt x="9984" y="6698"/>
                  <a:pt x="10844" y="9978"/>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65" name="Group 799"/>
          <p:cNvGrpSpPr/>
          <p:nvPr/>
        </p:nvGrpSpPr>
        <p:grpSpPr>
          <a:xfrm>
            <a:off x="8920789" y="4920378"/>
            <a:ext cx="578032" cy="285706"/>
            <a:chOff x="7493876" y="2774731"/>
            <a:chExt cx="1481958" cy="894622"/>
          </a:xfrm>
        </p:grpSpPr>
        <p:sp>
          <p:nvSpPr>
            <p:cNvPr id="66" name="Freeform 800"/>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 name="Oval 801"/>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68" name="Group 802"/>
            <p:cNvGrpSpPr/>
            <p:nvPr/>
          </p:nvGrpSpPr>
          <p:grpSpPr>
            <a:xfrm>
              <a:off x="7713663" y="2848339"/>
              <a:ext cx="1042107" cy="425543"/>
              <a:chOff x="7786941" y="2884917"/>
              <a:chExt cx="897649" cy="353919"/>
            </a:xfrm>
          </p:grpSpPr>
          <p:sp>
            <p:nvSpPr>
              <p:cNvPr id="69" name="Freeform 803"/>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0" name="Freeform 804"/>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1" name="Freeform 805"/>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806"/>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56" name="Freeform 195"/>
          <p:cNvSpPr/>
          <p:nvPr/>
        </p:nvSpPr>
        <p:spPr>
          <a:xfrm>
            <a:off x="8562777" y="4701920"/>
            <a:ext cx="2423480" cy="399173"/>
          </a:xfrm>
          <a:custGeom>
            <a:avLst/>
            <a:gdLst>
              <a:gd name="connsiteX0" fmla="*/ 0 w 2417086"/>
              <a:gd name="connsiteY0" fmla="*/ 136686 h 393747"/>
              <a:gd name="connsiteX1" fmla="*/ 613863 w 2417086"/>
              <a:gd name="connsiteY1" fmla="*/ 392462 h 393747"/>
              <a:gd name="connsiteX2" fmla="*/ 1579419 w 2417086"/>
              <a:gd name="connsiteY2" fmla="*/ 40770 h 393747"/>
              <a:gd name="connsiteX3" fmla="*/ 2417086 w 2417086"/>
              <a:gd name="connsiteY3" fmla="*/ 21586 h 393747"/>
              <a:gd name="connsiteX0-1" fmla="*/ 0 w 2423480"/>
              <a:gd name="connsiteY0-2" fmla="*/ 153322 h 410383"/>
              <a:gd name="connsiteX1-3" fmla="*/ 613863 w 2423480"/>
              <a:gd name="connsiteY1-4" fmla="*/ 409098 h 410383"/>
              <a:gd name="connsiteX2-5" fmla="*/ 1579419 w 2423480"/>
              <a:gd name="connsiteY2-6" fmla="*/ 57406 h 410383"/>
              <a:gd name="connsiteX3-7" fmla="*/ 2423480 w 2423480"/>
              <a:gd name="connsiteY3-8" fmla="*/ 12644 h 410383"/>
              <a:gd name="connsiteX0-9" fmla="*/ 0 w 2423480"/>
              <a:gd name="connsiteY0-10" fmla="*/ 142112 h 399173"/>
              <a:gd name="connsiteX1-11" fmla="*/ 613863 w 2423480"/>
              <a:gd name="connsiteY1-12" fmla="*/ 397888 h 399173"/>
              <a:gd name="connsiteX2-13" fmla="*/ 1579419 w 2423480"/>
              <a:gd name="connsiteY2-14" fmla="*/ 46196 h 399173"/>
              <a:gd name="connsiteX3-15" fmla="*/ 2423480 w 2423480"/>
              <a:gd name="connsiteY3-16" fmla="*/ 1434 h 399173"/>
            </a:gdLst>
            <a:ahLst/>
            <a:cxnLst>
              <a:cxn ang="0">
                <a:pos x="connsiteX0-1" y="connsiteY0-2"/>
              </a:cxn>
              <a:cxn ang="0">
                <a:pos x="connsiteX1-3" y="connsiteY1-4"/>
              </a:cxn>
              <a:cxn ang="0">
                <a:pos x="connsiteX2-5" y="connsiteY2-6"/>
              </a:cxn>
              <a:cxn ang="0">
                <a:pos x="connsiteX3-7" y="connsiteY3-8"/>
              </a:cxn>
            </a:cxnLst>
            <a:rect l="l" t="t" r="r" b="b"/>
            <a:pathLst>
              <a:path w="2423480" h="399173">
                <a:moveTo>
                  <a:pt x="0" y="142112"/>
                </a:moveTo>
                <a:cubicBezTo>
                  <a:pt x="175313" y="277993"/>
                  <a:pt x="350627" y="413874"/>
                  <a:pt x="613863" y="397888"/>
                </a:cubicBezTo>
                <a:cubicBezTo>
                  <a:pt x="877099" y="381902"/>
                  <a:pt x="1277816" y="112272"/>
                  <a:pt x="1579419" y="46196"/>
                </a:cubicBezTo>
                <a:cubicBezTo>
                  <a:pt x="1881022" y="-19880"/>
                  <a:pt x="2065394" y="5697"/>
                  <a:pt x="2423480" y="1434"/>
                </a:cubicBezTo>
              </a:path>
            </a:pathLst>
          </a:custGeom>
          <a:noFill/>
          <a:ln w="4445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Rectangle 98"/>
          <p:cNvSpPr>
            <a:spLocks noChangeArrowheads="1"/>
          </p:cNvSpPr>
          <p:nvPr/>
        </p:nvSpPr>
        <p:spPr bwMode="auto">
          <a:xfrm rot="19587632">
            <a:off x="6397382" y="4937165"/>
            <a:ext cx="1147816" cy="238079"/>
          </a:xfrm>
          <a:prstGeom prst="rect">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89" name="Text Box 105"/>
          <p:cNvSpPr txBox="1">
            <a:spLocks noChangeArrowheads="1"/>
          </p:cNvSpPr>
          <p:nvPr/>
        </p:nvSpPr>
        <p:spPr bwMode="auto">
          <a:xfrm rot="19697565">
            <a:off x="6854925" y="4772380"/>
            <a:ext cx="520725" cy="275590"/>
          </a:xfrm>
          <a:prstGeom prst="rect">
            <a:avLst/>
          </a:prstGeom>
          <a:gradFill>
            <a:gsLst>
              <a:gs pos="0">
                <a:srgbClr val="14CD68"/>
              </a:gs>
              <a:gs pos="100000">
                <a:srgbClr val="0B6E38"/>
              </a:gs>
            </a:gsLst>
            <a:lin ang="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0111</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40" name="Group 7"/>
          <p:cNvGrpSpPr/>
          <p:nvPr/>
        </p:nvGrpSpPr>
        <p:grpSpPr>
          <a:xfrm>
            <a:off x="9209813" y="3584953"/>
            <a:ext cx="578032" cy="815847"/>
            <a:chOff x="6355851" y="3632200"/>
            <a:chExt cx="578032" cy="815847"/>
          </a:xfrm>
        </p:grpSpPr>
        <p:sp>
          <p:nvSpPr>
            <p:cNvPr id="141" name="Freeform 122"/>
            <p:cNvSpPr/>
            <p:nvPr/>
          </p:nvSpPr>
          <p:spPr bwMode="auto">
            <a:xfrm flipH="1">
              <a:off x="6355851" y="4076630"/>
              <a:ext cx="578032" cy="371417"/>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42" name="Group 126"/>
            <p:cNvGrpSpPr/>
            <p:nvPr/>
          </p:nvGrpSpPr>
          <p:grpSpPr bwMode="auto">
            <a:xfrm>
              <a:off x="6363791" y="3632200"/>
              <a:ext cx="551036" cy="452367"/>
              <a:chOff x="2886" y="1668"/>
              <a:chExt cx="347" cy="285"/>
            </a:xfrm>
          </p:grpSpPr>
          <p:sp>
            <p:nvSpPr>
              <p:cNvPr id="143" name="Rectangle 127"/>
              <p:cNvSpPr>
                <a:spLocks noChangeArrowheads="1"/>
              </p:cNvSpPr>
              <p:nvPr/>
            </p:nvSpPr>
            <p:spPr bwMode="auto">
              <a:xfrm>
                <a:off x="2886" y="1668"/>
                <a:ext cx="347" cy="285"/>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4" name="Oval 128"/>
              <p:cNvSpPr>
                <a:spLocks noChangeArrowheads="1"/>
              </p:cNvSpPr>
              <p:nvPr/>
            </p:nvSpPr>
            <p:spPr bwMode="auto">
              <a:xfrm>
                <a:off x="2905" y="1674"/>
                <a:ext cx="314" cy="74"/>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5" name="Rectangle 129"/>
              <p:cNvSpPr>
                <a:spLocks noChangeArrowheads="1"/>
              </p:cNvSpPr>
              <p:nvPr/>
            </p:nvSpPr>
            <p:spPr bwMode="auto">
              <a:xfrm>
                <a:off x="2913" y="1785"/>
                <a:ext cx="300" cy="156"/>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6" name="Line 130"/>
              <p:cNvSpPr>
                <a:spLocks noChangeShapeType="1"/>
              </p:cNvSpPr>
              <p:nvPr/>
            </p:nvSpPr>
            <p:spPr bwMode="auto">
              <a:xfrm>
                <a:off x="3082" y="1811"/>
                <a:ext cx="1" cy="1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7" name="Line 131"/>
              <p:cNvSpPr>
                <a:spLocks noChangeShapeType="1"/>
              </p:cNvSpPr>
              <p:nvPr/>
            </p:nvSpPr>
            <p:spPr bwMode="auto">
              <a:xfrm>
                <a:off x="2913" y="184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8" name="Line 132"/>
              <p:cNvSpPr>
                <a:spLocks noChangeShapeType="1"/>
              </p:cNvSpPr>
              <p:nvPr/>
            </p:nvSpPr>
            <p:spPr bwMode="auto">
              <a:xfrm>
                <a:off x="2912" y="181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9" name="AutoShape 133"/>
              <p:cNvSpPr>
                <a:spLocks noChangeArrowheads="1"/>
              </p:cNvSpPr>
              <p:nvPr/>
            </p:nvSpPr>
            <p:spPr bwMode="auto">
              <a:xfrm rot="5400000">
                <a:off x="3051" y="1745"/>
                <a:ext cx="29" cy="41"/>
              </a:xfrm>
              <a:prstGeom prst="rightArrow">
                <a:avLst>
                  <a:gd name="adj1" fmla="val 51167"/>
                  <a:gd name="adj2" fmla="val 39736"/>
                </a:avLst>
              </a:prstGeom>
              <a:solidFill>
                <a:srgbClr val="C00000"/>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grpSp>
        <p:nvGrpSpPr>
          <p:cNvPr id="150" name="Group 8"/>
          <p:cNvGrpSpPr/>
          <p:nvPr/>
        </p:nvGrpSpPr>
        <p:grpSpPr>
          <a:xfrm>
            <a:off x="10156417" y="3768786"/>
            <a:ext cx="578032" cy="822878"/>
            <a:chOff x="7355160" y="3958273"/>
            <a:chExt cx="578032" cy="822878"/>
          </a:xfrm>
        </p:grpSpPr>
        <p:sp>
          <p:nvSpPr>
            <p:cNvPr id="151" name="Freeform 121"/>
            <p:cNvSpPr/>
            <p:nvPr/>
          </p:nvSpPr>
          <p:spPr bwMode="auto">
            <a:xfrm flipH="1">
              <a:off x="7355160" y="4409734"/>
              <a:ext cx="578032" cy="371417"/>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52" name="Group 134"/>
            <p:cNvGrpSpPr/>
            <p:nvPr/>
          </p:nvGrpSpPr>
          <p:grpSpPr bwMode="auto">
            <a:xfrm>
              <a:off x="7360606" y="3958273"/>
              <a:ext cx="551036" cy="452367"/>
              <a:chOff x="2886" y="1668"/>
              <a:chExt cx="347" cy="285"/>
            </a:xfrm>
          </p:grpSpPr>
          <p:sp>
            <p:nvSpPr>
              <p:cNvPr id="153" name="Rectangle 135"/>
              <p:cNvSpPr>
                <a:spLocks noChangeArrowheads="1"/>
              </p:cNvSpPr>
              <p:nvPr/>
            </p:nvSpPr>
            <p:spPr bwMode="auto">
              <a:xfrm>
                <a:off x="2886" y="1668"/>
                <a:ext cx="347" cy="285"/>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4" name="Oval 136"/>
              <p:cNvSpPr>
                <a:spLocks noChangeArrowheads="1"/>
              </p:cNvSpPr>
              <p:nvPr/>
            </p:nvSpPr>
            <p:spPr bwMode="auto">
              <a:xfrm>
                <a:off x="2905" y="1674"/>
                <a:ext cx="314" cy="74"/>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5" name="Rectangle 137"/>
              <p:cNvSpPr>
                <a:spLocks noChangeArrowheads="1"/>
              </p:cNvSpPr>
              <p:nvPr/>
            </p:nvSpPr>
            <p:spPr bwMode="auto">
              <a:xfrm>
                <a:off x="2913" y="1785"/>
                <a:ext cx="300" cy="156"/>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6" name="Line 138"/>
              <p:cNvSpPr>
                <a:spLocks noChangeShapeType="1"/>
              </p:cNvSpPr>
              <p:nvPr/>
            </p:nvSpPr>
            <p:spPr bwMode="auto">
              <a:xfrm>
                <a:off x="3082" y="1811"/>
                <a:ext cx="1" cy="1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7" name="Line 139"/>
              <p:cNvSpPr>
                <a:spLocks noChangeShapeType="1"/>
              </p:cNvSpPr>
              <p:nvPr/>
            </p:nvSpPr>
            <p:spPr bwMode="auto">
              <a:xfrm>
                <a:off x="2913" y="184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8" name="Line 140"/>
              <p:cNvSpPr>
                <a:spLocks noChangeShapeType="1"/>
              </p:cNvSpPr>
              <p:nvPr/>
            </p:nvSpPr>
            <p:spPr bwMode="auto">
              <a:xfrm>
                <a:off x="2912" y="181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9" name="AutoShape 141"/>
              <p:cNvSpPr>
                <a:spLocks noChangeArrowheads="1"/>
              </p:cNvSpPr>
              <p:nvPr/>
            </p:nvSpPr>
            <p:spPr bwMode="auto">
              <a:xfrm rot="5400000">
                <a:off x="3051" y="1745"/>
                <a:ext cx="29" cy="41"/>
              </a:xfrm>
              <a:prstGeom prst="rightArrow">
                <a:avLst>
                  <a:gd name="adj1" fmla="val 51167"/>
                  <a:gd name="adj2" fmla="val 39736"/>
                </a:avLst>
              </a:prstGeom>
              <a:solidFill>
                <a:srgbClr val="FF0000"/>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grpSp>
        <p:nvGrpSpPr>
          <p:cNvPr id="160" name="Group 3"/>
          <p:cNvGrpSpPr/>
          <p:nvPr/>
        </p:nvGrpSpPr>
        <p:grpSpPr>
          <a:xfrm>
            <a:off x="9841843" y="5569651"/>
            <a:ext cx="560563" cy="811086"/>
            <a:chOff x="7006931" y="5622613"/>
            <a:chExt cx="560563" cy="811086"/>
          </a:xfrm>
        </p:grpSpPr>
        <p:sp>
          <p:nvSpPr>
            <p:cNvPr id="161" name="Freeform 123"/>
            <p:cNvSpPr/>
            <p:nvPr/>
          </p:nvSpPr>
          <p:spPr bwMode="auto">
            <a:xfrm flipH="1" flipV="1">
              <a:off x="7024398" y="5622613"/>
              <a:ext cx="543096" cy="371417"/>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2" name="Rectangle 143"/>
            <p:cNvSpPr>
              <a:spLocks noChangeArrowheads="1"/>
            </p:cNvSpPr>
            <p:nvPr/>
          </p:nvSpPr>
          <p:spPr bwMode="auto">
            <a:xfrm>
              <a:off x="7006931" y="5981332"/>
              <a:ext cx="551036" cy="452367"/>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3" name="Oval 144"/>
            <p:cNvSpPr>
              <a:spLocks noChangeArrowheads="1"/>
            </p:cNvSpPr>
            <p:nvPr/>
          </p:nvSpPr>
          <p:spPr bwMode="auto">
            <a:xfrm>
              <a:off x="7037103" y="5990856"/>
              <a:ext cx="498632" cy="117457"/>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4" name="Rectangle 145"/>
            <p:cNvSpPr>
              <a:spLocks noChangeArrowheads="1"/>
            </p:cNvSpPr>
            <p:nvPr/>
          </p:nvSpPr>
          <p:spPr bwMode="auto">
            <a:xfrm>
              <a:off x="7049807" y="6167041"/>
              <a:ext cx="476400" cy="247611"/>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5" name="Line 146"/>
            <p:cNvSpPr>
              <a:spLocks noChangeShapeType="1"/>
            </p:cNvSpPr>
            <p:nvPr/>
          </p:nvSpPr>
          <p:spPr bwMode="auto">
            <a:xfrm>
              <a:off x="7318179" y="6208309"/>
              <a:ext cx="1588" cy="20634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6" name="Line 147"/>
            <p:cNvSpPr>
              <a:spLocks noChangeShapeType="1"/>
            </p:cNvSpPr>
            <p:nvPr/>
          </p:nvSpPr>
          <p:spPr bwMode="auto">
            <a:xfrm>
              <a:off x="7049807" y="6257514"/>
              <a:ext cx="476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7" name="Line 148"/>
            <p:cNvSpPr>
              <a:spLocks noChangeShapeType="1"/>
            </p:cNvSpPr>
            <p:nvPr/>
          </p:nvSpPr>
          <p:spPr bwMode="auto">
            <a:xfrm>
              <a:off x="7048219" y="6209896"/>
              <a:ext cx="476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8" name="AutoShape 149"/>
            <p:cNvSpPr>
              <a:spLocks noChangeArrowheads="1"/>
            </p:cNvSpPr>
            <p:nvPr/>
          </p:nvSpPr>
          <p:spPr bwMode="auto">
            <a:xfrm rot="5400000">
              <a:off x="7268962" y="6103535"/>
              <a:ext cx="46030" cy="65108"/>
            </a:xfrm>
            <a:prstGeom prst="rightArrow">
              <a:avLst>
                <a:gd name="adj1" fmla="val 51167"/>
                <a:gd name="adj2" fmla="val 39736"/>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nvGrpSpPr>
          <p:cNvPr id="169" name="Group 5"/>
          <p:cNvGrpSpPr/>
          <p:nvPr/>
        </p:nvGrpSpPr>
        <p:grpSpPr>
          <a:xfrm>
            <a:off x="9169159" y="5258944"/>
            <a:ext cx="553609" cy="931601"/>
            <a:chOff x="6311387" y="5299841"/>
            <a:chExt cx="553609" cy="931601"/>
          </a:xfrm>
        </p:grpSpPr>
        <p:sp>
          <p:nvSpPr>
            <p:cNvPr id="170" name="Freeform 125"/>
            <p:cNvSpPr/>
            <p:nvPr/>
          </p:nvSpPr>
          <p:spPr bwMode="auto">
            <a:xfrm flipH="1" flipV="1">
              <a:off x="6312396" y="5299841"/>
              <a:ext cx="552600" cy="477654"/>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 name="connsiteX0" fmla="*/ 0 w 10117"/>
                <a:gd name="connsiteY0" fmla="*/ 0 h 10550"/>
                <a:gd name="connsiteX1" fmla="*/ 7574 w 10117"/>
                <a:gd name="connsiteY1" fmla="*/ 10355 h 10550"/>
                <a:gd name="connsiteX2" fmla="*/ 9265 w 10117"/>
                <a:gd name="connsiteY2" fmla="*/ 10429 h 10550"/>
                <a:gd name="connsiteX3" fmla="*/ 10117 w 10117"/>
                <a:gd name="connsiteY3" fmla="*/ 833 h 10550"/>
                <a:gd name="connsiteX4" fmla="*/ 0 w 10117"/>
                <a:gd name="connsiteY4" fmla="*/ 0 h 10550"/>
                <a:gd name="connsiteX0-1" fmla="*/ 0 w 10175"/>
                <a:gd name="connsiteY0-2" fmla="*/ 9 h 10559"/>
                <a:gd name="connsiteX1-3" fmla="*/ 7574 w 10175"/>
                <a:gd name="connsiteY1-4" fmla="*/ 10364 h 10559"/>
                <a:gd name="connsiteX2-5" fmla="*/ 9265 w 10175"/>
                <a:gd name="connsiteY2-6" fmla="*/ 10438 h 10559"/>
                <a:gd name="connsiteX3-7" fmla="*/ 10175 w 10175"/>
                <a:gd name="connsiteY3-8" fmla="*/ 0 h 10559"/>
                <a:gd name="connsiteX4-9" fmla="*/ 0 w 10175"/>
                <a:gd name="connsiteY4-10" fmla="*/ 9 h 105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175" h="10559">
                  <a:moveTo>
                    <a:pt x="0" y="9"/>
                  </a:moveTo>
                  <a:cubicBezTo>
                    <a:pt x="3957" y="3502"/>
                    <a:pt x="6049" y="5781"/>
                    <a:pt x="7574" y="10364"/>
                  </a:cubicBezTo>
                  <a:cubicBezTo>
                    <a:pt x="8329" y="10279"/>
                    <a:pt x="8572" y="10781"/>
                    <a:pt x="9265" y="10438"/>
                  </a:cubicBezTo>
                  <a:cubicBezTo>
                    <a:pt x="8877" y="5033"/>
                    <a:pt x="9018" y="4253"/>
                    <a:pt x="10175" y="0"/>
                  </a:cubicBezTo>
                  <a:lnTo>
                    <a:pt x="0" y="9"/>
                  </a:ln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71" name="Group 150"/>
            <p:cNvGrpSpPr/>
            <p:nvPr/>
          </p:nvGrpSpPr>
          <p:grpSpPr bwMode="auto">
            <a:xfrm>
              <a:off x="6311387" y="5779075"/>
              <a:ext cx="551036" cy="452367"/>
              <a:chOff x="2886" y="1668"/>
              <a:chExt cx="347" cy="285"/>
            </a:xfrm>
          </p:grpSpPr>
          <p:sp>
            <p:nvSpPr>
              <p:cNvPr id="172" name="Rectangle 151"/>
              <p:cNvSpPr>
                <a:spLocks noChangeArrowheads="1"/>
              </p:cNvSpPr>
              <p:nvPr/>
            </p:nvSpPr>
            <p:spPr bwMode="auto">
              <a:xfrm>
                <a:off x="2886" y="1668"/>
                <a:ext cx="347" cy="285"/>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76" name="Oval 152"/>
              <p:cNvSpPr>
                <a:spLocks noChangeArrowheads="1"/>
              </p:cNvSpPr>
              <p:nvPr/>
            </p:nvSpPr>
            <p:spPr bwMode="auto">
              <a:xfrm>
                <a:off x="2905" y="1674"/>
                <a:ext cx="314" cy="74"/>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77" name="Rectangle 153"/>
              <p:cNvSpPr>
                <a:spLocks noChangeArrowheads="1"/>
              </p:cNvSpPr>
              <p:nvPr/>
            </p:nvSpPr>
            <p:spPr bwMode="auto">
              <a:xfrm>
                <a:off x="2913" y="1785"/>
                <a:ext cx="300" cy="156"/>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78" name="Line 154"/>
              <p:cNvSpPr>
                <a:spLocks noChangeShapeType="1"/>
              </p:cNvSpPr>
              <p:nvPr/>
            </p:nvSpPr>
            <p:spPr bwMode="auto">
              <a:xfrm>
                <a:off x="3082" y="1811"/>
                <a:ext cx="1" cy="1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79" name="Line 155"/>
              <p:cNvSpPr>
                <a:spLocks noChangeShapeType="1"/>
              </p:cNvSpPr>
              <p:nvPr/>
            </p:nvSpPr>
            <p:spPr bwMode="auto">
              <a:xfrm>
                <a:off x="2913" y="184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0" name="Line 156"/>
              <p:cNvSpPr>
                <a:spLocks noChangeShapeType="1"/>
              </p:cNvSpPr>
              <p:nvPr/>
            </p:nvSpPr>
            <p:spPr bwMode="auto">
              <a:xfrm>
                <a:off x="2912" y="181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1" name="AutoShape 157"/>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grpSp>
        <p:nvGrpSpPr>
          <p:cNvPr id="182" name="Group 6"/>
          <p:cNvGrpSpPr/>
          <p:nvPr/>
        </p:nvGrpSpPr>
        <p:grpSpPr>
          <a:xfrm>
            <a:off x="8513315" y="5565844"/>
            <a:ext cx="562152" cy="799974"/>
            <a:chOff x="5655543" y="5606741"/>
            <a:chExt cx="562152" cy="799974"/>
          </a:xfrm>
        </p:grpSpPr>
        <p:sp>
          <p:nvSpPr>
            <p:cNvPr id="183" name="Freeform 124"/>
            <p:cNvSpPr/>
            <p:nvPr/>
          </p:nvSpPr>
          <p:spPr bwMode="auto">
            <a:xfrm flipH="1" flipV="1">
              <a:off x="5674599" y="5606741"/>
              <a:ext cx="543096" cy="371417"/>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84" name="Group 158"/>
            <p:cNvGrpSpPr/>
            <p:nvPr/>
          </p:nvGrpSpPr>
          <p:grpSpPr bwMode="auto">
            <a:xfrm>
              <a:off x="5655543" y="5954348"/>
              <a:ext cx="551036" cy="452367"/>
              <a:chOff x="2886" y="1668"/>
              <a:chExt cx="347" cy="285"/>
            </a:xfrm>
          </p:grpSpPr>
          <p:sp>
            <p:nvSpPr>
              <p:cNvPr id="185" name="Rectangle 159"/>
              <p:cNvSpPr>
                <a:spLocks noChangeArrowheads="1"/>
              </p:cNvSpPr>
              <p:nvPr/>
            </p:nvSpPr>
            <p:spPr bwMode="auto">
              <a:xfrm>
                <a:off x="2886" y="1668"/>
                <a:ext cx="347" cy="285"/>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6" name="Oval 160"/>
              <p:cNvSpPr>
                <a:spLocks noChangeArrowheads="1"/>
              </p:cNvSpPr>
              <p:nvPr/>
            </p:nvSpPr>
            <p:spPr bwMode="auto">
              <a:xfrm>
                <a:off x="2905" y="1674"/>
                <a:ext cx="314" cy="74"/>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7" name="Rectangle 161"/>
              <p:cNvSpPr>
                <a:spLocks noChangeArrowheads="1"/>
              </p:cNvSpPr>
              <p:nvPr/>
            </p:nvSpPr>
            <p:spPr bwMode="auto">
              <a:xfrm>
                <a:off x="2913" y="1785"/>
                <a:ext cx="300" cy="156"/>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8" name="Line 162"/>
              <p:cNvSpPr>
                <a:spLocks noChangeShapeType="1"/>
              </p:cNvSpPr>
              <p:nvPr/>
            </p:nvSpPr>
            <p:spPr bwMode="auto">
              <a:xfrm>
                <a:off x="3082" y="1811"/>
                <a:ext cx="1" cy="1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9" name="Line 163"/>
              <p:cNvSpPr>
                <a:spLocks noChangeShapeType="1"/>
              </p:cNvSpPr>
              <p:nvPr/>
            </p:nvSpPr>
            <p:spPr bwMode="auto">
              <a:xfrm>
                <a:off x="2913" y="184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90" name="Line 164"/>
              <p:cNvSpPr>
                <a:spLocks noChangeShapeType="1"/>
              </p:cNvSpPr>
              <p:nvPr/>
            </p:nvSpPr>
            <p:spPr bwMode="auto">
              <a:xfrm>
                <a:off x="2912" y="181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91" name="AutoShape 165"/>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grpSp>
        <p:nvGrpSpPr>
          <p:cNvPr id="197" name="Group 196"/>
          <p:cNvGrpSpPr/>
          <p:nvPr/>
        </p:nvGrpSpPr>
        <p:grpSpPr>
          <a:xfrm>
            <a:off x="8406650" y="1936434"/>
            <a:ext cx="2852523" cy="3990339"/>
            <a:chOff x="5600948" y="2059246"/>
            <a:chExt cx="2852523" cy="3990339"/>
          </a:xfrm>
        </p:grpSpPr>
        <p:cxnSp>
          <p:nvCxnSpPr>
            <p:cNvPr id="198" name="Straight Connector 421894"/>
            <p:cNvCxnSpPr>
              <a:cxnSpLocks noChangeShapeType="1"/>
            </p:cNvCxnSpPr>
            <p:nvPr/>
          </p:nvCxnSpPr>
          <p:spPr bwMode="auto">
            <a:xfrm flipH="1">
              <a:off x="5600948" y="2062812"/>
              <a:ext cx="2852523" cy="0"/>
            </a:xfrm>
            <a:prstGeom prst="line">
              <a:avLst/>
            </a:prstGeom>
            <a:noFill/>
            <a:ln w="19050">
              <a:solidFill>
                <a:srgbClr val="C00000"/>
              </a:solidFill>
              <a:round/>
            </a:ln>
            <a:extLst>
              <a:ext uri="{909E8E84-426E-40DD-AFC4-6F175D3DCCD1}">
                <a14:hiddenFill xmlns:a14="http://schemas.microsoft.com/office/drawing/2010/main">
                  <a:noFill/>
                </a14:hiddenFill>
              </a:ext>
            </a:extLst>
          </p:spPr>
        </p:cxnSp>
        <p:cxnSp>
          <p:nvCxnSpPr>
            <p:cNvPr id="201" name="Straight Connector 421894"/>
            <p:cNvCxnSpPr>
              <a:cxnSpLocks noChangeShapeType="1"/>
            </p:cNvCxnSpPr>
            <p:nvPr/>
          </p:nvCxnSpPr>
          <p:spPr bwMode="auto">
            <a:xfrm flipH="1">
              <a:off x="6643279" y="2072337"/>
              <a:ext cx="1781930" cy="1569387"/>
            </a:xfrm>
            <a:prstGeom prst="line">
              <a:avLst/>
            </a:prstGeom>
            <a:noFill/>
            <a:ln w="19050">
              <a:solidFill>
                <a:srgbClr val="C00000"/>
              </a:solidFill>
              <a:round/>
            </a:ln>
            <a:extLst>
              <a:ext uri="{909E8E84-426E-40DD-AFC4-6F175D3DCCD1}">
                <a14:hiddenFill xmlns:a14="http://schemas.microsoft.com/office/drawing/2010/main">
                  <a:noFill/>
                </a14:hiddenFill>
              </a:ext>
            </a:extLst>
          </p:spPr>
        </p:cxnSp>
        <p:cxnSp>
          <p:nvCxnSpPr>
            <p:cNvPr id="203" name="Straight Connector 421894"/>
            <p:cNvCxnSpPr>
              <a:cxnSpLocks noChangeShapeType="1"/>
            </p:cNvCxnSpPr>
            <p:nvPr/>
          </p:nvCxnSpPr>
          <p:spPr bwMode="auto">
            <a:xfrm flipH="1">
              <a:off x="7640094" y="2059246"/>
              <a:ext cx="802722" cy="1908551"/>
            </a:xfrm>
            <a:prstGeom prst="line">
              <a:avLst/>
            </a:prstGeom>
            <a:noFill/>
            <a:ln w="19050">
              <a:solidFill>
                <a:srgbClr val="C00000"/>
              </a:solidFill>
              <a:round/>
            </a:ln>
            <a:extLst>
              <a:ext uri="{909E8E84-426E-40DD-AFC4-6F175D3DCCD1}">
                <a14:hiddenFill xmlns:a14="http://schemas.microsoft.com/office/drawing/2010/main">
                  <a:noFill/>
                </a14:hiddenFill>
              </a:ext>
            </a:extLst>
          </p:spPr>
        </p:cxnSp>
        <p:grpSp>
          <p:nvGrpSpPr>
            <p:cNvPr id="204" name="Group 200"/>
            <p:cNvGrpSpPr/>
            <p:nvPr/>
          </p:nvGrpSpPr>
          <p:grpSpPr>
            <a:xfrm>
              <a:off x="6178773" y="2060294"/>
              <a:ext cx="2270746" cy="3989291"/>
              <a:chOff x="6178773" y="2060294"/>
              <a:chExt cx="2270746" cy="3989291"/>
            </a:xfrm>
          </p:grpSpPr>
          <p:sp>
            <p:nvSpPr>
              <p:cNvPr id="211" name="Freeform 201"/>
              <p:cNvSpPr/>
              <p:nvPr/>
            </p:nvSpPr>
            <p:spPr>
              <a:xfrm>
                <a:off x="6852213" y="2060294"/>
                <a:ext cx="1597306" cy="3796496"/>
              </a:xfrm>
              <a:custGeom>
                <a:avLst/>
                <a:gdLst>
                  <a:gd name="connsiteX0" fmla="*/ 1597306 w 1597306"/>
                  <a:gd name="connsiteY0" fmla="*/ 0 h 3796496"/>
                  <a:gd name="connsiteX1" fmla="*/ 925974 w 1597306"/>
                  <a:gd name="connsiteY1" fmla="*/ 3784921 h 3796496"/>
                  <a:gd name="connsiteX2" fmla="*/ 0 w 1597306"/>
                  <a:gd name="connsiteY2" fmla="*/ 3796496 h 3796496"/>
                  <a:gd name="connsiteX3" fmla="*/ 0 w 1597306"/>
                  <a:gd name="connsiteY3" fmla="*/ 3796496 h 3796496"/>
                </a:gdLst>
                <a:ahLst/>
                <a:cxnLst>
                  <a:cxn ang="0">
                    <a:pos x="connsiteX0" y="connsiteY0"/>
                  </a:cxn>
                  <a:cxn ang="0">
                    <a:pos x="connsiteX1" y="connsiteY1"/>
                  </a:cxn>
                  <a:cxn ang="0">
                    <a:pos x="connsiteX2" y="connsiteY2"/>
                  </a:cxn>
                  <a:cxn ang="0">
                    <a:pos x="connsiteX3" y="connsiteY3"/>
                  </a:cxn>
                </a:cxnLst>
                <a:rect l="l" t="t" r="r" b="b"/>
                <a:pathLst>
                  <a:path w="1597306" h="3796496">
                    <a:moveTo>
                      <a:pt x="1597306" y="0"/>
                    </a:moveTo>
                    <a:lnTo>
                      <a:pt x="925974" y="3784921"/>
                    </a:lnTo>
                    <a:lnTo>
                      <a:pt x="0" y="3796496"/>
                    </a:lnTo>
                    <a:lnTo>
                      <a:pt x="0" y="3796496"/>
                    </a:lnTo>
                  </a:path>
                </a:pathLst>
              </a:custGeom>
              <a:noFill/>
              <a:ln w="1905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12" name="Straight Connector 421894"/>
              <p:cNvCxnSpPr>
                <a:cxnSpLocks noChangeShapeType="1"/>
                <a:stCxn id="211" idx="1"/>
              </p:cNvCxnSpPr>
              <p:nvPr/>
            </p:nvCxnSpPr>
            <p:spPr bwMode="auto">
              <a:xfrm flipH="1">
                <a:off x="7535735" y="5845215"/>
                <a:ext cx="242452" cy="204370"/>
              </a:xfrm>
              <a:prstGeom prst="line">
                <a:avLst/>
              </a:prstGeom>
              <a:noFill/>
              <a:ln w="19050">
                <a:solidFill>
                  <a:srgbClr val="C00000"/>
                </a:solidFill>
                <a:round/>
              </a:ln>
              <a:extLst>
                <a:ext uri="{909E8E84-426E-40DD-AFC4-6F175D3DCCD1}">
                  <a14:hiddenFill xmlns:a14="http://schemas.microsoft.com/office/drawing/2010/main">
                    <a:noFill/>
                  </a14:hiddenFill>
                </a:ext>
              </a:extLst>
            </p:spPr>
          </p:cxnSp>
          <p:cxnSp>
            <p:nvCxnSpPr>
              <p:cNvPr id="213" name="Straight Connector 421894"/>
              <p:cNvCxnSpPr>
                <a:cxnSpLocks noChangeShapeType="1"/>
                <a:stCxn id="211" idx="1"/>
              </p:cNvCxnSpPr>
              <p:nvPr/>
            </p:nvCxnSpPr>
            <p:spPr bwMode="auto">
              <a:xfrm flipH="1">
                <a:off x="6178773" y="5845215"/>
                <a:ext cx="1599414" cy="182258"/>
              </a:xfrm>
              <a:prstGeom prst="line">
                <a:avLst/>
              </a:prstGeom>
              <a:noFill/>
              <a:ln w="19050">
                <a:solidFill>
                  <a:srgbClr val="C00000"/>
                </a:solidFill>
                <a:round/>
              </a:ln>
              <a:extLst>
                <a:ext uri="{909E8E84-426E-40DD-AFC4-6F175D3DCCD1}">
                  <a14:hiddenFill xmlns:a14="http://schemas.microsoft.com/office/drawing/2010/main">
                    <a:noFill/>
                  </a14:hiddenFill>
                </a:ext>
              </a:extLst>
            </p:spPr>
          </p:cxnSp>
        </p:grpSp>
      </p:grpSp>
      <p:sp>
        <p:nvSpPr>
          <p:cNvPr id="573" name="Text Box 106"/>
          <p:cNvSpPr txBox="1">
            <a:spLocks noChangeArrowheads="1"/>
          </p:cNvSpPr>
          <p:nvPr/>
        </p:nvSpPr>
        <p:spPr bwMode="auto">
          <a:xfrm>
            <a:off x="6000132" y="5865159"/>
            <a:ext cx="198374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en-US" sz="2000" kern="0" noProof="0" dirty="0" err="1">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sym typeface="+mn-ea"/>
              </a:rPr>
              <a:t>数据分组头中的</a:t>
            </a:r>
            <a:endParaRPr kumimoji="0" lang="en-US"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a:rPr>
              <a:t>目的地址</a:t>
            </a:r>
            <a:endParaRPr kumimoji="0" lang="en-US"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575" name="Line 119"/>
          <p:cNvSpPr>
            <a:spLocks noChangeShapeType="1"/>
          </p:cNvSpPr>
          <p:nvPr/>
        </p:nvSpPr>
        <p:spPr bwMode="auto">
          <a:xfrm rot="21000000" flipV="1">
            <a:off x="6871607" y="5297548"/>
            <a:ext cx="85725" cy="5842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74" name="Line 107"/>
          <p:cNvSpPr>
            <a:spLocks noChangeShapeType="1"/>
          </p:cNvSpPr>
          <p:nvPr/>
        </p:nvSpPr>
        <p:spPr bwMode="auto">
          <a:xfrm flipH="1">
            <a:off x="6528825" y="4786770"/>
            <a:ext cx="1408179" cy="9142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73" name="文本框 172"/>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a:defRP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路由器转发模型</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内容占位符 1"/>
          <p:cNvSpPr>
            <a:spLocks noGrp="1"/>
          </p:cNvSpPr>
          <p:nvPr>
            <p:ph idx="1"/>
          </p:nvPr>
        </p:nvSpPr>
        <p:spPr>
          <a:xfrm>
            <a:off x="6778347" y="5750715"/>
            <a:ext cx="1592541" cy="627225"/>
          </a:xfrm>
        </p:spPr>
        <p:txBody>
          <a:bodyPr>
            <a:normAutofit/>
          </a:bodyPr>
          <a:lstStyle/>
          <a:p>
            <a:pPr marL="0" indent="0">
              <a:buNone/>
            </a:pPr>
            <a:r>
              <a:rPr lang="zh-CN" altLang="en-US" sz="2400" dirty="0"/>
              <a:t>路由器</a:t>
            </a:r>
            <a:endParaRPr lang="zh-CN" altLang="en-US" sz="2400" dirty="0"/>
          </a:p>
        </p:txBody>
      </p:sp>
      <p:sp>
        <p:nvSpPr>
          <p:cNvPr id="10088" name="Rectangle 872"/>
          <p:cNvSpPr>
            <a:spLocks noChangeArrowheads="1"/>
          </p:cNvSpPr>
          <p:nvPr/>
        </p:nvSpPr>
        <p:spPr bwMode="auto">
          <a:xfrm>
            <a:off x="1950096" y="12648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1"/>
              </a:buBlip>
            </a:pPr>
            <a:endParaRPr lang="en-US" altLang="zh-CN" sz="1800">
              <a:ea typeface="宋体" panose="02010600030101010101" pitchFamily="2" charset="-122"/>
              <a:cs typeface="Times New Roman" panose="02020603050405020304" pitchFamily="18" charset="0"/>
            </a:endParaRPr>
          </a:p>
        </p:txBody>
      </p:sp>
      <p:sp>
        <p:nvSpPr>
          <p:cNvPr id="1014" name="Oval 37"/>
          <p:cNvSpPr>
            <a:spLocks noChangeArrowheads="1"/>
          </p:cNvSpPr>
          <p:nvPr/>
        </p:nvSpPr>
        <p:spPr bwMode="auto">
          <a:xfrm>
            <a:off x="2460625" y="3025140"/>
            <a:ext cx="985838" cy="914400"/>
          </a:xfrm>
          <a:prstGeom prst="ellipse">
            <a:avLst/>
          </a:prstGeom>
          <a:solidFill>
            <a:schemeClr val="bg1"/>
          </a:solidFill>
          <a:ln w="9525">
            <a:solidFill>
              <a:schemeClr val="tx1"/>
            </a:solidFill>
            <a:round/>
          </a:ln>
        </p:spPr>
        <p:txBody>
          <a:bodyPr wrap="none" anchor="ctr"/>
          <a:lstStyle/>
          <a:p>
            <a:pPr algn="ctr">
              <a:defRPr/>
            </a:pPr>
            <a:r>
              <a:rPr lang="en-US" altLang="zh-CN" sz="2800">
                <a:latin typeface="微软雅黑" panose="020B0503020204020204" pitchFamily="34" charset="-122"/>
                <a:ea typeface="微软雅黑" panose="020B0503020204020204" pitchFamily="34" charset="-122"/>
              </a:rPr>
              <a:t>R1</a:t>
            </a:r>
            <a:endParaRPr lang="en-US" altLang="zh-CN" sz="2800">
              <a:latin typeface="微软雅黑" panose="020B0503020204020204" pitchFamily="34" charset="-122"/>
              <a:ea typeface="微软雅黑" panose="020B0503020204020204" pitchFamily="34" charset="-122"/>
            </a:endParaRPr>
          </a:p>
        </p:txBody>
      </p:sp>
      <p:sp>
        <p:nvSpPr>
          <p:cNvPr id="1015" name="Line 38"/>
          <p:cNvSpPr>
            <a:spLocks noChangeShapeType="1"/>
          </p:cNvSpPr>
          <p:nvPr/>
        </p:nvSpPr>
        <p:spPr bwMode="auto">
          <a:xfrm>
            <a:off x="1851025" y="3482340"/>
            <a:ext cx="609600" cy="0"/>
          </a:xfrm>
          <a:prstGeom prst="line">
            <a:avLst/>
          </a:prstGeom>
          <a:noFill/>
          <a:ln w="9525">
            <a:solidFill>
              <a:schemeClr val="tx1"/>
            </a:solidFill>
            <a:round/>
            <a:headEnd type="triangle" w="med" len="me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16" name="Line 39"/>
          <p:cNvSpPr>
            <a:spLocks noChangeShapeType="1"/>
          </p:cNvSpPr>
          <p:nvPr/>
        </p:nvSpPr>
        <p:spPr bwMode="auto">
          <a:xfrm>
            <a:off x="2913063" y="3939540"/>
            <a:ext cx="0" cy="457200"/>
          </a:xfrm>
          <a:prstGeom prst="line">
            <a:avLst/>
          </a:prstGeom>
          <a:noFill/>
          <a:ln w="9525">
            <a:solidFill>
              <a:schemeClr val="tx1"/>
            </a:solidFill>
            <a:round/>
            <a:headEnd type="triangle" w="med" len="me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17" name="Line 40"/>
          <p:cNvSpPr>
            <a:spLocks noChangeShapeType="1"/>
          </p:cNvSpPr>
          <p:nvPr/>
        </p:nvSpPr>
        <p:spPr bwMode="auto">
          <a:xfrm>
            <a:off x="3451225" y="3482340"/>
            <a:ext cx="609600" cy="0"/>
          </a:xfrm>
          <a:prstGeom prst="line">
            <a:avLst/>
          </a:prstGeom>
          <a:noFill/>
          <a:ln w="9525">
            <a:solidFill>
              <a:schemeClr val="tx1"/>
            </a:solidFill>
            <a:round/>
            <a:headEnd type="triangle" w="med" len="me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18" name="Line 41"/>
          <p:cNvSpPr>
            <a:spLocks noChangeShapeType="1"/>
          </p:cNvSpPr>
          <p:nvPr/>
        </p:nvSpPr>
        <p:spPr bwMode="auto">
          <a:xfrm>
            <a:off x="2913063" y="2491740"/>
            <a:ext cx="0" cy="533400"/>
          </a:xfrm>
          <a:prstGeom prst="line">
            <a:avLst/>
          </a:prstGeom>
          <a:noFill/>
          <a:ln w="9525">
            <a:solidFill>
              <a:schemeClr val="tx1"/>
            </a:solidFill>
            <a:round/>
            <a:headEnd type="triangle" w="med" len="me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19" name="AutoShape 42"/>
          <p:cNvSpPr>
            <a:spLocks noChangeArrowheads="1"/>
          </p:cNvSpPr>
          <p:nvPr/>
        </p:nvSpPr>
        <p:spPr bwMode="auto">
          <a:xfrm>
            <a:off x="5780088" y="1577340"/>
            <a:ext cx="3124200" cy="4114800"/>
          </a:xfrm>
          <a:prstGeom prst="roundRect">
            <a:avLst>
              <a:gd name="adj" fmla="val 16667"/>
            </a:avLst>
          </a:prstGeom>
          <a:solidFill>
            <a:schemeClr val="bg2"/>
          </a:solidFill>
          <a:ln w="9525">
            <a:solidFill>
              <a:schemeClr val="bg2"/>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20" name="Text Box 43"/>
          <p:cNvSpPr txBox="1">
            <a:spLocks noChangeArrowheads="1"/>
          </p:cNvSpPr>
          <p:nvPr/>
        </p:nvSpPr>
        <p:spPr bwMode="auto">
          <a:xfrm>
            <a:off x="1774826" y="3542101"/>
            <a:ext cx="776175"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 1</a:t>
            </a:r>
            <a:endParaRPr lang="en-US" altLang="zh-CN" sz="1600" dirty="0">
              <a:latin typeface="微软雅黑" panose="020B0503020204020204" pitchFamily="34" charset="-122"/>
              <a:ea typeface="微软雅黑" panose="020B0503020204020204" pitchFamily="34" charset="-122"/>
            </a:endParaRPr>
          </a:p>
        </p:txBody>
      </p:sp>
      <p:sp>
        <p:nvSpPr>
          <p:cNvPr id="1021" name="Text Box 44"/>
          <p:cNvSpPr txBox="1">
            <a:spLocks noChangeArrowheads="1"/>
          </p:cNvSpPr>
          <p:nvPr/>
        </p:nvSpPr>
        <p:spPr bwMode="auto">
          <a:xfrm>
            <a:off x="2913064" y="2567941"/>
            <a:ext cx="776175"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 2</a:t>
            </a:r>
            <a:endParaRPr lang="en-US" altLang="zh-CN" sz="1600" dirty="0">
              <a:latin typeface="微软雅黑" panose="020B0503020204020204" pitchFamily="34" charset="-122"/>
              <a:ea typeface="微软雅黑" panose="020B0503020204020204" pitchFamily="34" charset="-122"/>
            </a:endParaRPr>
          </a:p>
        </p:txBody>
      </p:sp>
      <p:sp>
        <p:nvSpPr>
          <p:cNvPr id="1022" name="Text Box 45"/>
          <p:cNvSpPr txBox="1">
            <a:spLocks noChangeArrowheads="1"/>
          </p:cNvSpPr>
          <p:nvPr/>
        </p:nvSpPr>
        <p:spPr bwMode="auto">
          <a:xfrm>
            <a:off x="3451226" y="3536547"/>
            <a:ext cx="776175"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 3</a:t>
            </a:r>
            <a:endParaRPr lang="en-US" altLang="zh-CN" sz="1600" dirty="0">
              <a:latin typeface="微软雅黑" panose="020B0503020204020204" pitchFamily="34" charset="-122"/>
              <a:ea typeface="微软雅黑" panose="020B0503020204020204" pitchFamily="34" charset="-122"/>
            </a:endParaRPr>
          </a:p>
        </p:txBody>
      </p:sp>
      <p:sp>
        <p:nvSpPr>
          <p:cNvPr id="1023" name="Text Box 46"/>
          <p:cNvSpPr txBox="1">
            <a:spLocks noChangeArrowheads="1"/>
          </p:cNvSpPr>
          <p:nvPr/>
        </p:nvSpPr>
        <p:spPr bwMode="auto">
          <a:xfrm>
            <a:off x="2913064" y="4015741"/>
            <a:ext cx="776175"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 4</a:t>
            </a:r>
            <a:endParaRPr lang="en-US" altLang="zh-CN" sz="1600" dirty="0">
              <a:latin typeface="微软雅黑" panose="020B0503020204020204" pitchFamily="34" charset="-122"/>
              <a:ea typeface="微软雅黑" panose="020B0503020204020204" pitchFamily="34" charset="-122"/>
            </a:endParaRPr>
          </a:p>
        </p:txBody>
      </p:sp>
      <p:grpSp>
        <p:nvGrpSpPr>
          <p:cNvPr id="1024" name="Group 47"/>
          <p:cNvGrpSpPr/>
          <p:nvPr/>
        </p:nvGrpSpPr>
        <p:grpSpPr bwMode="auto">
          <a:xfrm>
            <a:off x="4408488" y="2263140"/>
            <a:ext cx="1524000" cy="2667000"/>
            <a:chOff x="1824" y="1632"/>
            <a:chExt cx="1200" cy="1680"/>
          </a:xfrm>
        </p:grpSpPr>
        <p:sp>
          <p:nvSpPr>
            <p:cNvPr id="1025" name="Line 48"/>
            <p:cNvSpPr>
              <a:spLocks noChangeShapeType="1"/>
            </p:cNvSpPr>
            <p:nvPr/>
          </p:nvSpPr>
          <p:spPr bwMode="auto">
            <a:xfrm>
              <a:off x="1824" y="1632"/>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26" name="Line 49"/>
            <p:cNvSpPr>
              <a:spLocks noChangeShapeType="1"/>
            </p:cNvSpPr>
            <p:nvPr/>
          </p:nvSpPr>
          <p:spPr bwMode="auto">
            <a:xfrm>
              <a:off x="1824" y="2208"/>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27" name="Line 50"/>
            <p:cNvSpPr>
              <a:spLocks noChangeShapeType="1"/>
            </p:cNvSpPr>
            <p:nvPr/>
          </p:nvSpPr>
          <p:spPr bwMode="auto">
            <a:xfrm>
              <a:off x="1824" y="2736"/>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28" name="Line 51"/>
            <p:cNvSpPr>
              <a:spLocks noChangeShapeType="1"/>
            </p:cNvSpPr>
            <p:nvPr/>
          </p:nvSpPr>
          <p:spPr bwMode="auto">
            <a:xfrm>
              <a:off x="1824" y="3312"/>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nvGrpSpPr>
          <p:cNvPr id="1029" name="Group 52"/>
          <p:cNvGrpSpPr/>
          <p:nvPr/>
        </p:nvGrpSpPr>
        <p:grpSpPr bwMode="auto">
          <a:xfrm>
            <a:off x="8447088" y="2263140"/>
            <a:ext cx="1524000" cy="2667000"/>
            <a:chOff x="1824" y="1632"/>
            <a:chExt cx="1200" cy="1680"/>
          </a:xfrm>
        </p:grpSpPr>
        <p:sp>
          <p:nvSpPr>
            <p:cNvPr id="1030" name="Line 53"/>
            <p:cNvSpPr>
              <a:spLocks noChangeShapeType="1"/>
            </p:cNvSpPr>
            <p:nvPr/>
          </p:nvSpPr>
          <p:spPr bwMode="auto">
            <a:xfrm>
              <a:off x="1824" y="1632"/>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31" name="Line 54"/>
            <p:cNvSpPr>
              <a:spLocks noChangeShapeType="1"/>
            </p:cNvSpPr>
            <p:nvPr/>
          </p:nvSpPr>
          <p:spPr bwMode="auto">
            <a:xfrm>
              <a:off x="1824" y="2208"/>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32" name="Line 55"/>
            <p:cNvSpPr>
              <a:spLocks noChangeShapeType="1"/>
            </p:cNvSpPr>
            <p:nvPr/>
          </p:nvSpPr>
          <p:spPr bwMode="auto">
            <a:xfrm>
              <a:off x="1824" y="2736"/>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33" name="Line 56"/>
            <p:cNvSpPr>
              <a:spLocks noChangeShapeType="1"/>
            </p:cNvSpPr>
            <p:nvPr/>
          </p:nvSpPr>
          <p:spPr bwMode="auto">
            <a:xfrm>
              <a:off x="1824" y="3312"/>
              <a:ext cx="1200" cy="0"/>
            </a:xfrm>
            <a:prstGeom prst="line">
              <a:avLst/>
            </a:prstGeom>
            <a:noFill/>
            <a:ln w="19050">
              <a:solidFill>
                <a:schemeClr val="tx1"/>
              </a:solidFill>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sp>
        <p:nvSpPr>
          <p:cNvPr id="1034" name="Text Box 57"/>
          <p:cNvSpPr txBox="1">
            <a:spLocks noChangeArrowheads="1"/>
          </p:cNvSpPr>
          <p:nvPr/>
        </p:nvSpPr>
        <p:spPr bwMode="auto">
          <a:xfrm>
            <a:off x="4484688" y="1958341"/>
            <a:ext cx="1236236"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输入</a:t>
            </a:r>
            <a:endParaRPr lang="en-US" altLang="zh-CN" sz="1600" dirty="0">
              <a:latin typeface="微软雅黑" panose="020B0503020204020204" pitchFamily="34" charset="-122"/>
              <a:ea typeface="微软雅黑" panose="020B0503020204020204" pitchFamily="34" charset="-122"/>
            </a:endParaRPr>
          </a:p>
        </p:txBody>
      </p:sp>
      <p:sp>
        <p:nvSpPr>
          <p:cNvPr id="1036" name="Text Box 59"/>
          <p:cNvSpPr txBox="1">
            <a:spLocks noChangeArrowheads="1"/>
          </p:cNvSpPr>
          <p:nvPr/>
        </p:nvSpPr>
        <p:spPr bwMode="auto">
          <a:xfrm>
            <a:off x="4484688" y="2872741"/>
            <a:ext cx="1236236"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输入</a:t>
            </a:r>
            <a:endParaRPr lang="en-US" altLang="zh-CN" sz="1600" dirty="0">
              <a:latin typeface="微软雅黑" panose="020B0503020204020204" pitchFamily="34" charset="-122"/>
              <a:ea typeface="微软雅黑" panose="020B0503020204020204" pitchFamily="34" charset="-122"/>
            </a:endParaRPr>
          </a:p>
        </p:txBody>
      </p:sp>
      <p:sp>
        <p:nvSpPr>
          <p:cNvPr id="1038" name="Text Box 61"/>
          <p:cNvSpPr txBox="1">
            <a:spLocks noChangeArrowheads="1"/>
          </p:cNvSpPr>
          <p:nvPr/>
        </p:nvSpPr>
        <p:spPr bwMode="auto">
          <a:xfrm>
            <a:off x="4484688" y="3710941"/>
            <a:ext cx="1236236"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3, </a:t>
            </a:r>
            <a:r>
              <a:rPr lang="zh-CN" altLang="en-US" sz="1600" dirty="0">
                <a:latin typeface="微软雅黑" panose="020B0503020204020204" pitchFamily="34" charset="-122"/>
                <a:ea typeface="微软雅黑" panose="020B0503020204020204" pitchFamily="34" charset="-122"/>
              </a:rPr>
              <a:t>输入</a:t>
            </a:r>
            <a:endParaRPr lang="en-US" altLang="zh-CN" sz="1600" dirty="0">
              <a:latin typeface="微软雅黑" panose="020B0503020204020204" pitchFamily="34" charset="-122"/>
              <a:ea typeface="微软雅黑" panose="020B0503020204020204" pitchFamily="34" charset="-122"/>
            </a:endParaRPr>
          </a:p>
        </p:txBody>
      </p:sp>
      <p:sp>
        <p:nvSpPr>
          <p:cNvPr id="1040" name="Text Box 63"/>
          <p:cNvSpPr txBox="1">
            <a:spLocks noChangeArrowheads="1"/>
          </p:cNvSpPr>
          <p:nvPr/>
        </p:nvSpPr>
        <p:spPr bwMode="auto">
          <a:xfrm>
            <a:off x="4484688" y="4625341"/>
            <a:ext cx="1236236"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4, </a:t>
            </a:r>
            <a:r>
              <a:rPr lang="zh-CN" altLang="en-US" sz="1600" dirty="0">
                <a:latin typeface="微软雅黑" panose="020B0503020204020204" pitchFamily="34" charset="-122"/>
                <a:ea typeface="微软雅黑" panose="020B0503020204020204" pitchFamily="34" charset="-122"/>
              </a:rPr>
              <a:t>输入</a:t>
            </a:r>
            <a:endParaRPr lang="en-US" altLang="zh-CN" sz="1600" dirty="0">
              <a:latin typeface="微软雅黑" panose="020B0503020204020204" pitchFamily="34" charset="-122"/>
              <a:ea typeface="微软雅黑" panose="020B0503020204020204" pitchFamily="34" charset="-122"/>
            </a:endParaRPr>
          </a:p>
        </p:txBody>
      </p:sp>
      <p:grpSp>
        <p:nvGrpSpPr>
          <p:cNvPr id="1042" name="Group 65"/>
          <p:cNvGrpSpPr/>
          <p:nvPr/>
        </p:nvGrpSpPr>
        <p:grpSpPr bwMode="auto">
          <a:xfrm>
            <a:off x="7761288" y="2034540"/>
            <a:ext cx="914400" cy="533400"/>
            <a:chOff x="3696" y="1056"/>
            <a:chExt cx="576" cy="336"/>
          </a:xfrm>
          <a:solidFill>
            <a:schemeClr val="accent2">
              <a:lumMod val="60000"/>
              <a:lumOff val="40000"/>
            </a:schemeClr>
          </a:solidFill>
        </p:grpSpPr>
        <p:sp>
          <p:nvSpPr>
            <p:cNvPr id="1043" name="Freeform 66"/>
            <p:cNvSpPr/>
            <p:nvPr/>
          </p:nvSpPr>
          <p:spPr bwMode="auto">
            <a:xfrm>
              <a:off x="3696" y="1056"/>
              <a:ext cx="576" cy="336"/>
            </a:xfrm>
            <a:custGeom>
              <a:avLst/>
              <a:gdLst>
                <a:gd name="T0" fmla="*/ 0 w 576"/>
                <a:gd name="T1" fmla="*/ 0 h 336"/>
                <a:gd name="T2" fmla="*/ 576 w 576"/>
                <a:gd name="T3" fmla="*/ 0 h 336"/>
                <a:gd name="T4" fmla="*/ 576 w 576"/>
                <a:gd name="T5" fmla="*/ 336 h 336"/>
                <a:gd name="T6" fmla="*/ 0 w 576"/>
                <a:gd name="T7" fmla="*/ 336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0" y="0"/>
                  </a:moveTo>
                  <a:lnTo>
                    <a:pt x="576" y="0"/>
                  </a:lnTo>
                  <a:lnTo>
                    <a:pt x="576" y="336"/>
                  </a:lnTo>
                  <a:lnTo>
                    <a:pt x="0" y="336"/>
                  </a:lnTo>
                </a:path>
              </a:pathLst>
            </a:cu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44" name="Line 67"/>
            <p:cNvSpPr>
              <a:spLocks noChangeShapeType="1"/>
            </p:cNvSpPr>
            <p:nvPr/>
          </p:nvSpPr>
          <p:spPr bwMode="auto">
            <a:xfrm>
              <a:off x="4080" y="1152"/>
              <a:ext cx="0" cy="144"/>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nvGrpSpPr>
          <p:cNvPr id="1045" name="Group 68"/>
          <p:cNvGrpSpPr/>
          <p:nvPr/>
        </p:nvGrpSpPr>
        <p:grpSpPr bwMode="auto">
          <a:xfrm>
            <a:off x="7761288" y="2872740"/>
            <a:ext cx="914400" cy="533400"/>
            <a:chOff x="3696" y="1056"/>
            <a:chExt cx="576" cy="336"/>
          </a:xfrm>
          <a:solidFill>
            <a:schemeClr val="accent2">
              <a:lumMod val="60000"/>
              <a:lumOff val="40000"/>
            </a:schemeClr>
          </a:solidFill>
        </p:grpSpPr>
        <p:sp>
          <p:nvSpPr>
            <p:cNvPr id="1046" name="Freeform 69"/>
            <p:cNvSpPr/>
            <p:nvPr/>
          </p:nvSpPr>
          <p:spPr bwMode="auto">
            <a:xfrm>
              <a:off x="3696" y="1056"/>
              <a:ext cx="576" cy="336"/>
            </a:xfrm>
            <a:custGeom>
              <a:avLst/>
              <a:gdLst>
                <a:gd name="T0" fmla="*/ 0 w 576"/>
                <a:gd name="T1" fmla="*/ 0 h 336"/>
                <a:gd name="T2" fmla="*/ 576 w 576"/>
                <a:gd name="T3" fmla="*/ 0 h 336"/>
                <a:gd name="T4" fmla="*/ 576 w 576"/>
                <a:gd name="T5" fmla="*/ 336 h 336"/>
                <a:gd name="T6" fmla="*/ 0 w 576"/>
                <a:gd name="T7" fmla="*/ 336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0" y="0"/>
                  </a:moveTo>
                  <a:lnTo>
                    <a:pt x="576" y="0"/>
                  </a:lnTo>
                  <a:lnTo>
                    <a:pt x="576" y="336"/>
                  </a:lnTo>
                  <a:lnTo>
                    <a:pt x="0" y="336"/>
                  </a:lnTo>
                </a:path>
              </a:pathLst>
            </a:cu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47" name="Line 70"/>
            <p:cNvSpPr>
              <a:spLocks noChangeShapeType="1"/>
            </p:cNvSpPr>
            <p:nvPr/>
          </p:nvSpPr>
          <p:spPr bwMode="auto">
            <a:xfrm>
              <a:off x="4080" y="1152"/>
              <a:ext cx="0" cy="144"/>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nvGrpSpPr>
          <p:cNvPr id="1048" name="Group 71"/>
          <p:cNvGrpSpPr/>
          <p:nvPr/>
        </p:nvGrpSpPr>
        <p:grpSpPr bwMode="auto">
          <a:xfrm>
            <a:off x="7761288" y="3710940"/>
            <a:ext cx="914400" cy="533400"/>
            <a:chOff x="3696" y="1056"/>
            <a:chExt cx="576" cy="336"/>
          </a:xfrm>
          <a:solidFill>
            <a:schemeClr val="accent2">
              <a:lumMod val="60000"/>
              <a:lumOff val="40000"/>
            </a:schemeClr>
          </a:solidFill>
        </p:grpSpPr>
        <p:sp>
          <p:nvSpPr>
            <p:cNvPr id="1049" name="Freeform 72"/>
            <p:cNvSpPr/>
            <p:nvPr/>
          </p:nvSpPr>
          <p:spPr bwMode="auto">
            <a:xfrm>
              <a:off x="3696" y="1056"/>
              <a:ext cx="576" cy="336"/>
            </a:xfrm>
            <a:custGeom>
              <a:avLst/>
              <a:gdLst>
                <a:gd name="T0" fmla="*/ 0 w 576"/>
                <a:gd name="T1" fmla="*/ 0 h 336"/>
                <a:gd name="T2" fmla="*/ 576 w 576"/>
                <a:gd name="T3" fmla="*/ 0 h 336"/>
                <a:gd name="T4" fmla="*/ 576 w 576"/>
                <a:gd name="T5" fmla="*/ 336 h 336"/>
                <a:gd name="T6" fmla="*/ 0 w 576"/>
                <a:gd name="T7" fmla="*/ 336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0" y="0"/>
                  </a:moveTo>
                  <a:lnTo>
                    <a:pt x="576" y="0"/>
                  </a:lnTo>
                  <a:lnTo>
                    <a:pt x="576" y="336"/>
                  </a:lnTo>
                  <a:lnTo>
                    <a:pt x="0" y="336"/>
                  </a:lnTo>
                </a:path>
              </a:pathLst>
            </a:cu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50" name="Line 73"/>
            <p:cNvSpPr>
              <a:spLocks noChangeShapeType="1"/>
            </p:cNvSpPr>
            <p:nvPr/>
          </p:nvSpPr>
          <p:spPr bwMode="auto">
            <a:xfrm>
              <a:off x="4080" y="1152"/>
              <a:ext cx="0" cy="144"/>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nvGrpSpPr>
          <p:cNvPr id="1051" name="Group 74"/>
          <p:cNvGrpSpPr/>
          <p:nvPr/>
        </p:nvGrpSpPr>
        <p:grpSpPr bwMode="auto">
          <a:xfrm>
            <a:off x="7761288" y="4625340"/>
            <a:ext cx="914400" cy="533400"/>
            <a:chOff x="3696" y="1056"/>
            <a:chExt cx="576" cy="336"/>
          </a:xfrm>
          <a:solidFill>
            <a:schemeClr val="accent2">
              <a:lumMod val="60000"/>
              <a:lumOff val="40000"/>
            </a:schemeClr>
          </a:solidFill>
        </p:grpSpPr>
        <p:sp>
          <p:nvSpPr>
            <p:cNvPr id="1052" name="Freeform 75"/>
            <p:cNvSpPr/>
            <p:nvPr/>
          </p:nvSpPr>
          <p:spPr bwMode="auto">
            <a:xfrm>
              <a:off x="3696" y="1056"/>
              <a:ext cx="576" cy="336"/>
            </a:xfrm>
            <a:custGeom>
              <a:avLst/>
              <a:gdLst>
                <a:gd name="T0" fmla="*/ 0 w 576"/>
                <a:gd name="T1" fmla="*/ 0 h 336"/>
                <a:gd name="T2" fmla="*/ 576 w 576"/>
                <a:gd name="T3" fmla="*/ 0 h 336"/>
                <a:gd name="T4" fmla="*/ 576 w 576"/>
                <a:gd name="T5" fmla="*/ 336 h 336"/>
                <a:gd name="T6" fmla="*/ 0 w 576"/>
                <a:gd name="T7" fmla="*/ 336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0" y="0"/>
                  </a:moveTo>
                  <a:lnTo>
                    <a:pt x="576" y="0"/>
                  </a:lnTo>
                  <a:lnTo>
                    <a:pt x="576" y="336"/>
                  </a:lnTo>
                  <a:lnTo>
                    <a:pt x="0" y="336"/>
                  </a:lnTo>
                </a:path>
              </a:pathLst>
            </a:cu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53" name="Line 76"/>
            <p:cNvSpPr>
              <a:spLocks noChangeShapeType="1"/>
            </p:cNvSpPr>
            <p:nvPr/>
          </p:nvSpPr>
          <p:spPr bwMode="auto">
            <a:xfrm>
              <a:off x="4080" y="1152"/>
              <a:ext cx="0" cy="144"/>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nvGrpSpPr>
          <p:cNvPr id="1054" name="Group 77"/>
          <p:cNvGrpSpPr/>
          <p:nvPr/>
        </p:nvGrpSpPr>
        <p:grpSpPr bwMode="auto">
          <a:xfrm>
            <a:off x="6694488" y="2263140"/>
            <a:ext cx="1066800" cy="2667000"/>
            <a:chOff x="2736" y="1584"/>
            <a:chExt cx="1008" cy="1680"/>
          </a:xfrm>
        </p:grpSpPr>
        <p:grpSp>
          <p:nvGrpSpPr>
            <p:cNvPr id="1055" name="Group 78"/>
            <p:cNvGrpSpPr/>
            <p:nvPr/>
          </p:nvGrpSpPr>
          <p:grpSpPr bwMode="auto">
            <a:xfrm>
              <a:off x="2736" y="1584"/>
              <a:ext cx="1008" cy="1680"/>
              <a:chOff x="2736" y="1584"/>
              <a:chExt cx="1008" cy="1680"/>
            </a:xfrm>
          </p:grpSpPr>
          <p:sp>
            <p:nvSpPr>
              <p:cNvPr id="1071" name="Line 79"/>
              <p:cNvSpPr>
                <a:spLocks noChangeShapeType="1"/>
              </p:cNvSpPr>
              <p:nvPr/>
            </p:nvSpPr>
            <p:spPr bwMode="auto">
              <a:xfrm>
                <a:off x="2736" y="1584"/>
                <a:ext cx="1008" cy="0"/>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72" name="Line 80"/>
              <p:cNvSpPr>
                <a:spLocks noChangeShapeType="1"/>
              </p:cNvSpPr>
              <p:nvPr/>
            </p:nvSpPr>
            <p:spPr bwMode="auto">
              <a:xfrm flipV="1">
                <a:off x="2736" y="1584"/>
                <a:ext cx="1008" cy="576"/>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73" name="Line 81"/>
              <p:cNvSpPr>
                <a:spLocks noChangeShapeType="1"/>
              </p:cNvSpPr>
              <p:nvPr/>
            </p:nvSpPr>
            <p:spPr bwMode="auto">
              <a:xfrm flipV="1">
                <a:off x="2736" y="1632"/>
                <a:ext cx="1008" cy="1056"/>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74" name="Line 82"/>
              <p:cNvSpPr>
                <a:spLocks noChangeShapeType="1"/>
              </p:cNvSpPr>
              <p:nvPr/>
            </p:nvSpPr>
            <p:spPr bwMode="auto">
              <a:xfrm flipV="1">
                <a:off x="2736" y="1680"/>
                <a:ext cx="1008" cy="1584"/>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nvGrpSpPr>
            <p:cNvPr id="1056" name="Group 83"/>
            <p:cNvGrpSpPr/>
            <p:nvPr/>
          </p:nvGrpSpPr>
          <p:grpSpPr bwMode="auto">
            <a:xfrm flipV="1">
              <a:off x="2736" y="1584"/>
              <a:ext cx="1008" cy="1680"/>
              <a:chOff x="2736" y="1584"/>
              <a:chExt cx="1008" cy="1680"/>
            </a:xfrm>
          </p:grpSpPr>
          <p:sp>
            <p:nvSpPr>
              <p:cNvPr id="1067" name="Line 84"/>
              <p:cNvSpPr>
                <a:spLocks noChangeShapeType="1"/>
              </p:cNvSpPr>
              <p:nvPr/>
            </p:nvSpPr>
            <p:spPr bwMode="auto">
              <a:xfrm>
                <a:off x="2736" y="1584"/>
                <a:ext cx="1008" cy="0"/>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68" name="Line 85"/>
              <p:cNvSpPr>
                <a:spLocks noChangeShapeType="1"/>
              </p:cNvSpPr>
              <p:nvPr/>
            </p:nvSpPr>
            <p:spPr bwMode="auto">
              <a:xfrm flipV="1">
                <a:off x="2736" y="1584"/>
                <a:ext cx="1008" cy="576"/>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69" name="Line 86"/>
              <p:cNvSpPr>
                <a:spLocks noChangeShapeType="1"/>
              </p:cNvSpPr>
              <p:nvPr/>
            </p:nvSpPr>
            <p:spPr bwMode="auto">
              <a:xfrm flipV="1">
                <a:off x="2736" y="1632"/>
                <a:ext cx="1008" cy="1056"/>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70" name="Line 87"/>
              <p:cNvSpPr>
                <a:spLocks noChangeShapeType="1"/>
              </p:cNvSpPr>
              <p:nvPr/>
            </p:nvSpPr>
            <p:spPr bwMode="auto">
              <a:xfrm flipV="1">
                <a:off x="2736" y="1680"/>
                <a:ext cx="1008" cy="1584"/>
              </a:xfrm>
              <a:prstGeom prst="line">
                <a:avLst/>
              </a:prstGeom>
              <a:noFill/>
              <a:ln w="9525">
                <a:solidFill>
                  <a:schemeClr val="tx1"/>
                </a:solidFill>
                <a:prstDash val="dash"/>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nvGrpSpPr>
            <p:cNvPr id="1057" name="Group 88"/>
            <p:cNvGrpSpPr/>
            <p:nvPr/>
          </p:nvGrpSpPr>
          <p:grpSpPr bwMode="auto">
            <a:xfrm>
              <a:off x="2736" y="1584"/>
              <a:ext cx="1008" cy="1680"/>
              <a:chOff x="2736" y="1584"/>
              <a:chExt cx="1008" cy="1680"/>
            </a:xfrm>
          </p:grpSpPr>
          <p:sp>
            <p:nvSpPr>
              <p:cNvPr id="1063" name="Line 89"/>
              <p:cNvSpPr>
                <a:spLocks noChangeShapeType="1"/>
              </p:cNvSpPr>
              <p:nvPr/>
            </p:nvSpPr>
            <p:spPr bwMode="auto">
              <a:xfrm>
                <a:off x="2736" y="1584"/>
                <a:ext cx="1008" cy="480"/>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64" name="Line 90"/>
              <p:cNvSpPr>
                <a:spLocks noChangeShapeType="1"/>
              </p:cNvSpPr>
              <p:nvPr/>
            </p:nvSpPr>
            <p:spPr bwMode="auto">
              <a:xfrm flipV="1">
                <a:off x="2736" y="2112"/>
                <a:ext cx="1008" cy="4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65" name="Line 91"/>
              <p:cNvSpPr>
                <a:spLocks noChangeShapeType="1"/>
              </p:cNvSpPr>
              <p:nvPr/>
            </p:nvSpPr>
            <p:spPr bwMode="auto">
              <a:xfrm flipV="1">
                <a:off x="2736" y="2160"/>
                <a:ext cx="1008" cy="52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66" name="Line 92"/>
              <p:cNvSpPr>
                <a:spLocks noChangeShapeType="1"/>
              </p:cNvSpPr>
              <p:nvPr/>
            </p:nvSpPr>
            <p:spPr bwMode="auto">
              <a:xfrm flipV="1">
                <a:off x="2736" y="2256"/>
                <a:ext cx="1008" cy="100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nvGrpSpPr>
            <p:cNvPr id="1058" name="Group 93"/>
            <p:cNvGrpSpPr/>
            <p:nvPr/>
          </p:nvGrpSpPr>
          <p:grpSpPr bwMode="auto">
            <a:xfrm flipV="1">
              <a:off x="2736" y="1584"/>
              <a:ext cx="1008" cy="1680"/>
              <a:chOff x="2736" y="1584"/>
              <a:chExt cx="1008" cy="1680"/>
            </a:xfrm>
          </p:grpSpPr>
          <p:sp>
            <p:nvSpPr>
              <p:cNvPr id="1059" name="Line 94"/>
              <p:cNvSpPr>
                <a:spLocks noChangeShapeType="1"/>
              </p:cNvSpPr>
              <p:nvPr/>
            </p:nvSpPr>
            <p:spPr bwMode="auto">
              <a:xfrm>
                <a:off x="2736" y="1584"/>
                <a:ext cx="1008" cy="480"/>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60" name="Line 95"/>
              <p:cNvSpPr>
                <a:spLocks noChangeShapeType="1"/>
              </p:cNvSpPr>
              <p:nvPr/>
            </p:nvSpPr>
            <p:spPr bwMode="auto">
              <a:xfrm flipV="1">
                <a:off x="2736" y="2112"/>
                <a:ext cx="1008" cy="4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61" name="Line 96"/>
              <p:cNvSpPr>
                <a:spLocks noChangeShapeType="1"/>
              </p:cNvSpPr>
              <p:nvPr/>
            </p:nvSpPr>
            <p:spPr bwMode="auto">
              <a:xfrm flipV="1">
                <a:off x="2736" y="2160"/>
                <a:ext cx="1008" cy="52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62" name="Line 97"/>
              <p:cNvSpPr>
                <a:spLocks noChangeShapeType="1"/>
              </p:cNvSpPr>
              <p:nvPr/>
            </p:nvSpPr>
            <p:spPr bwMode="auto">
              <a:xfrm flipV="1">
                <a:off x="2736" y="2256"/>
                <a:ext cx="1008" cy="1008"/>
              </a:xfrm>
              <a:prstGeom prst="line">
                <a:avLst/>
              </a:prstGeom>
              <a:noFill/>
              <a:ln w="9525">
                <a:solidFill>
                  <a:schemeClr val="tx1"/>
                </a:solidFill>
                <a:prstDash val="sysDot"/>
                <a:round/>
                <a:tailEnd type="triangle" w="med" len="me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grpSp>
      <p:sp>
        <p:nvSpPr>
          <p:cNvPr id="1075" name="Rectangle 98"/>
          <p:cNvSpPr>
            <a:spLocks noChangeArrowheads="1"/>
          </p:cNvSpPr>
          <p:nvPr/>
        </p:nvSpPr>
        <p:spPr bwMode="auto">
          <a:xfrm>
            <a:off x="5932488" y="2034540"/>
            <a:ext cx="762000" cy="533400"/>
          </a:xfrm>
          <a:prstGeom prst="rect">
            <a:avLst/>
          </a:prstGeom>
          <a:solidFill>
            <a:schemeClr val="bg1"/>
          </a:solidFill>
          <a:ln w="9525">
            <a:solidFill>
              <a:schemeClr val="tx1"/>
            </a:solidFill>
            <a:miter lim="800000"/>
          </a:ln>
        </p:spPr>
        <p:txBody>
          <a:bodyPr wrap="none" anchor="ctr"/>
          <a:lstStyle/>
          <a:p>
            <a:pPr algn="ctr">
              <a:defRPr/>
            </a:pPr>
            <a:r>
              <a:rPr lang="zh-CN" altLang="en-US" sz="1600" dirty="0">
                <a:latin typeface="微软雅黑" panose="020B0503020204020204" pitchFamily="34" charset="-122"/>
                <a:ea typeface="微软雅黑" panose="020B0503020204020204" pitchFamily="34" charset="-122"/>
              </a:rPr>
              <a:t>出口</a:t>
            </a:r>
            <a:endParaRPr lang="en-US" altLang="zh-CN" sz="1600" dirty="0">
              <a:latin typeface="微软雅黑" panose="020B0503020204020204" pitchFamily="34" charset="-122"/>
              <a:ea typeface="微软雅黑" panose="020B0503020204020204" pitchFamily="34" charset="-122"/>
            </a:endParaRPr>
          </a:p>
          <a:p>
            <a:pPr algn="ctr">
              <a:defRPr/>
            </a:pPr>
            <a:r>
              <a:rPr lang="zh-CN" altLang="en-US" sz="1600" dirty="0">
                <a:latin typeface="微软雅黑" panose="020B0503020204020204" pitchFamily="34" charset="-122"/>
                <a:ea typeface="微软雅黑" panose="020B0503020204020204" pitchFamily="34" charset="-122"/>
              </a:rPr>
              <a:t>选择</a:t>
            </a:r>
            <a:endParaRPr lang="en-US" altLang="zh-CN" sz="1600" dirty="0">
              <a:latin typeface="微软雅黑" panose="020B0503020204020204" pitchFamily="34" charset="-122"/>
              <a:ea typeface="微软雅黑" panose="020B0503020204020204" pitchFamily="34" charset="-122"/>
            </a:endParaRPr>
          </a:p>
        </p:txBody>
      </p:sp>
      <p:sp>
        <p:nvSpPr>
          <p:cNvPr id="1076" name="Rectangle 99"/>
          <p:cNvSpPr>
            <a:spLocks noChangeArrowheads="1"/>
          </p:cNvSpPr>
          <p:nvPr/>
        </p:nvSpPr>
        <p:spPr bwMode="auto">
          <a:xfrm>
            <a:off x="5932488" y="2872740"/>
            <a:ext cx="762000" cy="533400"/>
          </a:xfrm>
          <a:prstGeom prst="rect">
            <a:avLst/>
          </a:prstGeom>
          <a:solidFill>
            <a:schemeClr val="bg1"/>
          </a:solidFill>
          <a:ln w="9525">
            <a:solidFill>
              <a:schemeClr val="tx1"/>
            </a:solidFill>
            <a:miter lim="800000"/>
          </a:ln>
        </p:spPr>
        <p:txBody>
          <a:bodyPr wrap="none" anchor="ctr"/>
          <a:lstStyle/>
          <a:p>
            <a:pPr algn="ctr">
              <a:defRPr/>
            </a:pPr>
            <a:r>
              <a:rPr lang="zh-CN" altLang="en-US" sz="1600" dirty="0">
                <a:latin typeface="微软雅黑" panose="020B0503020204020204" pitchFamily="34" charset="-122"/>
                <a:ea typeface="微软雅黑" panose="020B0503020204020204" pitchFamily="34" charset="-122"/>
              </a:rPr>
              <a:t>出口</a:t>
            </a:r>
            <a:endParaRPr lang="en-US" altLang="zh-CN" sz="1600" dirty="0">
              <a:latin typeface="微软雅黑" panose="020B0503020204020204" pitchFamily="34" charset="-122"/>
              <a:ea typeface="微软雅黑" panose="020B0503020204020204" pitchFamily="34" charset="-122"/>
            </a:endParaRPr>
          </a:p>
          <a:p>
            <a:pPr algn="ctr">
              <a:defRPr/>
            </a:pPr>
            <a:r>
              <a:rPr lang="zh-CN" altLang="en-US" sz="1600" dirty="0">
                <a:latin typeface="微软雅黑" panose="020B0503020204020204" pitchFamily="34" charset="-122"/>
                <a:ea typeface="微软雅黑" panose="020B0503020204020204" pitchFamily="34" charset="-122"/>
              </a:rPr>
              <a:t>选择</a:t>
            </a:r>
            <a:endParaRPr lang="en-US" altLang="zh-CN" sz="1600" dirty="0">
              <a:latin typeface="微软雅黑" panose="020B0503020204020204" pitchFamily="34" charset="-122"/>
              <a:ea typeface="微软雅黑" panose="020B0503020204020204" pitchFamily="34" charset="-122"/>
            </a:endParaRPr>
          </a:p>
        </p:txBody>
      </p:sp>
      <p:sp>
        <p:nvSpPr>
          <p:cNvPr id="1077" name="Rectangle 100"/>
          <p:cNvSpPr>
            <a:spLocks noChangeArrowheads="1"/>
          </p:cNvSpPr>
          <p:nvPr/>
        </p:nvSpPr>
        <p:spPr bwMode="auto">
          <a:xfrm>
            <a:off x="5932488" y="3710940"/>
            <a:ext cx="762000" cy="533400"/>
          </a:xfrm>
          <a:prstGeom prst="rect">
            <a:avLst/>
          </a:prstGeom>
          <a:solidFill>
            <a:schemeClr val="bg1"/>
          </a:solidFill>
          <a:ln w="9525">
            <a:solidFill>
              <a:schemeClr val="tx1"/>
            </a:solidFill>
            <a:miter lim="800000"/>
          </a:ln>
        </p:spPr>
        <p:txBody>
          <a:bodyPr wrap="none" anchor="ctr"/>
          <a:lstStyle/>
          <a:p>
            <a:pPr algn="ctr">
              <a:defRPr/>
            </a:pPr>
            <a:r>
              <a:rPr lang="zh-CN" altLang="en-US" sz="1600" dirty="0">
                <a:latin typeface="微软雅黑" panose="020B0503020204020204" pitchFamily="34" charset="-122"/>
                <a:ea typeface="微软雅黑" panose="020B0503020204020204" pitchFamily="34" charset="-122"/>
              </a:rPr>
              <a:t>出口</a:t>
            </a:r>
            <a:endParaRPr lang="en-US" altLang="zh-CN" sz="1600" dirty="0">
              <a:latin typeface="微软雅黑" panose="020B0503020204020204" pitchFamily="34" charset="-122"/>
              <a:ea typeface="微软雅黑" panose="020B0503020204020204" pitchFamily="34" charset="-122"/>
            </a:endParaRPr>
          </a:p>
          <a:p>
            <a:pPr algn="ctr">
              <a:defRPr/>
            </a:pPr>
            <a:r>
              <a:rPr lang="zh-CN" altLang="en-US" sz="1600" dirty="0">
                <a:latin typeface="微软雅黑" panose="020B0503020204020204" pitchFamily="34" charset="-122"/>
                <a:ea typeface="微软雅黑" panose="020B0503020204020204" pitchFamily="34" charset="-122"/>
              </a:rPr>
              <a:t>选择</a:t>
            </a:r>
            <a:endParaRPr lang="en-US" altLang="zh-CN" sz="1600" dirty="0">
              <a:latin typeface="微软雅黑" panose="020B0503020204020204" pitchFamily="34" charset="-122"/>
              <a:ea typeface="微软雅黑" panose="020B0503020204020204" pitchFamily="34" charset="-122"/>
            </a:endParaRPr>
          </a:p>
        </p:txBody>
      </p:sp>
      <p:sp>
        <p:nvSpPr>
          <p:cNvPr id="1078" name="Rectangle 101"/>
          <p:cNvSpPr>
            <a:spLocks noChangeArrowheads="1"/>
          </p:cNvSpPr>
          <p:nvPr/>
        </p:nvSpPr>
        <p:spPr bwMode="auto">
          <a:xfrm>
            <a:off x="5932488" y="4625340"/>
            <a:ext cx="762000" cy="533400"/>
          </a:xfrm>
          <a:prstGeom prst="rect">
            <a:avLst/>
          </a:prstGeom>
          <a:solidFill>
            <a:schemeClr val="bg1"/>
          </a:solidFill>
          <a:ln w="9525">
            <a:solidFill>
              <a:schemeClr val="tx1"/>
            </a:solidFill>
            <a:miter lim="800000"/>
          </a:ln>
        </p:spPr>
        <p:txBody>
          <a:bodyPr wrap="none" anchor="ctr"/>
          <a:lstStyle/>
          <a:p>
            <a:pPr algn="ctr">
              <a:defRPr/>
            </a:pPr>
            <a:r>
              <a:rPr lang="zh-CN" altLang="en-US" sz="1600" dirty="0">
                <a:latin typeface="微软雅黑" panose="020B0503020204020204" pitchFamily="34" charset="-122"/>
                <a:ea typeface="微软雅黑" panose="020B0503020204020204" pitchFamily="34" charset="-122"/>
              </a:rPr>
              <a:t>出口</a:t>
            </a:r>
            <a:endParaRPr lang="en-US" altLang="zh-CN" sz="1600" dirty="0">
              <a:latin typeface="微软雅黑" panose="020B0503020204020204" pitchFamily="34" charset="-122"/>
              <a:ea typeface="微软雅黑" panose="020B0503020204020204" pitchFamily="34" charset="-122"/>
            </a:endParaRPr>
          </a:p>
          <a:p>
            <a:pPr algn="ctr">
              <a:defRPr/>
            </a:pPr>
            <a:r>
              <a:rPr lang="zh-CN" altLang="en-US" sz="1600" dirty="0">
                <a:latin typeface="微软雅黑" panose="020B0503020204020204" pitchFamily="34" charset="-122"/>
                <a:ea typeface="微软雅黑" panose="020B0503020204020204" pitchFamily="34" charset="-122"/>
              </a:rPr>
              <a:t>选择</a:t>
            </a:r>
            <a:endParaRPr lang="en-US" altLang="zh-CN" sz="1600" dirty="0">
              <a:latin typeface="微软雅黑" panose="020B0503020204020204" pitchFamily="34" charset="-122"/>
              <a:ea typeface="微软雅黑" panose="020B0503020204020204" pitchFamily="34" charset="-122"/>
            </a:endParaRPr>
          </a:p>
        </p:txBody>
      </p:sp>
      <p:grpSp>
        <p:nvGrpSpPr>
          <p:cNvPr id="1079" name="Group 102"/>
          <p:cNvGrpSpPr/>
          <p:nvPr/>
        </p:nvGrpSpPr>
        <p:grpSpPr bwMode="auto">
          <a:xfrm>
            <a:off x="2151063" y="3329940"/>
            <a:ext cx="1219200" cy="304800"/>
            <a:chOff x="672" y="1152"/>
            <a:chExt cx="768" cy="192"/>
          </a:xfrm>
          <a:solidFill>
            <a:schemeClr val="accent6">
              <a:lumMod val="60000"/>
              <a:lumOff val="40000"/>
            </a:schemeClr>
          </a:solidFill>
        </p:grpSpPr>
        <p:sp>
          <p:nvSpPr>
            <p:cNvPr id="1080" name="Rectangle 103"/>
            <p:cNvSpPr>
              <a:spLocks noChangeArrowheads="1"/>
            </p:cNvSpPr>
            <p:nvPr/>
          </p:nvSpPr>
          <p:spPr bwMode="auto">
            <a:xfrm>
              <a:off x="855" y="1152"/>
              <a:ext cx="345" cy="192"/>
            </a:xfrm>
            <a:prstGeom prst="rect">
              <a:avLst/>
            </a:prstGeom>
            <a:grp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nvGrpSpPr>
            <p:cNvPr id="1081" name="Group 104"/>
            <p:cNvGrpSpPr/>
            <p:nvPr/>
          </p:nvGrpSpPr>
          <p:grpSpPr bwMode="auto">
            <a:xfrm>
              <a:off x="672" y="1200"/>
              <a:ext cx="122" cy="96"/>
              <a:chOff x="576" y="1200"/>
              <a:chExt cx="96" cy="48"/>
            </a:xfrm>
            <a:grpFill/>
          </p:grpSpPr>
          <p:sp>
            <p:nvSpPr>
              <p:cNvPr id="1083" name="Line 105"/>
              <p:cNvSpPr>
                <a:spLocks noChangeShapeType="1"/>
              </p:cNvSpPr>
              <p:nvPr/>
            </p:nvSpPr>
            <p:spPr bwMode="auto">
              <a:xfrm>
                <a:off x="672" y="1200"/>
                <a:ext cx="0" cy="48"/>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84" name="Line 106"/>
              <p:cNvSpPr>
                <a:spLocks noChangeShapeType="1"/>
              </p:cNvSpPr>
              <p:nvPr/>
            </p:nvSpPr>
            <p:spPr bwMode="auto">
              <a:xfrm>
                <a:off x="624" y="1200"/>
                <a:ext cx="0" cy="48"/>
              </a:xfrm>
              <a:prstGeom prst="line">
                <a:avLst/>
              </a:prstGeom>
              <a:grpFill/>
              <a:ln w="1905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85" name="Line 107"/>
              <p:cNvSpPr>
                <a:spLocks noChangeShapeType="1"/>
              </p:cNvSpPr>
              <p:nvPr/>
            </p:nvSpPr>
            <p:spPr bwMode="auto">
              <a:xfrm>
                <a:off x="576" y="1200"/>
                <a:ext cx="0" cy="48"/>
              </a:xfrm>
              <a:prstGeom prst="line">
                <a:avLst/>
              </a:prstGeom>
              <a:grpFill/>
              <a:ln w="9525">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sp>
          <p:nvSpPr>
            <p:cNvPr id="1082" name="Rectangle 108"/>
            <p:cNvSpPr>
              <a:spLocks noChangeArrowheads="1"/>
            </p:cNvSpPr>
            <p:nvPr/>
          </p:nvSpPr>
          <p:spPr bwMode="auto">
            <a:xfrm>
              <a:off x="1200" y="1152"/>
              <a:ext cx="240" cy="192"/>
            </a:xfrm>
            <a:prstGeom prst="rect">
              <a:avLst/>
            </a:prstGeom>
            <a:grpFill/>
            <a:ln w="9525">
              <a:solidFill>
                <a:schemeClr val="tx1"/>
              </a:solidFill>
              <a:miter lim="800000"/>
            </a:ln>
          </p:spPr>
          <p:txBody>
            <a:bodyPr wrap="none" anchor="ctr"/>
            <a:lstStyle/>
            <a:p>
              <a:pPr algn="ctr">
                <a:defRPr/>
              </a:pPr>
              <a:r>
                <a:rPr lang="en-US" altLang="zh-CN">
                  <a:latin typeface="微软雅黑" panose="020B0503020204020204" pitchFamily="34" charset="-122"/>
                  <a:ea typeface="微软雅黑" panose="020B0503020204020204" pitchFamily="34" charset="-122"/>
                </a:rPr>
                <a:t>“4”</a:t>
              </a:r>
              <a:endParaRPr lang="en-US" altLang="zh-CN">
                <a:latin typeface="微软雅黑" panose="020B0503020204020204" pitchFamily="34" charset="-122"/>
                <a:ea typeface="微软雅黑" panose="020B0503020204020204" pitchFamily="34" charset="-122"/>
              </a:endParaRPr>
            </a:p>
          </p:txBody>
        </p:sp>
      </p:grpSp>
      <p:grpSp>
        <p:nvGrpSpPr>
          <p:cNvPr id="1086" name="Group 109"/>
          <p:cNvGrpSpPr/>
          <p:nvPr/>
        </p:nvGrpSpPr>
        <p:grpSpPr bwMode="auto">
          <a:xfrm>
            <a:off x="3217863" y="2034540"/>
            <a:ext cx="1219200" cy="304800"/>
            <a:chOff x="672" y="1152"/>
            <a:chExt cx="768" cy="192"/>
          </a:xfrm>
          <a:solidFill>
            <a:schemeClr val="accent6">
              <a:lumMod val="60000"/>
              <a:lumOff val="40000"/>
            </a:schemeClr>
          </a:solidFill>
        </p:grpSpPr>
        <p:sp>
          <p:nvSpPr>
            <p:cNvPr id="1087" name="Rectangle 110"/>
            <p:cNvSpPr>
              <a:spLocks noChangeArrowheads="1"/>
            </p:cNvSpPr>
            <p:nvPr/>
          </p:nvSpPr>
          <p:spPr bwMode="auto">
            <a:xfrm>
              <a:off x="855" y="1152"/>
              <a:ext cx="345" cy="192"/>
            </a:xfrm>
            <a:prstGeom prst="rect">
              <a:avLst/>
            </a:prstGeom>
            <a:grp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nvGrpSpPr>
            <p:cNvPr id="1088" name="Group 111"/>
            <p:cNvGrpSpPr/>
            <p:nvPr/>
          </p:nvGrpSpPr>
          <p:grpSpPr bwMode="auto">
            <a:xfrm>
              <a:off x="672" y="1200"/>
              <a:ext cx="122" cy="96"/>
              <a:chOff x="576" y="1200"/>
              <a:chExt cx="96" cy="48"/>
            </a:xfrm>
            <a:grpFill/>
          </p:grpSpPr>
          <p:sp>
            <p:nvSpPr>
              <p:cNvPr id="1090" name="Line 112"/>
              <p:cNvSpPr>
                <a:spLocks noChangeShapeType="1"/>
              </p:cNvSpPr>
              <p:nvPr/>
            </p:nvSpPr>
            <p:spPr bwMode="auto">
              <a:xfrm>
                <a:off x="672" y="1200"/>
                <a:ext cx="0" cy="48"/>
              </a:xfrm>
              <a:prstGeom prst="line">
                <a:avLst/>
              </a:prstGeom>
              <a:grpFill/>
              <a:ln w="3810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91" name="Line 113"/>
              <p:cNvSpPr>
                <a:spLocks noChangeShapeType="1"/>
              </p:cNvSpPr>
              <p:nvPr/>
            </p:nvSpPr>
            <p:spPr bwMode="auto">
              <a:xfrm>
                <a:off x="624" y="1200"/>
                <a:ext cx="0" cy="48"/>
              </a:xfrm>
              <a:prstGeom prst="line">
                <a:avLst/>
              </a:prstGeom>
              <a:grpFill/>
              <a:ln w="19050">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sp>
            <p:nvSpPr>
              <p:cNvPr id="1092" name="Line 114"/>
              <p:cNvSpPr>
                <a:spLocks noChangeShapeType="1"/>
              </p:cNvSpPr>
              <p:nvPr/>
            </p:nvSpPr>
            <p:spPr bwMode="auto">
              <a:xfrm>
                <a:off x="576" y="1200"/>
                <a:ext cx="0" cy="48"/>
              </a:xfrm>
              <a:prstGeom prst="line">
                <a:avLst/>
              </a:prstGeom>
              <a:grpFill/>
              <a:ln w="9525">
                <a:solidFill>
                  <a:schemeClr val="tx1"/>
                </a:solidFill>
                <a:round/>
              </a:ln>
            </p:spPr>
            <p:txBody>
              <a:bodyPr/>
              <a:lstStyle/>
              <a:p>
                <a:pPr eaLnBrk="1" hangingPunct="1">
                  <a:lnSpc>
                    <a:spcPct val="120000"/>
                  </a:lnSpc>
                  <a:spcBef>
                    <a:spcPct val="10000"/>
                  </a:spcBef>
                  <a:buClr>
                    <a:schemeClr val="tx1"/>
                  </a:buClr>
                  <a:buFont typeface="Symbol" panose="05050102010706020507" pitchFamily="18" charset="2"/>
                  <a:buNone/>
                  <a:defRPr/>
                </a:pPr>
                <a:endParaRPr lang="zh-CN" altLang="en-US" sz="2000">
                  <a:latin typeface="微软雅黑" panose="020B0503020204020204" pitchFamily="34" charset="-122"/>
                  <a:ea typeface="微软雅黑" panose="020B0503020204020204" pitchFamily="34" charset="-122"/>
                </a:endParaRPr>
              </a:p>
            </p:txBody>
          </p:sp>
        </p:grpSp>
        <p:sp>
          <p:nvSpPr>
            <p:cNvPr id="1089" name="Rectangle 115"/>
            <p:cNvSpPr>
              <a:spLocks noChangeArrowheads="1"/>
            </p:cNvSpPr>
            <p:nvPr/>
          </p:nvSpPr>
          <p:spPr bwMode="auto">
            <a:xfrm>
              <a:off x="1200" y="1152"/>
              <a:ext cx="240" cy="192"/>
            </a:xfrm>
            <a:prstGeom prst="rect">
              <a:avLst/>
            </a:prstGeom>
            <a:grpFill/>
            <a:ln w="9525">
              <a:solidFill>
                <a:schemeClr val="tx1"/>
              </a:solidFill>
              <a:miter lim="800000"/>
            </a:ln>
          </p:spPr>
          <p:txBody>
            <a:bodyPr wrap="none" anchor="ctr"/>
            <a:lstStyle/>
            <a:p>
              <a:pPr algn="ctr">
                <a:defRPr/>
              </a:pPr>
              <a:r>
                <a:rPr lang="en-US" altLang="zh-CN" dirty="0">
                  <a:latin typeface="微软雅黑" panose="020B0503020204020204" pitchFamily="34" charset="-122"/>
                  <a:ea typeface="微软雅黑" panose="020B0503020204020204" pitchFamily="34" charset="-122"/>
                </a:rPr>
                <a:t>“4”</a:t>
              </a:r>
              <a:endParaRPr lang="en-US" altLang="zh-CN" dirty="0">
                <a:latin typeface="微软雅黑" panose="020B0503020204020204" pitchFamily="34" charset="-122"/>
                <a:ea typeface="微软雅黑" panose="020B0503020204020204" pitchFamily="34" charset="-122"/>
              </a:endParaRPr>
            </a:p>
          </p:txBody>
        </p:sp>
      </p:grpSp>
      <p:sp>
        <p:nvSpPr>
          <p:cNvPr id="4" name="Text Box 57"/>
          <p:cNvSpPr txBox="1">
            <a:spLocks noChangeArrowheads="1"/>
          </p:cNvSpPr>
          <p:nvPr/>
        </p:nvSpPr>
        <p:spPr bwMode="auto">
          <a:xfrm>
            <a:off x="8868441" y="1949379"/>
            <a:ext cx="1236236"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输出</a:t>
            </a:r>
            <a:endParaRPr lang="en-US" altLang="zh-CN" sz="1600" dirty="0">
              <a:latin typeface="微软雅黑" panose="020B0503020204020204" pitchFamily="34" charset="-122"/>
              <a:ea typeface="微软雅黑" panose="020B0503020204020204" pitchFamily="34" charset="-122"/>
            </a:endParaRPr>
          </a:p>
        </p:txBody>
      </p:sp>
      <p:sp>
        <p:nvSpPr>
          <p:cNvPr id="5" name="Text Box 59"/>
          <p:cNvSpPr txBox="1">
            <a:spLocks noChangeArrowheads="1"/>
          </p:cNvSpPr>
          <p:nvPr/>
        </p:nvSpPr>
        <p:spPr bwMode="auto">
          <a:xfrm>
            <a:off x="8868441" y="2863779"/>
            <a:ext cx="1236236"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输出</a:t>
            </a:r>
            <a:endParaRPr lang="en-US" altLang="zh-CN" sz="1600" dirty="0">
              <a:latin typeface="微软雅黑" panose="020B0503020204020204" pitchFamily="34" charset="-122"/>
              <a:ea typeface="微软雅黑" panose="020B0503020204020204" pitchFamily="34" charset="-122"/>
            </a:endParaRPr>
          </a:p>
        </p:txBody>
      </p:sp>
      <p:sp>
        <p:nvSpPr>
          <p:cNvPr id="6" name="Text Box 61"/>
          <p:cNvSpPr txBox="1">
            <a:spLocks noChangeArrowheads="1"/>
          </p:cNvSpPr>
          <p:nvPr/>
        </p:nvSpPr>
        <p:spPr bwMode="auto">
          <a:xfrm>
            <a:off x="8868441" y="3701979"/>
            <a:ext cx="1236236"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3, </a:t>
            </a:r>
            <a:r>
              <a:rPr lang="zh-CN" altLang="en-US" sz="1600" dirty="0">
                <a:latin typeface="微软雅黑" panose="020B0503020204020204" pitchFamily="34" charset="-122"/>
                <a:ea typeface="微软雅黑" panose="020B0503020204020204" pitchFamily="34" charset="-122"/>
              </a:rPr>
              <a:t>输出</a:t>
            </a:r>
            <a:endParaRPr lang="en-US" altLang="zh-CN" sz="1600" dirty="0">
              <a:latin typeface="微软雅黑" panose="020B0503020204020204" pitchFamily="34" charset="-122"/>
              <a:ea typeface="微软雅黑" panose="020B0503020204020204" pitchFamily="34" charset="-122"/>
            </a:endParaRPr>
          </a:p>
        </p:txBody>
      </p:sp>
      <p:sp>
        <p:nvSpPr>
          <p:cNvPr id="7" name="Text Box 63"/>
          <p:cNvSpPr txBox="1">
            <a:spLocks noChangeArrowheads="1"/>
          </p:cNvSpPr>
          <p:nvPr/>
        </p:nvSpPr>
        <p:spPr bwMode="auto">
          <a:xfrm>
            <a:off x="8868441" y="4616379"/>
            <a:ext cx="1236236" cy="338554"/>
          </a:xfrm>
          <a:prstGeom prst="rect">
            <a:avLst/>
          </a:prstGeom>
          <a:noFill/>
          <a:ln w="9525">
            <a:noFill/>
            <a:miter lim="800000"/>
          </a:ln>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链路</a:t>
            </a:r>
            <a:r>
              <a:rPr lang="en-US" altLang="zh-CN" sz="1600" dirty="0">
                <a:latin typeface="微软雅黑" panose="020B0503020204020204" pitchFamily="34" charset="-122"/>
                <a:ea typeface="微软雅黑" panose="020B0503020204020204" pitchFamily="34" charset="-122"/>
              </a:rPr>
              <a:t>4, </a:t>
            </a:r>
            <a:r>
              <a:rPr lang="zh-CN" altLang="en-US" sz="1600" dirty="0">
                <a:latin typeface="微软雅黑" panose="020B0503020204020204" pitchFamily="34" charset="-122"/>
                <a:ea typeface="微软雅黑" panose="020B0503020204020204" pitchFamily="34" charset="-122"/>
              </a:rPr>
              <a:t>输出</a:t>
            </a:r>
            <a:endParaRPr lang="en-US" altLang="zh-CN" sz="1600"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86" name="矩形 85"/>
          <p:cNvSpPr/>
          <p:nvPr/>
        </p:nvSpPr>
        <p:spPr>
          <a:xfrm>
            <a:off x="4053851" y="6497121"/>
            <a:ext cx="3262432"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计算机网络</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，徐敬东等</a:t>
            </a:r>
            <a:endParaRPr lang="zh-CN" altLang="en-US" sz="1600" dirty="0">
              <a:solidFill>
                <a:schemeClr val="bg1">
                  <a:lumMod val="65000"/>
                </a:schemeClr>
              </a:solidFill>
            </a:endParaRPr>
          </a:p>
        </p:txBody>
      </p:sp>
      <p:sp>
        <p:nvSpPr>
          <p:cNvPr id="87" name="文本框 8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79"/>
                                        </p:tgtEl>
                                        <p:attrNameLst>
                                          <p:attrName>style.visibility</p:attrName>
                                        </p:attrNameLst>
                                      </p:cBhvr>
                                      <p:to>
                                        <p:strVal val="visible"/>
                                      </p:to>
                                    </p:set>
                                    <p:anim calcmode="lin" valueType="num">
                                      <p:cBhvr additive="base">
                                        <p:cTn id="7" dur="500" fill="hold"/>
                                        <p:tgtEl>
                                          <p:spTgt spid="1079"/>
                                        </p:tgtEl>
                                        <p:attrNameLst>
                                          <p:attrName>ppt_x</p:attrName>
                                        </p:attrNameLst>
                                      </p:cBhvr>
                                      <p:tavLst>
                                        <p:tav tm="0">
                                          <p:val>
                                            <p:strVal val="0-#ppt_w/2"/>
                                          </p:val>
                                        </p:tav>
                                        <p:tav tm="100000">
                                          <p:val>
                                            <p:strVal val="#ppt_x"/>
                                          </p:val>
                                        </p:tav>
                                      </p:tavLst>
                                    </p:anim>
                                    <p:anim calcmode="lin" valueType="num">
                                      <p:cBhvr additive="base">
                                        <p:cTn id="8" dur="500" fill="hold"/>
                                        <p:tgtEl>
                                          <p:spTgt spid="10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mph" presetSubtype="0" fill="hold" nodeType="clickEffect">
                                  <p:stCondLst>
                                    <p:cond delay="0"/>
                                  </p:stCondLst>
                                  <p:childTnLst>
                                    <p:animRot by="5400000">
                                      <p:cBhvr>
                                        <p:cTn id="12" dur="500" fill="hold"/>
                                        <p:tgtEl>
                                          <p:spTgt spid="1079"/>
                                        </p:tgtEl>
                                        <p:attrNameLst>
                                          <p:attrName>r</p:attrName>
                                        </p:attrNameLst>
                                      </p:cBhvr>
                                    </p:animRot>
                                  </p:childTnLst>
                                </p:cTn>
                              </p:par>
                            </p:childTnLst>
                          </p:cTn>
                        </p:par>
                        <p:par>
                          <p:cTn id="13" fill="hold">
                            <p:stCondLst>
                              <p:cond delay="500"/>
                            </p:stCondLst>
                            <p:childTnLst>
                              <p:par>
                                <p:cTn id="14" presetID="42" presetClass="path" presetSubtype="0" accel="50000" decel="50000" fill="hold" nodeType="afterEffect">
                                  <p:stCondLst>
                                    <p:cond delay="0"/>
                                  </p:stCondLst>
                                  <p:childTnLst>
                                    <p:animMotion origin="layout" path="M -3.33333E-6 -4.44444E-6 L -3.33333E-6 0.2 " pathEditMode="relative" rAng="0" ptsTypes="AA">
                                      <p:cBhvr>
                                        <p:cTn id="15" dur="1000" fill="hold"/>
                                        <p:tgtEl>
                                          <p:spTgt spid="1079"/>
                                        </p:tgtEl>
                                        <p:attrNameLst>
                                          <p:attrName>ppt_x</p:attrName>
                                          <p:attrName>ppt_y</p:attrName>
                                        </p:attrNameLst>
                                      </p:cBhvr>
                                      <p:rCtr x="0" y="10000"/>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86"/>
                                        </p:tgtEl>
                                        <p:attrNameLst>
                                          <p:attrName>style.visibility</p:attrName>
                                        </p:attrNameLst>
                                      </p:cBhvr>
                                      <p:to>
                                        <p:strVal val="visible"/>
                                      </p:to>
                                    </p:set>
                                  </p:childTnLst>
                                </p:cTn>
                              </p:par>
                            </p:childTnLst>
                          </p:cTn>
                        </p:par>
                        <p:par>
                          <p:cTn id="20" fill="hold">
                            <p:stCondLst>
                              <p:cond delay="0"/>
                            </p:stCondLst>
                            <p:childTnLst>
                              <p:par>
                                <p:cTn id="21" presetID="0" presetClass="path" presetSubtype="0" accel="50000" decel="50000" fill="hold" nodeType="afterEffect">
                                  <p:stCondLst>
                                    <p:cond delay="0"/>
                                  </p:stCondLst>
                                  <p:childTnLst>
                                    <p:animMotion origin="layout" path="M 0.01992 0.01111 L 0.23516 0.01111 " pathEditMode="relative" rAng="0" ptsTypes="AA">
                                      <p:cBhvr>
                                        <p:cTn id="22" dur="2000" fill="hold"/>
                                        <p:tgtEl>
                                          <p:spTgt spid="1086"/>
                                        </p:tgtEl>
                                        <p:attrNameLst>
                                          <p:attrName>ppt_x</p:attrName>
                                          <p:attrName>ppt_y</p:attrName>
                                        </p:attrNameLst>
                                      </p:cBhvr>
                                      <p:rCtr x="10742" y="208"/>
                                    </p:animMotion>
                                  </p:childTnLst>
                                </p:cTn>
                              </p:par>
                            </p:childTnLst>
                          </p:cTn>
                        </p:par>
                      </p:childTnLst>
                    </p:cTn>
                  </p:par>
                  <p:par>
                    <p:cTn id="23" fill="hold">
                      <p:stCondLst>
                        <p:cond delay="indefinite"/>
                      </p:stCondLst>
                      <p:childTnLst>
                        <p:par>
                          <p:cTn id="24" fill="hold">
                            <p:stCondLst>
                              <p:cond delay="0"/>
                            </p:stCondLst>
                            <p:childTnLst>
                              <p:par>
                                <p:cTn id="25" presetID="8" presetClass="emph" presetSubtype="0" fill="hold" nodeType="clickEffect">
                                  <p:stCondLst>
                                    <p:cond delay="0"/>
                                  </p:stCondLst>
                                  <p:childTnLst>
                                    <p:animRot by="4500000">
                                      <p:cBhvr>
                                        <p:cTn id="26" dur="500" fill="hold"/>
                                        <p:tgtEl>
                                          <p:spTgt spid="1086"/>
                                        </p:tgtEl>
                                        <p:attrNameLst>
                                          <p:attrName>r</p:attrName>
                                        </p:attrNameLst>
                                      </p:cBhvr>
                                    </p:animRot>
                                  </p:childTnLst>
                                </p:cTn>
                              </p:par>
                            </p:childTnLst>
                          </p:cTn>
                        </p:par>
                        <p:par>
                          <p:cTn id="27" fill="hold">
                            <p:stCondLst>
                              <p:cond delay="500"/>
                            </p:stCondLst>
                            <p:childTnLst>
                              <p:par>
                                <p:cTn id="28" presetID="0" presetClass="path" presetSubtype="0" accel="50000" decel="50000" fill="hold" nodeType="afterEffect">
                                  <p:stCondLst>
                                    <p:cond delay="0"/>
                                  </p:stCondLst>
                                  <p:childTnLst>
                                    <p:animMotion origin="layout" path="M 0.23516 0.01111 L 0.32683 0.4037 " pathEditMode="relative" rAng="0" ptsTypes="AA">
                                      <p:cBhvr>
                                        <p:cTn id="29" dur="1000" fill="hold"/>
                                        <p:tgtEl>
                                          <p:spTgt spid="1086"/>
                                        </p:tgtEl>
                                        <p:attrNameLst>
                                          <p:attrName>ppt_x</p:attrName>
                                          <p:attrName>ppt_y</p:attrName>
                                        </p:attrNameLst>
                                      </p:cBhvr>
                                      <p:rCtr x="4583" y="19630"/>
                                    </p:animMotion>
                                  </p:childTnLst>
                                </p:cTn>
                              </p:par>
                            </p:childTnLst>
                          </p:cTn>
                        </p:par>
                        <p:par>
                          <p:cTn id="30" fill="hold">
                            <p:stCondLst>
                              <p:cond delay="1500"/>
                            </p:stCondLst>
                            <p:childTnLst>
                              <p:par>
                                <p:cTn id="31" presetID="8" presetClass="emph" presetSubtype="0" fill="hold" nodeType="afterEffect">
                                  <p:stCondLst>
                                    <p:cond delay="0"/>
                                  </p:stCondLst>
                                  <p:childTnLst>
                                    <p:animRot by="-4500000">
                                      <p:cBhvr>
                                        <p:cTn id="32" dur="500" fill="hold"/>
                                        <p:tgtEl>
                                          <p:spTgt spid="1086"/>
                                        </p:tgtEl>
                                        <p:attrNameLst>
                                          <p:attrName>r</p:attrName>
                                        </p:attrNameLst>
                                      </p:cBhvr>
                                    </p:animRot>
                                  </p:childTnLst>
                                </p:cTn>
                              </p:par>
                            </p:childTnLst>
                          </p:cTn>
                        </p:par>
                      </p:childTnLst>
                    </p:cTn>
                  </p:par>
                  <p:par>
                    <p:cTn id="33" fill="hold">
                      <p:stCondLst>
                        <p:cond delay="indefinite"/>
                      </p:stCondLst>
                      <p:childTnLst>
                        <p:par>
                          <p:cTn id="34" fill="hold">
                            <p:stCondLst>
                              <p:cond delay="0"/>
                            </p:stCondLst>
                            <p:childTnLst>
                              <p:par>
                                <p:cTn id="35" presetID="63" presetClass="path" presetSubtype="0" accel="50000" decel="50000" fill="hold" nodeType="clickEffect">
                                  <p:stCondLst>
                                    <p:cond delay="0"/>
                                  </p:stCondLst>
                                  <p:childTnLst>
                                    <p:animMotion origin="layout" path="M 0.32683 0.4037 L 0.50378 0.4037 " pathEditMode="relative" rAng="0" ptsTypes="AA">
                                      <p:cBhvr>
                                        <p:cTn id="36" dur="1000" fill="hold"/>
                                        <p:tgtEl>
                                          <p:spTgt spid="1086"/>
                                        </p:tgtEl>
                                        <p:attrNameLst>
                                          <p:attrName>ppt_x</p:attrName>
                                          <p:attrName>ppt_y</p:attrName>
                                        </p:attrNameLst>
                                      </p:cBhvr>
                                      <p:rCtr x="884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电路交换</a:t>
            </a:r>
            <a:endParaRPr lang="zh-CN" altLang="en-US" dirty="0"/>
          </a:p>
        </p:txBody>
      </p:sp>
      <p:sp>
        <p:nvSpPr>
          <p:cNvPr id="3" name="内容占位符 2"/>
          <p:cNvSpPr>
            <a:spLocks noGrp="1"/>
          </p:cNvSpPr>
          <p:nvPr>
            <p:ph idx="1"/>
          </p:nvPr>
        </p:nvSpPr>
        <p:spPr>
          <a:xfrm>
            <a:off x="768033" y="1325978"/>
            <a:ext cx="6064416" cy="5006009"/>
          </a:xfrm>
        </p:spPr>
        <p:txBody>
          <a:bodyPr>
            <a:noAutofit/>
          </a:bodyPr>
          <a:lstStyle/>
          <a:p>
            <a:pPr marL="571500" indent="-342900">
              <a:lnSpc>
                <a:spcPct val="110000"/>
              </a:lnSpc>
              <a:buClr>
                <a:srgbClr val="000000"/>
              </a:buClr>
              <a:buFont typeface="Wingdings" panose="05000000000000000000" charset="0"/>
              <a:buChar char="Ø"/>
            </a:pPr>
            <a:r>
              <a:rPr lang="zh-CN" altLang="en-US" sz="2600" dirty="0">
                <a:sym typeface="+mn-ea"/>
              </a:rPr>
              <a:t>电路交换的主要特点</a:t>
            </a:r>
            <a:endParaRPr lang="zh-CN" altLang="en-US" sz="2600" dirty="0">
              <a:solidFill>
                <a:srgbClr val="C00000"/>
              </a:solidFill>
              <a:sym typeface="+mn-ea"/>
            </a:endParaRPr>
          </a:p>
          <a:p>
            <a:pPr marL="1028700" lvl="1" indent="-342900">
              <a:lnSpc>
                <a:spcPct val="110000"/>
              </a:lnSpc>
              <a:buClr>
                <a:srgbClr val="000000"/>
              </a:buClr>
            </a:pPr>
            <a:r>
              <a:rPr lang="zh-CN" altLang="en-US" sz="2200" dirty="0">
                <a:sym typeface="+mn-ea"/>
              </a:rPr>
              <a:t>电路交换通常采用面向连接方式</a:t>
            </a:r>
            <a:endParaRPr lang="zh-CN" altLang="en-US" sz="2200" dirty="0">
              <a:latin typeface="微软雅黑" panose="020B0503020204020204" pitchFamily="34" charset="-122"/>
              <a:ea typeface="微软雅黑" panose="020B0503020204020204" pitchFamily="34" charset="-122"/>
            </a:endParaRPr>
          </a:p>
          <a:p>
            <a:pPr marL="1028700" lvl="1" indent="-342900">
              <a:lnSpc>
                <a:spcPct val="110000"/>
              </a:lnSpc>
              <a:buClr>
                <a:srgbClr val="000000"/>
              </a:buClr>
            </a:pPr>
            <a:r>
              <a:rPr lang="zh-CN" altLang="en-US" sz="2200" dirty="0">
                <a:sym typeface="+mn-ea"/>
              </a:rPr>
              <a:t>先呼叫建立连接，实现端到端的资源预留</a:t>
            </a:r>
            <a:endParaRPr lang="zh-CN" altLang="en-US" sz="2200" dirty="0">
              <a:sym typeface="+mn-ea"/>
            </a:endParaRPr>
          </a:p>
          <a:p>
            <a:pPr marL="1028700" lvl="1" indent="-342900">
              <a:lnSpc>
                <a:spcPct val="110000"/>
              </a:lnSpc>
              <a:buClr>
                <a:srgbClr val="000000"/>
              </a:buClr>
            </a:pPr>
            <a:r>
              <a:rPr lang="zh-CN" altLang="en-US" sz="2200" dirty="0">
                <a:sym typeface="+mn-ea"/>
              </a:rPr>
              <a:t>预留的资源包括：链路带宽资源、交换机的交换能力</a:t>
            </a:r>
            <a:endParaRPr lang="zh-CN" altLang="en-US" sz="2200" dirty="0">
              <a:sym typeface="+mn-ea"/>
            </a:endParaRPr>
          </a:p>
          <a:p>
            <a:pPr marL="1028700" lvl="1" indent="-342900">
              <a:lnSpc>
                <a:spcPct val="110000"/>
              </a:lnSpc>
              <a:buClr>
                <a:srgbClr val="000000"/>
              </a:buClr>
            </a:pPr>
            <a:r>
              <a:rPr lang="zh-CN" altLang="en-US" sz="2200" dirty="0"/>
              <a:t>电路交换连接建立后，物理通路被通信双方独占，</a:t>
            </a:r>
            <a:r>
              <a:rPr lang="zh-CN" altLang="en-US" sz="2200" dirty="0">
                <a:sym typeface="+mn-ea"/>
              </a:rPr>
              <a:t>资源专用，即使空闲也不与其他连接共享</a:t>
            </a:r>
            <a:endParaRPr lang="zh-CN" altLang="en-US" sz="2200" dirty="0">
              <a:latin typeface="微软雅黑" panose="020B0503020204020204" pitchFamily="34" charset="-122"/>
              <a:ea typeface="微软雅黑" panose="020B0503020204020204" pitchFamily="34" charset="-122"/>
            </a:endParaRPr>
          </a:p>
          <a:p>
            <a:pPr marL="1028700" lvl="1" indent="-342900">
              <a:lnSpc>
                <a:spcPct val="110000"/>
              </a:lnSpc>
              <a:buClr>
                <a:srgbClr val="000000"/>
              </a:buClr>
            </a:pPr>
            <a:r>
              <a:rPr lang="zh-CN" altLang="en-US" sz="2200" dirty="0">
                <a:sym typeface="+mn-ea"/>
              </a:rPr>
              <a:t>由于建立连接并预留资源，因此传输性能好；但如果传输中发生设备故障，则传输被中断</a:t>
            </a:r>
            <a:endParaRPr lang="zh-CN" altLang="en-US" sz="2200" dirty="0">
              <a:sym typeface="+mn-ea"/>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44" name="矩形 43"/>
          <p:cNvSpPr/>
          <p:nvPr/>
        </p:nvSpPr>
        <p:spPr>
          <a:xfrm>
            <a:off x="1199515" y="2119630"/>
            <a:ext cx="5321935" cy="1068070"/>
          </a:xfrm>
          <a:prstGeom prst="rect">
            <a:avLst/>
          </a:prstGeom>
        </p:spPr>
        <p:txBody>
          <a:bodyPr wrap="square">
            <a:spAutoFit/>
          </a:bodyPr>
          <a:lstStyle/>
          <a:p>
            <a:pPr indent="0">
              <a:lnSpc>
                <a:spcPts val="3300"/>
              </a:lnSpc>
              <a:buClr>
                <a:srgbClr val="0070C0"/>
              </a:buClr>
              <a:buFont typeface="Wingdings" panose="05000000000000000000" charset="0"/>
              <a:buNone/>
            </a:pPr>
            <a:endParaRPr lang="en-US" altLang="zh-CN" sz="2400" dirty="0">
              <a:solidFill>
                <a:schemeClr val="tx1"/>
              </a:solidFill>
              <a:latin typeface="微软雅黑" panose="020B0503020204020204" pitchFamily="34" charset="-122"/>
              <a:ea typeface="微软雅黑" panose="020B0503020204020204" pitchFamily="34" charset="-122"/>
            </a:endParaRPr>
          </a:p>
          <a:p>
            <a:endParaRPr lang="en-US" altLang="zh-CN" dirty="0"/>
          </a:p>
          <a:p>
            <a:endParaRPr lang="zh-CN" altLang="en-US" dirty="0"/>
          </a:p>
        </p:txBody>
      </p:sp>
      <p:grpSp>
        <p:nvGrpSpPr>
          <p:cNvPr id="7" name="组合 6"/>
          <p:cNvGrpSpPr/>
          <p:nvPr/>
        </p:nvGrpSpPr>
        <p:grpSpPr>
          <a:xfrm>
            <a:off x="6701742" y="1574157"/>
            <a:ext cx="4749847" cy="4093818"/>
            <a:chOff x="4749800" y="1371600"/>
            <a:chExt cx="4394200" cy="3735388"/>
          </a:xfrm>
        </p:grpSpPr>
        <p:cxnSp>
          <p:nvCxnSpPr>
            <p:cNvPr id="8" name="Straight Connector 379"/>
            <p:cNvCxnSpPr/>
            <p:nvPr/>
          </p:nvCxnSpPr>
          <p:spPr bwMode="auto">
            <a:xfrm rot="16200000" flipH="1">
              <a:off x="5373687" y="2093913"/>
              <a:ext cx="557213" cy="26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380"/>
            <p:cNvCxnSpPr/>
            <p:nvPr/>
          </p:nvCxnSpPr>
          <p:spPr bwMode="auto">
            <a:xfrm rot="5400000">
              <a:off x="5768182" y="1988344"/>
              <a:ext cx="444500" cy="350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381"/>
            <p:cNvCxnSpPr/>
            <p:nvPr/>
          </p:nvCxnSpPr>
          <p:spPr bwMode="auto">
            <a:xfrm>
              <a:off x="5043488" y="2374900"/>
              <a:ext cx="46831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1" name="Group 347"/>
            <p:cNvGrpSpPr/>
            <p:nvPr/>
          </p:nvGrpSpPr>
          <p:grpSpPr bwMode="auto">
            <a:xfrm>
              <a:off x="5443538" y="2192338"/>
              <a:ext cx="815975" cy="449262"/>
              <a:chOff x="1871277" y="1576300"/>
              <a:chExt cx="1128371" cy="437861"/>
            </a:xfrm>
          </p:grpSpPr>
          <p:sp>
            <p:nvSpPr>
              <p:cNvPr id="94" name="Oval 128"/>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95" name="Rectangle 129"/>
              <p:cNvSpPr/>
              <p:nvPr/>
            </p:nvSpPr>
            <p:spPr bwMode="auto">
              <a:xfrm>
                <a:off x="1871277" y="1740305"/>
                <a:ext cx="1128371" cy="11604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6" name="Oval 130"/>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97" name="Freeform 131"/>
              <p:cNvSpPr/>
              <p:nvPr/>
            </p:nvSpPr>
            <p:spPr bwMode="auto">
              <a:xfrm>
                <a:off x="2158857" y="1673774"/>
                <a:ext cx="548819" cy="1609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8" name="Freeform 132"/>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99" name="Freeform 133"/>
              <p:cNvSpPr/>
              <p:nvPr/>
            </p:nvSpPr>
            <p:spPr bwMode="auto">
              <a:xfrm>
                <a:off x="2553833"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100" name="Freeform 134"/>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101" name="Straight Connector 135"/>
              <p:cNvCxnSpPr>
                <a:cxnSpLocks noChangeShapeType="1"/>
                <a:endCxn id="96"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2" name="Straight Connector 136"/>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2" name="Group 347"/>
            <p:cNvGrpSpPr/>
            <p:nvPr/>
          </p:nvGrpSpPr>
          <p:grpSpPr bwMode="auto">
            <a:xfrm>
              <a:off x="7618413" y="2201863"/>
              <a:ext cx="815975" cy="449262"/>
              <a:chOff x="1871277" y="1576300"/>
              <a:chExt cx="1128371" cy="437861"/>
            </a:xfrm>
          </p:grpSpPr>
          <p:sp>
            <p:nvSpPr>
              <p:cNvPr id="85" name="Oval 118"/>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6" name="Rectangle 119"/>
              <p:cNvSpPr/>
              <p:nvPr/>
            </p:nvSpPr>
            <p:spPr bwMode="auto">
              <a:xfrm>
                <a:off x="1871277" y="1740305"/>
                <a:ext cx="1128371" cy="11604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7" name="Oval 120"/>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88" name="Freeform 121"/>
              <p:cNvSpPr/>
              <p:nvPr/>
            </p:nvSpPr>
            <p:spPr bwMode="auto">
              <a:xfrm>
                <a:off x="2158857" y="1673774"/>
                <a:ext cx="548819" cy="1609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9" name="Freeform 122"/>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90" name="Freeform 123"/>
              <p:cNvSpPr/>
              <p:nvPr/>
            </p:nvSpPr>
            <p:spPr bwMode="auto">
              <a:xfrm>
                <a:off x="2553833"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91" name="Freeform 124"/>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92" name="Straight Connector 125"/>
              <p:cNvCxnSpPr>
                <a:cxnSpLocks noChangeShapeType="1"/>
                <a:endCxn id="87"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3" name="Straight Connector 126"/>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cxnSp>
          <p:nvCxnSpPr>
            <p:cNvPr id="13" name="Straight Connector 387"/>
            <p:cNvCxnSpPr/>
            <p:nvPr/>
          </p:nvCxnSpPr>
          <p:spPr bwMode="auto">
            <a:xfrm rot="16200000" flipV="1">
              <a:off x="7853363" y="4473575"/>
              <a:ext cx="557212" cy="147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388"/>
            <p:cNvCxnSpPr/>
            <p:nvPr/>
          </p:nvCxnSpPr>
          <p:spPr bwMode="auto">
            <a:xfrm rot="5400000" flipH="1" flipV="1">
              <a:off x="7604126" y="4460875"/>
              <a:ext cx="501650" cy="117475"/>
            </a:xfrm>
            <a:prstGeom prst="line">
              <a:avLst/>
            </a:prstGeom>
          </p:spPr>
          <p:style>
            <a:lnRef idx="1">
              <a:schemeClr val="accent1"/>
            </a:lnRef>
            <a:fillRef idx="0">
              <a:schemeClr val="accent1"/>
            </a:fillRef>
            <a:effectRef idx="0">
              <a:schemeClr val="accent1"/>
            </a:effectRef>
            <a:fontRef idx="minor">
              <a:schemeClr val="tx1"/>
            </a:fontRef>
          </p:style>
        </p:cxnSp>
        <p:grpSp>
          <p:nvGrpSpPr>
            <p:cNvPr id="15" name="Group 347"/>
            <p:cNvGrpSpPr/>
            <p:nvPr/>
          </p:nvGrpSpPr>
          <p:grpSpPr bwMode="auto">
            <a:xfrm>
              <a:off x="7667625" y="3878263"/>
              <a:ext cx="815975" cy="449262"/>
              <a:chOff x="1871277" y="1576300"/>
              <a:chExt cx="1128371" cy="437861"/>
            </a:xfrm>
          </p:grpSpPr>
          <p:sp>
            <p:nvSpPr>
              <p:cNvPr id="76" name="Oval 108"/>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77" name="Rectangle 109"/>
              <p:cNvSpPr/>
              <p:nvPr/>
            </p:nvSpPr>
            <p:spPr bwMode="auto">
              <a:xfrm>
                <a:off x="1871277" y="1740305"/>
                <a:ext cx="1128371" cy="11604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78" name="Oval 110"/>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79" name="Freeform 111"/>
              <p:cNvSpPr/>
              <p:nvPr/>
            </p:nvSpPr>
            <p:spPr bwMode="auto">
              <a:xfrm>
                <a:off x="2158859" y="1673774"/>
                <a:ext cx="548819" cy="1609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0" name="Freeform 112"/>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1" name="Freeform 113"/>
              <p:cNvSpPr/>
              <p:nvPr/>
            </p:nvSpPr>
            <p:spPr bwMode="auto">
              <a:xfrm>
                <a:off x="2553833"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82" name="Freeform 114"/>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83" name="Straight Connector 115"/>
              <p:cNvCxnSpPr>
                <a:cxnSpLocks noChangeShapeType="1"/>
                <a:endCxn id="78"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84" name="Straight Connector 116"/>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6" name="Group 100"/>
            <p:cNvGrpSpPr/>
            <p:nvPr/>
          </p:nvGrpSpPr>
          <p:grpSpPr bwMode="auto">
            <a:xfrm>
              <a:off x="4749800" y="1371600"/>
              <a:ext cx="631825" cy="503238"/>
              <a:chOff x="-44" y="1473"/>
              <a:chExt cx="981" cy="1105"/>
            </a:xfrm>
          </p:grpSpPr>
          <p:pic>
            <p:nvPicPr>
              <p:cNvPr id="74" name="Picture 101"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Freeform 102"/>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grpSp>
          <p:nvGrpSpPr>
            <p:cNvPr id="17" name="Group 100"/>
            <p:cNvGrpSpPr/>
            <p:nvPr/>
          </p:nvGrpSpPr>
          <p:grpSpPr bwMode="auto">
            <a:xfrm>
              <a:off x="8499475" y="4603750"/>
              <a:ext cx="631825" cy="503238"/>
              <a:chOff x="-44" y="1473"/>
              <a:chExt cx="981" cy="1105"/>
            </a:xfrm>
          </p:grpSpPr>
          <p:pic>
            <p:nvPicPr>
              <p:cNvPr id="72" name="Picture 101"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Freeform 102"/>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sp>
          <p:nvSpPr>
            <p:cNvPr id="18" name="Rectangle 364"/>
            <p:cNvSpPr/>
            <p:nvPr/>
          </p:nvSpPr>
          <p:spPr bwMode="auto">
            <a:xfrm>
              <a:off x="6273800" y="2319338"/>
              <a:ext cx="1346200" cy="555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19" name="Rectangle 365"/>
            <p:cNvSpPr/>
            <p:nvPr/>
          </p:nvSpPr>
          <p:spPr bwMode="auto">
            <a:xfrm>
              <a:off x="6273800" y="2374900"/>
              <a:ext cx="1346200" cy="5556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20" name="Rectangle 366"/>
            <p:cNvSpPr/>
            <p:nvPr/>
          </p:nvSpPr>
          <p:spPr bwMode="auto">
            <a:xfrm>
              <a:off x="6273800" y="2430463"/>
              <a:ext cx="1346200" cy="555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21" name="Rectangle 367"/>
            <p:cNvSpPr/>
            <p:nvPr/>
          </p:nvSpPr>
          <p:spPr bwMode="auto">
            <a:xfrm>
              <a:off x="6273800" y="2486025"/>
              <a:ext cx="1346200" cy="555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grpSp>
          <p:nvGrpSpPr>
            <p:cNvPr id="22" name="Group 142"/>
            <p:cNvGrpSpPr/>
            <p:nvPr/>
          </p:nvGrpSpPr>
          <p:grpSpPr bwMode="auto">
            <a:xfrm>
              <a:off x="5570538" y="3878263"/>
              <a:ext cx="760412" cy="390525"/>
              <a:chOff x="2356" y="1300"/>
              <a:chExt cx="555" cy="194"/>
            </a:xfrm>
          </p:grpSpPr>
          <p:sp>
            <p:nvSpPr>
              <p:cNvPr id="64"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sp>
            <p:nvSpPr>
              <p:cNvPr id="65"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latin typeface="Times New Roman" panose="02020603050405020304" pitchFamily="18" charset="0"/>
                </a:endParaRPr>
              </a:p>
            </p:txBody>
          </p:sp>
          <p:sp>
            <p:nvSpPr>
              <p:cNvPr id="66"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a:latin typeface="Times New Roman" panose="02020603050405020304" pitchFamily="18" charset="0"/>
                </a:endParaRPr>
              </a:p>
            </p:txBody>
          </p:sp>
          <p:grpSp>
            <p:nvGrpSpPr>
              <p:cNvPr id="67" name="Group 146"/>
              <p:cNvGrpSpPr/>
              <p:nvPr/>
            </p:nvGrpSpPr>
            <p:grpSpPr bwMode="auto">
              <a:xfrm>
                <a:off x="2468" y="1332"/>
                <a:ext cx="310" cy="60"/>
                <a:chOff x="2468" y="1332"/>
                <a:chExt cx="310" cy="60"/>
              </a:xfrm>
            </p:grpSpPr>
            <p:sp>
              <p:nvSpPr>
                <p:cNvPr id="70" name="Freeform 147"/>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 name="Freeform 148"/>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8" name="Line 149"/>
              <p:cNvSpPr>
                <a:spLocks noChangeShapeType="1"/>
              </p:cNvSpPr>
              <p:nvPr/>
            </p:nvSpPr>
            <p:spPr bwMode="auto">
              <a:xfrm>
                <a:off x="2357" y="1361"/>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150"/>
              <p:cNvSpPr>
                <a:spLocks noChangeShapeType="1"/>
              </p:cNvSpPr>
              <p:nvPr/>
            </p:nvSpPr>
            <p:spPr bwMode="auto">
              <a:xfrm>
                <a:off x="2907" y="1363"/>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 name="Group 75"/>
            <p:cNvGrpSpPr/>
            <p:nvPr/>
          </p:nvGrpSpPr>
          <p:grpSpPr bwMode="auto">
            <a:xfrm rot="5400000">
              <a:off x="5280818" y="3120232"/>
              <a:ext cx="1281113" cy="234950"/>
              <a:chOff x="4876800" y="1143000"/>
              <a:chExt cx="1752600" cy="304800"/>
            </a:xfrm>
          </p:grpSpPr>
          <p:sp>
            <p:nvSpPr>
              <p:cNvPr id="60" name="Rectangle 401"/>
              <p:cNvSpPr/>
              <p:nvPr/>
            </p:nvSpPr>
            <p:spPr>
              <a:xfrm>
                <a:off x="4865941" y="11697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61" name="Rectangle 402"/>
              <p:cNvSpPr/>
              <p:nvPr/>
            </p:nvSpPr>
            <p:spPr>
              <a:xfrm>
                <a:off x="4865941" y="12459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62" name="Rectangle 403"/>
              <p:cNvSpPr/>
              <p:nvPr/>
            </p:nvSpPr>
            <p:spPr>
              <a:xfrm>
                <a:off x="4865941" y="13221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63" name="Rectangle 404"/>
              <p:cNvSpPr/>
              <p:nvPr/>
            </p:nvSpPr>
            <p:spPr>
              <a:xfrm>
                <a:off x="4865941" y="13983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grpSp>
        <p:grpSp>
          <p:nvGrpSpPr>
            <p:cNvPr id="24" name="Group 80"/>
            <p:cNvGrpSpPr/>
            <p:nvPr/>
          </p:nvGrpSpPr>
          <p:grpSpPr bwMode="auto">
            <a:xfrm>
              <a:off x="6350000" y="3990975"/>
              <a:ext cx="1328738" cy="222250"/>
              <a:chOff x="4876800" y="1143000"/>
              <a:chExt cx="1752600" cy="304800"/>
            </a:xfrm>
          </p:grpSpPr>
          <p:sp>
            <p:nvSpPr>
              <p:cNvPr id="56" name="Rectangle 397"/>
              <p:cNvSpPr/>
              <p:nvPr/>
            </p:nvSpPr>
            <p:spPr>
              <a:xfrm>
                <a:off x="4876800" y="11430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57" name="Rectangle 398"/>
              <p:cNvSpPr/>
              <p:nvPr/>
            </p:nvSpPr>
            <p:spPr>
              <a:xfrm>
                <a:off x="4876800" y="12192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58" name="Rectangle 399"/>
              <p:cNvSpPr/>
              <p:nvPr/>
            </p:nvSpPr>
            <p:spPr>
              <a:xfrm>
                <a:off x="4876800" y="12954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59" name="Rectangle 400"/>
              <p:cNvSpPr/>
              <p:nvPr/>
            </p:nvSpPr>
            <p:spPr>
              <a:xfrm>
                <a:off x="4876800" y="13716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grpSp>
        <p:sp>
          <p:nvSpPr>
            <p:cNvPr id="25" name="Rectangle 373"/>
            <p:cNvSpPr/>
            <p:nvPr/>
          </p:nvSpPr>
          <p:spPr bwMode="auto">
            <a:xfrm rot="5400000">
              <a:off x="7478712" y="3208338"/>
              <a:ext cx="1281113" cy="587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26" name="Rectangle 374"/>
            <p:cNvSpPr/>
            <p:nvPr/>
          </p:nvSpPr>
          <p:spPr bwMode="auto">
            <a:xfrm rot="5400000">
              <a:off x="7419975" y="3208338"/>
              <a:ext cx="1281113" cy="587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27" name="Rectangle 375"/>
            <p:cNvSpPr/>
            <p:nvPr/>
          </p:nvSpPr>
          <p:spPr bwMode="auto">
            <a:xfrm rot="5400000">
              <a:off x="7361237" y="3208338"/>
              <a:ext cx="1281113" cy="587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28" name="Rectangle 376"/>
            <p:cNvSpPr/>
            <p:nvPr/>
          </p:nvSpPr>
          <p:spPr bwMode="auto">
            <a:xfrm rot="5400000">
              <a:off x="7302500" y="3208338"/>
              <a:ext cx="1281113" cy="587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29" name="Rectangle 377"/>
            <p:cNvSpPr/>
            <p:nvPr/>
          </p:nvSpPr>
          <p:spPr bwMode="auto">
            <a:xfrm rot="3198033">
              <a:off x="5179219" y="1955006"/>
              <a:ext cx="654050" cy="5873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30" name="Rectangle 378"/>
            <p:cNvSpPr/>
            <p:nvPr/>
          </p:nvSpPr>
          <p:spPr bwMode="auto">
            <a:xfrm rot="3198033">
              <a:off x="8226425" y="4462463"/>
              <a:ext cx="652463" cy="587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cxnSp>
          <p:nvCxnSpPr>
            <p:cNvPr id="31" name="Straight Connector 382"/>
            <p:cNvCxnSpPr>
              <a:endCxn id="68" idx="0"/>
            </p:cNvCxnSpPr>
            <p:nvPr/>
          </p:nvCxnSpPr>
          <p:spPr bwMode="auto">
            <a:xfrm>
              <a:off x="5043488" y="3990975"/>
              <a:ext cx="528637" cy="11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83"/>
            <p:cNvCxnSpPr>
              <a:endCxn id="66" idx="1"/>
            </p:cNvCxnSpPr>
            <p:nvPr/>
          </p:nvCxnSpPr>
          <p:spPr bwMode="auto">
            <a:xfrm>
              <a:off x="5218113" y="3600450"/>
              <a:ext cx="461962" cy="3159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84"/>
            <p:cNvCxnSpPr>
              <a:endCxn id="64" idx="3"/>
            </p:cNvCxnSpPr>
            <p:nvPr/>
          </p:nvCxnSpPr>
          <p:spPr bwMode="auto">
            <a:xfrm flipV="1">
              <a:off x="5159375" y="4237038"/>
              <a:ext cx="522288" cy="3111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85"/>
            <p:cNvCxnSpPr/>
            <p:nvPr/>
          </p:nvCxnSpPr>
          <p:spPr bwMode="auto">
            <a:xfrm rot="5400000" flipH="1" flipV="1">
              <a:off x="5495132" y="4461669"/>
              <a:ext cx="501650" cy="1158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86"/>
            <p:cNvCxnSpPr/>
            <p:nvPr/>
          </p:nvCxnSpPr>
          <p:spPr bwMode="auto">
            <a:xfrm rot="10800000">
              <a:off x="8440738" y="4102100"/>
              <a:ext cx="7032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89"/>
            <p:cNvCxnSpPr/>
            <p:nvPr/>
          </p:nvCxnSpPr>
          <p:spPr bwMode="auto">
            <a:xfrm rot="16200000" flipH="1">
              <a:off x="7707313" y="1914525"/>
              <a:ext cx="557212" cy="26988"/>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Group 100"/>
            <p:cNvGrpSpPr/>
            <p:nvPr/>
          </p:nvGrpSpPr>
          <p:grpSpPr bwMode="auto">
            <a:xfrm>
              <a:off x="7972425" y="1371600"/>
              <a:ext cx="630238" cy="503238"/>
              <a:chOff x="-44" y="1473"/>
              <a:chExt cx="981" cy="1105"/>
            </a:xfrm>
          </p:grpSpPr>
          <p:pic>
            <p:nvPicPr>
              <p:cNvPr id="54" name="Picture 101"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Freeform 102"/>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p>
            </p:txBody>
          </p:sp>
        </p:grpSp>
        <p:cxnSp>
          <p:nvCxnSpPr>
            <p:cNvPr id="38" name="Straight Connector 391"/>
            <p:cNvCxnSpPr/>
            <p:nvPr/>
          </p:nvCxnSpPr>
          <p:spPr bwMode="auto">
            <a:xfrm rot="5400000">
              <a:off x="8161338" y="1751013"/>
              <a:ext cx="500062" cy="411162"/>
            </a:xfrm>
            <a:prstGeom prst="line">
              <a:avLst/>
            </a:prstGeom>
          </p:spPr>
          <p:style>
            <a:lnRef idx="1">
              <a:schemeClr val="accent1"/>
            </a:lnRef>
            <a:fillRef idx="0">
              <a:schemeClr val="accent1"/>
            </a:fillRef>
            <a:effectRef idx="0">
              <a:schemeClr val="accent1"/>
            </a:effectRef>
            <a:fontRef idx="minor">
              <a:schemeClr val="tx1"/>
            </a:fontRef>
          </p:style>
        </p:cxnSp>
        <p:sp>
          <p:nvSpPr>
            <p:cNvPr id="39" name="Rectangle 392"/>
            <p:cNvSpPr/>
            <p:nvPr/>
          </p:nvSpPr>
          <p:spPr bwMode="auto">
            <a:xfrm rot="1015003">
              <a:off x="5665788" y="2289175"/>
              <a:ext cx="601662" cy="5873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40" name="Rectangle 393"/>
            <p:cNvSpPr/>
            <p:nvPr/>
          </p:nvSpPr>
          <p:spPr bwMode="auto">
            <a:xfrm rot="2465437" flipV="1">
              <a:off x="7880350" y="4048125"/>
              <a:ext cx="522288" cy="571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sp>
          <p:nvSpPr>
            <p:cNvPr id="41" name="Rectangle 394"/>
            <p:cNvSpPr/>
            <p:nvPr/>
          </p:nvSpPr>
          <p:spPr bwMode="auto">
            <a:xfrm rot="2177866" flipV="1">
              <a:off x="7605713" y="2474913"/>
              <a:ext cx="382587" cy="69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MS PGothic" panose="020B0600070205080204" pitchFamily="34" charset="-128"/>
                <a:cs typeface="MS PGothic" panose="020B0600070205080204" pitchFamily="34" charset="-128"/>
              </a:endParaRPr>
            </a:p>
          </p:txBody>
        </p:sp>
        <p:grpSp>
          <p:nvGrpSpPr>
            <p:cNvPr id="42" name="Group 347"/>
            <p:cNvGrpSpPr/>
            <p:nvPr/>
          </p:nvGrpSpPr>
          <p:grpSpPr bwMode="auto">
            <a:xfrm>
              <a:off x="5529263" y="3871913"/>
              <a:ext cx="815975" cy="449262"/>
              <a:chOff x="1871277" y="1576300"/>
              <a:chExt cx="1128371" cy="437861"/>
            </a:xfrm>
          </p:grpSpPr>
          <p:sp>
            <p:nvSpPr>
              <p:cNvPr id="43" name="Oval 88"/>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46" name="Rectangle 89"/>
              <p:cNvSpPr/>
              <p:nvPr/>
            </p:nvSpPr>
            <p:spPr bwMode="auto">
              <a:xfrm>
                <a:off x="1871277" y="1740305"/>
                <a:ext cx="1128371" cy="11604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47" name="Oval 90"/>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48" name="Freeform 91"/>
              <p:cNvSpPr/>
              <p:nvPr/>
            </p:nvSpPr>
            <p:spPr bwMode="auto">
              <a:xfrm>
                <a:off x="2158857" y="1673774"/>
                <a:ext cx="548819" cy="16091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49" name="Freeform 92"/>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50" name="Freeform 93"/>
              <p:cNvSpPr/>
              <p:nvPr/>
            </p:nvSpPr>
            <p:spPr bwMode="auto">
              <a:xfrm>
                <a:off x="2553833"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sp>
            <p:nvSpPr>
              <p:cNvPr id="51" name="Freeform 94"/>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p>
            </p:txBody>
          </p:sp>
          <p:cxnSp>
            <p:nvCxnSpPr>
              <p:cNvPr id="52" name="Straight Connector 95"/>
              <p:cNvCxnSpPr>
                <a:cxnSpLocks noChangeShapeType="1"/>
                <a:endCxn id="47"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3" name="Straight Connector 96"/>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sp>
        <p:nvSpPr>
          <p:cNvPr id="104" name="文本框 10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a:defRPr/>
            </a:pPr>
            <a:r>
              <a:rPr lang="zh-CN" altLang="en-US" dirty="0">
                <a:sym typeface="+mn-ea"/>
              </a:rPr>
              <a:t>电路交换</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3"/>
          <p:cNvSpPr>
            <a:spLocks noGrp="1"/>
          </p:cNvSpPr>
          <p:nvPr>
            <p:ph idx="1"/>
          </p:nvPr>
        </p:nvSpPr>
        <p:spPr>
          <a:xfrm>
            <a:off x="657256" y="1447458"/>
            <a:ext cx="4482371" cy="4586694"/>
          </a:xfrm>
        </p:spPr>
        <p:txBody>
          <a:bodyPr>
            <a:normAutofit/>
          </a:bodyPr>
          <a:lstStyle/>
          <a:p>
            <a:pPr marL="571500" indent="-342900">
              <a:lnSpc>
                <a:spcPct val="110000"/>
              </a:lnSpc>
              <a:buClr>
                <a:srgbClr val="000000"/>
              </a:buClr>
              <a:buFont typeface="Wingdings" panose="05000000000000000000" charset="0"/>
              <a:buChar char="Ø"/>
            </a:pPr>
            <a:r>
              <a:rPr lang="zh-CN" altLang="en-US" dirty="0">
                <a:sym typeface="+mn-ea"/>
              </a:rPr>
              <a:t>电路交换的多路复用</a:t>
            </a:r>
            <a:endParaRPr lang="zh-CN" altLang="en-US" dirty="0">
              <a:solidFill>
                <a:srgbClr val="C00000"/>
              </a:solidFill>
              <a:sym typeface="+mn-ea"/>
            </a:endParaRPr>
          </a:p>
          <a:p>
            <a:pPr marL="1028700" lvl="1" indent="-342900">
              <a:lnSpc>
                <a:spcPct val="110000"/>
              </a:lnSpc>
              <a:buClr>
                <a:srgbClr val="000000"/>
              </a:buClr>
            </a:pPr>
            <a:r>
              <a:rPr lang="zh-CN" altLang="en-US" dirty="0">
                <a:latin typeface="微软雅黑" panose="020B0503020204020204" pitchFamily="34" charset="-122"/>
                <a:ea typeface="微软雅黑" panose="020B0503020204020204" pitchFamily="34" charset="-122"/>
              </a:rPr>
              <a:t>频分多路复用</a:t>
            </a:r>
            <a:r>
              <a:rPr lang="en-US" altLang="zh-CN" dirty="0">
                <a:latin typeface="微软雅黑" panose="020B0503020204020204" pitchFamily="34" charset="-122"/>
                <a:ea typeface="微软雅黑" panose="020B0503020204020204" pitchFamily="34" charset="-122"/>
              </a:rPr>
              <a:t>FDM</a:t>
            </a:r>
            <a:endParaRPr lang="en-US" altLang="zh-CN" dirty="0">
              <a:latin typeface="微软雅黑" panose="020B0503020204020204" pitchFamily="34" charset="-122"/>
              <a:ea typeface="微软雅黑" panose="020B0503020204020204" pitchFamily="34" charset="-122"/>
            </a:endParaRPr>
          </a:p>
          <a:p>
            <a:pPr marL="1028700" lvl="1" indent="-342900">
              <a:lnSpc>
                <a:spcPct val="110000"/>
              </a:lnSpc>
              <a:buClr>
                <a:srgbClr val="000000"/>
              </a:buClr>
            </a:pPr>
            <a:r>
              <a:rPr lang="zh-CN" altLang="en-US" sz="2400" dirty="0">
                <a:latin typeface="微软雅黑" panose="020B0503020204020204" pitchFamily="34" charset="-122"/>
                <a:ea typeface="微软雅黑" panose="020B0503020204020204" pitchFamily="34" charset="-122"/>
              </a:rPr>
              <a:t>时分多路复用</a:t>
            </a:r>
            <a:r>
              <a:rPr lang="en-US" altLang="zh-CN" dirty="0">
                <a:latin typeface="微软雅黑" panose="020B0503020204020204" pitchFamily="34" charset="-122"/>
                <a:ea typeface="微软雅黑" panose="020B0503020204020204" pitchFamily="34" charset="-122"/>
              </a:rPr>
              <a:t>TDM</a:t>
            </a:r>
            <a:endParaRPr lang="fr-FR" altLang="zh-CN" sz="2400" dirty="0">
              <a:latin typeface="微软雅黑" panose="020B0503020204020204" pitchFamily="34" charset="-122"/>
              <a:ea typeface="微软雅黑" panose="020B0503020204020204" pitchFamily="34" charset="-122"/>
            </a:endParaRPr>
          </a:p>
          <a:p>
            <a:pPr marL="1028700" lvl="1" indent="-342900">
              <a:lnSpc>
                <a:spcPct val="110000"/>
              </a:lnSpc>
              <a:buClr>
                <a:srgbClr val="000000"/>
              </a:buClr>
            </a:pPr>
            <a:r>
              <a:rPr lang="en-US" altLang="zh-CN" dirty="0">
                <a:sym typeface="+mn-ea"/>
              </a:rPr>
              <a:t>……</a:t>
            </a:r>
            <a:endParaRPr lang="en-US" altLang="zh-CN" dirty="0">
              <a:sym typeface="+mn-ea"/>
            </a:endParaRPr>
          </a:p>
          <a:p>
            <a:pPr marL="1028700" lvl="1" indent="-342900">
              <a:lnSpc>
                <a:spcPct val="110000"/>
              </a:lnSpc>
              <a:buClr>
                <a:srgbClr val="000000"/>
              </a:buClr>
            </a:pPr>
            <a:r>
              <a:rPr lang="zh-CN" altLang="en-US" dirty="0">
                <a:sym typeface="+mn-ea"/>
              </a:rPr>
              <a:t>在每一路上实现具有和专用链路类似的性能</a:t>
            </a:r>
            <a:endParaRPr lang="zh-CN" altLang="en-US" dirty="0">
              <a:sym typeface="+mn-ea"/>
            </a:endParaRPr>
          </a:p>
          <a:p>
            <a:pPr marL="1028700" lvl="1" indent="-342900">
              <a:lnSpc>
                <a:spcPct val="110000"/>
              </a:lnSpc>
              <a:buClr>
                <a:srgbClr val="000000"/>
              </a:buClr>
            </a:pPr>
            <a:r>
              <a:rPr lang="zh-CN" altLang="en-US" dirty="0">
                <a:sym typeface="+mn-ea"/>
              </a:rPr>
              <a:t>该路资源专用，即使空闲也不与其他连接共享</a:t>
            </a:r>
            <a:endParaRPr lang="zh-CN" altLang="en-US" sz="1900" dirty="0"/>
          </a:p>
          <a:p>
            <a:endParaRPr lang="zh-CN" altLang="en-US" dirty="0"/>
          </a:p>
        </p:txBody>
      </p:sp>
      <p:grpSp>
        <p:nvGrpSpPr>
          <p:cNvPr id="101" name="Group 108"/>
          <p:cNvGrpSpPr/>
          <p:nvPr/>
        </p:nvGrpSpPr>
        <p:grpSpPr bwMode="auto">
          <a:xfrm>
            <a:off x="5544205" y="1334330"/>
            <a:ext cx="5990539" cy="4654871"/>
            <a:chOff x="1182" y="825"/>
            <a:chExt cx="3909" cy="3298"/>
          </a:xfrm>
        </p:grpSpPr>
        <p:grpSp>
          <p:nvGrpSpPr>
            <p:cNvPr id="102" name="Group 7"/>
            <p:cNvGrpSpPr/>
            <p:nvPr/>
          </p:nvGrpSpPr>
          <p:grpSpPr bwMode="auto">
            <a:xfrm>
              <a:off x="1182" y="1107"/>
              <a:ext cx="3626" cy="1423"/>
              <a:chOff x="1222" y="1115"/>
              <a:chExt cx="3626" cy="1423"/>
            </a:xfrm>
          </p:grpSpPr>
          <p:sp>
            <p:nvSpPr>
              <p:cNvPr id="196" name="Text Box 8"/>
              <p:cNvSpPr txBox="1">
                <a:spLocks noChangeArrowheads="1"/>
              </p:cNvSpPr>
              <p:nvPr/>
            </p:nvSpPr>
            <p:spPr bwMode="auto">
              <a:xfrm>
                <a:off x="2061" y="1115"/>
                <a:ext cx="23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lang="en-US" altLang="zh-CN" sz="2400" dirty="0">
                    <a:latin typeface="微软雅黑" panose="020B0503020204020204" pitchFamily="34" charset="-122"/>
                    <a:ea typeface="微软雅黑" panose="020B0503020204020204" pitchFamily="34" charset="-122"/>
                  </a:rPr>
                  <a:t>FDM</a:t>
                </a:r>
                <a:r>
                  <a:rPr lang="zh-CN" altLang="en-US" sz="2400" dirty="0">
                    <a:latin typeface="微软雅黑" panose="020B0503020204020204" pitchFamily="34" charset="-122"/>
                    <a:ea typeface="微软雅黑" panose="020B0503020204020204" pitchFamily="34" charset="-122"/>
                  </a:rPr>
                  <a:t>（频分多路复用）</a:t>
                </a:r>
                <a:endParaRPr lang="fr-FR" altLang="zh-CN" sz="2400" dirty="0">
                  <a:latin typeface="微软雅黑" panose="020B0503020204020204" pitchFamily="34" charset="-122"/>
                  <a:ea typeface="微软雅黑" panose="020B0503020204020204" pitchFamily="34" charset="-122"/>
                </a:endParaRPr>
              </a:p>
            </p:txBody>
          </p:sp>
          <p:grpSp>
            <p:nvGrpSpPr>
              <p:cNvPr id="197" name="Group 9"/>
              <p:cNvGrpSpPr/>
              <p:nvPr/>
            </p:nvGrpSpPr>
            <p:grpSpPr bwMode="auto">
              <a:xfrm>
                <a:off x="1222" y="1392"/>
                <a:ext cx="3626" cy="1146"/>
                <a:chOff x="1222" y="1392"/>
                <a:chExt cx="3626" cy="1146"/>
              </a:xfrm>
            </p:grpSpPr>
            <p:sp>
              <p:nvSpPr>
                <p:cNvPr id="198" name="Line 10"/>
                <p:cNvSpPr>
                  <a:spLocks noChangeShapeType="1"/>
                </p:cNvSpPr>
                <p:nvPr/>
              </p:nvSpPr>
              <p:spPr bwMode="auto">
                <a:xfrm flipV="1">
                  <a:off x="1728" y="1392"/>
                  <a:ext cx="0" cy="81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9" name="Text Box 11"/>
                <p:cNvSpPr txBox="1">
                  <a:spLocks noChangeArrowheads="1"/>
                </p:cNvSpPr>
                <p:nvPr/>
              </p:nvSpPr>
              <p:spPr bwMode="auto">
                <a:xfrm>
                  <a:off x="1222" y="1425"/>
                  <a:ext cx="45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lang="zh-CN" altLang="en-US" sz="2000" dirty="0">
                      <a:latin typeface="微软雅黑" panose="020B0503020204020204" pitchFamily="34" charset="-122"/>
                      <a:ea typeface="微软雅黑" panose="020B0503020204020204" pitchFamily="34" charset="-122"/>
                    </a:rPr>
                    <a:t>频率</a:t>
                  </a:r>
                  <a:endParaRPr lang="fr-FR" altLang="zh-CN" sz="2000" dirty="0">
                    <a:latin typeface="微软雅黑" panose="020B0503020204020204" pitchFamily="34" charset="-122"/>
                    <a:ea typeface="微软雅黑" panose="020B0503020204020204" pitchFamily="34" charset="-122"/>
                  </a:endParaRPr>
                </a:p>
              </p:txBody>
            </p:sp>
            <p:sp>
              <p:nvSpPr>
                <p:cNvPr id="200" name="Line 12"/>
                <p:cNvSpPr>
                  <a:spLocks noChangeShapeType="1"/>
                </p:cNvSpPr>
                <p:nvPr/>
              </p:nvSpPr>
              <p:spPr bwMode="auto">
                <a:xfrm>
                  <a:off x="1728" y="2208"/>
                  <a:ext cx="312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01" name="Text Box 13"/>
                <p:cNvSpPr txBox="1">
                  <a:spLocks noChangeArrowheads="1"/>
                </p:cNvSpPr>
                <p:nvPr/>
              </p:nvSpPr>
              <p:spPr bwMode="auto">
                <a:xfrm>
                  <a:off x="3048" y="2255"/>
                  <a:ext cx="45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lang="zh-CN" altLang="en-US" sz="2000" dirty="0">
                      <a:latin typeface="微软雅黑" panose="020B0503020204020204" pitchFamily="34" charset="-122"/>
                      <a:ea typeface="微软雅黑" panose="020B0503020204020204" pitchFamily="34" charset="-122"/>
                    </a:rPr>
                    <a:t>时间</a:t>
                  </a:r>
                  <a:endParaRPr lang="fr-FR" altLang="zh-CN" sz="2000" dirty="0">
                    <a:latin typeface="微软雅黑" panose="020B0503020204020204" pitchFamily="34" charset="-122"/>
                    <a:ea typeface="微软雅黑" panose="020B0503020204020204" pitchFamily="34" charset="-122"/>
                  </a:endParaRPr>
                </a:p>
              </p:txBody>
            </p:sp>
            <p:sp>
              <p:nvSpPr>
                <p:cNvPr id="202" name="Rectangle 14"/>
                <p:cNvSpPr>
                  <a:spLocks noChangeArrowheads="1"/>
                </p:cNvSpPr>
                <p:nvPr/>
              </p:nvSpPr>
              <p:spPr bwMode="auto">
                <a:xfrm>
                  <a:off x="1776" y="1584"/>
                  <a:ext cx="2880" cy="576"/>
                </a:xfrm>
                <a:prstGeom prst="rect">
                  <a:avLst/>
                </a:prstGeom>
                <a:solidFill>
                  <a:schemeClr val="accent1"/>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grpSp>
        </p:grpSp>
        <p:sp>
          <p:nvSpPr>
            <p:cNvPr id="103" name="Rectangle 15"/>
            <p:cNvSpPr>
              <a:spLocks noChangeArrowheads="1"/>
            </p:cNvSpPr>
            <p:nvPr/>
          </p:nvSpPr>
          <p:spPr bwMode="auto">
            <a:xfrm>
              <a:off x="1728" y="1584"/>
              <a:ext cx="2880" cy="144"/>
            </a:xfrm>
            <a:prstGeom prst="rect">
              <a:avLst/>
            </a:prstGeom>
            <a:solidFill>
              <a:srgbClr val="3366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04" name="Rectangle 16"/>
            <p:cNvSpPr>
              <a:spLocks noChangeArrowheads="1"/>
            </p:cNvSpPr>
            <p:nvPr/>
          </p:nvSpPr>
          <p:spPr bwMode="auto">
            <a:xfrm>
              <a:off x="1728" y="1728"/>
              <a:ext cx="2880" cy="144"/>
            </a:xfrm>
            <a:prstGeom prst="rect">
              <a:avLst/>
            </a:prstGeom>
            <a:solidFill>
              <a:srgbClr val="99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05" name="Rectangle 17"/>
            <p:cNvSpPr>
              <a:spLocks noChangeArrowheads="1"/>
            </p:cNvSpPr>
            <p:nvPr/>
          </p:nvSpPr>
          <p:spPr bwMode="auto">
            <a:xfrm>
              <a:off x="1728" y="1872"/>
              <a:ext cx="2880" cy="144"/>
            </a:xfrm>
            <a:prstGeom prst="rect">
              <a:avLst/>
            </a:prstGeom>
            <a:solidFill>
              <a:srgbClr val="FF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06" name="Rectangle 18"/>
            <p:cNvSpPr>
              <a:spLocks noChangeArrowheads="1"/>
            </p:cNvSpPr>
            <p:nvPr/>
          </p:nvSpPr>
          <p:spPr bwMode="auto">
            <a:xfrm>
              <a:off x="1728" y="2016"/>
              <a:ext cx="2880" cy="144"/>
            </a:xfrm>
            <a:prstGeom prst="rect">
              <a:avLst/>
            </a:prstGeom>
            <a:solidFill>
              <a:srgbClr val="FF00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grpSp>
          <p:nvGrpSpPr>
            <p:cNvPr id="107" name="Group 19"/>
            <p:cNvGrpSpPr/>
            <p:nvPr/>
          </p:nvGrpSpPr>
          <p:grpSpPr bwMode="auto">
            <a:xfrm>
              <a:off x="1680" y="2700"/>
              <a:ext cx="3120" cy="1423"/>
              <a:chOff x="1728" y="2700"/>
              <a:chExt cx="3120" cy="1423"/>
            </a:xfrm>
          </p:grpSpPr>
          <p:sp>
            <p:nvSpPr>
              <p:cNvPr id="190" name="Text Box 20"/>
              <p:cNvSpPr txBox="1">
                <a:spLocks noChangeArrowheads="1"/>
              </p:cNvSpPr>
              <p:nvPr/>
            </p:nvSpPr>
            <p:spPr bwMode="auto">
              <a:xfrm>
                <a:off x="2039" y="2700"/>
                <a:ext cx="2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lang="en-US" altLang="zh-CN" sz="2400" dirty="0">
                    <a:latin typeface="微软雅黑" panose="020B0503020204020204" pitchFamily="34" charset="-122"/>
                    <a:ea typeface="微软雅黑" panose="020B0503020204020204" pitchFamily="34" charset="-122"/>
                  </a:rPr>
                  <a:t>TDM</a:t>
                </a:r>
                <a:r>
                  <a:rPr lang="zh-CN" altLang="en-US" sz="2400" dirty="0">
                    <a:latin typeface="微软雅黑" panose="020B0503020204020204" pitchFamily="34" charset="-122"/>
                    <a:ea typeface="微软雅黑" panose="020B0503020204020204" pitchFamily="34" charset="-122"/>
                  </a:rPr>
                  <a:t>（时分多路复用）</a:t>
                </a:r>
                <a:endParaRPr lang="fr-FR" altLang="zh-CN" sz="2400" dirty="0">
                  <a:latin typeface="微软雅黑" panose="020B0503020204020204" pitchFamily="34" charset="-122"/>
                  <a:ea typeface="微软雅黑" panose="020B0503020204020204" pitchFamily="34" charset="-122"/>
                </a:endParaRPr>
              </a:p>
            </p:txBody>
          </p:sp>
          <p:sp>
            <p:nvSpPr>
              <p:cNvPr id="191" name="Line 21"/>
              <p:cNvSpPr>
                <a:spLocks noChangeShapeType="1"/>
              </p:cNvSpPr>
              <p:nvPr/>
            </p:nvSpPr>
            <p:spPr bwMode="auto">
              <a:xfrm flipV="1">
                <a:off x="1728" y="2977"/>
                <a:ext cx="0" cy="81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3" name="Line 23"/>
              <p:cNvSpPr>
                <a:spLocks noChangeShapeType="1"/>
              </p:cNvSpPr>
              <p:nvPr/>
            </p:nvSpPr>
            <p:spPr bwMode="auto">
              <a:xfrm>
                <a:off x="1728" y="3793"/>
                <a:ext cx="312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4" name="Text Box 24"/>
              <p:cNvSpPr txBox="1">
                <a:spLocks noChangeArrowheads="1"/>
              </p:cNvSpPr>
              <p:nvPr/>
            </p:nvSpPr>
            <p:spPr bwMode="auto">
              <a:xfrm>
                <a:off x="3048" y="3840"/>
                <a:ext cx="45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lang="zh-CN" altLang="en-US" sz="2000" dirty="0">
                    <a:latin typeface="微软雅黑" panose="020B0503020204020204" pitchFamily="34" charset="-122"/>
                    <a:ea typeface="微软雅黑" panose="020B0503020204020204" pitchFamily="34" charset="-122"/>
                  </a:rPr>
                  <a:t>时间</a:t>
                </a:r>
                <a:endParaRPr lang="fr-FR" altLang="zh-CN" sz="2000" dirty="0">
                  <a:latin typeface="微软雅黑" panose="020B0503020204020204" pitchFamily="34" charset="-122"/>
                  <a:ea typeface="微软雅黑" panose="020B0503020204020204" pitchFamily="34" charset="-122"/>
                </a:endParaRPr>
              </a:p>
            </p:txBody>
          </p:sp>
          <p:sp>
            <p:nvSpPr>
              <p:cNvPr id="195" name="Rectangle 25"/>
              <p:cNvSpPr>
                <a:spLocks noChangeArrowheads="1"/>
              </p:cNvSpPr>
              <p:nvPr/>
            </p:nvSpPr>
            <p:spPr bwMode="auto">
              <a:xfrm>
                <a:off x="1776" y="3168"/>
                <a:ext cx="2880" cy="576"/>
              </a:xfrm>
              <a:prstGeom prst="rect">
                <a:avLst/>
              </a:prstGeom>
              <a:solidFill>
                <a:schemeClr val="accent1"/>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grpSp>
        <p:grpSp>
          <p:nvGrpSpPr>
            <p:cNvPr id="108" name="Group 26"/>
            <p:cNvGrpSpPr/>
            <p:nvPr/>
          </p:nvGrpSpPr>
          <p:grpSpPr bwMode="auto">
            <a:xfrm>
              <a:off x="1728" y="3168"/>
              <a:ext cx="2448" cy="576"/>
              <a:chOff x="1776" y="3168"/>
              <a:chExt cx="2448" cy="576"/>
            </a:xfrm>
          </p:grpSpPr>
          <p:sp>
            <p:nvSpPr>
              <p:cNvPr id="185" name="Rectangle 27"/>
              <p:cNvSpPr>
                <a:spLocks noChangeArrowheads="1"/>
              </p:cNvSpPr>
              <p:nvPr/>
            </p:nvSpPr>
            <p:spPr bwMode="auto">
              <a:xfrm>
                <a:off x="1776"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86" name="Rectangle 28"/>
              <p:cNvSpPr>
                <a:spLocks noChangeArrowheads="1"/>
              </p:cNvSpPr>
              <p:nvPr/>
            </p:nvSpPr>
            <p:spPr bwMode="auto">
              <a:xfrm>
                <a:off x="2352"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87" name="Rectangle 29"/>
              <p:cNvSpPr>
                <a:spLocks noChangeArrowheads="1"/>
              </p:cNvSpPr>
              <p:nvPr/>
            </p:nvSpPr>
            <p:spPr bwMode="auto">
              <a:xfrm>
                <a:off x="2928"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88" name="Rectangle 30"/>
              <p:cNvSpPr>
                <a:spLocks noChangeArrowheads="1"/>
              </p:cNvSpPr>
              <p:nvPr/>
            </p:nvSpPr>
            <p:spPr bwMode="auto">
              <a:xfrm>
                <a:off x="3504"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89" name="Rectangle 31"/>
              <p:cNvSpPr>
                <a:spLocks noChangeArrowheads="1"/>
              </p:cNvSpPr>
              <p:nvPr/>
            </p:nvSpPr>
            <p:spPr bwMode="auto">
              <a:xfrm>
                <a:off x="4080" y="3168"/>
                <a:ext cx="144" cy="576"/>
              </a:xfrm>
              <a:prstGeom prst="rect">
                <a:avLst/>
              </a:prstGeom>
              <a:solidFill>
                <a:srgbClr val="3366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grpSp>
        <p:grpSp>
          <p:nvGrpSpPr>
            <p:cNvPr id="109" name="Group 32"/>
            <p:cNvGrpSpPr/>
            <p:nvPr/>
          </p:nvGrpSpPr>
          <p:grpSpPr bwMode="auto">
            <a:xfrm>
              <a:off x="1872" y="3168"/>
              <a:ext cx="2448" cy="576"/>
              <a:chOff x="1920" y="3168"/>
              <a:chExt cx="2448" cy="576"/>
            </a:xfrm>
          </p:grpSpPr>
          <p:sp>
            <p:nvSpPr>
              <p:cNvPr id="180" name="Rectangle 33"/>
              <p:cNvSpPr>
                <a:spLocks noChangeArrowheads="1"/>
              </p:cNvSpPr>
              <p:nvPr/>
            </p:nvSpPr>
            <p:spPr bwMode="auto">
              <a:xfrm>
                <a:off x="1920"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81" name="Rectangle 34"/>
              <p:cNvSpPr>
                <a:spLocks noChangeArrowheads="1"/>
              </p:cNvSpPr>
              <p:nvPr/>
            </p:nvSpPr>
            <p:spPr bwMode="auto">
              <a:xfrm>
                <a:off x="2496"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82" name="Rectangle 35"/>
              <p:cNvSpPr>
                <a:spLocks noChangeArrowheads="1"/>
              </p:cNvSpPr>
              <p:nvPr/>
            </p:nvSpPr>
            <p:spPr bwMode="auto">
              <a:xfrm>
                <a:off x="3072"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83" name="Rectangle 36"/>
              <p:cNvSpPr>
                <a:spLocks noChangeArrowheads="1"/>
              </p:cNvSpPr>
              <p:nvPr/>
            </p:nvSpPr>
            <p:spPr bwMode="auto">
              <a:xfrm>
                <a:off x="3648"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84" name="Rectangle 37"/>
              <p:cNvSpPr>
                <a:spLocks noChangeArrowheads="1"/>
              </p:cNvSpPr>
              <p:nvPr/>
            </p:nvSpPr>
            <p:spPr bwMode="auto">
              <a:xfrm>
                <a:off x="4224" y="3168"/>
                <a:ext cx="144" cy="576"/>
              </a:xfrm>
              <a:prstGeom prst="rect">
                <a:avLst/>
              </a:prstGeom>
              <a:solidFill>
                <a:srgbClr val="99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grpSp>
        <p:grpSp>
          <p:nvGrpSpPr>
            <p:cNvPr id="110" name="Group 38"/>
            <p:cNvGrpSpPr/>
            <p:nvPr/>
          </p:nvGrpSpPr>
          <p:grpSpPr bwMode="auto">
            <a:xfrm>
              <a:off x="2016" y="3168"/>
              <a:ext cx="2448" cy="576"/>
              <a:chOff x="2064" y="3168"/>
              <a:chExt cx="2448" cy="576"/>
            </a:xfrm>
          </p:grpSpPr>
          <p:sp>
            <p:nvSpPr>
              <p:cNvPr id="175" name="Rectangle 39"/>
              <p:cNvSpPr>
                <a:spLocks noChangeArrowheads="1"/>
              </p:cNvSpPr>
              <p:nvPr/>
            </p:nvSpPr>
            <p:spPr bwMode="auto">
              <a:xfrm>
                <a:off x="2064"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76" name="Rectangle 40"/>
              <p:cNvSpPr>
                <a:spLocks noChangeArrowheads="1"/>
              </p:cNvSpPr>
              <p:nvPr/>
            </p:nvSpPr>
            <p:spPr bwMode="auto">
              <a:xfrm>
                <a:off x="2640"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77" name="Rectangle 41"/>
              <p:cNvSpPr>
                <a:spLocks noChangeArrowheads="1"/>
              </p:cNvSpPr>
              <p:nvPr/>
            </p:nvSpPr>
            <p:spPr bwMode="auto">
              <a:xfrm>
                <a:off x="3216"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78" name="Rectangle 42"/>
              <p:cNvSpPr>
                <a:spLocks noChangeArrowheads="1"/>
              </p:cNvSpPr>
              <p:nvPr/>
            </p:nvSpPr>
            <p:spPr bwMode="auto">
              <a:xfrm>
                <a:off x="3792"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79" name="Rectangle 43"/>
              <p:cNvSpPr>
                <a:spLocks noChangeArrowheads="1"/>
              </p:cNvSpPr>
              <p:nvPr/>
            </p:nvSpPr>
            <p:spPr bwMode="auto">
              <a:xfrm>
                <a:off x="4368" y="3168"/>
                <a:ext cx="144" cy="576"/>
              </a:xfrm>
              <a:prstGeom prst="rect">
                <a:avLst/>
              </a:prstGeom>
              <a:solidFill>
                <a:srgbClr val="FF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grpSp>
        <p:grpSp>
          <p:nvGrpSpPr>
            <p:cNvPr id="111" name="Group 44"/>
            <p:cNvGrpSpPr/>
            <p:nvPr/>
          </p:nvGrpSpPr>
          <p:grpSpPr bwMode="auto">
            <a:xfrm>
              <a:off x="2160" y="3168"/>
              <a:ext cx="2448" cy="576"/>
              <a:chOff x="2208" y="3168"/>
              <a:chExt cx="2448" cy="576"/>
            </a:xfrm>
          </p:grpSpPr>
          <p:sp>
            <p:nvSpPr>
              <p:cNvPr id="170" name="Rectangle 45"/>
              <p:cNvSpPr>
                <a:spLocks noChangeArrowheads="1"/>
              </p:cNvSpPr>
              <p:nvPr/>
            </p:nvSpPr>
            <p:spPr bwMode="auto">
              <a:xfrm>
                <a:off x="2208"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71" name="Rectangle 46"/>
              <p:cNvSpPr>
                <a:spLocks noChangeArrowheads="1"/>
              </p:cNvSpPr>
              <p:nvPr/>
            </p:nvSpPr>
            <p:spPr bwMode="auto">
              <a:xfrm>
                <a:off x="2784"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72" name="Rectangle 47"/>
              <p:cNvSpPr>
                <a:spLocks noChangeArrowheads="1"/>
              </p:cNvSpPr>
              <p:nvPr/>
            </p:nvSpPr>
            <p:spPr bwMode="auto">
              <a:xfrm>
                <a:off x="3360"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73" name="Rectangle 48"/>
              <p:cNvSpPr>
                <a:spLocks noChangeArrowheads="1"/>
              </p:cNvSpPr>
              <p:nvPr/>
            </p:nvSpPr>
            <p:spPr bwMode="auto">
              <a:xfrm>
                <a:off x="3936"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74" name="Rectangle 49"/>
              <p:cNvSpPr>
                <a:spLocks noChangeArrowheads="1"/>
              </p:cNvSpPr>
              <p:nvPr/>
            </p:nvSpPr>
            <p:spPr bwMode="auto">
              <a:xfrm>
                <a:off x="4512" y="3168"/>
                <a:ext cx="144" cy="576"/>
              </a:xfrm>
              <a:prstGeom prst="rect">
                <a:avLst/>
              </a:prstGeom>
              <a:solidFill>
                <a:srgbClr val="FF00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grpSp>
        <p:grpSp>
          <p:nvGrpSpPr>
            <p:cNvPr id="112" name="Group 50"/>
            <p:cNvGrpSpPr/>
            <p:nvPr/>
          </p:nvGrpSpPr>
          <p:grpSpPr bwMode="auto">
            <a:xfrm>
              <a:off x="1728" y="1728"/>
              <a:ext cx="2880" cy="288"/>
              <a:chOff x="1776" y="1728"/>
              <a:chExt cx="2880" cy="288"/>
            </a:xfrm>
          </p:grpSpPr>
          <p:sp>
            <p:nvSpPr>
              <p:cNvPr id="167" name="Line 51"/>
              <p:cNvSpPr>
                <a:spLocks noChangeShapeType="1"/>
              </p:cNvSpPr>
              <p:nvPr/>
            </p:nvSpPr>
            <p:spPr bwMode="auto">
              <a:xfrm flipV="1">
                <a:off x="1776" y="1728"/>
                <a:ext cx="288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8" name="Line 52"/>
              <p:cNvSpPr>
                <a:spLocks noChangeShapeType="1"/>
              </p:cNvSpPr>
              <p:nvPr/>
            </p:nvSpPr>
            <p:spPr bwMode="auto">
              <a:xfrm flipV="1">
                <a:off x="1776" y="1872"/>
                <a:ext cx="288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9" name="Line 53"/>
              <p:cNvSpPr>
                <a:spLocks noChangeShapeType="1"/>
              </p:cNvSpPr>
              <p:nvPr/>
            </p:nvSpPr>
            <p:spPr bwMode="auto">
              <a:xfrm flipV="1">
                <a:off x="1776" y="2016"/>
                <a:ext cx="288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13" name="Group 54"/>
            <p:cNvGrpSpPr/>
            <p:nvPr/>
          </p:nvGrpSpPr>
          <p:grpSpPr bwMode="auto">
            <a:xfrm>
              <a:off x="1872" y="3168"/>
              <a:ext cx="2592" cy="576"/>
              <a:chOff x="1920" y="3168"/>
              <a:chExt cx="2592" cy="576"/>
            </a:xfrm>
          </p:grpSpPr>
          <p:sp>
            <p:nvSpPr>
              <p:cNvPr id="148" name="Line 55"/>
              <p:cNvSpPr>
                <a:spLocks noChangeShapeType="1"/>
              </p:cNvSpPr>
              <p:nvPr/>
            </p:nvSpPr>
            <p:spPr bwMode="auto">
              <a:xfrm>
                <a:off x="1920"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9" name="Line 56"/>
              <p:cNvSpPr>
                <a:spLocks noChangeShapeType="1"/>
              </p:cNvSpPr>
              <p:nvPr/>
            </p:nvSpPr>
            <p:spPr bwMode="auto">
              <a:xfrm>
                <a:off x="2064"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0" name="Line 57"/>
              <p:cNvSpPr>
                <a:spLocks noChangeShapeType="1"/>
              </p:cNvSpPr>
              <p:nvPr/>
            </p:nvSpPr>
            <p:spPr bwMode="auto">
              <a:xfrm>
                <a:off x="2208"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1" name="Line 58"/>
              <p:cNvSpPr>
                <a:spLocks noChangeShapeType="1"/>
              </p:cNvSpPr>
              <p:nvPr/>
            </p:nvSpPr>
            <p:spPr bwMode="auto">
              <a:xfrm>
                <a:off x="2352"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2" name="Line 59"/>
              <p:cNvSpPr>
                <a:spLocks noChangeShapeType="1"/>
              </p:cNvSpPr>
              <p:nvPr/>
            </p:nvSpPr>
            <p:spPr bwMode="auto">
              <a:xfrm>
                <a:off x="2496"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3" name="Line 60"/>
              <p:cNvSpPr>
                <a:spLocks noChangeShapeType="1"/>
              </p:cNvSpPr>
              <p:nvPr/>
            </p:nvSpPr>
            <p:spPr bwMode="auto">
              <a:xfrm>
                <a:off x="2640"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4" name="Line 61"/>
              <p:cNvSpPr>
                <a:spLocks noChangeShapeType="1"/>
              </p:cNvSpPr>
              <p:nvPr/>
            </p:nvSpPr>
            <p:spPr bwMode="auto">
              <a:xfrm>
                <a:off x="2784"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5" name="Line 62"/>
              <p:cNvSpPr>
                <a:spLocks noChangeShapeType="1"/>
              </p:cNvSpPr>
              <p:nvPr/>
            </p:nvSpPr>
            <p:spPr bwMode="auto">
              <a:xfrm>
                <a:off x="2928"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6" name="Line 63"/>
              <p:cNvSpPr>
                <a:spLocks noChangeShapeType="1"/>
              </p:cNvSpPr>
              <p:nvPr/>
            </p:nvSpPr>
            <p:spPr bwMode="auto">
              <a:xfrm>
                <a:off x="3072"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7" name="Line 64"/>
              <p:cNvSpPr>
                <a:spLocks noChangeShapeType="1"/>
              </p:cNvSpPr>
              <p:nvPr/>
            </p:nvSpPr>
            <p:spPr bwMode="auto">
              <a:xfrm>
                <a:off x="3216"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8" name="Line 65"/>
              <p:cNvSpPr>
                <a:spLocks noChangeShapeType="1"/>
              </p:cNvSpPr>
              <p:nvPr/>
            </p:nvSpPr>
            <p:spPr bwMode="auto">
              <a:xfrm>
                <a:off x="3360"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9" name="Line 66"/>
              <p:cNvSpPr>
                <a:spLocks noChangeShapeType="1"/>
              </p:cNvSpPr>
              <p:nvPr/>
            </p:nvSpPr>
            <p:spPr bwMode="auto">
              <a:xfrm>
                <a:off x="3504"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0" name="Line 67"/>
              <p:cNvSpPr>
                <a:spLocks noChangeShapeType="1"/>
              </p:cNvSpPr>
              <p:nvPr/>
            </p:nvSpPr>
            <p:spPr bwMode="auto">
              <a:xfrm>
                <a:off x="3648"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1" name="Line 68"/>
              <p:cNvSpPr>
                <a:spLocks noChangeShapeType="1"/>
              </p:cNvSpPr>
              <p:nvPr/>
            </p:nvSpPr>
            <p:spPr bwMode="auto">
              <a:xfrm>
                <a:off x="3792"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2" name="Line 69"/>
              <p:cNvSpPr>
                <a:spLocks noChangeShapeType="1"/>
              </p:cNvSpPr>
              <p:nvPr/>
            </p:nvSpPr>
            <p:spPr bwMode="auto">
              <a:xfrm>
                <a:off x="3936"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3" name="Line 70"/>
              <p:cNvSpPr>
                <a:spLocks noChangeShapeType="1"/>
              </p:cNvSpPr>
              <p:nvPr/>
            </p:nvSpPr>
            <p:spPr bwMode="auto">
              <a:xfrm>
                <a:off x="4080"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4" name="Line 71"/>
              <p:cNvSpPr>
                <a:spLocks noChangeShapeType="1"/>
              </p:cNvSpPr>
              <p:nvPr/>
            </p:nvSpPr>
            <p:spPr bwMode="auto">
              <a:xfrm>
                <a:off x="4224"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5" name="Line 72"/>
              <p:cNvSpPr>
                <a:spLocks noChangeShapeType="1"/>
              </p:cNvSpPr>
              <p:nvPr/>
            </p:nvSpPr>
            <p:spPr bwMode="auto">
              <a:xfrm>
                <a:off x="4368"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6" name="Line 73"/>
              <p:cNvSpPr>
                <a:spLocks noChangeShapeType="1"/>
              </p:cNvSpPr>
              <p:nvPr/>
            </p:nvSpPr>
            <p:spPr bwMode="auto">
              <a:xfrm>
                <a:off x="4512" y="3168"/>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14" name="Group 74"/>
            <p:cNvGrpSpPr/>
            <p:nvPr/>
          </p:nvGrpSpPr>
          <p:grpSpPr bwMode="auto">
            <a:xfrm>
              <a:off x="1728" y="1656"/>
              <a:ext cx="2880" cy="432"/>
              <a:chOff x="1776" y="1656"/>
              <a:chExt cx="2880" cy="432"/>
            </a:xfrm>
          </p:grpSpPr>
          <p:sp>
            <p:nvSpPr>
              <p:cNvPr id="144" name="Line 75"/>
              <p:cNvSpPr>
                <a:spLocks noChangeShapeType="1"/>
              </p:cNvSpPr>
              <p:nvPr/>
            </p:nvSpPr>
            <p:spPr bwMode="auto">
              <a:xfrm>
                <a:off x="1776" y="1656"/>
                <a:ext cx="288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5" name="Line 76"/>
              <p:cNvSpPr>
                <a:spLocks noChangeShapeType="1"/>
              </p:cNvSpPr>
              <p:nvPr/>
            </p:nvSpPr>
            <p:spPr bwMode="auto">
              <a:xfrm>
                <a:off x="1776" y="1800"/>
                <a:ext cx="288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6" name="Line 77"/>
              <p:cNvSpPr>
                <a:spLocks noChangeShapeType="1"/>
              </p:cNvSpPr>
              <p:nvPr/>
            </p:nvSpPr>
            <p:spPr bwMode="auto">
              <a:xfrm>
                <a:off x="1776" y="1944"/>
                <a:ext cx="288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7" name="Line 78"/>
              <p:cNvSpPr>
                <a:spLocks noChangeShapeType="1"/>
              </p:cNvSpPr>
              <p:nvPr/>
            </p:nvSpPr>
            <p:spPr bwMode="auto">
              <a:xfrm>
                <a:off x="1776" y="2088"/>
                <a:ext cx="288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15" name="Group 79"/>
            <p:cNvGrpSpPr/>
            <p:nvPr/>
          </p:nvGrpSpPr>
          <p:grpSpPr bwMode="auto">
            <a:xfrm>
              <a:off x="1800" y="3168"/>
              <a:ext cx="2736" cy="576"/>
              <a:chOff x="1848" y="3168"/>
              <a:chExt cx="2736" cy="576"/>
            </a:xfrm>
          </p:grpSpPr>
          <p:sp>
            <p:nvSpPr>
              <p:cNvPr id="124" name="Line 80"/>
              <p:cNvSpPr>
                <a:spLocks noChangeShapeType="1"/>
              </p:cNvSpPr>
              <p:nvPr/>
            </p:nvSpPr>
            <p:spPr bwMode="auto">
              <a:xfrm>
                <a:off x="1848"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5" name="Line 81"/>
              <p:cNvSpPr>
                <a:spLocks noChangeShapeType="1"/>
              </p:cNvSpPr>
              <p:nvPr/>
            </p:nvSpPr>
            <p:spPr bwMode="auto">
              <a:xfrm>
                <a:off x="1992"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6" name="Line 82"/>
              <p:cNvSpPr>
                <a:spLocks noChangeShapeType="1"/>
              </p:cNvSpPr>
              <p:nvPr/>
            </p:nvSpPr>
            <p:spPr bwMode="auto">
              <a:xfrm>
                <a:off x="2136"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7" name="Line 83"/>
              <p:cNvSpPr>
                <a:spLocks noChangeShapeType="1"/>
              </p:cNvSpPr>
              <p:nvPr/>
            </p:nvSpPr>
            <p:spPr bwMode="auto">
              <a:xfrm>
                <a:off x="2280"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8" name="Line 84"/>
              <p:cNvSpPr>
                <a:spLocks noChangeShapeType="1"/>
              </p:cNvSpPr>
              <p:nvPr/>
            </p:nvSpPr>
            <p:spPr bwMode="auto">
              <a:xfrm>
                <a:off x="2424"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9" name="Line 85"/>
              <p:cNvSpPr>
                <a:spLocks noChangeShapeType="1"/>
              </p:cNvSpPr>
              <p:nvPr/>
            </p:nvSpPr>
            <p:spPr bwMode="auto">
              <a:xfrm>
                <a:off x="2568"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0" name="Line 86"/>
              <p:cNvSpPr>
                <a:spLocks noChangeShapeType="1"/>
              </p:cNvSpPr>
              <p:nvPr/>
            </p:nvSpPr>
            <p:spPr bwMode="auto">
              <a:xfrm>
                <a:off x="2712"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1" name="Line 87"/>
              <p:cNvSpPr>
                <a:spLocks noChangeShapeType="1"/>
              </p:cNvSpPr>
              <p:nvPr/>
            </p:nvSpPr>
            <p:spPr bwMode="auto">
              <a:xfrm>
                <a:off x="2856"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2" name="Line 88"/>
              <p:cNvSpPr>
                <a:spLocks noChangeShapeType="1"/>
              </p:cNvSpPr>
              <p:nvPr/>
            </p:nvSpPr>
            <p:spPr bwMode="auto">
              <a:xfrm>
                <a:off x="3000"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3" name="Line 89"/>
              <p:cNvSpPr>
                <a:spLocks noChangeShapeType="1"/>
              </p:cNvSpPr>
              <p:nvPr/>
            </p:nvSpPr>
            <p:spPr bwMode="auto">
              <a:xfrm>
                <a:off x="3144"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4" name="Line 90"/>
              <p:cNvSpPr>
                <a:spLocks noChangeShapeType="1"/>
              </p:cNvSpPr>
              <p:nvPr/>
            </p:nvSpPr>
            <p:spPr bwMode="auto">
              <a:xfrm>
                <a:off x="3288"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5" name="Line 91"/>
              <p:cNvSpPr>
                <a:spLocks noChangeShapeType="1"/>
              </p:cNvSpPr>
              <p:nvPr/>
            </p:nvSpPr>
            <p:spPr bwMode="auto">
              <a:xfrm>
                <a:off x="3432"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6" name="Line 92"/>
              <p:cNvSpPr>
                <a:spLocks noChangeShapeType="1"/>
              </p:cNvSpPr>
              <p:nvPr/>
            </p:nvSpPr>
            <p:spPr bwMode="auto">
              <a:xfrm>
                <a:off x="3576"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7" name="Line 93"/>
              <p:cNvSpPr>
                <a:spLocks noChangeShapeType="1"/>
              </p:cNvSpPr>
              <p:nvPr/>
            </p:nvSpPr>
            <p:spPr bwMode="auto">
              <a:xfrm>
                <a:off x="3720"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8" name="Line 94"/>
              <p:cNvSpPr>
                <a:spLocks noChangeShapeType="1"/>
              </p:cNvSpPr>
              <p:nvPr/>
            </p:nvSpPr>
            <p:spPr bwMode="auto">
              <a:xfrm>
                <a:off x="3864"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9" name="Line 95"/>
              <p:cNvSpPr>
                <a:spLocks noChangeShapeType="1"/>
              </p:cNvSpPr>
              <p:nvPr/>
            </p:nvSpPr>
            <p:spPr bwMode="auto">
              <a:xfrm>
                <a:off x="4008"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0" name="Line 96"/>
              <p:cNvSpPr>
                <a:spLocks noChangeShapeType="1"/>
              </p:cNvSpPr>
              <p:nvPr/>
            </p:nvSpPr>
            <p:spPr bwMode="auto">
              <a:xfrm>
                <a:off x="4152"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1" name="Line 97"/>
              <p:cNvSpPr>
                <a:spLocks noChangeShapeType="1"/>
              </p:cNvSpPr>
              <p:nvPr/>
            </p:nvSpPr>
            <p:spPr bwMode="auto">
              <a:xfrm>
                <a:off x="4296"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2" name="Line 98"/>
              <p:cNvSpPr>
                <a:spLocks noChangeShapeType="1"/>
              </p:cNvSpPr>
              <p:nvPr/>
            </p:nvSpPr>
            <p:spPr bwMode="auto">
              <a:xfrm>
                <a:off x="4440"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3" name="Line 99"/>
              <p:cNvSpPr>
                <a:spLocks noChangeShapeType="1"/>
              </p:cNvSpPr>
              <p:nvPr/>
            </p:nvSpPr>
            <p:spPr bwMode="auto">
              <a:xfrm>
                <a:off x="4584" y="3168"/>
                <a:ext cx="0" cy="57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17" name="Group 101"/>
            <p:cNvGrpSpPr/>
            <p:nvPr/>
          </p:nvGrpSpPr>
          <p:grpSpPr bwMode="auto">
            <a:xfrm>
              <a:off x="4369" y="825"/>
              <a:ext cx="722" cy="416"/>
              <a:chOff x="4464" y="9"/>
              <a:chExt cx="722" cy="416"/>
            </a:xfrm>
          </p:grpSpPr>
          <p:sp>
            <p:nvSpPr>
              <p:cNvPr id="119" name="Text Box 102"/>
              <p:cNvSpPr txBox="1">
                <a:spLocks noChangeArrowheads="1"/>
              </p:cNvSpPr>
              <p:nvPr/>
            </p:nvSpPr>
            <p:spPr bwMode="auto">
              <a:xfrm>
                <a:off x="4470" y="9"/>
                <a:ext cx="71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个用户</a:t>
                </a:r>
                <a:endParaRPr lang="fr-FR" altLang="zh-CN" sz="2000" dirty="0">
                  <a:latin typeface="微软雅黑" panose="020B0503020204020204" pitchFamily="34" charset="-122"/>
                  <a:ea typeface="微软雅黑" panose="020B0503020204020204" pitchFamily="34" charset="-122"/>
                </a:endParaRPr>
              </a:p>
            </p:txBody>
          </p:sp>
          <p:sp>
            <p:nvSpPr>
              <p:cNvPr id="120" name="Rectangle 103"/>
              <p:cNvSpPr>
                <a:spLocks noChangeArrowheads="1"/>
              </p:cNvSpPr>
              <p:nvPr/>
            </p:nvSpPr>
            <p:spPr bwMode="auto">
              <a:xfrm>
                <a:off x="4464" y="281"/>
                <a:ext cx="144" cy="144"/>
              </a:xfrm>
              <a:prstGeom prst="rect">
                <a:avLst/>
              </a:prstGeom>
              <a:solidFill>
                <a:srgbClr val="3366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21" name="Rectangle 104"/>
              <p:cNvSpPr>
                <a:spLocks noChangeArrowheads="1"/>
              </p:cNvSpPr>
              <p:nvPr/>
            </p:nvSpPr>
            <p:spPr bwMode="auto">
              <a:xfrm>
                <a:off x="4656" y="281"/>
                <a:ext cx="144" cy="144"/>
              </a:xfrm>
              <a:prstGeom prst="rect">
                <a:avLst/>
              </a:prstGeom>
              <a:solidFill>
                <a:srgbClr val="99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22" name="Rectangle 105"/>
              <p:cNvSpPr>
                <a:spLocks noChangeArrowheads="1"/>
              </p:cNvSpPr>
              <p:nvPr/>
            </p:nvSpPr>
            <p:spPr bwMode="auto">
              <a:xfrm>
                <a:off x="4848" y="281"/>
                <a:ext cx="144" cy="144"/>
              </a:xfrm>
              <a:prstGeom prst="rect">
                <a:avLst/>
              </a:prstGeom>
              <a:solidFill>
                <a:srgbClr val="FFCC00"/>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sp>
            <p:nvSpPr>
              <p:cNvPr id="123" name="Rectangle 106"/>
              <p:cNvSpPr>
                <a:spLocks noChangeArrowheads="1"/>
              </p:cNvSpPr>
              <p:nvPr/>
            </p:nvSpPr>
            <p:spPr bwMode="auto">
              <a:xfrm>
                <a:off x="5040" y="281"/>
                <a:ext cx="144" cy="144"/>
              </a:xfrm>
              <a:prstGeom prst="rect">
                <a:avLst/>
              </a:prstGeom>
              <a:solidFill>
                <a:srgbClr val="FF00FF"/>
              </a:solidFill>
              <a:ln w="9525">
                <a:solidFill>
                  <a:schemeClr val="tx1"/>
                </a:solidFill>
                <a:miter lim="800000"/>
              </a:ln>
            </p:spPr>
            <p:txBody>
              <a:bodyPr wrap="none" anchor="ct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1800">
                  <a:latin typeface="微软雅黑" panose="020B0503020204020204" pitchFamily="34" charset="-122"/>
                  <a:ea typeface="微软雅黑" panose="020B0503020204020204" pitchFamily="34" charset="-122"/>
                </a:endParaRPr>
              </a:p>
            </p:txBody>
          </p:sp>
        </p:grpSp>
      </p:grpSp>
      <p:sp>
        <p:nvSpPr>
          <p:cNvPr id="3" name="Text Box 11"/>
          <p:cNvSpPr txBox="1">
            <a:spLocks noChangeArrowheads="1"/>
          </p:cNvSpPr>
          <p:nvPr/>
        </p:nvSpPr>
        <p:spPr bwMode="auto">
          <a:xfrm>
            <a:off x="5569619" y="4441588"/>
            <a:ext cx="697287" cy="39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lang="zh-CN" altLang="en-US" sz="2000" dirty="0">
                <a:latin typeface="微软雅黑" panose="020B0503020204020204" pitchFamily="34" charset="-122"/>
                <a:ea typeface="微软雅黑" panose="020B0503020204020204" pitchFamily="34" charset="-122"/>
              </a:rPr>
              <a:t>频率</a:t>
            </a:r>
            <a:endParaRPr lang="fr-FR" altLang="zh-CN" sz="20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8" name="文本框 11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16" name="Text Box 8"/>
          <p:cNvSpPr txBox="1">
            <a:spLocks noChangeArrowheads="1"/>
          </p:cNvSpPr>
          <p:nvPr/>
        </p:nvSpPr>
        <p:spPr bwMode="auto">
          <a:xfrm>
            <a:off x="1110075" y="5432516"/>
            <a:ext cx="4287011" cy="830997"/>
          </a:xfrm>
          <a:prstGeom prst="rect">
            <a:avLst/>
          </a:prstGeom>
          <a:noFill/>
          <a:ln w="9525">
            <a:solidFill>
              <a:srgbClr val="C0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lang="zh-CN" altLang="en-US" sz="2400" dirty="0">
                <a:solidFill>
                  <a:srgbClr val="C00000"/>
                </a:solidFill>
                <a:latin typeface="微软雅黑" panose="020B0503020204020204" pitchFamily="34" charset="-122"/>
                <a:ea typeface="微软雅黑" panose="020B0503020204020204" pitchFamily="34" charset="-122"/>
              </a:rPr>
              <a:t>无法应对互联网中广泛存在的“突发”（</a:t>
            </a:r>
            <a:r>
              <a:rPr lang="en-US" altLang="zh-CN" sz="2400" dirty="0">
                <a:solidFill>
                  <a:srgbClr val="C00000"/>
                </a:solidFill>
                <a:latin typeface="微软雅黑" panose="020B0503020204020204" pitchFamily="34" charset="-122"/>
                <a:ea typeface="微软雅黑" panose="020B0503020204020204" pitchFamily="34" charset="-122"/>
              </a:rPr>
              <a:t>Burst</a:t>
            </a:r>
            <a:r>
              <a:rPr lang="zh-CN" altLang="en-US" sz="2400" dirty="0">
                <a:solidFill>
                  <a:srgbClr val="C00000"/>
                </a:solidFill>
                <a:latin typeface="微软雅黑" panose="020B0503020204020204" pitchFamily="34" charset="-122"/>
                <a:ea typeface="微软雅黑" panose="020B0503020204020204" pitchFamily="34" charset="-122"/>
              </a:rPr>
              <a:t>）流量</a:t>
            </a:r>
            <a:endParaRPr lang="fr-FR" altLang="zh-CN" sz="24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存储转发的报文交换</a:t>
            </a:r>
            <a:endParaRPr lang="zh-CN" altLang="en-US" dirty="0"/>
          </a:p>
        </p:txBody>
      </p:sp>
      <p:sp>
        <p:nvSpPr>
          <p:cNvPr id="3" name="内容占位符 2"/>
          <p:cNvSpPr>
            <a:spLocks noGrp="1"/>
          </p:cNvSpPr>
          <p:nvPr>
            <p:ph idx="1"/>
          </p:nvPr>
        </p:nvSpPr>
        <p:spPr>
          <a:xfrm>
            <a:off x="838200" y="1438672"/>
            <a:ext cx="10515600" cy="4586694"/>
          </a:xfrm>
        </p:spPr>
        <p:txBody>
          <a:bodyPr>
            <a:normAutofit fontScale="97500"/>
          </a:bodyPr>
          <a:lstStyle/>
          <a:p>
            <a:pPr>
              <a:lnSpc>
                <a:spcPct val="110000"/>
              </a:lnSpc>
            </a:pPr>
            <a:r>
              <a:rPr lang="en-US" altLang="en-US" dirty="0" err="1">
                <a:cs typeface="微软雅黑" panose="020B0503020204020204" pitchFamily="34" charset="-122"/>
                <a:sym typeface="+mn-ea"/>
              </a:rPr>
              <a:t>存储</a:t>
            </a:r>
            <a:r>
              <a:rPr lang="en-US" altLang="zh-CN" dirty="0" err="1">
                <a:cs typeface="微软雅黑" panose="020B0503020204020204" pitchFamily="34" charset="-122"/>
                <a:sym typeface="+mn-ea"/>
              </a:rPr>
              <a:t>&amp;</a:t>
            </a:r>
            <a:r>
              <a:rPr lang="en-US" altLang="en-US" dirty="0" err="1">
                <a:cs typeface="微软雅黑" panose="020B0503020204020204" pitchFamily="34" charset="-122"/>
                <a:sym typeface="+mn-ea"/>
              </a:rPr>
              <a:t>转发</a:t>
            </a:r>
            <a:endParaRPr lang="en-US" altLang="en-US" dirty="0">
              <a:cs typeface="微软雅黑" panose="020B0503020204020204" pitchFamily="34" charset="-122"/>
              <a:sym typeface="+mn-ea"/>
            </a:endParaRPr>
          </a:p>
          <a:p>
            <a:pPr lvl="1">
              <a:lnSpc>
                <a:spcPct val="110000"/>
              </a:lnSpc>
            </a:pPr>
            <a:r>
              <a:rPr lang="en-US" altLang="en-US" dirty="0" err="1">
                <a:cs typeface="微软雅黑" panose="020B0503020204020204" pitchFamily="34" charset="-122"/>
                <a:sym typeface="+mn-ea"/>
              </a:rPr>
              <a:t>路由器需要接收到完整的整个数据报文后</a:t>
            </a:r>
            <a:r>
              <a:rPr lang="zh-CN" altLang="en-US" dirty="0">
                <a:cs typeface="微软雅黑" panose="020B0503020204020204" pitchFamily="34" charset="-122"/>
                <a:sym typeface="+mn-ea"/>
              </a:rPr>
              <a:t>，</a:t>
            </a:r>
            <a:r>
              <a:rPr lang="en-US" altLang="en-US" dirty="0" err="1">
                <a:cs typeface="微软雅黑" panose="020B0503020204020204" pitchFamily="34" charset="-122"/>
                <a:sym typeface="+mn-ea"/>
              </a:rPr>
              <a:t>才能开始向下一跳发送</a:t>
            </a:r>
            <a:endParaRPr lang="en-US" altLang="en-US" sz="2000" dirty="0">
              <a:cs typeface="微软雅黑" panose="020B0503020204020204" pitchFamily="34" charset="-122"/>
              <a:sym typeface="+mn-ea"/>
            </a:endParaRPr>
          </a:p>
          <a:p>
            <a:pPr>
              <a:lnSpc>
                <a:spcPct val="110000"/>
              </a:lnSpc>
            </a:pPr>
            <a:r>
              <a:rPr lang="en-US" altLang="en-US" dirty="0" err="1">
                <a:cs typeface="微软雅黑" panose="020B0503020204020204" pitchFamily="34" charset="-122"/>
                <a:sym typeface="+mn-ea"/>
              </a:rPr>
              <a:t>存储转发带来报文的传输延迟</a:t>
            </a:r>
            <a:endParaRPr lang="en-US" altLang="en-US" dirty="0">
              <a:cs typeface="微软雅黑" panose="020B0503020204020204" pitchFamily="34" charset="-122"/>
              <a:sym typeface="+mn-ea"/>
            </a:endParaRPr>
          </a:p>
          <a:p>
            <a:pPr lvl="1">
              <a:lnSpc>
                <a:spcPct val="110000"/>
              </a:lnSpc>
            </a:pPr>
            <a:r>
              <a:rPr lang="en-US" altLang="en-US" dirty="0" err="1">
                <a:cs typeface="微软雅黑" panose="020B0503020204020204" pitchFamily="34" charset="-122"/>
                <a:sym typeface="+mn-ea"/>
              </a:rPr>
              <a:t>将L位数据报文</a:t>
            </a:r>
            <a:r>
              <a:rPr lang="zh-CN" altLang="en-US" dirty="0">
                <a:cs typeface="微软雅黑" panose="020B0503020204020204" pitchFamily="34" charset="-122"/>
                <a:sym typeface="+mn-ea"/>
              </a:rPr>
              <a:t>，</a:t>
            </a:r>
            <a:r>
              <a:rPr lang="en-US" altLang="en-US" dirty="0" err="1">
                <a:cs typeface="微软雅黑" panose="020B0503020204020204" pitchFamily="34" charset="-122"/>
                <a:sym typeface="+mn-ea"/>
              </a:rPr>
              <a:t>以R</a:t>
            </a:r>
            <a:r>
              <a:rPr lang="en-US" altLang="en-US" dirty="0">
                <a:cs typeface="微软雅黑" panose="020B0503020204020204" pitchFamily="34" charset="-122"/>
                <a:sym typeface="+mn-ea"/>
              </a:rPr>
              <a:t> </a:t>
            </a:r>
            <a:r>
              <a:rPr lang="en-US" altLang="en-US" dirty="0" err="1">
                <a:cs typeface="微软雅黑" panose="020B0503020204020204" pitchFamily="34" charset="-122"/>
                <a:sym typeface="+mn-ea"/>
              </a:rPr>
              <a:t>bps的速率</a:t>
            </a:r>
            <a:r>
              <a:rPr lang="zh-CN" altLang="en-US" dirty="0">
                <a:cs typeface="微软雅黑" panose="020B0503020204020204" pitchFamily="34" charset="-122"/>
                <a:sym typeface="+mn-ea"/>
              </a:rPr>
              <a:t>，</a:t>
            </a:r>
            <a:r>
              <a:rPr lang="en-US" altLang="en-US" dirty="0" err="1">
                <a:cs typeface="微软雅黑" panose="020B0503020204020204" pitchFamily="34" charset="-122"/>
                <a:sym typeface="+mn-ea"/>
              </a:rPr>
              <a:t>发送到链路中</a:t>
            </a:r>
            <a:r>
              <a:rPr lang="zh-CN" altLang="en-US" dirty="0">
                <a:cs typeface="微软雅黑" panose="020B0503020204020204" pitchFamily="34" charset="-122"/>
                <a:sym typeface="+mn-ea"/>
              </a:rPr>
              <a:t>：</a:t>
            </a:r>
            <a:r>
              <a:rPr lang="en-US" altLang="en-US" dirty="0">
                <a:cs typeface="微软雅黑" panose="020B0503020204020204" pitchFamily="34" charset="-122"/>
                <a:sym typeface="+mn-ea"/>
              </a:rPr>
              <a:t> </a:t>
            </a:r>
            <a:r>
              <a:rPr lang="en-US" altLang="en-US" dirty="0" err="1">
                <a:cs typeface="微软雅黑" panose="020B0503020204020204" pitchFamily="34" charset="-122"/>
                <a:sym typeface="+mn-ea"/>
              </a:rPr>
              <a:t>需要L</a:t>
            </a:r>
            <a:r>
              <a:rPr lang="en-US" altLang="en-US" dirty="0">
                <a:cs typeface="微软雅黑" panose="020B0503020204020204" pitchFamily="34" charset="-122"/>
                <a:sym typeface="+mn-ea"/>
              </a:rPr>
              <a:t>/</a:t>
            </a:r>
            <a:r>
              <a:rPr lang="en-US" altLang="en-US" dirty="0" err="1">
                <a:cs typeface="微软雅黑" panose="020B0503020204020204" pitchFamily="34" charset="-122"/>
                <a:sym typeface="+mn-ea"/>
              </a:rPr>
              <a:t>R秒</a:t>
            </a:r>
            <a:endParaRPr lang="en-US" altLang="en-US" dirty="0">
              <a:cs typeface="微软雅黑" panose="020B0503020204020204" pitchFamily="34" charset="-122"/>
              <a:sym typeface="+mn-ea"/>
            </a:endParaRP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5219989" y="3605462"/>
            <a:ext cx="3442579" cy="1015663"/>
          </a:xfrm>
          <a:prstGeom prst="rect">
            <a:avLst/>
          </a:prstGeom>
          <a:noFill/>
        </p:spPr>
        <p:txBody>
          <a:bodyPr wrap="square" rtlCol="0" anchor="t">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单跳数值示例：</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L=10千比特，R=100 Mbps</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一跳发送延迟=0.1毫秒</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45" name="Group 41"/>
          <p:cNvGrpSpPr/>
          <p:nvPr/>
        </p:nvGrpSpPr>
        <p:grpSpPr bwMode="auto">
          <a:xfrm>
            <a:off x="1672321" y="5261086"/>
            <a:ext cx="1074738" cy="450508"/>
            <a:chOff x="1816230" y="6118900"/>
            <a:chExt cx="1843339" cy="739100"/>
          </a:xfrm>
        </p:grpSpPr>
        <p:pic>
          <p:nvPicPr>
            <p:cNvPr id="446" name="Picture 8"/>
            <p:cNvPicPr>
              <a:picLocks noChangeAspect="1" noChangeArrowheads="1"/>
            </p:cNvPicPr>
            <p:nvPr/>
          </p:nvPicPr>
          <p:blipFill>
            <a:blip r:embed="rId1"/>
            <a:srcRect/>
            <a:stretch>
              <a:fillRect/>
            </a:stretch>
          </p:blipFill>
          <p:spPr bwMode="auto">
            <a:xfrm>
              <a:off x="1816230" y="6144002"/>
              <a:ext cx="1843339" cy="71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6" name="Rectangle 495"/>
            <p:cNvSpPr/>
            <p:nvPr/>
          </p:nvSpPr>
          <p:spPr>
            <a:xfrm rot="1049095">
              <a:off x="1947488" y="6118900"/>
              <a:ext cx="1650399" cy="462656"/>
            </a:xfrm>
            <a:prstGeom prst="rect">
              <a:avLst/>
            </a:prstGeom>
            <a:gradFill>
              <a:gsLst>
                <a:gs pos="0">
                  <a:sysClr val="window" lastClr="FFFFFF"/>
                </a:gs>
                <a:gs pos="50000">
                  <a:sysClr val="window" lastClr="FFFFFF">
                    <a:alpha val="48000"/>
                  </a:sysClr>
                </a:gs>
                <a:gs pos="100000">
                  <a:sysClr val="window" lastClr="FFFFFF">
                    <a:alpha val="0"/>
                  </a:sysClr>
                </a:gs>
              </a:gsLst>
              <a:lin ang="5400000" scaled="0"/>
            </a:gradFill>
            <a:ln w="25400" cap="flat" cmpd="sng" algn="ctr">
              <a:noFill/>
              <a:prstDash val="solid"/>
            </a:ln>
            <a:effectLst/>
          </p:spPr>
          <p:txBody>
            <a:bodyPr anchor="ct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endParaRPr>
            </a:p>
          </p:txBody>
        </p:sp>
      </p:grpSp>
      <p:cxnSp>
        <p:nvCxnSpPr>
          <p:cNvPr id="571" name="Straight Connector 42"/>
          <p:cNvCxnSpPr>
            <a:cxnSpLocks noChangeShapeType="1"/>
          </p:cNvCxnSpPr>
          <p:nvPr/>
        </p:nvCxnSpPr>
        <p:spPr bwMode="auto">
          <a:xfrm flipV="1">
            <a:off x="2635933" y="5440449"/>
            <a:ext cx="1738312" cy="0"/>
          </a:xfrm>
          <a:prstGeom prst="line">
            <a:avLst/>
          </a:prstGeom>
          <a:noFill/>
          <a:ln w="19050">
            <a:solidFill>
              <a:srgbClr val="000000"/>
            </a:solidFill>
            <a:round/>
          </a:ln>
          <a:extLst>
            <a:ext uri="{909E8E84-426E-40DD-AFC4-6F175D3DCCD1}">
              <a14:hiddenFill xmlns:a14="http://schemas.microsoft.com/office/drawing/2010/main">
                <a:noFill/>
              </a14:hiddenFill>
            </a:ext>
          </a:extLst>
        </p:spPr>
      </p:cxnSp>
      <p:grpSp>
        <p:nvGrpSpPr>
          <p:cNvPr id="572" name="Group 43"/>
          <p:cNvGrpSpPr/>
          <p:nvPr/>
        </p:nvGrpSpPr>
        <p:grpSpPr bwMode="auto">
          <a:xfrm>
            <a:off x="3982133" y="5209944"/>
            <a:ext cx="1058862" cy="384175"/>
            <a:chOff x="5142253" y="5649029"/>
            <a:chExt cx="1304545" cy="695633"/>
          </a:xfrm>
        </p:grpSpPr>
        <p:grpSp>
          <p:nvGrpSpPr>
            <p:cNvPr id="575" name="Group 92"/>
            <p:cNvGrpSpPr/>
            <p:nvPr/>
          </p:nvGrpSpPr>
          <p:grpSpPr bwMode="auto">
            <a:xfrm>
              <a:off x="5147271" y="5649029"/>
              <a:ext cx="1276350" cy="695633"/>
              <a:chOff x="4981575" y="5851547"/>
              <a:chExt cx="1276350" cy="695633"/>
            </a:xfrm>
          </p:grpSpPr>
          <p:pic>
            <p:nvPicPr>
              <p:cNvPr id="610" name="Picture 95"/>
              <p:cNvPicPr>
                <a:picLocks noChangeAspect="1"/>
              </p:cNvPicPr>
              <p:nvPr/>
            </p:nvPicPr>
            <p:blipFill>
              <a:blip r:embed="rId2"/>
              <a:srcRect/>
              <a:stretch>
                <a:fillRect/>
              </a:stretch>
            </p:blipFill>
            <p:spPr bwMode="auto">
              <a:xfrm>
                <a:off x="4981575" y="5944151"/>
                <a:ext cx="1276350" cy="603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2" name="Rectangle 96"/>
              <p:cNvSpPr>
                <a:spLocks noChangeArrowheads="1"/>
              </p:cNvSpPr>
              <p:nvPr/>
            </p:nvSpPr>
            <p:spPr bwMode="auto">
              <a:xfrm>
                <a:off x="6065959" y="6205112"/>
                <a:ext cx="44985" cy="224212"/>
              </a:xfrm>
              <a:prstGeom prst="rect">
                <a:avLst/>
              </a:prstGeom>
              <a:solidFill>
                <a:srgbClr val="BFBFB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sp>
            <p:nvSpPr>
              <p:cNvPr id="613" name="Rectangle 97"/>
              <p:cNvSpPr>
                <a:spLocks noChangeArrowheads="1"/>
              </p:cNvSpPr>
              <p:nvPr/>
            </p:nvSpPr>
            <p:spPr bwMode="auto">
              <a:xfrm>
                <a:off x="5178008" y="6228108"/>
                <a:ext cx="62587" cy="224212"/>
              </a:xfrm>
              <a:prstGeom prst="rect">
                <a:avLst/>
              </a:prstGeom>
              <a:solidFill>
                <a:srgbClr val="BFBFB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sp>
            <p:nvSpPr>
              <p:cNvPr id="614" name="Oval 98"/>
              <p:cNvSpPr>
                <a:spLocks noChangeArrowheads="1"/>
              </p:cNvSpPr>
              <p:nvPr/>
            </p:nvSpPr>
            <p:spPr bwMode="auto">
              <a:xfrm>
                <a:off x="5023497" y="5851547"/>
                <a:ext cx="1196974" cy="494417"/>
              </a:xfrm>
              <a:prstGeom prst="ellipse">
                <a:avLst/>
              </a:prstGeom>
              <a:solidFill>
                <a:srgbClr val="EAEAEA"/>
              </a:solidFill>
              <a:ln>
                <a:noFill/>
              </a:ln>
              <a:extLst>
                <a:ext uri="{91240B29-F687-4F45-9708-019B960494DF}">
                  <a14:hiddenLine xmlns:a14="http://schemas.microsoft.com/office/drawing/2010/main" w="25400">
                    <a:solidFill>
                      <a:srgbClr val="000000"/>
                    </a:solidFill>
                    <a:rou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grpSp>
        <p:sp>
          <p:nvSpPr>
            <p:cNvPr id="576" name="Rectangle 93"/>
            <p:cNvSpPr>
              <a:spLocks noChangeArrowheads="1"/>
            </p:cNvSpPr>
            <p:nvPr/>
          </p:nvSpPr>
          <p:spPr bwMode="auto">
            <a:xfrm>
              <a:off x="6360741" y="5695021"/>
              <a:ext cx="86057" cy="12647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sp>
          <p:nvSpPr>
            <p:cNvPr id="609" name="Rectangle 94"/>
            <p:cNvSpPr>
              <a:spLocks noChangeArrowheads="1"/>
            </p:cNvSpPr>
            <p:nvPr/>
          </p:nvSpPr>
          <p:spPr bwMode="auto">
            <a:xfrm>
              <a:off x="5142253" y="5700770"/>
              <a:ext cx="86057" cy="12647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grpSp>
      <p:grpSp>
        <p:nvGrpSpPr>
          <p:cNvPr id="631" name="Group 44"/>
          <p:cNvGrpSpPr/>
          <p:nvPr/>
        </p:nvGrpSpPr>
        <p:grpSpPr bwMode="auto">
          <a:xfrm>
            <a:off x="3936095" y="4130444"/>
            <a:ext cx="1092200" cy="303212"/>
            <a:chOff x="5128542" y="4838701"/>
            <a:chExt cx="1300833" cy="530211"/>
          </a:xfrm>
        </p:grpSpPr>
        <p:pic>
          <p:nvPicPr>
            <p:cNvPr id="632" name="Picture 2"/>
            <p:cNvPicPr>
              <a:picLocks noChangeAspect="1" noChangeArrowheads="1"/>
            </p:cNvPicPr>
            <p:nvPr/>
          </p:nvPicPr>
          <p:blipFill>
            <a:blip r:embed="rId3"/>
            <a:srcRect/>
            <a:stretch>
              <a:fillRect/>
            </a:stretch>
          </p:blipFill>
          <p:spPr bwMode="auto">
            <a:xfrm>
              <a:off x="5128542" y="4838701"/>
              <a:ext cx="1300833" cy="491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3" name="Rectangle 90"/>
            <p:cNvSpPr>
              <a:spLocks noChangeArrowheads="1"/>
            </p:cNvSpPr>
            <p:nvPr/>
          </p:nvSpPr>
          <p:spPr bwMode="auto">
            <a:xfrm>
              <a:off x="6327275" y="5219009"/>
              <a:ext cx="86974" cy="127695"/>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sp>
          <p:nvSpPr>
            <p:cNvPr id="634" name="Rectangle 91"/>
            <p:cNvSpPr>
              <a:spLocks noChangeArrowheads="1"/>
            </p:cNvSpPr>
            <p:nvPr/>
          </p:nvSpPr>
          <p:spPr bwMode="auto">
            <a:xfrm>
              <a:off x="5158794" y="5241217"/>
              <a:ext cx="86974" cy="127695"/>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grpSp>
      <p:grpSp>
        <p:nvGrpSpPr>
          <p:cNvPr id="635" name="Group 45"/>
          <p:cNvGrpSpPr/>
          <p:nvPr/>
        </p:nvGrpSpPr>
        <p:grpSpPr bwMode="auto">
          <a:xfrm>
            <a:off x="1853295" y="3793103"/>
            <a:ext cx="1092200" cy="656427"/>
            <a:chOff x="2387973" y="4309243"/>
            <a:chExt cx="1771787" cy="1282262"/>
          </a:xfrm>
        </p:grpSpPr>
        <p:pic>
          <p:nvPicPr>
            <p:cNvPr id="636" name="Picture 9"/>
            <p:cNvPicPr>
              <a:picLocks noChangeAspect="1" noChangeArrowheads="1"/>
            </p:cNvPicPr>
            <p:nvPr/>
          </p:nvPicPr>
          <p:blipFill>
            <a:blip r:embed="rId4" cstate="print"/>
            <a:srcRect/>
            <a:stretch>
              <a:fillRect/>
            </a:stretch>
          </p:blipFill>
          <p:spPr bwMode="auto">
            <a:xfrm>
              <a:off x="2583481" y="4309243"/>
              <a:ext cx="1285463" cy="128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7" name="Rectangle 636"/>
            <p:cNvSpPr/>
            <p:nvPr/>
          </p:nvSpPr>
          <p:spPr>
            <a:xfrm rot="11601822">
              <a:off x="2387973" y="5128665"/>
              <a:ext cx="1771787" cy="422704"/>
            </a:xfrm>
            <a:prstGeom prst="rect">
              <a:avLst/>
            </a:prstGeom>
            <a:gradFill>
              <a:gsLst>
                <a:gs pos="0">
                  <a:sysClr val="window" lastClr="FFFFFF"/>
                </a:gs>
                <a:gs pos="50000">
                  <a:sysClr val="window" lastClr="FFFFFF">
                    <a:alpha val="48000"/>
                  </a:sysClr>
                </a:gs>
                <a:gs pos="100000">
                  <a:sysClr val="window" lastClr="FFFFFF">
                    <a:alpha val="0"/>
                  </a:sysClr>
                </a:gs>
              </a:gsLst>
              <a:lin ang="5400000" scaled="0"/>
            </a:gradFill>
            <a:ln w="25400" cap="flat" cmpd="sng" algn="ctr">
              <a:noFill/>
              <a:prstDash val="solid"/>
            </a:ln>
            <a:effectLst/>
          </p:spPr>
          <p:txBody>
            <a:bodyPr anchor="ct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endParaRPr>
            </a:p>
          </p:txBody>
        </p:sp>
      </p:grpSp>
      <p:grpSp>
        <p:nvGrpSpPr>
          <p:cNvPr id="641" name="Group 100"/>
          <p:cNvGrpSpPr/>
          <p:nvPr/>
        </p:nvGrpSpPr>
        <p:grpSpPr bwMode="auto">
          <a:xfrm>
            <a:off x="6004608" y="4593994"/>
            <a:ext cx="1477962" cy="1284287"/>
            <a:chOff x="-44" y="1473"/>
            <a:chExt cx="981" cy="1105"/>
          </a:xfrm>
        </p:grpSpPr>
        <p:pic>
          <p:nvPicPr>
            <p:cNvPr id="642" name="Picture 101" descr="desktop_computer_stylized_medium"/>
            <p:cNvPicPr>
              <a:picLocks noChangeAspect="1" noChangeArrowheads="1"/>
            </p:cNvPicPr>
            <p:nvPr/>
          </p:nvPicPr>
          <p:blipFill>
            <a:blip r:embed="rId5"/>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3" name="Freeform 102"/>
            <p:cNvSpPr/>
            <p:nvPr/>
          </p:nvSpPr>
          <p:spPr bwMode="auto">
            <a:xfrm flipH="1">
              <a:off x="374" y="1580"/>
              <a:ext cx="474" cy="505"/>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ysClr val="window" lastClr="FFFFFF"/>
                </a:gs>
              </a:gsLst>
              <a:lin ang="2700000" scaled="1"/>
            </a:gradFill>
            <a:ln w="9525" cap="flat" cmpd="sng">
              <a:noFill/>
              <a:prstDash val="solid"/>
              <a:rou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48" name="Group 55"/>
          <p:cNvGrpSpPr/>
          <p:nvPr/>
        </p:nvGrpSpPr>
        <p:grpSpPr bwMode="auto">
          <a:xfrm>
            <a:off x="1804083" y="4395556"/>
            <a:ext cx="2935287" cy="841375"/>
            <a:chOff x="593766" y="5264055"/>
            <a:chExt cx="3597129" cy="1011695"/>
          </a:xfrm>
        </p:grpSpPr>
        <p:grpSp>
          <p:nvGrpSpPr>
            <p:cNvPr id="649" name="Group 56"/>
            <p:cNvGrpSpPr/>
            <p:nvPr/>
          </p:nvGrpSpPr>
          <p:grpSpPr bwMode="auto">
            <a:xfrm>
              <a:off x="3527077" y="5264055"/>
              <a:ext cx="617671" cy="927313"/>
              <a:chOff x="2105936" y="5387204"/>
              <a:chExt cx="617671" cy="927313"/>
            </a:xfrm>
          </p:grpSpPr>
          <p:sp>
            <p:nvSpPr>
              <p:cNvPr id="674" name="Rectangle 77"/>
              <p:cNvSpPr>
                <a:spLocks noChangeArrowheads="1"/>
              </p:cNvSpPr>
              <p:nvPr/>
            </p:nvSpPr>
            <p:spPr bwMode="auto">
              <a:xfrm>
                <a:off x="2577155" y="6049578"/>
                <a:ext cx="140072" cy="265331"/>
              </a:xfrm>
              <a:prstGeom prst="rect">
                <a:avLst/>
              </a:prstGeom>
              <a:solidFill>
                <a:srgbClr val="33CC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sp>
            <p:nvSpPr>
              <p:cNvPr id="675" name="Freeform 674"/>
              <p:cNvSpPr/>
              <p:nvPr/>
            </p:nvSpPr>
            <p:spPr>
              <a:xfrm>
                <a:off x="2110248" y="5705984"/>
                <a:ext cx="466907" cy="608925"/>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0 w 967997"/>
                  <a:gd name="connsiteY0-2" fmla="*/ 0 h 2138362"/>
                  <a:gd name="connsiteX1-3" fmla="*/ 0 w 967997"/>
                  <a:gd name="connsiteY1-4" fmla="*/ 1190625 h 2138362"/>
                  <a:gd name="connsiteX2-5" fmla="*/ 966787 w 967997"/>
                  <a:gd name="connsiteY2-6" fmla="*/ 2138362 h 2138362"/>
                  <a:gd name="connsiteX3-7" fmla="*/ 967618 w 967997"/>
                  <a:gd name="connsiteY3-8" fmla="*/ 1495143 h 2138362"/>
                  <a:gd name="connsiteX4-9" fmla="*/ 0 w 967997"/>
                  <a:gd name="connsiteY4-10" fmla="*/ 0 h 2138362"/>
                  <a:gd name="connsiteX0-11" fmla="*/ 0 w 967997"/>
                  <a:gd name="connsiteY0-12" fmla="*/ 0 h 1424095"/>
                  <a:gd name="connsiteX1-13" fmla="*/ 0 w 967997"/>
                  <a:gd name="connsiteY1-14" fmla="*/ 476358 h 1424095"/>
                  <a:gd name="connsiteX2-15" fmla="*/ 966787 w 967997"/>
                  <a:gd name="connsiteY2-16" fmla="*/ 1424095 h 1424095"/>
                  <a:gd name="connsiteX3-17" fmla="*/ 967618 w 967997"/>
                  <a:gd name="connsiteY3-18" fmla="*/ 780876 h 1424095"/>
                  <a:gd name="connsiteX4-19" fmla="*/ 0 w 967997"/>
                  <a:gd name="connsiteY4-20" fmla="*/ 0 h 14240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7997" h="1424095">
                    <a:moveTo>
                      <a:pt x="0" y="0"/>
                    </a:moveTo>
                    <a:lnTo>
                      <a:pt x="0" y="476358"/>
                    </a:lnTo>
                    <a:lnTo>
                      <a:pt x="966787" y="1424095"/>
                    </a:lnTo>
                    <a:cubicBezTo>
                      <a:pt x="965200" y="958958"/>
                      <a:pt x="969205" y="1246013"/>
                      <a:pt x="967618" y="780876"/>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76" name="Freeform 675"/>
              <p:cNvSpPr/>
              <p:nvPr/>
            </p:nvSpPr>
            <p:spPr>
              <a:xfrm>
                <a:off x="2106358" y="5688804"/>
                <a:ext cx="616705" cy="355048"/>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 name="connsiteX0-161" fmla="*/ 233363 w 1277416"/>
                  <a:gd name="connsiteY0-162" fmla="*/ 0 h 813350"/>
                  <a:gd name="connsiteX1-163" fmla="*/ 0 w 1277416"/>
                  <a:gd name="connsiteY1-164" fmla="*/ 9439 h 813350"/>
                  <a:gd name="connsiteX2-165" fmla="*/ 952500 w 1277416"/>
                  <a:gd name="connsiteY2-166" fmla="*/ 752735 h 813350"/>
                  <a:gd name="connsiteX3-167" fmla="*/ 1277416 w 1277416"/>
                  <a:gd name="connsiteY3-168" fmla="*/ 813350 h 813350"/>
                  <a:gd name="connsiteX4-169" fmla="*/ 233363 w 1277416"/>
                  <a:gd name="connsiteY4-170" fmla="*/ 0 h 813350"/>
                  <a:gd name="connsiteX0-171" fmla="*/ 233363 w 1277416"/>
                  <a:gd name="connsiteY0-172" fmla="*/ 0 h 814795"/>
                  <a:gd name="connsiteX1-173" fmla="*/ 0 w 1277416"/>
                  <a:gd name="connsiteY1-174" fmla="*/ 9439 h 814795"/>
                  <a:gd name="connsiteX2-175" fmla="*/ 980474 w 1277416"/>
                  <a:gd name="connsiteY2-176" fmla="*/ 814795 h 814795"/>
                  <a:gd name="connsiteX3-177" fmla="*/ 1277416 w 1277416"/>
                  <a:gd name="connsiteY3-178" fmla="*/ 813350 h 814795"/>
                  <a:gd name="connsiteX4-179" fmla="*/ 233363 w 1277416"/>
                  <a:gd name="connsiteY4-180" fmla="*/ 0 h 8147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77416" h="814795">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77" name="Freeform 676"/>
              <p:cNvSpPr/>
              <p:nvPr/>
            </p:nvSpPr>
            <p:spPr>
              <a:xfrm>
                <a:off x="2114139" y="5396749"/>
                <a:ext cx="595306" cy="647102"/>
              </a:xfrm>
              <a:custGeom>
                <a:avLst/>
                <a:gdLst>
                  <a:gd name="connsiteX0" fmla="*/ 5411 w 597877"/>
                  <a:gd name="connsiteY0" fmla="*/ 13527 h 646573"/>
                  <a:gd name="connsiteX1" fmla="*/ 0 w 597877"/>
                  <a:gd name="connsiteY1" fmla="*/ 305702 h 646573"/>
                  <a:gd name="connsiteX2" fmla="*/ 457200 w 597877"/>
                  <a:gd name="connsiteY2" fmla="*/ 646573 h 646573"/>
                  <a:gd name="connsiteX3" fmla="*/ 597877 w 597877"/>
                  <a:gd name="connsiteY3" fmla="*/ 646573 h 646573"/>
                  <a:gd name="connsiteX4" fmla="*/ 595172 w 597877"/>
                  <a:gd name="connsiteY4" fmla="*/ 321934 h 646573"/>
                  <a:gd name="connsiteX5" fmla="*/ 110919 w 597877"/>
                  <a:gd name="connsiteY5" fmla="*/ 0 h 646573"/>
                  <a:gd name="connsiteX6" fmla="*/ 5411 w 597877"/>
                  <a:gd name="connsiteY6" fmla="*/ 13527 h 64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877" h="646573">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w="12700" cap="flat" cmpd="sng" algn="ctr">
                <a:solidFill>
                  <a:sysClr val="windowText" lastClr="000000"/>
                </a:solidFill>
                <a:prstDash val="sysDash"/>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cxnSp>
            <p:nvCxnSpPr>
              <p:cNvPr id="678" name="Straight Connector 81"/>
              <p:cNvCxnSpPr>
                <a:cxnSpLocks noChangeShapeType="1"/>
                <a:stCxn id="677" idx="0"/>
              </p:cNvCxnSpPr>
              <p:nvPr/>
            </p:nvCxnSpPr>
            <p:spPr bwMode="auto">
              <a:xfrm>
                <a:off x="2118270" y="5410651"/>
                <a:ext cx="446379" cy="311112"/>
              </a:xfrm>
              <a:prstGeom prst="line">
                <a:avLst/>
              </a:prstGeom>
              <a:noFill/>
              <a:ln w="12700">
                <a:solidFill>
                  <a:srgbClr val="000000"/>
                </a:solidFill>
                <a:prstDash val="sysDash"/>
                <a:round/>
              </a:ln>
              <a:extLst>
                <a:ext uri="{909E8E84-426E-40DD-AFC4-6F175D3DCCD1}">
                  <a14:hiddenFill xmlns:a14="http://schemas.microsoft.com/office/drawing/2010/main">
                    <a:noFill/>
                  </a14:hiddenFill>
                </a:ext>
              </a:extLst>
            </p:spPr>
          </p:cxnSp>
          <p:cxnSp>
            <p:nvCxnSpPr>
              <p:cNvPr id="679" name="Straight Connector 82"/>
              <p:cNvCxnSpPr>
                <a:cxnSpLocks noChangeShapeType="1"/>
                <a:endCxn id="677" idx="4"/>
              </p:cNvCxnSpPr>
              <p:nvPr/>
            </p:nvCxnSpPr>
            <p:spPr bwMode="auto">
              <a:xfrm flipV="1">
                <a:off x="2567354" y="5719058"/>
                <a:ext cx="140677" cy="2705"/>
              </a:xfrm>
              <a:prstGeom prst="line">
                <a:avLst/>
              </a:prstGeom>
              <a:noFill/>
              <a:ln w="12700">
                <a:solidFill>
                  <a:srgbClr val="000000"/>
                </a:solidFill>
                <a:prstDash val="sysDash"/>
                <a:round/>
              </a:ln>
              <a:extLst>
                <a:ext uri="{909E8E84-426E-40DD-AFC4-6F175D3DCCD1}">
                  <a14:hiddenFill xmlns:a14="http://schemas.microsoft.com/office/drawing/2010/main">
                    <a:noFill/>
                  </a14:hiddenFill>
                </a:ext>
              </a:extLst>
            </p:spPr>
          </p:cxnSp>
          <p:cxnSp>
            <p:nvCxnSpPr>
              <p:cNvPr id="680" name="Straight Connector 83"/>
              <p:cNvCxnSpPr>
                <a:cxnSpLocks noChangeShapeType="1"/>
                <a:endCxn id="677" idx="2"/>
              </p:cNvCxnSpPr>
              <p:nvPr/>
            </p:nvCxnSpPr>
            <p:spPr bwMode="auto">
              <a:xfrm flipH="1">
                <a:off x="2570059" y="5721763"/>
                <a:ext cx="2705" cy="321934"/>
              </a:xfrm>
              <a:prstGeom prst="line">
                <a:avLst/>
              </a:prstGeom>
              <a:noFill/>
              <a:ln w="12700">
                <a:solidFill>
                  <a:srgbClr val="000000"/>
                </a:solidFill>
                <a:prstDash val="sysDash"/>
                <a:round/>
              </a:ln>
              <a:extLst>
                <a:ext uri="{909E8E84-426E-40DD-AFC4-6F175D3DCCD1}">
                  <a14:hiddenFill xmlns:a14="http://schemas.microsoft.com/office/drawing/2010/main">
                    <a:noFill/>
                  </a14:hiddenFill>
                </a:ext>
              </a:extLst>
            </p:spPr>
          </p:cxnSp>
          <p:cxnSp>
            <p:nvCxnSpPr>
              <p:cNvPr id="681" name="Straight Connector 84"/>
              <p:cNvCxnSpPr>
                <a:cxnSpLocks noChangeShapeType="1"/>
              </p:cNvCxnSpPr>
              <p:nvPr/>
            </p:nvCxnSpPr>
            <p:spPr bwMode="auto">
              <a:xfrm flipH="1">
                <a:off x="2221974" y="5387204"/>
                <a:ext cx="2705" cy="321934"/>
              </a:xfrm>
              <a:prstGeom prst="line">
                <a:avLst/>
              </a:prstGeom>
              <a:noFill/>
              <a:ln w="12700">
                <a:solidFill>
                  <a:srgbClr val="000000"/>
                </a:solidFill>
                <a:prstDash val="sysDash"/>
                <a:round/>
              </a:ln>
              <a:extLst>
                <a:ext uri="{909E8E84-426E-40DD-AFC4-6F175D3DCCD1}">
                  <a14:hiddenFill xmlns:a14="http://schemas.microsoft.com/office/drawing/2010/main">
                    <a:noFill/>
                  </a14:hiddenFill>
                </a:ext>
              </a:extLst>
            </p:spPr>
          </p:cxnSp>
        </p:grpSp>
        <p:grpSp>
          <p:nvGrpSpPr>
            <p:cNvPr id="650" name="Group 57"/>
            <p:cNvGrpSpPr/>
            <p:nvPr/>
          </p:nvGrpSpPr>
          <p:grpSpPr bwMode="auto">
            <a:xfrm>
              <a:off x="1326802" y="5273580"/>
              <a:ext cx="617671" cy="927313"/>
              <a:chOff x="2105936" y="5387204"/>
              <a:chExt cx="617671" cy="927313"/>
            </a:xfrm>
          </p:grpSpPr>
          <p:sp>
            <p:nvSpPr>
              <p:cNvPr id="666" name="Freeform 665"/>
              <p:cNvSpPr/>
              <p:nvPr/>
            </p:nvSpPr>
            <p:spPr>
              <a:xfrm>
                <a:off x="2110224" y="5706003"/>
                <a:ext cx="466907" cy="60892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0 w 967997"/>
                  <a:gd name="connsiteY0-2" fmla="*/ 0 h 2138362"/>
                  <a:gd name="connsiteX1-3" fmla="*/ 0 w 967997"/>
                  <a:gd name="connsiteY1-4" fmla="*/ 1190625 h 2138362"/>
                  <a:gd name="connsiteX2-5" fmla="*/ 966787 w 967997"/>
                  <a:gd name="connsiteY2-6" fmla="*/ 2138362 h 2138362"/>
                  <a:gd name="connsiteX3-7" fmla="*/ 967618 w 967997"/>
                  <a:gd name="connsiteY3-8" fmla="*/ 1495143 h 2138362"/>
                  <a:gd name="connsiteX4-9" fmla="*/ 0 w 967997"/>
                  <a:gd name="connsiteY4-10" fmla="*/ 0 h 2138362"/>
                  <a:gd name="connsiteX0-11" fmla="*/ 0 w 967997"/>
                  <a:gd name="connsiteY0-12" fmla="*/ 0 h 1424095"/>
                  <a:gd name="connsiteX1-13" fmla="*/ 0 w 967997"/>
                  <a:gd name="connsiteY1-14" fmla="*/ 476358 h 1424095"/>
                  <a:gd name="connsiteX2-15" fmla="*/ 966787 w 967997"/>
                  <a:gd name="connsiteY2-16" fmla="*/ 1424095 h 1424095"/>
                  <a:gd name="connsiteX3-17" fmla="*/ 967618 w 967997"/>
                  <a:gd name="connsiteY3-18" fmla="*/ 780876 h 1424095"/>
                  <a:gd name="connsiteX4-19" fmla="*/ 0 w 967997"/>
                  <a:gd name="connsiteY4-20" fmla="*/ 0 h 14240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7997" h="1424095">
                    <a:moveTo>
                      <a:pt x="0" y="0"/>
                    </a:moveTo>
                    <a:lnTo>
                      <a:pt x="0" y="476358"/>
                    </a:lnTo>
                    <a:lnTo>
                      <a:pt x="966787" y="1424095"/>
                    </a:lnTo>
                    <a:cubicBezTo>
                      <a:pt x="965200" y="958958"/>
                      <a:pt x="969205" y="1246013"/>
                      <a:pt x="967618" y="780876"/>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67" name="Freeform 666"/>
              <p:cNvSpPr/>
              <p:nvPr/>
            </p:nvSpPr>
            <p:spPr>
              <a:xfrm>
                <a:off x="2106333" y="5688824"/>
                <a:ext cx="616707" cy="355048"/>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 name="connsiteX0-161" fmla="*/ 233363 w 1277416"/>
                  <a:gd name="connsiteY0-162" fmla="*/ 0 h 813350"/>
                  <a:gd name="connsiteX1-163" fmla="*/ 0 w 1277416"/>
                  <a:gd name="connsiteY1-164" fmla="*/ 9439 h 813350"/>
                  <a:gd name="connsiteX2-165" fmla="*/ 952500 w 1277416"/>
                  <a:gd name="connsiteY2-166" fmla="*/ 752735 h 813350"/>
                  <a:gd name="connsiteX3-167" fmla="*/ 1277416 w 1277416"/>
                  <a:gd name="connsiteY3-168" fmla="*/ 813350 h 813350"/>
                  <a:gd name="connsiteX4-169" fmla="*/ 233363 w 1277416"/>
                  <a:gd name="connsiteY4-170" fmla="*/ 0 h 813350"/>
                  <a:gd name="connsiteX0-171" fmla="*/ 233363 w 1277416"/>
                  <a:gd name="connsiteY0-172" fmla="*/ 0 h 814795"/>
                  <a:gd name="connsiteX1-173" fmla="*/ 0 w 1277416"/>
                  <a:gd name="connsiteY1-174" fmla="*/ 9439 h 814795"/>
                  <a:gd name="connsiteX2-175" fmla="*/ 980474 w 1277416"/>
                  <a:gd name="connsiteY2-176" fmla="*/ 814795 h 814795"/>
                  <a:gd name="connsiteX3-177" fmla="*/ 1277416 w 1277416"/>
                  <a:gd name="connsiteY3-178" fmla="*/ 813350 h 814795"/>
                  <a:gd name="connsiteX4-179" fmla="*/ 233363 w 1277416"/>
                  <a:gd name="connsiteY4-180" fmla="*/ 0 h 8147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77416" h="814795">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68" name="Rectangle 71"/>
              <p:cNvSpPr>
                <a:spLocks noChangeArrowheads="1"/>
              </p:cNvSpPr>
              <p:nvPr/>
            </p:nvSpPr>
            <p:spPr bwMode="auto">
              <a:xfrm>
                <a:off x="2577131" y="6049598"/>
                <a:ext cx="140072" cy="265332"/>
              </a:xfrm>
              <a:prstGeom prst="rect">
                <a:avLst/>
              </a:prstGeom>
              <a:solidFill>
                <a:srgbClr val="33CC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sp>
            <p:nvSpPr>
              <p:cNvPr id="669" name="Freeform 668"/>
              <p:cNvSpPr/>
              <p:nvPr/>
            </p:nvSpPr>
            <p:spPr>
              <a:xfrm>
                <a:off x="2114115" y="5396768"/>
                <a:ext cx="595306" cy="647103"/>
              </a:xfrm>
              <a:custGeom>
                <a:avLst/>
                <a:gdLst>
                  <a:gd name="connsiteX0" fmla="*/ 5411 w 597877"/>
                  <a:gd name="connsiteY0" fmla="*/ 13527 h 646573"/>
                  <a:gd name="connsiteX1" fmla="*/ 0 w 597877"/>
                  <a:gd name="connsiteY1" fmla="*/ 305702 h 646573"/>
                  <a:gd name="connsiteX2" fmla="*/ 457200 w 597877"/>
                  <a:gd name="connsiteY2" fmla="*/ 646573 h 646573"/>
                  <a:gd name="connsiteX3" fmla="*/ 597877 w 597877"/>
                  <a:gd name="connsiteY3" fmla="*/ 646573 h 646573"/>
                  <a:gd name="connsiteX4" fmla="*/ 595172 w 597877"/>
                  <a:gd name="connsiteY4" fmla="*/ 321934 h 646573"/>
                  <a:gd name="connsiteX5" fmla="*/ 110919 w 597877"/>
                  <a:gd name="connsiteY5" fmla="*/ 0 h 646573"/>
                  <a:gd name="connsiteX6" fmla="*/ 5411 w 597877"/>
                  <a:gd name="connsiteY6" fmla="*/ 13527 h 64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877" h="646573">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w="12700" cap="flat" cmpd="sng" algn="ctr">
                <a:solidFill>
                  <a:sysClr val="windowText" lastClr="000000"/>
                </a:solidFill>
                <a:prstDash val="sysDash"/>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cxnSp>
            <p:nvCxnSpPr>
              <p:cNvPr id="670" name="Straight Connector 73"/>
              <p:cNvCxnSpPr>
                <a:cxnSpLocks noChangeShapeType="1"/>
                <a:stCxn id="669" idx="0"/>
              </p:cNvCxnSpPr>
              <p:nvPr/>
            </p:nvCxnSpPr>
            <p:spPr bwMode="auto">
              <a:xfrm>
                <a:off x="2118270" y="5410651"/>
                <a:ext cx="446379" cy="311112"/>
              </a:xfrm>
              <a:prstGeom prst="line">
                <a:avLst/>
              </a:prstGeom>
              <a:noFill/>
              <a:ln w="12700">
                <a:solidFill>
                  <a:srgbClr val="000000"/>
                </a:solidFill>
                <a:prstDash val="sysDash"/>
                <a:round/>
              </a:ln>
              <a:extLst>
                <a:ext uri="{909E8E84-426E-40DD-AFC4-6F175D3DCCD1}">
                  <a14:hiddenFill xmlns:a14="http://schemas.microsoft.com/office/drawing/2010/main">
                    <a:noFill/>
                  </a14:hiddenFill>
                </a:ext>
              </a:extLst>
            </p:spPr>
          </p:cxnSp>
          <p:cxnSp>
            <p:nvCxnSpPr>
              <p:cNvPr id="671" name="Straight Connector 74"/>
              <p:cNvCxnSpPr>
                <a:cxnSpLocks noChangeShapeType="1"/>
                <a:endCxn id="669" idx="4"/>
              </p:cNvCxnSpPr>
              <p:nvPr/>
            </p:nvCxnSpPr>
            <p:spPr bwMode="auto">
              <a:xfrm flipV="1">
                <a:off x="2567354" y="5719058"/>
                <a:ext cx="140677" cy="2705"/>
              </a:xfrm>
              <a:prstGeom prst="line">
                <a:avLst/>
              </a:prstGeom>
              <a:noFill/>
              <a:ln w="12700">
                <a:solidFill>
                  <a:srgbClr val="000000"/>
                </a:solidFill>
                <a:prstDash val="sysDash"/>
                <a:round/>
              </a:ln>
              <a:extLst>
                <a:ext uri="{909E8E84-426E-40DD-AFC4-6F175D3DCCD1}">
                  <a14:hiddenFill xmlns:a14="http://schemas.microsoft.com/office/drawing/2010/main">
                    <a:noFill/>
                  </a14:hiddenFill>
                </a:ext>
              </a:extLst>
            </p:spPr>
          </p:cxnSp>
          <p:cxnSp>
            <p:nvCxnSpPr>
              <p:cNvPr id="672" name="Straight Connector 75"/>
              <p:cNvCxnSpPr>
                <a:cxnSpLocks noChangeShapeType="1"/>
                <a:endCxn id="669" idx="2"/>
              </p:cNvCxnSpPr>
              <p:nvPr/>
            </p:nvCxnSpPr>
            <p:spPr bwMode="auto">
              <a:xfrm flipH="1">
                <a:off x="2570059" y="5721763"/>
                <a:ext cx="2705" cy="321934"/>
              </a:xfrm>
              <a:prstGeom prst="line">
                <a:avLst/>
              </a:prstGeom>
              <a:noFill/>
              <a:ln w="12700">
                <a:solidFill>
                  <a:srgbClr val="000000"/>
                </a:solidFill>
                <a:prstDash val="sysDash"/>
                <a:round/>
              </a:ln>
              <a:extLst>
                <a:ext uri="{909E8E84-426E-40DD-AFC4-6F175D3DCCD1}">
                  <a14:hiddenFill xmlns:a14="http://schemas.microsoft.com/office/drawing/2010/main">
                    <a:noFill/>
                  </a14:hiddenFill>
                </a:ext>
              </a:extLst>
            </p:spPr>
          </p:cxnSp>
          <p:cxnSp>
            <p:nvCxnSpPr>
              <p:cNvPr id="673" name="Straight Connector 76"/>
              <p:cNvCxnSpPr>
                <a:cxnSpLocks noChangeShapeType="1"/>
              </p:cNvCxnSpPr>
              <p:nvPr/>
            </p:nvCxnSpPr>
            <p:spPr bwMode="auto">
              <a:xfrm flipH="1">
                <a:off x="2221974" y="5387204"/>
                <a:ext cx="2705" cy="321934"/>
              </a:xfrm>
              <a:prstGeom prst="line">
                <a:avLst/>
              </a:prstGeom>
              <a:noFill/>
              <a:ln w="12700">
                <a:solidFill>
                  <a:srgbClr val="000000"/>
                </a:solidFill>
                <a:prstDash val="sysDash"/>
                <a:round/>
              </a:ln>
              <a:extLst>
                <a:ext uri="{909E8E84-426E-40DD-AFC4-6F175D3DCCD1}">
                  <a14:hiddenFill xmlns:a14="http://schemas.microsoft.com/office/drawing/2010/main">
                    <a:noFill/>
                  </a14:hiddenFill>
                </a:ext>
              </a:extLst>
            </p:spPr>
          </p:cxnSp>
        </p:grpSp>
        <p:grpSp>
          <p:nvGrpSpPr>
            <p:cNvPr id="651" name="Group 58"/>
            <p:cNvGrpSpPr/>
            <p:nvPr/>
          </p:nvGrpSpPr>
          <p:grpSpPr bwMode="auto">
            <a:xfrm>
              <a:off x="971797" y="5294415"/>
              <a:ext cx="605641" cy="915203"/>
              <a:chOff x="335231" y="4405745"/>
              <a:chExt cx="1252537" cy="2138362"/>
            </a:xfrm>
          </p:grpSpPr>
          <p:sp>
            <p:nvSpPr>
              <p:cNvPr id="663" name="Freeform 662"/>
              <p:cNvSpPr/>
              <p:nvPr/>
            </p:nvSpPr>
            <p:spPr>
              <a:xfrm>
                <a:off x="333961" y="4406169"/>
                <a:ext cx="969641" cy="213635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64" name="Freeform 663"/>
              <p:cNvSpPr/>
              <p:nvPr/>
            </p:nvSpPr>
            <p:spPr>
              <a:xfrm>
                <a:off x="350055" y="4410631"/>
                <a:ext cx="1239211" cy="77158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65" name="Rectangle 68"/>
              <p:cNvSpPr>
                <a:spLocks noChangeArrowheads="1"/>
              </p:cNvSpPr>
              <p:nvPr/>
            </p:nvSpPr>
            <p:spPr bwMode="auto">
              <a:xfrm>
                <a:off x="1299580" y="5177755"/>
                <a:ext cx="289686" cy="1351386"/>
              </a:xfrm>
              <a:prstGeom prst="rect">
                <a:avLst/>
              </a:prstGeom>
              <a:solidFill>
                <a:srgbClr val="33CC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grpSp>
        <p:sp>
          <p:nvSpPr>
            <p:cNvPr id="652" name="Rectangle 59"/>
            <p:cNvSpPr>
              <a:spLocks noChangeArrowheads="1"/>
            </p:cNvSpPr>
            <p:nvPr/>
          </p:nvSpPr>
          <p:spPr bwMode="auto">
            <a:xfrm>
              <a:off x="1838851" y="6126859"/>
              <a:ext cx="2180844" cy="64901"/>
            </a:xfrm>
            <a:prstGeom prst="rect">
              <a:avLst/>
            </a:prstGeom>
            <a:solidFill>
              <a:srgbClr val="33CC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sp>
          <p:nvSpPr>
            <p:cNvPr id="654" name="Right Arrow 60"/>
            <p:cNvSpPr>
              <a:spLocks noChangeArrowheads="1"/>
            </p:cNvSpPr>
            <p:nvPr/>
          </p:nvSpPr>
          <p:spPr bwMode="auto">
            <a:xfrm>
              <a:off x="2556720" y="6056232"/>
              <a:ext cx="266527" cy="219518"/>
            </a:xfrm>
            <a:prstGeom prst="rightArrow">
              <a:avLst>
                <a:gd name="adj1" fmla="val 13889"/>
                <a:gd name="adj2" fmla="val 53703"/>
              </a:avLst>
            </a:prstGeom>
            <a:solidFill>
              <a:srgbClr val="33CC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grpSp>
          <p:nvGrpSpPr>
            <p:cNvPr id="656" name="Group 61"/>
            <p:cNvGrpSpPr/>
            <p:nvPr/>
          </p:nvGrpSpPr>
          <p:grpSpPr bwMode="auto">
            <a:xfrm>
              <a:off x="593766" y="5284519"/>
              <a:ext cx="605641" cy="915203"/>
              <a:chOff x="335231" y="4405745"/>
              <a:chExt cx="1252537" cy="2138362"/>
            </a:xfrm>
          </p:grpSpPr>
          <p:sp>
            <p:nvSpPr>
              <p:cNvPr id="660" name="Freeform 659"/>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61" name="Freeform 660"/>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62" name="Rectangle 65"/>
              <p:cNvSpPr>
                <a:spLocks noChangeArrowheads="1"/>
              </p:cNvSpPr>
              <p:nvPr/>
            </p:nvSpPr>
            <p:spPr bwMode="auto">
              <a:xfrm>
                <a:off x="1296825" y="5178575"/>
                <a:ext cx="289686" cy="1351389"/>
              </a:xfrm>
              <a:prstGeom prst="rect">
                <a:avLst/>
              </a:prstGeom>
              <a:solidFill>
                <a:srgbClr val="33CC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grpSp>
        <p:sp>
          <p:nvSpPr>
            <p:cNvPr id="659" name="Right Arrow 62"/>
            <p:cNvSpPr>
              <a:spLocks noChangeArrowheads="1"/>
            </p:cNvSpPr>
            <p:nvPr/>
          </p:nvSpPr>
          <p:spPr bwMode="auto">
            <a:xfrm rot="-5245926">
              <a:off x="3947358" y="5684800"/>
              <a:ext cx="267240" cy="219835"/>
            </a:xfrm>
            <a:prstGeom prst="rightArrow">
              <a:avLst>
                <a:gd name="adj1" fmla="val 13889"/>
                <a:gd name="adj2" fmla="val 53702"/>
              </a:avLst>
            </a:prstGeom>
            <a:solidFill>
              <a:srgbClr val="33CCFF"/>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MS PGothic" panose="020B0600070205080204" pitchFamily="34" charset="-128"/>
                <a:cs typeface="+mn-cs"/>
              </a:endParaRPr>
            </a:p>
          </p:txBody>
        </p:sp>
      </p:grpSp>
      <p:sp>
        <p:nvSpPr>
          <p:cNvPr id="683" name="TextBox 682"/>
          <p:cNvSpPr txBox="1"/>
          <p:nvPr/>
        </p:nvSpPr>
        <p:spPr>
          <a:xfrm>
            <a:off x="5393420" y="5421081"/>
            <a:ext cx="752129" cy="40011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1" u="none" strike="noStrike" kern="0" cap="none" spc="0" normalizeH="0" baseline="0" noProof="0" dirty="0">
                <a:ln>
                  <a:noFill/>
                </a:ln>
                <a:solidFill>
                  <a:prstClr val="black"/>
                </a:solidFill>
                <a:effectLst/>
                <a:uLnTx/>
                <a:uFillTx/>
                <a:latin typeface="Calibri" panose="020F0502020204030204"/>
                <a:ea typeface="+mn-ea"/>
                <a:cs typeface="+mn-cs"/>
              </a:rPr>
              <a:t>R</a:t>
            </a: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 bps</a:t>
            </a:r>
            <a:endPar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645" name="TextBox 52"/>
          <p:cNvSpPr txBox="1">
            <a:spLocks noChangeArrowheads="1"/>
          </p:cNvSpPr>
          <p:nvPr/>
        </p:nvSpPr>
        <p:spPr bwMode="auto">
          <a:xfrm>
            <a:off x="2584498" y="5108026"/>
            <a:ext cx="2349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600" b="0" i="0" u="none" strike="noStrike" kern="1200" cap="none" spc="0" normalizeH="0" baseline="0" noProof="0" dirty="0">
                <a:ln>
                  <a:noFill/>
                </a:ln>
                <a:solidFill>
                  <a:srgbClr val="000000"/>
                </a:solidFill>
                <a:effectLst/>
                <a:uLnTx/>
                <a:uFillTx/>
                <a:latin typeface="Calibri" panose="020F0502020204030204" pitchFamily="34" charset="0"/>
                <a:ea typeface="MS PGothic" panose="020B0600070205080204" pitchFamily="34" charset="-128"/>
                <a:cs typeface="+mn-cs"/>
              </a:rPr>
              <a:t>1</a:t>
            </a:r>
            <a:endParaRPr kumimoji="0" lang="en-US" altLang="en-US" sz="1600" b="0" i="0" u="none" strike="noStrike" kern="1200" cap="none" spc="0" normalizeH="0" baseline="0" noProof="0" dirty="0">
              <a:ln>
                <a:noFill/>
              </a:ln>
              <a:solidFill>
                <a:srgbClr val="000000"/>
              </a:solidFill>
              <a:effectLst/>
              <a:uLnTx/>
              <a:uFillTx/>
              <a:latin typeface="Calibri" panose="020F0502020204030204" pitchFamily="34" charset="0"/>
              <a:ea typeface="MS PGothic" panose="020B0600070205080204" pitchFamily="34" charset="-128"/>
              <a:cs typeface="+mn-cs"/>
            </a:endParaRPr>
          </a:p>
        </p:txBody>
      </p:sp>
      <p:sp>
        <p:nvSpPr>
          <p:cNvPr id="646" name="TextBox 53"/>
          <p:cNvSpPr txBox="1">
            <a:spLocks noChangeArrowheads="1"/>
          </p:cNvSpPr>
          <p:nvPr/>
        </p:nvSpPr>
        <p:spPr bwMode="auto">
          <a:xfrm>
            <a:off x="2376218" y="5114376"/>
            <a:ext cx="2349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600" b="0" i="0" u="none" strike="noStrike" kern="1200" cap="none" spc="0" normalizeH="0" baseline="0" noProof="0" dirty="0">
                <a:ln>
                  <a:noFill/>
                </a:ln>
                <a:solidFill>
                  <a:srgbClr val="000000"/>
                </a:solidFill>
                <a:effectLst/>
                <a:uLnTx/>
                <a:uFillTx/>
                <a:latin typeface="Calibri" panose="020F0502020204030204" pitchFamily="34" charset="0"/>
                <a:ea typeface="MS PGothic" panose="020B0600070205080204" pitchFamily="34" charset="-128"/>
                <a:cs typeface="+mn-cs"/>
              </a:rPr>
              <a:t>2</a:t>
            </a:r>
            <a:endParaRPr kumimoji="0" lang="en-US" altLang="en-US" sz="1600" b="0" i="0" u="none" strike="noStrike" kern="1200" cap="none" spc="0" normalizeH="0" baseline="0" noProof="0" dirty="0">
              <a:ln>
                <a:noFill/>
              </a:ln>
              <a:solidFill>
                <a:srgbClr val="000000"/>
              </a:solidFill>
              <a:effectLst/>
              <a:uLnTx/>
              <a:uFillTx/>
              <a:latin typeface="Calibri" panose="020F0502020204030204" pitchFamily="34" charset="0"/>
              <a:ea typeface="MS PGothic" panose="020B0600070205080204" pitchFamily="34" charset="-128"/>
              <a:cs typeface="+mn-cs"/>
            </a:endParaRPr>
          </a:p>
        </p:txBody>
      </p:sp>
      <p:sp>
        <p:nvSpPr>
          <p:cNvPr id="647" name="TextBox 54"/>
          <p:cNvSpPr txBox="1">
            <a:spLocks noChangeArrowheads="1"/>
          </p:cNvSpPr>
          <p:nvPr/>
        </p:nvSpPr>
        <p:spPr bwMode="auto">
          <a:xfrm>
            <a:off x="2188893" y="5111201"/>
            <a:ext cx="2349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600" b="0" i="0" u="none" strike="noStrike" kern="1200" cap="none" spc="0" normalizeH="0" baseline="0" noProof="0" dirty="0">
                <a:ln>
                  <a:noFill/>
                </a:ln>
                <a:solidFill>
                  <a:srgbClr val="000000"/>
                </a:solidFill>
                <a:effectLst/>
                <a:uLnTx/>
                <a:uFillTx/>
                <a:latin typeface="Calibri" panose="020F0502020204030204" pitchFamily="34" charset="0"/>
                <a:ea typeface="MS PGothic" panose="020B0600070205080204" pitchFamily="34" charset="-128"/>
                <a:cs typeface="+mn-cs"/>
              </a:rPr>
              <a:t>3</a:t>
            </a:r>
            <a:endParaRPr kumimoji="0" lang="en-US" altLang="en-US" sz="1600" b="0" i="0" u="none" strike="noStrike" kern="1200" cap="none" spc="0" normalizeH="0" baseline="0" noProof="0" dirty="0">
              <a:ln>
                <a:noFill/>
              </a:ln>
              <a:solidFill>
                <a:srgbClr val="000000"/>
              </a:solidFill>
              <a:effectLst/>
              <a:uLnTx/>
              <a:uFillTx/>
              <a:latin typeface="Calibri" panose="020F0502020204030204" pitchFamily="34" charset="0"/>
              <a:ea typeface="MS PGothic" panose="020B0600070205080204" pitchFamily="34" charset="-128"/>
              <a:cs typeface="+mn-cs"/>
            </a:endParaRPr>
          </a:p>
        </p:txBody>
      </p:sp>
      <p:sp>
        <p:nvSpPr>
          <p:cNvPr id="444" name="TextBox 443"/>
          <p:cNvSpPr txBox="1"/>
          <p:nvPr/>
        </p:nvSpPr>
        <p:spPr>
          <a:xfrm>
            <a:off x="2011093" y="5785175"/>
            <a:ext cx="690880" cy="39878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源端</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44" name="TextBox 643"/>
          <p:cNvSpPr txBox="1"/>
          <p:nvPr/>
        </p:nvSpPr>
        <p:spPr>
          <a:xfrm>
            <a:off x="6504007" y="5785175"/>
            <a:ext cx="944880" cy="39878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目的端</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639" name="Straight Connector 47"/>
          <p:cNvCxnSpPr>
            <a:cxnSpLocks noChangeShapeType="1"/>
          </p:cNvCxnSpPr>
          <p:nvPr/>
        </p:nvCxnSpPr>
        <p:spPr bwMode="auto">
          <a:xfrm flipV="1">
            <a:off x="4970828" y="5480136"/>
            <a:ext cx="1738312" cy="0"/>
          </a:xfrm>
          <a:prstGeom prst="line">
            <a:avLst/>
          </a:prstGeom>
          <a:noFill/>
          <a:ln w="19050">
            <a:solidFill>
              <a:srgbClr val="000000"/>
            </a:solidFill>
            <a:round/>
          </a:ln>
          <a:extLst>
            <a:ext uri="{909E8E84-426E-40DD-AFC4-6F175D3DCCD1}">
              <a14:hiddenFill xmlns:a14="http://schemas.microsoft.com/office/drawing/2010/main">
                <a:noFill/>
              </a14:hiddenFill>
            </a:ext>
          </a:extLst>
        </p:spPr>
      </p:cxnSp>
      <p:sp>
        <p:nvSpPr>
          <p:cNvPr id="638" name="TextBox 637"/>
          <p:cNvSpPr txBox="1"/>
          <p:nvPr/>
        </p:nvSpPr>
        <p:spPr>
          <a:xfrm>
            <a:off x="2994708" y="5419811"/>
            <a:ext cx="752129" cy="40011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1" u="none" strike="noStrike" kern="0" cap="none" spc="0" normalizeH="0" baseline="0" noProof="0" dirty="0">
                <a:ln>
                  <a:noFill/>
                </a:ln>
                <a:solidFill>
                  <a:prstClr val="black"/>
                </a:solidFill>
                <a:effectLst/>
                <a:uLnTx/>
                <a:uFillTx/>
                <a:latin typeface="Calibri" panose="020F0502020204030204"/>
                <a:ea typeface="+mn-ea"/>
                <a:cs typeface="+mn-cs"/>
              </a:rPr>
              <a:t>R</a:t>
            </a: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 bps</a:t>
            </a:r>
            <a:endPar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682" name="TextBox 681"/>
          <p:cNvSpPr txBox="1"/>
          <p:nvPr/>
        </p:nvSpPr>
        <p:spPr>
          <a:xfrm>
            <a:off x="3070272" y="4653102"/>
            <a:ext cx="1392555" cy="534826"/>
          </a:xfrm>
          <a:prstGeom prst="rect">
            <a:avLst/>
          </a:prstGeom>
          <a:noFill/>
        </p:spPr>
        <p:txBody>
          <a:bodyPr wrap="square">
            <a:spAutoFit/>
          </a:bodyPr>
          <a:lstStyle/>
          <a:p>
            <a:pPr marL="0" marR="0" lvl="0" indent="0" algn="l" defTabSz="914400" rtl="0" eaLnBrk="1" fontAlgn="auto" latinLnBrk="0" hangingPunct="1">
              <a:lnSpc>
                <a:spcPts val="1700"/>
              </a:lnSpc>
              <a:spcBef>
                <a:spcPts val="0"/>
              </a:spcBef>
              <a:spcAft>
                <a:spcPts val="0"/>
              </a:spcAft>
              <a:buClrTx/>
              <a:buSzTx/>
              <a:buFontTx/>
              <a:buNone/>
              <a:defRPr/>
            </a:pPr>
            <a:r>
              <a:rPr kumimoji="0" lang="zh-CN" altLang="en-US" sz="2000" b="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L位</a:t>
            </a:r>
            <a:r>
              <a:rPr kumimoji="0" lang="en-US" altLang="zh-CN" sz="2000" b="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000" b="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报文</a:t>
            </a:r>
            <a:endParaRPr kumimoji="0" lang="zh-CN" altLang="en-US" sz="2000" b="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4" name="文本框 73"/>
          <p:cNvSpPr txBox="1"/>
          <p:nvPr/>
        </p:nvSpPr>
        <p:spPr>
          <a:xfrm>
            <a:off x="8250921" y="4758045"/>
            <a:ext cx="2698002" cy="830997"/>
          </a:xfrm>
          <a:prstGeom prst="rect">
            <a:avLst/>
          </a:prstGeom>
          <a:noFill/>
          <a:ln>
            <a:solidFill>
              <a:srgbClr val="C00000"/>
            </a:solidFill>
          </a:ln>
        </p:spPr>
        <p:txBody>
          <a:bodyPr wrap="square" rtlCol="0" anchor="t">
            <a:spAutoFit/>
          </a:bodyPr>
          <a:lstStyle/>
          <a:p>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如何降低报文存储转发的延迟？</a:t>
            </a:r>
            <a:endPar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blinds(horizontal)">
                                      <p:cBhvr>
                                        <p:cTn id="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分组交换</a:t>
            </a:r>
            <a:endParaRPr lang="zh-CN" altLang="en-US" dirty="0">
              <a:sym typeface="+mn-ea"/>
            </a:endParaRPr>
          </a:p>
        </p:txBody>
      </p:sp>
      <p:sp>
        <p:nvSpPr>
          <p:cNvPr id="3" name="内容占位符 2"/>
          <p:cNvSpPr>
            <a:spLocks noGrp="1"/>
          </p:cNvSpPr>
          <p:nvPr>
            <p:ph idx="1"/>
          </p:nvPr>
        </p:nvSpPr>
        <p:spPr>
          <a:xfrm>
            <a:off x="398891" y="1413740"/>
            <a:ext cx="4522107" cy="5027193"/>
          </a:xfrm>
        </p:spPr>
        <p:txBody>
          <a:bodyPr>
            <a:normAutofit fontScale="85000" lnSpcReduction="10000"/>
          </a:bodyPr>
          <a:lstStyle/>
          <a:p>
            <a:pPr>
              <a:lnSpc>
                <a:spcPct val="130000"/>
              </a:lnSpc>
              <a:buFont typeface="Wingdings" panose="05000000000000000000" charset="0"/>
              <a:buChar char="Ø"/>
            </a:pPr>
            <a:r>
              <a:rPr lang="zh-CN" altLang="en-US" dirty="0">
                <a:sym typeface="+mn-ea"/>
              </a:rPr>
              <a:t>分组交换（</a:t>
            </a:r>
            <a:r>
              <a:rPr lang="en-US" altLang="zh-CN" dirty="0">
                <a:sym typeface="+mn-ea"/>
              </a:rPr>
              <a:t>packet switching</a:t>
            </a:r>
            <a:r>
              <a:rPr lang="zh-CN" altLang="en-US" dirty="0">
                <a:sym typeface="+mn-ea"/>
              </a:rPr>
              <a:t>）</a:t>
            </a:r>
            <a:endParaRPr lang="en-US" altLang="zh-CN" dirty="0">
              <a:sym typeface="+mn-ea"/>
            </a:endParaRPr>
          </a:p>
          <a:p>
            <a:pPr lvl="1">
              <a:lnSpc>
                <a:spcPct val="130000"/>
              </a:lnSpc>
            </a:pPr>
            <a:r>
              <a:rPr lang="zh-CN" altLang="en-US" dirty="0">
                <a:sym typeface="+mn-ea"/>
              </a:rPr>
              <a:t>将大报文拆分成多个小分组</a:t>
            </a:r>
            <a:endParaRPr lang="en-US" altLang="zh-CN" dirty="0">
              <a:sym typeface="+mn-ea"/>
            </a:endParaRPr>
          </a:p>
          <a:p>
            <a:pPr lvl="1">
              <a:lnSpc>
                <a:spcPct val="130000"/>
              </a:lnSpc>
            </a:pPr>
            <a:r>
              <a:rPr lang="zh-CN" altLang="en-US" dirty="0">
                <a:sym typeface="+mn-ea"/>
              </a:rPr>
              <a:t>通信双方以分组为单位、使用存储-转发机制，实现数据交互的通信方式</a:t>
            </a:r>
            <a:endParaRPr lang="zh-CN" altLang="en-US" dirty="0">
              <a:sym typeface="+mn-ea"/>
            </a:endParaRPr>
          </a:p>
          <a:p>
            <a:pPr lvl="1">
              <a:lnSpc>
                <a:spcPct val="130000"/>
              </a:lnSpc>
            </a:pPr>
            <a:r>
              <a:rPr lang="zh-CN" altLang="en-US" dirty="0">
                <a:sym typeface="+mn-ea"/>
              </a:rPr>
              <a:t>以分组作为数据传输单元</a:t>
            </a:r>
            <a:endParaRPr lang="zh-CN" altLang="en-US" dirty="0">
              <a:latin typeface="微软雅黑" panose="020B0503020204020204" pitchFamily="34" charset="-122"/>
              <a:ea typeface="微软雅黑" panose="020B0503020204020204" pitchFamily="34" charset="-122"/>
            </a:endParaRPr>
          </a:p>
          <a:p>
            <a:pPr lvl="1">
              <a:lnSpc>
                <a:spcPct val="130000"/>
              </a:lnSpc>
            </a:pPr>
            <a:r>
              <a:rPr lang="zh-CN" altLang="en-US" dirty="0">
                <a:sym typeface="+mn-ea"/>
              </a:rPr>
              <a:t>每个分组的首部都含有地址</a:t>
            </a:r>
            <a:br>
              <a:rPr lang="en-US" altLang="zh-CN" dirty="0">
                <a:sym typeface="+mn-ea"/>
              </a:rPr>
            </a:br>
            <a:r>
              <a:rPr lang="zh-CN" altLang="en-US" dirty="0">
                <a:sym typeface="+mn-ea"/>
              </a:rPr>
              <a:t>（目的地址和源地址）等控</a:t>
            </a:r>
            <a:br>
              <a:rPr lang="en-US" altLang="zh-CN" dirty="0">
                <a:sym typeface="+mn-ea"/>
              </a:rPr>
            </a:br>
            <a:r>
              <a:rPr lang="zh-CN" altLang="en-US" dirty="0">
                <a:sym typeface="+mn-ea"/>
              </a:rPr>
              <a:t>制信息</a:t>
            </a:r>
            <a:endParaRPr lang="zh-CN" altLang="en-US" dirty="0">
              <a:latin typeface="微软雅黑" panose="020B0503020204020204" pitchFamily="34" charset="-122"/>
              <a:ea typeface="微软雅黑" panose="020B0503020204020204" pitchFamily="34" charset="-122"/>
            </a:endParaRPr>
          </a:p>
          <a:p>
            <a:pPr lvl="1">
              <a:lnSpc>
                <a:spcPct val="130000"/>
              </a:lnSpc>
            </a:pPr>
            <a:r>
              <a:rPr lang="zh-CN" altLang="en-US" dirty="0">
                <a:sym typeface="+mn-ea"/>
              </a:rPr>
              <a:t>每个分组在互联网中独立地</a:t>
            </a:r>
            <a:br>
              <a:rPr lang="en-US" altLang="zh-CN" dirty="0">
                <a:sym typeface="+mn-ea"/>
              </a:rPr>
            </a:br>
            <a:r>
              <a:rPr lang="zh-CN" altLang="en-US" dirty="0">
                <a:sym typeface="+mn-ea"/>
              </a:rPr>
              <a:t>选择传输路径</a:t>
            </a:r>
            <a:endParaRPr lang="en-US" altLang="zh-CN" dirty="0">
              <a:sym typeface="+mn-ea"/>
            </a:endParaRPr>
          </a:p>
          <a:p>
            <a:pPr lvl="1">
              <a:lnSpc>
                <a:spcPct val="130000"/>
              </a:lnSpc>
            </a:pPr>
            <a:r>
              <a:rPr lang="zh-CN" altLang="en-US" dirty="0">
                <a:latin typeface="微软雅黑" panose="020B0503020204020204" pitchFamily="34" charset="-122"/>
                <a:ea typeface="微软雅黑" panose="020B0503020204020204" pitchFamily="34" charset="-122"/>
                <a:sym typeface="+mn-ea"/>
              </a:rPr>
              <a:t>支持灵活的</a:t>
            </a:r>
            <a:r>
              <a:rPr lang="zh-CN" altLang="en-US" kern="0" dirty="0">
                <a:solidFill>
                  <a:prstClr val="black"/>
                </a:solidFill>
                <a:latin typeface="微软雅黑" panose="020B0503020204020204" pitchFamily="34" charset="-122"/>
                <a:ea typeface="微软雅黑" panose="020B0503020204020204" pitchFamily="34" charset="-122"/>
              </a:rPr>
              <a:t>统计多路复用</a:t>
            </a:r>
            <a:endParaRPr lang="zh-CN" altLang="en-US" dirty="0">
              <a:latin typeface="微软雅黑" panose="020B0503020204020204" pitchFamily="34" charset="-122"/>
              <a:ea typeface="微软雅黑" panose="020B0503020204020204" pitchFamily="34" charset="-122"/>
            </a:endParaRPr>
          </a:p>
          <a:p>
            <a:pPr marL="0" indent="0" algn="l">
              <a:lnSpc>
                <a:spcPct val="100000"/>
              </a:lnSpc>
              <a:buClrTx/>
              <a:buSzTx/>
              <a:buFont typeface="Arial" panose="020B0604020202020204" pitchFamily="34" charset="0"/>
              <a:buNone/>
            </a:pPr>
            <a:endParaRPr lang="zh-CN" altLang="en-US" dirty="0"/>
          </a:p>
        </p:txBody>
      </p:sp>
      <p:sp>
        <p:nvSpPr>
          <p:cNvPr id="9" name="Rectangle 872"/>
          <p:cNvSpPr>
            <a:spLocks noChangeArrowheads="1"/>
          </p:cNvSpPr>
          <p:nvPr/>
        </p:nvSpPr>
        <p:spPr bwMode="auto">
          <a:xfrm>
            <a:off x="4005941" y="26970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1"/>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2"/>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1"/>
              </a:buBlip>
            </a:pPr>
            <a:endParaRPr lang="en-US" altLang="zh-CN" sz="1800">
              <a:ea typeface="宋体" panose="02010600030101010101" pitchFamily="2"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4807164" y="4014863"/>
          <a:ext cx="708025" cy="581025"/>
        </p:xfrm>
        <a:graphic>
          <a:graphicData uri="http://schemas.openxmlformats.org/presentationml/2006/ole">
            <mc:AlternateContent xmlns:mc="http://schemas.openxmlformats.org/markup-compatibility/2006">
              <mc:Choice xmlns:v="urn:schemas-microsoft-com:vml" Requires="v">
                <p:oleObj spid="_x0000_s3074" name="Clip" r:id="rId3" imgW="1307465" imgH="1083945" progId="MS_ClipArt_Gallery.2">
                  <p:embed/>
                </p:oleObj>
              </mc:Choice>
              <mc:Fallback>
                <p:oleObj name="Clip" r:id="rId3" imgW="1307465" imgH="1083945" progId="MS_ClipArt_Gallery.2">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7164" y="4014863"/>
                        <a:ext cx="708025"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Oval 11"/>
          <p:cNvSpPr>
            <a:spLocks noChangeArrowheads="1"/>
          </p:cNvSpPr>
          <p:nvPr/>
        </p:nvSpPr>
        <p:spPr bwMode="auto">
          <a:xfrm>
            <a:off x="6061109" y="3830913"/>
            <a:ext cx="1311275" cy="403225"/>
          </a:xfrm>
          <a:prstGeom prst="ellipse">
            <a:avLst/>
          </a:prstGeom>
          <a:solidFill>
            <a:schemeClr val="accent6">
              <a:lumMod val="60000"/>
              <a:lumOff val="40000"/>
            </a:schemeClr>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12" name="Rectangle 12"/>
          <p:cNvSpPr>
            <a:spLocks noChangeArrowheads="1"/>
          </p:cNvSpPr>
          <p:nvPr/>
        </p:nvSpPr>
        <p:spPr bwMode="auto">
          <a:xfrm>
            <a:off x="6061109" y="3756300"/>
            <a:ext cx="1311275" cy="287338"/>
          </a:xfrm>
          <a:prstGeom prst="rect">
            <a:avLst/>
          </a:prstGeom>
          <a:solidFill>
            <a:schemeClr val="accent6">
              <a:lumMod val="60000"/>
              <a:lumOff val="40000"/>
            </a:schemeClr>
          </a:solidFill>
          <a:ln w="12700">
            <a:noFill/>
            <a:miter lim="800000"/>
          </a:ln>
        </p:spPr>
        <p:txBody>
          <a:bodyPr wrap="none" anchor="ctr"/>
          <a:lstStyle/>
          <a:p>
            <a:pPr algn="ctr">
              <a:defRPr/>
            </a:pPr>
            <a:endParaRPr kumimoji="0" lang="zh-CN" altLang="zh-CN" sz="2400">
              <a:latin typeface="微软雅黑" panose="020B0503020204020204" pitchFamily="34" charset="-122"/>
              <a:ea typeface="微软雅黑" panose="020B0503020204020204" pitchFamily="34" charset="-122"/>
            </a:endParaRPr>
          </a:p>
        </p:txBody>
      </p:sp>
      <p:sp>
        <p:nvSpPr>
          <p:cNvPr id="13" name="Oval 13"/>
          <p:cNvSpPr>
            <a:spLocks noChangeArrowheads="1"/>
          </p:cNvSpPr>
          <p:nvPr/>
        </p:nvSpPr>
        <p:spPr bwMode="auto">
          <a:xfrm>
            <a:off x="6072221" y="3507063"/>
            <a:ext cx="1311275" cy="469900"/>
          </a:xfrm>
          <a:prstGeom prst="ellipse">
            <a:avLst/>
          </a:prstGeom>
          <a:solidFill>
            <a:schemeClr val="accent6">
              <a:lumMod val="60000"/>
              <a:lumOff val="40000"/>
            </a:schemeClr>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nvGrpSpPr>
          <p:cNvPr id="14" name="Group 14"/>
          <p:cNvGrpSpPr/>
          <p:nvPr/>
        </p:nvGrpSpPr>
        <p:grpSpPr bwMode="auto">
          <a:xfrm>
            <a:off x="6450046" y="3540400"/>
            <a:ext cx="546100" cy="130175"/>
            <a:chOff x="2208" y="2184"/>
            <a:chExt cx="176" cy="69"/>
          </a:xfrm>
        </p:grpSpPr>
        <p:grpSp>
          <p:nvGrpSpPr>
            <p:cNvPr id="88" name="Group 15"/>
            <p:cNvGrpSpPr/>
            <p:nvPr/>
          </p:nvGrpSpPr>
          <p:grpSpPr bwMode="auto">
            <a:xfrm>
              <a:off x="2208" y="2185"/>
              <a:ext cx="176" cy="68"/>
              <a:chOff x="2848" y="848"/>
              <a:chExt cx="140" cy="98"/>
            </a:xfrm>
          </p:grpSpPr>
          <p:sp>
            <p:nvSpPr>
              <p:cNvPr id="93" name="Line 16"/>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94" name="Line 17"/>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95" name="Line 18"/>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grpSp>
          <p:nvGrpSpPr>
            <p:cNvPr id="89" name="Group 19"/>
            <p:cNvGrpSpPr/>
            <p:nvPr/>
          </p:nvGrpSpPr>
          <p:grpSpPr bwMode="auto">
            <a:xfrm flipV="1">
              <a:off x="2208" y="2184"/>
              <a:ext cx="176" cy="68"/>
              <a:chOff x="2848" y="848"/>
              <a:chExt cx="140" cy="98"/>
            </a:xfrm>
          </p:grpSpPr>
          <p:sp>
            <p:nvSpPr>
              <p:cNvPr id="90" name="Line 20"/>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91" name="Line 21"/>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92" name="Line 22"/>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grpSp>
      <p:sp>
        <p:nvSpPr>
          <p:cNvPr id="15" name="Oval 23"/>
          <p:cNvSpPr>
            <a:spLocks noChangeArrowheads="1"/>
          </p:cNvSpPr>
          <p:nvPr/>
        </p:nvSpPr>
        <p:spPr bwMode="auto">
          <a:xfrm>
            <a:off x="9450421" y="3851550"/>
            <a:ext cx="1311275" cy="403225"/>
          </a:xfrm>
          <a:prstGeom prst="ellipse">
            <a:avLst/>
          </a:prstGeom>
          <a:solidFill>
            <a:schemeClr val="accent6">
              <a:lumMod val="60000"/>
              <a:lumOff val="40000"/>
            </a:schemeClr>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16" name="Line 24"/>
          <p:cNvSpPr>
            <a:spLocks noChangeShapeType="1"/>
          </p:cNvSpPr>
          <p:nvPr/>
        </p:nvSpPr>
        <p:spPr bwMode="auto">
          <a:xfrm>
            <a:off x="9459946" y="3829325"/>
            <a:ext cx="0" cy="249238"/>
          </a:xfrm>
          <a:prstGeom prst="line">
            <a:avLst/>
          </a:prstGeom>
          <a:noFill/>
          <a:ln w="1270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17" name="Rectangle 25"/>
          <p:cNvSpPr>
            <a:spLocks noChangeArrowheads="1"/>
          </p:cNvSpPr>
          <p:nvPr/>
        </p:nvSpPr>
        <p:spPr bwMode="auto">
          <a:xfrm>
            <a:off x="9459946" y="3788050"/>
            <a:ext cx="1312863" cy="287338"/>
          </a:xfrm>
          <a:prstGeom prst="rect">
            <a:avLst/>
          </a:prstGeom>
          <a:solidFill>
            <a:schemeClr val="accent6">
              <a:lumMod val="60000"/>
              <a:lumOff val="40000"/>
            </a:schemeClr>
          </a:solidFill>
          <a:ln w="12700">
            <a:noFill/>
            <a:miter lim="800000"/>
          </a:ln>
        </p:spPr>
        <p:txBody>
          <a:bodyPr wrap="none" anchor="ctr"/>
          <a:lstStyle/>
          <a:p>
            <a:pPr algn="ctr">
              <a:defRPr/>
            </a:pPr>
            <a:endParaRPr kumimoji="0" lang="zh-CN" altLang="zh-CN" sz="2400">
              <a:latin typeface="微软雅黑" panose="020B0503020204020204" pitchFamily="34" charset="-122"/>
              <a:ea typeface="微软雅黑" panose="020B0503020204020204" pitchFamily="34" charset="-122"/>
            </a:endParaRPr>
          </a:p>
        </p:txBody>
      </p:sp>
      <p:sp>
        <p:nvSpPr>
          <p:cNvPr id="18" name="Oval 26"/>
          <p:cNvSpPr>
            <a:spLocks noChangeArrowheads="1"/>
          </p:cNvSpPr>
          <p:nvPr/>
        </p:nvSpPr>
        <p:spPr bwMode="auto">
          <a:xfrm>
            <a:off x="9471059" y="3538813"/>
            <a:ext cx="1311275" cy="468312"/>
          </a:xfrm>
          <a:prstGeom prst="ellipse">
            <a:avLst/>
          </a:prstGeom>
          <a:solidFill>
            <a:schemeClr val="accent6">
              <a:lumMod val="60000"/>
              <a:lumOff val="40000"/>
            </a:schemeClr>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aphicFrame>
        <p:nvGraphicFramePr>
          <p:cNvPr id="20" name="Object 28"/>
          <p:cNvGraphicFramePr>
            <a:graphicFrameLocks noChangeAspect="1"/>
          </p:cNvGraphicFramePr>
          <p:nvPr/>
        </p:nvGraphicFramePr>
        <p:xfrm>
          <a:off x="4819864" y="3027438"/>
          <a:ext cx="708025" cy="582612"/>
        </p:xfrm>
        <a:graphic>
          <a:graphicData uri="http://schemas.openxmlformats.org/presentationml/2006/ole">
            <mc:AlternateContent xmlns:mc="http://schemas.openxmlformats.org/markup-compatibility/2006">
              <mc:Choice xmlns:v="urn:schemas-microsoft-com:vml" Requires="v">
                <p:oleObj spid="_x0000_s3075" name="Clip" r:id="rId5" imgW="1307465" imgH="1083945" progId="MS_ClipArt_Gallery.2">
                  <p:embed/>
                </p:oleObj>
              </mc:Choice>
              <mc:Fallback>
                <p:oleObj name="Clip" r:id="rId5" imgW="1307465" imgH="1083945" progId="MS_ClipArt_Gallery.2">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864" y="3027438"/>
                        <a:ext cx="7080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Line 29"/>
          <p:cNvSpPr>
            <a:spLocks noChangeShapeType="1"/>
          </p:cNvSpPr>
          <p:nvPr/>
        </p:nvSpPr>
        <p:spPr bwMode="auto">
          <a:xfrm>
            <a:off x="5261009" y="3435625"/>
            <a:ext cx="552450" cy="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22" name="Line 30"/>
          <p:cNvSpPr>
            <a:spLocks noChangeShapeType="1"/>
          </p:cNvSpPr>
          <p:nvPr/>
        </p:nvSpPr>
        <p:spPr bwMode="auto">
          <a:xfrm flipV="1">
            <a:off x="5016534" y="4518300"/>
            <a:ext cx="792162" cy="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23" name="Line 31"/>
          <p:cNvSpPr>
            <a:spLocks noChangeShapeType="1"/>
          </p:cNvSpPr>
          <p:nvPr/>
        </p:nvSpPr>
        <p:spPr bwMode="auto">
          <a:xfrm>
            <a:off x="7367621" y="3892825"/>
            <a:ext cx="2117725" cy="11113"/>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24" name="Line 32"/>
          <p:cNvSpPr>
            <a:spLocks noChangeShapeType="1"/>
          </p:cNvSpPr>
          <p:nvPr/>
        </p:nvSpPr>
        <p:spPr bwMode="auto">
          <a:xfrm flipV="1">
            <a:off x="9672671" y="4256363"/>
            <a:ext cx="155575" cy="71755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25" name="Line 33"/>
          <p:cNvSpPr>
            <a:spLocks noChangeShapeType="1"/>
          </p:cNvSpPr>
          <p:nvPr/>
        </p:nvSpPr>
        <p:spPr bwMode="auto">
          <a:xfrm flipV="1">
            <a:off x="10736296" y="3442022"/>
            <a:ext cx="294739" cy="265066"/>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26" name="Line 34"/>
          <p:cNvSpPr>
            <a:spLocks noChangeShapeType="1"/>
          </p:cNvSpPr>
          <p:nvPr/>
        </p:nvSpPr>
        <p:spPr bwMode="auto">
          <a:xfrm flipH="1">
            <a:off x="5813459" y="3426100"/>
            <a:ext cx="0" cy="1090613"/>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27" name="Line 35"/>
          <p:cNvSpPr>
            <a:spLocks noChangeShapeType="1"/>
          </p:cNvSpPr>
          <p:nvPr/>
        </p:nvSpPr>
        <p:spPr bwMode="auto">
          <a:xfrm>
            <a:off x="5824571" y="3899175"/>
            <a:ext cx="219075" cy="0"/>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28" name="Rectangle 36"/>
          <p:cNvSpPr>
            <a:spLocks noChangeArrowheads="1"/>
          </p:cNvSpPr>
          <p:nvPr/>
        </p:nvSpPr>
        <p:spPr bwMode="auto">
          <a:xfrm>
            <a:off x="7404134" y="3670575"/>
            <a:ext cx="161925" cy="217488"/>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29" name="Rectangle 37"/>
          <p:cNvSpPr>
            <a:spLocks noChangeArrowheads="1"/>
          </p:cNvSpPr>
          <p:nvPr/>
        </p:nvSpPr>
        <p:spPr bwMode="auto">
          <a:xfrm>
            <a:off x="7581934" y="3670575"/>
            <a:ext cx="161925" cy="217488"/>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30" name="Rectangle 38"/>
          <p:cNvSpPr>
            <a:spLocks noChangeArrowheads="1"/>
          </p:cNvSpPr>
          <p:nvPr/>
        </p:nvSpPr>
        <p:spPr bwMode="auto">
          <a:xfrm>
            <a:off x="7759734" y="3670575"/>
            <a:ext cx="160337" cy="217488"/>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31" name="Rectangle 39"/>
          <p:cNvSpPr>
            <a:spLocks noChangeArrowheads="1"/>
          </p:cNvSpPr>
          <p:nvPr/>
        </p:nvSpPr>
        <p:spPr bwMode="auto">
          <a:xfrm>
            <a:off x="7935946" y="3670575"/>
            <a:ext cx="161925" cy="217488"/>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32" name="Rectangle 40"/>
          <p:cNvSpPr>
            <a:spLocks noChangeArrowheads="1"/>
          </p:cNvSpPr>
          <p:nvPr/>
        </p:nvSpPr>
        <p:spPr bwMode="auto">
          <a:xfrm>
            <a:off x="8113746" y="3670575"/>
            <a:ext cx="161925" cy="217488"/>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33" name="Rectangle 41"/>
          <p:cNvSpPr>
            <a:spLocks noChangeArrowheads="1"/>
          </p:cNvSpPr>
          <p:nvPr/>
        </p:nvSpPr>
        <p:spPr bwMode="auto">
          <a:xfrm>
            <a:off x="8520146" y="3670575"/>
            <a:ext cx="161925" cy="217488"/>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34" name="Rectangle 42"/>
          <p:cNvSpPr>
            <a:spLocks noChangeArrowheads="1"/>
          </p:cNvSpPr>
          <p:nvPr/>
        </p:nvSpPr>
        <p:spPr bwMode="auto">
          <a:xfrm>
            <a:off x="8999571" y="3664225"/>
            <a:ext cx="161925" cy="219075"/>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nvGrpSpPr>
          <p:cNvPr id="35" name="Group 43"/>
          <p:cNvGrpSpPr/>
          <p:nvPr/>
        </p:nvGrpSpPr>
        <p:grpSpPr bwMode="auto">
          <a:xfrm>
            <a:off x="6648484" y="3753125"/>
            <a:ext cx="693737" cy="217488"/>
            <a:chOff x="1800" y="1425"/>
            <a:chExt cx="399" cy="126"/>
          </a:xfrm>
        </p:grpSpPr>
        <p:sp>
          <p:nvSpPr>
            <p:cNvPr id="84" name="Rectangle 44"/>
            <p:cNvSpPr>
              <a:spLocks noChangeArrowheads="1"/>
            </p:cNvSpPr>
            <p:nvPr/>
          </p:nvSpPr>
          <p:spPr bwMode="auto">
            <a:xfrm>
              <a:off x="1800" y="1425"/>
              <a:ext cx="93" cy="126"/>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85" name="Rectangle 45"/>
            <p:cNvSpPr>
              <a:spLocks noChangeArrowheads="1"/>
            </p:cNvSpPr>
            <p:nvPr/>
          </p:nvSpPr>
          <p:spPr bwMode="auto">
            <a:xfrm>
              <a:off x="1902" y="1425"/>
              <a:ext cx="93" cy="126"/>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86" name="Rectangle 46"/>
            <p:cNvSpPr>
              <a:spLocks noChangeArrowheads="1"/>
            </p:cNvSpPr>
            <p:nvPr/>
          </p:nvSpPr>
          <p:spPr bwMode="auto">
            <a:xfrm>
              <a:off x="2004" y="1425"/>
              <a:ext cx="93" cy="126"/>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87" name="Rectangle 47"/>
            <p:cNvSpPr>
              <a:spLocks noChangeArrowheads="1"/>
            </p:cNvSpPr>
            <p:nvPr/>
          </p:nvSpPr>
          <p:spPr bwMode="auto">
            <a:xfrm>
              <a:off x="2106" y="1425"/>
              <a:ext cx="93" cy="126"/>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sp>
        <p:nvSpPr>
          <p:cNvPr id="36" name="Rectangle 48"/>
          <p:cNvSpPr>
            <a:spLocks noChangeArrowheads="1"/>
          </p:cNvSpPr>
          <p:nvPr/>
        </p:nvSpPr>
        <p:spPr bwMode="auto">
          <a:xfrm>
            <a:off x="5849971" y="3643588"/>
            <a:ext cx="161925" cy="219075"/>
          </a:xfrm>
          <a:prstGeom prst="rect">
            <a:avLst/>
          </a:prstGeom>
          <a:solidFill>
            <a:schemeClr val="accent1"/>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37" name="Rectangle 49"/>
          <p:cNvSpPr>
            <a:spLocks noChangeArrowheads="1"/>
          </p:cNvSpPr>
          <p:nvPr/>
        </p:nvSpPr>
        <p:spPr bwMode="auto">
          <a:xfrm>
            <a:off x="5610259" y="4267475"/>
            <a:ext cx="161925" cy="217488"/>
          </a:xfrm>
          <a:prstGeom prst="rect">
            <a:avLst/>
          </a:prstGeom>
          <a:solidFill>
            <a:schemeClr val="accent2"/>
          </a:solid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38" name="Line 50"/>
          <p:cNvSpPr>
            <a:spLocks noChangeShapeType="1"/>
          </p:cNvSpPr>
          <p:nvPr/>
        </p:nvSpPr>
        <p:spPr bwMode="auto">
          <a:xfrm>
            <a:off x="6043646" y="3757888"/>
            <a:ext cx="265113" cy="635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39" name="Line 51"/>
          <p:cNvSpPr>
            <a:spLocks noChangeShapeType="1"/>
          </p:cNvSpPr>
          <p:nvPr/>
        </p:nvSpPr>
        <p:spPr bwMode="auto">
          <a:xfrm flipV="1">
            <a:off x="5678521" y="4059513"/>
            <a:ext cx="0" cy="192087"/>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40" name="Line 52"/>
          <p:cNvSpPr>
            <a:spLocks noChangeShapeType="1"/>
          </p:cNvSpPr>
          <p:nvPr/>
        </p:nvSpPr>
        <p:spPr bwMode="auto">
          <a:xfrm>
            <a:off x="7821646" y="3549925"/>
            <a:ext cx="1162050" cy="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41" name="Text Box 53"/>
          <p:cNvSpPr txBox="1">
            <a:spLocks noChangeArrowheads="1"/>
          </p:cNvSpPr>
          <p:nvPr/>
        </p:nvSpPr>
        <p:spPr bwMode="auto">
          <a:xfrm>
            <a:off x="5040416" y="2601492"/>
            <a:ext cx="401072" cy="461665"/>
          </a:xfrm>
          <a:prstGeom prst="rect">
            <a:avLst/>
          </a:prstGeom>
          <a:noFill/>
          <a:ln w="9525">
            <a:noFill/>
            <a:miter lim="800000"/>
          </a:ln>
        </p:spPr>
        <p:txBody>
          <a:bodyPr wrap="none">
            <a:spAutoFit/>
          </a:bodyPr>
          <a:lstStyle>
            <a:defPPr>
              <a:defRPr lang="zh-CN"/>
            </a:defPPr>
            <a:lvl1pPr>
              <a:defRPr kumimoji="0" sz="2400">
                <a:solidFill>
                  <a:schemeClr val="accent2"/>
                </a:solidFill>
                <a:ea typeface="宋体" panose="02010600030101010101" pitchFamily="2" charset="-122"/>
              </a:defRPr>
            </a:lvl1pPr>
          </a:lstStyle>
          <a:p>
            <a:r>
              <a:rPr lang="en-US" altLang="zh-CN" dirty="0">
                <a:solidFill>
                  <a:schemeClr val="accent1">
                    <a:lumMod val="75000"/>
                  </a:schemeClr>
                </a:solidFill>
                <a:latin typeface="微软雅黑" panose="020B0503020204020204" pitchFamily="34" charset="-122"/>
                <a:ea typeface="微软雅黑" panose="020B0503020204020204" pitchFamily="34" charset="-122"/>
              </a:rPr>
              <a:t>A</a:t>
            </a:r>
            <a:endParaRPr lang="en-US" altLang="zh-CN"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42" name="Text Box 54"/>
          <p:cNvSpPr txBox="1">
            <a:spLocks noChangeArrowheads="1"/>
          </p:cNvSpPr>
          <p:nvPr/>
        </p:nvSpPr>
        <p:spPr bwMode="auto">
          <a:xfrm>
            <a:off x="5012491" y="4597800"/>
            <a:ext cx="390525" cy="461963"/>
          </a:xfrm>
          <a:prstGeom prst="rect">
            <a:avLst/>
          </a:prstGeom>
          <a:noFill/>
          <a:ln w="9525">
            <a:noFill/>
            <a:miter lim="800000"/>
          </a:ln>
        </p:spPr>
        <p:txBody>
          <a:bodyPr wrap="none">
            <a:spAutoFit/>
          </a:bodyPr>
          <a:lstStyle/>
          <a:p>
            <a:pPr>
              <a:defRPr/>
            </a:pPr>
            <a:r>
              <a:rPr kumimoji="0" lang="en-US" altLang="zh-CN" sz="2400" dirty="0">
                <a:solidFill>
                  <a:schemeClr val="accent2"/>
                </a:solidFill>
                <a:latin typeface="微软雅黑" panose="020B0503020204020204" pitchFamily="34" charset="-122"/>
                <a:ea typeface="微软雅黑" panose="020B0503020204020204" pitchFamily="34" charset="-122"/>
              </a:rPr>
              <a:t>B</a:t>
            </a:r>
            <a:endParaRPr kumimoji="0" lang="en-US" altLang="zh-CN" sz="2400" dirty="0">
              <a:solidFill>
                <a:schemeClr val="accent1"/>
              </a:solidFill>
              <a:latin typeface="微软雅黑" panose="020B0503020204020204" pitchFamily="34" charset="-122"/>
              <a:ea typeface="微软雅黑" panose="020B0503020204020204" pitchFamily="34" charset="-122"/>
            </a:endParaRPr>
          </a:p>
        </p:txBody>
      </p:sp>
      <p:sp>
        <p:nvSpPr>
          <p:cNvPr id="43" name="Text Box 55"/>
          <p:cNvSpPr txBox="1">
            <a:spLocks noChangeArrowheads="1"/>
          </p:cNvSpPr>
          <p:nvPr/>
        </p:nvSpPr>
        <p:spPr bwMode="auto">
          <a:xfrm>
            <a:off x="10835772" y="3476107"/>
            <a:ext cx="390525" cy="461962"/>
          </a:xfrm>
          <a:prstGeom prst="rect">
            <a:avLst/>
          </a:prstGeom>
          <a:noFill/>
          <a:ln w="9525">
            <a:noFill/>
            <a:miter lim="800000"/>
          </a:ln>
        </p:spPr>
        <p:txBody>
          <a:bodyPr wrap="none">
            <a:spAutoFit/>
          </a:bodyPr>
          <a:lstStyle/>
          <a:p>
            <a:pPr>
              <a:defRPr/>
            </a:pPr>
            <a:r>
              <a:rPr kumimoji="0" lang="en-US" altLang="zh-CN" sz="2400" dirty="0">
                <a:solidFill>
                  <a:srgbClr val="FF0000"/>
                </a:solidFill>
                <a:latin typeface="微软雅黑" panose="020B0503020204020204" pitchFamily="34" charset="-122"/>
                <a:ea typeface="微软雅黑" panose="020B0503020204020204" pitchFamily="34" charset="-122"/>
              </a:rPr>
              <a:t>C</a:t>
            </a:r>
            <a:endParaRPr kumimoji="0" lang="en-US" altLang="zh-CN" sz="2400" dirty="0">
              <a:solidFill>
                <a:schemeClr val="accent1"/>
              </a:solidFill>
              <a:latin typeface="微软雅黑" panose="020B0503020204020204" pitchFamily="34" charset="-122"/>
              <a:ea typeface="微软雅黑" panose="020B0503020204020204" pitchFamily="34" charset="-122"/>
            </a:endParaRPr>
          </a:p>
        </p:txBody>
      </p:sp>
      <p:sp>
        <p:nvSpPr>
          <p:cNvPr id="44" name="Text Box 56"/>
          <p:cNvSpPr txBox="1">
            <a:spLocks noChangeArrowheads="1"/>
          </p:cNvSpPr>
          <p:nvPr/>
        </p:nvSpPr>
        <p:spPr bwMode="auto">
          <a:xfrm>
            <a:off x="5460464" y="2740994"/>
            <a:ext cx="1332416" cy="707886"/>
          </a:xfrm>
          <a:prstGeom prst="rect">
            <a:avLst/>
          </a:prstGeom>
          <a:noFill/>
          <a:ln w="9525">
            <a:noFill/>
            <a:miter lim="800000"/>
          </a:ln>
        </p:spPr>
        <p:txBody>
          <a:bodyPr wrap="none">
            <a:spAutoFit/>
          </a:bodyPr>
          <a:lstStyle/>
          <a:p>
            <a:pPr>
              <a:defRPr/>
            </a:pPr>
            <a:r>
              <a:rPr kumimoji="0" lang="en-US" altLang="zh-CN" sz="2000" dirty="0">
                <a:latin typeface="微软雅黑" panose="020B0503020204020204" pitchFamily="34" charset="-122"/>
                <a:ea typeface="微软雅黑" panose="020B0503020204020204" pitchFamily="34" charset="-122"/>
              </a:rPr>
              <a:t>100Mbps</a:t>
            </a:r>
            <a:endParaRPr kumimoji="0" lang="en-US" altLang="zh-CN" sz="2000" dirty="0">
              <a:latin typeface="微软雅黑" panose="020B0503020204020204" pitchFamily="34" charset="-122"/>
              <a:ea typeface="微软雅黑" panose="020B0503020204020204" pitchFamily="34" charset="-122"/>
            </a:endParaRPr>
          </a:p>
          <a:p>
            <a:pPr>
              <a:defRPr/>
            </a:pPr>
            <a:r>
              <a:rPr kumimoji="0" lang="en-US" altLang="zh-CN" sz="2000" dirty="0">
                <a:latin typeface="微软雅黑" panose="020B0503020204020204" pitchFamily="34" charset="-122"/>
                <a:ea typeface="微软雅黑" panose="020B0503020204020204" pitchFamily="34" charset="-122"/>
              </a:rPr>
              <a:t>Ethernet</a:t>
            </a:r>
            <a:endParaRPr kumimoji="0" lang="en-US" altLang="zh-CN" sz="2400" dirty="0">
              <a:solidFill>
                <a:schemeClr val="accent1"/>
              </a:solidFill>
              <a:latin typeface="微软雅黑" panose="020B0503020204020204" pitchFamily="34" charset="-122"/>
              <a:ea typeface="微软雅黑" panose="020B0503020204020204" pitchFamily="34" charset="-122"/>
            </a:endParaRPr>
          </a:p>
        </p:txBody>
      </p:sp>
      <p:sp>
        <p:nvSpPr>
          <p:cNvPr id="45" name="Text Box 57"/>
          <p:cNvSpPr txBox="1">
            <a:spLocks noChangeArrowheads="1"/>
          </p:cNvSpPr>
          <p:nvPr/>
        </p:nvSpPr>
        <p:spPr bwMode="auto">
          <a:xfrm>
            <a:off x="7632734" y="3932513"/>
            <a:ext cx="1244251" cy="400110"/>
          </a:xfrm>
          <a:prstGeom prst="rect">
            <a:avLst/>
          </a:prstGeom>
          <a:noFill/>
          <a:ln w="9525">
            <a:noFill/>
            <a:miter lim="800000"/>
          </a:ln>
        </p:spPr>
        <p:txBody>
          <a:bodyPr wrap="none">
            <a:spAutoFit/>
          </a:bodyPr>
          <a:lstStyle/>
          <a:p>
            <a:pPr>
              <a:defRPr/>
            </a:pPr>
            <a:r>
              <a:rPr kumimoji="0" lang="en-US" altLang="zh-CN" sz="2000" dirty="0">
                <a:latin typeface="微软雅黑" panose="020B0503020204020204" pitchFamily="34" charset="-122"/>
                <a:ea typeface="微软雅黑" panose="020B0503020204020204" pitchFamily="34" charset="-122"/>
              </a:rPr>
              <a:t>1.5Mbps</a:t>
            </a:r>
            <a:endParaRPr kumimoji="0" lang="en-US" altLang="zh-CN" sz="2400" dirty="0">
              <a:solidFill>
                <a:schemeClr val="accent1"/>
              </a:solidFill>
              <a:latin typeface="微软雅黑" panose="020B0503020204020204" pitchFamily="34" charset="-122"/>
              <a:ea typeface="微软雅黑" panose="020B0503020204020204" pitchFamily="34" charset="-122"/>
            </a:endParaRPr>
          </a:p>
        </p:txBody>
      </p:sp>
      <p:sp>
        <p:nvSpPr>
          <p:cNvPr id="46" name="Text Box 58"/>
          <p:cNvSpPr txBox="1">
            <a:spLocks noChangeArrowheads="1"/>
          </p:cNvSpPr>
          <p:nvPr/>
        </p:nvSpPr>
        <p:spPr bwMode="auto">
          <a:xfrm>
            <a:off x="9739938" y="4489541"/>
            <a:ext cx="1181734" cy="400110"/>
          </a:xfrm>
          <a:prstGeom prst="rect">
            <a:avLst/>
          </a:prstGeom>
          <a:noFill/>
          <a:ln w="9525">
            <a:noFill/>
            <a:miter lim="800000"/>
          </a:ln>
        </p:spPr>
        <p:txBody>
          <a:bodyPr wrap="none">
            <a:spAutoFit/>
          </a:bodyPr>
          <a:lstStyle/>
          <a:p>
            <a:pPr>
              <a:defRPr/>
            </a:pPr>
            <a:r>
              <a:rPr kumimoji="0" lang="en-US" altLang="zh-CN" sz="2000" dirty="0">
                <a:latin typeface="微软雅黑" panose="020B0503020204020204" pitchFamily="34" charset="-122"/>
                <a:ea typeface="微软雅黑" panose="020B0503020204020204" pitchFamily="34" charset="-122"/>
              </a:rPr>
              <a:t>45Mbps</a:t>
            </a:r>
            <a:endParaRPr kumimoji="0" lang="en-US" altLang="zh-CN" sz="2400" dirty="0">
              <a:solidFill>
                <a:schemeClr val="accent1"/>
              </a:solidFill>
              <a:latin typeface="微软雅黑" panose="020B0503020204020204" pitchFamily="34" charset="-122"/>
              <a:ea typeface="微软雅黑" panose="020B0503020204020204" pitchFamily="34" charset="-122"/>
            </a:endParaRPr>
          </a:p>
        </p:txBody>
      </p:sp>
      <p:sp>
        <p:nvSpPr>
          <p:cNvPr id="47" name="Rectangle 59"/>
          <p:cNvSpPr>
            <a:spLocks noChangeArrowheads="1"/>
          </p:cNvSpPr>
          <p:nvPr/>
        </p:nvSpPr>
        <p:spPr bwMode="auto">
          <a:xfrm>
            <a:off x="9505984" y="3691213"/>
            <a:ext cx="161925" cy="217487"/>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48" name="Rectangle 60"/>
          <p:cNvSpPr>
            <a:spLocks noChangeArrowheads="1"/>
          </p:cNvSpPr>
          <p:nvPr/>
        </p:nvSpPr>
        <p:spPr bwMode="auto">
          <a:xfrm>
            <a:off x="9682196" y="3691213"/>
            <a:ext cx="161925" cy="217487"/>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49" name="Rectangle 61"/>
          <p:cNvSpPr>
            <a:spLocks noChangeArrowheads="1"/>
          </p:cNvSpPr>
          <p:nvPr/>
        </p:nvSpPr>
        <p:spPr bwMode="auto">
          <a:xfrm>
            <a:off x="9859996" y="3691213"/>
            <a:ext cx="161925" cy="217487"/>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nvGrpSpPr>
          <p:cNvPr id="50" name="Group 62"/>
          <p:cNvGrpSpPr/>
          <p:nvPr/>
        </p:nvGrpSpPr>
        <p:grpSpPr bwMode="auto">
          <a:xfrm rot="19637433">
            <a:off x="9777446" y="3929338"/>
            <a:ext cx="692150" cy="219075"/>
            <a:chOff x="4176" y="2211"/>
            <a:chExt cx="399" cy="126"/>
          </a:xfrm>
        </p:grpSpPr>
        <p:sp>
          <p:nvSpPr>
            <p:cNvPr id="80" name="Rectangle 63"/>
            <p:cNvSpPr>
              <a:spLocks noChangeArrowheads="1"/>
            </p:cNvSpPr>
            <p:nvPr/>
          </p:nvSpPr>
          <p:spPr bwMode="auto">
            <a:xfrm>
              <a:off x="4176"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81" name="Rectangle 64"/>
            <p:cNvSpPr>
              <a:spLocks noChangeArrowheads="1"/>
            </p:cNvSpPr>
            <p:nvPr/>
          </p:nvSpPr>
          <p:spPr bwMode="auto">
            <a:xfrm>
              <a:off x="4276" y="2209"/>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82" name="Rectangle 65"/>
            <p:cNvSpPr>
              <a:spLocks noChangeArrowheads="1"/>
            </p:cNvSpPr>
            <p:nvPr/>
          </p:nvSpPr>
          <p:spPr bwMode="auto">
            <a:xfrm>
              <a:off x="4380" y="2209"/>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83" name="Rectangle 66"/>
            <p:cNvSpPr>
              <a:spLocks noChangeArrowheads="1"/>
            </p:cNvSpPr>
            <p:nvPr/>
          </p:nvSpPr>
          <p:spPr bwMode="auto">
            <a:xfrm>
              <a:off x="4481" y="2208"/>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grpSp>
        <p:nvGrpSpPr>
          <p:cNvPr id="51" name="Group 67"/>
          <p:cNvGrpSpPr/>
          <p:nvPr/>
        </p:nvGrpSpPr>
        <p:grpSpPr bwMode="auto">
          <a:xfrm>
            <a:off x="7656346" y="4929464"/>
            <a:ext cx="3249895" cy="1563410"/>
            <a:chOff x="1708" y="2009"/>
            <a:chExt cx="1870" cy="903"/>
          </a:xfrm>
        </p:grpSpPr>
        <p:graphicFrame>
          <p:nvGraphicFramePr>
            <p:cNvPr id="55" name="Object 68"/>
            <p:cNvGraphicFramePr>
              <a:graphicFrameLocks noChangeAspect="1"/>
            </p:cNvGraphicFramePr>
            <p:nvPr/>
          </p:nvGraphicFramePr>
          <p:xfrm>
            <a:off x="2971" y="2576"/>
            <a:ext cx="407" cy="336"/>
          </p:xfrm>
          <a:graphic>
            <a:graphicData uri="http://schemas.openxmlformats.org/presentationml/2006/ole">
              <mc:AlternateContent xmlns:mc="http://schemas.openxmlformats.org/markup-compatibility/2006">
                <mc:Choice xmlns:v="urn:schemas-microsoft-com:vml" Requires="v">
                  <p:oleObj spid="_x0000_s3076" name="Clip" r:id="rId6" imgW="1307465" imgH="1083945" progId="MS_ClipArt_Gallery.2">
                    <p:embed/>
                  </p:oleObj>
                </mc:Choice>
                <mc:Fallback>
                  <p:oleObj name="Clip" r:id="rId6" imgW="1307465" imgH="1083945" progId="MS_ClipArt_Gallery.2">
                    <p:embed/>
                    <p:pic>
                      <p:nvPicPr>
                        <p:cNvPr id="0" name="Object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 y="2576"/>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6" name="Group 69"/>
            <p:cNvGrpSpPr/>
            <p:nvPr/>
          </p:nvGrpSpPr>
          <p:grpSpPr bwMode="auto">
            <a:xfrm>
              <a:off x="2428" y="2009"/>
              <a:ext cx="761" cy="420"/>
              <a:chOff x="1462" y="1283"/>
              <a:chExt cx="761" cy="420"/>
            </a:xfrm>
          </p:grpSpPr>
          <p:sp>
            <p:nvSpPr>
              <p:cNvPr id="67" name="Oval 70"/>
              <p:cNvSpPr>
                <a:spLocks noChangeArrowheads="1"/>
              </p:cNvSpPr>
              <p:nvPr/>
            </p:nvSpPr>
            <p:spPr bwMode="auto">
              <a:xfrm>
                <a:off x="1462" y="1470"/>
                <a:ext cx="755" cy="233"/>
              </a:xfrm>
              <a:prstGeom prst="ellipse">
                <a:avLst/>
              </a:prstGeom>
              <a:solidFill>
                <a:schemeClr val="hlink"/>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68" name="Line 71"/>
              <p:cNvSpPr>
                <a:spLocks noChangeShapeType="1"/>
              </p:cNvSpPr>
              <p:nvPr/>
            </p:nvSpPr>
            <p:spPr bwMode="auto">
              <a:xfrm>
                <a:off x="1462" y="1451"/>
                <a:ext cx="0" cy="144"/>
              </a:xfrm>
              <a:prstGeom prst="line">
                <a:avLst/>
              </a:prstGeom>
              <a:noFill/>
              <a:ln w="1270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69" name="Rectangle 72"/>
              <p:cNvSpPr>
                <a:spLocks noChangeArrowheads="1"/>
              </p:cNvSpPr>
              <p:nvPr/>
            </p:nvSpPr>
            <p:spPr bwMode="auto">
              <a:xfrm>
                <a:off x="1462" y="1427"/>
                <a:ext cx="755" cy="166"/>
              </a:xfrm>
              <a:prstGeom prst="rect">
                <a:avLst/>
              </a:prstGeom>
              <a:solidFill>
                <a:schemeClr val="hlink"/>
              </a:solidFill>
              <a:ln w="12700">
                <a:noFill/>
                <a:miter lim="800000"/>
              </a:ln>
            </p:spPr>
            <p:txBody>
              <a:bodyPr wrap="none" anchor="ctr"/>
              <a:lstStyle/>
              <a:p>
                <a:pPr algn="ctr">
                  <a:defRPr/>
                </a:pPr>
                <a:endParaRPr kumimoji="0" lang="zh-CN" altLang="zh-CN" sz="2400">
                  <a:latin typeface="微软雅黑" panose="020B0503020204020204" pitchFamily="34" charset="-122"/>
                  <a:ea typeface="微软雅黑" panose="020B0503020204020204" pitchFamily="34" charset="-122"/>
                </a:endParaRPr>
              </a:p>
            </p:txBody>
          </p:sp>
          <p:sp>
            <p:nvSpPr>
              <p:cNvPr id="70" name="Oval 73"/>
              <p:cNvSpPr>
                <a:spLocks noChangeArrowheads="1"/>
              </p:cNvSpPr>
              <p:nvPr/>
            </p:nvSpPr>
            <p:spPr bwMode="auto">
              <a:xfrm>
                <a:off x="1468" y="1283"/>
                <a:ext cx="755" cy="271"/>
              </a:xfrm>
              <a:prstGeom prst="ellipse">
                <a:avLst/>
              </a:prstGeom>
              <a:solidFill>
                <a:schemeClr val="hlink"/>
              </a:solidFill>
              <a:ln w="12700">
                <a:no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nvGrpSpPr>
              <p:cNvPr id="71" name="Group 74"/>
              <p:cNvGrpSpPr/>
              <p:nvPr/>
            </p:nvGrpSpPr>
            <p:grpSpPr bwMode="auto">
              <a:xfrm>
                <a:off x="1686" y="1302"/>
                <a:ext cx="314" cy="75"/>
                <a:chOff x="2208" y="2184"/>
                <a:chExt cx="176" cy="69"/>
              </a:xfrm>
            </p:grpSpPr>
            <p:grpSp>
              <p:nvGrpSpPr>
                <p:cNvPr id="72" name="Group 75"/>
                <p:cNvGrpSpPr/>
                <p:nvPr/>
              </p:nvGrpSpPr>
              <p:grpSpPr bwMode="auto">
                <a:xfrm>
                  <a:off x="2208" y="2185"/>
                  <a:ext cx="176" cy="68"/>
                  <a:chOff x="2848" y="848"/>
                  <a:chExt cx="140" cy="98"/>
                </a:xfrm>
              </p:grpSpPr>
              <p:sp>
                <p:nvSpPr>
                  <p:cNvPr id="77" name="Line 76"/>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78" name="Line 77"/>
                  <p:cNvSpPr>
                    <a:spLocks noChangeShapeType="1"/>
                  </p:cNvSpPr>
                  <p:nvPr/>
                </p:nvSpPr>
                <p:spPr bwMode="auto">
                  <a:xfrm>
                    <a:off x="2944" y="949"/>
                    <a:ext cx="44"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79" name="Line 78"/>
                  <p:cNvSpPr>
                    <a:spLocks noChangeShapeType="1"/>
                  </p:cNvSpPr>
                  <p:nvPr/>
                </p:nvSpPr>
                <p:spPr bwMode="auto">
                  <a:xfrm>
                    <a:off x="2894" y="851"/>
                    <a:ext cx="52" cy="98"/>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grpSp>
              <p:nvGrpSpPr>
                <p:cNvPr id="73" name="Group 79"/>
                <p:cNvGrpSpPr/>
                <p:nvPr/>
              </p:nvGrpSpPr>
              <p:grpSpPr bwMode="auto">
                <a:xfrm flipV="1">
                  <a:off x="2208" y="2184"/>
                  <a:ext cx="176" cy="68"/>
                  <a:chOff x="2848" y="848"/>
                  <a:chExt cx="140" cy="98"/>
                </a:xfrm>
              </p:grpSpPr>
              <p:sp>
                <p:nvSpPr>
                  <p:cNvPr id="74" name="Line 80"/>
                  <p:cNvSpPr>
                    <a:spLocks noChangeShapeType="1"/>
                  </p:cNvSpPr>
                  <p:nvPr/>
                </p:nvSpPr>
                <p:spPr bwMode="auto">
                  <a:xfrm flipV="1">
                    <a:off x="2848" y="845"/>
                    <a:ext cx="50"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75" name="Line 81"/>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76" name="Line 82"/>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grpSp>
        </p:grpSp>
        <p:graphicFrame>
          <p:nvGraphicFramePr>
            <p:cNvPr id="57" name="Object 83"/>
            <p:cNvGraphicFramePr>
              <a:graphicFrameLocks noChangeAspect="1"/>
            </p:cNvGraphicFramePr>
            <p:nvPr/>
          </p:nvGraphicFramePr>
          <p:xfrm>
            <a:off x="1874" y="2546"/>
            <a:ext cx="407" cy="336"/>
          </p:xfrm>
          <a:graphic>
            <a:graphicData uri="http://schemas.openxmlformats.org/presentationml/2006/ole">
              <mc:AlternateContent xmlns:mc="http://schemas.openxmlformats.org/markup-compatibility/2006">
                <mc:Choice xmlns:v="urn:schemas-microsoft-com:vml" Requires="v">
                  <p:oleObj spid="_x0000_s3077" name="Clip" r:id="rId7" imgW="1307465" imgH="1083945" progId="MS_ClipArt_Gallery.2">
                    <p:embed/>
                  </p:oleObj>
                </mc:Choice>
                <mc:Fallback>
                  <p:oleObj name="Clip" r:id="rId7" imgW="1307465" imgH="1083945" progId="MS_ClipArt_Gallery.2">
                    <p:embed/>
                    <p:pic>
                      <p:nvPicPr>
                        <p:cNvPr id="0" name="Object 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4" y="2546"/>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 name="Line 84"/>
            <p:cNvSpPr>
              <a:spLocks noChangeShapeType="1"/>
            </p:cNvSpPr>
            <p:nvPr/>
          </p:nvSpPr>
          <p:spPr bwMode="auto">
            <a:xfrm flipV="1">
              <a:off x="2214" y="2370"/>
              <a:ext cx="294" cy="252"/>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59" name="Line 85"/>
            <p:cNvSpPr>
              <a:spLocks noChangeShapeType="1"/>
            </p:cNvSpPr>
            <p:nvPr/>
          </p:nvSpPr>
          <p:spPr bwMode="auto">
            <a:xfrm flipH="1" flipV="1">
              <a:off x="2964" y="2406"/>
              <a:ext cx="210" cy="192"/>
            </a:xfrm>
            <a:prstGeom prst="line">
              <a:avLst/>
            </a:prstGeom>
            <a:noFill/>
            <a:ln w="19050">
              <a:solidFill>
                <a:schemeClr val="tx1"/>
              </a:solidFill>
              <a:rou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60" name="Text Box 86"/>
            <p:cNvSpPr txBox="1">
              <a:spLocks noChangeArrowheads="1"/>
            </p:cNvSpPr>
            <p:nvPr/>
          </p:nvSpPr>
          <p:spPr bwMode="auto">
            <a:xfrm>
              <a:off x="1708" y="2590"/>
              <a:ext cx="241" cy="267"/>
            </a:xfrm>
            <a:prstGeom prst="rect">
              <a:avLst/>
            </a:prstGeom>
            <a:noFill/>
            <a:ln w="9525">
              <a:noFill/>
              <a:miter lim="800000"/>
            </a:ln>
          </p:spPr>
          <p:txBody>
            <a:bodyPr wrap="none">
              <a:spAutoFit/>
            </a:bodyPr>
            <a:lstStyle/>
            <a:p>
              <a:pPr>
                <a:defRPr/>
              </a:pPr>
              <a:r>
                <a:rPr kumimoji="0" lang="en-US" altLang="zh-CN" sz="2400" dirty="0">
                  <a:latin typeface="微软雅黑" panose="020B0503020204020204" pitchFamily="34" charset="-122"/>
                  <a:ea typeface="微软雅黑" panose="020B0503020204020204" pitchFamily="34" charset="-122"/>
                </a:rPr>
                <a:t>D</a:t>
              </a:r>
              <a:endParaRPr kumimoji="0" lang="en-US" altLang="zh-CN" sz="2400" dirty="0">
                <a:solidFill>
                  <a:schemeClr val="accent1"/>
                </a:solidFill>
                <a:latin typeface="微软雅黑" panose="020B0503020204020204" pitchFamily="34" charset="-122"/>
                <a:ea typeface="微软雅黑" panose="020B0503020204020204" pitchFamily="34" charset="-122"/>
              </a:endParaRPr>
            </a:p>
          </p:txBody>
        </p:sp>
        <p:sp>
          <p:nvSpPr>
            <p:cNvPr id="61" name="Text Box 87"/>
            <p:cNvSpPr txBox="1">
              <a:spLocks noChangeArrowheads="1"/>
            </p:cNvSpPr>
            <p:nvPr/>
          </p:nvSpPr>
          <p:spPr bwMode="auto">
            <a:xfrm>
              <a:off x="3374" y="2591"/>
              <a:ext cx="204" cy="267"/>
            </a:xfrm>
            <a:prstGeom prst="rect">
              <a:avLst/>
            </a:prstGeom>
            <a:noFill/>
            <a:ln w="9525">
              <a:noFill/>
              <a:miter lim="800000"/>
            </a:ln>
          </p:spPr>
          <p:txBody>
            <a:bodyPr wrap="none">
              <a:spAutoFit/>
            </a:bodyPr>
            <a:lstStyle/>
            <a:p>
              <a:pPr>
                <a:defRPr/>
              </a:pPr>
              <a:r>
                <a:rPr kumimoji="0" lang="en-US" altLang="zh-CN" sz="2400" dirty="0">
                  <a:latin typeface="微软雅黑" panose="020B0503020204020204" pitchFamily="34" charset="-122"/>
                  <a:ea typeface="微软雅黑" panose="020B0503020204020204" pitchFamily="34" charset="-122"/>
                </a:rPr>
                <a:t>E</a:t>
              </a:r>
              <a:endParaRPr kumimoji="0" lang="en-US" altLang="zh-CN" sz="2400" dirty="0">
                <a:solidFill>
                  <a:schemeClr val="accent1"/>
                </a:solidFill>
                <a:latin typeface="微软雅黑" panose="020B0503020204020204" pitchFamily="34" charset="-122"/>
                <a:ea typeface="微软雅黑" panose="020B0503020204020204" pitchFamily="34" charset="-122"/>
              </a:endParaRPr>
            </a:p>
          </p:txBody>
        </p:sp>
        <p:grpSp>
          <p:nvGrpSpPr>
            <p:cNvPr id="62" name="Group 88"/>
            <p:cNvGrpSpPr/>
            <p:nvPr/>
          </p:nvGrpSpPr>
          <p:grpSpPr bwMode="auto">
            <a:xfrm rot="-2018696">
              <a:off x="2736" y="2139"/>
              <a:ext cx="399" cy="126"/>
              <a:chOff x="4176" y="2211"/>
              <a:chExt cx="399" cy="126"/>
            </a:xfrm>
          </p:grpSpPr>
          <p:sp>
            <p:nvSpPr>
              <p:cNvPr id="63" name="Rectangle 89"/>
              <p:cNvSpPr>
                <a:spLocks noChangeArrowheads="1"/>
              </p:cNvSpPr>
              <p:nvPr/>
            </p:nvSpPr>
            <p:spPr bwMode="auto">
              <a:xfrm>
                <a:off x="4176"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64" name="Rectangle 90"/>
              <p:cNvSpPr>
                <a:spLocks noChangeArrowheads="1"/>
              </p:cNvSpPr>
              <p:nvPr/>
            </p:nvSpPr>
            <p:spPr bwMode="auto">
              <a:xfrm>
                <a:off x="4278"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65" name="Rectangle 91"/>
              <p:cNvSpPr>
                <a:spLocks noChangeArrowheads="1"/>
              </p:cNvSpPr>
              <p:nvPr/>
            </p:nvSpPr>
            <p:spPr bwMode="auto">
              <a:xfrm>
                <a:off x="4378"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66" name="Rectangle 92"/>
              <p:cNvSpPr>
                <a:spLocks noChangeArrowheads="1"/>
              </p:cNvSpPr>
              <p:nvPr/>
            </p:nvSpPr>
            <p:spPr bwMode="auto">
              <a:xfrm>
                <a:off x="4482" y="2211"/>
                <a:ext cx="93" cy="126"/>
              </a:xfrm>
              <a:prstGeom prst="rect">
                <a:avLst/>
              </a:prstGeom>
              <a:noFill/>
              <a:ln w="9525">
                <a:solidFill>
                  <a:schemeClr val="tx1"/>
                </a:solidFill>
                <a:miter lim="800000"/>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grpSp>
      </p:grpSp>
      <p:sp>
        <p:nvSpPr>
          <p:cNvPr id="52" name="Text Box 93"/>
          <p:cNvSpPr txBox="1">
            <a:spLocks noChangeArrowheads="1"/>
          </p:cNvSpPr>
          <p:nvPr/>
        </p:nvSpPr>
        <p:spPr bwMode="auto">
          <a:xfrm>
            <a:off x="7540896" y="3126826"/>
            <a:ext cx="1723549" cy="400110"/>
          </a:xfrm>
          <a:prstGeom prst="rect">
            <a:avLst/>
          </a:prstGeom>
          <a:noFill/>
          <a:ln w="9525">
            <a:noFill/>
            <a:miter lim="800000"/>
          </a:ln>
        </p:spPr>
        <p:txBody>
          <a:bodyPr wrap="none">
            <a:spAutoFit/>
          </a:bodyPr>
          <a:lstStyle/>
          <a:p>
            <a:pPr>
              <a:defRPr/>
            </a:pPr>
            <a:r>
              <a:rPr kumimoji="0" lang="zh-CN" altLang="en-US" sz="2000" dirty="0">
                <a:latin typeface="微软雅黑" panose="020B0503020204020204" pitchFamily="34" charset="-122"/>
                <a:ea typeface="微软雅黑" panose="020B0503020204020204" pitchFamily="34" charset="-122"/>
              </a:rPr>
              <a:t>统计多路复用</a:t>
            </a:r>
            <a:endParaRPr kumimoji="0" lang="en-US" altLang="zh-CN" sz="2400" dirty="0">
              <a:latin typeface="微软雅黑" panose="020B0503020204020204" pitchFamily="34" charset="-122"/>
              <a:ea typeface="微软雅黑" panose="020B0503020204020204" pitchFamily="34" charset="-122"/>
            </a:endParaRPr>
          </a:p>
        </p:txBody>
      </p:sp>
      <p:sp>
        <p:nvSpPr>
          <p:cNvPr id="53" name="Text Box 94"/>
          <p:cNvSpPr txBox="1">
            <a:spLocks noChangeArrowheads="1"/>
          </p:cNvSpPr>
          <p:nvPr/>
        </p:nvSpPr>
        <p:spPr bwMode="auto">
          <a:xfrm>
            <a:off x="5903341" y="4540525"/>
            <a:ext cx="1569661" cy="369332"/>
          </a:xfrm>
          <a:prstGeom prst="rect">
            <a:avLst/>
          </a:prstGeom>
          <a:noFill/>
          <a:ln w="9525">
            <a:noFill/>
            <a:miter lim="800000"/>
          </a:ln>
        </p:spPr>
        <p:txBody>
          <a:bodyPr wrap="none">
            <a:spAutoFit/>
          </a:bodyPr>
          <a:lstStyle/>
          <a:p>
            <a:pPr algn="ctr">
              <a:defRPr/>
            </a:pPr>
            <a:r>
              <a:rPr kumimoji="0" lang="zh-CN" altLang="en-US" dirty="0">
                <a:latin typeface="微软雅黑" panose="020B0503020204020204" pitchFamily="34" charset="-122"/>
                <a:ea typeface="微软雅黑" panose="020B0503020204020204" pitchFamily="34" charset="-122"/>
              </a:rPr>
              <a:t>报文分组排队</a:t>
            </a:r>
            <a:endParaRPr kumimoji="0" lang="en-US" altLang="zh-CN" dirty="0">
              <a:solidFill>
                <a:schemeClr val="accent1"/>
              </a:solidFill>
              <a:latin typeface="微软雅黑" panose="020B0503020204020204" pitchFamily="34" charset="-122"/>
              <a:ea typeface="微软雅黑" panose="020B0503020204020204" pitchFamily="34" charset="-122"/>
            </a:endParaRPr>
          </a:p>
        </p:txBody>
      </p:sp>
      <p:sp>
        <p:nvSpPr>
          <p:cNvPr id="54" name="Line 95"/>
          <p:cNvSpPr>
            <a:spLocks noChangeShapeType="1"/>
          </p:cNvSpPr>
          <p:nvPr/>
        </p:nvSpPr>
        <p:spPr bwMode="auto">
          <a:xfrm flipV="1">
            <a:off x="6684996" y="4027763"/>
            <a:ext cx="182563" cy="571500"/>
          </a:xfrm>
          <a:prstGeom prst="line">
            <a:avLst/>
          </a:prstGeom>
          <a:noFill/>
          <a:ln w="9525">
            <a:solidFill>
              <a:schemeClr val="tx1"/>
            </a:solidFill>
            <a:rou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a:latin typeface="微软雅黑" panose="020B0503020204020204" pitchFamily="34" charset="-122"/>
              <a:ea typeface="微软雅黑" panose="020B0503020204020204" pitchFamily="34" charset="-122"/>
            </a:endParaRPr>
          </a:p>
        </p:txBody>
      </p:sp>
      <p:sp>
        <p:nvSpPr>
          <p:cNvPr id="96" name="矩形 95"/>
          <p:cNvSpPr/>
          <p:nvPr/>
        </p:nvSpPr>
        <p:spPr>
          <a:xfrm>
            <a:off x="5971429" y="1604646"/>
            <a:ext cx="5028973" cy="961289"/>
          </a:xfrm>
          <a:prstGeom prst="rect">
            <a:avLst/>
          </a:prstGeom>
          <a:ln>
            <a:solidFill>
              <a:srgbClr val="C00000"/>
            </a:solidFill>
          </a:ln>
        </p:spPr>
        <p:txBody>
          <a:bodyPr wrap="square">
            <a:spAutoFit/>
          </a:bodyPr>
          <a:lstStyle/>
          <a:p>
            <a:pPr lvl="0" algn="ctr">
              <a:lnSpc>
                <a:spcPts val="3600"/>
              </a:lnSpc>
              <a:spcBef>
                <a:spcPts val="1200"/>
              </a:spcBef>
              <a:defRPr/>
            </a:pPr>
            <a:r>
              <a:rPr lang="zh-CN" altLang="en-US" sz="2000" kern="0" dirty="0">
                <a:solidFill>
                  <a:prstClr val="black"/>
                </a:solidFill>
                <a:latin typeface="微软雅黑" panose="020B0503020204020204" pitchFamily="34" charset="-122"/>
                <a:ea typeface="微软雅黑" panose="020B0503020204020204" pitchFamily="34" charset="-122"/>
              </a:rPr>
              <a:t>主机</a:t>
            </a:r>
            <a:r>
              <a:rPr lang="en-US" altLang="zh-CN" sz="2000" kern="0" dirty="0">
                <a:solidFill>
                  <a:prstClr val="black"/>
                </a:solidFill>
                <a:latin typeface="微软雅黑" panose="020B0503020204020204" pitchFamily="34" charset="-122"/>
                <a:ea typeface="微软雅黑" panose="020B0503020204020204" pitchFamily="34" charset="-122"/>
              </a:rPr>
              <a:t>A</a:t>
            </a:r>
            <a:r>
              <a:rPr lang="zh-CN" altLang="en-US" sz="2000" kern="0" dirty="0">
                <a:solidFill>
                  <a:prstClr val="black"/>
                </a:solidFill>
                <a:latin typeface="微软雅黑" panose="020B0503020204020204" pitchFamily="34" charset="-122"/>
                <a:ea typeface="微软雅黑" panose="020B0503020204020204" pitchFamily="34" charset="-122"/>
              </a:rPr>
              <a:t>和</a:t>
            </a:r>
            <a:r>
              <a:rPr lang="en-US" altLang="zh-CN" sz="2000" kern="0" dirty="0">
                <a:solidFill>
                  <a:prstClr val="black"/>
                </a:solidFill>
                <a:latin typeface="微软雅黑" panose="020B0503020204020204" pitchFamily="34" charset="-122"/>
                <a:ea typeface="微软雅黑" panose="020B0503020204020204" pitchFamily="34" charset="-122"/>
              </a:rPr>
              <a:t>B</a:t>
            </a:r>
            <a:r>
              <a:rPr lang="zh-CN" altLang="en-US" sz="2000" kern="0" dirty="0">
                <a:solidFill>
                  <a:prstClr val="black"/>
                </a:solidFill>
                <a:latin typeface="微软雅黑" panose="020B0503020204020204" pitchFamily="34" charset="-122"/>
                <a:ea typeface="微软雅黑" panose="020B0503020204020204" pitchFamily="34" charset="-122"/>
              </a:rPr>
              <a:t>的报文分组按需共享带宽，称为</a:t>
            </a:r>
            <a:r>
              <a:rPr lang="zh-CN" altLang="en-US" sz="2000" kern="0" dirty="0">
                <a:solidFill>
                  <a:srgbClr val="C00000"/>
                </a:solidFill>
                <a:latin typeface="微软雅黑" panose="020B0503020204020204" pitchFamily="34" charset="-122"/>
                <a:ea typeface="微软雅黑" panose="020B0503020204020204" pitchFamily="34" charset="-122"/>
              </a:rPr>
              <a:t>统计多路复用</a:t>
            </a:r>
            <a:r>
              <a:rPr lang="zh-CN" altLang="en-US" sz="2000" kern="0" dirty="0">
                <a:latin typeface="微软雅黑" panose="020B0503020204020204" pitchFamily="34" charset="-122"/>
                <a:ea typeface="微软雅黑" panose="020B0503020204020204" pitchFamily="34" charset="-122"/>
              </a:rPr>
              <a:t>（</a:t>
            </a:r>
            <a:r>
              <a:rPr lang="en-US" altLang="zh-CN" sz="2000" kern="0" dirty="0">
                <a:latin typeface="微软雅黑" panose="020B0503020204020204" pitchFamily="34" charset="-122"/>
                <a:ea typeface="微软雅黑" panose="020B0503020204020204" pitchFamily="34" charset="-122"/>
                <a:sym typeface="Monotype Sorts" pitchFamily="2" charset="2"/>
              </a:rPr>
              <a:t>statistical multiplexing</a:t>
            </a:r>
            <a:r>
              <a:rPr lang="zh-CN" altLang="en-US" sz="2000" kern="0" dirty="0">
                <a:latin typeface="微软雅黑" panose="020B0503020204020204" pitchFamily="34" charset="-122"/>
                <a:ea typeface="微软雅黑" panose="020B0503020204020204" pitchFamily="34" charset="-122"/>
                <a:sym typeface="Monotype Sorts" pitchFamily="2" charset="2"/>
              </a:rPr>
              <a:t>）</a:t>
            </a:r>
            <a:endParaRPr lang="en-US" altLang="zh-CN" sz="2000" kern="0" dirty="0">
              <a:latin typeface="微软雅黑" panose="020B0503020204020204" pitchFamily="34" charset="-122"/>
              <a:ea typeface="微软雅黑" panose="020B0503020204020204" pitchFamily="34" charset="-122"/>
              <a:sym typeface="Monotype Sorts" pitchFamily="2" charset="2"/>
            </a:endParaRPr>
          </a:p>
        </p:txBody>
      </p:sp>
      <p:graphicFrame>
        <p:nvGraphicFramePr>
          <p:cNvPr id="19" name="Object 27"/>
          <p:cNvGraphicFramePr>
            <a:graphicFrameLocks noChangeAspect="1"/>
          </p:cNvGraphicFramePr>
          <p:nvPr/>
        </p:nvGraphicFramePr>
        <p:xfrm>
          <a:off x="10646389" y="2960675"/>
          <a:ext cx="708025" cy="582613"/>
        </p:xfrm>
        <a:graphic>
          <a:graphicData uri="http://schemas.openxmlformats.org/presentationml/2006/ole">
            <mc:AlternateContent xmlns:mc="http://schemas.openxmlformats.org/markup-compatibility/2006">
              <mc:Choice xmlns:v="urn:schemas-microsoft-com:vml" Requires="v">
                <p:oleObj spid="_x0000_s3078" name="Clip" r:id="rId8" imgW="1307465" imgH="1083945" progId="MS_ClipArt_Gallery.2">
                  <p:embed/>
                </p:oleObj>
              </mc:Choice>
              <mc:Fallback>
                <p:oleObj name="Clip" r:id="rId8" imgW="1307465" imgH="1083945" progId="MS_ClipArt_Gallery.2">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46389" y="2960675"/>
                        <a:ext cx="708025"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99" name="文本框 98"/>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00" name="矩形 99"/>
          <p:cNvSpPr/>
          <p:nvPr/>
        </p:nvSpPr>
        <p:spPr>
          <a:xfrm>
            <a:off x="4053851" y="6497121"/>
            <a:ext cx="3262432"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计算机网络</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，徐敬东等</a:t>
            </a:r>
            <a:endParaRPr lang="zh-CN" altLang="en-US" sz="1600" dirty="0">
              <a:solidFill>
                <a:schemeClr val="bg1">
                  <a:lumMod val="65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a:spLocks noChangeArrowheads="1"/>
          </p:cNvSpPr>
          <p:nvPr/>
        </p:nvSpPr>
        <p:spPr bwMode="auto">
          <a:xfrm>
            <a:off x="8866608" y="1704250"/>
            <a:ext cx="2925801" cy="10779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p>
            <a:r>
              <a:rPr kumimoji="1" lang="zh-CN" altLang="en-US" sz="2135" dirty="0">
                <a:latin typeface="微软雅黑" panose="020B0503020204020204" pitchFamily="34" charset="-122"/>
                <a:ea typeface="微软雅黑" panose="020B0503020204020204" pitchFamily="34" charset="-122"/>
              </a:rPr>
              <a:t>红色或蓝色等不同分组</a:t>
            </a:r>
            <a:endParaRPr kumimoji="1" lang="en-US" altLang="zh-CN" sz="2135" dirty="0">
              <a:latin typeface="微软雅黑" panose="020B0503020204020204" pitchFamily="34" charset="-122"/>
              <a:ea typeface="微软雅黑" panose="020B0503020204020204" pitchFamily="34" charset="-122"/>
            </a:endParaRPr>
          </a:p>
          <a:p>
            <a:r>
              <a:rPr kumimoji="1" lang="zh-CN" altLang="en-US" sz="2135" dirty="0">
                <a:latin typeface="微软雅黑" panose="020B0503020204020204" pitchFamily="34" charset="-122"/>
                <a:ea typeface="微软雅黑" panose="020B0503020204020204" pitchFamily="34" charset="-122"/>
              </a:rPr>
              <a:t>可以共享使用同一节点</a:t>
            </a:r>
            <a:br>
              <a:rPr kumimoji="1" lang="en-US" altLang="zh-CN" sz="2135" dirty="0">
                <a:latin typeface="微软雅黑" panose="020B0503020204020204" pitchFamily="34" charset="-122"/>
                <a:ea typeface="微软雅黑" panose="020B0503020204020204" pitchFamily="34" charset="-122"/>
              </a:rPr>
            </a:br>
            <a:r>
              <a:rPr kumimoji="1" lang="zh-CN" altLang="en-US" sz="2135" dirty="0">
                <a:latin typeface="微软雅黑" panose="020B0503020204020204" pitchFamily="34" charset="-122"/>
                <a:ea typeface="微软雅黑" panose="020B0503020204020204" pitchFamily="34" charset="-122"/>
              </a:rPr>
              <a:t>或链路</a:t>
            </a:r>
            <a:endParaRPr kumimoji="1" lang="zh-CN" altLang="en-US" sz="2135" dirty="0">
              <a:latin typeface="微软雅黑" panose="020B0503020204020204" pitchFamily="34" charset="-122"/>
              <a:ea typeface="微软雅黑" panose="020B0503020204020204" pitchFamily="34" charset="-122"/>
            </a:endParaRPr>
          </a:p>
        </p:txBody>
      </p:sp>
      <p:sp>
        <p:nvSpPr>
          <p:cNvPr id="6" name="Text Box 98"/>
          <p:cNvSpPr txBox="1">
            <a:spLocks noChangeArrowheads="1"/>
          </p:cNvSpPr>
          <p:nvPr/>
        </p:nvSpPr>
        <p:spPr bwMode="auto">
          <a:xfrm>
            <a:off x="1333819" y="4391601"/>
            <a:ext cx="2473754" cy="420884"/>
          </a:xfrm>
          <a:prstGeom prst="rect">
            <a:avLst/>
          </a:prstGeom>
          <a:solidFill>
            <a:schemeClr val="bg1"/>
          </a:solidFill>
          <a:ln w="19050">
            <a:solidFill>
              <a:srgbClr val="368AD6"/>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135" b="1" dirty="0">
                <a:solidFill>
                  <a:srgbClr val="FF0000"/>
                </a:solidFill>
                <a:latin typeface="微软雅黑" panose="020B0503020204020204" pitchFamily="34" charset="-122"/>
                <a:ea typeface="微软雅黑" panose="020B0503020204020204" pitchFamily="34" charset="-122"/>
              </a:rPr>
              <a:t>H</a:t>
            </a:r>
            <a:r>
              <a:rPr kumimoji="1" lang="en-US" altLang="zh-CN" sz="2135" b="1" baseline="-25000" dirty="0">
                <a:solidFill>
                  <a:srgbClr val="FF0000"/>
                </a:solidFill>
                <a:latin typeface="微软雅黑" panose="020B0503020204020204" pitchFamily="34" charset="-122"/>
                <a:ea typeface="微软雅黑" panose="020B0503020204020204" pitchFamily="34" charset="-122"/>
              </a:rPr>
              <a:t>1</a:t>
            </a:r>
            <a:r>
              <a:rPr kumimoji="1" lang="en-US" altLang="zh-CN" sz="2135" b="1" dirty="0">
                <a:solidFill>
                  <a:srgbClr val="FF0000"/>
                </a:solidFill>
                <a:latin typeface="微软雅黑" panose="020B0503020204020204" pitchFamily="34" charset="-122"/>
                <a:ea typeface="微软雅黑" panose="020B0503020204020204" pitchFamily="34" charset="-122"/>
              </a:rPr>
              <a:t> </a:t>
            </a:r>
            <a:r>
              <a:rPr kumimoji="1" lang="zh-CN" altLang="en-US" sz="2135" b="1" dirty="0">
                <a:solidFill>
                  <a:srgbClr val="FF0000"/>
                </a:solidFill>
                <a:latin typeface="微软雅黑" panose="020B0503020204020204" pitchFamily="34" charset="-122"/>
                <a:ea typeface="微软雅黑" panose="020B0503020204020204" pitchFamily="34" charset="-122"/>
              </a:rPr>
              <a:t>向 </a:t>
            </a:r>
            <a:r>
              <a:rPr kumimoji="1" lang="en-US" altLang="zh-CN" sz="2135" b="1" dirty="0">
                <a:solidFill>
                  <a:srgbClr val="FF0000"/>
                </a:solidFill>
                <a:latin typeface="微软雅黑" panose="020B0503020204020204" pitchFamily="34" charset="-122"/>
                <a:ea typeface="微软雅黑" panose="020B0503020204020204" pitchFamily="34" charset="-122"/>
              </a:rPr>
              <a:t>H</a:t>
            </a:r>
            <a:r>
              <a:rPr kumimoji="1" lang="en-US" altLang="zh-CN" sz="2135" b="1" baseline="-25000" dirty="0">
                <a:solidFill>
                  <a:srgbClr val="FF0000"/>
                </a:solidFill>
                <a:latin typeface="微软雅黑" panose="020B0503020204020204" pitchFamily="34" charset="-122"/>
                <a:ea typeface="微软雅黑" panose="020B0503020204020204" pitchFamily="34" charset="-122"/>
              </a:rPr>
              <a:t>5</a:t>
            </a:r>
            <a:r>
              <a:rPr kumimoji="1" lang="en-US" altLang="zh-CN" sz="2135" b="1" dirty="0">
                <a:solidFill>
                  <a:srgbClr val="FF0000"/>
                </a:solidFill>
                <a:latin typeface="微软雅黑" panose="020B0503020204020204" pitchFamily="34" charset="-122"/>
                <a:ea typeface="微软雅黑" panose="020B0503020204020204" pitchFamily="34" charset="-122"/>
              </a:rPr>
              <a:t> </a:t>
            </a:r>
            <a:r>
              <a:rPr kumimoji="1" lang="zh-CN" altLang="en-US" sz="2135" b="1" dirty="0">
                <a:solidFill>
                  <a:srgbClr val="FF0000"/>
                </a:solidFill>
                <a:latin typeface="微软雅黑" panose="020B0503020204020204" pitchFamily="34" charset="-122"/>
                <a:ea typeface="微软雅黑" panose="020B0503020204020204" pitchFamily="34" charset="-122"/>
              </a:rPr>
              <a:t>发送分组</a:t>
            </a:r>
            <a:endParaRPr kumimoji="1" lang="en-US" altLang="zh-CN" sz="2135" b="1" dirty="0">
              <a:solidFill>
                <a:srgbClr val="FF0000"/>
              </a:solidFill>
              <a:latin typeface="微软雅黑" panose="020B0503020204020204" pitchFamily="34" charset="-122"/>
              <a:ea typeface="微软雅黑" panose="020B0503020204020204" pitchFamily="34" charset="-122"/>
            </a:endParaRPr>
          </a:p>
        </p:txBody>
      </p:sp>
      <p:sp>
        <p:nvSpPr>
          <p:cNvPr id="7" name="Text Box 99"/>
          <p:cNvSpPr txBox="1">
            <a:spLocks noChangeArrowheads="1"/>
          </p:cNvSpPr>
          <p:nvPr/>
        </p:nvSpPr>
        <p:spPr bwMode="auto">
          <a:xfrm>
            <a:off x="9139776" y="4275667"/>
            <a:ext cx="2473754" cy="420884"/>
          </a:xfrm>
          <a:prstGeom prst="rect">
            <a:avLst/>
          </a:prstGeom>
          <a:solidFill>
            <a:schemeClr val="bg1"/>
          </a:solidFill>
          <a:ln w="19050">
            <a:solidFill>
              <a:srgbClr val="339933"/>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135" b="1" dirty="0">
                <a:solidFill>
                  <a:srgbClr val="000DFF"/>
                </a:solidFill>
                <a:latin typeface="微软雅黑" panose="020B0503020204020204" pitchFamily="34" charset="-122"/>
                <a:ea typeface="微软雅黑" panose="020B0503020204020204" pitchFamily="34" charset="-122"/>
              </a:rPr>
              <a:t>H</a:t>
            </a:r>
            <a:r>
              <a:rPr kumimoji="1" lang="en-US" altLang="zh-CN" sz="2135" b="1" baseline="-25000" dirty="0">
                <a:solidFill>
                  <a:srgbClr val="000DFF"/>
                </a:solidFill>
                <a:latin typeface="微软雅黑" panose="020B0503020204020204" pitchFamily="34" charset="-122"/>
                <a:ea typeface="微软雅黑" panose="020B0503020204020204" pitchFamily="34" charset="-122"/>
              </a:rPr>
              <a:t>2</a:t>
            </a:r>
            <a:r>
              <a:rPr kumimoji="1" lang="en-US" altLang="zh-CN" sz="2135" b="1" dirty="0">
                <a:solidFill>
                  <a:srgbClr val="000DFF"/>
                </a:solidFill>
                <a:latin typeface="微软雅黑" panose="020B0503020204020204" pitchFamily="34" charset="-122"/>
                <a:ea typeface="微软雅黑" panose="020B0503020204020204" pitchFamily="34" charset="-122"/>
              </a:rPr>
              <a:t> </a:t>
            </a:r>
            <a:r>
              <a:rPr kumimoji="1" lang="zh-CN" altLang="en-US" sz="2135" b="1" dirty="0">
                <a:solidFill>
                  <a:srgbClr val="000DFF"/>
                </a:solidFill>
                <a:latin typeface="微软雅黑" panose="020B0503020204020204" pitchFamily="34" charset="-122"/>
                <a:ea typeface="微软雅黑" panose="020B0503020204020204" pitchFamily="34" charset="-122"/>
              </a:rPr>
              <a:t>向 </a:t>
            </a:r>
            <a:r>
              <a:rPr kumimoji="1" lang="en-US" altLang="zh-CN" sz="2135" b="1" dirty="0">
                <a:solidFill>
                  <a:srgbClr val="000DFF"/>
                </a:solidFill>
                <a:latin typeface="微软雅黑" panose="020B0503020204020204" pitchFamily="34" charset="-122"/>
                <a:ea typeface="微软雅黑" panose="020B0503020204020204" pitchFamily="34" charset="-122"/>
              </a:rPr>
              <a:t>H</a:t>
            </a:r>
            <a:r>
              <a:rPr kumimoji="1" lang="en-US" altLang="zh-CN" sz="2135" b="1" baseline="-25000" dirty="0">
                <a:solidFill>
                  <a:srgbClr val="000DFF"/>
                </a:solidFill>
                <a:latin typeface="微软雅黑" panose="020B0503020204020204" pitchFamily="34" charset="-122"/>
                <a:ea typeface="微软雅黑" panose="020B0503020204020204" pitchFamily="34" charset="-122"/>
              </a:rPr>
              <a:t>6</a:t>
            </a:r>
            <a:r>
              <a:rPr kumimoji="1" lang="en-US" altLang="zh-CN" sz="2135" b="1" dirty="0">
                <a:solidFill>
                  <a:srgbClr val="000DFF"/>
                </a:solidFill>
                <a:latin typeface="微软雅黑" panose="020B0503020204020204" pitchFamily="34" charset="-122"/>
                <a:ea typeface="微软雅黑" panose="020B0503020204020204" pitchFamily="34" charset="-122"/>
              </a:rPr>
              <a:t> </a:t>
            </a:r>
            <a:r>
              <a:rPr kumimoji="1" lang="zh-CN" altLang="en-US" sz="2135" b="1" dirty="0">
                <a:solidFill>
                  <a:srgbClr val="000DFF"/>
                </a:solidFill>
                <a:latin typeface="微软雅黑" panose="020B0503020204020204" pitchFamily="34" charset="-122"/>
                <a:ea typeface="微软雅黑" panose="020B0503020204020204" pitchFamily="34" charset="-122"/>
              </a:rPr>
              <a:t>发送分组</a:t>
            </a:r>
            <a:endParaRPr kumimoji="1" lang="zh-CN" altLang="en-US" sz="2135" b="1" dirty="0">
              <a:solidFill>
                <a:srgbClr val="000DFF"/>
              </a:solidFill>
              <a:latin typeface="微软雅黑" panose="020B0503020204020204" pitchFamily="34" charset="-122"/>
              <a:ea typeface="微软雅黑" panose="020B0503020204020204" pitchFamily="34" charset="-122"/>
            </a:endParaRPr>
          </a:p>
        </p:txBody>
      </p:sp>
      <p:pic>
        <p:nvPicPr>
          <p:cNvPr id="76810" name="Picture 246" descr="jisuanji"/>
          <p:cNvPicPr>
            <a:picLocks noChangeAspect="1" noChangeArrowheads="1"/>
          </p:cNvPicPr>
          <p:nvPr/>
        </p:nvPicPr>
        <p:blipFill>
          <a:blip r:embed="rId1"/>
          <a:srcRect/>
          <a:stretch>
            <a:fillRect/>
          </a:stretch>
        </p:blipFill>
        <p:spPr bwMode="auto">
          <a:xfrm>
            <a:off x="3917951" y="1813984"/>
            <a:ext cx="537633" cy="53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4"/>
          <p:cNvGrpSpPr/>
          <p:nvPr/>
        </p:nvGrpSpPr>
        <p:grpSpPr bwMode="auto">
          <a:xfrm>
            <a:off x="4024872" y="2130576"/>
            <a:ext cx="3533447" cy="2923708"/>
            <a:chOff x="2256" y="2386"/>
            <a:chExt cx="2147" cy="1919"/>
          </a:xfrm>
          <a:solidFill>
            <a:schemeClr val="bg1"/>
          </a:solidFill>
        </p:grpSpPr>
        <p:sp>
          <p:nvSpPr>
            <p:cNvPr id="11" name="Oval 5"/>
            <p:cNvSpPr>
              <a:spLocks noChangeArrowheads="1"/>
            </p:cNvSpPr>
            <p:nvPr/>
          </p:nvSpPr>
          <p:spPr bwMode="auto">
            <a:xfrm rot="-1674972">
              <a:off x="2346" y="2526"/>
              <a:ext cx="1015" cy="69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sp>
          <p:nvSpPr>
            <p:cNvPr id="12" name="Oval 6"/>
            <p:cNvSpPr>
              <a:spLocks noChangeArrowheads="1"/>
            </p:cNvSpPr>
            <p:nvPr/>
          </p:nvSpPr>
          <p:spPr bwMode="auto">
            <a:xfrm rot="-774972">
              <a:off x="3025" y="2386"/>
              <a:ext cx="887" cy="64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sp>
          <p:nvSpPr>
            <p:cNvPr id="13" name="Oval 7"/>
            <p:cNvSpPr>
              <a:spLocks noChangeArrowheads="1"/>
            </p:cNvSpPr>
            <p:nvPr/>
          </p:nvSpPr>
          <p:spPr bwMode="auto">
            <a:xfrm rot="-174972">
              <a:off x="3673" y="2621"/>
              <a:ext cx="655" cy="83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sp>
          <p:nvSpPr>
            <p:cNvPr id="14" name="Oval 8"/>
            <p:cNvSpPr>
              <a:spLocks noChangeArrowheads="1"/>
            </p:cNvSpPr>
            <p:nvPr/>
          </p:nvSpPr>
          <p:spPr bwMode="auto">
            <a:xfrm rot="18365028">
              <a:off x="3754" y="3108"/>
              <a:ext cx="687" cy="610"/>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sp>
          <p:nvSpPr>
            <p:cNvPr id="15" name="Oval 9"/>
            <p:cNvSpPr>
              <a:spLocks noChangeArrowheads="1"/>
            </p:cNvSpPr>
            <p:nvPr/>
          </p:nvSpPr>
          <p:spPr bwMode="auto">
            <a:xfrm rot="-1674972">
              <a:off x="3052" y="3445"/>
              <a:ext cx="1110" cy="77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sp>
          <p:nvSpPr>
            <p:cNvPr id="16" name="Oval 10"/>
            <p:cNvSpPr>
              <a:spLocks noChangeArrowheads="1"/>
            </p:cNvSpPr>
            <p:nvPr/>
          </p:nvSpPr>
          <p:spPr bwMode="auto">
            <a:xfrm rot="-594972">
              <a:off x="2616" y="3772"/>
              <a:ext cx="793" cy="533"/>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sp>
          <p:nvSpPr>
            <p:cNvPr id="17" name="Oval 11"/>
            <p:cNvSpPr>
              <a:spLocks noChangeArrowheads="1"/>
            </p:cNvSpPr>
            <p:nvPr/>
          </p:nvSpPr>
          <p:spPr bwMode="auto">
            <a:xfrm rot="-1674972">
              <a:off x="2311" y="3539"/>
              <a:ext cx="503" cy="631"/>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sp>
          <p:nvSpPr>
            <p:cNvPr id="18" name="Oval 12"/>
            <p:cNvSpPr>
              <a:spLocks noChangeArrowheads="1"/>
            </p:cNvSpPr>
            <p:nvPr/>
          </p:nvSpPr>
          <p:spPr bwMode="auto">
            <a:xfrm rot="18065028">
              <a:off x="2160" y="3115"/>
              <a:ext cx="695" cy="504"/>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sp>
          <p:nvSpPr>
            <p:cNvPr id="19" name="Freeform 13"/>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sz="2400" b="1">
                <a:solidFill>
                  <a:srgbClr val="000099"/>
                </a:solidFill>
              </a:endParaRPr>
            </a:p>
          </p:txBody>
        </p:sp>
      </p:grpSp>
      <p:sp>
        <p:nvSpPr>
          <p:cNvPr id="76812" name="Line 14"/>
          <p:cNvSpPr>
            <a:spLocks noChangeShapeType="1"/>
          </p:cNvSpPr>
          <p:nvPr/>
        </p:nvSpPr>
        <p:spPr bwMode="auto">
          <a:xfrm flipV="1">
            <a:off x="5060951" y="2360084"/>
            <a:ext cx="1104900" cy="44238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13" name="Line 15"/>
          <p:cNvSpPr>
            <a:spLocks noChangeShapeType="1"/>
          </p:cNvSpPr>
          <p:nvPr/>
        </p:nvSpPr>
        <p:spPr bwMode="auto">
          <a:xfrm>
            <a:off x="6303433" y="2419351"/>
            <a:ext cx="654051" cy="111548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14" name="Line 16"/>
          <p:cNvSpPr>
            <a:spLocks noChangeShapeType="1"/>
          </p:cNvSpPr>
          <p:nvPr/>
        </p:nvSpPr>
        <p:spPr bwMode="auto">
          <a:xfrm flipH="1">
            <a:off x="4406900" y="2876551"/>
            <a:ext cx="575733" cy="100118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15" name="Line 17"/>
          <p:cNvSpPr>
            <a:spLocks noChangeShapeType="1"/>
          </p:cNvSpPr>
          <p:nvPr/>
        </p:nvSpPr>
        <p:spPr bwMode="auto">
          <a:xfrm>
            <a:off x="4442884" y="4019551"/>
            <a:ext cx="1314449" cy="704849"/>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16" name="Line 18"/>
          <p:cNvSpPr>
            <a:spLocks noChangeShapeType="1"/>
          </p:cNvSpPr>
          <p:nvPr/>
        </p:nvSpPr>
        <p:spPr bwMode="auto">
          <a:xfrm flipV="1">
            <a:off x="5812367" y="3754967"/>
            <a:ext cx="1145117" cy="104140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17" name="Line 19"/>
          <p:cNvSpPr>
            <a:spLocks noChangeShapeType="1"/>
          </p:cNvSpPr>
          <p:nvPr/>
        </p:nvSpPr>
        <p:spPr bwMode="auto">
          <a:xfrm>
            <a:off x="5105400" y="2882900"/>
            <a:ext cx="1835151" cy="75353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18" name="Line 20"/>
          <p:cNvSpPr>
            <a:spLocks noChangeShapeType="1"/>
          </p:cNvSpPr>
          <p:nvPr/>
        </p:nvSpPr>
        <p:spPr bwMode="auto">
          <a:xfrm>
            <a:off x="5018617" y="2751667"/>
            <a:ext cx="863600" cy="197061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19" name="Line 21"/>
          <p:cNvSpPr>
            <a:spLocks noChangeShapeType="1"/>
          </p:cNvSpPr>
          <p:nvPr/>
        </p:nvSpPr>
        <p:spPr bwMode="auto">
          <a:xfrm flipH="1" flipV="1">
            <a:off x="5850467" y="4779433"/>
            <a:ext cx="588433" cy="541867"/>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20" name="Line 22"/>
          <p:cNvSpPr>
            <a:spLocks noChangeShapeType="1"/>
          </p:cNvSpPr>
          <p:nvPr/>
        </p:nvSpPr>
        <p:spPr bwMode="auto">
          <a:xfrm rot="-5400000">
            <a:off x="6538384" y="1638300"/>
            <a:ext cx="465667" cy="93133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21" name="Line 23"/>
          <p:cNvSpPr>
            <a:spLocks noChangeShapeType="1"/>
          </p:cNvSpPr>
          <p:nvPr/>
        </p:nvSpPr>
        <p:spPr bwMode="auto">
          <a:xfrm>
            <a:off x="7035800" y="3754967"/>
            <a:ext cx="973667" cy="100753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22" name="Line 24"/>
          <p:cNvSpPr>
            <a:spLocks noChangeShapeType="1"/>
          </p:cNvSpPr>
          <p:nvPr/>
        </p:nvSpPr>
        <p:spPr bwMode="auto">
          <a:xfrm>
            <a:off x="3429000" y="3302000"/>
            <a:ext cx="869951" cy="599017"/>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23" name="Line 25"/>
          <p:cNvSpPr>
            <a:spLocks noChangeShapeType="1"/>
          </p:cNvSpPr>
          <p:nvPr/>
        </p:nvSpPr>
        <p:spPr bwMode="auto">
          <a:xfrm rot="5400000" flipH="1">
            <a:off x="4329641" y="2109259"/>
            <a:ext cx="704851" cy="60113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24" name="Oval 31"/>
          <p:cNvSpPr>
            <a:spLocks noChangeArrowheads="1"/>
          </p:cNvSpPr>
          <p:nvPr/>
        </p:nvSpPr>
        <p:spPr bwMode="auto">
          <a:xfrm>
            <a:off x="4193117" y="3754967"/>
            <a:ext cx="393700" cy="366184"/>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b="1">
                <a:solidFill>
                  <a:schemeClr val="bg1"/>
                </a:solidFill>
                <a:latin typeface="Arial" panose="020B0604020202020204" pitchFamily="34" charset="0"/>
              </a:rPr>
              <a:t>A</a:t>
            </a:r>
            <a:endParaRPr lang="en-US" altLang="zh-CN" sz="2400" b="1">
              <a:solidFill>
                <a:schemeClr val="bg1"/>
              </a:solidFill>
              <a:latin typeface="Arial" panose="020B0604020202020204" pitchFamily="34" charset="0"/>
            </a:endParaRPr>
          </a:p>
        </p:txBody>
      </p:sp>
      <p:sp>
        <p:nvSpPr>
          <p:cNvPr id="76825" name="Line 39"/>
          <p:cNvSpPr>
            <a:spLocks noChangeShapeType="1"/>
          </p:cNvSpPr>
          <p:nvPr/>
        </p:nvSpPr>
        <p:spPr bwMode="auto">
          <a:xfrm flipV="1">
            <a:off x="7035800" y="3230033"/>
            <a:ext cx="1521884" cy="378884"/>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6826" name="Oval 80"/>
          <p:cNvSpPr>
            <a:spLocks noChangeArrowheads="1"/>
          </p:cNvSpPr>
          <p:nvPr/>
        </p:nvSpPr>
        <p:spPr bwMode="auto">
          <a:xfrm>
            <a:off x="4817533" y="2664884"/>
            <a:ext cx="395817" cy="366183"/>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b="1">
                <a:solidFill>
                  <a:schemeClr val="bg1"/>
                </a:solidFill>
                <a:latin typeface="Arial" panose="020B0604020202020204" pitchFamily="34" charset="0"/>
              </a:rPr>
              <a:t>B</a:t>
            </a:r>
            <a:endParaRPr lang="en-US" altLang="zh-CN" sz="2400" b="1">
              <a:solidFill>
                <a:schemeClr val="bg1"/>
              </a:solidFill>
              <a:latin typeface="Arial" panose="020B0604020202020204" pitchFamily="34" charset="0"/>
            </a:endParaRPr>
          </a:p>
        </p:txBody>
      </p:sp>
      <p:sp>
        <p:nvSpPr>
          <p:cNvPr id="76827" name="Oval 81"/>
          <p:cNvSpPr>
            <a:spLocks noChangeArrowheads="1"/>
          </p:cNvSpPr>
          <p:nvPr/>
        </p:nvSpPr>
        <p:spPr bwMode="auto">
          <a:xfrm>
            <a:off x="6045200" y="2178051"/>
            <a:ext cx="393700" cy="366183"/>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b="1">
                <a:solidFill>
                  <a:schemeClr val="bg1"/>
                </a:solidFill>
                <a:latin typeface="Arial" panose="020B0604020202020204" pitchFamily="34" charset="0"/>
              </a:rPr>
              <a:t>D</a:t>
            </a:r>
            <a:endParaRPr lang="en-US" altLang="zh-CN" sz="2400" b="1">
              <a:solidFill>
                <a:schemeClr val="bg1"/>
              </a:solidFill>
              <a:latin typeface="Arial" panose="020B0604020202020204" pitchFamily="34" charset="0"/>
            </a:endParaRPr>
          </a:p>
        </p:txBody>
      </p:sp>
      <p:sp>
        <p:nvSpPr>
          <p:cNvPr id="76828" name="Oval 82"/>
          <p:cNvSpPr>
            <a:spLocks noChangeArrowheads="1"/>
          </p:cNvSpPr>
          <p:nvPr/>
        </p:nvSpPr>
        <p:spPr bwMode="auto">
          <a:xfrm>
            <a:off x="6781800" y="3477684"/>
            <a:ext cx="395817" cy="36406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b="1">
                <a:solidFill>
                  <a:schemeClr val="bg1"/>
                </a:solidFill>
                <a:latin typeface="Arial" panose="020B0604020202020204" pitchFamily="34" charset="0"/>
              </a:rPr>
              <a:t>E</a:t>
            </a:r>
            <a:endParaRPr lang="en-US" altLang="zh-CN" sz="2400" b="1">
              <a:solidFill>
                <a:schemeClr val="bg1"/>
              </a:solidFill>
              <a:latin typeface="Arial" panose="020B0604020202020204" pitchFamily="34" charset="0"/>
            </a:endParaRPr>
          </a:p>
        </p:txBody>
      </p:sp>
      <p:sp>
        <p:nvSpPr>
          <p:cNvPr id="76829" name="Oval 83"/>
          <p:cNvSpPr>
            <a:spLocks noChangeArrowheads="1"/>
          </p:cNvSpPr>
          <p:nvPr/>
        </p:nvSpPr>
        <p:spPr bwMode="auto">
          <a:xfrm>
            <a:off x="5653617" y="4527551"/>
            <a:ext cx="393700" cy="366183"/>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b="1">
                <a:solidFill>
                  <a:schemeClr val="bg1"/>
                </a:solidFill>
                <a:latin typeface="Arial" panose="020B0604020202020204" pitchFamily="34" charset="0"/>
              </a:rPr>
              <a:t>C</a:t>
            </a:r>
            <a:endParaRPr lang="en-US" altLang="zh-CN" sz="2400" b="1">
              <a:solidFill>
                <a:schemeClr val="bg1"/>
              </a:solidFill>
              <a:latin typeface="Arial" panose="020B0604020202020204" pitchFamily="34" charset="0"/>
            </a:endParaRPr>
          </a:p>
        </p:txBody>
      </p:sp>
      <p:sp>
        <p:nvSpPr>
          <p:cNvPr id="76830" name="Line 106"/>
          <p:cNvSpPr>
            <a:spLocks noChangeShapeType="1"/>
          </p:cNvSpPr>
          <p:nvPr/>
        </p:nvSpPr>
        <p:spPr bwMode="auto">
          <a:xfrm flipH="1">
            <a:off x="5065184" y="2129367"/>
            <a:ext cx="177800" cy="510117"/>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6831" name="Line 107"/>
          <p:cNvSpPr>
            <a:spLocks noChangeShapeType="1"/>
          </p:cNvSpPr>
          <p:nvPr/>
        </p:nvSpPr>
        <p:spPr bwMode="auto">
          <a:xfrm>
            <a:off x="2353733" y="3302000"/>
            <a:ext cx="603251" cy="19051"/>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76832" name="Text Box 45"/>
          <p:cNvSpPr txBox="1">
            <a:spLocks noChangeArrowheads="1"/>
          </p:cNvSpPr>
          <p:nvPr/>
        </p:nvSpPr>
        <p:spPr bwMode="auto">
          <a:xfrm>
            <a:off x="4795309" y="1731433"/>
            <a:ext cx="895350"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865" b="1" dirty="0">
                <a:solidFill>
                  <a:srgbClr val="C00000"/>
                </a:solidFill>
                <a:latin typeface="微软雅黑" panose="020B0503020204020204" pitchFamily="34" charset="-122"/>
                <a:ea typeface="微软雅黑" panose="020B0503020204020204" pitchFamily="34" charset="-122"/>
              </a:rPr>
              <a:t>路由器</a:t>
            </a:r>
            <a:endParaRPr kumimoji="1" lang="zh-CN" altLang="en-US" sz="1865" b="1" dirty="0">
              <a:solidFill>
                <a:srgbClr val="C00000"/>
              </a:solidFill>
              <a:latin typeface="微软雅黑" panose="020B0503020204020204" pitchFamily="34" charset="-122"/>
              <a:ea typeface="微软雅黑" panose="020B0503020204020204" pitchFamily="34" charset="-122"/>
            </a:endParaRPr>
          </a:p>
        </p:txBody>
      </p:sp>
      <p:pic>
        <p:nvPicPr>
          <p:cNvPr id="76833" name="Picture 246" descr="jisuanji"/>
          <p:cNvPicPr>
            <a:picLocks noChangeAspect="1" noChangeArrowheads="1"/>
          </p:cNvPicPr>
          <p:nvPr/>
        </p:nvPicPr>
        <p:blipFill>
          <a:blip r:embed="rId1"/>
          <a:srcRect/>
          <a:stretch>
            <a:fillRect/>
          </a:stretch>
        </p:blipFill>
        <p:spPr bwMode="auto">
          <a:xfrm>
            <a:off x="7090833" y="1731433"/>
            <a:ext cx="537633" cy="53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4" name="Picture 246" descr="jisuanji"/>
          <p:cNvPicPr>
            <a:picLocks noChangeAspect="1" noChangeArrowheads="1"/>
          </p:cNvPicPr>
          <p:nvPr/>
        </p:nvPicPr>
        <p:blipFill>
          <a:blip r:embed="rId1" cstate="print"/>
          <a:srcRect/>
          <a:stretch>
            <a:fillRect/>
          </a:stretch>
        </p:blipFill>
        <p:spPr bwMode="auto">
          <a:xfrm>
            <a:off x="3016251" y="3071284"/>
            <a:ext cx="535516" cy="53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5" name="Picture 246" descr="jisuanji"/>
          <p:cNvPicPr>
            <a:picLocks noChangeAspect="1" noChangeArrowheads="1"/>
          </p:cNvPicPr>
          <p:nvPr/>
        </p:nvPicPr>
        <p:blipFill>
          <a:blip r:embed="rId1"/>
          <a:srcRect/>
          <a:stretch>
            <a:fillRect/>
          </a:stretch>
        </p:blipFill>
        <p:spPr bwMode="auto">
          <a:xfrm>
            <a:off x="7861300" y="4593167"/>
            <a:ext cx="537633" cy="53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6" name="Picture 246" descr="jisuanji"/>
          <p:cNvPicPr>
            <a:picLocks noChangeAspect="1" noChangeArrowheads="1"/>
          </p:cNvPicPr>
          <p:nvPr/>
        </p:nvPicPr>
        <p:blipFill>
          <a:blip r:embed="rId1"/>
          <a:srcRect/>
          <a:stretch>
            <a:fillRect/>
          </a:stretch>
        </p:blipFill>
        <p:spPr bwMode="auto">
          <a:xfrm>
            <a:off x="6239933" y="5143500"/>
            <a:ext cx="537633" cy="53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37" name="Text Box 27"/>
          <p:cNvSpPr txBox="1">
            <a:spLocks noChangeArrowheads="1"/>
          </p:cNvSpPr>
          <p:nvPr/>
        </p:nvSpPr>
        <p:spPr bwMode="auto">
          <a:xfrm>
            <a:off x="3516313" y="1864784"/>
            <a:ext cx="473075"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865" b="1">
                <a:latin typeface="微软雅黑" panose="020B0503020204020204" pitchFamily="34" charset="-122"/>
                <a:ea typeface="微软雅黑" panose="020B0503020204020204" pitchFamily="34" charset="-122"/>
              </a:rPr>
              <a:t>H</a:t>
            </a:r>
            <a:r>
              <a:rPr kumimoji="1" lang="en-US" altLang="zh-CN" sz="1865" b="1" baseline="-25000">
                <a:latin typeface="微软雅黑" panose="020B0503020204020204" pitchFamily="34" charset="-122"/>
                <a:ea typeface="微软雅黑" panose="020B0503020204020204" pitchFamily="34" charset="-122"/>
              </a:rPr>
              <a:t>2</a:t>
            </a:r>
            <a:endParaRPr kumimoji="1" lang="en-US" altLang="zh-CN" sz="1865" b="1" baseline="-25000">
              <a:latin typeface="微软雅黑" panose="020B0503020204020204" pitchFamily="34" charset="-122"/>
              <a:ea typeface="微软雅黑" panose="020B0503020204020204" pitchFamily="34" charset="-122"/>
            </a:endParaRPr>
          </a:p>
        </p:txBody>
      </p:sp>
      <p:sp>
        <p:nvSpPr>
          <p:cNvPr id="76838" name="Text Box 27"/>
          <p:cNvSpPr txBox="1">
            <a:spLocks noChangeArrowheads="1"/>
          </p:cNvSpPr>
          <p:nvPr/>
        </p:nvSpPr>
        <p:spPr bwMode="auto">
          <a:xfrm>
            <a:off x="7542213" y="1722967"/>
            <a:ext cx="473075"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865" b="1">
                <a:latin typeface="微软雅黑" panose="020B0503020204020204" pitchFamily="34" charset="-122"/>
                <a:ea typeface="微软雅黑" panose="020B0503020204020204" pitchFamily="34" charset="-122"/>
              </a:rPr>
              <a:t>H</a:t>
            </a:r>
            <a:r>
              <a:rPr kumimoji="1" lang="en-US" altLang="zh-CN" sz="1865" b="1" baseline="-25000">
                <a:latin typeface="微软雅黑" panose="020B0503020204020204" pitchFamily="34" charset="-122"/>
                <a:ea typeface="微软雅黑" panose="020B0503020204020204" pitchFamily="34" charset="-122"/>
              </a:rPr>
              <a:t>4</a:t>
            </a:r>
            <a:endParaRPr kumimoji="1" lang="en-US" altLang="zh-CN" sz="1865" b="1" baseline="-25000">
              <a:latin typeface="微软雅黑" panose="020B0503020204020204" pitchFamily="34" charset="-122"/>
              <a:ea typeface="微软雅黑" panose="020B0503020204020204" pitchFamily="34" charset="-122"/>
            </a:endParaRPr>
          </a:p>
        </p:txBody>
      </p:sp>
      <p:sp>
        <p:nvSpPr>
          <p:cNvPr id="76839" name="Text Box 27"/>
          <p:cNvSpPr txBox="1">
            <a:spLocks noChangeArrowheads="1"/>
          </p:cNvSpPr>
          <p:nvPr/>
        </p:nvSpPr>
        <p:spPr bwMode="auto">
          <a:xfrm>
            <a:off x="8763529" y="3111500"/>
            <a:ext cx="473075"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865" b="1">
                <a:latin typeface="微软雅黑" panose="020B0503020204020204" pitchFamily="34" charset="-122"/>
                <a:ea typeface="微软雅黑" panose="020B0503020204020204" pitchFamily="34" charset="-122"/>
              </a:rPr>
              <a:t>H</a:t>
            </a:r>
            <a:r>
              <a:rPr kumimoji="1" lang="en-US" altLang="zh-CN" sz="1865" b="1" baseline="-25000">
                <a:latin typeface="微软雅黑" panose="020B0503020204020204" pitchFamily="34" charset="-122"/>
                <a:ea typeface="微软雅黑" panose="020B0503020204020204" pitchFamily="34" charset="-122"/>
              </a:rPr>
              <a:t>6</a:t>
            </a:r>
            <a:endParaRPr kumimoji="1" lang="en-US" altLang="zh-CN" sz="1865" b="1" baseline="-25000">
              <a:latin typeface="微软雅黑" panose="020B0503020204020204" pitchFamily="34" charset="-122"/>
              <a:ea typeface="微软雅黑" panose="020B0503020204020204" pitchFamily="34" charset="-122"/>
            </a:endParaRPr>
          </a:p>
        </p:txBody>
      </p:sp>
      <p:sp>
        <p:nvSpPr>
          <p:cNvPr id="76840" name="Text Box 27"/>
          <p:cNvSpPr txBox="1">
            <a:spLocks noChangeArrowheads="1"/>
          </p:cNvSpPr>
          <p:nvPr/>
        </p:nvSpPr>
        <p:spPr bwMode="auto">
          <a:xfrm>
            <a:off x="8350780" y="4669367"/>
            <a:ext cx="473075"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865" b="1">
                <a:latin typeface="微软雅黑" panose="020B0503020204020204" pitchFamily="34" charset="-122"/>
                <a:ea typeface="微软雅黑" panose="020B0503020204020204" pitchFamily="34" charset="-122"/>
              </a:rPr>
              <a:t>H</a:t>
            </a:r>
            <a:r>
              <a:rPr kumimoji="1" lang="en-US" altLang="zh-CN" sz="1865" b="1" baseline="-25000">
                <a:latin typeface="微软雅黑" panose="020B0503020204020204" pitchFamily="34" charset="-122"/>
                <a:ea typeface="微软雅黑" panose="020B0503020204020204" pitchFamily="34" charset="-122"/>
              </a:rPr>
              <a:t>5</a:t>
            </a:r>
            <a:endParaRPr kumimoji="1" lang="en-US" altLang="zh-CN" sz="1865" b="1" baseline="-25000">
              <a:latin typeface="微软雅黑" panose="020B0503020204020204" pitchFamily="34" charset="-122"/>
              <a:ea typeface="微软雅黑" panose="020B0503020204020204" pitchFamily="34" charset="-122"/>
            </a:endParaRPr>
          </a:p>
        </p:txBody>
      </p:sp>
      <p:sp>
        <p:nvSpPr>
          <p:cNvPr id="76841" name="Text Box 27"/>
          <p:cNvSpPr txBox="1">
            <a:spLocks noChangeArrowheads="1"/>
          </p:cNvSpPr>
          <p:nvPr/>
        </p:nvSpPr>
        <p:spPr bwMode="auto">
          <a:xfrm>
            <a:off x="6729413" y="5173133"/>
            <a:ext cx="473075"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865" b="1">
                <a:latin typeface="微软雅黑" panose="020B0503020204020204" pitchFamily="34" charset="-122"/>
                <a:ea typeface="微软雅黑" panose="020B0503020204020204" pitchFamily="34" charset="-122"/>
              </a:rPr>
              <a:t>H</a:t>
            </a:r>
            <a:r>
              <a:rPr kumimoji="1" lang="en-US" altLang="zh-CN" sz="1865" b="1" baseline="-25000">
                <a:latin typeface="微软雅黑" panose="020B0503020204020204" pitchFamily="34" charset="-122"/>
                <a:ea typeface="微软雅黑" panose="020B0503020204020204" pitchFamily="34" charset="-122"/>
              </a:rPr>
              <a:t>3</a:t>
            </a:r>
            <a:endParaRPr kumimoji="1" lang="en-US" altLang="zh-CN" sz="1865" b="1" baseline="-25000">
              <a:latin typeface="微软雅黑" panose="020B0503020204020204" pitchFamily="34" charset="-122"/>
              <a:ea typeface="微软雅黑" panose="020B0503020204020204" pitchFamily="34" charset="-122"/>
            </a:endParaRPr>
          </a:p>
        </p:txBody>
      </p:sp>
      <p:sp>
        <p:nvSpPr>
          <p:cNvPr id="76842" name="Text Box 27"/>
          <p:cNvSpPr txBox="1">
            <a:spLocks noChangeArrowheads="1"/>
          </p:cNvSpPr>
          <p:nvPr/>
        </p:nvSpPr>
        <p:spPr bwMode="auto">
          <a:xfrm>
            <a:off x="3045354" y="2732617"/>
            <a:ext cx="473075"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865" b="1">
                <a:latin typeface="微软雅黑" panose="020B0503020204020204" pitchFamily="34" charset="-122"/>
                <a:ea typeface="微软雅黑" panose="020B0503020204020204" pitchFamily="34" charset="-122"/>
              </a:rPr>
              <a:t>H</a:t>
            </a:r>
            <a:r>
              <a:rPr kumimoji="1" lang="en-US" altLang="zh-CN" sz="1865" b="1" baseline="-25000">
                <a:latin typeface="微软雅黑" panose="020B0503020204020204" pitchFamily="34" charset="-122"/>
                <a:ea typeface="微软雅黑" panose="020B0503020204020204" pitchFamily="34" charset="-122"/>
              </a:rPr>
              <a:t>1</a:t>
            </a:r>
            <a:endParaRPr kumimoji="1" lang="en-US" altLang="zh-CN" sz="1865" b="1" baseline="-25000">
              <a:latin typeface="微软雅黑" panose="020B0503020204020204" pitchFamily="34" charset="-122"/>
              <a:ea typeface="微软雅黑" panose="020B0503020204020204" pitchFamily="34" charset="-122"/>
            </a:endParaRPr>
          </a:p>
        </p:txBody>
      </p:sp>
      <p:sp>
        <p:nvSpPr>
          <p:cNvPr id="76843" name="Text Box 204"/>
          <p:cNvSpPr txBox="1">
            <a:spLocks noChangeArrowheads="1"/>
          </p:cNvSpPr>
          <p:nvPr/>
        </p:nvSpPr>
        <p:spPr bwMode="auto">
          <a:xfrm>
            <a:off x="5507567" y="3526367"/>
            <a:ext cx="895350"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865" b="1">
                <a:solidFill>
                  <a:srgbClr val="C00000"/>
                </a:solidFill>
                <a:latin typeface="微软雅黑" panose="020B0503020204020204" pitchFamily="34" charset="-122"/>
                <a:ea typeface="微软雅黑" panose="020B0503020204020204" pitchFamily="34" charset="-122"/>
              </a:rPr>
              <a:t>互联网</a:t>
            </a:r>
            <a:endParaRPr lang="zh-CN" altLang="en-US" sz="1865" b="1">
              <a:solidFill>
                <a:srgbClr val="C00000"/>
              </a:solidFill>
              <a:latin typeface="微软雅黑" panose="020B0503020204020204" pitchFamily="34" charset="-122"/>
              <a:ea typeface="微软雅黑" panose="020B0503020204020204" pitchFamily="34" charset="-122"/>
            </a:endParaRPr>
          </a:p>
        </p:txBody>
      </p:sp>
      <p:sp>
        <p:nvSpPr>
          <p:cNvPr id="76844" name="Text Box 45"/>
          <p:cNvSpPr txBox="1">
            <a:spLocks noChangeArrowheads="1"/>
          </p:cNvSpPr>
          <p:nvPr/>
        </p:nvSpPr>
        <p:spPr bwMode="auto">
          <a:xfrm>
            <a:off x="1710479" y="3086100"/>
            <a:ext cx="657860" cy="3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865" b="1">
                <a:solidFill>
                  <a:srgbClr val="C00000"/>
                </a:solidFill>
                <a:latin typeface="微软雅黑" panose="020B0503020204020204" pitchFamily="34" charset="-122"/>
                <a:ea typeface="微软雅黑" panose="020B0503020204020204" pitchFamily="34" charset="-122"/>
              </a:rPr>
              <a:t>主机</a:t>
            </a:r>
            <a:endParaRPr kumimoji="1" lang="zh-CN" altLang="en-US" sz="1865" b="1">
              <a:solidFill>
                <a:srgbClr val="C00000"/>
              </a:solidFill>
              <a:latin typeface="微软雅黑" panose="020B0503020204020204" pitchFamily="34" charset="-122"/>
              <a:ea typeface="微软雅黑" panose="020B0503020204020204" pitchFamily="34" charset="-122"/>
            </a:endParaRPr>
          </a:p>
        </p:txBody>
      </p:sp>
      <p:pic>
        <p:nvPicPr>
          <p:cNvPr id="76845" name="Picture 246" descr="jisuanji"/>
          <p:cNvPicPr>
            <a:picLocks noChangeAspect="1" noChangeArrowheads="1"/>
          </p:cNvPicPr>
          <p:nvPr/>
        </p:nvPicPr>
        <p:blipFill>
          <a:blip r:embed="rId1" cstate="print"/>
          <a:srcRect/>
          <a:stretch>
            <a:fillRect/>
          </a:stretch>
        </p:blipFill>
        <p:spPr bwMode="auto">
          <a:xfrm>
            <a:off x="8288867" y="3048000"/>
            <a:ext cx="537633" cy="535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96"/>
          <p:cNvSpPr>
            <a:spLocks noChangeArrowheads="1"/>
          </p:cNvSpPr>
          <p:nvPr/>
        </p:nvSpPr>
        <p:spPr bwMode="auto">
          <a:xfrm>
            <a:off x="4061884" y="1909233"/>
            <a:ext cx="245533" cy="226484"/>
          </a:xfrm>
          <a:prstGeom prst="rect">
            <a:avLst/>
          </a:prstGeom>
          <a:solidFill>
            <a:srgbClr val="000DFF"/>
          </a:solidFill>
          <a:ln>
            <a:solidFill>
              <a:srgbClr val="000DFF"/>
            </a:solidFill>
          </a:ln>
        </p:spPr>
        <p:txBody>
          <a:bodyPr wrap="none" anchor="ctr"/>
          <a:lstStyle/>
          <a:p>
            <a:pPr eaLnBrk="0" hangingPunct="0"/>
            <a:endParaRPr lang="zh-CN" altLang="en-US" sz="2400" b="1">
              <a:solidFill>
                <a:srgbClr val="00CC00"/>
              </a:solidFill>
              <a:latin typeface="Arial" panose="020B0604020202020204" pitchFamily="34" charset="0"/>
            </a:endParaRPr>
          </a:p>
        </p:txBody>
      </p:sp>
      <p:sp>
        <p:nvSpPr>
          <p:cNvPr id="54" name="Rectangle 96"/>
          <p:cNvSpPr>
            <a:spLocks noChangeArrowheads="1"/>
          </p:cNvSpPr>
          <p:nvPr/>
        </p:nvSpPr>
        <p:spPr bwMode="auto">
          <a:xfrm>
            <a:off x="3158067" y="3164417"/>
            <a:ext cx="245533" cy="2286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solidFill>
                <a:srgbClr val="00CC00"/>
              </a:solidFill>
              <a:latin typeface="Arial" panose="020B0604020202020204" pitchFamily="34" charset="0"/>
            </a:endParaRPr>
          </a:p>
        </p:txBody>
      </p:sp>
      <p:sp>
        <p:nvSpPr>
          <p:cNvPr id="2" name="文本框 1"/>
          <p:cNvSpPr txBox="1"/>
          <p:nvPr/>
        </p:nvSpPr>
        <p:spPr>
          <a:xfrm>
            <a:off x="5506392" y="2766925"/>
            <a:ext cx="1097280" cy="368300"/>
          </a:xfrm>
          <a:prstGeom prst="rect">
            <a:avLst/>
          </a:prstGeom>
          <a:noFill/>
        </p:spPr>
        <p:txBody>
          <a:bodyPr wrap="none" rtlCol="0" anchor="t">
            <a:spAutoFit/>
          </a:bodyPr>
          <a:lstStyle/>
          <a:p>
            <a:r>
              <a:rPr lang="zh-CN" altLang="en-US" dirty="0">
                <a:latin typeface="微软雅黑" panose="020B0503020204020204" pitchFamily="34" charset="-122"/>
                <a:ea typeface="微软雅黑" panose="020B0503020204020204" pitchFamily="34" charset="-122"/>
                <a:sym typeface="+mn-ea"/>
              </a:rPr>
              <a:t>分组交换</a:t>
            </a:r>
            <a:endParaRPr lang="zh-CN" altLang="en-US"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sym typeface="+mn-ea"/>
              </a:rPr>
              <a:t>分组交换</a:t>
            </a:r>
            <a:endParaRPr lang="zh-CN" altLang="en-US" dirty="0"/>
          </a:p>
        </p:txBody>
      </p:sp>
      <p:sp>
        <p:nvSpPr>
          <p:cNvPr id="5" name="文本框 4"/>
          <p:cNvSpPr txBox="1"/>
          <p:nvPr/>
        </p:nvSpPr>
        <p:spPr>
          <a:xfrm>
            <a:off x="4436152" y="5850890"/>
            <a:ext cx="3518912" cy="400110"/>
          </a:xfrm>
          <a:prstGeom prst="rect">
            <a:avLst/>
          </a:prstGeom>
          <a:noFill/>
        </p:spPr>
        <p:txBody>
          <a:bodyPr wrap="none" rtlCol="0" anchor="t">
            <a:spAutoFit/>
            <a:scene3d>
              <a:camera prst="orthographicFront"/>
              <a:lightRig rig="threePt" dir="t"/>
            </a:scene3d>
          </a:bodyPr>
          <a:lstStyle/>
          <a:p>
            <a:r>
              <a:rPr lang="zh-CN" altLang="en-US" sz="2000" dirty="0">
                <a:solidFill>
                  <a:schemeClr val="tx1"/>
                </a:solidFill>
                <a:effectLst>
                  <a:outerShdw blurRad="38100" dist="19050" dir="2700000" algn="tl" rotWithShape="0">
                    <a:schemeClr val="dk1">
                      <a:alpha val="40000"/>
                    </a:schemeClr>
                  </a:outerShdw>
                </a:effectLst>
                <a:ea typeface="微软雅黑" panose="020B0503020204020204" pitchFamily="34" charset="-122"/>
                <a:sym typeface="+mn-ea"/>
              </a:rPr>
              <a:t>分组交换网的路由转发示意图</a:t>
            </a:r>
            <a:endParaRPr lang="zh-CN" altLang="en-US" sz="2000" dirty="0">
              <a:solidFill>
                <a:schemeClr val="tx1"/>
              </a:solidFill>
              <a:effectLst>
                <a:outerShdw blurRad="38100" dist="19050" dir="2700000" algn="tl" rotWithShape="0">
                  <a:schemeClr val="dk1">
                    <a:alpha val="40000"/>
                  </a:schemeClr>
                </a:outerShdw>
              </a:effectLst>
              <a:ea typeface="微软雅黑" panose="020B0503020204020204" pitchFamily="34" charset="-122"/>
              <a:sym typeface="+mn-ea"/>
            </a:endParaRPr>
          </a:p>
        </p:txBody>
      </p:sp>
      <p:sp>
        <p:nvSpPr>
          <p:cNvPr id="9" name="矩形 8"/>
          <p:cNvSpPr/>
          <p:nvPr/>
        </p:nvSpPr>
        <p:spPr>
          <a:xfrm>
            <a:off x="1360896" y="4893734"/>
            <a:ext cx="2419600" cy="1406539"/>
          </a:xfrm>
          <a:prstGeom prst="rect">
            <a:avLst/>
          </a:prstGeom>
        </p:spPr>
        <p:txBody>
          <a:bodyPr wrap="square">
            <a:spAutoFit/>
          </a:bodyPr>
          <a:lstStyle/>
          <a:p>
            <a:pPr lvl="0" algn="ctr" eaLnBrk="0" hangingPunct="0"/>
            <a:r>
              <a:rPr kumimoji="1" lang="zh-CN" altLang="en-US" sz="2135" dirty="0">
                <a:solidFill>
                  <a:prstClr val="black"/>
                </a:solidFill>
                <a:latin typeface="微软雅黑" panose="020B0503020204020204" pitchFamily="34" charset="-122"/>
                <a:ea typeface="微软雅黑" panose="020B0503020204020204" pitchFamily="34" charset="-122"/>
              </a:rPr>
              <a:t>可能使用不同路径</a:t>
            </a:r>
            <a:endParaRPr kumimoji="1" lang="en-US" altLang="zh-CN" sz="2135" dirty="0">
              <a:solidFill>
                <a:prstClr val="black"/>
              </a:solidFill>
              <a:latin typeface="微软雅黑" panose="020B0503020204020204" pitchFamily="34" charset="-122"/>
              <a:ea typeface="微软雅黑" panose="020B0503020204020204" pitchFamily="34" charset="-122"/>
            </a:endParaRPr>
          </a:p>
          <a:p>
            <a:pPr lvl="0" algn="ctr" eaLnBrk="0" hangingPunct="0"/>
            <a:r>
              <a:rPr kumimoji="1" lang="en-US" altLang="zh-CN" sz="2135" dirty="0">
                <a:solidFill>
                  <a:prstClr val="black"/>
                </a:solidFill>
                <a:latin typeface="微软雅黑" panose="020B0503020204020204" pitchFamily="34" charset="-122"/>
                <a:ea typeface="微软雅黑" panose="020B0503020204020204" pitchFamily="34" charset="-122"/>
              </a:rPr>
              <a:t>H</a:t>
            </a:r>
            <a:r>
              <a:rPr kumimoji="1" lang="en-US" altLang="zh-CN" sz="2135" baseline="-25000" dirty="0">
                <a:solidFill>
                  <a:prstClr val="black"/>
                </a:solidFill>
                <a:latin typeface="微软雅黑" panose="020B0503020204020204" pitchFamily="34" charset="-122"/>
                <a:ea typeface="微软雅黑" panose="020B0503020204020204" pitchFamily="34" charset="-122"/>
              </a:rPr>
              <a:t>1</a:t>
            </a:r>
            <a:r>
              <a:rPr kumimoji="1" lang="en-US" altLang="zh-CN" sz="2135" dirty="0">
                <a:solidFill>
                  <a:prstClr val="black"/>
                </a:solidFill>
                <a:latin typeface="微软雅黑" panose="020B0503020204020204" pitchFamily="34" charset="-122"/>
                <a:ea typeface="微软雅黑" panose="020B0503020204020204" pitchFamily="34" charset="-122"/>
              </a:rPr>
              <a:t>-A-</a:t>
            </a:r>
            <a:r>
              <a:rPr kumimoji="1" lang="en-US" altLang="zh-CN" sz="2135" dirty="0">
                <a:solidFill>
                  <a:srgbClr val="C00000"/>
                </a:solidFill>
                <a:latin typeface="微软雅黑" panose="020B0503020204020204" pitchFamily="34" charset="-122"/>
                <a:ea typeface="微软雅黑" panose="020B0503020204020204" pitchFamily="34" charset="-122"/>
              </a:rPr>
              <a:t>C</a:t>
            </a:r>
            <a:r>
              <a:rPr kumimoji="1" lang="en-US" altLang="zh-CN" sz="2135" dirty="0">
                <a:solidFill>
                  <a:prstClr val="black"/>
                </a:solidFill>
                <a:latin typeface="微软雅黑" panose="020B0503020204020204" pitchFamily="34" charset="-122"/>
                <a:ea typeface="微软雅黑" panose="020B0503020204020204" pitchFamily="34" charset="-122"/>
              </a:rPr>
              <a:t>-E-H</a:t>
            </a:r>
            <a:r>
              <a:rPr kumimoji="1" lang="en-US" altLang="zh-CN" sz="2135" baseline="-25000" dirty="0">
                <a:solidFill>
                  <a:prstClr val="black"/>
                </a:solidFill>
                <a:latin typeface="微软雅黑" panose="020B0503020204020204" pitchFamily="34" charset="-122"/>
                <a:ea typeface="微软雅黑" panose="020B0503020204020204" pitchFamily="34" charset="-122"/>
              </a:rPr>
              <a:t>5</a:t>
            </a:r>
            <a:endParaRPr kumimoji="1" lang="en-US" altLang="zh-CN" sz="2135" baseline="-25000" dirty="0">
              <a:solidFill>
                <a:prstClr val="black"/>
              </a:solidFill>
              <a:latin typeface="微软雅黑" panose="020B0503020204020204" pitchFamily="34" charset="-122"/>
              <a:ea typeface="微软雅黑" panose="020B0503020204020204" pitchFamily="34" charset="-122"/>
            </a:endParaRPr>
          </a:p>
          <a:p>
            <a:pPr lvl="0" algn="ctr" eaLnBrk="0" hangingPunct="0"/>
            <a:r>
              <a:rPr kumimoji="1" lang="en-US" altLang="zh-CN" sz="2135" dirty="0">
                <a:solidFill>
                  <a:prstClr val="black"/>
                </a:solidFill>
                <a:latin typeface="微软雅黑" panose="020B0503020204020204" pitchFamily="34" charset="-122"/>
                <a:ea typeface="微软雅黑" panose="020B0503020204020204" pitchFamily="34" charset="-122"/>
              </a:rPr>
              <a:t>H</a:t>
            </a:r>
            <a:r>
              <a:rPr kumimoji="1" lang="en-US" altLang="zh-CN" sz="2135" baseline="-25000" dirty="0">
                <a:solidFill>
                  <a:prstClr val="black"/>
                </a:solidFill>
                <a:latin typeface="微软雅黑" panose="020B0503020204020204" pitchFamily="34" charset="-122"/>
                <a:ea typeface="微软雅黑" panose="020B0503020204020204" pitchFamily="34" charset="-122"/>
              </a:rPr>
              <a:t>1</a:t>
            </a:r>
            <a:r>
              <a:rPr kumimoji="1" lang="en-US" altLang="zh-CN" sz="2135" dirty="0">
                <a:solidFill>
                  <a:prstClr val="black"/>
                </a:solidFill>
                <a:latin typeface="微软雅黑" panose="020B0503020204020204" pitchFamily="34" charset="-122"/>
                <a:ea typeface="微软雅黑" panose="020B0503020204020204" pitchFamily="34" charset="-122"/>
              </a:rPr>
              <a:t>-A-</a:t>
            </a:r>
            <a:r>
              <a:rPr kumimoji="1" lang="en-US" altLang="zh-CN" sz="2135" dirty="0">
                <a:solidFill>
                  <a:srgbClr val="C00000"/>
                </a:solidFill>
                <a:latin typeface="微软雅黑" panose="020B0503020204020204" pitchFamily="34" charset="-122"/>
                <a:ea typeface="微软雅黑" panose="020B0503020204020204" pitchFamily="34" charset="-122"/>
              </a:rPr>
              <a:t>B</a:t>
            </a:r>
            <a:r>
              <a:rPr kumimoji="1" lang="en-US" altLang="zh-CN" sz="2135" dirty="0">
                <a:solidFill>
                  <a:prstClr val="black"/>
                </a:solidFill>
                <a:latin typeface="微软雅黑" panose="020B0503020204020204" pitchFamily="34" charset="-122"/>
                <a:ea typeface="微软雅黑" panose="020B0503020204020204" pitchFamily="34" charset="-122"/>
              </a:rPr>
              <a:t>-E-H</a:t>
            </a:r>
            <a:r>
              <a:rPr kumimoji="1" lang="en-US" altLang="zh-CN" sz="2135" baseline="-25000" dirty="0">
                <a:solidFill>
                  <a:prstClr val="black"/>
                </a:solidFill>
                <a:latin typeface="微软雅黑" panose="020B0503020204020204" pitchFamily="34" charset="-122"/>
                <a:ea typeface="微软雅黑" panose="020B0503020204020204" pitchFamily="34" charset="-122"/>
              </a:rPr>
              <a:t>5</a:t>
            </a:r>
            <a:endParaRPr kumimoji="1" lang="en-US" altLang="zh-CN" sz="2135" baseline="-25000" dirty="0">
              <a:solidFill>
                <a:prstClr val="black"/>
              </a:solidFill>
              <a:latin typeface="微软雅黑" panose="020B0503020204020204" pitchFamily="34" charset="-122"/>
              <a:ea typeface="微软雅黑" panose="020B0503020204020204" pitchFamily="34" charset="-122"/>
            </a:endParaRPr>
          </a:p>
          <a:p>
            <a:pPr lvl="0" algn="ctr" eaLnBrk="0" hangingPunct="0"/>
            <a:r>
              <a:rPr kumimoji="1" lang="en-US" altLang="zh-CN" sz="2135" dirty="0">
                <a:solidFill>
                  <a:prstClr val="black"/>
                </a:solidFill>
                <a:latin typeface="微软雅黑" panose="020B0503020204020204" pitchFamily="34" charset="-122"/>
                <a:ea typeface="微软雅黑" panose="020B0503020204020204" pitchFamily="34" charset="-122"/>
              </a:rPr>
              <a:t>……</a:t>
            </a:r>
            <a:endParaRPr kumimoji="1" lang="zh-CN" altLang="en-US" sz="2135" dirty="0">
              <a:solidFill>
                <a:prstClr val="black"/>
              </a:solidFill>
              <a:latin typeface="微软雅黑" panose="020B0503020204020204" pitchFamily="34" charset="-122"/>
              <a:ea typeface="微软雅黑" panose="020B0503020204020204" pitchFamily="34" charset="-122"/>
            </a:endParaRPr>
          </a:p>
        </p:txBody>
      </p:sp>
      <p:sp>
        <p:nvSpPr>
          <p:cNvPr id="57" name="矩形 56"/>
          <p:cNvSpPr/>
          <p:nvPr/>
        </p:nvSpPr>
        <p:spPr>
          <a:xfrm>
            <a:off x="9153938" y="4762500"/>
            <a:ext cx="2419600" cy="1077987"/>
          </a:xfrm>
          <a:prstGeom prst="rect">
            <a:avLst/>
          </a:prstGeom>
        </p:spPr>
        <p:txBody>
          <a:bodyPr wrap="square">
            <a:spAutoFit/>
          </a:bodyPr>
          <a:lstStyle/>
          <a:p>
            <a:pPr lvl="0" algn="ctr" eaLnBrk="0" hangingPunct="0"/>
            <a:r>
              <a:rPr kumimoji="1" lang="zh-CN" altLang="en-US" sz="2135" dirty="0">
                <a:solidFill>
                  <a:prstClr val="black"/>
                </a:solidFill>
                <a:latin typeface="微软雅黑" panose="020B0503020204020204" pitchFamily="34" charset="-122"/>
                <a:ea typeface="微软雅黑" panose="020B0503020204020204" pitchFamily="34" charset="-122"/>
              </a:rPr>
              <a:t>可能使用不同路径</a:t>
            </a:r>
            <a:endParaRPr kumimoji="1" lang="en-US" altLang="zh-CN" sz="2135" dirty="0">
              <a:solidFill>
                <a:prstClr val="black"/>
              </a:solidFill>
              <a:latin typeface="微软雅黑" panose="020B0503020204020204" pitchFamily="34" charset="-122"/>
              <a:ea typeface="微软雅黑" panose="020B0503020204020204" pitchFamily="34" charset="-122"/>
            </a:endParaRPr>
          </a:p>
          <a:p>
            <a:pPr lvl="0" algn="ctr" eaLnBrk="0" hangingPunct="0"/>
            <a:r>
              <a:rPr kumimoji="1" lang="en-US" altLang="zh-CN" sz="2135" dirty="0">
                <a:solidFill>
                  <a:prstClr val="black"/>
                </a:solidFill>
                <a:latin typeface="微软雅黑" panose="020B0503020204020204" pitchFamily="34" charset="-122"/>
                <a:ea typeface="微软雅黑" panose="020B0503020204020204" pitchFamily="34" charset="-122"/>
              </a:rPr>
              <a:t>H</a:t>
            </a:r>
            <a:r>
              <a:rPr kumimoji="1" lang="en-US" altLang="zh-CN" sz="2135" baseline="-25000" dirty="0">
                <a:solidFill>
                  <a:prstClr val="black"/>
                </a:solidFill>
                <a:latin typeface="微软雅黑" panose="020B0503020204020204" pitchFamily="34" charset="-122"/>
                <a:ea typeface="微软雅黑" panose="020B0503020204020204" pitchFamily="34" charset="-122"/>
              </a:rPr>
              <a:t>2</a:t>
            </a:r>
            <a:r>
              <a:rPr kumimoji="1" lang="en-US" altLang="zh-CN" sz="2135" dirty="0">
                <a:solidFill>
                  <a:prstClr val="black"/>
                </a:solidFill>
                <a:latin typeface="微软雅黑" panose="020B0503020204020204" pitchFamily="34" charset="-122"/>
                <a:ea typeface="微软雅黑" panose="020B0503020204020204" pitchFamily="34" charset="-122"/>
              </a:rPr>
              <a:t>-</a:t>
            </a:r>
            <a:r>
              <a:rPr kumimoji="1" lang="en-US" altLang="zh-CN" sz="2135" dirty="0">
                <a:solidFill>
                  <a:srgbClr val="C00000"/>
                </a:solidFill>
                <a:latin typeface="微软雅黑" panose="020B0503020204020204" pitchFamily="34" charset="-122"/>
                <a:ea typeface="微软雅黑" panose="020B0503020204020204" pitchFamily="34" charset="-122"/>
              </a:rPr>
              <a:t>B-E</a:t>
            </a:r>
            <a:r>
              <a:rPr kumimoji="1" lang="en-US" altLang="zh-CN" sz="2135" dirty="0">
                <a:solidFill>
                  <a:prstClr val="black"/>
                </a:solidFill>
                <a:latin typeface="微软雅黑" panose="020B0503020204020204" pitchFamily="34" charset="-122"/>
                <a:ea typeface="微软雅黑" panose="020B0503020204020204" pitchFamily="34" charset="-122"/>
              </a:rPr>
              <a:t>-H</a:t>
            </a:r>
            <a:r>
              <a:rPr kumimoji="1" lang="en-US" altLang="zh-CN" sz="2135" baseline="-25000" dirty="0">
                <a:solidFill>
                  <a:prstClr val="black"/>
                </a:solidFill>
                <a:latin typeface="微软雅黑" panose="020B0503020204020204" pitchFamily="34" charset="-122"/>
                <a:ea typeface="微软雅黑" panose="020B0503020204020204" pitchFamily="34" charset="-122"/>
              </a:rPr>
              <a:t>5</a:t>
            </a:r>
            <a:endParaRPr kumimoji="1" lang="en-US" altLang="zh-CN" sz="2135" baseline="-25000" dirty="0">
              <a:solidFill>
                <a:prstClr val="black"/>
              </a:solidFill>
              <a:latin typeface="微软雅黑" panose="020B0503020204020204" pitchFamily="34" charset="-122"/>
              <a:ea typeface="微软雅黑" panose="020B0503020204020204" pitchFamily="34" charset="-122"/>
            </a:endParaRPr>
          </a:p>
          <a:p>
            <a:pPr lvl="0" algn="ctr" eaLnBrk="0" hangingPunct="0"/>
            <a:r>
              <a:rPr kumimoji="1" lang="en-US" altLang="zh-CN" sz="2135" dirty="0">
                <a:solidFill>
                  <a:prstClr val="black"/>
                </a:solidFill>
                <a:latin typeface="微软雅黑" panose="020B0503020204020204" pitchFamily="34" charset="-122"/>
                <a:ea typeface="微软雅黑" panose="020B0503020204020204" pitchFamily="34" charset="-122"/>
              </a:rPr>
              <a:t>……</a:t>
            </a:r>
            <a:endParaRPr kumimoji="1" lang="zh-CN" altLang="en-US" sz="2135" dirty="0">
              <a:solidFill>
                <a:prstClr val="black"/>
              </a:solidFill>
              <a:latin typeface="微软雅黑" panose="020B0503020204020204" pitchFamily="34" charset="-122"/>
              <a:ea typeface="微软雅黑" panose="020B0503020204020204" pitchFamily="34" charset="-122"/>
            </a:endParaRPr>
          </a:p>
        </p:txBody>
      </p:sp>
      <p:sp>
        <p:nvSpPr>
          <p:cNvPr id="20" name="灯片编号占位符 19"/>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0" name="文本框 59"/>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1" name="矩形 60"/>
          <p:cNvSpPr/>
          <p:nvPr/>
        </p:nvSpPr>
        <p:spPr>
          <a:xfrm>
            <a:off x="4053851" y="6497121"/>
            <a:ext cx="3998210"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计算机网络（第</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7</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版）</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，谢希仁</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62" name="矩形 61"/>
          <p:cNvSpPr>
            <a:spLocks noChangeArrowheads="1"/>
          </p:cNvSpPr>
          <p:nvPr/>
        </p:nvSpPr>
        <p:spPr bwMode="auto">
          <a:xfrm>
            <a:off x="667506" y="1581675"/>
            <a:ext cx="2691115" cy="10779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r>
              <a:rPr kumimoji="1" lang="zh-CN" altLang="en-US" sz="2135" dirty="0">
                <a:latin typeface="微软雅黑" panose="020B0503020204020204" pitchFamily="34" charset="-122"/>
                <a:ea typeface="微软雅黑" panose="020B0503020204020204" pitchFamily="34" charset="-122"/>
              </a:rPr>
              <a:t>主机之间端到端通信可由多个点到点通信构成</a:t>
            </a:r>
            <a:endParaRPr kumimoji="1" lang="zh-CN" altLang="en-US" sz="2135"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repeatCount="5000" fill="remove" grpId="0" nodeType="afterEffect">
                                  <p:stCondLst>
                                    <p:cond delay="0"/>
                                  </p:stCondLst>
                                  <p:childTnLst>
                                    <p:animClr clrSpc="rgb" dir="cw">
                                      <p:cBhvr override="childStyle">
                                        <p:cTn id="6" dur="500" autoRev="1" fill="remove"/>
                                        <p:tgtEl>
                                          <p:spTgt spid="6"/>
                                        </p:tgtEl>
                                        <p:attrNameLst>
                                          <p:attrName>style.color</p:attrName>
                                        </p:attrNameLst>
                                      </p:cBhvr>
                                      <p:to>
                                        <a:schemeClr val="bg1"/>
                                      </p:to>
                                    </p:animClr>
                                    <p:animClr clrSpc="rgb" dir="cw">
                                      <p:cBhvr>
                                        <p:cTn id="7" dur="500" autoRev="1" fill="remove"/>
                                        <p:tgtEl>
                                          <p:spTgt spid="6"/>
                                        </p:tgtEl>
                                        <p:attrNameLst>
                                          <p:attrName>fillcolor</p:attrName>
                                        </p:attrNameLst>
                                      </p:cBhvr>
                                      <p:to>
                                        <a:schemeClr val="bg1"/>
                                      </p:to>
                                    </p:animClr>
                                    <p:set>
                                      <p:cBhvr>
                                        <p:cTn id="8" dur="500" autoRev="1" fill="remove"/>
                                        <p:tgtEl>
                                          <p:spTgt spid="6"/>
                                        </p:tgtEl>
                                        <p:attrNameLst>
                                          <p:attrName>fill.type</p:attrName>
                                        </p:attrNameLst>
                                      </p:cBhvr>
                                      <p:to>
                                        <p:strVal val="solid"/>
                                      </p:to>
                                    </p:set>
                                    <p:set>
                                      <p:cBhvr>
                                        <p:cTn id="9" dur="500" autoRev="1" fill="remove"/>
                                        <p:tgtEl>
                                          <p:spTgt spid="6"/>
                                        </p:tgtEl>
                                        <p:attrNameLst>
                                          <p:attrName>fill.on</p:attrName>
                                        </p:attrNameLst>
                                      </p:cBhvr>
                                      <p:to>
                                        <p:strVal val="true"/>
                                      </p:to>
                                    </p:set>
                                  </p:childTnLst>
                                </p:cTn>
                              </p:par>
                              <p:par>
                                <p:cTn id="10" presetID="0" presetClass="path" presetSubtype="0" accel="50000" decel="50000" fill="hold" grpId="0" nodeType="withEffect">
                                  <p:stCondLst>
                                    <p:cond delay="3000"/>
                                  </p:stCondLst>
                                  <p:childTnLst>
                                    <p:animMotion origin="layout" path="M 2.77778E-6 -4.02285E-6 L 0.09114 0.09571 L 0.21007 0.20655 L 0.30208 0.05465 L 0.3967 0.21921 " pathEditMode="relative" rAng="0" ptsTypes="AAAAA">
                                      <p:cBhvr>
                                        <p:cTn id="11" dur="3000" fill="hold"/>
                                        <p:tgtEl>
                                          <p:spTgt spid="54"/>
                                        </p:tgtEl>
                                        <p:attrNameLst>
                                          <p:attrName>ppt_x</p:attrName>
                                          <p:attrName>ppt_y</p:attrName>
                                        </p:attrNameLst>
                                      </p:cBhvr>
                                      <p:rCtr x="19826" y="10960"/>
                                    </p:animMotion>
                                  </p:childTnLst>
                                </p:cTn>
                              </p:par>
                            </p:childTnLst>
                          </p:cTn>
                        </p:par>
                      </p:childTnLst>
                    </p:cTn>
                  </p:par>
                  <p:par>
                    <p:cTn id="12" fill="hold">
                      <p:stCondLst>
                        <p:cond delay="indefinite"/>
                      </p:stCondLst>
                      <p:childTnLst>
                        <p:par>
                          <p:cTn id="13" fill="hold">
                            <p:stCondLst>
                              <p:cond delay="0"/>
                            </p:stCondLst>
                            <p:childTnLst>
                              <p:par>
                                <p:cTn id="14" presetID="27" presetClass="emph" presetSubtype="0" repeatCount="5000" fill="remove" grpId="1" nodeType="clickEffect">
                                  <p:stCondLst>
                                    <p:cond delay="0"/>
                                  </p:stCondLst>
                                  <p:childTnLst>
                                    <p:animClr clrSpc="rgb" dir="cw">
                                      <p:cBhvr override="childStyle">
                                        <p:cTn id="15" dur="500" autoRev="1" fill="remove"/>
                                        <p:tgtEl>
                                          <p:spTgt spid="6"/>
                                        </p:tgtEl>
                                        <p:attrNameLst>
                                          <p:attrName>style.color</p:attrName>
                                        </p:attrNameLst>
                                      </p:cBhvr>
                                      <p:to>
                                        <a:schemeClr val="bg1"/>
                                      </p:to>
                                    </p:animClr>
                                    <p:animClr clrSpc="rgb" dir="cw">
                                      <p:cBhvr>
                                        <p:cTn id="16" dur="500" autoRev="1" fill="remove"/>
                                        <p:tgtEl>
                                          <p:spTgt spid="6"/>
                                        </p:tgtEl>
                                        <p:attrNameLst>
                                          <p:attrName>fillcolor</p:attrName>
                                        </p:attrNameLst>
                                      </p:cBhvr>
                                      <p:to>
                                        <a:schemeClr val="bg1"/>
                                      </p:to>
                                    </p:animClr>
                                    <p:set>
                                      <p:cBhvr>
                                        <p:cTn id="17" dur="500" autoRev="1" fill="remove"/>
                                        <p:tgtEl>
                                          <p:spTgt spid="6"/>
                                        </p:tgtEl>
                                        <p:attrNameLst>
                                          <p:attrName>fill.type</p:attrName>
                                        </p:attrNameLst>
                                      </p:cBhvr>
                                      <p:to>
                                        <p:strVal val="solid"/>
                                      </p:to>
                                    </p:set>
                                    <p:set>
                                      <p:cBhvr>
                                        <p:cTn id="18" dur="500" autoRev="1" fill="remove"/>
                                        <p:tgtEl>
                                          <p:spTgt spid="6"/>
                                        </p:tgtEl>
                                        <p:attrNameLst>
                                          <p:attrName>fill.on</p:attrName>
                                        </p:attrNameLst>
                                      </p:cBhvr>
                                      <p:to>
                                        <p:strVal val="true"/>
                                      </p:to>
                                    </p:set>
                                  </p:childTnLst>
                                </p:cTn>
                              </p:par>
                              <p:par>
                                <p:cTn id="19" presetID="0" presetClass="path" presetSubtype="0" accel="50000" decel="50000" fill="hold" grpId="1" nodeType="withEffect">
                                  <p:stCondLst>
                                    <p:cond delay="1000"/>
                                  </p:stCondLst>
                                  <p:childTnLst>
                                    <p:animMotion origin="layout" path="M 0 0 L 0.09514 0.09386 L 0.14323 -0.06699 L 0.30555 0.05403 L 0.40087 0.21766 " pathEditMode="relative" ptsTypes="AAAAA">
                                      <p:cBhvr>
                                        <p:cTn id="20" dur="3000" fill="hold"/>
                                        <p:tgtEl>
                                          <p:spTgt spid="54"/>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27" presetClass="emph" presetSubtype="0" repeatCount="5000" fill="remove" grpId="0" nodeType="clickEffect">
                                  <p:stCondLst>
                                    <p:cond delay="0"/>
                                  </p:stCondLst>
                                  <p:childTnLst>
                                    <p:animClr clrSpc="rgb" dir="cw">
                                      <p:cBhvr override="childStyle">
                                        <p:cTn id="24" dur="500" autoRev="1" fill="remove"/>
                                        <p:tgtEl>
                                          <p:spTgt spid="7"/>
                                        </p:tgtEl>
                                        <p:attrNameLst>
                                          <p:attrName>style.color</p:attrName>
                                        </p:attrNameLst>
                                      </p:cBhvr>
                                      <p:to>
                                        <a:schemeClr val="bg1"/>
                                      </p:to>
                                    </p:animClr>
                                    <p:animClr clrSpc="rgb" dir="cw">
                                      <p:cBhvr>
                                        <p:cTn id="25" dur="500" autoRev="1" fill="remove"/>
                                        <p:tgtEl>
                                          <p:spTgt spid="7"/>
                                        </p:tgtEl>
                                        <p:attrNameLst>
                                          <p:attrName>fillcolor</p:attrName>
                                        </p:attrNameLst>
                                      </p:cBhvr>
                                      <p:to>
                                        <a:schemeClr val="bg1"/>
                                      </p:to>
                                    </p:animClr>
                                    <p:set>
                                      <p:cBhvr>
                                        <p:cTn id="26" dur="500" autoRev="1" fill="remove"/>
                                        <p:tgtEl>
                                          <p:spTgt spid="7"/>
                                        </p:tgtEl>
                                        <p:attrNameLst>
                                          <p:attrName>fill.type</p:attrName>
                                        </p:attrNameLst>
                                      </p:cBhvr>
                                      <p:to>
                                        <p:strVal val="solid"/>
                                      </p:to>
                                    </p:set>
                                    <p:set>
                                      <p:cBhvr>
                                        <p:cTn id="27" dur="500" autoRev="1" fill="remove"/>
                                        <p:tgtEl>
                                          <p:spTgt spid="7"/>
                                        </p:tgtEl>
                                        <p:attrNameLst>
                                          <p:attrName>fill.on</p:attrName>
                                        </p:attrNameLst>
                                      </p:cBhvr>
                                      <p:to>
                                        <p:strVal val="true"/>
                                      </p:to>
                                    </p:set>
                                  </p:childTnLst>
                                </p:cTn>
                              </p:par>
                              <p:par>
                                <p:cTn id="28" presetID="1" presetClass="entr" presetSubtype="0" fill="hold" grpId="1" nodeType="withEffect">
                                  <p:stCondLst>
                                    <p:cond delay="500"/>
                                  </p:stCondLst>
                                  <p:childTnLst>
                                    <p:set>
                                      <p:cBhvr>
                                        <p:cTn id="29" dur="1" fill="hold">
                                          <p:stCondLst>
                                            <p:cond delay="0"/>
                                          </p:stCondLst>
                                        </p:cTn>
                                        <p:tgtEl>
                                          <p:spTgt spid="7"/>
                                        </p:tgtEl>
                                        <p:attrNameLst>
                                          <p:attrName>style.visibility</p:attrName>
                                        </p:attrNameLst>
                                      </p:cBhvr>
                                      <p:to>
                                        <p:strVal val="visible"/>
                                      </p:to>
                                    </p:set>
                                  </p:childTnLst>
                                </p:cTn>
                              </p:par>
                              <p:par>
                                <p:cTn id="30" presetID="0" presetClass="path" presetSubtype="0" accel="50000" decel="50000" fill="hold" grpId="0" nodeType="withEffect">
                                  <p:stCondLst>
                                    <p:cond delay="1000"/>
                                  </p:stCondLst>
                                  <p:childTnLst>
                                    <p:animMotion origin="layout" path="M -2.5E-6 7.37265E-6 L 0.06649 0.12227 L 0.23125 0.24175 L 0.35677 0.18062 " pathEditMode="relative" ptsTypes="AAAA">
                                      <p:cBhvr>
                                        <p:cTn id="31" dur="3000" fill="hold"/>
                                        <p:tgtEl>
                                          <p:spTgt spid="40"/>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ID="27" presetClass="emph" presetSubtype="0" repeatCount="5000" fill="remove" grpId="0" nodeType="clickEffect">
                                  <p:stCondLst>
                                    <p:cond delay="0"/>
                                  </p:stCondLst>
                                  <p:childTnLst>
                                    <p:animClr clrSpc="rgb" dir="cw">
                                      <p:cBhvr override="childStyle">
                                        <p:cTn id="35" dur="500" autoRev="1" fill="remove"/>
                                        <p:tgtEl>
                                          <p:spTgt spid="8"/>
                                        </p:tgtEl>
                                        <p:attrNameLst>
                                          <p:attrName>style.color</p:attrName>
                                        </p:attrNameLst>
                                      </p:cBhvr>
                                      <p:to>
                                        <a:schemeClr val="bg1"/>
                                      </p:to>
                                    </p:animClr>
                                    <p:animClr clrSpc="rgb" dir="cw">
                                      <p:cBhvr>
                                        <p:cTn id="36" dur="500" autoRev="1" fill="remove"/>
                                        <p:tgtEl>
                                          <p:spTgt spid="8"/>
                                        </p:tgtEl>
                                        <p:attrNameLst>
                                          <p:attrName>fillcolor</p:attrName>
                                        </p:attrNameLst>
                                      </p:cBhvr>
                                      <p:to>
                                        <a:schemeClr val="bg1"/>
                                      </p:to>
                                    </p:animClr>
                                    <p:set>
                                      <p:cBhvr>
                                        <p:cTn id="37" dur="500" autoRev="1" fill="remove"/>
                                        <p:tgtEl>
                                          <p:spTgt spid="8"/>
                                        </p:tgtEl>
                                        <p:attrNameLst>
                                          <p:attrName>fill.type</p:attrName>
                                        </p:attrNameLst>
                                      </p:cBhvr>
                                      <p:to>
                                        <p:strVal val="solid"/>
                                      </p:to>
                                    </p:set>
                                    <p:set>
                                      <p:cBhvr>
                                        <p:cTn id="38" dur="500" autoRev="1" fill="remove"/>
                                        <p:tgtEl>
                                          <p:spTgt spid="8"/>
                                        </p:tgtEl>
                                        <p:attrNameLst>
                                          <p:attrName>fill.on</p:attrName>
                                        </p:attrNameLst>
                                      </p:cBhvr>
                                      <p:to>
                                        <p:strVal val="true"/>
                                      </p:to>
                                    </p:set>
                                  </p:childTnLst>
                                </p:cTn>
                              </p:par>
                              <p:par>
                                <p:cTn id="39" presetID="0" presetClass="path" presetSubtype="0" accel="50000" decel="50000" fill="hold" grpId="2" nodeType="withEffect">
                                  <p:stCondLst>
                                    <p:cond delay="1000"/>
                                  </p:stCondLst>
                                  <p:childTnLst>
                                    <p:animMotion origin="layout" path="M 0 0 L 0.09045 0.09107 L 0.1408 -0.06824 L 0.30087 0.05402 L 0.39844 0.22074 " pathEditMode="relative" ptsTypes="AAAAA">
                                      <p:cBhvr>
                                        <p:cTn id="40" dur="3000" fill="hold"/>
                                        <p:tgtEl>
                                          <p:spTgt spid="54"/>
                                        </p:tgtEl>
                                        <p:attrNameLst>
                                          <p:attrName>ppt_x</p:attrName>
                                          <p:attrName>ppt_y</p:attrName>
                                        </p:attrNameLst>
                                      </p:cBhvr>
                                    </p:animMotion>
                                  </p:childTnLst>
                                </p:cTn>
                              </p:par>
                              <p:par>
                                <p:cTn id="41" presetID="0" presetClass="path" presetSubtype="0" accel="50000" decel="50000" fill="hold" grpId="1" nodeType="withEffect">
                                  <p:stCondLst>
                                    <p:cond delay="2000"/>
                                  </p:stCondLst>
                                  <p:childTnLst>
                                    <p:animMotion origin="layout" path="M 0 0 L 0.07049 0.1238 L 0.22969 0.23618 L 0.35764 0.17783 " pathEditMode="relative" ptsTypes="AAAA">
                                      <p:cBhvr>
                                        <p:cTn id="42" dur="3000" fill="hold"/>
                                        <p:tgtEl>
                                          <p:spTgt spid="40"/>
                                        </p:tgtEl>
                                        <p:attrNameLst>
                                          <p:attrName>ppt_x</p:attrName>
                                          <p:attrName>ppt_y</p:attrName>
                                        </p:attrNameLst>
                                      </p:cBhvr>
                                    </p:animMotion>
                                  </p:childTnLst>
                                </p:cTn>
                              </p:par>
                              <p:par>
                                <p:cTn id="43" presetID="0" presetClass="path" presetSubtype="0" accel="50000" decel="50000" fill="hold" grpId="3" nodeType="withEffect">
                                  <p:stCondLst>
                                    <p:cond delay="3000"/>
                                  </p:stCondLst>
                                  <p:childTnLst>
                                    <p:animMotion origin="layout" path="M 0 0 L 0.0927 0.09386 L 0.14479 -0.067 L 0.21111 0.20901 L 0.30156 0.06113 L 0.39913 0.22198 " pathEditMode="relative" ptsTypes="AAAAAA">
                                      <p:cBhvr>
                                        <p:cTn id="44" dur="3000" fill="hold"/>
                                        <p:tgtEl>
                                          <p:spTgt spid="54"/>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27" presetClass="emph" presetSubtype="0" repeatCount="5000" fill="remove" grpId="0" nodeType="clickEffect">
                                  <p:stCondLst>
                                    <p:cond delay="0"/>
                                  </p:stCondLst>
                                  <p:childTnLst>
                                    <p:animClr clrSpc="rgb" dir="cw">
                                      <p:cBhvr override="childStyle">
                                        <p:cTn id="48" dur="500" autoRev="1" fill="remove"/>
                                        <p:tgtEl>
                                          <p:spTgt spid="62"/>
                                        </p:tgtEl>
                                        <p:attrNameLst>
                                          <p:attrName>style.color</p:attrName>
                                        </p:attrNameLst>
                                      </p:cBhvr>
                                      <p:to>
                                        <a:schemeClr val="bg1"/>
                                      </p:to>
                                    </p:animClr>
                                    <p:animClr clrSpc="rgb" dir="cw">
                                      <p:cBhvr>
                                        <p:cTn id="49" dur="500" autoRev="1" fill="remove"/>
                                        <p:tgtEl>
                                          <p:spTgt spid="62"/>
                                        </p:tgtEl>
                                        <p:attrNameLst>
                                          <p:attrName>fillcolor</p:attrName>
                                        </p:attrNameLst>
                                      </p:cBhvr>
                                      <p:to>
                                        <a:schemeClr val="bg1"/>
                                      </p:to>
                                    </p:animClr>
                                    <p:set>
                                      <p:cBhvr>
                                        <p:cTn id="50" dur="500" autoRev="1" fill="remove"/>
                                        <p:tgtEl>
                                          <p:spTgt spid="62"/>
                                        </p:tgtEl>
                                        <p:attrNameLst>
                                          <p:attrName>fill.type</p:attrName>
                                        </p:attrNameLst>
                                      </p:cBhvr>
                                      <p:to>
                                        <p:strVal val="solid"/>
                                      </p:to>
                                    </p:set>
                                    <p:set>
                                      <p:cBhvr>
                                        <p:cTn id="51" dur="500" autoRev="1" fill="remove"/>
                                        <p:tgtEl>
                                          <p:spTgt spid="6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bldLvl="0" animBg="1"/>
      <p:bldP spid="6" grpId="1" bldLvl="0" animBg="1"/>
      <p:bldP spid="7" grpId="0" bldLvl="0" animBg="1"/>
      <p:bldP spid="7" grpId="1" bldLvl="0" animBg="1"/>
      <p:bldP spid="40" grpId="0" bldLvl="0" animBg="1"/>
      <p:bldP spid="40" grpId="1" bldLvl="0" animBg="1"/>
      <p:bldP spid="54" grpId="0" bldLvl="0" animBg="1"/>
      <p:bldP spid="54" grpId="1" bldLvl="0" animBg="1"/>
      <p:bldP spid="54" grpId="2" bldLvl="0" animBg="1"/>
      <p:bldP spid="54" grpId="3" bldLvl="0" animBg="1"/>
      <p:bldP spid="6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典型交换方式的比较</a:t>
            </a:r>
            <a:endParaRPr lang="zh-CN" altLang="en-US" dirty="0">
              <a:sym typeface="+mn-ea"/>
            </a:endParaRPr>
          </a:p>
        </p:txBody>
      </p:sp>
      <p:pic>
        <p:nvPicPr>
          <p:cNvPr id="6" name="图片 5"/>
          <p:cNvPicPr>
            <a:picLocks noChangeAspect="1"/>
          </p:cNvPicPr>
          <p:nvPr/>
        </p:nvPicPr>
        <p:blipFill rotWithShape="1">
          <a:blip r:embed="rId1" cstate="print"/>
          <a:srcRect l="10212" r="9046"/>
          <a:stretch>
            <a:fillRect/>
          </a:stretch>
        </p:blipFill>
        <p:spPr>
          <a:xfrm>
            <a:off x="4444974" y="1506934"/>
            <a:ext cx="7475809" cy="4586694"/>
          </a:xfrm>
          <a:prstGeom prst="rect">
            <a:avLst/>
          </a:prstGeom>
        </p:spPr>
      </p:pic>
      <p:sp>
        <p:nvSpPr>
          <p:cNvPr id="3" name="内容占位符 2"/>
          <p:cNvSpPr>
            <a:spLocks noGrp="1"/>
          </p:cNvSpPr>
          <p:nvPr>
            <p:ph idx="1"/>
          </p:nvPr>
        </p:nvSpPr>
        <p:spPr>
          <a:xfrm>
            <a:off x="382672" y="1328075"/>
            <a:ext cx="4062302" cy="5028275"/>
          </a:xfrm>
        </p:spPr>
        <p:txBody>
          <a:bodyPr>
            <a:normAutofit fontScale="97500" lnSpcReduction="10000"/>
          </a:bodyPr>
          <a:lstStyle/>
          <a:p>
            <a:pPr>
              <a:lnSpc>
                <a:spcPct val="110000"/>
              </a:lnSpc>
              <a:buClr>
                <a:srgbClr val="000000"/>
              </a:buClr>
              <a:buFont typeface="Wingdings" panose="05000000000000000000" charset="0"/>
              <a:buChar char="Ø"/>
            </a:pPr>
            <a:r>
              <a:rPr lang="zh-CN" altLang="en-US" sz="2900" dirty="0">
                <a:solidFill>
                  <a:srgbClr val="C00000"/>
                </a:solidFill>
                <a:sym typeface="+mn-ea"/>
              </a:rPr>
              <a:t>三种交换的比较</a:t>
            </a:r>
            <a:endParaRPr lang="zh-CN" altLang="en-US" sz="2900" dirty="0"/>
          </a:p>
          <a:p>
            <a:pPr lvl="1">
              <a:lnSpc>
                <a:spcPct val="110000"/>
              </a:lnSpc>
              <a:buClr>
                <a:srgbClr val="000000"/>
              </a:buClr>
            </a:pPr>
            <a:r>
              <a:rPr lang="zh-CN" altLang="zh-CN" dirty="0">
                <a:latin typeface="微软雅黑" panose="020B0503020204020204" pitchFamily="34" charset="-122"/>
                <a:ea typeface="微软雅黑" panose="020B0503020204020204" pitchFamily="34" charset="-122"/>
              </a:rPr>
              <a:t>电路交换</a:t>
            </a:r>
            <a:r>
              <a:rPr lang="zh-CN" altLang="en-US" dirty="0">
                <a:latin typeface="微软雅黑" panose="020B0503020204020204" pitchFamily="34" charset="-122"/>
                <a:ea typeface="微软雅黑" panose="020B0503020204020204" pitchFamily="34" charset="-122"/>
              </a:rPr>
              <a:t>需要建立连接</a:t>
            </a:r>
            <a:r>
              <a:rPr lang="zh-CN" altLang="en-US" dirty="0"/>
              <a:t>并预留资源，难以实现灵活复用</a:t>
            </a:r>
            <a:endParaRPr lang="en-US" altLang="zh-CN" dirty="0">
              <a:latin typeface="微软雅黑" panose="020B0503020204020204" pitchFamily="34" charset="-122"/>
              <a:ea typeface="微软雅黑" panose="020B0503020204020204" pitchFamily="34" charset="-122"/>
            </a:endParaRPr>
          </a:p>
          <a:p>
            <a:pPr lvl="1">
              <a:lnSpc>
                <a:spcPct val="110000"/>
              </a:lnSpc>
              <a:buClr>
                <a:srgbClr val="000000"/>
              </a:buClr>
            </a:pPr>
            <a:r>
              <a:rPr lang="zh-CN" altLang="zh-CN" dirty="0">
                <a:latin typeface="微软雅黑" panose="020B0503020204020204" pitchFamily="34" charset="-122"/>
                <a:ea typeface="微软雅黑" panose="020B0503020204020204" pitchFamily="34" charset="-122"/>
              </a:rPr>
              <a:t>报文交换和分组交换</a:t>
            </a:r>
            <a:r>
              <a:rPr lang="zh-CN" altLang="en-US" dirty="0">
                <a:latin typeface="微软雅黑" panose="020B0503020204020204" pitchFamily="34" charset="-122"/>
                <a:ea typeface="微软雅黑" panose="020B0503020204020204" pitchFamily="34" charset="-122"/>
              </a:rPr>
              <a:t>较灵活</a:t>
            </a:r>
            <a:r>
              <a:rPr lang="zh-C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抗毁性高，</a:t>
            </a:r>
            <a:r>
              <a:rPr lang="zh-CN" altLang="zh-CN" dirty="0">
                <a:latin typeface="微软雅黑" panose="020B0503020204020204" pitchFamily="34" charset="-122"/>
                <a:ea typeface="微软雅黑" panose="020B0503020204020204" pitchFamily="34" charset="-122"/>
              </a:rPr>
              <a:t>在传送</a:t>
            </a:r>
            <a:r>
              <a:rPr lang="zh-CN" altLang="zh-CN" dirty="0">
                <a:solidFill>
                  <a:srgbClr val="C00000"/>
                </a:solidFill>
                <a:latin typeface="微软雅黑" panose="020B0503020204020204" pitchFamily="34" charset="-122"/>
                <a:ea typeface="微软雅黑" panose="020B0503020204020204" pitchFamily="34" charset="-122"/>
              </a:rPr>
              <a:t>突发数据</a:t>
            </a:r>
            <a:r>
              <a:rPr lang="zh-CN" altLang="zh-CN" dirty="0">
                <a:latin typeface="微软雅黑" panose="020B0503020204020204" pitchFamily="34" charset="-122"/>
                <a:ea typeface="微软雅黑" panose="020B0503020204020204" pitchFamily="34" charset="-122"/>
              </a:rPr>
              <a:t>时可提高</a:t>
            </a:r>
            <a:r>
              <a:rPr lang="zh-CN" altLang="en-US" dirty="0">
                <a:latin typeface="微软雅黑" panose="020B0503020204020204" pitchFamily="34" charset="-122"/>
                <a:ea typeface="微软雅黑" panose="020B0503020204020204" pitchFamily="34" charset="-122"/>
              </a:rPr>
              <a:t>网络</a:t>
            </a:r>
            <a:r>
              <a:rPr lang="zh-CN" altLang="zh-CN" dirty="0">
                <a:latin typeface="微软雅黑" panose="020B0503020204020204" pitchFamily="34" charset="-122"/>
                <a:ea typeface="微软雅黑" panose="020B0503020204020204" pitchFamily="34" charset="-122"/>
              </a:rPr>
              <a:t>利用率</a:t>
            </a:r>
            <a:endParaRPr lang="en-US" altLang="zh-CN" dirty="0">
              <a:latin typeface="微软雅黑" panose="020B0503020204020204" pitchFamily="34" charset="-122"/>
              <a:ea typeface="微软雅黑" panose="020B0503020204020204" pitchFamily="34" charset="-122"/>
            </a:endParaRPr>
          </a:p>
          <a:p>
            <a:pPr lvl="1">
              <a:lnSpc>
                <a:spcPct val="110000"/>
              </a:lnSpc>
              <a:buClr>
                <a:srgbClr val="000000"/>
              </a:buClr>
            </a:pPr>
            <a:r>
              <a:rPr lang="zh-CN" altLang="zh-CN" dirty="0">
                <a:latin typeface="微软雅黑" panose="020B0503020204020204" pitchFamily="34" charset="-122"/>
                <a:ea typeface="微软雅黑" panose="020B0503020204020204" pitchFamily="34" charset="-122"/>
              </a:rPr>
              <a:t>由于分组长度小于报文长度，分组交换比报文交换的</a:t>
            </a:r>
            <a:r>
              <a:rPr lang="zh-CN" altLang="zh-CN" dirty="0">
                <a:solidFill>
                  <a:srgbClr val="C00000"/>
                </a:solidFill>
                <a:latin typeface="微软雅黑" panose="020B0503020204020204" pitchFamily="34" charset="-122"/>
                <a:ea typeface="微软雅黑" panose="020B0503020204020204" pitchFamily="34" charset="-122"/>
              </a:rPr>
              <a:t>时延小</a:t>
            </a:r>
            <a:r>
              <a:rPr lang="zh-CN" altLang="zh-CN" dirty="0">
                <a:latin typeface="微软雅黑" panose="020B0503020204020204" pitchFamily="34" charset="-122"/>
                <a:ea typeface="微软雅黑" panose="020B0503020204020204" pitchFamily="34" charset="-122"/>
              </a:rPr>
              <a:t>，也具有更好的</a:t>
            </a:r>
            <a:r>
              <a:rPr lang="zh-CN" altLang="zh-CN" dirty="0">
                <a:solidFill>
                  <a:srgbClr val="C00000"/>
                </a:solidFill>
                <a:latin typeface="微软雅黑" panose="020B0503020204020204" pitchFamily="34" charset="-122"/>
                <a:ea typeface="微软雅黑" panose="020B0503020204020204" pitchFamily="34" charset="-122"/>
              </a:rPr>
              <a:t>灵活性</a:t>
            </a:r>
            <a:endParaRPr lang="zh-CN" altLang="en-US" dirty="0">
              <a:solidFill>
                <a:srgbClr val="C00000"/>
              </a:solidFill>
            </a:endParaRPr>
          </a:p>
        </p:txBody>
      </p:sp>
      <p:sp>
        <p:nvSpPr>
          <p:cNvPr id="5" name="矩形 4"/>
          <p:cNvSpPr/>
          <p:nvPr/>
        </p:nvSpPr>
        <p:spPr>
          <a:xfrm>
            <a:off x="5417914" y="6023121"/>
            <a:ext cx="5570756" cy="400110"/>
          </a:xfrm>
          <a:prstGeom prst="rect">
            <a:avLst/>
          </a:prstGeom>
          <a:ln>
            <a:solidFill>
              <a:srgbClr val="C00000"/>
            </a:solidFill>
          </a:ln>
        </p:spPr>
        <p:txBody>
          <a:bodyPr wrap="none">
            <a:spAutoFit/>
          </a:bodyPr>
          <a:lstStyle/>
          <a:p>
            <a:r>
              <a:rPr lang="zh-CN" altLang="zh-CN" sz="2000" dirty="0">
                <a:solidFill>
                  <a:srgbClr val="C00000"/>
                </a:solidFill>
                <a:latin typeface="微软雅黑" panose="020B0503020204020204" pitchFamily="34" charset="-122"/>
                <a:ea typeface="微软雅黑" panose="020B0503020204020204" pitchFamily="34" charset="-122"/>
              </a:rPr>
              <a:t>分组交换</a:t>
            </a:r>
            <a:r>
              <a:rPr lang="zh-CN" altLang="en-US" sz="2000" dirty="0">
                <a:solidFill>
                  <a:srgbClr val="C00000"/>
                </a:solidFill>
                <a:latin typeface="微软雅黑" panose="020B0503020204020204" pitchFamily="34" charset="-122"/>
                <a:ea typeface="微软雅黑" panose="020B0503020204020204" pitchFamily="34" charset="-122"/>
              </a:rPr>
              <a:t>适合有大量</a:t>
            </a:r>
            <a:r>
              <a:rPr lang="zh-CN" altLang="zh-CN" sz="2000" dirty="0">
                <a:solidFill>
                  <a:srgbClr val="C00000"/>
                </a:solidFill>
                <a:latin typeface="微软雅黑" panose="020B0503020204020204" pitchFamily="34" charset="-122"/>
                <a:ea typeface="微软雅黑" panose="020B0503020204020204" pitchFamily="34" charset="-122"/>
              </a:rPr>
              <a:t>突发数据</a:t>
            </a:r>
            <a:r>
              <a:rPr lang="zh-CN" altLang="en-US" sz="2000" dirty="0">
                <a:solidFill>
                  <a:srgbClr val="C00000"/>
                </a:solidFill>
                <a:latin typeface="微软雅黑" panose="020B0503020204020204" pitchFamily="34" charset="-122"/>
                <a:ea typeface="微软雅黑" panose="020B0503020204020204" pitchFamily="34" charset="-122"/>
              </a:rPr>
              <a:t>传输需求的互联网</a:t>
            </a:r>
            <a:endParaRPr lang="zh-CN" altLang="en-US" sz="2000" dirty="0">
              <a:solidFill>
                <a:srgbClr val="C00000"/>
              </a:solidFill>
            </a:endParaRPr>
          </a:p>
        </p:txBody>
      </p:sp>
      <p:sp>
        <p:nvSpPr>
          <p:cNvPr id="8" name="灯片编号占位符 7"/>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9" name="文本框 8"/>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endParaRPr lang="en-US" altLang="zh-CN"/>
          </a:p>
          <a:p>
            <a:pPr>
              <a:defRPr/>
            </a:pPr>
            <a:r>
              <a:rPr lang="en-US" altLang="zh-CN">
                <a:solidFill>
                  <a:srgbClr val="3366CC"/>
                </a:solidFill>
              </a:rPr>
              <a:t>Computer Network</a:t>
            </a:r>
            <a:endParaRPr lang="en-US" altLang="zh-CN">
              <a:solidFill>
                <a:srgbClr val="3366CC"/>
              </a:solidFill>
            </a:endParaRPr>
          </a:p>
        </p:txBody>
      </p:sp>
      <p:sp>
        <p:nvSpPr>
          <p:cNvPr id="3" name="灯片编号占位符 2"/>
          <p:cNvSpPr>
            <a:spLocks noGrp="1"/>
          </p:cNvSpPr>
          <p:nvPr>
            <p:ph type="sldNum" sz="quarter" idx="11"/>
          </p:nvPr>
        </p:nvSpPr>
        <p:spPr/>
        <p:txBody>
          <a:bodyPr/>
          <a:lstStyle/>
          <a:p>
            <a:pPr>
              <a:defRPr/>
            </a:pPr>
            <a:fld id="{D14F4EB7-F701-4BC0-85EE-D7BE12612223}"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B642DE1C-33F0-4FAC-9F1A-0AAC83473411}" type="datetime1">
              <a:rPr lang="zh-CN" altLang="en-US" smtClean="0"/>
            </a:fld>
            <a:endParaRPr lang="en-US" altLang="zh-CN"/>
          </a:p>
        </p:txBody>
      </p:sp>
      <p:pic>
        <p:nvPicPr>
          <p:cNvPr id="91138" name="Picture 2" descr="查看源图像"/>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1504" y="0"/>
            <a:ext cx="8709992" cy="65324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endParaRPr lang="en-US" altLang="zh-CN"/>
          </a:p>
          <a:p>
            <a:pPr>
              <a:defRPr/>
            </a:pPr>
            <a:r>
              <a:rPr lang="en-US" altLang="zh-CN">
                <a:solidFill>
                  <a:srgbClr val="3366CC"/>
                </a:solidFill>
              </a:rPr>
              <a:t>Computer Network</a:t>
            </a:r>
            <a:endParaRPr lang="en-US" altLang="zh-CN">
              <a:solidFill>
                <a:srgbClr val="3366CC"/>
              </a:solidFill>
            </a:endParaRPr>
          </a:p>
        </p:txBody>
      </p:sp>
      <p:sp>
        <p:nvSpPr>
          <p:cNvPr id="3" name="灯片编号占位符 2"/>
          <p:cNvSpPr>
            <a:spLocks noGrp="1"/>
          </p:cNvSpPr>
          <p:nvPr>
            <p:ph type="sldNum" sz="quarter" idx="11"/>
          </p:nvPr>
        </p:nvSpPr>
        <p:spPr/>
        <p:txBody>
          <a:bodyPr/>
          <a:lstStyle/>
          <a:p>
            <a:pPr>
              <a:defRPr/>
            </a:pPr>
            <a:fld id="{D14F4EB7-F701-4BC0-85EE-D7BE12612223}"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B642DE1C-33F0-4FAC-9F1A-0AAC83473411}" type="datetime1">
              <a:rPr lang="zh-CN" altLang="en-US" smtClean="0"/>
            </a:fld>
            <a:endParaRPr lang="en-US" altLang="zh-CN"/>
          </a:p>
        </p:txBody>
      </p:sp>
      <p:sp>
        <p:nvSpPr>
          <p:cNvPr id="5" name="矩形 4"/>
          <p:cNvSpPr/>
          <p:nvPr/>
        </p:nvSpPr>
        <p:spPr>
          <a:xfrm>
            <a:off x="1524000" y="692697"/>
            <a:ext cx="9108504" cy="4349909"/>
          </a:xfrm>
          <a:prstGeom prst="rect">
            <a:avLst/>
          </a:prstGeom>
        </p:spPr>
        <p:txBody>
          <a:bodyPr wrap="square">
            <a:spAutoFit/>
          </a:bodyPr>
          <a:lstStyle/>
          <a:p>
            <a:pPr algn="just">
              <a:spcBef>
                <a:spcPts val="1200"/>
              </a:spcBef>
              <a:spcAft>
                <a:spcPts val="800"/>
              </a:spcAft>
              <a:buSzPts val="1000"/>
              <a:tabLst>
                <a:tab pos="228600" algn="l"/>
              </a:tabLst>
            </a:pPr>
            <a:r>
              <a:rPr lang="zh-CN" altLang="en-US" kern="100" dirty="0">
                <a:ea typeface="等线" panose="02010600030101010101" charset="-122"/>
                <a:cs typeface="等线" panose="02010600030101010101" charset="-122"/>
              </a:rPr>
              <a:t>假设需在两台计算机间经</a:t>
            </a:r>
            <a:r>
              <a:rPr lang="zh-CN" altLang="en-US" b="1" kern="100" dirty="0">
                <a:solidFill>
                  <a:srgbClr val="C00000"/>
                </a:solidFill>
                <a:ea typeface="等线" panose="02010600030101010101" charset="-122"/>
                <a:cs typeface="等线" panose="02010600030101010101" charset="-122"/>
              </a:rPr>
              <a:t>两个中间节点</a:t>
            </a:r>
            <a:r>
              <a:rPr lang="zh-CN" altLang="en-US" kern="100" dirty="0">
                <a:ea typeface="等线" panose="02010600030101010101" charset="-122"/>
                <a:cs typeface="等线" panose="02010600030101010101" charset="-122"/>
              </a:rPr>
              <a:t>传送</a:t>
            </a:r>
            <a:r>
              <a:rPr lang="en-US" kern="100" dirty="0">
                <a:latin typeface="等线" panose="02010600030101010101" charset="-122"/>
                <a:ea typeface="宋体" panose="02010600030101010101" pitchFamily="2" charset="-122"/>
                <a:cs typeface="等线" panose="02010600030101010101" charset="-122"/>
              </a:rPr>
              <a:t>100*10^6</a:t>
            </a:r>
            <a:r>
              <a:rPr lang="zh-CN" altLang="en-US" kern="100" dirty="0">
                <a:latin typeface="等线" panose="02010600030101010101" charset="-122"/>
                <a:ea typeface="宋体" panose="02010600030101010101" pitchFamily="2" charset="-122"/>
                <a:cs typeface="等线" panose="02010600030101010101" charset="-122"/>
              </a:rPr>
              <a:t>字节的文件，假定：</a:t>
            </a:r>
            <a:endParaRPr lang="en-US" kern="100" dirty="0">
              <a:ea typeface="宋体" panose="02010600030101010101" pitchFamily="2" charset="-122"/>
            </a:endParaRPr>
          </a:p>
          <a:p>
            <a:pPr marL="342900" indent="-342900" algn="just">
              <a:buFont typeface="+mj-lt"/>
              <a:buAutoNum type="alphaLcParenR"/>
            </a:pPr>
            <a:r>
              <a:rPr lang="zh-CN" altLang="en-US" kern="100" dirty="0">
                <a:ea typeface="等线" panose="02010600030101010101" charset="-122"/>
                <a:cs typeface="等线" panose="02010600030101010101" charset="-122"/>
              </a:rPr>
              <a:t>各跳的通信线路的通信速率皆为</a:t>
            </a:r>
            <a:r>
              <a:rPr lang="en-US" kern="100" dirty="0">
                <a:latin typeface="等线" panose="02010600030101010101" charset="-122"/>
                <a:ea typeface="宋体" panose="02010600030101010101" pitchFamily="2" charset="-122"/>
                <a:cs typeface="等线" panose="02010600030101010101" charset="-122"/>
              </a:rPr>
              <a:t>8</a:t>
            </a:r>
            <a:r>
              <a:rPr lang="en-US" kern="100" dirty="0">
                <a:latin typeface="宋体" panose="02010600030101010101" pitchFamily="2" charset="-122"/>
                <a:ea typeface="宋体" panose="02010600030101010101" pitchFamily="2" charset="-122"/>
              </a:rPr>
              <a:t>*10^3 </a:t>
            </a:r>
            <a:r>
              <a:rPr lang="en-US" kern="100" dirty="0">
                <a:latin typeface="等线" panose="02010600030101010101" charset="-122"/>
                <a:ea typeface="宋体" panose="02010600030101010101" pitchFamily="2" charset="-122"/>
                <a:cs typeface="等线" panose="02010600030101010101" charset="-122"/>
              </a:rPr>
              <a:t>bps</a:t>
            </a:r>
            <a:r>
              <a:rPr lang="zh-CN" altLang="en-US" kern="100" dirty="0">
                <a:latin typeface="等线" panose="02010600030101010101" charset="-122"/>
                <a:ea typeface="宋体" panose="02010600030101010101" pitchFamily="2" charset="-122"/>
                <a:cs typeface="等线" panose="02010600030101010101" charset="-122"/>
              </a:rPr>
              <a:t>；</a:t>
            </a:r>
            <a:endParaRPr lang="en-US" kern="100" dirty="0">
              <a:ea typeface="宋体" panose="02010600030101010101" pitchFamily="2" charset="-122"/>
            </a:endParaRPr>
          </a:p>
          <a:p>
            <a:pPr marL="342900" indent="-342900" algn="just">
              <a:buFont typeface="+mj-lt"/>
              <a:buAutoNum type="alphaLcParenR"/>
            </a:pPr>
            <a:r>
              <a:rPr lang="zh-CN" altLang="en-US" kern="100" dirty="0">
                <a:ea typeface="等线" panose="02010600030101010101" charset="-122"/>
                <a:cs typeface="等线" panose="02010600030101010101" charset="-122"/>
              </a:rPr>
              <a:t>不考虑中间节点存储转发等处理时间和排队时间；</a:t>
            </a:r>
            <a:endParaRPr lang="en-US" kern="100" dirty="0">
              <a:ea typeface="宋体" panose="02010600030101010101" pitchFamily="2" charset="-122"/>
            </a:endParaRPr>
          </a:p>
          <a:p>
            <a:pPr marL="342900" indent="-342900" algn="just">
              <a:buFont typeface="+mj-lt"/>
              <a:buAutoNum type="alphaLcParenR"/>
            </a:pPr>
            <a:r>
              <a:rPr lang="zh-CN" altLang="en-US" kern="100" dirty="0">
                <a:ea typeface="等线" panose="02010600030101010101" charset="-122"/>
                <a:cs typeface="等线" panose="02010600030101010101" charset="-122"/>
              </a:rPr>
              <a:t>每一段线路的传播时延均为</a:t>
            </a:r>
            <a:r>
              <a:rPr lang="en-US" kern="100" dirty="0">
                <a:latin typeface="等线" panose="02010600030101010101" charset="-122"/>
                <a:ea typeface="宋体" panose="02010600030101010101" pitchFamily="2" charset="-122"/>
                <a:cs typeface="等线" panose="02010600030101010101" charset="-122"/>
              </a:rPr>
              <a:t>10ms</a:t>
            </a:r>
            <a:r>
              <a:rPr lang="zh-CN" altLang="en-US" kern="100" dirty="0">
                <a:latin typeface="等线" panose="02010600030101010101" charset="-122"/>
                <a:ea typeface="宋体" panose="02010600030101010101" pitchFamily="2" charset="-122"/>
                <a:cs typeface="等线" panose="02010600030101010101" charset="-122"/>
              </a:rPr>
              <a:t>。</a:t>
            </a:r>
            <a:endParaRPr lang="en-US" kern="100" dirty="0">
              <a:ea typeface="宋体" panose="02010600030101010101" pitchFamily="2" charset="-122"/>
            </a:endParaRPr>
          </a:p>
          <a:p>
            <a:pPr marL="228600" marR="464185" algn="just">
              <a:tabLst>
                <a:tab pos="266700" algn="l"/>
              </a:tabLst>
            </a:pPr>
            <a:r>
              <a:rPr lang="zh-CN" altLang="en-US" b="1" kern="100" dirty="0">
                <a:ea typeface="等线" panose="02010600030101010101" charset="-122"/>
              </a:rPr>
              <a:t>方案甲：</a:t>
            </a:r>
            <a:r>
              <a:rPr lang="zh-CN" altLang="en-US" kern="100" dirty="0">
                <a:ea typeface="等线" panose="02010600030101010101" charset="-122"/>
              </a:rPr>
              <a:t>采用电路交换技术传输 </a:t>
            </a:r>
            <a:r>
              <a:rPr lang="en-US" kern="100" dirty="0">
                <a:latin typeface="等线" panose="02010600030101010101" charset="-122"/>
                <a:ea typeface="宋体" panose="02010600030101010101" pitchFamily="2" charset="-122"/>
              </a:rPr>
              <a:t>(</a:t>
            </a:r>
            <a:r>
              <a:rPr lang="zh-CN" altLang="en-US" kern="100" dirty="0">
                <a:latin typeface="等线" panose="02010600030101010101" charset="-122"/>
                <a:ea typeface="宋体" panose="02010600030101010101" pitchFamily="2" charset="-122"/>
              </a:rPr>
              <a:t>假设电路已经建好）。</a:t>
            </a:r>
            <a:endParaRPr lang="en-US" kern="100" dirty="0">
              <a:ea typeface="宋体" panose="02010600030101010101" pitchFamily="2" charset="-122"/>
            </a:endParaRPr>
          </a:p>
          <a:p>
            <a:pPr marL="228600" marR="464185" algn="just">
              <a:tabLst>
                <a:tab pos="266700" algn="l"/>
              </a:tabLst>
            </a:pPr>
            <a:r>
              <a:rPr lang="zh-CN" altLang="en-US" b="1" kern="100" dirty="0">
                <a:ea typeface="等线" panose="02010600030101010101" charset="-122"/>
              </a:rPr>
              <a:t>方案乙：</a:t>
            </a:r>
            <a:r>
              <a:rPr lang="zh-CN" altLang="en-US" kern="100" dirty="0">
                <a:ea typeface="等线" panose="02010600030101010101" charset="-122"/>
              </a:rPr>
              <a:t>将整个文件逐级存储转发（报文交换），假设</a:t>
            </a:r>
            <a:r>
              <a:rPr lang="zh-CN" altLang="en-US" b="1" kern="100" dirty="0">
                <a:solidFill>
                  <a:srgbClr val="FF0000"/>
                </a:solidFill>
                <a:ea typeface="等线" panose="02010600030101010101" charset="-122"/>
              </a:rPr>
              <a:t>报文头</a:t>
            </a:r>
            <a:r>
              <a:rPr lang="zh-CN" altLang="en-US" kern="100" dirty="0">
                <a:ea typeface="等线" panose="02010600030101010101" charset="-122"/>
              </a:rPr>
              <a:t>为</a:t>
            </a:r>
            <a:r>
              <a:rPr lang="en-US" kern="100" dirty="0">
                <a:latin typeface="等线" panose="02010600030101010101" charset="-122"/>
                <a:ea typeface="宋体" panose="02010600030101010101" pitchFamily="2" charset="-122"/>
              </a:rPr>
              <a:t>10</a:t>
            </a:r>
            <a:r>
              <a:rPr lang="zh-CN" altLang="en-US" kern="100" dirty="0">
                <a:latin typeface="等线" panose="02010600030101010101" charset="-122"/>
                <a:ea typeface="宋体" panose="02010600030101010101" pitchFamily="2" charset="-122"/>
              </a:rPr>
              <a:t>字节</a:t>
            </a:r>
            <a:r>
              <a:rPr lang="zh-CN" altLang="en-US" kern="100" dirty="0">
                <a:ea typeface="等线" panose="02010600030101010101" charset="-122"/>
              </a:rPr>
              <a:t>。</a:t>
            </a:r>
            <a:endParaRPr lang="en-US" kern="100" dirty="0">
              <a:ea typeface="宋体" panose="02010600030101010101" pitchFamily="2" charset="-122"/>
            </a:endParaRPr>
          </a:p>
          <a:p>
            <a:pPr marL="228600" marR="464185" algn="just">
              <a:tabLst>
                <a:tab pos="266700" algn="l"/>
              </a:tabLst>
            </a:pPr>
            <a:r>
              <a:rPr lang="zh-CN" altLang="en-US" b="1" kern="100" dirty="0">
                <a:ea typeface="等线" panose="02010600030101010101" charset="-122"/>
              </a:rPr>
              <a:t>方案丙：</a:t>
            </a:r>
            <a:r>
              <a:rPr lang="zh-CN" altLang="en-US" kern="100" dirty="0">
                <a:ea typeface="等线" panose="02010600030101010101" charset="-122"/>
              </a:rPr>
              <a:t>将文件分为</a:t>
            </a:r>
            <a:r>
              <a:rPr lang="en-US" kern="100" dirty="0">
                <a:latin typeface="等线" panose="02010600030101010101" charset="-122"/>
                <a:ea typeface="宋体" panose="02010600030101010101" pitchFamily="2" charset="-122"/>
              </a:rPr>
              <a:t>1000</a:t>
            </a:r>
            <a:r>
              <a:rPr lang="zh-CN" altLang="en-US" kern="100" dirty="0">
                <a:latin typeface="等线" panose="02010600030101010101" charset="-122"/>
                <a:ea typeface="宋体" panose="02010600030101010101" pitchFamily="2" charset="-122"/>
              </a:rPr>
              <a:t>字节长的幀再进行逐级存储转发，假定</a:t>
            </a:r>
            <a:r>
              <a:rPr lang="zh-CN" altLang="en-US" b="1" kern="100" dirty="0">
                <a:solidFill>
                  <a:srgbClr val="FF0000"/>
                </a:solidFill>
                <a:latin typeface="等线" panose="02010600030101010101" charset="-122"/>
                <a:ea typeface="宋体" panose="02010600030101010101" pitchFamily="2" charset="-122"/>
              </a:rPr>
              <a:t>幀头和幀尾</a:t>
            </a:r>
            <a:r>
              <a:rPr lang="zh-CN" altLang="en-US" kern="100" dirty="0">
                <a:latin typeface="等线" panose="02010600030101010101" charset="-122"/>
                <a:ea typeface="宋体" panose="02010600030101010101" pitchFamily="2" charset="-122"/>
              </a:rPr>
              <a:t>的开销</a:t>
            </a:r>
            <a:r>
              <a:rPr lang="zh-CN" altLang="en-US" b="1" kern="100" dirty="0">
                <a:solidFill>
                  <a:srgbClr val="FF0000"/>
                </a:solidFill>
                <a:latin typeface="等线" panose="02010600030101010101" charset="-122"/>
                <a:ea typeface="宋体" panose="02010600030101010101" pitchFamily="2" charset="-122"/>
              </a:rPr>
              <a:t>各</a:t>
            </a:r>
            <a:r>
              <a:rPr lang="zh-CN" altLang="en-US" kern="100" dirty="0">
                <a:latin typeface="等线" panose="02010600030101010101" charset="-122"/>
                <a:ea typeface="宋体" panose="02010600030101010101" pitchFamily="2" charset="-122"/>
              </a:rPr>
              <a:t>为</a:t>
            </a:r>
            <a:r>
              <a:rPr lang="en-US" kern="100" dirty="0">
                <a:latin typeface="等线" panose="02010600030101010101" charset="-122"/>
                <a:ea typeface="宋体" panose="02010600030101010101" pitchFamily="2" charset="-122"/>
              </a:rPr>
              <a:t>10</a:t>
            </a:r>
            <a:r>
              <a:rPr lang="zh-CN" altLang="en-US" kern="100" dirty="0">
                <a:latin typeface="等线" panose="02010600030101010101" charset="-122"/>
                <a:ea typeface="宋体" panose="02010600030101010101" pitchFamily="2" charset="-122"/>
              </a:rPr>
              <a:t>字节。假定分组之间连续发送，连续到达中间节点 （分组交换）。</a:t>
            </a:r>
            <a:endParaRPr lang="en-US" kern="100" dirty="0">
              <a:ea typeface="宋体" panose="02010600030101010101" pitchFamily="2" charset="-122"/>
            </a:endParaRPr>
          </a:p>
          <a:p>
            <a:pPr marL="228600" algn="just"/>
            <a:r>
              <a:rPr lang="zh-CN" altLang="en-US" b="1" kern="100" dirty="0">
                <a:ea typeface="等线" panose="02010600030101010101" charset="-122"/>
                <a:cs typeface="等线" panose="02010600030101010101" charset="-122"/>
              </a:rPr>
              <a:t>请问：</a:t>
            </a:r>
            <a:endParaRPr lang="en-US" kern="100" dirty="0">
              <a:ea typeface="宋体" panose="02010600030101010101" pitchFamily="2" charset="-122"/>
            </a:endParaRPr>
          </a:p>
          <a:p>
            <a:pPr marL="342900" indent="-342900" algn="just">
              <a:buFont typeface="+mj-lt"/>
              <a:buAutoNum type="arabicParenBoth"/>
            </a:pPr>
            <a:r>
              <a:rPr lang="zh-CN" altLang="en-US" kern="100" dirty="0">
                <a:ea typeface="等线" panose="02010600030101010101" charset="-122"/>
                <a:cs typeface="等线" panose="02010600030101010101" charset="-122"/>
              </a:rPr>
              <a:t>与包交换（</a:t>
            </a:r>
            <a:r>
              <a:rPr lang="en-US" kern="100" dirty="0">
                <a:latin typeface="等线" panose="02010600030101010101" charset="-122"/>
                <a:ea typeface="宋体" panose="02010600030101010101" pitchFamily="2" charset="-122"/>
                <a:cs typeface="等线" panose="02010600030101010101" charset="-122"/>
              </a:rPr>
              <a:t>packet switching</a:t>
            </a:r>
            <a:r>
              <a:rPr lang="zh-CN" altLang="en-US" kern="100" dirty="0">
                <a:latin typeface="等线" panose="02010600030101010101" charset="-122"/>
                <a:ea typeface="宋体" panose="02010600030101010101" pitchFamily="2" charset="-122"/>
                <a:cs typeface="等线" panose="02010600030101010101" charset="-122"/>
              </a:rPr>
              <a:t>，也称为分组交换</a:t>
            </a:r>
            <a:r>
              <a:rPr lang="en-US" kern="100" dirty="0">
                <a:latin typeface="等线" panose="02010600030101010101" charset="-122"/>
                <a:ea typeface="宋体" panose="02010600030101010101" pitchFamily="2" charset="-122"/>
                <a:cs typeface="等线" panose="02010600030101010101" charset="-122"/>
              </a:rPr>
              <a:t>)</a:t>
            </a:r>
            <a:r>
              <a:rPr lang="zh-CN" altLang="en-US" kern="100" dirty="0">
                <a:latin typeface="等线" panose="02010600030101010101" charset="-122"/>
                <a:ea typeface="宋体" panose="02010600030101010101" pitchFamily="2" charset="-122"/>
                <a:cs typeface="等线" panose="02010600030101010101" charset="-122"/>
              </a:rPr>
              <a:t>相比，电路交换</a:t>
            </a:r>
            <a:r>
              <a:rPr lang="en-US" kern="100" dirty="0">
                <a:latin typeface="等线" panose="02010600030101010101" charset="-122"/>
                <a:ea typeface="宋体" panose="02010600030101010101" pitchFamily="2" charset="-122"/>
                <a:cs typeface="等线" panose="02010600030101010101" charset="-122"/>
              </a:rPr>
              <a:t>(circuit switching)</a:t>
            </a:r>
            <a:r>
              <a:rPr lang="zh-CN" altLang="en-US" kern="100" dirty="0">
                <a:latin typeface="等线" panose="02010600030101010101" charset="-122"/>
                <a:ea typeface="宋体" panose="02010600030101010101" pitchFamily="2" charset="-122"/>
                <a:cs typeface="等线" panose="02010600030101010101" charset="-122"/>
              </a:rPr>
              <a:t>具有哪些优点？</a:t>
            </a:r>
            <a:endParaRPr lang="en-US" kern="100" dirty="0">
              <a:ea typeface="宋体" panose="02010600030101010101" pitchFamily="2" charset="-122"/>
            </a:endParaRPr>
          </a:p>
          <a:p>
            <a:pPr marL="342900" indent="-342900" algn="just">
              <a:buFont typeface="+mj-lt"/>
              <a:buAutoNum type="arabicParenBoth"/>
            </a:pPr>
            <a:r>
              <a:rPr lang="zh-CN" altLang="en-US" kern="100" dirty="0">
                <a:ea typeface="等线" panose="02010600030101010101" charset="-122"/>
                <a:cs typeface="等线" panose="02010600030101010101" charset="-122"/>
              </a:rPr>
              <a:t>请描述计算机网络若采用电路交换技术可能出现的问题。</a:t>
            </a:r>
            <a:endParaRPr lang="en-US" kern="100" dirty="0">
              <a:ea typeface="宋体" panose="02010600030101010101" pitchFamily="2" charset="-122"/>
            </a:endParaRPr>
          </a:p>
          <a:p>
            <a:pPr marL="342900" indent="-342900" algn="just">
              <a:buFont typeface="+mj-lt"/>
              <a:buAutoNum type="arabicParenBoth"/>
            </a:pPr>
            <a:r>
              <a:rPr lang="zh-CN" altLang="en-US" kern="100" dirty="0">
                <a:ea typeface="等线" panose="02010600030101010101" charset="-122"/>
                <a:cs typeface="等线" panose="02010600030101010101" charset="-122"/>
              </a:rPr>
              <a:t>方案甲传送此文件所需时间。</a:t>
            </a:r>
            <a:endParaRPr lang="en-US" kern="100" dirty="0">
              <a:ea typeface="宋体" panose="02010600030101010101" pitchFamily="2" charset="-122"/>
            </a:endParaRPr>
          </a:p>
          <a:p>
            <a:pPr marL="342900" indent="-342900" algn="just">
              <a:buFont typeface="+mj-lt"/>
              <a:buAutoNum type="arabicParenBoth"/>
            </a:pPr>
            <a:r>
              <a:rPr lang="zh-CN" altLang="en-US" kern="100" dirty="0">
                <a:ea typeface="等线" panose="02010600030101010101" charset="-122"/>
                <a:cs typeface="等线" panose="02010600030101010101" charset="-122"/>
              </a:rPr>
              <a:t>方案乙传送此文件所需时间。</a:t>
            </a:r>
            <a:endParaRPr lang="en-US" kern="100" dirty="0">
              <a:ea typeface="宋体" panose="02010600030101010101" pitchFamily="2" charset="-122"/>
            </a:endParaRPr>
          </a:p>
          <a:p>
            <a:pPr marL="342900" indent="-342900" algn="just">
              <a:buFont typeface="+mj-lt"/>
              <a:buAutoNum type="arabicParenBoth"/>
            </a:pPr>
            <a:r>
              <a:rPr lang="zh-CN" altLang="en-US" kern="100" dirty="0">
                <a:ea typeface="等线" panose="02010600030101010101" charset="-122"/>
                <a:cs typeface="等线" panose="02010600030101010101" charset="-122"/>
              </a:rPr>
              <a:t>方案丙传送此文件所需时间。</a:t>
            </a:r>
            <a:endParaRPr lang="en-US" kern="100" dirty="0">
              <a:ea typeface="宋体" panose="02010600030101010101" pitchFamily="2" charset="-122"/>
            </a:endParaRPr>
          </a:p>
        </p:txBody>
      </p:sp>
      <p:pic>
        <p:nvPicPr>
          <p:cNvPr id="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04756" y="4232554"/>
            <a:ext cx="5163244" cy="2625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dir="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endParaRPr lang="en-US" altLang="zh-CN"/>
          </a:p>
          <a:p>
            <a:pPr>
              <a:defRPr/>
            </a:pPr>
            <a:r>
              <a:rPr lang="en-US" altLang="zh-CN">
                <a:solidFill>
                  <a:srgbClr val="3366CC"/>
                </a:solidFill>
              </a:rPr>
              <a:t>Computer Network</a:t>
            </a:r>
            <a:endParaRPr lang="en-US" altLang="zh-CN">
              <a:solidFill>
                <a:srgbClr val="3366CC"/>
              </a:solidFill>
            </a:endParaRPr>
          </a:p>
        </p:txBody>
      </p:sp>
      <p:sp>
        <p:nvSpPr>
          <p:cNvPr id="3" name="灯片编号占位符 2"/>
          <p:cNvSpPr>
            <a:spLocks noGrp="1"/>
          </p:cNvSpPr>
          <p:nvPr>
            <p:ph type="sldNum" sz="quarter" idx="11"/>
          </p:nvPr>
        </p:nvSpPr>
        <p:spPr/>
        <p:txBody>
          <a:bodyPr/>
          <a:lstStyle/>
          <a:p>
            <a:pPr>
              <a:defRPr/>
            </a:pPr>
            <a:fld id="{D14F4EB7-F701-4BC0-85EE-D7BE12612223}" type="slidenum">
              <a:rPr lang="en-US" altLang="zh-CN" smtClean="0"/>
            </a:fld>
            <a:endParaRPr lang="en-US" altLang="zh-CN"/>
          </a:p>
        </p:txBody>
      </p:sp>
      <p:sp>
        <p:nvSpPr>
          <p:cNvPr id="4" name="日期占位符 3"/>
          <p:cNvSpPr>
            <a:spLocks noGrp="1"/>
          </p:cNvSpPr>
          <p:nvPr>
            <p:ph type="dt" sz="half" idx="12"/>
          </p:nvPr>
        </p:nvSpPr>
        <p:spPr/>
        <p:txBody>
          <a:bodyPr/>
          <a:lstStyle/>
          <a:p>
            <a:pPr>
              <a:defRPr/>
            </a:pPr>
            <a:fld id="{B642DE1C-33F0-4FAC-9F1A-0AAC83473411}" type="datetime1">
              <a:rPr lang="zh-CN" altLang="en-US" smtClean="0"/>
            </a:fld>
            <a:endParaRPr lang="en-US" altLang="zh-CN"/>
          </a:p>
        </p:txBody>
      </p:sp>
      <p:sp>
        <p:nvSpPr>
          <p:cNvPr id="7" name="矩形 6"/>
          <p:cNvSpPr/>
          <p:nvPr/>
        </p:nvSpPr>
        <p:spPr>
          <a:xfrm>
            <a:off x="838200" y="764704"/>
            <a:ext cx="5257800" cy="5170646"/>
          </a:xfrm>
          <a:prstGeom prst="rect">
            <a:avLst/>
          </a:prstGeom>
        </p:spPr>
        <p:txBody>
          <a:bodyPr wrap="square">
            <a:spAutoFit/>
          </a:bodyPr>
          <a:lstStyle/>
          <a:p>
            <a:pPr>
              <a:spcAft>
                <a:spcPts val="800"/>
              </a:spcAft>
            </a:pPr>
            <a:r>
              <a:rPr lang="zh-CN" altLang="en-US" b="1" kern="100" dirty="0">
                <a:latin typeface="等线" panose="02010600030101010101" charset="-122"/>
                <a:ea typeface="宋体" panose="02010600030101010101" pitchFamily="2" charset="-122"/>
                <a:cs typeface="等线" panose="02010600030101010101" charset="-122"/>
              </a:rPr>
              <a:t>（</a:t>
            </a:r>
            <a:r>
              <a:rPr lang="en-US" b="1" kern="100" dirty="0">
                <a:latin typeface="等线" panose="02010600030101010101" charset="-122"/>
                <a:ea typeface="宋体" panose="02010600030101010101" pitchFamily="2" charset="-122"/>
                <a:cs typeface="等线" panose="02010600030101010101" charset="-122"/>
              </a:rPr>
              <a:t>1</a:t>
            </a:r>
            <a:r>
              <a:rPr lang="zh-CN" altLang="en-US" b="1" kern="100" dirty="0">
                <a:latin typeface="等线" panose="02010600030101010101" charset="-122"/>
                <a:ea typeface="宋体" panose="02010600030101010101" pitchFamily="2" charset="-122"/>
                <a:cs typeface="等线" panose="02010600030101010101" charset="-122"/>
              </a:rPr>
              <a:t>）与包交换（</a:t>
            </a:r>
            <a:r>
              <a:rPr lang="en-US" b="1" kern="100" dirty="0">
                <a:latin typeface="等线" panose="02010600030101010101" charset="-122"/>
                <a:ea typeface="宋体" panose="02010600030101010101" pitchFamily="2" charset="-122"/>
                <a:cs typeface="等线" panose="02010600030101010101" charset="-122"/>
              </a:rPr>
              <a:t>packet switching</a:t>
            </a:r>
            <a:r>
              <a:rPr lang="zh-CN" altLang="en-US" b="1" kern="100" dirty="0">
                <a:latin typeface="等线" panose="02010600030101010101" charset="-122"/>
                <a:ea typeface="宋体" panose="02010600030101010101" pitchFamily="2" charset="-122"/>
                <a:cs typeface="等线" panose="02010600030101010101" charset="-122"/>
              </a:rPr>
              <a:t>，也称为分组交换</a:t>
            </a:r>
            <a:r>
              <a:rPr lang="en-US" b="1" kern="100" dirty="0">
                <a:latin typeface="等线" panose="02010600030101010101" charset="-122"/>
                <a:ea typeface="宋体" panose="02010600030101010101" pitchFamily="2" charset="-122"/>
                <a:cs typeface="等线" panose="02010600030101010101" charset="-122"/>
              </a:rPr>
              <a:t>)</a:t>
            </a:r>
            <a:r>
              <a:rPr lang="zh-CN" altLang="en-US" b="1" kern="100" dirty="0">
                <a:latin typeface="等线" panose="02010600030101010101" charset="-122"/>
                <a:ea typeface="宋体" panose="02010600030101010101" pitchFamily="2" charset="-122"/>
                <a:cs typeface="等线" panose="02010600030101010101" charset="-122"/>
              </a:rPr>
              <a:t>相比，电路交换</a:t>
            </a:r>
            <a:r>
              <a:rPr lang="en-US" b="1" kern="100" dirty="0">
                <a:latin typeface="等线" panose="02010600030101010101" charset="-122"/>
                <a:ea typeface="宋体" panose="02010600030101010101" pitchFamily="2" charset="-122"/>
                <a:cs typeface="等线" panose="02010600030101010101" charset="-122"/>
              </a:rPr>
              <a:t>(circuit switching)</a:t>
            </a:r>
            <a:r>
              <a:rPr lang="zh-CN" altLang="en-US" b="1" kern="100" dirty="0">
                <a:latin typeface="等线" panose="02010600030101010101" charset="-122"/>
                <a:ea typeface="宋体" panose="02010600030101010101" pitchFamily="2" charset="-122"/>
                <a:cs typeface="等线" panose="02010600030101010101" charset="-122"/>
              </a:rPr>
              <a:t>具有哪些优点？</a:t>
            </a:r>
            <a:br>
              <a:rPr lang="en-US" kern="100" dirty="0">
                <a:latin typeface="等线" panose="02010600030101010101" charset="-122"/>
                <a:ea typeface="宋体" panose="02010600030101010101" pitchFamily="2" charset="-122"/>
                <a:cs typeface="等线" panose="02010600030101010101" charset="-122"/>
              </a:rPr>
            </a:b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一旦链接建立，带宽和延迟稳定，服务质量高</a:t>
            </a:r>
            <a:endParaRPr lang="en-US" altLang="zh-CN" kern="100" dirty="0">
              <a:solidFill>
                <a:srgbClr val="FF0000"/>
              </a:solidFill>
              <a:latin typeface="等线" panose="02010600030101010101" charset="-122"/>
              <a:ea typeface="宋体" panose="02010600030101010101" pitchFamily="2" charset="-122"/>
              <a:cs typeface="等线" panose="02010600030101010101" charset="-122"/>
            </a:endParaRPr>
          </a:p>
          <a:p>
            <a:pPr>
              <a:spcAft>
                <a:spcPts val="800"/>
              </a:spcAft>
            </a:pPr>
            <a:endParaRPr lang="en-US" kern="100" dirty="0">
              <a:solidFill>
                <a:srgbClr val="FF0000"/>
              </a:solidFill>
              <a:ea typeface="宋体" panose="02010600030101010101" pitchFamily="2" charset="-122"/>
            </a:endParaRPr>
          </a:p>
          <a:p>
            <a:pPr>
              <a:spcAft>
                <a:spcPts val="800"/>
              </a:spcAft>
            </a:pPr>
            <a:r>
              <a:rPr lang="zh-CN" altLang="en-US" b="1" kern="100" dirty="0">
                <a:ea typeface="等线" panose="02010600030101010101" charset="-122"/>
                <a:cs typeface="等线" panose="02010600030101010101" charset="-122"/>
              </a:rPr>
              <a:t>（</a:t>
            </a:r>
            <a:r>
              <a:rPr lang="en-US" b="1" kern="100" dirty="0">
                <a:latin typeface="等线" panose="02010600030101010101" charset="-122"/>
                <a:ea typeface="宋体" panose="02010600030101010101" pitchFamily="2" charset="-122"/>
                <a:cs typeface="等线" panose="02010600030101010101" charset="-122"/>
              </a:rPr>
              <a:t>2</a:t>
            </a:r>
            <a:r>
              <a:rPr lang="zh-CN" altLang="en-US" b="1" kern="100" dirty="0">
                <a:latin typeface="等线" panose="02010600030101010101" charset="-122"/>
                <a:ea typeface="宋体" panose="02010600030101010101" pitchFamily="2" charset="-122"/>
                <a:cs typeface="等线" panose="02010600030101010101" charset="-122"/>
              </a:rPr>
              <a:t>）请描述计算机网络若采用电路交换技术可能出现的问题。</a:t>
            </a:r>
            <a:endParaRPr lang="en-US" altLang="zh-CN" b="1" kern="100" dirty="0">
              <a:latin typeface="等线" panose="02010600030101010101" charset="-122"/>
              <a:ea typeface="宋体" panose="02010600030101010101" pitchFamily="2" charset="-122"/>
              <a:cs typeface="等线" panose="02010600030101010101" charset="-122"/>
            </a:endParaRPr>
          </a:p>
          <a:p>
            <a:pPr>
              <a:spcAft>
                <a:spcPts val="800"/>
              </a:spcAft>
            </a:pP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有明确的建路延迟、抗毁能力差、带宽利用率低</a:t>
            </a:r>
            <a:endParaRPr lang="en-US" altLang="zh-CN" kern="100" dirty="0">
              <a:solidFill>
                <a:srgbClr val="FF0000"/>
              </a:solidFill>
              <a:latin typeface="等线" panose="02010600030101010101" charset="-122"/>
              <a:ea typeface="宋体" panose="02010600030101010101" pitchFamily="2" charset="-122"/>
              <a:cs typeface="等线" panose="02010600030101010101" charset="-122"/>
            </a:endParaRPr>
          </a:p>
          <a:p>
            <a:pPr>
              <a:spcAft>
                <a:spcPts val="800"/>
              </a:spcAft>
            </a:pP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 </a:t>
            </a:r>
            <a:endParaRPr lang="en-US" kern="100" dirty="0">
              <a:solidFill>
                <a:srgbClr val="FF0000"/>
              </a:solidFill>
              <a:ea typeface="宋体" panose="02010600030101010101" pitchFamily="2" charset="-122"/>
            </a:endParaRPr>
          </a:p>
          <a:p>
            <a:pPr>
              <a:spcAft>
                <a:spcPts val="800"/>
              </a:spcAft>
            </a:pPr>
            <a:r>
              <a:rPr lang="zh-CN" altLang="en-US" b="1" kern="100" dirty="0">
                <a:ea typeface="宋体" panose="02010600030101010101" pitchFamily="2" charset="-122"/>
              </a:rPr>
              <a:t>（</a:t>
            </a:r>
            <a:r>
              <a:rPr lang="en-US" b="1" kern="100" dirty="0">
                <a:latin typeface="宋体" panose="02010600030101010101" pitchFamily="2" charset="-122"/>
                <a:ea typeface="宋体" panose="02010600030101010101" pitchFamily="2" charset="-122"/>
              </a:rPr>
              <a:t>3</a:t>
            </a:r>
            <a:r>
              <a:rPr lang="zh-CN" altLang="en-US" b="1" kern="100" dirty="0">
                <a:latin typeface="宋体" panose="02010600030101010101" pitchFamily="2" charset="-122"/>
                <a:ea typeface="宋体" panose="02010600030101010101" pitchFamily="2" charset="-122"/>
              </a:rPr>
              <a:t>）方案甲传送此文件所需时间：</a:t>
            </a:r>
            <a:endParaRPr lang="en-US" b="1" kern="100" dirty="0">
              <a:ea typeface="宋体" panose="02010600030101010101" pitchFamily="2" charset="-122"/>
            </a:endParaRPr>
          </a:p>
          <a:p>
            <a:pPr>
              <a:spcAft>
                <a:spcPts val="800"/>
              </a:spcAft>
            </a:pPr>
            <a:r>
              <a:rPr lang="zh-CN" altLang="en-US" kern="100" dirty="0">
                <a:solidFill>
                  <a:srgbClr val="FF0000"/>
                </a:solidFill>
                <a:ea typeface="等线" panose="02010600030101010101" charset="-122"/>
                <a:cs typeface="等线" panose="02010600030101010101" charset="-122"/>
              </a:rPr>
              <a:t>传输延迟：</a:t>
            </a:r>
            <a:r>
              <a:rPr lang="en-US" kern="100" dirty="0">
                <a:solidFill>
                  <a:srgbClr val="FF0000"/>
                </a:solidFill>
                <a:latin typeface="等线" panose="02010600030101010101" charset="-122"/>
                <a:ea typeface="宋体" panose="02010600030101010101" pitchFamily="2" charset="-122"/>
                <a:cs typeface="等线" panose="02010600030101010101" charset="-122"/>
              </a:rPr>
              <a:t>10ms * 3 = 0.03s</a:t>
            </a:r>
            <a:endParaRPr lang="en-US" kern="100" dirty="0">
              <a:solidFill>
                <a:srgbClr val="FF0000"/>
              </a:solidFill>
              <a:ea typeface="宋体" panose="02010600030101010101" pitchFamily="2" charset="-122"/>
            </a:endParaRPr>
          </a:p>
          <a:p>
            <a:pPr>
              <a:spcAft>
                <a:spcPts val="800"/>
              </a:spcAft>
            </a:pPr>
            <a:r>
              <a:rPr lang="zh-CN" altLang="en-US" kern="100" dirty="0">
                <a:solidFill>
                  <a:srgbClr val="FF0000"/>
                </a:solidFill>
                <a:ea typeface="等线" panose="02010600030101010101" charset="-122"/>
                <a:cs typeface="等线" panose="02010600030101010101" charset="-122"/>
              </a:rPr>
              <a:t>传输数据所需时间：（</a:t>
            </a:r>
            <a:r>
              <a:rPr lang="en-US" kern="100" dirty="0">
                <a:solidFill>
                  <a:srgbClr val="FF0000"/>
                </a:solidFill>
                <a:latin typeface="等线" panose="02010600030101010101" charset="-122"/>
                <a:ea typeface="宋体" panose="02010600030101010101" pitchFamily="2" charset="-122"/>
                <a:cs typeface="等线" panose="02010600030101010101" charset="-122"/>
              </a:rPr>
              <a:t>100*10</a:t>
            </a:r>
            <a:r>
              <a:rPr lang="en-US" kern="100" baseline="30000" dirty="0">
                <a:solidFill>
                  <a:srgbClr val="FF0000"/>
                </a:solidFill>
                <a:latin typeface="等线" panose="02010600030101010101" charset="-122"/>
                <a:ea typeface="宋体" panose="02010600030101010101" pitchFamily="2" charset="-122"/>
                <a:cs typeface="等线" panose="02010600030101010101" charset="-122"/>
              </a:rPr>
              <a:t>6</a:t>
            </a:r>
            <a:r>
              <a:rPr lang="en-US" kern="100" dirty="0">
                <a:solidFill>
                  <a:srgbClr val="FF0000"/>
                </a:solidFill>
                <a:latin typeface="等线" panose="02010600030101010101" charset="-122"/>
                <a:ea typeface="宋体" panose="02010600030101010101" pitchFamily="2" charset="-122"/>
                <a:cs typeface="等线" panose="02010600030101010101" charset="-122"/>
              </a:rPr>
              <a:t>*8)/(8*10</a:t>
            </a:r>
            <a:r>
              <a:rPr lang="en-US" kern="100" baseline="30000" dirty="0">
                <a:solidFill>
                  <a:srgbClr val="FF0000"/>
                </a:solidFill>
                <a:latin typeface="等线" panose="02010600030101010101" charset="-122"/>
                <a:ea typeface="宋体" panose="02010600030101010101" pitchFamily="2" charset="-122"/>
                <a:cs typeface="等线" panose="02010600030101010101" charset="-122"/>
              </a:rPr>
              <a:t>3</a:t>
            </a:r>
            <a:r>
              <a:rPr lang="en-US" kern="100" dirty="0">
                <a:solidFill>
                  <a:srgbClr val="FF0000"/>
                </a:solidFill>
                <a:latin typeface="等线" panose="02010600030101010101" charset="-122"/>
                <a:ea typeface="宋体" panose="02010600030101010101" pitchFamily="2" charset="-122"/>
                <a:cs typeface="等线" panose="02010600030101010101" charset="-122"/>
              </a:rPr>
              <a:t>)</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100000s</a:t>
            </a:r>
            <a:endParaRPr lang="en-US" kern="100" dirty="0">
              <a:solidFill>
                <a:srgbClr val="FF0000"/>
              </a:solidFill>
              <a:ea typeface="宋体" panose="02010600030101010101" pitchFamily="2" charset="-122"/>
            </a:endParaRPr>
          </a:p>
          <a:p>
            <a:pPr>
              <a:spcAft>
                <a:spcPts val="800"/>
              </a:spcAft>
            </a:pPr>
            <a:r>
              <a:rPr lang="zh-CN" altLang="en-US" kern="100" dirty="0">
                <a:solidFill>
                  <a:srgbClr val="FF0000"/>
                </a:solidFill>
                <a:ea typeface="等线" panose="02010600030101010101" charset="-122"/>
                <a:cs typeface="等线" panose="02010600030101010101" charset="-122"/>
              </a:rPr>
              <a:t>总时间：</a:t>
            </a:r>
            <a:r>
              <a:rPr lang="en-US" kern="100" dirty="0">
                <a:solidFill>
                  <a:srgbClr val="FF0000"/>
                </a:solidFill>
                <a:latin typeface="等线" panose="02010600030101010101" charset="-122"/>
                <a:ea typeface="宋体" panose="02010600030101010101" pitchFamily="2" charset="-122"/>
                <a:cs typeface="等线" panose="02010600030101010101" charset="-122"/>
              </a:rPr>
              <a:t>0.03 + 100000s = 100000.03s</a:t>
            </a:r>
            <a:endParaRPr lang="en-US" kern="100" dirty="0">
              <a:solidFill>
                <a:srgbClr val="FF0000"/>
              </a:solidFill>
              <a:ea typeface="宋体" panose="02010600030101010101" pitchFamily="2" charset="-122"/>
            </a:endParaRPr>
          </a:p>
          <a:p>
            <a:pPr marR="464185">
              <a:spcAft>
                <a:spcPts val="800"/>
              </a:spcAft>
              <a:tabLst>
                <a:tab pos="266700" algn="l"/>
              </a:tabLst>
            </a:pPr>
            <a:endParaRPr lang="en-US" kern="100" dirty="0">
              <a:ea typeface="宋体" panose="02010600030101010101" pitchFamily="2" charset="-122"/>
            </a:endParaRPr>
          </a:p>
        </p:txBody>
      </p:sp>
      <p:sp>
        <p:nvSpPr>
          <p:cNvPr id="6" name="矩形 5"/>
          <p:cNvSpPr/>
          <p:nvPr/>
        </p:nvSpPr>
        <p:spPr>
          <a:xfrm>
            <a:off x="6096001" y="692696"/>
            <a:ext cx="5823856" cy="6309420"/>
          </a:xfrm>
          <a:prstGeom prst="rect">
            <a:avLst/>
          </a:prstGeom>
        </p:spPr>
        <p:txBody>
          <a:bodyPr wrap="square">
            <a:spAutoFit/>
          </a:bodyPr>
          <a:lstStyle/>
          <a:p>
            <a:pPr marR="464185">
              <a:spcAft>
                <a:spcPts val="800"/>
              </a:spcAft>
              <a:tabLst>
                <a:tab pos="266700" algn="l"/>
              </a:tabLst>
            </a:pPr>
            <a:r>
              <a:rPr lang="zh-CN" altLang="en-US" b="1" kern="100" dirty="0">
                <a:ea typeface="宋体" panose="02010600030101010101" pitchFamily="2" charset="-122"/>
              </a:rPr>
              <a:t>（</a:t>
            </a:r>
            <a:r>
              <a:rPr lang="en-US" b="1" kern="100" dirty="0">
                <a:latin typeface="宋体" panose="02010600030101010101" pitchFamily="2" charset="-122"/>
                <a:ea typeface="宋体" panose="02010600030101010101" pitchFamily="2" charset="-122"/>
              </a:rPr>
              <a:t>4</a:t>
            </a:r>
            <a:r>
              <a:rPr lang="zh-CN" altLang="en-US" b="1" kern="100" dirty="0">
                <a:latin typeface="宋体" panose="02010600030101010101" pitchFamily="2" charset="-122"/>
                <a:ea typeface="宋体" panose="02010600030101010101" pitchFamily="2" charset="-122"/>
              </a:rPr>
              <a:t>）方案乙传送此文件所需时间：</a:t>
            </a:r>
            <a:endParaRPr lang="en-US" altLang="zh-CN" b="1" kern="100" dirty="0">
              <a:ea typeface="宋体" panose="02010600030101010101" pitchFamily="2" charset="-122"/>
            </a:endParaRPr>
          </a:p>
          <a:p>
            <a:pPr marR="464185">
              <a:spcAft>
                <a:spcPts val="800"/>
              </a:spcAft>
              <a:tabLst>
                <a:tab pos="266700" algn="l"/>
              </a:tabLst>
            </a:pPr>
            <a:r>
              <a:rPr lang="zh-CN" altLang="en-US" kern="100" dirty="0">
                <a:solidFill>
                  <a:srgbClr val="FF0000"/>
                </a:solidFill>
                <a:ea typeface="等线" panose="02010600030101010101" charset="-122"/>
                <a:cs typeface="等线" panose="02010600030101010101" charset="-122"/>
              </a:rPr>
              <a:t>每一段线路的报文发送时间为：</a:t>
            </a:r>
            <a:br>
              <a:rPr lang="en-US" altLang="zh-CN" kern="100" dirty="0">
                <a:solidFill>
                  <a:srgbClr val="FF0000"/>
                </a:solidFill>
                <a:ea typeface="等线" panose="02010600030101010101" charset="-122"/>
                <a:cs typeface="等线" panose="02010600030101010101" charset="-122"/>
              </a:rPr>
            </a:br>
            <a:r>
              <a:rPr lang="en-US" altLang="zh-CN" kern="100" dirty="0">
                <a:solidFill>
                  <a:srgbClr val="FF0000"/>
                </a:solidFill>
                <a:ea typeface="等线" panose="02010600030101010101"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100*10</a:t>
            </a:r>
            <a:r>
              <a:rPr lang="en-US" kern="100" baseline="30000" dirty="0">
                <a:solidFill>
                  <a:srgbClr val="FF0000"/>
                </a:solidFill>
                <a:latin typeface="等线" panose="02010600030101010101" charset="-122"/>
                <a:ea typeface="宋体" panose="02010600030101010101" pitchFamily="2" charset="-122"/>
                <a:cs typeface="等线" panose="02010600030101010101" charset="-122"/>
              </a:rPr>
              <a:t>6</a:t>
            </a:r>
            <a:r>
              <a:rPr lang="en-US" kern="100" dirty="0">
                <a:solidFill>
                  <a:srgbClr val="FF0000"/>
                </a:solidFill>
                <a:latin typeface="等线" panose="02010600030101010101" charset="-122"/>
                <a:ea typeface="宋体" panose="02010600030101010101" pitchFamily="2" charset="-122"/>
                <a:cs typeface="等线" panose="02010600030101010101" charset="-122"/>
              </a:rPr>
              <a:t>+10)*8/(8</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a:t>
            </a:r>
            <a:r>
              <a:rPr lang="en-US" kern="100" baseline="30000" dirty="0">
                <a:solidFill>
                  <a:srgbClr val="FF0000"/>
                </a:solidFill>
                <a:latin typeface="等线" panose="02010600030101010101" charset="-122"/>
                <a:ea typeface="宋体" panose="02010600030101010101" pitchFamily="2" charset="-122"/>
                <a:cs typeface="等线" panose="02010600030101010101" charset="-122"/>
              </a:rPr>
              <a:t>3</a:t>
            </a:r>
            <a:r>
              <a:rPr lang="en-US" kern="100" dirty="0">
                <a:solidFill>
                  <a:srgbClr val="FF0000"/>
                </a:solidFill>
                <a:latin typeface="等线" panose="02010600030101010101" charset="-122"/>
                <a:ea typeface="宋体" panose="02010600030101010101" pitchFamily="2" charset="-122"/>
                <a:cs typeface="等线" panose="02010600030101010101" charset="-122"/>
              </a:rPr>
              <a:t>)</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100000.01s</a:t>
            </a:r>
            <a:endParaRPr lang="en-US" kern="100" dirty="0">
              <a:solidFill>
                <a:srgbClr val="FF0000"/>
              </a:solidFill>
              <a:latin typeface="等线" panose="02010600030101010101" charset="-122"/>
              <a:ea typeface="宋体" panose="02010600030101010101" pitchFamily="2" charset="-122"/>
              <a:cs typeface="等线" panose="02010600030101010101" charset="-122"/>
            </a:endParaRPr>
          </a:p>
          <a:p>
            <a:pPr marR="464185">
              <a:spcAft>
                <a:spcPts val="800"/>
              </a:spcAft>
              <a:tabLst>
                <a:tab pos="266700" algn="l"/>
              </a:tabLst>
            </a:pPr>
            <a:r>
              <a:rPr lang="zh-CN" altLang="en-US" kern="100" dirty="0">
                <a:solidFill>
                  <a:srgbClr val="FF0000"/>
                </a:solidFill>
                <a:ea typeface="等线" panose="02010600030101010101" charset="-122"/>
                <a:cs typeface="等线" panose="02010600030101010101" charset="-122"/>
              </a:rPr>
              <a:t>每一段线路的传播时延为：</a:t>
            </a:r>
            <a:br>
              <a:rPr lang="en-US" altLang="zh-CN" kern="100" dirty="0">
                <a:solidFill>
                  <a:srgbClr val="FF0000"/>
                </a:solidFill>
                <a:ea typeface="等线" panose="02010600030101010101" charset="-122"/>
                <a:cs typeface="等线" panose="02010600030101010101" charset="-122"/>
              </a:rPr>
            </a:br>
            <a:r>
              <a:rPr lang="en-US" kern="100" dirty="0">
                <a:solidFill>
                  <a:srgbClr val="FF0000"/>
                </a:solidFill>
                <a:latin typeface="等线" panose="02010600030101010101" charset="-122"/>
                <a:ea typeface="宋体" panose="02010600030101010101" pitchFamily="2" charset="-122"/>
                <a:cs typeface="等线" panose="02010600030101010101" charset="-122"/>
              </a:rPr>
              <a:t>10ms</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0.01</a:t>
            </a:r>
            <a:r>
              <a:rPr lang="en-US" kern="100" dirty="0">
                <a:solidFill>
                  <a:srgbClr val="FF0000"/>
                </a:solidFill>
                <a:latin typeface="等线" panose="02010600030101010101" charset="-122"/>
                <a:ea typeface="宋体" panose="02010600030101010101" pitchFamily="2" charset="-122"/>
                <a:cs typeface="等线" panose="02010600030101010101" charset="-122"/>
              </a:rPr>
              <a:t>s</a:t>
            </a:r>
            <a:endParaRPr lang="en-US" kern="100" dirty="0">
              <a:solidFill>
                <a:srgbClr val="FF0000"/>
              </a:solidFill>
              <a:ea typeface="宋体" panose="02010600030101010101" pitchFamily="2" charset="-122"/>
            </a:endParaRPr>
          </a:p>
          <a:p>
            <a:pPr marR="464185">
              <a:spcAft>
                <a:spcPts val="800"/>
              </a:spcAft>
              <a:tabLst>
                <a:tab pos="266700" algn="l"/>
              </a:tabLst>
            </a:pPr>
            <a:r>
              <a:rPr lang="zh-CN" altLang="en-US" kern="100" dirty="0">
                <a:solidFill>
                  <a:srgbClr val="FF0000"/>
                </a:solidFill>
                <a:ea typeface="等线" panose="02010600030101010101" charset="-122"/>
                <a:cs typeface="等线" panose="02010600030101010101" charset="-122"/>
              </a:rPr>
              <a:t>总时间为：</a:t>
            </a:r>
            <a:br>
              <a:rPr lang="en-US" altLang="zh-CN" kern="100" dirty="0">
                <a:solidFill>
                  <a:srgbClr val="FF0000"/>
                </a:solidFill>
                <a:ea typeface="等线" panose="02010600030101010101" charset="-122"/>
                <a:cs typeface="等线" panose="02010600030101010101" charset="-122"/>
              </a:rPr>
            </a:br>
            <a:r>
              <a:rPr lang="en-US" altLang="zh-CN" kern="100" dirty="0">
                <a:solidFill>
                  <a:srgbClr val="FF0000"/>
                </a:solidFill>
                <a:ea typeface="等线" panose="02010600030101010101" charset="-122"/>
                <a:cs typeface="等线" panose="02010600030101010101" charset="-122"/>
              </a:rPr>
              <a:t>(</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0.01</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100000.01)</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3</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300000.0</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6</a:t>
            </a:r>
            <a:r>
              <a:rPr lang="en-US" kern="100" dirty="0">
                <a:solidFill>
                  <a:srgbClr val="FF0000"/>
                </a:solidFill>
                <a:latin typeface="等线" panose="02010600030101010101" charset="-122"/>
                <a:ea typeface="宋体" panose="02010600030101010101" pitchFamily="2" charset="-122"/>
                <a:cs typeface="等线" panose="02010600030101010101" charset="-122"/>
              </a:rPr>
              <a:t>s</a:t>
            </a:r>
            <a:endParaRPr lang="en-US" kern="100" dirty="0">
              <a:solidFill>
                <a:srgbClr val="FF0000"/>
              </a:solidFill>
              <a:latin typeface="等线" panose="02010600030101010101" charset="-122"/>
              <a:ea typeface="宋体" panose="02010600030101010101" pitchFamily="2" charset="-122"/>
              <a:cs typeface="等线" panose="02010600030101010101" charset="-122"/>
            </a:endParaRPr>
          </a:p>
          <a:p>
            <a:pPr marR="464185">
              <a:spcAft>
                <a:spcPts val="800"/>
              </a:spcAft>
              <a:tabLst>
                <a:tab pos="266700" algn="l"/>
              </a:tabLst>
            </a:pPr>
            <a:endParaRPr lang="en-US" altLang="zh-CN" kern="100" dirty="0">
              <a:solidFill>
                <a:srgbClr val="FF0000"/>
              </a:solidFill>
              <a:ea typeface="宋体" panose="02010600030101010101" pitchFamily="2" charset="-122"/>
            </a:endParaRPr>
          </a:p>
          <a:p>
            <a:pPr>
              <a:spcAft>
                <a:spcPts val="800"/>
              </a:spcAft>
            </a:pPr>
            <a:r>
              <a:rPr lang="zh-CN" altLang="en-US" b="1" kern="100" dirty="0">
                <a:ea typeface="宋体" panose="02010600030101010101" pitchFamily="2" charset="-122"/>
              </a:rPr>
              <a:t>（</a:t>
            </a:r>
            <a:r>
              <a:rPr lang="en-US" b="1" kern="100" dirty="0">
                <a:latin typeface="宋体" panose="02010600030101010101" pitchFamily="2" charset="-122"/>
                <a:ea typeface="宋体" panose="02010600030101010101" pitchFamily="2" charset="-122"/>
              </a:rPr>
              <a:t>5</a:t>
            </a:r>
            <a:r>
              <a:rPr lang="zh-CN" altLang="en-US" b="1" kern="100" dirty="0">
                <a:latin typeface="宋体" panose="02010600030101010101" pitchFamily="2" charset="-122"/>
                <a:ea typeface="宋体" panose="02010600030101010101" pitchFamily="2" charset="-122"/>
              </a:rPr>
              <a:t>）方案丙传送此文件所需时间：</a:t>
            </a:r>
            <a:br>
              <a:rPr lang="en-US" altLang="zh-CN" b="1" kern="100" dirty="0">
                <a:latin typeface="宋体" panose="02010600030101010101" pitchFamily="2" charset="-122"/>
                <a:ea typeface="宋体" panose="02010600030101010101" pitchFamily="2" charset="-122"/>
              </a:rPr>
            </a:br>
            <a:br>
              <a:rPr lang="en-US" altLang="zh-CN" kern="100" dirty="0">
                <a:ea typeface="宋体" panose="02010600030101010101" pitchFamily="2" charset="-122"/>
              </a:rPr>
            </a:br>
            <a:r>
              <a:rPr lang="zh-CN" altLang="en-US" kern="100" dirty="0">
                <a:solidFill>
                  <a:srgbClr val="FF0000"/>
                </a:solidFill>
                <a:ea typeface="等线" panose="02010600030101010101" charset="-122"/>
                <a:cs typeface="等线" panose="02010600030101010101" charset="-122"/>
              </a:rPr>
              <a:t>文件一共分为</a:t>
            </a:r>
            <a:r>
              <a:rPr lang="en-US" kern="100" dirty="0">
                <a:solidFill>
                  <a:srgbClr val="FF0000"/>
                </a:solidFill>
                <a:latin typeface="等线" panose="02010600030101010101" charset="-122"/>
                <a:ea typeface="宋体" panose="02010600030101010101" pitchFamily="2" charset="-122"/>
                <a:cs typeface="等线" panose="02010600030101010101" charset="-122"/>
              </a:rPr>
              <a:t>100</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a:t>
            </a:r>
            <a:r>
              <a:rPr lang="en-US" kern="100" baseline="30000" dirty="0">
                <a:solidFill>
                  <a:srgbClr val="FF0000"/>
                </a:solidFill>
                <a:latin typeface="等线" panose="02010600030101010101" charset="-122"/>
                <a:ea typeface="宋体" panose="02010600030101010101" pitchFamily="2" charset="-122"/>
                <a:cs typeface="等线" panose="02010600030101010101" charset="-122"/>
              </a:rPr>
              <a:t>6</a:t>
            </a:r>
            <a:r>
              <a:rPr lang="en-US" kern="100" dirty="0">
                <a:solidFill>
                  <a:srgbClr val="FF0000"/>
                </a:solidFill>
                <a:latin typeface="等线" panose="02010600030101010101" charset="-122"/>
                <a:ea typeface="宋体" panose="02010600030101010101" pitchFamily="2" charset="-122"/>
                <a:cs typeface="等线" panose="02010600030101010101" charset="-122"/>
              </a:rPr>
              <a:t>/1000</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a:t>
            </a:r>
            <a:r>
              <a:rPr lang="en-US" kern="100" baseline="30000" dirty="0">
                <a:solidFill>
                  <a:srgbClr val="FF0000"/>
                </a:solidFill>
                <a:latin typeface="等线" panose="02010600030101010101" charset="-122"/>
                <a:ea typeface="宋体" panose="02010600030101010101" pitchFamily="2" charset="-122"/>
                <a:cs typeface="等线" panose="02010600030101010101" charset="-122"/>
              </a:rPr>
              <a:t>5</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（个）帧</a:t>
            </a:r>
            <a:endParaRPr lang="en-US" kern="100" dirty="0">
              <a:solidFill>
                <a:srgbClr val="FF0000"/>
              </a:solidFill>
              <a:ea typeface="宋体" panose="02010600030101010101" pitchFamily="2" charset="-122"/>
            </a:endParaRPr>
          </a:p>
          <a:p>
            <a:pPr marR="464185">
              <a:spcAft>
                <a:spcPts val="800"/>
              </a:spcAft>
              <a:tabLst>
                <a:tab pos="266700" algn="l"/>
              </a:tabLst>
            </a:pPr>
            <a:r>
              <a:rPr lang="en-US" kern="100" dirty="0">
                <a:solidFill>
                  <a:srgbClr val="FF0000"/>
                </a:solidFill>
                <a:latin typeface="等线" panose="02010600030101010101" charset="-122"/>
                <a:ea typeface="宋体" panose="02010600030101010101" pitchFamily="2" charset="-122"/>
                <a:cs typeface="等线" panose="02010600030101010101" charset="-122"/>
              </a:rPr>
              <a:t>1</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个帧长为</a:t>
            </a:r>
            <a:r>
              <a:rPr lang="en-US" kern="100" dirty="0">
                <a:solidFill>
                  <a:srgbClr val="FF0000"/>
                </a:solidFill>
                <a:latin typeface="等线" panose="02010600030101010101" charset="-122"/>
                <a:ea typeface="宋体" panose="02010600030101010101" pitchFamily="2" charset="-122"/>
                <a:cs typeface="等线" panose="02010600030101010101" charset="-122"/>
              </a:rPr>
              <a:t>1020</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字节，节点发送</a:t>
            </a:r>
            <a:r>
              <a:rPr lang="en-US" kern="100" dirty="0">
                <a:solidFill>
                  <a:srgbClr val="FF0000"/>
                </a:solidFill>
                <a:latin typeface="等线" panose="02010600030101010101" charset="-122"/>
                <a:ea typeface="宋体" panose="02010600030101010101" pitchFamily="2" charset="-122"/>
                <a:cs typeface="等线" panose="02010600030101010101" charset="-122"/>
              </a:rPr>
              <a:t>1</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个帧的时间为：</a:t>
            </a:r>
            <a:endParaRPr lang="en-US" kern="100" dirty="0">
              <a:solidFill>
                <a:srgbClr val="FF0000"/>
              </a:solidFill>
              <a:ea typeface="宋体" panose="02010600030101010101" pitchFamily="2" charset="-122"/>
            </a:endParaRPr>
          </a:p>
          <a:p>
            <a:pPr marR="464185">
              <a:spcAft>
                <a:spcPts val="800"/>
              </a:spcAft>
              <a:tabLst>
                <a:tab pos="266700" algn="l"/>
              </a:tabLst>
            </a:pPr>
            <a:r>
              <a:rPr lang="en-US" kern="100" dirty="0">
                <a:solidFill>
                  <a:srgbClr val="FF0000"/>
                </a:solidFill>
                <a:latin typeface="等线" panose="02010600030101010101" charset="-122"/>
                <a:ea typeface="宋体" panose="02010600030101010101" pitchFamily="2" charset="-122"/>
                <a:cs typeface="等线" panose="02010600030101010101" charset="-122"/>
              </a:rPr>
              <a:t>      1020</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8/(8</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1000)</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1.02s</a:t>
            </a:r>
            <a:endParaRPr lang="en-US" kern="100" dirty="0">
              <a:solidFill>
                <a:srgbClr val="FF0000"/>
              </a:solidFill>
              <a:ea typeface="宋体" panose="02010600030101010101" pitchFamily="2" charset="-122"/>
            </a:endParaRPr>
          </a:p>
          <a:p>
            <a:pPr marR="464185">
              <a:spcAft>
                <a:spcPts val="800"/>
              </a:spcAft>
              <a:tabLst>
                <a:tab pos="266700" algn="l"/>
              </a:tabLst>
            </a:pPr>
            <a:r>
              <a:rPr lang="en-US" kern="100" dirty="0">
                <a:solidFill>
                  <a:srgbClr val="FF0000"/>
                </a:solidFill>
                <a:latin typeface="等线" panose="02010600030101010101" charset="-122"/>
                <a:ea typeface="宋体" panose="02010600030101010101" pitchFamily="2" charset="-122"/>
                <a:cs typeface="等线" panose="02010600030101010101" charset="-122"/>
              </a:rPr>
              <a:t>      </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传送</a:t>
            </a:r>
            <a:r>
              <a:rPr lang="en-US" kern="100" dirty="0">
                <a:solidFill>
                  <a:srgbClr val="FF0000"/>
                </a:solidFill>
                <a:latin typeface="等线" panose="02010600030101010101" charset="-122"/>
                <a:ea typeface="宋体" panose="02010600030101010101" pitchFamily="2" charset="-122"/>
                <a:cs typeface="等线" panose="02010600030101010101" charset="-122"/>
              </a:rPr>
              <a:t>1</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个帧所需时间：</a:t>
            </a:r>
            <a:endParaRPr lang="en-US" kern="100" dirty="0">
              <a:solidFill>
                <a:srgbClr val="FF0000"/>
              </a:solidFill>
              <a:ea typeface="宋体" panose="02010600030101010101" pitchFamily="2" charset="-122"/>
            </a:endParaRPr>
          </a:p>
          <a:p>
            <a:pPr marR="464185">
              <a:spcAft>
                <a:spcPts val="800"/>
              </a:spcAft>
              <a:tabLst>
                <a:tab pos="266700" algn="l"/>
              </a:tabLst>
            </a:pPr>
            <a:r>
              <a:rPr lang="en-US" kern="100" dirty="0">
                <a:solidFill>
                  <a:srgbClr val="FF0000"/>
                </a:solidFill>
                <a:latin typeface="等线" panose="02010600030101010101" charset="-122"/>
                <a:ea typeface="宋体" panose="02010600030101010101" pitchFamily="2" charset="-122"/>
                <a:cs typeface="等线" panose="02010600030101010101" charset="-122"/>
              </a:rPr>
              <a:t>      (1.02+0.01)</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 *</a:t>
            </a:r>
            <a:r>
              <a:rPr lang="en-US" kern="100" dirty="0">
                <a:solidFill>
                  <a:srgbClr val="FF0000"/>
                </a:solidFill>
                <a:latin typeface="等线" panose="02010600030101010101" charset="-122"/>
                <a:ea typeface="宋体" panose="02010600030101010101" pitchFamily="2" charset="-122"/>
                <a:cs typeface="等线" panose="02010600030101010101" charset="-122"/>
              </a:rPr>
              <a:t>3=3.09s</a:t>
            </a:r>
            <a:endParaRPr lang="en-US" kern="100" dirty="0">
              <a:solidFill>
                <a:srgbClr val="FF0000"/>
              </a:solidFill>
              <a:ea typeface="宋体" panose="02010600030101010101" pitchFamily="2" charset="-122"/>
            </a:endParaRPr>
          </a:p>
          <a:p>
            <a:pPr marR="464185">
              <a:spcAft>
                <a:spcPts val="800"/>
              </a:spcAft>
              <a:tabLst>
                <a:tab pos="266700" algn="l"/>
              </a:tabLst>
            </a:pPr>
            <a:r>
              <a:rPr lang="en-US" kern="100" dirty="0">
                <a:solidFill>
                  <a:srgbClr val="FF0000"/>
                </a:solidFill>
                <a:latin typeface="等线" panose="02010600030101010101" charset="-122"/>
                <a:ea typeface="宋体" panose="02010600030101010101" pitchFamily="2" charset="-122"/>
                <a:cs typeface="等线" panose="02010600030101010101" charset="-122"/>
              </a:rPr>
              <a:t>      </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传送所有帧所需时间：</a:t>
            </a:r>
            <a:endParaRPr lang="en-US" kern="100" dirty="0">
              <a:solidFill>
                <a:srgbClr val="FF0000"/>
              </a:solidFill>
              <a:ea typeface="宋体" panose="02010600030101010101" pitchFamily="2" charset="-122"/>
            </a:endParaRPr>
          </a:p>
          <a:p>
            <a:pPr>
              <a:spcAft>
                <a:spcPts val="800"/>
              </a:spcAft>
            </a:pPr>
            <a:r>
              <a:rPr lang="en-US" kern="100" dirty="0">
                <a:solidFill>
                  <a:srgbClr val="FF0000"/>
                </a:solidFill>
                <a:latin typeface="等线" panose="02010600030101010101" charset="-122"/>
                <a:ea typeface="宋体" panose="02010600030101010101" pitchFamily="2" charset="-122"/>
                <a:cs typeface="等线" panose="02010600030101010101" charset="-122"/>
              </a:rPr>
              <a:t>      3.09</a:t>
            </a:r>
            <a:r>
              <a:rPr lang="zh-CN" altLang="en-US"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1.02</a:t>
            </a:r>
            <a:r>
              <a:rPr lang="en-US" altLang="zh-CN" kern="100" dirty="0">
                <a:solidFill>
                  <a:srgbClr val="FF0000"/>
                </a:solidFill>
                <a:latin typeface="等线" panose="02010600030101010101" charset="-122"/>
                <a:ea typeface="宋体" panose="02010600030101010101" pitchFamily="2" charset="-122"/>
                <a:cs typeface="等线" panose="02010600030101010101" charset="-122"/>
              </a:rPr>
              <a:t>*(</a:t>
            </a:r>
            <a:r>
              <a:rPr lang="en-US" kern="100" dirty="0">
                <a:solidFill>
                  <a:srgbClr val="FF0000"/>
                </a:solidFill>
                <a:latin typeface="等线" panose="02010600030101010101" charset="-122"/>
                <a:ea typeface="宋体" panose="02010600030101010101" pitchFamily="2" charset="-122"/>
                <a:cs typeface="等线" panose="02010600030101010101" charset="-122"/>
              </a:rPr>
              <a:t>10</a:t>
            </a:r>
            <a:r>
              <a:rPr lang="en-US" kern="100" baseline="30000" dirty="0">
                <a:solidFill>
                  <a:srgbClr val="FF0000"/>
                </a:solidFill>
                <a:latin typeface="等线" panose="02010600030101010101" charset="-122"/>
                <a:ea typeface="宋体" panose="02010600030101010101" pitchFamily="2" charset="-122"/>
                <a:cs typeface="等线" panose="02010600030101010101" charset="-122"/>
              </a:rPr>
              <a:t>5</a:t>
            </a:r>
            <a:r>
              <a:rPr lang="en-US" kern="100" dirty="0">
                <a:solidFill>
                  <a:srgbClr val="FF0000"/>
                </a:solidFill>
                <a:latin typeface="等线" panose="02010600030101010101" charset="-122"/>
                <a:ea typeface="宋体" panose="02010600030101010101" pitchFamily="2" charset="-122"/>
                <a:cs typeface="等线" panose="02010600030101010101" charset="-122"/>
              </a:rPr>
              <a:t>-1)=102002.07s</a:t>
            </a:r>
            <a:endParaRPr lang="en-US" kern="100" dirty="0">
              <a:solidFill>
                <a:srgbClr val="FF0000"/>
              </a:solidFill>
              <a:ea typeface="宋体" panose="02010600030101010101" pitchFamily="2" charset="-122"/>
            </a:endParaRPr>
          </a:p>
          <a:p>
            <a:pPr>
              <a:spcAft>
                <a:spcPts val="800"/>
              </a:spcAft>
            </a:pPr>
            <a:endParaRPr lang="en-US" kern="100" dirty="0">
              <a:ea typeface="宋体" panose="02010600030101010101" pitchFamily="2" charset="-122"/>
            </a:endParaRPr>
          </a:p>
        </p:txBody>
      </p:sp>
    </p:spTree>
  </p:cSld>
  <p:clrMapOvr>
    <a:masterClrMapping/>
  </p:clrMapOvr>
  <p:transition spd="slow">
    <p:pull dir="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5" name="内容占位符 4"/>
          <p:cNvSpPr>
            <a:spLocks noGrp="1"/>
          </p:cNvSpPr>
          <p:nvPr>
            <p:ph idx="1"/>
          </p:nvPr>
        </p:nvSpPr>
        <p:spPr>
          <a:xfrm>
            <a:off x="1307508" y="1510758"/>
            <a:ext cx="10046292" cy="4845592"/>
          </a:xfrm>
        </p:spPr>
        <p:txBody>
          <a:bodyPr>
            <a:normAutofit lnSpcReduction="10000"/>
          </a:bodyPr>
          <a:lstStyle/>
          <a:p>
            <a:pPr marL="0" indent="0">
              <a:lnSpc>
                <a:spcPct val="130000"/>
              </a:lnSpc>
              <a:buNone/>
            </a:pPr>
            <a:r>
              <a:rPr kumimoji="1" lang="en-US" altLang="zh-CN" dirty="0"/>
              <a:t>1.1 </a:t>
            </a:r>
            <a:r>
              <a:rPr kumimoji="1" lang="zh-CN" altLang="en-US" dirty="0"/>
              <a:t>初识互联网</a:t>
            </a:r>
            <a:endParaRPr kumimoji="1" lang="en-US" altLang="zh-CN" dirty="0"/>
          </a:p>
          <a:p>
            <a:pPr marL="0" indent="0">
              <a:lnSpc>
                <a:spcPct val="130000"/>
              </a:lnSpc>
              <a:buNone/>
            </a:pPr>
            <a:r>
              <a:rPr kumimoji="1" lang="en-US" altLang="zh-CN" dirty="0"/>
              <a:t>1.2 </a:t>
            </a:r>
            <a:r>
              <a:rPr kumimoji="1" lang="zh-CN" altLang="en-US" dirty="0"/>
              <a:t>网络实例</a:t>
            </a:r>
            <a:endParaRPr kumimoji="1" lang="en-US" altLang="zh-CN" dirty="0"/>
          </a:p>
          <a:p>
            <a:pPr marL="0" indent="0">
              <a:lnSpc>
                <a:spcPct val="130000"/>
              </a:lnSpc>
              <a:buNone/>
            </a:pPr>
            <a:r>
              <a:rPr kumimoji="1" lang="en-US" altLang="zh-CN" dirty="0">
                <a:solidFill>
                  <a:srgbClr val="C00000"/>
                </a:solidFill>
              </a:rPr>
              <a:t>1.3 </a:t>
            </a:r>
            <a:r>
              <a:rPr kumimoji="1" lang="zh-CN" altLang="en-US" dirty="0">
                <a:solidFill>
                  <a:srgbClr val="C00000"/>
                </a:solidFill>
              </a:rPr>
              <a:t>协议与分层结构</a:t>
            </a:r>
            <a:endParaRPr kumimoji="1" lang="en-US" altLang="zh-CN" dirty="0">
              <a:solidFill>
                <a:srgbClr val="C00000"/>
              </a:solidFill>
            </a:endParaRPr>
          </a:p>
          <a:p>
            <a:pPr marL="0" indent="0">
              <a:lnSpc>
                <a:spcPct val="130000"/>
              </a:lnSpc>
              <a:buNone/>
            </a:pPr>
            <a:r>
              <a:rPr kumimoji="1" lang="en-US" altLang="zh-CN" dirty="0"/>
              <a:t>1.4 </a:t>
            </a:r>
            <a:r>
              <a:rPr kumimoji="1" lang="zh-CN" altLang="en-US" dirty="0"/>
              <a:t>参考模型</a:t>
            </a:r>
            <a:endParaRPr kumimoji="1" lang="en-US" altLang="zh-CN" dirty="0"/>
          </a:p>
          <a:p>
            <a:pPr marL="0" indent="0">
              <a:lnSpc>
                <a:spcPct val="130000"/>
              </a:lnSpc>
              <a:buNone/>
            </a:pPr>
            <a:r>
              <a:rPr kumimoji="1" lang="en-US" altLang="zh-CN" dirty="0"/>
              <a:t>1.5 </a:t>
            </a:r>
            <a:r>
              <a:rPr kumimoji="1" lang="zh-CN" altLang="en-US" dirty="0"/>
              <a:t>计算机网络度量单位</a:t>
            </a:r>
            <a:endParaRPr kumimoji="1" lang="en-US" altLang="zh-CN" dirty="0"/>
          </a:p>
          <a:p>
            <a:pPr marL="0" indent="0">
              <a:lnSpc>
                <a:spcPct val="130000"/>
              </a:lnSpc>
              <a:buNone/>
            </a:pPr>
            <a:r>
              <a:rPr kumimoji="1" lang="en-US" altLang="zh-CN" dirty="0"/>
              <a:t>1.6 </a:t>
            </a:r>
            <a:r>
              <a:rPr kumimoji="1" lang="zh-CN" altLang="en-US" dirty="0"/>
              <a:t>网络安全与威胁</a:t>
            </a:r>
            <a:endParaRPr kumimoji="1" lang="zh-CN" altLang="en-US" dirty="0"/>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7" name="矩形标注 6"/>
          <p:cNvSpPr/>
          <p:nvPr/>
        </p:nvSpPr>
        <p:spPr>
          <a:xfrm>
            <a:off x="6017525" y="1631379"/>
            <a:ext cx="4216518" cy="2368163"/>
          </a:xfrm>
          <a:prstGeom prst="wedgeRectCallout">
            <a:avLst>
              <a:gd name="adj1" fmla="val -65776"/>
              <a:gd name="adj2" fmla="val 1249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协议设计目的</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协议分层结构</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服务原语</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服务与协议的关系</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协议设计目的</a:t>
            </a:r>
            <a:endParaRPr lang="zh-CN" altLang="en-US" dirty="0"/>
          </a:p>
        </p:txBody>
      </p:sp>
      <p:sp>
        <p:nvSpPr>
          <p:cNvPr id="3" name="内容占位符 2"/>
          <p:cNvSpPr>
            <a:spLocks noGrp="1"/>
          </p:cNvSpPr>
          <p:nvPr>
            <p:ph idx="1"/>
          </p:nvPr>
        </p:nvSpPr>
        <p:spPr>
          <a:xfrm>
            <a:off x="7086292" y="1512784"/>
            <a:ext cx="3935305" cy="523220"/>
          </a:xfrm>
        </p:spPr>
        <p:txBody>
          <a:bodyPr/>
          <a:lstStyle/>
          <a:p>
            <a:pPr marL="0" indent="0" algn="ctr">
              <a:buNone/>
            </a:pPr>
            <a:r>
              <a:rPr lang="zh-CN" altLang="en-US" dirty="0"/>
              <a:t>计算机之间的信息交互</a:t>
            </a:r>
            <a:endParaRPr lang="zh-CN" altLang="en-US" dirty="0"/>
          </a:p>
        </p:txBody>
      </p:sp>
      <p:sp>
        <p:nvSpPr>
          <p:cNvPr id="98" name="Line 101"/>
          <p:cNvSpPr>
            <a:spLocks noChangeShapeType="1"/>
          </p:cNvSpPr>
          <p:nvPr/>
        </p:nvSpPr>
        <p:spPr bwMode="auto">
          <a:xfrm>
            <a:off x="6175779" y="2520063"/>
            <a:ext cx="25492" cy="3127063"/>
          </a:xfrm>
          <a:prstGeom prst="line">
            <a:avLst/>
          </a:prstGeom>
          <a:noFill/>
          <a:ln w="19050">
            <a:solidFill>
              <a:schemeClr val="bg1">
                <a:lumMod val="75000"/>
              </a:schemeClr>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p>
        </p:txBody>
      </p:sp>
      <p:sp>
        <p:nvSpPr>
          <p:cNvPr id="101" name="Text Box 102"/>
          <p:cNvSpPr txBox="1">
            <a:spLocks noChangeArrowheads="1"/>
          </p:cNvSpPr>
          <p:nvPr/>
        </p:nvSpPr>
        <p:spPr bwMode="auto">
          <a:xfrm>
            <a:off x="5848252" y="4074387"/>
            <a:ext cx="663575" cy="396875"/>
          </a:xfrm>
          <a:prstGeom prst="rect">
            <a:avLst/>
          </a:prstGeom>
          <a:solidFill>
            <a:schemeClr val="bg1"/>
          </a:solidFill>
          <a:ln>
            <a:noFill/>
          </a:ln>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dirty="0">
                <a:latin typeface="Calibri" panose="020F0502020204030204" pitchFamily="34" charset="0"/>
                <a:cs typeface="Calibri" panose="020F0502020204030204" pitchFamily="34" charset="0"/>
              </a:rPr>
              <a:t>time</a:t>
            </a:r>
            <a:endParaRPr lang="en-US" altLang="en-US" sz="2000" dirty="0">
              <a:latin typeface="Calibri" panose="020F0502020204030204" pitchFamily="34" charset="0"/>
              <a:cs typeface="Calibri" panose="020F0502020204030204" pitchFamily="34" charset="0"/>
            </a:endParaRPr>
          </a:p>
        </p:txBody>
      </p:sp>
      <p:grpSp>
        <p:nvGrpSpPr>
          <p:cNvPr id="5" name="组合 4"/>
          <p:cNvGrpSpPr/>
          <p:nvPr/>
        </p:nvGrpSpPr>
        <p:grpSpPr>
          <a:xfrm>
            <a:off x="6397771" y="2425343"/>
            <a:ext cx="4497415" cy="3069590"/>
            <a:chOff x="6430645" y="2605405"/>
            <a:chExt cx="4497415" cy="3069590"/>
          </a:xfrm>
        </p:grpSpPr>
        <p:grpSp>
          <p:nvGrpSpPr>
            <p:cNvPr id="102" name="Group 82"/>
            <p:cNvGrpSpPr/>
            <p:nvPr/>
          </p:nvGrpSpPr>
          <p:grpSpPr>
            <a:xfrm>
              <a:off x="7501255" y="3753485"/>
              <a:ext cx="2814955" cy="488315"/>
              <a:chOff x="6786129" y="3255963"/>
              <a:chExt cx="2216150" cy="415925"/>
            </a:xfrm>
          </p:grpSpPr>
          <p:sp>
            <p:nvSpPr>
              <p:cNvPr id="103" name="Line 90"/>
              <p:cNvSpPr>
                <a:spLocks noChangeShapeType="1"/>
              </p:cNvSpPr>
              <p:nvPr/>
            </p:nvSpPr>
            <p:spPr bwMode="auto">
              <a:xfrm flipV="1">
                <a:off x="6786129" y="3255963"/>
                <a:ext cx="2216150" cy="398463"/>
              </a:xfrm>
              <a:prstGeom prst="line">
                <a:avLst/>
              </a:prstGeom>
              <a:noFill/>
              <a:ln w="28575">
                <a:solidFill>
                  <a:srgbClr val="0000A8"/>
                </a:solidFill>
                <a:round/>
                <a:head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04" name="Rectangle 92"/>
              <p:cNvSpPr>
                <a:spLocks noChangeArrowheads="1"/>
              </p:cNvSpPr>
              <p:nvPr/>
            </p:nvSpPr>
            <p:spPr bwMode="auto">
              <a:xfrm>
                <a:off x="7221104" y="3278188"/>
                <a:ext cx="1438275" cy="393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05" name="Text Box 91"/>
              <p:cNvSpPr txBox="1">
                <a:spLocks noChangeArrowheads="1"/>
              </p:cNvSpPr>
              <p:nvPr/>
            </p:nvSpPr>
            <p:spPr bwMode="auto">
              <a:xfrm>
                <a:off x="7125853" y="3279776"/>
                <a:ext cx="1635127" cy="30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zh-CN" altLang="en-US" sz="2000" dirty="0">
                    <a:latin typeface="微软雅黑" panose="020B0503020204020204" pitchFamily="34" charset="-122"/>
                    <a:ea typeface="微软雅黑" panose="020B0503020204020204" pitchFamily="34" charset="-122"/>
                    <a:cs typeface="Calibri" panose="020F0502020204030204" pitchFamily="34" charset="0"/>
                    <a:sym typeface="+mn-ea"/>
                  </a:rPr>
                  <a:t>连接响应</a:t>
                </a:r>
                <a:endParaRPr lang="zh-CN" altLang="en-US" sz="2000" dirty="0">
                  <a:latin typeface="微软雅黑" panose="020B0503020204020204" pitchFamily="34" charset="-122"/>
                  <a:ea typeface="微软雅黑" panose="020B0503020204020204" pitchFamily="34" charset="-122"/>
                  <a:cs typeface="Calibri" panose="020F0502020204030204" pitchFamily="34" charset="0"/>
                  <a:sym typeface="+mn-ea"/>
                </a:endParaRPr>
              </a:p>
            </p:txBody>
          </p:sp>
        </p:grpSp>
        <p:grpSp>
          <p:nvGrpSpPr>
            <p:cNvPr id="106" name="Group 84"/>
            <p:cNvGrpSpPr/>
            <p:nvPr/>
          </p:nvGrpSpPr>
          <p:grpSpPr>
            <a:xfrm>
              <a:off x="7561580" y="5171667"/>
              <a:ext cx="2976245" cy="503328"/>
              <a:chOff x="6833754" y="4464051"/>
              <a:chExt cx="2343150" cy="428625"/>
            </a:xfrm>
          </p:grpSpPr>
          <p:sp>
            <p:nvSpPr>
              <p:cNvPr id="107" name="Line 85"/>
              <p:cNvSpPr>
                <a:spLocks noChangeShapeType="1"/>
              </p:cNvSpPr>
              <p:nvPr/>
            </p:nvSpPr>
            <p:spPr bwMode="auto">
              <a:xfrm flipV="1">
                <a:off x="6833754" y="4464051"/>
                <a:ext cx="2343150" cy="428625"/>
              </a:xfrm>
              <a:prstGeom prst="line">
                <a:avLst/>
              </a:prstGeom>
              <a:noFill/>
              <a:ln w="28575">
                <a:solidFill>
                  <a:srgbClr val="0000A8"/>
                </a:solidFill>
                <a:round/>
                <a:head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08" name="Rectangle 99"/>
              <p:cNvSpPr>
                <a:spLocks noChangeArrowheads="1"/>
              </p:cNvSpPr>
              <p:nvPr/>
            </p:nvSpPr>
            <p:spPr bwMode="auto">
              <a:xfrm>
                <a:off x="7602104" y="4562476"/>
                <a:ext cx="919163"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09" name="Text Box 100"/>
              <p:cNvSpPr txBox="1">
                <a:spLocks noChangeArrowheads="1"/>
              </p:cNvSpPr>
              <p:nvPr/>
            </p:nvSpPr>
            <p:spPr bwMode="auto">
              <a:xfrm>
                <a:off x="7509182" y="4508200"/>
                <a:ext cx="960395" cy="33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rPr>
                  <a:t>发送文件</a:t>
                </a:r>
                <a:endParaRPr lang="zh-CN" altLang="en-US" sz="2000" dirty="0">
                  <a:latin typeface="微软雅黑" panose="020B0503020204020204" pitchFamily="34" charset="-122"/>
                  <a:ea typeface="微软雅黑" panose="020B0503020204020204" pitchFamily="34" charset="-122"/>
                  <a:cs typeface="Calibri" panose="020F0502020204030204" pitchFamily="34" charset="0"/>
                </a:endParaRPr>
              </a:p>
            </p:txBody>
          </p:sp>
        </p:grpSp>
        <p:grpSp>
          <p:nvGrpSpPr>
            <p:cNvPr id="110" name="Group 81"/>
            <p:cNvGrpSpPr/>
            <p:nvPr/>
          </p:nvGrpSpPr>
          <p:grpSpPr>
            <a:xfrm>
              <a:off x="7579995" y="3009265"/>
              <a:ext cx="2764155" cy="594995"/>
              <a:chOff x="6848042" y="2622045"/>
              <a:chExt cx="2176462" cy="506918"/>
            </a:xfrm>
          </p:grpSpPr>
          <p:sp>
            <p:nvSpPr>
              <p:cNvPr id="111" name="Line 89"/>
              <p:cNvSpPr>
                <a:spLocks noChangeShapeType="1"/>
              </p:cNvSpPr>
              <p:nvPr/>
            </p:nvSpPr>
            <p:spPr bwMode="auto">
              <a:xfrm>
                <a:off x="6848042" y="2749551"/>
                <a:ext cx="2176462" cy="347662"/>
              </a:xfrm>
              <a:prstGeom prst="line">
                <a:avLst/>
              </a:prstGeom>
              <a:noFill/>
              <a:ln w="28575">
                <a:solidFill>
                  <a:srgbClr val="0000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12" name="Rectangle 52"/>
              <p:cNvSpPr>
                <a:spLocks noChangeArrowheads="1"/>
              </p:cNvSpPr>
              <p:nvPr/>
            </p:nvSpPr>
            <p:spPr bwMode="auto">
              <a:xfrm>
                <a:off x="7133792" y="2689226"/>
                <a:ext cx="1365250" cy="4397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13" name="Text Box 91"/>
              <p:cNvSpPr txBox="1">
                <a:spLocks noChangeArrowheads="1"/>
              </p:cNvSpPr>
              <p:nvPr/>
            </p:nvSpPr>
            <p:spPr bwMode="auto">
              <a:xfrm>
                <a:off x="7118309" y="2622045"/>
                <a:ext cx="1635127" cy="30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zh-CN" altLang="en-US" sz="2000" dirty="0">
                    <a:latin typeface="微软雅黑" panose="020B0503020204020204" pitchFamily="34" charset="-122"/>
                    <a:ea typeface="微软雅黑" panose="020B0503020204020204" pitchFamily="34" charset="-122"/>
                    <a:cs typeface="Calibri" panose="020F0502020204030204" pitchFamily="34" charset="0"/>
                  </a:rPr>
                  <a:t>连接请求</a:t>
                </a:r>
                <a:endParaRPr lang="zh-CN" altLang="en-US" sz="2000" dirty="0">
                  <a:latin typeface="微软雅黑" panose="020B0503020204020204" pitchFamily="34" charset="-122"/>
                  <a:ea typeface="微软雅黑" panose="020B0503020204020204" pitchFamily="34" charset="-122"/>
                  <a:cs typeface="Calibri" panose="020F0502020204030204" pitchFamily="34" charset="0"/>
                </a:endParaRPr>
              </a:p>
            </p:txBody>
          </p:sp>
        </p:grpSp>
        <p:grpSp>
          <p:nvGrpSpPr>
            <p:cNvPr id="114" name="Group 57"/>
            <p:cNvGrpSpPr/>
            <p:nvPr/>
          </p:nvGrpSpPr>
          <p:grpSpPr bwMode="auto">
            <a:xfrm>
              <a:off x="10474670" y="2700649"/>
              <a:ext cx="453390" cy="887095"/>
              <a:chOff x="4140" y="429"/>
              <a:chExt cx="1425" cy="2396"/>
            </a:xfrm>
          </p:grpSpPr>
          <p:sp>
            <p:nvSpPr>
              <p:cNvPr id="115" name="Freeform 58"/>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16" name="Rectangle 59"/>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17" name="Freeform 60"/>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18" name="Freeform 61"/>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19" name="Rectangle 62"/>
              <p:cNvSpPr>
                <a:spLocks noChangeArrowheads="1"/>
              </p:cNvSpPr>
              <p:nvPr/>
            </p:nvSpPr>
            <p:spPr bwMode="auto">
              <a:xfrm>
                <a:off x="4213" y="691"/>
                <a:ext cx="597"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nvGrpSpPr>
              <p:cNvPr id="120" name="Group 63"/>
              <p:cNvGrpSpPr/>
              <p:nvPr/>
            </p:nvGrpSpPr>
            <p:grpSpPr bwMode="auto">
              <a:xfrm>
                <a:off x="4749" y="668"/>
                <a:ext cx="581" cy="145"/>
                <a:chOff x="614" y="2568"/>
                <a:chExt cx="725" cy="139"/>
              </a:xfrm>
            </p:grpSpPr>
            <p:sp>
              <p:nvSpPr>
                <p:cNvPr id="121" name="AutoShape 64"/>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22" name="AutoShape 65"/>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sp>
            <p:nvSpPr>
              <p:cNvPr id="123" name="Rectangle 66"/>
              <p:cNvSpPr>
                <a:spLocks noChangeArrowheads="1"/>
              </p:cNvSpPr>
              <p:nvPr/>
            </p:nvSpPr>
            <p:spPr bwMode="auto">
              <a:xfrm>
                <a:off x="4224" y="1018"/>
                <a:ext cx="597"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nvGrpSpPr>
              <p:cNvPr id="124" name="Group 67"/>
              <p:cNvGrpSpPr/>
              <p:nvPr/>
            </p:nvGrpSpPr>
            <p:grpSpPr bwMode="auto">
              <a:xfrm>
                <a:off x="4747" y="994"/>
                <a:ext cx="581" cy="134"/>
                <a:chOff x="614" y="2568"/>
                <a:chExt cx="725" cy="139"/>
              </a:xfrm>
            </p:grpSpPr>
            <p:sp>
              <p:nvSpPr>
                <p:cNvPr id="125" name="AutoShape 68"/>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26" name="AutoShape 69"/>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sp>
            <p:nvSpPr>
              <p:cNvPr id="127" name="Rectangle 70"/>
              <p:cNvSpPr>
                <a:spLocks noChangeArrowheads="1"/>
              </p:cNvSpPr>
              <p:nvPr/>
            </p:nvSpPr>
            <p:spPr bwMode="auto">
              <a:xfrm>
                <a:off x="4219" y="1360"/>
                <a:ext cx="592" cy="45"/>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28" name="Rectangle 71"/>
              <p:cNvSpPr>
                <a:spLocks noChangeArrowheads="1"/>
              </p:cNvSpPr>
              <p:nvPr/>
            </p:nvSpPr>
            <p:spPr bwMode="auto">
              <a:xfrm>
                <a:off x="4229" y="1657"/>
                <a:ext cx="597" cy="45"/>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nvGrpSpPr>
              <p:cNvPr id="129" name="Group 72"/>
              <p:cNvGrpSpPr/>
              <p:nvPr/>
            </p:nvGrpSpPr>
            <p:grpSpPr bwMode="auto">
              <a:xfrm>
                <a:off x="4735" y="1627"/>
                <a:ext cx="582" cy="151"/>
                <a:chOff x="614" y="2568"/>
                <a:chExt cx="725" cy="139"/>
              </a:xfrm>
            </p:grpSpPr>
            <p:sp>
              <p:nvSpPr>
                <p:cNvPr id="130" name="AutoShape 73"/>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31" name="AutoShape 74"/>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sp>
            <p:nvSpPr>
              <p:cNvPr id="132" name="Freeform 75"/>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grpSp>
            <p:nvGrpSpPr>
              <p:cNvPr id="133" name="Group 76"/>
              <p:cNvGrpSpPr/>
              <p:nvPr/>
            </p:nvGrpSpPr>
            <p:grpSpPr bwMode="auto">
              <a:xfrm>
                <a:off x="4739" y="1327"/>
                <a:ext cx="582" cy="139"/>
                <a:chOff x="614" y="2568"/>
                <a:chExt cx="725" cy="139"/>
              </a:xfrm>
            </p:grpSpPr>
            <p:sp>
              <p:nvSpPr>
                <p:cNvPr id="134" name="AutoShape 77"/>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35" name="AutoShape 78"/>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sp>
            <p:nvSpPr>
              <p:cNvPr id="136" name="Rectangle 79"/>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37" name="Freeform 80"/>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38" name="Freeform 81"/>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39" name="Oval 82"/>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0" name="Freeform 83"/>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41" name="AutoShape 84"/>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2" name="AutoShape 85"/>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3" name="Oval 86"/>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4" name="Oval 87"/>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en-US" altLang="en-US" sz="1800" dirty="0">
                  <a:latin typeface="Calibri" panose="020F0502020204030204" pitchFamily="34" charset="0"/>
                  <a:cs typeface="Calibri" panose="020F0502020204030204" pitchFamily="34" charset="0"/>
                </a:endParaRPr>
              </a:p>
            </p:txBody>
          </p:sp>
          <p:sp>
            <p:nvSpPr>
              <p:cNvPr id="145" name="Oval 88"/>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6" name="Rectangle 89"/>
              <p:cNvSpPr>
                <a:spLocks noChangeArrowheads="1"/>
              </p:cNvSpPr>
              <p:nvPr/>
            </p:nvSpPr>
            <p:spPr bwMode="auto">
              <a:xfrm>
                <a:off x="5062" y="1833"/>
                <a:ext cx="84" cy="765"/>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grpSp>
          <p:nvGrpSpPr>
            <p:cNvPr id="147" name="Group 90"/>
            <p:cNvGrpSpPr/>
            <p:nvPr/>
          </p:nvGrpSpPr>
          <p:grpSpPr bwMode="auto">
            <a:xfrm>
              <a:off x="6430645" y="2605405"/>
              <a:ext cx="1135380" cy="972820"/>
              <a:chOff x="-44" y="1473"/>
              <a:chExt cx="981" cy="1105"/>
            </a:xfrm>
          </p:grpSpPr>
          <p:pic>
            <p:nvPicPr>
              <p:cNvPr id="148" name="Picture 91"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92"/>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latin typeface="Calibri" panose="020F0502020204030204" pitchFamily="34" charset="0"/>
                  <a:cs typeface="Calibri" panose="020F0502020204030204" pitchFamily="34" charset="0"/>
                </a:endParaRPr>
              </a:p>
            </p:txBody>
          </p:sp>
        </p:grpSp>
        <p:grpSp>
          <p:nvGrpSpPr>
            <p:cNvPr id="150" name="Group 83"/>
            <p:cNvGrpSpPr/>
            <p:nvPr/>
          </p:nvGrpSpPr>
          <p:grpSpPr>
            <a:xfrm>
              <a:off x="7561580" y="4511675"/>
              <a:ext cx="3048635" cy="492125"/>
              <a:chOff x="6833754" y="3902076"/>
              <a:chExt cx="2400300" cy="419100"/>
            </a:xfrm>
          </p:grpSpPr>
          <p:sp>
            <p:nvSpPr>
              <p:cNvPr id="151" name="Line 94"/>
              <p:cNvSpPr>
                <a:spLocks noChangeShapeType="1"/>
              </p:cNvSpPr>
              <p:nvPr/>
            </p:nvSpPr>
            <p:spPr bwMode="auto">
              <a:xfrm>
                <a:off x="6833754" y="3902076"/>
                <a:ext cx="2400300" cy="419100"/>
              </a:xfrm>
              <a:prstGeom prst="line">
                <a:avLst/>
              </a:prstGeom>
              <a:noFill/>
              <a:ln w="28575">
                <a:solidFill>
                  <a:srgbClr val="0000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52" name="Rectangle 2"/>
              <p:cNvSpPr/>
              <p:nvPr/>
            </p:nvSpPr>
            <p:spPr>
              <a:xfrm>
                <a:off x="7315214" y="4021046"/>
                <a:ext cx="1130406" cy="28282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Text Box 95"/>
              <p:cNvSpPr txBox="1">
                <a:spLocks noChangeArrowheads="1"/>
              </p:cNvSpPr>
              <p:nvPr/>
            </p:nvSpPr>
            <p:spPr bwMode="auto">
              <a:xfrm>
                <a:off x="7509216" y="3987523"/>
                <a:ext cx="990391" cy="247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sym typeface="+mn-ea"/>
                  </a:rPr>
                  <a:t>获取文件</a:t>
                </a:r>
                <a:endParaRPr lang="zh-CN" altLang="en-US" sz="2000" dirty="0">
                  <a:latin typeface="微软雅黑" panose="020B0503020204020204" pitchFamily="34" charset="-122"/>
                  <a:ea typeface="微软雅黑" panose="020B0503020204020204" pitchFamily="34" charset="-122"/>
                  <a:cs typeface="Calibri" panose="020F0502020204030204" pitchFamily="34" charset="0"/>
                  <a:sym typeface="+mn-ea"/>
                </a:endParaRPr>
              </a:p>
            </p:txBody>
          </p:sp>
        </p:grpSp>
      </p:gr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80" name="文本框 79"/>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1.3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协议与分层结构</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1186738" y="5213530"/>
            <a:ext cx="4770244" cy="1200329"/>
          </a:xfrm>
          <a:prstGeom prst="rect">
            <a:avLst/>
          </a:prstGeom>
          <a:noFill/>
        </p:spPr>
        <p:txBody>
          <a:bodyPr wrap="square" rtlCol="0">
            <a:spAutoFit/>
          </a:bodyPr>
          <a:lstStyle/>
          <a:p>
            <a:pPr marL="0" lvl="1" algn="ctr"/>
            <a:r>
              <a:rPr kumimoji="1" lang="zh-CN" altLang="en-US" sz="2400" dirty="0">
                <a:solidFill>
                  <a:srgbClr val="C00000"/>
                </a:solidFill>
                <a:latin typeface="微软雅黑" panose="020B0503020204020204" pitchFamily="34" charset="-122"/>
                <a:ea typeface="微软雅黑" panose="020B0503020204020204" pitchFamily="34" charset="-122"/>
                <a:sym typeface="+mn-ea"/>
              </a:rPr>
              <a:t>交流的基础：</a:t>
            </a:r>
            <a:br>
              <a:rPr kumimoji="1" lang="en-US" altLang="zh-CN" sz="2400" dirty="0">
                <a:solidFill>
                  <a:srgbClr val="C00000"/>
                </a:solidFill>
                <a:latin typeface="微软雅黑" panose="020B0503020204020204" pitchFamily="34" charset="-122"/>
                <a:ea typeface="微软雅黑" panose="020B0503020204020204" pitchFamily="34" charset="-122"/>
                <a:sym typeface="+mn-ea"/>
              </a:rPr>
            </a:br>
            <a:r>
              <a:rPr kumimoji="1" lang="zh-CN" altLang="en-US" sz="2400" dirty="0">
                <a:solidFill>
                  <a:srgbClr val="C00000"/>
                </a:solidFill>
                <a:latin typeface="微软雅黑" panose="020B0503020204020204" pitchFamily="34" charset="-122"/>
                <a:ea typeface="微软雅黑" panose="020B0503020204020204" pitchFamily="34" charset="-122"/>
                <a:sym typeface="+mn-ea"/>
              </a:rPr>
              <a:t>共同的语言、互相理解，</a:t>
            </a:r>
            <a:br>
              <a:rPr kumimoji="1" lang="en-US" altLang="zh-CN" sz="2400" dirty="0">
                <a:solidFill>
                  <a:srgbClr val="C00000"/>
                </a:solidFill>
                <a:latin typeface="微软雅黑" panose="020B0503020204020204" pitchFamily="34" charset="-122"/>
                <a:ea typeface="微软雅黑" panose="020B0503020204020204" pitchFamily="34" charset="-122"/>
                <a:sym typeface="+mn-ea"/>
              </a:rPr>
            </a:br>
            <a:r>
              <a:rPr kumimoji="1" lang="zh-CN" altLang="en-US" sz="2400" dirty="0">
                <a:solidFill>
                  <a:srgbClr val="C00000"/>
                </a:solidFill>
                <a:latin typeface="微软雅黑" panose="020B0503020204020204" pitchFamily="34" charset="-122"/>
                <a:ea typeface="微软雅黑" panose="020B0503020204020204" pitchFamily="34" charset="-122"/>
                <a:sym typeface="+mn-ea"/>
              </a:rPr>
              <a:t>共同语义</a:t>
            </a:r>
            <a:r>
              <a:rPr kumimoji="1" lang="en-US" altLang="zh-CN" sz="2400" dirty="0">
                <a:solidFill>
                  <a:srgbClr val="C00000"/>
                </a:solidFill>
                <a:latin typeface="微软雅黑" panose="020B0503020204020204" pitchFamily="34" charset="-122"/>
                <a:ea typeface="微软雅黑" panose="020B0503020204020204" pitchFamily="34" charset="-122"/>
                <a:sym typeface="+mn-ea"/>
              </a:rPr>
              <a:t>……</a:t>
            </a:r>
            <a:endParaRPr kumimoji="1" lang="zh-CN" altLang="en-US" sz="2400" dirty="0">
              <a:solidFill>
                <a:srgbClr val="C00000"/>
              </a:solidFill>
              <a:latin typeface="微软雅黑" panose="020B0503020204020204" pitchFamily="34" charset="-122"/>
              <a:ea typeface="微软雅黑" panose="020B0503020204020204" pitchFamily="34" charset="-122"/>
              <a:sym typeface="+mn-ea"/>
            </a:endParaRPr>
          </a:p>
        </p:txBody>
      </p:sp>
      <p:grpSp>
        <p:nvGrpSpPr>
          <p:cNvPr id="82" name="组合 81"/>
          <p:cNvGrpSpPr/>
          <p:nvPr/>
        </p:nvGrpSpPr>
        <p:grpSpPr>
          <a:xfrm>
            <a:off x="833720" y="2327805"/>
            <a:ext cx="4911075" cy="2779379"/>
            <a:chOff x="920996" y="2646746"/>
            <a:chExt cx="4911075" cy="2779379"/>
          </a:xfrm>
        </p:grpSpPr>
        <p:grpSp>
          <p:nvGrpSpPr>
            <p:cNvPr id="83" name="Group 8"/>
            <p:cNvGrpSpPr/>
            <p:nvPr/>
          </p:nvGrpSpPr>
          <p:grpSpPr>
            <a:xfrm>
              <a:off x="2315845" y="2841625"/>
              <a:ext cx="2248523" cy="563245"/>
              <a:chOff x="2925329" y="2422526"/>
              <a:chExt cx="1793003" cy="563562"/>
            </a:xfrm>
          </p:grpSpPr>
          <p:sp>
            <p:nvSpPr>
              <p:cNvPr id="161" name="Line 10"/>
              <p:cNvSpPr>
                <a:spLocks noChangeShapeType="1"/>
              </p:cNvSpPr>
              <p:nvPr/>
            </p:nvSpPr>
            <p:spPr bwMode="auto">
              <a:xfrm>
                <a:off x="2925329" y="2709863"/>
                <a:ext cx="1762125" cy="276225"/>
              </a:xfrm>
              <a:prstGeom prst="line">
                <a:avLst/>
              </a:prstGeom>
              <a:noFill/>
              <a:ln w="28575">
                <a:solidFill>
                  <a:srgbClr val="0000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62" name="Text Box 64"/>
              <p:cNvSpPr txBox="1">
                <a:spLocks noChangeArrowheads="1"/>
              </p:cNvSpPr>
              <p:nvPr/>
            </p:nvSpPr>
            <p:spPr bwMode="auto">
              <a:xfrm>
                <a:off x="3122799" y="2422526"/>
                <a:ext cx="1595533" cy="399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rPr>
                  <a:t>有同学提问吗？</a:t>
                </a:r>
                <a:endParaRPr lang="zh-CN" altLang="en-US" sz="2000" dirty="0">
                  <a:latin typeface="微软雅黑" panose="020B0503020204020204" pitchFamily="34" charset="-122"/>
                  <a:ea typeface="微软雅黑" panose="020B0503020204020204" pitchFamily="34" charset="-122"/>
                  <a:cs typeface="Calibri" panose="020F0502020204030204" pitchFamily="34" charset="0"/>
                </a:endParaRPr>
              </a:p>
            </p:txBody>
          </p:sp>
        </p:grpSp>
        <p:grpSp>
          <p:nvGrpSpPr>
            <p:cNvPr id="84" name="Group 78"/>
            <p:cNvGrpSpPr/>
            <p:nvPr/>
          </p:nvGrpSpPr>
          <p:grpSpPr>
            <a:xfrm>
              <a:off x="2146935" y="3437255"/>
              <a:ext cx="2394585" cy="631825"/>
              <a:chOff x="2617354" y="2998788"/>
              <a:chExt cx="2085975" cy="631825"/>
            </a:xfrm>
          </p:grpSpPr>
          <p:sp>
            <p:nvSpPr>
              <p:cNvPr id="159" name="Line 66"/>
              <p:cNvSpPr>
                <a:spLocks noChangeShapeType="1"/>
              </p:cNvSpPr>
              <p:nvPr/>
            </p:nvSpPr>
            <p:spPr bwMode="auto">
              <a:xfrm flipV="1">
                <a:off x="2617354" y="3268663"/>
                <a:ext cx="2085975" cy="361950"/>
              </a:xfrm>
              <a:prstGeom prst="line">
                <a:avLst/>
              </a:prstGeom>
              <a:noFill/>
              <a:ln w="28575">
                <a:solidFill>
                  <a:srgbClr val="0000A8"/>
                </a:solidFill>
                <a:round/>
                <a:head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60" name="Text Box 67"/>
              <p:cNvSpPr txBox="1">
                <a:spLocks noChangeArrowheads="1"/>
              </p:cNvSpPr>
              <p:nvPr/>
            </p:nvSpPr>
            <p:spPr bwMode="auto">
              <a:xfrm>
                <a:off x="3212416" y="2998788"/>
                <a:ext cx="127825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rPr>
                  <a:t>我有问题</a:t>
                </a:r>
                <a:endParaRPr lang="zh-CN" altLang="en-US" sz="2000" dirty="0">
                  <a:latin typeface="微软雅黑" panose="020B0503020204020204" pitchFamily="34" charset="-122"/>
                  <a:ea typeface="微软雅黑" panose="020B0503020204020204" pitchFamily="34" charset="-122"/>
                  <a:cs typeface="Calibri" panose="020F0502020204030204" pitchFamily="34" charset="0"/>
                </a:endParaRPr>
              </a:p>
            </p:txBody>
          </p:sp>
        </p:grpSp>
        <p:grpSp>
          <p:nvGrpSpPr>
            <p:cNvPr id="85" name="Group 79"/>
            <p:cNvGrpSpPr/>
            <p:nvPr/>
          </p:nvGrpSpPr>
          <p:grpSpPr>
            <a:xfrm>
              <a:off x="2146935" y="4108337"/>
              <a:ext cx="2359660" cy="824332"/>
              <a:chOff x="2601479" y="3429004"/>
              <a:chExt cx="2207319" cy="823913"/>
            </a:xfrm>
          </p:grpSpPr>
          <p:sp>
            <p:nvSpPr>
              <p:cNvPr id="155" name="Line 70"/>
              <p:cNvSpPr>
                <a:spLocks noChangeShapeType="1"/>
              </p:cNvSpPr>
              <p:nvPr/>
            </p:nvSpPr>
            <p:spPr bwMode="auto">
              <a:xfrm>
                <a:off x="2601479" y="3700308"/>
                <a:ext cx="2207319" cy="239907"/>
              </a:xfrm>
              <a:prstGeom prst="line">
                <a:avLst/>
              </a:prstGeom>
              <a:noFill/>
              <a:ln w="28575">
                <a:solidFill>
                  <a:srgbClr val="0000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grpSp>
            <p:nvGrpSpPr>
              <p:cNvPr id="156" name="Group 72"/>
              <p:cNvGrpSpPr/>
              <p:nvPr/>
            </p:nvGrpSpPr>
            <p:grpSpPr bwMode="auto">
              <a:xfrm>
                <a:off x="3179331" y="3429004"/>
                <a:ext cx="1100138" cy="823913"/>
                <a:chOff x="786" y="2619"/>
                <a:chExt cx="693" cy="519"/>
              </a:xfrm>
            </p:grpSpPr>
            <p:sp>
              <p:nvSpPr>
                <p:cNvPr id="157" name="Rectangle 71"/>
                <p:cNvSpPr>
                  <a:spLocks noChangeArrowheads="1"/>
                </p:cNvSpPr>
                <p:nvPr/>
              </p:nvSpPr>
              <p:spPr bwMode="auto">
                <a:xfrm>
                  <a:off x="786" y="2790"/>
                  <a:ext cx="58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58" name="Text Box 69"/>
                <p:cNvSpPr txBox="1">
                  <a:spLocks noChangeArrowheads="1"/>
                </p:cNvSpPr>
                <p:nvPr/>
              </p:nvSpPr>
              <p:spPr bwMode="auto">
                <a:xfrm>
                  <a:off x="865" y="2619"/>
                  <a:ext cx="614" cy="2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zh-CN" altLang="en-US" sz="2000" dirty="0">
                      <a:latin typeface="微软雅黑" panose="020B0503020204020204" pitchFamily="34" charset="-122"/>
                      <a:ea typeface="微软雅黑" panose="020B0503020204020204" pitchFamily="34" charset="-122"/>
                      <a:cs typeface="Calibri" panose="020F0502020204030204" pitchFamily="34" charset="0"/>
                    </a:rPr>
                    <a:t>请说</a:t>
                  </a:r>
                  <a:endParaRPr lang="zh-CN" altLang="en-US" sz="2000" dirty="0">
                    <a:latin typeface="微软雅黑" panose="020B0503020204020204" pitchFamily="34" charset="-122"/>
                    <a:ea typeface="微软雅黑" panose="020B0503020204020204" pitchFamily="34" charset="-122"/>
                    <a:cs typeface="Calibri" panose="020F0502020204030204" pitchFamily="34" charset="0"/>
                  </a:endParaRPr>
                </a:p>
              </p:txBody>
            </p:sp>
          </p:grpSp>
        </p:grpSp>
        <p:grpSp>
          <p:nvGrpSpPr>
            <p:cNvPr id="95" name="Group 80"/>
            <p:cNvGrpSpPr/>
            <p:nvPr/>
          </p:nvGrpSpPr>
          <p:grpSpPr>
            <a:xfrm>
              <a:off x="2037278" y="4775867"/>
              <a:ext cx="2765440" cy="650258"/>
              <a:chOff x="2644330" y="4088193"/>
              <a:chExt cx="2287588" cy="650551"/>
            </a:xfrm>
          </p:grpSpPr>
          <p:sp>
            <p:nvSpPr>
              <p:cNvPr id="100" name="Line 73"/>
              <p:cNvSpPr>
                <a:spLocks noChangeShapeType="1"/>
              </p:cNvSpPr>
              <p:nvPr/>
            </p:nvSpPr>
            <p:spPr bwMode="auto">
              <a:xfrm flipV="1">
                <a:off x="2763404" y="4405369"/>
                <a:ext cx="1952625" cy="333375"/>
              </a:xfrm>
              <a:prstGeom prst="line">
                <a:avLst/>
              </a:prstGeom>
              <a:noFill/>
              <a:ln w="28575">
                <a:solidFill>
                  <a:srgbClr val="0000A8"/>
                </a:solidFill>
                <a:round/>
                <a:head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54" name="Text Box 74"/>
              <p:cNvSpPr txBox="1">
                <a:spLocks noChangeArrowheads="1"/>
              </p:cNvSpPr>
              <p:nvPr/>
            </p:nvSpPr>
            <p:spPr bwMode="auto">
              <a:xfrm>
                <a:off x="2644330" y="4088193"/>
                <a:ext cx="22875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rPr>
                  <a:t>协议设计目的是什么呢？</a:t>
                </a:r>
                <a:endParaRPr lang="zh-CN" altLang="en-US" sz="2000" dirty="0">
                  <a:latin typeface="微软雅黑" panose="020B0503020204020204" pitchFamily="34" charset="-122"/>
                  <a:ea typeface="微软雅黑" panose="020B0503020204020204" pitchFamily="34" charset="-122"/>
                  <a:cs typeface="Calibri" panose="020F0502020204030204" pitchFamily="34" charset="0"/>
                </a:endParaRPr>
              </a:p>
            </p:txBody>
          </p:sp>
        </p:grpSp>
        <p:pic>
          <p:nvPicPr>
            <p:cNvPr id="96" name="Picture 4"/>
            <p:cNvPicPr>
              <a:picLocks noChangeAspect="1" noChangeArrowheads="1"/>
            </p:cNvPicPr>
            <p:nvPr/>
          </p:nvPicPr>
          <p:blipFill>
            <a:blip r:embed="rId2" cstate="print"/>
            <a:srcRect/>
            <a:stretch>
              <a:fillRect/>
            </a:stretch>
          </p:blipFill>
          <p:spPr bwMode="auto">
            <a:xfrm>
              <a:off x="4625399" y="2646746"/>
              <a:ext cx="1206672" cy="1209085"/>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6"/>
            <p:cNvPicPr>
              <a:picLocks noChangeAspect="1" noChangeArrowheads="1"/>
            </p:cNvPicPr>
            <p:nvPr/>
          </p:nvPicPr>
          <p:blipFill>
            <a:blip r:embed="rId3" cstate="print"/>
            <a:srcRect/>
            <a:stretch>
              <a:fillRect/>
            </a:stretch>
          </p:blipFill>
          <p:spPr bwMode="auto">
            <a:xfrm>
              <a:off x="920996" y="2699834"/>
              <a:ext cx="1075474" cy="1615455"/>
            </a:xfrm>
            <a:prstGeom prst="rect">
              <a:avLst/>
            </a:prstGeom>
            <a:noFill/>
            <a:extLst>
              <a:ext uri="{909E8E84-426E-40DD-AFC4-6F175D3DCCD1}">
                <a14:hiddenFill xmlns:a14="http://schemas.microsoft.com/office/drawing/2010/main">
                  <a:solidFill>
                    <a:srgbClr val="FFFFFF"/>
                  </a:solidFill>
                </a14:hiddenFill>
              </a:ext>
            </a:extLst>
          </p:spPr>
        </p:pic>
      </p:grpSp>
      <p:sp>
        <p:nvSpPr>
          <p:cNvPr id="163" name="矩形 162"/>
          <p:cNvSpPr/>
          <p:nvPr/>
        </p:nvSpPr>
        <p:spPr>
          <a:xfrm>
            <a:off x="1386505" y="1518908"/>
            <a:ext cx="3416320" cy="523220"/>
          </a:xfrm>
          <a:prstGeom prst="rect">
            <a:avLst/>
          </a:prstGeom>
        </p:spPr>
        <p:txBody>
          <a:bodyPr wrap="none">
            <a:spAutoFit/>
          </a:bodyPr>
          <a:lstStyle/>
          <a:p>
            <a:r>
              <a:rPr lang="zh-CN" altLang="en-US" sz="2800" dirty="0">
                <a:solidFill>
                  <a:prstClr val="black"/>
                </a:solidFill>
                <a:latin typeface="微软雅黑" panose="020B0503020204020204" pitchFamily="34" charset="-122"/>
                <a:ea typeface="微软雅黑" panose="020B0503020204020204" pitchFamily="34" charset="-122"/>
              </a:rPr>
              <a:t>人们之间的信息交互</a:t>
            </a:r>
            <a:endParaRPr lang="zh-CN" altLang="en-US" dirty="0"/>
          </a:p>
        </p:txBody>
      </p:sp>
      <p:sp>
        <p:nvSpPr>
          <p:cNvPr id="7" name="矩形 6"/>
          <p:cNvSpPr/>
          <p:nvPr/>
        </p:nvSpPr>
        <p:spPr>
          <a:xfrm>
            <a:off x="7586519" y="5737703"/>
            <a:ext cx="2986715" cy="461665"/>
          </a:xfrm>
          <a:prstGeom prst="rect">
            <a:avLst/>
          </a:prstGeom>
        </p:spPr>
        <p:txBody>
          <a:bodyPr wrap="none">
            <a:spAutoFit/>
          </a:bodyPr>
          <a:lstStyle/>
          <a:p>
            <a:r>
              <a:rPr kumimoji="1" lang="zh-CN" altLang="en-US" sz="2400" dirty="0">
                <a:solidFill>
                  <a:srgbClr val="C00000"/>
                </a:solidFill>
                <a:latin typeface="微软雅黑" panose="020B0503020204020204" pitchFamily="34" charset="-122"/>
                <a:ea typeface="微软雅黑" panose="020B0503020204020204" pitchFamily="34" charset="-122"/>
                <a:sym typeface="+mn-ea"/>
              </a:rPr>
              <a:t>如何能实现互相理解？</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blinds(horizontal)">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1"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协议设计目的</a:t>
            </a:r>
            <a:endParaRPr lang="zh-CN" altLang="en-US" dirty="0"/>
          </a:p>
        </p:txBody>
      </p:sp>
      <p:sp>
        <p:nvSpPr>
          <p:cNvPr id="3" name="内容占位符 2"/>
          <p:cNvSpPr>
            <a:spLocks noGrp="1"/>
          </p:cNvSpPr>
          <p:nvPr>
            <p:ph idx="1"/>
          </p:nvPr>
        </p:nvSpPr>
        <p:spPr>
          <a:xfrm>
            <a:off x="611505" y="1512059"/>
            <a:ext cx="7171690" cy="3676978"/>
          </a:xfrm>
        </p:spPr>
        <p:txBody>
          <a:bodyPr anchor="t">
            <a:normAutofit/>
          </a:bodyPr>
          <a:lstStyle/>
          <a:p>
            <a:r>
              <a:rPr lang="zh-CN" altLang="en-US" dirty="0">
                <a:cs typeface="微软雅黑" panose="020B0503020204020204" pitchFamily="34" charset="-122"/>
              </a:rPr>
              <a:t>网络协议</a:t>
            </a:r>
            <a:endParaRPr lang="zh-CN" altLang="en-US" dirty="0">
              <a:cs typeface="微软雅黑" panose="020B0503020204020204" pitchFamily="34" charset="-122"/>
            </a:endParaRPr>
          </a:p>
          <a:p>
            <a:pPr lvl="1" algn="l">
              <a:buClrTx/>
              <a:buSzTx/>
            </a:pPr>
            <a:r>
              <a:rPr kumimoji="1" lang="zh-CN" altLang="en-US" kern="0" noProof="0" dirty="0">
                <a:ln>
                  <a:noFill/>
                </a:ln>
                <a:solidFill>
                  <a:srgbClr val="080808"/>
                </a:solidFill>
                <a:effectLst/>
                <a:uLnTx/>
                <a:uFillTx/>
                <a:cs typeface="微软雅黑" panose="020B0503020204020204" pitchFamily="34" charset="-122"/>
                <a:sym typeface="+mn-ea"/>
              </a:rPr>
              <a:t>为进行网络中的数据交换而建立的规则、标准 或约定，即网络协议(network protocol)</a:t>
            </a:r>
            <a:endParaRPr kumimoji="1" lang="en-US" altLang="zh-CN" kern="0" noProof="0" dirty="0">
              <a:ln>
                <a:noFill/>
              </a:ln>
              <a:solidFill>
                <a:srgbClr val="080808"/>
              </a:solidFill>
              <a:effectLst/>
              <a:uLnTx/>
              <a:uFillTx/>
              <a:cs typeface="微软雅黑" panose="020B0503020204020204" pitchFamily="34" charset="-122"/>
              <a:sym typeface="+mn-ea"/>
            </a:endParaRPr>
          </a:p>
          <a:p>
            <a:pPr lvl="1" algn="l">
              <a:buClrTx/>
              <a:buSzTx/>
            </a:pPr>
            <a:r>
              <a:rPr kumimoji="1" lang="zh-CN" altLang="en-US" kern="0" dirty="0">
                <a:solidFill>
                  <a:srgbClr val="080808"/>
                </a:solidFill>
                <a:cs typeface="微软雅黑" panose="020B0503020204020204" pitchFamily="34" charset="-122"/>
                <a:sym typeface="+mn-ea"/>
              </a:rPr>
              <a:t>通信双方需要共同遵守，互相理解</a:t>
            </a:r>
            <a:endParaRPr kumimoji="1" lang="zh-CN" altLang="en-US" kern="0" noProof="0" dirty="0">
              <a:ln>
                <a:noFill/>
              </a:ln>
              <a:solidFill>
                <a:srgbClr val="080808"/>
              </a:solidFill>
              <a:effectLst/>
              <a:uLnTx/>
              <a:uFillTx/>
              <a:cs typeface="微软雅黑" panose="020B0503020204020204" pitchFamily="34" charset="-122"/>
              <a:sym typeface="+mn-ea"/>
            </a:endParaRPr>
          </a:p>
          <a:p>
            <a:pPr marL="228600" lvl="0" indent="-228600">
              <a:buFont typeface="Wingdings" panose="05000000000000000000" charset="0"/>
              <a:buChar char="Ø"/>
            </a:pPr>
            <a:r>
              <a:rPr kumimoji="1" lang="zh-CN" altLang="en-US" kern="0" noProof="0" dirty="0">
                <a:ln>
                  <a:noFill/>
                </a:ln>
                <a:solidFill>
                  <a:srgbClr val="080808"/>
                </a:solidFill>
                <a:effectLst/>
                <a:uLnTx/>
                <a:uFillTx/>
                <a:cs typeface="微软雅黑" panose="020B0503020204020204" pitchFamily="34" charset="-122"/>
                <a:sym typeface="+mn-ea"/>
              </a:rPr>
              <a:t>三要素</a:t>
            </a:r>
            <a:endParaRPr kumimoji="1" lang="zh-CN" altLang="en-US" kern="0" noProof="0" dirty="0">
              <a:ln>
                <a:noFill/>
              </a:ln>
              <a:solidFill>
                <a:srgbClr val="080808"/>
              </a:solidFill>
              <a:effectLst/>
              <a:uLnTx/>
              <a:uFillTx/>
              <a:cs typeface="微软雅黑" panose="020B0503020204020204" pitchFamily="34" charset="-122"/>
              <a:sym typeface="+mn-ea"/>
            </a:endParaRPr>
          </a:p>
          <a:p>
            <a:pPr marL="685800" lvl="1" indent="-228600" algn="l">
              <a:buClrTx/>
              <a:buSzTx/>
              <a:buChar char="•"/>
            </a:pPr>
            <a:r>
              <a:rPr kumimoji="1" lang="zh-CN" altLang="en-US" kern="0" noProof="0" dirty="0">
                <a:ln>
                  <a:noFill/>
                </a:ln>
                <a:solidFill>
                  <a:srgbClr val="080808"/>
                </a:solidFill>
                <a:effectLst/>
                <a:uLnTx/>
                <a:uFillTx/>
                <a:cs typeface="微软雅黑" panose="020B0503020204020204" pitchFamily="34" charset="-122"/>
                <a:sym typeface="+mn-ea"/>
              </a:rPr>
              <a:t>语法：规定传输数据的格式（如何讲）</a:t>
            </a:r>
            <a:endParaRPr kumimoji="1" lang="zh-CN" altLang="en-US" kern="0" noProof="0" dirty="0">
              <a:ln>
                <a:noFill/>
              </a:ln>
              <a:solidFill>
                <a:srgbClr val="080808"/>
              </a:solidFill>
              <a:effectLst/>
              <a:uLnTx/>
              <a:uFillTx/>
              <a:cs typeface="微软雅黑" panose="020B0503020204020204" pitchFamily="34" charset="-122"/>
              <a:sym typeface="+mn-ea"/>
            </a:endParaRPr>
          </a:p>
          <a:p>
            <a:pPr lvl="1" algn="l">
              <a:buClrTx/>
              <a:buSzTx/>
              <a:buFont typeface="Arial" panose="020B0604020202020204" pitchFamily="34" charset="0"/>
              <a:buChar char="•"/>
            </a:pPr>
            <a:r>
              <a:rPr kumimoji="1" lang="zh-CN" altLang="en-US" kern="0" noProof="0" dirty="0">
                <a:ln>
                  <a:noFill/>
                </a:ln>
                <a:solidFill>
                  <a:srgbClr val="080808"/>
                </a:solidFill>
                <a:effectLst/>
                <a:uLnTx/>
                <a:uFillTx/>
                <a:cs typeface="微软雅黑" panose="020B0503020204020204" pitchFamily="34" charset="-122"/>
                <a:sym typeface="+mn-ea"/>
              </a:rPr>
              <a:t>语义：规定所要完成的功能（讲什么）</a:t>
            </a:r>
            <a:endParaRPr kumimoji="1" lang="zh-CN" altLang="en-US" kern="0" noProof="0" dirty="0">
              <a:ln>
                <a:noFill/>
              </a:ln>
              <a:solidFill>
                <a:srgbClr val="080808"/>
              </a:solidFill>
              <a:effectLst/>
              <a:uLnTx/>
              <a:uFillTx/>
              <a:cs typeface="微软雅黑" panose="020B0503020204020204" pitchFamily="34" charset="-122"/>
              <a:sym typeface="+mn-ea"/>
            </a:endParaRPr>
          </a:p>
          <a:p>
            <a:pPr lvl="1" algn="l">
              <a:buClrTx/>
              <a:buSzTx/>
              <a:buFont typeface="Arial" panose="020B0604020202020204" pitchFamily="34" charset="0"/>
              <a:buChar char="•"/>
            </a:pPr>
            <a:r>
              <a:rPr kumimoji="1" lang="zh-CN" altLang="en-US" kern="0" noProof="0" dirty="0">
                <a:ln>
                  <a:noFill/>
                </a:ln>
                <a:solidFill>
                  <a:srgbClr val="080808"/>
                </a:solidFill>
                <a:effectLst/>
                <a:uLnTx/>
                <a:uFillTx/>
                <a:cs typeface="微软雅黑" panose="020B0503020204020204" pitchFamily="34" charset="-122"/>
                <a:sym typeface="+mn-ea"/>
              </a:rPr>
              <a:t>时序：规定各种操作的顺序（双方讲话的顺序）</a:t>
            </a:r>
            <a:endParaRPr kumimoji="1" lang="en-US" altLang="zh-CN" kern="0" noProof="0" dirty="0">
              <a:ln>
                <a:noFill/>
              </a:ln>
              <a:solidFill>
                <a:srgbClr val="080808"/>
              </a:solidFill>
              <a:effectLst/>
              <a:uLnTx/>
              <a:uFillTx/>
              <a:cs typeface="微软雅黑" panose="020B0503020204020204" pitchFamily="34" charset="-122"/>
              <a:sym typeface="+mn-ea"/>
            </a:endParaRPr>
          </a:p>
        </p:txBody>
      </p:sp>
      <p:grpSp>
        <p:nvGrpSpPr>
          <p:cNvPr id="33" name="组合 32"/>
          <p:cNvGrpSpPr/>
          <p:nvPr/>
        </p:nvGrpSpPr>
        <p:grpSpPr>
          <a:xfrm>
            <a:off x="7347417" y="1838776"/>
            <a:ext cx="3909695" cy="3826510"/>
            <a:chOff x="12080" y="3124"/>
            <a:chExt cx="6157" cy="6026"/>
          </a:xfrm>
        </p:grpSpPr>
        <p:sp>
          <p:nvSpPr>
            <p:cNvPr id="5" name="圆角矩形 4"/>
            <p:cNvSpPr/>
            <p:nvPr/>
          </p:nvSpPr>
          <p:spPr>
            <a:xfrm>
              <a:off x="12080" y="5393"/>
              <a:ext cx="2373" cy="1488"/>
            </a:xfrm>
            <a:prstGeom prst="roundRect">
              <a:avLst/>
            </a:prstGeom>
            <a:solidFill>
              <a:schemeClr val="bg1"/>
            </a:solidFill>
            <a:ln w="47625" cmpd="sng">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网络协议</a:t>
              </a:r>
              <a:endParaRPr lang="zh-CN" altLang="en-US" sz="2400" dirty="0">
                <a:solidFill>
                  <a:schemeClr val="tx1"/>
                </a:solidFill>
                <a:latin typeface="微软雅黑" panose="020B0503020204020204" pitchFamily="34" charset="-122"/>
                <a:ea typeface="微软雅黑" panose="020B0503020204020204" pitchFamily="34" charset="-122"/>
              </a:endParaRPr>
            </a:p>
            <a:p>
              <a:pPr algn="ctr"/>
              <a:r>
                <a:rPr lang="zh-CN" altLang="en-US" sz="2400" dirty="0">
                  <a:solidFill>
                    <a:schemeClr val="tx1"/>
                  </a:solidFill>
                  <a:latin typeface="微软雅黑" panose="020B0503020204020204" pitchFamily="34" charset="-122"/>
                  <a:ea typeface="微软雅黑" panose="020B0503020204020204" pitchFamily="34" charset="-122"/>
                </a:rPr>
                <a:t>设计目的</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15688" y="3124"/>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可靠性</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15688" y="4443"/>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资源分配</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5688" y="5762"/>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拥塞问题</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11" name="圆角矩形 10"/>
            <p:cNvSpPr/>
            <p:nvPr/>
          </p:nvSpPr>
          <p:spPr>
            <a:xfrm>
              <a:off x="15688" y="7081"/>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自适应性</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15688" y="8400"/>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安全问题</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31" name="左大括号 30"/>
            <p:cNvSpPr/>
            <p:nvPr/>
          </p:nvSpPr>
          <p:spPr>
            <a:xfrm>
              <a:off x="14592" y="3506"/>
              <a:ext cx="697" cy="5266"/>
            </a:xfrm>
            <a:prstGeom prst="leftBrace">
              <a:avLst>
                <a:gd name="adj1" fmla="val 60488"/>
                <a:gd name="adj2"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4" name="文本框 1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1139543" y="5530339"/>
            <a:ext cx="7571303" cy="461665"/>
          </a:xfrm>
          <a:prstGeom prst="rect">
            <a:avLst/>
          </a:prstGeom>
          <a:ln>
            <a:solidFill>
              <a:srgbClr val="C00000"/>
            </a:solidFill>
          </a:ln>
        </p:spPr>
        <p:txBody>
          <a:bodyPr wrap="none">
            <a:spAutoFit/>
          </a:bodyPr>
          <a:lstStyle/>
          <a:p>
            <a:r>
              <a:rPr kumimoji="1" lang="zh-CN" altLang="en-US" sz="2400" dirty="0">
                <a:solidFill>
                  <a:srgbClr val="C00000"/>
                </a:solidFill>
                <a:latin typeface="微软雅黑" panose="020B0503020204020204" pitchFamily="34" charset="-122"/>
                <a:ea typeface="微软雅黑" panose="020B0503020204020204" pitchFamily="34" charset="-122"/>
                <a:sym typeface="+mn-ea"/>
              </a:rPr>
              <a:t>通信双方要说的事情多种多样，导致网络协议异常复杂</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微软雅黑" panose="020B0503020204020204" pitchFamily="34" charset="-122"/>
                <a:sym typeface="+mn-ea"/>
              </a:rPr>
              <a:t>协议分层结构</a:t>
            </a:r>
            <a:r>
              <a:rPr kumimoji="1" lang="zh-CN" altLang="en-US" dirty="0">
                <a:sym typeface="+mn-ea"/>
              </a:rPr>
              <a:t>的必要性</a:t>
            </a:r>
            <a:endParaRPr kumimoji="1" lang="zh-CN" altLang="en-US" dirty="0"/>
          </a:p>
        </p:txBody>
      </p:sp>
      <p:sp>
        <p:nvSpPr>
          <p:cNvPr id="3" name="内容占位符 2"/>
          <p:cNvSpPr>
            <a:spLocks noGrp="1"/>
          </p:cNvSpPr>
          <p:nvPr>
            <p:ph idx="1"/>
          </p:nvPr>
        </p:nvSpPr>
        <p:spPr>
          <a:xfrm>
            <a:off x="838200" y="1496811"/>
            <a:ext cx="4598096" cy="4859539"/>
          </a:xfrm>
          <a:ln w="6350" cmpd="sng">
            <a:solidFill>
              <a:srgbClr val="5B307E"/>
            </a:solidFill>
            <a:prstDash val="solid"/>
          </a:ln>
        </p:spPr>
        <p:txBody>
          <a:bodyPr>
            <a:normAutofit fontScale="92500" lnSpcReduction="10000"/>
          </a:bodyPr>
          <a:lstStyle/>
          <a:p>
            <a:pPr marL="311150" indent="-311150">
              <a:lnSpc>
                <a:spcPct val="110000"/>
              </a:lnSpc>
            </a:pPr>
            <a:r>
              <a:rPr kumimoji="1" lang="zh-CN" altLang="en-US" dirty="0"/>
              <a:t>计算机网络的复杂与异构</a:t>
            </a:r>
            <a:endParaRPr kumimoji="1" lang="zh-CN" altLang="en-US" dirty="0"/>
          </a:p>
          <a:p>
            <a:pPr lvl="1">
              <a:lnSpc>
                <a:spcPct val="110000"/>
              </a:lnSpc>
            </a:pPr>
            <a:r>
              <a:rPr kumimoji="1" lang="zh-CN" altLang="en-US" dirty="0"/>
              <a:t>介质：光纤、铜缆、空气</a:t>
            </a:r>
            <a:r>
              <a:rPr kumimoji="1" lang="en-US" altLang="zh-CN" dirty="0"/>
              <a:t>...</a:t>
            </a:r>
            <a:endParaRPr kumimoji="1" lang="zh-CN" altLang="en-US" dirty="0"/>
          </a:p>
          <a:p>
            <a:pPr lvl="1">
              <a:lnSpc>
                <a:spcPct val="110000"/>
              </a:lnSpc>
            </a:pPr>
            <a:r>
              <a:rPr kumimoji="1" lang="zh-CN" altLang="en-US" dirty="0"/>
              <a:t>接入：有线、</a:t>
            </a:r>
            <a:r>
              <a:rPr kumimoji="1" lang="en-US" altLang="zh-CN" dirty="0"/>
              <a:t>WLAN</a:t>
            </a:r>
            <a:r>
              <a:rPr kumimoji="1" lang="zh-CN" altLang="en-US" dirty="0"/>
              <a:t>、移动数据网络、蓝牙</a:t>
            </a:r>
            <a:r>
              <a:rPr kumimoji="1" lang="en-US" altLang="zh-CN" dirty="0"/>
              <a:t>...</a:t>
            </a:r>
            <a:endParaRPr kumimoji="1" lang="zh-CN" altLang="en-US" dirty="0"/>
          </a:p>
          <a:p>
            <a:pPr lvl="1">
              <a:lnSpc>
                <a:spcPct val="110000"/>
              </a:lnSpc>
            </a:pPr>
            <a:r>
              <a:rPr kumimoji="1" lang="zh-CN" altLang="en-US" dirty="0"/>
              <a:t>应用：无人驾驶、万物互联、短视频、邮件</a:t>
            </a:r>
            <a:r>
              <a:rPr kumimoji="1" lang="en-US" altLang="zh-CN" dirty="0"/>
              <a:t>...</a:t>
            </a:r>
            <a:endParaRPr kumimoji="1" lang="zh-CN" altLang="en-US" dirty="0"/>
          </a:p>
          <a:p>
            <a:pPr marL="311150" indent="-311150">
              <a:lnSpc>
                <a:spcPct val="110000"/>
              </a:lnSpc>
            </a:pPr>
            <a:r>
              <a:rPr kumimoji="1" lang="zh-CN" altLang="en-US" dirty="0"/>
              <a:t>高速更新迭代</a:t>
            </a:r>
            <a:endParaRPr kumimoji="1" lang="en-US" altLang="zh-CN" sz="2400" dirty="0"/>
          </a:p>
          <a:p>
            <a:pPr lvl="1">
              <a:lnSpc>
                <a:spcPct val="110000"/>
              </a:lnSpc>
            </a:pPr>
            <a:r>
              <a:rPr kumimoji="1" lang="zh-CN" altLang="en-US" dirty="0"/>
              <a:t>大哥大</a:t>
            </a:r>
            <a:r>
              <a:rPr kumimoji="1" lang="en-US" altLang="zh-CN" dirty="0"/>
              <a:t>1G</a:t>
            </a:r>
            <a:r>
              <a:rPr kumimoji="1" lang="zh-CN" altLang="en-US" dirty="0"/>
              <a:t>（模拟）、</a:t>
            </a:r>
            <a:r>
              <a:rPr kumimoji="1" lang="en-US" altLang="zh-CN" dirty="0"/>
              <a:t>2G(</a:t>
            </a:r>
            <a:r>
              <a:rPr kumimoji="1" lang="zh-CN" altLang="en-US" dirty="0"/>
              <a:t>数字</a:t>
            </a:r>
            <a:r>
              <a:rPr kumimoji="1" lang="en-US" altLang="zh-CN" dirty="0"/>
              <a:t>)</a:t>
            </a:r>
            <a:r>
              <a:rPr kumimoji="1" lang="zh-CN" altLang="en-US" dirty="0"/>
              <a:t>、</a:t>
            </a:r>
            <a:r>
              <a:rPr kumimoji="1" lang="en-US" altLang="zh-CN" dirty="0"/>
              <a:t>3G</a:t>
            </a:r>
            <a:r>
              <a:rPr kumimoji="1" lang="zh-CN" altLang="en-US" dirty="0"/>
              <a:t>、</a:t>
            </a:r>
            <a:r>
              <a:rPr kumimoji="1" lang="en-US" altLang="zh-CN" dirty="0"/>
              <a:t>4G</a:t>
            </a:r>
            <a:r>
              <a:rPr kumimoji="1" lang="zh-CN" altLang="en-US" dirty="0"/>
              <a:t>、</a:t>
            </a:r>
            <a:r>
              <a:rPr kumimoji="1" lang="en-US" altLang="zh-CN" dirty="0"/>
              <a:t>5G</a:t>
            </a:r>
            <a:endParaRPr kumimoji="1" lang="en-US" altLang="zh-CN" dirty="0"/>
          </a:p>
          <a:p>
            <a:pPr lvl="1">
              <a:lnSpc>
                <a:spcPct val="110000"/>
              </a:lnSpc>
            </a:pPr>
            <a:r>
              <a:rPr kumimoji="1" lang="en-US" altLang="zh-CN" dirty="0"/>
              <a:t>IEEE802.3</a:t>
            </a:r>
            <a:r>
              <a:rPr kumimoji="1" lang="zh-CN" altLang="en-US" dirty="0"/>
              <a:t>：</a:t>
            </a:r>
            <a:r>
              <a:rPr kumimoji="1" lang="en-US" altLang="zh-CN" dirty="0"/>
              <a:t>2020</a:t>
            </a:r>
            <a:r>
              <a:rPr kumimoji="1" lang="zh-CN" altLang="en-US" dirty="0"/>
              <a:t>年推出</a:t>
            </a:r>
            <a:r>
              <a:rPr kumimoji="1" lang="en-US" altLang="zh-CN" dirty="0"/>
              <a:t>4</a:t>
            </a:r>
            <a:r>
              <a:rPr kumimoji="1" lang="zh-CN" altLang="en-US" dirty="0"/>
              <a:t>个版本</a:t>
            </a:r>
            <a:endParaRPr kumimoji="1" lang="en-US" altLang="zh-CN" dirty="0"/>
          </a:p>
          <a:p>
            <a:pPr lvl="1">
              <a:lnSpc>
                <a:spcPct val="110000"/>
              </a:lnSpc>
            </a:pPr>
            <a:r>
              <a:rPr kumimoji="1" lang="en-US" altLang="zh-CN" dirty="0"/>
              <a:t>...</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燕尾形箭头 4"/>
          <p:cNvSpPr/>
          <p:nvPr/>
        </p:nvSpPr>
        <p:spPr>
          <a:xfrm>
            <a:off x="5162352" y="3424295"/>
            <a:ext cx="973455" cy="1004570"/>
          </a:xfrm>
          <a:prstGeom prst="notched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内容占位符 2"/>
          <p:cNvSpPr>
            <a:spLocks noGrp="1"/>
          </p:cNvSpPr>
          <p:nvPr/>
        </p:nvSpPr>
        <p:spPr>
          <a:xfrm>
            <a:off x="6270100" y="3214256"/>
            <a:ext cx="1805940" cy="1353412"/>
          </a:xfrm>
          <a:prstGeom prst="rect">
            <a:avLst/>
          </a:prstGeom>
          <a:ln w="6350" cmpd="sng">
            <a:solidFill>
              <a:srgbClr val="5B307E"/>
            </a:solidFill>
            <a:prstDash val="solid"/>
          </a:ln>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17500" marR="0" lvl="0" indent="-306705" algn="l" defTabSz="914400" rtl="0" eaLnBrk="1" fontAlgn="auto" latinLnBrk="0" hangingPunct="1">
              <a:spcBef>
                <a:spcPts val="600"/>
              </a:spcBef>
              <a:spcAft>
                <a:spcPts val="0"/>
              </a:spcAft>
              <a:buClrTx/>
              <a:buSzTx/>
              <a:buFont typeface="Wingdings" panose="05000000000000000000" pitchFamily="2" charset="2"/>
              <a:buChar char="Ø"/>
              <a:defRPr/>
            </a:pPr>
            <a:r>
              <a:rPr kumimoji="1" lang="zh-CN" altLang="en-US" sz="24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分层结构</a:t>
            </a:r>
            <a:endParaRPr kumimoji="1" lang="zh-CN" altLang="en-US" sz="24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317500" marR="0" lvl="0" indent="-306705" algn="l" defTabSz="914400" rtl="0" eaLnBrk="1" fontAlgn="auto" latinLnBrk="0" hangingPunct="1">
              <a:spcBef>
                <a:spcPts val="600"/>
              </a:spcBef>
              <a:spcAft>
                <a:spcPts val="0"/>
              </a:spcAft>
              <a:buClrTx/>
              <a:buSzTx/>
              <a:buFont typeface="Wingdings" panose="05000000000000000000" pitchFamily="2" charset="2"/>
              <a:buChar char="Ø"/>
              <a:defRPr/>
            </a:pPr>
            <a:r>
              <a:rPr kumimoji="1" lang="zh-CN" altLang="en-US" sz="24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统一标准</a:t>
            </a:r>
            <a:endParaRPr kumimoji="1" lang="zh-CN" altLang="en-US" sz="24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317500" marR="0" lvl="0" indent="-306705" algn="l" defTabSz="914400" rtl="0" eaLnBrk="1" fontAlgn="auto" latinLnBrk="0" hangingPunct="1">
              <a:spcBef>
                <a:spcPts val="600"/>
              </a:spcBef>
              <a:spcAft>
                <a:spcPts val="0"/>
              </a:spcAft>
              <a:buClrTx/>
              <a:buSzTx/>
              <a:buFont typeface="Wingdings" panose="05000000000000000000" pitchFamily="2" charset="2"/>
              <a:buChar char="Ø"/>
              <a:defRPr/>
            </a:pPr>
            <a:r>
              <a:rPr kumimoji="1" lang="zh-CN" altLang="en-US" sz="24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模块独立</a:t>
            </a:r>
            <a:endParaRPr kumimoji="1" lang="zh-CN" altLang="en-US" sz="24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8" name="左大括号 7"/>
          <p:cNvSpPr/>
          <p:nvPr/>
        </p:nvSpPr>
        <p:spPr>
          <a:xfrm>
            <a:off x="8076040" y="3004184"/>
            <a:ext cx="441960" cy="1772920"/>
          </a:xfrm>
          <a:prstGeom prst="leftBrace">
            <a:avLst>
              <a:gd name="adj1" fmla="val 60488"/>
              <a:gd name="adj2" fmla="val 50000"/>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 name="内容占位符 2"/>
          <p:cNvSpPr>
            <a:spLocks noGrp="1"/>
          </p:cNvSpPr>
          <p:nvPr/>
        </p:nvSpPr>
        <p:spPr>
          <a:xfrm>
            <a:off x="8344626" y="2987040"/>
            <a:ext cx="3507287" cy="1929130"/>
          </a:xfrm>
          <a:prstGeom prst="rect">
            <a:avLst/>
          </a:prstGeom>
          <a:ln w="6350" cmpd="sng">
            <a:noFill/>
            <a:prstDash val="solid"/>
          </a:ln>
        </p:spPr>
        <p:txBody>
          <a:bodyPr vert="horz" lIns="91440" tIns="45720" rIns="91440" bIns="45720" rtlCol="0">
            <a:normAutofit fontScale="92500" lnSpcReduction="1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Tx/>
              <a:buSzTx/>
              <a:buFont typeface="Wingdings" panose="05000000000000000000" pitchFamily="2" charset="2"/>
              <a:buChar char="Ø"/>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明晰</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rPr>
              <a:t>简化，便于分析学习</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ea"/>
            </a:endParaRPr>
          </a:p>
          <a:p>
            <a:pPr marL="228600" marR="0" lvl="0" indent="-228600" algn="l" defTabSz="914400" rtl="0" eaLnBrk="1" fontAlgn="auto" latinLnBrk="0" hangingPunct="1">
              <a:lnSpc>
                <a:spcPct val="130000"/>
              </a:lnSpc>
              <a:spcBef>
                <a:spcPts val="600"/>
              </a:spcBef>
              <a:spcAft>
                <a:spcPts val="0"/>
              </a:spcAft>
              <a:buClrTx/>
              <a:buSzTx/>
              <a:buFont typeface="Wingdings" panose="05000000000000000000" pitchFamily="2" charset="2"/>
              <a:buChar char="Ø"/>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各层独立，加速技术演进</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28600" marR="0" lvl="0" indent="-228600" algn="l" defTabSz="914400" rtl="0" eaLnBrk="1" fontAlgn="auto" latinLnBrk="0" hangingPunct="1">
              <a:lnSpc>
                <a:spcPct val="130000"/>
              </a:lnSpc>
              <a:spcBef>
                <a:spcPts val="600"/>
              </a:spcBef>
              <a:spcAft>
                <a:spcPts val="0"/>
              </a:spcAft>
              <a:buClrTx/>
              <a:buSzTx/>
              <a:buFont typeface="Wingdings" panose="05000000000000000000" pitchFamily="2" charset="2"/>
              <a:buChar char="Ø"/>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统一接口，确保技术互通（interoperable）</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内容占位符 2"/>
          <p:cNvSpPr>
            <a:spLocks noGrp="1"/>
          </p:cNvSpPr>
          <p:nvPr/>
        </p:nvSpPr>
        <p:spPr>
          <a:xfrm>
            <a:off x="6246031" y="1496811"/>
            <a:ext cx="5605882" cy="1171458"/>
          </a:xfrm>
          <a:prstGeom prst="rect">
            <a:avLst/>
          </a:prstGeom>
          <a:ln w="6350" cmpd="sng">
            <a:solidFill>
              <a:srgbClr val="C00000"/>
            </a:solidFill>
            <a:prstDash val="solid"/>
          </a:ln>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30000"/>
              </a:lnSpc>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开发个游戏直播软件，是否需要针对</a:t>
            </a: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3G/</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4G/5G</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还是</a:t>
            </a:r>
            <a:r>
              <a:rPr kumimoji="1" lang="en-US" altLang="zh-CN" sz="2400" dirty="0" err="1">
                <a:solidFill>
                  <a:prstClr val="black"/>
                </a:solidFill>
              </a:rPr>
              <a:t>WiFi</a:t>
            </a:r>
            <a:r>
              <a:rPr kumimoji="1" lang="zh-CN" altLang="en-US" sz="2400" dirty="0">
                <a:solidFill>
                  <a:prstClr val="black"/>
                </a:solidFill>
              </a:rPr>
              <a:t>单独开发</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 name="内容占位符 2"/>
          <p:cNvSpPr>
            <a:spLocks noGrp="1"/>
          </p:cNvSpPr>
          <p:nvPr/>
        </p:nvSpPr>
        <p:spPr>
          <a:xfrm>
            <a:off x="6222089" y="5184892"/>
            <a:ext cx="5605882" cy="1171458"/>
          </a:xfrm>
          <a:prstGeom prst="rect">
            <a:avLst/>
          </a:prstGeom>
          <a:ln w="6350" cmpd="sng">
            <a:solidFill>
              <a:srgbClr val="C00000"/>
            </a:solidFill>
            <a:prstDash val="solid"/>
          </a:ln>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30000"/>
              </a:lnSpc>
              <a:buNone/>
              <a:defRPr/>
            </a:pPr>
            <a:r>
              <a:rPr kumimoji="1" lang="en-US" altLang="zh-CN" sz="2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WiFi</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发展为新版本</a:t>
            </a:r>
            <a:r>
              <a:rPr kumimoji="1" lang="en-US" altLang="zh-CN" sz="2400" dirty="0">
                <a:solidFill>
                  <a:prstClr val="black"/>
                </a:solidFill>
              </a:rPr>
              <a:t>WiFi6</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，那么</a:t>
            </a:r>
            <a:r>
              <a:rPr kumimoji="1" lang="en-US" altLang="zh-CN" sz="2400" dirty="0">
                <a:solidFill>
                  <a:prstClr val="black"/>
                </a:solidFill>
              </a:rPr>
              <a:t>WiFi6</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是否</a:t>
            </a:r>
            <a:r>
              <a:rPr kumimoji="1" lang="zh-CN" altLang="en-US" sz="2400" dirty="0">
                <a:solidFill>
                  <a:prstClr val="black"/>
                </a:solidFill>
              </a:rPr>
              <a:t>要对</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已有直播、微信或支付宝做适配？</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燕尾形箭头 12"/>
          <p:cNvSpPr/>
          <p:nvPr/>
        </p:nvSpPr>
        <p:spPr>
          <a:xfrm rot="5400000">
            <a:off x="6901150" y="2549548"/>
            <a:ext cx="441960" cy="833965"/>
          </a:xfrm>
          <a:prstGeom prst="notched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燕尾形箭头 13"/>
          <p:cNvSpPr/>
          <p:nvPr/>
        </p:nvSpPr>
        <p:spPr>
          <a:xfrm rot="16200000">
            <a:off x="6901150" y="4457046"/>
            <a:ext cx="441960" cy="833965"/>
          </a:xfrm>
          <a:prstGeom prst="notched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文本框 14"/>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p:bldP spid="11" grpId="0" animBg="1"/>
      <p:bldP spid="12" grpId="0" animBg="1"/>
      <p:bldP spid="13" grpId="0" animBg="1"/>
      <p:bldP spid="1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微软雅黑" panose="020B0503020204020204" pitchFamily="34" charset="-122"/>
                <a:sym typeface="+mn-ea"/>
              </a:rPr>
              <a:t>分层结构示例</a:t>
            </a:r>
            <a:endParaRPr kumimoji="1" lang="zh-CN" altLang="en-US" dirty="0"/>
          </a:p>
        </p:txBody>
      </p:sp>
      <p:sp>
        <p:nvSpPr>
          <p:cNvPr id="3" name="内容占位符 2"/>
          <p:cNvSpPr>
            <a:spLocks noGrp="1"/>
          </p:cNvSpPr>
          <p:nvPr>
            <p:ph idx="1"/>
          </p:nvPr>
        </p:nvSpPr>
        <p:spPr>
          <a:xfrm>
            <a:off x="838200" y="1351915"/>
            <a:ext cx="5459095" cy="785495"/>
          </a:xfrm>
        </p:spPr>
        <p:txBody>
          <a:bodyPr>
            <a:normAutofit/>
          </a:bodyPr>
          <a:lstStyle/>
          <a:p>
            <a:pPr marL="0" indent="0">
              <a:lnSpc>
                <a:spcPct val="130000"/>
              </a:lnSpc>
              <a:buNone/>
            </a:pPr>
            <a:r>
              <a:rPr kumimoji="1" lang="zh-CN" altLang="en-US" dirty="0"/>
              <a:t>互联网大厂</a:t>
            </a:r>
            <a:r>
              <a:rPr kumimoji="1" lang="en-US" altLang="zh-CN" dirty="0"/>
              <a:t>X</a:t>
            </a:r>
            <a:r>
              <a:rPr kumimoji="1" lang="zh-CN" altLang="en-US" dirty="0"/>
              <a:t>讯与</a:t>
            </a:r>
            <a:r>
              <a:rPr kumimoji="1" lang="en-US" altLang="zh-CN" dirty="0"/>
              <a:t>X</a:t>
            </a:r>
            <a:r>
              <a:rPr kumimoji="1" lang="zh-CN" altLang="en-US" dirty="0"/>
              <a:t>东的合作</a:t>
            </a:r>
            <a:endParaRPr kumimoji="1" lang="zh-CN" altLang="en-US"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 name="内容占位符 2"/>
          <p:cNvSpPr>
            <a:spLocks noGrp="1"/>
          </p:cNvSpPr>
          <p:nvPr/>
        </p:nvSpPr>
        <p:spPr>
          <a:xfrm>
            <a:off x="961708" y="2032569"/>
            <a:ext cx="5351145" cy="4459353"/>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marR="0" lvl="0" indent="-360680" algn="l" defTabSz="914400" rtl="0" eaLnBrk="1" fontAlgn="auto" latinLnBrk="0" hangingPunct="1">
              <a:lnSpc>
                <a:spcPct val="120000"/>
              </a:lnSpc>
              <a:spcBef>
                <a:spcPts val="600"/>
              </a:spcBef>
              <a:spcAft>
                <a:spcPts val="0"/>
              </a:spcAft>
              <a:buClrTx/>
              <a:buSzTx/>
              <a:buFont typeface="Wingdings" panose="05000000000000000000" pitchFamily="2" charset="2"/>
              <a:buChar char="Ø"/>
              <a:defRPr/>
            </a:pPr>
            <a:r>
              <a:rPr kumimoji="1"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层级组织</a:t>
            </a:r>
            <a:r>
              <a:rPr kumimoji="1" lang="zh-CN" altLang="en-US"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（分层）</a:t>
            </a:r>
            <a:endParaRPr kumimoji="1"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20000"/>
              </a:lnSpc>
              <a:spcBef>
                <a:spcPts val="6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总裁</a:t>
            </a: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总监</a:t>
            </a: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经理</a:t>
            </a: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码农</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60680" marR="0" lvl="0" indent="-360680" algn="l" defTabSz="914400" rtl="0" eaLnBrk="1" fontAlgn="auto" latinLnBrk="0" hangingPunct="1">
              <a:lnSpc>
                <a:spcPct val="120000"/>
              </a:lnSpc>
              <a:spcBef>
                <a:spcPts val="600"/>
              </a:spcBef>
              <a:spcAft>
                <a:spcPts val="0"/>
              </a:spcAft>
              <a:buClrTx/>
              <a:buSzTx/>
              <a:buFont typeface="Wingdings" panose="05000000000000000000" pitchFamily="2" charset="2"/>
              <a:buChar char="Ø"/>
              <a:defRPr/>
            </a:pPr>
            <a:r>
              <a:rPr kumimoji="1" lang="zh-CN" altLang="en-US" dirty="0">
                <a:solidFill>
                  <a:prstClr val="black"/>
                </a:solidFill>
              </a:rPr>
              <a:t>内部</a:t>
            </a:r>
            <a:r>
              <a:rPr kumimoji="1"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独立</a:t>
            </a:r>
            <a:r>
              <a:rPr kumimoji="1" lang="zh-CN" altLang="en-US"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（模块）</a:t>
            </a:r>
            <a:endParaRPr kumimoji="1"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20000"/>
              </a:lnSpc>
              <a:spcBef>
                <a:spcPts val="6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我用</a:t>
            </a: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Python; </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我用</a:t>
            </a: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GO</a:t>
            </a:r>
            <a:endPar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20000"/>
              </a:lnSpc>
              <a:spcBef>
                <a:spcPts val="6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铁打的项目，流水的码农</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60680" marR="0" lvl="0" indent="-360680" algn="l" defTabSz="914400" rtl="0" eaLnBrk="1" fontAlgn="auto" latinLnBrk="0" hangingPunct="1">
              <a:lnSpc>
                <a:spcPct val="120000"/>
              </a:lnSpc>
              <a:spcBef>
                <a:spcPts val="600"/>
              </a:spcBef>
              <a:spcAft>
                <a:spcPts val="0"/>
              </a:spcAft>
              <a:buClrTx/>
              <a:buSzTx/>
              <a:buFont typeface="Wingdings" panose="05000000000000000000" pitchFamily="2" charset="2"/>
              <a:buChar char="Ø"/>
              <a:defRPr/>
            </a:pPr>
            <a:r>
              <a:rPr kumimoji="1" lang="zh-CN" altLang="en-US" dirty="0">
                <a:solidFill>
                  <a:prstClr val="black"/>
                </a:solidFill>
              </a:rPr>
              <a:t>沟通</a:t>
            </a:r>
            <a:r>
              <a:rPr kumimoji="1"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协作</a:t>
            </a:r>
            <a:r>
              <a:rPr kumimoji="1" lang="zh-CN" altLang="en-US"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（标准）</a:t>
            </a:r>
            <a:endParaRPr kumimoji="1"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20000"/>
              </a:lnSpc>
              <a:spcBef>
                <a:spcPts val="6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合作协议、项目文档、接口定义</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20000"/>
              </a:lnSpc>
              <a:spcBef>
                <a:spcPts val="6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日报、周报、月报</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a:blip r:embed="rId1" cstate="print"/>
          <a:stretch>
            <a:fillRect/>
          </a:stretch>
        </p:blipFill>
        <p:spPr>
          <a:xfrm>
            <a:off x="9390380" y="1604962"/>
            <a:ext cx="842645" cy="914400"/>
          </a:xfrm>
          <a:prstGeom prst="rect">
            <a:avLst/>
          </a:prstGeom>
        </p:spPr>
      </p:pic>
      <p:sp>
        <p:nvSpPr>
          <p:cNvPr id="8" name="文本框 7"/>
          <p:cNvSpPr txBox="1"/>
          <p:nvPr/>
        </p:nvSpPr>
        <p:spPr>
          <a:xfrm>
            <a:off x="10467975" y="1888172"/>
            <a:ext cx="129159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总裁</a:t>
            </a: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cstate="print"/>
          <a:stretch>
            <a:fillRect/>
          </a:stretch>
        </p:blipFill>
        <p:spPr>
          <a:xfrm>
            <a:off x="6838950" y="1679257"/>
            <a:ext cx="680720" cy="785495"/>
          </a:xfrm>
          <a:prstGeom prst="rect">
            <a:avLst/>
          </a:prstGeom>
        </p:spPr>
      </p:pic>
      <p:pic>
        <p:nvPicPr>
          <p:cNvPr id="10" name="图片 9"/>
          <p:cNvPicPr>
            <a:picLocks noChangeAspect="1"/>
          </p:cNvPicPr>
          <p:nvPr/>
        </p:nvPicPr>
        <p:blipFill>
          <a:blip r:embed="rId3" cstate="print"/>
          <a:stretch>
            <a:fillRect/>
          </a:stretch>
        </p:blipFill>
        <p:spPr>
          <a:xfrm>
            <a:off x="6877685" y="2916872"/>
            <a:ext cx="603250" cy="882015"/>
          </a:xfrm>
          <a:prstGeom prst="rect">
            <a:avLst/>
          </a:prstGeom>
        </p:spPr>
      </p:pic>
      <p:pic>
        <p:nvPicPr>
          <p:cNvPr id="11" name="图片 10"/>
          <p:cNvPicPr>
            <a:picLocks noChangeAspect="1"/>
          </p:cNvPicPr>
          <p:nvPr/>
        </p:nvPicPr>
        <p:blipFill>
          <a:blip r:embed="rId4" cstate="print"/>
          <a:stretch>
            <a:fillRect/>
          </a:stretch>
        </p:blipFill>
        <p:spPr>
          <a:xfrm>
            <a:off x="9527540" y="2911157"/>
            <a:ext cx="568325" cy="855980"/>
          </a:xfrm>
          <a:prstGeom prst="rect">
            <a:avLst/>
          </a:prstGeom>
        </p:spPr>
      </p:pic>
      <p:pic>
        <p:nvPicPr>
          <p:cNvPr id="12" name="图片 11"/>
          <p:cNvPicPr>
            <a:picLocks noChangeAspect="1"/>
          </p:cNvPicPr>
          <p:nvPr/>
        </p:nvPicPr>
        <p:blipFill>
          <a:blip r:embed="rId5" cstate="print"/>
          <a:stretch>
            <a:fillRect/>
          </a:stretch>
        </p:blipFill>
        <p:spPr>
          <a:xfrm>
            <a:off x="6877685" y="5376227"/>
            <a:ext cx="768350" cy="728980"/>
          </a:xfrm>
          <a:prstGeom prst="rect">
            <a:avLst/>
          </a:prstGeom>
        </p:spPr>
      </p:pic>
      <p:pic>
        <p:nvPicPr>
          <p:cNvPr id="13" name="图片 12"/>
          <p:cNvPicPr>
            <a:picLocks noChangeAspect="1"/>
          </p:cNvPicPr>
          <p:nvPr/>
        </p:nvPicPr>
        <p:blipFill>
          <a:blip r:embed="rId6" cstate="print"/>
          <a:stretch>
            <a:fillRect/>
          </a:stretch>
        </p:blipFill>
        <p:spPr>
          <a:xfrm>
            <a:off x="9484995" y="5343842"/>
            <a:ext cx="653415" cy="823595"/>
          </a:xfrm>
          <a:prstGeom prst="rect">
            <a:avLst/>
          </a:prstGeom>
        </p:spPr>
      </p:pic>
      <p:pic>
        <p:nvPicPr>
          <p:cNvPr id="14" name="图片 13"/>
          <p:cNvPicPr>
            <a:picLocks noChangeAspect="1"/>
          </p:cNvPicPr>
          <p:nvPr/>
        </p:nvPicPr>
        <p:blipFill>
          <a:blip r:embed="rId7" cstate="print"/>
          <a:stretch>
            <a:fillRect/>
          </a:stretch>
        </p:blipFill>
        <p:spPr>
          <a:xfrm>
            <a:off x="6854825" y="4323397"/>
            <a:ext cx="814070" cy="544195"/>
          </a:xfrm>
          <a:prstGeom prst="rect">
            <a:avLst/>
          </a:prstGeom>
        </p:spPr>
      </p:pic>
      <p:pic>
        <p:nvPicPr>
          <p:cNvPr id="15" name="图片 14"/>
          <p:cNvPicPr>
            <a:picLocks noChangeAspect="1"/>
          </p:cNvPicPr>
          <p:nvPr/>
        </p:nvPicPr>
        <p:blipFill>
          <a:blip r:embed="rId8" cstate="print"/>
          <a:stretch>
            <a:fillRect/>
          </a:stretch>
        </p:blipFill>
        <p:spPr>
          <a:xfrm>
            <a:off x="9535160" y="4191952"/>
            <a:ext cx="553085" cy="770890"/>
          </a:xfrm>
          <a:prstGeom prst="rect">
            <a:avLst/>
          </a:prstGeom>
        </p:spPr>
      </p:pic>
      <p:sp>
        <p:nvSpPr>
          <p:cNvPr id="16" name="文本框 15"/>
          <p:cNvSpPr txBox="1"/>
          <p:nvPr/>
        </p:nvSpPr>
        <p:spPr>
          <a:xfrm>
            <a:off x="10467975" y="3173412"/>
            <a:ext cx="129159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总监</a:t>
            </a: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7" name="文本框 16"/>
          <p:cNvSpPr txBox="1"/>
          <p:nvPr/>
        </p:nvSpPr>
        <p:spPr>
          <a:xfrm>
            <a:off x="10467975" y="4409122"/>
            <a:ext cx="129159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经理</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8" name="文本框 17"/>
          <p:cNvSpPr txBox="1"/>
          <p:nvPr/>
        </p:nvSpPr>
        <p:spPr>
          <a:xfrm>
            <a:off x="10467975" y="5519102"/>
            <a:ext cx="129159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码农</a:t>
            </a: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cxnSp>
        <p:nvCxnSpPr>
          <p:cNvPr id="19" name="直接箭头连接符 18"/>
          <p:cNvCxnSpPr/>
          <p:nvPr/>
        </p:nvCxnSpPr>
        <p:spPr>
          <a:xfrm flipV="1">
            <a:off x="7581582" y="2062162"/>
            <a:ext cx="1868170" cy="1016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7869872" y="2256472"/>
            <a:ext cx="12915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战略合作</a:t>
            </a: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cxnSp>
        <p:nvCxnSpPr>
          <p:cNvPr id="21" name="直接箭头连接符 20"/>
          <p:cNvCxnSpPr/>
          <p:nvPr/>
        </p:nvCxnSpPr>
        <p:spPr>
          <a:xfrm flipV="1">
            <a:off x="7465377" y="3339147"/>
            <a:ext cx="2100580" cy="1905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869872" y="3383597"/>
            <a:ext cx="12915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确定项目</a:t>
            </a: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cxnSp>
        <p:nvCxnSpPr>
          <p:cNvPr id="23" name="直接箭头连接符 22"/>
          <p:cNvCxnSpPr/>
          <p:nvPr/>
        </p:nvCxnSpPr>
        <p:spPr>
          <a:xfrm>
            <a:off x="7559357" y="4595812"/>
            <a:ext cx="1912620" cy="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869872" y="4634547"/>
            <a:ext cx="12915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sym typeface="+mn-ea"/>
              </a:rPr>
              <a:t>细化</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功能</a:t>
            </a: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cxnSp>
        <p:nvCxnSpPr>
          <p:cNvPr id="25" name="直接箭头连接符 24"/>
          <p:cNvCxnSpPr/>
          <p:nvPr/>
        </p:nvCxnSpPr>
        <p:spPr>
          <a:xfrm>
            <a:off x="7547610" y="5740717"/>
            <a:ext cx="1936115" cy="1524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7869872" y="5745797"/>
            <a:ext cx="12915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sym typeface="+mn-ea"/>
              </a:rPr>
              <a:t>代码接口</a:t>
            </a: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7" name="上下箭头 26"/>
          <p:cNvSpPr/>
          <p:nvPr/>
        </p:nvSpPr>
        <p:spPr>
          <a:xfrm>
            <a:off x="7037705" y="2519362"/>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8" name="上下箭头 27"/>
          <p:cNvSpPr/>
          <p:nvPr/>
        </p:nvSpPr>
        <p:spPr>
          <a:xfrm>
            <a:off x="7042785" y="3847782"/>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9" name="上下箭头 28"/>
          <p:cNvSpPr/>
          <p:nvPr/>
        </p:nvSpPr>
        <p:spPr>
          <a:xfrm>
            <a:off x="7042785" y="4936807"/>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0" name="上下箭头 29"/>
          <p:cNvSpPr/>
          <p:nvPr/>
        </p:nvSpPr>
        <p:spPr>
          <a:xfrm>
            <a:off x="9675177" y="2535237"/>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1" name="上下箭头 30"/>
          <p:cNvSpPr/>
          <p:nvPr/>
        </p:nvSpPr>
        <p:spPr>
          <a:xfrm>
            <a:off x="9675177" y="3816032"/>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2" name="上下箭头 31"/>
          <p:cNvSpPr/>
          <p:nvPr/>
        </p:nvSpPr>
        <p:spPr>
          <a:xfrm>
            <a:off x="9675177" y="4952682"/>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cxnSp>
        <p:nvCxnSpPr>
          <p:cNvPr id="33" name="直接连接符 32"/>
          <p:cNvCxnSpPr/>
          <p:nvPr/>
        </p:nvCxnSpPr>
        <p:spPr>
          <a:xfrm>
            <a:off x="8499157" y="1664017"/>
            <a:ext cx="33020" cy="4827905"/>
          </a:xfrm>
          <a:prstGeom prst="line">
            <a:avLst/>
          </a:prstGeom>
          <a:ln w="3175" cmpd="sng">
            <a:solidFill>
              <a:schemeClr val="accent1">
                <a:shade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微软雅黑" panose="020B0503020204020204" pitchFamily="34" charset="-122"/>
                <a:sym typeface="+mn-ea"/>
              </a:rPr>
              <a:t>分层结构示例</a:t>
            </a:r>
            <a:endParaRPr lang="zh-CN" altLang="en-US" dirty="0">
              <a:cs typeface="微软雅黑" panose="020B0503020204020204" pitchFamily="34" charset="-122"/>
            </a:endParaRPr>
          </a:p>
        </p:txBody>
      </p:sp>
      <p:grpSp>
        <p:nvGrpSpPr>
          <p:cNvPr id="5" name="组合 4"/>
          <p:cNvGrpSpPr/>
          <p:nvPr/>
        </p:nvGrpSpPr>
        <p:grpSpPr>
          <a:xfrm>
            <a:off x="491491" y="1594485"/>
            <a:ext cx="2569332" cy="4396105"/>
            <a:chOff x="525780" y="1582420"/>
            <a:chExt cx="2888615" cy="4396105"/>
          </a:xfrm>
        </p:grpSpPr>
        <p:sp>
          <p:nvSpPr>
            <p:cNvPr id="57" name="Text Box 97"/>
            <p:cNvSpPr txBox="1">
              <a:spLocks noChangeArrowheads="1"/>
            </p:cNvSpPr>
            <p:nvPr/>
          </p:nvSpPr>
          <p:spPr bwMode="auto">
            <a:xfrm>
              <a:off x="572135" y="1582420"/>
              <a:ext cx="2842260" cy="532765"/>
            </a:xfrm>
            <a:prstGeom prst="rect">
              <a:avLst/>
            </a:prstGeom>
            <a:solidFill>
              <a:srgbClr val="7CC43A"/>
            </a:solidFill>
            <a:ln>
              <a:noFill/>
            </a:ln>
            <a:effec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indent="457200" algn="l">
                <a:lnSpc>
                  <a:spcPct val="150000"/>
                </a:lnSpc>
              </a:pPr>
              <a:r>
                <a:rPr kumimoji="1" lang="en-US" altLang="zh-CN" sz="2000" dirty="0">
                  <a:solidFill>
                    <a:schemeClr val="bg1"/>
                  </a:solidFill>
                  <a:latin typeface="微软雅黑" panose="020B0503020204020204" pitchFamily="34" charset="-122"/>
                  <a:ea typeface="微软雅黑" panose="020B0503020204020204" pitchFamily="34" charset="-122"/>
                </a:rPr>
                <a:t>    </a:t>
              </a:r>
              <a:r>
                <a:rPr kumimoji="1" lang="zh-CN" altLang="en-US" sz="2000" dirty="0">
                  <a:solidFill>
                    <a:schemeClr val="bg1"/>
                  </a:solidFill>
                  <a:latin typeface="微软雅黑" panose="020B0503020204020204" pitchFamily="34" charset="-122"/>
                  <a:ea typeface="微软雅黑" panose="020B0503020204020204" pitchFamily="34" charset="-122"/>
                </a:rPr>
                <a:t>用户应用层</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58" name="Text Box 98"/>
            <p:cNvSpPr txBox="1">
              <a:spLocks noChangeArrowheads="1"/>
            </p:cNvSpPr>
            <p:nvPr/>
          </p:nvSpPr>
          <p:spPr bwMode="auto">
            <a:xfrm>
              <a:off x="558165" y="2772410"/>
              <a:ext cx="2856230" cy="532765"/>
            </a:xfrm>
            <a:prstGeom prst="rect">
              <a:avLst/>
            </a:prstGeom>
            <a:solidFill>
              <a:srgbClr val="00B0F0"/>
            </a:solidFill>
            <a:ln>
              <a:noFill/>
            </a:ln>
            <a:effec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457200">
                <a:lnSpc>
                  <a:spcPct val="150000"/>
                </a:lnSpc>
              </a:pPr>
              <a:r>
                <a:rPr kumimoji="1" lang="en-US" altLang="zh-CN" sz="2000" dirty="0">
                  <a:solidFill>
                    <a:schemeClr val="bg1"/>
                  </a:solidFill>
                  <a:latin typeface="微软雅黑" panose="020B0503020204020204" pitchFamily="34" charset="-122"/>
                  <a:ea typeface="微软雅黑" panose="020B0503020204020204" pitchFamily="34" charset="-122"/>
                </a:rPr>
                <a:t>    </a:t>
              </a:r>
              <a:r>
                <a:rPr kumimoji="1" lang="zh-CN" altLang="en-US" sz="2000" dirty="0">
                  <a:solidFill>
                    <a:schemeClr val="bg1"/>
                  </a:solidFill>
                  <a:latin typeface="微软雅黑" panose="020B0503020204020204" pitchFamily="34" charset="-122"/>
                  <a:ea typeface="微软雅黑" panose="020B0503020204020204" pitchFamily="34" charset="-122"/>
                </a:rPr>
                <a:t>信件递送层</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60" name="Text Box 100"/>
            <p:cNvSpPr txBox="1">
              <a:spLocks noChangeArrowheads="1"/>
            </p:cNvSpPr>
            <p:nvPr/>
          </p:nvSpPr>
          <p:spPr bwMode="auto">
            <a:xfrm>
              <a:off x="525780" y="4058920"/>
              <a:ext cx="2888615" cy="532765"/>
            </a:xfrm>
            <a:prstGeom prst="rect">
              <a:avLst/>
            </a:prstGeom>
            <a:solidFill>
              <a:srgbClr val="0070C0"/>
            </a:solidFill>
            <a:ln>
              <a:noFill/>
            </a:ln>
            <a:effec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457200">
                <a:lnSpc>
                  <a:spcPct val="150000"/>
                </a:lnSpc>
              </a:pPr>
              <a:r>
                <a:rPr kumimoji="1" lang="en-US" altLang="zh-CN" sz="2000" dirty="0">
                  <a:solidFill>
                    <a:schemeClr val="bg1"/>
                  </a:solidFill>
                  <a:latin typeface="微软雅黑" panose="020B0503020204020204" pitchFamily="34" charset="-122"/>
                  <a:ea typeface="微软雅黑" panose="020B0503020204020204" pitchFamily="34" charset="-122"/>
                </a:rPr>
                <a:t>    </a:t>
              </a:r>
              <a:r>
                <a:rPr kumimoji="1" lang="zh-CN" altLang="en-US" sz="2000" dirty="0">
                  <a:solidFill>
                    <a:schemeClr val="bg1"/>
                  </a:solidFill>
                  <a:latin typeface="微软雅黑" panose="020B0503020204020204" pitchFamily="34" charset="-122"/>
                  <a:ea typeface="微软雅黑" panose="020B0503020204020204" pitchFamily="34" charset="-122"/>
                </a:rPr>
                <a:t>交通运输层</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61" name="Text Box 101"/>
            <p:cNvSpPr txBox="1">
              <a:spLocks noChangeArrowheads="1"/>
            </p:cNvSpPr>
            <p:nvPr/>
          </p:nvSpPr>
          <p:spPr bwMode="auto">
            <a:xfrm>
              <a:off x="529590" y="5445760"/>
              <a:ext cx="2884805" cy="532765"/>
            </a:xfrm>
            <a:prstGeom prst="rect">
              <a:avLst/>
            </a:prstGeom>
            <a:solidFill>
              <a:schemeClr val="bg1">
                <a:lumMod val="50000"/>
              </a:schemeClr>
            </a:solidFill>
            <a:ln>
              <a:noFill/>
            </a:ln>
            <a:effec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457200">
                <a:lnSpc>
                  <a:spcPct val="150000"/>
                </a:lnSpc>
              </a:pPr>
              <a:r>
                <a:rPr kumimoji="1" lang="en-US" altLang="zh-CN" sz="2000" dirty="0">
                  <a:solidFill>
                    <a:schemeClr val="bg1"/>
                  </a:solidFill>
                  <a:latin typeface="微软雅黑" panose="020B0503020204020204" pitchFamily="34" charset="-122"/>
                  <a:ea typeface="微软雅黑" panose="020B0503020204020204" pitchFamily="34" charset="-122"/>
                </a:rPr>
                <a:t>    </a:t>
              </a:r>
              <a:r>
                <a:rPr kumimoji="1" lang="zh-CN" altLang="en-US" sz="2000" dirty="0">
                  <a:solidFill>
                    <a:schemeClr val="bg1"/>
                  </a:solidFill>
                  <a:latin typeface="微软雅黑" panose="020B0503020204020204" pitchFamily="34" charset="-122"/>
                  <a:ea typeface="微软雅黑" panose="020B0503020204020204" pitchFamily="34" charset="-122"/>
                </a:rPr>
                <a:t>交通工具层</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87" name="矩形 86"/>
          <p:cNvSpPr/>
          <p:nvPr/>
        </p:nvSpPr>
        <p:spPr>
          <a:xfrm>
            <a:off x="6887845" y="4051300"/>
            <a:ext cx="1752600" cy="5060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运送部门</a:t>
            </a:r>
            <a:endParaRPr lang="zh-CN" altLang="en-US" sz="2000" dirty="0">
              <a:latin typeface="微软雅黑" panose="020B0503020204020204" pitchFamily="34" charset="-122"/>
              <a:ea typeface="微软雅黑" panose="020B0503020204020204" pitchFamily="34" charset="-122"/>
            </a:endParaRPr>
          </a:p>
        </p:txBody>
      </p:sp>
      <p:sp>
        <p:nvSpPr>
          <p:cNvPr id="88" name="矩形 87"/>
          <p:cNvSpPr/>
          <p:nvPr/>
        </p:nvSpPr>
        <p:spPr>
          <a:xfrm>
            <a:off x="6784975" y="5339715"/>
            <a:ext cx="909320" cy="64389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lnSpc>
                <a:spcPct val="1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铁 路</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fontAlgn="auto">
              <a:lnSpc>
                <a:spcPct val="1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部 门</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9" name="矩形 88"/>
          <p:cNvSpPr/>
          <p:nvPr/>
        </p:nvSpPr>
        <p:spPr>
          <a:xfrm>
            <a:off x="9909175" y="2753360"/>
            <a:ext cx="1453515" cy="50609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邮局</a:t>
            </a:r>
            <a:endParaRPr lang="zh-CN" altLang="en-US" sz="2000" dirty="0">
              <a:latin typeface="微软雅黑" panose="020B0503020204020204" pitchFamily="34" charset="-122"/>
              <a:ea typeface="微软雅黑" panose="020B0503020204020204" pitchFamily="34" charset="-122"/>
            </a:endParaRPr>
          </a:p>
        </p:txBody>
      </p:sp>
      <p:sp>
        <p:nvSpPr>
          <p:cNvPr id="90" name="矩形 89"/>
          <p:cNvSpPr/>
          <p:nvPr/>
        </p:nvSpPr>
        <p:spPr>
          <a:xfrm>
            <a:off x="9876155" y="4085590"/>
            <a:ext cx="1463675" cy="5060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运送部门</a:t>
            </a:r>
            <a:endParaRPr lang="zh-CN" altLang="en-US" sz="2000" dirty="0">
              <a:latin typeface="微软雅黑" panose="020B0503020204020204" pitchFamily="34" charset="-122"/>
              <a:ea typeface="微软雅黑" panose="020B0503020204020204" pitchFamily="34" charset="-122"/>
            </a:endParaRPr>
          </a:p>
        </p:txBody>
      </p:sp>
      <p:sp>
        <p:nvSpPr>
          <p:cNvPr id="91" name="矩形 90"/>
          <p:cNvSpPr/>
          <p:nvPr/>
        </p:nvSpPr>
        <p:spPr>
          <a:xfrm>
            <a:off x="9890125" y="5445760"/>
            <a:ext cx="1473200" cy="50609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汽运部门</a:t>
            </a:r>
            <a:endParaRPr lang="zh-CN" altLang="en-US" sz="2000" dirty="0">
              <a:latin typeface="微软雅黑" panose="020B0503020204020204" pitchFamily="34" charset="-122"/>
              <a:ea typeface="微软雅黑" panose="020B0503020204020204" pitchFamily="34" charset="-122"/>
            </a:endParaRPr>
          </a:p>
        </p:txBody>
      </p:sp>
      <p:sp>
        <p:nvSpPr>
          <p:cNvPr id="92" name="矩形 91"/>
          <p:cNvSpPr/>
          <p:nvPr/>
        </p:nvSpPr>
        <p:spPr>
          <a:xfrm>
            <a:off x="7792085" y="5339715"/>
            <a:ext cx="909320" cy="63881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lnSpc>
                <a:spcPct val="1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汽 运</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fontAlgn="auto">
              <a:lnSpc>
                <a:spcPct val="1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部 门</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3" name="Line 47"/>
          <p:cNvSpPr>
            <a:spLocks noChangeShapeType="1"/>
          </p:cNvSpPr>
          <p:nvPr/>
        </p:nvSpPr>
        <p:spPr bwMode="auto">
          <a:xfrm>
            <a:off x="5742305" y="1937385"/>
            <a:ext cx="4044315" cy="14605"/>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4" name="Line 48"/>
          <p:cNvSpPr>
            <a:spLocks noChangeShapeType="1"/>
          </p:cNvSpPr>
          <p:nvPr/>
        </p:nvSpPr>
        <p:spPr bwMode="auto">
          <a:xfrm flipV="1">
            <a:off x="5817296" y="3025774"/>
            <a:ext cx="3988374" cy="32383"/>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5" name="Line 49"/>
          <p:cNvSpPr>
            <a:spLocks noChangeShapeType="1"/>
          </p:cNvSpPr>
          <p:nvPr/>
        </p:nvSpPr>
        <p:spPr bwMode="auto">
          <a:xfrm flipV="1">
            <a:off x="5723255" y="4331970"/>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6" name="Line 51"/>
          <p:cNvSpPr>
            <a:spLocks noChangeShapeType="1"/>
          </p:cNvSpPr>
          <p:nvPr/>
        </p:nvSpPr>
        <p:spPr bwMode="auto">
          <a:xfrm flipV="1">
            <a:off x="8640445" y="4364355"/>
            <a:ext cx="123571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7" name="Line 52"/>
          <p:cNvSpPr>
            <a:spLocks noChangeShapeType="1"/>
          </p:cNvSpPr>
          <p:nvPr/>
        </p:nvSpPr>
        <p:spPr bwMode="auto">
          <a:xfrm>
            <a:off x="5786120" y="5689600"/>
            <a:ext cx="98933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8" name="Line 53"/>
          <p:cNvSpPr>
            <a:spLocks noChangeShapeType="1"/>
          </p:cNvSpPr>
          <p:nvPr/>
        </p:nvSpPr>
        <p:spPr bwMode="auto">
          <a:xfrm>
            <a:off x="8753475" y="5670550"/>
            <a:ext cx="108204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02" name="Line 60"/>
          <p:cNvSpPr>
            <a:spLocks noChangeShapeType="1"/>
          </p:cNvSpPr>
          <p:nvPr/>
        </p:nvSpPr>
        <p:spPr bwMode="auto">
          <a:xfrm>
            <a:off x="7284720" y="4591685"/>
            <a:ext cx="635" cy="67627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03" name="Line 61"/>
          <p:cNvSpPr>
            <a:spLocks noChangeShapeType="1"/>
          </p:cNvSpPr>
          <p:nvPr/>
        </p:nvSpPr>
        <p:spPr bwMode="auto">
          <a:xfrm>
            <a:off x="10631805" y="4591685"/>
            <a:ext cx="6350" cy="80708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12" name="Text Box 73"/>
          <p:cNvSpPr txBox="1">
            <a:spLocks noChangeArrowheads="1"/>
          </p:cNvSpPr>
          <p:nvPr/>
        </p:nvSpPr>
        <p:spPr bwMode="auto">
          <a:xfrm>
            <a:off x="5953125" y="3799205"/>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邮包</a:t>
            </a:r>
            <a:endParaRPr kumimoji="1" lang="zh-CN" altLang="en-US" sz="2000" dirty="0">
              <a:latin typeface="微软雅黑" panose="020B0503020204020204" pitchFamily="34" charset="-122"/>
              <a:ea typeface="微软雅黑" panose="020B0503020204020204" pitchFamily="34" charset="-122"/>
            </a:endParaRPr>
          </a:p>
        </p:txBody>
      </p:sp>
      <p:sp>
        <p:nvSpPr>
          <p:cNvPr id="113" name="Text Box 74"/>
          <p:cNvSpPr txBox="1">
            <a:spLocks noChangeArrowheads="1"/>
          </p:cNvSpPr>
          <p:nvPr/>
        </p:nvSpPr>
        <p:spPr bwMode="auto">
          <a:xfrm>
            <a:off x="8872855" y="3799205"/>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a:latin typeface="微软雅黑" panose="020B0503020204020204" pitchFamily="34" charset="-122"/>
                <a:ea typeface="微软雅黑" panose="020B0503020204020204" pitchFamily="34" charset="-122"/>
              </a:rPr>
              <a:t>邮包</a:t>
            </a:r>
            <a:endParaRPr kumimoji="1" lang="zh-CN" altLang="en-US" sz="2000">
              <a:latin typeface="微软雅黑" panose="020B0503020204020204" pitchFamily="34" charset="-122"/>
              <a:ea typeface="微软雅黑" panose="020B0503020204020204" pitchFamily="34" charset="-122"/>
            </a:endParaRPr>
          </a:p>
        </p:txBody>
      </p:sp>
      <p:sp>
        <p:nvSpPr>
          <p:cNvPr id="114" name="Text Box 75"/>
          <p:cNvSpPr txBox="1">
            <a:spLocks noChangeArrowheads="1"/>
          </p:cNvSpPr>
          <p:nvPr/>
        </p:nvSpPr>
        <p:spPr bwMode="auto">
          <a:xfrm>
            <a:off x="5953125" y="5711190"/>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货物</a:t>
            </a:r>
            <a:endParaRPr kumimoji="1" lang="zh-CN" altLang="en-US" sz="2000" dirty="0">
              <a:latin typeface="微软雅黑" panose="020B0503020204020204" pitchFamily="34" charset="-122"/>
              <a:ea typeface="微软雅黑" panose="020B0503020204020204" pitchFamily="34" charset="-122"/>
            </a:endParaRPr>
          </a:p>
        </p:txBody>
      </p:sp>
      <p:sp>
        <p:nvSpPr>
          <p:cNvPr id="115" name="Text Box 76"/>
          <p:cNvSpPr txBox="1">
            <a:spLocks noChangeArrowheads="1"/>
          </p:cNvSpPr>
          <p:nvPr/>
        </p:nvSpPr>
        <p:spPr bwMode="auto">
          <a:xfrm>
            <a:off x="8925560" y="5742940"/>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货物</a:t>
            </a:r>
            <a:endParaRPr kumimoji="1" lang="zh-CN" altLang="en-US" sz="2000" dirty="0">
              <a:latin typeface="微软雅黑" panose="020B0503020204020204" pitchFamily="34" charset="-122"/>
              <a:ea typeface="微软雅黑" panose="020B0503020204020204" pitchFamily="34" charset="-122"/>
            </a:endParaRPr>
          </a:p>
        </p:txBody>
      </p:sp>
      <p:sp>
        <p:nvSpPr>
          <p:cNvPr id="116" name="Text Box 77"/>
          <p:cNvSpPr txBox="1">
            <a:spLocks noChangeArrowheads="1"/>
          </p:cNvSpPr>
          <p:nvPr/>
        </p:nvSpPr>
        <p:spPr bwMode="auto">
          <a:xfrm>
            <a:off x="5983605" y="6259195"/>
            <a:ext cx="655320" cy="532765"/>
          </a:xfrm>
          <a:prstGeom prst="rect">
            <a:avLst/>
          </a:prstGeom>
          <a:noFill/>
          <a:ln w="2857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火车</a:t>
            </a:r>
            <a:endParaRPr kumimoji="1" lang="zh-CN" altLang="en-US" sz="2000" dirty="0">
              <a:latin typeface="微软雅黑" panose="020B0503020204020204" pitchFamily="34" charset="-122"/>
              <a:ea typeface="微软雅黑" panose="020B0503020204020204" pitchFamily="34" charset="-122"/>
            </a:endParaRPr>
          </a:p>
        </p:txBody>
      </p:sp>
      <p:sp>
        <p:nvSpPr>
          <p:cNvPr id="117" name="Text Box 78"/>
          <p:cNvSpPr txBox="1">
            <a:spLocks noChangeArrowheads="1"/>
          </p:cNvSpPr>
          <p:nvPr/>
        </p:nvSpPr>
        <p:spPr bwMode="auto">
          <a:xfrm>
            <a:off x="9138920" y="6233160"/>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汽车</a:t>
            </a:r>
            <a:endParaRPr kumimoji="1" lang="zh-CN" altLang="en-US" sz="2000" dirty="0">
              <a:latin typeface="微软雅黑" panose="020B0503020204020204" pitchFamily="34" charset="-122"/>
              <a:ea typeface="微软雅黑" panose="020B0503020204020204" pitchFamily="34" charset="-122"/>
            </a:endParaRPr>
          </a:p>
        </p:txBody>
      </p:sp>
      <p:sp>
        <p:nvSpPr>
          <p:cNvPr id="118" name="Line 79"/>
          <p:cNvSpPr>
            <a:spLocks noChangeShapeType="1"/>
          </p:cNvSpPr>
          <p:nvPr/>
        </p:nvSpPr>
        <p:spPr bwMode="auto">
          <a:xfrm>
            <a:off x="4912102" y="5978524"/>
            <a:ext cx="6661" cy="30543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19" name="Line 80"/>
          <p:cNvSpPr>
            <a:spLocks noChangeShapeType="1"/>
          </p:cNvSpPr>
          <p:nvPr/>
        </p:nvSpPr>
        <p:spPr bwMode="auto">
          <a:xfrm>
            <a:off x="4918771" y="6283960"/>
            <a:ext cx="2323464"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20" name="Line 81"/>
          <p:cNvSpPr>
            <a:spLocks noChangeShapeType="1"/>
          </p:cNvSpPr>
          <p:nvPr/>
        </p:nvSpPr>
        <p:spPr bwMode="auto">
          <a:xfrm flipV="1">
            <a:off x="7219315" y="5978525"/>
            <a:ext cx="0" cy="29337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21" name="Line 82"/>
          <p:cNvSpPr>
            <a:spLocks noChangeShapeType="1"/>
          </p:cNvSpPr>
          <p:nvPr/>
        </p:nvSpPr>
        <p:spPr bwMode="auto">
          <a:xfrm>
            <a:off x="8355965" y="5990590"/>
            <a:ext cx="0" cy="29337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22" name="Line 83"/>
          <p:cNvSpPr>
            <a:spLocks noChangeShapeType="1"/>
          </p:cNvSpPr>
          <p:nvPr/>
        </p:nvSpPr>
        <p:spPr bwMode="auto">
          <a:xfrm>
            <a:off x="8355965" y="6283960"/>
            <a:ext cx="2379345"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endParaRPr lang="zh-CN" altLang="en-US" sz="1800" b="1">
              <a:latin typeface="+mj-ea"/>
              <a:ea typeface="+mj-ea"/>
            </a:endParaRPr>
          </a:p>
        </p:txBody>
      </p:sp>
      <p:sp>
        <p:nvSpPr>
          <p:cNvPr id="123" name="Line 84"/>
          <p:cNvSpPr>
            <a:spLocks noChangeShapeType="1"/>
          </p:cNvSpPr>
          <p:nvPr/>
        </p:nvSpPr>
        <p:spPr bwMode="auto">
          <a:xfrm flipV="1">
            <a:off x="10735310" y="5990590"/>
            <a:ext cx="0" cy="29337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24" name="Text Box 85"/>
          <p:cNvSpPr txBox="1">
            <a:spLocks noChangeArrowheads="1"/>
          </p:cNvSpPr>
          <p:nvPr/>
        </p:nvSpPr>
        <p:spPr bwMode="auto">
          <a:xfrm>
            <a:off x="6382385" y="4656455"/>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货物</a:t>
            </a:r>
            <a:endParaRPr kumimoji="1" lang="zh-CN" altLang="en-US" sz="2000" dirty="0">
              <a:latin typeface="微软雅黑" panose="020B0503020204020204" pitchFamily="34" charset="-122"/>
              <a:ea typeface="微软雅黑" panose="020B0503020204020204" pitchFamily="34" charset="-122"/>
            </a:endParaRPr>
          </a:p>
        </p:txBody>
      </p:sp>
      <p:sp>
        <p:nvSpPr>
          <p:cNvPr id="125" name="Text Box 86"/>
          <p:cNvSpPr txBox="1">
            <a:spLocks noChangeArrowheads="1"/>
          </p:cNvSpPr>
          <p:nvPr/>
        </p:nvSpPr>
        <p:spPr bwMode="auto">
          <a:xfrm>
            <a:off x="8610600" y="4657090"/>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货物</a:t>
            </a:r>
            <a:endParaRPr kumimoji="1" lang="zh-CN" altLang="en-US" sz="2000" dirty="0">
              <a:latin typeface="微软雅黑" panose="020B0503020204020204" pitchFamily="34" charset="-122"/>
              <a:ea typeface="微软雅黑" panose="020B0503020204020204" pitchFamily="34" charset="-122"/>
            </a:endParaRPr>
          </a:p>
        </p:txBody>
      </p:sp>
      <p:grpSp>
        <p:nvGrpSpPr>
          <p:cNvPr id="126" name="Group 647"/>
          <p:cNvGrpSpPr>
            <a:grpSpLocks noChangeAspect="1"/>
          </p:cNvGrpSpPr>
          <p:nvPr/>
        </p:nvGrpSpPr>
        <p:grpSpPr bwMode="auto">
          <a:xfrm flipH="1">
            <a:off x="3573058" y="1471114"/>
            <a:ext cx="381635" cy="369570"/>
            <a:chOff x="3161" y="1632"/>
            <a:chExt cx="1207" cy="1398"/>
          </a:xfrm>
        </p:grpSpPr>
        <p:grpSp>
          <p:nvGrpSpPr>
            <p:cNvPr id="127" name="Group 648"/>
            <p:cNvGrpSpPr/>
            <p:nvPr/>
          </p:nvGrpSpPr>
          <p:grpSpPr bwMode="auto">
            <a:xfrm>
              <a:off x="3161" y="1632"/>
              <a:ext cx="1207" cy="1398"/>
              <a:chOff x="3161" y="2497"/>
              <a:chExt cx="501" cy="533"/>
            </a:xfrm>
          </p:grpSpPr>
          <p:sp>
            <p:nvSpPr>
              <p:cNvPr id="129" name="Freeform 649"/>
              <p:cNvSpPr/>
              <p:nvPr/>
            </p:nvSpPr>
            <p:spPr bwMode="auto">
              <a:xfrm>
                <a:off x="3168" y="2592"/>
                <a:ext cx="338" cy="438"/>
              </a:xfrm>
              <a:custGeom>
                <a:avLst/>
                <a:gdLst>
                  <a:gd name="T0" fmla="*/ 1 w 676"/>
                  <a:gd name="T1" fmla="*/ 1 h 876"/>
                  <a:gd name="T2" fmla="*/ 1 w 676"/>
                  <a:gd name="T3" fmla="*/ 1 h 876"/>
                  <a:gd name="T4" fmla="*/ 1 w 676"/>
                  <a:gd name="T5" fmla="*/ 1 h 876"/>
                  <a:gd name="T6" fmla="*/ 1 w 676"/>
                  <a:gd name="T7" fmla="*/ 1 h 876"/>
                  <a:gd name="T8" fmla="*/ 1 w 676"/>
                  <a:gd name="T9" fmla="*/ 1 h 876"/>
                  <a:gd name="T10" fmla="*/ 1 w 676"/>
                  <a:gd name="T11" fmla="*/ 1 h 876"/>
                  <a:gd name="T12" fmla="*/ 1 w 676"/>
                  <a:gd name="T13" fmla="*/ 1 h 876"/>
                  <a:gd name="T14" fmla="*/ 1 w 676"/>
                  <a:gd name="T15" fmla="*/ 1 h 876"/>
                  <a:gd name="T16" fmla="*/ 1 w 676"/>
                  <a:gd name="T17" fmla="*/ 1 h 876"/>
                  <a:gd name="T18" fmla="*/ 1 w 676"/>
                  <a:gd name="T19" fmla="*/ 1 h 876"/>
                  <a:gd name="T20" fmla="*/ 1 w 676"/>
                  <a:gd name="T21" fmla="*/ 1 h 876"/>
                  <a:gd name="T22" fmla="*/ 1 w 676"/>
                  <a:gd name="T23" fmla="*/ 1 h 876"/>
                  <a:gd name="T24" fmla="*/ 1 w 676"/>
                  <a:gd name="T25" fmla="*/ 1 h 876"/>
                  <a:gd name="T26" fmla="*/ 1 w 676"/>
                  <a:gd name="T27" fmla="*/ 1 h 876"/>
                  <a:gd name="T28" fmla="*/ 1 w 676"/>
                  <a:gd name="T29" fmla="*/ 1 h 876"/>
                  <a:gd name="T30" fmla="*/ 1 w 676"/>
                  <a:gd name="T31" fmla="*/ 1 h 876"/>
                  <a:gd name="T32" fmla="*/ 1 w 676"/>
                  <a:gd name="T33" fmla="*/ 1 h 876"/>
                  <a:gd name="T34" fmla="*/ 1 w 676"/>
                  <a:gd name="T35" fmla="*/ 1 h 876"/>
                  <a:gd name="T36" fmla="*/ 1 w 676"/>
                  <a:gd name="T37" fmla="*/ 1 h 876"/>
                  <a:gd name="T38" fmla="*/ 1 w 676"/>
                  <a:gd name="T39" fmla="*/ 1 h 876"/>
                  <a:gd name="T40" fmla="*/ 1 w 676"/>
                  <a:gd name="T41" fmla="*/ 1 h 876"/>
                  <a:gd name="T42" fmla="*/ 1 w 676"/>
                  <a:gd name="T43" fmla="*/ 1 h 876"/>
                  <a:gd name="T44" fmla="*/ 1 w 676"/>
                  <a:gd name="T45" fmla="*/ 1 h 876"/>
                  <a:gd name="T46" fmla="*/ 1 w 676"/>
                  <a:gd name="T47" fmla="*/ 1 h 876"/>
                  <a:gd name="T48" fmla="*/ 1 w 676"/>
                  <a:gd name="T49" fmla="*/ 1 h 876"/>
                  <a:gd name="T50" fmla="*/ 1 w 676"/>
                  <a:gd name="T51" fmla="*/ 1 h 876"/>
                  <a:gd name="T52" fmla="*/ 1 w 676"/>
                  <a:gd name="T53" fmla="*/ 1 h 876"/>
                  <a:gd name="T54" fmla="*/ 1 w 676"/>
                  <a:gd name="T55" fmla="*/ 1 h 876"/>
                  <a:gd name="T56" fmla="*/ 1 w 676"/>
                  <a:gd name="T57" fmla="*/ 1 h 876"/>
                  <a:gd name="T58" fmla="*/ 1 w 676"/>
                  <a:gd name="T59" fmla="*/ 1 h 876"/>
                  <a:gd name="T60" fmla="*/ 1 w 676"/>
                  <a:gd name="T61" fmla="*/ 1 h 876"/>
                  <a:gd name="T62" fmla="*/ 1 w 676"/>
                  <a:gd name="T63" fmla="*/ 1 h 876"/>
                  <a:gd name="T64" fmla="*/ 1 w 676"/>
                  <a:gd name="T65" fmla="*/ 1 h 876"/>
                  <a:gd name="T66" fmla="*/ 1 w 676"/>
                  <a:gd name="T67" fmla="*/ 1 h 876"/>
                  <a:gd name="T68" fmla="*/ 1 w 676"/>
                  <a:gd name="T69" fmla="*/ 1 h 876"/>
                  <a:gd name="T70" fmla="*/ 1 w 676"/>
                  <a:gd name="T71" fmla="*/ 1 h 876"/>
                  <a:gd name="T72" fmla="*/ 1 w 676"/>
                  <a:gd name="T73" fmla="*/ 1 h 876"/>
                  <a:gd name="T74" fmla="*/ 1 w 676"/>
                  <a:gd name="T75" fmla="*/ 1 h 876"/>
                  <a:gd name="T76" fmla="*/ 1 w 676"/>
                  <a:gd name="T77" fmla="*/ 1 h 876"/>
                  <a:gd name="T78" fmla="*/ 1 w 676"/>
                  <a:gd name="T79" fmla="*/ 1 h 876"/>
                  <a:gd name="T80" fmla="*/ 1 w 676"/>
                  <a:gd name="T81" fmla="*/ 1 h 876"/>
                  <a:gd name="T82" fmla="*/ 1 w 676"/>
                  <a:gd name="T83" fmla="*/ 1 h 876"/>
                  <a:gd name="T84" fmla="*/ 1 w 676"/>
                  <a:gd name="T85" fmla="*/ 1 h 876"/>
                  <a:gd name="T86" fmla="*/ 1 w 676"/>
                  <a:gd name="T87" fmla="*/ 1 h 876"/>
                  <a:gd name="T88" fmla="*/ 1 w 676"/>
                  <a:gd name="T89" fmla="*/ 1 h 876"/>
                  <a:gd name="T90" fmla="*/ 1 w 676"/>
                  <a:gd name="T91" fmla="*/ 1 h 876"/>
                  <a:gd name="T92" fmla="*/ 1 w 676"/>
                  <a:gd name="T93" fmla="*/ 1 h 87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76"/>
                  <a:gd name="T142" fmla="*/ 0 h 876"/>
                  <a:gd name="T143" fmla="*/ 676 w 676"/>
                  <a:gd name="T144" fmla="*/ 876 h 87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76" h="876">
                    <a:moveTo>
                      <a:pt x="521" y="464"/>
                    </a:moveTo>
                    <a:lnTo>
                      <a:pt x="531" y="433"/>
                    </a:lnTo>
                    <a:lnTo>
                      <a:pt x="538" y="402"/>
                    </a:lnTo>
                    <a:lnTo>
                      <a:pt x="541" y="368"/>
                    </a:lnTo>
                    <a:lnTo>
                      <a:pt x="542" y="335"/>
                    </a:lnTo>
                    <a:lnTo>
                      <a:pt x="541" y="300"/>
                    </a:lnTo>
                    <a:lnTo>
                      <a:pt x="536" y="267"/>
                    </a:lnTo>
                    <a:lnTo>
                      <a:pt x="529" y="235"/>
                    </a:lnTo>
                    <a:lnTo>
                      <a:pt x="521" y="205"/>
                    </a:lnTo>
                    <a:lnTo>
                      <a:pt x="510" y="175"/>
                    </a:lnTo>
                    <a:lnTo>
                      <a:pt x="496" y="147"/>
                    </a:lnTo>
                    <a:lnTo>
                      <a:pt x="480" y="122"/>
                    </a:lnTo>
                    <a:lnTo>
                      <a:pt x="463" y="97"/>
                    </a:lnTo>
                    <a:lnTo>
                      <a:pt x="444" y="76"/>
                    </a:lnTo>
                    <a:lnTo>
                      <a:pt x="422" y="57"/>
                    </a:lnTo>
                    <a:lnTo>
                      <a:pt x="400" y="40"/>
                    </a:lnTo>
                    <a:lnTo>
                      <a:pt x="377" y="26"/>
                    </a:lnTo>
                    <a:lnTo>
                      <a:pt x="352" y="15"/>
                    </a:lnTo>
                    <a:lnTo>
                      <a:pt x="326" y="6"/>
                    </a:lnTo>
                    <a:lnTo>
                      <a:pt x="299" y="1"/>
                    </a:lnTo>
                    <a:lnTo>
                      <a:pt x="271" y="0"/>
                    </a:lnTo>
                    <a:lnTo>
                      <a:pt x="244" y="1"/>
                    </a:lnTo>
                    <a:lnTo>
                      <a:pt x="217" y="6"/>
                    </a:lnTo>
                    <a:lnTo>
                      <a:pt x="191" y="15"/>
                    </a:lnTo>
                    <a:lnTo>
                      <a:pt x="166" y="26"/>
                    </a:lnTo>
                    <a:lnTo>
                      <a:pt x="142" y="40"/>
                    </a:lnTo>
                    <a:lnTo>
                      <a:pt x="119" y="57"/>
                    </a:lnTo>
                    <a:lnTo>
                      <a:pt x="99" y="76"/>
                    </a:lnTo>
                    <a:lnTo>
                      <a:pt x="79" y="97"/>
                    </a:lnTo>
                    <a:lnTo>
                      <a:pt x="62" y="122"/>
                    </a:lnTo>
                    <a:lnTo>
                      <a:pt x="46" y="147"/>
                    </a:lnTo>
                    <a:lnTo>
                      <a:pt x="33" y="175"/>
                    </a:lnTo>
                    <a:lnTo>
                      <a:pt x="22" y="205"/>
                    </a:lnTo>
                    <a:lnTo>
                      <a:pt x="12" y="235"/>
                    </a:lnTo>
                    <a:lnTo>
                      <a:pt x="5" y="267"/>
                    </a:lnTo>
                    <a:lnTo>
                      <a:pt x="1" y="300"/>
                    </a:lnTo>
                    <a:lnTo>
                      <a:pt x="0" y="335"/>
                    </a:lnTo>
                    <a:lnTo>
                      <a:pt x="1" y="369"/>
                    </a:lnTo>
                    <a:lnTo>
                      <a:pt x="4" y="402"/>
                    </a:lnTo>
                    <a:lnTo>
                      <a:pt x="11" y="434"/>
                    </a:lnTo>
                    <a:lnTo>
                      <a:pt x="19" y="465"/>
                    </a:lnTo>
                    <a:lnTo>
                      <a:pt x="30" y="494"/>
                    </a:lnTo>
                    <a:lnTo>
                      <a:pt x="42" y="521"/>
                    </a:lnTo>
                    <a:lnTo>
                      <a:pt x="57" y="548"/>
                    </a:lnTo>
                    <a:lnTo>
                      <a:pt x="73" y="571"/>
                    </a:lnTo>
                    <a:lnTo>
                      <a:pt x="91" y="593"/>
                    </a:lnTo>
                    <a:lnTo>
                      <a:pt x="111" y="612"/>
                    </a:lnTo>
                    <a:lnTo>
                      <a:pt x="132" y="630"/>
                    </a:lnTo>
                    <a:lnTo>
                      <a:pt x="155" y="644"/>
                    </a:lnTo>
                    <a:lnTo>
                      <a:pt x="179" y="655"/>
                    </a:lnTo>
                    <a:lnTo>
                      <a:pt x="205" y="663"/>
                    </a:lnTo>
                    <a:lnTo>
                      <a:pt x="231" y="668"/>
                    </a:lnTo>
                    <a:lnTo>
                      <a:pt x="259" y="670"/>
                    </a:lnTo>
                    <a:lnTo>
                      <a:pt x="265" y="670"/>
                    </a:lnTo>
                    <a:lnTo>
                      <a:pt x="270" y="669"/>
                    </a:lnTo>
                    <a:lnTo>
                      <a:pt x="277" y="669"/>
                    </a:lnTo>
                    <a:lnTo>
                      <a:pt x="283" y="668"/>
                    </a:lnTo>
                    <a:lnTo>
                      <a:pt x="290" y="667"/>
                    </a:lnTo>
                    <a:lnTo>
                      <a:pt x="296" y="665"/>
                    </a:lnTo>
                    <a:lnTo>
                      <a:pt x="301" y="664"/>
                    </a:lnTo>
                    <a:lnTo>
                      <a:pt x="307" y="663"/>
                    </a:lnTo>
                    <a:lnTo>
                      <a:pt x="276" y="778"/>
                    </a:lnTo>
                    <a:lnTo>
                      <a:pt x="278" y="781"/>
                    </a:lnTo>
                    <a:lnTo>
                      <a:pt x="285" y="786"/>
                    </a:lnTo>
                    <a:lnTo>
                      <a:pt x="298" y="797"/>
                    </a:lnTo>
                    <a:lnTo>
                      <a:pt x="313" y="808"/>
                    </a:lnTo>
                    <a:lnTo>
                      <a:pt x="333" y="822"/>
                    </a:lnTo>
                    <a:lnTo>
                      <a:pt x="356" y="837"/>
                    </a:lnTo>
                    <a:lnTo>
                      <a:pt x="381" y="852"/>
                    </a:lnTo>
                    <a:lnTo>
                      <a:pt x="410" y="866"/>
                    </a:lnTo>
                    <a:lnTo>
                      <a:pt x="425" y="872"/>
                    </a:lnTo>
                    <a:lnTo>
                      <a:pt x="440" y="875"/>
                    </a:lnTo>
                    <a:lnTo>
                      <a:pt x="456" y="876"/>
                    </a:lnTo>
                    <a:lnTo>
                      <a:pt x="471" y="875"/>
                    </a:lnTo>
                    <a:lnTo>
                      <a:pt x="487" y="873"/>
                    </a:lnTo>
                    <a:lnTo>
                      <a:pt x="502" y="869"/>
                    </a:lnTo>
                    <a:lnTo>
                      <a:pt x="517" y="865"/>
                    </a:lnTo>
                    <a:lnTo>
                      <a:pt x="531" y="859"/>
                    </a:lnTo>
                    <a:lnTo>
                      <a:pt x="544" y="853"/>
                    </a:lnTo>
                    <a:lnTo>
                      <a:pt x="558" y="846"/>
                    </a:lnTo>
                    <a:lnTo>
                      <a:pt x="571" y="839"/>
                    </a:lnTo>
                    <a:lnTo>
                      <a:pt x="582" y="834"/>
                    </a:lnTo>
                    <a:lnTo>
                      <a:pt x="593" y="828"/>
                    </a:lnTo>
                    <a:lnTo>
                      <a:pt x="602" y="823"/>
                    </a:lnTo>
                    <a:lnTo>
                      <a:pt x="610" y="819"/>
                    </a:lnTo>
                    <a:lnTo>
                      <a:pt x="617" y="816"/>
                    </a:lnTo>
                    <a:lnTo>
                      <a:pt x="629" y="809"/>
                    </a:lnTo>
                    <a:lnTo>
                      <a:pt x="640" y="799"/>
                    </a:lnTo>
                    <a:lnTo>
                      <a:pt x="649" y="785"/>
                    </a:lnTo>
                    <a:lnTo>
                      <a:pt x="658" y="770"/>
                    </a:lnTo>
                    <a:lnTo>
                      <a:pt x="665" y="755"/>
                    </a:lnTo>
                    <a:lnTo>
                      <a:pt x="671" y="743"/>
                    </a:lnTo>
                    <a:lnTo>
                      <a:pt x="675" y="735"/>
                    </a:lnTo>
                    <a:lnTo>
                      <a:pt x="676" y="731"/>
                    </a:lnTo>
                    <a:lnTo>
                      <a:pt x="521" y="464"/>
                    </a:lnTo>
                    <a:close/>
                  </a:path>
                </a:pathLst>
              </a:custGeom>
              <a:solidFill>
                <a:srgbClr val="F2CCB2"/>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0" name="Freeform 650"/>
              <p:cNvSpPr/>
              <p:nvPr/>
            </p:nvSpPr>
            <p:spPr bwMode="auto">
              <a:xfrm>
                <a:off x="3171" y="2497"/>
                <a:ext cx="491" cy="398"/>
              </a:xfrm>
              <a:custGeom>
                <a:avLst/>
                <a:gdLst>
                  <a:gd name="T0" fmla="*/ 0 w 983"/>
                  <a:gd name="T1" fmla="*/ 0 h 798"/>
                  <a:gd name="T2" fmla="*/ 0 w 983"/>
                  <a:gd name="T3" fmla="*/ 0 h 798"/>
                  <a:gd name="T4" fmla="*/ 0 w 983"/>
                  <a:gd name="T5" fmla="*/ 0 h 798"/>
                  <a:gd name="T6" fmla="*/ 0 w 983"/>
                  <a:gd name="T7" fmla="*/ 0 h 798"/>
                  <a:gd name="T8" fmla="*/ 0 w 983"/>
                  <a:gd name="T9" fmla="*/ 0 h 798"/>
                  <a:gd name="T10" fmla="*/ 0 w 983"/>
                  <a:gd name="T11" fmla="*/ 0 h 798"/>
                  <a:gd name="T12" fmla="*/ 0 w 983"/>
                  <a:gd name="T13" fmla="*/ 0 h 798"/>
                  <a:gd name="T14" fmla="*/ 0 w 983"/>
                  <a:gd name="T15" fmla="*/ 0 h 798"/>
                  <a:gd name="T16" fmla="*/ 0 w 983"/>
                  <a:gd name="T17" fmla="*/ 0 h 798"/>
                  <a:gd name="T18" fmla="*/ 0 w 983"/>
                  <a:gd name="T19" fmla="*/ 0 h 798"/>
                  <a:gd name="T20" fmla="*/ 0 w 983"/>
                  <a:gd name="T21" fmla="*/ 0 h 798"/>
                  <a:gd name="T22" fmla="*/ 0 w 983"/>
                  <a:gd name="T23" fmla="*/ 0 h 798"/>
                  <a:gd name="T24" fmla="*/ 0 w 983"/>
                  <a:gd name="T25" fmla="*/ 0 h 798"/>
                  <a:gd name="T26" fmla="*/ 0 w 983"/>
                  <a:gd name="T27" fmla="*/ 0 h 798"/>
                  <a:gd name="T28" fmla="*/ 0 w 983"/>
                  <a:gd name="T29" fmla="*/ 0 h 798"/>
                  <a:gd name="T30" fmla="*/ 0 w 983"/>
                  <a:gd name="T31" fmla="*/ 0 h 798"/>
                  <a:gd name="T32" fmla="*/ 0 w 983"/>
                  <a:gd name="T33" fmla="*/ 0 h 798"/>
                  <a:gd name="T34" fmla="*/ 0 w 983"/>
                  <a:gd name="T35" fmla="*/ 0 h 798"/>
                  <a:gd name="T36" fmla="*/ 0 w 983"/>
                  <a:gd name="T37" fmla="*/ 0 h 798"/>
                  <a:gd name="T38" fmla="*/ 0 w 983"/>
                  <a:gd name="T39" fmla="*/ 0 h 798"/>
                  <a:gd name="T40" fmla="*/ 0 w 983"/>
                  <a:gd name="T41" fmla="*/ 0 h 798"/>
                  <a:gd name="T42" fmla="*/ 0 w 983"/>
                  <a:gd name="T43" fmla="*/ 0 h 798"/>
                  <a:gd name="T44" fmla="*/ 0 w 983"/>
                  <a:gd name="T45" fmla="*/ 0 h 798"/>
                  <a:gd name="T46" fmla="*/ 0 w 983"/>
                  <a:gd name="T47" fmla="*/ 0 h 798"/>
                  <a:gd name="T48" fmla="*/ 0 w 983"/>
                  <a:gd name="T49" fmla="*/ 0 h 798"/>
                  <a:gd name="T50" fmla="*/ 0 w 983"/>
                  <a:gd name="T51" fmla="*/ 0 h 798"/>
                  <a:gd name="T52" fmla="*/ 0 w 983"/>
                  <a:gd name="T53" fmla="*/ 0 h 798"/>
                  <a:gd name="T54" fmla="*/ 0 w 983"/>
                  <a:gd name="T55" fmla="*/ 0 h 798"/>
                  <a:gd name="T56" fmla="*/ 0 w 983"/>
                  <a:gd name="T57" fmla="*/ 0 h 798"/>
                  <a:gd name="T58" fmla="*/ 0 w 983"/>
                  <a:gd name="T59" fmla="*/ 0 h 798"/>
                  <a:gd name="T60" fmla="*/ 0 w 983"/>
                  <a:gd name="T61" fmla="*/ 0 h 798"/>
                  <a:gd name="T62" fmla="*/ 0 w 983"/>
                  <a:gd name="T63" fmla="*/ 0 h 798"/>
                  <a:gd name="T64" fmla="*/ 0 w 983"/>
                  <a:gd name="T65" fmla="*/ 0 h 798"/>
                  <a:gd name="T66" fmla="*/ 0 w 983"/>
                  <a:gd name="T67" fmla="*/ 0 h 798"/>
                  <a:gd name="T68" fmla="*/ 0 w 983"/>
                  <a:gd name="T69" fmla="*/ 0 h 798"/>
                  <a:gd name="T70" fmla="*/ 0 w 983"/>
                  <a:gd name="T71" fmla="*/ 0 h 798"/>
                  <a:gd name="T72" fmla="*/ 0 w 983"/>
                  <a:gd name="T73" fmla="*/ 0 h 798"/>
                  <a:gd name="T74" fmla="*/ 0 w 983"/>
                  <a:gd name="T75" fmla="*/ 0 h 798"/>
                  <a:gd name="T76" fmla="*/ 0 w 983"/>
                  <a:gd name="T77" fmla="*/ 0 h 798"/>
                  <a:gd name="T78" fmla="*/ 0 w 983"/>
                  <a:gd name="T79" fmla="*/ 0 h 798"/>
                  <a:gd name="T80" fmla="*/ 0 w 983"/>
                  <a:gd name="T81" fmla="*/ 0 h 798"/>
                  <a:gd name="T82" fmla="*/ 0 w 983"/>
                  <a:gd name="T83" fmla="*/ 0 h 798"/>
                  <a:gd name="T84" fmla="*/ 0 w 983"/>
                  <a:gd name="T85" fmla="*/ 0 h 798"/>
                  <a:gd name="T86" fmla="*/ 0 w 983"/>
                  <a:gd name="T87" fmla="*/ 0 h 79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83"/>
                  <a:gd name="T133" fmla="*/ 0 h 798"/>
                  <a:gd name="T134" fmla="*/ 983 w 983"/>
                  <a:gd name="T135" fmla="*/ 798 h 79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83" h="798">
                    <a:moveTo>
                      <a:pt x="982" y="406"/>
                    </a:moveTo>
                    <a:lnTo>
                      <a:pt x="979" y="383"/>
                    </a:lnTo>
                    <a:lnTo>
                      <a:pt x="977" y="361"/>
                    </a:lnTo>
                    <a:lnTo>
                      <a:pt x="972" y="341"/>
                    </a:lnTo>
                    <a:lnTo>
                      <a:pt x="968" y="322"/>
                    </a:lnTo>
                    <a:lnTo>
                      <a:pt x="962" y="303"/>
                    </a:lnTo>
                    <a:lnTo>
                      <a:pt x="955" y="287"/>
                    </a:lnTo>
                    <a:lnTo>
                      <a:pt x="948" y="272"/>
                    </a:lnTo>
                    <a:lnTo>
                      <a:pt x="940" y="259"/>
                    </a:lnTo>
                    <a:lnTo>
                      <a:pt x="926" y="238"/>
                    </a:lnTo>
                    <a:lnTo>
                      <a:pt x="914" y="218"/>
                    </a:lnTo>
                    <a:lnTo>
                      <a:pt x="900" y="200"/>
                    </a:lnTo>
                    <a:lnTo>
                      <a:pt x="886" y="184"/>
                    </a:lnTo>
                    <a:lnTo>
                      <a:pt x="870" y="171"/>
                    </a:lnTo>
                    <a:lnTo>
                      <a:pt x="850" y="159"/>
                    </a:lnTo>
                    <a:lnTo>
                      <a:pt x="829" y="150"/>
                    </a:lnTo>
                    <a:lnTo>
                      <a:pt x="803" y="144"/>
                    </a:lnTo>
                    <a:lnTo>
                      <a:pt x="782" y="143"/>
                    </a:lnTo>
                    <a:lnTo>
                      <a:pt x="762" y="144"/>
                    </a:lnTo>
                    <a:lnTo>
                      <a:pt x="741" y="147"/>
                    </a:lnTo>
                    <a:lnTo>
                      <a:pt x="720" y="150"/>
                    </a:lnTo>
                    <a:lnTo>
                      <a:pt x="701" y="155"/>
                    </a:lnTo>
                    <a:lnTo>
                      <a:pt x="682" y="158"/>
                    </a:lnTo>
                    <a:lnTo>
                      <a:pt x="665" y="162"/>
                    </a:lnTo>
                    <a:lnTo>
                      <a:pt x="651" y="164"/>
                    </a:lnTo>
                    <a:lnTo>
                      <a:pt x="638" y="144"/>
                    </a:lnTo>
                    <a:lnTo>
                      <a:pt x="622" y="125"/>
                    </a:lnTo>
                    <a:lnTo>
                      <a:pt x="605" y="105"/>
                    </a:lnTo>
                    <a:lnTo>
                      <a:pt x="586" y="87"/>
                    </a:lnTo>
                    <a:lnTo>
                      <a:pt x="564" y="70"/>
                    </a:lnTo>
                    <a:lnTo>
                      <a:pt x="539" y="53"/>
                    </a:lnTo>
                    <a:lnTo>
                      <a:pt x="514" y="38"/>
                    </a:lnTo>
                    <a:lnTo>
                      <a:pt x="486" y="26"/>
                    </a:lnTo>
                    <a:lnTo>
                      <a:pt x="469" y="19"/>
                    </a:lnTo>
                    <a:lnTo>
                      <a:pt x="451" y="13"/>
                    </a:lnTo>
                    <a:lnTo>
                      <a:pt x="432" y="9"/>
                    </a:lnTo>
                    <a:lnTo>
                      <a:pt x="414" y="5"/>
                    </a:lnTo>
                    <a:lnTo>
                      <a:pt x="395" y="2"/>
                    </a:lnTo>
                    <a:lnTo>
                      <a:pt x="376" y="0"/>
                    </a:lnTo>
                    <a:lnTo>
                      <a:pt x="355" y="0"/>
                    </a:lnTo>
                    <a:lnTo>
                      <a:pt x="336" y="2"/>
                    </a:lnTo>
                    <a:lnTo>
                      <a:pt x="317" y="3"/>
                    </a:lnTo>
                    <a:lnTo>
                      <a:pt x="299" y="5"/>
                    </a:lnTo>
                    <a:lnTo>
                      <a:pt x="281" y="7"/>
                    </a:lnTo>
                    <a:lnTo>
                      <a:pt x="265" y="10"/>
                    </a:lnTo>
                    <a:lnTo>
                      <a:pt x="249" y="12"/>
                    </a:lnTo>
                    <a:lnTo>
                      <a:pt x="233" y="14"/>
                    </a:lnTo>
                    <a:lnTo>
                      <a:pt x="218" y="17"/>
                    </a:lnTo>
                    <a:lnTo>
                      <a:pt x="203" y="20"/>
                    </a:lnTo>
                    <a:lnTo>
                      <a:pt x="189" y="23"/>
                    </a:lnTo>
                    <a:lnTo>
                      <a:pt x="175" y="27"/>
                    </a:lnTo>
                    <a:lnTo>
                      <a:pt x="163" y="30"/>
                    </a:lnTo>
                    <a:lnTo>
                      <a:pt x="150" y="34"/>
                    </a:lnTo>
                    <a:lnTo>
                      <a:pt x="139" y="37"/>
                    </a:lnTo>
                    <a:lnTo>
                      <a:pt x="127" y="42"/>
                    </a:lnTo>
                    <a:lnTo>
                      <a:pt x="117" y="47"/>
                    </a:lnTo>
                    <a:lnTo>
                      <a:pt x="106" y="51"/>
                    </a:lnTo>
                    <a:lnTo>
                      <a:pt x="81" y="65"/>
                    </a:lnTo>
                    <a:lnTo>
                      <a:pt x="59" y="80"/>
                    </a:lnTo>
                    <a:lnTo>
                      <a:pt x="41" y="97"/>
                    </a:lnTo>
                    <a:lnTo>
                      <a:pt x="26" y="116"/>
                    </a:lnTo>
                    <a:lnTo>
                      <a:pt x="14" y="136"/>
                    </a:lnTo>
                    <a:lnTo>
                      <a:pt x="6" y="159"/>
                    </a:lnTo>
                    <a:lnTo>
                      <a:pt x="2" y="184"/>
                    </a:lnTo>
                    <a:lnTo>
                      <a:pt x="0" y="209"/>
                    </a:lnTo>
                    <a:lnTo>
                      <a:pt x="2" y="231"/>
                    </a:lnTo>
                    <a:lnTo>
                      <a:pt x="6" y="252"/>
                    </a:lnTo>
                    <a:lnTo>
                      <a:pt x="13" y="271"/>
                    </a:lnTo>
                    <a:lnTo>
                      <a:pt x="23" y="288"/>
                    </a:lnTo>
                    <a:lnTo>
                      <a:pt x="36" y="305"/>
                    </a:lnTo>
                    <a:lnTo>
                      <a:pt x="51" y="320"/>
                    </a:lnTo>
                    <a:lnTo>
                      <a:pt x="68" y="332"/>
                    </a:lnTo>
                    <a:lnTo>
                      <a:pt x="88" y="344"/>
                    </a:lnTo>
                    <a:lnTo>
                      <a:pt x="110" y="355"/>
                    </a:lnTo>
                    <a:lnTo>
                      <a:pt x="134" y="365"/>
                    </a:lnTo>
                    <a:lnTo>
                      <a:pt x="161" y="374"/>
                    </a:lnTo>
                    <a:lnTo>
                      <a:pt x="189" y="382"/>
                    </a:lnTo>
                    <a:lnTo>
                      <a:pt x="219" y="389"/>
                    </a:lnTo>
                    <a:lnTo>
                      <a:pt x="250" y="394"/>
                    </a:lnTo>
                    <a:lnTo>
                      <a:pt x="285" y="400"/>
                    </a:lnTo>
                    <a:lnTo>
                      <a:pt x="319" y="406"/>
                    </a:lnTo>
                    <a:lnTo>
                      <a:pt x="330" y="408"/>
                    </a:lnTo>
                    <a:lnTo>
                      <a:pt x="344" y="413"/>
                    </a:lnTo>
                    <a:lnTo>
                      <a:pt x="359" y="419"/>
                    </a:lnTo>
                    <a:lnTo>
                      <a:pt x="374" y="427"/>
                    </a:lnTo>
                    <a:lnTo>
                      <a:pt x="386" y="436"/>
                    </a:lnTo>
                    <a:lnTo>
                      <a:pt x="398" y="445"/>
                    </a:lnTo>
                    <a:lnTo>
                      <a:pt x="405" y="456"/>
                    </a:lnTo>
                    <a:lnTo>
                      <a:pt x="407" y="467"/>
                    </a:lnTo>
                    <a:lnTo>
                      <a:pt x="421" y="603"/>
                    </a:lnTo>
                    <a:lnTo>
                      <a:pt x="422" y="606"/>
                    </a:lnTo>
                    <a:lnTo>
                      <a:pt x="427" y="618"/>
                    </a:lnTo>
                    <a:lnTo>
                      <a:pt x="433" y="634"/>
                    </a:lnTo>
                    <a:lnTo>
                      <a:pt x="445" y="655"/>
                    </a:lnTo>
                    <a:lnTo>
                      <a:pt x="458" y="678"/>
                    </a:lnTo>
                    <a:lnTo>
                      <a:pt x="474" y="702"/>
                    </a:lnTo>
                    <a:lnTo>
                      <a:pt x="493" y="725"/>
                    </a:lnTo>
                    <a:lnTo>
                      <a:pt x="516" y="747"/>
                    </a:lnTo>
                    <a:lnTo>
                      <a:pt x="539" y="765"/>
                    </a:lnTo>
                    <a:lnTo>
                      <a:pt x="560" y="779"/>
                    </a:lnTo>
                    <a:lnTo>
                      <a:pt x="579" y="790"/>
                    </a:lnTo>
                    <a:lnTo>
                      <a:pt x="597" y="797"/>
                    </a:lnTo>
                    <a:lnTo>
                      <a:pt x="614" y="798"/>
                    </a:lnTo>
                    <a:lnTo>
                      <a:pt x="630" y="794"/>
                    </a:lnTo>
                    <a:lnTo>
                      <a:pt x="648" y="787"/>
                    </a:lnTo>
                    <a:lnTo>
                      <a:pt x="665" y="774"/>
                    </a:lnTo>
                    <a:lnTo>
                      <a:pt x="680" y="756"/>
                    </a:lnTo>
                    <a:lnTo>
                      <a:pt x="689" y="738"/>
                    </a:lnTo>
                    <a:lnTo>
                      <a:pt x="694" y="718"/>
                    </a:lnTo>
                    <a:lnTo>
                      <a:pt x="696" y="700"/>
                    </a:lnTo>
                    <a:lnTo>
                      <a:pt x="695" y="684"/>
                    </a:lnTo>
                    <a:lnTo>
                      <a:pt x="693" y="670"/>
                    </a:lnTo>
                    <a:lnTo>
                      <a:pt x="691" y="662"/>
                    </a:lnTo>
                    <a:lnTo>
                      <a:pt x="690" y="658"/>
                    </a:lnTo>
                    <a:lnTo>
                      <a:pt x="693" y="661"/>
                    </a:lnTo>
                    <a:lnTo>
                      <a:pt x="700" y="665"/>
                    </a:lnTo>
                    <a:lnTo>
                      <a:pt x="710" y="673"/>
                    </a:lnTo>
                    <a:lnTo>
                      <a:pt x="724" y="681"/>
                    </a:lnTo>
                    <a:lnTo>
                      <a:pt x="739" y="689"/>
                    </a:lnTo>
                    <a:lnTo>
                      <a:pt x="756" y="696"/>
                    </a:lnTo>
                    <a:lnTo>
                      <a:pt x="773" y="701"/>
                    </a:lnTo>
                    <a:lnTo>
                      <a:pt x="791" y="702"/>
                    </a:lnTo>
                    <a:lnTo>
                      <a:pt x="810" y="699"/>
                    </a:lnTo>
                    <a:lnTo>
                      <a:pt x="834" y="689"/>
                    </a:lnTo>
                    <a:lnTo>
                      <a:pt x="860" y="677"/>
                    </a:lnTo>
                    <a:lnTo>
                      <a:pt x="886" y="661"/>
                    </a:lnTo>
                    <a:lnTo>
                      <a:pt x="911" y="639"/>
                    </a:lnTo>
                    <a:lnTo>
                      <a:pt x="934" y="613"/>
                    </a:lnTo>
                    <a:lnTo>
                      <a:pt x="954" y="583"/>
                    </a:lnTo>
                    <a:lnTo>
                      <a:pt x="967" y="550"/>
                    </a:lnTo>
                    <a:lnTo>
                      <a:pt x="975" y="512"/>
                    </a:lnTo>
                    <a:lnTo>
                      <a:pt x="981" y="474"/>
                    </a:lnTo>
                    <a:lnTo>
                      <a:pt x="983" y="439"/>
                    </a:lnTo>
                    <a:lnTo>
                      <a:pt x="982" y="406"/>
                    </a:lnTo>
                    <a:close/>
                  </a:path>
                </a:pathLst>
              </a:custGeom>
              <a:solidFill>
                <a:srgbClr val="66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1" name="Freeform 651"/>
              <p:cNvSpPr/>
              <p:nvPr/>
            </p:nvSpPr>
            <p:spPr bwMode="auto">
              <a:xfrm>
                <a:off x="3244" y="2510"/>
                <a:ext cx="256" cy="77"/>
              </a:xfrm>
              <a:custGeom>
                <a:avLst/>
                <a:gdLst>
                  <a:gd name="T0" fmla="*/ 1 w 511"/>
                  <a:gd name="T1" fmla="*/ 1 h 154"/>
                  <a:gd name="T2" fmla="*/ 1 w 511"/>
                  <a:gd name="T3" fmla="*/ 1 h 154"/>
                  <a:gd name="T4" fmla="*/ 1 w 511"/>
                  <a:gd name="T5" fmla="*/ 1 h 154"/>
                  <a:gd name="T6" fmla="*/ 1 w 511"/>
                  <a:gd name="T7" fmla="*/ 1 h 154"/>
                  <a:gd name="T8" fmla="*/ 1 w 511"/>
                  <a:gd name="T9" fmla="*/ 1 h 154"/>
                  <a:gd name="T10" fmla="*/ 1 w 511"/>
                  <a:gd name="T11" fmla="*/ 1 h 154"/>
                  <a:gd name="T12" fmla="*/ 1 w 511"/>
                  <a:gd name="T13" fmla="*/ 1 h 154"/>
                  <a:gd name="T14" fmla="*/ 1 w 511"/>
                  <a:gd name="T15" fmla="*/ 1 h 154"/>
                  <a:gd name="T16" fmla="*/ 1 w 511"/>
                  <a:gd name="T17" fmla="*/ 1 h 154"/>
                  <a:gd name="T18" fmla="*/ 1 w 511"/>
                  <a:gd name="T19" fmla="*/ 1 h 154"/>
                  <a:gd name="T20" fmla="*/ 1 w 511"/>
                  <a:gd name="T21" fmla="*/ 1 h 154"/>
                  <a:gd name="T22" fmla="*/ 1 w 511"/>
                  <a:gd name="T23" fmla="*/ 1 h 154"/>
                  <a:gd name="T24" fmla="*/ 1 w 511"/>
                  <a:gd name="T25" fmla="*/ 1 h 154"/>
                  <a:gd name="T26" fmla="*/ 1 w 511"/>
                  <a:gd name="T27" fmla="*/ 1 h 154"/>
                  <a:gd name="T28" fmla="*/ 1 w 511"/>
                  <a:gd name="T29" fmla="*/ 1 h 154"/>
                  <a:gd name="T30" fmla="*/ 1 w 511"/>
                  <a:gd name="T31" fmla="*/ 1 h 154"/>
                  <a:gd name="T32" fmla="*/ 1 w 511"/>
                  <a:gd name="T33" fmla="*/ 1 h 154"/>
                  <a:gd name="T34" fmla="*/ 1 w 511"/>
                  <a:gd name="T35" fmla="*/ 1 h 154"/>
                  <a:gd name="T36" fmla="*/ 1 w 511"/>
                  <a:gd name="T37" fmla="*/ 1 h 154"/>
                  <a:gd name="T38" fmla="*/ 1 w 511"/>
                  <a:gd name="T39" fmla="*/ 1 h 154"/>
                  <a:gd name="T40" fmla="*/ 1 w 511"/>
                  <a:gd name="T41" fmla="*/ 1 h 154"/>
                  <a:gd name="T42" fmla="*/ 1 w 511"/>
                  <a:gd name="T43" fmla="*/ 1 h 154"/>
                  <a:gd name="T44" fmla="*/ 1 w 511"/>
                  <a:gd name="T45" fmla="*/ 1 h 154"/>
                  <a:gd name="T46" fmla="*/ 0 w 511"/>
                  <a:gd name="T47" fmla="*/ 1 h 154"/>
                  <a:gd name="T48" fmla="*/ 0 w 511"/>
                  <a:gd name="T49" fmla="*/ 1 h 154"/>
                  <a:gd name="T50" fmla="*/ 1 w 511"/>
                  <a:gd name="T51" fmla="*/ 1 h 154"/>
                  <a:gd name="T52" fmla="*/ 1 w 511"/>
                  <a:gd name="T53" fmla="*/ 1 h 154"/>
                  <a:gd name="T54" fmla="*/ 1 w 511"/>
                  <a:gd name="T55" fmla="*/ 1 h 154"/>
                  <a:gd name="T56" fmla="*/ 1 w 511"/>
                  <a:gd name="T57" fmla="*/ 1 h 154"/>
                  <a:gd name="T58" fmla="*/ 1 w 511"/>
                  <a:gd name="T59" fmla="*/ 1 h 154"/>
                  <a:gd name="T60" fmla="*/ 1 w 511"/>
                  <a:gd name="T61" fmla="*/ 1 h 154"/>
                  <a:gd name="T62" fmla="*/ 1 w 511"/>
                  <a:gd name="T63" fmla="*/ 1 h 154"/>
                  <a:gd name="T64" fmla="*/ 1 w 511"/>
                  <a:gd name="T65" fmla="*/ 1 h 154"/>
                  <a:gd name="T66" fmla="*/ 1 w 511"/>
                  <a:gd name="T67" fmla="*/ 1 h 154"/>
                  <a:gd name="T68" fmla="*/ 1 w 511"/>
                  <a:gd name="T69" fmla="*/ 1 h 154"/>
                  <a:gd name="T70" fmla="*/ 1 w 511"/>
                  <a:gd name="T71" fmla="*/ 0 h 154"/>
                  <a:gd name="T72" fmla="*/ 1 w 511"/>
                  <a:gd name="T73" fmla="*/ 1 h 154"/>
                  <a:gd name="T74" fmla="*/ 1 w 511"/>
                  <a:gd name="T75" fmla="*/ 1 h 154"/>
                  <a:gd name="T76" fmla="*/ 1 w 511"/>
                  <a:gd name="T77" fmla="*/ 1 h 154"/>
                  <a:gd name="T78" fmla="*/ 1 w 511"/>
                  <a:gd name="T79" fmla="*/ 1 h 154"/>
                  <a:gd name="T80" fmla="*/ 1 w 511"/>
                  <a:gd name="T81" fmla="*/ 1 h 154"/>
                  <a:gd name="T82" fmla="*/ 1 w 511"/>
                  <a:gd name="T83" fmla="*/ 1 h 154"/>
                  <a:gd name="T84" fmla="*/ 1 w 511"/>
                  <a:gd name="T85" fmla="*/ 1 h 154"/>
                  <a:gd name="T86" fmla="*/ 1 w 511"/>
                  <a:gd name="T87" fmla="*/ 1 h 154"/>
                  <a:gd name="T88" fmla="*/ 1 w 511"/>
                  <a:gd name="T89" fmla="*/ 1 h 154"/>
                  <a:gd name="T90" fmla="*/ 1 w 511"/>
                  <a:gd name="T91" fmla="*/ 1 h 154"/>
                  <a:gd name="T92" fmla="*/ 1 w 511"/>
                  <a:gd name="T93" fmla="*/ 1 h 154"/>
                  <a:gd name="T94" fmla="*/ 1 w 511"/>
                  <a:gd name="T95" fmla="*/ 1 h 154"/>
                  <a:gd name="T96" fmla="*/ 1 w 511"/>
                  <a:gd name="T97" fmla="*/ 1 h 154"/>
                  <a:gd name="T98" fmla="*/ 1 w 511"/>
                  <a:gd name="T99" fmla="*/ 1 h 154"/>
                  <a:gd name="T100" fmla="*/ 1 w 511"/>
                  <a:gd name="T101" fmla="*/ 1 h 154"/>
                  <a:gd name="T102" fmla="*/ 1 w 511"/>
                  <a:gd name="T103" fmla="*/ 1 h 154"/>
                  <a:gd name="T104" fmla="*/ 1 w 511"/>
                  <a:gd name="T105" fmla="*/ 1 h 154"/>
                  <a:gd name="T106" fmla="*/ 1 w 511"/>
                  <a:gd name="T107" fmla="*/ 1 h 154"/>
                  <a:gd name="T108" fmla="*/ 1 w 511"/>
                  <a:gd name="T109" fmla="*/ 1 h 154"/>
                  <a:gd name="T110" fmla="*/ 1 w 511"/>
                  <a:gd name="T111" fmla="*/ 1 h 154"/>
                  <a:gd name="T112" fmla="*/ 1 w 511"/>
                  <a:gd name="T113" fmla="*/ 1 h 15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1"/>
                  <a:gd name="T172" fmla="*/ 0 h 154"/>
                  <a:gd name="T173" fmla="*/ 511 w 511"/>
                  <a:gd name="T174" fmla="*/ 154 h 15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1" h="154">
                    <a:moveTo>
                      <a:pt x="511" y="153"/>
                    </a:moveTo>
                    <a:lnTo>
                      <a:pt x="503" y="154"/>
                    </a:lnTo>
                    <a:lnTo>
                      <a:pt x="496" y="151"/>
                    </a:lnTo>
                    <a:lnTo>
                      <a:pt x="489" y="145"/>
                    </a:lnTo>
                    <a:lnTo>
                      <a:pt x="483" y="141"/>
                    </a:lnTo>
                    <a:lnTo>
                      <a:pt x="459" y="120"/>
                    </a:lnTo>
                    <a:lnTo>
                      <a:pt x="434" y="101"/>
                    </a:lnTo>
                    <a:lnTo>
                      <a:pt x="407" y="86"/>
                    </a:lnTo>
                    <a:lnTo>
                      <a:pt x="379" y="74"/>
                    </a:lnTo>
                    <a:lnTo>
                      <a:pt x="350" y="64"/>
                    </a:lnTo>
                    <a:lnTo>
                      <a:pt x="319" y="56"/>
                    </a:lnTo>
                    <a:lnTo>
                      <a:pt x="288" y="51"/>
                    </a:lnTo>
                    <a:lnTo>
                      <a:pt x="255" y="48"/>
                    </a:lnTo>
                    <a:lnTo>
                      <a:pt x="224" y="47"/>
                    </a:lnTo>
                    <a:lnTo>
                      <a:pt x="192" y="47"/>
                    </a:lnTo>
                    <a:lnTo>
                      <a:pt x="160" y="51"/>
                    </a:lnTo>
                    <a:lnTo>
                      <a:pt x="129" y="55"/>
                    </a:lnTo>
                    <a:lnTo>
                      <a:pt x="98" y="61"/>
                    </a:lnTo>
                    <a:lnTo>
                      <a:pt x="68" y="68"/>
                    </a:lnTo>
                    <a:lnTo>
                      <a:pt x="38" y="77"/>
                    </a:lnTo>
                    <a:lnTo>
                      <a:pt x="10" y="88"/>
                    </a:lnTo>
                    <a:lnTo>
                      <a:pt x="5" y="83"/>
                    </a:lnTo>
                    <a:lnTo>
                      <a:pt x="2" y="78"/>
                    </a:lnTo>
                    <a:lnTo>
                      <a:pt x="0" y="71"/>
                    </a:lnTo>
                    <a:lnTo>
                      <a:pt x="0" y="63"/>
                    </a:lnTo>
                    <a:lnTo>
                      <a:pt x="15" y="52"/>
                    </a:lnTo>
                    <a:lnTo>
                      <a:pt x="31" y="41"/>
                    </a:lnTo>
                    <a:lnTo>
                      <a:pt x="47" y="32"/>
                    </a:lnTo>
                    <a:lnTo>
                      <a:pt x="64" y="24"/>
                    </a:lnTo>
                    <a:lnTo>
                      <a:pt x="81" y="17"/>
                    </a:lnTo>
                    <a:lnTo>
                      <a:pt x="100" y="11"/>
                    </a:lnTo>
                    <a:lnTo>
                      <a:pt x="118" y="8"/>
                    </a:lnTo>
                    <a:lnTo>
                      <a:pt x="137" y="5"/>
                    </a:lnTo>
                    <a:lnTo>
                      <a:pt x="156" y="2"/>
                    </a:lnTo>
                    <a:lnTo>
                      <a:pt x="175" y="1"/>
                    </a:lnTo>
                    <a:lnTo>
                      <a:pt x="194" y="0"/>
                    </a:lnTo>
                    <a:lnTo>
                      <a:pt x="214" y="1"/>
                    </a:lnTo>
                    <a:lnTo>
                      <a:pt x="233" y="2"/>
                    </a:lnTo>
                    <a:lnTo>
                      <a:pt x="253" y="5"/>
                    </a:lnTo>
                    <a:lnTo>
                      <a:pt x="273" y="7"/>
                    </a:lnTo>
                    <a:lnTo>
                      <a:pt x="291" y="10"/>
                    </a:lnTo>
                    <a:lnTo>
                      <a:pt x="307" y="14"/>
                    </a:lnTo>
                    <a:lnTo>
                      <a:pt x="323" y="17"/>
                    </a:lnTo>
                    <a:lnTo>
                      <a:pt x="339" y="22"/>
                    </a:lnTo>
                    <a:lnTo>
                      <a:pt x="356" y="28"/>
                    </a:lnTo>
                    <a:lnTo>
                      <a:pt x="372" y="33"/>
                    </a:lnTo>
                    <a:lnTo>
                      <a:pt x="387" y="40"/>
                    </a:lnTo>
                    <a:lnTo>
                      <a:pt x="403" y="48"/>
                    </a:lnTo>
                    <a:lnTo>
                      <a:pt x="417" y="58"/>
                    </a:lnTo>
                    <a:lnTo>
                      <a:pt x="432" y="67"/>
                    </a:lnTo>
                    <a:lnTo>
                      <a:pt x="445" y="76"/>
                    </a:lnTo>
                    <a:lnTo>
                      <a:pt x="458" y="88"/>
                    </a:lnTo>
                    <a:lnTo>
                      <a:pt x="471" y="99"/>
                    </a:lnTo>
                    <a:lnTo>
                      <a:pt x="482" y="112"/>
                    </a:lnTo>
                    <a:lnTo>
                      <a:pt x="493" y="124"/>
                    </a:lnTo>
                    <a:lnTo>
                      <a:pt x="502" y="138"/>
                    </a:lnTo>
                    <a:lnTo>
                      <a:pt x="511" y="153"/>
                    </a:lnTo>
                    <a:close/>
                  </a:path>
                </a:pathLst>
              </a:custGeom>
              <a:solidFill>
                <a:srgbClr val="00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2" name="Freeform 652"/>
              <p:cNvSpPr/>
              <p:nvPr/>
            </p:nvSpPr>
            <p:spPr bwMode="auto">
              <a:xfrm>
                <a:off x="3161" y="2556"/>
                <a:ext cx="338" cy="415"/>
              </a:xfrm>
              <a:custGeom>
                <a:avLst/>
                <a:gdLst>
                  <a:gd name="T0" fmla="*/ 1 w 676"/>
                  <a:gd name="T1" fmla="*/ 0 h 831"/>
                  <a:gd name="T2" fmla="*/ 1 w 676"/>
                  <a:gd name="T3" fmla="*/ 0 h 831"/>
                  <a:gd name="T4" fmla="*/ 1 w 676"/>
                  <a:gd name="T5" fmla="*/ 0 h 831"/>
                  <a:gd name="T6" fmla="*/ 1 w 676"/>
                  <a:gd name="T7" fmla="*/ 0 h 831"/>
                  <a:gd name="T8" fmla="*/ 1 w 676"/>
                  <a:gd name="T9" fmla="*/ 0 h 831"/>
                  <a:gd name="T10" fmla="*/ 1 w 676"/>
                  <a:gd name="T11" fmla="*/ 0 h 831"/>
                  <a:gd name="T12" fmla="*/ 1 w 676"/>
                  <a:gd name="T13" fmla="*/ 0 h 831"/>
                  <a:gd name="T14" fmla="*/ 1 w 676"/>
                  <a:gd name="T15" fmla="*/ 0 h 831"/>
                  <a:gd name="T16" fmla="*/ 1 w 676"/>
                  <a:gd name="T17" fmla="*/ 0 h 831"/>
                  <a:gd name="T18" fmla="*/ 1 w 676"/>
                  <a:gd name="T19" fmla="*/ 0 h 831"/>
                  <a:gd name="T20" fmla="*/ 1 w 676"/>
                  <a:gd name="T21" fmla="*/ 0 h 831"/>
                  <a:gd name="T22" fmla="*/ 1 w 676"/>
                  <a:gd name="T23" fmla="*/ 0 h 831"/>
                  <a:gd name="T24" fmla="*/ 1 w 676"/>
                  <a:gd name="T25" fmla="*/ 0 h 831"/>
                  <a:gd name="T26" fmla="*/ 1 w 676"/>
                  <a:gd name="T27" fmla="*/ 0 h 831"/>
                  <a:gd name="T28" fmla="*/ 1 w 676"/>
                  <a:gd name="T29" fmla="*/ 0 h 831"/>
                  <a:gd name="T30" fmla="*/ 1 w 676"/>
                  <a:gd name="T31" fmla="*/ 0 h 831"/>
                  <a:gd name="T32" fmla="*/ 1 w 676"/>
                  <a:gd name="T33" fmla="*/ 0 h 831"/>
                  <a:gd name="T34" fmla="*/ 1 w 676"/>
                  <a:gd name="T35" fmla="*/ 0 h 831"/>
                  <a:gd name="T36" fmla="*/ 1 w 676"/>
                  <a:gd name="T37" fmla="*/ 0 h 831"/>
                  <a:gd name="T38" fmla="*/ 1 w 676"/>
                  <a:gd name="T39" fmla="*/ 0 h 831"/>
                  <a:gd name="T40" fmla="*/ 1 w 676"/>
                  <a:gd name="T41" fmla="*/ 0 h 831"/>
                  <a:gd name="T42" fmla="*/ 1 w 676"/>
                  <a:gd name="T43" fmla="*/ 0 h 831"/>
                  <a:gd name="T44" fmla="*/ 1 w 676"/>
                  <a:gd name="T45" fmla="*/ 0 h 831"/>
                  <a:gd name="T46" fmla="*/ 1 w 676"/>
                  <a:gd name="T47" fmla="*/ 0 h 831"/>
                  <a:gd name="T48" fmla="*/ 1 w 676"/>
                  <a:gd name="T49" fmla="*/ 0 h 831"/>
                  <a:gd name="T50" fmla="*/ 1 w 676"/>
                  <a:gd name="T51" fmla="*/ 0 h 831"/>
                  <a:gd name="T52" fmla="*/ 1 w 676"/>
                  <a:gd name="T53" fmla="*/ 0 h 831"/>
                  <a:gd name="T54" fmla="*/ 1 w 676"/>
                  <a:gd name="T55" fmla="*/ 0 h 831"/>
                  <a:gd name="T56" fmla="*/ 1 w 676"/>
                  <a:gd name="T57" fmla="*/ 0 h 831"/>
                  <a:gd name="T58" fmla="*/ 1 w 676"/>
                  <a:gd name="T59" fmla="*/ 0 h 831"/>
                  <a:gd name="T60" fmla="*/ 1 w 676"/>
                  <a:gd name="T61" fmla="*/ 0 h 831"/>
                  <a:gd name="T62" fmla="*/ 1 w 676"/>
                  <a:gd name="T63" fmla="*/ 0 h 831"/>
                  <a:gd name="T64" fmla="*/ 1 w 676"/>
                  <a:gd name="T65" fmla="*/ 0 h 831"/>
                  <a:gd name="T66" fmla="*/ 1 w 676"/>
                  <a:gd name="T67" fmla="*/ 0 h 831"/>
                  <a:gd name="T68" fmla="*/ 1 w 676"/>
                  <a:gd name="T69" fmla="*/ 0 h 831"/>
                  <a:gd name="T70" fmla="*/ 1 w 676"/>
                  <a:gd name="T71" fmla="*/ 0 h 831"/>
                  <a:gd name="T72" fmla="*/ 1 w 676"/>
                  <a:gd name="T73" fmla="*/ 0 h 831"/>
                  <a:gd name="T74" fmla="*/ 1 w 676"/>
                  <a:gd name="T75" fmla="*/ 0 h 831"/>
                  <a:gd name="T76" fmla="*/ 1 w 676"/>
                  <a:gd name="T77" fmla="*/ 0 h 831"/>
                  <a:gd name="T78" fmla="*/ 1 w 676"/>
                  <a:gd name="T79" fmla="*/ 0 h 831"/>
                  <a:gd name="T80" fmla="*/ 1 w 676"/>
                  <a:gd name="T81" fmla="*/ 0 h 831"/>
                  <a:gd name="T82" fmla="*/ 1 w 676"/>
                  <a:gd name="T83" fmla="*/ 0 h 831"/>
                  <a:gd name="T84" fmla="*/ 1 w 676"/>
                  <a:gd name="T85" fmla="*/ 0 h 831"/>
                  <a:gd name="T86" fmla="*/ 1 w 676"/>
                  <a:gd name="T87" fmla="*/ 0 h 831"/>
                  <a:gd name="T88" fmla="*/ 1 w 676"/>
                  <a:gd name="T89" fmla="*/ 0 h 831"/>
                  <a:gd name="T90" fmla="*/ 1 w 676"/>
                  <a:gd name="T91" fmla="*/ 0 h 831"/>
                  <a:gd name="T92" fmla="*/ 1 w 676"/>
                  <a:gd name="T93" fmla="*/ 0 h 831"/>
                  <a:gd name="T94" fmla="*/ 1 w 676"/>
                  <a:gd name="T95" fmla="*/ 0 h 831"/>
                  <a:gd name="T96" fmla="*/ 1 w 676"/>
                  <a:gd name="T97" fmla="*/ 0 h 831"/>
                  <a:gd name="T98" fmla="*/ 1 w 676"/>
                  <a:gd name="T99" fmla="*/ 0 h 831"/>
                  <a:gd name="T100" fmla="*/ 1 w 676"/>
                  <a:gd name="T101" fmla="*/ 0 h 831"/>
                  <a:gd name="T102" fmla="*/ 1 w 676"/>
                  <a:gd name="T103" fmla="*/ 0 h 83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676"/>
                  <a:gd name="T157" fmla="*/ 0 h 831"/>
                  <a:gd name="T158" fmla="*/ 676 w 676"/>
                  <a:gd name="T159" fmla="*/ 831 h 83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676" h="831">
                    <a:moveTo>
                      <a:pt x="615" y="831"/>
                    </a:moveTo>
                    <a:lnTo>
                      <a:pt x="608" y="827"/>
                    </a:lnTo>
                    <a:lnTo>
                      <a:pt x="602" y="824"/>
                    </a:lnTo>
                    <a:lnTo>
                      <a:pt x="598" y="818"/>
                    </a:lnTo>
                    <a:lnTo>
                      <a:pt x="593" y="811"/>
                    </a:lnTo>
                    <a:lnTo>
                      <a:pt x="588" y="804"/>
                    </a:lnTo>
                    <a:lnTo>
                      <a:pt x="585" y="797"/>
                    </a:lnTo>
                    <a:lnTo>
                      <a:pt x="580" y="790"/>
                    </a:lnTo>
                    <a:lnTo>
                      <a:pt x="577" y="784"/>
                    </a:lnTo>
                    <a:lnTo>
                      <a:pt x="565" y="762"/>
                    </a:lnTo>
                    <a:lnTo>
                      <a:pt x="555" y="739"/>
                    </a:lnTo>
                    <a:lnTo>
                      <a:pt x="546" y="716"/>
                    </a:lnTo>
                    <a:lnTo>
                      <a:pt x="539" y="691"/>
                    </a:lnTo>
                    <a:lnTo>
                      <a:pt x="533" y="666"/>
                    </a:lnTo>
                    <a:lnTo>
                      <a:pt x="527" y="641"/>
                    </a:lnTo>
                    <a:lnTo>
                      <a:pt x="523" y="615"/>
                    </a:lnTo>
                    <a:lnTo>
                      <a:pt x="518" y="590"/>
                    </a:lnTo>
                    <a:lnTo>
                      <a:pt x="505" y="580"/>
                    </a:lnTo>
                    <a:lnTo>
                      <a:pt x="492" y="570"/>
                    </a:lnTo>
                    <a:lnTo>
                      <a:pt x="479" y="560"/>
                    </a:lnTo>
                    <a:lnTo>
                      <a:pt x="466" y="549"/>
                    </a:lnTo>
                    <a:lnTo>
                      <a:pt x="454" y="538"/>
                    </a:lnTo>
                    <a:lnTo>
                      <a:pt x="441" y="527"/>
                    </a:lnTo>
                    <a:lnTo>
                      <a:pt x="431" y="514"/>
                    </a:lnTo>
                    <a:lnTo>
                      <a:pt x="421" y="501"/>
                    </a:lnTo>
                    <a:lnTo>
                      <a:pt x="410" y="501"/>
                    </a:lnTo>
                    <a:lnTo>
                      <a:pt x="396" y="498"/>
                    </a:lnTo>
                    <a:lnTo>
                      <a:pt x="383" y="492"/>
                    </a:lnTo>
                    <a:lnTo>
                      <a:pt x="371" y="485"/>
                    </a:lnTo>
                    <a:lnTo>
                      <a:pt x="360" y="477"/>
                    </a:lnTo>
                    <a:lnTo>
                      <a:pt x="351" y="470"/>
                    </a:lnTo>
                    <a:lnTo>
                      <a:pt x="345" y="464"/>
                    </a:lnTo>
                    <a:lnTo>
                      <a:pt x="343" y="462"/>
                    </a:lnTo>
                    <a:lnTo>
                      <a:pt x="349" y="461"/>
                    </a:lnTo>
                    <a:lnTo>
                      <a:pt x="355" y="462"/>
                    </a:lnTo>
                    <a:lnTo>
                      <a:pt x="359" y="463"/>
                    </a:lnTo>
                    <a:lnTo>
                      <a:pt x="365" y="463"/>
                    </a:lnTo>
                    <a:lnTo>
                      <a:pt x="371" y="464"/>
                    </a:lnTo>
                    <a:lnTo>
                      <a:pt x="378" y="466"/>
                    </a:lnTo>
                    <a:lnTo>
                      <a:pt x="383" y="464"/>
                    </a:lnTo>
                    <a:lnTo>
                      <a:pt x="390" y="462"/>
                    </a:lnTo>
                    <a:lnTo>
                      <a:pt x="406" y="448"/>
                    </a:lnTo>
                    <a:lnTo>
                      <a:pt x="416" y="433"/>
                    </a:lnTo>
                    <a:lnTo>
                      <a:pt x="419" y="416"/>
                    </a:lnTo>
                    <a:lnTo>
                      <a:pt x="424" y="399"/>
                    </a:lnTo>
                    <a:lnTo>
                      <a:pt x="421" y="387"/>
                    </a:lnTo>
                    <a:lnTo>
                      <a:pt x="420" y="376"/>
                    </a:lnTo>
                    <a:lnTo>
                      <a:pt x="417" y="364"/>
                    </a:lnTo>
                    <a:lnTo>
                      <a:pt x="414" y="353"/>
                    </a:lnTo>
                    <a:lnTo>
                      <a:pt x="410" y="342"/>
                    </a:lnTo>
                    <a:lnTo>
                      <a:pt x="404" y="334"/>
                    </a:lnTo>
                    <a:lnTo>
                      <a:pt x="397" y="326"/>
                    </a:lnTo>
                    <a:lnTo>
                      <a:pt x="388" y="320"/>
                    </a:lnTo>
                    <a:lnTo>
                      <a:pt x="371" y="316"/>
                    </a:lnTo>
                    <a:lnTo>
                      <a:pt x="353" y="312"/>
                    </a:lnTo>
                    <a:lnTo>
                      <a:pt x="336" y="309"/>
                    </a:lnTo>
                    <a:lnTo>
                      <a:pt x="319" y="307"/>
                    </a:lnTo>
                    <a:lnTo>
                      <a:pt x="302" y="303"/>
                    </a:lnTo>
                    <a:lnTo>
                      <a:pt x="284" y="300"/>
                    </a:lnTo>
                    <a:lnTo>
                      <a:pt x="268" y="296"/>
                    </a:lnTo>
                    <a:lnTo>
                      <a:pt x="251" y="293"/>
                    </a:lnTo>
                    <a:lnTo>
                      <a:pt x="234" y="288"/>
                    </a:lnTo>
                    <a:lnTo>
                      <a:pt x="218" y="284"/>
                    </a:lnTo>
                    <a:lnTo>
                      <a:pt x="201" y="279"/>
                    </a:lnTo>
                    <a:lnTo>
                      <a:pt x="185" y="272"/>
                    </a:lnTo>
                    <a:lnTo>
                      <a:pt x="169" y="265"/>
                    </a:lnTo>
                    <a:lnTo>
                      <a:pt x="154" y="257"/>
                    </a:lnTo>
                    <a:lnTo>
                      <a:pt x="139" y="248"/>
                    </a:lnTo>
                    <a:lnTo>
                      <a:pt x="125" y="237"/>
                    </a:lnTo>
                    <a:lnTo>
                      <a:pt x="115" y="277"/>
                    </a:lnTo>
                    <a:lnTo>
                      <a:pt x="107" y="317"/>
                    </a:lnTo>
                    <a:lnTo>
                      <a:pt x="100" y="360"/>
                    </a:lnTo>
                    <a:lnTo>
                      <a:pt x="98" y="401"/>
                    </a:lnTo>
                    <a:lnTo>
                      <a:pt x="98" y="445"/>
                    </a:lnTo>
                    <a:lnTo>
                      <a:pt x="102" y="487"/>
                    </a:lnTo>
                    <a:lnTo>
                      <a:pt x="110" y="530"/>
                    </a:lnTo>
                    <a:lnTo>
                      <a:pt x="122" y="573"/>
                    </a:lnTo>
                    <a:lnTo>
                      <a:pt x="133" y="592"/>
                    </a:lnTo>
                    <a:lnTo>
                      <a:pt x="145" y="614"/>
                    </a:lnTo>
                    <a:lnTo>
                      <a:pt x="159" y="635"/>
                    </a:lnTo>
                    <a:lnTo>
                      <a:pt x="173" y="655"/>
                    </a:lnTo>
                    <a:lnTo>
                      <a:pt x="189" y="673"/>
                    </a:lnTo>
                    <a:lnTo>
                      <a:pt x="207" y="689"/>
                    </a:lnTo>
                    <a:lnTo>
                      <a:pt x="227" y="702"/>
                    </a:lnTo>
                    <a:lnTo>
                      <a:pt x="250" y="711"/>
                    </a:lnTo>
                    <a:lnTo>
                      <a:pt x="256" y="711"/>
                    </a:lnTo>
                    <a:lnTo>
                      <a:pt x="262" y="709"/>
                    </a:lnTo>
                    <a:lnTo>
                      <a:pt x="269" y="706"/>
                    </a:lnTo>
                    <a:lnTo>
                      <a:pt x="275" y="704"/>
                    </a:lnTo>
                    <a:lnTo>
                      <a:pt x="281" y="702"/>
                    </a:lnTo>
                    <a:lnTo>
                      <a:pt x="287" y="701"/>
                    </a:lnTo>
                    <a:lnTo>
                      <a:pt x="290" y="703"/>
                    </a:lnTo>
                    <a:lnTo>
                      <a:pt x="294" y="708"/>
                    </a:lnTo>
                    <a:lnTo>
                      <a:pt x="287" y="712"/>
                    </a:lnTo>
                    <a:lnTo>
                      <a:pt x="280" y="716"/>
                    </a:lnTo>
                    <a:lnTo>
                      <a:pt x="273" y="719"/>
                    </a:lnTo>
                    <a:lnTo>
                      <a:pt x="266" y="721"/>
                    </a:lnTo>
                    <a:lnTo>
                      <a:pt x="259" y="723"/>
                    </a:lnTo>
                    <a:lnTo>
                      <a:pt x="251" y="724"/>
                    </a:lnTo>
                    <a:lnTo>
                      <a:pt x="243" y="723"/>
                    </a:lnTo>
                    <a:lnTo>
                      <a:pt x="235" y="720"/>
                    </a:lnTo>
                    <a:lnTo>
                      <a:pt x="212" y="710"/>
                    </a:lnTo>
                    <a:lnTo>
                      <a:pt x="191" y="698"/>
                    </a:lnTo>
                    <a:lnTo>
                      <a:pt x="171" y="686"/>
                    </a:lnTo>
                    <a:lnTo>
                      <a:pt x="153" y="671"/>
                    </a:lnTo>
                    <a:lnTo>
                      <a:pt x="137" y="655"/>
                    </a:lnTo>
                    <a:lnTo>
                      <a:pt x="122" y="637"/>
                    </a:lnTo>
                    <a:lnTo>
                      <a:pt x="108" y="618"/>
                    </a:lnTo>
                    <a:lnTo>
                      <a:pt x="97" y="598"/>
                    </a:lnTo>
                    <a:lnTo>
                      <a:pt x="86" y="577"/>
                    </a:lnTo>
                    <a:lnTo>
                      <a:pt x="77" y="555"/>
                    </a:lnTo>
                    <a:lnTo>
                      <a:pt x="69" y="532"/>
                    </a:lnTo>
                    <a:lnTo>
                      <a:pt x="63" y="509"/>
                    </a:lnTo>
                    <a:lnTo>
                      <a:pt x="59" y="485"/>
                    </a:lnTo>
                    <a:lnTo>
                      <a:pt x="55" y="461"/>
                    </a:lnTo>
                    <a:lnTo>
                      <a:pt x="53" y="437"/>
                    </a:lnTo>
                    <a:lnTo>
                      <a:pt x="53" y="411"/>
                    </a:lnTo>
                    <a:lnTo>
                      <a:pt x="53" y="330"/>
                    </a:lnTo>
                    <a:lnTo>
                      <a:pt x="45" y="330"/>
                    </a:lnTo>
                    <a:lnTo>
                      <a:pt x="38" y="330"/>
                    </a:lnTo>
                    <a:lnTo>
                      <a:pt x="30" y="330"/>
                    </a:lnTo>
                    <a:lnTo>
                      <a:pt x="22" y="328"/>
                    </a:lnTo>
                    <a:lnTo>
                      <a:pt x="15" y="326"/>
                    </a:lnTo>
                    <a:lnTo>
                      <a:pt x="9" y="323"/>
                    </a:lnTo>
                    <a:lnTo>
                      <a:pt x="3" y="319"/>
                    </a:lnTo>
                    <a:lnTo>
                      <a:pt x="0" y="314"/>
                    </a:lnTo>
                    <a:lnTo>
                      <a:pt x="56" y="294"/>
                    </a:lnTo>
                    <a:lnTo>
                      <a:pt x="61" y="269"/>
                    </a:lnTo>
                    <a:lnTo>
                      <a:pt x="65" y="242"/>
                    </a:lnTo>
                    <a:lnTo>
                      <a:pt x="72" y="217"/>
                    </a:lnTo>
                    <a:lnTo>
                      <a:pt x="87" y="196"/>
                    </a:lnTo>
                    <a:lnTo>
                      <a:pt x="78" y="184"/>
                    </a:lnTo>
                    <a:lnTo>
                      <a:pt x="71" y="171"/>
                    </a:lnTo>
                    <a:lnTo>
                      <a:pt x="64" y="156"/>
                    </a:lnTo>
                    <a:lnTo>
                      <a:pt x="60" y="141"/>
                    </a:lnTo>
                    <a:lnTo>
                      <a:pt x="56" y="126"/>
                    </a:lnTo>
                    <a:lnTo>
                      <a:pt x="56" y="110"/>
                    </a:lnTo>
                    <a:lnTo>
                      <a:pt x="57" y="93"/>
                    </a:lnTo>
                    <a:lnTo>
                      <a:pt x="63" y="77"/>
                    </a:lnTo>
                    <a:lnTo>
                      <a:pt x="70" y="65"/>
                    </a:lnTo>
                    <a:lnTo>
                      <a:pt x="77" y="53"/>
                    </a:lnTo>
                    <a:lnTo>
                      <a:pt x="85" y="42"/>
                    </a:lnTo>
                    <a:lnTo>
                      <a:pt x="94" y="31"/>
                    </a:lnTo>
                    <a:lnTo>
                      <a:pt x="103" y="22"/>
                    </a:lnTo>
                    <a:lnTo>
                      <a:pt x="115" y="14"/>
                    </a:lnTo>
                    <a:lnTo>
                      <a:pt x="125" y="7"/>
                    </a:lnTo>
                    <a:lnTo>
                      <a:pt x="138" y="0"/>
                    </a:lnTo>
                    <a:lnTo>
                      <a:pt x="144" y="8"/>
                    </a:lnTo>
                    <a:lnTo>
                      <a:pt x="145" y="15"/>
                    </a:lnTo>
                    <a:lnTo>
                      <a:pt x="142" y="22"/>
                    </a:lnTo>
                    <a:lnTo>
                      <a:pt x="135" y="28"/>
                    </a:lnTo>
                    <a:lnTo>
                      <a:pt x="127" y="34"/>
                    </a:lnTo>
                    <a:lnTo>
                      <a:pt x="120" y="40"/>
                    </a:lnTo>
                    <a:lnTo>
                      <a:pt x="113" y="47"/>
                    </a:lnTo>
                    <a:lnTo>
                      <a:pt x="109" y="55"/>
                    </a:lnTo>
                    <a:lnTo>
                      <a:pt x="102" y="83"/>
                    </a:lnTo>
                    <a:lnTo>
                      <a:pt x="103" y="113"/>
                    </a:lnTo>
                    <a:lnTo>
                      <a:pt x="110" y="141"/>
                    </a:lnTo>
                    <a:lnTo>
                      <a:pt x="122" y="166"/>
                    </a:lnTo>
                    <a:lnTo>
                      <a:pt x="138" y="184"/>
                    </a:lnTo>
                    <a:lnTo>
                      <a:pt x="154" y="201"/>
                    </a:lnTo>
                    <a:lnTo>
                      <a:pt x="173" y="214"/>
                    </a:lnTo>
                    <a:lnTo>
                      <a:pt x="192" y="226"/>
                    </a:lnTo>
                    <a:lnTo>
                      <a:pt x="212" y="235"/>
                    </a:lnTo>
                    <a:lnTo>
                      <a:pt x="232" y="242"/>
                    </a:lnTo>
                    <a:lnTo>
                      <a:pt x="254" y="249"/>
                    </a:lnTo>
                    <a:lnTo>
                      <a:pt x="276" y="255"/>
                    </a:lnTo>
                    <a:lnTo>
                      <a:pt x="298" y="259"/>
                    </a:lnTo>
                    <a:lnTo>
                      <a:pt x="320" y="265"/>
                    </a:lnTo>
                    <a:lnTo>
                      <a:pt x="342" y="271"/>
                    </a:lnTo>
                    <a:lnTo>
                      <a:pt x="364" y="277"/>
                    </a:lnTo>
                    <a:lnTo>
                      <a:pt x="385" y="284"/>
                    </a:lnTo>
                    <a:lnTo>
                      <a:pt x="405" y="293"/>
                    </a:lnTo>
                    <a:lnTo>
                      <a:pt x="425" y="302"/>
                    </a:lnTo>
                    <a:lnTo>
                      <a:pt x="444" y="315"/>
                    </a:lnTo>
                    <a:lnTo>
                      <a:pt x="459" y="317"/>
                    </a:lnTo>
                    <a:lnTo>
                      <a:pt x="474" y="322"/>
                    </a:lnTo>
                    <a:lnTo>
                      <a:pt x="488" y="328"/>
                    </a:lnTo>
                    <a:lnTo>
                      <a:pt x="501" y="337"/>
                    </a:lnTo>
                    <a:lnTo>
                      <a:pt x="512" y="347"/>
                    </a:lnTo>
                    <a:lnTo>
                      <a:pt x="523" y="358"/>
                    </a:lnTo>
                    <a:lnTo>
                      <a:pt x="531" y="370"/>
                    </a:lnTo>
                    <a:lnTo>
                      <a:pt x="539" y="384"/>
                    </a:lnTo>
                    <a:lnTo>
                      <a:pt x="541" y="396"/>
                    </a:lnTo>
                    <a:lnTo>
                      <a:pt x="540" y="410"/>
                    </a:lnTo>
                    <a:lnTo>
                      <a:pt x="534" y="421"/>
                    </a:lnTo>
                    <a:lnTo>
                      <a:pt x="524" y="430"/>
                    </a:lnTo>
                    <a:lnTo>
                      <a:pt x="517" y="430"/>
                    </a:lnTo>
                    <a:lnTo>
                      <a:pt x="510" y="426"/>
                    </a:lnTo>
                    <a:lnTo>
                      <a:pt x="502" y="422"/>
                    </a:lnTo>
                    <a:lnTo>
                      <a:pt x="495" y="417"/>
                    </a:lnTo>
                    <a:lnTo>
                      <a:pt x="488" y="411"/>
                    </a:lnTo>
                    <a:lnTo>
                      <a:pt x="482" y="406"/>
                    </a:lnTo>
                    <a:lnTo>
                      <a:pt x="479" y="402"/>
                    </a:lnTo>
                    <a:lnTo>
                      <a:pt x="478" y="401"/>
                    </a:lnTo>
                    <a:lnTo>
                      <a:pt x="485" y="405"/>
                    </a:lnTo>
                    <a:lnTo>
                      <a:pt x="492" y="409"/>
                    </a:lnTo>
                    <a:lnTo>
                      <a:pt x="497" y="413"/>
                    </a:lnTo>
                    <a:lnTo>
                      <a:pt x="505" y="414"/>
                    </a:lnTo>
                    <a:lnTo>
                      <a:pt x="511" y="409"/>
                    </a:lnTo>
                    <a:lnTo>
                      <a:pt x="515" y="402"/>
                    </a:lnTo>
                    <a:lnTo>
                      <a:pt x="516" y="396"/>
                    </a:lnTo>
                    <a:lnTo>
                      <a:pt x="516" y="388"/>
                    </a:lnTo>
                    <a:lnTo>
                      <a:pt x="508" y="383"/>
                    </a:lnTo>
                    <a:lnTo>
                      <a:pt x="501" y="375"/>
                    </a:lnTo>
                    <a:lnTo>
                      <a:pt x="493" y="368"/>
                    </a:lnTo>
                    <a:lnTo>
                      <a:pt x="484" y="361"/>
                    </a:lnTo>
                    <a:lnTo>
                      <a:pt x="476" y="354"/>
                    </a:lnTo>
                    <a:lnTo>
                      <a:pt x="466" y="349"/>
                    </a:lnTo>
                    <a:lnTo>
                      <a:pt x="456" y="346"/>
                    </a:lnTo>
                    <a:lnTo>
                      <a:pt x="447" y="346"/>
                    </a:lnTo>
                    <a:lnTo>
                      <a:pt x="454" y="368"/>
                    </a:lnTo>
                    <a:lnTo>
                      <a:pt x="457" y="392"/>
                    </a:lnTo>
                    <a:lnTo>
                      <a:pt x="458" y="416"/>
                    </a:lnTo>
                    <a:lnTo>
                      <a:pt x="461" y="440"/>
                    </a:lnTo>
                    <a:lnTo>
                      <a:pt x="463" y="464"/>
                    </a:lnTo>
                    <a:lnTo>
                      <a:pt x="469" y="487"/>
                    </a:lnTo>
                    <a:lnTo>
                      <a:pt x="480" y="509"/>
                    </a:lnTo>
                    <a:lnTo>
                      <a:pt x="496" y="529"/>
                    </a:lnTo>
                    <a:lnTo>
                      <a:pt x="510" y="544"/>
                    </a:lnTo>
                    <a:lnTo>
                      <a:pt x="524" y="560"/>
                    </a:lnTo>
                    <a:lnTo>
                      <a:pt x="539" y="575"/>
                    </a:lnTo>
                    <a:lnTo>
                      <a:pt x="556" y="589"/>
                    </a:lnTo>
                    <a:lnTo>
                      <a:pt x="573" y="600"/>
                    </a:lnTo>
                    <a:lnTo>
                      <a:pt x="592" y="608"/>
                    </a:lnTo>
                    <a:lnTo>
                      <a:pt x="611" y="612"/>
                    </a:lnTo>
                    <a:lnTo>
                      <a:pt x="633" y="611"/>
                    </a:lnTo>
                    <a:lnTo>
                      <a:pt x="637" y="607"/>
                    </a:lnTo>
                    <a:lnTo>
                      <a:pt x="641" y="604"/>
                    </a:lnTo>
                    <a:lnTo>
                      <a:pt x="646" y="602"/>
                    </a:lnTo>
                    <a:lnTo>
                      <a:pt x="649" y="598"/>
                    </a:lnTo>
                    <a:lnTo>
                      <a:pt x="645" y="593"/>
                    </a:lnTo>
                    <a:lnTo>
                      <a:pt x="639" y="591"/>
                    </a:lnTo>
                    <a:lnTo>
                      <a:pt x="634" y="589"/>
                    </a:lnTo>
                    <a:lnTo>
                      <a:pt x="633" y="583"/>
                    </a:lnTo>
                    <a:lnTo>
                      <a:pt x="640" y="578"/>
                    </a:lnTo>
                    <a:lnTo>
                      <a:pt x="647" y="576"/>
                    </a:lnTo>
                    <a:lnTo>
                      <a:pt x="656" y="575"/>
                    </a:lnTo>
                    <a:lnTo>
                      <a:pt x="664" y="577"/>
                    </a:lnTo>
                    <a:lnTo>
                      <a:pt x="671" y="584"/>
                    </a:lnTo>
                    <a:lnTo>
                      <a:pt x="675" y="592"/>
                    </a:lnTo>
                    <a:lnTo>
                      <a:pt x="676" y="600"/>
                    </a:lnTo>
                    <a:lnTo>
                      <a:pt x="675" y="608"/>
                    </a:lnTo>
                    <a:lnTo>
                      <a:pt x="674" y="619"/>
                    </a:lnTo>
                    <a:lnTo>
                      <a:pt x="668" y="628"/>
                    </a:lnTo>
                    <a:lnTo>
                      <a:pt x="657" y="636"/>
                    </a:lnTo>
                    <a:lnTo>
                      <a:pt x="645" y="643"/>
                    </a:lnTo>
                    <a:lnTo>
                      <a:pt x="630" y="644"/>
                    </a:lnTo>
                    <a:lnTo>
                      <a:pt x="616" y="643"/>
                    </a:lnTo>
                    <a:lnTo>
                      <a:pt x="602" y="641"/>
                    </a:lnTo>
                    <a:lnTo>
                      <a:pt x="590" y="637"/>
                    </a:lnTo>
                    <a:lnTo>
                      <a:pt x="577" y="631"/>
                    </a:lnTo>
                    <a:lnTo>
                      <a:pt x="565" y="627"/>
                    </a:lnTo>
                    <a:lnTo>
                      <a:pt x="556" y="620"/>
                    </a:lnTo>
                    <a:lnTo>
                      <a:pt x="547" y="614"/>
                    </a:lnTo>
                    <a:lnTo>
                      <a:pt x="554" y="636"/>
                    </a:lnTo>
                    <a:lnTo>
                      <a:pt x="562" y="658"/>
                    </a:lnTo>
                    <a:lnTo>
                      <a:pt x="571" y="679"/>
                    </a:lnTo>
                    <a:lnTo>
                      <a:pt x="581" y="701"/>
                    </a:lnTo>
                    <a:lnTo>
                      <a:pt x="593" y="721"/>
                    </a:lnTo>
                    <a:lnTo>
                      <a:pt x="605" y="743"/>
                    </a:lnTo>
                    <a:lnTo>
                      <a:pt x="617" y="764"/>
                    </a:lnTo>
                    <a:lnTo>
                      <a:pt x="631" y="784"/>
                    </a:lnTo>
                    <a:lnTo>
                      <a:pt x="615" y="831"/>
                    </a:lnTo>
                    <a:close/>
                  </a:path>
                </a:pathLst>
              </a:custGeom>
              <a:solidFill>
                <a:srgbClr val="00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3" name="Freeform 653"/>
              <p:cNvSpPr/>
              <p:nvPr/>
            </p:nvSpPr>
            <p:spPr bwMode="auto">
              <a:xfrm>
                <a:off x="3516" y="2583"/>
                <a:ext cx="130" cy="250"/>
              </a:xfrm>
              <a:custGeom>
                <a:avLst/>
                <a:gdLst>
                  <a:gd name="T0" fmla="*/ 1 w 260"/>
                  <a:gd name="T1" fmla="*/ 0 h 501"/>
                  <a:gd name="T2" fmla="*/ 1 w 260"/>
                  <a:gd name="T3" fmla="*/ 0 h 501"/>
                  <a:gd name="T4" fmla="*/ 1 w 260"/>
                  <a:gd name="T5" fmla="*/ 0 h 501"/>
                  <a:gd name="T6" fmla="*/ 1 w 260"/>
                  <a:gd name="T7" fmla="*/ 0 h 501"/>
                  <a:gd name="T8" fmla="*/ 1 w 260"/>
                  <a:gd name="T9" fmla="*/ 0 h 501"/>
                  <a:gd name="T10" fmla="*/ 1 w 260"/>
                  <a:gd name="T11" fmla="*/ 0 h 501"/>
                  <a:gd name="T12" fmla="*/ 1 w 260"/>
                  <a:gd name="T13" fmla="*/ 0 h 501"/>
                  <a:gd name="T14" fmla="*/ 1 w 260"/>
                  <a:gd name="T15" fmla="*/ 0 h 501"/>
                  <a:gd name="T16" fmla="*/ 1 w 260"/>
                  <a:gd name="T17" fmla="*/ 0 h 501"/>
                  <a:gd name="T18" fmla="*/ 1 w 260"/>
                  <a:gd name="T19" fmla="*/ 0 h 501"/>
                  <a:gd name="T20" fmla="*/ 1 w 260"/>
                  <a:gd name="T21" fmla="*/ 0 h 501"/>
                  <a:gd name="T22" fmla="*/ 1 w 260"/>
                  <a:gd name="T23" fmla="*/ 0 h 501"/>
                  <a:gd name="T24" fmla="*/ 1 w 260"/>
                  <a:gd name="T25" fmla="*/ 0 h 501"/>
                  <a:gd name="T26" fmla="*/ 1 w 260"/>
                  <a:gd name="T27" fmla="*/ 0 h 501"/>
                  <a:gd name="T28" fmla="*/ 1 w 260"/>
                  <a:gd name="T29" fmla="*/ 0 h 501"/>
                  <a:gd name="T30" fmla="*/ 1 w 260"/>
                  <a:gd name="T31" fmla="*/ 0 h 501"/>
                  <a:gd name="T32" fmla="*/ 1 w 260"/>
                  <a:gd name="T33" fmla="*/ 0 h 501"/>
                  <a:gd name="T34" fmla="*/ 1 w 260"/>
                  <a:gd name="T35" fmla="*/ 0 h 501"/>
                  <a:gd name="T36" fmla="*/ 1 w 260"/>
                  <a:gd name="T37" fmla="*/ 0 h 501"/>
                  <a:gd name="T38" fmla="*/ 1 w 260"/>
                  <a:gd name="T39" fmla="*/ 0 h 501"/>
                  <a:gd name="T40" fmla="*/ 1 w 260"/>
                  <a:gd name="T41" fmla="*/ 0 h 501"/>
                  <a:gd name="T42" fmla="*/ 1 w 260"/>
                  <a:gd name="T43" fmla="*/ 0 h 501"/>
                  <a:gd name="T44" fmla="*/ 1 w 260"/>
                  <a:gd name="T45" fmla="*/ 0 h 501"/>
                  <a:gd name="T46" fmla="*/ 1 w 260"/>
                  <a:gd name="T47" fmla="*/ 0 h 501"/>
                  <a:gd name="T48" fmla="*/ 1 w 260"/>
                  <a:gd name="T49" fmla="*/ 0 h 501"/>
                  <a:gd name="T50" fmla="*/ 1 w 260"/>
                  <a:gd name="T51" fmla="*/ 0 h 501"/>
                  <a:gd name="T52" fmla="*/ 1 w 260"/>
                  <a:gd name="T53" fmla="*/ 0 h 501"/>
                  <a:gd name="T54" fmla="*/ 1 w 260"/>
                  <a:gd name="T55" fmla="*/ 0 h 501"/>
                  <a:gd name="T56" fmla="*/ 1 w 260"/>
                  <a:gd name="T57" fmla="*/ 0 h 501"/>
                  <a:gd name="T58" fmla="*/ 1 w 260"/>
                  <a:gd name="T59" fmla="*/ 0 h 501"/>
                  <a:gd name="T60" fmla="*/ 1 w 260"/>
                  <a:gd name="T61" fmla="*/ 0 h 501"/>
                  <a:gd name="T62" fmla="*/ 1 w 260"/>
                  <a:gd name="T63" fmla="*/ 0 h 50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60"/>
                  <a:gd name="T97" fmla="*/ 0 h 501"/>
                  <a:gd name="T98" fmla="*/ 260 w 260"/>
                  <a:gd name="T99" fmla="*/ 501 h 50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60" h="501">
                    <a:moveTo>
                      <a:pt x="232" y="111"/>
                    </a:moveTo>
                    <a:lnTo>
                      <a:pt x="248" y="153"/>
                    </a:lnTo>
                    <a:lnTo>
                      <a:pt x="257" y="198"/>
                    </a:lnTo>
                    <a:lnTo>
                      <a:pt x="260" y="246"/>
                    </a:lnTo>
                    <a:lnTo>
                      <a:pt x="258" y="293"/>
                    </a:lnTo>
                    <a:lnTo>
                      <a:pt x="249" y="339"/>
                    </a:lnTo>
                    <a:lnTo>
                      <a:pt x="234" y="384"/>
                    </a:lnTo>
                    <a:lnTo>
                      <a:pt x="213" y="424"/>
                    </a:lnTo>
                    <a:lnTo>
                      <a:pt x="186" y="461"/>
                    </a:lnTo>
                    <a:lnTo>
                      <a:pt x="175" y="470"/>
                    </a:lnTo>
                    <a:lnTo>
                      <a:pt x="160" y="478"/>
                    </a:lnTo>
                    <a:lnTo>
                      <a:pt x="144" y="486"/>
                    </a:lnTo>
                    <a:lnTo>
                      <a:pt x="127" y="493"/>
                    </a:lnTo>
                    <a:lnTo>
                      <a:pt x="111" y="498"/>
                    </a:lnTo>
                    <a:lnTo>
                      <a:pt x="97" y="501"/>
                    </a:lnTo>
                    <a:lnTo>
                      <a:pt x="87" y="501"/>
                    </a:lnTo>
                    <a:lnTo>
                      <a:pt x="82" y="499"/>
                    </a:lnTo>
                    <a:lnTo>
                      <a:pt x="87" y="493"/>
                    </a:lnTo>
                    <a:lnTo>
                      <a:pt x="96" y="485"/>
                    </a:lnTo>
                    <a:lnTo>
                      <a:pt x="108" y="475"/>
                    </a:lnTo>
                    <a:lnTo>
                      <a:pt x="123" y="464"/>
                    </a:lnTo>
                    <a:lnTo>
                      <a:pt x="140" y="453"/>
                    </a:lnTo>
                    <a:lnTo>
                      <a:pt x="154" y="441"/>
                    </a:lnTo>
                    <a:lnTo>
                      <a:pt x="167" y="430"/>
                    </a:lnTo>
                    <a:lnTo>
                      <a:pt x="175" y="421"/>
                    </a:lnTo>
                    <a:lnTo>
                      <a:pt x="188" y="388"/>
                    </a:lnTo>
                    <a:lnTo>
                      <a:pt x="198" y="355"/>
                    </a:lnTo>
                    <a:lnTo>
                      <a:pt x="205" y="319"/>
                    </a:lnTo>
                    <a:lnTo>
                      <a:pt x="210" y="284"/>
                    </a:lnTo>
                    <a:lnTo>
                      <a:pt x="212" y="247"/>
                    </a:lnTo>
                    <a:lnTo>
                      <a:pt x="210" y="210"/>
                    </a:lnTo>
                    <a:lnTo>
                      <a:pt x="206" y="174"/>
                    </a:lnTo>
                    <a:lnTo>
                      <a:pt x="198" y="140"/>
                    </a:lnTo>
                    <a:lnTo>
                      <a:pt x="196" y="130"/>
                    </a:lnTo>
                    <a:lnTo>
                      <a:pt x="194" y="120"/>
                    </a:lnTo>
                    <a:lnTo>
                      <a:pt x="190" y="111"/>
                    </a:lnTo>
                    <a:lnTo>
                      <a:pt x="186" y="103"/>
                    </a:lnTo>
                    <a:lnTo>
                      <a:pt x="181" y="93"/>
                    </a:lnTo>
                    <a:lnTo>
                      <a:pt x="175" y="85"/>
                    </a:lnTo>
                    <a:lnTo>
                      <a:pt x="169" y="78"/>
                    </a:lnTo>
                    <a:lnTo>
                      <a:pt x="163" y="70"/>
                    </a:lnTo>
                    <a:lnTo>
                      <a:pt x="140" y="53"/>
                    </a:lnTo>
                    <a:lnTo>
                      <a:pt x="114" y="40"/>
                    </a:lnTo>
                    <a:lnTo>
                      <a:pt x="87" y="32"/>
                    </a:lnTo>
                    <a:lnTo>
                      <a:pt x="61" y="27"/>
                    </a:lnTo>
                    <a:lnTo>
                      <a:pt x="37" y="24"/>
                    </a:lnTo>
                    <a:lnTo>
                      <a:pt x="17" y="24"/>
                    </a:lnTo>
                    <a:lnTo>
                      <a:pt x="5" y="24"/>
                    </a:lnTo>
                    <a:lnTo>
                      <a:pt x="0" y="24"/>
                    </a:lnTo>
                    <a:lnTo>
                      <a:pt x="16" y="13"/>
                    </a:lnTo>
                    <a:lnTo>
                      <a:pt x="34" y="6"/>
                    </a:lnTo>
                    <a:lnTo>
                      <a:pt x="53" y="1"/>
                    </a:lnTo>
                    <a:lnTo>
                      <a:pt x="73" y="0"/>
                    </a:lnTo>
                    <a:lnTo>
                      <a:pt x="92" y="2"/>
                    </a:lnTo>
                    <a:lnTo>
                      <a:pt x="112" y="6"/>
                    </a:lnTo>
                    <a:lnTo>
                      <a:pt x="130" y="12"/>
                    </a:lnTo>
                    <a:lnTo>
                      <a:pt x="148" y="19"/>
                    </a:lnTo>
                    <a:lnTo>
                      <a:pt x="160" y="28"/>
                    </a:lnTo>
                    <a:lnTo>
                      <a:pt x="173" y="37"/>
                    </a:lnTo>
                    <a:lnTo>
                      <a:pt x="184" y="47"/>
                    </a:lnTo>
                    <a:lnTo>
                      <a:pt x="196" y="59"/>
                    </a:lnTo>
                    <a:lnTo>
                      <a:pt x="206" y="72"/>
                    </a:lnTo>
                    <a:lnTo>
                      <a:pt x="216" y="84"/>
                    </a:lnTo>
                    <a:lnTo>
                      <a:pt x="225" y="97"/>
                    </a:lnTo>
                    <a:lnTo>
                      <a:pt x="232" y="111"/>
                    </a:lnTo>
                    <a:close/>
                  </a:path>
                </a:pathLst>
              </a:custGeom>
              <a:solidFill>
                <a:srgbClr val="00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4" name="Freeform 654"/>
              <p:cNvSpPr/>
              <p:nvPr/>
            </p:nvSpPr>
            <p:spPr bwMode="auto">
              <a:xfrm>
                <a:off x="3461" y="2608"/>
                <a:ext cx="117" cy="218"/>
              </a:xfrm>
              <a:custGeom>
                <a:avLst/>
                <a:gdLst>
                  <a:gd name="T0" fmla="*/ 1 w 233"/>
                  <a:gd name="T1" fmla="*/ 1 h 434"/>
                  <a:gd name="T2" fmla="*/ 1 w 233"/>
                  <a:gd name="T3" fmla="*/ 1 h 434"/>
                  <a:gd name="T4" fmla="*/ 1 w 233"/>
                  <a:gd name="T5" fmla="*/ 1 h 434"/>
                  <a:gd name="T6" fmla="*/ 1 w 233"/>
                  <a:gd name="T7" fmla="*/ 1 h 434"/>
                  <a:gd name="T8" fmla="*/ 1 w 233"/>
                  <a:gd name="T9" fmla="*/ 1 h 434"/>
                  <a:gd name="T10" fmla="*/ 1 w 233"/>
                  <a:gd name="T11" fmla="*/ 1 h 434"/>
                  <a:gd name="T12" fmla="*/ 1 w 233"/>
                  <a:gd name="T13" fmla="*/ 1 h 434"/>
                  <a:gd name="T14" fmla="*/ 1 w 233"/>
                  <a:gd name="T15" fmla="*/ 1 h 434"/>
                  <a:gd name="T16" fmla="*/ 1 w 233"/>
                  <a:gd name="T17" fmla="*/ 1 h 434"/>
                  <a:gd name="T18" fmla="*/ 1 w 233"/>
                  <a:gd name="T19" fmla="*/ 1 h 434"/>
                  <a:gd name="T20" fmla="*/ 1 w 233"/>
                  <a:gd name="T21" fmla="*/ 1 h 434"/>
                  <a:gd name="T22" fmla="*/ 1 w 233"/>
                  <a:gd name="T23" fmla="*/ 1 h 434"/>
                  <a:gd name="T24" fmla="*/ 1 w 233"/>
                  <a:gd name="T25" fmla="*/ 1 h 434"/>
                  <a:gd name="T26" fmla="*/ 1 w 233"/>
                  <a:gd name="T27" fmla="*/ 1 h 434"/>
                  <a:gd name="T28" fmla="*/ 1 w 233"/>
                  <a:gd name="T29" fmla="*/ 1 h 434"/>
                  <a:gd name="T30" fmla="*/ 1 w 233"/>
                  <a:gd name="T31" fmla="*/ 1 h 434"/>
                  <a:gd name="T32" fmla="*/ 1 w 233"/>
                  <a:gd name="T33" fmla="*/ 1 h 434"/>
                  <a:gd name="T34" fmla="*/ 1 w 233"/>
                  <a:gd name="T35" fmla="*/ 1 h 434"/>
                  <a:gd name="T36" fmla="*/ 1 w 233"/>
                  <a:gd name="T37" fmla="*/ 1 h 434"/>
                  <a:gd name="T38" fmla="*/ 1 w 233"/>
                  <a:gd name="T39" fmla="*/ 1 h 434"/>
                  <a:gd name="T40" fmla="*/ 1 w 233"/>
                  <a:gd name="T41" fmla="*/ 1 h 434"/>
                  <a:gd name="T42" fmla="*/ 1 w 233"/>
                  <a:gd name="T43" fmla="*/ 1 h 434"/>
                  <a:gd name="T44" fmla="*/ 1 w 233"/>
                  <a:gd name="T45" fmla="*/ 1 h 434"/>
                  <a:gd name="T46" fmla="*/ 1 w 233"/>
                  <a:gd name="T47" fmla="*/ 1 h 434"/>
                  <a:gd name="T48" fmla="*/ 1 w 233"/>
                  <a:gd name="T49" fmla="*/ 1 h 434"/>
                  <a:gd name="T50" fmla="*/ 1 w 233"/>
                  <a:gd name="T51" fmla="*/ 1 h 434"/>
                  <a:gd name="T52" fmla="*/ 1 w 233"/>
                  <a:gd name="T53" fmla="*/ 1 h 434"/>
                  <a:gd name="T54" fmla="*/ 1 w 233"/>
                  <a:gd name="T55" fmla="*/ 1 h 434"/>
                  <a:gd name="T56" fmla="*/ 1 w 233"/>
                  <a:gd name="T57" fmla="*/ 1 h 434"/>
                  <a:gd name="T58" fmla="*/ 1 w 233"/>
                  <a:gd name="T59" fmla="*/ 1 h 434"/>
                  <a:gd name="T60" fmla="*/ 1 w 233"/>
                  <a:gd name="T61" fmla="*/ 1 h 434"/>
                  <a:gd name="T62" fmla="*/ 1 w 233"/>
                  <a:gd name="T63" fmla="*/ 1 h 434"/>
                  <a:gd name="T64" fmla="*/ 1 w 233"/>
                  <a:gd name="T65" fmla="*/ 1 h 434"/>
                  <a:gd name="T66" fmla="*/ 1 w 233"/>
                  <a:gd name="T67" fmla="*/ 1 h 434"/>
                  <a:gd name="T68" fmla="*/ 1 w 233"/>
                  <a:gd name="T69" fmla="*/ 1 h 434"/>
                  <a:gd name="T70" fmla="*/ 1 w 233"/>
                  <a:gd name="T71" fmla="*/ 1 h 434"/>
                  <a:gd name="T72" fmla="*/ 1 w 233"/>
                  <a:gd name="T73" fmla="*/ 1 h 434"/>
                  <a:gd name="T74" fmla="*/ 1 w 233"/>
                  <a:gd name="T75" fmla="*/ 1 h 434"/>
                  <a:gd name="T76" fmla="*/ 1 w 233"/>
                  <a:gd name="T77" fmla="*/ 1 h 434"/>
                  <a:gd name="T78" fmla="*/ 1 w 233"/>
                  <a:gd name="T79" fmla="*/ 1 h 434"/>
                  <a:gd name="T80" fmla="*/ 1 w 233"/>
                  <a:gd name="T81" fmla="*/ 1 h 434"/>
                  <a:gd name="T82" fmla="*/ 1 w 233"/>
                  <a:gd name="T83" fmla="*/ 1 h 434"/>
                  <a:gd name="T84" fmla="*/ 1 w 233"/>
                  <a:gd name="T85" fmla="*/ 1 h 4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3"/>
                  <a:gd name="T130" fmla="*/ 0 h 434"/>
                  <a:gd name="T131" fmla="*/ 233 w 233"/>
                  <a:gd name="T132" fmla="*/ 434 h 4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3" h="434">
                    <a:moveTo>
                      <a:pt x="133" y="147"/>
                    </a:moveTo>
                    <a:lnTo>
                      <a:pt x="137" y="164"/>
                    </a:lnTo>
                    <a:lnTo>
                      <a:pt x="137" y="180"/>
                    </a:lnTo>
                    <a:lnTo>
                      <a:pt x="135" y="196"/>
                    </a:lnTo>
                    <a:lnTo>
                      <a:pt x="130" y="211"/>
                    </a:lnTo>
                    <a:lnTo>
                      <a:pt x="122" y="226"/>
                    </a:lnTo>
                    <a:lnTo>
                      <a:pt x="114" y="240"/>
                    </a:lnTo>
                    <a:lnTo>
                      <a:pt x="104" y="253"/>
                    </a:lnTo>
                    <a:lnTo>
                      <a:pt x="92" y="266"/>
                    </a:lnTo>
                    <a:lnTo>
                      <a:pt x="86" y="270"/>
                    </a:lnTo>
                    <a:lnTo>
                      <a:pt x="79" y="272"/>
                    </a:lnTo>
                    <a:lnTo>
                      <a:pt x="74" y="274"/>
                    </a:lnTo>
                    <a:lnTo>
                      <a:pt x="67" y="275"/>
                    </a:lnTo>
                    <a:lnTo>
                      <a:pt x="60" y="275"/>
                    </a:lnTo>
                    <a:lnTo>
                      <a:pt x="52" y="275"/>
                    </a:lnTo>
                    <a:lnTo>
                      <a:pt x="41" y="275"/>
                    </a:lnTo>
                    <a:lnTo>
                      <a:pt x="31" y="273"/>
                    </a:lnTo>
                    <a:lnTo>
                      <a:pt x="36" y="279"/>
                    </a:lnTo>
                    <a:lnTo>
                      <a:pt x="40" y="283"/>
                    </a:lnTo>
                    <a:lnTo>
                      <a:pt x="46" y="288"/>
                    </a:lnTo>
                    <a:lnTo>
                      <a:pt x="52" y="291"/>
                    </a:lnTo>
                    <a:lnTo>
                      <a:pt x="59" y="295"/>
                    </a:lnTo>
                    <a:lnTo>
                      <a:pt x="66" y="297"/>
                    </a:lnTo>
                    <a:lnTo>
                      <a:pt x="72" y="298"/>
                    </a:lnTo>
                    <a:lnTo>
                      <a:pt x="79" y="300"/>
                    </a:lnTo>
                    <a:lnTo>
                      <a:pt x="87" y="298"/>
                    </a:lnTo>
                    <a:lnTo>
                      <a:pt x="97" y="296"/>
                    </a:lnTo>
                    <a:lnTo>
                      <a:pt x="107" y="295"/>
                    </a:lnTo>
                    <a:lnTo>
                      <a:pt x="117" y="295"/>
                    </a:lnTo>
                    <a:lnTo>
                      <a:pt x="128" y="295"/>
                    </a:lnTo>
                    <a:lnTo>
                      <a:pt x="136" y="295"/>
                    </a:lnTo>
                    <a:lnTo>
                      <a:pt x="143" y="297"/>
                    </a:lnTo>
                    <a:lnTo>
                      <a:pt x="146" y="300"/>
                    </a:lnTo>
                    <a:lnTo>
                      <a:pt x="146" y="316"/>
                    </a:lnTo>
                    <a:lnTo>
                      <a:pt x="144" y="329"/>
                    </a:lnTo>
                    <a:lnTo>
                      <a:pt x="139" y="343"/>
                    </a:lnTo>
                    <a:lnTo>
                      <a:pt x="131" y="356"/>
                    </a:lnTo>
                    <a:lnTo>
                      <a:pt x="122" y="369"/>
                    </a:lnTo>
                    <a:lnTo>
                      <a:pt x="112" y="379"/>
                    </a:lnTo>
                    <a:lnTo>
                      <a:pt x="101" y="388"/>
                    </a:lnTo>
                    <a:lnTo>
                      <a:pt x="90" y="396"/>
                    </a:lnTo>
                    <a:lnTo>
                      <a:pt x="99" y="400"/>
                    </a:lnTo>
                    <a:lnTo>
                      <a:pt x="109" y="401"/>
                    </a:lnTo>
                    <a:lnTo>
                      <a:pt x="120" y="401"/>
                    </a:lnTo>
                    <a:lnTo>
                      <a:pt x="129" y="400"/>
                    </a:lnTo>
                    <a:lnTo>
                      <a:pt x="139" y="397"/>
                    </a:lnTo>
                    <a:lnTo>
                      <a:pt x="148" y="394"/>
                    </a:lnTo>
                    <a:lnTo>
                      <a:pt x="158" y="389"/>
                    </a:lnTo>
                    <a:lnTo>
                      <a:pt x="166" y="385"/>
                    </a:lnTo>
                    <a:lnTo>
                      <a:pt x="174" y="379"/>
                    </a:lnTo>
                    <a:lnTo>
                      <a:pt x="180" y="372"/>
                    </a:lnTo>
                    <a:lnTo>
                      <a:pt x="186" y="364"/>
                    </a:lnTo>
                    <a:lnTo>
                      <a:pt x="192" y="356"/>
                    </a:lnTo>
                    <a:lnTo>
                      <a:pt x="199" y="348"/>
                    </a:lnTo>
                    <a:lnTo>
                      <a:pt x="206" y="340"/>
                    </a:lnTo>
                    <a:lnTo>
                      <a:pt x="214" y="334"/>
                    </a:lnTo>
                    <a:lnTo>
                      <a:pt x="224" y="329"/>
                    </a:lnTo>
                    <a:lnTo>
                      <a:pt x="229" y="339"/>
                    </a:lnTo>
                    <a:lnTo>
                      <a:pt x="233" y="349"/>
                    </a:lnTo>
                    <a:lnTo>
                      <a:pt x="233" y="358"/>
                    </a:lnTo>
                    <a:lnTo>
                      <a:pt x="230" y="369"/>
                    </a:lnTo>
                    <a:lnTo>
                      <a:pt x="220" y="385"/>
                    </a:lnTo>
                    <a:lnTo>
                      <a:pt x="207" y="397"/>
                    </a:lnTo>
                    <a:lnTo>
                      <a:pt x="193" y="408"/>
                    </a:lnTo>
                    <a:lnTo>
                      <a:pt x="178" y="416"/>
                    </a:lnTo>
                    <a:lnTo>
                      <a:pt x="161" y="423"/>
                    </a:lnTo>
                    <a:lnTo>
                      <a:pt x="144" y="427"/>
                    </a:lnTo>
                    <a:lnTo>
                      <a:pt x="127" y="431"/>
                    </a:lnTo>
                    <a:lnTo>
                      <a:pt x="109" y="434"/>
                    </a:lnTo>
                    <a:lnTo>
                      <a:pt x="101" y="431"/>
                    </a:lnTo>
                    <a:lnTo>
                      <a:pt x="93" y="427"/>
                    </a:lnTo>
                    <a:lnTo>
                      <a:pt x="85" y="424"/>
                    </a:lnTo>
                    <a:lnTo>
                      <a:pt x="76" y="420"/>
                    </a:lnTo>
                    <a:lnTo>
                      <a:pt x="68" y="417"/>
                    </a:lnTo>
                    <a:lnTo>
                      <a:pt x="60" y="411"/>
                    </a:lnTo>
                    <a:lnTo>
                      <a:pt x="53" y="406"/>
                    </a:lnTo>
                    <a:lnTo>
                      <a:pt x="46" y="397"/>
                    </a:lnTo>
                    <a:lnTo>
                      <a:pt x="48" y="393"/>
                    </a:lnTo>
                    <a:lnTo>
                      <a:pt x="52" y="391"/>
                    </a:lnTo>
                    <a:lnTo>
                      <a:pt x="56" y="388"/>
                    </a:lnTo>
                    <a:lnTo>
                      <a:pt x="61" y="387"/>
                    </a:lnTo>
                    <a:lnTo>
                      <a:pt x="67" y="386"/>
                    </a:lnTo>
                    <a:lnTo>
                      <a:pt x="72" y="385"/>
                    </a:lnTo>
                    <a:lnTo>
                      <a:pt x="77" y="384"/>
                    </a:lnTo>
                    <a:lnTo>
                      <a:pt x="82" y="381"/>
                    </a:lnTo>
                    <a:lnTo>
                      <a:pt x="93" y="370"/>
                    </a:lnTo>
                    <a:lnTo>
                      <a:pt x="104" y="358"/>
                    </a:lnTo>
                    <a:lnTo>
                      <a:pt x="112" y="346"/>
                    </a:lnTo>
                    <a:lnTo>
                      <a:pt x="115" y="332"/>
                    </a:lnTo>
                    <a:lnTo>
                      <a:pt x="104" y="335"/>
                    </a:lnTo>
                    <a:lnTo>
                      <a:pt x="91" y="335"/>
                    </a:lnTo>
                    <a:lnTo>
                      <a:pt x="79" y="334"/>
                    </a:lnTo>
                    <a:lnTo>
                      <a:pt x="68" y="329"/>
                    </a:lnTo>
                    <a:lnTo>
                      <a:pt x="56" y="325"/>
                    </a:lnTo>
                    <a:lnTo>
                      <a:pt x="45" y="318"/>
                    </a:lnTo>
                    <a:lnTo>
                      <a:pt x="34" y="310"/>
                    </a:lnTo>
                    <a:lnTo>
                      <a:pt x="24" y="301"/>
                    </a:lnTo>
                    <a:lnTo>
                      <a:pt x="10" y="282"/>
                    </a:lnTo>
                    <a:lnTo>
                      <a:pt x="2" y="260"/>
                    </a:lnTo>
                    <a:lnTo>
                      <a:pt x="0" y="237"/>
                    </a:lnTo>
                    <a:lnTo>
                      <a:pt x="6" y="215"/>
                    </a:lnTo>
                    <a:lnTo>
                      <a:pt x="13" y="218"/>
                    </a:lnTo>
                    <a:lnTo>
                      <a:pt x="16" y="223"/>
                    </a:lnTo>
                    <a:lnTo>
                      <a:pt x="18" y="230"/>
                    </a:lnTo>
                    <a:lnTo>
                      <a:pt x="21" y="238"/>
                    </a:lnTo>
                    <a:lnTo>
                      <a:pt x="23" y="245"/>
                    </a:lnTo>
                    <a:lnTo>
                      <a:pt x="28" y="252"/>
                    </a:lnTo>
                    <a:lnTo>
                      <a:pt x="33" y="256"/>
                    </a:lnTo>
                    <a:lnTo>
                      <a:pt x="44" y="257"/>
                    </a:lnTo>
                    <a:lnTo>
                      <a:pt x="48" y="257"/>
                    </a:lnTo>
                    <a:lnTo>
                      <a:pt x="53" y="257"/>
                    </a:lnTo>
                    <a:lnTo>
                      <a:pt x="57" y="257"/>
                    </a:lnTo>
                    <a:lnTo>
                      <a:pt x="63" y="257"/>
                    </a:lnTo>
                    <a:lnTo>
                      <a:pt x="68" y="256"/>
                    </a:lnTo>
                    <a:lnTo>
                      <a:pt x="74" y="253"/>
                    </a:lnTo>
                    <a:lnTo>
                      <a:pt x="78" y="251"/>
                    </a:lnTo>
                    <a:lnTo>
                      <a:pt x="82" y="248"/>
                    </a:lnTo>
                    <a:lnTo>
                      <a:pt x="97" y="215"/>
                    </a:lnTo>
                    <a:lnTo>
                      <a:pt x="97" y="182"/>
                    </a:lnTo>
                    <a:lnTo>
                      <a:pt x="87" y="149"/>
                    </a:lnTo>
                    <a:lnTo>
                      <a:pt x="75" y="114"/>
                    </a:lnTo>
                    <a:lnTo>
                      <a:pt x="66" y="82"/>
                    </a:lnTo>
                    <a:lnTo>
                      <a:pt x="66" y="51"/>
                    </a:lnTo>
                    <a:lnTo>
                      <a:pt x="79" y="23"/>
                    </a:lnTo>
                    <a:lnTo>
                      <a:pt x="115" y="0"/>
                    </a:lnTo>
                    <a:lnTo>
                      <a:pt x="117" y="16"/>
                    </a:lnTo>
                    <a:lnTo>
                      <a:pt x="122" y="56"/>
                    </a:lnTo>
                    <a:lnTo>
                      <a:pt x="128" y="105"/>
                    </a:lnTo>
                    <a:lnTo>
                      <a:pt x="133" y="147"/>
                    </a:lnTo>
                    <a:close/>
                  </a:path>
                </a:pathLst>
              </a:custGeom>
              <a:solidFill>
                <a:srgbClr val="00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grpSp>
        <p:sp>
          <p:nvSpPr>
            <p:cNvPr id="128" name="Freeform 655"/>
            <p:cNvSpPr/>
            <p:nvPr/>
          </p:nvSpPr>
          <p:spPr bwMode="auto">
            <a:xfrm rot="462940">
              <a:off x="3540" y="2688"/>
              <a:ext cx="48" cy="240"/>
            </a:xfrm>
            <a:custGeom>
              <a:avLst/>
              <a:gdLst>
                <a:gd name="T0" fmla="*/ 0 w 144"/>
                <a:gd name="T1" fmla="*/ 0 h 624"/>
                <a:gd name="T2" fmla="*/ 0 w 144"/>
                <a:gd name="T3" fmla="*/ 0 h 624"/>
                <a:gd name="T4" fmla="*/ 0 w 144"/>
                <a:gd name="T5" fmla="*/ 0 h 624"/>
                <a:gd name="T6" fmla="*/ 0 w 144"/>
                <a:gd name="T7" fmla="*/ 0 h 624"/>
                <a:gd name="T8" fmla="*/ 0 w 144"/>
                <a:gd name="T9" fmla="*/ 0 h 624"/>
                <a:gd name="T10" fmla="*/ 0 w 144"/>
                <a:gd name="T11" fmla="*/ 0 h 624"/>
                <a:gd name="T12" fmla="*/ 0 w 144"/>
                <a:gd name="T13" fmla="*/ 0 h 624"/>
                <a:gd name="T14" fmla="*/ 0 w 144"/>
                <a:gd name="T15" fmla="*/ 0 h 624"/>
                <a:gd name="T16" fmla="*/ 0 w 144"/>
                <a:gd name="T17" fmla="*/ 0 h 624"/>
                <a:gd name="T18" fmla="*/ 0 w 144"/>
                <a:gd name="T19" fmla="*/ 0 h 6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4"/>
                <a:gd name="T31" fmla="*/ 0 h 624"/>
                <a:gd name="T32" fmla="*/ 144 w 144"/>
                <a:gd name="T33" fmla="*/ 624 h 6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4" h="624">
                  <a:moveTo>
                    <a:pt x="48" y="48"/>
                  </a:moveTo>
                  <a:lnTo>
                    <a:pt x="96" y="144"/>
                  </a:lnTo>
                  <a:lnTo>
                    <a:pt x="144" y="288"/>
                  </a:lnTo>
                  <a:lnTo>
                    <a:pt x="144" y="480"/>
                  </a:lnTo>
                  <a:lnTo>
                    <a:pt x="96" y="624"/>
                  </a:lnTo>
                  <a:lnTo>
                    <a:pt x="0" y="576"/>
                  </a:lnTo>
                  <a:lnTo>
                    <a:pt x="48" y="432"/>
                  </a:lnTo>
                  <a:lnTo>
                    <a:pt x="48" y="240"/>
                  </a:lnTo>
                  <a:lnTo>
                    <a:pt x="0" y="0"/>
                  </a:lnTo>
                  <a:lnTo>
                    <a:pt x="48" y="48"/>
                  </a:lnTo>
                  <a:close/>
                </a:path>
              </a:pathLst>
            </a:custGeom>
            <a:solidFill>
              <a:schemeClr val="tx1"/>
            </a:solidFill>
            <a:ln w="38100">
              <a:solidFill>
                <a:schemeClr val="tx1"/>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grpSp>
      <p:sp>
        <p:nvSpPr>
          <p:cNvPr id="135" name="Text Box 73"/>
          <p:cNvSpPr txBox="1">
            <a:spLocks noChangeArrowheads="1"/>
          </p:cNvSpPr>
          <p:nvPr/>
        </p:nvSpPr>
        <p:spPr bwMode="auto">
          <a:xfrm>
            <a:off x="7371142" y="2543176"/>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信件</a:t>
            </a:r>
            <a:endParaRPr kumimoji="1" lang="zh-CN" altLang="en-US" sz="2000" dirty="0">
              <a:latin typeface="微软雅黑" panose="020B0503020204020204" pitchFamily="34" charset="-122"/>
              <a:ea typeface="微软雅黑" panose="020B0503020204020204" pitchFamily="34" charset="-122"/>
            </a:endParaRPr>
          </a:p>
        </p:txBody>
      </p:sp>
      <p:sp>
        <p:nvSpPr>
          <p:cNvPr id="136" name="Text Box 73"/>
          <p:cNvSpPr txBox="1">
            <a:spLocks noChangeArrowheads="1"/>
          </p:cNvSpPr>
          <p:nvPr/>
        </p:nvSpPr>
        <p:spPr bwMode="auto">
          <a:xfrm>
            <a:off x="6887759" y="1425891"/>
            <a:ext cx="1598295"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传递的信息</a:t>
            </a:r>
            <a:endParaRPr kumimoji="1" lang="zh-CN" altLang="en-US" sz="2000" dirty="0">
              <a:latin typeface="微软雅黑" panose="020B0503020204020204" pitchFamily="34" charset="-122"/>
              <a:ea typeface="微软雅黑" panose="020B0503020204020204" pitchFamily="34" charset="-122"/>
            </a:endParaRPr>
          </a:p>
        </p:txBody>
      </p:sp>
      <p:sp>
        <p:nvSpPr>
          <p:cNvPr id="138" name="Text Box 68"/>
          <p:cNvSpPr txBox="1">
            <a:spLocks noChangeArrowheads="1"/>
          </p:cNvSpPr>
          <p:nvPr/>
        </p:nvSpPr>
        <p:spPr bwMode="auto">
          <a:xfrm>
            <a:off x="10700703" y="3386455"/>
            <a:ext cx="446405"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邮包</a:t>
            </a:r>
            <a:endParaRPr kumimoji="1" lang="zh-CN" altLang="en-US" sz="2000" dirty="0">
              <a:latin typeface="微软雅黑" panose="020B0503020204020204" pitchFamily="34" charset="-122"/>
              <a:ea typeface="微软雅黑" panose="020B0503020204020204" pitchFamily="34" charset="-122"/>
            </a:endParaRPr>
          </a:p>
        </p:txBody>
      </p:sp>
      <p:sp>
        <p:nvSpPr>
          <p:cNvPr id="139" name="Text Box 69"/>
          <p:cNvSpPr txBox="1">
            <a:spLocks noChangeArrowheads="1"/>
          </p:cNvSpPr>
          <p:nvPr/>
        </p:nvSpPr>
        <p:spPr bwMode="auto">
          <a:xfrm>
            <a:off x="10755948" y="4695825"/>
            <a:ext cx="335915"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货物</a:t>
            </a:r>
            <a:endParaRPr kumimoji="1" lang="zh-CN" altLang="en-US" sz="2000" dirty="0">
              <a:latin typeface="微软雅黑" panose="020B0503020204020204" pitchFamily="34" charset="-122"/>
              <a:ea typeface="微软雅黑" panose="020B0503020204020204" pitchFamily="34" charset="-122"/>
            </a:endParaRPr>
          </a:p>
        </p:txBody>
      </p:sp>
      <p:sp>
        <p:nvSpPr>
          <p:cNvPr id="141" name="Text Box 89"/>
          <p:cNvSpPr txBox="1">
            <a:spLocks noChangeArrowheads="1"/>
          </p:cNvSpPr>
          <p:nvPr/>
        </p:nvSpPr>
        <p:spPr bwMode="auto">
          <a:xfrm>
            <a:off x="9876155" y="1548765"/>
            <a:ext cx="1463675" cy="553085"/>
          </a:xfrm>
          <a:prstGeom prst="rect">
            <a:avLst/>
          </a:prstGeom>
          <a:solidFill>
            <a:srgbClr val="7CC43A"/>
          </a:solid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用户</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B</a:t>
            </a:r>
            <a:endPar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42" name="Group 642"/>
          <p:cNvGrpSpPr>
            <a:grpSpLocks noChangeAspect="1"/>
          </p:cNvGrpSpPr>
          <p:nvPr/>
        </p:nvGrpSpPr>
        <p:grpSpPr bwMode="auto">
          <a:xfrm flipH="1">
            <a:off x="11432540" y="1421130"/>
            <a:ext cx="358140" cy="386715"/>
            <a:chOff x="2925" y="527"/>
            <a:chExt cx="113" cy="147"/>
          </a:xfrm>
        </p:grpSpPr>
        <p:sp>
          <p:nvSpPr>
            <p:cNvPr id="143" name="Freeform 643"/>
            <p:cNvSpPr/>
            <p:nvPr/>
          </p:nvSpPr>
          <p:spPr bwMode="auto">
            <a:xfrm>
              <a:off x="2944" y="546"/>
              <a:ext cx="94" cy="128"/>
            </a:xfrm>
            <a:custGeom>
              <a:avLst/>
              <a:gdLst>
                <a:gd name="T0" fmla="*/ 16 w 111"/>
                <a:gd name="T1" fmla="*/ 3 h 149"/>
                <a:gd name="T2" fmla="*/ 16 w 111"/>
                <a:gd name="T3" fmla="*/ 8 h 149"/>
                <a:gd name="T4" fmla="*/ 16 w 111"/>
                <a:gd name="T5" fmla="*/ 9 h 149"/>
                <a:gd name="T6" fmla="*/ 18 w 111"/>
                <a:gd name="T7" fmla="*/ 13 h 149"/>
                <a:gd name="T8" fmla="*/ 18 w 111"/>
                <a:gd name="T9" fmla="*/ 14 h 149"/>
                <a:gd name="T10" fmla="*/ 16 w 111"/>
                <a:gd name="T11" fmla="*/ 14 h 149"/>
                <a:gd name="T12" fmla="*/ 16 w 111"/>
                <a:gd name="T13" fmla="*/ 16 h 149"/>
                <a:gd name="T14" fmla="*/ 15 w 111"/>
                <a:gd name="T15" fmla="*/ 16 h 149"/>
                <a:gd name="T16" fmla="*/ 15 w 111"/>
                <a:gd name="T17" fmla="*/ 17 h 149"/>
                <a:gd name="T18" fmla="*/ 15 w 111"/>
                <a:gd name="T19" fmla="*/ 17 h 149"/>
                <a:gd name="T20" fmla="*/ 15 w 111"/>
                <a:gd name="T21" fmla="*/ 20 h 149"/>
                <a:gd name="T22" fmla="*/ 15 w 111"/>
                <a:gd name="T23" fmla="*/ 21 h 149"/>
                <a:gd name="T24" fmla="*/ 14 w 111"/>
                <a:gd name="T25" fmla="*/ 21 h 149"/>
                <a:gd name="T26" fmla="*/ 12 w 111"/>
                <a:gd name="T27" fmla="*/ 21 h 149"/>
                <a:gd name="T28" fmla="*/ 10 w 111"/>
                <a:gd name="T29" fmla="*/ 25 h 149"/>
                <a:gd name="T30" fmla="*/ 8 w 111"/>
                <a:gd name="T31" fmla="*/ 29 h 149"/>
                <a:gd name="T32" fmla="*/ 0 w 111"/>
                <a:gd name="T33" fmla="*/ 20 h 149"/>
                <a:gd name="T34" fmla="*/ 4 w 111"/>
                <a:gd name="T35" fmla="*/ 0 h 149"/>
                <a:gd name="T36" fmla="*/ 16 w 111"/>
                <a:gd name="T37" fmla="*/ 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1"/>
                <a:gd name="T58" fmla="*/ 0 h 149"/>
                <a:gd name="T59" fmla="*/ 111 w 111"/>
                <a:gd name="T60" fmla="*/ 149 h 14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44" name="Freeform 644"/>
            <p:cNvSpPr/>
            <p:nvPr/>
          </p:nvSpPr>
          <p:spPr bwMode="auto">
            <a:xfrm>
              <a:off x="2944" y="546"/>
              <a:ext cx="94" cy="128"/>
            </a:xfrm>
            <a:custGeom>
              <a:avLst/>
              <a:gdLst>
                <a:gd name="T0" fmla="*/ 16 w 111"/>
                <a:gd name="T1" fmla="*/ 3 h 149"/>
                <a:gd name="T2" fmla="*/ 16 w 111"/>
                <a:gd name="T3" fmla="*/ 8 h 149"/>
                <a:gd name="T4" fmla="*/ 16 w 111"/>
                <a:gd name="T5" fmla="*/ 9 h 149"/>
                <a:gd name="T6" fmla="*/ 18 w 111"/>
                <a:gd name="T7" fmla="*/ 13 h 149"/>
                <a:gd name="T8" fmla="*/ 18 w 111"/>
                <a:gd name="T9" fmla="*/ 14 h 149"/>
                <a:gd name="T10" fmla="*/ 16 w 111"/>
                <a:gd name="T11" fmla="*/ 14 h 149"/>
                <a:gd name="T12" fmla="*/ 16 w 111"/>
                <a:gd name="T13" fmla="*/ 16 h 149"/>
                <a:gd name="T14" fmla="*/ 15 w 111"/>
                <a:gd name="T15" fmla="*/ 16 h 149"/>
                <a:gd name="T16" fmla="*/ 15 w 111"/>
                <a:gd name="T17" fmla="*/ 17 h 149"/>
                <a:gd name="T18" fmla="*/ 15 w 111"/>
                <a:gd name="T19" fmla="*/ 20 h 149"/>
                <a:gd name="T20" fmla="*/ 15 w 111"/>
                <a:gd name="T21" fmla="*/ 21 h 149"/>
                <a:gd name="T22" fmla="*/ 14 w 111"/>
                <a:gd name="T23" fmla="*/ 21 h 149"/>
                <a:gd name="T24" fmla="*/ 12 w 111"/>
                <a:gd name="T25" fmla="*/ 21 h 149"/>
                <a:gd name="T26" fmla="*/ 10 w 111"/>
                <a:gd name="T27" fmla="*/ 25 h 149"/>
                <a:gd name="T28" fmla="*/ 8 w 111"/>
                <a:gd name="T29" fmla="*/ 29 h 149"/>
                <a:gd name="T30" fmla="*/ 0 w 111"/>
                <a:gd name="T31" fmla="*/ 20 h 149"/>
                <a:gd name="T32" fmla="*/ 4 w 111"/>
                <a:gd name="T33" fmla="*/ 0 h 149"/>
                <a:gd name="T34" fmla="*/ 16 w 111"/>
                <a:gd name="T35" fmla="*/ 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1"/>
                <a:gd name="T55" fmla="*/ 0 h 149"/>
                <a:gd name="T56" fmla="*/ 111 w 111"/>
                <a:gd name="T57" fmla="*/ 149 h 1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45" name="Freeform 645"/>
            <p:cNvSpPr/>
            <p:nvPr/>
          </p:nvSpPr>
          <p:spPr bwMode="auto">
            <a:xfrm>
              <a:off x="2925" y="527"/>
              <a:ext cx="113" cy="106"/>
            </a:xfrm>
            <a:custGeom>
              <a:avLst/>
              <a:gdLst>
                <a:gd name="T0" fmla="*/ 13 w 133"/>
                <a:gd name="T1" fmla="*/ 15 h 124"/>
                <a:gd name="T2" fmla="*/ 11 w 133"/>
                <a:gd name="T3" fmla="*/ 17 h 124"/>
                <a:gd name="T4" fmla="*/ 9 w 133"/>
                <a:gd name="T5" fmla="*/ 21 h 124"/>
                <a:gd name="T6" fmla="*/ 5 w 133"/>
                <a:gd name="T7" fmla="*/ 23 h 124"/>
                <a:gd name="T8" fmla="*/ 3 w 133"/>
                <a:gd name="T9" fmla="*/ 21 h 124"/>
                <a:gd name="T10" fmla="*/ 0 w 133"/>
                <a:gd name="T11" fmla="*/ 11 h 124"/>
                <a:gd name="T12" fmla="*/ 0 w 133"/>
                <a:gd name="T13" fmla="*/ 8 h 124"/>
                <a:gd name="T14" fmla="*/ 3 w 133"/>
                <a:gd name="T15" fmla="*/ 3 h 124"/>
                <a:gd name="T16" fmla="*/ 6 w 133"/>
                <a:gd name="T17" fmla="*/ 0 h 124"/>
                <a:gd name="T18" fmla="*/ 12 w 133"/>
                <a:gd name="T19" fmla="*/ 0 h 124"/>
                <a:gd name="T20" fmla="*/ 18 w 133"/>
                <a:gd name="T21" fmla="*/ 3 h 124"/>
                <a:gd name="T22" fmla="*/ 19 w 133"/>
                <a:gd name="T23" fmla="*/ 3 h 124"/>
                <a:gd name="T24" fmla="*/ 22 w 133"/>
                <a:gd name="T25" fmla="*/ 6 h 124"/>
                <a:gd name="T26" fmla="*/ 22 w 133"/>
                <a:gd name="T27" fmla="*/ 8 h 124"/>
                <a:gd name="T28" fmla="*/ 20 w 133"/>
                <a:gd name="T29" fmla="*/ 9 h 124"/>
                <a:gd name="T30" fmla="*/ 18 w 133"/>
                <a:gd name="T31" fmla="*/ 9 h 124"/>
                <a:gd name="T32" fmla="*/ 16 w 133"/>
                <a:gd name="T33" fmla="*/ 11 h 124"/>
                <a:gd name="T34" fmla="*/ 16 w 133"/>
                <a:gd name="T35" fmla="*/ 15 h 124"/>
                <a:gd name="T36" fmla="*/ 14 w 133"/>
                <a:gd name="T37" fmla="*/ 17 h 124"/>
                <a:gd name="T38" fmla="*/ 13 w 133"/>
                <a:gd name="T39" fmla="*/ 15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124"/>
                <a:gd name="T62" fmla="*/ 133 w 133"/>
                <a:gd name="T63" fmla="*/ 124 h 1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46" name="Freeform 646"/>
            <p:cNvSpPr/>
            <p:nvPr/>
          </p:nvSpPr>
          <p:spPr bwMode="auto">
            <a:xfrm>
              <a:off x="2925" y="527"/>
              <a:ext cx="113" cy="106"/>
            </a:xfrm>
            <a:custGeom>
              <a:avLst/>
              <a:gdLst>
                <a:gd name="T0" fmla="*/ 13 w 133"/>
                <a:gd name="T1" fmla="*/ 15 h 124"/>
                <a:gd name="T2" fmla="*/ 11 w 133"/>
                <a:gd name="T3" fmla="*/ 17 h 124"/>
                <a:gd name="T4" fmla="*/ 9 w 133"/>
                <a:gd name="T5" fmla="*/ 21 h 124"/>
                <a:gd name="T6" fmla="*/ 5 w 133"/>
                <a:gd name="T7" fmla="*/ 23 h 124"/>
                <a:gd name="T8" fmla="*/ 3 w 133"/>
                <a:gd name="T9" fmla="*/ 21 h 124"/>
                <a:gd name="T10" fmla="*/ 0 w 133"/>
                <a:gd name="T11" fmla="*/ 11 h 124"/>
                <a:gd name="T12" fmla="*/ 0 w 133"/>
                <a:gd name="T13" fmla="*/ 8 h 124"/>
                <a:gd name="T14" fmla="*/ 3 w 133"/>
                <a:gd name="T15" fmla="*/ 3 h 124"/>
                <a:gd name="T16" fmla="*/ 6 w 133"/>
                <a:gd name="T17" fmla="*/ 0 h 124"/>
                <a:gd name="T18" fmla="*/ 12 w 133"/>
                <a:gd name="T19" fmla="*/ 0 h 124"/>
                <a:gd name="T20" fmla="*/ 18 w 133"/>
                <a:gd name="T21" fmla="*/ 3 h 124"/>
                <a:gd name="T22" fmla="*/ 19 w 133"/>
                <a:gd name="T23" fmla="*/ 3 h 124"/>
                <a:gd name="T24" fmla="*/ 22 w 133"/>
                <a:gd name="T25" fmla="*/ 6 h 124"/>
                <a:gd name="T26" fmla="*/ 22 w 133"/>
                <a:gd name="T27" fmla="*/ 8 h 124"/>
                <a:gd name="T28" fmla="*/ 20 w 133"/>
                <a:gd name="T29" fmla="*/ 9 h 124"/>
                <a:gd name="T30" fmla="*/ 18 w 133"/>
                <a:gd name="T31" fmla="*/ 9 h 124"/>
                <a:gd name="T32" fmla="*/ 16 w 133"/>
                <a:gd name="T33" fmla="*/ 11 h 124"/>
                <a:gd name="T34" fmla="*/ 16 w 133"/>
                <a:gd name="T35" fmla="*/ 15 h 124"/>
                <a:gd name="T36" fmla="*/ 14 w 133"/>
                <a:gd name="T37" fmla="*/ 17 h 124"/>
                <a:gd name="T38" fmla="*/ 13 w 133"/>
                <a:gd name="T39" fmla="*/ 15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124"/>
                <a:gd name="T62" fmla="*/ 133 w 133"/>
                <a:gd name="T63" fmla="*/ 124 h 1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grpSp>
      <p:sp>
        <p:nvSpPr>
          <p:cNvPr id="147" name="Line 60"/>
          <p:cNvSpPr>
            <a:spLocks noChangeShapeType="1"/>
          </p:cNvSpPr>
          <p:nvPr/>
        </p:nvSpPr>
        <p:spPr bwMode="auto">
          <a:xfrm flipV="1">
            <a:off x="8355965" y="4608195"/>
            <a:ext cx="635" cy="65976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grpSp>
        <p:nvGrpSpPr>
          <p:cNvPr id="9" name="组合 8"/>
          <p:cNvGrpSpPr/>
          <p:nvPr/>
        </p:nvGrpSpPr>
        <p:grpSpPr>
          <a:xfrm>
            <a:off x="4006276" y="1619216"/>
            <a:ext cx="1811020" cy="4335490"/>
            <a:chOff x="3931285" y="1607475"/>
            <a:chExt cx="1811020" cy="4335490"/>
          </a:xfrm>
        </p:grpSpPr>
        <p:sp>
          <p:nvSpPr>
            <p:cNvPr id="140" name="Text Box 54"/>
            <p:cNvSpPr txBox="1">
              <a:spLocks noChangeArrowheads="1"/>
            </p:cNvSpPr>
            <p:nvPr/>
          </p:nvSpPr>
          <p:spPr bwMode="auto">
            <a:xfrm>
              <a:off x="3989705" y="1607475"/>
              <a:ext cx="1694815" cy="468000"/>
            </a:xfrm>
            <a:prstGeom prst="rect">
              <a:avLst/>
            </a:prstGeom>
            <a:solidFill>
              <a:srgbClr val="7CC43A"/>
            </a:solidFill>
            <a:ln>
              <a:noFill/>
            </a:ln>
            <a:effec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用户</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a:t>
              </a:r>
              <a:endPar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3989705" y="2772410"/>
              <a:ext cx="1752600" cy="50609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邮局</a:t>
              </a:r>
              <a:endParaRPr lang="zh-CN" altLang="en-US" sz="2000" dirty="0">
                <a:latin typeface="微软雅黑" panose="020B0503020204020204" pitchFamily="34" charset="-122"/>
                <a:ea typeface="微软雅黑" panose="020B0503020204020204" pitchFamily="34" charset="-122"/>
              </a:endParaRPr>
            </a:p>
          </p:txBody>
        </p:sp>
        <p:sp>
          <p:nvSpPr>
            <p:cNvPr id="84" name="矩形 83"/>
            <p:cNvSpPr/>
            <p:nvPr/>
          </p:nvSpPr>
          <p:spPr>
            <a:xfrm>
              <a:off x="3931285" y="4055745"/>
              <a:ext cx="1752600" cy="5060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运送部门</a:t>
              </a:r>
              <a:endParaRPr lang="zh-CN" altLang="en-US" sz="2000" dirty="0">
                <a:latin typeface="微软雅黑" panose="020B0503020204020204" pitchFamily="34" charset="-122"/>
                <a:ea typeface="微软雅黑" panose="020B0503020204020204" pitchFamily="34" charset="-122"/>
              </a:endParaRPr>
            </a:p>
          </p:txBody>
        </p:sp>
        <p:sp>
          <p:nvSpPr>
            <p:cNvPr id="85" name="矩形 84"/>
            <p:cNvSpPr/>
            <p:nvPr/>
          </p:nvSpPr>
          <p:spPr>
            <a:xfrm>
              <a:off x="3970655" y="5436870"/>
              <a:ext cx="1752600" cy="50609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铁路部门</a:t>
              </a:r>
              <a:endParaRPr lang="zh-CN" altLang="en-US" sz="2000" dirty="0">
                <a:latin typeface="微软雅黑" panose="020B0503020204020204" pitchFamily="34" charset="-122"/>
                <a:ea typeface="微软雅黑" panose="020B0503020204020204" pitchFamily="34" charset="-122"/>
              </a:endParaRPr>
            </a:p>
          </p:txBody>
        </p:sp>
        <p:sp>
          <p:nvSpPr>
            <p:cNvPr id="99" name="Line 56"/>
            <p:cNvSpPr>
              <a:spLocks noChangeShapeType="1"/>
            </p:cNvSpPr>
            <p:nvPr/>
          </p:nvSpPr>
          <p:spPr bwMode="auto">
            <a:xfrm>
              <a:off x="4864096" y="2150405"/>
              <a:ext cx="3" cy="635975"/>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1800" b="1">
                <a:latin typeface="+mj-ea"/>
                <a:ea typeface="+mj-ea"/>
              </a:endParaRPr>
            </a:p>
          </p:txBody>
        </p:sp>
        <p:sp>
          <p:nvSpPr>
            <p:cNvPr id="100" name="Line 57"/>
            <p:cNvSpPr>
              <a:spLocks noChangeShapeType="1"/>
            </p:cNvSpPr>
            <p:nvPr/>
          </p:nvSpPr>
          <p:spPr bwMode="auto">
            <a:xfrm>
              <a:off x="4868545" y="3353435"/>
              <a:ext cx="635" cy="663575"/>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1800" b="1">
                <a:latin typeface="+mj-ea"/>
                <a:ea typeface="+mj-ea"/>
              </a:endParaRPr>
            </a:p>
          </p:txBody>
        </p:sp>
        <p:sp>
          <p:nvSpPr>
            <p:cNvPr id="101" name="Line 58"/>
            <p:cNvSpPr>
              <a:spLocks noChangeShapeType="1"/>
            </p:cNvSpPr>
            <p:nvPr/>
          </p:nvSpPr>
          <p:spPr bwMode="auto">
            <a:xfrm>
              <a:off x="4843771" y="4701624"/>
              <a:ext cx="24773" cy="718736"/>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1800" b="1">
                <a:latin typeface="+mj-ea"/>
                <a:ea typeface="+mj-ea"/>
              </a:endParaRPr>
            </a:p>
          </p:txBody>
        </p:sp>
        <p:sp>
          <p:nvSpPr>
            <p:cNvPr id="107" name="Text Box 68"/>
            <p:cNvSpPr txBox="1">
              <a:spLocks noChangeArrowheads="1"/>
            </p:cNvSpPr>
            <p:nvPr/>
          </p:nvSpPr>
          <p:spPr bwMode="auto">
            <a:xfrm>
              <a:off x="4356100" y="3324860"/>
              <a:ext cx="446405"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邮包</a:t>
              </a:r>
              <a:endParaRPr kumimoji="1" lang="zh-CN" altLang="en-US" sz="2000" dirty="0">
                <a:latin typeface="微软雅黑" panose="020B0503020204020204" pitchFamily="34" charset="-122"/>
                <a:ea typeface="微软雅黑" panose="020B0503020204020204" pitchFamily="34" charset="-122"/>
              </a:endParaRPr>
            </a:p>
          </p:txBody>
        </p:sp>
        <p:sp>
          <p:nvSpPr>
            <p:cNvPr id="108" name="Text Box 69"/>
            <p:cNvSpPr txBox="1">
              <a:spLocks noChangeArrowheads="1"/>
            </p:cNvSpPr>
            <p:nvPr/>
          </p:nvSpPr>
          <p:spPr bwMode="auto">
            <a:xfrm>
              <a:off x="4411345" y="4608830"/>
              <a:ext cx="335915"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货物</a:t>
              </a:r>
              <a:endParaRPr kumimoji="1" lang="zh-CN" altLang="en-US" sz="2000" dirty="0">
                <a:latin typeface="微软雅黑" panose="020B0503020204020204" pitchFamily="34" charset="-122"/>
                <a:ea typeface="微软雅黑" panose="020B0503020204020204" pitchFamily="34" charset="-122"/>
              </a:endParaRPr>
            </a:p>
          </p:txBody>
        </p:sp>
        <p:sp>
          <p:nvSpPr>
            <p:cNvPr id="106" name="Text Box 67"/>
            <p:cNvSpPr txBox="1">
              <a:spLocks noChangeArrowheads="1"/>
            </p:cNvSpPr>
            <p:nvPr/>
          </p:nvSpPr>
          <p:spPr bwMode="auto">
            <a:xfrm>
              <a:off x="4315460" y="2085975"/>
              <a:ext cx="528320"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信件</a:t>
              </a:r>
              <a:endParaRPr kumimoji="1" lang="zh-CN" altLang="en-US" sz="2000" dirty="0">
                <a:latin typeface="微软雅黑" panose="020B0503020204020204" pitchFamily="34" charset="-122"/>
                <a:ea typeface="微软雅黑" panose="020B0503020204020204" pitchFamily="34" charset="-122"/>
              </a:endParaRPr>
            </a:p>
          </p:txBody>
        </p:sp>
      </p:grpSp>
      <p:sp>
        <p:nvSpPr>
          <p:cNvPr id="137" name="Text Box 67"/>
          <p:cNvSpPr txBox="1">
            <a:spLocks noChangeArrowheads="1"/>
          </p:cNvSpPr>
          <p:nvPr/>
        </p:nvSpPr>
        <p:spPr bwMode="auto">
          <a:xfrm>
            <a:off x="10659745" y="2059305"/>
            <a:ext cx="528320"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信件</a:t>
            </a:r>
            <a:endParaRPr kumimoji="1" lang="zh-CN" altLang="en-US" sz="2000" dirty="0">
              <a:latin typeface="微软雅黑" panose="020B0503020204020204" pitchFamily="34" charset="-122"/>
              <a:ea typeface="微软雅黑" panose="020B0503020204020204" pitchFamily="34" charset="-122"/>
            </a:endParaRPr>
          </a:p>
        </p:txBody>
      </p:sp>
      <p:sp>
        <p:nvSpPr>
          <p:cNvPr id="7" name="Line 62"/>
          <p:cNvSpPr>
            <a:spLocks noChangeShapeType="1"/>
          </p:cNvSpPr>
          <p:nvPr/>
        </p:nvSpPr>
        <p:spPr bwMode="auto">
          <a:xfrm>
            <a:off x="10605135" y="2071370"/>
            <a:ext cx="10795" cy="67246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8" name="Line 61"/>
          <p:cNvSpPr>
            <a:spLocks noChangeShapeType="1"/>
          </p:cNvSpPr>
          <p:nvPr/>
        </p:nvSpPr>
        <p:spPr bwMode="auto">
          <a:xfrm>
            <a:off x="10625455" y="3270885"/>
            <a:ext cx="6350" cy="80708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2" name="文本框 71"/>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微软雅黑" panose="020B0503020204020204" pitchFamily="34" charset="-122"/>
                <a:sym typeface="+mn-ea"/>
              </a:rPr>
              <a:t>协议分层结构</a:t>
            </a:r>
            <a:endParaRPr lang="zh-CN" altLang="en-US" dirty="0"/>
          </a:p>
        </p:txBody>
      </p:sp>
      <p:sp>
        <p:nvSpPr>
          <p:cNvPr id="3" name="内容占位符 2"/>
          <p:cNvSpPr>
            <a:spLocks noGrp="1"/>
          </p:cNvSpPr>
          <p:nvPr>
            <p:ph idx="1"/>
          </p:nvPr>
        </p:nvSpPr>
        <p:spPr>
          <a:xfrm>
            <a:off x="620535" y="1379855"/>
            <a:ext cx="5960110" cy="4846320"/>
          </a:xfrm>
        </p:spPr>
        <p:txBody>
          <a:bodyPr>
            <a:noAutofit/>
          </a:bodyPr>
          <a:lstStyle/>
          <a:p>
            <a:r>
              <a:rPr lang="zh-CN" altLang="en-US" sz="2400" dirty="0"/>
              <a:t>层次栈</a:t>
            </a:r>
            <a:endParaRPr lang="zh-CN" altLang="en-US" sz="2400" dirty="0"/>
          </a:p>
          <a:p>
            <a:pPr lvl="1">
              <a:buFont typeface="Arial" panose="020B0604020202020204" pitchFamily="34" charset="0"/>
              <a:buChar char="•"/>
            </a:pPr>
            <a:r>
              <a:rPr lang="zh-CN" altLang="en-US" sz="2000" dirty="0">
                <a:solidFill>
                  <a:schemeClr val="tx1"/>
                </a:solidFill>
              </a:rPr>
              <a:t>为降低网络设计的复杂性，网络使用层次结构的协议栈，每一层都</a:t>
            </a:r>
            <a:r>
              <a:rPr lang="zh-CN" altLang="en-US" sz="2000" dirty="0"/>
              <a:t>使用</a:t>
            </a:r>
            <a:r>
              <a:rPr lang="zh-CN" altLang="en-US" sz="2000" dirty="0">
                <a:solidFill>
                  <a:schemeClr val="tx1"/>
                </a:solidFill>
              </a:rPr>
              <a:t>其下一层所提供的服务，并为上层提供自己的服务</a:t>
            </a:r>
            <a:endParaRPr lang="zh-CN" altLang="en-US" sz="2000" dirty="0">
              <a:solidFill>
                <a:schemeClr val="tx1"/>
              </a:solidFill>
            </a:endParaRPr>
          </a:p>
          <a:p>
            <a:pPr>
              <a:buFont typeface="Wingdings" panose="05000000000000000000" charset="0"/>
              <a:buChar char="Ø"/>
            </a:pPr>
            <a:r>
              <a:rPr lang="zh-CN" altLang="en-US" sz="2400" dirty="0"/>
              <a:t>对等实体</a:t>
            </a:r>
            <a:endParaRPr lang="zh-CN" altLang="en-US" sz="2400" dirty="0"/>
          </a:p>
          <a:p>
            <a:pPr lvl="1">
              <a:buFont typeface="Arial" panose="020B0604020202020204" pitchFamily="34" charset="0"/>
              <a:buChar char="•"/>
            </a:pPr>
            <a:r>
              <a:rPr lang="zh-CN" altLang="en-US" sz="2000" dirty="0">
                <a:solidFill>
                  <a:schemeClr val="tx1"/>
                </a:solidFill>
              </a:rPr>
              <a:t>不同机器上构成相应层次的实体成为对等实体</a:t>
            </a:r>
            <a:endParaRPr lang="zh-CN" altLang="en-US" sz="2000" dirty="0">
              <a:solidFill>
                <a:schemeClr val="tx1"/>
              </a:solidFill>
            </a:endParaRPr>
          </a:p>
          <a:p>
            <a:r>
              <a:rPr lang="zh-CN" altLang="en-US" sz="2400" dirty="0"/>
              <a:t>接口</a:t>
            </a:r>
            <a:endParaRPr lang="zh-CN" altLang="en-US" sz="2400" dirty="0"/>
          </a:p>
          <a:p>
            <a:pPr lvl="1">
              <a:buFont typeface="Arial" panose="020B0604020202020204" pitchFamily="34" charset="0"/>
              <a:buChar char="•"/>
            </a:pPr>
            <a:r>
              <a:rPr lang="zh-CN" altLang="en-US" sz="2000" dirty="0">
                <a:solidFill>
                  <a:schemeClr val="tx1"/>
                </a:solidFill>
              </a:rPr>
              <a:t>在每一对相邻层次之间的是接口；接口定义了</a:t>
            </a:r>
            <a:endParaRPr lang="zh-CN" altLang="en-US" sz="2000" dirty="0">
              <a:solidFill>
                <a:schemeClr val="tx1"/>
              </a:solidFill>
            </a:endParaRPr>
          </a:p>
          <a:p>
            <a:pPr marL="457200" lvl="1" indent="0">
              <a:buNone/>
            </a:pPr>
            <a:r>
              <a:rPr lang="zh-CN" altLang="en-US" sz="2000" dirty="0">
                <a:solidFill>
                  <a:schemeClr val="tx1"/>
                </a:solidFill>
              </a:rPr>
              <a:t>   下层向上层提供</a:t>
            </a:r>
            <a:r>
              <a:rPr lang="zh-CN" altLang="en-US" sz="2000" dirty="0"/>
              <a:t>哪些</a:t>
            </a:r>
            <a:r>
              <a:rPr lang="zh-CN" altLang="en-US" sz="2000" dirty="0">
                <a:solidFill>
                  <a:srgbClr val="C00000"/>
                </a:solidFill>
              </a:rPr>
              <a:t>服务原语</a:t>
            </a:r>
            <a:endParaRPr lang="zh-CN" altLang="en-US" sz="2000" dirty="0">
              <a:solidFill>
                <a:srgbClr val="C00000"/>
              </a:solidFill>
            </a:endParaRPr>
          </a:p>
          <a:p>
            <a:r>
              <a:rPr lang="zh-CN" altLang="en-US" sz="2400" dirty="0"/>
              <a:t>网络体系结构</a:t>
            </a:r>
            <a:endParaRPr lang="zh-CN" altLang="en-US" sz="2400" dirty="0"/>
          </a:p>
          <a:p>
            <a:pPr lvl="1">
              <a:buFont typeface="Arial" panose="020B0604020202020204" pitchFamily="34" charset="0"/>
              <a:buChar char="•"/>
            </a:pPr>
            <a:r>
              <a:rPr lang="zh-CN" altLang="en-US" sz="2000" dirty="0">
                <a:solidFill>
                  <a:schemeClr val="tx1"/>
                </a:solidFill>
              </a:rPr>
              <a:t>层和协议的集合为网络体系结构，一个特定的</a:t>
            </a:r>
            <a:endParaRPr lang="zh-CN" altLang="en-US" sz="2000" dirty="0">
              <a:solidFill>
                <a:schemeClr val="tx1"/>
              </a:solidFill>
            </a:endParaRPr>
          </a:p>
          <a:p>
            <a:pPr marL="457200" lvl="1" indent="0">
              <a:buNone/>
            </a:pPr>
            <a:r>
              <a:rPr lang="zh-CN" altLang="en-US" sz="2000" dirty="0">
                <a:solidFill>
                  <a:schemeClr val="tx1"/>
                </a:solidFill>
              </a:rPr>
              <a:t>   系统所使用的一组协议，即每层的协议，称为</a:t>
            </a:r>
            <a:endParaRPr lang="zh-CN" altLang="en-US" sz="2000" dirty="0">
              <a:solidFill>
                <a:schemeClr val="tx1"/>
              </a:solidFill>
            </a:endParaRPr>
          </a:p>
          <a:p>
            <a:pPr marL="457200" lvl="1" indent="0">
              <a:buNone/>
            </a:pPr>
            <a:r>
              <a:rPr lang="zh-CN" altLang="en-US" sz="2000" dirty="0">
                <a:solidFill>
                  <a:schemeClr val="tx1"/>
                </a:solidFill>
              </a:rPr>
              <a:t>   协议栈</a:t>
            </a:r>
            <a:endParaRPr lang="zh-CN" altLang="en-US" sz="2000" dirty="0">
              <a:solidFill>
                <a:schemeClr val="tx1"/>
              </a:solidFill>
            </a:endParaRPr>
          </a:p>
        </p:txBody>
      </p:sp>
      <p:grpSp>
        <p:nvGrpSpPr>
          <p:cNvPr id="37" name="组合 36"/>
          <p:cNvGrpSpPr/>
          <p:nvPr/>
        </p:nvGrpSpPr>
        <p:grpSpPr>
          <a:xfrm>
            <a:off x="6763385" y="1479550"/>
            <a:ext cx="5062855" cy="4618990"/>
            <a:chOff x="10939" y="2042"/>
            <a:chExt cx="7973" cy="7274"/>
          </a:xfrm>
        </p:grpSpPr>
        <p:grpSp>
          <p:nvGrpSpPr>
            <p:cNvPr id="29" name="组合 28"/>
            <p:cNvGrpSpPr/>
            <p:nvPr/>
          </p:nvGrpSpPr>
          <p:grpSpPr>
            <a:xfrm>
              <a:off x="13650" y="2670"/>
              <a:ext cx="5262" cy="6646"/>
              <a:chOff x="13326" y="2670"/>
              <a:chExt cx="5262" cy="6646"/>
            </a:xfrm>
          </p:grpSpPr>
          <p:sp>
            <p:nvSpPr>
              <p:cNvPr id="5" name="矩形 4"/>
              <p:cNvSpPr/>
              <p:nvPr/>
            </p:nvSpPr>
            <p:spPr>
              <a:xfrm>
                <a:off x="13326" y="267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第五层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13326" y="3875"/>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第四层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13326" y="508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第三层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13326" y="6285"/>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第二层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13326" y="749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第一层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13" name="矩形 12"/>
              <p:cNvSpPr/>
              <p:nvPr/>
            </p:nvSpPr>
            <p:spPr>
              <a:xfrm>
                <a:off x="13326" y="8695"/>
                <a:ext cx="5262"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物理介质</a:t>
                </a:r>
                <a:endParaRPr lang="zh-CN" altLang="en-US" sz="2000">
                  <a:solidFill>
                    <a:schemeClr val="tx1"/>
                  </a:solidFill>
                  <a:latin typeface="微软雅黑" panose="020B0503020204020204" pitchFamily="34" charset="-122"/>
                  <a:ea typeface="微软雅黑" panose="020B0503020204020204" pitchFamily="34" charset="-122"/>
                </a:endParaRPr>
              </a:p>
            </p:txBody>
          </p:sp>
          <p:cxnSp>
            <p:nvCxnSpPr>
              <p:cNvPr id="14" name="直接箭头连接符 13"/>
              <p:cNvCxnSpPr>
                <a:stCxn id="5" idx="2"/>
                <a:endCxn id="6" idx="0"/>
              </p:cNvCxnSpPr>
              <p:nvPr/>
            </p:nvCxnSpPr>
            <p:spPr>
              <a:xfrm>
                <a:off x="14092" y="3291"/>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14110" y="4496"/>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14110" y="5667"/>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14110" y="6906"/>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4110" y="8111"/>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6946" y="267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第五层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20" name="矩形 19"/>
              <p:cNvSpPr/>
              <p:nvPr/>
            </p:nvSpPr>
            <p:spPr>
              <a:xfrm>
                <a:off x="16946" y="3875"/>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第四层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21" name="矩形 20"/>
              <p:cNvSpPr/>
              <p:nvPr/>
            </p:nvSpPr>
            <p:spPr>
              <a:xfrm>
                <a:off x="16946" y="508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第三层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16946" y="6285"/>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第二层</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23" name="矩形 22"/>
              <p:cNvSpPr/>
              <p:nvPr/>
            </p:nvSpPr>
            <p:spPr>
              <a:xfrm>
                <a:off x="16946" y="749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第一层</a:t>
                </a:r>
                <a:endParaRPr lang="zh-CN" altLang="en-US" sz="2000">
                  <a:solidFill>
                    <a:schemeClr val="tx1"/>
                  </a:solidFill>
                  <a:latin typeface="微软雅黑" panose="020B0503020204020204" pitchFamily="34" charset="-122"/>
                  <a:ea typeface="微软雅黑" panose="020B0503020204020204" pitchFamily="34" charset="-122"/>
                </a:endParaRPr>
              </a:p>
            </p:txBody>
          </p:sp>
          <p:cxnSp>
            <p:nvCxnSpPr>
              <p:cNvPr id="24" name="直接箭头连接符 23"/>
              <p:cNvCxnSpPr>
                <a:stCxn id="19" idx="2"/>
                <a:endCxn id="20" idx="0"/>
              </p:cNvCxnSpPr>
              <p:nvPr/>
            </p:nvCxnSpPr>
            <p:spPr>
              <a:xfrm>
                <a:off x="17712" y="3291"/>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17730" y="4496"/>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17730" y="5685"/>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17730" y="6906"/>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17730" y="8149"/>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30" name="文本框 29"/>
            <p:cNvSpPr txBox="1"/>
            <p:nvPr/>
          </p:nvSpPr>
          <p:spPr>
            <a:xfrm>
              <a:off x="13752" y="2042"/>
              <a:ext cx="1466"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主机</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文本框 30"/>
            <p:cNvSpPr txBox="1"/>
            <p:nvPr/>
          </p:nvSpPr>
          <p:spPr>
            <a:xfrm>
              <a:off x="17372" y="2042"/>
              <a:ext cx="1466"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主机</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文本框 32"/>
            <p:cNvSpPr txBox="1"/>
            <p:nvPr/>
          </p:nvSpPr>
          <p:spPr>
            <a:xfrm>
              <a:off x="10939" y="3270"/>
              <a:ext cx="2891"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第四</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五层接口</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文本框 33"/>
            <p:cNvSpPr txBox="1"/>
            <p:nvPr/>
          </p:nvSpPr>
          <p:spPr>
            <a:xfrm>
              <a:off x="10939" y="4452"/>
              <a:ext cx="2891"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第三</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四层接口</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文本框 34"/>
            <p:cNvSpPr txBox="1"/>
            <p:nvPr/>
          </p:nvSpPr>
          <p:spPr>
            <a:xfrm>
              <a:off x="10939" y="5623"/>
              <a:ext cx="2891"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第二</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三层接口</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文本框 35"/>
            <p:cNvSpPr txBox="1"/>
            <p:nvPr/>
          </p:nvSpPr>
          <p:spPr>
            <a:xfrm>
              <a:off x="10939" y="6862"/>
              <a:ext cx="2891"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第一</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二层接口</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38" name="Line 49"/>
          <p:cNvSpPr>
            <a:spLocks noChangeShapeType="1"/>
          </p:cNvSpPr>
          <p:nvPr/>
        </p:nvSpPr>
        <p:spPr bwMode="auto">
          <a:xfrm flipV="1">
            <a:off x="9574530" y="2882283"/>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39" name="Text Box 73"/>
          <p:cNvSpPr txBox="1">
            <a:spLocks noChangeArrowheads="1"/>
          </p:cNvSpPr>
          <p:nvPr/>
        </p:nvSpPr>
        <p:spPr bwMode="auto">
          <a:xfrm>
            <a:off x="9629143" y="2427648"/>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endParaRPr kumimoji="1" lang="zh-CN" altLang="en-US" dirty="0">
              <a:latin typeface="微软雅黑" panose="020B0503020204020204" pitchFamily="34" charset="-122"/>
              <a:ea typeface="微软雅黑" panose="020B0503020204020204" pitchFamily="34" charset="-122"/>
            </a:endParaRPr>
          </a:p>
        </p:txBody>
      </p:sp>
      <p:sp>
        <p:nvSpPr>
          <p:cNvPr id="40" name="Line 49"/>
          <p:cNvSpPr>
            <a:spLocks noChangeShapeType="1"/>
          </p:cNvSpPr>
          <p:nvPr/>
        </p:nvSpPr>
        <p:spPr bwMode="auto">
          <a:xfrm flipV="1">
            <a:off x="9574530" y="3647459"/>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41" name="Text Box 73"/>
          <p:cNvSpPr txBox="1">
            <a:spLocks noChangeArrowheads="1"/>
          </p:cNvSpPr>
          <p:nvPr/>
        </p:nvSpPr>
        <p:spPr bwMode="auto">
          <a:xfrm>
            <a:off x="9629143" y="3192824"/>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endParaRPr kumimoji="1" lang="zh-CN" altLang="en-US" dirty="0">
              <a:latin typeface="微软雅黑" panose="020B0503020204020204" pitchFamily="34" charset="-122"/>
              <a:ea typeface="微软雅黑" panose="020B0503020204020204" pitchFamily="34" charset="-122"/>
            </a:endParaRPr>
          </a:p>
        </p:txBody>
      </p:sp>
      <p:sp>
        <p:nvSpPr>
          <p:cNvPr id="42" name="Line 49"/>
          <p:cNvSpPr>
            <a:spLocks noChangeShapeType="1"/>
          </p:cNvSpPr>
          <p:nvPr/>
        </p:nvSpPr>
        <p:spPr bwMode="auto">
          <a:xfrm flipV="1">
            <a:off x="9574530" y="4445271"/>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43" name="Text Box 73"/>
          <p:cNvSpPr txBox="1">
            <a:spLocks noChangeArrowheads="1"/>
          </p:cNvSpPr>
          <p:nvPr/>
        </p:nvSpPr>
        <p:spPr bwMode="auto">
          <a:xfrm>
            <a:off x="9629143" y="3990636"/>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endParaRPr kumimoji="1" lang="zh-CN" altLang="en-US" dirty="0">
              <a:latin typeface="微软雅黑" panose="020B0503020204020204" pitchFamily="34" charset="-122"/>
              <a:ea typeface="微软雅黑" panose="020B0503020204020204" pitchFamily="34" charset="-122"/>
            </a:endParaRPr>
          </a:p>
        </p:txBody>
      </p:sp>
      <p:sp>
        <p:nvSpPr>
          <p:cNvPr id="44" name="Line 49"/>
          <p:cNvSpPr>
            <a:spLocks noChangeShapeType="1"/>
          </p:cNvSpPr>
          <p:nvPr/>
        </p:nvSpPr>
        <p:spPr bwMode="auto">
          <a:xfrm flipV="1">
            <a:off x="9574530" y="5171440"/>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45" name="Text Box 73"/>
          <p:cNvSpPr txBox="1">
            <a:spLocks noChangeArrowheads="1"/>
          </p:cNvSpPr>
          <p:nvPr/>
        </p:nvSpPr>
        <p:spPr bwMode="auto">
          <a:xfrm>
            <a:off x="9629143" y="4716805"/>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endParaRPr kumimoji="1" lang="zh-CN" altLang="en-US" dirty="0">
              <a:latin typeface="微软雅黑" panose="020B0503020204020204" pitchFamily="34" charset="-122"/>
              <a:ea typeface="微软雅黑" panose="020B0503020204020204" pitchFamily="34" charset="-122"/>
            </a:endParaRPr>
          </a:p>
        </p:txBody>
      </p:sp>
      <p:sp>
        <p:nvSpPr>
          <p:cNvPr id="46" name="Line 49"/>
          <p:cNvSpPr>
            <a:spLocks noChangeShapeType="1"/>
          </p:cNvSpPr>
          <p:nvPr/>
        </p:nvSpPr>
        <p:spPr bwMode="auto">
          <a:xfrm flipV="1">
            <a:off x="9570811" y="2054463"/>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47" name="Text Box 73"/>
          <p:cNvSpPr txBox="1">
            <a:spLocks noChangeArrowheads="1"/>
          </p:cNvSpPr>
          <p:nvPr/>
        </p:nvSpPr>
        <p:spPr bwMode="auto">
          <a:xfrm>
            <a:off x="9625424" y="1599828"/>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endParaRPr kumimoji="1" lang="zh-CN" altLang="en-US" dirty="0">
              <a:latin typeface="微软雅黑" panose="020B0503020204020204" pitchFamily="34" charset="-122"/>
              <a:ea typeface="微软雅黑" panose="020B0503020204020204" pitchFamily="34" charset="-122"/>
            </a:endParaRPr>
          </a:p>
        </p:txBody>
      </p:sp>
      <p:sp>
        <p:nvSpPr>
          <p:cNvPr id="9" name="灯片编号占位符 8"/>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48" name="文本框 4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微软雅黑" panose="020B0503020204020204" pitchFamily="34" charset="-122"/>
                <a:sym typeface="+mn-ea"/>
              </a:rPr>
              <a:t>协议分层结构</a:t>
            </a:r>
            <a:endParaRPr kumimoji="1" lang="zh-CN" altLang="en-US" dirty="0"/>
          </a:p>
        </p:txBody>
      </p:sp>
      <p:sp>
        <p:nvSpPr>
          <p:cNvPr id="65" name="内容占位符 64"/>
          <p:cNvSpPr>
            <a:spLocks noGrp="1"/>
          </p:cNvSpPr>
          <p:nvPr>
            <p:ph idx="1"/>
          </p:nvPr>
        </p:nvSpPr>
        <p:spPr>
          <a:xfrm>
            <a:off x="1087639" y="1371212"/>
            <a:ext cx="9596755" cy="853993"/>
          </a:xfrm>
        </p:spPr>
        <p:txBody>
          <a:bodyPr>
            <a:noAutofit/>
          </a:bodyPr>
          <a:lstStyle/>
          <a:p>
            <a:pPr marL="311150" indent="-311150">
              <a:spcBef>
                <a:spcPts val="400"/>
              </a:spcBef>
            </a:pPr>
            <a:r>
              <a:rPr kumimoji="1" lang="zh-CN" altLang="en-US" sz="2400" dirty="0"/>
              <a:t>发送端：层层封装；接收端：层层解封装</a:t>
            </a:r>
            <a:endParaRPr kumimoji="1" lang="zh-CN" altLang="en-US" sz="2400" dirty="0"/>
          </a:p>
          <a:p>
            <a:pPr marL="311150" indent="-311150">
              <a:spcBef>
                <a:spcPts val="400"/>
              </a:spcBef>
            </a:pPr>
            <a:r>
              <a:rPr kumimoji="1" lang="zh-CN" altLang="en-US" sz="2400" dirty="0"/>
              <a:t>不同层对应协议数据单元（</a:t>
            </a:r>
            <a:r>
              <a:rPr kumimoji="1" lang="en-US" altLang="zh-CN" sz="2400" dirty="0"/>
              <a:t>PDU Protocol Data Unit</a:t>
            </a:r>
            <a:r>
              <a:rPr kumimoji="1" lang="zh-CN" altLang="en-US" sz="2400" dirty="0"/>
              <a:t>）</a:t>
            </a:r>
            <a:endParaRPr kumimoji="1" lang="zh-CN" altLang="en-US" sz="2400"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6" name="表格 5"/>
          <p:cNvGraphicFramePr/>
          <p:nvPr/>
        </p:nvGraphicFramePr>
        <p:xfrm>
          <a:off x="2923742" y="3062370"/>
          <a:ext cx="1154430" cy="2857500"/>
        </p:xfrm>
        <a:graphic>
          <a:graphicData uri="http://schemas.openxmlformats.org/drawingml/2006/table">
            <a:tbl>
              <a:tblPr firstRow="1" bandRow="1">
                <a:tableStyleId>{5940675A-B579-460E-94D1-54222C63F5DA}</a:tableStyleId>
              </a:tblPr>
              <a:tblGrid>
                <a:gridCol w="1154430"/>
              </a:tblGrid>
              <a:tr h="571500">
                <a:tc>
                  <a:txBody>
                    <a:bodyPr/>
                    <a:lstStyle/>
                    <a:p>
                      <a:pPr algn="ctr">
                        <a:buNone/>
                      </a:pPr>
                      <a:r>
                        <a:rPr lang="zh-CN" altLang="en-US" sz="1800" b="1" dirty="0"/>
                        <a:t>第五层</a:t>
                      </a:r>
                      <a:endParaRPr lang="zh-CN" altLang="en-US" sz="1800" b="1" dirty="0"/>
                    </a:p>
                  </a:txBody>
                  <a:tcPr anchor="ctr">
                    <a:noFill/>
                  </a:tcPr>
                </a:tc>
              </a:tr>
              <a:tr h="571500">
                <a:tc>
                  <a:txBody>
                    <a:bodyPr/>
                    <a:lstStyle/>
                    <a:p>
                      <a:pPr algn="ctr">
                        <a:buNone/>
                      </a:pPr>
                      <a:r>
                        <a:rPr lang="zh-CN" altLang="en-US" sz="1800" b="1" dirty="0"/>
                        <a:t>第四层</a:t>
                      </a:r>
                      <a:endParaRPr lang="zh-CN" altLang="en-US" sz="1800" b="1" dirty="0"/>
                    </a:p>
                  </a:txBody>
                  <a:tcPr anchor="ctr">
                    <a:noFill/>
                  </a:tcPr>
                </a:tc>
              </a:tr>
              <a:tr h="571500">
                <a:tc>
                  <a:txBody>
                    <a:bodyPr/>
                    <a:lstStyle/>
                    <a:p>
                      <a:pPr algn="ctr">
                        <a:buNone/>
                      </a:pPr>
                      <a:r>
                        <a:rPr lang="zh-CN" altLang="en-US" sz="1800" b="1" dirty="0"/>
                        <a:t>第三层</a:t>
                      </a:r>
                      <a:endParaRPr lang="zh-CN" altLang="en-US" sz="1800" b="1" dirty="0"/>
                    </a:p>
                  </a:txBody>
                  <a:tcPr anchor="ctr">
                    <a:noFill/>
                  </a:tcPr>
                </a:tc>
              </a:tr>
              <a:tr h="571500">
                <a:tc>
                  <a:txBody>
                    <a:bodyPr/>
                    <a:lstStyle/>
                    <a:p>
                      <a:pPr algn="ctr">
                        <a:buNone/>
                      </a:pPr>
                      <a:r>
                        <a:rPr lang="zh-CN" altLang="en-US" sz="1800" b="1" dirty="0"/>
                        <a:t>第二层</a:t>
                      </a:r>
                      <a:endParaRPr lang="zh-CN" altLang="en-US" sz="1800" b="1" dirty="0"/>
                    </a:p>
                  </a:txBody>
                  <a:tcPr anchor="ctr">
                    <a:noFill/>
                  </a:tcPr>
                </a:tc>
              </a:tr>
              <a:tr h="571500">
                <a:tc>
                  <a:txBody>
                    <a:bodyPr/>
                    <a:lstStyle/>
                    <a:p>
                      <a:pPr algn="ctr">
                        <a:buNone/>
                      </a:pPr>
                      <a:r>
                        <a:rPr lang="zh-CN" altLang="en-US" sz="1800" b="1" dirty="0"/>
                        <a:t>第一层</a:t>
                      </a:r>
                      <a:endParaRPr lang="zh-CN" altLang="en-US" sz="1800" b="1" dirty="0"/>
                    </a:p>
                  </a:txBody>
                  <a:tcPr anchor="ctr">
                    <a:noFill/>
                  </a:tcPr>
                </a:tc>
              </a:tr>
            </a:tbl>
          </a:graphicData>
        </a:graphic>
      </p:graphicFrame>
      <p:sp>
        <p:nvSpPr>
          <p:cNvPr id="7" name="内容占位符 2"/>
          <p:cNvSpPr>
            <a:spLocks noGrp="1"/>
          </p:cNvSpPr>
          <p:nvPr/>
        </p:nvSpPr>
        <p:spPr>
          <a:xfrm>
            <a:off x="2388437" y="2565800"/>
            <a:ext cx="15506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发送：</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hello</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9" name="图片 8"/>
          <p:cNvPicPr>
            <a:picLocks noChangeAspect="1"/>
          </p:cNvPicPr>
          <p:nvPr/>
        </p:nvPicPr>
        <p:blipFill>
          <a:blip r:embed="rId1" cstate="print"/>
          <a:stretch>
            <a:fillRect/>
          </a:stretch>
        </p:blipFill>
        <p:spPr>
          <a:xfrm>
            <a:off x="2017597" y="2451500"/>
            <a:ext cx="396240" cy="536575"/>
          </a:xfrm>
          <a:prstGeom prst="rect">
            <a:avLst/>
          </a:prstGeom>
        </p:spPr>
      </p:pic>
      <p:graphicFrame>
        <p:nvGraphicFramePr>
          <p:cNvPr id="16" name="表格 15"/>
          <p:cNvGraphicFramePr/>
          <p:nvPr/>
        </p:nvGraphicFramePr>
        <p:xfrm>
          <a:off x="1956637" y="3207150"/>
          <a:ext cx="876935" cy="330200"/>
        </p:xfrm>
        <a:graphic>
          <a:graphicData uri="http://schemas.openxmlformats.org/drawingml/2006/table">
            <a:tbl>
              <a:tblPr firstRow="1" bandRow="1">
                <a:tableStyleId>{5C22544A-7EE6-4342-B048-85BDC9FD1C3A}</a:tableStyleId>
              </a:tblPr>
              <a:tblGrid>
                <a:gridCol w="876935"/>
              </a:tblGrid>
              <a:tr h="330200">
                <a:tc>
                  <a:txBody>
                    <a:bodyPr/>
                    <a:lstStyle/>
                    <a:p>
                      <a:pPr>
                        <a:buNone/>
                      </a:pPr>
                      <a:r>
                        <a:rPr lang="en-US" altLang="zh-CN" sz="2000" dirty="0">
                          <a:solidFill>
                            <a:schemeClr val="tx1"/>
                          </a:solidFill>
                        </a:rPr>
                        <a:t> </a:t>
                      </a:r>
                      <a:r>
                        <a:rPr lang="en-US" altLang="zh-CN" sz="2000" dirty="0">
                          <a:solidFill>
                            <a:srgbClr val="C00000"/>
                          </a:solidFill>
                        </a:rPr>
                        <a:t>hello</a:t>
                      </a:r>
                      <a:endParaRPr lang="en-US" altLang="zh-CN" sz="2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18" name="表格 17"/>
          <p:cNvGraphicFramePr/>
          <p:nvPr/>
        </p:nvGraphicFramePr>
        <p:xfrm>
          <a:off x="1575002" y="3727850"/>
          <a:ext cx="1271270" cy="330200"/>
        </p:xfrm>
        <a:graphic>
          <a:graphicData uri="http://schemas.openxmlformats.org/drawingml/2006/table">
            <a:tbl>
              <a:tblPr firstRow="1" bandRow="1">
                <a:tableStyleId>{5C22544A-7EE6-4342-B048-85BDC9FD1C3A}</a:tableStyleId>
              </a:tblPr>
              <a:tblGrid>
                <a:gridCol w="375285"/>
                <a:gridCol w="895985"/>
              </a:tblGrid>
              <a:tr h="330200">
                <a:tc>
                  <a:txBody>
                    <a:bodyPr/>
                    <a:lstStyle/>
                    <a:p>
                      <a:pPr>
                        <a:buNone/>
                      </a:pPr>
                      <a:r>
                        <a:rPr lang="en-US" altLang="zh-CN" sz="2000" dirty="0">
                          <a:solidFill>
                            <a:srgbClr val="C00000"/>
                          </a:solidFill>
                        </a:rPr>
                        <a:t> </a:t>
                      </a:r>
                      <a:r>
                        <a:rPr lang="en-US" altLang="zh-CN" sz="2000" dirty="0" err="1">
                          <a:solidFill>
                            <a:srgbClr val="C00000"/>
                          </a:solidFill>
                        </a:rPr>
                        <a:t>H</a:t>
                      </a:r>
                      <a:r>
                        <a:rPr lang="en-US" altLang="zh-CN" sz="2800" baseline="-25000" dirty="0" err="1">
                          <a:solidFill>
                            <a:srgbClr val="C00000"/>
                          </a:solidFill>
                        </a:rPr>
                        <a:t>t</a:t>
                      </a:r>
                      <a:endParaRPr lang="en-US" altLang="zh-CN" sz="2800" baseline="-25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19" name="表格 18"/>
          <p:cNvGraphicFramePr/>
          <p:nvPr/>
        </p:nvGraphicFramePr>
        <p:xfrm>
          <a:off x="1157172" y="4326020"/>
          <a:ext cx="1689100" cy="330200"/>
        </p:xfrm>
        <a:graphic>
          <a:graphicData uri="http://schemas.openxmlformats.org/drawingml/2006/table">
            <a:tbl>
              <a:tblPr firstRow="1" bandRow="1">
                <a:tableStyleId>{5C22544A-7EE6-4342-B048-85BDC9FD1C3A}</a:tableStyleId>
              </a:tblPr>
              <a:tblGrid>
                <a:gridCol w="397510"/>
                <a:gridCol w="447675"/>
                <a:gridCol w="843915"/>
              </a:tblGrid>
              <a:tr h="330200">
                <a:tc>
                  <a:txBody>
                    <a:bodyPr/>
                    <a:lstStyle/>
                    <a:p>
                      <a:pPr>
                        <a:buNone/>
                      </a:pPr>
                      <a:r>
                        <a:rPr lang="en-US" altLang="zh-CN" sz="2000" dirty="0">
                          <a:solidFill>
                            <a:srgbClr val="C00000"/>
                          </a:solidFill>
                          <a:sym typeface="+mn-ea"/>
                        </a:rPr>
                        <a:t> </a:t>
                      </a:r>
                      <a:r>
                        <a:rPr lang="en-US" altLang="zh-CN" sz="2000" dirty="0" err="1">
                          <a:solidFill>
                            <a:srgbClr val="C00000"/>
                          </a:solidFill>
                          <a:sym typeface="+mn-ea"/>
                        </a:rPr>
                        <a:t>H</a:t>
                      </a:r>
                      <a:r>
                        <a:rPr lang="en-US" altLang="zh-CN" sz="2000" baseline="-25000" dirty="0" err="1">
                          <a:solidFill>
                            <a:srgbClr val="C00000"/>
                          </a:solidFill>
                          <a:sym typeface="+mn-ea"/>
                        </a:rPr>
                        <a:t>n</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endParaRPr lang="en-US" altLang="zh-CN" sz="2000" baseline="-2500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20" name="表格 19"/>
          <p:cNvGraphicFramePr/>
          <p:nvPr/>
        </p:nvGraphicFramePr>
        <p:xfrm>
          <a:off x="764107" y="4910220"/>
          <a:ext cx="2094865" cy="330200"/>
        </p:xfrm>
        <a:graphic>
          <a:graphicData uri="http://schemas.openxmlformats.org/drawingml/2006/table">
            <a:tbl>
              <a:tblPr firstRow="1" bandRow="1">
                <a:tableStyleId>{5C22544A-7EE6-4342-B048-85BDC9FD1C3A}</a:tableStyleId>
              </a:tblPr>
              <a:tblGrid>
                <a:gridCol w="314960"/>
                <a:gridCol w="447675"/>
                <a:gridCol w="469900"/>
                <a:gridCol w="862330"/>
              </a:tblGrid>
              <a:tr h="330200">
                <a:tc>
                  <a:txBody>
                    <a:bodyPr/>
                    <a:lstStyle/>
                    <a:p>
                      <a:pPr>
                        <a:buNone/>
                      </a:pPr>
                      <a:r>
                        <a:rPr lang="en-US" altLang="zh-CN" sz="2000" dirty="0">
                          <a:solidFill>
                            <a:schemeClr val="tx1"/>
                          </a:solidFill>
                          <a:sym typeface="+mn-ea"/>
                        </a:rPr>
                        <a:t> </a:t>
                      </a:r>
                      <a:r>
                        <a:rPr lang="en-US" altLang="zh-CN" sz="2000" dirty="0">
                          <a:solidFill>
                            <a:srgbClr val="C00000"/>
                          </a:solidFill>
                          <a:sym typeface="+mn-ea"/>
                        </a:rPr>
                        <a:t>H</a:t>
                      </a:r>
                      <a:r>
                        <a:rPr lang="en-US" altLang="zh-CN" sz="2000" baseline="-25000" dirty="0">
                          <a:solidFill>
                            <a:srgbClr val="C00000"/>
                          </a:solidFill>
                          <a:sym typeface="+mn-ea"/>
                        </a:rPr>
                        <a:t>l</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sym typeface="+mn-ea"/>
                        </a:rPr>
                        <a:t> H</a:t>
                      </a:r>
                      <a:r>
                        <a:rPr lang="en-US" altLang="zh-CN" sz="2000" baseline="-25000">
                          <a:solidFill>
                            <a:schemeClr val="tx1"/>
                          </a:solidFill>
                          <a:sym typeface="+mn-ea"/>
                        </a:rPr>
                        <a:t>n</a:t>
                      </a:r>
                      <a:endParaRPr lang="en-US" altLang="zh-CN" sz="2000" baseline="-25000">
                        <a:solidFill>
                          <a:schemeClr val="tx1"/>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endParaRPr lang="en-US" altLang="zh-CN" sz="2000" baseline="-2500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21" name="表格 20"/>
          <p:cNvGraphicFramePr/>
          <p:nvPr/>
        </p:nvGraphicFramePr>
        <p:xfrm>
          <a:off x="8654617" y="3062370"/>
          <a:ext cx="1170940" cy="2857500"/>
        </p:xfrm>
        <a:graphic>
          <a:graphicData uri="http://schemas.openxmlformats.org/drawingml/2006/table">
            <a:tbl>
              <a:tblPr firstRow="1" bandRow="1">
                <a:tableStyleId>{5940675A-B579-460E-94D1-54222C63F5DA}</a:tableStyleId>
              </a:tblPr>
              <a:tblGrid>
                <a:gridCol w="1170940"/>
              </a:tblGrid>
              <a:tr h="571500">
                <a:tc>
                  <a:txBody>
                    <a:bodyPr/>
                    <a:lstStyle/>
                    <a:p>
                      <a:pPr algn="ctr">
                        <a:buNone/>
                      </a:pPr>
                      <a:r>
                        <a:rPr lang="zh-CN" altLang="en-US" sz="1800" b="1" dirty="0"/>
                        <a:t>第五层</a:t>
                      </a:r>
                      <a:endParaRPr lang="zh-CN" altLang="en-US" sz="1800" b="1" dirty="0"/>
                    </a:p>
                  </a:txBody>
                  <a:tcPr anchor="ctr">
                    <a:noFill/>
                  </a:tcPr>
                </a:tc>
              </a:tr>
              <a:tr h="571500">
                <a:tc>
                  <a:txBody>
                    <a:bodyPr/>
                    <a:lstStyle/>
                    <a:p>
                      <a:pPr algn="ctr">
                        <a:buNone/>
                      </a:pPr>
                      <a:r>
                        <a:rPr lang="zh-CN" altLang="en-US" sz="1800" b="1" dirty="0"/>
                        <a:t>第四层</a:t>
                      </a:r>
                      <a:endParaRPr lang="zh-CN" altLang="en-US" sz="1800" b="1" dirty="0"/>
                    </a:p>
                  </a:txBody>
                  <a:tcPr anchor="ctr">
                    <a:noFill/>
                  </a:tcPr>
                </a:tc>
              </a:tr>
              <a:tr h="571500">
                <a:tc>
                  <a:txBody>
                    <a:bodyPr/>
                    <a:lstStyle/>
                    <a:p>
                      <a:pPr algn="ctr">
                        <a:buNone/>
                      </a:pPr>
                      <a:r>
                        <a:rPr lang="zh-CN" altLang="en-US" sz="1800" b="1" dirty="0"/>
                        <a:t>第三层</a:t>
                      </a:r>
                      <a:endParaRPr lang="zh-CN" altLang="en-US" sz="1800" b="1" dirty="0"/>
                    </a:p>
                  </a:txBody>
                  <a:tcPr anchor="ctr">
                    <a:noFill/>
                  </a:tcPr>
                </a:tc>
              </a:tr>
              <a:tr h="571500">
                <a:tc>
                  <a:txBody>
                    <a:bodyPr/>
                    <a:lstStyle/>
                    <a:p>
                      <a:pPr algn="ctr">
                        <a:buNone/>
                      </a:pPr>
                      <a:r>
                        <a:rPr lang="zh-CN" altLang="en-US" sz="1800" b="1" dirty="0"/>
                        <a:t>第二层</a:t>
                      </a:r>
                      <a:endParaRPr lang="zh-CN" altLang="en-US" sz="1800" b="1" dirty="0"/>
                    </a:p>
                  </a:txBody>
                  <a:tcPr anchor="ctr">
                    <a:noFill/>
                  </a:tcPr>
                </a:tc>
              </a:tr>
              <a:tr h="571500">
                <a:tc>
                  <a:txBody>
                    <a:bodyPr/>
                    <a:lstStyle/>
                    <a:p>
                      <a:pPr algn="ctr">
                        <a:buNone/>
                      </a:pPr>
                      <a:r>
                        <a:rPr lang="zh-CN" altLang="en-US" sz="1800" b="1" dirty="0"/>
                        <a:t>第一层</a:t>
                      </a:r>
                      <a:endParaRPr lang="zh-CN" altLang="en-US" sz="1800" b="1" dirty="0"/>
                    </a:p>
                  </a:txBody>
                  <a:tcPr anchor="ctr">
                    <a:noFill/>
                  </a:tcPr>
                </a:tc>
              </a:tr>
            </a:tbl>
          </a:graphicData>
        </a:graphic>
      </p:graphicFrame>
      <p:graphicFrame>
        <p:nvGraphicFramePr>
          <p:cNvPr id="22" name="表格 21"/>
          <p:cNvGraphicFramePr/>
          <p:nvPr/>
        </p:nvGraphicFramePr>
        <p:xfrm>
          <a:off x="4358842" y="4776870"/>
          <a:ext cx="1121410" cy="1143000"/>
        </p:xfrm>
        <a:graphic>
          <a:graphicData uri="http://schemas.openxmlformats.org/drawingml/2006/table">
            <a:tbl>
              <a:tblPr firstRow="1" bandRow="1">
                <a:tableStyleId>{5940675A-B579-460E-94D1-54222C63F5DA}</a:tableStyleId>
              </a:tblPr>
              <a:tblGrid>
                <a:gridCol w="1121410"/>
              </a:tblGrid>
              <a:tr h="571500">
                <a:tc>
                  <a:txBody>
                    <a:bodyPr/>
                    <a:lstStyle/>
                    <a:p>
                      <a:pPr algn="ctr">
                        <a:buNone/>
                      </a:pPr>
                      <a:r>
                        <a:rPr lang="zh-CN" altLang="en-US" sz="1800" b="1" dirty="0"/>
                        <a:t>第二层</a:t>
                      </a:r>
                      <a:endParaRPr lang="zh-CN" altLang="en-US" sz="1800" b="1" dirty="0"/>
                    </a:p>
                  </a:txBody>
                  <a:tcPr anchor="ctr">
                    <a:noFill/>
                  </a:tcPr>
                </a:tc>
              </a:tr>
              <a:tr h="571500">
                <a:tc>
                  <a:txBody>
                    <a:bodyPr/>
                    <a:lstStyle/>
                    <a:p>
                      <a:pPr algn="ctr">
                        <a:buNone/>
                      </a:pPr>
                      <a:r>
                        <a:rPr lang="zh-CN" altLang="en-US" sz="1800" b="1" dirty="0"/>
                        <a:t>第一层</a:t>
                      </a:r>
                      <a:endParaRPr lang="zh-CN" altLang="en-US" sz="1800" b="1" dirty="0"/>
                    </a:p>
                  </a:txBody>
                  <a:tcPr anchor="ctr">
                    <a:noFill/>
                  </a:tcPr>
                </a:tc>
              </a:tr>
            </a:tbl>
          </a:graphicData>
        </a:graphic>
      </p:graphicFrame>
      <p:graphicFrame>
        <p:nvGraphicFramePr>
          <p:cNvPr id="23" name="表格 22"/>
          <p:cNvGraphicFramePr/>
          <p:nvPr/>
        </p:nvGraphicFramePr>
        <p:xfrm>
          <a:off x="7191577" y="4776870"/>
          <a:ext cx="1104265" cy="1143000"/>
        </p:xfrm>
        <a:graphic>
          <a:graphicData uri="http://schemas.openxmlformats.org/drawingml/2006/table">
            <a:tbl>
              <a:tblPr firstRow="1" bandRow="1">
                <a:tableStyleId>{5940675A-B579-460E-94D1-54222C63F5DA}</a:tableStyleId>
              </a:tblPr>
              <a:tblGrid>
                <a:gridCol w="1104265"/>
              </a:tblGrid>
              <a:tr h="571500">
                <a:tc>
                  <a:txBody>
                    <a:bodyPr/>
                    <a:lstStyle/>
                    <a:p>
                      <a:pPr algn="ctr">
                        <a:buNone/>
                      </a:pPr>
                      <a:r>
                        <a:rPr lang="zh-CN" altLang="en-US" sz="1800" b="1" dirty="0"/>
                        <a:t>第二层</a:t>
                      </a:r>
                      <a:endParaRPr lang="zh-CN" altLang="en-US" sz="1800" b="1" dirty="0"/>
                    </a:p>
                  </a:txBody>
                  <a:tcPr anchor="ctr">
                    <a:noFill/>
                  </a:tcPr>
                </a:tc>
              </a:tr>
              <a:tr h="571500">
                <a:tc>
                  <a:txBody>
                    <a:bodyPr/>
                    <a:lstStyle/>
                    <a:p>
                      <a:pPr algn="ctr">
                        <a:buNone/>
                      </a:pPr>
                      <a:r>
                        <a:rPr lang="zh-CN" altLang="en-US" sz="1800" b="1" dirty="0"/>
                        <a:t>第一层</a:t>
                      </a:r>
                      <a:endParaRPr lang="zh-CN" altLang="en-US" sz="1800" b="1" dirty="0"/>
                    </a:p>
                  </a:txBody>
                  <a:tcPr anchor="ctr">
                    <a:noFill/>
                  </a:tcPr>
                </a:tc>
              </a:tr>
            </a:tbl>
          </a:graphicData>
        </a:graphic>
      </p:graphicFrame>
      <p:graphicFrame>
        <p:nvGraphicFramePr>
          <p:cNvPr id="24" name="表格 23"/>
          <p:cNvGraphicFramePr/>
          <p:nvPr/>
        </p:nvGraphicFramePr>
        <p:xfrm>
          <a:off x="5760922" y="4205370"/>
          <a:ext cx="1095375" cy="1714500"/>
        </p:xfrm>
        <a:graphic>
          <a:graphicData uri="http://schemas.openxmlformats.org/drawingml/2006/table">
            <a:tbl>
              <a:tblPr firstRow="1" bandRow="1">
                <a:tableStyleId>{5940675A-B579-460E-94D1-54222C63F5DA}</a:tableStyleId>
              </a:tblPr>
              <a:tblGrid>
                <a:gridCol w="1095375"/>
              </a:tblGrid>
              <a:tr h="571500">
                <a:tc>
                  <a:txBody>
                    <a:bodyPr/>
                    <a:lstStyle/>
                    <a:p>
                      <a:pPr algn="ctr">
                        <a:buNone/>
                      </a:pPr>
                      <a:r>
                        <a:rPr lang="zh-CN" altLang="en-US" sz="1800" b="1" dirty="0"/>
                        <a:t>第三层</a:t>
                      </a:r>
                      <a:endParaRPr lang="zh-CN" altLang="en-US" sz="1800" b="1" dirty="0"/>
                    </a:p>
                  </a:txBody>
                  <a:tcPr anchor="ctr">
                    <a:noFill/>
                  </a:tcPr>
                </a:tc>
              </a:tr>
              <a:tr h="571500">
                <a:tc>
                  <a:txBody>
                    <a:bodyPr/>
                    <a:lstStyle/>
                    <a:p>
                      <a:pPr algn="ctr">
                        <a:buNone/>
                      </a:pPr>
                      <a:r>
                        <a:rPr lang="zh-CN" altLang="en-US" sz="1800" b="1" dirty="0"/>
                        <a:t>第二层</a:t>
                      </a:r>
                      <a:endParaRPr lang="zh-CN" altLang="en-US" sz="1800" b="1" dirty="0"/>
                    </a:p>
                  </a:txBody>
                  <a:tcPr anchor="ctr">
                    <a:noFill/>
                  </a:tcPr>
                </a:tc>
              </a:tr>
              <a:tr h="571500">
                <a:tc>
                  <a:txBody>
                    <a:bodyPr/>
                    <a:lstStyle/>
                    <a:p>
                      <a:pPr algn="ctr">
                        <a:buNone/>
                      </a:pPr>
                      <a:r>
                        <a:rPr lang="zh-CN" altLang="en-US" sz="1800" b="1" dirty="0"/>
                        <a:t>第一层</a:t>
                      </a:r>
                      <a:endParaRPr lang="zh-CN" altLang="en-US" sz="1800" b="1" dirty="0"/>
                    </a:p>
                  </a:txBody>
                  <a:tcPr anchor="ctr">
                    <a:noFill/>
                  </a:tcPr>
                </a:tc>
              </a:tr>
            </a:tbl>
          </a:graphicData>
        </a:graphic>
      </p:graphicFrame>
      <p:sp>
        <p:nvSpPr>
          <p:cNvPr id="27" name="内容占位符 2"/>
          <p:cNvSpPr>
            <a:spLocks noGrp="1"/>
          </p:cNvSpPr>
          <p:nvPr/>
        </p:nvSpPr>
        <p:spPr>
          <a:xfrm>
            <a:off x="8191067" y="2565800"/>
            <a:ext cx="15506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接收：</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hello</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28" name="图片 27"/>
          <p:cNvPicPr>
            <a:picLocks noChangeAspect="1"/>
          </p:cNvPicPr>
          <p:nvPr/>
        </p:nvPicPr>
        <p:blipFill>
          <a:blip r:embed="rId1" cstate="print"/>
          <a:stretch>
            <a:fillRect/>
          </a:stretch>
        </p:blipFill>
        <p:spPr>
          <a:xfrm>
            <a:off x="7813242" y="2451500"/>
            <a:ext cx="396240" cy="536575"/>
          </a:xfrm>
          <a:prstGeom prst="rect">
            <a:avLst/>
          </a:prstGeom>
        </p:spPr>
      </p:pic>
      <p:graphicFrame>
        <p:nvGraphicFramePr>
          <p:cNvPr id="29" name="表格 28"/>
          <p:cNvGraphicFramePr/>
          <p:nvPr/>
        </p:nvGraphicFramePr>
        <p:xfrm>
          <a:off x="838402" y="5455050"/>
          <a:ext cx="1969135" cy="330200"/>
        </p:xfrm>
        <a:graphic>
          <a:graphicData uri="http://schemas.openxmlformats.org/drawingml/2006/table">
            <a:tbl>
              <a:tblPr firstRow="1" bandRow="1">
                <a:tableStyleId>{5C22544A-7EE6-4342-B048-85BDC9FD1C3A}</a:tableStyleId>
              </a:tblPr>
              <a:tblGrid>
                <a:gridCol w="1969135"/>
              </a:tblGrid>
              <a:tr h="330200">
                <a:tc>
                  <a:txBody>
                    <a:bodyPr/>
                    <a:lstStyle/>
                    <a:p>
                      <a:pPr>
                        <a:buNone/>
                      </a:pPr>
                      <a:r>
                        <a:rPr lang="en-US" altLang="zh-CN" sz="2000">
                          <a:solidFill>
                            <a:schemeClr val="tx1"/>
                          </a:solidFill>
                        </a:rPr>
                        <a:t>101101010000...</a:t>
                      </a:r>
                      <a:endParaRPr lang="zh-CN" altLang="en-US" sz="2000">
                        <a:solidFill>
                          <a:schemeClr val="tx1"/>
                        </a:solidFill>
                      </a:endParaRPr>
                    </a:p>
                  </a:txBody>
                  <a:tcPr marL="0" marR="0" marT="0" marB="0">
                    <a:lnL>
                      <a:noFill/>
                    </a:lnL>
                    <a:lnR>
                      <a:noFill/>
                    </a:lnR>
                    <a:lnT>
                      <a:noFill/>
                    </a:lnT>
                    <a:lnB>
                      <a:noFill/>
                    </a:lnB>
                    <a:lnTlToBr>
                      <a:noFill/>
                    </a:lnTlToBr>
                    <a:lnBlToTr>
                      <a:noFill/>
                    </a:lnBlToTr>
                    <a:noFill/>
                  </a:tcPr>
                </a:tc>
              </a:tr>
            </a:tbl>
          </a:graphicData>
        </a:graphic>
      </p:graphicFrame>
      <p:graphicFrame>
        <p:nvGraphicFramePr>
          <p:cNvPr id="30" name="表格 29"/>
          <p:cNvGraphicFramePr/>
          <p:nvPr/>
        </p:nvGraphicFramePr>
        <p:xfrm>
          <a:off x="9919537" y="3207150"/>
          <a:ext cx="876935" cy="330200"/>
        </p:xfrm>
        <a:graphic>
          <a:graphicData uri="http://schemas.openxmlformats.org/drawingml/2006/table">
            <a:tbl>
              <a:tblPr firstRow="1" bandRow="1">
                <a:tableStyleId>{5C22544A-7EE6-4342-B048-85BDC9FD1C3A}</a:tableStyleId>
              </a:tblPr>
              <a:tblGrid>
                <a:gridCol w="876935"/>
              </a:tblGrid>
              <a:tr h="330200">
                <a:tc>
                  <a:txBody>
                    <a:bodyPr/>
                    <a:lstStyle/>
                    <a:p>
                      <a:pPr>
                        <a:buNone/>
                      </a:pPr>
                      <a:r>
                        <a:rPr lang="en-US" altLang="zh-CN" sz="2000" dirty="0">
                          <a:solidFill>
                            <a:schemeClr val="tx1"/>
                          </a:solidFill>
                        </a:rPr>
                        <a:t> </a:t>
                      </a:r>
                      <a:r>
                        <a:rPr lang="en-US" altLang="zh-CN" sz="2000" dirty="0">
                          <a:solidFill>
                            <a:srgbClr val="C00000"/>
                          </a:solidFill>
                        </a:rPr>
                        <a:t>hello</a:t>
                      </a:r>
                      <a:endParaRPr lang="en-US" altLang="zh-CN" sz="2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31" name="表格 30"/>
          <p:cNvGraphicFramePr/>
          <p:nvPr/>
        </p:nvGraphicFramePr>
        <p:xfrm>
          <a:off x="9893502" y="3727850"/>
          <a:ext cx="1271270" cy="330200"/>
        </p:xfrm>
        <a:graphic>
          <a:graphicData uri="http://schemas.openxmlformats.org/drawingml/2006/table">
            <a:tbl>
              <a:tblPr firstRow="1" bandRow="1">
                <a:tableStyleId>{5C22544A-7EE6-4342-B048-85BDC9FD1C3A}</a:tableStyleId>
              </a:tblPr>
              <a:tblGrid>
                <a:gridCol w="375285"/>
                <a:gridCol w="895985"/>
              </a:tblGrid>
              <a:tr h="330200">
                <a:tc>
                  <a:txBody>
                    <a:bodyPr/>
                    <a:lstStyle/>
                    <a:p>
                      <a:pPr>
                        <a:buNone/>
                      </a:pPr>
                      <a:r>
                        <a:rPr lang="en-US" altLang="zh-CN" sz="2000" dirty="0">
                          <a:solidFill>
                            <a:schemeClr val="tx1"/>
                          </a:solidFill>
                        </a:rPr>
                        <a:t> </a:t>
                      </a:r>
                      <a:r>
                        <a:rPr lang="en-US" altLang="zh-CN" sz="2000" dirty="0" err="1">
                          <a:solidFill>
                            <a:srgbClr val="C00000"/>
                          </a:solidFill>
                        </a:rPr>
                        <a:t>H</a:t>
                      </a:r>
                      <a:r>
                        <a:rPr lang="en-US" altLang="zh-CN" sz="2800" baseline="-25000" dirty="0" err="1">
                          <a:solidFill>
                            <a:srgbClr val="C00000"/>
                          </a:solidFill>
                        </a:rPr>
                        <a:t>t</a:t>
                      </a:r>
                      <a:endParaRPr lang="en-US" altLang="zh-CN" sz="2800" baseline="-25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32" name="表格 31"/>
          <p:cNvGraphicFramePr/>
          <p:nvPr/>
        </p:nvGraphicFramePr>
        <p:xfrm>
          <a:off x="9894772" y="4326020"/>
          <a:ext cx="1689100" cy="330200"/>
        </p:xfrm>
        <a:graphic>
          <a:graphicData uri="http://schemas.openxmlformats.org/drawingml/2006/table">
            <a:tbl>
              <a:tblPr firstRow="1" bandRow="1">
                <a:tableStyleId>{5C22544A-7EE6-4342-B048-85BDC9FD1C3A}</a:tableStyleId>
              </a:tblPr>
              <a:tblGrid>
                <a:gridCol w="397510"/>
                <a:gridCol w="447675"/>
                <a:gridCol w="843915"/>
              </a:tblGrid>
              <a:tr h="330200">
                <a:tc>
                  <a:txBody>
                    <a:bodyPr/>
                    <a:lstStyle/>
                    <a:p>
                      <a:pPr>
                        <a:buNone/>
                      </a:pPr>
                      <a:r>
                        <a:rPr lang="en-US" altLang="zh-CN" sz="2000" dirty="0">
                          <a:solidFill>
                            <a:schemeClr val="tx1"/>
                          </a:solidFill>
                          <a:sym typeface="+mn-ea"/>
                        </a:rPr>
                        <a:t> </a:t>
                      </a:r>
                      <a:r>
                        <a:rPr lang="en-US" altLang="zh-CN" sz="2000" dirty="0" err="1">
                          <a:solidFill>
                            <a:srgbClr val="C00000"/>
                          </a:solidFill>
                          <a:sym typeface="+mn-ea"/>
                        </a:rPr>
                        <a:t>H</a:t>
                      </a:r>
                      <a:r>
                        <a:rPr lang="en-US" altLang="zh-CN" sz="2000" baseline="-25000" dirty="0" err="1">
                          <a:solidFill>
                            <a:srgbClr val="C00000"/>
                          </a:solidFill>
                          <a:sym typeface="+mn-ea"/>
                        </a:rPr>
                        <a:t>n</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endParaRPr lang="en-US" altLang="zh-CN" sz="2000" baseline="-2500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33" name="表格 32"/>
          <p:cNvGraphicFramePr/>
          <p:nvPr/>
        </p:nvGraphicFramePr>
        <p:xfrm>
          <a:off x="9895407" y="4910220"/>
          <a:ext cx="2094865" cy="330200"/>
        </p:xfrm>
        <a:graphic>
          <a:graphicData uri="http://schemas.openxmlformats.org/drawingml/2006/table">
            <a:tbl>
              <a:tblPr firstRow="1" bandRow="1">
                <a:tableStyleId>{5C22544A-7EE6-4342-B048-85BDC9FD1C3A}</a:tableStyleId>
              </a:tblPr>
              <a:tblGrid>
                <a:gridCol w="314960"/>
                <a:gridCol w="447675"/>
                <a:gridCol w="469900"/>
                <a:gridCol w="862330"/>
              </a:tblGrid>
              <a:tr h="330200">
                <a:tc>
                  <a:txBody>
                    <a:bodyPr/>
                    <a:lstStyle/>
                    <a:p>
                      <a:pPr>
                        <a:buNone/>
                      </a:pPr>
                      <a:r>
                        <a:rPr lang="en-US" altLang="zh-CN" sz="2000" dirty="0">
                          <a:solidFill>
                            <a:schemeClr val="tx1"/>
                          </a:solidFill>
                          <a:sym typeface="+mn-ea"/>
                        </a:rPr>
                        <a:t> </a:t>
                      </a:r>
                      <a:r>
                        <a:rPr lang="en-US" altLang="zh-CN" sz="2000" dirty="0">
                          <a:solidFill>
                            <a:srgbClr val="C00000"/>
                          </a:solidFill>
                          <a:sym typeface="+mn-ea"/>
                        </a:rPr>
                        <a:t>H</a:t>
                      </a:r>
                      <a:r>
                        <a:rPr lang="en-US" altLang="zh-CN" sz="2000" baseline="-25000" dirty="0">
                          <a:solidFill>
                            <a:srgbClr val="C00000"/>
                          </a:solidFill>
                          <a:sym typeface="+mn-ea"/>
                        </a:rPr>
                        <a:t>l</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sym typeface="+mn-ea"/>
                        </a:rPr>
                        <a:t> H</a:t>
                      </a:r>
                      <a:r>
                        <a:rPr lang="en-US" altLang="zh-CN" sz="2000" baseline="-25000">
                          <a:solidFill>
                            <a:schemeClr val="tx1"/>
                          </a:solidFill>
                          <a:sym typeface="+mn-ea"/>
                        </a:rPr>
                        <a:t>n</a:t>
                      </a:r>
                      <a:endParaRPr lang="en-US" altLang="zh-CN" sz="2000" baseline="-25000">
                        <a:solidFill>
                          <a:schemeClr val="tx1"/>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endParaRPr lang="en-US" altLang="zh-CN" sz="2000" baseline="-2500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34" name="表格 33"/>
          <p:cNvGraphicFramePr/>
          <p:nvPr/>
        </p:nvGraphicFramePr>
        <p:xfrm>
          <a:off x="9969702" y="5455050"/>
          <a:ext cx="1969135" cy="330200"/>
        </p:xfrm>
        <a:graphic>
          <a:graphicData uri="http://schemas.openxmlformats.org/drawingml/2006/table">
            <a:tbl>
              <a:tblPr firstRow="1" bandRow="1">
                <a:tableStyleId>{5C22544A-7EE6-4342-B048-85BDC9FD1C3A}</a:tableStyleId>
              </a:tblPr>
              <a:tblGrid>
                <a:gridCol w="1969135"/>
              </a:tblGrid>
              <a:tr h="330200">
                <a:tc>
                  <a:txBody>
                    <a:bodyPr/>
                    <a:lstStyle/>
                    <a:p>
                      <a:pPr>
                        <a:buNone/>
                      </a:pPr>
                      <a:r>
                        <a:rPr lang="en-US" altLang="zh-CN" sz="2000">
                          <a:solidFill>
                            <a:schemeClr val="tx1"/>
                          </a:solidFill>
                        </a:rPr>
                        <a:t>101101010000...</a:t>
                      </a:r>
                      <a:endParaRPr lang="zh-CN" altLang="en-US" sz="2000">
                        <a:solidFill>
                          <a:schemeClr val="tx1"/>
                        </a:solidFill>
                      </a:endParaRPr>
                    </a:p>
                  </a:txBody>
                  <a:tcPr marL="0" marR="0" marT="0" marB="0">
                    <a:lnL>
                      <a:noFill/>
                    </a:lnL>
                    <a:lnR>
                      <a:noFill/>
                    </a:lnR>
                    <a:lnT>
                      <a:noFill/>
                    </a:lnT>
                    <a:lnB>
                      <a:noFill/>
                    </a:lnB>
                    <a:lnTlToBr>
                      <a:noFill/>
                    </a:lnTlToBr>
                    <a:lnBlToTr>
                      <a:noFill/>
                    </a:lnBlToTr>
                    <a:noFill/>
                  </a:tcPr>
                </a:tc>
              </a:tr>
            </a:tbl>
          </a:graphicData>
        </a:graphic>
      </p:graphicFrame>
      <p:cxnSp>
        <p:nvCxnSpPr>
          <p:cNvPr id="42" name="直接箭头连接符 41"/>
          <p:cNvCxnSpPr>
            <a:stCxn id="7" idx="3"/>
          </p:cNvCxnSpPr>
          <p:nvPr/>
        </p:nvCxnSpPr>
        <p:spPr>
          <a:xfrm flipH="1">
            <a:off x="3939107" y="2796305"/>
            <a:ext cx="12700" cy="2658745"/>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3926407" y="558205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5310707" y="558205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6747712" y="562015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8232342" y="562015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4567757" y="4776870"/>
            <a:ext cx="0" cy="8432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5939357" y="4205370"/>
            <a:ext cx="0" cy="14147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7399857" y="4776870"/>
            <a:ext cx="0" cy="8432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643322" y="4862595"/>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7505902" y="4862595"/>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6032702" y="4326020"/>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6666432" y="4326020"/>
            <a:ext cx="0" cy="135763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V="1">
            <a:off x="5272607" y="4828305"/>
            <a:ext cx="0" cy="84328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8134552" y="4862595"/>
            <a:ext cx="0" cy="84328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8797492" y="2873775"/>
            <a:ext cx="0" cy="2708275"/>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sp>
        <p:nvSpPr>
          <p:cNvPr id="58" name="内容占位符 2"/>
          <p:cNvSpPr>
            <a:spLocks noGrp="1"/>
          </p:cNvSpPr>
          <p:nvPr/>
        </p:nvSpPr>
        <p:spPr>
          <a:xfrm>
            <a:off x="3062172" y="593217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主机</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9" name="内容占位符 2"/>
          <p:cNvSpPr>
            <a:spLocks noGrp="1"/>
          </p:cNvSpPr>
          <p:nvPr/>
        </p:nvSpPr>
        <p:spPr>
          <a:xfrm>
            <a:off x="4485842" y="5932170"/>
            <a:ext cx="95123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交换机</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0" name="内容占位符 2"/>
          <p:cNvSpPr>
            <a:spLocks noGrp="1"/>
          </p:cNvSpPr>
          <p:nvPr/>
        </p:nvSpPr>
        <p:spPr>
          <a:xfrm>
            <a:off x="7300162" y="5958840"/>
            <a:ext cx="95123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交换机</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1" name="内容占位符 2"/>
          <p:cNvSpPr>
            <a:spLocks noGrp="1"/>
          </p:cNvSpPr>
          <p:nvPr/>
        </p:nvSpPr>
        <p:spPr>
          <a:xfrm>
            <a:off x="8863532" y="5957570"/>
            <a:ext cx="126365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主机</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2" name="内容占位符 2"/>
          <p:cNvSpPr>
            <a:spLocks noGrp="1"/>
          </p:cNvSpPr>
          <p:nvPr/>
        </p:nvSpPr>
        <p:spPr>
          <a:xfrm>
            <a:off x="5886017" y="5957570"/>
            <a:ext cx="86868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路由器</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 name="内容占位符 2"/>
          <p:cNvSpPr>
            <a:spLocks noGrp="1"/>
          </p:cNvSpPr>
          <p:nvPr/>
        </p:nvSpPr>
        <p:spPr>
          <a:xfrm>
            <a:off x="4131513" y="3156350"/>
            <a:ext cx="2001321"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封装</a:t>
            </a:r>
            <a:endPar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spcBef>
                <a:spcPts val="600"/>
              </a:spcBef>
              <a:spcAft>
                <a:spcPts val="0"/>
              </a:spcAft>
              <a:buClrTx/>
              <a:buSzTx/>
              <a:buFont typeface="Wingdings" panose="05000000000000000000" pitchFamily="2" charset="2"/>
              <a:buNone/>
              <a:defRPr/>
            </a:pPr>
            <a:r>
              <a:rPr kumimoji="1"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Encapsulation</a:t>
            </a:r>
            <a:endParaRPr kumimoji="1"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64" name="内容占位符 2"/>
          <p:cNvSpPr>
            <a:spLocks noGrp="1"/>
          </p:cNvSpPr>
          <p:nvPr/>
        </p:nvSpPr>
        <p:spPr>
          <a:xfrm>
            <a:off x="6420686" y="3127775"/>
            <a:ext cx="2228851"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解封装</a:t>
            </a:r>
            <a:endPar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spcBef>
                <a:spcPts val="600"/>
              </a:spcBef>
              <a:spcAft>
                <a:spcPts val="0"/>
              </a:spcAft>
              <a:buClrTx/>
              <a:buSzTx/>
              <a:buFont typeface="Wingdings" panose="05000000000000000000" pitchFamily="2" charset="2"/>
              <a:buNone/>
              <a:defRPr/>
            </a:pPr>
            <a:r>
              <a:rPr kumimoji="1"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De-encapsulation</a:t>
            </a:r>
            <a:endParaRPr kumimoji="1"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66" name="文本框 6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服务原语</a:t>
            </a:r>
            <a:endParaRPr lang="zh-CN" altLang="en-US" dirty="0"/>
          </a:p>
        </p:txBody>
      </p:sp>
      <p:sp>
        <p:nvSpPr>
          <p:cNvPr id="3" name="内容占位符 2"/>
          <p:cNvSpPr>
            <a:spLocks noGrp="1"/>
          </p:cNvSpPr>
          <p:nvPr>
            <p:ph idx="1"/>
          </p:nvPr>
        </p:nvSpPr>
        <p:spPr>
          <a:xfrm>
            <a:off x="838200" y="1510758"/>
            <a:ext cx="10515600" cy="4982116"/>
          </a:xfrm>
        </p:spPr>
        <p:txBody>
          <a:bodyPr>
            <a:normAutofit lnSpcReduction="10000"/>
          </a:bodyPr>
          <a:lstStyle/>
          <a:p>
            <a:r>
              <a:rPr lang="zh-CN" altLang="en-US" dirty="0"/>
              <a:t>两种不同类型的服务：面向连接和无连接</a:t>
            </a:r>
            <a:endParaRPr lang="zh-CN" altLang="en-US" dirty="0"/>
          </a:p>
          <a:p>
            <a:pPr lvl="1"/>
            <a:r>
              <a:rPr lang="zh-CN" altLang="en-US" dirty="0">
                <a:solidFill>
                  <a:srgbClr val="C00000"/>
                </a:solidFill>
              </a:rPr>
              <a:t>面向连接</a:t>
            </a:r>
            <a:r>
              <a:rPr lang="zh-CN" altLang="en-US" dirty="0"/>
              <a:t>：按照电话系统模型建立的（一个常见的例子）</a:t>
            </a:r>
            <a:endParaRPr lang="zh-CN" altLang="en-US" dirty="0"/>
          </a:p>
          <a:p>
            <a:pPr lvl="2"/>
            <a:r>
              <a:rPr lang="zh-CN" altLang="en-US" sz="2200" dirty="0"/>
              <a:t>拨姑姑家的电话号码。</a:t>
            </a:r>
            <a:endParaRPr lang="zh-CN" altLang="en-US" sz="2200" dirty="0"/>
          </a:p>
          <a:p>
            <a:pPr lvl="2"/>
            <a:r>
              <a:rPr lang="zh-CN" altLang="en-US" sz="2200" dirty="0"/>
              <a:t>她家的电话铃响了。</a:t>
            </a:r>
            <a:endParaRPr lang="zh-CN" altLang="en-US" sz="2200" dirty="0"/>
          </a:p>
          <a:p>
            <a:pPr lvl="2"/>
            <a:r>
              <a:rPr lang="zh-CN" altLang="en-US" sz="2200" dirty="0"/>
              <a:t>她拿起电话。</a:t>
            </a:r>
            <a:endParaRPr lang="zh-CN" altLang="en-US" sz="2200" dirty="0"/>
          </a:p>
          <a:p>
            <a:pPr lvl="2"/>
            <a:r>
              <a:rPr lang="zh-CN" altLang="en-US" sz="2200" dirty="0"/>
              <a:t>你听到响铃停止。</a:t>
            </a:r>
            <a:endParaRPr lang="zh-CN" altLang="en-US" sz="2200" dirty="0"/>
          </a:p>
          <a:p>
            <a:pPr lvl="2"/>
            <a:r>
              <a:rPr lang="zh-CN" altLang="en-US" sz="2200" dirty="0"/>
              <a:t>你邀请她来喝茶。</a:t>
            </a:r>
            <a:endParaRPr lang="zh-CN" altLang="en-US" sz="2200" dirty="0"/>
          </a:p>
          <a:p>
            <a:pPr lvl="2"/>
            <a:r>
              <a:rPr lang="zh-CN" altLang="en-US" sz="2200" dirty="0"/>
              <a:t>她听到了你的邀请。</a:t>
            </a:r>
            <a:endParaRPr lang="zh-CN" altLang="en-US" sz="2200" dirty="0"/>
          </a:p>
          <a:p>
            <a:pPr lvl="2"/>
            <a:r>
              <a:rPr lang="zh-CN" altLang="en-US" sz="2200" dirty="0"/>
              <a:t>她说她很高兴来。</a:t>
            </a:r>
            <a:endParaRPr lang="zh-CN" altLang="en-US" sz="2200" dirty="0"/>
          </a:p>
          <a:p>
            <a:pPr lvl="2"/>
            <a:r>
              <a:rPr lang="zh-CN" altLang="en-US" sz="2200" dirty="0"/>
              <a:t>你听到她接受邀请。</a:t>
            </a:r>
            <a:endParaRPr lang="zh-CN" altLang="en-US" sz="2200" dirty="0"/>
          </a:p>
          <a:p>
            <a:pPr lvl="2"/>
            <a:r>
              <a:rPr lang="zh-CN" altLang="en-US" sz="2200" dirty="0"/>
              <a:t>你挂断电话。</a:t>
            </a:r>
            <a:endParaRPr lang="zh-CN" altLang="en-US" sz="2200" dirty="0"/>
          </a:p>
          <a:p>
            <a:pPr lvl="2"/>
            <a:r>
              <a:rPr lang="zh-CN" altLang="en-US" sz="2200" dirty="0"/>
              <a:t>她听到了，也挂断电话。</a:t>
            </a:r>
            <a:endParaRPr lang="zh-CN" altLang="en-US" sz="2200" dirty="0"/>
          </a:p>
          <a:p>
            <a:pPr marL="914400" lvl="2" indent="0">
              <a:buNone/>
            </a:pPr>
            <a:endParaRPr lang="zh-CN" altLang="en-US" dirty="0"/>
          </a:p>
        </p:txBody>
      </p:sp>
      <p:sp>
        <p:nvSpPr>
          <p:cNvPr id="6" name="矩形 5"/>
          <p:cNvSpPr/>
          <p:nvPr/>
        </p:nvSpPr>
        <p:spPr>
          <a:xfrm>
            <a:off x="5701553" y="3631210"/>
            <a:ext cx="5537947" cy="1485920"/>
          </a:xfrm>
          <a:prstGeom prst="rect">
            <a:avLst/>
          </a:prstGeom>
          <a:ln>
            <a:solidFill>
              <a:srgbClr val="7030A0"/>
            </a:solidFill>
          </a:ln>
        </p:spPr>
        <p:txBody>
          <a:bodyPr wrap="square">
            <a:spAutoFit/>
          </a:bodyPr>
          <a:lstStyle/>
          <a:p>
            <a:pPr algn="ctr">
              <a:lnSpc>
                <a:spcPct val="130000"/>
              </a:lnSpc>
            </a:pPr>
            <a:r>
              <a:rPr kumimoji="1" lang="zh-CN" altLang="en-US" sz="2400" dirty="0">
                <a:solidFill>
                  <a:prstClr val="black"/>
                </a:solidFill>
                <a:latin typeface="微软雅黑" panose="020B0503020204020204" pitchFamily="34" charset="-122"/>
                <a:ea typeface="微软雅黑" panose="020B0503020204020204" pitchFamily="34" charset="-122"/>
              </a:rPr>
              <a:t>面向连接的服务</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algn="l">
              <a:lnSpc>
                <a:spcPct val="130000"/>
              </a:lnSpc>
            </a:pPr>
            <a:r>
              <a:rPr kumimoji="1" lang="zh-CN" altLang="en-US" sz="2400" dirty="0">
                <a:solidFill>
                  <a:prstClr val="black"/>
                </a:solidFill>
                <a:latin typeface="微软雅黑" panose="020B0503020204020204" pitchFamily="34" charset="-122"/>
                <a:ea typeface="微软雅黑" panose="020B0503020204020204" pitchFamily="34" charset="-122"/>
              </a:rPr>
              <a:t>每个“请求”或“响应”后，都在对方产生一个“指示”或“确认”动作</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7" name="右中括号 6"/>
          <p:cNvSpPr/>
          <p:nvPr/>
        </p:nvSpPr>
        <p:spPr>
          <a:xfrm flipH="1">
            <a:off x="1645920" y="2468880"/>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3" name="右中括号 12"/>
          <p:cNvSpPr/>
          <p:nvPr/>
        </p:nvSpPr>
        <p:spPr>
          <a:xfrm flipH="1">
            <a:off x="1645920" y="3220337"/>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4" name="右中括号 13"/>
          <p:cNvSpPr/>
          <p:nvPr/>
        </p:nvSpPr>
        <p:spPr>
          <a:xfrm flipH="1">
            <a:off x="1645920" y="3971794"/>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5" name="右中括号 14"/>
          <p:cNvSpPr/>
          <p:nvPr/>
        </p:nvSpPr>
        <p:spPr>
          <a:xfrm flipH="1">
            <a:off x="1645920" y="4723251"/>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6" name="右中括号 15"/>
          <p:cNvSpPr/>
          <p:nvPr/>
        </p:nvSpPr>
        <p:spPr>
          <a:xfrm flipH="1">
            <a:off x="1645920" y="5474709"/>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2" name="文本框 11"/>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服务原语</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C00000"/>
                </a:solidFill>
                <a:sym typeface="+mn-ea"/>
              </a:rPr>
              <a:t>无连接</a:t>
            </a:r>
            <a:r>
              <a:rPr lang="zh-CN" altLang="en-US" dirty="0">
                <a:sym typeface="+mn-ea"/>
              </a:rPr>
              <a:t>：按照邮政系统模型建立的（一个常见的例子）</a:t>
            </a:r>
            <a:endParaRPr lang="zh-CN" altLang="en-US" dirty="0"/>
          </a:p>
          <a:p>
            <a:pPr lvl="2"/>
            <a:r>
              <a:rPr lang="zh-CN" altLang="en-US" sz="2400" dirty="0">
                <a:solidFill>
                  <a:schemeClr val="tx1"/>
                </a:solidFill>
                <a:sym typeface="+mn-ea"/>
              </a:rPr>
              <a:t>有快递要发给朋友</a:t>
            </a:r>
            <a:endParaRPr lang="zh-CN" altLang="en-US" sz="2400" dirty="0">
              <a:solidFill>
                <a:schemeClr val="tx1"/>
              </a:solidFill>
            </a:endParaRPr>
          </a:p>
          <a:p>
            <a:pPr lvl="2"/>
            <a:r>
              <a:rPr lang="zh-CN" altLang="en-US" sz="2400" dirty="0">
                <a:solidFill>
                  <a:schemeClr val="tx1"/>
                </a:solidFill>
                <a:sym typeface="+mn-ea"/>
              </a:rPr>
              <a:t>快递员上门取件</a:t>
            </a:r>
            <a:endParaRPr lang="zh-CN" altLang="en-US" sz="2400" dirty="0">
              <a:solidFill>
                <a:schemeClr val="tx1"/>
              </a:solidFill>
            </a:endParaRPr>
          </a:p>
          <a:p>
            <a:pPr lvl="2"/>
            <a:r>
              <a:rPr lang="zh-CN" altLang="en-US" sz="2400" dirty="0">
                <a:solidFill>
                  <a:schemeClr val="tx1"/>
                </a:solidFill>
                <a:sym typeface="+mn-ea"/>
              </a:rPr>
              <a:t>快递进入区域集散中心</a:t>
            </a:r>
            <a:endParaRPr lang="zh-CN" altLang="en-US" sz="2400" dirty="0">
              <a:solidFill>
                <a:schemeClr val="tx1"/>
              </a:solidFill>
              <a:sym typeface="+mn-ea"/>
            </a:endParaRPr>
          </a:p>
          <a:p>
            <a:pPr lvl="2"/>
            <a:r>
              <a:rPr lang="zh-CN" altLang="en-US" sz="2400" dirty="0">
                <a:solidFill>
                  <a:schemeClr val="tx1"/>
                </a:solidFill>
                <a:sym typeface="+mn-ea"/>
              </a:rPr>
              <a:t>区域集散中心通过运输系统发到目的地</a:t>
            </a:r>
            <a:endParaRPr lang="zh-CN" altLang="en-US" sz="2400" dirty="0">
              <a:solidFill>
                <a:schemeClr val="tx1"/>
              </a:solidFill>
              <a:sym typeface="+mn-ea"/>
            </a:endParaRPr>
          </a:p>
          <a:p>
            <a:pPr lvl="2"/>
            <a:r>
              <a:rPr lang="zh-CN" altLang="en-US" sz="2400" dirty="0">
                <a:solidFill>
                  <a:schemeClr val="tx1"/>
                </a:solidFill>
              </a:rPr>
              <a:t>区域集散中心分发给目的地快递员</a:t>
            </a:r>
            <a:endParaRPr lang="zh-CN" altLang="en-US" sz="2400" dirty="0">
              <a:solidFill>
                <a:schemeClr val="tx1"/>
              </a:solidFill>
            </a:endParaRPr>
          </a:p>
          <a:p>
            <a:pPr lvl="2"/>
            <a:r>
              <a:rPr lang="zh-CN" altLang="en-US" sz="2400" dirty="0">
                <a:solidFill>
                  <a:schemeClr val="tx1"/>
                </a:solidFill>
                <a:sym typeface="+mn-ea"/>
              </a:rPr>
              <a:t>快递员按照地址派送</a:t>
            </a:r>
            <a:endParaRPr lang="zh-CN" altLang="en-US" sz="2400" dirty="0">
              <a:solidFill>
                <a:schemeClr val="tx1"/>
              </a:solidFill>
            </a:endParaRPr>
          </a:p>
          <a:p>
            <a:endParaRPr lang="zh-CN" altLang="en-US" sz="2400" dirty="0">
              <a:solidFill>
                <a:schemeClr val="tx1"/>
              </a:solidFill>
            </a:endParaRPr>
          </a:p>
        </p:txBody>
      </p:sp>
      <p:sp>
        <p:nvSpPr>
          <p:cNvPr id="6" name="矩形 5"/>
          <p:cNvSpPr/>
          <p:nvPr/>
        </p:nvSpPr>
        <p:spPr>
          <a:xfrm>
            <a:off x="2608081" y="4962398"/>
            <a:ext cx="6975837" cy="1135054"/>
          </a:xfrm>
          <a:prstGeom prst="rect">
            <a:avLst/>
          </a:prstGeom>
          <a:ln>
            <a:solidFill>
              <a:srgbClr val="7030A0"/>
            </a:solidFill>
          </a:ln>
        </p:spPr>
        <p:txBody>
          <a:bodyPr wrap="square">
            <a:spAutoFit/>
          </a:bodyPr>
          <a:lstStyle/>
          <a:p>
            <a:pPr algn="ctr">
              <a:lnSpc>
                <a:spcPct val="150000"/>
              </a:lnSpc>
            </a:pPr>
            <a:r>
              <a:rPr kumimoji="1" lang="zh-CN" altLang="en-US" sz="2400" dirty="0">
                <a:solidFill>
                  <a:prstClr val="black"/>
                </a:solidFill>
                <a:latin typeface="微软雅黑" panose="020B0503020204020204" pitchFamily="34" charset="-122"/>
                <a:ea typeface="微软雅黑" panose="020B0503020204020204" pitchFamily="34" charset="-122"/>
              </a:rPr>
              <a:t>无连接的服务</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algn="l">
              <a:lnSpc>
                <a:spcPct val="150000"/>
              </a:lnSpc>
            </a:pPr>
            <a:r>
              <a:rPr kumimoji="1" lang="zh-CN" altLang="en-US" sz="2400" dirty="0">
                <a:solidFill>
                  <a:prstClr val="black"/>
                </a:solidFill>
                <a:latin typeface="微软雅黑" panose="020B0503020204020204" pitchFamily="34" charset="-122"/>
                <a:ea typeface="微软雅黑" panose="020B0503020204020204" pitchFamily="34" charset="-122"/>
              </a:rPr>
              <a:t>邮件携带了完整的目标地址，传输过程不需要应答</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 name="文本框 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服务原语</a:t>
            </a:r>
            <a:endParaRPr lang="zh-CN" altLang="en-US" dirty="0"/>
          </a:p>
        </p:txBody>
      </p:sp>
      <p:sp>
        <p:nvSpPr>
          <p:cNvPr id="3" name="内容占位符 2"/>
          <p:cNvSpPr>
            <a:spLocks noGrp="1"/>
          </p:cNvSpPr>
          <p:nvPr>
            <p:ph idx="1"/>
          </p:nvPr>
        </p:nvSpPr>
        <p:spPr>
          <a:xfrm>
            <a:off x="838200" y="1312638"/>
            <a:ext cx="10515600" cy="1979838"/>
          </a:xfrm>
        </p:spPr>
        <p:txBody>
          <a:bodyPr>
            <a:normAutofit fontScale="85000" lnSpcReduction="20000"/>
          </a:bodyPr>
          <a:lstStyle/>
          <a:p>
            <a:pPr>
              <a:lnSpc>
                <a:spcPct val="120000"/>
              </a:lnSpc>
              <a:spcBef>
                <a:spcPts val="200"/>
              </a:spcBef>
            </a:pPr>
            <a:r>
              <a:rPr lang="zh-CN" altLang="en-US" dirty="0"/>
              <a:t>服务</a:t>
            </a:r>
            <a:endParaRPr lang="zh-CN" altLang="en-US" dirty="0"/>
          </a:p>
          <a:p>
            <a:pPr lvl="1">
              <a:lnSpc>
                <a:spcPct val="120000"/>
              </a:lnSpc>
              <a:spcBef>
                <a:spcPts val="200"/>
              </a:spcBef>
            </a:pPr>
            <a:r>
              <a:rPr lang="zh-CN" altLang="en-US" dirty="0"/>
              <a:t>典型服务：面向连接传输服务，无连接传输服务</a:t>
            </a:r>
            <a:endParaRPr lang="en-US" altLang="zh-CN" dirty="0"/>
          </a:p>
          <a:p>
            <a:pPr lvl="1">
              <a:lnSpc>
                <a:spcPct val="120000"/>
              </a:lnSpc>
              <a:spcBef>
                <a:spcPts val="200"/>
              </a:spcBef>
            </a:pPr>
            <a:r>
              <a:rPr lang="zh-CN" altLang="en-US" dirty="0"/>
              <a:t>服务由一组可用于用户进程以访问服务的原语（操作）形式指定</a:t>
            </a:r>
            <a:endParaRPr lang="zh-CN" altLang="en-US" dirty="0"/>
          </a:p>
          <a:p>
            <a:pPr lvl="1">
              <a:lnSpc>
                <a:spcPct val="120000"/>
              </a:lnSpc>
              <a:spcBef>
                <a:spcPts val="200"/>
              </a:spcBef>
            </a:pPr>
            <a:r>
              <a:rPr lang="zh-CN" altLang="en-US" dirty="0"/>
              <a:t>原语告诉服务执行某些操作或报告对等实体所采取的操作</a:t>
            </a:r>
            <a:endParaRPr lang="zh-CN" altLang="en-US" dirty="0"/>
          </a:p>
          <a:p>
            <a:pPr marL="228600" lvl="0" indent="-228600">
              <a:lnSpc>
                <a:spcPct val="120000"/>
              </a:lnSpc>
              <a:spcBef>
                <a:spcPts val="200"/>
              </a:spcBef>
              <a:buFont typeface="Wingdings" panose="05000000000000000000" charset="0"/>
              <a:buChar char="Ø"/>
            </a:pPr>
            <a:r>
              <a:rPr lang="zh-CN" altLang="en-US" dirty="0">
                <a:solidFill>
                  <a:schemeClr val="tx1"/>
                </a:solidFill>
              </a:rPr>
              <a:t>六个核心服务原语（</a:t>
            </a:r>
            <a:r>
              <a:rPr lang="zh-CN" altLang="en-US" dirty="0">
                <a:solidFill>
                  <a:srgbClr val="C00000"/>
                </a:solidFill>
              </a:rPr>
              <a:t>以面向连接服务为例</a:t>
            </a:r>
            <a:r>
              <a:rPr lang="zh-CN" altLang="en-US" dirty="0">
                <a:solidFill>
                  <a:schemeClr val="tx1"/>
                </a:solidFill>
              </a:rPr>
              <a:t>）</a:t>
            </a:r>
            <a:endParaRPr lang="zh-CN" altLang="en-US" dirty="0">
              <a:solidFill>
                <a:schemeClr val="tx1"/>
              </a:solidFill>
            </a:endParaRPr>
          </a:p>
        </p:txBody>
      </p:sp>
      <p:grpSp>
        <p:nvGrpSpPr>
          <p:cNvPr id="6" name="组合 5"/>
          <p:cNvGrpSpPr/>
          <p:nvPr/>
        </p:nvGrpSpPr>
        <p:grpSpPr>
          <a:xfrm>
            <a:off x="1437640" y="3582036"/>
            <a:ext cx="10169525" cy="3033394"/>
            <a:chOff x="2404" y="4153"/>
            <a:chExt cx="16015" cy="5449"/>
          </a:xfrm>
        </p:grpSpPr>
        <p:grpSp>
          <p:nvGrpSpPr>
            <p:cNvPr id="7" name="组合 6"/>
            <p:cNvGrpSpPr/>
            <p:nvPr/>
          </p:nvGrpSpPr>
          <p:grpSpPr>
            <a:xfrm>
              <a:off x="2419" y="4380"/>
              <a:ext cx="5314" cy="5222"/>
              <a:chOff x="2419" y="4380"/>
              <a:chExt cx="5314" cy="5222"/>
            </a:xfrm>
          </p:grpSpPr>
          <p:sp>
            <p:nvSpPr>
              <p:cNvPr id="34" name="矩形 33"/>
              <p:cNvSpPr/>
              <p:nvPr/>
            </p:nvSpPr>
            <p:spPr>
              <a:xfrm>
                <a:off x="2419" y="4380"/>
                <a:ext cx="5314" cy="5222"/>
              </a:xfrm>
              <a:prstGeom prst="rect">
                <a:avLst/>
              </a:prstGeom>
              <a:solidFill>
                <a:schemeClr val="bg1"/>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4527" y="5527"/>
                <a:ext cx="1097" cy="114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419" y="8147"/>
                <a:ext cx="5314" cy="1455"/>
              </a:xfrm>
              <a:prstGeom prst="rect">
                <a:avLst/>
              </a:prstGeom>
              <a:solidFill>
                <a:schemeClr val="bg1"/>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箭头连接符 11"/>
              <p:cNvCxnSpPr>
                <a:stCxn id="35" idx="4"/>
              </p:cNvCxnSpPr>
              <p:nvPr/>
            </p:nvCxnSpPr>
            <p:spPr>
              <a:xfrm>
                <a:off x="5076" y="6674"/>
                <a:ext cx="0" cy="1473"/>
              </a:xfrm>
              <a:prstGeom prst="straightConnector1">
                <a:avLst/>
              </a:prstGeom>
              <a:ln w="44450">
                <a:headEnd type="arrow"/>
                <a:tailEnd type="arrow"/>
              </a:ln>
            </p:spPr>
            <p:style>
              <a:lnRef idx="1">
                <a:schemeClr val="accent1"/>
              </a:lnRef>
              <a:fillRef idx="0">
                <a:schemeClr val="accent1"/>
              </a:fillRef>
              <a:effectRef idx="0">
                <a:schemeClr val="accent1"/>
              </a:effectRef>
              <a:fontRef idx="minor">
                <a:schemeClr val="tx1"/>
              </a:fontRef>
            </p:style>
          </p:cxnSp>
          <p:cxnSp>
            <p:nvCxnSpPr>
              <p:cNvPr id="38" name="直接连接符 12"/>
              <p:cNvCxnSpPr/>
              <p:nvPr/>
            </p:nvCxnSpPr>
            <p:spPr>
              <a:xfrm>
                <a:off x="4093" y="8147"/>
                <a:ext cx="0" cy="1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13"/>
              <p:cNvCxnSpPr/>
              <p:nvPr/>
            </p:nvCxnSpPr>
            <p:spPr>
              <a:xfrm>
                <a:off x="6041" y="8147"/>
                <a:ext cx="0" cy="1436"/>
              </a:xfrm>
              <a:prstGeom prst="line">
                <a:avLst/>
              </a:prstGeom>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5350" y="7097"/>
                <a:ext cx="2018"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系统调用</a:t>
                </a:r>
                <a:endParaRPr lang="zh-CN" altLang="en-US" sz="2000">
                  <a:latin typeface="微软雅黑" panose="020B0503020204020204" pitchFamily="34" charset="-122"/>
                  <a:ea typeface="微软雅黑" panose="020B0503020204020204" pitchFamily="34" charset="-122"/>
                </a:endParaRPr>
              </a:p>
            </p:txBody>
          </p:sp>
          <p:sp>
            <p:nvSpPr>
              <p:cNvPr id="41" name="文本框 40"/>
              <p:cNvSpPr txBox="1"/>
              <p:nvPr/>
            </p:nvSpPr>
            <p:spPr>
              <a:xfrm>
                <a:off x="2727" y="8561"/>
                <a:ext cx="1182"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内核</a:t>
                </a:r>
                <a:endParaRPr lang="zh-CN" altLang="en-US" sz="2000">
                  <a:latin typeface="微软雅黑" panose="020B0503020204020204" pitchFamily="34" charset="-122"/>
                  <a:ea typeface="微软雅黑" panose="020B0503020204020204" pitchFamily="34" charset="-122"/>
                </a:endParaRPr>
              </a:p>
            </p:txBody>
          </p:sp>
          <p:sp>
            <p:nvSpPr>
              <p:cNvPr id="42" name="文本框 41"/>
              <p:cNvSpPr txBox="1"/>
              <p:nvPr/>
            </p:nvSpPr>
            <p:spPr>
              <a:xfrm>
                <a:off x="4322" y="8561"/>
                <a:ext cx="1507"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协议栈</a:t>
                </a:r>
                <a:endParaRPr lang="zh-CN" altLang="en-US" sz="2000">
                  <a:latin typeface="微软雅黑" panose="020B0503020204020204" pitchFamily="34" charset="-122"/>
                  <a:ea typeface="微软雅黑" panose="020B0503020204020204" pitchFamily="34" charset="-122"/>
                </a:endParaRPr>
              </a:p>
            </p:txBody>
          </p:sp>
          <p:sp>
            <p:nvSpPr>
              <p:cNvPr id="43" name="文本框 42"/>
              <p:cNvSpPr txBox="1"/>
              <p:nvPr/>
            </p:nvSpPr>
            <p:spPr>
              <a:xfrm>
                <a:off x="6188" y="8561"/>
                <a:ext cx="1545"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驱动器</a:t>
                </a:r>
                <a:endParaRPr lang="zh-CN" altLang="en-US" sz="2000">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11991" y="4380"/>
              <a:ext cx="5314" cy="5222"/>
              <a:chOff x="2419" y="4380"/>
              <a:chExt cx="5314" cy="5222"/>
            </a:xfrm>
          </p:grpSpPr>
          <p:sp>
            <p:nvSpPr>
              <p:cNvPr id="24" name="矩形 23"/>
              <p:cNvSpPr/>
              <p:nvPr/>
            </p:nvSpPr>
            <p:spPr>
              <a:xfrm>
                <a:off x="2419" y="4380"/>
                <a:ext cx="5314" cy="5222"/>
              </a:xfrm>
              <a:prstGeom prst="rect">
                <a:avLst/>
              </a:prstGeom>
              <a:solidFill>
                <a:schemeClr val="bg1"/>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4527" y="5527"/>
                <a:ext cx="1097" cy="114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2419" y="8147"/>
                <a:ext cx="5314" cy="1455"/>
              </a:xfrm>
              <a:prstGeom prst="rect">
                <a:avLst/>
              </a:prstGeom>
              <a:solidFill>
                <a:schemeClr val="bg1"/>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3"/>
              <p:cNvCxnSpPr>
                <a:stCxn id="25" idx="4"/>
              </p:cNvCxnSpPr>
              <p:nvPr/>
            </p:nvCxnSpPr>
            <p:spPr>
              <a:xfrm>
                <a:off x="5076" y="6674"/>
                <a:ext cx="0" cy="1473"/>
              </a:xfrm>
              <a:prstGeom prst="straightConnector1">
                <a:avLst/>
              </a:prstGeom>
              <a:ln w="44450">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接连接符 24"/>
              <p:cNvCxnSpPr/>
              <p:nvPr/>
            </p:nvCxnSpPr>
            <p:spPr>
              <a:xfrm>
                <a:off x="4093" y="8147"/>
                <a:ext cx="0" cy="1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5"/>
              <p:cNvCxnSpPr/>
              <p:nvPr/>
            </p:nvCxnSpPr>
            <p:spPr>
              <a:xfrm>
                <a:off x="6041" y="8147"/>
                <a:ext cx="0" cy="1436"/>
              </a:xfrm>
              <a:prstGeom prst="line">
                <a:avLst/>
              </a:prstGeom>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5350" y="7097"/>
                <a:ext cx="2018"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系统调用</a:t>
                </a:r>
                <a:endParaRPr lang="zh-CN" altLang="en-US" sz="2000">
                  <a:latin typeface="微软雅黑" panose="020B0503020204020204" pitchFamily="34" charset="-122"/>
                  <a:ea typeface="微软雅黑" panose="020B0503020204020204" pitchFamily="34" charset="-122"/>
                </a:endParaRPr>
              </a:p>
            </p:txBody>
          </p:sp>
          <p:sp>
            <p:nvSpPr>
              <p:cNvPr id="31" name="文本框 30"/>
              <p:cNvSpPr txBox="1"/>
              <p:nvPr/>
            </p:nvSpPr>
            <p:spPr>
              <a:xfrm>
                <a:off x="2727" y="8561"/>
                <a:ext cx="1182"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内核</a:t>
                </a:r>
                <a:endParaRPr lang="zh-CN" altLang="en-US" sz="2000">
                  <a:latin typeface="微软雅黑" panose="020B0503020204020204" pitchFamily="34" charset="-122"/>
                  <a:ea typeface="微软雅黑" panose="020B0503020204020204" pitchFamily="34" charset="-122"/>
                </a:endParaRPr>
              </a:p>
            </p:txBody>
          </p:sp>
          <p:sp>
            <p:nvSpPr>
              <p:cNvPr id="32" name="文本框 31"/>
              <p:cNvSpPr txBox="1"/>
              <p:nvPr/>
            </p:nvSpPr>
            <p:spPr>
              <a:xfrm>
                <a:off x="4322" y="8561"/>
                <a:ext cx="1507"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协议栈</a:t>
                </a:r>
                <a:endParaRPr lang="zh-CN" altLang="en-US" sz="2000">
                  <a:latin typeface="微软雅黑" panose="020B0503020204020204" pitchFamily="34" charset="-122"/>
                  <a:ea typeface="微软雅黑" panose="020B0503020204020204" pitchFamily="34" charset="-122"/>
                </a:endParaRPr>
              </a:p>
            </p:txBody>
          </p:sp>
          <p:sp>
            <p:nvSpPr>
              <p:cNvPr id="33" name="文本框 32"/>
              <p:cNvSpPr txBox="1"/>
              <p:nvPr/>
            </p:nvSpPr>
            <p:spPr>
              <a:xfrm>
                <a:off x="6188" y="8561"/>
                <a:ext cx="1545"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驱动器</a:t>
                </a:r>
                <a:endParaRPr lang="zh-CN" altLang="en-US" sz="2000">
                  <a:latin typeface="微软雅黑" panose="020B0503020204020204" pitchFamily="34" charset="-122"/>
                  <a:ea typeface="微软雅黑" panose="020B0503020204020204" pitchFamily="34" charset="-122"/>
                </a:endParaRPr>
              </a:p>
            </p:txBody>
          </p:sp>
        </p:grpSp>
        <p:cxnSp>
          <p:nvCxnSpPr>
            <p:cNvPr id="9" name="直接箭头连接符 30"/>
            <p:cNvCxnSpPr/>
            <p:nvPr/>
          </p:nvCxnSpPr>
          <p:spPr>
            <a:xfrm>
              <a:off x="7752" y="4781"/>
              <a:ext cx="4239"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31"/>
            <p:cNvCxnSpPr/>
            <p:nvPr/>
          </p:nvCxnSpPr>
          <p:spPr>
            <a:xfrm>
              <a:off x="7752" y="6487"/>
              <a:ext cx="4239"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32"/>
            <p:cNvCxnSpPr/>
            <p:nvPr/>
          </p:nvCxnSpPr>
          <p:spPr>
            <a:xfrm>
              <a:off x="7733" y="8193"/>
              <a:ext cx="4239"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33"/>
            <p:cNvCxnSpPr/>
            <p:nvPr/>
          </p:nvCxnSpPr>
          <p:spPr>
            <a:xfrm flipH="1" flipV="1">
              <a:off x="7733" y="5625"/>
              <a:ext cx="4186" cy="18"/>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34"/>
            <p:cNvCxnSpPr/>
            <p:nvPr/>
          </p:nvCxnSpPr>
          <p:spPr>
            <a:xfrm flipH="1" flipV="1">
              <a:off x="7733" y="7331"/>
              <a:ext cx="4186" cy="18"/>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35"/>
            <p:cNvCxnSpPr/>
            <p:nvPr/>
          </p:nvCxnSpPr>
          <p:spPr>
            <a:xfrm flipH="1" flipV="1">
              <a:off x="7760" y="9037"/>
              <a:ext cx="4186" cy="18"/>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8317" y="4153"/>
              <a:ext cx="3018" cy="719"/>
            </a:xfrm>
            <a:prstGeom prst="rect">
              <a:avLst/>
            </a:prstGeom>
            <a:noFill/>
          </p:spPr>
          <p:txBody>
            <a:bodyPr wrap="squar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）连接请求</a:t>
              </a:r>
              <a:endPar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8343" y="4899"/>
              <a:ext cx="3018" cy="719"/>
            </a:xfrm>
            <a:prstGeom prst="rect">
              <a:avLst/>
            </a:prstGeom>
            <a:noFill/>
          </p:spPr>
          <p:txBody>
            <a:bodyPr wrap="square" rtlCol="0">
              <a:spAutoFit/>
            </a:bodyPr>
            <a:lstStyle/>
            <a:p>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）接受响应</a:t>
              </a:r>
              <a:endPar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文本框 17"/>
            <p:cNvSpPr txBox="1"/>
            <p:nvPr/>
          </p:nvSpPr>
          <p:spPr>
            <a:xfrm>
              <a:off x="8363" y="5787"/>
              <a:ext cx="3018" cy="719"/>
            </a:xfrm>
            <a:prstGeom prst="rect">
              <a:avLst/>
            </a:prstGeom>
            <a:noFill/>
          </p:spPr>
          <p:txBody>
            <a:bodyPr wrap="square" rtlCol="0">
              <a:spAutoFit/>
            </a:bodyPr>
            <a:lstStyle/>
            <a:p>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）请求数据</a:t>
              </a:r>
              <a:endPar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a:off x="8363" y="6674"/>
              <a:ext cx="3018" cy="719"/>
            </a:xfrm>
            <a:prstGeom prst="rect">
              <a:avLst/>
            </a:prstGeom>
            <a:noFill/>
          </p:spPr>
          <p:txBody>
            <a:bodyPr wrap="square" rtlCol="0">
              <a:spAutoFit/>
            </a:bodyPr>
            <a:lstStyle/>
            <a:p>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）应答</a:t>
              </a:r>
              <a:endPar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文本框 19"/>
            <p:cNvSpPr txBox="1"/>
            <p:nvPr/>
          </p:nvSpPr>
          <p:spPr>
            <a:xfrm>
              <a:off x="8363" y="7519"/>
              <a:ext cx="3018" cy="719"/>
            </a:xfrm>
            <a:prstGeom prst="rect">
              <a:avLst/>
            </a:prstGeom>
            <a:noFill/>
          </p:spPr>
          <p:txBody>
            <a:bodyPr wrap="squar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）请求断开</a:t>
              </a:r>
              <a:endPar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nvSpPr>
          <p:spPr>
            <a:xfrm>
              <a:off x="8363" y="8409"/>
              <a:ext cx="3018" cy="719"/>
            </a:xfrm>
            <a:prstGeom prst="rect">
              <a:avLst/>
            </a:prstGeom>
            <a:noFill/>
          </p:spPr>
          <p:txBody>
            <a:bodyPr wrap="square" rtlCol="0">
              <a:spAutoFit/>
            </a:bodyPr>
            <a:lstStyle/>
            <a:p>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）断开连接</a:t>
              </a:r>
              <a:endPar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p:nvSpPr>
          <p:spPr>
            <a:xfrm>
              <a:off x="15401" y="4997"/>
              <a:ext cx="3018" cy="628"/>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服务进程</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文本框 22"/>
            <p:cNvSpPr txBox="1"/>
            <p:nvPr/>
          </p:nvSpPr>
          <p:spPr>
            <a:xfrm>
              <a:off x="2404" y="4997"/>
              <a:ext cx="3018"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客户进程</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4" name="文本框 43"/>
          <p:cNvSpPr txBox="1"/>
          <p:nvPr/>
        </p:nvSpPr>
        <p:spPr>
          <a:xfrm>
            <a:off x="2653665" y="3289935"/>
            <a:ext cx="958850" cy="39878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客户机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文本框 44"/>
          <p:cNvSpPr txBox="1"/>
          <p:nvPr/>
        </p:nvSpPr>
        <p:spPr>
          <a:xfrm>
            <a:off x="8731885" y="3289935"/>
            <a:ext cx="958850" cy="398780"/>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服务器</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46" name="文本框 4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服务与协议的关系</a:t>
            </a:r>
            <a:endParaRPr lang="zh-CN" altLang="en-US" dirty="0"/>
          </a:p>
        </p:txBody>
      </p:sp>
      <p:sp>
        <p:nvSpPr>
          <p:cNvPr id="3" name="内容占位符 2"/>
          <p:cNvSpPr>
            <a:spLocks noGrp="1"/>
          </p:cNvSpPr>
          <p:nvPr>
            <p:ph idx="1"/>
          </p:nvPr>
        </p:nvSpPr>
        <p:spPr>
          <a:xfrm>
            <a:off x="819787" y="1479397"/>
            <a:ext cx="10515600" cy="1399525"/>
          </a:xfrm>
        </p:spPr>
        <p:txBody>
          <a:bodyPr>
            <a:normAutofit fontScale="87500" lnSpcReduction="10000"/>
          </a:bodyPr>
          <a:lstStyle/>
          <a:p>
            <a:pPr>
              <a:lnSpc>
                <a:spcPct val="110000"/>
              </a:lnSpc>
              <a:buFont typeface="Wingdings" panose="05000000000000000000" charset="0"/>
              <a:buChar char="Ø"/>
            </a:pPr>
            <a:r>
              <a:rPr lang="zh-CN" altLang="en-US" dirty="0"/>
              <a:t>协议是</a:t>
            </a:r>
            <a:r>
              <a:rPr lang="en-US" altLang="zh-CN" dirty="0"/>
              <a:t>“</a:t>
            </a:r>
            <a:r>
              <a:rPr lang="zh-CN" altLang="en-US" dirty="0"/>
              <a:t>水平</a:t>
            </a:r>
            <a:r>
              <a:rPr lang="en-US" altLang="zh-CN" dirty="0"/>
              <a:t>”</a:t>
            </a:r>
            <a:r>
              <a:rPr lang="zh-CN" altLang="en-US" dirty="0"/>
              <a:t>的，服务是</a:t>
            </a:r>
            <a:r>
              <a:rPr lang="en-US" altLang="zh-CN" dirty="0"/>
              <a:t>“</a:t>
            </a:r>
            <a:r>
              <a:rPr lang="zh-CN" altLang="en-US" dirty="0"/>
              <a:t>垂直</a:t>
            </a:r>
            <a:r>
              <a:rPr lang="en-US" altLang="zh-CN" dirty="0"/>
              <a:t>”</a:t>
            </a:r>
            <a:r>
              <a:rPr lang="zh-CN" altLang="en-US" dirty="0"/>
              <a:t>的</a:t>
            </a:r>
            <a:endParaRPr lang="en-US" altLang="zh-CN" dirty="0"/>
          </a:p>
          <a:p>
            <a:pPr>
              <a:lnSpc>
                <a:spcPct val="110000"/>
              </a:lnSpc>
              <a:buFont typeface="Wingdings" panose="05000000000000000000" charset="0"/>
              <a:buChar char="Ø"/>
            </a:pPr>
            <a:r>
              <a:rPr lang="zh-CN" altLang="en-US" dirty="0"/>
              <a:t>实体使用协议来实现其定义的服务</a:t>
            </a:r>
            <a:endParaRPr lang="en-US" altLang="zh-CN" dirty="0"/>
          </a:p>
          <a:p>
            <a:pPr>
              <a:lnSpc>
                <a:spcPct val="110000"/>
              </a:lnSpc>
              <a:buFont typeface="Wingdings" panose="05000000000000000000" charset="0"/>
              <a:buChar char="Ø"/>
            </a:pPr>
            <a:r>
              <a:rPr lang="zh-CN" altLang="en-US" dirty="0"/>
              <a:t>上层实体通过接口使用下层实体的服务</a:t>
            </a:r>
            <a:endParaRPr lang="zh-CN" altLang="en-US" dirty="0"/>
          </a:p>
        </p:txBody>
      </p:sp>
      <p:sp>
        <p:nvSpPr>
          <p:cNvPr id="9" name="Rectangle 35"/>
          <p:cNvSpPr>
            <a:spLocks noChangeArrowheads="1"/>
          </p:cNvSpPr>
          <p:nvPr/>
        </p:nvSpPr>
        <p:spPr bwMode="auto">
          <a:xfrm>
            <a:off x="2279650" y="5291693"/>
            <a:ext cx="8001000" cy="990600"/>
          </a:xfrm>
          <a:prstGeom prst="rect">
            <a:avLst/>
          </a:prstGeom>
          <a:solidFill>
            <a:schemeClr val="accent4"/>
          </a:solidFill>
          <a:ln w="12700">
            <a:solidFill>
              <a:schemeClr val="tx1"/>
            </a:solidFill>
            <a:prstDash val="dash"/>
            <a:miter lim="800000"/>
          </a:ln>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5" name="Rectangle 36"/>
          <p:cNvSpPr>
            <a:spLocks noChangeArrowheads="1"/>
          </p:cNvSpPr>
          <p:nvPr/>
        </p:nvSpPr>
        <p:spPr bwMode="auto">
          <a:xfrm>
            <a:off x="3613150" y="5258196"/>
            <a:ext cx="233363" cy="254000"/>
          </a:xfrm>
          <a:prstGeom prst="rect">
            <a:avLst/>
          </a:prstGeom>
          <a:solidFill>
            <a:srgbClr val="C00000"/>
          </a:solidFill>
          <a:ln w="19050">
            <a:solidFill>
              <a:srgbClr val="CC0000"/>
            </a:solidFill>
            <a:miter lim="800000"/>
          </a:ln>
          <a:effec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11" name="Line 37"/>
          <p:cNvSpPr>
            <a:spLocks noChangeShapeType="1"/>
          </p:cNvSpPr>
          <p:nvPr/>
        </p:nvSpPr>
        <p:spPr bwMode="auto">
          <a:xfrm>
            <a:off x="4664077" y="3510358"/>
            <a:ext cx="3038474" cy="0"/>
          </a:xfrm>
          <a:prstGeom prst="line">
            <a:avLst/>
          </a:prstGeom>
          <a:noFill/>
          <a:ln w="12700">
            <a:solidFill>
              <a:schemeClr val="tx1"/>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j-ea"/>
              <a:ea typeface="+mj-ea"/>
            </a:endParaRPr>
          </a:p>
        </p:txBody>
      </p:sp>
      <p:sp>
        <p:nvSpPr>
          <p:cNvPr id="12" name="Text Box 38"/>
          <p:cNvSpPr txBox="1">
            <a:spLocks noChangeArrowheads="1"/>
          </p:cNvSpPr>
          <p:nvPr/>
        </p:nvSpPr>
        <p:spPr bwMode="auto">
          <a:xfrm>
            <a:off x="5254627" y="3299189"/>
            <a:ext cx="1600199" cy="400110"/>
          </a:xfrm>
          <a:prstGeom prst="rect">
            <a:avLst/>
          </a:prstGeom>
          <a:solidFill>
            <a:schemeClr val="bg1"/>
          </a:solidFill>
          <a:ln>
            <a:noFill/>
          </a:ln>
          <a:effectLst/>
        </p:spPr>
        <p:txBody>
          <a:bodyPr wrap="square">
            <a:spAutoFit/>
          </a:body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协议</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(n + 1)</a:t>
            </a:r>
            <a:endPar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Text Box 39"/>
          <p:cNvSpPr txBox="1">
            <a:spLocks noChangeArrowheads="1"/>
          </p:cNvSpPr>
          <p:nvPr/>
        </p:nvSpPr>
        <p:spPr bwMode="auto">
          <a:xfrm>
            <a:off x="3966451" y="485808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接口</a:t>
            </a:r>
            <a:endParaRPr kumimoji="1" lang="zh-CN" altLang="en-US" sz="2000" dirty="0">
              <a:latin typeface="微软雅黑" panose="020B0503020204020204" pitchFamily="34" charset="-122"/>
              <a:ea typeface="微软雅黑" panose="020B0503020204020204" pitchFamily="34" charset="-122"/>
            </a:endParaRPr>
          </a:p>
        </p:txBody>
      </p:sp>
      <p:sp>
        <p:nvSpPr>
          <p:cNvPr id="14" name="Text Box 40"/>
          <p:cNvSpPr txBox="1">
            <a:spLocks noChangeArrowheads="1"/>
          </p:cNvSpPr>
          <p:nvPr/>
        </p:nvSpPr>
        <p:spPr bwMode="auto">
          <a:xfrm>
            <a:off x="7784385" y="489148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接口</a:t>
            </a:r>
            <a:endParaRPr kumimoji="1" lang="zh-CN" altLang="en-US" sz="2000" dirty="0">
              <a:latin typeface="微软雅黑" panose="020B0503020204020204" pitchFamily="34" charset="-122"/>
              <a:ea typeface="微软雅黑" panose="020B0503020204020204" pitchFamily="34" charset="-122"/>
            </a:endParaRPr>
          </a:p>
        </p:txBody>
      </p:sp>
      <p:sp>
        <p:nvSpPr>
          <p:cNvPr id="15" name="Text Box 41"/>
          <p:cNvSpPr txBox="1">
            <a:spLocks noChangeArrowheads="1"/>
          </p:cNvSpPr>
          <p:nvPr/>
        </p:nvSpPr>
        <p:spPr bwMode="auto">
          <a:xfrm>
            <a:off x="3918168" y="3895080"/>
            <a:ext cx="1210588" cy="40011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交换信息</a:t>
            </a:r>
            <a:endParaRPr kumimoji="1" lang="zh-CN" altLang="en-US" sz="2000" dirty="0">
              <a:latin typeface="微软雅黑" panose="020B0503020204020204" pitchFamily="34" charset="-122"/>
              <a:ea typeface="微软雅黑" panose="020B0503020204020204" pitchFamily="34" charset="-122"/>
            </a:endParaRPr>
          </a:p>
        </p:txBody>
      </p:sp>
      <p:sp>
        <p:nvSpPr>
          <p:cNvPr id="16" name="AutoShape 42"/>
          <p:cNvSpPr>
            <a:spLocks noChangeArrowheads="1"/>
          </p:cNvSpPr>
          <p:nvPr/>
        </p:nvSpPr>
        <p:spPr bwMode="auto">
          <a:xfrm>
            <a:off x="3654425" y="3807221"/>
            <a:ext cx="158750" cy="1430337"/>
          </a:xfrm>
          <a:prstGeom prst="upDownArrow">
            <a:avLst>
              <a:gd name="adj1" fmla="val 50000"/>
              <a:gd name="adj2" fmla="val 180200"/>
            </a:avLst>
          </a:prstGeom>
          <a:solidFill>
            <a:srgbClr val="FF0000"/>
          </a:solidFill>
          <a:ln w="12700">
            <a:solidFill>
              <a:schemeClr val="tx1"/>
            </a:solidFill>
            <a:miter lim="800000"/>
            <a:headEnd type="none" w="med" len="lg"/>
            <a:tailEnd type="none" w="med" len="lg"/>
          </a:ln>
          <a:effectLst/>
        </p:spPr>
        <p:txBody>
          <a:bodyPr vert="eaVert" wrap="none" anchor="ctr"/>
          <a:lstStyle/>
          <a:p>
            <a:endParaRPr lang="zh-CN" altLang="en-US" sz="2000">
              <a:latin typeface="微软雅黑" panose="020B0503020204020204" pitchFamily="34" charset="-122"/>
              <a:ea typeface="微软雅黑" panose="020B0503020204020204" pitchFamily="34" charset="-122"/>
            </a:endParaRPr>
          </a:p>
        </p:txBody>
      </p:sp>
      <p:sp>
        <p:nvSpPr>
          <p:cNvPr id="17" name="Rectangle 43"/>
          <p:cNvSpPr>
            <a:spLocks noChangeArrowheads="1"/>
          </p:cNvSpPr>
          <p:nvPr/>
        </p:nvSpPr>
        <p:spPr bwMode="auto">
          <a:xfrm>
            <a:off x="8482012" y="5238352"/>
            <a:ext cx="236538" cy="254000"/>
          </a:xfrm>
          <a:prstGeom prst="rect">
            <a:avLst/>
          </a:prstGeom>
          <a:solidFill>
            <a:srgbClr val="C00000"/>
          </a:solidFill>
          <a:ln w="19050">
            <a:solidFill>
              <a:srgbClr val="CC0000"/>
            </a:solidFill>
            <a:miter lim="800000"/>
          </a:ln>
          <a:effec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18" name="AutoShape 44"/>
          <p:cNvSpPr>
            <a:spLocks noChangeArrowheads="1"/>
          </p:cNvSpPr>
          <p:nvPr/>
        </p:nvSpPr>
        <p:spPr bwMode="auto">
          <a:xfrm>
            <a:off x="8521700" y="3787377"/>
            <a:ext cx="158750" cy="1430337"/>
          </a:xfrm>
          <a:prstGeom prst="upDownArrow">
            <a:avLst>
              <a:gd name="adj1" fmla="val 50000"/>
              <a:gd name="adj2" fmla="val 180200"/>
            </a:avLst>
          </a:prstGeom>
          <a:solidFill>
            <a:srgbClr val="FF0000"/>
          </a:solidFill>
          <a:ln w="12700">
            <a:solidFill>
              <a:schemeClr val="tx1"/>
            </a:solidFill>
            <a:miter lim="800000"/>
            <a:headEnd type="none" w="med" len="lg"/>
            <a:tailEnd type="none" w="med" len="lg"/>
          </a:ln>
          <a:effectLst/>
        </p:spPr>
        <p:txBody>
          <a:bodyPr vert="eaVert" wrap="none" anchor="ctr"/>
          <a:lstStyle/>
          <a:p>
            <a:endParaRPr lang="zh-CN" altLang="en-US" sz="2000">
              <a:latin typeface="微软雅黑" panose="020B0503020204020204" pitchFamily="34" charset="-122"/>
              <a:ea typeface="微软雅黑" panose="020B0503020204020204" pitchFamily="34" charset="-122"/>
            </a:endParaRPr>
          </a:p>
        </p:txBody>
      </p:sp>
      <p:sp>
        <p:nvSpPr>
          <p:cNvPr id="19" name="Text Box 45"/>
          <p:cNvSpPr txBox="1">
            <a:spLocks noChangeArrowheads="1"/>
          </p:cNvSpPr>
          <p:nvPr/>
        </p:nvSpPr>
        <p:spPr bwMode="auto">
          <a:xfrm>
            <a:off x="7343311" y="3873439"/>
            <a:ext cx="1210588"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交换信息</a:t>
            </a:r>
            <a:endParaRPr kumimoji="1" lang="zh-CN" altLang="en-US" sz="2000" dirty="0">
              <a:latin typeface="微软雅黑" panose="020B0503020204020204" pitchFamily="34" charset="-122"/>
              <a:ea typeface="微软雅黑" panose="020B0503020204020204" pitchFamily="34" charset="-122"/>
            </a:endParaRPr>
          </a:p>
        </p:txBody>
      </p:sp>
      <p:sp>
        <p:nvSpPr>
          <p:cNvPr id="20" name="Rectangle 46"/>
          <p:cNvSpPr>
            <a:spLocks noChangeArrowheads="1"/>
          </p:cNvSpPr>
          <p:nvPr/>
        </p:nvSpPr>
        <p:spPr bwMode="auto">
          <a:xfrm>
            <a:off x="2851151" y="3278583"/>
            <a:ext cx="1791166" cy="525463"/>
          </a:xfrm>
          <a:prstGeom prst="rect">
            <a:avLst/>
          </a:prstGeom>
          <a:solidFill>
            <a:schemeClr val="accent6"/>
          </a:solidFill>
          <a:ln w="12700">
            <a:noFill/>
            <a:miter lim="800000"/>
          </a:ln>
          <a:effectLst>
            <a:outerShdw dist="45791" dir="2021404" algn="ctr" rotWithShape="0">
              <a:schemeClr val="bg2"/>
            </a:outerShdw>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21" name="Text Box 47"/>
          <p:cNvSpPr txBox="1">
            <a:spLocks noChangeArrowheads="1"/>
          </p:cNvSpPr>
          <p:nvPr/>
        </p:nvSpPr>
        <p:spPr bwMode="auto">
          <a:xfrm>
            <a:off x="3114907" y="3327734"/>
            <a:ext cx="1518364" cy="400110"/>
          </a:xfrm>
          <a:prstGeom prst="rect">
            <a:avLst/>
          </a:prstGeom>
          <a:noFill/>
          <a:ln>
            <a:noFill/>
          </a:ln>
          <a:effectLst/>
        </p:spPr>
        <p:txBody>
          <a:bodyPr wrap="none">
            <a:spAutoFit/>
          </a:bodyPr>
          <a:lstStyle/>
          <a:p>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实体</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 + 1)</a:t>
            </a:r>
            <a:endPar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Text Box 48"/>
          <p:cNvSpPr txBox="1">
            <a:spLocks noChangeArrowheads="1"/>
          </p:cNvSpPr>
          <p:nvPr/>
        </p:nvSpPr>
        <p:spPr bwMode="auto">
          <a:xfrm>
            <a:off x="746726" y="556772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服务提供者</a:t>
            </a:r>
            <a:endParaRPr kumimoji="1" lang="zh-CN" altLang="en-US" sz="2000" dirty="0">
              <a:latin typeface="微软雅黑" panose="020B0503020204020204" pitchFamily="34" charset="-122"/>
              <a:ea typeface="微软雅黑" panose="020B0503020204020204" pitchFamily="34" charset="-122"/>
            </a:endParaRPr>
          </a:p>
        </p:txBody>
      </p:sp>
      <p:sp>
        <p:nvSpPr>
          <p:cNvPr id="24" name="Text Box 50"/>
          <p:cNvSpPr txBox="1">
            <a:spLocks noChangeArrowheads="1"/>
          </p:cNvSpPr>
          <p:nvPr/>
        </p:nvSpPr>
        <p:spPr bwMode="auto">
          <a:xfrm>
            <a:off x="10368670" y="5547121"/>
            <a:ext cx="1007007" cy="400110"/>
          </a:xfrm>
          <a:prstGeom prst="rect">
            <a:avLst/>
          </a:prstGeom>
          <a:noFill/>
          <a:ln>
            <a:noFill/>
          </a:ln>
          <a:effectLst/>
        </p:spPr>
        <p:txBody>
          <a:bodyPr wrap="none">
            <a:spAutoFit/>
          </a:body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 </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n </a:t>
            </a: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a:t>
            </a: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Text Box 51"/>
          <p:cNvSpPr txBox="1">
            <a:spLocks noChangeArrowheads="1"/>
          </p:cNvSpPr>
          <p:nvPr/>
        </p:nvSpPr>
        <p:spPr bwMode="auto">
          <a:xfrm>
            <a:off x="10072401" y="3337706"/>
            <a:ext cx="1348446" cy="40011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 </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n+1 </a:t>
            </a: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a:t>
            </a: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Rectangle 52"/>
          <p:cNvSpPr>
            <a:spLocks noChangeArrowheads="1"/>
          </p:cNvSpPr>
          <p:nvPr/>
        </p:nvSpPr>
        <p:spPr bwMode="auto">
          <a:xfrm>
            <a:off x="7654926" y="3278583"/>
            <a:ext cx="1825623" cy="525463"/>
          </a:xfrm>
          <a:prstGeom prst="rect">
            <a:avLst/>
          </a:prstGeom>
          <a:solidFill>
            <a:schemeClr val="accent6"/>
          </a:solidFill>
          <a:ln w="12700">
            <a:noFill/>
            <a:miter lim="800000"/>
          </a:ln>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27" name="Text Box 53"/>
          <p:cNvSpPr txBox="1">
            <a:spLocks noChangeArrowheads="1"/>
          </p:cNvSpPr>
          <p:nvPr/>
        </p:nvSpPr>
        <p:spPr bwMode="auto">
          <a:xfrm>
            <a:off x="7865559" y="3350021"/>
            <a:ext cx="1614990" cy="400110"/>
          </a:xfrm>
          <a:prstGeom prst="rect">
            <a:avLst/>
          </a:prstGeom>
          <a:noFill/>
          <a:ln>
            <a:noFill/>
          </a:ln>
          <a:effectLst/>
        </p:spPr>
        <p:txBody>
          <a:bodyPr wrap="square">
            <a:spAutoFit/>
          </a:bodyPr>
          <a:lstStyle/>
          <a:p>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实体</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 + 1)</a:t>
            </a:r>
            <a:endPar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Text Box 55"/>
          <p:cNvSpPr txBox="1">
            <a:spLocks noChangeArrowheads="1"/>
          </p:cNvSpPr>
          <p:nvPr/>
        </p:nvSpPr>
        <p:spPr bwMode="auto">
          <a:xfrm>
            <a:off x="746726" y="3337706"/>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服务的用户</a:t>
            </a:r>
            <a:endParaRPr kumimoji="1" lang="zh-CN" altLang="en-US" sz="2000" dirty="0">
              <a:latin typeface="微软雅黑" panose="020B0503020204020204" pitchFamily="34" charset="-122"/>
              <a:ea typeface="微软雅黑" panose="020B0503020204020204" pitchFamily="34" charset="-122"/>
            </a:endParaRPr>
          </a:p>
        </p:txBody>
      </p:sp>
      <p:sp>
        <p:nvSpPr>
          <p:cNvPr id="29" name="Rectangle 56"/>
          <p:cNvSpPr>
            <a:spLocks noChangeArrowheads="1"/>
          </p:cNvSpPr>
          <p:nvPr/>
        </p:nvSpPr>
        <p:spPr bwMode="auto">
          <a:xfrm>
            <a:off x="2851151" y="5505846"/>
            <a:ext cx="1791165" cy="523875"/>
          </a:xfrm>
          <a:prstGeom prst="rect">
            <a:avLst/>
          </a:prstGeom>
          <a:solidFill>
            <a:schemeClr val="accent1"/>
          </a:solidFill>
          <a:ln w="12700">
            <a:noFill/>
            <a:miter lim="800000"/>
          </a:ln>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30" name="Rectangle 57"/>
          <p:cNvSpPr>
            <a:spLocks noChangeArrowheads="1"/>
          </p:cNvSpPr>
          <p:nvPr/>
        </p:nvSpPr>
        <p:spPr bwMode="auto">
          <a:xfrm>
            <a:off x="7627938" y="5505846"/>
            <a:ext cx="1852611" cy="523875"/>
          </a:xfrm>
          <a:prstGeom prst="rect">
            <a:avLst/>
          </a:prstGeom>
          <a:solidFill>
            <a:schemeClr val="accent1"/>
          </a:solidFill>
          <a:ln w="12700">
            <a:noFill/>
            <a:miter lim="800000"/>
          </a:ln>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31" name="Text Box 58"/>
          <p:cNvSpPr txBox="1">
            <a:spLocks noChangeArrowheads="1"/>
          </p:cNvSpPr>
          <p:nvPr/>
        </p:nvSpPr>
        <p:spPr bwMode="auto">
          <a:xfrm>
            <a:off x="3365966" y="5547121"/>
            <a:ext cx="1026243" cy="400110"/>
          </a:xfrm>
          <a:prstGeom prst="rect">
            <a:avLst/>
          </a:prstGeom>
          <a:noFill/>
          <a:ln>
            <a:noFill/>
          </a:ln>
          <a:effectLst/>
        </p:spPr>
        <p:txBody>
          <a:bodyPr wrap="none">
            <a:spAutoFit/>
          </a:bodyPr>
          <a:lstStyle/>
          <a:p>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实体</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a:t>
            </a:r>
            <a:endPar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Text Box 59"/>
          <p:cNvSpPr txBox="1">
            <a:spLocks noChangeArrowheads="1"/>
          </p:cNvSpPr>
          <p:nvPr/>
        </p:nvSpPr>
        <p:spPr bwMode="auto">
          <a:xfrm>
            <a:off x="8103182" y="5583602"/>
            <a:ext cx="1026243" cy="400110"/>
          </a:xfrm>
          <a:prstGeom prst="rect">
            <a:avLst/>
          </a:prstGeom>
          <a:noFill/>
          <a:ln>
            <a:noFill/>
          </a:ln>
          <a:effectLst/>
        </p:spPr>
        <p:txBody>
          <a:bodyPr wrap="none">
            <a:spAutoFit/>
          </a:bodyPr>
          <a:lstStyle/>
          <a:p>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实体</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a:t>
            </a:r>
            <a:endPar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Line 60"/>
          <p:cNvSpPr>
            <a:spLocks noChangeShapeType="1"/>
          </p:cNvSpPr>
          <p:nvPr/>
        </p:nvSpPr>
        <p:spPr bwMode="auto">
          <a:xfrm>
            <a:off x="4664078" y="5747176"/>
            <a:ext cx="3019424" cy="6320"/>
          </a:xfrm>
          <a:prstGeom prst="line">
            <a:avLst/>
          </a:prstGeom>
          <a:noFill/>
          <a:ln w="12700">
            <a:solidFill>
              <a:schemeClr val="tx1"/>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j-ea"/>
              <a:ea typeface="+mj-ea"/>
            </a:endParaRPr>
          </a:p>
        </p:txBody>
      </p:sp>
      <p:sp>
        <p:nvSpPr>
          <p:cNvPr id="34" name="Text Box 61"/>
          <p:cNvSpPr txBox="1">
            <a:spLocks noChangeArrowheads="1"/>
          </p:cNvSpPr>
          <p:nvPr/>
        </p:nvSpPr>
        <p:spPr bwMode="auto">
          <a:xfrm>
            <a:off x="5254627" y="5556674"/>
            <a:ext cx="1482723" cy="400110"/>
          </a:xfrm>
          <a:prstGeom prst="rect">
            <a:avLst/>
          </a:prstGeom>
          <a:solidFill>
            <a:schemeClr val="bg1"/>
          </a:solidFill>
          <a:ln>
            <a:noFill/>
          </a:ln>
          <a:effectLst/>
        </p:spPr>
        <p:txBody>
          <a:bodyPr wrap="square">
            <a:spAutoFit/>
          </a:bodyPr>
          <a:lstStyle/>
          <a:p>
            <a:pPr algn="ct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协议</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(n)</a:t>
            </a:r>
            <a:endPar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Line 49"/>
          <p:cNvSpPr>
            <a:spLocks noChangeShapeType="1"/>
          </p:cNvSpPr>
          <p:nvPr/>
        </p:nvSpPr>
        <p:spPr bwMode="auto">
          <a:xfrm>
            <a:off x="-21588" y="4538581"/>
            <a:ext cx="12198349" cy="0"/>
          </a:xfrm>
          <a:prstGeom prst="line">
            <a:avLst/>
          </a:prstGeom>
          <a:noFill/>
          <a:ln w="12700">
            <a:solidFill>
              <a:schemeClr val="tx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35" name="文本框 34"/>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目  录</a:t>
            </a:r>
            <a:endParaRPr kumimoji="1" lang="zh-CN" altLang="en-US" dirty="0"/>
          </a:p>
        </p:txBody>
      </p:sp>
      <p:sp>
        <p:nvSpPr>
          <p:cNvPr id="5" name="内容占位符 4"/>
          <p:cNvSpPr>
            <a:spLocks noGrp="1"/>
          </p:cNvSpPr>
          <p:nvPr>
            <p:ph idx="1"/>
          </p:nvPr>
        </p:nvSpPr>
        <p:spPr>
          <a:xfrm>
            <a:off x="1307508" y="1510758"/>
            <a:ext cx="10046292" cy="4845592"/>
          </a:xfrm>
        </p:spPr>
        <p:txBody>
          <a:bodyPr>
            <a:normAutofit lnSpcReduction="10000"/>
          </a:bodyPr>
          <a:lstStyle/>
          <a:p>
            <a:pPr marL="0" indent="0">
              <a:lnSpc>
                <a:spcPct val="130000"/>
              </a:lnSpc>
              <a:buNone/>
            </a:pPr>
            <a:r>
              <a:rPr kumimoji="1" lang="en-US" altLang="zh-CN" dirty="0"/>
              <a:t>1.1 </a:t>
            </a:r>
            <a:r>
              <a:rPr kumimoji="1" lang="zh-CN" altLang="en-US" dirty="0"/>
              <a:t>初识互联网</a:t>
            </a:r>
            <a:endParaRPr kumimoji="1" lang="en-US" altLang="zh-CN" dirty="0"/>
          </a:p>
          <a:p>
            <a:pPr marL="0" indent="0">
              <a:lnSpc>
                <a:spcPct val="130000"/>
              </a:lnSpc>
              <a:buNone/>
            </a:pPr>
            <a:r>
              <a:rPr kumimoji="1" lang="en-US" altLang="zh-CN" dirty="0"/>
              <a:t>1.2 </a:t>
            </a:r>
            <a:r>
              <a:rPr kumimoji="1" lang="zh-CN" altLang="en-US" dirty="0"/>
              <a:t>网络实例</a:t>
            </a:r>
            <a:endParaRPr kumimoji="1" lang="en-US" altLang="zh-CN" dirty="0"/>
          </a:p>
          <a:p>
            <a:pPr marL="0" indent="0">
              <a:lnSpc>
                <a:spcPct val="130000"/>
              </a:lnSpc>
              <a:buNone/>
            </a:pPr>
            <a:r>
              <a:rPr kumimoji="1" lang="en-US" altLang="zh-CN" dirty="0"/>
              <a:t>1.3 </a:t>
            </a:r>
            <a:r>
              <a:rPr kumimoji="1" lang="zh-CN" altLang="en-US" dirty="0"/>
              <a:t>协议与分层结构</a:t>
            </a:r>
            <a:endParaRPr kumimoji="1" lang="en-US" altLang="zh-CN" dirty="0"/>
          </a:p>
          <a:p>
            <a:pPr marL="0" indent="0">
              <a:lnSpc>
                <a:spcPct val="130000"/>
              </a:lnSpc>
              <a:buNone/>
            </a:pPr>
            <a:r>
              <a:rPr kumimoji="1" lang="en-US" altLang="zh-CN" dirty="0">
                <a:solidFill>
                  <a:srgbClr val="C00000"/>
                </a:solidFill>
              </a:rPr>
              <a:t>1.4 </a:t>
            </a:r>
            <a:r>
              <a:rPr kumimoji="1" lang="zh-CN" altLang="en-US" dirty="0">
                <a:solidFill>
                  <a:srgbClr val="C00000"/>
                </a:solidFill>
              </a:rPr>
              <a:t>参考模型</a:t>
            </a:r>
            <a:endParaRPr kumimoji="1" lang="en-US" altLang="zh-CN" dirty="0">
              <a:solidFill>
                <a:srgbClr val="C00000"/>
              </a:solidFill>
            </a:endParaRPr>
          </a:p>
          <a:p>
            <a:pPr marL="0" indent="0">
              <a:lnSpc>
                <a:spcPct val="130000"/>
              </a:lnSpc>
              <a:buNone/>
            </a:pPr>
            <a:r>
              <a:rPr kumimoji="1" lang="en-US" altLang="zh-CN" dirty="0"/>
              <a:t>1.5 </a:t>
            </a:r>
            <a:r>
              <a:rPr kumimoji="1" lang="zh-CN" altLang="en-US" dirty="0"/>
              <a:t>计算机网络度量单位</a:t>
            </a:r>
            <a:endParaRPr kumimoji="1" lang="en-US" altLang="zh-CN" dirty="0"/>
          </a:p>
          <a:p>
            <a:pPr marL="0" indent="0">
              <a:lnSpc>
                <a:spcPct val="130000"/>
              </a:lnSpc>
              <a:buNone/>
            </a:pPr>
            <a:r>
              <a:rPr kumimoji="1" lang="en-US" altLang="zh-CN" dirty="0"/>
              <a:t>1.6 </a:t>
            </a:r>
            <a:r>
              <a:rPr kumimoji="1" lang="zh-CN" altLang="en-US" dirty="0"/>
              <a:t>网络安全与威胁</a:t>
            </a:r>
            <a:endParaRPr kumimoji="1" lang="zh-CN" altLang="en-US" dirty="0"/>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7" name="矩形标注 6"/>
          <p:cNvSpPr/>
          <p:nvPr/>
        </p:nvSpPr>
        <p:spPr>
          <a:xfrm>
            <a:off x="5905989" y="1904387"/>
            <a:ext cx="4768770" cy="3176660"/>
          </a:xfrm>
          <a:prstGeom prst="wedgeRectCallout">
            <a:avLst>
              <a:gd name="adj1" fmla="val -80589"/>
              <a:gd name="adj2" fmla="val -29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OSI</a:t>
            </a:r>
            <a:r>
              <a:rPr kumimoji="1" lang="zh-CN" altLang="en-US" sz="2400" dirty="0">
                <a:solidFill>
                  <a:prstClr val="black"/>
                </a:solidFill>
                <a:latin typeface="微软雅黑" panose="020B0503020204020204" pitchFamily="34" charset="-122"/>
                <a:ea typeface="微软雅黑" panose="020B0503020204020204" pitchFamily="34" charset="-122"/>
              </a:rPr>
              <a:t>参考模型</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TCP/IP</a:t>
            </a:r>
            <a:r>
              <a:rPr kumimoji="1" lang="zh-CN" altLang="en-US" sz="2400" dirty="0">
                <a:solidFill>
                  <a:prstClr val="black"/>
                </a:solidFill>
                <a:latin typeface="微软雅黑" panose="020B0503020204020204" pitchFamily="34" charset="-122"/>
                <a:ea typeface="微软雅黑" panose="020B0503020204020204" pitchFamily="34" charset="-122"/>
                <a:sym typeface="+mn-ea"/>
              </a:rPr>
              <a:t>参考</a:t>
            </a:r>
            <a:r>
              <a:rPr kumimoji="1" lang="zh-CN" altLang="en-US" sz="2400" dirty="0">
                <a:solidFill>
                  <a:prstClr val="black"/>
                </a:solidFill>
                <a:latin typeface="微软雅黑" panose="020B0503020204020204" pitchFamily="34" charset="-122"/>
                <a:ea typeface="微软雅黑" panose="020B0503020204020204" pitchFamily="34" charset="-122"/>
              </a:rPr>
              <a:t>模型</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OSI</a:t>
            </a:r>
            <a:r>
              <a:rPr kumimoji="1" lang="zh-CN" altLang="en-US" sz="2400" dirty="0">
                <a:solidFill>
                  <a:prstClr val="black"/>
                </a:solidFill>
                <a:latin typeface="微软雅黑" panose="020B0503020204020204" pitchFamily="34" charset="-122"/>
                <a:ea typeface="微软雅黑" panose="020B0503020204020204" pitchFamily="34" charset="-122"/>
              </a:rPr>
              <a:t>模型</a:t>
            </a:r>
            <a:r>
              <a:rPr kumimoji="1" lang="en-US" altLang="zh-CN" sz="2400" dirty="0">
                <a:solidFill>
                  <a:prstClr val="black"/>
                </a:solidFill>
                <a:latin typeface="微软雅黑" panose="020B0503020204020204" pitchFamily="34" charset="-122"/>
                <a:ea typeface="微软雅黑" panose="020B0503020204020204" pitchFamily="34" charset="-122"/>
              </a:rPr>
              <a:t>TCP/IP</a:t>
            </a:r>
            <a:r>
              <a:rPr kumimoji="1" lang="zh-CN" altLang="en-US" sz="2400" dirty="0">
                <a:solidFill>
                  <a:prstClr val="black"/>
                </a:solidFill>
                <a:latin typeface="微软雅黑" panose="020B0503020204020204" pitchFamily="34" charset="-122"/>
                <a:ea typeface="微软雅黑" panose="020B0503020204020204" pitchFamily="34" charset="-122"/>
              </a:rPr>
              <a:t>模型对比</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课程内容的分层组织</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模型与网络实例</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endParaRPr kumimoji="1" lang="zh-CN" altLang="en-US" dirty="0"/>
          </a:p>
        </p:txBody>
      </p:sp>
      <p:sp>
        <p:nvSpPr>
          <p:cNvPr id="3" name="内容占位符 2"/>
          <p:cNvSpPr>
            <a:spLocks noGrp="1"/>
          </p:cNvSpPr>
          <p:nvPr>
            <p:ph idx="1"/>
          </p:nvPr>
        </p:nvSpPr>
        <p:spPr>
          <a:xfrm>
            <a:off x="838200" y="1510665"/>
            <a:ext cx="8408035" cy="4586605"/>
          </a:xfrm>
        </p:spPr>
        <p:txBody>
          <a:bodyPr>
            <a:normAutofit fontScale="92500" lnSpcReduction="20000"/>
          </a:bodyPr>
          <a:lstStyle/>
          <a:p>
            <a:pPr marL="360680" indent="-360680" fontAlgn="auto">
              <a:lnSpc>
                <a:spcPct val="120000"/>
              </a:lnSpc>
            </a:pPr>
            <a:r>
              <a:rPr kumimoji="1" lang="en-US" altLang="zh-CN" dirty="0"/>
              <a:t>OSI 7 </a:t>
            </a:r>
            <a:r>
              <a:rPr kumimoji="1" lang="zh-CN" altLang="en-US" dirty="0"/>
              <a:t>层模型 </a:t>
            </a:r>
            <a:endParaRPr kumimoji="1" lang="en-US" altLang="zh-CN" dirty="0"/>
          </a:p>
          <a:p>
            <a:pPr lvl="1">
              <a:lnSpc>
                <a:spcPct val="120000"/>
              </a:lnSpc>
            </a:pPr>
            <a:r>
              <a:rPr kumimoji="1" lang="en-US" altLang="zh-CN" dirty="0"/>
              <a:t>OSI</a:t>
            </a:r>
            <a:r>
              <a:rPr kumimoji="1" lang="zh-CN" altLang="en-US" dirty="0"/>
              <a:t>：</a:t>
            </a:r>
            <a:r>
              <a:rPr kumimoji="1" lang="en-US" altLang="zh-CN" dirty="0"/>
              <a:t>Open Systems Interconnection</a:t>
            </a:r>
            <a:endParaRPr kumimoji="1" lang="en-US" altLang="zh-CN" dirty="0"/>
          </a:p>
          <a:p>
            <a:pPr lvl="1">
              <a:lnSpc>
                <a:spcPct val="120000"/>
              </a:lnSpc>
            </a:pPr>
            <a:r>
              <a:rPr kumimoji="1" lang="en-US" altLang="zh-CN" dirty="0"/>
              <a:t>Day, Zimmermann, 1983</a:t>
            </a:r>
            <a:endParaRPr kumimoji="1" lang="zh-CN" altLang="en-US" dirty="0"/>
          </a:p>
          <a:p>
            <a:pPr marL="360680" indent="-360680" fontAlgn="auto">
              <a:lnSpc>
                <a:spcPct val="120000"/>
              </a:lnSpc>
            </a:pPr>
            <a:r>
              <a:rPr kumimoji="1" lang="zh-CN" altLang="en-US" dirty="0"/>
              <a:t>物理层（</a:t>
            </a:r>
            <a:r>
              <a:rPr kumimoji="1" lang="en-US" altLang="zh-CN" dirty="0"/>
              <a:t>Physical Layer</a:t>
            </a:r>
            <a:r>
              <a:rPr kumimoji="1" lang="zh-CN" altLang="en-US" dirty="0"/>
              <a:t>）</a:t>
            </a:r>
            <a:endParaRPr kumimoji="1" lang="zh-CN" altLang="en-US" dirty="0"/>
          </a:p>
          <a:p>
            <a:pPr lvl="1" fontAlgn="auto">
              <a:lnSpc>
                <a:spcPct val="120000"/>
              </a:lnSpc>
            </a:pPr>
            <a:r>
              <a:rPr kumimoji="1" lang="zh-CN" altLang="en-US" dirty="0">
                <a:solidFill>
                  <a:srgbClr val="C00000"/>
                </a:solidFill>
              </a:rPr>
              <a:t>定义如何在信道上传输0、1：Bits on the wire</a:t>
            </a:r>
            <a:endParaRPr kumimoji="1" lang="zh-CN" altLang="en-US" dirty="0"/>
          </a:p>
          <a:p>
            <a:pPr lvl="1" fontAlgn="auto">
              <a:lnSpc>
                <a:spcPct val="120000"/>
              </a:lnSpc>
            </a:pPr>
            <a:r>
              <a:rPr kumimoji="1" lang="zh-CN" altLang="en-US" dirty="0"/>
              <a:t>机械接口（</a:t>
            </a:r>
            <a:r>
              <a:rPr kumimoji="1" lang="en-US" altLang="zh-CN" dirty="0"/>
              <a:t>Mechanical</a:t>
            </a:r>
            <a:r>
              <a:rPr kumimoji="1" lang="zh-CN" altLang="en-US" dirty="0"/>
              <a:t>）：网线接口大小形状、线缆排列等</a:t>
            </a:r>
            <a:endParaRPr kumimoji="1" lang="zh-CN" altLang="en-US" dirty="0"/>
          </a:p>
          <a:p>
            <a:pPr lvl="1" fontAlgn="auto">
              <a:lnSpc>
                <a:spcPct val="120000"/>
              </a:lnSpc>
            </a:pPr>
            <a:r>
              <a:rPr kumimoji="1" lang="zh-CN" altLang="en-US" dirty="0"/>
              <a:t>电子信号（</a:t>
            </a:r>
            <a:r>
              <a:rPr kumimoji="1" lang="en-US" altLang="zh-CN" dirty="0"/>
              <a:t>E</a:t>
            </a:r>
            <a:r>
              <a:rPr kumimoji="1" lang="zh-CN" altLang="en-US" dirty="0"/>
              <a:t>lectronic）：电压、电流等</a:t>
            </a:r>
            <a:endParaRPr kumimoji="1" lang="zh-CN" altLang="en-US" dirty="0"/>
          </a:p>
          <a:p>
            <a:pPr lvl="1" fontAlgn="auto">
              <a:lnSpc>
                <a:spcPct val="120000"/>
              </a:lnSpc>
            </a:pPr>
            <a:r>
              <a:rPr kumimoji="1" lang="zh-CN" altLang="en-US" dirty="0"/>
              <a:t>时序接口（</a:t>
            </a:r>
            <a:r>
              <a:rPr kumimoji="1" lang="en-US" altLang="zh-CN" dirty="0"/>
              <a:t>Timing</a:t>
            </a:r>
            <a:r>
              <a:rPr kumimoji="1" lang="zh-CN" altLang="en-US" dirty="0"/>
              <a:t>）：采样频率、波特率、比特率等</a:t>
            </a:r>
            <a:endParaRPr kumimoji="1" lang="zh-CN" altLang="en-US" dirty="0"/>
          </a:p>
          <a:p>
            <a:pPr lvl="1" fontAlgn="auto">
              <a:lnSpc>
                <a:spcPct val="120000"/>
              </a:lnSpc>
            </a:pPr>
            <a:r>
              <a:rPr kumimoji="1" lang="zh-CN" altLang="en-US" dirty="0"/>
              <a:t>介质（</a:t>
            </a:r>
            <a:r>
              <a:rPr kumimoji="1" lang="en-US" altLang="zh-CN" dirty="0"/>
              <a:t>M</a:t>
            </a:r>
            <a:r>
              <a:rPr kumimoji="1" lang="zh-CN" altLang="en-US" dirty="0"/>
              <a:t>edium）：各种线缆、无线频谱等</a:t>
            </a:r>
            <a:endParaRPr kumimoji="1" lang="zh-CN" altLang="en-US" dirty="0"/>
          </a:p>
          <a:p>
            <a:pPr lvl="1" fontAlgn="auto">
              <a:lnSpc>
                <a:spcPct val="120000"/>
              </a:lnSpc>
            </a:pPr>
            <a:r>
              <a:rPr kumimoji="1" lang="en-US" altLang="zh-CN" dirty="0"/>
              <a:t>...</a:t>
            </a:r>
            <a:endParaRPr kumimoji="1" lang="en-US" altLang="zh-CN"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6" name="表格 5"/>
          <p:cNvGraphicFramePr/>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tblGrid>
              <a:tr h="381000">
                <a:tc>
                  <a:txBody>
                    <a:bodyPr/>
                    <a:lstStyle/>
                    <a:p>
                      <a:pPr algn="ctr">
                        <a:buNone/>
                      </a:pPr>
                      <a:r>
                        <a:rPr lang="zh-CN" altLang="en-US" sz="2000" b="0">
                          <a:latin typeface="微软雅黑" panose="020B0503020204020204" pitchFamily="34" charset="-122"/>
                          <a:ea typeface="微软雅黑" panose="020B0503020204020204" pitchFamily="34" charset="-122"/>
                        </a:rPr>
                        <a:t>应用层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Application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701040">
                <a:tc>
                  <a:txBody>
                    <a:bodyPr/>
                    <a:lstStyle/>
                    <a:p>
                      <a:pPr algn="ctr">
                        <a:buNone/>
                      </a:pPr>
                      <a:r>
                        <a:rPr lang="zh-CN" altLang="en-US" sz="2000" b="0">
                          <a:latin typeface="微软雅黑" panose="020B0503020204020204" pitchFamily="34" charset="-122"/>
                          <a:ea typeface="微软雅黑" panose="020B0503020204020204" pitchFamily="34" charset="-122"/>
                        </a:rPr>
                        <a:t>表示层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Presentation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会话层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Session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Transport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网络层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Network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数据链路层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Data Link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dirty="0">
                          <a:solidFill>
                            <a:srgbClr val="C00000"/>
                          </a:solidFill>
                          <a:latin typeface="微软雅黑" panose="020B0503020204020204" pitchFamily="34" charset="-122"/>
                          <a:ea typeface="微软雅黑" panose="020B0503020204020204" pitchFamily="34" charset="-122"/>
                        </a:rPr>
                        <a:t>物理层</a:t>
                      </a:r>
                      <a:endParaRPr lang="zh-CN" altLang="en-US" sz="2000" b="0" dirty="0">
                        <a:solidFill>
                          <a:srgbClr val="C00000"/>
                        </a:solidFill>
                        <a:latin typeface="微软雅黑" panose="020B0503020204020204" pitchFamily="34" charset="-122"/>
                        <a:ea typeface="微软雅黑" panose="020B0503020204020204" pitchFamily="34" charset="-122"/>
                      </a:endParaRPr>
                    </a:p>
                    <a:p>
                      <a:pPr algn="ctr">
                        <a:buNone/>
                      </a:pPr>
                      <a:r>
                        <a:rPr lang="en-US" altLang="zh-CN" sz="2000" b="0" dirty="0">
                          <a:solidFill>
                            <a:srgbClr val="C00000"/>
                          </a:solidFill>
                          <a:latin typeface="微软雅黑" panose="020B0503020204020204" pitchFamily="34" charset="-122"/>
                          <a:ea typeface="微软雅黑" panose="020B0503020204020204" pitchFamily="34" charset="-122"/>
                        </a:rPr>
                        <a:t>Physical Layer</a:t>
                      </a:r>
                      <a:endParaRPr lang="en-US" altLang="zh-CN" sz="2000" b="0" dirty="0">
                        <a:solidFill>
                          <a:srgbClr val="C00000"/>
                        </a:solidFill>
                        <a:latin typeface="微软雅黑" panose="020B0503020204020204" pitchFamily="34" charset="-122"/>
                        <a:ea typeface="微软雅黑" panose="020B0503020204020204" pitchFamily="34" charset="-122"/>
                      </a:endParaRPr>
                    </a:p>
                  </a:txBody>
                  <a:tcPr anchor="ctr">
                    <a:noFill/>
                  </a:tcPr>
                </a:tc>
              </a:tr>
            </a:tbl>
          </a:graphicData>
        </a:graphic>
      </p:graphicFrame>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endParaRPr kumimoji="1" lang="zh-CN" altLang="en-US" dirty="0"/>
          </a:p>
        </p:txBody>
      </p:sp>
      <p:sp>
        <p:nvSpPr>
          <p:cNvPr id="3" name="内容占位符 2"/>
          <p:cNvSpPr>
            <a:spLocks noGrp="1"/>
          </p:cNvSpPr>
          <p:nvPr>
            <p:ph idx="1"/>
          </p:nvPr>
        </p:nvSpPr>
        <p:spPr>
          <a:xfrm>
            <a:off x="838200" y="1510665"/>
            <a:ext cx="8431530" cy="4988560"/>
          </a:xfrm>
        </p:spPr>
        <p:txBody>
          <a:bodyPr>
            <a:normAutofit fontScale="90000" lnSpcReduction="10000"/>
          </a:bodyPr>
          <a:lstStyle/>
          <a:p>
            <a:pPr marL="360680" indent="-360680" fontAlgn="auto">
              <a:lnSpc>
                <a:spcPct val="120000"/>
              </a:lnSpc>
            </a:pPr>
            <a:r>
              <a:rPr kumimoji="1" lang="zh-CN" altLang="en-US" dirty="0"/>
              <a:t>数据链路层 </a:t>
            </a:r>
            <a:r>
              <a:rPr kumimoji="1" lang="en-US" altLang="zh-CN" dirty="0"/>
              <a:t>(Data Link Layer)</a:t>
            </a:r>
            <a:endParaRPr kumimoji="1" lang="zh-CN" altLang="en-US" dirty="0"/>
          </a:p>
          <a:p>
            <a:pPr lvl="1" fontAlgn="auto">
              <a:lnSpc>
                <a:spcPct val="120000"/>
              </a:lnSpc>
            </a:pPr>
            <a:r>
              <a:rPr kumimoji="1" lang="zh-CN" altLang="en-US" dirty="0">
                <a:solidFill>
                  <a:srgbClr val="C00000"/>
                </a:solidFill>
              </a:rPr>
              <a:t>实现相邻（</a:t>
            </a:r>
            <a:r>
              <a:rPr lang="en-US" altLang="en-US" noProof="0" dirty="0">
                <a:ln>
                  <a:noFill/>
                </a:ln>
                <a:solidFill>
                  <a:srgbClr val="C00000"/>
                </a:solidFill>
                <a:effectLst/>
                <a:uLnTx/>
                <a:uFillTx/>
                <a:sym typeface="+mn-ea"/>
              </a:rPr>
              <a:t>Neighboring</a:t>
            </a:r>
            <a:r>
              <a:rPr kumimoji="1" lang="zh-CN" altLang="en-US" dirty="0">
                <a:solidFill>
                  <a:srgbClr val="C00000"/>
                </a:solidFill>
              </a:rPr>
              <a:t>）网络实体间的数据传输</a:t>
            </a:r>
            <a:endParaRPr kumimoji="1" lang="zh-CN" altLang="en-US" dirty="0"/>
          </a:p>
          <a:p>
            <a:pPr lvl="1" fontAlgn="auto">
              <a:lnSpc>
                <a:spcPct val="120000"/>
              </a:lnSpc>
            </a:pPr>
            <a:r>
              <a:rPr kumimoji="1" lang="zh-CN" altLang="en-US" dirty="0">
                <a:solidFill>
                  <a:srgbClr val="C00000"/>
                </a:solidFill>
              </a:rPr>
              <a:t>成帧</a:t>
            </a:r>
            <a:r>
              <a:rPr kumimoji="1" lang="zh-CN" altLang="en-US" dirty="0"/>
              <a:t>（</a:t>
            </a:r>
            <a:r>
              <a:rPr kumimoji="1" lang="en-US" altLang="zh-CN" dirty="0"/>
              <a:t>Framing</a:t>
            </a:r>
            <a:r>
              <a:rPr kumimoji="1" lang="zh-CN" altLang="en-US" dirty="0"/>
              <a:t>）：</a:t>
            </a:r>
            <a:r>
              <a:rPr lang="zh-CN" altLang="zh-CN" dirty="0"/>
              <a:t>从物理层的比特流中提取出完整的帧 </a:t>
            </a:r>
            <a:endParaRPr kumimoji="1" lang="zh-CN" altLang="en-US" dirty="0"/>
          </a:p>
          <a:p>
            <a:pPr lvl="1" fontAlgn="auto">
              <a:lnSpc>
                <a:spcPct val="120000"/>
              </a:lnSpc>
            </a:pPr>
            <a:r>
              <a:rPr kumimoji="1" lang="zh-CN" altLang="en-US" dirty="0"/>
              <a:t>错误检测与纠正：为提供可靠数据通信提供可能</a:t>
            </a:r>
            <a:endParaRPr kumimoji="1" lang="zh-CN" altLang="en-US" dirty="0"/>
          </a:p>
          <a:p>
            <a:pPr lvl="1" fontAlgn="auto">
              <a:lnSpc>
                <a:spcPct val="120000"/>
              </a:lnSpc>
            </a:pPr>
            <a:r>
              <a:rPr kumimoji="1" lang="zh-CN" altLang="en-US" dirty="0"/>
              <a:t>物理地址（</a:t>
            </a:r>
            <a:r>
              <a:rPr kumimoji="1" lang="en-US" altLang="zh-CN" dirty="0"/>
              <a:t>MAC address</a:t>
            </a:r>
            <a:r>
              <a:rPr kumimoji="1" lang="zh-CN" altLang="en-US" dirty="0"/>
              <a:t>）：</a:t>
            </a:r>
            <a:r>
              <a:rPr kumimoji="1" lang="en-US" altLang="zh-CN" dirty="0"/>
              <a:t>48</a:t>
            </a:r>
            <a:r>
              <a:rPr kumimoji="1" lang="zh-CN" altLang="en-US" dirty="0"/>
              <a:t>位，理论上唯一网络标识，烧录在网卡，不便更改</a:t>
            </a:r>
            <a:endParaRPr kumimoji="1" lang="zh-CN" altLang="en-US" dirty="0"/>
          </a:p>
          <a:p>
            <a:pPr lvl="1" fontAlgn="auto">
              <a:lnSpc>
                <a:spcPct val="120000"/>
              </a:lnSpc>
            </a:pPr>
            <a:r>
              <a:rPr kumimoji="1" lang="zh-CN" altLang="en-US" dirty="0"/>
              <a:t>流量控制，避免</a:t>
            </a:r>
            <a:r>
              <a:rPr kumimoji="1" lang="en-US" altLang="zh-CN" dirty="0"/>
              <a:t>“</a:t>
            </a:r>
            <a:r>
              <a:rPr kumimoji="1" lang="zh-CN" altLang="en-US" dirty="0"/>
              <a:t>淹没</a:t>
            </a:r>
            <a:r>
              <a:rPr kumimoji="1" lang="en-US" altLang="zh-CN" dirty="0"/>
              <a:t>”</a:t>
            </a:r>
            <a:r>
              <a:rPr kumimoji="1" lang="zh-CN" altLang="en-US" dirty="0"/>
              <a:t>（</a:t>
            </a:r>
            <a:r>
              <a:rPr kumimoji="1" lang="en-US" altLang="zh-CN" dirty="0"/>
              <a:t>overwhelming</a:t>
            </a:r>
            <a:r>
              <a:rPr kumimoji="1" lang="zh-CN" altLang="en-US" dirty="0"/>
              <a:t>）</a:t>
            </a:r>
            <a:r>
              <a:rPr kumimoji="1" lang="en-US" altLang="zh-CN" dirty="0"/>
              <a:t>:</a:t>
            </a:r>
            <a:r>
              <a:rPr kumimoji="1" lang="zh-CN" altLang="en-US" dirty="0"/>
              <a:t>当快速的发送端遇上慢速的接收端，接收端缓存溢出</a:t>
            </a:r>
            <a:endParaRPr kumimoji="1" lang="zh-CN" altLang="en-US" dirty="0"/>
          </a:p>
          <a:p>
            <a:pPr lvl="1" fontAlgn="auto">
              <a:lnSpc>
                <a:spcPct val="120000"/>
              </a:lnSpc>
            </a:pPr>
            <a:r>
              <a:rPr kumimoji="1" lang="zh-CN" altLang="en-US" dirty="0"/>
              <a:t>共享信道上的访问控制（</a:t>
            </a:r>
            <a:r>
              <a:rPr kumimoji="1" lang="en-US" altLang="zh-CN" dirty="0"/>
              <a:t>MAC</a:t>
            </a:r>
            <a:r>
              <a:rPr kumimoji="1" lang="zh-CN" altLang="en-US" dirty="0"/>
              <a:t>）：同一个信道，同时传输信号。如同：同一间教室内，多人同时发言，需要纪律来控制</a:t>
            </a:r>
            <a:endParaRPr kumimoji="1" lang="zh-CN" altLang="en-US" dirty="0"/>
          </a:p>
          <a:p>
            <a:pPr lvl="1" fontAlgn="auto">
              <a:lnSpc>
                <a:spcPct val="120000"/>
              </a:lnSpc>
            </a:pPr>
            <a:r>
              <a:rPr kumimoji="1" lang="en-US" altLang="zh-CN" dirty="0"/>
              <a:t>...</a:t>
            </a:r>
            <a:endParaRPr kumimoji="1" lang="en-US" altLang="zh-CN"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6" name="表格 5"/>
          <p:cNvGraphicFramePr/>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tblGrid>
              <a:tr h="381000">
                <a:tc>
                  <a:txBody>
                    <a:bodyPr/>
                    <a:lstStyle/>
                    <a:p>
                      <a:pPr algn="ctr">
                        <a:buNone/>
                      </a:pPr>
                      <a:r>
                        <a:rPr lang="zh-CN" altLang="en-US" sz="2000" b="0" dirty="0">
                          <a:latin typeface="微软雅黑" panose="020B0503020204020204" pitchFamily="34" charset="-122"/>
                          <a:ea typeface="微软雅黑" panose="020B0503020204020204" pitchFamily="34" charset="-122"/>
                        </a:rPr>
                        <a:t>应用层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dirty="0">
                          <a:latin typeface="微软雅黑" panose="020B0503020204020204" pitchFamily="34" charset="-122"/>
                          <a:ea typeface="微软雅黑" panose="020B0503020204020204" pitchFamily="34" charset="-122"/>
                        </a:rPr>
                        <a:t>Application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701040">
                <a:tc>
                  <a:txBody>
                    <a:bodyPr/>
                    <a:lstStyle/>
                    <a:p>
                      <a:pPr algn="ctr">
                        <a:buNone/>
                      </a:pPr>
                      <a:r>
                        <a:rPr lang="zh-CN" altLang="en-US" sz="2000" b="0">
                          <a:latin typeface="微软雅黑" panose="020B0503020204020204" pitchFamily="34" charset="-122"/>
                          <a:ea typeface="微软雅黑" panose="020B0503020204020204" pitchFamily="34" charset="-122"/>
                        </a:rPr>
                        <a:t>表示层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Presentation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会话层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Session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Transport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网络层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Network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dirty="0">
                          <a:solidFill>
                            <a:srgbClr val="C00000"/>
                          </a:solidFill>
                          <a:latin typeface="微软雅黑" panose="020B0503020204020204" pitchFamily="34" charset="-122"/>
                          <a:ea typeface="微软雅黑" panose="020B0503020204020204" pitchFamily="34" charset="-122"/>
                        </a:rPr>
                        <a:t>数据链路层</a:t>
                      </a:r>
                      <a:endParaRPr lang="zh-CN" altLang="en-US" sz="2000" b="0" dirty="0">
                        <a:solidFill>
                          <a:srgbClr val="C00000"/>
                        </a:solidFill>
                        <a:latin typeface="微软雅黑" panose="020B0503020204020204" pitchFamily="34" charset="-122"/>
                        <a:ea typeface="微软雅黑" panose="020B0503020204020204" pitchFamily="34" charset="-122"/>
                      </a:endParaRPr>
                    </a:p>
                    <a:p>
                      <a:pPr algn="ctr">
                        <a:buNone/>
                      </a:pPr>
                      <a:r>
                        <a:rPr lang="en-US" altLang="zh-CN" sz="2000" b="0" dirty="0">
                          <a:solidFill>
                            <a:srgbClr val="C00000"/>
                          </a:solidFill>
                          <a:latin typeface="微软雅黑" panose="020B0503020204020204" pitchFamily="34" charset="-122"/>
                          <a:ea typeface="微软雅黑" panose="020B0503020204020204" pitchFamily="34" charset="-122"/>
                        </a:rPr>
                        <a:t>Data Link Layer</a:t>
                      </a:r>
                      <a:endParaRPr lang="en-US" altLang="zh-CN" sz="2000" b="0" dirty="0">
                        <a:solidFill>
                          <a:srgbClr val="C00000"/>
                        </a:solidFill>
                        <a:latin typeface="微软雅黑" panose="020B0503020204020204" pitchFamily="34" charset="-122"/>
                        <a:ea typeface="微软雅黑" panose="020B0503020204020204" pitchFamily="34" charset="-122"/>
                      </a:endParaRPr>
                    </a:p>
                  </a:txBody>
                  <a:tcPr anchor="ctr">
                    <a:noFill/>
                  </a:tcPr>
                </a:tc>
              </a:tr>
              <a:tr h="701040">
                <a:tc>
                  <a:txBody>
                    <a:bodyPr/>
                    <a:lstStyle/>
                    <a:p>
                      <a:pPr algn="ctr">
                        <a:buNone/>
                      </a:pPr>
                      <a:r>
                        <a:rPr lang="zh-CN" altLang="en-US" sz="2000" b="0" dirty="0">
                          <a:latin typeface="微软雅黑" panose="020B0503020204020204" pitchFamily="34" charset="-122"/>
                          <a:ea typeface="微软雅黑" panose="020B0503020204020204" pitchFamily="34" charset="-122"/>
                        </a:rPr>
                        <a:t>物理层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dirty="0">
                          <a:latin typeface="微软雅黑" panose="020B0503020204020204" pitchFamily="34" charset="-122"/>
                          <a:ea typeface="微软雅黑" panose="020B0503020204020204" pitchFamily="34" charset="-122"/>
                        </a:rPr>
                        <a:t>Physical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bl>
          </a:graphicData>
        </a:graphic>
      </p:graphicFrame>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endParaRPr kumimoji="1" lang="zh-CN" altLang="en-US" dirty="0"/>
          </a:p>
        </p:txBody>
      </p:sp>
      <p:sp>
        <p:nvSpPr>
          <p:cNvPr id="3" name="内容占位符 2"/>
          <p:cNvSpPr>
            <a:spLocks noGrp="1"/>
          </p:cNvSpPr>
          <p:nvPr>
            <p:ph idx="1"/>
          </p:nvPr>
        </p:nvSpPr>
        <p:spPr>
          <a:xfrm>
            <a:off x="963769" y="1351402"/>
            <a:ext cx="8259441" cy="4398046"/>
          </a:xfrm>
        </p:spPr>
        <p:txBody>
          <a:bodyPr>
            <a:normAutofit fontScale="92500" lnSpcReduction="10000"/>
          </a:bodyPr>
          <a:lstStyle/>
          <a:p>
            <a:pPr marL="360680" indent="-360680" fontAlgn="auto">
              <a:lnSpc>
                <a:spcPct val="120000"/>
              </a:lnSpc>
            </a:pPr>
            <a:r>
              <a:rPr kumimoji="1" lang="zh-CN" altLang="en-US" dirty="0"/>
              <a:t>网络层 </a:t>
            </a:r>
            <a:r>
              <a:rPr kumimoji="1" lang="en-US" altLang="zh-CN" dirty="0"/>
              <a:t>(Network Layer)</a:t>
            </a:r>
            <a:endParaRPr kumimoji="1" lang="zh-CN" altLang="en-US" dirty="0"/>
          </a:p>
          <a:p>
            <a:pPr lvl="1" fontAlgn="auto">
              <a:lnSpc>
                <a:spcPct val="120000"/>
              </a:lnSpc>
            </a:pPr>
            <a:r>
              <a:rPr kumimoji="1" lang="zh-CN" altLang="en-US" dirty="0">
                <a:solidFill>
                  <a:srgbClr val="C00000"/>
                </a:solidFill>
              </a:rPr>
              <a:t>将数据包跨越网络</a:t>
            </a:r>
            <a:r>
              <a:rPr kumimoji="1" lang="zh-CN" altLang="en-US" dirty="0">
                <a:solidFill>
                  <a:srgbClr val="C00000"/>
                </a:solidFill>
                <a:sym typeface="+mn-ea"/>
              </a:rPr>
              <a:t>从源设备发送到目的设备（</a:t>
            </a:r>
            <a:r>
              <a:rPr kumimoji="1" lang="en-US" altLang="zh-CN" dirty="0">
                <a:solidFill>
                  <a:srgbClr val="C00000"/>
                </a:solidFill>
                <a:sym typeface="+mn-ea"/>
              </a:rPr>
              <a:t>host to host</a:t>
            </a:r>
            <a:r>
              <a:rPr kumimoji="1" lang="zh-CN" altLang="en-US" dirty="0">
                <a:solidFill>
                  <a:srgbClr val="C00000"/>
                </a:solidFill>
                <a:sym typeface="+mn-ea"/>
              </a:rPr>
              <a:t>）</a:t>
            </a:r>
            <a:endParaRPr kumimoji="1" lang="zh-CN" altLang="en-US" dirty="0"/>
          </a:p>
          <a:p>
            <a:pPr lvl="1" fontAlgn="auto">
              <a:lnSpc>
                <a:spcPct val="120000"/>
              </a:lnSpc>
            </a:pPr>
            <a:r>
              <a:rPr kumimoji="1" lang="zh-CN" altLang="en-US" dirty="0">
                <a:solidFill>
                  <a:srgbClr val="C00000"/>
                </a:solidFill>
              </a:rPr>
              <a:t>路由</a:t>
            </a:r>
            <a:r>
              <a:rPr kumimoji="1" lang="zh-CN" altLang="en-US" dirty="0"/>
              <a:t>（</a:t>
            </a:r>
            <a:r>
              <a:rPr kumimoji="1" lang="en-US" altLang="zh-CN" dirty="0"/>
              <a:t>Routing</a:t>
            </a:r>
            <a:r>
              <a:rPr kumimoji="1" lang="zh-CN" altLang="en-US" dirty="0"/>
              <a:t>）：在网络中选取从源端到目的端转发路径，常常会根据网络可达性动态选取最佳路径，也可以使用静态路由</a:t>
            </a:r>
            <a:endParaRPr kumimoji="1" lang="en-US" altLang="zh-CN" dirty="0"/>
          </a:p>
          <a:p>
            <a:pPr lvl="1" fontAlgn="auto">
              <a:lnSpc>
                <a:spcPct val="120000"/>
              </a:lnSpc>
            </a:pPr>
            <a:r>
              <a:rPr kumimoji="1" lang="zh-CN" altLang="en-US" dirty="0"/>
              <a:t>路由协议：路由器之间交互路由信息所遵循的协议规范，使得单个路由器能够获取网络的可达性等信息</a:t>
            </a:r>
            <a:endParaRPr kumimoji="1" lang="en-US" altLang="zh-CN" dirty="0"/>
          </a:p>
          <a:p>
            <a:pPr lvl="1">
              <a:lnSpc>
                <a:spcPct val="120000"/>
              </a:lnSpc>
            </a:pPr>
            <a:r>
              <a:rPr kumimoji="1" lang="zh-CN" altLang="en-US" dirty="0"/>
              <a:t>服务质量（</a:t>
            </a:r>
            <a:r>
              <a:rPr kumimoji="1" lang="en-US" altLang="zh-CN" dirty="0"/>
              <a:t>QoS</a:t>
            </a:r>
            <a:r>
              <a:rPr kumimoji="1" lang="zh-CN" altLang="en-US" dirty="0"/>
              <a:t>）控制：处理网络拥塞、负载均衡、准入控制、保障延迟</a:t>
            </a:r>
            <a:endParaRPr kumimoji="1" lang="zh-CN" altLang="en-US" dirty="0"/>
          </a:p>
          <a:p>
            <a:pPr lvl="1" fontAlgn="auto">
              <a:lnSpc>
                <a:spcPct val="120000"/>
              </a:lnSpc>
            </a:pPr>
            <a:r>
              <a:rPr kumimoji="1" lang="zh-CN" altLang="en-US" dirty="0"/>
              <a:t>异构网络互联：在异构编址和异构网络中路由寻址和转发</a:t>
            </a:r>
            <a:endParaRPr kumimoji="1" lang="zh-CN" altLang="en-US" dirty="0"/>
          </a:p>
        </p:txBody>
      </p:sp>
      <p:sp>
        <p:nvSpPr>
          <p:cNvPr id="8" name="灯片编号占位符 7"/>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6" name="表格 5"/>
          <p:cNvGraphicFramePr/>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tblGrid>
              <a:tr h="701040">
                <a:tc>
                  <a:txBody>
                    <a:bodyPr/>
                    <a:lstStyle/>
                    <a:p>
                      <a:pPr algn="ctr">
                        <a:buNone/>
                      </a:pPr>
                      <a:r>
                        <a:rPr lang="zh-CN" altLang="en-US" sz="2000" b="0" dirty="0">
                          <a:latin typeface="微软雅黑" panose="020B0503020204020204" pitchFamily="34" charset="-122"/>
                          <a:ea typeface="微软雅黑" panose="020B0503020204020204" pitchFamily="34" charset="-122"/>
                        </a:rPr>
                        <a:t>应用层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dirty="0">
                          <a:latin typeface="微软雅黑" panose="020B0503020204020204" pitchFamily="34" charset="-122"/>
                          <a:ea typeface="微软雅黑" panose="020B0503020204020204" pitchFamily="34" charset="-122"/>
                        </a:rPr>
                        <a:t>Application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701040">
                <a:tc>
                  <a:txBody>
                    <a:bodyPr/>
                    <a:lstStyle/>
                    <a:p>
                      <a:pPr algn="ctr">
                        <a:buNone/>
                      </a:pPr>
                      <a:r>
                        <a:rPr lang="zh-CN" altLang="en-US" sz="2000" b="0">
                          <a:latin typeface="微软雅黑" panose="020B0503020204020204" pitchFamily="34" charset="-122"/>
                          <a:ea typeface="微软雅黑" panose="020B0503020204020204" pitchFamily="34" charset="-122"/>
                        </a:rPr>
                        <a:t>表示层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Presentation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会话层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Session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Transport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dirty="0">
                          <a:solidFill>
                            <a:srgbClr val="C00000"/>
                          </a:solidFill>
                          <a:latin typeface="微软雅黑" panose="020B0503020204020204" pitchFamily="34" charset="-122"/>
                          <a:ea typeface="微软雅黑" panose="020B0503020204020204" pitchFamily="34" charset="-122"/>
                        </a:rPr>
                        <a:t>网络层</a:t>
                      </a:r>
                      <a:endParaRPr lang="zh-CN" altLang="en-US" sz="2000" b="0" dirty="0">
                        <a:solidFill>
                          <a:srgbClr val="C00000"/>
                        </a:solidFill>
                        <a:latin typeface="微软雅黑" panose="020B0503020204020204" pitchFamily="34" charset="-122"/>
                        <a:ea typeface="微软雅黑" panose="020B0503020204020204" pitchFamily="34" charset="-122"/>
                      </a:endParaRPr>
                    </a:p>
                    <a:p>
                      <a:pPr algn="ctr">
                        <a:buNone/>
                      </a:pPr>
                      <a:r>
                        <a:rPr lang="en-US" altLang="zh-CN" sz="2000" b="0" dirty="0">
                          <a:solidFill>
                            <a:srgbClr val="C00000"/>
                          </a:solidFill>
                          <a:latin typeface="微软雅黑" panose="020B0503020204020204" pitchFamily="34" charset="-122"/>
                          <a:ea typeface="微软雅黑" panose="020B0503020204020204" pitchFamily="34" charset="-122"/>
                        </a:rPr>
                        <a:t>Network Layer</a:t>
                      </a:r>
                      <a:endParaRPr lang="en-US" altLang="zh-CN" sz="2000" b="0" dirty="0">
                        <a:solidFill>
                          <a:srgbClr val="C00000"/>
                        </a:solidFill>
                        <a:latin typeface="微软雅黑" panose="020B0503020204020204" pitchFamily="34" charset="-122"/>
                        <a:ea typeface="微软雅黑" panose="020B0503020204020204" pitchFamily="34" charset="-122"/>
                      </a:endParaRPr>
                    </a:p>
                  </a:txBody>
                  <a:tcPr anchor="ctr">
                    <a:no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数据链路层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Data Link Layer</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701040">
                <a:tc>
                  <a:txBody>
                    <a:bodyPr/>
                    <a:lstStyle/>
                    <a:p>
                      <a:pPr algn="ctr">
                        <a:buNone/>
                      </a:pPr>
                      <a:r>
                        <a:rPr lang="zh-CN" altLang="en-US" sz="2000" b="0" dirty="0">
                          <a:latin typeface="微软雅黑" panose="020B0503020204020204" pitchFamily="34" charset="-122"/>
                          <a:ea typeface="微软雅黑" panose="020B0503020204020204" pitchFamily="34" charset="-122"/>
                        </a:rPr>
                        <a:t>物理层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dirty="0">
                          <a:latin typeface="微软雅黑" panose="020B0503020204020204" pitchFamily="34" charset="-122"/>
                          <a:ea typeface="微软雅黑" panose="020B0503020204020204" pitchFamily="34" charset="-122"/>
                        </a:rPr>
                        <a:t>Physical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bl>
          </a:graphicData>
        </a:graphic>
      </p:graphicFrame>
      <p:sp>
        <p:nvSpPr>
          <p:cNvPr id="5" name="矩形 4"/>
          <p:cNvSpPr/>
          <p:nvPr/>
        </p:nvSpPr>
        <p:spPr>
          <a:xfrm>
            <a:off x="986794" y="5918119"/>
            <a:ext cx="8259441" cy="461665"/>
          </a:xfrm>
          <a:prstGeom prst="rect">
            <a:avLst/>
          </a:prstGeom>
          <a:ln>
            <a:solidFill>
              <a:srgbClr val="C00000"/>
            </a:solidFill>
          </a:ln>
        </p:spPr>
        <p:txBody>
          <a:bodyPr wrap="none">
            <a:spAutoFit/>
          </a:bodyPr>
          <a:lstStyle/>
          <a:p>
            <a:r>
              <a:rPr kumimoji="1" lang="zh-CN" altLang="en-US" sz="2400" dirty="0">
                <a:solidFill>
                  <a:prstClr val="black"/>
                </a:solidFill>
                <a:latin typeface="微软雅黑" panose="020B0503020204020204" pitchFamily="34" charset="-122"/>
                <a:ea typeface="微软雅黑" panose="020B0503020204020204" pitchFamily="34" charset="-122"/>
              </a:rPr>
              <a:t>思考：为何在唯一的</a:t>
            </a:r>
            <a:r>
              <a:rPr kumimoji="1" lang="en-US" altLang="zh-CN" sz="2400" dirty="0">
                <a:solidFill>
                  <a:prstClr val="black"/>
                </a:solidFill>
                <a:latin typeface="微软雅黑" panose="020B0503020204020204" pitchFamily="34" charset="-122"/>
                <a:ea typeface="微软雅黑" panose="020B0503020204020204" pitchFamily="34" charset="-122"/>
              </a:rPr>
              <a:t>MAC</a:t>
            </a:r>
            <a:r>
              <a:rPr kumimoji="1" lang="zh-CN" altLang="en-US" sz="2400" dirty="0">
                <a:solidFill>
                  <a:prstClr val="black"/>
                </a:solidFill>
                <a:latin typeface="微软雅黑" panose="020B0503020204020204" pitchFamily="34" charset="-122"/>
                <a:ea typeface="微软雅黑" panose="020B0503020204020204" pitchFamily="34" charset="-122"/>
              </a:rPr>
              <a:t>地址之外，还需要唯一的</a:t>
            </a:r>
            <a:r>
              <a:rPr kumimoji="1" lang="en-US" altLang="zh-CN" sz="2400" dirty="0">
                <a:solidFill>
                  <a:prstClr val="black"/>
                </a:solidFill>
                <a:latin typeface="微软雅黑" panose="020B0503020204020204" pitchFamily="34" charset="-122"/>
                <a:ea typeface="微软雅黑" panose="020B0503020204020204" pitchFamily="34" charset="-122"/>
              </a:rPr>
              <a:t>IP</a:t>
            </a:r>
            <a:r>
              <a:rPr kumimoji="1" lang="zh-CN" altLang="en-US" sz="2400" dirty="0">
                <a:solidFill>
                  <a:prstClr val="black"/>
                </a:solidFill>
                <a:latin typeface="微软雅黑" panose="020B0503020204020204" pitchFamily="34" charset="-122"/>
                <a:ea typeface="微软雅黑" panose="020B0503020204020204" pitchFamily="34" charset="-122"/>
              </a:rPr>
              <a:t>地址？</a:t>
            </a:r>
            <a:endParaRPr lang="zh-CN" altLang="en-US" sz="2000" dirty="0"/>
          </a:p>
        </p:txBody>
      </p:sp>
      <p:sp>
        <p:nvSpPr>
          <p:cNvPr id="9" name="文本框 8"/>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endParaRPr kumimoji="1" lang="zh-CN" altLang="en-US" dirty="0"/>
          </a:p>
        </p:txBody>
      </p:sp>
      <p:sp>
        <p:nvSpPr>
          <p:cNvPr id="3" name="内容占位符 2"/>
          <p:cNvSpPr>
            <a:spLocks noGrp="1"/>
          </p:cNvSpPr>
          <p:nvPr>
            <p:ph idx="1"/>
          </p:nvPr>
        </p:nvSpPr>
        <p:spPr>
          <a:xfrm>
            <a:off x="838200" y="1363928"/>
            <a:ext cx="8408035" cy="5269865"/>
          </a:xfrm>
        </p:spPr>
        <p:txBody>
          <a:bodyPr>
            <a:normAutofit fontScale="92500" lnSpcReduction="10000"/>
          </a:bodyPr>
          <a:lstStyle/>
          <a:p>
            <a:pPr marL="360680" indent="-360680"/>
            <a:r>
              <a:rPr kumimoji="1" lang="zh-CN" altLang="en-US" dirty="0"/>
              <a:t>传输层 </a:t>
            </a:r>
            <a:r>
              <a:rPr kumimoji="1" lang="en-US" altLang="zh-CN" dirty="0"/>
              <a:t>(Transport Layer)</a:t>
            </a:r>
            <a:endParaRPr kumimoji="1" lang="zh-CN" altLang="en-US" dirty="0"/>
          </a:p>
          <a:p>
            <a:pPr lvl="1" fontAlgn="auto">
              <a:lnSpc>
                <a:spcPct val="120000"/>
              </a:lnSpc>
            </a:pPr>
            <a:r>
              <a:rPr kumimoji="1" lang="zh-CN" altLang="en-US" dirty="0">
                <a:solidFill>
                  <a:srgbClr val="C00000"/>
                </a:solidFill>
              </a:rPr>
              <a:t>将数据从源端口发送到目的端口（</a:t>
            </a:r>
            <a:r>
              <a:rPr kumimoji="1" lang="zh-CN" altLang="en-US" b="1" dirty="0">
                <a:solidFill>
                  <a:srgbClr val="C00000"/>
                </a:solidFill>
              </a:rPr>
              <a:t>进程到进程</a:t>
            </a:r>
            <a:r>
              <a:rPr kumimoji="1" lang="zh-CN" altLang="en-US" dirty="0">
                <a:solidFill>
                  <a:srgbClr val="C00000"/>
                </a:solidFill>
              </a:rPr>
              <a:t>）</a:t>
            </a:r>
            <a:endParaRPr kumimoji="1" lang="zh-CN" altLang="en-US" dirty="0"/>
          </a:p>
          <a:p>
            <a:pPr lvl="1" fontAlgn="auto">
              <a:lnSpc>
                <a:spcPct val="120000"/>
              </a:lnSpc>
            </a:pPr>
            <a:r>
              <a:rPr kumimoji="1" lang="zh-CN" altLang="en-US" dirty="0"/>
              <a:t>网络层定位到一台主机（</a:t>
            </a:r>
            <a:r>
              <a:rPr kumimoji="1" lang="en-US" altLang="zh-CN" dirty="0"/>
              <a:t>host</a:t>
            </a:r>
            <a:r>
              <a:rPr kumimoji="1" lang="zh-CN" altLang="en-US" dirty="0"/>
              <a:t>），传输层的作用域具体到主机上的某一个进程</a:t>
            </a:r>
            <a:endParaRPr kumimoji="1" lang="zh-CN" altLang="en-US" dirty="0"/>
          </a:p>
          <a:p>
            <a:pPr lvl="1" fontAlgn="auto">
              <a:lnSpc>
                <a:spcPct val="120000"/>
              </a:lnSpc>
            </a:pPr>
            <a:r>
              <a:rPr kumimoji="1" lang="zh-CN" altLang="en-US" dirty="0"/>
              <a:t>网络层的控制主要面向运营商，传输层为</a:t>
            </a:r>
            <a:r>
              <a:rPr kumimoji="1" lang="zh-CN" altLang="en-US" dirty="0">
                <a:solidFill>
                  <a:srgbClr val="C00000"/>
                </a:solidFill>
              </a:rPr>
              <a:t>终端用户</a:t>
            </a:r>
            <a:r>
              <a:rPr kumimoji="1" lang="zh-CN" altLang="en-US" dirty="0"/>
              <a:t>提供端到端的数据传输控制</a:t>
            </a:r>
            <a:endParaRPr kumimoji="1" lang="en-US" altLang="zh-CN" dirty="0"/>
          </a:p>
          <a:p>
            <a:pPr lvl="1" fontAlgn="auto">
              <a:lnSpc>
                <a:spcPct val="120000"/>
              </a:lnSpc>
            </a:pPr>
            <a:r>
              <a:rPr kumimoji="1" lang="zh-CN" altLang="en-US" dirty="0"/>
              <a:t>两类模式：可靠的传输模式，或不可靠传输模式</a:t>
            </a:r>
            <a:endParaRPr kumimoji="1" lang="zh-CN" altLang="en-US" dirty="0"/>
          </a:p>
          <a:p>
            <a:pPr lvl="1" fontAlgn="auto">
              <a:lnSpc>
                <a:spcPct val="120000"/>
              </a:lnSpc>
            </a:pPr>
            <a:r>
              <a:rPr kumimoji="1" lang="zh-CN" altLang="en-US" dirty="0"/>
              <a:t>可靠传输：可靠的端到端数据传输，适合于对通信质量有要求的应用场景，如文件传输等</a:t>
            </a:r>
            <a:endParaRPr kumimoji="1" lang="en-US" altLang="zh-CN" dirty="0"/>
          </a:p>
          <a:p>
            <a:pPr lvl="1" fontAlgn="auto">
              <a:lnSpc>
                <a:spcPct val="120000"/>
              </a:lnSpc>
            </a:pPr>
            <a:r>
              <a:rPr kumimoji="1" lang="zh-CN" altLang="en-US" dirty="0"/>
              <a:t>不可靠传输：更快捷、更轻量的端到端数据传输，适合于对通信质量要求不高，对通信响应速度要求高的应用场景，如语音对话、视频会议等</a:t>
            </a:r>
            <a:endParaRPr kumimoji="1" lang="zh-CN" altLang="en-US" dirty="0"/>
          </a:p>
          <a:p>
            <a:pPr lvl="1"/>
            <a:endParaRPr kumimoji="1" lang="zh-CN" altLang="en-US"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6" name="表格 5"/>
          <p:cNvGraphicFramePr/>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tblGrid>
              <a:tr h="381000">
                <a:tc>
                  <a:txBody>
                    <a:bodyPr/>
                    <a:lstStyle/>
                    <a:p>
                      <a:pPr algn="ctr">
                        <a:buNone/>
                      </a:pPr>
                      <a:r>
                        <a:rPr lang="zh-CN" altLang="en-US" sz="2000" b="0">
                          <a:latin typeface="微软雅黑" panose="020B0503020204020204" pitchFamily="34" charset="-122"/>
                          <a:ea typeface="微软雅黑" panose="020B0503020204020204" pitchFamily="34" charset="-122"/>
                        </a:rPr>
                        <a:t>应用层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Application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701040">
                <a:tc>
                  <a:txBody>
                    <a:bodyPr/>
                    <a:lstStyle/>
                    <a:p>
                      <a:pPr algn="ctr">
                        <a:buNone/>
                      </a:pPr>
                      <a:r>
                        <a:rPr lang="zh-CN" altLang="en-US" sz="2000" b="0">
                          <a:latin typeface="微软雅黑" panose="020B0503020204020204" pitchFamily="34" charset="-122"/>
                          <a:ea typeface="微软雅黑" panose="020B0503020204020204" pitchFamily="34" charset="-122"/>
                        </a:rPr>
                        <a:t>表示层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Presentation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会话层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Session Layer</a:t>
                      </a:r>
                      <a:endParaRPr lang="en-US" altLang="zh-CN" sz="2000" b="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r h="381000">
                <a:tc>
                  <a:txBody>
                    <a:bodyPr/>
                    <a:lstStyle/>
                    <a:p>
                      <a:pPr algn="ctr">
                        <a:buNone/>
                      </a:pPr>
                      <a:r>
                        <a:rPr lang="zh-CN" altLang="en-US" sz="2000" b="0" dirty="0">
                          <a:solidFill>
                            <a:srgbClr val="C00000"/>
                          </a:solidFill>
                          <a:latin typeface="微软雅黑" panose="020B0503020204020204" pitchFamily="34" charset="-122"/>
                          <a:ea typeface="微软雅黑" panose="020B0503020204020204" pitchFamily="34" charset="-122"/>
                        </a:rPr>
                        <a:t>传输层</a:t>
                      </a:r>
                      <a:endParaRPr lang="zh-CN" altLang="en-US" sz="2000" b="0" dirty="0">
                        <a:solidFill>
                          <a:srgbClr val="C00000"/>
                        </a:solidFill>
                        <a:latin typeface="微软雅黑" panose="020B0503020204020204" pitchFamily="34" charset="-122"/>
                        <a:ea typeface="微软雅黑" panose="020B0503020204020204" pitchFamily="34" charset="-122"/>
                      </a:endParaRPr>
                    </a:p>
                    <a:p>
                      <a:pPr algn="ctr">
                        <a:buNone/>
                      </a:pPr>
                      <a:r>
                        <a:rPr lang="en-US" altLang="zh-CN" sz="2000" b="0" dirty="0">
                          <a:solidFill>
                            <a:srgbClr val="C00000"/>
                          </a:solidFill>
                          <a:latin typeface="微软雅黑" panose="020B0503020204020204" pitchFamily="34" charset="-122"/>
                          <a:ea typeface="微软雅黑" panose="020B0503020204020204" pitchFamily="34" charset="-122"/>
                        </a:rPr>
                        <a:t>Transport Layer</a:t>
                      </a:r>
                      <a:endParaRPr lang="en-US" altLang="zh-CN" sz="2000" b="0" dirty="0">
                        <a:solidFill>
                          <a:srgbClr val="C00000"/>
                        </a:solidFill>
                        <a:latin typeface="微软雅黑" panose="020B0503020204020204" pitchFamily="34" charset="-122"/>
                        <a:ea typeface="微软雅黑" panose="020B0503020204020204" pitchFamily="34" charset="-122"/>
                      </a:endParaRPr>
                    </a:p>
                  </a:txBody>
                  <a:tcPr anchor="ctr">
                    <a:no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网络层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Network Layer</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数据链路层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Data Link Layer</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701040">
                <a:tc>
                  <a:txBody>
                    <a:bodyPr/>
                    <a:lstStyle/>
                    <a:p>
                      <a:pPr algn="ctr">
                        <a:buNone/>
                      </a:pPr>
                      <a:r>
                        <a:rPr lang="zh-CN" altLang="en-US" sz="2000" b="0" dirty="0">
                          <a:latin typeface="微软雅黑" panose="020B0503020204020204" pitchFamily="34" charset="-122"/>
                          <a:ea typeface="微软雅黑" panose="020B0503020204020204" pitchFamily="34" charset="-122"/>
                        </a:rPr>
                        <a:t>物理层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dirty="0">
                          <a:latin typeface="微软雅黑" panose="020B0503020204020204" pitchFamily="34" charset="-122"/>
                          <a:ea typeface="微软雅黑" panose="020B0503020204020204" pitchFamily="34" charset="-122"/>
                        </a:rPr>
                        <a:t>Physical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bl>
          </a:graphicData>
        </a:graphic>
      </p:graphicFrame>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endParaRPr kumimoji="1" lang="zh-CN" altLang="en-US" dirty="0"/>
          </a:p>
        </p:txBody>
      </p:sp>
      <p:sp>
        <p:nvSpPr>
          <p:cNvPr id="3" name="内容占位符 2"/>
          <p:cNvSpPr>
            <a:spLocks noGrp="1"/>
          </p:cNvSpPr>
          <p:nvPr>
            <p:ph idx="1"/>
          </p:nvPr>
        </p:nvSpPr>
        <p:spPr>
          <a:xfrm>
            <a:off x="838200" y="1510665"/>
            <a:ext cx="8408035" cy="4586605"/>
          </a:xfrm>
        </p:spPr>
        <p:txBody>
          <a:bodyPr>
            <a:normAutofit/>
          </a:bodyPr>
          <a:lstStyle/>
          <a:p>
            <a:pPr marL="360680" indent="-360680" fontAlgn="auto">
              <a:lnSpc>
                <a:spcPct val="120000"/>
              </a:lnSpc>
            </a:pPr>
            <a:r>
              <a:rPr kumimoji="1" lang="zh-CN" altLang="en-US" dirty="0"/>
              <a:t>会话层 </a:t>
            </a:r>
            <a:r>
              <a:rPr kumimoji="1" lang="en-US" altLang="zh-CN" dirty="0"/>
              <a:t>(Session Layer)</a:t>
            </a:r>
            <a:endParaRPr kumimoji="1" lang="zh-CN" altLang="en-US" dirty="0"/>
          </a:p>
          <a:p>
            <a:pPr lvl="1" fontAlgn="auto">
              <a:lnSpc>
                <a:spcPct val="120000"/>
              </a:lnSpc>
            </a:pPr>
            <a:r>
              <a:rPr kumimoji="1" lang="zh-CN" altLang="en-US" dirty="0"/>
              <a:t>利用传输层提供的服务，在应用程序之间建立和维持会话，并能使会话获得同步</a:t>
            </a:r>
            <a:endParaRPr kumimoji="1" lang="zh-CN" altLang="en-US" dirty="0"/>
          </a:p>
          <a:p>
            <a:pPr marL="360680" lvl="0" indent="-360680" fontAlgn="auto">
              <a:lnSpc>
                <a:spcPct val="120000"/>
              </a:lnSpc>
            </a:pPr>
            <a:r>
              <a:rPr kumimoji="1" lang="zh-CN" altLang="en-US" dirty="0"/>
              <a:t>表示层（</a:t>
            </a:r>
            <a:r>
              <a:rPr kumimoji="1" lang="en-US" altLang="zh-CN" dirty="0"/>
              <a:t>Presentation Layer</a:t>
            </a:r>
            <a:r>
              <a:rPr kumimoji="1" lang="zh-CN" altLang="en-US" dirty="0"/>
              <a:t>）</a:t>
            </a:r>
            <a:endParaRPr kumimoji="1" lang="zh-CN" altLang="en-US" dirty="0"/>
          </a:p>
          <a:p>
            <a:pPr lvl="1" fontAlgn="auto">
              <a:lnSpc>
                <a:spcPct val="120000"/>
              </a:lnSpc>
            </a:pPr>
            <a:r>
              <a:rPr kumimoji="1" lang="zh-CN" altLang="en-US" sz="2400" dirty="0"/>
              <a:t>关注所传递信息的语法和语义，管理数据的表示方法，传输的数据结构</a:t>
            </a:r>
            <a:endParaRPr kumimoji="1" lang="zh-CN" altLang="en-US" dirty="0"/>
          </a:p>
          <a:p>
            <a:pPr marL="360680" lvl="0" indent="-360680" fontAlgn="auto">
              <a:lnSpc>
                <a:spcPct val="120000"/>
              </a:lnSpc>
            </a:pPr>
            <a:r>
              <a:rPr kumimoji="1" lang="zh-CN" altLang="en-US" dirty="0"/>
              <a:t>应用层</a:t>
            </a:r>
            <a:r>
              <a:rPr kumimoji="1" lang="zh-CN" altLang="en-US" dirty="0">
                <a:sym typeface="+mn-ea"/>
              </a:rPr>
              <a:t>（</a:t>
            </a:r>
            <a:r>
              <a:rPr kumimoji="1" lang="en-US" altLang="zh-CN" dirty="0">
                <a:sym typeface="+mn-ea"/>
              </a:rPr>
              <a:t>Application Layer</a:t>
            </a:r>
            <a:r>
              <a:rPr kumimoji="1" lang="zh-CN" altLang="en-US" dirty="0">
                <a:sym typeface="+mn-ea"/>
              </a:rPr>
              <a:t>）</a:t>
            </a:r>
            <a:endParaRPr kumimoji="1" lang="zh-CN" altLang="en-US" dirty="0">
              <a:sym typeface="+mn-ea"/>
            </a:endParaRPr>
          </a:p>
          <a:p>
            <a:pPr lvl="1" fontAlgn="auto">
              <a:lnSpc>
                <a:spcPct val="120000"/>
              </a:lnSpc>
            </a:pPr>
            <a:r>
              <a:rPr kumimoji="1" lang="zh-CN" altLang="en-US" dirty="0"/>
              <a:t>通过应用层协议，提供应用程序便捷的网络服务调用</a:t>
            </a:r>
            <a:endParaRPr kumimoji="1" lang="zh-CN" altLang="en-US"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6" name="表格 5"/>
          <p:cNvGraphicFramePr/>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tblGrid>
              <a:tr h="381000">
                <a:tc>
                  <a:txBody>
                    <a:bodyPr/>
                    <a:lstStyle/>
                    <a:p>
                      <a:pPr algn="ctr">
                        <a:buNone/>
                      </a:pPr>
                      <a:r>
                        <a:rPr lang="zh-CN" altLang="en-US" sz="2000" b="0" dirty="0">
                          <a:solidFill>
                            <a:srgbClr val="C00000"/>
                          </a:solidFill>
                          <a:latin typeface="微软雅黑" panose="020B0503020204020204" pitchFamily="34" charset="-122"/>
                          <a:ea typeface="微软雅黑" panose="020B0503020204020204" pitchFamily="34" charset="-122"/>
                        </a:rPr>
                        <a:t>应用层</a:t>
                      </a:r>
                      <a:endParaRPr lang="zh-CN" altLang="en-US" sz="2000" b="0" dirty="0">
                        <a:solidFill>
                          <a:srgbClr val="C00000"/>
                        </a:solidFill>
                        <a:latin typeface="微软雅黑" panose="020B0503020204020204" pitchFamily="34" charset="-122"/>
                        <a:ea typeface="微软雅黑" panose="020B0503020204020204" pitchFamily="34" charset="-122"/>
                      </a:endParaRPr>
                    </a:p>
                    <a:p>
                      <a:pPr algn="ctr">
                        <a:buNone/>
                      </a:pPr>
                      <a:r>
                        <a:rPr lang="en-US" altLang="zh-CN" sz="2000" b="0" dirty="0">
                          <a:solidFill>
                            <a:srgbClr val="C00000"/>
                          </a:solidFill>
                          <a:latin typeface="微软雅黑" panose="020B0503020204020204" pitchFamily="34" charset="-122"/>
                          <a:ea typeface="微软雅黑" panose="020B0503020204020204" pitchFamily="34" charset="-122"/>
                        </a:rPr>
                        <a:t>Application Layer</a:t>
                      </a:r>
                      <a:endParaRPr lang="en-US" altLang="zh-CN" sz="2000" b="0" dirty="0">
                        <a:solidFill>
                          <a:srgbClr val="C00000"/>
                        </a:solidFill>
                        <a:latin typeface="微软雅黑" panose="020B0503020204020204" pitchFamily="34" charset="-122"/>
                        <a:ea typeface="微软雅黑" panose="020B0503020204020204" pitchFamily="34" charset="-122"/>
                      </a:endParaRPr>
                    </a:p>
                  </a:txBody>
                  <a:tcPr anchor="ctr">
                    <a:noFill/>
                  </a:tcPr>
                </a:tc>
              </a:tr>
              <a:tr h="701040">
                <a:tc>
                  <a:txBody>
                    <a:bodyPr/>
                    <a:lstStyle/>
                    <a:p>
                      <a:pPr algn="ctr">
                        <a:buNone/>
                      </a:pPr>
                      <a:r>
                        <a:rPr lang="zh-CN" altLang="en-US" sz="2000" b="0" dirty="0">
                          <a:solidFill>
                            <a:srgbClr val="C00000"/>
                          </a:solidFill>
                          <a:latin typeface="微软雅黑" panose="020B0503020204020204" pitchFamily="34" charset="-122"/>
                          <a:ea typeface="微软雅黑" panose="020B0503020204020204" pitchFamily="34" charset="-122"/>
                        </a:rPr>
                        <a:t>表示层</a:t>
                      </a:r>
                      <a:endParaRPr lang="zh-CN" altLang="en-US" sz="2000" b="0" dirty="0">
                        <a:solidFill>
                          <a:srgbClr val="C00000"/>
                        </a:solidFill>
                        <a:latin typeface="微软雅黑" panose="020B0503020204020204" pitchFamily="34" charset="-122"/>
                        <a:ea typeface="微软雅黑" panose="020B0503020204020204" pitchFamily="34" charset="-122"/>
                      </a:endParaRPr>
                    </a:p>
                    <a:p>
                      <a:pPr algn="ctr">
                        <a:buNone/>
                      </a:pPr>
                      <a:r>
                        <a:rPr lang="en-US" altLang="zh-CN" sz="2000" b="0" dirty="0">
                          <a:solidFill>
                            <a:srgbClr val="C00000"/>
                          </a:solidFill>
                          <a:latin typeface="微软雅黑" panose="020B0503020204020204" pitchFamily="34" charset="-122"/>
                          <a:ea typeface="微软雅黑" panose="020B0503020204020204" pitchFamily="34" charset="-122"/>
                        </a:rPr>
                        <a:t>Presentation Layer</a:t>
                      </a:r>
                      <a:endParaRPr lang="en-US" altLang="zh-CN" sz="2000" b="0" dirty="0">
                        <a:solidFill>
                          <a:srgbClr val="C00000"/>
                        </a:solidFill>
                        <a:latin typeface="微软雅黑" panose="020B0503020204020204" pitchFamily="34" charset="-122"/>
                        <a:ea typeface="微软雅黑" panose="020B0503020204020204" pitchFamily="34" charset="-122"/>
                      </a:endParaRPr>
                    </a:p>
                  </a:txBody>
                  <a:tcPr anchor="ctr">
                    <a:noFill/>
                  </a:tcPr>
                </a:tc>
              </a:tr>
              <a:tr h="381000">
                <a:tc>
                  <a:txBody>
                    <a:bodyPr/>
                    <a:lstStyle/>
                    <a:p>
                      <a:pPr algn="ctr">
                        <a:buNone/>
                      </a:pPr>
                      <a:r>
                        <a:rPr lang="zh-CN" altLang="en-US" sz="2000" b="0" dirty="0">
                          <a:solidFill>
                            <a:srgbClr val="C00000"/>
                          </a:solidFill>
                          <a:latin typeface="微软雅黑" panose="020B0503020204020204" pitchFamily="34" charset="-122"/>
                          <a:ea typeface="微软雅黑" panose="020B0503020204020204" pitchFamily="34" charset="-122"/>
                        </a:rPr>
                        <a:t>会话层</a:t>
                      </a:r>
                      <a:endParaRPr lang="zh-CN" altLang="en-US" sz="2000" b="0" dirty="0">
                        <a:solidFill>
                          <a:srgbClr val="C00000"/>
                        </a:solidFill>
                        <a:latin typeface="微软雅黑" panose="020B0503020204020204" pitchFamily="34" charset="-122"/>
                        <a:ea typeface="微软雅黑" panose="020B0503020204020204" pitchFamily="34" charset="-122"/>
                      </a:endParaRPr>
                    </a:p>
                    <a:p>
                      <a:pPr algn="ctr">
                        <a:buNone/>
                      </a:pPr>
                      <a:r>
                        <a:rPr lang="en-US" altLang="zh-CN" sz="2000" b="0" dirty="0">
                          <a:solidFill>
                            <a:srgbClr val="C00000"/>
                          </a:solidFill>
                          <a:latin typeface="微软雅黑" panose="020B0503020204020204" pitchFamily="34" charset="-122"/>
                          <a:ea typeface="微软雅黑" panose="020B0503020204020204" pitchFamily="34" charset="-122"/>
                        </a:rPr>
                        <a:t>Session Layer</a:t>
                      </a:r>
                      <a:endParaRPr lang="en-US" altLang="zh-CN" sz="2000" b="0" dirty="0">
                        <a:solidFill>
                          <a:srgbClr val="C00000"/>
                        </a:solidFill>
                        <a:latin typeface="微软雅黑" panose="020B0503020204020204" pitchFamily="34" charset="-122"/>
                        <a:ea typeface="微软雅黑" panose="020B0503020204020204" pitchFamily="34" charset="-122"/>
                      </a:endParaRPr>
                    </a:p>
                  </a:txBody>
                  <a:tcPr anchor="ctr">
                    <a:no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Transport Layer</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网络层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Network Layer</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381000">
                <a:tc>
                  <a:txBody>
                    <a:bodyPr/>
                    <a:lstStyle/>
                    <a:p>
                      <a:pPr algn="ctr">
                        <a:buNone/>
                      </a:pPr>
                      <a:r>
                        <a:rPr lang="zh-CN" altLang="en-US" sz="2000" b="0">
                          <a:latin typeface="微软雅黑" panose="020B0503020204020204" pitchFamily="34" charset="-122"/>
                          <a:ea typeface="微软雅黑" panose="020B0503020204020204" pitchFamily="34" charset="-122"/>
                        </a:rPr>
                        <a:t>数据链路层</a:t>
                      </a:r>
                      <a:endParaRPr lang="zh-CN" altLang="en-US" sz="2000" b="0">
                        <a:latin typeface="微软雅黑" panose="020B0503020204020204" pitchFamily="34" charset="-122"/>
                        <a:ea typeface="微软雅黑" panose="020B0503020204020204" pitchFamily="34" charset="-122"/>
                      </a:endParaRPr>
                    </a:p>
                    <a:p>
                      <a:pPr algn="ctr">
                        <a:buNone/>
                      </a:pPr>
                      <a:r>
                        <a:rPr lang="en-US" altLang="zh-CN" sz="2000" b="0">
                          <a:latin typeface="微软雅黑" panose="020B0503020204020204" pitchFamily="34" charset="-122"/>
                          <a:ea typeface="微软雅黑" panose="020B0503020204020204" pitchFamily="34" charset="-122"/>
                        </a:rPr>
                        <a:t>Data Link Layer</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701040">
                <a:tc>
                  <a:txBody>
                    <a:bodyPr/>
                    <a:lstStyle/>
                    <a:p>
                      <a:pPr algn="ctr">
                        <a:buNone/>
                      </a:pPr>
                      <a:r>
                        <a:rPr lang="zh-CN" altLang="en-US" sz="2000" b="0" dirty="0">
                          <a:latin typeface="微软雅黑" panose="020B0503020204020204" pitchFamily="34" charset="-122"/>
                          <a:ea typeface="微软雅黑" panose="020B0503020204020204" pitchFamily="34" charset="-122"/>
                        </a:rPr>
                        <a:t>物理层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dirty="0">
                          <a:latin typeface="微软雅黑" panose="020B0503020204020204" pitchFamily="34" charset="-122"/>
                          <a:ea typeface="微软雅黑" panose="020B0503020204020204" pitchFamily="34" charset="-122"/>
                        </a:rPr>
                        <a:t>Physical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1">
                        <a:lumMod val="85000"/>
                      </a:schemeClr>
                    </a:solidFill>
                  </a:tcPr>
                </a:tc>
              </a:tr>
            </a:tbl>
          </a:graphicData>
        </a:graphic>
      </p:graphicFrame>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TCP/IP</a:t>
            </a:r>
            <a:r>
              <a:rPr kumimoji="1" lang="zh-CN" altLang="en-US" dirty="0"/>
              <a:t>参考模型</a:t>
            </a:r>
            <a:endParaRPr kumimoji="1" lang="zh-CN" altLang="en-US" dirty="0"/>
          </a:p>
        </p:txBody>
      </p:sp>
      <p:sp>
        <p:nvSpPr>
          <p:cNvPr id="9" name="内容占位符 2"/>
          <p:cNvSpPr>
            <a:spLocks noGrp="1"/>
          </p:cNvSpPr>
          <p:nvPr>
            <p:ph idx="1"/>
          </p:nvPr>
        </p:nvSpPr>
        <p:spPr>
          <a:xfrm>
            <a:off x="838200" y="1379349"/>
            <a:ext cx="8220812" cy="4718103"/>
          </a:xfrm>
        </p:spPr>
        <p:txBody>
          <a:bodyPr>
            <a:noAutofit/>
          </a:bodyPr>
          <a:lstStyle/>
          <a:p>
            <a:pPr>
              <a:lnSpc>
                <a:spcPct val="120000"/>
              </a:lnSpc>
              <a:spcBef>
                <a:spcPts val="0"/>
              </a:spcBef>
            </a:pPr>
            <a:r>
              <a:rPr kumimoji="1" lang="en-US" altLang="zh-CN" sz="2400" dirty="0"/>
              <a:t>TCP/IP</a:t>
            </a:r>
            <a:r>
              <a:rPr kumimoji="1" lang="zh-CN" altLang="en-US" sz="2400" dirty="0"/>
              <a:t>参考模型：</a:t>
            </a:r>
            <a:r>
              <a:rPr kumimoji="1" lang="en-US" altLang="zh-CN" sz="2400" dirty="0"/>
              <a:t>ARPANET</a:t>
            </a:r>
            <a:r>
              <a:rPr kumimoji="1" lang="zh-CN" altLang="en-US" sz="2400" dirty="0"/>
              <a:t>所采用</a:t>
            </a:r>
            <a:endParaRPr kumimoji="1" lang="en-US" altLang="zh-CN" sz="2400" dirty="0"/>
          </a:p>
          <a:p>
            <a:pPr lvl="1">
              <a:lnSpc>
                <a:spcPct val="120000"/>
              </a:lnSpc>
              <a:spcBef>
                <a:spcPts val="0"/>
              </a:spcBef>
            </a:pPr>
            <a:r>
              <a:rPr kumimoji="1" lang="zh-CN" altLang="en-US" sz="2000" dirty="0"/>
              <a:t>以其中最主要的两个协议</a:t>
            </a:r>
            <a:r>
              <a:rPr kumimoji="1" lang="en-US" altLang="zh-CN" sz="2000" dirty="0"/>
              <a:t>TCP/IP</a:t>
            </a:r>
            <a:r>
              <a:rPr kumimoji="1" lang="zh-CN" altLang="en-US" sz="2000" dirty="0"/>
              <a:t>命名</a:t>
            </a:r>
            <a:endParaRPr kumimoji="1" lang="en-US" altLang="zh-CN" sz="2000" dirty="0"/>
          </a:p>
          <a:p>
            <a:pPr lvl="1">
              <a:lnSpc>
                <a:spcPct val="120000"/>
              </a:lnSpc>
              <a:spcBef>
                <a:spcPts val="0"/>
              </a:spcBef>
            </a:pPr>
            <a:r>
              <a:rPr kumimoji="1" lang="en-US" altLang="zh-CN" sz="2000" dirty="0" err="1"/>
              <a:t>Vint</a:t>
            </a:r>
            <a:r>
              <a:rPr kumimoji="1" lang="zh-CN" altLang="en-US" sz="2000" dirty="0"/>
              <a:t> </a:t>
            </a:r>
            <a:r>
              <a:rPr kumimoji="1" lang="en-US" altLang="zh-CN" sz="2000" dirty="0"/>
              <a:t>Cerf</a:t>
            </a:r>
            <a:r>
              <a:rPr kumimoji="1" lang="zh-CN" altLang="en-US" sz="2000" dirty="0"/>
              <a:t>和</a:t>
            </a:r>
            <a:r>
              <a:rPr kumimoji="1" lang="en-US" altLang="zh-CN" sz="2000" dirty="0"/>
              <a:t>Bob</a:t>
            </a:r>
            <a:r>
              <a:rPr kumimoji="1" lang="zh-CN" altLang="en-US" sz="2000" dirty="0"/>
              <a:t> </a:t>
            </a:r>
            <a:r>
              <a:rPr kumimoji="1" lang="en-US" altLang="zh-CN" sz="2000" dirty="0"/>
              <a:t>Kahn</a:t>
            </a:r>
            <a:r>
              <a:rPr kumimoji="1" lang="zh-CN" altLang="en-US" sz="2000" dirty="0"/>
              <a:t>于</a:t>
            </a:r>
            <a:r>
              <a:rPr kumimoji="1" lang="en-US" altLang="zh-CN" sz="2000" dirty="0"/>
              <a:t>1974</a:t>
            </a:r>
            <a:r>
              <a:rPr kumimoji="1" lang="zh-CN" altLang="en-US" sz="2000" dirty="0"/>
              <a:t>年提出</a:t>
            </a:r>
            <a:endParaRPr kumimoji="1" lang="zh-CN" altLang="en-US" sz="2000" dirty="0"/>
          </a:p>
          <a:p>
            <a:pPr fontAlgn="auto">
              <a:lnSpc>
                <a:spcPct val="120000"/>
              </a:lnSpc>
              <a:spcBef>
                <a:spcPts val="0"/>
              </a:spcBef>
            </a:pPr>
            <a:r>
              <a:rPr kumimoji="1" lang="zh-CN" altLang="en-US" sz="2400" dirty="0"/>
              <a:t>链路层（</a:t>
            </a:r>
            <a:r>
              <a:rPr kumimoji="1" lang="en-US" altLang="zh-CN" sz="2400" dirty="0"/>
              <a:t>Link Layer</a:t>
            </a:r>
            <a:r>
              <a:rPr kumimoji="1" lang="zh-CN" altLang="en-US" sz="2400" dirty="0"/>
              <a:t>）</a:t>
            </a:r>
            <a:endParaRPr kumimoji="1" lang="zh-CN" altLang="en-US" dirty="0"/>
          </a:p>
          <a:p>
            <a:pPr lvl="1" fontAlgn="auto">
              <a:lnSpc>
                <a:spcPct val="120000"/>
              </a:lnSpc>
              <a:spcBef>
                <a:spcPts val="0"/>
              </a:spcBef>
            </a:pPr>
            <a:r>
              <a:rPr kumimoji="1" lang="zh-CN" altLang="en-US" sz="2000" dirty="0"/>
              <a:t>描述了为满足无连接的互联网络层需求，链路必须具备的功能</a:t>
            </a:r>
            <a:endParaRPr kumimoji="1" lang="zh-CN" altLang="en-US" sz="2000" dirty="0"/>
          </a:p>
          <a:p>
            <a:pPr fontAlgn="auto">
              <a:lnSpc>
                <a:spcPct val="120000"/>
              </a:lnSpc>
              <a:spcBef>
                <a:spcPts val="0"/>
              </a:spcBef>
            </a:pPr>
            <a:r>
              <a:rPr kumimoji="1" lang="zh-CN" altLang="en-US" sz="2400" dirty="0"/>
              <a:t>互联网层（</a:t>
            </a:r>
            <a:r>
              <a:rPr kumimoji="1" lang="en-US" altLang="zh-CN" sz="2400" dirty="0"/>
              <a:t>Internet Layer</a:t>
            </a:r>
            <a:r>
              <a:rPr kumimoji="1" lang="zh-CN" altLang="en-US" sz="2400" dirty="0"/>
              <a:t>）</a:t>
            </a:r>
            <a:endParaRPr kumimoji="1" lang="zh-CN" altLang="en-US" dirty="0"/>
          </a:p>
          <a:p>
            <a:pPr lvl="1" fontAlgn="auto">
              <a:lnSpc>
                <a:spcPct val="120000"/>
              </a:lnSpc>
              <a:spcBef>
                <a:spcPts val="0"/>
              </a:spcBef>
            </a:pPr>
            <a:r>
              <a:rPr kumimoji="1" lang="zh-CN" altLang="en-US" sz="2000" dirty="0"/>
              <a:t>允许主机将数据包注入网络，让这些数据包独立的传输至目的地，并定义了数据包格式和协议（</a:t>
            </a:r>
            <a:r>
              <a:rPr kumimoji="1" lang="en-US" altLang="zh-CN" sz="2000" dirty="0"/>
              <a:t>IPv4</a:t>
            </a:r>
            <a:r>
              <a:rPr kumimoji="1" lang="zh-CN" altLang="en-US" sz="2000" dirty="0"/>
              <a:t>协议和</a:t>
            </a:r>
            <a:r>
              <a:rPr kumimoji="1" lang="en-US" altLang="zh-CN" sz="2000" dirty="0"/>
              <a:t>IPv6</a:t>
            </a:r>
            <a:r>
              <a:rPr kumimoji="1" lang="zh-CN" altLang="en-US" sz="2000" dirty="0"/>
              <a:t>协议）</a:t>
            </a:r>
            <a:endParaRPr kumimoji="1" lang="zh-CN" altLang="en-US" sz="2000" dirty="0"/>
          </a:p>
          <a:p>
            <a:pPr fontAlgn="auto">
              <a:lnSpc>
                <a:spcPct val="120000"/>
              </a:lnSpc>
              <a:spcBef>
                <a:spcPts val="0"/>
              </a:spcBef>
            </a:pPr>
            <a:r>
              <a:rPr kumimoji="1" lang="zh-CN" altLang="en-US" sz="2400" dirty="0"/>
              <a:t>传输层（</a:t>
            </a:r>
            <a:r>
              <a:rPr kumimoji="1" lang="en-US" altLang="zh-CN" sz="2400" dirty="0"/>
              <a:t>Transport Layer</a:t>
            </a:r>
            <a:r>
              <a:rPr kumimoji="1" lang="zh-CN" altLang="en-US" sz="2400" dirty="0"/>
              <a:t>）</a:t>
            </a:r>
            <a:endParaRPr kumimoji="1" lang="zh-CN" altLang="en-US" dirty="0"/>
          </a:p>
          <a:p>
            <a:pPr lvl="1" fontAlgn="auto">
              <a:lnSpc>
                <a:spcPct val="120000"/>
              </a:lnSpc>
              <a:spcBef>
                <a:spcPts val="0"/>
              </a:spcBef>
            </a:pPr>
            <a:r>
              <a:rPr kumimoji="1" lang="zh-CN" altLang="en-US" sz="2000" dirty="0"/>
              <a:t>允许源主机与目标主机上的对等实体，进行端到端的数据传输：</a:t>
            </a:r>
            <a:r>
              <a:rPr kumimoji="1" lang="en-US" altLang="zh-CN" sz="2000" dirty="0"/>
              <a:t>TCP</a:t>
            </a:r>
            <a:r>
              <a:rPr kumimoji="1" lang="zh-CN" altLang="en-US" sz="2000" dirty="0"/>
              <a:t>，</a:t>
            </a:r>
            <a:r>
              <a:rPr kumimoji="1" lang="en-US" altLang="zh-CN" sz="2000" dirty="0"/>
              <a:t>UDP</a:t>
            </a:r>
            <a:endParaRPr kumimoji="1" lang="zh-CN" altLang="en-US" sz="2000" dirty="0"/>
          </a:p>
          <a:p>
            <a:pPr fontAlgn="auto">
              <a:lnSpc>
                <a:spcPct val="120000"/>
              </a:lnSpc>
              <a:spcBef>
                <a:spcPts val="0"/>
              </a:spcBef>
            </a:pPr>
            <a:r>
              <a:rPr kumimoji="1" lang="zh-CN" altLang="en-US" sz="2400" dirty="0"/>
              <a:t>应用层（</a:t>
            </a:r>
            <a:r>
              <a:rPr kumimoji="1" lang="en-US" altLang="zh-CN" sz="2400" dirty="0"/>
              <a:t>Application Layer</a:t>
            </a:r>
            <a:r>
              <a:rPr kumimoji="1" lang="zh-CN" altLang="en-US" sz="2400" dirty="0"/>
              <a:t>）</a:t>
            </a:r>
            <a:endParaRPr kumimoji="1" lang="zh-CN" altLang="en-US" dirty="0"/>
          </a:p>
          <a:p>
            <a:pPr lvl="1" fontAlgn="auto">
              <a:lnSpc>
                <a:spcPct val="120000"/>
              </a:lnSpc>
              <a:spcBef>
                <a:spcPts val="0"/>
              </a:spcBef>
            </a:pPr>
            <a:r>
              <a:rPr kumimoji="1" lang="zh-CN" altLang="en-US" sz="2000" dirty="0"/>
              <a:t>传输层之上的所有高层协议：</a:t>
            </a:r>
            <a:r>
              <a:rPr kumimoji="1" lang="en-US" altLang="zh-CN" sz="2000" dirty="0"/>
              <a:t>DNS</a:t>
            </a:r>
            <a:r>
              <a:rPr kumimoji="1" lang="zh-CN" altLang="en-US" sz="2000" dirty="0"/>
              <a:t>、</a:t>
            </a:r>
            <a:r>
              <a:rPr kumimoji="1" lang="en-US" altLang="zh-CN" sz="2000" dirty="0"/>
              <a:t>HTTP</a:t>
            </a:r>
            <a:r>
              <a:rPr kumimoji="1" lang="zh-CN" altLang="en-US" sz="2000" dirty="0"/>
              <a:t>、</a:t>
            </a:r>
            <a:r>
              <a:rPr kumimoji="1" lang="en-US" altLang="zh-CN" sz="2000" dirty="0"/>
              <a:t>FTP</a:t>
            </a:r>
            <a:r>
              <a:rPr kumimoji="1" lang="zh-CN" altLang="en-US" sz="2000" dirty="0"/>
              <a:t>、</a:t>
            </a:r>
            <a:r>
              <a:rPr kumimoji="1" lang="en-US" altLang="zh-CN" sz="2000" dirty="0"/>
              <a:t>SMTP...</a:t>
            </a:r>
            <a:endParaRPr kumimoji="1" lang="en-US" altLang="zh-CN" sz="2000"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6" name="表格 5"/>
          <p:cNvGraphicFramePr/>
          <p:nvPr/>
        </p:nvGraphicFramePr>
        <p:xfrm>
          <a:off x="9333980" y="1753949"/>
          <a:ext cx="2463165" cy="3108960"/>
        </p:xfrm>
        <a:graphic>
          <a:graphicData uri="http://schemas.openxmlformats.org/drawingml/2006/table">
            <a:tbl>
              <a:tblPr firstRow="1" bandRow="1">
                <a:tableStyleId>{5940675A-B579-460E-94D1-54222C63F5DA}</a:tableStyleId>
              </a:tblPr>
              <a:tblGrid>
                <a:gridCol w="2463165"/>
              </a:tblGrid>
              <a:tr h="586740">
                <a:tc>
                  <a:txBody>
                    <a:bodyPr/>
                    <a:lstStyle/>
                    <a:p>
                      <a:pPr algn="ctr">
                        <a:buNone/>
                      </a:pPr>
                      <a:r>
                        <a:rPr lang="zh-CN" altLang="en-US" sz="2000" b="0" dirty="0">
                          <a:latin typeface="微软雅黑" panose="020B0503020204020204" pitchFamily="34" charset="-122"/>
                          <a:ea typeface="微软雅黑" panose="020B0503020204020204" pitchFamily="34" charset="-122"/>
                        </a:rPr>
                        <a:t>应用层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dirty="0">
                          <a:latin typeface="微软雅黑" panose="020B0503020204020204" pitchFamily="34" charset="-122"/>
                          <a:ea typeface="微软雅黑" panose="020B0503020204020204" pitchFamily="34" charset="-122"/>
                        </a:rPr>
                        <a:t>application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381000">
                <a:tc>
                  <a:txBody>
                    <a:bodyPr/>
                    <a:lstStyle/>
                    <a:p>
                      <a:pPr algn="ctr">
                        <a:buNone/>
                      </a:pPr>
                      <a:r>
                        <a:rPr lang="zh-CN" altLang="en-US" sz="2000" b="0" dirty="0">
                          <a:latin typeface="微软雅黑" panose="020B0503020204020204" pitchFamily="34" charset="-122"/>
                          <a:ea typeface="微软雅黑" panose="020B0503020204020204" pitchFamily="34" charset="-122"/>
                          <a:sym typeface="+mn-ea"/>
                        </a:rPr>
                        <a:t>传输层</a:t>
                      </a:r>
                      <a:endParaRPr lang="zh-CN" altLang="en-US" sz="2000" b="0" dirty="0">
                        <a:latin typeface="微软雅黑" panose="020B0503020204020204" pitchFamily="34" charset="-122"/>
                        <a:ea typeface="微软雅黑" panose="020B0503020204020204" pitchFamily="34" charset="-122"/>
                        <a:sym typeface="+mn-ea"/>
                      </a:endParaRPr>
                    </a:p>
                    <a:p>
                      <a:pPr algn="ctr">
                        <a:buNone/>
                      </a:pPr>
                      <a:r>
                        <a:rPr lang="en-US" altLang="zh-CN" sz="2000" b="0" dirty="0">
                          <a:latin typeface="微软雅黑" panose="020B0503020204020204" pitchFamily="34" charset="-122"/>
                          <a:ea typeface="微软雅黑" panose="020B0503020204020204" pitchFamily="34" charset="-122"/>
                          <a:sym typeface="+mn-ea"/>
                        </a:rPr>
                        <a:t>transport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381000">
                <a:tc>
                  <a:txBody>
                    <a:bodyPr/>
                    <a:lstStyle/>
                    <a:p>
                      <a:pPr algn="ctr">
                        <a:buNone/>
                      </a:pPr>
                      <a:r>
                        <a:rPr lang="zh-CN" altLang="en-US" sz="2000" b="0" dirty="0">
                          <a:latin typeface="微软雅黑" panose="020B0503020204020204" pitchFamily="34" charset="-122"/>
                          <a:ea typeface="微软雅黑" panose="020B0503020204020204" pitchFamily="34" charset="-122"/>
                        </a:rPr>
                        <a:t>互联网层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dirty="0">
                          <a:latin typeface="微软雅黑" panose="020B0503020204020204" pitchFamily="34" charset="-122"/>
                          <a:ea typeface="微软雅黑" panose="020B0503020204020204" pitchFamily="34" charset="-122"/>
                        </a:rPr>
                        <a:t>internet Layer</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208026">
                <a:tc>
                  <a:txBody>
                    <a:bodyPr/>
                    <a:lstStyle/>
                    <a:p>
                      <a:pPr algn="ctr">
                        <a:buNone/>
                      </a:pPr>
                      <a:r>
                        <a:rPr lang="zh-CN" altLang="en-US" sz="2000" b="0" dirty="0">
                          <a:latin typeface="微软雅黑" panose="020B0503020204020204" pitchFamily="34" charset="-122"/>
                          <a:ea typeface="微软雅黑" panose="020B0503020204020204" pitchFamily="34" charset="-122"/>
                        </a:rPr>
                        <a:t>网络接口层</a:t>
                      </a:r>
                      <a:endParaRPr lang="zh-CN" altLang="en-US" sz="2000" b="0" dirty="0">
                        <a:latin typeface="微软雅黑" panose="020B0503020204020204" pitchFamily="34" charset="-122"/>
                        <a:ea typeface="微软雅黑" panose="020B0503020204020204" pitchFamily="34" charset="-122"/>
                      </a:endParaRPr>
                    </a:p>
                    <a:p>
                      <a:pPr algn="ctr">
                        <a:buNone/>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host-to-network</a:t>
                      </a:r>
                      <a:r>
                        <a:rPr lang="zh-CN" altLang="zh-CN" sz="2000" b="0" kern="120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Layer</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nchor="ctr">
                    <a:solidFill>
                      <a:schemeClr val="bg1">
                        <a:lumMod val="85000"/>
                      </a:schemeClr>
                    </a:solidFill>
                  </a:tcPr>
                </a:tc>
              </a:tr>
            </a:tbl>
          </a:graphicData>
        </a:graphic>
      </p:graphicFrame>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9166714" y="5042015"/>
            <a:ext cx="2797695" cy="1200329"/>
          </a:xfrm>
          <a:prstGeom prst="rect">
            <a:avLst/>
          </a:prstGeom>
          <a:ln>
            <a:solidFill>
              <a:srgbClr val="C00000"/>
            </a:solidFill>
          </a:ln>
        </p:spPr>
        <p:txBody>
          <a:bodyPr wrap="square">
            <a:spAutoFit/>
          </a:bodyPr>
          <a:lstStyle/>
          <a:p>
            <a:pPr marL="285750" indent="-285750">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先有</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TCP/IP</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协议栈，然后有</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TCP/IP</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参考模型</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参考模型只是用来描述协议栈的</a:t>
            </a:r>
            <a:r>
              <a:rPr lang="zh-CN"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6571488" y="1753949"/>
            <a:ext cx="2194560" cy="1015663"/>
          </a:xfrm>
          <a:prstGeom prst="rect">
            <a:avLst/>
          </a:prstGeom>
          <a:ln>
            <a:solidFill>
              <a:srgbClr val="C00000"/>
            </a:solidFill>
          </a:ln>
        </p:spPr>
        <p:txBody>
          <a:bodyPr wrap="square">
            <a:spAutoFit/>
          </a:bodyPr>
          <a:lstStyle/>
          <a:p>
            <a:pPr algn="ctr"/>
            <a:r>
              <a:rPr lang="en-US" altLang="zh-CN" sz="2000" dirty="0">
                <a:solidFill>
                  <a:srgbClr val="C00000"/>
                </a:solidFill>
                <a:latin typeface="微软雅黑" panose="020B0503020204020204" pitchFamily="34" charset="-122"/>
                <a:ea typeface="微软雅黑" panose="020B0503020204020204" pitchFamily="34" charset="-122"/>
              </a:rPr>
              <a:t>ARPNET</a:t>
            </a:r>
            <a:br>
              <a:rPr lang="en-US" altLang="zh-CN" sz="2000" dirty="0">
                <a:solidFill>
                  <a:srgbClr val="C00000"/>
                </a:solidFill>
                <a:latin typeface="微软雅黑" panose="020B0503020204020204" pitchFamily="34" charset="-122"/>
                <a:ea typeface="微软雅黑" panose="020B0503020204020204" pitchFamily="34" charset="-122"/>
              </a:rPr>
            </a:br>
            <a:r>
              <a:rPr lang="zh-CN" altLang="en-US" sz="2000" dirty="0">
                <a:solidFill>
                  <a:srgbClr val="C00000"/>
                </a:solidFill>
                <a:latin typeface="微软雅黑" panose="020B0503020204020204" pitchFamily="34" charset="-122"/>
                <a:ea typeface="微软雅黑" panose="020B0503020204020204" pitchFamily="34" charset="-122"/>
              </a:rPr>
              <a:t>最终采用</a:t>
            </a:r>
            <a:r>
              <a:rPr lang="en-US" altLang="zh-CN" sz="2000" dirty="0">
                <a:solidFill>
                  <a:srgbClr val="C00000"/>
                </a:solidFill>
                <a:latin typeface="微软雅黑" panose="020B0503020204020204" pitchFamily="34" charset="-122"/>
                <a:ea typeface="微软雅黑" panose="020B0503020204020204" pitchFamily="34" charset="-122"/>
              </a:rPr>
              <a:t>TCP</a:t>
            </a:r>
            <a:r>
              <a:rPr lang="zh-CN" altLang="en-US" sz="2000" dirty="0">
                <a:solidFill>
                  <a:srgbClr val="C00000"/>
                </a:solidFill>
                <a:latin typeface="微软雅黑" panose="020B0503020204020204" pitchFamily="34" charset="-122"/>
                <a:ea typeface="微软雅黑" panose="020B0503020204020204" pitchFamily="34" charset="-122"/>
              </a:rPr>
              <a:t>和</a:t>
            </a:r>
            <a:r>
              <a:rPr lang="en-US" altLang="zh-CN" sz="2000" dirty="0">
                <a:solidFill>
                  <a:srgbClr val="C00000"/>
                </a:solidFill>
                <a:latin typeface="微软雅黑" panose="020B0503020204020204" pitchFamily="34" charset="-122"/>
                <a:ea typeface="微软雅黑" panose="020B0503020204020204" pitchFamily="34" charset="-122"/>
              </a:rPr>
              <a:t>IP</a:t>
            </a:r>
            <a:r>
              <a:rPr lang="zh-CN" altLang="en-US" sz="2000" dirty="0">
                <a:solidFill>
                  <a:srgbClr val="C00000"/>
                </a:solidFill>
                <a:latin typeface="微软雅黑" panose="020B0503020204020204" pitchFamily="34" charset="-122"/>
                <a:ea typeface="微软雅黑" panose="020B0503020204020204" pitchFamily="34" charset="-122"/>
              </a:rPr>
              <a:t>为主要协议</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TCP/IP</a:t>
            </a:r>
            <a:r>
              <a:rPr kumimoji="1" lang="zh-CN" altLang="en-US" dirty="0"/>
              <a:t>参考模型</a:t>
            </a:r>
            <a:endParaRPr kumimoji="1" lang="zh-CN" altLang="en-US" dirty="0"/>
          </a:p>
        </p:txBody>
      </p:sp>
      <p:sp>
        <p:nvSpPr>
          <p:cNvPr id="9" name="内容占位符 2"/>
          <p:cNvSpPr>
            <a:spLocks noGrp="1"/>
          </p:cNvSpPr>
          <p:nvPr>
            <p:ph idx="1"/>
          </p:nvPr>
        </p:nvSpPr>
        <p:spPr>
          <a:xfrm>
            <a:off x="648216" y="1351948"/>
            <a:ext cx="7755487" cy="5004402"/>
          </a:xfrm>
        </p:spPr>
        <p:txBody>
          <a:bodyPr>
            <a:noAutofit/>
          </a:bodyPr>
          <a:lstStyle/>
          <a:p>
            <a:pPr>
              <a:lnSpc>
                <a:spcPct val="120000"/>
              </a:lnSpc>
              <a:spcBef>
                <a:spcPts val="300"/>
              </a:spcBef>
            </a:pPr>
            <a:r>
              <a:rPr kumimoji="1" lang="en-US" altLang="zh-CN" dirty="0"/>
              <a:t>TCP/IP</a:t>
            </a:r>
            <a:r>
              <a:rPr kumimoji="1" lang="zh-CN" altLang="en-US" dirty="0"/>
              <a:t>参考模型</a:t>
            </a:r>
            <a:endParaRPr lang="en-US" altLang="zh-CN" dirty="0">
              <a:solidFill>
                <a:srgbClr val="000000"/>
              </a:solidFill>
            </a:endParaRPr>
          </a:p>
          <a:p>
            <a:pPr lvl="1">
              <a:lnSpc>
                <a:spcPct val="120000"/>
              </a:lnSpc>
              <a:spcBef>
                <a:spcPts val="300"/>
              </a:spcBef>
            </a:pPr>
            <a:r>
              <a:rPr lang="zh-CN" altLang="en-US" dirty="0"/>
              <a:t>摒弃电话系统中“笨终端</a:t>
            </a:r>
            <a:r>
              <a:rPr lang="en-US" altLang="zh-CN" dirty="0"/>
              <a:t>&amp;</a:t>
            </a:r>
            <a:r>
              <a:rPr lang="zh-CN" altLang="en-US" dirty="0"/>
              <a:t>聪明网络”的设计思路</a:t>
            </a:r>
            <a:endParaRPr lang="en-US" altLang="zh-CN" dirty="0"/>
          </a:p>
          <a:p>
            <a:pPr lvl="1">
              <a:lnSpc>
                <a:spcPct val="120000"/>
              </a:lnSpc>
              <a:spcBef>
                <a:spcPts val="300"/>
              </a:spcBef>
            </a:pPr>
            <a:r>
              <a:rPr lang="zh-CN" altLang="en-US" dirty="0">
                <a:solidFill>
                  <a:srgbClr val="C00000"/>
                </a:solidFill>
              </a:rPr>
              <a:t>端对端原则</a:t>
            </a:r>
            <a:r>
              <a:rPr lang="zh-CN" altLang="en-US" dirty="0"/>
              <a:t>：采用</a:t>
            </a:r>
            <a:r>
              <a:rPr lang="zh-CN" altLang="en-US" dirty="0">
                <a:solidFill>
                  <a:srgbClr val="C00000"/>
                </a:solidFill>
              </a:rPr>
              <a:t>聪明终端</a:t>
            </a:r>
            <a:r>
              <a:rPr lang="en-US" altLang="zh-CN" dirty="0">
                <a:solidFill>
                  <a:srgbClr val="C00000"/>
                </a:solidFill>
              </a:rPr>
              <a:t>&amp;</a:t>
            </a:r>
            <a:r>
              <a:rPr lang="zh-CN" altLang="en-US" dirty="0">
                <a:solidFill>
                  <a:srgbClr val="C00000"/>
                </a:solidFill>
              </a:rPr>
              <a:t>简单网络</a:t>
            </a:r>
            <a:r>
              <a:rPr lang="zh-CN" altLang="en-US" dirty="0"/>
              <a:t>，由</a:t>
            </a:r>
            <a:r>
              <a:rPr lang="zh-CN" altLang="en-US" dirty="0">
                <a:solidFill>
                  <a:srgbClr val="C00000"/>
                </a:solidFill>
              </a:rPr>
              <a:t>端系统</a:t>
            </a:r>
            <a:r>
              <a:rPr lang="zh-CN" altLang="en-US" dirty="0"/>
              <a:t>负责丢失恢复等，简单的网络大大提升了可扩展性</a:t>
            </a:r>
            <a:endParaRPr lang="zh-CN" altLang="en-US" dirty="0"/>
          </a:p>
          <a:p>
            <a:pPr lvl="1">
              <a:lnSpc>
                <a:spcPct val="120000"/>
              </a:lnSpc>
              <a:spcBef>
                <a:spcPts val="300"/>
              </a:spcBef>
            </a:pPr>
            <a:r>
              <a:rPr lang="zh-CN" altLang="en-US" dirty="0"/>
              <a:t>实现了建立在简单的、不可靠部件上的可靠系统</a:t>
            </a:r>
            <a:endParaRPr lang="en-US" altLang="zh-CN" dirty="0"/>
          </a:p>
          <a:p>
            <a:pPr>
              <a:lnSpc>
                <a:spcPct val="120000"/>
              </a:lnSpc>
              <a:spcBef>
                <a:spcPts val="300"/>
              </a:spcBef>
            </a:pPr>
            <a:r>
              <a:rPr lang="en-US" altLang="zh-CN" dirty="0">
                <a:solidFill>
                  <a:srgbClr val="000000"/>
                </a:solidFill>
              </a:rPr>
              <a:t>IP</a:t>
            </a:r>
            <a:r>
              <a:rPr lang="zh-CN" altLang="en-US" dirty="0">
                <a:solidFill>
                  <a:srgbClr val="000000"/>
                </a:solidFill>
              </a:rPr>
              <a:t>分组交换的特点</a:t>
            </a:r>
            <a:endParaRPr lang="en-US" altLang="zh-CN" dirty="0">
              <a:solidFill>
                <a:srgbClr val="000000"/>
              </a:solidFill>
            </a:endParaRPr>
          </a:p>
          <a:p>
            <a:pPr lvl="1">
              <a:lnSpc>
                <a:spcPct val="120000"/>
              </a:lnSpc>
              <a:spcBef>
                <a:spcPts val="300"/>
              </a:spcBef>
            </a:pPr>
            <a:r>
              <a:rPr lang="zh-CN" altLang="en-US" dirty="0">
                <a:solidFill>
                  <a:srgbClr val="000000"/>
                </a:solidFill>
              </a:rPr>
              <a:t>可在各种底层物理网络上运行</a:t>
            </a:r>
            <a:r>
              <a:rPr lang="en-US" altLang="zh-CN" dirty="0">
                <a:solidFill>
                  <a:srgbClr val="000000"/>
                </a:solidFill>
              </a:rPr>
              <a:t>(</a:t>
            </a:r>
            <a:r>
              <a:rPr lang="en-US" altLang="zh-CN" dirty="0">
                <a:solidFill>
                  <a:srgbClr val="C00000"/>
                </a:solidFill>
              </a:rPr>
              <a:t>IP over everything</a:t>
            </a:r>
            <a:r>
              <a:rPr lang="en-US" altLang="zh-CN" dirty="0">
                <a:solidFill>
                  <a:srgbClr val="000000"/>
                </a:solidFill>
              </a:rPr>
              <a:t>)</a:t>
            </a:r>
            <a:endParaRPr lang="en-US" altLang="zh-CN" dirty="0">
              <a:solidFill>
                <a:srgbClr val="000000"/>
              </a:solidFill>
            </a:endParaRPr>
          </a:p>
          <a:p>
            <a:pPr lvl="1">
              <a:lnSpc>
                <a:spcPct val="120000"/>
              </a:lnSpc>
              <a:spcBef>
                <a:spcPts val="300"/>
              </a:spcBef>
            </a:pPr>
            <a:r>
              <a:rPr lang="zh-CN" altLang="en-US" dirty="0">
                <a:solidFill>
                  <a:srgbClr val="000000"/>
                </a:solidFill>
              </a:rPr>
              <a:t>可支持各类上层应用</a:t>
            </a:r>
            <a:r>
              <a:rPr lang="en-US" altLang="zh-CN" dirty="0">
                <a:solidFill>
                  <a:srgbClr val="000000"/>
                </a:solidFill>
              </a:rPr>
              <a:t>(</a:t>
            </a:r>
            <a:r>
              <a:rPr lang="en-US" altLang="zh-CN" dirty="0">
                <a:solidFill>
                  <a:srgbClr val="C00000"/>
                </a:solidFill>
              </a:rPr>
              <a:t>Everything over IP)</a:t>
            </a:r>
            <a:endParaRPr lang="en-US" altLang="zh-CN" dirty="0">
              <a:solidFill>
                <a:srgbClr val="C00000"/>
              </a:solidFill>
            </a:endParaRPr>
          </a:p>
          <a:p>
            <a:pPr lvl="1">
              <a:lnSpc>
                <a:spcPct val="120000"/>
              </a:lnSpc>
              <a:spcBef>
                <a:spcPts val="300"/>
              </a:spcBef>
            </a:pPr>
            <a:r>
              <a:rPr lang="zh-CN" altLang="en-US" dirty="0">
                <a:solidFill>
                  <a:srgbClr val="000000"/>
                </a:solidFill>
              </a:rPr>
              <a:t>每个</a:t>
            </a:r>
            <a:r>
              <a:rPr lang="en-US" altLang="zh-CN" dirty="0">
                <a:solidFill>
                  <a:srgbClr val="000000"/>
                </a:solidFill>
              </a:rPr>
              <a:t>IP</a:t>
            </a:r>
            <a:r>
              <a:rPr lang="zh-CN" altLang="en-US" dirty="0">
                <a:solidFill>
                  <a:srgbClr val="000000"/>
                </a:solidFill>
              </a:rPr>
              <a:t>分组携带各自的目的地址，网络核心功能</a:t>
            </a:r>
            <a:br>
              <a:rPr lang="en-US" altLang="zh-CN" dirty="0">
                <a:solidFill>
                  <a:srgbClr val="000000"/>
                </a:solidFill>
              </a:rPr>
            </a:br>
            <a:r>
              <a:rPr lang="zh-CN" altLang="en-US" dirty="0">
                <a:solidFill>
                  <a:srgbClr val="000000"/>
                </a:solidFill>
              </a:rPr>
              <a:t>简单（通过路由表转发分组），适应爆炸性增长</a:t>
            </a:r>
            <a:endParaRPr kumimoji="1" lang="en-US" altLang="zh-CN" sz="2000"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22" name="组合 21"/>
          <p:cNvGrpSpPr/>
          <p:nvPr/>
        </p:nvGrpSpPr>
        <p:grpSpPr>
          <a:xfrm>
            <a:off x="8195716" y="1881568"/>
            <a:ext cx="3669218" cy="1721447"/>
            <a:chOff x="6808963" y="3301194"/>
            <a:chExt cx="1877837" cy="965486"/>
          </a:xfrm>
        </p:grpSpPr>
        <p:pic>
          <p:nvPicPr>
            <p:cNvPr id="36" name="Picture 2"/>
            <p:cNvPicPr>
              <a:picLocks noChangeAspect="1" noChangeArrowheads="1"/>
            </p:cNvPicPr>
            <p:nvPr/>
          </p:nvPicPr>
          <p:blipFill rotWithShape="1">
            <a:blip r:embed="rId1" cstate="print"/>
            <a:srcRect b="47988"/>
            <a:stretch>
              <a:fillRect/>
            </a:stretch>
          </p:blipFill>
          <p:spPr bwMode="auto">
            <a:xfrm flipV="1">
              <a:off x="6808963" y="3301194"/>
              <a:ext cx="1877837" cy="965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10" descr="http://tbn0.google.com/images?q=tbn:uG9PhuBLX4dJJM:http://www.uberreview.com/wp-content/uploads/youtube_logo.jpg">
              <a:hlinkClick r:id="rId2"/>
            </p:cNvPr>
            <p:cNvPicPr>
              <a:picLocks noChangeAspect="1" noChangeArrowheads="1"/>
            </p:cNvPicPr>
            <p:nvPr/>
          </p:nvPicPr>
          <p:blipFill>
            <a:blip r:embed="rId3" cstate="print">
              <a:clrChange>
                <a:clrFrom>
                  <a:srgbClr val="FCFCFC"/>
                </a:clrFrom>
                <a:clrTo>
                  <a:srgbClr val="FCFCFC">
                    <a:alpha val="0"/>
                  </a:srgbClr>
                </a:clrTo>
              </a:clrChange>
            </a:blip>
            <a:srcRect/>
            <a:stretch>
              <a:fillRect/>
            </a:stretch>
          </p:blipFill>
          <p:spPr bwMode="auto">
            <a:xfrm>
              <a:off x="7000141" y="3600649"/>
              <a:ext cx="454599" cy="226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6" descr="http://static.ak.fbcdn.net/images/welcome/welcome_3.gif">
              <a:hlinkClick r:id="rId4"/>
            </p:cNvPr>
            <p:cNvPicPr>
              <a:picLocks noChangeAspect="1" noChangeArrowheads="1"/>
            </p:cNvPicPr>
            <p:nvPr/>
          </p:nvPicPr>
          <p:blipFill>
            <a:blip r:embed="rId5" cstate="print"/>
            <a:srcRect/>
            <a:stretch>
              <a:fillRect/>
            </a:stretch>
          </p:blipFill>
          <p:spPr bwMode="auto">
            <a:xfrm>
              <a:off x="7500678" y="3609941"/>
              <a:ext cx="405788" cy="20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44" descr="From collectibles to cars, buy and sell all kinds of items on eBay">
              <a:hlinkClick r:id="rId6"/>
            </p:cNvPr>
            <p:cNvPicPr>
              <a:picLocks noChangeAspect="1" noChangeArrowheads="1"/>
            </p:cNvPicPr>
            <p:nvPr/>
          </p:nvPicPr>
          <p:blipFill>
            <a:blip r:embed="rId7" cstate="print">
              <a:clrChange>
                <a:clrFrom>
                  <a:srgbClr val="000000">
                    <a:alpha val="0"/>
                  </a:srgbClr>
                </a:clrFrom>
                <a:clrTo>
                  <a:srgbClr val="000000">
                    <a:alpha val="0"/>
                  </a:srgbClr>
                </a:clrTo>
              </a:clrChange>
              <a:extLst>
                <a:ext uri="{BEBA8EAE-BF5A-486C-A8C5-ECC9F3942E4B}">
                  <a14:imgProps xmlns:a14="http://schemas.microsoft.com/office/drawing/2010/main">
                    <a14:imgLayer r:embed="rId8">
                      <a14:imgEffect>
                        <a14:sharpenSoften amount="50000"/>
                      </a14:imgEffect>
                    </a14:imgLayer>
                  </a14:imgProps>
                </a:ext>
              </a:extLst>
            </a:blip>
            <a:srcRect/>
            <a:stretch>
              <a:fillRect/>
            </a:stretch>
          </p:blipFill>
          <p:spPr bwMode="auto">
            <a:xfrm>
              <a:off x="7118579" y="3859562"/>
              <a:ext cx="251162" cy="109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11" descr="C:\Users\yxia\Desktop\搜狗截图13年10月19日1936_2.jpg"/>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7418061" y="3330776"/>
              <a:ext cx="628605" cy="282726"/>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2" descr="C:\Users\yxia\Desktop\搜狗截图13年10月19日1936_3.jpg"/>
            <p:cNvPicPr>
              <a:picLocks noChangeAspect="1"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7838289" y="3841986"/>
              <a:ext cx="437517" cy="22545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3" descr="C:\Users\yxia\Desktop\搜狗截图13年10月19日1937_4.jpg"/>
            <p:cNvPicPr>
              <a:picLocks noChangeAspect="1" noChangeArrowheads="1"/>
            </p:cNvPicPr>
            <p:nvPr/>
          </p:nvPicPr>
          <p:blipFill>
            <a:blip r:embed="rId11" cstate="print">
              <a:clrChange>
                <a:clrFrom>
                  <a:srgbClr val="FEFEFE"/>
                </a:clrFrom>
                <a:clrTo>
                  <a:srgbClr val="FEFEFE">
                    <a:alpha val="0"/>
                  </a:srgbClr>
                </a:clrTo>
              </a:clrChange>
            </a:blip>
            <a:srcRect/>
            <a:stretch>
              <a:fillRect/>
            </a:stretch>
          </p:blipFill>
          <p:spPr bwMode="auto">
            <a:xfrm>
              <a:off x="8069933" y="3411612"/>
              <a:ext cx="430488" cy="19832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4" descr="C:\Users\yxia\Desktop\搜狗截图13年10月19日1938_5.jpg"/>
            <p:cNvPicPr>
              <a:picLocks noChangeAspect="1" noChangeArrowheads="1"/>
            </p:cNvPicPr>
            <p:nvPr/>
          </p:nvPicPr>
          <p:blipFill>
            <a:blip r:embed="rId12" cstate="print">
              <a:clrChange>
                <a:clrFrom>
                  <a:srgbClr val="F6F6F6"/>
                </a:clrFrom>
                <a:clrTo>
                  <a:srgbClr val="F6F6F6">
                    <a:alpha val="0"/>
                  </a:srgbClr>
                </a:clrTo>
              </a:clrChange>
            </a:blip>
            <a:srcRect/>
            <a:stretch>
              <a:fillRect/>
            </a:stretch>
          </p:blipFill>
          <p:spPr bwMode="auto">
            <a:xfrm>
              <a:off x="7348885" y="3982162"/>
              <a:ext cx="541729" cy="17056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5" descr="C:\Users\yxia\Desktop\搜狗截图13年10月19日1938_6.jpg"/>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7922520" y="3645318"/>
              <a:ext cx="577902" cy="18175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6" descr="C:\Users\yxia\Desktop\google_logo_41.png"/>
            <p:cNvPicPr>
              <a:picLocks noChangeAspect="1" noChangeArrowheads="1"/>
            </p:cNvPicPr>
            <p:nvPr/>
          </p:nvPicPr>
          <p:blipFill>
            <a:blip r:embed="rId14" cstate="print">
              <a:extLst>
                <a:ext uri="{BEBA8EAE-BF5A-486C-A8C5-ECC9F3942E4B}">
                  <a14:imgProps xmlns:a14="http://schemas.microsoft.com/office/drawing/2010/main">
                    <a14:imgLayer r:embed="rId15">
                      <a14:imgEffect>
                        <a14:saturation sat="400000"/>
                      </a14:imgEffect>
                      <a14:imgEffect>
                        <a14:sharpenSoften amount="25000"/>
                      </a14:imgEffect>
                    </a14:imgLayer>
                  </a14:imgProps>
                </a:ext>
              </a:extLst>
            </a:blip>
            <a:srcRect/>
            <a:stretch>
              <a:fillRect/>
            </a:stretch>
          </p:blipFill>
          <p:spPr bwMode="auto">
            <a:xfrm>
              <a:off x="6978720" y="3433397"/>
              <a:ext cx="441733" cy="168224"/>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7" descr="C:\Users\yxia\Desktop\搜狗截图13年10月19日1946_7.jpg"/>
            <p:cNvPicPr>
              <a:picLocks noChangeAspect="1" noChangeArrowheads="1"/>
            </p:cNvPicPr>
            <p:nvPr/>
          </p:nvPicPr>
          <p:blipFill>
            <a:blip r:embed="rId16" cstate="print">
              <a:clrChange>
                <a:clrFrom>
                  <a:srgbClr val="FFFFFF"/>
                </a:clrFrom>
                <a:clrTo>
                  <a:srgbClr val="FFFFFF">
                    <a:alpha val="0"/>
                  </a:srgbClr>
                </a:clrTo>
              </a:clrChange>
            </a:blip>
            <a:srcRect/>
            <a:stretch>
              <a:fillRect/>
            </a:stretch>
          </p:blipFill>
          <p:spPr bwMode="auto">
            <a:xfrm>
              <a:off x="7406462" y="3827070"/>
              <a:ext cx="445541" cy="18463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组合 22"/>
          <p:cNvGrpSpPr/>
          <p:nvPr/>
        </p:nvGrpSpPr>
        <p:grpSpPr>
          <a:xfrm>
            <a:off x="8175812" y="3958004"/>
            <a:ext cx="3669218" cy="1721447"/>
            <a:chOff x="6804682" y="4350467"/>
            <a:chExt cx="1877837" cy="965486"/>
          </a:xfrm>
        </p:grpSpPr>
        <p:pic>
          <p:nvPicPr>
            <p:cNvPr id="25" name="Picture 2"/>
            <p:cNvPicPr>
              <a:picLocks noChangeAspect="1" noChangeArrowheads="1"/>
            </p:cNvPicPr>
            <p:nvPr/>
          </p:nvPicPr>
          <p:blipFill rotWithShape="1">
            <a:blip r:embed="rId1" cstate="print"/>
            <a:srcRect b="47988"/>
            <a:stretch>
              <a:fillRect/>
            </a:stretch>
          </p:blipFill>
          <p:spPr bwMode="auto">
            <a:xfrm>
              <a:off x="6804682" y="4350467"/>
              <a:ext cx="1877837" cy="965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6" descr="C:\Users\yxia\Desktop\Img320639468.jpg"/>
            <p:cNvPicPr>
              <a:picLocks noChangeAspect="1" noChangeArrowheads="1"/>
            </p:cNvPicPr>
            <p:nvPr/>
          </p:nvPicPr>
          <p:blipFill>
            <a:blip r:embed="rId17" cstate="print">
              <a:clrChange>
                <a:clrFrom>
                  <a:srgbClr val="FFFFFF"/>
                </a:clrFrom>
                <a:clrTo>
                  <a:srgbClr val="FFFFFF">
                    <a:alpha val="0"/>
                  </a:srgbClr>
                </a:clrTo>
              </a:clrChange>
              <a:extLst>
                <a:ext uri="{BEBA8EAE-BF5A-486C-A8C5-ECC9F3942E4B}">
                  <a14:imgProps xmlns:a14="http://schemas.microsoft.com/office/drawing/2010/main">
                    <a14:imgLayer r:embed="rId18">
                      <a14:imgEffect>
                        <a14:brightnessContrast bright="20000" contrast="-40000"/>
                      </a14:imgEffect>
                      <a14:imgEffect>
                        <a14:sharpenSoften amount="50000"/>
                      </a14:imgEffect>
                    </a14:imgLayer>
                  </a14:imgProps>
                </a:ext>
              </a:extLst>
            </a:blip>
            <a:srcRect/>
            <a:stretch>
              <a:fillRect/>
            </a:stretch>
          </p:blipFill>
          <p:spPr bwMode="auto">
            <a:xfrm>
              <a:off x="7348930" y="4717523"/>
              <a:ext cx="809734" cy="53447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C:\Users\yxia\Desktop\20111222064702697103.jpg"/>
            <p:cNvPicPr>
              <a:picLocks noChangeAspect="1" noChangeArrowheads="1"/>
            </p:cNvPicPr>
            <p:nvPr/>
          </p:nvPicPr>
          <p:blipFill>
            <a:blip r:embed="rId19" cstate="print">
              <a:clrChange>
                <a:clrFrom>
                  <a:srgbClr val="FFFFFF"/>
                </a:clrFrom>
                <a:clrTo>
                  <a:srgbClr val="FFFFFF">
                    <a:alpha val="0"/>
                  </a:srgbClr>
                </a:clrTo>
              </a:clrChange>
            </a:blip>
            <a:stretch>
              <a:fillRect/>
            </a:stretch>
          </p:blipFill>
          <p:spPr bwMode="auto">
            <a:xfrm rot="20983091">
              <a:off x="7835377" y="4801157"/>
              <a:ext cx="113215" cy="276349"/>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8" name="Picture 20" descr="C:\Users\yxia\Desktop\2178222.jpg"/>
            <p:cNvPicPr>
              <a:picLocks noChangeAspect="1" noChangeArrowheads="1"/>
            </p:cNvPicPr>
            <p:nvPr/>
          </p:nvPicPr>
          <p:blipFill>
            <a:blip r:embed="rId20" cstate="print">
              <a:clrChange>
                <a:clrFrom>
                  <a:srgbClr val="FFFFFF"/>
                </a:clrFrom>
                <a:clrTo>
                  <a:srgbClr val="FFFFFF">
                    <a:alpha val="0"/>
                  </a:srgbClr>
                </a:clrTo>
              </a:clrChange>
              <a:extLst>
                <a:ext uri="{BEBA8EAE-BF5A-486C-A8C5-ECC9F3942E4B}">
                  <a14:imgProps xmlns:a14="http://schemas.microsoft.com/office/drawing/2010/main">
                    <a14:imgLayer r:embed="rId21">
                      <a14:imgEffect>
                        <a14:sharpenSoften amount="50000"/>
                      </a14:imgEffect>
                    </a14:imgLayer>
                  </a14:imgProps>
                </a:ext>
              </a:extLst>
            </a:blip>
            <a:srcRect/>
            <a:stretch>
              <a:fillRect/>
            </a:stretch>
          </p:blipFill>
          <p:spPr bwMode="auto">
            <a:xfrm>
              <a:off x="8191259" y="4819431"/>
              <a:ext cx="307107" cy="44109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2" descr="C:\Users\yxia\Desktop\3770652009510221234.jpg"/>
            <p:cNvPicPr>
              <a:picLocks noChangeAspect="1" noChangeArrowheads="1"/>
            </p:cNvPicPr>
            <p:nvPr/>
          </p:nvPicPr>
          <p:blipFill>
            <a:blip r:embed="rId22" cstate="print">
              <a:clrChange>
                <a:clrFrom>
                  <a:srgbClr val="FEFEFE"/>
                </a:clrFrom>
                <a:clrTo>
                  <a:srgbClr val="FEFEFE">
                    <a:alpha val="0"/>
                  </a:srgbClr>
                </a:clrTo>
              </a:clrChange>
            </a:blip>
            <a:srcRect/>
            <a:stretch>
              <a:fillRect/>
            </a:stretch>
          </p:blipFill>
          <p:spPr bwMode="auto">
            <a:xfrm rot="4506236" flipV="1">
              <a:off x="7130563" y="4550437"/>
              <a:ext cx="312481" cy="27022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8" descr="http://tbn0.google.com/images?q=tbn:8sTVCGh5uzf1gM:http://www.wpclipart.com/telephone/telephone_cartoon.png">
              <a:hlinkClick r:id="rId23"/>
            </p:cNvPr>
            <p:cNvPicPr>
              <a:picLocks noChangeAspect="1" noChangeArrowheads="1"/>
            </p:cNvPicPr>
            <p:nvPr/>
          </p:nvPicPr>
          <p:blipFill>
            <a:blip r:embed="rId24" cstate="print"/>
            <a:srcRect/>
            <a:stretch>
              <a:fillRect/>
            </a:stretch>
          </p:blipFill>
          <p:spPr bwMode="auto">
            <a:xfrm>
              <a:off x="7378061" y="4476450"/>
              <a:ext cx="169795" cy="17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26" descr="http://tbn0.google.com/images?q=tbn:xT9wMZ61r7KFCM:http://rtmulcahy.files.wordpress.com/2007/06/cellphone.gif">
              <a:hlinkClick r:id="rId25"/>
            </p:cNvPr>
            <p:cNvPicPr>
              <a:picLocks noChangeAspect="1" noChangeArrowheads="1"/>
            </p:cNvPicPr>
            <p:nvPr/>
          </p:nvPicPr>
          <p:blipFill>
            <a:blip r:embed="rId26" cstate="print">
              <a:clrChange>
                <a:clrFrom>
                  <a:srgbClr val="FCFDFF"/>
                </a:clrFrom>
                <a:clrTo>
                  <a:srgbClr val="FCFDFF">
                    <a:alpha val="0"/>
                  </a:srgbClr>
                </a:clrTo>
              </a:clrChange>
            </a:blip>
            <a:srcRect/>
            <a:stretch>
              <a:fillRect/>
            </a:stretch>
          </p:blipFill>
          <p:spPr bwMode="auto">
            <a:xfrm flipH="1">
              <a:off x="7952219" y="4457219"/>
              <a:ext cx="207916" cy="214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21" descr="C:\Users\yxia\Desktop\3374535_010108632321_2.jpg"/>
            <p:cNvPicPr>
              <a:picLocks noChangeAspect="1" noChangeArrowheads="1"/>
            </p:cNvPicPr>
            <p:nvPr/>
          </p:nvPicPr>
          <p:blipFill>
            <a:blip r:embed="rId27" cstate="print">
              <a:clrChange>
                <a:clrFrom>
                  <a:srgbClr val="FFFFFF"/>
                </a:clrFrom>
                <a:clrTo>
                  <a:srgbClr val="FFFFFF">
                    <a:alpha val="0"/>
                  </a:srgbClr>
                </a:clrTo>
              </a:clrChange>
              <a:grayscl/>
            </a:blip>
            <a:srcRect/>
            <a:stretch>
              <a:fillRect/>
            </a:stretch>
          </p:blipFill>
          <p:spPr bwMode="auto">
            <a:xfrm rot="786443">
              <a:off x="7068316" y="4728057"/>
              <a:ext cx="318250" cy="20734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8" descr="C:\Users\yxia\Desktop\vgoixh91ud6k.jpg"/>
            <p:cNvPicPr>
              <a:picLocks noChangeAspect="1" noChangeArrowheads="1"/>
            </p:cNvPicPr>
            <p:nvPr/>
          </p:nvPicPr>
          <p:blipFill>
            <a:blip r:embed="rId28" cstate="print">
              <a:clrChange>
                <a:clrFrom>
                  <a:srgbClr val="FFFFFF"/>
                </a:clrFrom>
                <a:clrTo>
                  <a:srgbClr val="FFFFFF">
                    <a:alpha val="0"/>
                  </a:srgbClr>
                </a:clrTo>
              </a:clrChange>
            </a:blip>
            <a:srcRect/>
            <a:stretch>
              <a:fillRect/>
            </a:stretch>
          </p:blipFill>
          <p:spPr bwMode="auto">
            <a:xfrm>
              <a:off x="8132234" y="4590085"/>
              <a:ext cx="195598" cy="22934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7" descr="C:\Users\yxia\Desktop\2078815_171043034636_2.jpg"/>
            <p:cNvPicPr>
              <a:picLocks noChangeAspect="1" noChangeArrowheads="1"/>
            </p:cNvPicPr>
            <p:nvPr/>
          </p:nvPicPr>
          <p:blipFill>
            <a:blip r:embed="rId29" cstate="print">
              <a:clrChange>
                <a:clrFrom>
                  <a:srgbClr val="000000"/>
                </a:clrFrom>
                <a:clrTo>
                  <a:srgbClr val="000000">
                    <a:alpha val="0"/>
                  </a:srgbClr>
                </a:clrTo>
              </a:clrChange>
            </a:blip>
            <a:srcRect/>
            <a:stretch>
              <a:fillRect/>
            </a:stretch>
          </p:blipFill>
          <p:spPr bwMode="auto">
            <a:xfrm flipH="1">
              <a:off x="6922278" y="4917756"/>
              <a:ext cx="309610" cy="32624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0" descr="C:\Users\yxia\Desktop\1077466119.jpg"/>
            <p:cNvPicPr>
              <a:picLocks noChangeAspect="1" noChangeArrowheads="1"/>
            </p:cNvPicPr>
            <p:nvPr/>
          </p:nvPicPr>
          <p:blipFill>
            <a:blip r:embed="rId30" cstate="print">
              <a:clrChange>
                <a:clrFrom>
                  <a:srgbClr val="FFFFFF"/>
                </a:clrFrom>
                <a:clrTo>
                  <a:srgbClr val="FFFFFF">
                    <a:alpha val="0"/>
                  </a:srgbClr>
                </a:clrTo>
              </a:clrChange>
            </a:blip>
            <a:srcRect/>
            <a:stretch>
              <a:fillRect/>
            </a:stretch>
          </p:blipFill>
          <p:spPr bwMode="auto">
            <a:xfrm>
              <a:off x="7562205" y="4425885"/>
              <a:ext cx="407018" cy="450422"/>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矩形 23"/>
          <p:cNvSpPr/>
          <p:nvPr/>
        </p:nvSpPr>
        <p:spPr>
          <a:xfrm>
            <a:off x="9413766" y="3489683"/>
            <a:ext cx="1136867" cy="584921"/>
          </a:xfrm>
          <a:prstGeom prst="rect">
            <a:avLst/>
          </a:prstGeom>
          <a:solidFill>
            <a:schemeClr val="bg1"/>
          </a:solidFill>
          <a:ln w="28575">
            <a:solidFill>
              <a:srgbClr val="7030A0"/>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r>
              <a:rPr lang="en-US" altLang="zh-CN" sz="2000" b="1" dirty="0">
                <a:latin typeface="微软雅黑" panose="020B0503020204020204" pitchFamily="34" charset="-122"/>
                <a:ea typeface="微软雅黑" panose="020B0503020204020204" pitchFamily="34" charset="-122"/>
              </a:rPr>
              <a:t>TCP/IP</a:t>
            </a:r>
            <a:endParaRPr lang="zh-CN" altLang="en-US" sz="2000" b="1" dirty="0">
              <a:latin typeface="微软雅黑" panose="020B0503020204020204" pitchFamily="34" charset="-122"/>
              <a:ea typeface="微软雅黑" panose="020B0503020204020204" pitchFamily="34" charset="-122"/>
            </a:endParaRPr>
          </a:p>
        </p:txBody>
      </p:sp>
      <p:sp>
        <p:nvSpPr>
          <p:cNvPr id="4" name="矩形 3"/>
          <p:cNvSpPr/>
          <p:nvPr/>
        </p:nvSpPr>
        <p:spPr>
          <a:xfrm>
            <a:off x="8681930" y="5641615"/>
            <a:ext cx="2686505" cy="461665"/>
          </a:xfrm>
          <a:prstGeom prst="rect">
            <a:avLst/>
          </a:prstGeom>
        </p:spPr>
        <p:txBody>
          <a:bodyPr wrap="none">
            <a:spAutoFit/>
          </a:bodyPr>
          <a:lstStyle/>
          <a:p>
            <a:r>
              <a:rPr kumimoji="1" lang="en-US" altLang="zh-CN" sz="2400" dirty="0">
                <a:solidFill>
                  <a:prstClr val="black"/>
                </a:solidFill>
                <a:latin typeface="微软雅黑" panose="020B0503020204020204" pitchFamily="34" charset="-122"/>
                <a:ea typeface="微软雅黑" panose="020B0503020204020204" pitchFamily="34" charset="-122"/>
                <a:cs typeface="+mj-cs"/>
              </a:rPr>
              <a:t>TCP/IP</a:t>
            </a:r>
            <a:r>
              <a:rPr kumimoji="1" lang="zh-CN" altLang="en-US" sz="2400" dirty="0">
                <a:solidFill>
                  <a:prstClr val="black"/>
                </a:solidFill>
                <a:latin typeface="微软雅黑" panose="020B0503020204020204" pitchFamily="34" charset="-122"/>
                <a:ea typeface="微软雅黑" panose="020B0503020204020204" pitchFamily="34" charset="-122"/>
                <a:cs typeface="+mj-cs"/>
              </a:rPr>
              <a:t>的沙漏模型</a:t>
            </a:r>
            <a:endParaRPr lang="zh-CN" alt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OSI</a:t>
            </a:r>
            <a:r>
              <a:rPr kumimoji="1" lang="zh-CN" altLang="en-US" dirty="0"/>
              <a:t>模型与</a:t>
            </a:r>
            <a:r>
              <a:rPr kumimoji="1" lang="en-US" altLang="zh-CN" dirty="0"/>
              <a:t>TCP/IP</a:t>
            </a:r>
            <a:r>
              <a:rPr kumimoji="1" lang="zh-CN" altLang="en-US" dirty="0"/>
              <a:t>模型比较</a:t>
            </a:r>
            <a:endParaRPr kumimoji="1" lang="zh-CN" altLang="en-US" dirty="0"/>
          </a:p>
        </p:txBody>
      </p:sp>
      <p:sp>
        <p:nvSpPr>
          <p:cNvPr id="3" name="内容占位符 2"/>
          <p:cNvSpPr>
            <a:spLocks noGrp="1"/>
          </p:cNvSpPr>
          <p:nvPr>
            <p:ph idx="1"/>
          </p:nvPr>
        </p:nvSpPr>
        <p:spPr>
          <a:xfrm>
            <a:off x="749054" y="1276977"/>
            <a:ext cx="6187440" cy="5444497"/>
          </a:xfrm>
        </p:spPr>
        <p:txBody>
          <a:bodyPr>
            <a:noAutofit/>
          </a:bodyPr>
          <a:lstStyle/>
          <a:p>
            <a:pPr>
              <a:spcBef>
                <a:spcPts val="400"/>
              </a:spcBef>
            </a:pPr>
            <a:r>
              <a:rPr kumimoji="1" lang="en-US" altLang="zh-CN" sz="2400" dirty="0">
                <a:solidFill>
                  <a:srgbClr val="C00000"/>
                </a:solidFill>
              </a:rPr>
              <a:t>7</a:t>
            </a:r>
            <a:r>
              <a:rPr kumimoji="1" lang="zh-CN" altLang="en-US" sz="2400" dirty="0">
                <a:solidFill>
                  <a:srgbClr val="C00000"/>
                </a:solidFill>
              </a:rPr>
              <a:t>层模型与</a:t>
            </a:r>
            <a:r>
              <a:rPr kumimoji="1" lang="en-US" altLang="zh-CN" sz="2400" dirty="0">
                <a:solidFill>
                  <a:srgbClr val="C00000"/>
                </a:solidFill>
              </a:rPr>
              <a:t>4</a:t>
            </a:r>
            <a:r>
              <a:rPr kumimoji="1" lang="zh-CN" altLang="en-US" sz="2400" dirty="0">
                <a:solidFill>
                  <a:srgbClr val="C00000"/>
                </a:solidFill>
              </a:rPr>
              <a:t>层模型</a:t>
            </a:r>
            <a:endParaRPr kumimoji="1" lang="en-US" altLang="zh-CN" sz="2400" dirty="0"/>
          </a:p>
          <a:p>
            <a:pPr lvl="1">
              <a:spcBef>
                <a:spcPts val="400"/>
              </a:spcBef>
            </a:pPr>
            <a:r>
              <a:rPr kumimoji="1" lang="en-US" altLang="zh-CN" sz="2000" dirty="0"/>
              <a:t>TCP/IP</a:t>
            </a:r>
            <a:r>
              <a:rPr kumimoji="1" lang="zh-CN" altLang="en-US" sz="2000" dirty="0"/>
              <a:t>模型的网络接口层定义主机与传输线路之间的接口，描述了链路为无连接的互联网层必须提供的基本功能</a:t>
            </a:r>
            <a:endParaRPr kumimoji="1" lang="zh-CN" altLang="en-US" sz="2000" dirty="0"/>
          </a:p>
          <a:p>
            <a:pPr lvl="1">
              <a:spcBef>
                <a:spcPts val="400"/>
              </a:spcBef>
            </a:pPr>
            <a:r>
              <a:rPr kumimoji="1" lang="en-US" altLang="zh-CN" sz="2000" dirty="0"/>
              <a:t>TCP/IP</a:t>
            </a:r>
            <a:r>
              <a:rPr kumimoji="1" lang="zh-CN" altLang="en-US" sz="2000" dirty="0"/>
              <a:t>模型的互联网层、传输层与</a:t>
            </a:r>
            <a:r>
              <a:rPr kumimoji="1" lang="en-US" altLang="zh-CN" sz="2000" dirty="0"/>
              <a:t>OSI</a:t>
            </a:r>
            <a:r>
              <a:rPr kumimoji="1" lang="zh-CN" altLang="en-US" sz="2000" dirty="0"/>
              <a:t>模型的</a:t>
            </a:r>
            <a:r>
              <a:rPr kumimoji="1" lang="zh-CN" altLang="en-US" sz="2000" dirty="0">
                <a:sym typeface="+mn-ea"/>
              </a:rPr>
              <a:t>网络层、传输层</a:t>
            </a:r>
            <a:r>
              <a:rPr kumimoji="1" lang="zh-CN" altLang="en-US" sz="2000" dirty="0"/>
              <a:t>大致对应</a:t>
            </a:r>
            <a:endParaRPr kumimoji="1" lang="zh-CN" altLang="en-US" sz="2000" dirty="0"/>
          </a:p>
          <a:p>
            <a:pPr lvl="1">
              <a:spcBef>
                <a:spcPts val="400"/>
              </a:spcBef>
            </a:pPr>
            <a:r>
              <a:rPr kumimoji="1" lang="en-US" altLang="zh-CN" sz="2000" dirty="0"/>
              <a:t>TCP/IP</a:t>
            </a:r>
            <a:r>
              <a:rPr kumimoji="1" lang="zh-CN" altLang="en-US" sz="2000" dirty="0"/>
              <a:t>模型的应用层包含了</a:t>
            </a:r>
            <a:r>
              <a:rPr kumimoji="1" lang="en-US" altLang="zh-CN" sz="2000" dirty="0"/>
              <a:t>OSI</a:t>
            </a:r>
            <a:r>
              <a:rPr kumimoji="1" lang="zh-CN" altLang="en-US" sz="2000" dirty="0"/>
              <a:t>模型的表示层与会话层</a:t>
            </a:r>
            <a:endParaRPr kumimoji="1" lang="zh-CN" altLang="en-US" sz="2000" dirty="0"/>
          </a:p>
          <a:p>
            <a:pPr lvl="0">
              <a:spcBef>
                <a:spcPts val="400"/>
              </a:spcBef>
            </a:pPr>
            <a:r>
              <a:rPr kumimoji="1" lang="zh-CN" altLang="en-US" sz="2400" dirty="0">
                <a:solidFill>
                  <a:srgbClr val="C00000"/>
                </a:solidFill>
              </a:rPr>
              <a:t>基本设计思想：通用性与实用性</a:t>
            </a:r>
            <a:endParaRPr kumimoji="1" lang="zh-CN" altLang="en-US" sz="2400" dirty="0"/>
          </a:p>
          <a:p>
            <a:pPr lvl="1">
              <a:spcBef>
                <a:spcPts val="400"/>
              </a:spcBef>
            </a:pPr>
            <a:r>
              <a:rPr kumimoji="1" lang="en-US" altLang="zh-CN" sz="2000" dirty="0"/>
              <a:t>OSI</a:t>
            </a:r>
            <a:r>
              <a:rPr kumimoji="1" lang="zh-CN" altLang="en-US" sz="2000" dirty="0"/>
              <a:t>：先有模型后设计协议，不局限于特定协议，</a:t>
            </a:r>
            <a:r>
              <a:rPr kumimoji="1" lang="zh-CN" altLang="en-US" sz="2000" dirty="0">
                <a:solidFill>
                  <a:srgbClr val="C00000"/>
                </a:solidFill>
              </a:rPr>
              <a:t>明确了服务、协议、接口等概念</a:t>
            </a:r>
            <a:r>
              <a:rPr kumimoji="1" lang="zh-CN" altLang="en-US" sz="2000" dirty="0"/>
              <a:t>，更具通用性</a:t>
            </a:r>
            <a:endParaRPr kumimoji="1" lang="zh-CN" altLang="en-US" sz="2000" dirty="0"/>
          </a:p>
          <a:p>
            <a:pPr lvl="1">
              <a:spcBef>
                <a:spcPts val="400"/>
              </a:spcBef>
            </a:pPr>
            <a:r>
              <a:rPr kumimoji="1" lang="en-US" altLang="zh-CN" sz="2000" dirty="0"/>
              <a:t>TCP/IP</a:t>
            </a:r>
            <a:r>
              <a:rPr kumimoji="1" lang="zh-CN" altLang="en-US" sz="2000" dirty="0"/>
              <a:t>模型：仅仅是对已有协议的描述</a:t>
            </a:r>
            <a:endParaRPr kumimoji="1" lang="zh-CN" altLang="en-US" sz="2000" dirty="0"/>
          </a:p>
          <a:p>
            <a:pPr lvl="0">
              <a:spcBef>
                <a:spcPts val="400"/>
              </a:spcBef>
            </a:pPr>
            <a:r>
              <a:rPr kumimoji="1" lang="zh-CN" altLang="en-US" sz="2400" dirty="0">
                <a:solidFill>
                  <a:srgbClr val="C00000"/>
                </a:solidFill>
              </a:rPr>
              <a:t>无连接与面向连接</a:t>
            </a:r>
            <a:endParaRPr kumimoji="1" lang="zh-CN" altLang="en-US" sz="2400" dirty="0"/>
          </a:p>
          <a:p>
            <a:pPr lvl="1">
              <a:spcBef>
                <a:spcPts val="400"/>
              </a:spcBef>
            </a:pPr>
            <a:r>
              <a:rPr kumimoji="1" lang="en-US" altLang="zh-CN" sz="2000" dirty="0"/>
              <a:t>OSI</a:t>
            </a:r>
            <a:r>
              <a:rPr kumimoji="1" lang="zh-CN" altLang="en-US" sz="2000" dirty="0"/>
              <a:t>模型网络层能够支持无连接和面向连接通信</a:t>
            </a:r>
            <a:endParaRPr kumimoji="1" lang="zh-CN" altLang="en-US" sz="2000" dirty="0"/>
          </a:p>
          <a:p>
            <a:pPr lvl="1">
              <a:spcBef>
                <a:spcPts val="400"/>
              </a:spcBef>
            </a:pPr>
            <a:r>
              <a:rPr kumimoji="1" lang="en-US" altLang="zh-CN" sz="2000" dirty="0"/>
              <a:t>TCP/IP</a:t>
            </a:r>
            <a:r>
              <a:rPr kumimoji="1" lang="zh-CN" altLang="en-US" sz="2000" dirty="0"/>
              <a:t>模型的网络层仅支持无连接通信（</a:t>
            </a:r>
            <a:r>
              <a:rPr kumimoji="1" lang="en-US" altLang="zh-CN" sz="2000" dirty="0"/>
              <a:t>IP</a:t>
            </a:r>
            <a:r>
              <a:rPr kumimoji="1" lang="zh-CN" altLang="en-US" sz="2000" dirty="0"/>
              <a:t>）</a:t>
            </a:r>
            <a:endParaRPr kumimoji="1" lang="zh-CN" altLang="en-US" sz="2000" dirty="0"/>
          </a:p>
          <a:p>
            <a:pPr lvl="1">
              <a:spcBef>
                <a:spcPts val="400"/>
              </a:spcBef>
            </a:pPr>
            <a:endParaRPr kumimoji="1" lang="zh-CN" altLang="en-US" sz="2000"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5" name="表格 4"/>
          <p:cNvGraphicFramePr/>
          <p:nvPr/>
        </p:nvGraphicFramePr>
        <p:xfrm>
          <a:off x="6936494" y="1718310"/>
          <a:ext cx="2527300" cy="3702685"/>
        </p:xfrm>
        <a:graphic>
          <a:graphicData uri="http://schemas.openxmlformats.org/drawingml/2006/table">
            <a:tbl>
              <a:tblPr firstRow="1" bandRow="1">
                <a:tableStyleId>{5940675A-B579-460E-94D1-54222C63F5DA}</a:tableStyleId>
              </a:tblPr>
              <a:tblGrid>
                <a:gridCol w="2527300"/>
              </a:tblGrid>
              <a:tr h="551180">
                <a:tc>
                  <a:txBody>
                    <a:bodyPr/>
                    <a:lstStyle/>
                    <a:p>
                      <a:pPr algn="ctr">
                        <a:buNone/>
                      </a:pPr>
                      <a:r>
                        <a:rPr lang="zh-CN" altLang="en-US" sz="2000" b="0" dirty="0">
                          <a:latin typeface="微软雅黑" panose="020B0503020204020204" pitchFamily="34" charset="-122"/>
                          <a:ea typeface="微软雅黑" panose="020B0503020204020204" pitchFamily="34" charset="-122"/>
                        </a:rPr>
                        <a:t>应用层</a:t>
                      </a:r>
                      <a:endParaRPr lang="en-US" altLang="zh-CN" sz="2000" b="0" dirty="0">
                        <a:latin typeface="微软雅黑" panose="020B0503020204020204" pitchFamily="34" charset="-122"/>
                        <a:ea typeface="微软雅黑" panose="020B0503020204020204" pitchFamily="34" charset="-122"/>
                      </a:endParaRPr>
                    </a:p>
                  </a:txBody>
                  <a:tcPr anchor="ctr">
                    <a:noFill/>
                  </a:tcPr>
                </a:tc>
              </a:tr>
              <a:tr h="551815">
                <a:tc>
                  <a:txBody>
                    <a:bodyPr/>
                    <a:lstStyle/>
                    <a:p>
                      <a:pPr algn="ctr">
                        <a:buNone/>
                      </a:pPr>
                      <a:r>
                        <a:rPr lang="zh-CN" altLang="en-US" sz="2000" b="0">
                          <a:latin typeface="微软雅黑" panose="020B0503020204020204" pitchFamily="34" charset="-122"/>
                          <a:ea typeface="微软雅黑" panose="020B0503020204020204" pitchFamily="34" charset="-122"/>
                        </a:rPr>
                        <a:t>表示层</a:t>
                      </a:r>
                      <a:endParaRPr lang="en-US" altLang="zh-CN" sz="2000" b="0">
                        <a:latin typeface="微软雅黑" panose="020B0503020204020204" pitchFamily="34" charset="-122"/>
                        <a:ea typeface="微软雅黑" panose="020B0503020204020204" pitchFamily="34" charset="-122"/>
                      </a:endParaRPr>
                    </a:p>
                  </a:txBody>
                  <a:tcPr anchor="ctr">
                    <a:noFill/>
                  </a:tcPr>
                </a:tc>
              </a:tr>
              <a:tr h="511810">
                <a:tc>
                  <a:txBody>
                    <a:bodyPr/>
                    <a:lstStyle/>
                    <a:p>
                      <a:pPr algn="ctr">
                        <a:buNone/>
                      </a:pPr>
                      <a:r>
                        <a:rPr lang="zh-CN" altLang="en-US" sz="2000" b="0">
                          <a:latin typeface="微软雅黑" panose="020B0503020204020204" pitchFamily="34" charset="-122"/>
                          <a:ea typeface="微软雅黑" panose="020B0503020204020204" pitchFamily="34" charset="-122"/>
                        </a:rPr>
                        <a:t>会话层</a:t>
                      </a:r>
                      <a:endParaRPr lang="en-US" altLang="zh-CN" sz="2000" b="0">
                        <a:latin typeface="微软雅黑" panose="020B0503020204020204" pitchFamily="34" charset="-122"/>
                        <a:ea typeface="微软雅黑" panose="020B0503020204020204" pitchFamily="34" charset="-122"/>
                      </a:endParaRPr>
                    </a:p>
                  </a:txBody>
                  <a:tcPr anchor="ctr">
                    <a:noFill/>
                  </a:tcPr>
                </a:tc>
              </a:tr>
              <a:tr h="512445">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en-US" altLang="zh-CN" sz="2000" b="0">
                        <a:latin typeface="微软雅黑" panose="020B0503020204020204" pitchFamily="34" charset="-122"/>
                        <a:ea typeface="微软雅黑" panose="020B0503020204020204" pitchFamily="34" charset="-122"/>
                      </a:endParaRPr>
                    </a:p>
                  </a:txBody>
                  <a:tcPr anchor="ctr">
                    <a:noFill/>
                  </a:tcPr>
                </a:tc>
              </a:tr>
              <a:tr h="511810">
                <a:tc>
                  <a:txBody>
                    <a:bodyPr/>
                    <a:lstStyle/>
                    <a:p>
                      <a:pPr algn="ctr">
                        <a:buNone/>
                      </a:pPr>
                      <a:r>
                        <a:rPr lang="zh-CN" altLang="en-US" sz="2000" b="0">
                          <a:latin typeface="微软雅黑" panose="020B0503020204020204" pitchFamily="34" charset="-122"/>
                          <a:ea typeface="微软雅黑" panose="020B0503020204020204" pitchFamily="34" charset="-122"/>
                        </a:rPr>
                        <a:t>网络层</a:t>
                      </a:r>
                      <a:endParaRPr lang="en-US" altLang="zh-CN" sz="2000" b="0">
                        <a:latin typeface="微软雅黑" panose="020B0503020204020204" pitchFamily="34" charset="-122"/>
                        <a:ea typeface="微软雅黑" panose="020B0503020204020204" pitchFamily="34" charset="-122"/>
                      </a:endParaRPr>
                    </a:p>
                  </a:txBody>
                  <a:tcPr anchor="ctr">
                    <a:noFill/>
                  </a:tcPr>
                </a:tc>
              </a:tr>
              <a:tr h="512445">
                <a:tc>
                  <a:txBody>
                    <a:bodyPr/>
                    <a:lstStyle/>
                    <a:p>
                      <a:pPr algn="ctr">
                        <a:buNone/>
                      </a:pPr>
                      <a:r>
                        <a:rPr lang="zh-CN" altLang="en-US" sz="2000" b="0">
                          <a:latin typeface="微软雅黑" panose="020B0503020204020204" pitchFamily="34" charset="-122"/>
                          <a:ea typeface="微软雅黑" panose="020B0503020204020204" pitchFamily="34" charset="-122"/>
                        </a:rPr>
                        <a:t>数据链路层</a:t>
                      </a:r>
                      <a:endParaRPr lang="en-US" altLang="zh-CN" sz="2000" b="0">
                        <a:latin typeface="微软雅黑" panose="020B0503020204020204" pitchFamily="34" charset="-122"/>
                        <a:ea typeface="微软雅黑" panose="020B0503020204020204" pitchFamily="34" charset="-122"/>
                      </a:endParaRPr>
                    </a:p>
                  </a:txBody>
                  <a:tcPr anchor="ctr">
                    <a:noFill/>
                  </a:tcPr>
                </a:tc>
              </a:tr>
              <a:tr h="551180">
                <a:tc>
                  <a:txBody>
                    <a:bodyPr/>
                    <a:lstStyle/>
                    <a:p>
                      <a:pPr algn="ctr">
                        <a:buNone/>
                      </a:pPr>
                      <a:r>
                        <a:rPr lang="zh-CN" altLang="en-US" sz="2000" b="0" dirty="0">
                          <a:latin typeface="微软雅黑" panose="020B0503020204020204" pitchFamily="34" charset="-122"/>
                          <a:ea typeface="微软雅黑" panose="020B0503020204020204" pitchFamily="34" charset="-122"/>
                        </a:rPr>
                        <a:t>物理层</a:t>
                      </a:r>
                      <a:endParaRPr lang="en-US" altLang="zh-CN" sz="2000" b="0" dirty="0">
                        <a:latin typeface="微软雅黑" panose="020B0503020204020204" pitchFamily="34" charset="-122"/>
                        <a:ea typeface="微软雅黑" panose="020B0503020204020204" pitchFamily="34" charset="-122"/>
                      </a:endParaRPr>
                    </a:p>
                  </a:txBody>
                  <a:tcPr anchor="ctr">
                    <a:noFill/>
                  </a:tcPr>
                </a:tc>
              </a:tr>
            </a:tbl>
          </a:graphicData>
        </a:graphic>
      </p:graphicFrame>
      <p:graphicFrame>
        <p:nvGraphicFramePr>
          <p:cNvPr id="8" name="表格 7"/>
          <p:cNvGraphicFramePr/>
          <p:nvPr/>
        </p:nvGraphicFramePr>
        <p:xfrm>
          <a:off x="9678670" y="1718310"/>
          <a:ext cx="2249804" cy="3702685"/>
        </p:xfrm>
        <a:graphic>
          <a:graphicData uri="http://schemas.openxmlformats.org/drawingml/2006/table">
            <a:tbl>
              <a:tblPr firstRow="1" bandRow="1">
                <a:tableStyleId>{5940675A-B579-460E-94D1-54222C63F5DA}</a:tableStyleId>
              </a:tblPr>
              <a:tblGrid>
                <a:gridCol w="2249804"/>
              </a:tblGrid>
              <a:tr h="1614805">
                <a:tc>
                  <a:txBody>
                    <a:bodyPr/>
                    <a:lstStyle/>
                    <a:p>
                      <a:pPr algn="ctr">
                        <a:buNone/>
                      </a:pPr>
                      <a:r>
                        <a:rPr lang="zh-CN" altLang="en-US" sz="2000" b="0" dirty="0">
                          <a:latin typeface="微软雅黑" panose="020B0503020204020204" pitchFamily="34" charset="-122"/>
                          <a:ea typeface="微软雅黑" panose="020B0503020204020204" pitchFamily="34" charset="-122"/>
                        </a:rPr>
                        <a:t>应用层</a:t>
                      </a:r>
                      <a:endParaRPr lang="en-US" altLang="zh-CN" sz="2000" b="0" dirty="0">
                        <a:latin typeface="微软雅黑" panose="020B0503020204020204" pitchFamily="34" charset="-122"/>
                        <a:ea typeface="微软雅黑" panose="020B0503020204020204" pitchFamily="34" charset="-122"/>
                      </a:endParaRPr>
                    </a:p>
                  </a:txBody>
                  <a:tcPr anchor="ctr">
                    <a:noFill/>
                  </a:tcPr>
                </a:tc>
              </a:tr>
              <a:tr h="512445">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en-US" altLang="zh-CN" sz="2000" b="0">
                        <a:latin typeface="微软雅黑" panose="020B0503020204020204" pitchFamily="34" charset="-122"/>
                        <a:ea typeface="微软雅黑" panose="020B0503020204020204" pitchFamily="34" charset="-122"/>
                      </a:endParaRPr>
                    </a:p>
                  </a:txBody>
                  <a:tcPr anchor="ctr">
                    <a:noFill/>
                  </a:tcPr>
                </a:tc>
              </a:tr>
              <a:tr h="511810">
                <a:tc>
                  <a:txBody>
                    <a:bodyPr/>
                    <a:lstStyle/>
                    <a:p>
                      <a:pPr algn="ctr">
                        <a:buNone/>
                      </a:pPr>
                      <a:r>
                        <a:rPr lang="zh-CN" altLang="en-US" sz="2000" b="0">
                          <a:latin typeface="微软雅黑" panose="020B0503020204020204" pitchFamily="34" charset="-122"/>
                          <a:ea typeface="微软雅黑" panose="020B0503020204020204" pitchFamily="34" charset="-122"/>
                          <a:sym typeface="+mn-ea"/>
                        </a:rPr>
                        <a:t>互联网层</a:t>
                      </a:r>
                      <a:endParaRPr lang="en-US" altLang="zh-CN" sz="2000" b="0">
                        <a:latin typeface="微软雅黑" panose="020B0503020204020204" pitchFamily="34" charset="-122"/>
                        <a:ea typeface="微软雅黑" panose="020B0503020204020204" pitchFamily="34" charset="-122"/>
                      </a:endParaRPr>
                    </a:p>
                  </a:txBody>
                  <a:tcPr anchor="ctr">
                    <a:noFill/>
                  </a:tcPr>
                </a:tc>
              </a:tr>
              <a:tr h="1063625">
                <a:tc>
                  <a:txBody>
                    <a:bodyPr/>
                    <a:lstStyle/>
                    <a:p>
                      <a:pPr algn="ctr">
                        <a:buNone/>
                      </a:pPr>
                      <a:r>
                        <a:rPr lang="zh-CN" altLang="en-US" sz="2000" b="0" dirty="0">
                          <a:latin typeface="微软雅黑" panose="020B0503020204020204" pitchFamily="34" charset="-122"/>
                          <a:ea typeface="微软雅黑" panose="020B0503020204020204" pitchFamily="34" charset="-122"/>
                        </a:rPr>
                        <a:t>网络接口层</a:t>
                      </a:r>
                      <a:endParaRPr lang="en-US" altLang="zh-CN" sz="2000" b="0" dirty="0">
                        <a:latin typeface="微软雅黑" panose="020B0503020204020204" pitchFamily="34" charset="-122"/>
                        <a:ea typeface="微软雅黑" panose="020B0503020204020204" pitchFamily="34" charset="-122"/>
                      </a:endParaRPr>
                    </a:p>
                  </a:txBody>
                  <a:tcPr anchor="ctr">
                    <a:noFill/>
                  </a:tcPr>
                </a:tc>
              </a:tr>
            </a:tbl>
          </a:graphicData>
        </a:graphic>
      </p:graphicFrame>
      <p:sp>
        <p:nvSpPr>
          <p:cNvPr id="10" name="内容占位符 2"/>
          <p:cNvSpPr>
            <a:spLocks noGrp="1"/>
          </p:cNvSpPr>
          <p:nvPr/>
        </p:nvSpPr>
        <p:spPr>
          <a:xfrm>
            <a:off x="7302889" y="5551487"/>
            <a:ext cx="21609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OSI 7</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层模型</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内容占位符 2"/>
          <p:cNvSpPr>
            <a:spLocks noGrp="1"/>
          </p:cNvSpPr>
          <p:nvPr/>
        </p:nvSpPr>
        <p:spPr>
          <a:xfrm>
            <a:off x="9678670" y="5535295"/>
            <a:ext cx="21609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TCP/IP 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层模型</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OSI</a:t>
            </a:r>
            <a:r>
              <a:rPr kumimoji="1" lang="zh-CN" altLang="en-US" dirty="0"/>
              <a:t>模型与</a:t>
            </a:r>
            <a:r>
              <a:rPr kumimoji="1" lang="en-US" altLang="zh-CN" dirty="0"/>
              <a:t>TCP/IP</a:t>
            </a:r>
            <a:r>
              <a:rPr kumimoji="1" lang="zh-CN" altLang="en-US" dirty="0"/>
              <a:t>模型比较</a:t>
            </a:r>
            <a:endParaRPr kumimoji="1" lang="zh-CN" altLang="en-US" dirty="0"/>
          </a:p>
        </p:txBody>
      </p:sp>
      <p:sp>
        <p:nvSpPr>
          <p:cNvPr id="3" name="内容占位符 2"/>
          <p:cNvSpPr>
            <a:spLocks noGrp="1"/>
          </p:cNvSpPr>
          <p:nvPr>
            <p:ph idx="1"/>
          </p:nvPr>
        </p:nvSpPr>
        <p:spPr>
          <a:xfrm>
            <a:off x="501042" y="2505329"/>
            <a:ext cx="5726192" cy="3858895"/>
          </a:xfrm>
          <a:ln w="6350" cmpd="sng">
            <a:solidFill>
              <a:srgbClr val="C00000"/>
            </a:solidFill>
            <a:prstDash val="solid"/>
          </a:ln>
        </p:spPr>
        <p:txBody>
          <a:bodyPr>
            <a:noAutofit/>
          </a:bodyPr>
          <a:lstStyle/>
          <a:p>
            <a:pPr>
              <a:spcBef>
                <a:spcPts val="400"/>
              </a:spcBef>
            </a:pPr>
            <a:r>
              <a:rPr kumimoji="1" lang="zh-CN" altLang="en-US" sz="2000" dirty="0">
                <a:solidFill>
                  <a:srgbClr val="C00000"/>
                </a:solidFill>
              </a:rPr>
              <a:t>从未真正被实现</a:t>
            </a:r>
            <a:endParaRPr kumimoji="1" lang="zh-CN" altLang="en-US" sz="2000" dirty="0"/>
          </a:p>
          <a:p>
            <a:pPr lvl="1">
              <a:spcBef>
                <a:spcPts val="400"/>
              </a:spcBef>
            </a:pPr>
            <a:r>
              <a:rPr kumimoji="1" lang="en-US" altLang="zh-CN" sz="2000" dirty="0"/>
              <a:t>TCP/IP</a:t>
            </a:r>
            <a:r>
              <a:rPr kumimoji="1" lang="zh-CN" altLang="en-US" sz="2000" dirty="0"/>
              <a:t>已成为事实标准，</a:t>
            </a:r>
            <a:r>
              <a:rPr kumimoji="1" lang="en-US" altLang="zh-CN" sz="2000" dirty="0"/>
              <a:t>OSI</a:t>
            </a:r>
            <a:r>
              <a:rPr kumimoji="1" lang="zh-CN" altLang="en-US" sz="2000" dirty="0"/>
              <a:t>缺少厂家支持</a:t>
            </a:r>
            <a:endParaRPr kumimoji="1" lang="zh-CN" altLang="en-US" sz="2000" dirty="0"/>
          </a:p>
          <a:p>
            <a:pPr>
              <a:spcBef>
                <a:spcPts val="400"/>
              </a:spcBef>
            </a:pPr>
            <a:r>
              <a:rPr kumimoji="1" lang="zh-CN" altLang="en-US" sz="2000" dirty="0">
                <a:solidFill>
                  <a:srgbClr val="C00000"/>
                </a:solidFill>
              </a:rPr>
              <a:t>技术实现糟糕</a:t>
            </a:r>
            <a:endParaRPr kumimoji="1" lang="zh-CN" altLang="en-US" sz="2000" dirty="0"/>
          </a:p>
          <a:p>
            <a:pPr lvl="1">
              <a:spcBef>
                <a:spcPts val="400"/>
              </a:spcBef>
            </a:pPr>
            <a:r>
              <a:rPr kumimoji="1" lang="en-US" altLang="zh-CN" sz="2000" dirty="0"/>
              <a:t>OSI</a:t>
            </a:r>
            <a:r>
              <a:rPr kumimoji="1" lang="zh-CN" altLang="en-US" sz="2000" dirty="0"/>
              <a:t>分层欠缺技术考虑：会话层、表示层很少内容；数据链路层、网络层内容繁杂。模型和协议过于复杂</a:t>
            </a:r>
            <a:endParaRPr kumimoji="1" lang="zh-CN" altLang="en-US" sz="2000" dirty="0"/>
          </a:p>
          <a:p>
            <a:pPr lvl="1">
              <a:spcBef>
                <a:spcPts val="400"/>
              </a:spcBef>
            </a:pPr>
            <a:r>
              <a:rPr kumimoji="1" lang="zh-CN" altLang="en-US" sz="2000" dirty="0"/>
              <a:t>分层间功能重复：差错控制、流量控制等在不同层反复出现</a:t>
            </a:r>
            <a:endParaRPr kumimoji="1" lang="zh-CN" altLang="en-US" sz="2000" dirty="0"/>
          </a:p>
          <a:p>
            <a:pPr lvl="0">
              <a:spcBef>
                <a:spcPts val="400"/>
              </a:spcBef>
            </a:pPr>
            <a:r>
              <a:rPr kumimoji="1" lang="zh-CN" altLang="en-US" sz="2000" dirty="0">
                <a:solidFill>
                  <a:srgbClr val="C00000"/>
                </a:solidFill>
              </a:rPr>
              <a:t>非技术因素</a:t>
            </a:r>
            <a:endParaRPr kumimoji="1" lang="zh-CN" altLang="en-US" sz="2000" dirty="0"/>
          </a:p>
          <a:p>
            <a:pPr lvl="1">
              <a:spcBef>
                <a:spcPts val="400"/>
              </a:spcBef>
            </a:pPr>
            <a:r>
              <a:rPr kumimoji="1" lang="en-US" altLang="zh-CN" sz="2000" dirty="0"/>
              <a:t>TCP/IP</a:t>
            </a:r>
            <a:r>
              <a:rPr kumimoji="1" lang="zh-CN" altLang="en-US" sz="2000" dirty="0"/>
              <a:t>实现为</a:t>
            </a:r>
            <a:r>
              <a:rPr kumimoji="1" lang="en-US" altLang="zh-CN" sz="2000" dirty="0"/>
              <a:t>UNIX</a:t>
            </a:r>
            <a:r>
              <a:rPr kumimoji="1" lang="zh-CN" altLang="en-US" sz="2000" dirty="0"/>
              <a:t>一部分，免费</a:t>
            </a:r>
            <a:endParaRPr kumimoji="1" lang="zh-CN" altLang="en-US" sz="2000" dirty="0"/>
          </a:p>
          <a:p>
            <a:pPr lvl="1">
              <a:spcBef>
                <a:spcPts val="400"/>
              </a:spcBef>
            </a:pPr>
            <a:r>
              <a:rPr kumimoji="1" lang="en-US" altLang="zh-CN" sz="2000" dirty="0"/>
              <a:t>OSI</a:t>
            </a:r>
            <a:r>
              <a:rPr kumimoji="1" lang="zh-CN" altLang="en-US" sz="2000" dirty="0"/>
              <a:t>被认为是政府和机构的强加标准</a:t>
            </a:r>
            <a:endParaRPr kumimoji="1" lang="zh-CN" altLang="en-US" sz="2000"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 name="内容占位符 2"/>
          <p:cNvSpPr>
            <a:spLocks noGrp="1"/>
          </p:cNvSpPr>
          <p:nvPr/>
        </p:nvSpPr>
        <p:spPr>
          <a:xfrm>
            <a:off x="2184399" y="2037461"/>
            <a:ext cx="2577042"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OSI</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模型的不足</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 name="内容占位符 2"/>
          <p:cNvSpPr>
            <a:spLocks noGrp="1"/>
          </p:cNvSpPr>
          <p:nvPr/>
        </p:nvSpPr>
        <p:spPr>
          <a:xfrm>
            <a:off x="6404402" y="2505329"/>
            <a:ext cx="5473698" cy="3858895"/>
          </a:xfrm>
          <a:prstGeom prst="rect">
            <a:avLst/>
          </a:prstGeom>
          <a:ln w="6350" cmpd="sng">
            <a:solidFill>
              <a:srgbClr val="C00000"/>
            </a:solidFill>
            <a:prstDash val="solid"/>
          </a:ln>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核心概念未能体现</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未明确区分服务、接口和协议等核心概念</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28600" marR="0" lvl="0"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不具备通用性</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不适于描述</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TCP/IP</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之外的其它协议栈</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28600" marR="0" lvl="0"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混用接口与分层的设计</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链路层和物理层一起被定义为网络接口层，而非真正意思上的分层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28600" marR="0" lvl="0"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模型欠缺完整性</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未包含物理层与数据链路层</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物理层与数据链路层是至关重要的部分</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内容占位符 2"/>
          <p:cNvSpPr>
            <a:spLocks noGrp="1"/>
          </p:cNvSpPr>
          <p:nvPr/>
        </p:nvSpPr>
        <p:spPr>
          <a:xfrm>
            <a:off x="7760970" y="2037461"/>
            <a:ext cx="30626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TCP/IP</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模型的不足</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1" name="矩形 10"/>
          <p:cNvSpPr/>
          <p:nvPr/>
        </p:nvSpPr>
        <p:spPr>
          <a:xfrm>
            <a:off x="2816520" y="1371600"/>
            <a:ext cx="6475752" cy="461665"/>
          </a:xfrm>
          <a:prstGeom prst="rect">
            <a:avLst/>
          </a:prstGeom>
          <a:ln>
            <a:solidFill>
              <a:srgbClr val="C00000"/>
            </a:solidFill>
          </a:ln>
        </p:spPr>
        <p:txBody>
          <a:bodyPr wrap="square">
            <a:spAutoFit/>
          </a:bodyPr>
          <a:lstStyle/>
          <a:p>
            <a:r>
              <a:rPr lang="en-US" altLang="zh-CN" sz="2400" dirty="0">
                <a:latin typeface="微软雅黑" panose="020B0503020204020204" pitchFamily="34" charset="-122"/>
                <a:ea typeface="微软雅黑" panose="020B0503020204020204" pitchFamily="34" charset="-122"/>
              </a:rPr>
              <a:t>OSI</a:t>
            </a:r>
            <a:r>
              <a:rPr lang="zh-CN" altLang="en-US" sz="2400" dirty="0">
                <a:latin typeface="微软雅黑" panose="020B0503020204020204" pitchFamily="34" charset="-122"/>
                <a:ea typeface="微软雅黑" panose="020B0503020204020204" pitchFamily="34" charset="-122"/>
              </a:rPr>
              <a:t>的失败：糟糕的时机、技术、实现、政策</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本教程内容的分层组织</a:t>
            </a:r>
            <a:endParaRPr kumimoji="1" lang="zh-CN" altLang="en-US" dirty="0"/>
          </a:p>
        </p:txBody>
      </p:sp>
      <p:sp>
        <p:nvSpPr>
          <p:cNvPr id="17" name="内容占位符 16"/>
          <p:cNvSpPr>
            <a:spLocks noGrp="1"/>
          </p:cNvSpPr>
          <p:nvPr>
            <p:ph idx="1"/>
          </p:nvPr>
        </p:nvSpPr>
        <p:spPr>
          <a:xfrm>
            <a:off x="8506979" y="2091847"/>
            <a:ext cx="3506470" cy="3204531"/>
          </a:xfrm>
        </p:spPr>
        <p:txBody>
          <a:bodyPr>
            <a:normAutofit/>
          </a:bodyPr>
          <a:lstStyle/>
          <a:p>
            <a:pPr>
              <a:lnSpc>
                <a:spcPct val="150000"/>
              </a:lnSpc>
            </a:pPr>
            <a:r>
              <a:rPr kumimoji="1" lang="zh-CN" altLang="en-US" sz="2400" dirty="0"/>
              <a:t>突出核心概念</a:t>
            </a:r>
            <a:endParaRPr kumimoji="1" lang="zh-CN" altLang="en-US" sz="2400" dirty="0"/>
          </a:p>
          <a:p>
            <a:pPr>
              <a:lnSpc>
                <a:spcPct val="150000"/>
              </a:lnSpc>
            </a:pPr>
            <a:r>
              <a:rPr kumimoji="1" lang="zh-CN" altLang="en-US" sz="2400" dirty="0"/>
              <a:t>区分接口与分层</a:t>
            </a:r>
            <a:endParaRPr kumimoji="1" lang="zh-CN" altLang="en-US" sz="2400" dirty="0"/>
          </a:p>
          <a:p>
            <a:pPr>
              <a:lnSpc>
                <a:spcPct val="150000"/>
              </a:lnSpc>
            </a:pPr>
            <a:r>
              <a:rPr kumimoji="1" lang="zh-CN" altLang="en-US" sz="2400" dirty="0"/>
              <a:t>体现完整性</a:t>
            </a:r>
            <a:endParaRPr kumimoji="1" lang="zh-CN" altLang="en-US" sz="2400" dirty="0"/>
          </a:p>
          <a:p>
            <a:pPr>
              <a:lnSpc>
                <a:spcPct val="150000"/>
              </a:lnSpc>
            </a:pPr>
            <a:r>
              <a:rPr kumimoji="1" lang="zh-CN" altLang="en-US" sz="2400" dirty="0"/>
              <a:t>体现通用性</a:t>
            </a:r>
            <a:endParaRPr kumimoji="1" lang="zh-CN" altLang="en-US" sz="2400" dirty="0"/>
          </a:p>
          <a:p>
            <a:pPr>
              <a:lnSpc>
                <a:spcPct val="150000"/>
              </a:lnSpc>
            </a:pPr>
            <a:r>
              <a:rPr kumimoji="1" lang="zh-CN" altLang="en-US" sz="2400" dirty="0">
                <a:sym typeface="+mn-ea"/>
              </a:rPr>
              <a:t>简化分层，易于教学</a:t>
            </a:r>
            <a:endParaRPr kumimoji="1" lang="zh-CN" altLang="en-US" sz="2400" dirty="0">
              <a:sym typeface="+mn-ea"/>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5" name="表格 4"/>
          <p:cNvGraphicFramePr/>
          <p:nvPr/>
        </p:nvGraphicFramePr>
        <p:xfrm>
          <a:off x="841375" y="1726565"/>
          <a:ext cx="1804035" cy="3702685"/>
        </p:xfrm>
        <a:graphic>
          <a:graphicData uri="http://schemas.openxmlformats.org/drawingml/2006/table">
            <a:tbl>
              <a:tblPr firstRow="1" bandRow="1">
                <a:tableStyleId>{5940675A-B579-460E-94D1-54222C63F5DA}</a:tableStyleId>
              </a:tblPr>
              <a:tblGrid>
                <a:gridCol w="1804035"/>
              </a:tblGrid>
              <a:tr h="551180">
                <a:tc>
                  <a:txBody>
                    <a:bodyPr/>
                    <a:lstStyle/>
                    <a:p>
                      <a:pPr algn="ctr">
                        <a:buNone/>
                      </a:pPr>
                      <a:r>
                        <a:rPr lang="zh-CN" altLang="en-US" sz="2000" b="0" dirty="0">
                          <a:latin typeface="微软雅黑" panose="020B0503020204020204" pitchFamily="34" charset="-122"/>
                          <a:ea typeface="微软雅黑" panose="020B0503020204020204" pitchFamily="34" charset="-122"/>
                        </a:rPr>
                        <a:t>应用层</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551815">
                <a:tc>
                  <a:txBody>
                    <a:bodyPr/>
                    <a:lstStyle/>
                    <a:p>
                      <a:pPr algn="ctr">
                        <a:buNone/>
                      </a:pPr>
                      <a:r>
                        <a:rPr lang="zh-CN" altLang="en-US" sz="2000" b="0" dirty="0">
                          <a:latin typeface="微软雅黑" panose="020B0503020204020204" pitchFamily="34" charset="-122"/>
                          <a:ea typeface="微软雅黑" panose="020B0503020204020204" pitchFamily="34" charset="-122"/>
                        </a:rPr>
                        <a:t>表示层</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511810">
                <a:tc>
                  <a:txBody>
                    <a:bodyPr/>
                    <a:lstStyle/>
                    <a:p>
                      <a:pPr algn="ctr">
                        <a:buNone/>
                      </a:pPr>
                      <a:r>
                        <a:rPr lang="zh-CN" altLang="en-US" sz="2000" b="0" dirty="0">
                          <a:latin typeface="微软雅黑" panose="020B0503020204020204" pitchFamily="34" charset="-122"/>
                          <a:ea typeface="微软雅黑" panose="020B0503020204020204" pitchFamily="34" charset="-122"/>
                        </a:rPr>
                        <a:t>会话层</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512445">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511810">
                <a:tc>
                  <a:txBody>
                    <a:bodyPr/>
                    <a:lstStyle/>
                    <a:p>
                      <a:pPr algn="ctr">
                        <a:buNone/>
                      </a:pPr>
                      <a:r>
                        <a:rPr lang="zh-CN" altLang="en-US" sz="2000" b="0">
                          <a:latin typeface="微软雅黑" panose="020B0503020204020204" pitchFamily="34" charset="-122"/>
                          <a:ea typeface="微软雅黑" panose="020B0503020204020204" pitchFamily="34" charset="-122"/>
                        </a:rPr>
                        <a:t>网络层</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512445">
                <a:tc>
                  <a:txBody>
                    <a:bodyPr/>
                    <a:lstStyle/>
                    <a:p>
                      <a:pPr algn="ctr">
                        <a:buNone/>
                      </a:pPr>
                      <a:r>
                        <a:rPr lang="zh-CN" altLang="en-US" sz="2000" b="0" dirty="0">
                          <a:latin typeface="微软雅黑" panose="020B0503020204020204" pitchFamily="34" charset="-122"/>
                          <a:ea typeface="微软雅黑" panose="020B0503020204020204" pitchFamily="34" charset="-122"/>
                        </a:rPr>
                        <a:t>数据链路层</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551180">
                <a:tc>
                  <a:txBody>
                    <a:bodyPr/>
                    <a:lstStyle/>
                    <a:p>
                      <a:pPr algn="ctr">
                        <a:buNone/>
                      </a:pPr>
                      <a:r>
                        <a:rPr lang="zh-CN" altLang="en-US" sz="2000" b="0" dirty="0">
                          <a:latin typeface="微软雅黑" panose="020B0503020204020204" pitchFamily="34" charset="-122"/>
                          <a:ea typeface="微软雅黑" panose="020B0503020204020204" pitchFamily="34" charset="-122"/>
                        </a:rPr>
                        <a:t>物理层</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bl>
          </a:graphicData>
        </a:graphic>
      </p:graphicFrame>
      <p:graphicFrame>
        <p:nvGraphicFramePr>
          <p:cNvPr id="8" name="表格 7"/>
          <p:cNvGraphicFramePr/>
          <p:nvPr/>
        </p:nvGraphicFramePr>
        <p:xfrm>
          <a:off x="3051175" y="1713865"/>
          <a:ext cx="1727200" cy="3702685"/>
        </p:xfrm>
        <a:graphic>
          <a:graphicData uri="http://schemas.openxmlformats.org/drawingml/2006/table">
            <a:tbl>
              <a:tblPr firstRow="1" bandRow="1">
                <a:tableStyleId>{5940675A-B579-460E-94D1-54222C63F5DA}</a:tableStyleId>
              </a:tblPr>
              <a:tblGrid>
                <a:gridCol w="1727200"/>
              </a:tblGrid>
              <a:tr h="1614805">
                <a:tc>
                  <a:txBody>
                    <a:bodyPr/>
                    <a:lstStyle/>
                    <a:p>
                      <a:pPr algn="ctr">
                        <a:buNone/>
                      </a:pPr>
                      <a:r>
                        <a:rPr lang="zh-CN" altLang="en-US" sz="2000" b="0" dirty="0">
                          <a:latin typeface="微软雅黑" panose="020B0503020204020204" pitchFamily="34" charset="-122"/>
                          <a:ea typeface="微软雅黑" panose="020B0503020204020204" pitchFamily="34" charset="-122"/>
                        </a:rPr>
                        <a:t>应用层</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512445">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511810">
                <a:tc>
                  <a:txBody>
                    <a:bodyPr/>
                    <a:lstStyle/>
                    <a:p>
                      <a:pPr algn="ctr">
                        <a:buNone/>
                      </a:pPr>
                      <a:r>
                        <a:rPr lang="zh-CN" altLang="en-US" sz="2000" b="0">
                          <a:latin typeface="微软雅黑" panose="020B0503020204020204" pitchFamily="34" charset="-122"/>
                          <a:ea typeface="微软雅黑" panose="020B0503020204020204" pitchFamily="34" charset="-122"/>
                          <a:sym typeface="+mn-ea"/>
                        </a:rPr>
                        <a:t>互联网层</a:t>
                      </a:r>
                      <a:endParaRPr lang="en-US" altLang="zh-CN" sz="2000" b="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r h="1063625">
                <a:tc>
                  <a:txBody>
                    <a:bodyPr/>
                    <a:lstStyle/>
                    <a:p>
                      <a:pPr algn="ctr">
                        <a:buNone/>
                      </a:pPr>
                      <a:r>
                        <a:rPr lang="zh-CN" altLang="en-US" sz="2000" b="0" dirty="0">
                          <a:latin typeface="微软雅黑" panose="020B0503020204020204" pitchFamily="34" charset="-122"/>
                          <a:ea typeface="微软雅黑" panose="020B0503020204020204" pitchFamily="34" charset="-122"/>
                        </a:rPr>
                        <a:t>网络接口层</a:t>
                      </a:r>
                      <a:endParaRPr lang="en-US" altLang="zh-CN" sz="2000" b="0" dirty="0">
                        <a:latin typeface="微软雅黑" panose="020B0503020204020204" pitchFamily="34" charset="-122"/>
                        <a:ea typeface="微软雅黑" panose="020B0503020204020204" pitchFamily="34" charset="-122"/>
                      </a:endParaRPr>
                    </a:p>
                  </a:txBody>
                  <a:tcPr anchor="ctr">
                    <a:solidFill>
                      <a:schemeClr val="bg2">
                        <a:lumMod val="90000"/>
                      </a:schemeClr>
                    </a:solidFill>
                  </a:tcPr>
                </a:tc>
              </a:tr>
            </a:tbl>
          </a:graphicData>
        </a:graphic>
      </p:graphicFrame>
      <p:sp>
        <p:nvSpPr>
          <p:cNvPr id="10" name="内容占位符 2"/>
          <p:cNvSpPr>
            <a:spLocks noGrp="1"/>
          </p:cNvSpPr>
          <p:nvPr/>
        </p:nvSpPr>
        <p:spPr>
          <a:xfrm>
            <a:off x="864870" y="5543550"/>
            <a:ext cx="21609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OSI 7</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层模型</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内容占位符 2"/>
          <p:cNvSpPr>
            <a:spLocks noGrp="1"/>
          </p:cNvSpPr>
          <p:nvPr/>
        </p:nvSpPr>
        <p:spPr>
          <a:xfrm>
            <a:off x="2947670" y="5530850"/>
            <a:ext cx="21609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TCP/IP 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层模型</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3" name="表格 12"/>
          <p:cNvGraphicFramePr/>
          <p:nvPr/>
        </p:nvGraphicFramePr>
        <p:xfrm>
          <a:off x="6121400" y="1726565"/>
          <a:ext cx="2197100" cy="3702685"/>
        </p:xfrm>
        <a:graphic>
          <a:graphicData uri="http://schemas.openxmlformats.org/drawingml/2006/table">
            <a:tbl>
              <a:tblPr firstRow="1" bandRow="1">
                <a:tableStyleId>{5940675A-B579-460E-94D1-54222C63F5DA}</a:tableStyleId>
              </a:tblPr>
              <a:tblGrid>
                <a:gridCol w="2197100"/>
              </a:tblGrid>
              <a:tr h="1614805">
                <a:tc>
                  <a:txBody>
                    <a:bodyPr/>
                    <a:lstStyle/>
                    <a:p>
                      <a:pPr algn="ctr">
                        <a:buNone/>
                      </a:pPr>
                      <a:r>
                        <a:rPr lang="zh-CN" altLang="en-US" sz="2000" b="0" dirty="0">
                          <a:latin typeface="微软雅黑" panose="020B0503020204020204" pitchFamily="34" charset="-122"/>
                          <a:ea typeface="微软雅黑" panose="020B0503020204020204" pitchFamily="34" charset="-122"/>
                        </a:rPr>
                        <a:t>应用层</a:t>
                      </a:r>
                      <a:endParaRPr lang="en-US" altLang="zh-CN" sz="2000" b="0" dirty="0">
                        <a:latin typeface="微软雅黑" panose="020B0503020204020204" pitchFamily="34" charset="-122"/>
                        <a:ea typeface="微软雅黑" panose="020B0503020204020204" pitchFamily="34" charset="-122"/>
                      </a:endParaRPr>
                    </a:p>
                  </a:txBody>
                  <a:tcPr anchor="ctr">
                    <a:noFill/>
                  </a:tcPr>
                </a:tc>
              </a:tr>
              <a:tr h="512445">
                <a:tc>
                  <a:txBody>
                    <a:bodyPr/>
                    <a:lstStyle/>
                    <a:p>
                      <a:pPr algn="ctr">
                        <a:buNone/>
                      </a:pPr>
                      <a:r>
                        <a:rPr lang="zh-CN" altLang="en-US" sz="2000" b="0">
                          <a:latin typeface="微软雅黑" panose="020B0503020204020204" pitchFamily="34" charset="-122"/>
                          <a:ea typeface="微软雅黑" panose="020B0503020204020204" pitchFamily="34" charset="-122"/>
                        </a:rPr>
                        <a:t>传输层</a:t>
                      </a:r>
                      <a:endParaRPr lang="en-US" altLang="zh-CN" sz="2000" b="0">
                        <a:latin typeface="微软雅黑" panose="020B0503020204020204" pitchFamily="34" charset="-122"/>
                        <a:ea typeface="微软雅黑" panose="020B0503020204020204" pitchFamily="34" charset="-122"/>
                      </a:endParaRPr>
                    </a:p>
                  </a:txBody>
                  <a:tcPr anchor="ctr">
                    <a:noFill/>
                  </a:tcPr>
                </a:tc>
              </a:tr>
              <a:tr h="511810">
                <a:tc>
                  <a:txBody>
                    <a:bodyPr/>
                    <a:lstStyle/>
                    <a:p>
                      <a:pPr algn="ctr">
                        <a:buNone/>
                      </a:pPr>
                      <a:r>
                        <a:rPr lang="zh-CN" altLang="en-US" sz="2000" b="0">
                          <a:latin typeface="微软雅黑" panose="020B0503020204020204" pitchFamily="34" charset="-122"/>
                          <a:ea typeface="微软雅黑" panose="020B0503020204020204" pitchFamily="34" charset="-122"/>
                        </a:rPr>
                        <a:t>网络层</a:t>
                      </a:r>
                      <a:endParaRPr lang="en-US" altLang="zh-CN" sz="2000" b="0">
                        <a:latin typeface="微软雅黑" panose="020B0503020204020204" pitchFamily="34" charset="-122"/>
                        <a:ea typeface="微软雅黑" panose="020B0503020204020204" pitchFamily="34" charset="-122"/>
                      </a:endParaRPr>
                    </a:p>
                  </a:txBody>
                  <a:tcPr anchor="ctr">
                    <a:noFill/>
                  </a:tcPr>
                </a:tc>
              </a:tr>
              <a:tr h="512445">
                <a:tc>
                  <a:txBody>
                    <a:bodyPr/>
                    <a:lstStyle/>
                    <a:p>
                      <a:pPr algn="ctr">
                        <a:buNone/>
                      </a:pPr>
                      <a:r>
                        <a:rPr lang="zh-CN" altLang="en-US" sz="2000" b="0">
                          <a:latin typeface="微软雅黑" panose="020B0503020204020204" pitchFamily="34" charset="-122"/>
                          <a:ea typeface="微软雅黑" panose="020B0503020204020204" pitchFamily="34" charset="-122"/>
                        </a:rPr>
                        <a:t>数据链路层</a:t>
                      </a:r>
                      <a:endParaRPr lang="en-US" altLang="zh-CN" sz="2000" b="0">
                        <a:latin typeface="微软雅黑" panose="020B0503020204020204" pitchFamily="34" charset="-122"/>
                        <a:ea typeface="微软雅黑" panose="020B0503020204020204" pitchFamily="34" charset="-122"/>
                      </a:endParaRPr>
                    </a:p>
                  </a:txBody>
                  <a:tcPr anchor="ctr">
                    <a:noFill/>
                  </a:tcPr>
                </a:tc>
              </a:tr>
              <a:tr h="551180">
                <a:tc>
                  <a:txBody>
                    <a:bodyPr/>
                    <a:lstStyle/>
                    <a:p>
                      <a:pPr algn="ctr">
                        <a:buNone/>
                      </a:pPr>
                      <a:r>
                        <a:rPr lang="zh-CN" altLang="en-US" sz="2000" b="0" dirty="0">
                          <a:latin typeface="微软雅黑" panose="020B0503020204020204" pitchFamily="34" charset="-122"/>
                          <a:ea typeface="微软雅黑" panose="020B0503020204020204" pitchFamily="34" charset="-122"/>
                        </a:rPr>
                        <a:t>物理层</a:t>
                      </a:r>
                      <a:endParaRPr lang="en-US" altLang="zh-CN" sz="2000" b="0" dirty="0">
                        <a:latin typeface="微软雅黑" panose="020B0503020204020204" pitchFamily="34" charset="-122"/>
                        <a:ea typeface="微软雅黑" panose="020B0503020204020204" pitchFamily="34" charset="-122"/>
                      </a:endParaRPr>
                    </a:p>
                  </a:txBody>
                  <a:tcPr anchor="ctr">
                    <a:noFill/>
                  </a:tcPr>
                </a:tc>
              </a:tr>
            </a:tbl>
          </a:graphicData>
        </a:graphic>
      </p:graphicFrame>
      <p:sp>
        <p:nvSpPr>
          <p:cNvPr id="14" name="内容占位符 2"/>
          <p:cNvSpPr>
            <a:spLocks noGrp="1"/>
          </p:cNvSpPr>
          <p:nvPr/>
        </p:nvSpPr>
        <p:spPr>
          <a:xfrm>
            <a:off x="6094095" y="5543550"/>
            <a:ext cx="23634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本教程的分层组织</a:t>
            </a:r>
            <a:endPar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燕尾形箭头 14"/>
          <p:cNvSpPr/>
          <p:nvPr/>
        </p:nvSpPr>
        <p:spPr>
          <a:xfrm>
            <a:off x="5007610" y="3201670"/>
            <a:ext cx="871220" cy="1004570"/>
          </a:xfrm>
          <a:prstGeom prst="notchedRight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分层模型与网络实例</a:t>
            </a:r>
            <a:endParaRPr kumimoji="1" lang="zh-CN" altLang="en-US" dirty="0"/>
          </a:p>
        </p:txBody>
      </p:sp>
      <p:sp>
        <p:nvSpPr>
          <p:cNvPr id="65" name="内容占位符 64"/>
          <p:cNvSpPr>
            <a:spLocks noGrp="1"/>
          </p:cNvSpPr>
          <p:nvPr>
            <p:ph idx="1"/>
          </p:nvPr>
        </p:nvSpPr>
        <p:spPr>
          <a:xfrm>
            <a:off x="1239837" y="5412105"/>
            <a:ext cx="9596755" cy="749935"/>
          </a:xfrm>
        </p:spPr>
        <p:txBody>
          <a:bodyPr>
            <a:noAutofit/>
          </a:bodyPr>
          <a:lstStyle/>
          <a:p>
            <a:pPr marL="311150" indent="-311150">
              <a:spcBef>
                <a:spcPts val="400"/>
              </a:spcBef>
            </a:pPr>
            <a:r>
              <a:rPr kumimoji="1" lang="zh-CN" altLang="en-US" sz="2200" dirty="0"/>
              <a:t>端到端通信实例：主机</a:t>
            </a:r>
            <a:r>
              <a:rPr kumimoji="1" lang="en-US" altLang="zh-CN" sz="2200" dirty="0"/>
              <a:t>A</a:t>
            </a:r>
            <a:r>
              <a:rPr kumimoji="1" lang="zh-CN" altLang="en-US" sz="2200" dirty="0"/>
              <a:t>上的</a:t>
            </a:r>
            <a:r>
              <a:rPr kumimoji="1" lang="en-US" altLang="zh-CN" sz="2200" dirty="0"/>
              <a:t>QQ</a:t>
            </a:r>
            <a:r>
              <a:rPr kumimoji="1" lang="zh-CN" altLang="en-US" sz="2200" dirty="0"/>
              <a:t>，发送消息；主机</a:t>
            </a:r>
            <a:r>
              <a:rPr kumimoji="1" lang="en-US" altLang="zh-CN" sz="2200" dirty="0"/>
              <a:t>B</a:t>
            </a:r>
            <a:r>
              <a:rPr kumimoji="1" lang="zh-CN" altLang="en-US" sz="2200" dirty="0"/>
              <a:t>上的</a:t>
            </a:r>
            <a:r>
              <a:rPr kumimoji="1" lang="en-US" altLang="zh-CN" sz="2200" dirty="0"/>
              <a:t>QQ</a:t>
            </a:r>
            <a:r>
              <a:rPr kumimoji="1" lang="zh-CN" altLang="en-US" sz="2200" dirty="0"/>
              <a:t>，接收消息</a:t>
            </a:r>
            <a:endParaRPr kumimoji="1" lang="zh-CN" altLang="en-US" sz="2200" dirty="0"/>
          </a:p>
          <a:p>
            <a:pPr marL="311150" indent="-311150">
              <a:spcBef>
                <a:spcPts val="400"/>
              </a:spcBef>
            </a:pPr>
            <a:r>
              <a:rPr kumimoji="1" lang="zh-CN" altLang="en-US" sz="2200" dirty="0"/>
              <a:t>发送端层层封装，接收端层层解封装</a:t>
            </a:r>
            <a:endParaRPr kumimoji="1" lang="zh-CN" altLang="en-US" sz="2200" dirty="0"/>
          </a:p>
          <a:p>
            <a:pPr marL="311150" indent="-311150">
              <a:spcBef>
                <a:spcPts val="400"/>
              </a:spcBef>
            </a:pPr>
            <a:r>
              <a:rPr kumimoji="1" lang="zh-CN" altLang="en-US" sz="2200" dirty="0"/>
              <a:t>不同层对应协议数据单元（</a:t>
            </a:r>
            <a:r>
              <a:rPr kumimoji="1" lang="en-US" altLang="zh-CN" sz="2200" dirty="0"/>
              <a:t>PDU Protocol Data Unit</a:t>
            </a:r>
            <a:r>
              <a:rPr kumimoji="1" lang="zh-CN" altLang="en-US" sz="2200" dirty="0"/>
              <a:t>）</a:t>
            </a:r>
            <a:endParaRPr kumimoji="1" lang="zh-CN" altLang="en-US" sz="2200"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aphicFrame>
        <p:nvGraphicFramePr>
          <p:cNvPr id="6" name="表格 5"/>
          <p:cNvGraphicFramePr/>
          <p:nvPr/>
        </p:nvGraphicFramePr>
        <p:xfrm>
          <a:off x="3022600" y="2115820"/>
          <a:ext cx="1154430" cy="2857500"/>
        </p:xfrm>
        <a:graphic>
          <a:graphicData uri="http://schemas.openxmlformats.org/drawingml/2006/table">
            <a:tbl>
              <a:tblPr firstRow="1" bandRow="1">
                <a:tableStyleId>{5940675A-B579-460E-94D1-54222C63F5DA}</a:tableStyleId>
              </a:tblPr>
              <a:tblGrid>
                <a:gridCol w="1154430"/>
              </a:tblGrid>
              <a:tr h="571500">
                <a:tc>
                  <a:txBody>
                    <a:bodyPr/>
                    <a:lstStyle/>
                    <a:p>
                      <a:pPr algn="ctr">
                        <a:buNone/>
                      </a:pPr>
                      <a:r>
                        <a:rPr lang="zh-CN" altLang="en-US" sz="1800" b="1" dirty="0"/>
                        <a:t>应用层</a:t>
                      </a:r>
                      <a:endParaRPr lang="zh-CN" altLang="en-US" sz="1800" b="1" dirty="0"/>
                    </a:p>
                  </a:txBody>
                  <a:tcPr anchor="ctr">
                    <a:noFill/>
                  </a:tcPr>
                </a:tc>
              </a:tr>
              <a:tr h="571500">
                <a:tc>
                  <a:txBody>
                    <a:bodyPr/>
                    <a:lstStyle/>
                    <a:p>
                      <a:pPr algn="ctr">
                        <a:buNone/>
                      </a:pPr>
                      <a:r>
                        <a:rPr lang="zh-CN" altLang="en-US" sz="1800" b="1" dirty="0"/>
                        <a:t>传输层</a:t>
                      </a:r>
                      <a:endParaRPr lang="zh-CN" altLang="en-US" sz="1800" b="1" dirty="0"/>
                    </a:p>
                  </a:txBody>
                  <a:tcPr anchor="ctr">
                    <a:noFill/>
                  </a:tcPr>
                </a:tc>
              </a:tr>
              <a:tr h="571500">
                <a:tc>
                  <a:txBody>
                    <a:bodyPr/>
                    <a:lstStyle/>
                    <a:p>
                      <a:pPr algn="ctr">
                        <a:buNone/>
                      </a:pPr>
                      <a:r>
                        <a:rPr lang="zh-CN" altLang="en-US" sz="1800" b="1" dirty="0"/>
                        <a:t>网络层</a:t>
                      </a:r>
                      <a:endParaRPr lang="zh-CN" altLang="en-US" sz="1800" b="1" dirty="0"/>
                    </a:p>
                  </a:txBody>
                  <a:tcPr anchor="ctr">
                    <a:noFill/>
                  </a:tcPr>
                </a:tc>
              </a:tr>
              <a:tr h="571500">
                <a:tc>
                  <a:txBody>
                    <a:bodyPr/>
                    <a:lstStyle/>
                    <a:p>
                      <a:pPr algn="ctr">
                        <a:buNone/>
                      </a:pPr>
                      <a:r>
                        <a:rPr lang="zh-CN" altLang="en-US" sz="1800" b="1" dirty="0"/>
                        <a:t>链路层</a:t>
                      </a:r>
                      <a:endParaRPr lang="zh-CN" altLang="en-US" sz="1800" b="1" dirty="0"/>
                    </a:p>
                  </a:txBody>
                  <a:tcPr anchor="ctr">
                    <a:noFill/>
                  </a:tcPr>
                </a:tc>
              </a:tr>
              <a:tr h="571500">
                <a:tc>
                  <a:txBody>
                    <a:bodyPr/>
                    <a:lstStyle/>
                    <a:p>
                      <a:pPr algn="ctr">
                        <a:buNone/>
                      </a:pPr>
                      <a:r>
                        <a:rPr lang="zh-CN" altLang="en-US" sz="1800" b="1" dirty="0"/>
                        <a:t>物理层</a:t>
                      </a:r>
                      <a:endParaRPr lang="zh-CN" altLang="en-US" sz="1800" b="1" dirty="0"/>
                    </a:p>
                  </a:txBody>
                  <a:tcPr anchor="ctr">
                    <a:noFill/>
                  </a:tcPr>
                </a:tc>
              </a:tr>
            </a:tbl>
          </a:graphicData>
        </a:graphic>
      </p:graphicFrame>
      <p:sp>
        <p:nvSpPr>
          <p:cNvPr id="7" name="内容占位符 2"/>
          <p:cNvSpPr>
            <a:spLocks noGrp="1"/>
          </p:cNvSpPr>
          <p:nvPr/>
        </p:nvSpPr>
        <p:spPr>
          <a:xfrm>
            <a:off x="2487295" y="1619250"/>
            <a:ext cx="15506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发送：</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hello</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9" name="图片 8"/>
          <p:cNvPicPr>
            <a:picLocks noChangeAspect="1"/>
          </p:cNvPicPr>
          <p:nvPr/>
        </p:nvPicPr>
        <p:blipFill>
          <a:blip r:embed="rId1" cstate="print"/>
          <a:stretch>
            <a:fillRect/>
          </a:stretch>
        </p:blipFill>
        <p:spPr>
          <a:xfrm>
            <a:off x="2116455" y="1504950"/>
            <a:ext cx="396240" cy="536575"/>
          </a:xfrm>
          <a:prstGeom prst="rect">
            <a:avLst/>
          </a:prstGeom>
        </p:spPr>
      </p:pic>
      <p:graphicFrame>
        <p:nvGraphicFramePr>
          <p:cNvPr id="16" name="表格 15"/>
          <p:cNvGraphicFramePr/>
          <p:nvPr/>
        </p:nvGraphicFramePr>
        <p:xfrm>
          <a:off x="2055495" y="2260600"/>
          <a:ext cx="876935" cy="330200"/>
        </p:xfrm>
        <a:graphic>
          <a:graphicData uri="http://schemas.openxmlformats.org/drawingml/2006/table">
            <a:tbl>
              <a:tblPr firstRow="1" bandRow="1">
                <a:tableStyleId>{5C22544A-7EE6-4342-B048-85BDC9FD1C3A}</a:tableStyleId>
              </a:tblPr>
              <a:tblGrid>
                <a:gridCol w="876935"/>
              </a:tblGrid>
              <a:tr h="330200">
                <a:tc>
                  <a:txBody>
                    <a:bodyPr/>
                    <a:lstStyle/>
                    <a:p>
                      <a:pPr>
                        <a:buNone/>
                      </a:pPr>
                      <a:r>
                        <a:rPr lang="en-US" altLang="zh-CN" sz="2000" dirty="0">
                          <a:solidFill>
                            <a:schemeClr val="tx1"/>
                          </a:solidFill>
                        </a:rPr>
                        <a:t> </a:t>
                      </a:r>
                      <a:r>
                        <a:rPr lang="en-US" altLang="zh-CN" sz="2000" dirty="0">
                          <a:solidFill>
                            <a:srgbClr val="C00000"/>
                          </a:solidFill>
                        </a:rPr>
                        <a:t>hello</a:t>
                      </a:r>
                      <a:endParaRPr lang="en-US" altLang="zh-CN" sz="2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18" name="表格 17"/>
          <p:cNvGraphicFramePr/>
          <p:nvPr/>
        </p:nvGraphicFramePr>
        <p:xfrm>
          <a:off x="1673860" y="2781300"/>
          <a:ext cx="1271270" cy="330200"/>
        </p:xfrm>
        <a:graphic>
          <a:graphicData uri="http://schemas.openxmlformats.org/drawingml/2006/table">
            <a:tbl>
              <a:tblPr firstRow="1" bandRow="1">
                <a:tableStyleId>{5C22544A-7EE6-4342-B048-85BDC9FD1C3A}</a:tableStyleId>
              </a:tblPr>
              <a:tblGrid>
                <a:gridCol w="375285"/>
                <a:gridCol w="895985"/>
              </a:tblGrid>
              <a:tr h="330200">
                <a:tc>
                  <a:txBody>
                    <a:bodyPr/>
                    <a:lstStyle/>
                    <a:p>
                      <a:pPr>
                        <a:buNone/>
                      </a:pPr>
                      <a:r>
                        <a:rPr lang="en-US" altLang="zh-CN" sz="2000" dirty="0">
                          <a:solidFill>
                            <a:srgbClr val="C00000"/>
                          </a:solidFill>
                        </a:rPr>
                        <a:t> </a:t>
                      </a:r>
                      <a:r>
                        <a:rPr lang="en-US" altLang="zh-CN" sz="2000" dirty="0" err="1">
                          <a:solidFill>
                            <a:srgbClr val="C00000"/>
                          </a:solidFill>
                        </a:rPr>
                        <a:t>H</a:t>
                      </a:r>
                      <a:r>
                        <a:rPr lang="en-US" altLang="zh-CN" sz="2800" baseline="-25000" dirty="0" err="1">
                          <a:solidFill>
                            <a:srgbClr val="C00000"/>
                          </a:solidFill>
                        </a:rPr>
                        <a:t>t</a:t>
                      </a:r>
                      <a:endParaRPr lang="en-US" altLang="zh-CN" sz="2800" baseline="-25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19" name="表格 18"/>
          <p:cNvGraphicFramePr/>
          <p:nvPr/>
        </p:nvGraphicFramePr>
        <p:xfrm>
          <a:off x="1256030" y="3379470"/>
          <a:ext cx="1689100" cy="330200"/>
        </p:xfrm>
        <a:graphic>
          <a:graphicData uri="http://schemas.openxmlformats.org/drawingml/2006/table">
            <a:tbl>
              <a:tblPr firstRow="1" bandRow="1">
                <a:tableStyleId>{5C22544A-7EE6-4342-B048-85BDC9FD1C3A}</a:tableStyleId>
              </a:tblPr>
              <a:tblGrid>
                <a:gridCol w="397510"/>
                <a:gridCol w="447675"/>
                <a:gridCol w="843915"/>
              </a:tblGrid>
              <a:tr h="330200">
                <a:tc>
                  <a:txBody>
                    <a:bodyPr/>
                    <a:lstStyle/>
                    <a:p>
                      <a:pPr>
                        <a:buNone/>
                      </a:pPr>
                      <a:r>
                        <a:rPr lang="en-US" altLang="zh-CN" sz="2000" dirty="0">
                          <a:solidFill>
                            <a:srgbClr val="C00000"/>
                          </a:solidFill>
                          <a:sym typeface="+mn-ea"/>
                        </a:rPr>
                        <a:t> </a:t>
                      </a:r>
                      <a:r>
                        <a:rPr lang="en-US" altLang="zh-CN" sz="2000" dirty="0" err="1">
                          <a:solidFill>
                            <a:srgbClr val="C00000"/>
                          </a:solidFill>
                          <a:sym typeface="+mn-ea"/>
                        </a:rPr>
                        <a:t>H</a:t>
                      </a:r>
                      <a:r>
                        <a:rPr lang="en-US" altLang="zh-CN" sz="2000" baseline="-25000" dirty="0" err="1">
                          <a:solidFill>
                            <a:srgbClr val="C00000"/>
                          </a:solidFill>
                          <a:sym typeface="+mn-ea"/>
                        </a:rPr>
                        <a:t>n</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endParaRPr lang="en-US" altLang="zh-CN" sz="2000" baseline="-2500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20" name="表格 19"/>
          <p:cNvGraphicFramePr/>
          <p:nvPr/>
        </p:nvGraphicFramePr>
        <p:xfrm>
          <a:off x="862965" y="3963670"/>
          <a:ext cx="2094865" cy="330200"/>
        </p:xfrm>
        <a:graphic>
          <a:graphicData uri="http://schemas.openxmlformats.org/drawingml/2006/table">
            <a:tbl>
              <a:tblPr firstRow="1" bandRow="1">
                <a:tableStyleId>{5C22544A-7EE6-4342-B048-85BDC9FD1C3A}</a:tableStyleId>
              </a:tblPr>
              <a:tblGrid>
                <a:gridCol w="314960"/>
                <a:gridCol w="447675"/>
                <a:gridCol w="469900"/>
                <a:gridCol w="862330"/>
              </a:tblGrid>
              <a:tr h="330200">
                <a:tc>
                  <a:txBody>
                    <a:bodyPr/>
                    <a:lstStyle/>
                    <a:p>
                      <a:pPr>
                        <a:buNone/>
                      </a:pPr>
                      <a:r>
                        <a:rPr lang="en-US" altLang="zh-CN" sz="2000" dirty="0">
                          <a:solidFill>
                            <a:schemeClr val="tx1"/>
                          </a:solidFill>
                          <a:sym typeface="+mn-ea"/>
                        </a:rPr>
                        <a:t> </a:t>
                      </a:r>
                      <a:r>
                        <a:rPr lang="en-US" altLang="zh-CN" sz="2000" dirty="0">
                          <a:solidFill>
                            <a:srgbClr val="C00000"/>
                          </a:solidFill>
                          <a:sym typeface="+mn-ea"/>
                        </a:rPr>
                        <a:t>H</a:t>
                      </a:r>
                      <a:r>
                        <a:rPr lang="en-US" altLang="zh-CN" sz="2000" baseline="-25000" dirty="0">
                          <a:solidFill>
                            <a:srgbClr val="C00000"/>
                          </a:solidFill>
                          <a:sym typeface="+mn-ea"/>
                        </a:rPr>
                        <a:t>l</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sym typeface="+mn-ea"/>
                        </a:rPr>
                        <a:t> H</a:t>
                      </a:r>
                      <a:r>
                        <a:rPr lang="en-US" altLang="zh-CN" sz="2000" baseline="-25000">
                          <a:solidFill>
                            <a:schemeClr val="tx1"/>
                          </a:solidFill>
                          <a:sym typeface="+mn-ea"/>
                        </a:rPr>
                        <a:t>n</a:t>
                      </a:r>
                      <a:endParaRPr lang="en-US" altLang="zh-CN" sz="2000" baseline="-25000">
                        <a:solidFill>
                          <a:schemeClr val="tx1"/>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endParaRPr lang="en-US" altLang="zh-CN" sz="2000" baseline="-2500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21" name="表格 20"/>
          <p:cNvGraphicFramePr/>
          <p:nvPr/>
        </p:nvGraphicFramePr>
        <p:xfrm>
          <a:off x="8753475" y="2115820"/>
          <a:ext cx="1170940" cy="2857500"/>
        </p:xfrm>
        <a:graphic>
          <a:graphicData uri="http://schemas.openxmlformats.org/drawingml/2006/table">
            <a:tbl>
              <a:tblPr firstRow="1" bandRow="1">
                <a:tableStyleId>{5940675A-B579-460E-94D1-54222C63F5DA}</a:tableStyleId>
              </a:tblPr>
              <a:tblGrid>
                <a:gridCol w="1170940"/>
              </a:tblGrid>
              <a:tr h="571500">
                <a:tc>
                  <a:txBody>
                    <a:bodyPr/>
                    <a:lstStyle/>
                    <a:p>
                      <a:pPr algn="ctr">
                        <a:buNone/>
                      </a:pPr>
                      <a:r>
                        <a:rPr lang="zh-CN" altLang="en-US" sz="1800" b="1"/>
                        <a:t>应用层</a:t>
                      </a:r>
                      <a:endParaRPr lang="zh-CN" altLang="en-US" sz="1800" b="1"/>
                    </a:p>
                  </a:txBody>
                  <a:tcPr anchor="ctr">
                    <a:noFill/>
                  </a:tcPr>
                </a:tc>
              </a:tr>
              <a:tr h="571500">
                <a:tc>
                  <a:txBody>
                    <a:bodyPr/>
                    <a:lstStyle/>
                    <a:p>
                      <a:pPr algn="ctr">
                        <a:buNone/>
                      </a:pPr>
                      <a:r>
                        <a:rPr lang="zh-CN" altLang="en-US" sz="1800" b="1" dirty="0"/>
                        <a:t>传输层</a:t>
                      </a:r>
                      <a:endParaRPr lang="zh-CN" altLang="en-US" sz="1800" b="1" dirty="0"/>
                    </a:p>
                  </a:txBody>
                  <a:tcPr anchor="ctr">
                    <a:noFill/>
                  </a:tcPr>
                </a:tc>
              </a:tr>
              <a:tr h="571500">
                <a:tc>
                  <a:txBody>
                    <a:bodyPr/>
                    <a:lstStyle/>
                    <a:p>
                      <a:pPr algn="ctr">
                        <a:buNone/>
                      </a:pPr>
                      <a:r>
                        <a:rPr lang="zh-CN" altLang="en-US" sz="1800" b="1"/>
                        <a:t>网络层</a:t>
                      </a:r>
                      <a:endParaRPr lang="zh-CN" altLang="en-US" sz="1800" b="1"/>
                    </a:p>
                  </a:txBody>
                  <a:tcPr anchor="ctr">
                    <a:noFill/>
                  </a:tcPr>
                </a:tc>
              </a:tr>
              <a:tr h="571500">
                <a:tc>
                  <a:txBody>
                    <a:bodyPr/>
                    <a:lstStyle/>
                    <a:p>
                      <a:pPr algn="ctr">
                        <a:buNone/>
                      </a:pPr>
                      <a:r>
                        <a:rPr lang="zh-CN" altLang="en-US" sz="1800" b="1" dirty="0"/>
                        <a:t>链路层</a:t>
                      </a:r>
                      <a:endParaRPr lang="zh-CN" altLang="en-US" sz="1800" b="1" dirty="0"/>
                    </a:p>
                  </a:txBody>
                  <a:tcPr anchor="ctr">
                    <a:noFill/>
                  </a:tcPr>
                </a:tc>
              </a:tr>
              <a:tr h="571500">
                <a:tc>
                  <a:txBody>
                    <a:bodyPr/>
                    <a:lstStyle/>
                    <a:p>
                      <a:pPr algn="ctr">
                        <a:buNone/>
                      </a:pPr>
                      <a:r>
                        <a:rPr lang="zh-CN" altLang="en-US" sz="1800" b="1" dirty="0"/>
                        <a:t>物理层</a:t>
                      </a:r>
                      <a:endParaRPr lang="zh-CN" altLang="en-US" sz="1800" b="1" dirty="0"/>
                    </a:p>
                  </a:txBody>
                  <a:tcPr anchor="ctr">
                    <a:noFill/>
                  </a:tcPr>
                </a:tc>
              </a:tr>
            </a:tbl>
          </a:graphicData>
        </a:graphic>
      </p:graphicFrame>
      <p:graphicFrame>
        <p:nvGraphicFramePr>
          <p:cNvPr id="22" name="表格 21"/>
          <p:cNvGraphicFramePr/>
          <p:nvPr/>
        </p:nvGraphicFramePr>
        <p:xfrm>
          <a:off x="4457700" y="3830320"/>
          <a:ext cx="1121410" cy="1143000"/>
        </p:xfrm>
        <a:graphic>
          <a:graphicData uri="http://schemas.openxmlformats.org/drawingml/2006/table">
            <a:tbl>
              <a:tblPr firstRow="1" bandRow="1">
                <a:tableStyleId>{5940675A-B579-460E-94D1-54222C63F5DA}</a:tableStyleId>
              </a:tblPr>
              <a:tblGrid>
                <a:gridCol w="1121410"/>
              </a:tblGrid>
              <a:tr h="571500">
                <a:tc>
                  <a:txBody>
                    <a:bodyPr/>
                    <a:lstStyle/>
                    <a:p>
                      <a:pPr algn="ctr">
                        <a:buNone/>
                      </a:pPr>
                      <a:r>
                        <a:rPr lang="zh-CN" altLang="en-US" sz="1800" b="1" dirty="0"/>
                        <a:t>链路层</a:t>
                      </a:r>
                      <a:endParaRPr lang="zh-CN" altLang="en-US" sz="1800" b="1" dirty="0"/>
                    </a:p>
                  </a:txBody>
                  <a:tcPr anchor="ctr">
                    <a:noFill/>
                  </a:tcPr>
                </a:tc>
              </a:tr>
              <a:tr h="571500">
                <a:tc>
                  <a:txBody>
                    <a:bodyPr/>
                    <a:lstStyle/>
                    <a:p>
                      <a:pPr algn="ctr">
                        <a:buNone/>
                      </a:pPr>
                      <a:r>
                        <a:rPr lang="zh-CN" altLang="en-US" sz="1800" b="1" dirty="0"/>
                        <a:t>物理层</a:t>
                      </a:r>
                      <a:endParaRPr lang="zh-CN" altLang="en-US" sz="1800" b="1" dirty="0"/>
                    </a:p>
                  </a:txBody>
                  <a:tcPr anchor="ctr">
                    <a:noFill/>
                  </a:tcPr>
                </a:tc>
              </a:tr>
            </a:tbl>
          </a:graphicData>
        </a:graphic>
      </p:graphicFrame>
      <p:graphicFrame>
        <p:nvGraphicFramePr>
          <p:cNvPr id="23" name="表格 22"/>
          <p:cNvGraphicFramePr/>
          <p:nvPr/>
        </p:nvGraphicFramePr>
        <p:xfrm>
          <a:off x="7290435" y="3830320"/>
          <a:ext cx="1104265" cy="1143000"/>
        </p:xfrm>
        <a:graphic>
          <a:graphicData uri="http://schemas.openxmlformats.org/drawingml/2006/table">
            <a:tbl>
              <a:tblPr firstRow="1" bandRow="1">
                <a:tableStyleId>{5940675A-B579-460E-94D1-54222C63F5DA}</a:tableStyleId>
              </a:tblPr>
              <a:tblGrid>
                <a:gridCol w="1104265"/>
              </a:tblGrid>
              <a:tr h="571500">
                <a:tc>
                  <a:txBody>
                    <a:bodyPr/>
                    <a:lstStyle/>
                    <a:p>
                      <a:pPr algn="ctr">
                        <a:buNone/>
                      </a:pPr>
                      <a:r>
                        <a:rPr lang="zh-CN" altLang="en-US" sz="1800" b="1" dirty="0"/>
                        <a:t>链路层</a:t>
                      </a:r>
                      <a:endParaRPr lang="zh-CN" altLang="en-US" sz="1800" b="1" dirty="0"/>
                    </a:p>
                  </a:txBody>
                  <a:tcPr anchor="ctr">
                    <a:noFill/>
                  </a:tcPr>
                </a:tc>
              </a:tr>
              <a:tr h="571500">
                <a:tc>
                  <a:txBody>
                    <a:bodyPr/>
                    <a:lstStyle/>
                    <a:p>
                      <a:pPr algn="ctr">
                        <a:buNone/>
                      </a:pPr>
                      <a:r>
                        <a:rPr lang="zh-CN" altLang="en-US" sz="1800" b="1" dirty="0"/>
                        <a:t>物理层</a:t>
                      </a:r>
                      <a:endParaRPr lang="zh-CN" altLang="en-US" sz="1800" b="1" dirty="0"/>
                    </a:p>
                  </a:txBody>
                  <a:tcPr anchor="ctr">
                    <a:noFill/>
                  </a:tcPr>
                </a:tc>
              </a:tr>
            </a:tbl>
          </a:graphicData>
        </a:graphic>
      </p:graphicFrame>
      <p:graphicFrame>
        <p:nvGraphicFramePr>
          <p:cNvPr id="24" name="表格 23"/>
          <p:cNvGraphicFramePr/>
          <p:nvPr/>
        </p:nvGraphicFramePr>
        <p:xfrm>
          <a:off x="5859780" y="3258820"/>
          <a:ext cx="1095375" cy="1714500"/>
        </p:xfrm>
        <a:graphic>
          <a:graphicData uri="http://schemas.openxmlformats.org/drawingml/2006/table">
            <a:tbl>
              <a:tblPr firstRow="1" bandRow="1">
                <a:tableStyleId>{5940675A-B579-460E-94D1-54222C63F5DA}</a:tableStyleId>
              </a:tblPr>
              <a:tblGrid>
                <a:gridCol w="1095375"/>
              </a:tblGrid>
              <a:tr h="571500">
                <a:tc>
                  <a:txBody>
                    <a:bodyPr/>
                    <a:lstStyle/>
                    <a:p>
                      <a:pPr algn="ctr">
                        <a:buNone/>
                      </a:pPr>
                      <a:r>
                        <a:rPr lang="zh-CN" altLang="en-US" sz="1800" b="1"/>
                        <a:t>网络层</a:t>
                      </a:r>
                      <a:endParaRPr lang="zh-CN" altLang="en-US" sz="1800" b="1"/>
                    </a:p>
                  </a:txBody>
                  <a:tcPr anchor="ctr">
                    <a:noFill/>
                  </a:tcPr>
                </a:tc>
              </a:tr>
              <a:tr h="571500">
                <a:tc>
                  <a:txBody>
                    <a:bodyPr/>
                    <a:lstStyle/>
                    <a:p>
                      <a:pPr algn="ctr">
                        <a:buNone/>
                      </a:pPr>
                      <a:r>
                        <a:rPr lang="zh-CN" altLang="en-US" sz="1800" b="1" dirty="0"/>
                        <a:t>链路层</a:t>
                      </a:r>
                      <a:endParaRPr lang="zh-CN" altLang="en-US" sz="1800" b="1" dirty="0"/>
                    </a:p>
                  </a:txBody>
                  <a:tcPr anchor="ctr">
                    <a:noFill/>
                  </a:tcPr>
                </a:tc>
              </a:tr>
              <a:tr h="571500">
                <a:tc>
                  <a:txBody>
                    <a:bodyPr/>
                    <a:lstStyle/>
                    <a:p>
                      <a:pPr algn="ctr">
                        <a:buNone/>
                      </a:pPr>
                      <a:r>
                        <a:rPr lang="zh-CN" altLang="en-US" sz="1800" b="1" dirty="0"/>
                        <a:t>物理层</a:t>
                      </a:r>
                      <a:endParaRPr lang="zh-CN" altLang="en-US" sz="1800" b="1" dirty="0"/>
                    </a:p>
                  </a:txBody>
                  <a:tcPr anchor="ctr">
                    <a:noFill/>
                  </a:tcPr>
                </a:tc>
              </a:tr>
            </a:tbl>
          </a:graphicData>
        </a:graphic>
      </p:graphicFrame>
      <p:sp>
        <p:nvSpPr>
          <p:cNvPr id="27" name="内容占位符 2"/>
          <p:cNvSpPr>
            <a:spLocks noGrp="1"/>
          </p:cNvSpPr>
          <p:nvPr/>
        </p:nvSpPr>
        <p:spPr>
          <a:xfrm>
            <a:off x="8289925" y="1619250"/>
            <a:ext cx="15506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接收：</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hello</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28" name="图片 27"/>
          <p:cNvPicPr>
            <a:picLocks noChangeAspect="1"/>
          </p:cNvPicPr>
          <p:nvPr/>
        </p:nvPicPr>
        <p:blipFill>
          <a:blip r:embed="rId1" cstate="print"/>
          <a:stretch>
            <a:fillRect/>
          </a:stretch>
        </p:blipFill>
        <p:spPr>
          <a:xfrm>
            <a:off x="7912100" y="1504950"/>
            <a:ext cx="396240" cy="536575"/>
          </a:xfrm>
          <a:prstGeom prst="rect">
            <a:avLst/>
          </a:prstGeom>
        </p:spPr>
      </p:pic>
      <p:graphicFrame>
        <p:nvGraphicFramePr>
          <p:cNvPr id="29" name="表格 28"/>
          <p:cNvGraphicFramePr/>
          <p:nvPr/>
        </p:nvGraphicFramePr>
        <p:xfrm>
          <a:off x="937260" y="4508500"/>
          <a:ext cx="1969135" cy="330200"/>
        </p:xfrm>
        <a:graphic>
          <a:graphicData uri="http://schemas.openxmlformats.org/drawingml/2006/table">
            <a:tbl>
              <a:tblPr firstRow="1" bandRow="1">
                <a:tableStyleId>{5C22544A-7EE6-4342-B048-85BDC9FD1C3A}</a:tableStyleId>
              </a:tblPr>
              <a:tblGrid>
                <a:gridCol w="1969135"/>
              </a:tblGrid>
              <a:tr h="330200">
                <a:tc>
                  <a:txBody>
                    <a:bodyPr/>
                    <a:lstStyle/>
                    <a:p>
                      <a:pPr>
                        <a:buNone/>
                      </a:pPr>
                      <a:r>
                        <a:rPr lang="en-US" altLang="zh-CN" sz="2000">
                          <a:solidFill>
                            <a:schemeClr val="tx1"/>
                          </a:solidFill>
                        </a:rPr>
                        <a:t>101101010000...</a:t>
                      </a:r>
                      <a:endParaRPr lang="zh-CN" altLang="en-US" sz="2000">
                        <a:solidFill>
                          <a:schemeClr val="tx1"/>
                        </a:solidFill>
                      </a:endParaRPr>
                    </a:p>
                  </a:txBody>
                  <a:tcPr marL="0" marR="0" marT="0" marB="0">
                    <a:lnL>
                      <a:noFill/>
                    </a:lnL>
                    <a:lnR>
                      <a:noFill/>
                    </a:lnR>
                    <a:lnT>
                      <a:noFill/>
                    </a:lnT>
                    <a:lnB>
                      <a:noFill/>
                    </a:lnB>
                    <a:lnTlToBr>
                      <a:noFill/>
                    </a:lnTlToBr>
                    <a:lnBlToTr>
                      <a:noFill/>
                    </a:lnBlToTr>
                    <a:noFill/>
                  </a:tcPr>
                </a:tc>
              </a:tr>
            </a:tbl>
          </a:graphicData>
        </a:graphic>
      </p:graphicFrame>
      <p:graphicFrame>
        <p:nvGraphicFramePr>
          <p:cNvPr id="30" name="表格 29"/>
          <p:cNvGraphicFramePr/>
          <p:nvPr/>
        </p:nvGraphicFramePr>
        <p:xfrm>
          <a:off x="10018395" y="2260600"/>
          <a:ext cx="876935" cy="330200"/>
        </p:xfrm>
        <a:graphic>
          <a:graphicData uri="http://schemas.openxmlformats.org/drawingml/2006/table">
            <a:tbl>
              <a:tblPr firstRow="1" bandRow="1">
                <a:tableStyleId>{5C22544A-7EE6-4342-B048-85BDC9FD1C3A}</a:tableStyleId>
              </a:tblPr>
              <a:tblGrid>
                <a:gridCol w="876935"/>
              </a:tblGrid>
              <a:tr h="330200">
                <a:tc>
                  <a:txBody>
                    <a:bodyPr/>
                    <a:lstStyle/>
                    <a:p>
                      <a:pPr>
                        <a:buNone/>
                      </a:pPr>
                      <a:r>
                        <a:rPr lang="en-US" altLang="zh-CN" sz="2000" dirty="0">
                          <a:solidFill>
                            <a:schemeClr val="tx1"/>
                          </a:solidFill>
                        </a:rPr>
                        <a:t> </a:t>
                      </a:r>
                      <a:r>
                        <a:rPr lang="en-US" altLang="zh-CN" sz="2000" dirty="0">
                          <a:solidFill>
                            <a:srgbClr val="C00000"/>
                          </a:solidFill>
                        </a:rPr>
                        <a:t>hello</a:t>
                      </a:r>
                      <a:endParaRPr lang="en-US" altLang="zh-CN" sz="2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31" name="表格 30"/>
          <p:cNvGraphicFramePr/>
          <p:nvPr/>
        </p:nvGraphicFramePr>
        <p:xfrm>
          <a:off x="9992360" y="2781300"/>
          <a:ext cx="1271270" cy="330200"/>
        </p:xfrm>
        <a:graphic>
          <a:graphicData uri="http://schemas.openxmlformats.org/drawingml/2006/table">
            <a:tbl>
              <a:tblPr firstRow="1" bandRow="1">
                <a:tableStyleId>{5C22544A-7EE6-4342-B048-85BDC9FD1C3A}</a:tableStyleId>
              </a:tblPr>
              <a:tblGrid>
                <a:gridCol w="375285"/>
                <a:gridCol w="895985"/>
              </a:tblGrid>
              <a:tr h="330200">
                <a:tc>
                  <a:txBody>
                    <a:bodyPr/>
                    <a:lstStyle/>
                    <a:p>
                      <a:pPr>
                        <a:buNone/>
                      </a:pPr>
                      <a:r>
                        <a:rPr lang="en-US" altLang="zh-CN" sz="2000" dirty="0">
                          <a:solidFill>
                            <a:schemeClr val="tx1"/>
                          </a:solidFill>
                        </a:rPr>
                        <a:t> </a:t>
                      </a:r>
                      <a:r>
                        <a:rPr lang="en-US" altLang="zh-CN" sz="2000" dirty="0" err="1">
                          <a:solidFill>
                            <a:srgbClr val="C00000"/>
                          </a:solidFill>
                        </a:rPr>
                        <a:t>H</a:t>
                      </a:r>
                      <a:r>
                        <a:rPr lang="en-US" altLang="zh-CN" sz="2800" baseline="-25000" dirty="0" err="1">
                          <a:solidFill>
                            <a:srgbClr val="C00000"/>
                          </a:solidFill>
                        </a:rPr>
                        <a:t>t</a:t>
                      </a:r>
                      <a:endParaRPr lang="en-US" altLang="zh-CN" sz="2800" baseline="-25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32" name="表格 31"/>
          <p:cNvGraphicFramePr/>
          <p:nvPr/>
        </p:nvGraphicFramePr>
        <p:xfrm>
          <a:off x="9993630" y="3379470"/>
          <a:ext cx="1689100" cy="330200"/>
        </p:xfrm>
        <a:graphic>
          <a:graphicData uri="http://schemas.openxmlformats.org/drawingml/2006/table">
            <a:tbl>
              <a:tblPr firstRow="1" bandRow="1">
                <a:tableStyleId>{5C22544A-7EE6-4342-B048-85BDC9FD1C3A}</a:tableStyleId>
              </a:tblPr>
              <a:tblGrid>
                <a:gridCol w="397510"/>
                <a:gridCol w="447675"/>
                <a:gridCol w="843915"/>
              </a:tblGrid>
              <a:tr h="330200">
                <a:tc>
                  <a:txBody>
                    <a:bodyPr/>
                    <a:lstStyle/>
                    <a:p>
                      <a:pPr>
                        <a:buNone/>
                      </a:pPr>
                      <a:r>
                        <a:rPr lang="en-US" altLang="zh-CN" sz="2000" dirty="0">
                          <a:solidFill>
                            <a:schemeClr val="tx1"/>
                          </a:solidFill>
                          <a:sym typeface="+mn-ea"/>
                        </a:rPr>
                        <a:t> </a:t>
                      </a:r>
                      <a:r>
                        <a:rPr lang="en-US" altLang="zh-CN" sz="2000" dirty="0" err="1">
                          <a:solidFill>
                            <a:srgbClr val="C00000"/>
                          </a:solidFill>
                          <a:sym typeface="+mn-ea"/>
                        </a:rPr>
                        <a:t>H</a:t>
                      </a:r>
                      <a:r>
                        <a:rPr lang="en-US" altLang="zh-CN" sz="2000" baseline="-25000" dirty="0" err="1">
                          <a:solidFill>
                            <a:srgbClr val="C00000"/>
                          </a:solidFill>
                          <a:sym typeface="+mn-ea"/>
                        </a:rPr>
                        <a:t>n</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endParaRPr lang="en-US" altLang="zh-CN" sz="2000" baseline="-2500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33" name="表格 32"/>
          <p:cNvGraphicFramePr/>
          <p:nvPr/>
        </p:nvGraphicFramePr>
        <p:xfrm>
          <a:off x="9994265" y="3963670"/>
          <a:ext cx="2094865" cy="330200"/>
        </p:xfrm>
        <a:graphic>
          <a:graphicData uri="http://schemas.openxmlformats.org/drawingml/2006/table">
            <a:tbl>
              <a:tblPr firstRow="1" bandRow="1">
                <a:tableStyleId>{5C22544A-7EE6-4342-B048-85BDC9FD1C3A}</a:tableStyleId>
              </a:tblPr>
              <a:tblGrid>
                <a:gridCol w="314960"/>
                <a:gridCol w="447675"/>
                <a:gridCol w="469900"/>
                <a:gridCol w="862330"/>
              </a:tblGrid>
              <a:tr h="330200">
                <a:tc>
                  <a:txBody>
                    <a:bodyPr/>
                    <a:lstStyle/>
                    <a:p>
                      <a:pPr>
                        <a:buNone/>
                      </a:pPr>
                      <a:r>
                        <a:rPr lang="en-US" altLang="zh-CN" sz="2000" dirty="0">
                          <a:solidFill>
                            <a:schemeClr val="tx1"/>
                          </a:solidFill>
                          <a:sym typeface="+mn-ea"/>
                        </a:rPr>
                        <a:t> </a:t>
                      </a:r>
                      <a:r>
                        <a:rPr lang="en-US" altLang="zh-CN" sz="2000" dirty="0">
                          <a:solidFill>
                            <a:srgbClr val="C00000"/>
                          </a:solidFill>
                          <a:sym typeface="+mn-ea"/>
                        </a:rPr>
                        <a:t>H</a:t>
                      </a:r>
                      <a:r>
                        <a:rPr lang="en-US" altLang="zh-CN" sz="2000" baseline="-25000" dirty="0">
                          <a:solidFill>
                            <a:srgbClr val="C00000"/>
                          </a:solidFill>
                          <a:sym typeface="+mn-ea"/>
                        </a:rPr>
                        <a:t>l</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sym typeface="+mn-ea"/>
                        </a:rPr>
                        <a:t> H</a:t>
                      </a:r>
                      <a:r>
                        <a:rPr lang="en-US" altLang="zh-CN" sz="2000" baseline="-25000">
                          <a:solidFill>
                            <a:schemeClr val="tx1"/>
                          </a:solidFill>
                          <a:sym typeface="+mn-ea"/>
                        </a:rPr>
                        <a:t>n</a:t>
                      </a:r>
                      <a:endParaRPr lang="en-US" altLang="zh-CN" sz="2000" baseline="-25000">
                        <a:solidFill>
                          <a:schemeClr val="tx1"/>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endParaRPr lang="en-US" altLang="zh-CN" sz="2000" baseline="-2500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endParaRPr lang="en-US" altLang="zh-CN" sz="2000" dirty="0">
                        <a:solidFill>
                          <a:schemeClr val="tx1"/>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34" name="表格 33"/>
          <p:cNvGraphicFramePr/>
          <p:nvPr/>
        </p:nvGraphicFramePr>
        <p:xfrm>
          <a:off x="10068560" y="4508500"/>
          <a:ext cx="1969135" cy="330200"/>
        </p:xfrm>
        <a:graphic>
          <a:graphicData uri="http://schemas.openxmlformats.org/drawingml/2006/table">
            <a:tbl>
              <a:tblPr firstRow="1" bandRow="1">
                <a:tableStyleId>{5C22544A-7EE6-4342-B048-85BDC9FD1C3A}</a:tableStyleId>
              </a:tblPr>
              <a:tblGrid>
                <a:gridCol w="1969135"/>
              </a:tblGrid>
              <a:tr h="330200">
                <a:tc>
                  <a:txBody>
                    <a:bodyPr/>
                    <a:lstStyle/>
                    <a:p>
                      <a:pPr>
                        <a:buNone/>
                      </a:pPr>
                      <a:r>
                        <a:rPr lang="en-US" altLang="zh-CN" sz="2000">
                          <a:solidFill>
                            <a:schemeClr val="tx1"/>
                          </a:solidFill>
                        </a:rPr>
                        <a:t>101101010000...</a:t>
                      </a:r>
                      <a:endParaRPr lang="zh-CN" altLang="en-US" sz="2000">
                        <a:solidFill>
                          <a:schemeClr val="tx1"/>
                        </a:solidFill>
                      </a:endParaRPr>
                    </a:p>
                  </a:txBody>
                  <a:tcPr marL="0" marR="0" marT="0" marB="0">
                    <a:lnL>
                      <a:noFill/>
                    </a:lnL>
                    <a:lnR>
                      <a:noFill/>
                    </a:lnR>
                    <a:lnT>
                      <a:noFill/>
                    </a:lnT>
                    <a:lnB>
                      <a:noFill/>
                    </a:lnB>
                    <a:lnTlToBr>
                      <a:noFill/>
                    </a:lnTlToBr>
                    <a:lnBlToTr>
                      <a:noFill/>
                    </a:lnBlToTr>
                    <a:noFill/>
                  </a:tcPr>
                </a:tc>
              </a:tr>
            </a:tbl>
          </a:graphicData>
        </a:graphic>
      </p:graphicFrame>
      <p:sp>
        <p:nvSpPr>
          <p:cNvPr id="35" name="内容占位符 2"/>
          <p:cNvSpPr>
            <a:spLocks noGrp="1"/>
          </p:cNvSpPr>
          <p:nvPr/>
        </p:nvSpPr>
        <p:spPr>
          <a:xfrm>
            <a:off x="175896" y="2260600"/>
            <a:ext cx="1673859"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消息</a:t>
            </a:r>
            <a:r>
              <a:rPr kumimoji="1"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message</a:t>
            </a:r>
            <a:endParaRPr kumimoji="1"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6" name="内容占位符 2"/>
          <p:cNvSpPr>
            <a:spLocks noGrp="1"/>
          </p:cNvSpPr>
          <p:nvPr/>
        </p:nvSpPr>
        <p:spPr>
          <a:xfrm>
            <a:off x="176530" y="2752725"/>
            <a:ext cx="1497329"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段</a:t>
            </a:r>
            <a:r>
              <a:rPr kumimoji="1"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segment</a:t>
            </a:r>
            <a:endParaRPr kumimoji="1"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7" name="内容占位符 2"/>
          <p:cNvSpPr>
            <a:spLocks noGrp="1"/>
          </p:cNvSpPr>
          <p:nvPr/>
        </p:nvSpPr>
        <p:spPr>
          <a:xfrm>
            <a:off x="195581" y="3253927"/>
            <a:ext cx="1334768"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数据报</a:t>
            </a:r>
            <a:endParaRPr kumimoji="1"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spcBef>
                <a:spcPts val="0"/>
              </a:spcBef>
              <a:spcAft>
                <a:spcPts val="0"/>
              </a:spcAft>
              <a:buClrTx/>
              <a:buSzTx/>
              <a:buFont typeface="Wingdings" panose="05000000000000000000" pitchFamily="2" charset="2"/>
              <a:buNone/>
              <a:defRPr/>
            </a:pPr>
            <a:r>
              <a:rPr kumimoji="1"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packet</a:t>
            </a:r>
            <a:endParaRPr kumimoji="1"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9" name="内容占位符 2"/>
          <p:cNvSpPr>
            <a:spLocks noGrp="1"/>
          </p:cNvSpPr>
          <p:nvPr/>
        </p:nvSpPr>
        <p:spPr>
          <a:xfrm>
            <a:off x="75565" y="3873314"/>
            <a:ext cx="861696"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spcBef>
                <a:spcPts val="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帧</a:t>
            </a:r>
            <a:endParaRPr kumimoji="1"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spcBef>
                <a:spcPts val="0"/>
              </a:spcBef>
              <a:spcAft>
                <a:spcPts val="0"/>
              </a:spcAft>
              <a:buClrTx/>
              <a:buSzTx/>
              <a:buFont typeface="Wingdings" panose="05000000000000000000" pitchFamily="2" charset="2"/>
              <a:buNone/>
              <a:defRPr/>
            </a:pPr>
            <a:r>
              <a:rPr kumimoji="1"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frame</a:t>
            </a:r>
            <a:endParaRPr kumimoji="1"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cxnSp>
        <p:nvCxnSpPr>
          <p:cNvPr id="42" name="直接箭头连接符 41"/>
          <p:cNvCxnSpPr>
            <a:stCxn id="7" idx="3"/>
          </p:cNvCxnSpPr>
          <p:nvPr/>
        </p:nvCxnSpPr>
        <p:spPr>
          <a:xfrm flipH="1">
            <a:off x="4037965" y="1849755"/>
            <a:ext cx="12700" cy="2658745"/>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4025265" y="463550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5409565" y="463550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6846570" y="467360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8331200" y="467360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4666615" y="3830320"/>
            <a:ext cx="0" cy="8432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6038215" y="3258820"/>
            <a:ext cx="0" cy="14147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7498715" y="3830320"/>
            <a:ext cx="0" cy="8432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742180" y="3916045"/>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7604760" y="3916045"/>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6131560" y="3379470"/>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6765290" y="3379470"/>
            <a:ext cx="0" cy="135763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V="1">
            <a:off x="5371465" y="3881755"/>
            <a:ext cx="0" cy="84328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8233410" y="3916045"/>
            <a:ext cx="0" cy="84328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8896350" y="1927225"/>
            <a:ext cx="0" cy="2708275"/>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sp>
        <p:nvSpPr>
          <p:cNvPr id="58" name="内容占位符 2"/>
          <p:cNvSpPr>
            <a:spLocks noGrp="1"/>
          </p:cNvSpPr>
          <p:nvPr/>
        </p:nvSpPr>
        <p:spPr>
          <a:xfrm>
            <a:off x="3161030" y="498562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主机</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9" name="内容占位符 2"/>
          <p:cNvSpPr>
            <a:spLocks noGrp="1"/>
          </p:cNvSpPr>
          <p:nvPr/>
        </p:nvSpPr>
        <p:spPr>
          <a:xfrm>
            <a:off x="4584700" y="4985620"/>
            <a:ext cx="95123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交换机</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0" name="内容占位符 2"/>
          <p:cNvSpPr>
            <a:spLocks noGrp="1"/>
          </p:cNvSpPr>
          <p:nvPr/>
        </p:nvSpPr>
        <p:spPr>
          <a:xfrm>
            <a:off x="7399020" y="5012290"/>
            <a:ext cx="95123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交换机</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1" name="内容占位符 2"/>
          <p:cNvSpPr>
            <a:spLocks noGrp="1"/>
          </p:cNvSpPr>
          <p:nvPr/>
        </p:nvSpPr>
        <p:spPr>
          <a:xfrm>
            <a:off x="8962390" y="5011020"/>
            <a:ext cx="126365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主机</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2" name="内容占位符 2"/>
          <p:cNvSpPr>
            <a:spLocks noGrp="1"/>
          </p:cNvSpPr>
          <p:nvPr/>
        </p:nvSpPr>
        <p:spPr>
          <a:xfrm>
            <a:off x="5984875" y="5011020"/>
            <a:ext cx="86868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路由器</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 name="内容占位符 2"/>
          <p:cNvSpPr>
            <a:spLocks noGrp="1"/>
          </p:cNvSpPr>
          <p:nvPr/>
        </p:nvSpPr>
        <p:spPr>
          <a:xfrm>
            <a:off x="4230371" y="2209800"/>
            <a:ext cx="2001321"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封装</a:t>
            </a:r>
            <a:endPar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spcBef>
                <a:spcPts val="600"/>
              </a:spcBef>
              <a:spcAft>
                <a:spcPts val="0"/>
              </a:spcAft>
              <a:buClrTx/>
              <a:buSzTx/>
              <a:buFont typeface="Wingdings" panose="05000000000000000000" pitchFamily="2" charset="2"/>
              <a:buNone/>
              <a:defRPr/>
            </a:pPr>
            <a:r>
              <a:rPr kumimoji="1"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Encapsulation</a:t>
            </a:r>
            <a:endParaRPr kumimoji="1"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64" name="内容占位符 2"/>
          <p:cNvSpPr>
            <a:spLocks noGrp="1"/>
          </p:cNvSpPr>
          <p:nvPr/>
        </p:nvSpPr>
        <p:spPr>
          <a:xfrm>
            <a:off x="6519544" y="2181225"/>
            <a:ext cx="2228851"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spcBef>
                <a:spcPts val="60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解封装</a:t>
            </a:r>
            <a:endPar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spcBef>
                <a:spcPts val="600"/>
              </a:spcBef>
              <a:spcAft>
                <a:spcPts val="0"/>
              </a:spcAft>
              <a:buClrTx/>
              <a:buSzTx/>
              <a:buFont typeface="Wingdings" panose="05000000000000000000" pitchFamily="2" charset="2"/>
              <a:buNone/>
              <a:defRPr/>
            </a:pPr>
            <a:r>
              <a:rPr kumimoji="1"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De-encapsulation</a:t>
            </a:r>
            <a:endParaRPr kumimoji="1" lang="en-US" altLang="zh-CN" sz="1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66" name="文本框 6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5" name="内容占位符 4"/>
          <p:cNvSpPr>
            <a:spLocks noGrp="1"/>
          </p:cNvSpPr>
          <p:nvPr>
            <p:ph idx="1"/>
          </p:nvPr>
        </p:nvSpPr>
        <p:spPr>
          <a:xfrm>
            <a:off x="697471" y="1510758"/>
            <a:ext cx="10515600" cy="4746351"/>
          </a:xfrm>
        </p:spPr>
        <p:txBody>
          <a:bodyPr>
            <a:normAutofit lnSpcReduction="10000"/>
          </a:bodyPr>
          <a:lstStyle/>
          <a:p>
            <a:pPr marL="0" indent="0">
              <a:lnSpc>
                <a:spcPct val="130000"/>
              </a:lnSpc>
              <a:buNone/>
            </a:pPr>
            <a:r>
              <a:rPr kumimoji="1" lang="en-US" altLang="zh-CN" dirty="0"/>
              <a:t>1.1 </a:t>
            </a:r>
            <a:r>
              <a:rPr kumimoji="1" lang="zh-CN" altLang="en-US" dirty="0"/>
              <a:t>初识互联网</a:t>
            </a:r>
            <a:endParaRPr kumimoji="1" lang="en-US" altLang="zh-CN" dirty="0"/>
          </a:p>
          <a:p>
            <a:pPr marL="0" indent="0">
              <a:lnSpc>
                <a:spcPct val="130000"/>
              </a:lnSpc>
              <a:buNone/>
            </a:pPr>
            <a:r>
              <a:rPr kumimoji="1" lang="en-US" altLang="zh-CN" dirty="0"/>
              <a:t>1.2 </a:t>
            </a:r>
            <a:r>
              <a:rPr kumimoji="1" lang="zh-CN" altLang="en-US" dirty="0"/>
              <a:t>网络实例</a:t>
            </a:r>
            <a:endParaRPr kumimoji="1" lang="en-US" altLang="zh-CN" dirty="0"/>
          </a:p>
          <a:p>
            <a:pPr marL="0" indent="0">
              <a:lnSpc>
                <a:spcPct val="130000"/>
              </a:lnSpc>
              <a:buNone/>
            </a:pPr>
            <a:r>
              <a:rPr kumimoji="1" lang="en-US" altLang="zh-CN" dirty="0"/>
              <a:t>1.3 </a:t>
            </a:r>
            <a:r>
              <a:rPr kumimoji="1" lang="zh-CN" altLang="en-US" dirty="0"/>
              <a:t>协议与分层结构</a:t>
            </a:r>
            <a:endParaRPr kumimoji="1" lang="en-US" altLang="zh-CN" dirty="0"/>
          </a:p>
          <a:p>
            <a:pPr marL="0" indent="0">
              <a:lnSpc>
                <a:spcPct val="130000"/>
              </a:lnSpc>
              <a:buNone/>
            </a:pPr>
            <a:r>
              <a:rPr kumimoji="1" lang="en-US" altLang="zh-CN" dirty="0"/>
              <a:t>1.4 </a:t>
            </a:r>
            <a:r>
              <a:rPr kumimoji="1" lang="zh-CN" altLang="en-US" dirty="0"/>
              <a:t>参考模型</a:t>
            </a:r>
            <a:endParaRPr kumimoji="1" lang="en-US" altLang="zh-CN" dirty="0"/>
          </a:p>
          <a:p>
            <a:pPr marL="0" indent="0">
              <a:lnSpc>
                <a:spcPct val="130000"/>
              </a:lnSpc>
              <a:buNone/>
            </a:pPr>
            <a:r>
              <a:rPr kumimoji="1" lang="en-US" altLang="zh-CN" dirty="0">
                <a:solidFill>
                  <a:srgbClr val="C00000"/>
                </a:solidFill>
              </a:rPr>
              <a:t>1.5 </a:t>
            </a:r>
            <a:r>
              <a:rPr kumimoji="1" lang="zh-CN" altLang="en-US" dirty="0">
                <a:solidFill>
                  <a:srgbClr val="C00000"/>
                </a:solidFill>
              </a:rPr>
              <a:t>计算机网络度量单位</a:t>
            </a:r>
            <a:endParaRPr kumimoji="1" lang="en-US" altLang="zh-CN" dirty="0">
              <a:solidFill>
                <a:srgbClr val="C00000"/>
              </a:solidFill>
            </a:endParaRPr>
          </a:p>
          <a:p>
            <a:pPr marL="0" indent="0">
              <a:lnSpc>
                <a:spcPct val="130000"/>
              </a:lnSpc>
              <a:buNone/>
            </a:pPr>
            <a:r>
              <a:rPr kumimoji="1" lang="en-US" altLang="zh-CN" dirty="0"/>
              <a:t>1.6 </a:t>
            </a:r>
            <a:r>
              <a:rPr kumimoji="1" lang="zh-CN" altLang="en-US" dirty="0"/>
              <a:t>网络安全与威胁</a:t>
            </a:r>
            <a:endParaRPr kumimoji="1" lang="zh-CN" altLang="en-US" dirty="0"/>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 name="矩形标注 6"/>
          <p:cNvSpPr/>
          <p:nvPr/>
        </p:nvSpPr>
        <p:spPr>
          <a:xfrm>
            <a:off x="5846638" y="1552679"/>
            <a:ext cx="5008214" cy="3794563"/>
          </a:xfrm>
          <a:prstGeom prst="wedgeRectCallout">
            <a:avLst>
              <a:gd name="adj1" fmla="val -72313"/>
              <a:gd name="adj2" fmla="val 2068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49225" lvl="0">
              <a:lnSpc>
                <a:spcPct val="130000"/>
              </a:lnSpc>
              <a:spcBef>
                <a:spcPts val="600"/>
              </a:spcBef>
            </a:pP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graphicFrame>
        <p:nvGraphicFramePr>
          <p:cNvPr id="3" name="表格 5"/>
          <p:cNvGraphicFramePr>
            <a:graphicFrameLocks noGrp="1"/>
          </p:cNvGraphicFramePr>
          <p:nvPr/>
        </p:nvGraphicFramePr>
        <p:xfrm>
          <a:off x="6069099" y="1811577"/>
          <a:ext cx="4563291" cy="3234845"/>
        </p:xfrm>
        <a:graphic>
          <a:graphicData uri="http://schemas.openxmlformats.org/drawingml/2006/table">
            <a:tbl>
              <a:tblPr firstRow="1" bandRow="1">
                <a:tableStyleId>{5C22544A-7EE6-4342-B048-85BDC9FD1C3A}</a:tableStyleId>
              </a:tblPr>
              <a:tblGrid>
                <a:gridCol w="2502956"/>
                <a:gridCol w="2060335"/>
              </a:tblGrid>
              <a:tr h="646969">
                <a:tc>
                  <a:txBody>
                    <a:bodyPr/>
                    <a:lstStyle/>
                    <a:p>
                      <a:pPr marL="317500" indent="-317500">
                        <a:lnSpc>
                          <a:spcPct val="130000"/>
                        </a:lnSpc>
                        <a:spcAft>
                          <a:spcPts val="0"/>
                        </a:spcAft>
                        <a:buFont typeface="Arial" panose="020B0604020202020204" pitchFamily="34" charset="0"/>
                        <a:buChar char="•"/>
                      </a:pPr>
                      <a:r>
                        <a:rPr kumimoji="1" lang="zh-CN" altLang="en-US" sz="2400" b="0" dirty="0">
                          <a:solidFill>
                            <a:schemeClr val="tx1"/>
                          </a:solidFill>
                          <a:latin typeface="微软雅黑" panose="020B0503020204020204" pitchFamily="34" charset="-122"/>
                          <a:ea typeface="微软雅黑" panose="020B0503020204020204" pitchFamily="34" charset="-122"/>
                        </a:rPr>
                        <a:t>比特率</a:t>
                      </a:r>
                      <a:endParaRPr kumimoji="1"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c>
                  <a:txBody>
                    <a:bodyPr/>
                    <a:lstStyle/>
                    <a:p>
                      <a:pPr marL="342900" lvl="1" indent="-342900" algn="l">
                        <a:lnSpc>
                          <a:spcPct val="130000"/>
                        </a:lnSpc>
                        <a:spcAft>
                          <a:spcPts val="0"/>
                        </a:spcAft>
                        <a:buClrTx/>
                        <a:buSzTx/>
                        <a:buFont typeface="Arial" panose="020B0604020202020204" pitchFamily="34" charset="0"/>
                        <a:buChar char="•"/>
                      </a:pPr>
                      <a:r>
                        <a:rPr kumimoji="1" lang="zh-CN" altLang="en-US" sz="2400" b="0" dirty="0">
                          <a:solidFill>
                            <a:schemeClr val="tx1"/>
                          </a:solidFill>
                          <a:latin typeface="微软雅黑" panose="020B0503020204020204" pitchFamily="34" charset="-122"/>
                          <a:ea typeface="微软雅黑" panose="020B0503020204020204" pitchFamily="34" charset="-122"/>
                          <a:sym typeface="+mn-ea"/>
                        </a:rPr>
                        <a:t>时延带宽积</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r>
              <a:tr h="646969">
                <a:tc>
                  <a:txBody>
                    <a:bodyPr/>
                    <a:lstStyle/>
                    <a:p>
                      <a:pPr marL="342900" indent="-342900">
                        <a:buFont typeface="Arial" panose="020B0604020202020204" pitchFamily="34" charset="0"/>
                        <a:buChar char="•"/>
                      </a:pPr>
                      <a:r>
                        <a:rPr kumimoji="1" lang="zh-CN" altLang="en-US" sz="2400" b="0" dirty="0">
                          <a:solidFill>
                            <a:schemeClr val="tx1"/>
                          </a:solidFill>
                          <a:latin typeface="微软雅黑" panose="020B0503020204020204" pitchFamily="34" charset="-122"/>
                          <a:ea typeface="微软雅黑" panose="020B0503020204020204" pitchFamily="34" charset="-122"/>
                          <a:sym typeface="+mn-ea"/>
                        </a:rPr>
                        <a:t>带宽</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2400" b="0" dirty="0">
                          <a:solidFill>
                            <a:schemeClr val="tx1"/>
                          </a:solidFill>
                          <a:latin typeface="微软雅黑" panose="020B0503020204020204" pitchFamily="34" charset="-122"/>
                          <a:ea typeface="微软雅黑" panose="020B0503020204020204" pitchFamily="34" charset="-122"/>
                          <a:sym typeface="+mn-ea"/>
                        </a:rPr>
                        <a:t>吞吐量</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r>
              <a:tr h="646969">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2400" b="0" dirty="0">
                          <a:solidFill>
                            <a:schemeClr val="tx1"/>
                          </a:solidFill>
                          <a:latin typeface="微软雅黑" panose="020B0503020204020204" pitchFamily="34" charset="-122"/>
                          <a:ea typeface="微软雅黑" panose="020B0503020204020204" pitchFamily="34" charset="-122"/>
                        </a:rPr>
                        <a:t>包转发率</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2400" b="0" dirty="0">
                          <a:solidFill>
                            <a:schemeClr val="tx1"/>
                          </a:solidFill>
                          <a:latin typeface="微软雅黑" panose="020B0503020204020204" pitchFamily="34" charset="-122"/>
                          <a:ea typeface="微软雅黑" panose="020B0503020204020204" pitchFamily="34" charset="-122"/>
                        </a:rPr>
                        <a:t>丢包率</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r>
              <a:tr h="646969">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2400" b="0" dirty="0">
                          <a:solidFill>
                            <a:schemeClr val="tx1"/>
                          </a:solidFill>
                          <a:latin typeface="微软雅黑" panose="020B0503020204020204" pitchFamily="34" charset="-122"/>
                          <a:ea typeface="微软雅黑" panose="020B0503020204020204" pitchFamily="34" charset="-122"/>
                          <a:sym typeface="+mn-ea"/>
                        </a:rPr>
                        <a:t>时延</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2400" b="0" dirty="0">
                          <a:solidFill>
                            <a:schemeClr val="tx1"/>
                          </a:solidFill>
                          <a:latin typeface="微软雅黑" panose="020B0503020204020204" pitchFamily="34" charset="-122"/>
                          <a:ea typeface="微软雅黑" panose="020B0503020204020204" pitchFamily="34" charset="-122"/>
                          <a:sym typeface="+mn-ea"/>
                        </a:rPr>
                        <a:t>利用率</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r>
              <a:tr h="646969">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2400" b="0" dirty="0">
                          <a:solidFill>
                            <a:schemeClr val="tx1"/>
                          </a:solidFill>
                          <a:latin typeface="微软雅黑" panose="020B0503020204020204" pitchFamily="34" charset="-122"/>
                          <a:ea typeface="微软雅黑" panose="020B0503020204020204" pitchFamily="34" charset="-122"/>
                          <a:sym typeface="+mn-ea"/>
                        </a:rPr>
                        <a:t>往返时间 RTT</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2400" b="0" dirty="0">
                          <a:solidFill>
                            <a:schemeClr val="tx1"/>
                          </a:solidFill>
                          <a:latin typeface="微软雅黑" panose="020B0503020204020204" pitchFamily="34" charset="-122"/>
                          <a:ea typeface="微软雅黑" panose="020B0503020204020204" pitchFamily="34" charset="-122"/>
                          <a:sym typeface="+mn-ea"/>
                        </a:rPr>
                        <a:t>时延抖动</a:t>
                      </a:r>
                      <a:endParaRPr lang="zh-CN" altLang="en-US" sz="2400" b="0" dirty="0">
                        <a:solidFill>
                          <a:schemeClr val="tx1"/>
                        </a:solidFill>
                        <a:latin typeface="微软雅黑" panose="020B0503020204020204" pitchFamily="34" charset="-122"/>
                        <a:ea typeface="微软雅黑" panose="020B0503020204020204" pitchFamily="34" charset="-122"/>
                      </a:endParaRPr>
                    </a:p>
                  </a:txBody>
                  <a:tcPr>
                    <a:no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计算机网络度量单位</a:t>
            </a:r>
            <a:endParaRPr kumimoji="1" lang="zh-CN" altLang="en-US" dirty="0"/>
          </a:p>
        </p:txBody>
      </p:sp>
      <p:sp>
        <p:nvSpPr>
          <p:cNvPr id="3" name="内容占位符 2"/>
          <p:cNvSpPr>
            <a:spLocks noGrp="1"/>
          </p:cNvSpPr>
          <p:nvPr>
            <p:ph idx="1"/>
          </p:nvPr>
        </p:nvSpPr>
        <p:spPr>
          <a:xfrm>
            <a:off x="825500" y="1388110"/>
            <a:ext cx="7138670" cy="5210175"/>
          </a:xfrm>
        </p:spPr>
        <p:txBody>
          <a:bodyPr>
            <a:noAutofit/>
          </a:bodyPr>
          <a:lstStyle/>
          <a:p>
            <a:pPr lvl="0" algn="l">
              <a:lnSpc>
                <a:spcPct val="110000"/>
              </a:lnSpc>
              <a:spcBef>
                <a:spcPts val="0"/>
              </a:spcBef>
              <a:spcAft>
                <a:spcPts val="0"/>
              </a:spcAft>
              <a:buClrTx/>
              <a:buSzTx/>
              <a:buChar char="Ø"/>
            </a:pPr>
            <a:r>
              <a:rPr kumimoji="1" lang="zh-CN" altLang="en-US" dirty="0"/>
              <a:t>比特率</a:t>
            </a:r>
            <a:r>
              <a:rPr kumimoji="1" lang="zh-CN" altLang="en-US" dirty="0">
                <a:sym typeface="+mn-ea"/>
              </a:rPr>
              <a:t>(bit rate)</a:t>
            </a:r>
            <a:endParaRPr kumimoji="1" lang="zh-CN" altLang="en-US" dirty="0">
              <a:sym typeface="+mn-ea"/>
            </a:endParaRPr>
          </a:p>
          <a:p>
            <a:pPr lvl="1">
              <a:lnSpc>
                <a:spcPct val="110000"/>
              </a:lnSpc>
              <a:spcBef>
                <a:spcPts val="0"/>
              </a:spcBef>
              <a:spcAft>
                <a:spcPts val="0"/>
              </a:spcAft>
              <a:buFont typeface="Arial" panose="020B0604020202020204" pitchFamily="34" charset="0"/>
              <a:buChar char="•"/>
            </a:pPr>
            <a:r>
              <a:rPr lang="zh-CN" altLang="en-US" sz="2200" dirty="0">
                <a:effectLst/>
                <a:cs typeface="微软雅黑" panose="020B0503020204020204" pitchFamily="34" charset="-122"/>
              </a:rPr>
              <a:t>主机在数字信道上传送数据的速率，也称数据率</a:t>
            </a:r>
            <a:endParaRPr lang="zh-CN" altLang="en-US" sz="2200" dirty="0">
              <a:effectLst/>
              <a:cs typeface="微软雅黑" panose="020B0503020204020204" pitchFamily="34" charset="-122"/>
            </a:endParaRPr>
          </a:p>
          <a:p>
            <a:pPr lvl="1">
              <a:lnSpc>
                <a:spcPct val="110000"/>
              </a:lnSpc>
              <a:spcBef>
                <a:spcPts val="0"/>
              </a:spcBef>
              <a:spcAft>
                <a:spcPts val="0"/>
              </a:spcAft>
              <a:buFont typeface="Arial" panose="020B0604020202020204" pitchFamily="34" charset="0"/>
              <a:buChar char="•"/>
            </a:pPr>
            <a:r>
              <a:rPr lang="zh-CN" altLang="en-US" sz="2200" dirty="0">
                <a:effectLst/>
                <a:cs typeface="微软雅黑" panose="020B0503020204020204" pitchFamily="34" charset="-122"/>
              </a:rPr>
              <a:t>比特率的单位是</a:t>
            </a:r>
            <a:r>
              <a:rPr lang="en-US" altLang="zh-CN" sz="2200" dirty="0">
                <a:effectLst/>
                <a:cs typeface="微软雅黑" panose="020B0503020204020204" pitchFamily="34" charset="-122"/>
              </a:rPr>
              <a:t>b/s(</a:t>
            </a:r>
            <a:r>
              <a:rPr lang="zh-CN" altLang="en-US" sz="2200" dirty="0">
                <a:effectLst/>
                <a:cs typeface="微软雅黑" panose="020B0503020204020204" pitchFamily="34" charset="-122"/>
              </a:rPr>
              <a:t>比特每秒</a:t>
            </a:r>
            <a:r>
              <a:rPr lang="en-US" altLang="zh-CN" sz="2200" dirty="0">
                <a:effectLst/>
                <a:cs typeface="微软雅黑" panose="020B0503020204020204" pitchFamily="34" charset="-122"/>
              </a:rPr>
              <a:t>)</a:t>
            </a:r>
            <a:r>
              <a:rPr lang="zh-CN" altLang="en-US" sz="2200" dirty="0">
                <a:effectLst/>
                <a:cs typeface="微软雅黑" panose="020B0503020204020204" pitchFamily="34" charset="-122"/>
              </a:rPr>
              <a:t>，也可以写为</a:t>
            </a:r>
            <a:r>
              <a:rPr lang="en-US" altLang="zh-CN" sz="2200" dirty="0">
                <a:effectLst/>
                <a:cs typeface="微软雅黑" panose="020B0503020204020204" pitchFamily="34" charset="-122"/>
              </a:rPr>
              <a:t>bps</a:t>
            </a:r>
            <a:r>
              <a:rPr lang="zh-CN" altLang="en-US" sz="2200" dirty="0">
                <a:effectLst/>
                <a:cs typeface="微软雅黑" panose="020B0503020204020204" pitchFamily="34" charset="-122"/>
              </a:rPr>
              <a:t>，</a:t>
            </a:r>
            <a:r>
              <a:rPr lang="en-US" altLang="zh-CN" sz="2200" dirty="0">
                <a:effectLst/>
                <a:cs typeface="微软雅黑" panose="020B0503020204020204" pitchFamily="34" charset="-122"/>
              </a:rPr>
              <a:t>(bit per second)</a:t>
            </a:r>
            <a:r>
              <a:rPr lang="zh-CN" altLang="en-US" sz="2200" dirty="0">
                <a:effectLst/>
                <a:cs typeface="微软雅黑" panose="020B0503020204020204" pitchFamily="34" charset="-122"/>
              </a:rPr>
              <a:t>，</a:t>
            </a:r>
            <a:r>
              <a:rPr lang="zh-CN" altLang="en-US" sz="2200" dirty="0">
                <a:sym typeface="+mn-ea"/>
              </a:rPr>
              <a:t>或 </a:t>
            </a:r>
            <a:r>
              <a:rPr lang="en-US" altLang="zh-CN" sz="2200" dirty="0" err="1">
                <a:sym typeface="+mn-ea"/>
              </a:rPr>
              <a:t>kbit</a:t>
            </a:r>
            <a:r>
              <a:rPr lang="en-US" altLang="zh-CN" sz="2200" dirty="0">
                <a:sym typeface="+mn-ea"/>
              </a:rPr>
              <a:t>/s</a:t>
            </a:r>
            <a:r>
              <a:rPr lang="zh-CN" altLang="en-US" sz="2200" dirty="0">
                <a:sym typeface="+mn-ea"/>
              </a:rPr>
              <a:t>、</a:t>
            </a:r>
            <a:r>
              <a:rPr lang="en-US" altLang="zh-CN" sz="2200" dirty="0">
                <a:sym typeface="+mn-ea"/>
              </a:rPr>
              <a:t>Mbit/s</a:t>
            </a:r>
            <a:r>
              <a:rPr lang="zh-CN" altLang="en-US" sz="2200" dirty="0">
                <a:sym typeface="+mn-ea"/>
              </a:rPr>
              <a:t>、</a:t>
            </a:r>
            <a:r>
              <a:rPr lang="en-US" altLang="zh-CN" sz="2200" dirty="0">
                <a:sym typeface="+mn-ea"/>
              </a:rPr>
              <a:t> Gbit/s</a:t>
            </a:r>
            <a:r>
              <a:rPr lang="zh-CN" altLang="en-US" sz="2200" dirty="0">
                <a:sym typeface="+mn-ea"/>
              </a:rPr>
              <a:t>等</a:t>
            </a:r>
            <a:endParaRPr lang="zh-CN" altLang="en-US" sz="2200" dirty="0">
              <a:sym typeface="+mn-ea"/>
            </a:endParaRPr>
          </a:p>
          <a:p>
            <a:pPr>
              <a:lnSpc>
                <a:spcPct val="110000"/>
              </a:lnSpc>
            </a:pPr>
            <a:r>
              <a:rPr kumimoji="1" lang="zh-CN" altLang="en-US" dirty="0">
                <a:sym typeface="+mn-ea"/>
              </a:rPr>
              <a:t>带宽</a:t>
            </a:r>
            <a:endParaRPr kumimoji="1" lang="zh-CN" altLang="en-US" dirty="0"/>
          </a:p>
          <a:p>
            <a:pPr lvl="1" algn="l">
              <a:lnSpc>
                <a:spcPct val="110000"/>
              </a:lnSpc>
              <a:spcBef>
                <a:spcPts val="0"/>
              </a:spcBef>
              <a:spcAft>
                <a:spcPts val="0"/>
              </a:spcAft>
            </a:pPr>
            <a:r>
              <a:rPr lang="zh-CN" altLang="zh-CN" sz="2200" dirty="0">
                <a:sym typeface="+mn-ea"/>
              </a:rPr>
              <a:t>网络中某通道传送数据的能力</a:t>
            </a:r>
            <a:r>
              <a:rPr lang="zh-CN" altLang="en-US" sz="2200" dirty="0">
                <a:sym typeface="+mn-ea"/>
              </a:rPr>
              <a:t>，即</a:t>
            </a:r>
            <a:r>
              <a:rPr lang="zh-CN" altLang="zh-CN" sz="2200" dirty="0">
                <a:sym typeface="+mn-ea"/>
              </a:rPr>
              <a:t>单位时间</a:t>
            </a:r>
            <a:br>
              <a:rPr lang="en-US" altLang="zh-CN" sz="2200" dirty="0">
                <a:sym typeface="+mn-ea"/>
              </a:rPr>
            </a:br>
            <a:r>
              <a:rPr lang="zh-CN" altLang="zh-CN" sz="2200" dirty="0">
                <a:sym typeface="+mn-ea"/>
              </a:rPr>
              <a:t>内网络中的某信道所能通过的“</a:t>
            </a:r>
            <a:r>
              <a:rPr lang="zh-CN" altLang="zh-CN" sz="2200" dirty="0">
                <a:solidFill>
                  <a:srgbClr val="C00000"/>
                </a:solidFill>
                <a:sym typeface="+mn-ea"/>
              </a:rPr>
              <a:t>最高数据率</a:t>
            </a:r>
            <a:r>
              <a:rPr lang="zh-CN" altLang="zh-CN" sz="2200" dirty="0">
                <a:sym typeface="+mn-ea"/>
              </a:rPr>
              <a:t>”</a:t>
            </a:r>
            <a:endParaRPr lang="en-US" altLang="zh-CN" sz="2200" dirty="0">
              <a:sym typeface="+mn-ea"/>
            </a:endParaRPr>
          </a:p>
          <a:p>
            <a:pPr lvl="1" algn="l">
              <a:lnSpc>
                <a:spcPct val="110000"/>
              </a:lnSpc>
              <a:spcBef>
                <a:spcPts val="0"/>
              </a:spcBef>
              <a:spcAft>
                <a:spcPts val="0"/>
              </a:spcAft>
            </a:pPr>
            <a:r>
              <a:rPr lang="zh-CN" altLang="en-US" sz="2200" dirty="0">
                <a:sym typeface="+mn-ea"/>
              </a:rPr>
              <a:t>单位是 </a:t>
            </a:r>
            <a:r>
              <a:rPr lang="en-US" altLang="zh-CN" sz="2200" dirty="0">
                <a:sym typeface="+mn-ea"/>
              </a:rPr>
              <a:t>bit/s</a:t>
            </a:r>
            <a:r>
              <a:rPr lang="zh-CN" altLang="en-US" sz="2200" dirty="0">
                <a:sym typeface="+mn-ea"/>
              </a:rPr>
              <a:t>，即</a:t>
            </a:r>
            <a:r>
              <a:rPr lang="en-US" altLang="zh-CN" sz="2200" dirty="0">
                <a:sym typeface="+mn-ea"/>
              </a:rPr>
              <a:t> </a:t>
            </a:r>
            <a:r>
              <a:rPr lang="zh-CN" altLang="en-US" sz="2200" dirty="0">
                <a:sym typeface="+mn-ea"/>
              </a:rPr>
              <a:t>“比特每秒”</a:t>
            </a:r>
            <a:endParaRPr lang="zh-CN" altLang="en-US" sz="2200" dirty="0">
              <a:sym typeface="+mn-ea"/>
            </a:endParaRPr>
          </a:p>
          <a:p>
            <a:pPr lvl="0" algn="l">
              <a:lnSpc>
                <a:spcPct val="110000"/>
              </a:lnSpc>
              <a:spcBef>
                <a:spcPts val="0"/>
              </a:spcBef>
              <a:spcAft>
                <a:spcPts val="0"/>
              </a:spcAft>
              <a:buClrTx/>
              <a:buSzTx/>
              <a:buChar char="Ø"/>
            </a:pPr>
            <a:r>
              <a:rPr kumimoji="1" lang="zh-CN" altLang="en-US" dirty="0">
                <a:sym typeface="+mn-ea"/>
              </a:rPr>
              <a:t>包转发率</a:t>
            </a:r>
            <a:r>
              <a:rPr kumimoji="1" lang="en-US" altLang="zh-CN" dirty="0">
                <a:sym typeface="+mn-ea"/>
              </a:rPr>
              <a:t>(</a:t>
            </a:r>
            <a:r>
              <a:rPr kumimoji="1" lang="zh-CN" altLang="en-US" dirty="0">
                <a:sym typeface="+mn-ea"/>
              </a:rPr>
              <a:t>PPS</a:t>
            </a:r>
            <a:r>
              <a:rPr kumimoji="1" lang="en-US" altLang="zh-CN" dirty="0">
                <a:sym typeface="+mn-ea"/>
              </a:rPr>
              <a:t>)</a:t>
            </a:r>
            <a:endParaRPr kumimoji="1" lang="zh-CN" altLang="en-US" dirty="0">
              <a:sym typeface="+mn-ea"/>
            </a:endParaRPr>
          </a:p>
          <a:p>
            <a:pPr lvl="1" algn="l">
              <a:lnSpc>
                <a:spcPct val="110000"/>
              </a:lnSpc>
              <a:spcBef>
                <a:spcPts val="0"/>
              </a:spcBef>
              <a:spcAft>
                <a:spcPts val="0"/>
              </a:spcAft>
              <a:buClrTx/>
              <a:buSzTx/>
              <a:buChar char="•"/>
            </a:pPr>
            <a:r>
              <a:rPr lang="zh-CN" altLang="en-US" sz="2200" dirty="0">
                <a:effectLst/>
                <a:cs typeface="微软雅黑" panose="020B0503020204020204" pitchFamily="34" charset="-122"/>
                <a:sym typeface="+mn-ea"/>
              </a:rPr>
              <a:t>全称是Packet Per Second</a:t>
            </a:r>
            <a:r>
              <a:rPr lang="en-US" altLang="zh-CN" sz="2200" dirty="0">
                <a:effectLst/>
                <a:cs typeface="微软雅黑" panose="020B0503020204020204" pitchFamily="34" charset="-122"/>
                <a:sym typeface="+mn-ea"/>
              </a:rPr>
              <a:t>(</a:t>
            </a:r>
            <a:r>
              <a:rPr lang="zh-CN" altLang="en-US" sz="2200" dirty="0">
                <a:effectLst/>
                <a:cs typeface="微软雅黑" panose="020B0503020204020204" pitchFamily="34" charset="-122"/>
                <a:sym typeface="+mn-ea"/>
              </a:rPr>
              <a:t>包/秒</a:t>
            </a:r>
            <a:r>
              <a:rPr lang="en-US" altLang="zh-CN" sz="2200" dirty="0">
                <a:effectLst/>
                <a:cs typeface="微软雅黑" panose="020B0503020204020204" pitchFamily="34" charset="-122"/>
                <a:sym typeface="+mn-ea"/>
              </a:rPr>
              <a:t>)</a:t>
            </a:r>
            <a:r>
              <a:rPr lang="zh-CN" altLang="en-US" sz="2200" dirty="0">
                <a:effectLst/>
                <a:cs typeface="微软雅黑" panose="020B0503020204020204" pitchFamily="34" charset="-122"/>
                <a:sym typeface="+mn-ea"/>
              </a:rPr>
              <a:t>，表示交换机或路由器等网络设备以包为单位的转发速率</a:t>
            </a:r>
            <a:endParaRPr lang="zh-CN" altLang="en-US" sz="2200" dirty="0">
              <a:effectLst/>
              <a:cs typeface="微软雅黑" panose="020B0503020204020204" pitchFamily="34" charset="-122"/>
              <a:sym typeface="+mn-ea"/>
            </a:endParaRPr>
          </a:p>
          <a:p>
            <a:pPr lvl="1" algn="l">
              <a:lnSpc>
                <a:spcPct val="110000"/>
              </a:lnSpc>
              <a:spcBef>
                <a:spcPts val="0"/>
              </a:spcBef>
              <a:spcAft>
                <a:spcPts val="0"/>
              </a:spcAft>
              <a:buClrTx/>
              <a:buSzTx/>
              <a:buChar char="•"/>
            </a:pPr>
            <a:r>
              <a:rPr lang="zh-CN" altLang="en-US" sz="2200" dirty="0">
                <a:solidFill>
                  <a:srgbClr val="C00000"/>
                </a:solidFill>
                <a:effectLst/>
                <a:cs typeface="微软雅黑" panose="020B0503020204020204" pitchFamily="34" charset="-122"/>
                <a:sym typeface="+mn-ea"/>
              </a:rPr>
              <a:t>线速转发</a:t>
            </a:r>
            <a:r>
              <a:rPr lang="zh-CN" altLang="en-US" sz="2200" dirty="0">
                <a:sym typeface="+mn-ea"/>
              </a:rPr>
              <a:t>：交换机</a:t>
            </a:r>
            <a:r>
              <a:rPr lang="zh-CN" altLang="en-US" sz="2200" dirty="0">
                <a:effectLst/>
                <a:cs typeface="微软雅黑" panose="020B0503020204020204" pitchFamily="34" charset="-122"/>
                <a:sym typeface="+mn-ea"/>
              </a:rPr>
              <a:t>端口在满负载的情况下，对帧进行转发时能够达到该端口线路的最高速度</a:t>
            </a:r>
            <a:endParaRPr lang="zh-CN" altLang="en-US" sz="2200" dirty="0">
              <a:effectLst/>
              <a:cs typeface="微软雅黑" panose="020B0503020204020204" pitchFamily="34" charset="-122"/>
              <a:sym typeface="+mn-ea"/>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pSp>
        <p:nvGrpSpPr>
          <p:cNvPr id="6" name="组合 5"/>
          <p:cNvGrpSpPr/>
          <p:nvPr/>
        </p:nvGrpSpPr>
        <p:grpSpPr>
          <a:xfrm>
            <a:off x="7222000" y="2121104"/>
            <a:ext cx="4612640" cy="2004060"/>
            <a:chOff x="11535" y="3329"/>
            <a:chExt cx="7264" cy="3156"/>
          </a:xfrm>
        </p:grpSpPr>
        <p:cxnSp>
          <p:nvCxnSpPr>
            <p:cNvPr id="77837" name="Straight Connector 42"/>
            <p:cNvCxnSpPr/>
            <p:nvPr/>
          </p:nvCxnSpPr>
          <p:spPr>
            <a:xfrm flipV="1">
              <a:off x="12845" y="5817"/>
              <a:ext cx="1526" cy="7"/>
            </a:xfrm>
            <a:prstGeom prst="line">
              <a:avLst/>
            </a:prstGeom>
            <a:ln w="19050" cap="flat" cmpd="sng">
              <a:solidFill>
                <a:srgbClr val="000000"/>
              </a:solidFill>
              <a:prstDash val="solid"/>
              <a:round/>
              <a:headEnd type="none" w="med" len="med"/>
              <a:tailEnd type="none" w="med" len="med"/>
            </a:ln>
          </p:spPr>
        </p:cxnSp>
        <p:cxnSp>
          <p:nvCxnSpPr>
            <p:cNvPr id="77854" name="Straight Connector 47"/>
            <p:cNvCxnSpPr/>
            <p:nvPr/>
          </p:nvCxnSpPr>
          <p:spPr>
            <a:xfrm flipV="1">
              <a:off x="15399" y="5824"/>
              <a:ext cx="2737" cy="0"/>
            </a:xfrm>
            <a:prstGeom prst="line">
              <a:avLst/>
            </a:prstGeom>
            <a:ln w="19050" cap="flat" cmpd="sng">
              <a:solidFill>
                <a:srgbClr val="000000"/>
              </a:solidFill>
              <a:prstDash val="solid"/>
              <a:round/>
              <a:headEnd type="none" w="med" len="med"/>
              <a:tailEnd type="none" w="med" len="med"/>
            </a:ln>
          </p:spPr>
        </p:cxnSp>
        <p:grpSp>
          <p:nvGrpSpPr>
            <p:cNvPr id="5" name="组合 4"/>
            <p:cNvGrpSpPr/>
            <p:nvPr/>
          </p:nvGrpSpPr>
          <p:grpSpPr>
            <a:xfrm>
              <a:off x="14660" y="5111"/>
              <a:ext cx="975" cy="452"/>
              <a:chOff x="3168" y="4055"/>
              <a:chExt cx="975" cy="452"/>
            </a:xfrm>
          </p:grpSpPr>
          <p:sp>
            <p:nvSpPr>
              <p:cNvPr id="77859" name="TextBox 52"/>
              <p:cNvSpPr txBox="1"/>
              <p:nvPr/>
            </p:nvSpPr>
            <p:spPr>
              <a:xfrm>
                <a:off x="3773" y="4055"/>
                <a:ext cx="370" cy="443"/>
              </a:xfrm>
              <a:prstGeom prst="rect">
                <a:avLst/>
              </a:prstGeom>
              <a:noFill/>
              <a:ln w="9525">
                <a:noFill/>
              </a:ln>
            </p:spPr>
            <p:txBody>
              <a:bodyPr wrap="none" anchor="t">
                <a:spAutoFit/>
              </a:bodyPr>
              <a:lstStyle/>
              <a:p>
                <a:r>
                  <a:rPr lang="en-US" altLang="zh-CN" sz="1600">
                    <a:solidFill>
                      <a:srgbClr val="000000"/>
                    </a:solidFill>
                    <a:latin typeface="Calibri" panose="020F0502020204030204" pitchFamily="34" charset="0"/>
                  </a:rPr>
                  <a:t>1</a:t>
                </a:r>
                <a:endParaRPr lang="en-US" altLang="zh-CN" sz="1600">
                  <a:solidFill>
                    <a:srgbClr val="000000"/>
                  </a:solidFill>
                  <a:latin typeface="Calibri" panose="020F0502020204030204" pitchFamily="34" charset="0"/>
                </a:endParaRPr>
              </a:p>
            </p:txBody>
          </p:sp>
          <p:sp>
            <p:nvSpPr>
              <p:cNvPr id="77860" name="TextBox 53"/>
              <p:cNvSpPr txBox="1"/>
              <p:nvPr/>
            </p:nvSpPr>
            <p:spPr>
              <a:xfrm>
                <a:off x="3463" y="4065"/>
                <a:ext cx="370" cy="443"/>
              </a:xfrm>
              <a:prstGeom prst="rect">
                <a:avLst/>
              </a:prstGeom>
              <a:noFill/>
              <a:ln w="9525">
                <a:noFill/>
              </a:ln>
            </p:spPr>
            <p:txBody>
              <a:bodyPr wrap="none" anchor="t">
                <a:spAutoFit/>
              </a:bodyPr>
              <a:lstStyle/>
              <a:p>
                <a:r>
                  <a:rPr lang="en-US" altLang="zh-CN" sz="1600">
                    <a:solidFill>
                      <a:srgbClr val="000000"/>
                    </a:solidFill>
                    <a:latin typeface="Calibri" panose="020F0502020204030204" pitchFamily="34" charset="0"/>
                  </a:rPr>
                  <a:t>2</a:t>
                </a:r>
                <a:endParaRPr lang="en-US" altLang="zh-CN" sz="1600">
                  <a:solidFill>
                    <a:srgbClr val="000000"/>
                  </a:solidFill>
                  <a:latin typeface="Calibri" panose="020F0502020204030204" pitchFamily="34" charset="0"/>
                </a:endParaRPr>
              </a:p>
            </p:txBody>
          </p:sp>
          <p:sp>
            <p:nvSpPr>
              <p:cNvPr id="77861" name="TextBox 54"/>
              <p:cNvSpPr txBox="1"/>
              <p:nvPr/>
            </p:nvSpPr>
            <p:spPr>
              <a:xfrm>
                <a:off x="3168" y="4060"/>
                <a:ext cx="370" cy="443"/>
              </a:xfrm>
              <a:prstGeom prst="rect">
                <a:avLst/>
              </a:prstGeom>
              <a:noFill/>
              <a:ln w="9525">
                <a:noFill/>
              </a:ln>
            </p:spPr>
            <p:txBody>
              <a:bodyPr wrap="none" anchor="t">
                <a:spAutoFit/>
              </a:bodyPr>
              <a:lstStyle/>
              <a:p>
                <a:r>
                  <a:rPr lang="en-US" altLang="zh-CN" sz="1600">
                    <a:solidFill>
                      <a:srgbClr val="000000"/>
                    </a:solidFill>
                    <a:latin typeface="Calibri" panose="020F0502020204030204" pitchFamily="34" charset="0"/>
                  </a:rPr>
                  <a:t>3</a:t>
                </a:r>
                <a:endParaRPr lang="en-US" altLang="zh-CN" sz="1600">
                  <a:solidFill>
                    <a:srgbClr val="000000"/>
                  </a:solidFill>
                  <a:latin typeface="Calibri" panose="020F0502020204030204" pitchFamily="34" charset="0"/>
                </a:endParaRPr>
              </a:p>
            </p:txBody>
          </p:sp>
        </p:grpSp>
        <p:grpSp>
          <p:nvGrpSpPr>
            <p:cNvPr id="77862" name="Group 55"/>
            <p:cNvGrpSpPr/>
            <p:nvPr/>
          </p:nvGrpSpPr>
          <p:grpSpPr>
            <a:xfrm>
              <a:off x="14000" y="4020"/>
              <a:ext cx="3943" cy="1325"/>
              <a:chOff x="593766" y="5264055"/>
              <a:chExt cx="3597129" cy="1011695"/>
            </a:xfrm>
          </p:grpSpPr>
          <p:grpSp>
            <p:nvGrpSpPr>
              <p:cNvPr id="77863" name="Group 56"/>
              <p:cNvGrpSpPr/>
              <p:nvPr/>
            </p:nvGrpSpPr>
            <p:grpSpPr>
              <a:xfrm>
                <a:off x="3527077" y="5264055"/>
                <a:ext cx="617671" cy="927313"/>
                <a:chOff x="2105936" y="5387204"/>
                <a:chExt cx="617671" cy="927313"/>
              </a:xfrm>
            </p:grpSpPr>
            <p:sp>
              <p:nvSpPr>
                <p:cNvPr id="78" name="Rectangle 77"/>
                <p:cNvSpPr/>
                <p:nvPr/>
              </p:nvSpPr>
              <p:spPr>
                <a:xfrm>
                  <a:off x="2577155" y="6049578"/>
                  <a:ext cx="140072" cy="265331"/>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79" name="Freeform 78"/>
                <p:cNvSpPr/>
                <p:nvPr/>
              </p:nvSpPr>
              <p:spPr>
                <a:xfrm>
                  <a:off x="2110248" y="5705984"/>
                  <a:ext cx="466907" cy="608925"/>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0 w 967997"/>
                    <a:gd name="connsiteY0-2" fmla="*/ 0 h 2138362"/>
                    <a:gd name="connsiteX1-3" fmla="*/ 0 w 967997"/>
                    <a:gd name="connsiteY1-4" fmla="*/ 1190625 h 2138362"/>
                    <a:gd name="connsiteX2-5" fmla="*/ 966787 w 967997"/>
                    <a:gd name="connsiteY2-6" fmla="*/ 2138362 h 2138362"/>
                    <a:gd name="connsiteX3-7" fmla="*/ 967618 w 967997"/>
                    <a:gd name="connsiteY3-8" fmla="*/ 1495143 h 2138362"/>
                    <a:gd name="connsiteX4-9" fmla="*/ 0 w 967997"/>
                    <a:gd name="connsiteY4-10" fmla="*/ 0 h 2138362"/>
                    <a:gd name="connsiteX0-11" fmla="*/ 0 w 967997"/>
                    <a:gd name="connsiteY0-12" fmla="*/ 0 h 1424095"/>
                    <a:gd name="connsiteX1-13" fmla="*/ 0 w 967997"/>
                    <a:gd name="connsiteY1-14" fmla="*/ 476358 h 1424095"/>
                    <a:gd name="connsiteX2-15" fmla="*/ 966787 w 967997"/>
                    <a:gd name="connsiteY2-16" fmla="*/ 1424095 h 1424095"/>
                    <a:gd name="connsiteX3-17" fmla="*/ 967618 w 967997"/>
                    <a:gd name="connsiteY3-18" fmla="*/ 780876 h 1424095"/>
                    <a:gd name="connsiteX4-19" fmla="*/ 0 w 967997"/>
                    <a:gd name="connsiteY4-20" fmla="*/ 0 h 14240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7997" h="1424095">
                      <a:moveTo>
                        <a:pt x="0" y="0"/>
                      </a:moveTo>
                      <a:lnTo>
                        <a:pt x="0" y="476358"/>
                      </a:lnTo>
                      <a:lnTo>
                        <a:pt x="966787" y="1424095"/>
                      </a:lnTo>
                      <a:cubicBezTo>
                        <a:pt x="965200" y="958958"/>
                        <a:pt x="969205" y="1246013"/>
                        <a:pt x="967618" y="780876"/>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80" name="Freeform 79"/>
                <p:cNvSpPr/>
                <p:nvPr/>
              </p:nvSpPr>
              <p:spPr>
                <a:xfrm>
                  <a:off x="2106358" y="5688804"/>
                  <a:ext cx="616705" cy="355048"/>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 name="connsiteX0-161" fmla="*/ 233363 w 1277416"/>
                    <a:gd name="connsiteY0-162" fmla="*/ 0 h 813350"/>
                    <a:gd name="connsiteX1-163" fmla="*/ 0 w 1277416"/>
                    <a:gd name="connsiteY1-164" fmla="*/ 9439 h 813350"/>
                    <a:gd name="connsiteX2-165" fmla="*/ 952500 w 1277416"/>
                    <a:gd name="connsiteY2-166" fmla="*/ 752735 h 813350"/>
                    <a:gd name="connsiteX3-167" fmla="*/ 1277416 w 1277416"/>
                    <a:gd name="connsiteY3-168" fmla="*/ 813350 h 813350"/>
                    <a:gd name="connsiteX4-169" fmla="*/ 233363 w 1277416"/>
                    <a:gd name="connsiteY4-170" fmla="*/ 0 h 813350"/>
                    <a:gd name="connsiteX0-171" fmla="*/ 233363 w 1277416"/>
                    <a:gd name="connsiteY0-172" fmla="*/ 0 h 814795"/>
                    <a:gd name="connsiteX1-173" fmla="*/ 0 w 1277416"/>
                    <a:gd name="connsiteY1-174" fmla="*/ 9439 h 814795"/>
                    <a:gd name="connsiteX2-175" fmla="*/ 980474 w 1277416"/>
                    <a:gd name="connsiteY2-176" fmla="*/ 814795 h 814795"/>
                    <a:gd name="connsiteX3-177" fmla="*/ 1277416 w 1277416"/>
                    <a:gd name="connsiteY3-178" fmla="*/ 813350 h 814795"/>
                    <a:gd name="connsiteX4-179" fmla="*/ 233363 w 1277416"/>
                    <a:gd name="connsiteY4-180" fmla="*/ 0 h 8147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77416" h="814795">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81" name="Freeform 80"/>
                <p:cNvSpPr/>
                <p:nvPr/>
              </p:nvSpPr>
              <p:spPr>
                <a:xfrm>
                  <a:off x="2114139" y="5396749"/>
                  <a:ext cx="595306" cy="647102"/>
                </a:xfrm>
                <a:custGeom>
                  <a:avLst/>
                  <a:gdLst>
                    <a:gd name="connsiteX0" fmla="*/ 5411 w 597877"/>
                    <a:gd name="connsiteY0" fmla="*/ 13527 h 646573"/>
                    <a:gd name="connsiteX1" fmla="*/ 0 w 597877"/>
                    <a:gd name="connsiteY1" fmla="*/ 305702 h 646573"/>
                    <a:gd name="connsiteX2" fmla="*/ 457200 w 597877"/>
                    <a:gd name="connsiteY2" fmla="*/ 646573 h 646573"/>
                    <a:gd name="connsiteX3" fmla="*/ 597877 w 597877"/>
                    <a:gd name="connsiteY3" fmla="*/ 646573 h 646573"/>
                    <a:gd name="connsiteX4" fmla="*/ 595172 w 597877"/>
                    <a:gd name="connsiteY4" fmla="*/ 321934 h 646573"/>
                    <a:gd name="connsiteX5" fmla="*/ 110919 w 597877"/>
                    <a:gd name="connsiteY5" fmla="*/ 0 h 646573"/>
                    <a:gd name="connsiteX6" fmla="*/ 5411 w 597877"/>
                    <a:gd name="connsiteY6" fmla="*/ 13527 h 64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877" h="646573">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w="12700" cap="flat" cmpd="sng" algn="ctr">
                  <a:solidFill>
                    <a:sysClr val="windowText" lastClr="000000"/>
                  </a:solidFill>
                  <a:prstDash val="sysDash"/>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cxnSp>
              <p:nvCxnSpPr>
                <p:cNvPr id="77868" name="Straight Connector 81"/>
                <p:cNvCxnSpPr>
                  <a:stCxn id="81" idx="0"/>
                </p:cNvCxnSpPr>
                <p:nvPr/>
              </p:nvCxnSpPr>
              <p:spPr>
                <a:xfrm>
                  <a:off x="2118270" y="5410651"/>
                  <a:ext cx="446379" cy="311112"/>
                </a:xfrm>
                <a:prstGeom prst="line">
                  <a:avLst/>
                </a:prstGeom>
                <a:ln w="12700" cap="flat" cmpd="sng">
                  <a:solidFill>
                    <a:srgbClr val="000000"/>
                  </a:solidFill>
                  <a:prstDash val="sysDash"/>
                  <a:round/>
                  <a:headEnd type="none" w="med" len="med"/>
                  <a:tailEnd type="none" w="med" len="med"/>
                </a:ln>
              </p:spPr>
            </p:cxnSp>
            <p:cxnSp>
              <p:nvCxnSpPr>
                <p:cNvPr id="77869" name="Straight Connector 82"/>
                <p:cNvCxnSpPr>
                  <a:stCxn id="81" idx="0"/>
                  <a:endCxn id="81" idx="4"/>
                </p:cNvCxnSpPr>
                <p:nvPr/>
              </p:nvCxnSpPr>
              <p:spPr>
                <a:xfrm flipV="1">
                  <a:off x="2567354" y="5719058"/>
                  <a:ext cx="140677" cy="2705"/>
                </a:xfrm>
                <a:prstGeom prst="line">
                  <a:avLst/>
                </a:prstGeom>
                <a:ln w="12700" cap="flat" cmpd="sng">
                  <a:solidFill>
                    <a:srgbClr val="000000"/>
                  </a:solidFill>
                  <a:prstDash val="sysDash"/>
                  <a:round/>
                  <a:headEnd type="none" w="med" len="med"/>
                  <a:tailEnd type="none" w="med" len="med"/>
                </a:ln>
              </p:spPr>
            </p:cxnSp>
            <p:cxnSp>
              <p:nvCxnSpPr>
                <p:cNvPr id="77870" name="Straight Connector 83"/>
                <p:cNvCxnSpPr>
                  <a:stCxn id="81" idx="0"/>
                  <a:endCxn id="81" idx="2"/>
                </p:cNvCxnSpPr>
                <p:nvPr/>
              </p:nvCxnSpPr>
              <p:spPr>
                <a:xfrm flipH="1">
                  <a:off x="2570059" y="5721763"/>
                  <a:ext cx="2705" cy="321934"/>
                </a:xfrm>
                <a:prstGeom prst="line">
                  <a:avLst/>
                </a:prstGeom>
                <a:ln w="12700" cap="flat" cmpd="sng">
                  <a:solidFill>
                    <a:srgbClr val="000000"/>
                  </a:solidFill>
                  <a:prstDash val="sysDash"/>
                  <a:round/>
                  <a:headEnd type="none" w="med" len="med"/>
                  <a:tailEnd type="none" w="med" len="med"/>
                </a:ln>
              </p:spPr>
            </p:cxnSp>
            <p:cxnSp>
              <p:nvCxnSpPr>
                <p:cNvPr id="77871" name="Straight Connector 84"/>
                <p:cNvCxnSpPr>
                  <a:stCxn id="81" idx="0"/>
                  <a:endCxn id="81" idx="2"/>
                </p:cNvCxnSpPr>
                <p:nvPr/>
              </p:nvCxnSpPr>
              <p:spPr>
                <a:xfrm flipH="1">
                  <a:off x="2221974" y="5387204"/>
                  <a:ext cx="2705" cy="321934"/>
                </a:xfrm>
                <a:prstGeom prst="line">
                  <a:avLst/>
                </a:prstGeom>
                <a:ln w="12700" cap="flat" cmpd="sng">
                  <a:solidFill>
                    <a:srgbClr val="000000"/>
                  </a:solidFill>
                  <a:prstDash val="sysDash"/>
                  <a:round/>
                  <a:headEnd type="none" w="med" len="med"/>
                  <a:tailEnd type="none" w="med" len="med"/>
                </a:ln>
              </p:spPr>
            </p:cxnSp>
          </p:grpSp>
          <p:grpSp>
            <p:nvGrpSpPr>
              <p:cNvPr id="77872" name="Group 57"/>
              <p:cNvGrpSpPr/>
              <p:nvPr/>
            </p:nvGrpSpPr>
            <p:grpSpPr>
              <a:xfrm>
                <a:off x="1326802" y="5273580"/>
                <a:ext cx="617671" cy="927313"/>
                <a:chOff x="2105936" y="5387204"/>
                <a:chExt cx="617671" cy="927313"/>
              </a:xfrm>
            </p:grpSpPr>
            <p:sp>
              <p:nvSpPr>
                <p:cNvPr id="70" name="Freeform 69"/>
                <p:cNvSpPr/>
                <p:nvPr/>
              </p:nvSpPr>
              <p:spPr>
                <a:xfrm>
                  <a:off x="2110224" y="5706003"/>
                  <a:ext cx="466907" cy="60892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0 w 967997"/>
                    <a:gd name="connsiteY0-2" fmla="*/ 0 h 2138362"/>
                    <a:gd name="connsiteX1-3" fmla="*/ 0 w 967997"/>
                    <a:gd name="connsiteY1-4" fmla="*/ 1190625 h 2138362"/>
                    <a:gd name="connsiteX2-5" fmla="*/ 966787 w 967997"/>
                    <a:gd name="connsiteY2-6" fmla="*/ 2138362 h 2138362"/>
                    <a:gd name="connsiteX3-7" fmla="*/ 967618 w 967997"/>
                    <a:gd name="connsiteY3-8" fmla="*/ 1495143 h 2138362"/>
                    <a:gd name="connsiteX4-9" fmla="*/ 0 w 967997"/>
                    <a:gd name="connsiteY4-10" fmla="*/ 0 h 2138362"/>
                    <a:gd name="connsiteX0-11" fmla="*/ 0 w 967997"/>
                    <a:gd name="connsiteY0-12" fmla="*/ 0 h 1424095"/>
                    <a:gd name="connsiteX1-13" fmla="*/ 0 w 967997"/>
                    <a:gd name="connsiteY1-14" fmla="*/ 476358 h 1424095"/>
                    <a:gd name="connsiteX2-15" fmla="*/ 966787 w 967997"/>
                    <a:gd name="connsiteY2-16" fmla="*/ 1424095 h 1424095"/>
                    <a:gd name="connsiteX3-17" fmla="*/ 967618 w 967997"/>
                    <a:gd name="connsiteY3-18" fmla="*/ 780876 h 1424095"/>
                    <a:gd name="connsiteX4-19" fmla="*/ 0 w 967997"/>
                    <a:gd name="connsiteY4-20" fmla="*/ 0 h 14240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7997" h="1424095">
                      <a:moveTo>
                        <a:pt x="0" y="0"/>
                      </a:moveTo>
                      <a:lnTo>
                        <a:pt x="0" y="476358"/>
                      </a:lnTo>
                      <a:lnTo>
                        <a:pt x="966787" y="1424095"/>
                      </a:lnTo>
                      <a:cubicBezTo>
                        <a:pt x="965200" y="958958"/>
                        <a:pt x="969205" y="1246013"/>
                        <a:pt x="967618" y="780876"/>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71" name="Freeform 70"/>
                <p:cNvSpPr/>
                <p:nvPr/>
              </p:nvSpPr>
              <p:spPr>
                <a:xfrm>
                  <a:off x="2106333" y="5688824"/>
                  <a:ext cx="616707" cy="355048"/>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 name="connsiteX0-161" fmla="*/ 233363 w 1277416"/>
                    <a:gd name="connsiteY0-162" fmla="*/ 0 h 813350"/>
                    <a:gd name="connsiteX1-163" fmla="*/ 0 w 1277416"/>
                    <a:gd name="connsiteY1-164" fmla="*/ 9439 h 813350"/>
                    <a:gd name="connsiteX2-165" fmla="*/ 952500 w 1277416"/>
                    <a:gd name="connsiteY2-166" fmla="*/ 752735 h 813350"/>
                    <a:gd name="connsiteX3-167" fmla="*/ 1277416 w 1277416"/>
                    <a:gd name="connsiteY3-168" fmla="*/ 813350 h 813350"/>
                    <a:gd name="connsiteX4-169" fmla="*/ 233363 w 1277416"/>
                    <a:gd name="connsiteY4-170" fmla="*/ 0 h 813350"/>
                    <a:gd name="connsiteX0-171" fmla="*/ 233363 w 1277416"/>
                    <a:gd name="connsiteY0-172" fmla="*/ 0 h 814795"/>
                    <a:gd name="connsiteX1-173" fmla="*/ 0 w 1277416"/>
                    <a:gd name="connsiteY1-174" fmla="*/ 9439 h 814795"/>
                    <a:gd name="connsiteX2-175" fmla="*/ 980474 w 1277416"/>
                    <a:gd name="connsiteY2-176" fmla="*/ 814795 h 814795"/>
                    <a:gd name="connsiteX3-177" fmla="*/ 1277416 w 1277416"/>
                    <a:gd name="connsiteY3-178" fmla="*/ 813350 h 814795"/>
                    <a:gd name="connsiteX4-179" fmla="*/ 233363 w 1277416"/>
                    <a:gd name="connsiteY4-180" fmla="*/ 0 h 8147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77416" h="814795">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72" name="Rectangle 71"/>
                <p:cNvSpPr/>
                <p:nvPr/>
              </p:nvSpPr>
              <p:spPr>
                <a:xfrm>
                  <a:off x="2577131" y="6049598"/>
                  <a:ext cx="140072" cy="265332"/>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73" name="Freeform 72"/>
                <p:cNvSpPr/>
                <p:nvPr/>
              </p:nvSpPr>
              <p:spPr>
                <a:xfrm>
                  <a:off x="2114115" y="5396768"/>
                  <a:ext cx="595306" cy="647103"/>
                </a:xfrm>
                <a:custGeom>
                  <a:avLst/>
                  <a:gdLst>
                    <a:gd name="connsiteX0" fmla="*/ 5411 w 597877"/>
                    <a:gd name="connsiteY0" fmla="*/ 13527 h 646573"/>
                    <a:gd name="connsiteX1" fmla="*/ 0 w 597877"/>
                    <a:gd name="connsiteY1" fmla="*/ 305702 h 646573"/>
                    <a:gd name="connsiteX2" fmla="*/ 457200 w 597877"/>
                    <a:gd name="connsiteY2" fmla="*/ 646573 h 646573"/>
                    <a:gd name="connsiteX3" fmla="*/ 597877 w 597877"/>
                    <a:gd name="connsiteY3" fmla="*/ 646573 h 646573"/>
                    <a:gd name="connsiteX4" fmla="*/ 595172 w 597877"/>
                    <a:gd name="connsiteY4" fmla="*/ 321934 h 646573"/>
                    <a:gd name="connsiteX5" fmla="*/ 110919 w 597877"/>
                    <a:gd name="connsiteY5" fmla="*/ 0 h 646573"/>
                    <a:gd name="connsiteX6" fmla="*/ 5411 w 597877"/>
                    <a:gd name="connsiteY6" fmla="*/ 13527 h 64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877" h="646573">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w="12700" cap="flat" cmpd="sng" algn="ctr">
                  <a:solidFill>
                    <a:sysClr val="windowText" lastClr="000000"/>
                  </a:solidFill>
                  <a:prstDash val="sysDash"/>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cxnSp>
              <p:nvCxnSpPr>
                <p:cNvPr id="77877" name="Straight Connector 73"/>
                <p:cNvCxnSpPr>
                  <a:stCxn id="73" idx="0"/>
                  <a:endCxn id="81" idx="2"/>
                </p:cNvCxnSpPr>
                <p:nvPr/>
              </p:nvCxnSpPr>
              <p:spPr>
                <a:xfrm>
                  <a:off x="2118270" y="5410651"/>
                  <a:ext cx="446379" cy="311112"/>
                </a:xfrm>
                <a:prstGeom prst="line">
                  <a:avLst/>
                </a:prstGeom>
                <a:ln w="12700" cap="flat" cmpd="sng">
                  <a:solidFill>
                    <a:srgbClr val="000000"/>
                  </a:solidFill>
                  <a:prstDash val="sysDash"/>
                  <a:round/>
                  <a:headEnd type="none" w="med" len="med"/>
                  <a:tailEnd type="none" w="med" len="med"/>
                </a:ln>
              </p:spPr>
            </p:cxnSp>
            <p:cxnSp>
              <p:nvCxnSpPr>
                <p:cNvPr id="77878" name="Straight Connector 74"/>
                <p:cNvCxnSpPr>
                  <a:stCxn id="73" idx="0"/>
                  <a:endCxn id="73" idx="4"/>
                </p:cNvCxnSpPr>
                <p:nvPr/>
              </p:nvCxnSpPr>
              <p:spPr>
                <a:xfrm flipV="1">
                  <a:off x="2567354" y="5719058"/>
                  <a:ext cx="140677" cy="2705"/>
                </a:xfrm>
                <a:prstGeom prst="line">
                  <a:avLst/>
                </a:prstGeom>
                <a:ln w="12700" cap="flat" cmpd="sng">
                  <a:solidFill>
                    <a:srgbClr val="000000"/>
                  </a:solidFill>
                  <a:prstDash val="sysDash"/>
                  <a:round/>
                  <a:headEnd type="none" w="med" len="med"/>
                  <a:tailEnd type="none" w="med" len="med"/>
                </a:ln>
              </p:spPr>
            </p:cxnSp>
            <p:cxnSp>
              <p:nvCxnSpPr>
                <p:cNvPr id="77879" name="Straight Connector 75"/>
                <p:cNvCxnSpPr>
                  <a:stCxn id="73" idx="0"/>
                  <a:endCxn id="73" idx="2"/>
                </p:cNvCxnSpPr>
                <p:nvPr/>
              </p:nvCxnSpPr>
              <p:spPr>
                <a:xfrm flipH="1">
                  <a:off x="2570059" y="5721763"/>
                  <a:ext cx="2705" cy="321934"/>
                </a:xfrm>
                <a:prstGeom prst="line">
                  <a:avLst/>
                </a:prstGeom>
                <a:ln w="12700" cap="flat" cmpd="sng">
                  <a:solidFill>
                    <a:srgbClr val="000000"/>
                  </a:solidFill>
                  <a:prstDash val="sysDash"/>
                  <a:round/>
                  <a:headEnd type="none" w="med" len="med"/>
                  <a:tailEnd type="none" w="med" len="med"/>
                </a:ln>
              </p:spPr>
            </p:cxnSp>
            <p:cxnSp>
              <p:nvCxnSpPr>
                <p:cNvPr id="77880" name="Straight Connector 76"/>
                <p:cNvCxnSpPr>
                  <a:stCxn id="73" idx="0"/>
                  <a:endCxn id="73" idx="2"/>
                </p:cNvCxnSpPr>
                <p:nvPr/>
              </p:nvCxnSpPr>
              <p:spPr>
                <a:xfrm flipH="1">
                  <a:off x="2221974" y="5387204"/>
                  <a:ext cx="2705" cy="321934"/>
                </a:xfrm>
                <a:prstGeom prst="line">
                  <a:avLst/>
                </a:prstGeom>
                <a:ln w="12700" cap="flat" cmpd="sng">
                  <a:solidFill>
                    <a:srgbClr val="000000"/>
                  </a:solidFill>
                  <a:prstDash val="sysDash"/>
                  <a:round/>
                  <a:headEnd type="none" w="med" len="med"/>
                  <a:tailEnd type="none" w="med" len="med"/>
                </a:ln>
              </p:spPr>
            </p:cxnSp>
          </p:grpSp>
          <p:grpSp>
            <p:nvGrpSpPr>
              <p:cNvPr id="77881" name="Group 58"/>
              <p:cNvGrpSpPr/>
              <p:nvPr/>
            </p:nvGrpSpPr>
            <p:grpSpPr>
              <a:xfrm>
                <a:off x="971797" y="5294415"/>
                <a:ext cx="605641" cy="915203"/>
                <a:chOff x="335231" y="4405745"/>
                <a:chExt cx="1252537" cy="2138362"/>
              </a:xfrm>
            </p:grpSpPr>
            <p:sp>
              <p:nvSpPr>
                <p:cNvPr id="67" name="Freeform 66"/>
                <p:cNvSpPr/>
                <p:nvPr/>
              </p:nvSpPr>
              <p:spPr>
                <a:xfrm>
                  <a:off x="333961" y="4406169"/>
                  <a:ext cx="969641" cy="213635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8" name="Freeform 67"/>
                <p:cNvSpPr/>
                <p:nvPr/>
              </p:nvSpPr>
              <p:spPr>
                <a:xfrm>
                  <a:off x="350055" y="4410631"/>
                  <a:ext cx="1239211" cy="77158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9" name="Rectangle 68"/>
                <p:cNvSpPr/>
                <p:nvPr/>
              </p:nvSpPr>
              <p:spPr>
                <a:xfrm>
                  <a:off x="1299580" y="5177755"/>
                  <a:ext cx="289686" cy="1351386"/>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grpSp>
          <p:sp>
            <p:nvSpPr>
              <p:cNvPr id="60" name="Rectangle 59"/>
              <p:cNvSpPr/>
              <p:nvPr/>
            </p:nvSpPr>
            <p:spPr>
              <a:xfrm>
                <a:off x="1838851" y="6126859"/>
                <a:ext cx="2180844" cy="64901"/>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Right Arrow 60"/>
              <p:cNvSpPr/>
              <p:nvPr/>
            </p:nvSpPr>
            <p:spPr>
              <a:xfrm>
                <a:off x="2556720" y="6056232"/>
                <a:ext cx="266527" cy="219518"/>
              </a:xfrm>
              <a:prstGeom prst="rightArrow">
                <a:avLst>
                  <a:gd name="adj1" fmla="val 13889"/>
                  <a:gd name="adj2" fmla="val 53704"/>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77887" name="Group 61"/>
              <p:cNvGrpSpPr/>
              <p:nvPr/>
            </p:nvGrpSpPr>
            <p:grpSpPr>
              <a:xfrm>
                <a:off x="593766" y="5284519"/>
                <a:ext cx="605641" cy="915203"/>
                <a:chOff x="335231" y="4405745"/>
                <a:chExt cx="1252537" cy="2138362"/>
              </a:xfrm>
            </p:grpSpPr>
            <p:sp>
              <p:nvSpPr>
                <p:cNvPr id="64" name="Freeform 63"/>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5" name="Freeform 64"/>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6" name="Rectangle 65"/>
                <p:cNvSpPr/>
                <p:nvPr/>
              </p:nvSpPr>
              <p:spPr>
                <a:xfrm>
                  <a:off x="1296825" y="5178575"/>
                  <a:ext cx="289686" cy="1351389"/>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grpSp>
          <p:sp>
            <p:nvSpPr>
              <p:cNvPr id="63" name="Right Arrow 62"/>
              <p:cNvSpPr/>
              <p:nvPr/>
            </p:nvSpPr>
            <p:spPr>
              <a:xfrm rot="16354074">
                <a:off x="3947347" y="5684790"/>
                <a:ext cx="267240" cy="219835"/>
              </a:xfrm>
              <a:prstGeom prst="rightArrow">
                <a:avLst>
                  <a:gd name="adj1" fmla="val 13889"/>
                  <a:gd name="adj2" fmla="val 53704"/>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77892" name="TextBox 101"/>
            <p:cNvSpPr txBox="1"/>
            <p:nvPr/>
          </p:nvSpPr>
          <p:spPr>
            <a:xfrm>
              <a:off x="13488" y="3329"/>
              <a:ext cx="3797" cy="487"/>
            </a:xfrm>
            <a:prstGeom prst="rect">
              <a:avLst/>
            </a:prstGeom>
            <a:noFill/>
            <a:ln w="9525">
              <a:noFill/>
            </a:ln>
          </p:spPr>
          <p:txBody>
            <a:bodyPr wrap="square" anchor="t">
              <a:spAutoFit/>
            </a:bodyPr>
            <a:lstStyle/>
            <a:p>
              <a:pPr>
                <a:lnSpc>
                  <a:spcPts val="1700"/>
                </a:lnSpc>
              </a:pPr>
              <a:r>
                <a:rPr lang="en-US" altLang="zh-CN" sz="2400" i="1" dirty="0">
                  <a:solidFill>
                    <a:srgbClr val="000000"/>
                  </a:solidFill>
                  <a:latin typeface="Times New Roman" panose="02020603050405020304" pitchFamily="18" charset="0"/>
                  <a:cs typeface="Times New Roman" panose="02020603050405020304" pitchFamily="18" charset="0"/>
                </a:rPr>
                <a:t>L</a:t>
              </a:r>
              <a:r>
                <a:rPr lang="en-US" altLang="zh-CN" sz="2400" dirty="0">
                  <a:solidFill>
                    <a:srgbClr val="000000"/>
                  </a:solidFill>
                  <a:latin typeface="Times New Roman" panose="02020603050405020304" pitchFamily="18" charset="0"/>
                  <a:cs typeface="Times New Roman" panose="02020603050405020304" pitchFamily="18" charset="0"/>
                </a:rPr>
                <a:t> bits per packet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grpSp>
          <p:nvGrpSpPr>
            <p:cNvPr id="28" name="Group 137"/>
            <p:cNvGrpSpPr/>
            <p:nvPr/>
          </p:nvGrpSpPr>
          <p:grpSpPr>
            <a:xfrm>
              <a:off x="13917" y="5520"/>
              <a:ext cx="1890" cy="752"/>
              <a:chOff x="3668110" y="2448910"/>
              <a:chExt cx="3794234" cy="2165130"/>
            </a:xfrm>
          </p:grpSpPr>
          <p:sp>
            <p:nvSpPr>
              <p:cNvPr id="29" name="Rectangle 138"/>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Freeform 139"/>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1" name="Group 140"/>
              <p:cNvGrpSpPr/>
              <p:nvPr/>
            </p:nvGrpSpPr>
            <p:grpSpPr>
              <a:xfrm>
                <a:off x="3941378" y="2603243"/>
                <a:ext cx="3202061" cy="1066110"/>
                <a:chOff x="7939341" y="3037317"/>
                <a:chExt cx="897649" cy="353919"/>
              </a:xfrm>
            </p:grpSpPr>
            <p:sp>
              <p:nvSpPr>
                <p:cNvPr id="32" name="Freeform 141"/>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142"/>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Freeform 143"/>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144"/>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8" name="Group 347"/>
            <p:cNvGrpSpPr/>
            <p:nvPr/>
          </p:nvGrpSpPr>
          <p:grpSpPr bwMode="auto">
            <a:xfrm>
              <a:off x="17355" y="5420"/>
              <a:ext cx="1444" cy="765"/>
              <a:chOff x="1871277" y="1576300"/>
              <a:chExt cx="1128371" cy="437861"/>
            </a:xfrm>
          </p:grpSpPr>
          <p:sp>
            <p:nvSpPr>
              <p:cNvPr id="39" name="Oval 201"/>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800">
                  <a:solidFill>
                    <a:srgbClr val="FFFF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Rectangle 202"/>
              <p:cNvSpPr/>
              <p:nvPr/>
            </p:nvSpPr>
            <p:spPr bwMode="auto">
              <a:xfrm>
                <a:off x="1871277" y="1739425"/>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Oval 203"/>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800">
                  <a:solidFill>
                    <a:srgbClr val="FFFF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Freeform 204"/>
              <p:cNvSpPr/>
              <p:nvPr/>
            </p:nvSpPr>
            <p:spPr bwMode="auto">
              <a:xfrm>
                <a:off x="2159402" y="1672887"/>
                <a:ext cx="549283" cy="16097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Freeform 205"/>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Freeform 206"/>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Freeform 207"/>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6" name="Straight Connector 208"/>
              <p:cNvCxnSpPr>
                <a:cxnSpLocks noChangeShapeType="1"/>
                <a:endCxn id="41"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7" name="Straight Connector 209"/>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pic>
          <p:nvPicPr>
            <p:cNvPr id="181302" name="Picture 70" descr="desktop_computer_stylized_medium"/>
            <p:cNvPicPr>
              <a:picLocks noChangeAspect="1"/>
            </p:cNvPicPr>
            <p:nvPr/>
          </p:nvPicPr>
          <p:blipFill>
            <a:blip r:embed="rId1"/>
            <a:stretch>
              <a:fillRect/>
            </a:stretch>
          </p:blipFill>
          <p:spPr>
            <a:xfrm flipH="1">
              <a:off x="11535" y="5034"/>
              <a:ext cx="1633" cy="1451"/>
            </a:xfrm>
            <a:prstGeom prst="rect">
              <a:avLst/>
            </a:prstGeom>
            <a:noFill/>
            <a:ln w="9525">
              <a:noFill/>
            </a:ln>
          </p:spPr>
        </p:pic>
      </p:grpSp>
      <p:sp>
        <p:nvSpPr>
          <p:cNvPr id="8" name="圆角矩形标注 7"/>
          <p:cNvSpPr/>
          <p:nvPr/>
        </p:nvSpPr>
        <p:spPr>
          <a:xfrm>
            <a:off x="8462156" y="4851467"/>
            <a:ext cx="2628115" cy="1269976"/>
          </a:xfrm>
          <a:prstGeom prst="wedgeRoundRectCallout">
            <a:avLst>
              <a:gd name="adj1" fmla="val -23110"/>
              <a:gd name="adj2" fmla="val -106704"/>
              <a:gd name="adj3" fmla="val 166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sz="2200" dirty="0">
                <a:solidFill>
                  <a:prstClr val="black"/>
                </a:solidFill>
                <a:latin typeface="微软雅黑" panose="020B0503020204020204" pitchFamily="34" charset="-122"/>
                <a:ea typeface="微软雅黑" panose="020B0503020204020204" pitchFamily="34" charset="-122"/>
                <a:sym typeface="+mn-ea"/>
              </a:rPr>
              <a:t>在交换机上：大包和小包，哪个更容易实现</a:t>
            </a:r>
            <a:r>
              <a:rPr lang="zh-CN" altLang="en-US" sz="2200" dirty="0">
                <a:solidFill>
                  <a:srgbClr val="C00000"/>
                </a:solidFill>
                <a:latin typeface="微软雅黑" panose="020B0503020204020204" pitchFamily="34" charset="-122"/>
                <a:ea typeface="微软雅黑" panose="020B0503020204020204" pitchFamily="34" charset="-122"/>
                <a:sym typeface="+mn-ea"/>
              </a:rPr>
              <a:t>线速</a:t>
            </a:r>
            <a:r>
              <a:rPr lang="zh-CN" altLang="en-US" sz="2200" dirty="0">
                <a:solidFill>
                  <a:prstClr val="black"/>
                </a:solidFill>
                <a:latin typeface="微软雅黑" panose="020B0503020204020204" pitchFamily="34" charset="-122"/>
                <a:ea typeface="微软雅黑" panose="020B0503020204020204" pitchFamily="34" charset="-122"/>
                <a:sym typeface="+mn-ea"/>
              </a:rPr>
              <a:t>？</a:t>
            </a:r>
            <a:endParaRPr lang="zh-CN" altLang="en-US" dirty="0">
              <a:solidFill>
                <a:prstClr val="black"/>
              </a:solidFill>
            </a:endParaRPr>
          </a:p>
        </p:txBody>
      </p:sp>
      <p:sp>
        <p:nvSpPr>
          <p:cNvPr id="74" name="文本框 7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计算机网络度量单位</a:t>
            </a:r>
            <a:endParaRPr kumimoji="1" lang="zh-CN" altLang="en-US" dirty="0"/>
          </a:p>
        </p:txBody>
      </p:sp>
      <p:sp>
        <p:nvSpPr>
          <p:cNvPr id="3" name="内容占位符 2"/>
          <p:cNvSpPr>
            <a:spLocks noGrp="1"/>
          </p:cNvSpPr>
          <p:nvPr>
            <p:ph idx="1"/>
          </p:nvPr>
        </p:nvSpPr>
        <p:spPr>
          <a:xfrm>
            <a:off x="838200" y="1349560"/>
            <a:ext cx="10938510" cy="5146675"/>
          </a:xfrm>
        </p:spPr>
        <p:txBody>
          <a:bodyPr>
            <a:noAutofit/>
          </a:bodyPr>
          <a:lstStyle/>
          <a:p>
            <a:pPr>
              <a:lnSpc>
                <a:spcPct val="120000"/>
              </a:lnSpc>
            </a:pPr>
            <a:r>
              <a:rPr kumimoji="1" lang="zh-CN" altLang="en-US" dirty="0"/>
              <a:t>时延</a:t>
            </a:r>
            <a:r>
              <a:rPr kumimoji="1" lang="en-US" altLang="zh-CN" dirty="0"/>
              <a:t>(Delay)</a:t>
            </a:r>
            <a:endParaRPr lang="zh-CN" altLang="en-US" kern="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sym typeface="+mn-ea"/>
            </a:endParaRPr>
          </a:p>
          <a:p>
            <a:pPr lvl="1" algn="l">
              <a:lnSpc>
                <a:spcPct val="130000"/>
              </a:lnSpc>
              <a:spcBef>
                <a:spcPts val="0"/>
              </a:spcBef>
              <a:spcAft>
                <a:spcPts val="0"/>
              </a:spcAft>
              <a:buClrTx/>
              <a:buSzTx/>
              <a:buChar char="•"/>
            </a:pPr>
            <a:r>
              <a:rPr lang="zh-CN" altLang="zh-CN" dirty="0">
                <a:sym typeface="+mn-ea"/>
              </a:rPr>
              <a:t>时延 (delay 或 latency) 是指数据（一个报文或分组）从网络（或链路）的一端传送到另一端所需的时间</a:t>
            </a:r>
            <a:r>
              <a:rPr lang="zh-CN" altLang="en-US" dirty="0">
                <a:sym typeface="+mn-ea"/>
              </a:rPr>
              <a:t>，</a:t>
            </a:r>
            <a:r>
              <a:rPr lang="zh-CN" altLang="zh-CN" dirty="0">
                <a:sym typeface="+mn-ea"/>
              </a:rPr>
              <a:t>也称为延迟</a:t>
            </a:r>
            <a:endParaRPr lang="zh-CN" altLang="zh-CN" dirty="0">
              <a:latin typeface="微软雅黑" panose="020B0503020204020204" pitchFamily="34" charset="-122"/>
              <a:ea typeface="微软雅黑" panose="020B0503020204020204" pitchFamily="34" charset="-122"/>
            </a:endParaRPr>
          </a:p>
          <a:p>
            <a:pPr lvl="1">
              <a:lnSpc>
                <a:spcPct val="130000"/>
              </a:lnSpc>
              <a:spcBef>
                <a:spcPts val="0"/>
              </a:spcBef>
            </a:pPr>
            <a:r>
              <a:rPr kumimoji="1" lang="zh-CN" altLang="en-US" dirty="0">
                <a:solidFill>
                  <a:srgbClr val="C00000"/>
                </a:solidFill>
              </a:rPr>
              <a:t>传输时延</a:t>
            </a:r>
            <a:r>
              <a:rPr kumimoji="1" lang="en-US" altLang="zh-CN" dirty="0">
                <a:solidFill>
                  <a:srgbClr val="C00000"/>
                </a:solidFill>
              </a:rPr>
              <a:t>(</a:t>
            </a:r>
            <a:r>
              <a:rPr kumimoji="1" lang="zh-CN" altLang="en-US" dirty="0">
                <a:solidFill>
                  <a:srgbClr val="C00000"/>
                </a:solidFill>
                <a:sym typeface="+mn-ea"/>
              </a:rPr>
              <a:t>transmission delay</a:t>
            </a:r>
            <a:r>
              <a:rPr kumimoji="1" lang="en-US" altLang="zh-CN" dirty="0">
                <a:solidFill>
                  <a:srgbClr val="C00000"/>
                </a:solidFill>
                <a:sym typeface="+mn-ea"/>
              </a:rPr>
              <a:t>)</a:t>
            </a:r>
            <a:r>
              <a:rPr kumimoji="1" lang="zh-CN" altLang="en-US" dirty="0"/>
              <a:t>：</a:t>
            </a:r>
            <a:r>
              <a:rPr kumimoji="1" lang="zh-CN" altLang="en-US" dirty="0">
                <a:sym typeface="+mn-ea"/>
              </a:rPr>
              <a:t>数据从结点进入到传输媒体所需要的时间，</a:t>
            </a:r>
            <a:r>
              <a:rPr kumimoji="1" lang="zh-CN" altLang="en-US" dirty="0"/>
              <a:t>传输时延又称为</a:t>
            </a:r>
            <a:r>
              <a:rPr kumimoji="1" lang="zh-CN" altLang="en-US" dirty="0">
                <a:solidFill>
                  <a:srgbClr val="C00000"/>
                </a:solidFill>
              </a:rPr>
              <a:t>发送时延</a:t>
            </a:r>
            <a:endParaRPr kumimoji="1" lang="zh-CN" altLang="en-US" dirty="0"/>
          </a:p>
          <a:p>
            <a:pPr lvl="1" algn="l">
              <a:lnSpc>
                <a:spcPct val="130000"/>
              </a:lnSpc>
              <a:spcBef>
                <a:spcPts val="0"/>
              </a:spcBef>
              <a:spcAft>
                <a:spcPts val="0"/>
              </a:spcAft>
              <a:buClrTx/>
              <a:buSzTx/>
            </a:pPr>
            <a:r>
              <a:rPr kumimoji="1" lang="zh-CN" altLang="en-US" dirty="0">
                <a:solidFill>
                  <a:srgbClr val="C00000"/>
                </a:solidFill>
              </a:rPr>
              <a:t>传播时延</a:t>
            </a:r>
            <a:r>
              <a:rPr kumimoji="1" lang="en-US" altLang="zh-CN" dirty="0">
                <a:solidFill>
                  <a:srgbClr val="C00000"/>
                </a:solidFill>
              </a:rPr>
              <a:t>(</a:t>
            </a:r>
            <a:r>
              <a:rPr kumimoji="1" lang="zh-CN" altLang="en-US" dirty="0">
                <a:solidFill>
                  <a:srgbClr val="C00000"/>
                </a:solidFill>
                <a:sym typeface="+mn-ea"/>
              </a:rPr>
              <a:t>propagation delay</a:t>
            </a:r>
            <a:r>
              <a:rPr kumimoji="1" lang="en-US" altLang="zh-CN" dirty="0">
                <a:solidFill>
                  <a:srgbClr val="C00000"/>
                </a:solidFill>
                <a:sym typeface="+mn-ea"/>
              </a:rPr>
              <a:t>)</a:t>
            </a:r>
            <a:r>
              <a:rPr kumimoji="1" lang="zh-CN" altLang="en-US" dirty="0"/>
              <a:t>：</a:t>
            </a:r>
            <a:r>
              <a:rPr kumimoji="1" lang="zh-CN" altLang="en-US" dirty="0">
                <a:sym typeface="+mn-ea"/>
              </a:rPr>
              <a:t>电磁波在信道中需要传播一定距离而花费的时间</a:t>
            </a:r>
            <a:endParaRPr kumimoji="1" lang="zh-CN" altLang="en-US" dirty="0"/>
          </a:p>
          <a:p>
            <a:pPr lvl="1" algn="l">
              <a:lnSpc>
                <a:spcPct val="130000"/>
              </a:lnSpc>
              <a:spcBef>
                <a:spcPts val="0"/>
              </a:spcBef>
              <a:spcAft>
                <a:spcPts val="0"/>
              </a:spcAft>
              <a:buClrTx/>
              <a:buSzTx/>
            </a:pPr>
            <a:r>
              <a:rPr kumimoji="1" lang="zh-CN" altLang="en-US" dirty="0">
                <a:solidFill>
                  <a:srgbClr val="C00000"/>
                </a:solidFill>
              </a:rPr>
              <a:t>处理时延</a:t>
            </a:r>
            <a:r>
              <a:rPr kumimoji="1" lang="en-US" altLang="zh-CN" dirty="0">
                <a:solidFill>
                  <a:srgbClr val="C00000"/>
                </a:solidFill>
              </a:rPr>
              <a:t>(</a:t>
            </a:r>
            <a:r>
              <a:rPr kumimoji="1" lang="zh-CN" altLang="en-US" dirty="0">
                <a:solidFill>
                  <a:srgbClr val="C00000"/>
                </a:solidFill>
                <a:sym typeface="+mn-ea"/>
              </a:rPr>
              <a:t>processing delay</a:t>
            </a:r>
            <a:r>
              <a:rPr kumimoji="1" lang="en-US" altLang="zh-CN" dirty="0">
                <a:solidFill>
                  <a:srgbClr val="C00000"/>
                </a:solidFill>
                <a:sym typeface="+mn-ea"/>
              </a:rPr>
              <a:t>)</a:t>
            </a:r>
            <a:r>
              <a:rPr kumimoji="1" lang="zh-CN" altLang="en-US" dirty="0"/>
              <a:t>：</a:t>
            </a:r>
            <a:r>
              <a:rPr kumimoji="1" lang="zh-CN" altLang="en-US" dirty="0">
                <a:sym typeface="+mn-ea"/>
              </a:rPr>
              <a:t>主机或路由器在收到分组时，为处理分组（例如分析首部、提取数据、差错检验或查找路由）所花费的时间</a:t>
            </a:r>
            <a:endParaRPr kumimoji="1" lang="zh-CN" altLang="en-US" dirty="0"/>
          </a:p>
          <a:p>
            <a:pPr lvl="1" algn="l">
              <a:lnSpc>
                <a:spcPct val="130000"/>
              </a:lnSpc>
              <a:spcBef>
                <a:spcPts val="0"/>
              </a:spcBef>
              <a:spcAft>
                <a:spcPts val="0"/>
              </a:spcAft>
              <a:buClrTx/>
              <a:buSzTx/>
            </a:pPr>
            <a:r>
              <a:rPr kumimoji="1" lang="zh-CN" altLang="en-US" dirty="0">
                <a:solidFill>
                  <a:srgbClr val="C00000"/>
                </a:solidFill>
              </a:rPr>
              <a:t>排队时延</a:t>
            </a:r>
            <a:r>
              <a:rPr kumimoji="1" lang="en-US" altLang="zh-CN" dirty="0">
                <a:solidFill>
                  <a:srgbClr val="C00000"/>
                </a:solidFill>
              </a:rPr>
              <a:t>(</a:t>
            </a:r>
            <a:r>
              <a:rPr kumimoji="1" lang="zh-CN" altLang="en-US" dirty="0">
                <a:solidFill>
                  <a:srgbClr val="C00000"/>
                </a:solidFill>
                <a:sym typeface="+mn-ea"/>
              </a:rPr>
              <a:t>queueing delay</a:t>
            </a:r>
            <a:r>
              <a:rPr kumimoji="1" lang="en-US" altLang="zh-CN" dirty="0">
                <a:solidFill>
                  <a:srgbClr val="C00000"/>
                </a:solidFill>
                <a:sym typeface="+mn-ea"/>
              </a:rPr>
              <a:t>)</a:t>
            </a:r>
            <a:r>
              <a:rPr kumimoji="1" lang="zh-CN" altLang="en-US" dirty="0"/>
              <a:t>：</a:t>
            </a:r>
            <a:r>
              <a:rPr kumimoji="1" lang="zh-CN" altLang="en-US" dirty="0">
                <a:sym typeface="+mn-ea"/>
              </a:rPr>
              <a:t>分组在路由器输入输出队列中排队等待处理所经历的时延</a:t>
            </a:r>
            <a:endParaRPr kumimoji="1" lang="zh-CN" altLang="en-US" dirty="0"/>
          </a:p>
          <a:p>
            <a:endParaRPr kumimoji="1" lang="zh-CN" altLang="en-US"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 name="文本框 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3952580" y="1349560"/>
            <a:ext cx="6185333" cy="461665"/>
          </a:xfrm>
          <a:prstGeom prst="rect">
            <a:avLst/>
          </a:prstGeom>
          <a:ln>
            <a:solidFill>
              <a:srgbClr val="C00000"/>
            </a:solidFill>
          </a:ln>
        </p:spPr>
        <p:txBody>
          <a:bodyPr wrap="square">
            <a:spAutoFit/>
          </a:bodyPr>
          <a:lstStyle/>
          <a:p>
            <a:pPr algn="ctr"/>
            <a:r>
              <a:rPr lang="zh-CN" altLang="en-US" sz="2400" dirty="0">
                <a:solidFill>
                  <a:srgbClr val="C00000"/>
                </a:solidFill>
                <a:latin typeface="微软雅黑" panose="020B0503020204020204" pitchFamily="34" charset="-122"/>
                <a:ea typeface="微软雅黑" panose="020B0503020204020204" pitchFamily="34" charset="-122"/>
                <a:sym typeface="+mn-ea"/>
              </a:rPr>
              <a:t>通用方法：将一个大问题分成多个小问题</a:t>
            </a:r>
            <a:endParaRPr lang="zh-CN" altLang="en-US" sz="16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linds(horizontal)">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计算机网络度量单位</a:t>
            </a:r>
            <a:endParaRPr lang="zh-CN" altLang="en-US"/>
          </a:p>
        </p:txBody>
      </p:sp>
      <p:sp>
        <p:nvSpPr>
          <p:cNvPr id="9" name="内容占位符 8"/>
          <p:cNvSpPr>
            <a:spLocks noGrp="1"/>
          </p:cNvSpPr>
          <p:nvPr>
            <p:ph idx="1"/>
          </p:nvPr>
        </p:nvSpPr>
        <p:spPr>
          <a:xfrm>
            <a:off x="838200" y="1480185"/>
            <a:ext cx="10938510" cy="797560"/>
          </a:xfrm>
        </p:spPr>
        <p:txBody>
          <a:bodyPr>
            <a:noAutofit/>
          </a:bodyPr>
          <a:lstStyle/>
          <a:p>
            <a:r>
              <a:rPr kumimoji="1" lang="zh-CN" altLang="en-US" dirty="0"/>
              <a:t>四种时延产生的地方</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pSp>
        <p:nvGrpSpPr>
          <p:cNvPr id="10" name="组合 9"/>
          <p:cNvGrpSpPr/>
          <p:nvPr/>
        </p:nvGrpSpPr>
        <p:grpSpPr>
          <a:xfrm>
            <a:off x="3980180" y="2330450"/>
            <a:ext cx="7874635" cy="2943225"/>
            <a:chOff x="2745" y="1968"/>
            <a:chExt cx="9325" cy="3418"/>
          </a:xfrm>
        </p:grpSpPr>
        <p:sp>
          <p:nvSpPr>
            <p:cNvPr id="181252" name="Oval 7"/>
            <p:cNvSpPr/>
            <p:nvPr/>
          </p:nvSpPr>
          <p:spPr>
            <a:xfrm>
              <a:off x="5278" y="3495"/>
              <a:ext cx="1887" cy="583"/>
            </a:xfrm>
            <a:prstGeom prst="ellipse">
              <a:avLst/>
            </a:prstGeom>
            <a:solidFill>
              <a:schemeClr val="hlink"/>
            </a:solidFill>
            <a:ln w="12700">
              <a:noFill/>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53" name="Rectangle 8"/>
            <p:cNvSpPr/>
            <p:nvPr/>
          </p:nvSpPr>
          <p:spPr>
            <a:xfrm>
              <a:off x="5278" y="3388"/>
              <a:ext cx="1887" cy="415"/>
            </a:xfrm>
            <a:prstGeom prst="rect">
              <a:avLst/>
            </a:prstGeom>
            <a:solidFill>
              <a:schemeClr val="hlink"/>
            </a:solidFill>
            <a:ln w="12700">
              <a:noFill/>
            </a:ln>
          </p:spPr>
          <p:txBody>
            <a:bodyPr wrap="none" anchor="ctr"/>
            <a:lstStyle/>
            <a:p>
              <a:pPr algn="ctr"/>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54" name="Oval 9"/>
            <p:cNvSpPr/>
            <p:nvPr/>
          </p:nvSpPr>
          <p:spPr>
            <a:xfrm>
              <a:off x="5293" y="3028"/>
              <a:ext cx="1887" cy="677"/>
            </a:xfrm>
            <a:prstGeom prst="ellipse">
              <a:avLst/>
            </a:prstGeom>
            <a:solidFill>
              <a:schemeClr val="hlink"/>
            </a:solidFill>
            <a:ln w="12700">
              <a:noFill/>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grpSp>
          <p:nvGrpSpPr>
            <p:cNvPr id="181255" name="Group 10"/>
            <p:cNvGrpSpPr/>
            <p:nvPr/>
          </p:nvGrpSpPr>
          <p:grpSpPr>
            <a:xfrm>
              <a:off x="5838" y="3075"/>
              <a:ext cx="785" cy="188"/>
              <a:chOff x="2208" y="2184"/>
              <a:chExt cx="176" cy="69"/>
            </a:xfrm>
          </p:grpSpPr>
          <p:grpSp>
            <p:nvGrpSpPr>
              <p:cNvPr id="181256" name="Group 11"/>
              <p:cNvGrpSpPr/>
              <p:nvPr/>
            </p:nvGrpSpPr>
            <p:grpSpPr>
              <a:xfrm>
                <a:off x="2208" y="2185"/>
                <a:ext cx="176" cy="68"/>
                <a:chOff x="2848" y="848"/>
                <a:chExt cx="140" cy="98"/>
              </a:xfrm>
            </p:grpSpPr>
            <p:sp>
              <p:nvSpPr>
                <p:cNvPr id="181257" name="Line 1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81258" name="Line 13"/>
                <p:cNvSpPr/>
                <p:nvPr/>
              </p:nvSpPr>
              <p:spPr>
                <a:xfrm>
                  <a:off x="2944" y="946"/>
                  <a:ext cx="44" cy="0"/>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81259" name="Line 14"/>
                <p:cNvSpPr/>
                <p:nvPr/>
              </p:nvSpPr>
              <p:spPr>
                <a:xfrm>
                  <a:off x="2894" y="850"/>
                  <a:ext cx="52" cy="96"/>
                </a:xfrm>
                <a:prstGeom prst="line">
                  <a:avLst/>
                </a:prstGeom>
                <a:ln w="28575" cap="flat" cmpd="sng">
                  <a:solidFill>
                    <a:schemeClr val="tx1"/>
                  </a:solidFill>
                  <a:prstDash val="solid"/>
                  <a:round/>
                  <a:headEnd type="none" w="med" len="med"/>
                  <a:tailEnd type="none" w="med" len="med"/>
                </a:ln>
              </p:spPr>
              <p:txBody>
                <a:bodyPr/>
                <a:lstStyle/>
                <a:p>
                  <a:endParaRPr lang="en-US"/>
                </a:p>
              </p:txBody>
            </p:sp>
          </p:grpSp>
          <p:grpSp>
            <p:nvGrpSpPr>
              <p:cNvPr id="181260" name="Group 15"/>
              <p:cNvGrpSpPr/>
              <p:nvPr/>
            </p:nvGrpSpPr>
            <p:grpSpPr>
              <a:xfrm flipV="1">
                <a:off x="2208" y="2184"/>
                <a:ext cx="176" cy="68"/>
                <a:chOff x="2848" y="848"/>
                <a:chExt cx="140" cy="98"/>
              </a:xfrm>
            </p:grpSpPr>
            <p:sp>
              <p:nvSpPr>
                <p:cNvPr id="181261" name="Line 1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81262" name="Line 17"/>
                <p:cNvSpPr/>
                <p:nvPr/>
              </p:nvSpPr>
              <p:spPr>
                <a:xfrm>
                  <a:off x="2944" y="946"/>
                  <a:ext cx="44" cy="0"/>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81263" name="Line 18"/>
                <p:cNvSpPr/>
                <p:nvPr/>
              </p:nvSpPr>
              <p:spPr>
                <a:xfrm>
                  <a:off x="2894" y="850"/>
                  <a:ext cx="52" cy="96"/>
                </a:xfrm>
                <a:prstGeom prst="line">
                  <a:avLst/>
                </a:prstGeom>
                <a:ln w="28575" cap="flat" cmpd="sng">
                  <a:solidFill>
                    <a:schemeClr val="tx1"/>
                  </a:solidFill>
                  <a:prstDash val="solid"/>
                  <a:round/>
                  <a:headEnd type="none" w="med" len="med"/>
                  <a:tailEnd type="none" w="med" len="med"/>
                </a:ln>
              </p:spPr>
              <p:txBody>
                <a:bodyPr/>
                <a:lstStyle/>
                <a:p>
                  <a:endParaRPr lang="en-US"/>
                </a:p>
              </p:txBody>
            </p:sp>
          </p:grpSp>
        </p:grpSp>
        <p:sp>
          <p:nvSpPr>
            <p:cNvPr id="181264" name="Oval 19"/>
            <p:cNvSpPr/>
            <p:nvPr/>
          </p:nvSpPr>
          <p:spPr>
            <a:xfrm>
              <a:off x="10153" y="3525"/>
              <a:ext cx="1887" cy="583"/>
            </a:xfrm>
            <a:prstGeom prst="ellipse">
              <a:avLst/>
            </a:prstGeom>
            <a:solidFill>
              <a:schemeClr val="hlink"/>
            </a:solidFill>
            <a:ln w="12700">
              <a:noFill/>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65" name="Line 20"/>
            <p:cNvSpPr/>
            <p:nvPr/>
          </p:nvSpPr>
          <p:spPr>
            <a:xfrm>
              <a:off x="10168" y="3493"/>
              <a:ext cx="0" cy="360"/>
            </a:xfrm>
            <a:prstGeom prst="line">
              <a:avLst/>
            </a:prstGeom>
            <a:ln w="12700" cap="flat" cmpd="sng">
              <a:solidFill>
                <a:schemeClr val="tx1"/>
              </a:solidFill>
              <a:prstDash val="solid"/>
              <a:round/>
              <a:headEnd type="none" w="med" len="med"/>
              <a:tailEnd type="none" w="med" len="med"/>
            </a:ln>
          </p:spPr>
          <p:txBody>
            <a:bodyPr/>
            <a:lstStyle/>
            <a:p>
              <a:endParaRPr lang="en-US"/>
            </a:p>
          </p:txBody>
        </p:sp>
        <p:sp>
          <p:nvSpPr>
            <p:cNvPr id="181266" name="Rectangle 21"/>
            <p:cNvSpPr/>
            <p:nvPr/>
          </p:nvSpPr>
          <p:spPr>
            <a:xfrm>
              <a:off x="10168" y="3433"/>
              <a:ext cx="1887" cy="415"/>
            </a:xfrm>
            <a:prstGeom prst="rect">
              <a:avLst/>
            </a:prstGeom>
            <a:solidFill>
              <a:schemeClr val="hlink"/>
            </a:solidFill>
            <a:ln w="12700">
              <a:noFill/>
            </a:ln>
          </p:spPr>
          <p:txBody>
            <a:bodyPr wrap="none" anchor="ctr"/>
            <a:lstStyle/>
            <a:p>
              <a:pPr algn="ctr"/>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67" name="Oval 22"/>
            <p:cNvSpPr/>
            <p:nvPr/>
          </p:nvSpPr>
          <p:spPr>
            <a:xfrm>
              <a:off x="10183" y="3073"/>
              <a:ext cx="1887" cy="677"/>
            </a:xfrm>
            <a:prstGeom prst="ellipse">
              <a:avLst/>
            </a:prstGeom>
            <a:solidFill>
              <a:schemeClr val="hlink"/>
            </a:solidFill>
            <a:ln w="12700">
              <a:noFill/>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68" name="Line 24"/>
            <p:cNvSpPr/>
            <p:nvPr/>
          </p:nvSpPr>
          <p:spPr>
            <a:xfrm>
              <a:off x="4128" y="2925"/>
              <a:ext cx="1167" cy="560"/>
            </a:xfrm>
            <a:prstGeom prst="line">
              <a:avLst/>
            </a:prstGeom>
            <a:ln w="19050" cap="flat" cmpd="sng">
              <a:solidFill>
                <a:schemeClr val="tx1"/>
              </a:solidFill>
              <a:prstDash val="solid"/>
              <a:round/>
              <a:headEnd type="none" w="med" len="med"/>
              <a:tailEnd type="none" w="med" len="med"/>
            </a:ln>
          </p:spPr>
          <p:txBody>
            <a:bodyPr/>
            <a:lstStyle/>
            <a:p>
              <a:endParaRPr lang="en-US"/>
            </a:p>
          </p:txBody>
        </p:sp>
        <p:sp>
          <p:nvSpPr>
            <p:cNvPr id="181269" name="Line 25"/>
            <p:cNvSpPr/>
            <p:nvPr/>
          </p:nvSpPr>
          <p:spPr>
            <a:xfrm flipV="1">
              <a:off x="4608" y="3775"/>
              <a:ext cx="675" cy="710"/>
            </a:xfrm>
            <a:prstGeom prst="line">
              <a:avLst/>
            </a:prstGeom>
            <a:ln w="19050" cap="flat" cmpd="sng">
              <a:solidFill>
                <a:schemeClr val="tx1"/>
              </a:solidFill>
              <a:prstDash val="solid"/>
              <a:round/>
              <a:headEnd type="none" w="med" len="med"/>
              <a:tailEnd type="none" w="med" len="med"/>
            </a:ln>
          </p:spPr>
          <p:txBody>
            <a:bodyPr/>
            <a:lstStyle/>
            <a:p>
              <a:endParaRPr lang="en-US"/>
            </a:p>
          </p:txBody>
        </p:sp>
        <p:sp>
          <p:nvSpPr>
            <p:cNvPr id="181270" name="Line 26"/>
            <p:cNvSpPr/>
            <p:nvPr/>
          </p:nvSpPr>
          <p:spPr>
            <a:xfrm>
              <a:off x="7158" y="3585"/>
              <a:ext cx="3045" cy="15"/>
            </a:xfrm>
            <a:prstGeom prst="line">
              <a:avLst/>
            </a:prstGeom>
            <a:ln w="19050" cap="flat" cmpd="sng">
              <a:solidFill>
                <a:schemeClr val="tx1"/>
              </a:solidFill>
              <a:prstDash val="solid"/>
              <a:round/>
              <a:headEnd type="none" w="med" len="med"/>
              <a:tailEnd type="none" w="med" len="med"/>
            </a:ln>
          </p:spPr>
          <p:txBody>
            <a:bodyPr/>
            <a:lstStyle/>
            <a:p>
              <a:endParaRPr lang="en-US"/>
            </a:p>
          </p:txBody>
        </p:sp>
        <p:sp>
          <p:nvSpPr>
            <p:cNvPr id="181271" name="Rectangle 29"/>
            <p:cNvSpPr/>
            <p:nvPr/>
          </p:nvSpPr>
          <p:spPr>
            <a:xfrm>
              <a:off x="8605" y="3270"/>
              <a:ext cx="233" cy="31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72" name="Rectangle 30"/>
            <p:cNvSpPr/>
            <p:nvPr/>
          </p:nvSpPr>
          <p:spPr>
            <a:xfrm>
              <a:off x="6633" y="3383"/>
              <a:ext cx="232" cy="31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73" name="Rectangle 31"/>
            <p:cNvSpPr/>
            <p:nvPr/>
          </p:nvSpPr>
          <p:spPr>
            <a:xfrm>
              <a:off x="6888" y="3383"/>
              <a:ext cx="232" cy="31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74" name="Rectangle 32"/>
            <p:cNvSpPr/>
            <p:nvPr/>
          </p:nvSpPr>
          <p:spPr>
            <a:xfrm>
              <a:off x="4975" y="3225"/>
              <a:ext cx="233" cy="31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75" name="Line 33"/>
            <p:cNvSpPr/>
            <p:nvPr/>
          </p:nvSpPr>
          <p:spPr>
            <a:xfrm>
              <a:off x="4898" y="3125"/>
              <a:ext cx="332" cy="0"/>
            </a:xfrm>
            <a:prstGeom prst="line">
              <a:avLst/>
            </a:prstGeom>
            <a:ln w="9525" cap="flat" cmpd="sng">
              <a:solidFill>
                <a:schemeClr val="tx1"/>
              </a:solidFill>
              <a:prstDash val="solid"/>
              <a:round/>
              <a:headEnd type="none" w="med" len="med"/>
              <a:tailEnd type="triangle" w="med" len="med"/>
            </a:ln>
          </p:spPr>
          <p:txBody>
            <a:bodyPr/>
            <a:lstStyle/>
            <a:p>
              <a:endParaRPr lang="en-US"/>
            </a:p>
          </p:txBody>
        </p:sp>
        <p:sp>
          <p:nvSpPr>
            <p:cNvPr id="181276" name="Line 35"/>
            <p:cNvSpPr/>
            <p:nvPr/>
          </p:nvSpPr>
          <p:spPr>
            <a:xfrm flipV="1">
              <a:off x="9820" y="2955"/>
              <a:ext cx="578" cy="0"/>
            </a:xfrm>
            <a:prstGeom prst="line">
              <a:avLst/>
            </a:prstGeom>
            <a:ln w="9525" cap="flat" cmpd="sng">
              <a:solidFill>
                <a:schemeClr val="tx1"/>
              </a:solidFill>
              <a:prstDash val="solid"/>
              <a:round/>
              <a:headEnd type="none" w="med" len="med"/>
              <a:tailEnd type="triangle" w="med" len="med"/>
            </a:ln>
          </p:spPr>
          <p:txBody>
            <a:bodyPr/>
            <a:lstStyle/>
            <a:p>
              <a:endParaRPr lang="en-US"/>
            </a:p>
          </p:txBody>
        </p:sp>
        <p:sp>
          <p:nvSpPr>
            <p:cNvPr id="181277" name="Text Box 36"/>
            <p:cNvSpPr txBox="1"/>
            <p:nvPr/>
          </p:nvSpPr>
          <p:spPr>
            <a:xfrm>
              <a:off x="2745" y="2428"/>
              <a:ext cx="610" cy="463"/>
            </a:xfrm>
            <a:prstGeom prst="rect">
              <a:avLst/>
            </a:prstGeom>
            <a:noFill/>
            <a:ln w="9525">
              <a:noFill/>
            </a:ln>
          </p:spPr>
          <p:txBody>
            <a:bodyPr wrap="square" anchor="t">
              <a:spAutoFit/>
            </a:bodyPr>
            <a:lstStyle/>
            <a:p>
              <a:r>
                <a:rPr lang="en-US" altLang="zh-CN" sz="2000" dirty="0">
                  <a:solidFill>
                    <a:srgbClr val="006600"/>
                  </a:solidFill>
                  <a:latin typeface="微软雅黑" panose="020B0503020204020204" pitchFamily="34" charset="-122"/>
                  <a:ea typeface="微软雅黑" panose="020B0503020204020204" pitchFamily="34" charset="-122"/>
                </a:rPr>
                <a:t>A</a:t>
              </a:r>
              <a:endParaRPr lang="en-US" altLang="zh-CN" sz="2000" dirty="0">
                <a:solidFill>
                  <a:srgbClr val="006600"/>
                </a:solidFill>
                <a:latin typeface="微软雅黑" panose="020B0503020204020204" pitchFamily="34" charset="-122"/>
                <a:ea typeface="微软雅黑" panose="020B0503020204020204" pitchFamily="34" charset="-122"/>
              </a:endParaRPr>
            </a:p>
          </p:txBody>
        </p:sp>
        <p:sp>
          <p:nvSpPr>
            <p:cNvPr id="181278" name="Text Box 37"/>
            <p:cNvSpPr txBox="1"/>
            <p:nvPr/>
          </p:nvSpPr>
          <p:spPr>
            <a:xfrm>
              <a:off x="3023" y="3928"/>
              <a:ext cx="610" cy="463"/>
            </a:xfrm>
            <a:prstGeom prst="rect">
              <a:avLst/>
            </a:prstGeom>
            <a:noFill/>
            <a:ln w="9525">
              <a:noFill/>
            </a:ln>
          </p:spPr>
          <p:txBody>
            <a:bodyPr wrap="square" anchor="t">
              <a:spAutoFit/>
            </a:bodyPr>
            <a:lstStyle/>
            <a:p>
              <a:r>
                <a:rPr lang="en-US" altLang="zh-CN" sz="2000" dirty="0">
                  <a:solidFill>
                    <a:srgbClr val="000099"/>
                  </a:solidFill>
                  <a:latin typeface="微软雅黑" panose="020B0503020204020204" pitchFamily="34" charset="-122"/>
                  <a:ea typeface="微软雅黑" panose="020B0503020204020204" pitchFamily="34" charset="-122"/>
                </a:rPr>
                <a:t>B</a:t>
              </a:r>
              <a:endParaRPr lang="en-US" altLang="zh-CN" sz="2000" dirty="0">
                <a:solidFill>
                  <a:srgbClr val="000099"/>
                </a:solidFill>
                <a:latin typeface="微软雅黑" panose="020B0503020204020204" pitchFamily="34" charset="-122"/>
                <a:ea typeface="微软雅黑" panose="020B0503020204020204" pitchFamily="34" charset="-122"/>
              </a:endParaRPr>
            </a:p>
          </p:txBody>
        </p:sp>
        <p:sp>
          <p:nvSpPr>
            <p:cNvPr id="181279" name="Rectangle 38"/>
            <p:cNvSpPr/>
            <p:nvPr/>
          </p:nvSpPr>
          <p:spPr>
            <a:xfrm>
              <a:off x="7090" y="3383"/>
              <a:ext cx="233" cy="31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80" name="Text Box 39"/>
            <p:cNvSpPr txBox="1"/>
            <p:nvPr/>
          </p:nvSpPr>
          <p:spPr>
            <a:xfrm>
              <a:off x="7731" y="2629"/>
              <a:ext cx="2667" cy="535"/>
            </a:xfrm>
            <a:prstGeom prst="rect">
              <a:avLst/>
            </a:prstGeom>
            <a:noFill/>
            <a:ln w="9525">
              <a:noFill/>
            </a:ln>
          </p:spPr>
          <p:txBody>
            <a:bodyPr wrap="square" anchor="t">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传播时延</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4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prop</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181281" name="Line 40"/>
            <p:cNvSpPr/>
            <p:nvPr/>
          </p:nvSpPr>
          <p:spPr>
            <a:xfrm rot="10800000">
              <a:off x="7315" y="2955"/>
              <a:ext cx="503" cy="0"/>
            </a:xfrm>
            <a:prstGeom prst="line">
              <a:avLst/>
            </a:prstGeom>
            <a:ln w="9525" cap="flat" cmpd="sng">
              <a:solidFill>
                <a:schemeClr val="tx1"/>
              </a:solidFill>
              <a:prstDash val="solid"/>
              <a:round/>
              <a:headEnd type="none" w="med" len="med"/>
              <a:tailEnd type="triangle" w="med" len="med"/>
            </a:ln>
          </p:spPr>
          <p:txBody>
            <a:bodyPr/>
            <a:lstStyle/>
            <a:p>
              <a:endParaRPr lang="en-US"/>
            </a:p>
          </p:txBody>
        </p:sp>
        <p:sp>
          <p:nvSpPr>
            <p:cNvPr id="181282" name="Text Box 41"/>
            <p:cNvSpPr txBox="1"/>
            <p:nvPr/>
          </p:nvSpPr>
          <p:spPr>
            <a:xfrm>
              <a:off x="4705" y="1968"/>
              <a:ext cx="2618" cy="536"/>
            </a:xfrm>
            <a:prstGeom prst="rect">
              <a:avLst/>
            </a:prstGeom>
            <a:noFill/>
            <a:ln w="9525">
              <a:noFill/>
            </a:ln>
          </p:spPr>
          <p:txBody>
            <a:bodyPr wrap="square" anchor="t">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传输时延</a:t>
              </a:r>
              <a:r>
                <a:rPr lang="zh-CN" altLang="en-US" sz="2400" dirty="0">
                  <a:solidFill>
                    <a:schemeClr val="tx1"/>
                  </a:solidFill>
                  <a:latin typeface="微软雅黑" panose="020B0503020204020204" pitchFamily="34" charset="-122"/>
                  <a:ea typeface="微软雅黑" panose="020B0503020204020204" pitchFamily="34" charset="-122"/>
                </a:rPr>
                <a:t> </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trans</a:t>
              </a:r>
              <a:endParaRPr lang="en-US" altLang="zh-CN" sz="24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1283" name="Line 42"/>
            <p:cNvSpPr/>
            <p:nvPr/>
          </p:nvSpPr>
          <p:spPr>
            <a:xfrm rot="10800000" flipH="1" flipV="1">
              <a:off x="6360" y="2488"/>
              <a:ext cx="833" cy="840"/>
            </a:xfrm>
            <a:prstGeom prst="line">
              <a:avLst/>
            </a:prstGeom>
            <a:ln w="9525" cap="flat" cmpd="sng">
              <a:solidFill>
                <a:schemeClr val="tx1"/>
              </a:solidFill>
              <a:prstDash val="solid"/>
              <a:round/>
              <a:headEnd type="none" w="med" len="med"/>
              <a:tailEnd type="none" w="med" len="med"/>
            </a:ln>
          </p:spPr>
          <p:txBody>
            <a:bodyPr/>
            <a:lstStyle/>
            <a:p>
              <a:endParaRPr lang="en-US"/>
            </a:p>
          </p:txBody>
        </p:sp>
        <p:sp>
          <p:nvSpPr>
            <p:cNvPr id="181284" name="Text Box 43"/>
            <p:cNvSpPr txBox="1"/>
            <p:nvPr/>
          </p:nvSpPr>
          <p:spPr>
            <a:xfrm>
              <a:off x="4899" y="4415"/>
              <a:ext cx="2191" cy="821"/>
            </a:xfrm>
            <a:prstGeom prst="rect">
              <a:avLst/>
            </a:prstGeom>
            <a:noFill/>
            <a:ln w="9525">
              <a:noFill/>
            </a:ln>
          </p:spPr>
          <p:txBody>
            <a:bodyPr wrap="square" anchor="t">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节点处理时延</a:t>
              </a:r>
              <a:endParaRPr lang="zh-CN" altLang="en-US" sz="2000" dirty="0">
                <a:solidFill>
                  <a:schemeClr val="tx1"/>
                </a:solidFill>
                <a:latin typeface="微软雅黑" panose="020B0503020204020204" pitchFamily="34" charset="-122"/>
                <a:ea typeface="微软雅黑" panose="020B0503020204020204" pitchFamily="34" charset="-122"/>
              </a:endParaRPr>
            </a:p>
            <a:p>
              <a:pPr algn="ctr"/>
              <a:r>
                <a:rPr lang="en-US" altLang="zh-CN" sz="20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0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proc</a:t>
              </a:r>
              <a:endParaRPr lang="zh-CN" altLang="en-US" sz="2000" baseline="-25000" dirty="0">
                <a:solidFill>
                  <a:srgbClr val="C00000"/>
                </a:solidFill>
                <a:latin typeface="微软雅黑" panose="020B0503020204020204" pitchFamily="34" charset="-122"/>
                <a:ea typeface="微软雅黑" panose="020B0503020204020204" pitchFamily="34" charset="-122"/>
              </a:endParaRPr>
            </a:p>
          </p:txBody>
        </p:sp>
        <p:sp>
          <p:nvSpPr>
            <p:cNvPr id="181285" name="Line 44"/>
            <p:cNvSpPr/>
            <p:nvPr/>
          </p:nvSpPr>
          <p:spPr>
            <a:xfrm rot="10800000">
              <a:off x="5357" y="4415"/>
              <a:ext cx="1492" cy="1"/>
            </a:xfrm>
            <a:prstGeom prst="line">
              <a:avLst/>
            </a:prstGeom>
            <a:ln w="9525" cap="flat" cmpd="sng">
              <a:solidFill>
                <a:schemeClr val="tx1"/>
              </a:solidFill>
              <a:prstDash val="solid"/>
              <a:round/>
              <a:headEnd type="triangle" w="med" len="med"/>
              <a:tailEnd type="triangle" w="med" len="med"/>
            </a:ln>
          </p:spPr>
          <p:txBody>
            <a:bodyPr/>
            <a:lstStyle/>
            <a:p>
              <a:endParaRPr lang="en-US"/>
            </a:p>
          </p:txBody>
        </p:sp>
        <p:sp>
          <p:nvSpPr>
            <p:cNvPr id="181286" name="Line 45"/>
            <p:cNvSpPr/>
            <p:nvPr/>
          </p:nvSpPr>
          <p:spPr>
            <a:xfrm rot="-10800000" flipV="1">
              <a:off x="6595" y="4110"/>
              <a:ext cx="608" cy="0"/>
            </a:xfrm>
            <a:prstGeom prst="line">
              <a:avLst/>
            </a:prstGeom>
            <a:ln w="9525" cap="flat" cmpd="sng">
              <a:solidFill>
                <a:schemeClr val="tx1"/>
              </a:solidFill>
              <a:prstDash val="solid"/>
              <a:round/>
              <a:headEnd type="triangle" w="med" len="med"/>
              <a:tailEnd type="triangle" w="med" len="med"/>
            </a:ln>
          </p:spPr>
          <p:txBody>
            <a:bodyPr/>
            <a:lstStyle/>
            <a:p>
              <a:endParaRPr lang="en-US"/>
            </a:p>
          </p:txBody>
        </p:sp>
        <p:sp>
          <p:nvSpPr>
            <p:cNvPr id="181287" name="Text Box 46"/>
            <p:cNvSpPr txBox="1"/>
            <p:nvPr/>
          </p:nvSpPr>
          <p:spPr>
            <a:xfrm>
              <a:off x="7203" y="4851"/>
              <a:ext cx="2806" cy="535"/>
            </a:xfrm>
            <a:prstGeom prst="rect">
              <a:avLst/>
            </a:prstGeom>
            <a:noFill/>
            <a:ln w="9525">
              <a:noFill/>
            </a:ln>
          </p:spPr>
          <p:txBody>
            <a:bodyPr wrap="square" anchor="t">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排队时延</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4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queue</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181288" name="Line 47"/>
            <p:cNvSpPr/>
            <p:nvPr/>
          </p:nvSpPr>
          <p:spPr>
            <a:xfrm rot="10800000">
              <a:off x="6850" y="4110"/>
              <a:ext cx="938" cy="870"/>
            </a:xfrm>
            <a:prstGeom prst="line">
              <a:avLst/>
            </a:prstGeom>
            <a:ln w="9525" cap="flat" cmpd="sng">
              <a:solidFill>
                <a:schemeClr val="tx1"/>
              </a:solidFill>
              <a:prstDash val="solid"/>
              <a:round/>
              <a:headEnd type="none" w="med" len="med"/>
              <a:tailEnd type="none" w="med" len="med"/>
            </a:ln>
          </p:spPr>
          <p:txBody>
            <a:bodyPr/>
            <a:lstStyle/>
            <a:p>
              <a:endParaRPr lang="en-US"/>
            </a:p>
          </p:txBody>
        </p:sp>
        <p:grpSp>
          <p:nvGrpSpPr>
            <p:cNvPr id="181289" name="Group 48"/>
            <p:cNvGrpSpPr/>
            <p:nvPr/>
          </p:nvGrpSpPr>
          <p:grpSpPr>
            <a:xfrm>
              <a:off x="10698" y="3165"/>
              <a:ext cx="785" cy="188"/>
              <a:chOff x="2208" y="2184"/>
              <a:chExt cx="176" cy="69"/>
            </a:xfrm>
          </p:grpSpPr>
          <p:grpSp>
            <p:nvGrpSpPr>
              <p:cNvPr id="181290" name="Group 49"/>
              <p:cNvGrpSpPr/>
              <p:nvPr/>
            </p:nvGrpSpPr>
            <p:grpSpPr>
              <a:xfrm>
                <a:off x="2208" y="2185"/>
                <a:ext cx="176" cy="68"/>
                <a:chOff x="2848" y="848"/>
                <a:chExt cx="140" cy="98"/>
              </a:xfrm>
            </p:grpSpPr>
            <p:sp>
              <p:nvSpPr>
                <p:cNvPr id="181291" name="Line 50"/>
                <p:cNvSpPr/>
                <p:nvPr/>
              </p:nvSpPr>
              <p:spPr>
                <a:xfrm flipV="1">
                  <a:off x="2848" y="848"/>
                  <a:ext cx="50" cy="2"/>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81292" name="Line 51"/>
                <p:cNvSpPr/>
                <p:nvPr/>
              </p:nvSpPr>
              <p:spPr>
                <a:xfrm>
                  <a:off x="2944" y="946"/>
                  <a:ext cx="44" cy="0"/>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81293" name="Line 52"/>
                <p:cNvSpPr/>
                <p:nvPr/>
              </p:nvSpPr>
              <p:spPr>
                <a:xfrm>
                  <a:off x="2894" y="850"/>
                  <a:ext cx="52" cy="96"/>
                </a:xfrm>
                <a:prstGeom prst="line">
                  <a:avLst/>
                </a:prstGeom>
                <a:ln w="28575" cap="flat" cmpd="sng">
                  <a:solidFill>
                    <a:schemeClr val="tx1"/>
                  </a:solidFill>
                  <a:prstDash val="solid"/>
                  <a:round/>
                  <a:headEnd type="none" w="med" len="med"/>
                  <a:tailEnd type="none" w="med" len="med"/>
                </a:ln>
              </p:spPr>
              <p:txBody>
                <a:bodyPr/>
                <a:lstStyle/>
                <a:p>
                  <a:endParaRPr lang="en-US"/>
                </a:p>
              </p:txBody>
            </p:sp>
          </p:grpSp>
          <p:grpSp>
            <p:nvGrpSpPr>
              <p:cNvPr id="181294" name="Group 53"/>
              <p:cNvGrpSpPr/>
              <p:nvPr/>
            </p:nvGrpSpPr>
            <p:grpSpPr>
              <a:xfrm flipV="1">
                <a:off x="2208" y="2184"/>
                <a:ext cx="176" cy="68"/>
                <a:chOff x="2848" y="848"/>
                <a:chExt cx="140" cy="98"/>
              </a:xfrm>
            </p:grpSpPr>
            <p:sp>
              <p:nvSpPr>
                <p:cNvPr id="181295" name="Line 5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81296" name="Line 55"/>
                <p:cNvSpPr/>
                <p:nvPr/>
              </p:nvSpPr>
              <p:spPr>
                <a:xfrm>
                  <a:off x="2944" y="946"/>
                  <a:ext cx="44" cy="0"/>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81297" name="Line 56"/>
                <p:cNvSpPr/>
                <p:nvPr/>
              </p:nvSpPr>
              <p:spPr>
                <a:xfrm>
                  <a:off x="2894" y="850"/>
                  <a:ext cx="52" cy="96"/>
                </a:xfrm>
                <a:prstGeom prst="line">
                  <a:avLst/>
                </a:prstGeom>
                <a:ln w="28575" cap="flat" cmpd="sng">
                  <a:solidFill>
                    <a:schemeClr val="tx1"/>
                  </a:solidFill>
                  <a:prstDash val="solid"/>
                  <a:round/>
                  <a:headEnd type="none" w="med" len="med"/>
                  <a:tailEnd type="none" w="med" len="med"/>
                </a:ln>
              </p:spPr>
              <p:txBody>
                <a:bodyPr/>
                <a:lstStyle/>
                <a:p>
                  <a:endParaRPr lang="en-US"/>
                </a:p>
              </p:txBody>
            </p:sp>
          </p:grpSp>
        </p:grpSp>
        <p:grpSp>
          <p:nvGrpSpPr>
            <p:cNvPr id="181298" name="Group 66"/>
            <p:cNvGrpSpPr/>
            <p:nvPr/>
          </p:nvGrpSpPr>
          <p:grpSpPr>
            <a:xfrm>
              <a:off x="2983" y="2428"/>
              <a:ext cx="1227" cy="1070"/>
              <a:chOff x="-44" y="1473"/>
              <a:chExt cx="981" cy="1105"/>
            </a:xfrm>
          </p:grpSpPr>
          <p:pic>
            <p:nvPicPr>
              <p:cNvPr id="181299" name="Picture 67" descr="desktop_computer_stylized_medium"/>
              <p:cNvPicPr>
                <a:picLocks noChangeAspect="1"/>
              </p:cNvPicPr>
              <p:nvPr/>
            </p:nvPicPr>
            <p:blipFill>
              <a:blip r:embed="rId1"/>
              <a:stretch>
                <a:fillRect/>
              </a:stretch>
            </p:blipFill>
            <p:spPr>
              <a:xfrm flipH="1">
                <a:off x="-44" y="1473"/>
                <a:ext cx="981" cy="1105"/>
              </a:xfrm>
              <a:prstGeom prst="rect">
                <a:avLst/>
              </a:prstGeom>
              <a:noFill/>
              <a:ln w="9525">
                <a:noFill/>
              </a:ln>
            </p:spPr>
          </p:pic>
          <p:sp>
            <p:nvSpPr>
              <p:cNvPr id="181300" name="Freeform 68"/>
              <p:cNvSpPr/>
              <p:nvPr/>
            </p:nvSpPr>
            <p:spPr>
              <a:xfrm flipH="1">
                <a:off x="374" y="1579"/>
                <a:ext cx="477" cy="506"/>
              </a:xfrm>
              <a:custGeom>
                <a:avLst/>
                <a:gdLst/>
                <a:ahLst/>
                <a:cxnLst>
                  <a:cxn ang="0">
                    <a:pos x="0" y="0"/>
                  </a:cxn>
                  <a:cxn ang="0">
                    <a:pos x="1736" y="95"/>
                  </a:cxn>
                  <a:cxn ang="0">
                    <a:pos x="2059" y="1990"/>
                  </a:cxn>
                  <a:cxn ang="0">
                    <a:pos x="454" y="2489"/>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sz="2000">
                  <a:latin typeface="微软雅黑" panose="020B0503020204020204" pitchFamily="34" charset="-122"/>
                  <a:ea typeface="微软雅黑" panose="020B0503020204020204" pitchFamily="34" charset="-122"/>
                </a:endParaRPr>
              </a:p>
            </p:txBody>
          </p:sp>
        </p:grpSp>
        <p:grpSp>
          <p:nvGrpSpPr>
            <p:cNvPr id="181301" name="Group 69"/>
            <p:cNvGrpSpPr/>
            <p:nvPr/>
          </p:nvGrpSpPr>
          <p:grpSpPr>
            <a:xfrm>
              <a:off x="3415" y="3975"/>
              <a:ext cx="1228" cy="1070"/>
              <a:chOff x="-44" y="1473"/>
              <a:chExt cx="981" cy="1105"/>
            </a:xfrm>
          </p:grpSpPr>
          <p:pic>
            <p:nvPicPr>
              <p:cNvPr id="181302" name="Picture 70" descr="desktop_computer_stylized_medium"/>
              <p:cNvPicPr>
                <a:picLocks noChangeAspect="1"/>
              </p:cNvPicPr>
              <p:nvPr/>
            </p:nvPicPr>
            <p:blipFill>
              <a:blip r:embed="rId1"/>
              <a:stretch>
                <a:fillRect/>
              </a:stretch>
            </p:blipFill>
            <p:spPr>
              <a:xfrm flipH="1">
                <a:off x="-44" y="1473"/>
                <a:ext cx="981" cy="1105"/>
              </a:xfrm>
              <a:prstGeom prst="rect">
                <a:avLst/>
              </a:prstGeom>
              <a:noFill/>
              <a:ln w="9525">
                <a:noFill/>
              </a:ln>
            </p:spPr>
          </p:pic>
          <p:sp>
            <p:nvSpPr>
              <p:cNvPr id="181303" name="Freeform 71"/>
              <p:cNvSpPr/>
              <p:nvPr/>
            </p:nvSpPr>
            <p:spPr>
              <a:xfrm flipH="1">
                <a:off x="374" y="1579"/>
                <a:ext cx="477" cy="506"/>
              </a:xfrm>
              <a:custGeom>
                <a:avLst/>
                <a:gdLst/>
                <a:ahLst/>
                <a:cxnLst>
                  <a:cxn ang="0">
                    <a:pos x="0" y="0"/>
                  </a:cxn>
                  <a:cxn ang="0">
                    <a:pos x="1736" y="95"/>
                  </a:cxn>
                  <a:cxn ang="0">
                    <a:pos x="2059" y="1990"/>
                  </a:cxn>
                  <a:cxn ang="0">
                    <a:pos x="454" y="2489"/>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sz="2000">
                  <a:latin typeface="微软雅黑" panose="020B0503020204020204" pitchFamily="34" charset="-122"/>
                  <a:ea typeface="微软雅黑" panose="020B0503020204020204" pitchFamily="34" charset="-122"/>
                </a:endParaRPr>
              </a:p>
            </p:txBody>
          </p:sp>
        </p:grpSp>
      </p:grpSp>
      <p:sp>
        <p:nvSpPr>
          <p:cNvPr id="56" name="Rectangle 3"/>
          <p:cNvSpPr/>
          <p:nvPr/>
        </p:nvSpPr>
        <p:spPr>
          <a:xfrm>
            <a:off x="2204085" y="5915660"/>
            <a:ext cx="7397750" cy="554355"/>
          </a:xfrm>
          <a:prstGeom prst="rect">
            <a:avLst/>
          </a:prstGeom>
          <a:noFill/>
          <a:ln w="19050" cap="flat" cmpd="sng">
            <a:solidFill>
              <a:srgbClr val="FF0000"/>
            </a:solidFill>
            <a:prstDash val="solid"/>
            <a:miter/>
            <a:headEnd type="none" w="med" len="med"/>
            <a:tailEnd type="none" w="med" len="med"/>
          </a:ln>
        </p:spPr>
        <p:txBody>
          <a:bodyPr anchor="t"/>
          <a:lstStyle/>
          <a:p>
            <a:pPr marL="285750" indent="-285750" algn="ctr">
              <a:lnSpc>
                <a:spcPct val="85000"/>
              </a:lnSpc>
              <a:spcBef>
                <a:spcPct val="20000"/>
              </a:spcBef>
              <a:buClr>
                <a:srgbClr val="000099"/>
              </a:buClr>
              <a:buSzPct val="75000"/>
              <a:buFont typeface="Wingdings" panose="05000000000000000000" pitchFamily="2" charset="2"/>
            </a:pPr>
            <a:r>
              <a:rPr lang="en-US" altLang="zh-CN" sz="3200" i="1" dirty="0" err="1">
                <a:solidFill>
                  <a:srgbClr val="000000"/>
                </a:solidFill>
                <a:latin typeface="Times New Roman" panose="02020603050405020304" pitchFamily="18" charset="0"/>
                <a:ea typeface="宋体" panose="02010600030101010101" pitchFamily="2" charset="-122"/>
              </a:rPr>
              <a:t>d</a:t>
            </a:r>
            <a:r>
              <a:rPr lang="en-US" altLang="zh-CN" sz="3200" i="1" baseline="-25000" dirty="0" err="1">
                <a:solidFill>
                  <a:srgbClr val="000000"/>
                </a:solidFill>
                <a:latin typeface="Times New Roman" panose="02020603050405020304" pitchFamily="18" charset="0"/>
                <a:ea typeface="宋体" panose="02010600030101010101" pitchFamily="2" charset="-122"/>
              </a:rPr>
              <a:t>total</a:t>
            </a:r>
            <a:r>
              <a:rPr lang="en-US" altLang="zh-CN" sz="3200" i="1" dirty="0">
                <a:solidFill>
                  <a:srgbClr val="000000"/>
                </a:solidFill>
                <a:latin typeface="Times New Roman" panose="02020603050405020304" pitchFamily="18" charset="0"/>
                <a:ea typeface="宋体" panose="02010600030101010101" pitchFamily="2" charset="-122"/>
              </a:rPr>
              <a:t> = d</a:t>
            </a:r>
            <a:r>
              <a:rPr lang="en-US" altLang="zh-CN" sz="3200" i="1" baseline="-25000" dirty="0">
                <a:solidFill>
                  <a:srgbClr val="000000"/>
                </a:solidFill>
                <a:latin typeface="Times New Roman" panose="02020603050405020304" pitchFamily="18" charset="0"/>
                <a:ea typeface="宋体" panose="02010600030101010101" pitchFamily="2" charset="-122"/>
              </a:rPr>
              <a:t>proc</a:t>
            </a:r>
            <a:r>
              <a:rPr lang="en-US" altLang="zh-CN" sz="3200" i="1" dirty="0">
                <a:solidFill>
                  <a:srgbClr val="000000"/>
                </a:solidFill>
                <a:latin typeface="Times New Roman" panose="02020603050405020304" pitchFamily="18" charset="0"/>
                <a:ea typeface="宋体" panose="02010600030101010101" pitchFamily="2" charset="-122"/>
              </a:rPr>
              <a:t> + d</a:t>
            </a:r>
            <a:r>
              <a:rPr lang="en-US" altLang="zh-CN" sz="3200" i="1" baseline="-25000" dirty="0">
                <a:solidFill>
                  <a:srgbClr val="000000"/>
                </a:solidFill>
                <a:latin typeface="Times New Roman" panose="02020603050405020304" pitchFamily="18" charset="0"/>
                <a:ea typeface="宋体" panose="02010600030101010101" pitchFamily="2" charset="-122"/>
              </a:rPr>
              <a:t>queue</a:t>
            </a:r>
            <a:r>
              <a:rPr lang="en-US" altLang="zh-CN" sz="3200" i="1" dirty="0">
                <a:solidFill>
                  <a:srgbClr val="000000"/>
                </a:solidFill>
                <a:latin typeface="Times New Roman" panose="02020603050405020304" pitchFamily="18" charset="0"/>
                <a:ea typeface="宋体" panose="02010600030101010101" pitchFamily="2" charset="-122"/>
              </a:rPr>
              <a:t> + d</a:t>
            </a:r>
            <a:r>
              <a:rPr lang="en-US" altLang="zh-CN" sz="3200" i="1" baseline="-25000" dirty="0">
                <a:solidFill>
                  <a:srgbClr val="000000"/>
                </a:solidFill>
                <a:latin typeface="Times New Roman" panose="02020603050405020304" pitchFamily="18" charset="0"/>
                <a:ea typeface="宋体" panose="02010600030101010101" pitchFamily="2" charset="-122"/>
              </a:rPr>
              <a:t>trans</a:t>
            </a:r>
            <a:r>
              <a:rPr lang="en-US" altLang="zh-CN" sz="3200" i="1" dirty="0">
                <a:solidFill>
                  <a:srgbClr val="000000"/>
                </a:solidFill>
                <a:latin typeface="Times New Roman" panose="02020603050405020304" pitchFamily="18" charset="0"/>
                <a:ea typeface="宋体" panose="02010600030101010101" pitchFamily="2" charset="-122"/>
              </a:rPr>
              <a:t> +  d</a:t>
            </a:r>
            <a:r>
              <a:rPr lang="en-US" altLang="zh-CN" sz="3200" i="1" baseline="-25000" dirty="0">
                <a:solidFill>
                  <a:srgbClr val="000000"/>
                </a:solidFill>
                <a:latin typeface="Times New Roman" panose="02020603050405020304" pitchFamily="18" charset="0"/>
                <a:ea typeface="宋体" panose="02010600030101010101" pitchFamily="2" charset="-122"/>
              </a:rPr>
              <a:t>prop</a:t>
            </a:r>
            <a:endParaRPr lang="en-US" altLang="zh-CN" sz="3200" i="1" baseline="-25000" dirty="0">
              <a:solidFill>
                <a:srgbClr val="000000"/>
              </a:solidFill>
              <a:latin typeface="Times New Roman" panose="02020603050405020304" pitchFamily="18" charset="0"/>
              <a:ea typeface="宋体" panose="02010600030101010101" pitchFamily="2" charset="-122"/>
            </a:endParaRPr>
          </a:p>
        </p:txBody>
      </p:sp>
      <p:grpSp>
        <p:nvGrpSpPr>
          <p:cNvPr id="18" name="组合 17"/>
          <p:cNvGrpSpPr/>
          <p:nvPr/>
        </p:nvGrpSpPr>
        <p:grpSpPr>
          <a:xfrm>
            <a:off x="848995" y="2776220"/>
            <a:ext cx="3131185" cy="921385"/>
            <a:chOff x="1031" y="4389"/>
            <a:chExt cx="4931" cy="1451"/>
          </a:xfrm>
        </p:grpSpPr>
        <p:sp>
          <p:nvSpPr>
            <p:cNvPr id="14" name="文本框 13"/>
            <p:cNvSpPr txBox="1"/>
            <p:nvPr/>
          </p:nvSpPr>
          <p:spPr>
            <a:xfrm>
              <a:off x="1031" y="4665"/>
              <a:ext cx="1801" cy="822"/>
            </a:xfrm>
            <a:prstGeom prst="rect">
              <a:avLst/>
            </a:prstGeom>
            <a:noFill/>
          </p:spPr>
          <p:txBody>
            <a:bodyPr wrap="square" rtlCol="0" anchor="t">
              <a:spAutoFit/>
            </a:bodyPr>
            <a:lstStyle/>
            <a:p>
              <a:r>
                <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800" b="1" i="1"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trans</a:t>
              </a:r>
              <a:r>
                <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5" name="Line 12"/>
            <p:cNvSpPr>
              <a:spLocks noChangeShapeType="1"/>
            </p:cNvSpPr>
            <p:nvPr/>
          </p:nvSpPr>
          <p:spPr bwMode="auto">
            <a:xfrm>
              <a:off x="2960" y="5114"/>
              <a:ext cx="2729" cy="1"/>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16" name="文本框 15"/>
            <p:cNvSpPr txBox="1"/>
            <p:nvPr/>
          </p:nvSpPr>
          <p:spPr>
            <a:xfrm>
              <a:off x="3142" y="4389"/>
              <a:ext cx="2820" cy="725"/>
            </a:xfrm>
            <a:prstGeom prst="rect">
              <a:avLst/>
            </a:prstGeom>
            <a:noFill/>
          </p:spPr>
          <p:txBody>
            <a:bodyPr wrap="square" rtlCol="0" anchor="t">
              <a:spAutoFit/>
            </a:bodyPr>
            <a:lstStyle/>
            <a:p>
              <a:r>
                <a:rPr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Length </a:t>
              </a: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(bit)</a:t>
              </a:r>
              <a:endPar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7" name="Text Box 11"/>
            <p:cNvSpPr txBox="1">
              <a:spLocks noChangeArrowheads="1"/>
            </p:cNvSpPr>
            <p:nvPr/>
          </p:nvSpPr>
          <p:spPr bwMode="auto">
            <a:xfrm>
              <a:off x="3244" y="5115"/>
              <a:ext cx="2325" cy="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bit/s</a:t>
              </a:r>
              <a:r>
                <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9" name="组合 18"/>
          <p:cNvGrpSpPr/>
          <p:nvPr/>
        </p:nvGrpSpPr>
        <p:grpSpPr>
          <a:xfrm>
            <a:off x="864235" y="4074160"/>
            <a:ext cx="3317240" cy="904240"/>
            <a:chOff x="1031" y="4350"/>
            <a:chExt cx="5224" cy="1424"/>
          </a:xfrm>
        </p:grpSpPr>
        <p:sp>
          <p:nvSpPr>
            <p:cNvPr id="20" name="文本框 19"/>
            <p:cNvSpPr txBox="1"/>
            <p:nvPr/>
          </p:nvSpPr>
          <p:spPr>
            <a:xfrm>
              <a:off x="1031" y="4665"/>
              <a:ext cx="1801" cy="822"/>
            </a:xfrm>
            <a:prstGeom prst="rect">
              <a:avLst/>
            </a:prstGeom>
            <a:noFill/>
          </p:spPr>
          <p:txBody>
            <a:bodyPr wrap="square" rtlCol="0" anchor="t">
              <a:spAutoFit/>
            </a:bodyPr>
            <a:lstStyle/>
            <a:p>
              <a:r>
                <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800" b="1" i="1"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prop</a:t>
              </a:r>
              <a:r>
                <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21" name="Line 12"/>
            <p:cNvSpPr>
              <a:spLocks noChangeShapeType="1"/>
            </p:cNvSpPr>
            <p:nvPr/>
          </p:nvSpPr>
          <p:spPr bwMode="auto">
            <a:xfrm>
              <a:off x="2936" y="5127"/>
              <a:ext cx="2881" cy="1"/>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22" name="文本框 21"/>
            <p:cNvSpPr txBox="1"/>
            <p:nvPr/>
          </p:nvSpPr>
          <p:spPr>
            <a:xfrm>
              <a:off x="3141" y="4350"/>
              <a:ext cx="3114" cy="725"/>
            </a:xfrm>
            <a:prstGeom prst="rect">
              <a:avLst/>
            </a:prstGeom>
            <a:noFill/>
          </p:spPr>
          <p:txBody>
            <a:bodyPr wrap="square" rtlCol="0" anchor="t">
              <a:spAutoFit/>
            </a:bodyPr>
            <a:lstStyle/>
            <a:p>
              <a:r>
                <a:rPr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Distance </a:t>
              </a: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(m)</a:t>
              </a:r>
              <a:endPar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23" name="Text Box 11"/>
            <p:cNvSpPr txBox="1">
              <a:spLocks noChangeArrowheads="1"/>
            </p:cNvSpPr>
            <p:nvPr/>
          </p:nvSpPr>
          <p:spPr bwMode="auto">
            <a:xfrm>
              <a:off x="3220" y="5049"/>
              <a:ext cx="2889" cy="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c</a:t>
              </a:r>
              <a:r>
                <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m/s</a:t>
              </a:r>
              <a:r>
                <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 name="矩形 2"/>
          <p:cNvSpPr/>
          <p:nvPr/>
        </p:nvSpPr>
        <p:spPr>
          <a:xfrm>
            <a:off x="674426" y="2513718"/>
            <a:ext cx="1301959" cy="461665"/>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传输时延</a:t>
            </a:r>
            <a:r>
              <a:rPr lang="zh-CN" altLang="en-US" sz="2400" dirty="0">
                <a:latin typeface="微软雅黑" panose="020B0503020204020204" pitchFamily="34" charset="-122"/>
                <a:ea typeface="微软雅黑" panose="020B0503020204020204" pitchFamily="34" charset="-122"/>
              </a:rPr>
              <a:t> </a:t>
            </a:r>
            <a:endParaRPr lang="zh-CN" altLang="en-US" sz="2000" dirty="0"/>
          </a:p>
        </p:txBody>
      </p:sp>
      <p:sp>
        <p:nvSpPr>
          <p:cNvPr id="5" name="矩形 4"/>
          <p:cNvSpPr/>
          <p:nvPr/>
        </p:nvSpPr>
        <p:spPr>
          <a:xfrm>
            <a:off x="674426" y="3962388"/>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传播时延</a:t>
            </a:r>
            <a:endParaRPr lang="zh-CN" altLang="en-US" sz="2000" dirty="0"/>
          </a:p>
        </p:txBody>
      </p:sp>
      <p:sp>
        <p:nvSpPr>
          <p:cNvPr id="71" name="文本框 70"/>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计算机网络度量单位</a:t>
            </a:r>
            <a:endParaRPr lang="en-US" altLang="zh-CN"/>
          </a:p>
        </p:txBody>
      </p:sp>
      <p:sp>
        <p:nvSpPr>
          <p:cNvPr id="9" name="内容占位符 8"/>
          <p:cNvSpPr>
            <a:spLocks noGrp="1"/>
          </p:cNvSpPr>
          <p:nvPr>
            <p:ph idx="1"/>
          </p:nvPr>
        </p:nvSpPr>
        <p:spPr>
          <a:xfrm>
            <a:off x="845130" y="1372568"/>
            <a:ext cx="6248400" cy="2701290"/>
          </a:xfrm>
        </p:spPr>
        <p:txBody>
          <a:bodyPr>
            <a:noAutofit/>
          </a:bodyPr>
          <a:lstStyle/>
          <a:p>
            <a:pPr marL="342900" indent="-342900" algn="just" eaLnBrk="1" hangingPunct="1">
              <a:lnSpc>
                <a:spcPct val="125000"/>
              </a:lnSpc>
              <a:spcBef>
                <a:spcPts val="20"/>
              </a:spcBef>
              <a:spcAft>
                <a:spcPts val="0"/>
              </a:spcAft>
              <a:buClrTx/>
              <a:buSzTx/>
              <a:buFont typeface="Wingdings" panose="05000000000000000000" charset="0"/>
              <a:buChar char="Ø"/>
              <a:defRPr/>
            </a:pPr>
            <a:r>
              <a:rPr lang="zh-CN" altLang="en-US" dirty="0">
                <a:latin typeface="Times New Roman" panose="02020603050405020304" pitchFamily="18" charset="0"/>
                <a:cs typeface="Times New Roman" panose="02020603050405020304" pitchFamily="18" charset="0"/>
                <a:sym typeface="+mn-ea"/>
              </a:rPr>
              <a:t>往返时延RTT(Round-Trip Time)</a:t>
            </a:r>
            <a:endParaRPr lang="zh-CN" altLang="en-US" dirty="0">
              <a:latin typeface="Times New Roman" panose="02020603050405020304" pitchFamily="18" charset="0"/>
              <a:cs typeface="Times New Roman" panose="02020603050405020304" pitchFamily="18" charset="0"/>
            </a:endParaRPr>
          </a:p>
          <a:p>
            <a:pPr lvl="1" algn="just" eaLnBrk="1" hangingPunct="1">
              <a:lnSpc>
                <a:spcPct val="125000"/>
              </a:lnSpc>
              <a:spcBef>
                <a:spcPts val="20"/>
              </a:spcBef>
              <a:spcAft>
                <a:spcPts val="0"/>
              </a:spcAft>
              <a:buFont typeface="Arial" panose="020B0604020202020204" pitchFamily="34" charset="0"/>
              <a:buChar char="•"/>
              <a:defRPr/>
            </a:pPr>
            <a:r>
              <a:rPr lang="zh-CN" altLang="en-US" dirty="0">
                <a:cs typeface="微软雅黑" panose="020B0503020204020204" pitchFamily="34" charset="-122"/>
                <a:sym typeface="+mn-ea"/>
              </a:rPr>
              <a:t>从发送方发送数据开始，到发送方收到来自接收方的确认，经历的</a:t>
            </a:r>
            <a:r>
              <a:rPr lang="zh-CN" altLang="en-US" dirty="0">
                <a:solidFill>
                  <a:srgbClr val="C00000"/>
                </a:solidFill>
                <a:cs typeface="微软雅黑" panose="020B0503020204020204" pitchFamily="34" charset="-122"/>
                <a:sym typeface="+mn-ea"/>
              </a:rPr>
              <a:t>总时间</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just">
              <a:lnSpc>
                <a:spcPct val="125000"/>
              </a:lnSpc>
              <a:spcBef>
                <a:spcPts val="20"/>
              </a:spcBef>
              <a:buFont typeface="Arial" panose="020B0604020202020204" pitchFamily="34" charset="0"/>
              <a:buChar char="•"/>
              <a:defRPr/>
            </a:pPr>
            <a:r>
              <a:rPr lang="zh-CN" altLang="en-US" dirty="0">
                <a:cs typeface="微软雅黑" panose="020B0503020204020204" pitchFamily="34" charset="-122"/>
                <a:sym typeface="+mn-ea"/>
              </a:rPr>
              <a:t>可用于判断网络的通断性、测试网络时延、计算数据包丢失率等</a:t>
            </a:r>
            <a:endParaRPr kumimoji="1" lang="zh-CN" altLang="en-US" dirty="0">
              <a:cs typeface="微软雅黑" panose="020B0503020204020204" pitchFamily="34" charset="-122"/>
              <a:sym typeface="+mn-ea"/>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pSp>
        <p:nvGrpSpPr>
          <p:cNvPr id="14" name="组合 13"/>
          <p:cNvGrpSpPr/>
          <p:nvPr/>
        </p:nvGrpSpPr>
        <p:grpSpPr>
          <a:xfrm>
            <a:off x="7433432" y="1291975"/>
            <a:ext cx="4461795" cy="2642996"/>
            <a:chOff x="2358" y="6477"/>
            <a:chExt cx="7026" cy="3953"/>
          </a:xfrm>
        </p:grpSpPr>
        <p:grpSp>
          <p:nvGrpSpPr>
            <p:cNvPr id="7" name="组合 6"/>
            <p:cNvGrpSpPr/>
            <p:nvPr/>
          </p:nvGrpSpPr>
          <p:grpSpPr>
            <a:xfrm>
              <a:off x="2358" y="6477"/>
              <a:ext cx="7026" cy="3953"/>
              <a:chOff x="7575" y="2705"/>
              <a:chExt cx="5168" cy="3851"/>
            </a:xfrm>
          </p:grpSpPr>
          <p:sp>
            <p:nvSpPr>
              <p:cNvPr id="183353" name="Line 15"/>
              <p:cNvSpPr/>
              <p:nvPr/>
            </p:nvSpPr>
            <p:spPr>
              <a:xfrm>
                <a:off x="9653" y="3902"/>
                <a:ext cx="42" cy="2158"/>
              </a:xfrm>
              <a:prstGeom prst="line">
                <a:avLst/>
              </a:prstGeom>
              <a:ln w="9525" cap="flat" cmpd="sng">
                <a:solidFill>
                  <a:srgbClr val="FF0000"/>
                </a:solidFill>
                <a:prstDash val="sysDot"/>
                <a:round/>
                <a:headEnd type="none" w="med" len="med"/>
                <a:tailEnd type="triangle" w="med" len="med"/>
              </a:ln>
            </p:spPr>
            <p:txBody>
              <a:bodyPr/>
              <a:lstStyle/>
              <a:p>
                <a:endParaRPr lang="en-US"/>
              </a:p>
            </p:txBody>
          </p:sp>
          <p:sp>
            <p:nvSpPr>
              <p:cNvPr id="183354" name="Line 16"/>
              <p:cNvSpPr/>
              <p:nvPr/>
            </p:nvSpPr>
            <p:spPr>
              <a:xfrm>
                <a:off x="12296" y="3913"/>
                <a:ext cx="17" cy="2158"/>
              </a:xfrm>
              <a:prstGeom prst="line">
                <a:avLst/>
              </a:prstGeom>
              <a:ln w="9525" cap="flat" cmpd="sng">
                <a:solidFill>
                  <a:srgbClr val="FF0000"/>
                </a:solidFill>
                <a:prstDash val="sysDot"/>
                <a:round/>
                <a:headEnd type="none" w="med" len="med"/>
                <a:tailEnd type="triangle" w="med" len="med"/>
              </a:ln>
            </p:spPr>
            <p:txBody>
              <a:bodyPr/>
              <a:lstStyle/>
              <a:p>
                <a:endParaRPr lang="en-US"/>
              </a:p>
            </p:txBody>
          </p:sp>
          <p:sp>
            <p:nvSpPr>
              <p:cNvPr id="183357" name="Line 19"/>
              <p:cNvSpPr/>
              <p:nvPr/>
            </p:nvSpPr>
            <p:spPr>
              <a:xfrm>
                <a:off x="9661" y="4064"/>
                <a:ext cx="2653" cy="615"/>
              </a:xfrm>
              <a:prstGeom prst="line">
                <a:avLst/>
              </a:prstGeom>
              <a:ln w="57150">
                <a:solidFill>
                  <a:srgbClr val="FF0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a:lstStyle/>
              <a:p>
                <a:endParaRPr lang="en-US"/>
              </a:p>
            </p:txBody>
          </p:sp>
          <p:sp>
            <p:nvSpPr>
              <p:cNvPr id="183365" name="Line 27"/>
              <p:cNvSpPr/>
              <p:nvPr/>
            </p:nvSpPr>
            <p:spPr>
              <a:xfrm>
                <a:off x="9121" y="4078"/>
                <a:ext cx="558" cy="0"/>
              </a:xfrm>
              <a:prstGeom prst="line">
                <a:avLst/>
              </a:prstGeom>
              <a:ln w="9525" cap="flat" cmpd="sng">
                <a:solidFill>
                  <a:schemeClr val="tx1"/>
                </a:solidFill>
                <a:prstDash val="solid"/>
                <a:round/>
                <a:headEnd type="none" w="med" len="med"/>
                <a:tailEnd type="none" w="med" len="med"/>
              </a:ln>
            </p:spPr>
            <p:txBody>
              <a:bodyPr/>
              <a:lstStyle/>
              <a:p>
                <a:endParaRPr lang="en-US"/>
              </a:p>
            </p:txBody>
          </p:sp>
          <p:sp>
            <p:nvSpPr>
              <p:cNvPr id="183366" name="Text Box 28"/>
              <p:cNvSpPr txBox="1"/>
              <p:nvPr/>
            </p:nvSpPr>
            <p:spPr>
              <a:xfrm>
                <a:off x="7575" y="3822"/>
                <a:ext cx="1696" cy="513"/>
              </a:xfrm>
              <a:prstGeom prst="rect">
                <a:avLst/>
              </a:prstGeom>
              <a:noFill/>
              <a:ln w="9525">
                <a:noFill/>
              </a:ln>
            </p:spPr>
            <p:txBody>
              <a:bodyPr wrap="square" anchor="t">
                <a:spAutoFit/>
              </a:bodyPr>
              <a:lstStyle/>
              <a:p>
                <a:pPr algn="ctr">
                  <a:lnSpc>
                    <a:spcPct val="85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Ping</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请求</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3367" name="AutoShape 29"/>
              <p:cNvSpPr/>
              <p:nvPr/>
            </p:nvSpPr>
            <p:spPr>
              <a:xfrm>
                <a:off x="9297" y="4144"/>
                <a:ext cx="218" cy="1596"/>
              </a:xfrm>
              <a:prstGeom prst="leftBrace">
                <a:avLst>
                  <a:gd name="adj1" fmla="val 51756"/>
                  <a:gd name="adj2" fmla="val 50000"/>
                </a:avLst>
              </a:prstGeom>
              <a:noFill/>
              <a:ln w="6350" cap="flat" cmpd="sng">
                <a:solidFill>
                  <a:schemeClr val="tx1"/>
                </a:solidFill>
                <a:prstDash val="solid"/>
                <a:round/>
                <a:headEnd type="none" w="med" len="med"/>
                <a:tailEnd type="none" w="med" len="med"/>
              </a:ln>
            </p:spPr>
            <p:txBody>
              <a:bodyPr wrap="none" anchor="ctr"/>
              <a:lstStyle/>
              <a:p>
                <a:pPr>
                  <a:lnSpc>
                    <a:spcPct val="85000"/>
                  </a:lnSpc>
                </a:pPr>
                <a:endParaRPr lang="zh-CN" altLang="zh-CN" sz="2400" dirty="0">
                  <a:latin typeface="微软雅黑" panose="020B0503020204020204" pitchFamily="34" charset="-122"/>
                  <a:ea typeface="微软雅黑" panose="020B0503020204020204" pitchFamily="34" charset="-122"/>
                </a:endParaRPr>
              </a:p>
            </p:txBody>
          </p:sp>
          <p:sp>
            <p:nvSpPr>
              <p:cNvPr id="183368" name="Text Box 30"/>
              <p:cNvSpPr txBox="1"/>
              <p:nvPr/>
            </p:nvSpPr>
            <p:spPr>
              <a:xfrm>
                <a:off x="8228" y="4772"/>
                <a:ext cx="979" cy="513"/>
              </a:xfrm>
              <a:prstGeom prst="rect">
                <a:avLst/>
              </a:prstGeom>
              <a:noFill/>
              <a:ln w="9525">
                <a:noFill/>
              </a:ln>
            </p:spPr>
            <p:txBody>
              <a:bodyPr wrap="square" anchor="t">
                <a:spAutoFit/>
              </a:bodyPr>
              <a:lstStyle/>
              <a:p>
                <a:pPr>
                  <a:lnSpc>
                    <a:spcPct val="85000"/>
                  </a:lnSpc>
                </a:pPr>
                <a:r>
                  <a:rPr lang="en-US" altLang="zh-CN" sz="2000" dirty="0">
                    <a:latin typeface="微软雅黑" panose="020B0503020204020204" pitchFamily="34" charset="-122"/>
                    <a:ea typeface="微软雅黑" panose="020B0503020204020204" pitchFamily="34" charset="-122"/>
                  </a:rPr>
                  <a:t>RTT</a:t>
                </a:r>
                <a:endParaRPr lang="en-US" altLang="zh-CN" sz="2000" dirty="0">
                  <a:latin typeface="微软雅黑" panose="020B0503020204020204" pitchFamily="34" charset="-122"/>
                  <a:ea typeface="微软雅黑" panose="020B0503020204020204" pitchFamily="34" charset="-122"/>
                </a:endParaRPr>
              </a:p>
            </p:txBody>
          </p:sp>
          <p:sp>
            <p:nvSpPr>
              <p:cNvPr id="183369" name="Line 35"/>
              <p:cNvSpPr/>
              <p:nvPr/>
            </p:nvSpPr>
            <p:spPr>
              <a:xfrm flipH="1">
                <a:off x="9113" y="5819"/>
                <a:ext cx="540" cy="3"/>
              </a:xfrm>
              <a:prstGeom prst="line">
                <a:avLst/>
              </a:prstGeom>
              <a:ln w="12700" cap="flat" cmpd="sng">
                <a:solidFill>
                  <a:schemeClr val="tx1"/>
                </a:solidFill>
                <a:prstDash val="solid"/>
                <a:round/>
                <a:headEnd type="none" w="med" len="med"/>
                <a:tailEnd type="none" w="med" len="med"/>
              </a:ln>
            </p:spPr>
            <p:txBody>
              <a:bodyPr/>
              <a:lstStyle/>
              <a:p>
                <a:endParaRPr lang="en-US"/>
              </a:p>
            </p:txBody>
          </p:sp>
          <p:sp>
            <p:nvSpPr>
              <p:cNvPr id="183370" name="Text Box 36"/>
              <p:cNvSpPr txBox="1"/>
              <p:nvPr/>
            </p:nvSpPr>
            <p:spPr>
              <a:xfrm>
                <a:off x="7681" y="5475"/>
                <a:ext cx="1536" cy="897"/>
              </a:xfrm>
              <a:prstGeom prst="rect">
                <a:avLst/>
              </a:prstGeom>
              <a:noFill/>
              <a:ln w="9525">
                <a:noFill/>
              </a:ln>
            </p:spPr>
            <p:txBody>
              <a:bodyPr wrap="square" anchor="t">
                <a:spAutoFit/>
              </a:bodyPr>
              <a:lstStyle/>
              <a:p>
                <a:pPr>
                  <a:lnSpc>
                    <a:spcPct val="85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收到</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Ping</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response</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3371" name="Text Box 37"/>
              <p:cNvSpPr txBox="1"/>
              <p:nvPr/>
            </p:nvSpPr>
            <p:spPr>
              <a:xfrm>
                <a:off x="9297" y="6093"/>
                <a:ext cx="895" cy="438"/>
              </a:xfrm>
              <a:prstGeom prst="rect">
                <a:avLst/>
              </a:prstGeom>
              <a:noFill/>
              <a:ln w="9525">
                <a:noFill/>
              </a:ln>
            </p:spPr>
            <p:txBody>
              <a:bodyPr wrap="square" anchor="t">
                <a:spAutoFit/>
              </a:bodyPr>
              <a:lstStyle/>
              <a:p>
                <a:pPr>
                  <a:lnSpc>
                    <a:spcPct val="85000"/>
                  </a:lnSpc>
                </a:pPr>
                <a:r>
                  <a:rPr lang="en-US" altLang="zh-CN" sz="1600" dirty="0">
                    <a:latin typeface="微软雅黑" panose="020B0503020204020204" pitchFamily="34" charset="-122"/>
                    <a:ea typeface="微软雅黑" panose="020B0503020204020204" pitchFamily="34" charset="-122"/>
                  </a:rPr>
                  <a:t>time</a:t>
                </a:r>
                <a:endParaRPr lang="en-US" altLang="zh-CN" sz="1600" dirty="0">
                  <a:latin typeface="微软雅黑" panose="020B0503020204020204" pitchFamily="34" charset="-122"/>
                  <a:ea typeface="微软雅黑" panose="020B0503020204020204" pitchFamily="34" charset="-122"/>
                </a:endParaRPr>
              </a:p>
            </p:txBody>
          </p:sp>
          <p:sp>
            <p:nvSpPr>
              <p:cNvPr id="183372" name="Text Box 38"/>
              <p:cNvSpPr txBox="1"/>
              <p:nvPr/>
            </p:nvSpPr>
            <p:spPr>
              <a:xfrm>
                <a:off x="11848" y="6065"/>
                <a:ext cx="895" cy="491"/>
              </a:xfrm>
              <a:prstGeom prst="rect">
                <a:avLst/>
              </a:prstGeom>
              <a:noFill/>
              <a:ln w="9525">
                <a:noFill/>
              </a:ln>
            </p:spPr>
            <p:txBody>
              <a:bodyPr wrap="square" anchor="t">
                <a:spAutoFit/>
              </a:bodyPr>
              <a:lstStyle/>
              <a:p>
                <a:r>
                  <a:rPr lang="en-US" altLang="zh-CN" sz="1600" dirty="0">
                    <a:latin typeface="微软雅黑" panose="020B0503020204020204" pitchFamily="34" charset="-122"/>
                    <a:ea typeface="微软雅黑" panose="020B0503020204020204" pitchFamily="34" charset="-122"/>
                  </a:rPr>
                  <a:t>time</a:t>
                </a:r>
                <a:endParaRPr lang="en-US" altLang="zh-CN" sz="1600" dirty="0">
                  <a:latin typeface="微软雅黑" panose="020B0503020204020204" pitchFamily="34" charset="-122"/>
                  <a:ea typeface="微软雅黑" panose="020B0503020204020204" pitchFamily="34" charset="-122"/>
                </a:endParaRPr>
              </a:p>
            </p:txBody>
          </p:sp>
          <p:grpSp>
            <p:nvGrpSpPr>
              <p:cNvPr id="183373" name="Group 43"/>
              <p:cNvGrpSpPr/>
              <p:nvPr/>
            </p:nvGrpSpPr>
            <p:grpSpPr>
              <a:xfrm>
                <a:off x="11980" y="2705"/>
                <a:ext cx="668" cy="1078"/>
                <a:chOff x="4140" y="429"/>
                <a:chExt cx="1425" cy="2396"/>
              </a:xfrm>
            </p:grpSpPr>
            <p:sp>
              <p:nvSpPr>
                <p:cNvPr id="183374" name="Freeform 44"/>
                <p:cNvSpPr/>
                <p:nvPr/>
              </p:nvSpPr>
              <p:spPr>
                <a:xfrm>
                  <a:off x="5268" y="433"/>
                  <a:ext cx="283" cy="2286"/>
                </a:xfrm>
                <a:custGeom>
                  <a:avLst/>
                  <a:gdLst/>
                  <a:ahLst/>
                  <a:cxnLst>
                    <a:cxn ang="0">
                      <a:pos x="2" y="0"/>
                    </a:cxn>
                    <a:cxn ang="0">
                      <a:pos x="5" y="11"/>
                    </a:cxn>
                    <a:cxn ang="0">
                      <a:pos x="5" y="83"/>
                    </a:cxn>
                    <a:cxn ang="0">
                      <a:pos x="0" y="86"/>
                    </a:cxn>
                    <a:cxn ang="0">
                      <a:pos x="2" y="0"/>
                    </a:cxn>
                  </a:cxnLst>
                  <a:rect l="0" t="0" r="0" b="0"/>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75" name="Rectangle 45"/>
                <p:cNvSpPr/>
                <p:nvPr/>
              </p:nvSpPr>
              <p:spPr>
                <a:xfrm>
                  <a:off x="4204" y="429"/>
                  <a:ext cx="1051" cy="2285"/>
                </a:xfrm>
                <a:prstGeom prst="rect">
                  <a:avLst/>
                </a:prstGeom>
                <a:gradFill rotWithShape="1">
                  <a:gsLst>
                    <a:gs pos="0">
                      <a:srgbClr val="292929"/>
                    </a:gs>
                    <a:gs pos="100000">
                      <a:srgbClr val="808080"/>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76" name="Freeform 46"/>
                <p:cNvSpPr/>
                <p:nvPr/>
              </p:nvSpPr>
              <p:spPr>
                <a:xfrm>
                  <a:off x="5321" y="570"/>
                  <a:ext cx="169" cy="2115"/>
                </a:xfrm>
                <a:custGeom>
                  <a:avLst/>
                  <a:gdLst/>
                  <a:ahLst/>
                  <a:cxnLst>
                    <a:cxn ang="0">
                      <a:pos x="2" y="0"/>
                    </a:cxn>
                    <a:cxn ang="0">
                      <a:pos x="3" y="8"/>
                    </a:cxn>
                    <a:cxn ang="0">
                      <a:pos x="2" y="78"/>
                    </a:cxn>
                    <a:cxn ang="0">
                      <a:pos x="2" y="0"/>
                    </a:cxn>
                  </a:cxnLst>
                  <a:rect l="0" t="0" r="0" b="0"/>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77" name="Freeform 47"/>
                <p:cNvSpPr/>
                <p:nvPr/>
              </p:nvSpPr>
              <p:spPr>
                <a:xfrm>
                  <a:off x="5284" y="1640"/>
                  <a:ext cx="263" cy="189"/>
                </a:xfrm>
                <a:custGeom>
                  <a:avLst/>
                  <a:gdLst/>
                  <a:ahLst/>
                  <a:cxnLst>
                    <a:cxn ang="0">
                      <a:pos x="2" y="0"/>
                    </a:cxn>
                    <a:cxn ang="0">
                      <a:pos x="5" y="5"/>
                    </a:cxn>
                    <a:cxn ang="0">
                      <a:pos x="5" y="8"/>
                    </a:cxn>
                    <a:cxn ang="0">
                      <a:pos x="0" y="3"/>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78" name="Rectangle 48"/>
                <p:cNvSpPr/>
                <p:nvPr/>
              </p:nvSpPr>
              <p:spPr>
                <a:xfrm>
                  <a:off x="4209" y="690"/>
                  <a:ext cx="598" cy="5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nvGrpSpPr>
                <p:cNvPr id="183379" name="Group 49"/>
                <p:cNvGrpSpPr/>
                <p:nvPr/>
              </p:nvGrpSpPr>
              <p:grpSpPr>
                <a:xfrm>
                  <a:off x="4749" y="668"/>
                  <a:ext cx="581" cy="145"/>
                  <a:chOff x="614" y="2568"/>
                  <a:chExt cx="725" cy="139"/>
                </a:xfrm>
              </p:grpSpPr>
              <p:sp>
                <p:nvSpPr>
                  <p:cNvPr id="183380" name="AutoShape 50"/>
                  <p:cNvSpPr/>
                  <p:nvPr/>
                </p:nvSpPr>
                <p:spPr>
                  <a:xfrm>
                    <a:off x="613" y="2568"/>
                    <a:ext cx="726" cy="139"/>
                  </a:xfrm>
                  <a:prstGeom prst="roundRect">
                    <a:avLst>
                      <a:gd name="adj" fmla="val 50000"/>
                    </a:avLst>
                  </a:prstGeom>
                  <a:solidFill>
                    <a:schemeClr val="tx1"/>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81" name="AutoShape 51"/>
                  <p:cNvSpPr/>
                  <p:nvPr/>
                </p:nvSpPr>
                <p:spPr>
                  <a:xfrm>
                    <a:off x="627" y="2584"/>
                    <a:ext cx="693" cy="107"/>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sp>
              <p:nvSpPr>
                <p:cNvPr id="183382" name="Rectangle 52"/>
                <p:cNvSpPr/>
                <p:nvPr/>
              </p:nvSpPr>
              <p:spPr>
                <a:xfrm>
                  <a:off x="4225" y="1018"/>
                  <a:ext cx="592" cy="5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nvGrpSpPr>
                <p:cNvPr id="183383" name="Group 53"/>
                <p:cNvGrpSpPr/>
                <p:nvPr/>
              </p:nvGrpSpPr>
              <p:grpSpPr>
                <a:xfrm>
                  <a:off x="4747" y="994"/>
                  <a:ext cx="581" cy="134"/>
                  <a:chOff x="614" y="2568"/>
                  <a:chExt cx="725" cy="139"/>
                </a:xfrm>
              </p:grpSpPr>
              <p:sp>
                <p:nvSpPr>
                  <p:cNvPr id="183384" name="AutoShape 54"/>
                  <p:cNvSpPr/>
                  <p:nvPr/>
                </p:nvSpPr>
                <p:spPr>
                  <a:xfrm>
                    <a:off x="616" y="2570"/>
                    <a:ext cx="726" cy="138"/>
                  </a:xfrm>
                  <a:prstGeom prst="roundRect">
                    <a:avLst>
                      <a:gd name="adj" fmla="val 50000"/>
                    </a:avLst>
                  </a:prstGeom>
                  <a:solidFill>
                    <a:schemeClr val="tx1"/>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85" name="AutoShape 55"/>
                  <p:cNvSpPr/>
                  <p:nvPr/>
                </p:nvSpPr>
                <p:spPr>
                  <a:xfrm>
                    <a:off x="629" y="2587"/>
                    <a:ext cx="693"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sp>
              <p:nvSpPr>
                <p:cNvPr id="183386" name="Rectangle 56"/>
                <p:cNvSpPr/>
                <p:nvPr/>
              </p:nvSpPr>
              <p:spPr>
                <a:xfrm>
                  <a:off x="4215" y="1357"/>
                  <a:ext cx="598"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87" name="Rectangle 57"/>
                <p:cNvSpPr/>
                <p:nvPr/>
              </p:nvSpPr>
              <p:spPr>
                <a:xfrm>
                  <a:off x="4225" y="1658"/>
                  <a:ext cx="598"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nvGrpSpPr>
                <p:cNvPr id="183388" name="Group 58"/>
                <p:cNvGrpSpPr/>
                <p:nvPr/>
              </p:nvGrpSpPr>
              <p:grpSpPr>
                <a:xfrm>
                  <a:off x="4735" y="1627"/>
                  <a:ext cx="582" cy="151"/>
                  <a:chOff x="614" y="2568"/>
                  <a:chExt cx="725" cy="139"/>
                </a:xfrm>
              </p:grpSpPr>
              <p:sp>
                <p:nvSpPr>
                  <p:cNvPr id="183389" name="AutoShape 59"/>
                  <p:cNvSpPr/>
                  <p:nvPr/>
                </p:nvSpPr>
                <p:spPr>
                  <a:xfrm>
                    <a:off x="611" y="2581"/>
                    <a:ext cx="731" cy="128"/>
                  </a:xfrm>
                  <a:prstGeom prst="roundRect">
                    <a:avLst>
                      <a:gd name="adj" fmla="val 50000"/>
                    </a:avLst>
                  </a:prstGeom>
                  <a:solidFill>
                    <a:schemeClr val="tx1"/>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90" name="AutoShape 60"/>
                  <p:cNvSpPr/>
                  <p:nvPr/>
                </p:nvSpPr>
                <p:spPr>
                  <a:xfrm>
                    <a:off x="624" y="2586"/>
                    <a:ext cx="698" cy="107"/>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sp>
              <p:nvSpPr>
                <p:cNvPr id="183391" name="Freeform 61"/>
                <p:cNvSpPr/>
                <p:nvPr/>
              </p:nvSpPr>
              <p:spPr>
                <a:xfrm>
                  <a:off x="5288" y="1354"/>
                  <a:ext cx="263" cy="188"/>
                </a:xfrm>
                <a:custGeom>
                  <a:avLst/>
                  <a:gdLst/>
                  <a:ahLst/>
                  <a:cxnLst>
                    <a:cxn ang="0">
                      <a:pos x="2" y="0"/>
                    </a:cxn>
                    <a:cxn ang="0">
                      <a:pos x="5" y="4"/>
                    </a:cxn>
                    <a:cxn ang="0">
                      <a:pos x="5" y="7"/>
                    </a:cxn>
                    <a:cxn ang="0">
                      <a:pos x="0" y="2"/>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83392" name="Group 62"/>
                <p:cNvGrpSpPr/>
                <p:nvPr/>
              </p:nvGrpSpPr>
              <p:grpSpPr>
                <a:xfrm>
                  <a:off x="4739" y="1327"/>
                  <a:ext cx="582" cy="139"/>
                  <a:chOff x="614" y="2568"/>
                  <a:chExt cx="725" cy="139"/>
                </a:xfrm>
              </p:grpSpPr>
              <p:sp>
                <p:nvSpPr>
                  <p:cNvPr id="183393" name="AutoShape 63"/>
                  <p:cNvSpPr/>
                  <p:nvPr/>
                </p:nvSpPr>
                <p:spPr>
                  <a:xfrm>
                    <a:off x="612" y="2576"/>
                    <a:ext cx="725" cy="139"/>
                  </a:xfrm>
                  <a:prstGeom prst="roundRect">
                    <a:avLst>
                      <a:gd name="adj" fmla="val 50000"/>
                    </a:avLst>
                  </a:prstGeom>
                  <a:solidFill>
                    <a:schemeClr val="tx1"/>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94" name="AutoShape 64"/>
                  <p:cNvSpPr/>
                  <p:nvPr/>
                </p:nvSpPr>
                <p:spPr>
                  <a:xfrm>
                    <a:off x="626" y="2587"/>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sp>
              <p:nvSpPr>
                <p:cNvPr id="183395" name="Rectangle 65"/>
                <p:cNvSpPr/>
                <p:nvPr/>
              </p:nvSpPr>
              <p:spPr>
                <a:xfrm>
                  <a:off x="5250" y="429"/>
                  <a:ext cx="69" cy="2290"/>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96" name="Freeform 66"/>
                <p:cNvSpPr/>
                <p:nvPr/>
              </p:nvSpPr>
              <p:spPr>
                <a:xfrm>
                  <a:off x="5312" y="1007"/>
                  <a:ext cx="237" cy="213"/>
                </a:xfrm>
                <a:custGeom>
                  <a:avLst/>
                  <a:gdLst/>
                  <a:ahLst/>
                  <a:cxnLst>
                    <a:cxn ang="0">
                      <a:pos x="2" y="0"/>
                    </a:cxn>
                    <a:cxn ang="0">
                      <a:pos x="5" y="4"/>
                    </a:cxn>
                    <a:cxn ang="0">
                      <a:pos x="5" y="7"/>
                    </a:cxn>
                    <a:cxn ang="0">
                      <a:pos x="0" y="2"/>
                    </a:cxn>
                    <a:cxn ang="0">
                      <a:pos x="2" y="0"/>
                    </a:cxn>
                  </a:cxnLst>
                  <a:rect l="0" t="0" r="0" b="0"/>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97" name="Freeform 67"/>
                <p:cNvSpPr/>
                <p:nvPr/>
              </p:nvSpPr>
              <p:spPr>
                <a:xfrm>
                  <a:off x="5315" y="680"/>
                  <a:ext cx="244" cy="240"/>
                </a:xfrm>
                <a:custGeom>
                  <a:avLst/>
                  <a:gdLst/>
                  <a:ahLst/>
                  <a:cxnLst>
                    <a:cxn ang="0">
                      <a:pos x="0" y="0"/>
                    </a:cxn>
                    <a:cxn ang="0">
                      <a:pos x="5" y="6"/>
                    </a:cxn>
                    <a:cxn ang="0">
                      <a:pos x="4" y="9"/>
                    </a:cxn>
                    <a:cxn ang="0">
                      <a:pos x="2" y="4"/>
                    </a:cxn>
                    <a:cxn ang="0">
                      <a:pos x="0" y="0"/>
                    </a:cxn>
                  </a:cxnLst>
                  <a:rect l="0" t="0" r="0" b="0"/>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98" name="Oval 68"/>
                <p:cNvSpPr/>
                <p:nvPr/>
              </p:nvSpPr>
              <p:spPr>
                <a:xfrm>
                  <a:off x="5517" y="2614"/>
                  <a:ext cx="48" cy="95"/>
                </a:xfrm>
                <a:prstGeom prst="ellipse">
                  <a:avLst/>
                </a:prstGeom>
                <a:solidFill>
                  <a:srgbClr val="333333"/>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99" name="Freeform 69"/>
                <p:cNvSpPr/>
                <p:nvPr/>
              </p:nvSpPr>
              <p:spPr>
                <a:xfrm>
                  <a:off x="5302" y="2614"/>
                  <a:ext cx="245" cy="200"/>
                </a:xfrm>
                <a:custGeom>
                  <a:avLst/>
                  <a:gdLst/>
                  <a:ahLst/>
                  <a:cxnLst>
                    <a:cxn ang="0">
                      <a:pos x="0" y="4"/>
                    </a:cxn>
                    <a:cxn ang="0">
                      <a:pos x="2" y="8"/>
                    </a:cxn>
                    <a:cxn ang="0">
                      <a:pos x="5" y="4"/>
                    </a:cxn>
                    <a:cxn ang="0">
                      <a:pos x="5" y="0"/>
                    </a:cxn>
                    <a:cxn ang="0">
                      <a:pos x="0" y="4"/>
                    </a:cxn>
                  </a:cxnLst>
                  <a:rect l="0" t="0" r="0" b="0"/>
                  <a:pathLst>
                    <a:path w="306" h="240">
                      <a:moveTo>
                        <a:pt x="0" y="106"/>
                      </a:moveTo>
                      <a:lnTo>
                        <a:pt x="2" y="240"/>
                      </a:lnTo>
                      <a:lnTo>
                        <a:pt x="306" y="110"/>
                      </a:lnTo>
                      <a:lnTo>
                        <a:pt x="300" y="0"/>
                      </a:lnTo>
                      <a:lnTo>
                        <a:pt x="0" y="106"/>
                      </a:lnTo>
                      <a:close/>
                    </a:path>
                  </a:pathLst>
                </a:custGeom>
                <a:solidFill>
                  <a:srgbClr val="333333"/>
                </a:soli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400" name="AutoShape 70"/>
                <p:cNvSpPr/>
                <p:nvPr/>
              </p:nvSpPr>
              <p:spPr>
                <a:xfrm>
                  <a:off x="4140" y="2680"/>
                  <a:ext cx="1201" cy="145"/>
                </a:xfrm>
                <a:prstGeom prst="roundRect">
                  <a:avLst>
                    <a:gd name="adj" fmla="val 50000"/>
                  </a:avLst>
                </a:prstGeom>
                <a:solidFill>
                  <a:srgbClr val="DDDDDD"/>
                </a:solidFill>
                <a:ln w="9525" cap="flat" cmpd="sng">
                  <a:solidFill>
                    <a:schemeClr val="tx1"/>
                  </a:solidFill>
                  <a:prstDash val="solid"/>
                  <a:round/>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401" name="AutoShape 71"/>
                <p:cNvSpPr/>
                <p:nvPr/>
              </p:nvSpPr>
              <p:spPr>
                <a:xfrm>
                  <a:off x="4204" y="2708"/>
                  <a:ext cx="1073" cy="83"/>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round/>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402" name="Oval 72"/>
                <p:cNvSpPr/>
                <p:nvPr/>
              </p:nvSpPr>
              <p:spPr>
                <a:xfrm>
                  <a:off x="4305" y="2380"/>
                  <a:ext cx="160" cy="145"/>
                </a:xfrm>
                <a:prstGeom prst="ellipse">
                  <a:avLst/>
                </a:prstGeom>
                <a:solidFill>
                  <a:srgbClr val="33CC33"/>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403" name="Oval 73"/>
                <p:cNvSpPr/>
                <p:nvPr/>
              </p:nvSpPr>
              <p:spPr>
                <a:xfrm>
                  <a:off x="4487" y="2386"/>
                  <a:ext cx="160" cy="139"/>
                </a:xfrm>
                <a:prstGeom prst="ellipse">
                  <a:avLst/>
                </a:prstGeom>
                <a:solidFill>
                  <a:srgbClr val="FF0000"/>
                </a:solidFill>
                <a:ln w="9525">
                  <a:noFill/>
                </a:ln>
              </p:spPr>
              <p:txBody>
                <a:bodyPr wrap="none" anchor="ctr"/>
                <a:lstStyle/>
                <a:p>
                  <a:pPr algn="ctr"/>
                  <a:endParaRPr lang="zh-CN" altLang="zh-CN" dirty="0">
                    <a:solidFill>
                      <a:srgbClr val="FF0000"/>
                    </a:solidFill>
                    <a:latin typeface="微软雅黑" panose="020B0503020204020204" pitchFamily="34" charset="-122"/>
                    <a:ea typeface="微软雅黑" panose="020B0503020204020204" pitchFamily="34" charset="-122"/>
                  </a:endParaRPr>
                </a:p>
              </p:txBody>
            </p:sp>
            <p:sp>
              <p:nvSpPr>
                <p:cNvPr id="183404" name="Oval 74"/>
                <p:cNvSpPr/>
                <p:nvPr/>
              </p:nvSpPr>
              <p:spPr>
                <a:xfrm>
                  <a:off x="4663" y="2380"/>
                  <a:ext cx="155" cy="139"/>
                </a:xfrm>
                <a:prstGeom prst="ellipse">
                  <a:avLst/>
                </a:prstGeom>
                <a:solidFill>
                  <a:srgbClr val="33CC33"/>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405" name="Rectangle 75"/>
                <p:cNvSpPr/>
                <p:nvPr/>
              </p:nvSpPr>
              <p:spPr>
                <a:xfrm>
                  <a:off x="5063" y="1835"/>
                  <a:ext cx="85"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grpSp>
            <p:nvGrpSpPr>
              <p:cNvPr id="183406" name="Group 76"/>
              <p:cNvGrpSpPr/>
              <p:nvPr/>
            </p:nvGrpSpPr>
            <p:grpSpPr>
              <a:xfrm>
                <a:off x="8828" y="2740"/>
                <a:ext cx="1100" cy="1118"/>
                <a:chOff x="-44" y="1473"/>
                <a:chExt cx="981" cy="1105"/>
              </a:xfrm>
            </p:grpSpPr>
            <p:pic>
              <p:nvPicPr>
                <p:cNvPr id="183407" name="Picture 77" descr="desktop_computer_stylized_medium"/>
                <p:cNvPicPr>
                  <a:picLocks noChangeAspect="1"/>
                </p:cNvPicPr>
                <p:nvPr/>
              </p:nvPicPr>
              <p:blipFill>
                <a:blip r:embed="rId1"/>
                <a:stretch>
                  <a:fillRect/>
                </a:stretch>
              </p:blipFill>
              <p:spPr>
                <a:xfrm flipH="1">
                  <a:off x="-44" y="1473"/>
                  <a:ext cx="981" cy="1105"/>
                </a:xfrm>
                <a:prstGeom prst="rect">
                  <a:avLst/>
                </a:prstGeom>
                <a:noFill/>
                <a:ln w="9525">
                  <a:noFill/>
                </a:ln>
              </p:spPr>
            </p:pic>
            <p:sp>
              <p:nvSpPr>
                <p:cNvPr id="183408" name="Freeform 78"/>
                <p:cNvSpPr/>
                <p:nvPr/>
              </p:nvSpPr>
              <p:spPr>
                <a:xfrm flipH="1">
                  <a:off x="374" y="1579"/>
                  <a:ext cx="477" cy="506"/>
                </a:xfrm>
                <a:custGeom>
                  <a:avLst/>
                  <a:gdLst/>
                  <a:ahLst/>
                  <a:cxnLst>
                    <a:cxn ang="0">
                      <a:pos x="0" y="0"/>
                    </a:cxn>
                    <a:cxn ang="0">
                      <a:pos x="77884" y="5998"/>
                    </a:cxn>
                    <a:cxn ang="0">
                      <a:pos x="92393" y="124961"/>
                    </a:cxn>
                    <a:cxn ang="0">
                      <a:pos x="20362" y="156280"/>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grpSp>
        </p:grpSp>
        <p:cxnSp>
          <p:nvCxnSpPr>
            <p:cNvPr id="13" name="直接箭头连接符 12"/>
            <p:cNvCxnSpPr/>
            <p:nvPr/>
          </p:nvCxnSpPr>
          <p:spPr>
            <a:xfrm flipH="1">
              <a:off x="5167" y="8572"/>
              <a:ext cx="3633" cy="1052"/>
            </a:xfrm>
            <a:prstGeom prst="straightConnector1">
              <a:avLst/>
            </a:prstGeom>
            <a:ln w="57150">
              <a:solidFill>
                <a:srgbClr val="0B10F1"/>
              </a:solidFill>
              <a:tailEnd type="arrow"/>
            </a:ln>
          </p:spPr>
          <p:style>
            <a:lnRef idx="1">
              <a:schemeClr val="accent1"/>
            </a:lnRef>
            <a:fillRef idx="0">
              <a:schemeClr val="accent1"/>
            </a:fillRef>
            <a:effectRef idx="0">
              <a:schemeClr val="accent1"/>
            </a:effectRef>
            <a:fontRef idx="minor">
              <a:schemeClr val="tx1"/>
            </a:fontRef>
          </p:style>
        </p:cxnSp>
      </p:grpSp>
      <p:cxnSp>
        <p:nvCxnSpPr>
          <p:cNvPr id="15" name="直接箭头连接符 14"/>
          <p:cNvCxnSpPr/>
          <p:nvPr/>
        </p:nvCxnSpPr>
        <p:spPr>
          <a:xfrm>
            <a:off x="9554952" y="1678057"/>
            <a:ext cx="1564640"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9554952" y="1816487"/>
            <a:ext cx="1564640" cy="0"/>
          </a:xfrm>
          <a:prstGeom prst="straightConnector1">
            <a:avLst/>
          </a:prstGeom>
          <a:ln>
            <a:solidFill>
              <a:srgbClr val="0B10F1"/>
            </a:solidFill>
            <a:tailEnd type="arrow"/>
          </a:ln>
        </p:spPr>
        <p:style>
          <a:lnRef idx="1">
            <a:schemeClr val="accent1"/>
          </a:lnRef>
          <a:fillRef idx="0">
            <a:schemeClr val="accent1"/>
          </a:fillRef>
          <a:effectRef idx="0">
            <a:schemeClr val="accent1"/>
          </a:effectRef>
          <a:fontRef idx="minor">
            <a:schemeClr val="tx1"/>
          </a:fontRef>
        </p:style>
      </p:cxnSp>
      <p:sp>
        <p:nvSpPr>
          <p:cNvPr id="17" name="Text Box 24"/>
          <p:cNvSpPr txBox="1"/>
          <p:nvPr/>
        </p:nvSpPr>
        <p:spPr>
          <a:xfrm>
            <a:off x="9668915" y="1366033"/>
            <a:ext cx="1516171" cy="307266"/>
          </a:xfrm>
          <a:prstGeom prst="rect">
            <a:avLst/>
          </a:prstGeom>
          <a:noFill/>
          <a:ln w="9525">
            <a:noFill/>
          </a:ln>
        </p:spPr>
        <p:txBody>
          <a:bodyPr wrap="square" anchor="t">
            <a:spAutoFit/>
          </a:bodyPr>
          <a:lstStyle/>
          <a:p>
            <a:pPr algn="ctr"/>
            <a:r>
              <a:rPr lang="en-US" altLang="zh-CN" sz="1400" dirty="0">
                <a:solidFill>
                  <a:srgbClr val="CC0000"/>
                </a:solidFill>
                <a:latin typeface="微软雅黑" panose="020B0503020204020204" pitchFamily="34" charset="-122"/>
                <a:ea typeface="微软雅黑" panose="020B0503020204020204" pitchFamily="34" charset="-122"/>
              </a:rPr>
              <a:t>Ping request</a:t>
            </a:r>
            <a:endParaRPr lang="en-US" altLang="zh-CN" sz="1400" dirty="0">
              <a:solidFill>
                <a:srgbClr val="CC0000"/>
              </a:solidFill>
              <a:latin typeface="微软雅黑" panose="020B0503020204020204" pitchFamily="34" charset="-122"/>
              <a:ea typeface="微软雅黑" panose="020B0503020204020204" pitchFamily="34" charset="-122"/>
            </a:endParaRPr>
          </a:p>
        </p:txBody>
      </p:sp>
      <p:sp>
        <p:nvSpPr>
          <p:cNvPr id="18" name="Text Box 26"/>
          <p:cNvSpPr txBox="1"/>
          <p:nvPr/>
        </p:nvSpPr>
        <p:spPr>
          <a:xfrm>
            <a:off x="9577479" y="1828883"/>
            <a:ext cx="1680756" cy="307171"/>
          </a:xfrm>
          <a:prstGeom prst="rect">
            <a:avLst/>
          </a:prstGeom>
          <a:noFill/>
          <a:ln w="9525">
            <a:noFill/>
          </a:ln>
        </p:spPr>
        <p:txBody>
          <a:bodyPr wrap="square" anchor="t">
            <a:spAutoFit/>
          </a:bodyPr>
          <a:lstStyle/>
          <a:p>
            <a:pPr algn="ctr"/>
            <a:r>
              <a:rPr lang="en-US" altLang="zh-CN" sz="1400" dirty="0">
                <a:solidFill>
                  <a:srgbClr val="CC0000"/>
                </a:solidFill>
                <a:latin typeface="微软雅黑" panose="020B0503020204020204" pitchFamily="34" charset="-122"/>
                <a:ea typeface="微软雅黑" panose="020B0503020204020204" pitchFamily="34" charset="-122"/>
              </a:rPr>
              <a:t>Ping response</a:t>
            </a:r>
            <a:endParaRPr lang="en-US" altLang="zh-CN" sz="1400" dirty="0">
              <a:solidFill>
                <a:srgbClr val="CC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594610" y="4028283"/>
            <a:ext cx="8051939" cy="2529687"/>
          </a:xfrm>
          <a:prstGeom prst="rect">
            <a:avLst/>
          </a:prstGeom>
        </p:spPr>
      </p:pic>
      <p:sp>
        <p:nvSpPr>
          <p:cNvPr id="60" name="文本框 59"/>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258922" y="4633587"/>
            <a:ext cx="2178802" cy="966931"/>
          </a:xfrm>
          <a:prstGeom prst="rect">
            <a:avLst/>
          </a:prstGeom>
          <a:ln>
            <a:solidFill>
              <a:schemeClr val="tx1"/>
            </a:solidFill>
          </a:ln>
        </p:spPr>
        <p:txBody>
          <a:bodyPr wrap="none">
            <a:spAutoFit/>
          </a:bodyPr>
          <a:lstStyle/>
          <a:p>
            <a:pPr algn="ctr">
              <a:lnSpc>
                <a:spcPct val="15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使用</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ping</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命令获取</a:t>
            </a:r>
            <a:b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b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往返时延RTT</a:t>
            </a:r>
            <a:endParaRPr lang="zh-CN" alt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计算机网络度量单位</a:t>
            </a:r>
            <a:endParaRPr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10595" name="Rectangle 3"/>
          <p:cNvSpPr>
            <a:spLocks noGrp="1" noChangeArrowheads="1"/>
          </p:cNvSpPr>
          <p:nvPr/>
        </p:nvSpPr>
        <p:spPr>
          <a:xfrm>
            <a:off x="831215" y="1384299"/>
            <a:ext cx="10664825" cy="2391253"/>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marR="0" lvl="0" indent="-342900" algn="just" defTabSz="914400" rtl="0" eaLnBrk="1" fontAlgn="auto" hangingPunct="1">
              <a:lnSpc>
                <a:spcPct val="130000"/>
              </a:lnSpc>
              <a:spcBef>
                <a:spcPts val="0"/>
              </a:spcBef>
              <a:spcAft>
                <a:spcPts val="0"/>
              </a:spcAft>
              <a:buClrTx/>
              <a:buSzTx/>
              <a:buFont typeface="Wingdings" panose="05000000000000000000" charset="0"/>
              <a:buChar char="Ø"/>
              <a:defRPr/>
            </a:pPr>
            <a:r>
              <a:rPr kumimoji="0" lang="zh-CN" altLang="en-US" sz="2800" i="0" u="none" strike="noStrike" cap="none" spc="0" normalizeH="0" baseline="0" dirty="0">
                <a:cs typeface="Times New Roman" panose="02020603050405020304" pitchFamily="18" charset="0"/>
              </a:rPr>
              <a:t>时延带宽积</a:t>
            </a:r>
            <a:endParaRPr kumimoji="0" lang="zh-CN" altLang="en-US" sz="2800" i="0" u="none" strike="noStrike" cap="none" spc="0" normalizeH="0" baseline="0" dirty="0">
              <a:cs typeface="Times New Roman" panose="02020603050405020304" pitchFamily="18" charset="0"/>
            </a:endParaRPr>
          </a:p>
          <a:p>
            <a:pPr marL="685800" lvl="1" indent="-228600" algn="just" eaLnBrk="1" fontAlgn="auto" hangingPunct="1">
              <a:lnSpc>
                <a:spcPct val="130000"/>
              </a:lnSpc>
              <a:spcBef>
                <a:spcPts val="20"/>
              </a:spcBef>
              <a:spcAft>
                <a:spcPts val="0"/>
              </a:spcAft>
              <a:buClrTx/>
              <a:buSzTx/>
              <a:buFont typeface="Arial" panose="020B0604020202020204" pitchFamily="34" charset="0"/>
              <a:buChar char="•"/>
              <a:defRPr/>
            </a:pPr>
            <a:r>
              <a:rPr lang="zh-CN" altLang="en-US" sz="2400" b="1" dirty="0">
                <a:solidFill>
                  <a:srgbClr val="C00000"/>
                </a:solidFill>
                <a:cs typeface="微软雅黑" panose="020B0503020204020204" pitchFamily="34" charset="-122"/>
              </a:rPr>
              <a:t>时延带宽积 </a:t>
            </a:r>
            <a:r>
              <a:rPr lang="en-US" altLang="zh-CN" sz="2400" b="1" dirty="0">
                <a:solidFill>
                  <a:srgbClr val="C00000"/>
                </a:solidFill>
                <a:cs typeface="微软雅黑" panose="020B0503020204020204" pitchFamily="34" charset="-122"/>
              </a:rPr>
              <a:t>= </a:t>
            </a:r>
            <a:r>
              <a:rPr lang="zh-CN" altLang="en-US" sz="2400" b="1" dirty="0">
                <a:solidFill>
                  <a:srgbClr val="C00000"/>
                </a:solidFill>
                <a:cs typeface="微软雅黑" panose="020B0503020204020204" pitchFamily="34" charset="-122"/>
              </a:rPr>
              <a:t>传播时延 </a:t>
            </a:r>
            <a:r>
              <a:rPr lang="zh-CN" altLang="en-US" sz="2400" b="1" dirty="0">
                <a:solidFill>
                  <a:srgbClr val="C00000"/>
                </a:solidFill>
                <a:cs typeface="微软雅黑" panose="020B0503020204020204" pitchFamily="34" charset="-122"/>
                <a:sym typeface="Symbol" panose="05050102010706020507" pitchFamily="18" charset="2"/>
              </a:rPr>
              <a:t> 带宽</a:t>
            </a:r>
            <a:r>
              <a:rPr lang="zh-CN" altLang="en-US" sz="2400" b="1" dirty="0">
                <a:cs typeface="微软雅黑" panose="020B0503020204020204" pitchFamily="34" charset="-122"/>
                <a:sym typeface="Symbol" panose="05050102010706020507" pitchFamily="18" charset="2"/>
              </a:rPr>
              <a:t>，</a:t>
            </a:r>
            <a:r>
              <a:rPr lang="zh-CN" altLang="en-US" sz="2400" dirty="0">
                <a:cs typeface="微软雅黑" panose="020B0503020204020204" pitchFamily="34" charset="-122"/>
                <a:sym typeface="Symbol" panose="05050102010706020507" pitchFamily="18" charset="2"/>
              </a:rPr>
              <a:t>即</a:t>
            </a:r>
            <a:r>
              <a:rPr lang="zh-CN" altLang="en-US" sz="2400" dirty="0">
                <a:cs typeface="微软雅黑" panose="020B0503020204020204" pitchFamily="34" charset="-122"/>
                <a:sym typeface="+mn-ea"/>
              </a:rPr>
              <a:t>按</a:t>
            </a:r>
            <a:r>
              <a:rPr lang="zh-CN" altLang="en-US" sz="2400" b="1" dirty="0">
                <a:solidFill>
                  <a:srgbClr val="C00000"/>
                </a:solidFill>
                <a:cs typeface="微软雅黑" panose="020B0503020204020204" pitchFamily="34" charset="-122"/>
                <a:sym typeface="+mn-ea"/>
              </a:rPr>
              <a:t>比特计数</a:t>
            </a:r>
            <a:r>
              <a:rPr lang="zh-CN" altLang="en-US" sz="2400" dirty="0">
                <a:cs typeface="微软雅黑" panose="020B0503020204020204" pitchFamily="34" charset="-122"/>
                <a:sym typeface="+mn-ea"/>
              </a:rPr>
              <a:t>的链路长度</a:t>
            </a:r>
            <a:endParaRPr lang="en-US" altLang="zh-CN" sz="2400" dirty="0">
              <a:cs typeface="微软雅黑" panose="020B0503020204020204" pitchFamily="34" charset="-122"/>
              <a:sym typeface="+mn-ea"/>
            </a:endParaRPr>
          </a:p>
          <a:p>
            <a:pPr marL="685800" lvl="1" indent="-228600" algn="just" eaLnBrk="1" fontAlgn="auto" hangingPunct="1">
              <a:lnSpc>
                <a:spcPct val="130000"/>
              </a:lnSpc>
              <a:spcBef>
                <a:spcPts val="20"/>
              </a:spcBef>
              <a:spcAft>
                <a:spcPts val="0"/>
              </a:spcAft>
              <a:buClrTx/>
              <a:buSzTx/>
              <a:buFont typeface="Arial" panose="020B0604020202020204" pitchFamily="34" charset="0"/>
              <a:buChar char="•"/>
              <a:defRPr/>
            </a:pPr>
            <a:r>
              <a:rPr lang="zh-CN" altLang="en-US" sz="2400" kern="0" dirty="0">
                <a:sym typeface="+mn-ea"/>
              </a:rPr>
              <a:t>若发送端连续发送数据，则在发送的第一个bit即将达到终点时，发送端就已经发送了</a:t>
            </a:r>
            <a:r>
              <a:rPr lang="zh-CN" altLang="en-US" sz="2400" b="1" dirty="0">
                <a:solidFill>
                  <a:srgbClr val="C00000"/>
                </a:solidFill>
                <a:cs typeface="微软雅黑" panose="020B0503020204020204" pitchFamily="34" charset="-122"/>
              </a:rPr>
              <a:t>时延带宽积</a:t>
            </a:r>
            <a:r>
              <a:rPr lang="zh-CN" altLang="en-US" sz="2400" kern="0" dirty="0">
                <a:sym typeface="+mn-ea"/>
              </a:rPr>
              <a:t>个bit ，而这些bit都在链路上向前移动</a:t>
            </a:r>
            <a:endParaRPr kumimoji="0" lang="zh-CN" altLang="en-US" sz="2400" b="0" i="0" u="none" strike="noStrike"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base" latinLnBrk="0" hangingPunct="1">
              <a:lnSpc>
                <a:spcPct val="135000"/>
              </a:lnSpc>
              <a:spcBef>
                <a:spcPts val="20"/>
              </a:spcBef>
              <a:spcAft>
                <a:spcPts val="0"/>
              </a:spcAft>
              <a:buClr>
                <a:schemeClr val="bg2"/>
              </a:buClr>
              <a:buSzPct val="75000"/>
              <a:buFont typeface="Wingdings" panose="05000000000000000000" charset="0"/>
              <a:buNone/>
              <a:defRPr/>
            </a:pPr>
            <a:endPar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3" name="组合 2"/>
          <p:cNvGrpSpPr/>
          <p:nvPr/>
        </p:nvGrpSpPr>
        <p:grpSpPr>
          <a:xfrm>
            <a:off x="1142386" y="3545149"/>
            <a:ext cx="6764444" cy="2060680"/>
            <a:chOff x="2661" y="3280"/>
            <a:chExt cx="8349" cy="2425"/>
          </a:xfrm>
        </p:grpSpPr>
        <p:sp>
          <p:nvSpPr>
            <p:cNvPr id="110600" name="AutoShape 37"/>
            <p:cNvSpPr>
              <a:spLocks noChangeArrowheads="1"/>
            </p:cNvSpPr>
            <p:nvPr/>
          </p:nvSpPr>
          <p:spPr bwMode="auto">
            <a:xfrm rot="-5400000">
              <a:off x="6889" y="984"/>
              <a:ext cx="1042" cy="7200"/>
            </a:xfrm>
            <a:prstGeom prst="can">
              <a:avLst>
                <a:gd name="adj" fmla="val 49784"/>
              </a:avLst>
            </a:prstGeom>
            <a:gradFill rotWithShape="1">
              <a:gsLst>
                <a:gs pos="0">
                  <a:srgbClr val="004776"/>
                </a:gs>
                <a:gs pos="50000">
                  <a:srgbClr val="0099FF"/>
                </a:gs>
                <a:gs pos="100000">
                  <a:srgbClr val="004776"/>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1956B9"/>
                </a:solidFill>
                <a:latin typeface="微软雅黑" panose="020B0503020204020204" pitchFamily="34" charset="-122"/>
                <a:ea typeface="微软雅黑" panose="020B0503020204020204" pitchFamily="34" charset="-122"/>
              </a:endParaRPr>
            </a:p>
          </p:txBody>
        </p:sp>
        <p:sp>
          <p:nvSpPr>
            <p:cNvPr id="7" name="Line 38"/>
            <p:cNvSpPr>
              <a:spLocks noChangeShapeType="1"/>
            </p:cNvSpPr>
            <p:nvPr/>
          </p:nvSpPr>
          <p:spPr bwMode="auto">
            <a:xfrm>
              <a:off x="4045" y="3823"/>
              <a:ext cx="6730" cy="0"/>
            </a:xfrm>
            <a:prstGeom prst="line">
              <a:avLst/>
            </a:prstGeom>
            <a:noFill/>
            <a:ln w="254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anose="020B0503020204020204" pitchFamily="34" charset="-122"/>
                <a:ea typeface="微软雅黑" panose="020B0503020204020204" pitchFamily="34" charset="-122"/>
              </a:endParaRPr>
            </a:p>
          </p:txBody>
        </p:sp>
        <p:sp>
          <p:nvSpPr>
            <p:cNvPr id="110602" name="Text Box 39"/>
            <p:cNvSpPr txBox="1">
              <a:spLocks noChangeArrowheads="1"/>
            </p:cNvSpPr>
            <p:nvPr/>
          </p:nvSpPr>
          <p:spPr bwMode="auto">
            <a:xfrm>
              <a:off x="5955" y="3280"/>
              <a:ext cx="3209"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latin typeface="微软雅黑" panose="020B0503020204020204" pitchFamily="34" charset="-122"/>
                  <a:ea typeface="微软雅黑" panose="020B0503020204020204" pitchFamily="34" charset="-122"/>
                </a:rPr>
                <a:t>（传播）时延</a:t>
              </a:r>
              <a:endParaRPr lang="zh-CN" altLang="en-US" sz="2400" dirty="0">
                <a:latin typeface="微软雅黑" panose="020B0503020204020204" pitchFamily="34" charset="-122"/>
                <a:ea typeface="微软雅黑" panose="020B0503020204020204" pitchFamily="34" charset="-122"/>
              </a:endParaRPr>
            </a:p>
          </p:txBody>
        </p:sp>
        <p:sp>
          <p:nvSpPr>
            <p:cNvPr id="110603" name="Text Box 40"/>
            <p:cNvSpPr txBox="1">
              <a:spLocks noChangeArrowheads="1"/>
            </p:cNvSpPr>
            <p:nvPr/>
          </p:nvSpPr>
          <p:spPr bwMode="auto">
            <a:xfrm>
              <a:off x="6860" y="4313"/>
              <a:ext cx="1399"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链 路</a:t>
              </a:r>
              <a:endParaRPr lang="zh-CN" altLang="en-US" sz="2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0604" name="Text Box 41"/>
            <p:cNvSpPr txBox="1">
              <a:spLocks noChangeArrowheads="1"/>
            </p:cNvSpPr>
            <p:nvPr/>
          </p:nvSpPr>
          <p:spPr bwMode="auto">
            <a:xfrm>
              <a:off x="2661" y="3704"/>
              <a:ext cx="858" cy="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latin typeface="微软雅黑" panose="020B0503020204020204" pitchFamily="34" charset="-122"/>
                  <a:ea typeface="微软雅黑" panose="020B0503020204020204" pitchFamily="34" charset="-122"/>
                </a:rPr>
                <a:t>带宽</a:t>
              </a:r>
              <a:endParaRPr lang="zh-CN" altLang="en-US" sz="2400" dirty="0">
                <a:latin typeface="微软雅黑" panose="020B0503020204020204" pitchFamily="34" charset="-122"/>
                <a:ea typeface="微软雅黑" panose="020B0503020204020204" pitchFamily="34" charset="-122"/>
              </a:endParaRPr>
            </a:p>
          </p:txBody>
        </p:sp>
        <p:sp>
          <p:nvSpPr>
            <p:cNvPr id="11" name="Line 42"/>
            <p:cNvSpPr>
              <a:spLocks noChangeShapeType="1"/>
            </p:cNvSpPr>
            <p:nvPr/>
          </p:nvSpPr>
          <p:spPr bwMode="auto">
            <a:xfrm>
              <a:off x="3377" y="4256"/>
              <a:ext cx="668" cy="314"/>
            </a:xfrm>
            <a:prstGeom prst="line">
              <a:avLst/>
            </a:prstGeom>
            <a:noFill/>
            <a:ln w="254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anose="020B0503020204020204" pitchFamily="34" charset="-122"/>
                <a:ea typeface="微软雅黑" panose="020B0503020204020204" pitchFamily="34" charset="-122"/>
              </a:endParaRPr>
            </a:p>
          </p:txBody>
        </p:sp>
        <p:sp>
          <p:nvSpPr>
            <p:cNvPr id="110608" name="矩形 13"/>
            <p:cNvSpPr>
              <a:spLocks noChangeArrowheads="1"/>
            </p:cNvSpPr>
            <p:nvPr/>
          </p:nvSpPr>
          <p:spPr bwMode="auto">
            <a:xfrm>
              <a:off x="5088" y="5163"/>
              <a:ext cx="4737"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zh-CN" sz="2400">
                  <a:latin typeface="微软雅黑" panose="020B0503020204020204" pitchFamily="34" charset="-122"/>
                  <a:ea typeface="微软雅黑" panose="020B0503020204020204" pitchFamily="34" charset="-122"/>
                </a:rPr>
                <a:t>链路像一条空心管道</a:t>
              </a:r>
              <a:endParaRPr lang="zh-CN" altLang="zh-CN" sz="2400">
                <a:latin typeface="微软雅黑" panose="020B0503020204020204" pitchFamily="34" charset="-122"/>
                <a:ea typeface="微软雅黑" panose="020B0503020204020204" pitchFamily="34" charset="-122"/>
              </a:endParaRPr>
            </a:p>
          </p:txBody>
        </p:sp>
      </p:grpSp>
      <p:sp>
        <p:nvSpPr>
          <p:cNvPr id="16" name="文本框 1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8571200" y="3825010"/>
            <a:ext cx="2851946" cy="2000548"/>
          </a:xfrm>
          <a:prstGeom prst="rect">
            <a:avLst/>
          </a:prstGeom>
          <a:ln>
            <a:solidFill>
              <a:srgbClr val="C00000"/>
            </a:solidFill>
          </a:ln>
        </p:spPr>
        <p:txBody>
          <a:bodyPr wrap="square">
            <a:spAutoFit/>
          </a:bodyPr>
          <a:lstStyle/>
          <a:p>
            <a:pPr algn="ctr"/>
            <a:r>
              <a:rPr lang="zh-CN" altLang="en-US" sz="2400" dirty="0">
                <a:latin typeface="微软雅黑" panose="020B0503020204020204" pitchFamily="34" charset="-122"/>
                <a:ea typeface="微软雅黑" panose="020B0503020204020204" pitchFamily="34" charset="-122"/>
              </a:rPr>
              <a:t>举例</a:t>
            </a:r>
            <a:endParaRPr lang="en-US" altLang="zh-CN" sz="2000" dirty="0">
              <a:latin typeface="微软雅黑" panose="020B0503020204020204" pitchFamily="34" charset="-122"/>
              <a:ea typeface="微软雅黑" panose="020B0503020204020204" pitchFamily="34" charset="-122"/>
            </a:endParaRPr>
          </a:p>
          <a:p>
            <a:r>
              <a:rPr lang="zh-CN" altLang="en-US" sz="2000" kern="0" dirty="0">
                <a:latin typeface="微软雅黑" panose="020B0503020204020204" pitchFamily="34" charset="-122"/>
                <a:ea typeface="微软雅黑" panose="020B0503020204020204" pitchFamily="34" charset="-122"/>
                <a:sym typeface="+mn-ea"/>
              </a:rPr>
              <a:t>传播时延为20ms，</a:t>
            </a:r>
            <a:br>
              <a:rPr lang="en-US" altLang="zh-CN" sz="2000" kern="0" dirty="0">
                <a:latin typeface="微软雅黑" panose="020B0503020204020204" pitchFamily="34" charset="-122"/>
                <a:ea typeface="微软雅黑" panose="020B0503020204020204" pitchFamily="34" charset="-122"/>
                <a:sym typeface="+mn-ea"/>
              </a:rPr>
            </a:br>
            <a:r>
              <a:rPr lang="zh-CN" altLang="en-US" sz="2000" kern="0" dirty="0">
                <a:latin typeface="微软雅黑" panose="020B0503020204020204" pitchFamily="34" charset="-122"/>
                <a:ea typeface="微软雅黑" panose="020B0503020204020204" pitchFamily="34" charset="-122"/>
                <a:sym typeface="+mn-ea"/>
              </a:rPr>
              <a:t>带宽为10Mb/s，则：</a:t>
            </a:r>
            <a:br>
              <a:rPr lang="en-US" altLang="zh-CN" sz="2000" kern="0" dirty="0">
                <a:latin typeface="微软雅黑" panose="020B0503020204020204" pitchFamily="34" charset="-122"/>
                <a:ea typeface="微软雅黑" panose="020B0503020204020204" pitchFamily="34" charset="-122"/>
                <a:sym typeface="+mn-ea"/>
              </a:rPr>
            </a:br>
            <a:r>
              <a:rPr lang="zh-CN" altLang="en-US" sz="2000" kern="0" dirty="0">
                <a:solidFill>
                  <a:srgbClr val="C00000"/>
                </a:solidFill>
                <a:latin typeface="微软雅黑" panose="020B0503020204020204" pitchFamily="34" charset="-122"/>
                <a:ea typeface="微软雅黑" panose="020B0503020204020204" pitchFamily="34" charset="-122"/>
                <a:sym typeface="+mn-ea"/>
              </a:rPr>
              <a:t>时延带宽积</a:t>
            </a:r>
            <a:br>
              <a:rPr lang="en-US" altLang="zh-CN" sz="2000" kern="0" dirty="0">
                <a:solidFill>
                  <a:srgbClr val="C00000"/>
                </a:solidFill>
                <a:latin typeface="微软雅黑" panose="020B0503020204020204" pitchFamily="34" charset="-122"/>
                <a:ea typeface="微软雅黑" panose="020B0503020204020204" pitchFamily="34" charset="-122"/>
                <a:sym typeface="+mn-ea"/>
              </a:rPr>
            </a:br>
            <a:r>
              <a:rPr lang="zh-CN" altLang="en-US" sz="2000" kern="0" dirty="0">
                <a:latin typeface="微软雅黑" panose="020B0503020204020204" pitchFamily="34" charset="-122"/>
                <a:ea typeface="微软雅黑" panose="020B0503020204020204" pitchFamily="34" charset="-122"/>
                <a:sym typeface="+mn-ea"/>
              </a:rPr>
              <a:t>= 20/1000  × 10×10</a:t>
            </a:r>
            <a:r>
              <a:rPr lang="en-US" altLang="zh-CN" sz="2000" kern="0" baseline="30000" dirty="0">
                <a:latin typeface="微软雅黑" panose="020B0503020204020204" pitchFamily="34" charset="-122"/>
                <a:ea typeface="微软雅黑" panose="020B0503020204020204" pitchFamily="34" charset="-122"/>
                <a:sym typeface="+mn-ea"/>
              </a:rPr>
              <a:t>6</a:t>
            </a:r>
            <a:r>
              <a:rPr lang="zh-CN" altLang="en-US" sz="2000" kern="0" baseline="30000" dirty="0">
                <a:latin typeface="微软雅黑" panose="020B0503020204020204" pitchFamily="34" charset="-122"/>
                <a:ea typeface="微软雅黑" panose="020B0503020204020204" pitchFamily="34" charset="-122"/>
                <a:sym typeface="+mn-ea"/>
              </a:rPr>
              <a:t> </a:t>
            </a:r>
            <a:r>
              <a:rPr lang="zh-CN" altLang="en-US" sz="2000" kern="0" dirty="0">
                <a:latin typeface="微软雅黑" panose="020B0503020204020204" pitchFamily="34" charset="-122"/>
                <a:ea typeface="微软雅黑" panose="020B0503020204020204" pitchFamily="34" charset="-122"/>
                <a:sym typeface="+mn-ea"/>
              </a:rPr>
              <a:t>= 2 × 10</a:t>
            </a:r>
            <a:r>
              <a:rPr lang="zh-CN" altLang="en-US" sz="2000" kern="0" baseline="30000" dirty="0">
                <a:latin typeface="微软雅黑" panose="020B0503020204020204" pitchFamily="34" charset="-122"/>
                <a:ea typeface="微软雅黑" panose="020B0503020204020204" pitchFamily="34" charset="-122"/>
                <a:sym typeface="+mn-ea"/>
              </a:rPr>
              <a:t>5</a:t>
            </a:r>
            <a:r>
              <a:rPr lang="zh-CN" altLang="en-US" sz="2000" kern="0" dirty="0">
                <a:latin typeface="微软雅黑" panose="020B0503020204020204" pitchFamily="34" charset="-122"/>
                <a:ea typeface="微软雅黑" panose="020B0503020204020204" pitchFamily="34" charset="-122"/>
                <a:sym typeface="+mn-ea"/>
              </a:rPr>
              <a:t> bit</a:t>
            </a:r>
            <a:endParaRPr lang="zh-CN" altLang="en-US" sz="2000" dirty="0">
              <a:latin typeface="微软雅黑" panose="020B0503020204020204" pitchFamily="34" charset="-122"/>
              <a:ea typeface="微软雅黑" panose="020B0503020204020204" pitchFamily="34" charset="-122"/>
            </a:endParaRPr>
          </a:p>
        </p:txBody>
      </p:sp>
      <p:sp>
        <p:nvSpPr>
          <p:cNvPr id="17" name="矩形 12"/>
          <p:cNvSpPr>
            <a:spLocks noChangeArrowheads="1"/>
          </p:cNvSpPr>
          <p:nvPr/>
        </p:nvSpPr>
        <p:spPr bwMode="auto">
          <a:xfrm>
            <a:off x="2105726" y="5695055"/>
            <a:ext cx="5833512" cy="830220"/>
          </a:xfrm>
          <a:prstGeom prst="rect">
            <a:avLst/>
          </a:prstGeom>
          <a:noFill/>
          <a:ln>
            <a:solidFill>
              <a:srgbClr val="C00000"/>
            </a:solidFill>
          </a:ln>
        </p:spPr>
        <p:txBody>
          <a:bodyPr>
            <a:spAutoFit/>
          </a:bodyPr>
          <a:lstStyle/>
          <a:p>
            <a:pPr algn="ctr"/>
            <a:r>
              <a:rPr lang="zh-CN" altLang="zh-CN" sz="2400" dirty="0">
                <a:latin typeface="微软雅黑" panose="020B0503020204020204" pitchFamily="34" charset="-122"/>
                <a:ea typeface="微软雅黑" panose="020B0503020204020204" pitchFamily="34" charset="-122"/>
              </a:rPr>
              <a:t>只有在代表链路的管道都充满比特时，</a:t>
            </a:r>
            <a:endParaRPr lang="en-US" altLang="zh-CN" sz="2400" dirty="0">
              <a:latin typeface="微软雅黑" panose="020B0503020204020204" pitchFamily="34" charset="-122"/>
              <a:ea typeface="微软雅黑" panose="020B0503020204020204" pitchFamily="34" charset="-122"/>
            </a:endParaRPr>
          </a:p>
          <a:p>
            <a:pPr algn="ctr"/>
            <a:r>
              <a:rPr lang="zh-CN" altLang="zh-CN" sz="2400" dirty="0">
                <a:latin typeface="微软雅黑" panose="020B0503020204020204" pitchFamily="34" charset="-122"/>
                <a:ea typeface="微软雅黑" panose="020B0503020204020204" pitchFamily="34" charset="-122"/>
              </a:rPr>
              <a:t>链路才得到</a:t>
            </a:r>
            <a:r>
              <a:rPr lang="zh-CN" altLang="en-US" sz="2400" dirty="0">
                <a:latin typeface="微软雅黑" panose="020B0503020204020204" pitchFamily="34" charset="-122"/>
                <a:ea typeface="微软雅黑" panose="020B0503020204020204" pitchFamily="34" charset="-122"/>
              </a:rPr>
              <a:t>了</a:t>
            </a:r>
            <a:r>
              <a:rPr lang="zh-CN" altLang="zh-CN" sz="2400" dirty="0">
                <a:latin typeface="微软雅黑" panose="020B0503020204020204" pitchFamily="34" charset="-122"/>
                <a:ea typeface="微软雅黑" panose="020B0503020204020204" pitchFamily="34" charset="-122"/>
              </a:rPr>
              <a:t>充分利用</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z="3600" dirty="0">
                <a:sym typeface="+mn-ea"/>
              </a:rPr>
              <a:t>计算机网络度量单位</a:t>
            </a:r>
            <a:endParaRPr lang="zh-CN" altLang="en-US" sz="3600"/>
          </a:p>
        </p:txBody>
      </p:sp>
      <p:sp>
        <p:nvSpPr>
          <p:cNvPr id="110595" name="Rectangle 3"/>
          <p:cNvSpPr>
            <a:spLocks noGrp="1" noChangeArrowheads="1"/>
          </p:cNvSpPr>
          <p:nvPr>
            <p:ph idx="1"/>
          </p:nvPr>
        </p:nvSpPr>
        <p:spPr>
          <a:xfrm>
            <a:off x="735965" y="1301116"/>
            <a:ext cx="10752455" cy="4074020"/>
          </a:xfrm>
        </p:spPr>
        <p:txBody>
          <a:bodyPr vert="horz" wrap="square" lIns="91440" tIns="45720" rIns="91440" bIns="45720" numCol="1" anchor="t" anchorCtr="0" compatLnSpc="1">
            <a:noAutofit/>
          </a:bodyPr>
          <a:lstStyle/>
          <a:p>
            <a:pPr marR="0" lvl="0" algn="just" defTabSz="914400" rtl="0" eaLnBrk="1" fontAlgn="base" latinLnBrk="0" hangingPunct="1">
              <a:lnSpc>
                <a:spcPct val="120000"/>
              </a:lnSpc>
              <a:spcBef>
                <a:spcPts val="0"/>
              </a:spcBef>
              <a:spcAft>
                <a:spcPct val="0"/>
              </a:spcAft>
              <a:buClr>
                <a:srgbClr val="000000"/>
              </a:buClr>
              <a:buSzPct val="75000"/>
              <a:buFont typeface="Wingdings" panose="05000000000000000000" charset="0"/>
              <a:buChar char="Ø"/>
              <a:defRPr/>
            </a:pP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吞吐量</a:t>
            </a:r>
            <a:r>
              <a:rPr lang="en-US" altLang="zh-CN" sz="2000" dirty="0">
                <a:sym typeface="+mn-ea"/>
              </a:rPr>
              <a:t> </a:t>
            </a:r>
            <a:r>
              <a:rPr lang="zh-CN" altLang="en-US" sz="2400" kern="0" noProof="0" dirty="0">
                <a:ln>
                  <a:noFill/>
                </a:ln>
                <a:effectLst/>
                <a:uLnTx/>
                <a:uFillTx/>
                <a:sym typeface="+mn-ea"/>
              </a:rPr>
              <a:t>(throughput) </a:t>
            </a:r>
            <a:endPar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R="0" lvl="1" algn="just" defTabSz="914400" rtl="0" eaLnBrk="1" fontAlgn="base" latinLnBrk="0" hangingPunct="1">
              <a:lnSpc>
                <a:spcPct val="120000"/>
              </a:lnSpc>
              <a:spcBef>
                <a:spcPts val="0"/>
              </a:spcBef>
              <a:spcAft>
                <a:spcPts val="0"/>
              </a:spcAft>
              <a:buClr>
                <a:srgbClr val="000000"/>
              </a:buClr>
              <a:buSzPct val="75000"/>
              <a:buFont typeface="Arial" panose="020B0604020202020204" pitchFamily="34" charset="0"/>
              <a:buChar char="•"/>
              <a:defRPr/>
            </a:pPr>
            <a:r>
              <a:rPr lang="en-US" altLang="zh-CN" sz="2000" dirty="0" err="1">
                <a:sym typeface="+mn-ea"/>
              </a:rPr>
              <a:t>单位时间内通过某个网络</a:t>
            </a:r>
            <a:r>
              <a:rPr lang="en-US" altLang="zh-CN" sz="2000" dirty="0">
                <a:sym typeface="+mn-ea"/>
              </a:rPr>
              <a:t>(</a:t>
            </a:r>
            <a:r>
              <a:rPr lang="en-US" altLang="zh-CN" sz="2000" dirty="0" err="1">
                <a:sym typeface="+mn-ea"/>
              </a:rPr>
              <a:t>或信道、接口</a:t>
            </a:r>
            <a:r>
              <a:rPr lang="en-US" altLang="zh-CN" sz="2000" dirty="0">
                <a:sym typeface="+mn-ea"/>
              </a:rPr>
              <a:t>)</a:t>
            </a:r>
            <a:r>
              <a:rPr lang="en-US" altLang="zh-CN" sz="2000" dirty="0" err="1">
                <a:sym typeface="+mn-ea"/>
              </a:rPr>
              <a:t>的数据量</a:t>
            </a:r>
            <a:r>
              <a:rPr lang="zh-CN" altLang="en-US" sz="2000" dirty="0">
                <a:sym typeface="+mn-ea"/>
              </a:rPr>
              <a:t>，</a:t>
            </a:r>
            <a:r>
              <a:rPr lang="en-US" altLang="zh-CN" sz="2000" dirty="0" err="1">
                <a:sym typeface="+mn-ea"/>
              </a:rPr>
              <a:t>单位是</a:t>
            </a:r>
            <a:r>
              <a:rPr lang="en-US" altLang="zh-CN" sz="2000" dirty="0">
                <a:sym typeface="+mn-ea"/>
              </a:rPr>
              <a:t> b/s</a:t>
            </a:r>
            <a:endParaRPr lang="en-US" altLang="zh-CN" sz="2000" dirty="0">
              <a:sym typeface="+mn-ea"/>
            </a:endParaRPr>
          </a:p>
          <a:p>
            <a:pPr marR="0" lvl="0" algn="just" defTabSz="914400" rtl="0" eaLnBrk="1" fontAlgn="base" latinLnBrk="0" hangingPunct="1">
              <a:lnSpc>
                <a:spcPct val="120000"/>
              </a:lnSpc>
              <a:spcBef>
                <a:spcPts val="0"/>
              </a:spcBef>
              <a:buClr>
                <a:srgbClr val="000000"/>
              </a:buClr>
              <a:buSzPct val="75000"/>
              <a:buFont typeface="Wingdings" panose="05000000000000000000" charset="0"/>
              <a:buChar char="Ø"/>
              <a:defRPr/>
            </a:pPr>
            <a:r>
              <a:rPr lang="zh-CN" altLang="en-US" sz="2400" kern="0" noProof="0" dirty="0">
                <a:ln>
                  <a:noFill/>
                </a:ln>
                <a:effectLst/>
                <a:uLnTx/>
                <a:uFillTx/>
                <a:latin typeface="微软雅黑" panose="020B0503020204020204" pitchFamily="34" charset="-122"/>
                <a:ea typeface="微软雅黑" panose="020B0503020204020204" pitchFamily="34" charset="-122"/>
              </a:rPr>
              <a:t>有效吞吐量(goodput)</a:t>
            </a:r>
            <a:endParaRPr lang="zh-CN" altLang="en-US" sz="2400" kern="0" noProof="0" dirty="0">
              <a:ln>
                <a:noFill/>
              </a:ln>
              <a:effectLst/>
              <a:uLnTx/>
              <a:uFillTx/>
              <a:latin typeface="微软雅黑" panose="020B0503020204020204" pitchFamily="34" charset="-122"/>
              <a:ea typeface="微软雅黑" panose="020B0503020204020204" pitchFamily="34" charset="-122"/>
            </a:endParaRPr>
          </a:p>
          <a:p>
            <a:pPr marR="0" lvl="1" algn="just" defTabSz="914400" rtl="0" eaLnBrk="1" fontAlgn="base" latinLnBrk="0" hangingPunct="1">
              <a:lnSpc>
                <a:spcPct val="120000"/>
              </a:lnSpc>
              <a:spcBef>
                <a:spcPts val="0"/>
              </a:spcBef>
              <a:spcAft>
                <a:spcPts val="0"/>
              </a:spcAft>
              <a:buClr>
                <a:srgbClr val="000000"/>
              </a:buClr>
              <a:buSzPct val="75000"/>
              <a:buFont typeface="Arial" panose="020B0604020202020204" pitchFamily="34" charset="0"/>
              <a:buChar char="•"/>
              <a:defRPr/>
            </a:pPr>
            <a:r>
              <a:rPr lang="en-US" altLang="zh-CN" sz="2000" dirty="0" err="1">
                <a:latin typeface="微软雅黑" panose="020B0503020204020204" pitchFamily="34" charset="-122"/>
                <a:ea typeface="微软雅黑" panose="020B0503020204020204" pitchFamily="34" charset="-122"/>
              </a:rPr>
              <a:t>单位时间</a:t>
            </a:r>
            <a:r>
              <a:rPr lang="zh-CN" altLang="en-US" sz="2000" dirty="0">
                <a:latin typeface="微软雅黑" panose="020B0503020204020204" pitchFamily="34" charset="-122"/>
                <a:ea typeface="微软雅黑" panose="020B0503020204020204" pitchFamily="34" charset="-122"/>
              </a:rPr>
              <a:t>内，</a:t>
            </a:r>
            <a:r>
              <a:rPr lang="en-US" altLang="zh-CN" sz="2000" dirty="0" err="1">
                <a:latin typeface="微软雅黑" panose="020B0503020204020204" pitchFamily="34" charset="-122"/>
                <a:ea typeface="微软雅黑" panose="020B0503020204020204" pitchFamily="34" charset="-122"/>
              </a:rPr>
              <a:t>目的地</a:t>
            </a:r>
            <a:r>
              <a:rPr lang="zh-CN" altLang="en-US" sz="2000" dirty="0">
                <a:latin typeface="微软雅黑" panose="020B0503020204020204" pitchFamily="34" charset="-122"/>
                <a:ea typeface="微软雅黑" panose="020B0503020204020204" pitchFamily="34" charset="-122"/>
              </a:rPr>
              <a:t>正确接收到</a:t>
            </a:r>
            <a:r>
              <a:rPr lang="en-US" altLang="zh-CN" sz="2000" dirty="0" err="1">
                <a:latin typeface="微软雅黑" panose="020B0503020204020204" pitchFamily="34" charset="-122"/>
                <a:ea typeface="微软雅黑" panose="020B0503020204020204" pitchFamily="34" charset="-122"/>
              </a:rPr>
              <a:t>的有用信息的数目（以</a:t>
            </a:r>
            <a:r>
              <a:rPr lang="en-US" altLang="zh-CN" sz="2000" dirty="0">
                <a:latin typeface="微软雅黑" panose="020B0503020204020204" pitchFamily="34" charset="-122"/>
                <a:ea typeface="微软雅黑" panose="020B0503020204020204" pitchFamily="34" charset="-122"/>
              </a:rPr>
              <a:t> bit </a:t>
            </a:r>
            <a:r>
              <a:rPr lang="en-US" altLang="zh-CN" sz="2000" dirty="0" err="1">
                <a:latin typeface="微软雅黑" panose="020B0503020204020204" pitchFamily="34" charset="-122"/>
                <a:ea typeface="微软雅黑" panose="020B0503020204020204" pitchFamily="34" charset="-122"/>
              </a:rPr>
              <a:t>为单位</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R="0" lvl="0" algn="just" defTabSz="914400" rtl="0" eaLnBrk="1" fontAlgn="base" latinLnBrk="0" hangingPunct="1">
              <a:lnSpc>
                <a:spcPct val="120000"/>
              </a:lnSpc>
              <a:spcBef>
                <a:spcPts val="0"/>
              </a:spcBef>
              <a:spcAft>
                <a:spcPts val="0"/>
              </a:spcAft>
              <a:buClr>
                <a:srgbClr val="000000"/>
              </a:buClr>
              <a:buSzPct val="75000"/>
              <a:buFont typeface="Wingdings" panose="05000000000000000000" charset="0"/>
              <a:buChar char="Ø"/>
              <a:defRPr/>
            </a:pPr>
            <a:r>
              <a:rPr lang="zh-CN" altLang="en-US" sz="2400" kern="0" noProof="0" dirty="0">
                <a:ln>
                  <a:noFill/>
                </a:ln>
                <a:effectLst/>
                <a:uLnTx/>
                <a:uFillTx/>
                <a:sym typeface="+mn-ea"/>
              </a:rPr>
              <a:t>利用率</a:t>
            </a:r>
            <a:endParaRPr lang="zh-CN" altLang="en-US" sz="2400" kern="0" noProof="0" dirty="0">
              <a:ln>
                <a:noFill/>
              </a:ln>
              <a:effectLst/>
              <a:uLnTx/>
              <a:uFillTx/>
              <a:sym typeface="+mn-ea"/>
            </a:endParaRPr>
          </a:p>
          <a:p>
            <a:pPr marR="0" lvl="1" algn="just" defTabSz="914400" rtl="0" eaLnBrk="1" fontAlgn="base" latinLnBrk="0" hangingPunct="1">
              <a:lnSpc>
                <a:spcPct val="120000"/>
              </a:lnSpc>
              <a:spcBef>
                <a:spcPts val="0"/>
              </a:spcBef>
              <a:spcAft>
                <a:spcPts val="0"/>
              </a:spcAft>
              <a:buClr>
                <a:srgbClr val="000000"/>
              </a:buClr>
              <a:buSzPct val="75000"/>
              <a:buFont typeface="Arial" panose="020B0604020202020204" pitchFamily="34" charset="0"/>
              <a:buChar char="•"/>
              <a:defRPr/>
            </a:pPr>
            <a:r>
              <a:rPr lang="en-US" altLang="zh-CN" sz="2000" dirty="0" err="1">
                <a:sym typeface="+mn-ea"/>
              </a:rPr>
              <a:t>信道利用率指出某信道有百分之几的时间是被利用的</a:t>
            </a:r>
            <a:endParaRPr kumimoji="0" lang="en-US" altLang="zh-CN" sz="2000" b="0" i="0" u="none" strike="noStrike" cap="none" spc="0" normalizeH="0" baseline="0" dirty="0">
              <a:solidFill>
                <a:schemeClr val="tx1"/>
              </a:solidFill>
              <a:latin typeface="微软雅黑" panose="020B0503020204020204" pitchFamily="34" charset="-122"/>
              <a:ea typeface="微软雅黑" panose="020B0503020204020204" pitchFamily="34" charset="-122"/>
              <a:cs typeface="+mn-cs"/>
            </a:endParaRPr>
          </a:p>
          <a:p>
            <a:pPr marR="0" lvl="1" algn="just" defTabSz="914400" rtl="0" eaLnBrk="1" fontAlgn="base" latinLnBrk="0" hangingPunct="1">
              <a:lnSpc>
                <a:spcPct val="120000"/>
              </a:lnSpc>
              <a:spcBef>
                <a:spcPts val="0"/>
              </a:spcBef>
              <a:spcAft>
                <a:spcPts val="0"/>
              </a:spcAft>
              <a:buClr>
                <a:srgbClr val="000000"/>
              </a:buClr>
              <a:buSzPct val="75000"/>
              <a:buFont typeface="Arial" panose="020B0604020202020204" pitchFamily="34" charset="0"/>
              <a:buChar char="•"/>
              <a:defRPr/>
            </a:pPr>
            <a:r>
              <a:rPr lang="en-US" altLang="zh-CN" sz="2000" dirty="0" err="1">
                <a:sym typeface="+mn-ea"/>
              </a:rPr>
              <a:t>网络利用率则是全网络的信道利用率的加权平均值</a:t>
            </a:r>
            <a:endParaRPr kumimoji="0" lang="en-US" altLang="zh-CN" sz="2000" b="0" i="0" u="none" strike="noStrike" cap="none" spc="0" normalizeH="0" baseline="0" dirty="0">
              <a:solidFill>
                <a:schemeClr val="tx1"/>
              </a:solidFill>
              <a:latin typeface="微软雅黑" panose="020B0503020204020204" pitchFamily="34" charset="-122"/>
              <a:ea typeface="微软雅黑" panose="020B0503020204020204" pitchFamily="34" charset="-122"/>
              <a:cs typeface="+mn-cs"/>
            </a:endParaRPr>
          </a:p>
          <a:p>
            <a:pPr marR="0" lvl="0" algn="just" defTabSz="914400" rtl="0" eaLnBrk="1" fontAlgn="base" latinLnBrk="0" hangingPunct="1">
              <a:lnSpc>
                <a:spcPct val="120000"/>
              </a:lnSpc>
              <a:spcBef>
                <a:spcPts val="0"/>
              </a:spcBef>
              <a:spcAft>
                <a:spcPts val="0"/>
              </a:spcAft>
              <a:buClr>
                <a:srgbClr val="000000"/>
              </a:buClr>
              <a:buSzPct val="75000"/>
              <a:buFont typeface="Wingdings" panose="05000000000000000000" charset="0"/>
              <a:buChar char="Ø"/>
              <a:defRPr/>
            </a:pPr>
            <a:r>
              <a:rPr lang="zh-CN" altLang="en-US" sz="2400" kern="0" noProof="0" dirty="0">
                <a:ln>
                  <a:noFill/>
                </a:ln>
                <a:effectLst/>
                <a:uLnTx/>
                <a:uFillTx/>
                <a:sym typeface="+mn-ea"/>
              </a:rPr>
              <a:t>丢包率</a:t>
            </a:r>
            <a:endParaRPr lang="zh-CN" altLang="en-US" sz="2400" kern="0" noProof="0" dirty="0">
              <a:ln>
                <a:noFill/>
              </a:ln>
              <a:effectLst/>
              <a:uLnTx/>
              <a:uFillTx/>
              <a:sym typeface="+mn-ea"/>
            </a:endParaRPr>
          </a:p>
          <a:p>
            <a:pPr marR="0" lvl="1" algn="just" defTabSz="914400" rtl="0" eaLnBrk="1" fontAlgn="base" latinLnBrk="0" hangingPunct="1">
              <a:lnSpc>
                <a:spcPct val="125000"/>
              </a:lnSpc>
              <a:spcBef>
                <a:spcPts val="20"/>
              </a:spcBef>
              <a:spcAft>
                <a:spcPts val="0"/>
              </a:spcAft>
              <a:buClr>
                <a:srgbClr val="000000"/>
              </a:buClr>
              <a:buSzPct val="75000"/>
              <a:buFont typeface="Arial" panose="020B0604020202020204" pitchFamily="34" charset="0"/>
              <a:buChar char="•"/>
              <a:defRPr/>
            </a:pPr>
            <a:r>
              <a:rPr lang="zh-CN" altLang="en-US" sz="2000" kern="0" noProof="0" dirty="0">
                <a:ln>
                  <a:noFill/>
                </a:ln>
                <a:effectLst/>
                <a:uLnTx/>
                <a:uFillTx/>
                <a:sym typeface="+mn-ea"/>
              </a:rPr>
              <a:t>所</a:t>
            </a:r>
            <a:r>
              <a:rPr lang="en-US" altLang="zh-CN" sz="2000" dirty="0" err="1">
                <a:sym typeface="+mn-ea"/>
              </a:rPr>
              <a:t>丢失数据包的数量占所发送数据包的比率</a:t>
            </a:r>
            <a:endParaRPr lang="en-US" altLang="zh-CN" sz="2000" dirty="0">
              <a:sym typeface="+mn-ea"/>
            </a:endParaRPr>
          </a:p>
          <a:p>
            <a:pPr marR="0" lvl="1" algn="just" defTabSz="914400" rtl="0" eaLnBrk="1" fontAlgn="base" latinLnBrk="0" hangingPunct="1">
              <a:lnSpc>
                <a:spcPct val="120000"/>
              </a:lnSpc>
              <a:spcBef>
                <a:spcPts val="20"/>
              </a:spcBef>
              <a:spcAft>
                <a:spcPts val="0"/>
              </a:spcAft>
              <a:buClr>
                <a:srgbClr val="000000"/>
              </a:buClr>
              <a:buSzPct val="75000"/>
              <a:buFont typeface="Arial" panose="020B0604020202020204" pitchFamily="34" charset="0"/>
              <a:buChar char="•"/>
              <a:defRPr/>
            </a:pPr>
            <a:endParaRPr kumimoji="0" lang="en-US" altLang="zh-CN"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pSp>
        <p:nvGrpSpPr>
          <p:cNvPr id="3" name="组合 2"/>
          <p:cNvGrpSpPr/>
          <p:nvPr/>
        </p:nvGrpSpPr>
        <p:grpSpPr>
          <a:xfrm>
            <a:off x="2894012" y="5082540"/>
            <a:ext cx="6436360" cy="1146175"/>
            <a:chOff x="11275" y="5223"/>
            <a:chExt cx="10136" cy="1805"/>
          </a:xfrm>
        </p:grpSpPr>
        <p:grpSp>
          <p:nvGrpSpPr>
            <p:cNvPr id="130051" name="Group 140"/>
            <p:cNvGrpSpPr/>
            <p:nvPr/>
          </p:nvGrpSpPr>
          <p:grpSpPr>
            <a:xfrm>
              <a:off x="11962" y="5509"/>
              <a:ext cx="555" cy="1380"/>
              <a:chOff x="4140" y="429"/>
              <a:chExt cx="1425" cy="2396"/>
            </a:xfrm>
          </p:grpSpPr>
          <p:sp>
            <p:nvSpPr>
              <p:cNvPr id="130052" name="Freeform 141"/>
              <p:cNvSpPr/>
              <p:nvPr/>
            </p:nvSpPr>
            <p:spPr>
              <a:xfrm>
                <a:off x="5268" y="433"/>
                <a:ext cx="283" cy="2286"/>
              </a:xfrm>
              <a:custGeom>
                <a:avLst/>
                <a:gdLst/>
                <a:ahLst/>
                <a:cxnLst>
                  <a:cxn ang="0">
                    <a:pos x="21" y="0"/>
                  </a:cxn>
                  <a:cxn ang="0">
                    <a:pos x="116" y="137"/>
                  </a:cxn>
                  <a:cxn ang="0">
                    <a:pos x="114" y="1057"/>
                  </a:cxn>
                  <a:cxn ang="0">
                    <a:pos x="0" y="1105"/>
                  </a:cxn>
                  <a:cxn ang="0">
                    <a:pos x="21" y="0"/>
                  </a:cxn>
                </a:cxnLst>
                <a:rect l="0" t="0" r="0" b="0"/>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tileRect/>
              </a:gradFill>
              <a:ln w="9525">
                <a:noFill/>
              </a:ln>
            </p:spPr>
            <p:txBody>
              <a:bodyPr/>
              <a:lstStyle/>
              <a:p>
                <a:endParaRPr lang="zh-CN" altLang="en-US"/>
              </a:p>
            </p:txBody>
          </p:sp>
          <p:sp>
            <p:nvSpPr>
              <p:cNvPr id="130053" name="Rectangle 142"/>
              <p:cNvSpPr/>
              <p:nvPr/>
            </p:nvSpPr>
            <p:spPr>
              <a:xfrm>
                <a:off x="4206" y="429"/>
                <a:ext cx="1047" cy="2284"/>
              </a:xfrm>
              <a:prstGeom prst="rect">
                <a:avLst/>
              </a:prstGeom>
              <a:gradFill rotWithShape="1">
                <a:gsLst>
                  <a:gs pos="0">
                    <a:srgbClr val="292929"/>
                  </a:gs>
                  <a:gs pos="100000">
                    <a:srgbClr val="808080"/>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54" name="Freeform 143"/>
              <p:cNvSpPr/>
              <p:nvPr/>
            </p:nvSpPr>
            <p:spPr>
              <a:xfrm>
                <a:off x="5321" y="570"/>
                <a:ext cx="169" cy="2115"/>
              </a:xfrm>
              <a:custGeom>
                <a:avLst/>
                <a:gdLst/>
                <a:ahLst/>
                <a:cxnLst>
                  <a:cxn ang="0">
                    <a:pos x="2" y="0"/>
                  </a:cxn>
                  <a:cxn ang="0">
                    <a:pos x="70" y="88"/>
                  </a:cxn>
                  <a:cxn ang="0">
                    <a:pos x="2" y="1007"/>
                  </a:cxn>
                  <a:cxn ang="0">
                    <a:pos x="2" y="0"/>
                  </a:cxn>
                </a:cxnLst>
                <a:rect l="0" t="0" r="0" b="0"/>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tileRect/>
              </a:gradFill>
              <a:ln w="9525">
                <a:noFill/>
              </a:ln>
            </p:spPr>
            <p:txBody>
              <a:bodyPr/>
              <a:lstStyle/>
              <a:p>
                <a:endParaRPr lang="zh-CN" altLang="en-US"/>
              </a:p>
            </p:txBody>
          </p:sp>
          <p:sp>
            <p:nvSpPr>
              <p:cNvPr id="130055" name="Freeform 144"/>
              <p:cNvSpPr/>
              <p:nvPr/>
            </p:nvSpPr>
            <p:spPr>
              <a:xfrm>
                <a:off x="5284" y="1640"/>
                <a:ext cx="263" cy="189"/>
              </a:xfrm>
              <a:custGeom>
                <a:avLst/>
                <a:gdLst/>
                <a:ahLst/>
                <a:cxnLst>
                  <a:cxn ang="0">
                    <a:pos x="2" y="0"/>
                  </a:cxn>
                  <a:cxn ang="0">
                    <a:pos x="109" y="52"/>
                  </a:cxn>
                  <a:cxn ang="0">
                    <a:pos x="108" y="92"/>
                  </a:cxn>
                  <a:cxn ang="0">
                    <a:pos x="0" y="41"/>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p>
            </p:txBody>
          </p:sp>
          <p:sp>
            <p:nvSpPr>
              <p:cNvPr id="130056" name="Rectangle 145"/>
              <p:cNvSpPr/>
              <p:nvPr/>
            </p:nvSpPr>
            <p:spPr>
              <a:xfrm>
                <a:off x="4212" y="693"/>
                <a:ext cx="596"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grpSp>
            <p:nvGrpSpPr>
              <p:cNvPr id="130057" name="Group 146"/>
              <p:cNvGrpSpPr/>
              <p:nvPr/>
            </p:nvGrpSpPr>
            <p:grpSpPr>
              <a:xfrm>
                <a:off x="4749" y="668"/>
                <a:ext cx="581" cy="145"/>
                <a:chOff x="614" y="2568"/>
                <a:chExt cx="725" cy="139"/>
              </a:xfrm>
            </p:grpSpPr>
            <p:sp>
              <p:nvSpPr>
                <p:cNvPr id="130058" name="AutoShape 147"/>
                <p:cNvSpPr/>
                <p:nvPr/>
              </p:nvSpPr>
              <p:spPr>
                <a:xfrm>
                  <a:off x="614" y="2568"/>
                  <a:ext cx="725" cy="139"/>
                </a:xfrm>
                <a:prstGeom prst="roundRect">
                  <a:avLst>
                    <a:gd name="adj" fmla="val 50000"/>
                  </a:avLst>
                </a:prstGeom>
                <a:solidFill>
                  <a:schemeClr val="tx1"/>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59" name="AutoShape 148"/>
                <p:cNvSpPr/>
                <p:nvPr/>
              </p:nvSpPr>
              <p:spPr>
                <a:xfrm>
                  <a:off x="630" y="2584"/>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grpSp>
          <p:sp>
            <p:nvSpPr>
              <p:cNvPr id="130060" name="Rectangle 149"/>
              <p:cNvSpPr/>
              <p:nvPr/>
            </p:nvSpPr>
            <p:spPr>
              <a:xfrm>
                <a:off x="4224" y="1019"/>
                <a:ext cx="596"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grpSp>
            <p:nvGrpSpPr>
              <p:cNvPr id="130061" name="Group 150"/>
              <p:cNvGrpSpPr/>
              <p:nvPr/>
            </p:nvGrpSpPr>
            <p:grpSpPr>
              <a:xfrm>
                <a:off x="4747" y="994"/>
                <a:ext cx="581" cy="134"/>
                <a:chOff x="614" y="2568"/>
                <a:chExt cx="725" cy="139"/>
              </a:xfrm>
            </p:grpSpPr>
            <p:sp>
              <p:nvSpPr>
                <p:cNvPr id="130062" name="AutoShape 151"/>
                <p:cNvSpPr/>
                <p:nvPr/>
              </p:nvSpPr>
              <p:spPr>
                <a:xfrm>
                  <a:off x="614" y="2568"/>
                  <a:ext cx="725" cy="139"/>
                </a:xfrm>
                <a:prstGeom prst="roundRect">
                  <a:avLst>
                    <a:gd name="adj" fmla="val 50000"/>
                  </a:avLst>
                </a:prstGeom>
                <a:solidFill>
                  <a:schemeClr val="tx1"/>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63" name="AutoShape 152"/>
                <p:cNvSpPr/>
                <p:nvPr/>
              </p:nvSpPr>
              <p:spPr>
                <a:xfrm>
                  <a:off x="630" y="2584"/>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grpSp>
          <p:sp>
            <p:nvSpPr>
              <p:cNvPr id="130064" name="Rectangle 153"/>
              <p:cNvSpPr/>
              <p:nvPr/>
            </p:nvSpPr>
            <p:spPr>
              <a:xfrm>
                <a:off x="4217" y="1358"/>
                <a:ext cx="596" cy="4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65" name="Rectangle 154"/>
              <p:cNvSpPr/>
              <p:nvPr/>
            </p:nvSpPr>
            <p:spPr>
              <a:xfrm>
                <a:off x="4228" y="1655"/>
                <a:ext cx="596"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grpSp>
            <p:nvGrpSpPr>
              <p:cNvPr id="130066" name="Group 155"/>
              <p:cNvGrpSpPr/>
              <p:nvPr/>
            </p:nvGrpSpPr>
            <p:grpSpPr>
              <a:xfrm>
                <a:off x="4735" y="1627"/>
                <a:ext cx="582" cy="151"/>
                <a:chOff x="614" y="2568"/>
                <a:chExt cx="725" cy="139"/>
              </a:xfrm>
            </p:grpSpPr>
            <p:sp>
              <p:nvSpPr>
                <p:cNvPr id="130067" name="AutoShape 156"/>
                <p:cNvSpPr/>
                <p:nvPr/>
              </p:nvSpPr>
              <p:spPr>
                <a:xfrm>
                  <a:off x="614" y="2568"/>
                  <a:ext cx="725" cy="139"/>
                </a:xfrm>
                <a:prstGeom prst="roundRect">
                  <a:avLst>
                    <a:gd name="adj" fmla="val 50000"/>
                  </a:avLst>
                </a:prstGeom>
                <a:solidFill>
                  <a:schemeClr val="tx1"/>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68" name="AutoShape 157"/>
                <p:cNvSpPr/>
                <p:nvPr/>
              </p:nvSpPr>
              <p:spPr>
                <a:xfrm>
                  <a:off x="630" y="2584"/>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grpSp>
          <p:sp>
            <p:nvSpPr>
              <p:cNvPr id="130069" name="Freeform 158"/>
              <p:cNvSpPr/>
              <p:nvPr/>
            </p:nvSpPr>
            <p:spPr>
              <a:xfrm>
                <a:off x="5288" y="1354"/>
                <a:ext cx="263" cy="188"/>
              </a:xfrm>
              <a:custGeom>
                <a:avLst/>
                <a:gdLst/>
                <a:ahLst/>
                <a:cxnLst>
                  <a:cxn ang="0">
                    <a:pos x="2" y="0"/>
                  </a:cxn>
                  <a:cxn ang="0">
                    <a:pos x="109" y="51"/>
                  </a:cxn>
                  <a:cxn ang="0">
                    <a:pos x="108" y="90"/>
                  </a:cxn>
                  <a:cxn ang="0">
                    <a:pos x="0" y="39"/>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p>
            </p:txBody>
          </p:sp>
          <p:grpSp>
            <p:nvGrpSpPr>
              <p:cNvPr id="130070" name="Group 159"/>
              <p:cNvGrpSpPr/>
              <p:nvPr/>
            </p:nvGrpSpPr>
            <p:grpSpPr>
              <a:xfrm>
                <a:off x="4739" y="1327"/>
                <a:ext cx="582" cy="139"/>
                <a:chOff x="614" y="2568"/>
                <a:chExt cx="725" cy="139"/>
              </a:xfrm>
            </p:grpSpPr>
            <p:sp>
              <p:nvSpPr>
                <p:cNvPr id="130071" name="AutoShape 160"/>
                <p:cNvSpPr/>
                <p:nvPr/>
              </p:nvSpPr>
              <p:spPr>
                <a:xfrm>
                  <a:off x="614" y="2568"/>
                  <a:ext cx="725" cy="139"/>
                </a:xfrm>
                <a:prstGeom prst="roundRect">
                  <a:avLst>
                    <a:gd name="adj" fmla="val 50000"/>
                  </a:avLst>
                </a:prstGeom>
                <a:solidFill>
                  <a:schemeClr val="tx1"/>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72" name="AutoShape 161"/>
                <p:cNvSpPr/>
                <p:nvPr/>
              </p:nvSpPr>
              <p:spPr>
                <a:xfrm>
                  <a:off x="630" y="2584"/>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grpSp>
          <p:sp>
            <p:nvSpPr>
              <p:cNvPr id="130073" name="Rectangle 162"/>
              <p:cNvSpPr/>
              <p:nvPr/>
            </p:nvSpPr>
            <p:spPr>
              <a:xfrm>
                <a:off x="5250" y="431"/>
                <a:ext cx="68" cy="2287"/>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74" name="Freeform 163"/>
              <p:cNvSpPr/>
              <p:nvPr/>
            </p:nvSpPr>
            <p:spPr>
              <a:xfrm>
                <a:off x="5312" y="1007"/>
                <a:ext cx="237" cy="213"/>
              </a:xfrm>
              <a:custGeom>
                <a:avLst/>
                <a:gdLst/>
                <a:ahLst/>
                <a:cxnLst>
                  <a:cxn ang="0">
                    <a:pos x="2" y="0"/>
                  </a:cxn>
                  <a:cxn ang="0">
                    <a:pos x="96" y="57"/>
                  </a:cxn>
                  <a:cxn ang="0">
                    <a:pos x="98" y="102"/>
                  </a:cxn>
                  <a:cxn ang="0">
                    <a:pos x="0" y="39"/>
                  </a:cxn>
                  <a:cxn ang="0">
                    <a:pos x="2" y="0"/>
                  </a:cxn>
                </a:cxnLst>
                <a:rect l="0" t="0" r="0" b="0"/>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p>
            </p:txBody>
          </p:sp>
          <p:sp>
            <p:nvSpPr>
              <p:cNvPr id="130075" name="Freeform 164"/>
              <p:cNvSpPr/>
              <p:nvPr/>
            </p:nvSpPr>
            <p:spPr>
              <a:xfrm>
                <a:off x="5315" y="680"/>
                <a:ext cx="244" cy="240"/>
              </a:xfrm>
              <a:custGeom>
                <a:avLst/>
                <a:gdLst/>
                <a:ahLst/>
                <a:cxnLst>
                  <a:cxn ang="0">
                    <a:pos x="0" y="0"/>
                  </a:cxn>
                  <a:cxn ang="0">
                    <a:pos x="101" y="66"/>
                  </a:cxn>
                  <a:cxn ang="0">
                    <a:pos x="95" y="116"/>
                  </a:cxn>
                  <a:cxn ang="0">
                    <a:pos x="2" y="50"/>
                  </a:cxn>
                  <a:cxn ang="0">
                    <a:pos x="0" y="0"/>
                  </a:cxn>
                </a:cxnLst>
                <a:rect l="0" t="0" r="0" b="0"/>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p>
            </p:txBody>
          </p:sp>
          <p:sp>
            <p:nvSpPr>
              <p:cNvPr id="130076" name="Oval 165"/>
              <p:cNvSpPr/>
              <p:nvPr/>
            </p:nvSpPr>
            <p:spPr>
              <a:xfrm>
                <a:off x="5517" y="2611"/>
                <a:ext cx="48" cy="96"/>
              </a:xfrm>
              <a:prstGeom prst="ellipse">
                <a:avLst/>
              </a:prstGeom>
              <a:solidFill>
                <a:srgbClr val="333333"/>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77" name="Freeform 166"/>
              <p:cNvSpPr/>
              <p:nvPr/>
            </p:nvSpPr>
            <p:spPr>
              <a:xfrm>
                <a:off x="5302" y="2614"/>
                <a:ext cx="245" cy="200"/>
              </a:xfrm>
              <a:custGeom>
                <a:avLst/>
                <a:gdLst/>
                <a:ahLst/>
                <a:cxnLst>
                  <a:cxn ang="0">
                    <a:pos x="0" y="43"/>
                  </a:cxn>
                  <a:cxn ang="0">
                    <a:pos x="2" y="97"/>
                  </a:cxn>
                  <a:cxn ang="0">
                    <a:pos x="101" y="44"/>
                  </a:cxn>
                  <a:cxn ang="0">
                    <a:pos x="98" y="0"/>
                  </a:cxn>
                  <a:cxn ang="0">
                    <a:pos x="0" y="43"/>
                  </a:cxn>
                </a:cxnLst>
                <a:rect l="0" t="0" r="0" b="0"/>
                <a:pathLst>
                  <a:path w="306" h="240">
                    <a:moveTo>
                      <a:pt x="0" y="106"/>
                    </a:moveTo>
                    <a:lnTo>
                      <a:pt x="2" y="240"/>
                    </a:lnTo>
                    <a:lnTo>
                      <a:pt x="306" y="110"/>
                    </a:lnTo>
                    <a:lnTo>
                      <a:pt x="300" y="0"/>
                    </a:lnTo>
                    <a:lnTo>
                      <a:pt x="0" y="106"/>
                    </a:lnTo>
                    <a:close/>
                  </a:path>
                </a:pathLst>
              </a:custGeom>
              <a:solidFill>
                <a:srgbClr val="333333"/>
              </a:solidFill>
              <a:ln w="9525">
                <a:noFill/>
              </a:ln>
            </p:spPr>
            <p:txBody>
              <a:bodyPr/>
              <a:lstStyle/>
              <a:p>
                <a:endParaRPr lang="zh-CN" altLang="en-US"/>
              </a:p>
            </p:txBody>
          </p:sp>
          <p:sp>
            <p:nvSpPr>
              <p:cNvPr id="130078" name="AutoShape 167"/>
              <p:cNvSpPr/>
              <p:nvPr/>
            </p:nvSpPr>
            <p:spPr>
              <a:xfrm>
                <a:off x="4140" y="2678"/>
                <a:ext cx="1199" cy="147"/>
              </a:xfrm>
              <a:prstGeom prst="roundRect">
                <a:avLst>
                  <a:gd name="adj" fmla="val 50000"/>
                </a:avLst>
              </a:prstGeom>
              <a:solidFill>
                <a:srgbClr val="DDDDDD"/>
              </a:solidFill>
              <a:ln w="9525" cap="flat" cmpd="sng">
                <a:solidFill>
                  <a:schemeClr val="tx1"/>
                </a:solidFill>
                <a:prstDash val="solid"/>
                <a:round/>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79" name="AutoShape 168"/>
              <p:cNvSpPr/>
              <p:nvPr/>
            </p:nvSpPr>
            <p:spPr>
              <a:xfrm>
                <a:off x="4206" y="2711"/>
                <a:ext cx="1070"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round/>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80" name="Oval 169"/>
              <p:cNvSpPr/>
              <p:nvPr/>
            </p:nvSpPr>
            <p:spPr>
              <a:xfrm>
                <a:off x="4308" y="2383"/>
                <a:ext cx="158" cy="143"/>
              </a:xfrm>
              <a:prstGeom prst="ellipse">
                <a:avLst/>
              </a:prstGeom>
              <a:solidFill>
                <a:srgbClr val="33CC33"/>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81" name="Oval 170"/>
              <p:cNvSpPr/>
              <p:nvPr/>
            </p:nvSpPr>
            <p:spPr>
              <a:xfrm>
                <a:off x="4486" y="2384"/>
                <a:ext cx="160" cy="143"/>
              </a:xfrm>
              <a:prstGeom prst="ellipse">
                <a:avLst/>
              </a:prstGeom>
              <a:solidFill>
                <a:srgbClr val="FF0000"/>
              </a:solidFill>
              <a:ln w="9525">
                <a:noFill/>
              </a:ln>
            </p:spPr>
            <p:txBody>
              <a:bodyPr wrap="none" anchor="ctr"/>
              <a:lstStyle/>
              <a:p>
                <a:pPr algn="ctr"/>
                <a:endParaRPr lang="en-US" altLang="zh-CN" sz="1800" dirty="0">
                  <a:solidFill>
                    <a:srgbClr val="FF0000"/>
                  </a:solidFill>
                  <a:latin typeface="Arial" panose="020B0604020202020204" pitchFamily="34" charset="0"/>
                  <a:ea typeface="MS PGothic" panose="020B0600070205080204" pitchFamily="34" charset="-128"/>
                </a:endParaRPr>
              </a:p>
            </p:txBody>
          </p:sp>
          <p:sp>
            <p:nvSpPr>
              <p:cNvPr id="130082" name="Oval 171"/>
              <p:cNvSpPr/>
              <p:nvPr/>
            </p:nvSpPr>
            <p:spPr>
              <a:xfrm>
                <a:off x="4662" y="2381"/>
                <a:ext cx="158" cy="141"/>
              </a:xfrm>
              <a:prstGeom prst="ellipse">
                <a:avLst/>
              </a:prstGeom>
              <a:solidFill>
                <a:srgbClr val="33CC33"/>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sp>
            <p:nvSpPr>
              <p:cNvPr id="130083" name="Rectangle 172"/>
              <p:cNvSpPr/>
              <p:nvPr/>
            </p:nvSpPr>
            <p:spPr>
              <a:xfrm>
                <a:off x="5062" y="1835"/>
                <a:ext cx="85" cy="761"/>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34" charset="-128"/>
                </a:endParaRPr>
              </a:p>
            </p:txBody>
          </p:sp>
        </p:grpSp>
        <p:grpSp>
          <p:nvGrpSpPr>
            <p:cNvPr id="130086" name="Group 34"/>
            <p:cNvGrpSpPr/>
            <p:nvPr/>
          </p:nvGrpSpPr>
          <p:grpSpPr>
            <a:xfrm>
              <a:off x="12376" y="6053"/>
              <a:ext cx="2131" cy="485"/>
              <a:chOff x="2249" y="3430"/>
              <a:chExt cx="1389" cy="256"/>
            </a:xfrm>
          </p:grpSpPr>
          <p:sp>
            <p:nvSpPr>
              <p:cNvPr id="256035" name="Oval 35"/>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56036" name="Rectangle 36"/>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30089" name="Oval 37"/>
              <p:cNvSpPr/>
              <p:nvPr/>
            </p:nvSpPr>
            <p:spPr>
              <a:xfrm>
                <a:off x="2249" y="3430"/>
                <a:ext cx="69" cy="253"/>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34" charset="-128"/>
                </a:endParaRPr>
              </a:p>
            </p:txBody>
          </p:sp>
          <p:sp>
            <p:nvSpPr>
              <p:cNvPr id="256038" name="Rectangle 38"/>
              <p:cNvSpPr>
                <a:spLocks noChangeArrowheads="1"/>
              </p:cNvSpPr>
              <p:nvPr/>
            </p:nvSpPr>
            <p:spPr bwMode="auto">
              <a:xfrm>
                <a:off x="3562" y="3438"/>
                <a:ext cx="44" cy="245"/>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30091" name="Text Box 39"/>
            <p:cNvSpPr txBox="1"/>
            <p:nvPr/>
          </p:nvSpPr>
          <p:spPr>
            <a:xfrm>
              <a:off x="12012" y="5393"/>
              <a:ext cx="2879" cy="628"/>
            </a:xfrm>
            <a:prstGeom prst="rect">
              <a:avLst/>
            </a:prstGeom>
            <a:noFill/>
            <a:ln w="9525">
              <a:noFill/>
            </a:ln>
          </p:spPr>
          <p:txBody>
            <a:bodyPr wrap="square" anchor="t">
              <a:spAutoFit/>
            </a:bodyPr>
            <a:lstStyle/>
            <a:p>
              <a:pPr algn="ctr" eaLnBrk="0" hangingPunct="0"/>
              <a:r>
                <a:rPr lang="en-US" altLang="zh-CN" sz="2000" dirty="0">
                  <a:latin typeface="Arial" panose="020B0604020202020204" pitchFamily="34" charset="0"/>
                  <a:ea typeface="MS PGothic" panose="020B0600070205080204" pitchFamily="34" charset="-128"/>
                </a:rPr>
                <a:t>  R</a:t>
              </a:r>
              <a:r>
                <a:rPr lang="en-US" altLang="zh-CN" sz="2800" baseline="-25000" dirty="0">
                  <a:latin typeface="Arial" panose="020B0604020202020204" pitchFamily="34" charset="0"/>
                  <a:ea typeface="MS PGothic" panose="020B0600070205080204" pitchFamily="34" charset="-128"/>
                </a:rPr>
                <a:t>s</a:t>
              </a:r>
              <a:r>
                <a:rPr lang="en-US" altLang="zh-CN" sz="2000" baseline="-25000" dirty="0">
                  <a:latin typeface="Arial" panose="020B0604020202020204" pitchFamily="34" charset="0"/>
                  <a:ea typeface="MS PGothic" panose="020B0600070205080204" pitchFamily="34" charset="-128"/>
                </a:rPr>
                <a:t> </a:t>
              </a:r>
              <a:r>
                <a:rPr lang="en-US" altLang="zh-CN" sz="2000" dirty="0">
                  <a:latin typeface="Arial" panose="020B0604020202020204" pitchFamily="34" charset="0"/>
                  <a:ea typeface="MS PGothic" panose="020B0600070205080204" pitchFamily="34" charset="-128"/>
                </a:rPr>
                <a:t>b/s</a:t>
              </a:r>
              <a:endParaRPr lang="en-US" altLang="zh-CN" sz="2000" dirty="0">
                <a:latin typeface="Arial" panose="020B0604020202020204" pitchFamily="34" charset="0"/>
                <a:ea typeface="MS PGothic" panose="020B0600070205080204" pitchFamily="34" charset="-128"/>
              </a:endParaRPr>
            </a:p>
          </p:txBody>
        </p:sp>
        <p:sp>
          <p:nvSpPr>
            <p:cNvPr id="130092" name="AutoShape 42"/>
            <p:cNvSpPr/>
            <p:nvPr/>
          </p:nvSpPr>
          <p:spPr>
            <a:xfrm flipV="1">
              <a:off x="11401" y="5661"/>
              <a:ext cx="1410" cy="890"/>
            </a:xfrm>
            <a:custGeom>
              <a:avLst/>
              <a:gdLst/>
              <a:ahLst/>
              <a:cxnLst>
                <a:cxn ang="17694720">
                  <a:pos x="2147483647" y="0"/>
                </a:cxn>
                <a:cxn ang="5898240">
                  <a:pos x="2147483647" y="2147483647"/>
                </a:cxn>
                <a:cxn ang="5898240">
                  <a:pos x="2147483647" y="2147483647"/>
                </a:cxn>
                <a:cxn ang="0">
                  <a:pos x="2147483647" y="2147483647"/>
                </a:cxn>
              </a:cxnLst>
              <a:rect l="0" t="0" r="0" b="0"/>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FFFFFF"/>
                </a:gs>
                <a:gs pos="100000">
                  <a:srgbClr val="CC0000"/>
                </a:gs>
              </a:gsLst>
              <a:lin ang="0" scaled="1"/>
              <a:tileRect/>
            </a:gradFill>
            <a:ln w="9525" cap="flat" cmpd="sng">
              <a:solidFill>
                <a:srgbClr val="CC0000"/>
              </a:solidFill>
              <a:prstDash val="solid"/>
              <a:miter/>
              <a:headEnd type="none" w="med" len="med"/>
              <a:tailEnd type="none" w="med" len="med"/>
            </a:ln>
          </p:spPr>
          <p:txBody>
            <a:bodyPr/>
            <a:lstStyle/>
            <a:p>
              <a:endParaRPr lang="zh-CN" altLang="en-US"/>
            </a:p>
          </p:txBody>
        </p:sp>
        <p:sp>
          <p:nvSpPr>
            <p:cNvPr id="130093" name="AutoShape 43"/>
            <p:cNvSpPr/>
            <p:nvPr/>
          </p:nvSpPr>
          <p:spPr>
            <a:xfrm>
              <a:off x="19133" y="5993"/>
              <a:ext cx="1025" cy="598"/>
            </a:xfrm>
            <a:prstGeom prst="rightArrow">
              <a:avLst>
                <a:gd name="adj1" fmla="val 50000"/>
                <a:gd name="adj2" fmla="val 53760"/>
              </a:avLst>
            </a:prstGeom>
            <a:gradFill rotWithShape="1">
              <a:gsLst>
                <a:gs pos="0">
                  <a:srgbClr val="FFFFFF"/>
                </a:gs>
                <a:gs pos="100000">
                  <a:srgbClr val="CC0000"/>
                </a:gs>
              </a:gsLst>
              <a:lin ang="0" scaled="1"/>
              <a:tileRect/>
            </a:gradFill>
            <a:ln w="9525" cap="flat" cmpd="sng">
              <a:solidFill>
                <a:srgbClr val="CC0000"/>
              </a:solidFill>
              <a:prstDash val="solid"/>
              <a:miter/>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34" charset="-128"/>
              </a:endParaRPr>
            </a:p>
          </p:txBody>
        </p:sp>
        <p:grpSp>
          <p:nvGrpSpPr>
            <p:cNvPr id="130094" name="Group 54"/>
            <p:cNvGrpSpPr/>
            <p:nvPr/>
          </p:nvGrpSpPr>
          <p:grpSpPr>
            <a:xfrm>
              <a:off x="16455" y="5223"/>
              <a:ext cx="2909" cy="1516"/>
              <a:chOff x="3130" y="2817"/>
              <a:chExt cx="1917" cy="618"/>
            </a:xfrm>
          </p:grpSpPr>
          <p:grpSp>
            <p:nvGrpSpPr>
              <p:cNvPr id="130095" name="Group 45"/>
              <p:cNvGrpSpPr/>
              <p:nvPr/>
            </p:nvGrpSpPr>
            <p:grpSpPr>
              <a:xfrm>
                <a:off x="3130" y="3069"/>
                <a:ext cx="1765" cy="366"/>
                <a:chOff x="2249" y="3430"/>
                <a:chExt cx="1389" cy="256"/>
              </a:xfrm>
            </p:grpSpPr>
            <p:sp>
              <p:nvSpPr>
                <p:cNvPr id="256046" name="Oval 46"/>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56047" name="Rectangle 47"/>
                <p:cNvSpPr>
                  <a:spLocks noChangeArrowheads="1"/>
                </p:cNvSpPr>
                <p:nvPr/>
              </p:nvSpPr>
              <p:spPr bwMode="auto">
                <a:xfrm>
                  <a:off x="2275" y="3433"/>
                  <a:ext cx="1329"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30098" name="Oval 48"/>
                <p:cNvSpPr/>
                <p:nvPr/>
              </p:nvSpPr>
              <p:spPr>
                <a:xfrm>
                  <a:off x="2249" y="3430"/>
                  <a:ext cx="69" cy="253"/>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34" charset="-128"/>
                  </a:endParaRPr>
                </a:p>
              </p:txBody>
            </p:sp>
            <p:sp>
              <p:nvSpPr>
                <p:cNvPr id="256049" name="Rectangle 49"/>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30100" name="Text Box 50"/>
              <p:cNvSpPr txBox="1"/>
              <p:nvPr/>
            </p:nvSpPr>
            <p:spPr>
              <a:xfrm>
                <a:off x="3187" y="2817"/>
                <a:ext cx="1860" cy="256"/>
              </a:xfrm>
              <a:prstGeom prst="rect">
                <a:avLst/>
              </a:prstGeom>
              <a:noFill/>
              <a:ln w="9525">
                <a:noFill/>
              </a:ln>
            </p:spPr>
            <p:txBody>
              <a:bodyPr anchor="t">
                <a:spAutoFit/>
              </a:bodyPr>
              <a:lstStyle/>
              <a:p>
                <a:pPr algn="ctr" eaLnBrk="0" hangingPunct="0"/>
                <a:r>
                  <a:rPr lang="en-US" altLang="zh-CN" sz="2000" dirty="0">
                    <a:latin typeface="Arial" panose="020B0604020202020204" pitchFamily="34" charset="0"/>
                    <a:ea typeface="MS PGothic" panose="020B0600070205080204" pitchFamily="34" charset="-128"/>
                  </a:rPr>
                  <a:t>R</a:t>
                </a:r>
                <a:r>
                  <a:rPr lang="en-US" altLang="zh-CN" sz="2800" baseline="-25000" dirty="0">
                    <a:latin typeface="Arial" panose="020B0604020202020204" pitchFamily="34" charset="0"/>
                    <a:ea typeface="MS PGothic" panose="020B0600070205080204" pitchFamily="34" charset="-128"/>
                  </a:rPr>
                  <a:t>c</a:t>
                </a:r>
                <a:r>
                  <a:rPr lang="en-US" altLang="zh-CN" sz="2000" baseline="-25000" dirty="0">
                    <a:latin typeface="Arial" panose="020B0604020202020204" pitchFamily="34" charset="0"/>
                    <a:ea typeface="MS PGothic" panose="020B0600070205080204" pitchFamily="34" charset="-128"/>
                  </a:rPr>
                  <a:t> </a:t>
                </a:r>
                <a:r>
                  <a:rPr lang="en-US" altLang="zh-CN" sz="2000" dirty="0">
                    <a:latin typeface="Arial" panose="020B0604020202020204" pitchFamily="34" charset="0"/>
                    <a:ea typeface="MS PGothic" panose="020B0600070205080204" pitchFamily="34" charset="-128"/>
                  </a:rPr>
                  <a:t>b/s</a:t>
                </a:r>
                <a:endParaRPr lang="en-US" altLang="zh-CN" sz="2000" dirty="0">
                  <a:latin typeface="Arial" panose="020B0604020202020204" pitchFamily="34" charset="0"/>
                  <a:ea typeface="MS PGothic" panose="020B0600070205080204" pitchFamily="34" charset="-128"/>
                </a:endParaRPr>
              </a:p>
            </p:txBody>
          </p:sp>
        </p:grpSp>
        <p:grpSp>
          <p:nvGrpSpPr>
            <p:cNvPr id="130101" name="Group 5"/>
            <p:cNvGrpSpPr/>
            <p:nvPr/>
          </p:nvGrpSpPr>
          <p:grpSpPr>
            <a:xfrm>
              <a:off x="14642" y="6096"/>
              <a:ext cx="1530" cy="445"/>
              <a:chOff x="3600" y="219"/>
              <a:chExt cx="360" cy="175"/>
            </a:xfrm>
          </p:grpSpPr>
          <p:sp>
            <p:nvSpPr>
              <p:cNvPr id="130102" name="Oval 6"/>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34" charset="-128"/>
                </a:endParaRPr>
              </a:p>
            </p:txBody>
          </p:sp>
          <p:sp>
            <p:nvSpPr>
              <p:cNvPr id="130103" name="Line 7"/>
              <p:cNvSpPr/>
              <p:nvPr/>
            </p:nvSpPr>
            <p:spPr>
              <a:xfrm>
                <a:off x="3603" y="289"/>
                <a:ext cx="0" cy="60"/>
              </a:xfrm>
              <a:prstGeom prst="line">
                <a:avLst/>
              </a:prstGeom>
              <a:ln w="12700" cap="flat" cmpd="sng">
                <a:solidFill>
                  <a:schemeClr val="tx1"/>
                </a:solidFill>
                <a:prstDash val="solid"/>
                <a:round/>
                <a:headEnd type="none" w="med" len="med"/>
                <a:tailEnd type="none" w="med" len="med"/>
              </a:ln>
            </p:spPr>
            <p:txBody>
              <a:bodyPr/>
              <a:lstStyle/>
              <a:p>
                <a:endParaRPr lang="en-US"/>
              </a:p>
            </p:txBody>
          </p:sp>
          <p:sp>
            <p:nvSpPr>
              <p:cNvPr id="130104" name="Line 8"/>
              <p:cNvSpPr/>
              <p:nvPr/>
            </p:nvSpPr>
            <p:spPr>
              <a:xfrm>
                <a:off x="3960" y="289"/>
                <a:ext cx="0" cy="60"/>
              </a:xfrm>
              <a:prstGeom prst="line">
                <a:avLst/>
              </a:prstGeom>
              <a:ln w="12700" cap="flat" cmpd="sng">
                <a:solidFill>
                  <a:schemeClr val="tx1"/>
                </a:solidFill>
                <a:prstDash val="solid"/>
                <a:round/>
                <a:headEnd type="none" w="med" len="med"/>
                <a:tailEnd type="none" w="med" len="med"/>
              </a:ln>
            </p:spPr>
            <p:txBody>
              <a:bodyPr/>
              <a:lstStyle/>
              <a:p>
                <a:endParaRPr lang="en-US"/>
              </a:p>
            </p:txBody>
          </p:sp>
          <p:sp>
            <p:nvSpPr>
              <p:cNvPr id="130105" name="Rectangle 9"/>
              <p:cNvSpPr/>
              <p:nvPr/>
            </p:nvSpPr>
            <p:spPr>
              <a:xfrm>
                <a:off x="3603" y="289"/>
                <a:ext cx="354" cy="59"/>
              </a:xfrm>
              <a:prstGeom prst="rect">
                <a:avLst/>
              </a:prstGeom>
              <a:solidFill>
                <a:schemeClr val="hlink"/>
              </a:solidFill>
              <a:ln w="12700">
                <a:noFill/>
              </a:ln>
            </p:spPr>
            <p:txBody>
              <a:bodyPr wrap="none" anchor="ctr"/>
              <a:lstStyle/>
              <a:p>
                <a:pPr algn="ctr" eaLnBrk="0" hangingPunct="0"/>
                <a:endParaRPr lang="zh-CN" altLang="zh-CN" dirty="0">
                  <a:latin typeface="Arial" panose="020B0604020202020204" pitchFamily="34" charset="0"/>
                  <a:ea typeface="MS PGothic" panose="020B0600070205080204" pitchFamily="34" charset="-128"/>
                </a:endParaRPr>
              </a:p>
            </p:txBody>
          </p:sp>
          <p:sp>
            <p:nvSpPr>
              <p:cNvPr id="130106" name="Oval 10"/>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34" charset="-128"/>
                </a:endParaRPr>
              </a:p>
            </p:txBody>
          </p:sp>
          <p:grpSp>
            <p:nvGrpSpPr>
              <p:cNvPr id="130107" name="Group 11"/>
              <p:cNvGrpSpPr/>
              <p:nvPr/>
            </p:nvGrpSpPr>
            <p:grpSpPr>
              <a:xfrm>
                <a:off x="3686" y="244"/>
                <a:ext cx="177" cy="66"/>
                <a:chOff x="2848" y="848"/>
                <a:chExt cx="140" cy="98"/>
              </a:xfrm>
            </p:grpSpPr>
            <p:sp>
              <p:nvSpPr>
                <p:cNvPr id="130108" name="Line 1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30109" name="Line 13"/>
                <p:cNvSpPr/>
                <p:nvPr/>
              </p:nvSpPr>
              <p:spPr>
                <a:xfrm>
                  <a:off x="2944" y="946"/>
                  <a:ext cx="44" cy="0"/>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30110" name="Line 14"/>
                <p:cNvSpPr/>
                <p:nvPr/>
              </p:nvSpPr>
              <p:spPr>
                <a:xfrm>
                  <a:off x="2894" y="850"/>
                  <a:ext cx="52" cy="96"/>
                </a:xfrm>
                <a:prstGeom prst="line">
                  <a:avLst/>
                </a:prstGeom>
                <a:ln w="28575" cap="flat" cmpd="sng">
                  <a:solidFill>
                    <a:schemeClr val="tx1"/>
                  </a:solidFill>
                  <a:prstDash val="solid"/>
                  <a:round/>
                  <a:headEnd type="none" w="med" len="med"/>
                  <a:tailEnd type="none" w="med" len="med"/>
                </a:ln>
              </p:spPr>
              <p:txBody>
                <a:bodyPr/>
                <a:lstStyle/>
                <a:p>
                  <a:endParaRPr lang="en-US"/>
                </a:p>
              </p:txBody>
            </p:sp>
          </p:grpSp>
          <p:grpSp>
            <p:nvGrpSpPr>
              <p:cNvPr id="130111" name="Group 15"/>
              <p:cNvGrpSpPr/>
              <p:nvPr/>
            </p:nvGrpSpPr>
            <p:grpSpPr>
              <a:xfrm flipV="1">
                <a:off x="3686" y="243"/>
                <a:ext cx="177" cy="66"/>
                <a:chOff x="2848" y="848"/>
                <a:chExt cx="140" cy="98"/>
              </a:xfrm>
            </p:grpSpPr>
            <p:sp>
              <p:nvSpPr>
                <p:cNvPr id="130112" name="Line 1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30113" name="Line 17"/>
                <p:cNvSpPr/>
                <p:nvPr/>
              </p:nvSpPr>
              <p:spPr>
                <a:xfrm>
                  <a:off x="2944" y="946"/>
                  <a:ext cx="44" cy="0"/>
                </a:xfrm>
                <a:prstGeom prst="line">
                  <a:avLst/>
                </a:prstGeom>
                <a:ln w="28575" cap="flat" cmpd="sng">
                  <a:solidFill>
                    <a:schemeClr val="tx1"/>
                  </a:solidFill>
                  <a:prstDash val="solid"/>
                  <a:round/>
                  <a:headEnd type="none" w="med" len="med"/>
                  <a:tailEnd type="none" w="med" len="med"/>
                </a:ln>
              </p:spPr>
              <p:txBody>
                <a:bodyPr/>
                <a:lstStyle/>
                <a:p>
                  <a:endParaRPr lang="en-US"/>
                </a:p>
              </p:txBody>
            </p:sp>
            <p:sp>
              <p:nvSpPr>
                <p:cNvPr id="130114" name="Line 18"/>
                <p:cNvSpPr/>
                <p:nvPr/>
              </p:nvSpPr>
              <p:spPr>
                <a:xfrm>
                  <a:off x="2894" y="850"/>
                  <a:ext cx="52" cy="96"/>
                </a:xfrm>
                <a:prstGeom prst="line">
                  <a:avLst/>
                </a:prstGeom>
                <a:ln w="28575" cap="flat" cmpd="sng">
                  <a:solidFill>
                    <a:schemeClr val="tx1"/>
                  </a:solidFill>
                  <a:prstDash val="solid"/>
                  <a:round/>
                  <a:headEnd type="none" w="med" len="med"/>
                  <a:tailEnd type="none" w="med" len="med"/>
                </a:ln>
              </p:spPr>
              <p:txBody>
                <a:bodyPr/>
                <a:lstStyle/>
                <a:p>
                  <a:endParaRPr lang="en-US"/>
                </a:p>
              </p:txBody>
            </p:sp>
          </p:grpSp>
        </p:grpSp>
        <p:sp>
          <p:nvSpPr>
            <p:cNvPr id="130120" name="AutoShape 51"/>
            <p:cNvSpPr/>
            <p:nvPr/>
          </p:nvSpPr>
          <p:spPr>
            <a:xfrm>
              <a:off x="14510" y="6003"/>
              <a:ext cx="2150" cy="575"/>
            </a:xfrm>
            <a:prstGeom prst="rightArrow">
              <a:avLst>
                <a:gd name="adj1" fmla="val 50000"/>
                <a:gd name="adj2" fmla="val 89400"/>
              </a:avLst>
            </a:prstGeom>
            <a:gradFill rotWithShape="1">
              <a:gsLst>
                <a:gs pos="0">
                  <a:srgbClr val="FFFFFF"/>
                </a:gs>
                <a:gs pos="100000">
                  <a:srgbClr val="CC0000"/>
                </a:gs>
              </a:gsLst>
              <a:lin ang="0" scaled="1"/>
              <a:tileRect/>
            </a:gradFill>
            <a:ln w="9525" cap="flat" cmpd="sng">
              <a:solidFill>
                <a:srgbClr val="CC0000"/>
              </a:solidFill>
              <a:prstDash val="solid"/>
              <a:miter/>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34" charset="-128"/>
              </a:endParaRPr>
            </a:p>
          </p:txBody>
        </p:sp>
        <p:grpSp>
          <p:nvGrpSpPr>
            <p:cNvPr id="130121" name="Group 132"/>
            <p:cNvGrpSpPr/>
            <p:nvPr/>
          </p:nvGrpSpPr>
          <p:grpSpPr>
            <a:xfrm flipH="1">
              <a:off x="20038" y="5633"/>
              <a:ext cx="1373" cy="1395"/>
              <a:chOff x="-44" y="1473"/>
              <a:chExt cx="981" cy="1105"/>
            </a:xfrm>
          </p:grpSpPr>
          <p:pic>
            <p:nvPicPr>
              <p:cNvPr id="130122" name="Picture 133" descr="desktop_computer_stylized_medium"/>
              <p:cNvPicPr>
                <a:picLocks noChangeAspect="1"/>
              </p:cNvPicPr>
              <p:nvPr/>
            </p:nvPicPr>
            <p:blipFill>
              <a:blip r:embed="rId1"/>
              <a:stretch>
                <a:fillRect/>
              </a:stretch>
            </p:blipFill>
            <p:spPr>
              <a:xfrm flipH="1">
                <a:off x="-44" y="1473"/>
                <a:ext cx="981" cy="1105"/>
              </a:xfrm>
              <a:prstGeom prst="rect">
                <a:avLst/>
              </a:prstGeom>
              <a:noFill/>
              <a:ln w="9525">
                <a:noFill/>
              </a:ln>
            </p:spPr>
          </p:pic>
          <p:sp>
            <p:nvSpPr>
              <p:cNvPr id="130123" name="Freeform 134"/>
              <p:cNvSpPr/>
              <p:nvPr/>
            </p:nvSpPr>
            <p:spPr>
              <a:xfrm flipH="1">
                <a:off x="374" y="1579"/>
                <a:ext cx="477" cy="506"/>
              </a:xfrm>
              <a:custGeom>
                <a:avLst/>
                <a:gdLst/>
                <a:ahLst/>
                <a:cxnLst>
                  <a:cxn ang="0">
                    <a:pos x="0" y="0"/>
                  </a:cxn>
                  <a:cxn ang="0">
                    <a:pos x="1296" y="69"/>
                  </a:cxn>
                  <a:cxn ang="0">
                    <a:pos x="1537" y="1447"/>
                  </a:cxn>
                  <a:cxn ang="0">
                    <a:pos x="339" y="1810"/>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a:p>
            </p:txBody>
          </p:sp>
        </p:grpSp>
        <p:sp>
          <p:nvSpPr>
            <p:cNvPr id="130124" name="AutoShape 327"/>
            <p:cNvSpPr/>
            <p:nvPr/>
          </p:nvSpPr>
          <p:spPr>
            <a:xfrm>
              <a:off x="11275" y="5231"/>
              <a:ext cx="643" cy="680"/>
            </a:xfrm>
            <a:prstGeom prst="can">
              <a:avLst>
                <a:gd name="adj" fmla="val 21361"/>
              </a:avLst>
            </a:prstGeom>
            <a:gradFill rotWithShape="1">
              <a:gsLst>
                <a:gs pos="0">
                  <a:srgbClr val="000099"/>
                </a:gs>
                <a:gs pos="100000">
                  <a:srgbClr val="FFFFFF"/>
                </a:gs>
              </a:gsLst>
              <a:lin ang="0" scaled="1"/>
              <a:tileRect/>
            </a:gradFill>
            <a:ln w="9525"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34" charset="-128"/>
              </a:endParaRPr>
            </a:p>
          </p:txBody>
        </p:sp>
      </p:grpSp>
      <p:sp>
        <p:nvSpPr>
          <p:cNvPr id="73" name="文本框 72"/>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计算机网络度量单位</a:t>
            </a:r>
            <a:endParaRPr kumimoji="1" lang="zh-CN" altLang="en-US" dirty="0"/>
          </a:p>
        </p:txBody>
      </p:sp>
      <p:sp>
        <p:nvSpPr>
          <p:cNvPr id="3" name="内容占位符 2"/>
          <p:cNvSpPr>
            <a:spLocks noGrp="1"/>
          </p:cNvSpPr>
          <p:nvPr>
            <p:ph idx="1"/>
          </p:nvPr>
        </p:nvSpPr>
        <p:spPr>
          <a:xfrm>
            <a:off x="680720" y="1476376"/>
            <a:ext cx="5403215" cy="5016498"/>
          </a:xfrm>
        </p:spPr>
        <p:txBody>
          <a:bodyPr>
            <a:noAutofit/>
          </a:bodyPr>
          <a:lstStyle/>
          <a:p>
            <a:pPr>
              <a:lnSpc>
                <a:spcPct val="115000"/>
              </a:lnSpc>
              <a:spcAft>
                <a:spcPts val="0"/>
              </a:spcAft>
            </a:pPr>
            <a:r>
              <a:rPr kumimoji="1" lang="zh-CN" altLang="en-US" dirty="0"/>
              <a:t>时延抖动</a:t>
            </a:r>
            <a:endParaRPr kumimoji="1" lang="en-US" altLang="zh-CN" dirty="0"/>
          </a:p>
          <a:p>
            <a:pPr lvl="1">
              <a:lnSpc>
                <a:spcPct val="115000"/>
              </a:lnSpc>
              <a:spcAft>
                <a:spcPts val="0"/>
              </a:spcAft>
              <a:buFont typeface="Arial" panose="020B0604020202020204" pitchFamily="34" charset="0"/>
              <a:buChar char="•"/>
            </a:pPr>
            <a:r>
              <a:rPr lang="zh-CN" altLang="en-US" kern="100" dirty="0">
                <a:cs typeface="微软雅黑" panose="020B0503020204020204" pitchFamily="34" charset="-122"/>
              </a:rPr>
              <a:t>变化的时延称为抖动（</a:t>
            </a:r>
            <a:r>
              <a:rPr lang="en-US" altLang="zh-CN" kern="100" dirty="0">
                <a:cs typeface="微软雅黑" panose="020B0503020204020204" pitchFamily="34" charset="-122"/>
              </a:rPr>
              <a:t>Jitter</a:t>
            </a:r>
            <a:r>
              <a:rPr lang="zh-CN" altLang="en-US" kern="100" dirty="0">
                <a:cs typeface="微软雅黑" panose="020B0503020204020204" pitchFamily="34" charset="-122"/>
              </a:rPr>
              <a:t>）</a:t>
            </a:r>
            <a:endParaRPr lang="en-US" altLang="zh-CN" kern="100" dirty="0">
              <a:cs typeface="微软雅黑" panose="020B0503020204020204" pitchFamily="34" charset="-122"/>
            </a:endParaRPr>
          </a:p>
          <a:p>
            <a:pPr lvl="1">
              <a:lnSpc>
                <a:spcPct val="115000"/>
              </a:lnSpc>
              <a:buFont typeface="Arial" panose="020B0604020202020204" pitchFamily="34" charset="0"/>
              <a:buChar char="•"/>
            </a:pPr>
            <a:r>
              <a:rPr lang="zh-CN" altLang="en-US" kern="100" dirty="0">
                <a:cs typeface="微软雅黑" panose="020B0503020204020204" pitchFamily="34" charset="-122"/>
              </a:rPr>
              <a:t>时延抖动起源于网络中的队列或缓冲，抖动难以精确预测</a:t>
            </a:r>
            <a:endParaRPr lang="en-US" altLang="zh-CN" kern="100" dirty="0">
              <a:cs typeface="微软雅黑" panose="020B0503020204020204" pitchFamily="34" charset="-122"/>
            </a:endParaRPr>
          </a:p>
          <a:p>
            <a:pPr lvl="1">
              <a:lnSpc>
                <a:spcPct val="115000"/>
              </a:lnSpc>
              <a:spcAft>
                <a:spcPts val="0"/>
              </a:spcAft>
              <a:buFont typeface="Arial" panose="020B0604020202020204" pitchFamily="34" charset="0"/>
              <a:buChar char="•"/>
            </a:pPr>
            <a:r>
              <a:rPr lang="zh-CN" altLang="en-US" kern="100" dirty="0">
                <a:effectLst/>
                <a:cs typeface="微软雅黑" panose="020B0503020204020204" pitchFamily="34" charset="-122"/>
              </a:rPr>
              <a:t>在语音、视频多媒体业务中，抖动往往会严重影响用户的体验</a:t>
            </a:r>
            <a:endParaRPr lang="zh-CN" altLang="en-US" kern="100" dirty="0">
              <a:effectLst/>
              <a:cs typeface="微软雅黑" panose="020B0503020204020204" pitchFamily="34" charset="-122"/>
            </a:endParaRPr>
          </a:p>
          <a:p>
            <a:pPr>
              <a:lnSpc>
                <a:spcPct val="115000"/>
              </a:lnSpc>
              <a:spcAft>
                <a:spcPts val="0"/>
              </a:spcAft>
            </a:pPr>
            <a:r>
              <a:rPr kumimoji="1" lang="zh-CN" altLang="en-US" dirty="0"/>
              <a:t>延迟丢包</a:t>
            </a:r>
            <a:endParaRPr kumimoji="1" lang="en-US" altLang="zh-CN" dirty="0"/>
          </a:p>
          <a:p>
            <a:pPr lvl="1">
              <a:lnSpc>
                <a:spcPct val="115000"/>
              </a:lnSpc>
              <a:spcBef>
                <a:spcPts val="0"/>
              </a:spcBef>
              <a:buFont typeface="Arial" panose="020B0604020202020204" pitchFamily="34" charset="0"/>
              <a:buChar char="•"/>
            </a:pPr>
            <a:r>
              <a:rPr lang="zh-CN" altLang="en-US" kern="100" dirty="0">
                <a:effectLst/>
                <a:cs typeface="微软雅黑" panose="020B0503020204020204" pitchFamily="34" charset="-122"/>
              </a:rPr>
              <a:t>在多媒体应用中，由于数据包延迟到达，在接收端</a:t>
            </a:r>
            <a:r>
              <a:rPr lang="zh-CN" altLang="en-US" kern="100" dirty="0">
                <a:cs typeface="微软雅黑" panose="020B0503020204020204" pitchFamily="34" charset="-122"/>
              </a:rPr>
              <a:t>需要丢弃</a:t>
            </a:r>
            <a:r>
              <a:rPr lang="zh-CN" altLang="en-US" kern="100" dirty="0">
                <a:effectLst/>
                <a:cs typeface="微软雅黑" panose="020B0503020204020204" pitchFamily="34" charset="-122"/>
              </a:rPr>
              <a:t>失去使用价值的包</a:t>
            </a:r>
            <a:endParaRPr lang="zh-CN" altLang="en-US" kern="100" dirty="0">
              <a:effectLst/>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 name="文本框 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5876290" y="2226310"/>
            <a:ext cx="6219825" cy="3147695"/>
            <a:chOff x="9222" y="3144"/>
            <a:chExt cx="9795" cy="4957"/>
          </a:xfrm>
        </p:grpSpPr>
        <p:pic>
          <p:nvPicPr>
            <p:cNvPr id="4" name="图片 3"/>
            <p:cNvPicPr>
              <a:picLocks noChangeAspect="1"/>
            </p:cNvPicPr>
            <p:nvPr/>
          </p:nvPicPr>
          <p:blipFill>
            <a:blip r:embed="rId1"/>
            <a:stretch>
              <a:fillRect/>
            </a:stretch>
          </p:blipFill>
          <p:spPr>
            <a:xfrm>
              <a:off x="9222" y="3144"/>
              <a:ext cx="9795" cy="4065"/>
            </a:xfrm>
            <a:prstGeom prst="rect">
              <a:avLst/>
            </a:prstGeom>
          </p:spPr>
        </p:pic>
        <p:sp>
          <p:nvSpPr>
            <p:cNvPr id="8" name="圆角矩形 7"/>
            <p:cNvSpPr/>
            <p:nvPr/>
          </p:nvSpPr>
          <p:spPr>
            <a:xfrm>
              <a:off x="14451" y="4092"/>
              <a:ext cx="1738" cy="1496"/>
            </a:xfrm>
            <a:prstGeom prst="roundRect">
              <a:avLst/>
            </a:prstGeom>
            <a:noFill/>
            <a:ln w="412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9" name="直接连接符 8"/>
            <p:cNvCxnSpPr/>
            <p:nvPr/>
          </p:nvCxnSpPr>
          <p:spPr>
            <a:xfrm>
              <a:off x="9948" y="7135"/>
              <a:ext cx="591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2433" y="7376"/>
              <a:ext cx="4229" cy="725"/>
            </a:xfrm>
            <a:prstGeom prst="rect">
              <a:avLst/>
            </a:prstGeom>
            <a:noFill/>
          </p:spPr>
          <p:txBody>
            <a:bodyPr wrap="square" rtlCol="0">
              <a:spAutoFit/>
            </a:bodyPr>
            <a:lstStyle/>
            <a:p>
              <a:pPr algn="ctr"/>
              <a:r>
                <a:rPr lang="zh-CN" altLang="en-US" sz="2400">
                  <a:solidFill>
                    <a:srgbClr val="7030A0"/>
                  </a:solidFill>
                  <a:latin typeface="微软雅黑" panose="020B0503020204020204" pitchFamily="34" charset="-122"/>
                  <a:ea typeface="微软雅黑" panose="020B0503020204020204" pitchFamily="34" charset="-122"/>
                </a:rPr>
                <a:t>时延抖动</a:t>
              </a:r>
              <a:endParaRPr lang="zh-CN" altLang="en-US" sz="2400">
                <a:solidFill>
                  <a:srgbClr val="7030A0"/>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5" name="内容占位符 4"/>
          <p:cNvSpPr>
            <a:spLocks noGrp="1"/>
          </p:cNvSpPr>
          <p:nvPr>
            <p:ph idx="1"/>
          </p:nvPr>
        </p:nvSpPr>
        <p:spPr>
          <a:xfrm>
            <a:off x="1307508" y="1510758"/>
            <a:ext cx="10046292" cy="4982116"/>
          </a:xfrm>
        </p:spPr>
        <p:txBody>
          <a:bodyPr>
            <a:normAutofit lnSpcReduction="10000"/>
          </a:bodyPr>
          <a:lstStyle/>
          <a:p>
            <a:pPr marL="0" indent="0">
              <a:lnSpc>
                <a:spcPct val="130000"/>
              </a:lnSpc>
              <a:buNone/>
            </a:pPr>
            <a:r>
              <a:rPr kumimoji="1" lang="en-US" altLang="zh-CN" dirty="0"/>
              <a:t>1.1 </a:t>
            </a:r>
            <a:r>
              <a:rPr kumimoji="1" lang="zh-CN" altLang="en-US" dirty="0"/>
              <a:t>初识互联网</a:t>
            </a:r>
            <a:endParaRPr kumimoji="1" lang="en-US" altLang="zh-CN" dirty="0"/>
          </a:p>
          <a:p>
            <a:pPr marL="0" indent="0">
              <a:lnSpc>
                <a:spcPct val="130000"/>
              </a:lnSpc>
              <a:buNone/>
            </a:pPr>
            <a:r>
              <a:rPr kumimoji="1" lang="en-US" altLang="zh-CN" dirty="0"/>
              <a:t>1.2 </a:t>
            </a:r>
            <a:r>
              <a:rPr kumimoji="1" lang="zh-CN" altLang="en-US" dirty="0"/>
              <a:t>网络实例</a:t>
            </a:r>
            <a:endParaRPr kumimoji="1" lang="en-US" altLang="zh-CN" dirty="0"/>
          </a:p>
          <a:p>
            <a:pPr marL="0" indent="0">
              <a:lnSpc>
                <a:spcPct val="130000"/>
              </a:lnSpc>
              <a:buNone/>
            </a:pPr>
            <a:r>
              <a:rPr kumimoji="1" lang="en-US" altLang="zh-CN" dirty="0"/>
              <a:t>1.3 </a:t>
            </a:r>
            <a:r>
              <a:rPr kumimoji="1" lang="zh-CN" altLang="en-US" dirty="0"/>
              <a:t>协议与分层结构</a:t>
            </a:r>
            <a:endParaRPr kumimoji="1" lang="en-US" altLang="zh-CN" dirty="0"/>
          </a:p>
          <a:p>
            <a:pPr marL="0" indent="0">
              <a:lnSpc>
                <a:spcPct val="130000"/>
              </a:lnSpc>
              <a:buNone/>
            </a:pPr>
            <a:r>
              <a:rPr kumimoji="1" lang="en-US" altLang="zh-CN" dirty="0"/>
              <a:t>1.4 </a:t>
            </a:r>
            <a:r>
              <a:rPr kumimoji="1" lang="zh-CN" altLang="en-US" dirty="0"/>
              <a:t>参考模型</a:t>
            </a:r>
            <a:endParaRPr kumimoji="1" lang="en-US" altLang="zh-CN" dirty="0"/>
          </a:p>
          <a:p>
            <a:pPr marL="0" indent="0">
              <a:lnSpc>
                <a:spcPct val="130000"/>
              </a:lnSpc>
              <a:buNone/>
            </a:pPr>
            <a:r>
              <a:rPr kumimoji="1" lang="en-US" altLang="zh-CN" dirty="0"/>
              <a:t>1.5 </a:t>
            </a:r>
            <a:r>
              <a:rPr kumimoji="1" lang="zh-CN" altLang="en-US" dirty="0"/>
              <a:t>计算机网络度量单位</a:t>
            </a:r>
            <a:endParaRPr kumimoji="1" lang="en-US" altLang="zh-CN" dirty="0"/>
          </a:p>
          <a:p>
            <a:pPr marL="0" indent="0">
              <a:lnSpc>
                <a:spcPct val="130000"/>
              </a:lnSpc>
              <a:buNone/>
            </a:pPr>
            <a:r>
              <a:rPr kumimoji="1" lang="en-US" altLang="zh-CN" dirty="0">
                <a:solidFill>
                  <a:srgbClr val="C00000"/>
                </a:solidFill>
              </a:rPr>
              <a:t>1.6 </a:t>
            </a:r>
            <a:r>
              <a:rPr kumimoji="1" lang="zh-CN" altLang="en-US" dirty="0">
                <a:solidFill>
                  <a:srgbClr val="C00000"/>
                </a:solidFill>
              </a:rPr>
              <a:t>网络安全与威胁</a:t>
            </a:r>
            <a:endParaRPr kumimoji="1" lang="zh-CN" altLang="en-US" dirty="0">
              <a:solidFill>
                <a:srgbClr val="C00000"/>
              </a:solidFill>
            </a:endParaRPr>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 name="矩形标注 6"/>
          <p:cNvSpPr/>
          <p:nvPr/>
        </p:nvSpPr>
        <p:spPr>
          <a:xfrm>
            <a:off x="6330654" y="1818614"/>
            <a:ext cx="4290404" cy="4206313"/>
          </a:xfrm>
          <a:prstGeom prst="wedgeRectCallout">
            <a:avLst>
              <a:gd name="adj1" fmla="val -82407"/>
              <a:gd name="adj2" fmla="val 2216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网络安全问题的由来</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病毒、蠕虫与恶意软件</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拒绝服务攻击</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密码泄露与撞库攻击</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数据包嗅探与</a:t>
            </a:r>
            <a:r>
              <a:rPr kumimoji="1" lang="en-US" altLang="zh-CN" sz="2400" dirty="0">
                <a:solidFill>
                  <a:prstClr val="black"/>
                </a:solidFill>
                <a:latin typeface="微软雅黑" panose="020B0503020204020204" pitchFamily="34" charset="-122"/>
                <a:ea typeface="微软雅黑" panose="020B0503020204020204" pitchFamily="34" charset="-122"/>
              </a:rPr>
              <a:t>IP</a:t>
            </a:r>
            <a:r>
              <a:rPr kumimoji="1" lang="zh-CN" altLang="en-US" sz="2400" dirty="0">
                <a:solidFill>
                  <a:prstClr val="black"/>
                </a:solidFill>
                <a:latin typeface="微软雅黑" panose="020B0503020204020204" pitchFamily="34" charset="-122"/>
                <a:ea typeface="微软雅黑" panose="020B0503020204020204" pitchFamily="34" charset="-122"/>
              </a:rPr>
              <a:t>欺骗</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隐私保护</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安全防御与法规</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网络安全与威胁</a:t>
            </a:r>
            <a:endParaRPr kumimoji="1" lang="zh-CN" altLang="en-US" dirty="0"/>
          </a:p>
        </p:txBody>
      </p:sp>
      <p:sp>
        <p:nvSpPr>
          <p:cNvPr id="7" name="内容占位符 6"/>
          <p:cNvSpPr>
            <a:spLocks noGrp="1"/>
          </p:cNvSpPr>
          <p:nvPr>
            <p:ph idx="1"/>
          </p:nvPr>
        </p:nvSpPr>
        <p:spPr>
          <a:xfrm>
            <a:off x="838200" y="1510666"/>
            <a:ext cx="10515600" cy="5023553"/>
          </a:xfrm>
        </p:spPr>
        <p:txBody>
          <a:bodyPr>
            <a:normAutofit lnSpcReduction="10000"/>
          </a:bodyPr>
          <a:lstStyle/>
          <a:p>
            <a:pPr marL="360680" indent="-360680" fontAlgn="auto">
              <a:lnSpc>
                <a:spcPct val="120000"/>
              </a:lnSpc>
            </a:pPr>
            <a:r>
              <a:rPr kumimoji="1" dirty="0"/>
              <a:t>互联网最初设计时没有考虑到安全性</a:t>
            </a:r>
            <a:r>
              <a:rPr kumimoji="1" lang="zh-CN" altLang="en-US" dirty="0"/>
              <a:t> </a:t>
            </a:r>
            <a:endParaRPr kumimoji="1" lang="en-US" altLang="zh-CN" dirty="0"/>
          </a:p>
          <a:p>
            <a:pPr lvl="1">
              <a:lnSpc>
                <a:spcPct val="120000"/>
              </a:lnSpc>
            </a:pPr>
            <a:r>
              <a:rPr kumimoji="1" dirty="0"/>
              <a:t>最初的设想：“</a:t>
            </a:r>
            <a:r>
              <a:rPr kumimoji="1" dirty="0" err="1"/>
              <a:t>一组</a:t>
            </a:r>
            <a:r>
              <a:rPr kumimoji="1" dirty="0" err="1">
                <a:solidFill>
                  <a:srgbClr val="C00000"/>
                </a:solidFill>
              </a:rPr>
              <a:t>相互信任的用户</a:t>
            </a:r>
            <a:r>
              <a:rPr kumimoji="1" dirty="0" err="1"/>
              <a:t>连接</a:t>
            </a:r>
            <a:br>
              <a:rPr kumimoji="1" lang="en-US" dirty="0"/>
            </a:br>
            <a:r>
              <a:rPr kumimoji="1" dirty="0" err="1"/>
              <a:t>到一个透明的网络</a:t>
            </a:r>
            <a:r>
              <a:rPr kumimoji="1" dirty="0"/>
              <a:t>”</a:t>
            </a:r>
            <a:endParaRPr kumimoji="1" dirty="0"/>
          </a:p>
          <a:p>
            <a:pPr marL="360680" indent="-360680">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网络空间（Cyberspace）</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85800" lvl="1" indent="-360680">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已发展成为</a:t>
            </a:r>
            <a:r>
              <a:rPr lang="zh-CN" altLang="en-US"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继陆、海、空、天之后</a:t>
            </a:r>
            <a:br>
              <a:rPr lang="en-US" altLang="zh-CN"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第五大战略空间！</a:t>
            </a:r>
            <a:endPar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60680" indent="-360680" fontAlgn="auto">
              <a:lnSpc>
                <a:spcPct val="120000"/>
              </a:lnSpc>
            </a:pPr>
            <a:r>
              <a:rPr kumimoji="1" dirty="0" err="1"/>
              <a:t>我们现在需要考虑</a:t>
            </a:r>
            <a:endParaRPr kumimoji="1" dirty="0"/>
          </a:p>
          <a:p>
            <a:pPr lvl="1" fontAlgn="auto">
              <a:lnSpc>
                <a:spcPct val="120000"/>
              </a:lnSpc>
            </a:pPr>
            <a:r>
              <a:rPr kumimoji="1" dirty="0"/>
              <a:t>坏人如何攻击计算机网络</a:t>
            </a:r>
            <a:endParaRPr kumimoji="1" dirty="0"/>
          </a:p>
          <a:p>
            <a:pPr lvl="1" fontAlgn="auto">
              <a:lnSpc>
                <a:spcPct val="120000"/>
              </a:lnSpc>
            </a:pPr>
            <a:r>
              <a:rPr kumimoji="1" dirty="0"/>
              <a:t>如何防御网络攻击</a:t>
            </a:r>
            <a:endParaRPr kumimoji="1" dirty="0"/>
          </a:p>
          <a:p>
            <a:pPr lvl="1" fontAlgn="auto">
              <a:lnSpc>
                <a:spcPct val="120000"/>
              </a:lnSpc>
            </a:pPr>
            <a:r>
              <a:rPr kumimoji="1" dirty="0" err="1"/>
              <a:t>如何设计对攻击免疫的体系结构</a:t>
            </a:r>
            <a:endParaRPr kumimoji="1" lang="en-US" dirty="0"/>
          </a:p>
          <a:p>
            <a:pPr lvl="1" fontAlgn="auto">
              <a:lnSpc>
                <a:spcPct val="120000"/>
              </a:lnSpc>
            </a:pPr>
            <a:endParaRPr kumimoji="1" dirty="0"/>
          </a:p>
          <a:p>
            <a:pPr marL="457200" lvl="1" indent="0" fontAlgn="auto">
              <a:lnSpc>
                <a:spcPct val="120000"/>
              </a:lnSpc>
              <a:buNone/>
            </a:pPr>
            <a:endParaRPr kumimoji="1" lang="en-US" altLang="zh-CN"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9" name="文本框 8"/>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7682345" y="1821029"/>
            <a:ext cx="2743200" cy="2013508"/>
          </a:xfrm>
          <a:prstGeom prst="rect">
            <a:avLst/>
          </a:prstGeom>
        </p:spPr>
      </p:pic>
      <p:sp>
        <p:nvSpPr>
          <p:cNvPr id="11" name="文本框 10"/>
          <p:cNvSpPr txBox="1"/>
          <p:nvPr/>
        </p:nvSpPr>
        <p:spPr>
          <a:xfrm>
            <a:off x="6733460" y="4406106"/>
            <a:ext cx="4640971" cy="1053558"/>
          </a:xfrm>
          <a:prstGeom prst="rect">
            <a:avLst/>
          </a:prstGeom>
          <a:noFill/>
          <a:ln>
            <a:solidFill>
              <a:srgbClr val="C00000"/>
            </a:solidFill>
          </a:ln>
        </p:spPr>
        <p:txBody>
          <a:bodyPr wrap="square" rtlCol="0">
            <a:spAutoFit/>
          </a:bodyPr>
          <a:lstStyle/>
          <a:p>
            <a:pPr lvl="0">
              <a:lnSpc>
                <a:spcPct val="150000"/>
              </a:lnSpc>
              <a:defRPr/>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没有网络安全，就没有国家安全</a:t>
            </a:r>
            <a:endPar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nSpc>
                <a:spcPct val="150000"/>
              </a:lnSpc>
              <a:defRPr/>
            </a:pP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习近平总书记在网信工作会议讲话</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blinds(horizontal)">
                                      <p:cBhvr>
                                        <p:cTn id="7" dur="500"/>
                                        <p:tgtEl>
                                          <p:spTgt spid="7">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blinds(horizontal)">
                                      <p:cBhvr>
                                        <p:cTn id="10" dur="500"/>
                                        <p:tgtEl>
                                          <p:spTgt spid="7">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Effect transition="in" filter="blinds(horizontal)">
                                      <p:cBhvr>
                                        <p:cTn id="13" dur="500"/>
                                        <p:tgtEl>
                                          <p:spTgt spid="7">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
                                            <p:txEl>
                                              <p:pRg st="7" end="7"/>
                                            </p:txEl>
                                          </p:spTgt>
                                        </p:tgtEl>
                                        <p:attrNameLst>
                                          <p:attrName>style.visibility</p:attrName>
                                        </p:attrNameLst>
                                      </p:cBhvr>
                                      <p:to>
                                        <p:strVal val="visible"/>
                                      </p:to>
                                    </p:set>
                                    <p:animEffect transition="in" filter="blinds(horizontal)">
                                      <p:cBhvr>
                                        <p:cTn id="16" dur="500"/>
                                        <p:tgtEl>
                                          <p:spTgt spid="7">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par>
                                <p:cTn id="23" presetID="3" presetClass="entr" presetSubtype="1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你见过点三支香的熊猫么？</a:t>
            </a:r>
            <a:endParaRPr lang="zh-CN" altLang="en-US" dirty="0"/>
          </a:p>
        </p:txBody>
      </p:sp>
      <p:pic>
        <p:nvPicPr>
          <p:cNvPr id="5" name="内容占位符 4"/>
          <p:cNvPicPr>
            <a:picLocks noGrp="1" noChangeAspect="1"/>
          </p:cNvPicPr>
          <p:nvPr>
            <p:ph idx="1"/>
          </p:nvPr>
        </p:nvPicPr>
        <p:blipFill>
          <a:blip r:embed="rId1"/>
          <a:stretch>
            <a:fillRect/>
          </a:stretch>
        </p:blipFill>
        <p:spPr>
          <a:xfrm>
            <a:off x="935672" y="3653662"/>
            <a:ext cx="10515600" cy="2839212"/>
          </a:xfrm>
        </p:spPr>
      </p:pic>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3" name="熊猫烧香 鬼畜 原版 - 001 - 熊猫烧香 鬼畜 原版 截取视频">
            <a:hlinkClick r:id="" action="ppaction://media"/>
          </p:cNvPr>
          <p:cNvPicPr/>
          <p:nvPr>
            <a:videoFile r:link="rId2"/>
            <p:extLst>
              <p:ext uri="{DAA4B4D4-6D71-4841-9C94-3DE7FCFB9230}">
                <p14:media xmlns:p14="http://schemas.microsoft.com/office/powerpoint/2010/main" r:embed="rId3">
                  <p14:trim st="6859.952637" end="30969.740234"/>
                </p14:media>
              </p:ext>
            </p:extLst>
          </p:nvPr>
        </p:nvPicPr>
        <p:blipFill>
          <a:blip r:embed="rId4"/>
          <a:stretch>
            <a:fillRect/>
          </a:stretch>
        </p:blipFill>
        <p:spPr>
          <a:xfrm>
            <a:off x="7978775" y="3168571"/>
            <a:ext cx="4006850" cy="2072005"/>
          </a:xfrm>
          <a:prstGeom prst="rect">
            <a:avLst/>
          </a:prstGeom>
        </p:spPr>
      </p:pic>
      <p:sp>
        <p:nvSpPr>
          <p:cNvPr id="7" name="文本框 6"/>
          <p:cNvSpPr txBox="1"/>
          <p:nvPr/>
        </p:nvSpPr>
        <p:spPr>
          <a:xfrm>
            <a:off x="1033145" y="1243965"/>
            <a:ext cx="10320655" cy="2491740"/>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Ø"/>
              <a:defRPr/>
            </a:pPr>
            <a:r>
              <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恶意软件：</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指任何有损用户利益的软件，做各种不正当的事情，例如删除篡改我们的文件，安装间谍软件来收集我们的隐私信息等</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Ø"/>
              <a:defRPr/>
            </a:pPr>
            <a:r>
              <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自我复制：</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一旦恶意软件感染了一台主机，就会从那台主机寻求进入更多的主机，影响与受感染设备通信的其他设备</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1462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30000" showWhenStopped="0">
                <p:cTn id="7" fill="remove" display="1">
                  <p:stCondLst>
                    <p:cond delay="indefinite"/>
                  </p:stCondLst>
                  <p:endCondLst>
                    <p:cond evt="onNext" delay="0">
                      <p:tgtEl>
                        <p:sldTgt/>
                      </p:tgtEl>
                    </p:cond>
                    <p:cond evt="onPrev" delay="0">
                      <p:tgtEl>
                        <p:sldTgt/>
                      </p:tgtEl>
                    </p:cond>
                  </p:end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600" dirty="0">
                <a:latin typeface="微软雅黑" panose="020B0503020204020204" pitchFamily="34" charset="-122"/>
                <a:ea typeface="微软雅黑" panose="020B0503020204020204" pitchFamily="34" charset="-122"/>
                <a:cs typeface="微软雅黑" panose="020B0503020204020204" pitchFamily="34" charset="-122"/>
                <a:sym typeface="+mn-ea"/>
              </a:rPr>
              <a:t>恶意软件</a:t>
            </a:r>
            <a:endParaRPr kumimoji="1" lang="zh-CN" altLang="en-US" sz="3600" dirty="0"/>
          </a:p>
        </p:txBody>
      </p:sp>
      <p:sp>
        <p:nvSpPr>
          <p:cNvPr id="5" name="内容占位符 4"/>
          <p:cNvSpPr>
            <a:spLocks noGrp="1"/>
          </p:cNvSpPr>
          <p:nvPr>
            <p:ph idx="1"/>
          </p:nvPr>
        </p:nvSpPr>
        <p:spPr>
          <a:xfrm>
            <a:off x="755969" y="1397576"/>
            <a:ext cx="5173661" cy="5055869"/>
          </a:xfrm>
        </p:spPr>
        <p:txBody>
          <a:bodyPr>
            <a:noAutofit/>
          </a:bodyPr>
          <a:lstStyle/>
          <a:p>
            <a:pPr marL="285750" lvl="0" indent="-285750">
              <a:spcBef>
                <a:spcPts val="400"/>
              </a:spcBef>
              <a:buFont typeface="Wingdings" panose="05000000000000000000" charset="0"/>
              <a:buChar char="Ø"/>
              <a:defRPr/>
            </a:pPr>
            <a:r>
              <a:rPr lang="zh-CN" altLang="en-US" sz="2400" dirty="0"/>
              <a:t>恶意软件</a:t>
            </a:r>
            <a:endParaRPr lang="en-US" altLang="zh-CN" sz="2400" dirty="0"/>
          </a:p>
          <a:p>
            <a:pPr marL="610870" lvl="1" indent="-285750">
              <a:spcBef>
                <a:spcPts val="400"/>
              </a:spcBef>
              <a:buFont typeface="Wingdings" panose="05000000000000000000" charset="0"/>
              <a:buChar char="Ø"/>
              <a:defRPr/>
            </a:pPr>
            <a:r>
              <a:rPr lang="zh-CN" altLang="en-US" sz="2000" dirty="0"/>
              <a:t>哪里来的恶意软件？</a:t>
            </a:r>
            <a:endParaRPr lang="en-US" altLang="zh-CN" sz="2000" dirty="0"/>
          </a:p>
          <a:p>
            <a:pPr marL="610870" lvl="1" indent="-285750">
              <a:spcBef>
                <a:spcPts val="400"/>
              </a:spcBef>
              <a:buFont typeface="Wingdings" panose="05000000000000000000" charset="0"/>
              <a:buChar char="Ø"/>
              <a:defRPr/>
            </a:pPr>
            <a:r>
              <a:rPr lang="zh-CN" altLang="en-US" sz="2000" dirty="0"/>
              <a:t>如何提升影响力？</a:t>
            </a:r>
            <a:endParaRPr lang="en-US" altLang="zh-CN" sz="2000" dirty="0"/>
          </a:p>
          <a:p>
            <a:pPr marL="285750" lvl="0" indent="-285750">
              <a:spcBef>
                <a:spcPts val="400"/>
              </a:spcBef>
              <a:buFont typeface="Wingdings" panose="05000000000000000000" charset="0"/>
              <a:buChar char="Ø"/>
              <a:defRPr/>
            </a:pPr>
            <a:r>
              <a:rPr lang="zh-CN" altLang="en-US" sz="2400" dirty="0">
                <a:solidFill>
                  <a:srgbClr val="C00000"/>
                </a:solidFill>
              </a:rPr>
              <a:t>病毒（</a:t>
            </a:r>
            <a:r>
              <a:rPr lang="en-US" altLang="zh-CN" sz="2400" dirty="0">
                <a:solidFill>
                  <a:srgbClr val="C00000"/>
                </a:solidFill>
              </a:rPr>
              <a:t>Virus</a:t>
            </a:r>
            <a:r>
              <a:rPr lang="zh-CN" altLang="en-US" sz="2400" dirty="0">
                <a:solidFill>
                  <a:srgbClr val="C00000"/>
                </a:solidFill>
              </a:rPr>
              <a:t>）</a:t>
            </a:r>
            <a:endParaRPr lang="en-US" altLang="zh-CN" sz="2400" dirty="0">
              <a:solidFill>
                <a:srgbClr val="C00000"/>
              </a:solidFill>
            </a:endParaRPr>
          </a:p>
          <a:p>
            <a:pPr lvl="1">
              <a:spcBef>
                <a:spcPts val="400"/>
              </a:spcBef>
              <a:buFont typeface="Arial" panose="020B0604020202020204" pitchFamily="34" charset="0"/>
              <a:buChar char="•"/>
              <a:defRPr/>
            </a:pPr>
            <a:r>
              <a:rPr lang="zh-CN" altLang="en-US" sz="2000" dirty="0">
                <a:solidFill>
                  <a:prstClr val="black"/>
                </a:solidFill>
              </a:rPr>
              <a:t>需要某种形式的用户交互来不断传播的恶意软件</a:t>
            </a:r>
            <a:endParaRPr lang="en-US" altLang="zh-CN" sz="2000" dirty="0">
              <a:solidFill>
                <a:prstClr val="black"/>
              </a:solidFill>
            </a:endParaRPr>
          </a:p>
          <a:p>
            <a:pPr lvl="1">
              <a:spcBef>
                <a:spcPts val="400"/>
              </a:spcBef>
              <a:buFont typeface="Arial" panose="020B0604020202020204" pitchFamily="34" charset="0"/>
              <a:buChar char="•"/>
              <a:defRPr/>
            </a:pPr>
            <a:r>
              <a:rPr lang="zh-CN" altLang="en-US" sz="2000" dirty="0">
                <a:solidFill>
                  <a:prstClr val="black"/>
                </a:solidFill>
              </a:rPr>
              <a:t>如含可执行代码的</a:t>
            </a:r>
            <a:r>
              <a:rPr lang="en-US" altLang="zh-CN" sz="2000" dirty="0">
                <a:solidFill>
                  <a:prstClr val="black"/>
                </a:solidFill>
              </a:rPr>
              <a:t>email</a:t>
            </a:r>
            <a:r>
              <a:rPr lang="zh-CN" altLang="en-US" sz="2000" dirty="0">
                <a:solidFill>
                  <a:prstClr val="black"/>
                </a:solidFill>
              </a:rPr>
              <a:t>附件（打开后会给通信录所有再次用户发送）</a:t>
            </a:r>
            <a:endParaRPr lang="en-US" altLang="zh-CN" sz="2000" dirty="0">
              <a:solidFill>
                <a:prstClr val="black"/>
              </a:solidFill>
            </a:endParaRPr>
          </a:p>
          <a:p>
            <a:pPr marL="285750" lvl="0" indent="-285750">
              <a:spcBef>
                <a:spcPts val="400"/>
              </a:spcBef>
              <a:buFont typeface="Wingdings" panose="05000000000000000000" charset="0"/>
              <a:buChar char="Ø"/>
              <a:defRPr/>
            </a:pPr>
            <a:r>
              <a:rPr lang="zh-CN" altLang="en-US" sz="2400" dirty="0">
                <a:solidFill>
                  <a:srgbClr val="C00000"/>
                </a:solidFill>
              </a:rPr>
              <a:t>蠕虫（</a:t>
            </a:r>
            <a:r>
              <a:rPr lang="en-US" altLang="zh-CN" sz="2400" dirty="0">
                <a:solidFill>
                  <a:srgbClr val="C00000"/>
                </a:solidFill>
              </a:rPr>
              <a:t>Worm</a:t>
            </a:r>
            <a:r>
              <a:rPr lang="zh-CN" altLang="en-US" sz="2400" dirty="0">
                <a:solidFill>
                  <a:srgbClr val="C00000"/>
                </a:solidFill>
              </a:rPr>
              <a:t>）</a:t>
            </a:r>
            <a:endParaRPr lang="en-US" altLang="zh-CN" sz="2400" dirty="0">
              <a:solidFill>
                <a:prstClr val="black"/>
              </a:solidFill>
            </a:endParaRPr>
          </a:p>
          <a:p>
            <a:pPr lvl="1">
              <a:spcBef>
                <a:spcPts val="400"/>
              </a:spcBef>
              <a:defRPr/>
            </a:pPr>
            <a:r>
              <a:rPr lang="zh-CN" altLang="en-US" sz="2000" dirty="0">
                <a:solidFill>
                  <a:prstClr val="black"/>
                </a:solidFill>
              </a:rPr>
              <a:t>一种无须用户明显交互即可运行和传播的独立程序</a:t>
            </a:r>
            <a:endParaRPr lang="en-US" altLang="zh-CN" sz="2000" dirty="0">
              <a:solidFill>
                <a:prstClr val="black"/>
              </a:solidFill>
            </a:endParaRPr>
          </a:p>
          <a:p>
            <a:pPr lvl="1">
              <a:spcBef>
                <a:spcPts val="400"/>
              </a:spcBef>
              <a:defRPr/>
            </a:pPr>
            <a:r>
              <a:rPr lang="zh-CN" altLang="en-US" sz="2000" dirty="0">
                <a:solidFill>
                  <a:prstClr val="black"/>
                </a:solidFill>
              </a:rPr>
              <a:t>通过不断扫描网络中存在漏洞的计算机，进行传播</a:t>
            </a:r>
            <a:endParaRPr lang="zh-CN" altLang="en-US" sz="2000" dirty="0">
              <a:solidFill>
                <a:prstClr val="black"/>
              </a:solidFill>
            </a:endParaRPr>
          </a:p>
        </p:txBody>
      </p:sp>
      <p:sp>
        <p:nvSpPr>
          <p:cNvPr id="8" name="灯片编号占位符 7"/>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3" name="屏幕录制2021-01-18 上午9.14.30">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5929630" y="2024380"/>
            <a:ext cx="6139800" cy="4204970"/>
          </a:xfrm>
          <a:prstGeom prst="rect">
            <a:avLst/>
          </a:prstGeom>
          <a:ln w="9525">
            <a:solidFill>
              <a:schemeClr val="bg2"/>
            </a:solidFill>
          </a:ln>
        </p:spPr>
      </p:pic>
      <p:sp>
        <p:nvSpPr>
          <p:cNvPr id="6" name="文本框 5"/>
          <p:cNvSpPr txBox="1"/>
          <p:nvPr/>
        </p:nvSpPr>
        <p:spPr>
          <a:xfrm>
            <a:off x="5809045" y="1437005"/>
            <a:ext cx="6139799" cy="430887"/>
          </a:xfrm>
          <a:prstGeom prst="rect">
            <a:avLst/>
          </a:prstGeom>
          <a:noFill/>
        </p:spPr>
        <p:txBody>
          <a:bodyPr wrap="square" rtlCol="0">
            <a:spAutoFit/>
          </a:bodyPr>
          <a:lstStyle/>
          <a:p>
            <a:pPr algn="ctr">
              <a:defRPr/>
            </a:pPr>
            <a:r>
              <a:rPr lang="zh-CN" altLang="en-US" sz="2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“蠕虫式”的勒索病毒软件</a:t>
            </a: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WannaCry</a:t>
            </a:r>
            <a:r>
              <a:rPr kumimoji="0" lang="zh-CN" altLang="en-US"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覆盖地区</a:t>
            </a:r>
            <a:endParaRPr kumimoji="0" lang="zh-CN" altLang="en-US"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5929630" y="6308208"/>
            <a:ext cx="1928733" cy="369332"/>
          </a:xfrm>
          <a:prstGeom prst="rect">
            <a:avLst/>
          </a:prstGeom>
        </p:spPr>
        <p:txBody>
          <a:bodyPr wrap="none">
            <a:spAutoFit/>
          </a:bodyPr>
          <a:lstStyle/>
          <a:p>
            <a:r>
              <a:rPr lang="zh-CN" altLang="en-US" dirty="0">
                <a:solidFill>
                  <a:schemeClr val="bg1">
                    <a:lumMod val="65000"/>
                  </a:schemeClr>
                </a:solidFill>
              </a:rPr>
              <a:t>以上视频选自</a:t>
            </a:r>
            <a:r>
              <a:rPr lang="en-US" altLang="zh-CN" dirty="0">
                <a:solidFill>
                  <a:schemeClr val="bg1">
                    <a:lumMod val="65000"/>
                  </a:schemeClr>
                </a:solidFill>
              </a:rPr>
              <a:t>B</a:t>
            </a:r>
            <a:r>
              <a:rPr lang="zh-CN" altLang="en-US" dirty="0">
                <a:solidFill>
                  <a:schemeClr val="bg1">
                    <a:lumMod val="65000"/>
                  </a:schemeClr>
                </a:solidFill>
              </a:rPr>
              <a:t>站</a:t>
            </a:r>
            <a:endParaRPr lang="zh-CN" altLang="en-US"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linds(horizontal)">
                                      <p:cBhvr>
                                        <p:cTn id="7" dur="500"/>
                                        <p:tgtEl>
                                          <p:spTgt spid="5">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blinds(horizontal)">
                                      <p:cBhvr>
                                        <p:cTn id="10" dur="500"/>
                                        <p:tgtEl>
                                          <p:spTgt spid="5">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Effect transition="in" filter="blinds(horizontal)">
                                      <p:cBhvr>
                                        <p:cTn id="13" dur="500"/>
                                        <p:tgtEl>
                                          <p:spTgt spid="5">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6" end="6"/>
                                            </p:txEl>
                                          </p:spTgt>
                                        </p:tgtEl>
                                        <p:attrNameLst>
                                          <p:attrName>style.visibility</p:attrName>
                                        </p:attrNameLst>
                                      </p:cBhvr>
                                      <p:to>
                                        <p:strVal val="visible"/>
                                      </p:to>
                                    </p:set>
                                    <p:animEffect transition="in" filter="blinds(horizontal)">
                                      <p:cBhvr>
                                        <p:cTn id="16" dur="500"/>
                                        <p:tgtEl>
                                          <p:spTgt spid="5">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animEffect transition="in" filter="blinds(horizontal)">
                                      <p:cBhvr>
                                        <p:cTn id="19" dur="500"/>
                                        <p:tgtEl>
                                          <p:spTgt spid="5">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
                                            <p:txEl>
                                              <p:pRg st="8" end="8"/>
                                            </p:txEl>
                                          </p:spTgt>
                                        </p:tgtEl>
                                        <p:attrNameLst>
                                          <p:attrName>style.visibility</p:attrName>
                                        </p:attrNameLst>
                                      </p:cBhvr>
                                      <p:to>
                                        <p:strVal val="visible"/>
                                      </p:to>
                                    </p:set>
                                    <p:animEffect transition="in" filter="blinds(horizontal)">
                                      <p:cBhvr>
                                        <p:cTn id="22" dur="500"/>
                                        <p:tgtEl>
                                          <p:spTgt spid="5">
                                            <p:txEl>
                                              <p:pRg st="8" end="8"/>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par>
                          <p:cTn id="26" fill="hold">
                            <p:stCondLst>
                              <p:cond delay="500"/>
                            </p:stCondLst>
                            <p:childTnLst>
                              <p:par>
                                <p:cTn id="27" presetID="1" presetClass="mediacall" presetSubtype="0" fill="hold" nodeType="afterEffect">
                                  <p:stCondLst>
                                    <p:cond delay="0"/>
                                  </p:stCondLst>
                                  <p:childTnLst>
                                    <p:cmd type="call" cmd="playFrom(0.0)">
                                      <p:cBhvr additive="base">
                                        <p:cTn id="28" dur="51883" fill="hold"/>
                                        <p:tgtEl>
                                          <p:spTgt spid="3"/>
                                        </p:tgtEl>
                                      </p:cBhvr>
                                    </p:cmd>
                                  </p:childTnLst>
                                </p:cTn>
                              </p:par>
                              <p:par>
                                <p:cTn id="29" presetID="3" presetClass="entr" presetSubtype="1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mute="1" showWhenStopped="0">
                <p:cTn id="32" repeatCount="indefinite" fill="remove" display="1">
                  <p:stCondLst>
                    <p:cond delay="indefinite"/>
                  </p:stCondLst>
                  <p:endCondLst>
                    <p:cond evt="onPrev" delay="0">
                      <p:tgtEl>
                        <p:sldTgt/>
                      </p:tgtEl>
                    </p:cond>
                  </p:endCondLst>
                </p:cTn>
                <p:tgtEl>
                  <p:spTgt spid="3"/>
                </p:tgtEl>
              </p:cMediaNode>
            </p:video>
          </p:childTnLst>
        </p:cTn>
      </p:par>
    </p:tnLst>
    <p:bldLst>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网络安全与威胁</a:t>
            </a:r>
            <a:endParaRPr kumimoji="1" lang="zh-CN" altLang="en-US"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pSp>
        <p:nvGrpSpPr>
          <p:cNvPr id="8" name="组合 7"/>
          <p:cNvGrpSpPr/>
          <p:nvPr/>
        </p:nvGrpSpPr>
        <p:grpSpPr>
          <a:xfrm>
            <a:off x="0" y="3810"/>
            <a:ext cx="12192000" cy="6854190"/>
            <a:chOff x="0" y="6"/>
            <a:chExt cx="19200" cy="10794"/>
          </a:xfrm>
        </p:grpSpPr>
        <p:pic>
          <p:nvPicPr>
            <p:cNvPr id="6" name="图片 5" descr="勒索病毒"/>
            <p:cNvPicPr>
              <a:picLocks noChangeAspect="1"/>
            </p:cNvPicPr>
            <p:nvPr/>
          </p:nvPicPr>
          <p:blipFill>
            <a:blip r:embed="rId1"/>
            <a:stretch>
              <a:fillRect/>
            </a:stretch>
          </p:blipFill>
          <p:spPr>
            <a:xfrm>
              <a:off x="0" y="6"/>
              <a:ext cx="19200" cy="10794"/>
            </a:xfrm>
            <a:prstGeom prst="rect">
              <a:avLst/>
            </a:prstGeom>
          </p:spPr>
        </p:pic>
        <p:sp>
          <p:nvSpPr>
            <p:cNvPr id="7" name="矩形 6"/>
            <p:cNvSpPr/>
            <p:nvPr/>
          </p:nvSpPr>
          <p:spPr>
            <a:xfrm>
              <a:off x="5764" y="1214"/>
              <a:ext cx="12950" cy="716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9" name="文本框 8"/>
          <p:cNvSpPr txBox="1"/>
          <p:nvPr/>
        </p:nvSpPr>
        <p:spPr>
          <a:xfrm>
            <a:off x="3660140" y="770890"/>
            <a:ext cx="8223885" cy="4848860"/>
          </a:xfrm>
          <a:prstGeom prst="rect">
            <a:avLst/>
          </a:prstGeom>
          <a:noFill/>
        </p:spPr>
        <p:txBody>
          <a:bodyPr wrap="square" rtlCol="0">
            <a:spAutoFit/>
          </a:bodyPr>
          <a:lstStyle/>
          <a:p>
            <a:pPr marL="0" marR="0" lvl="0" indent="0" algn="l" defTabSz="914400" rtl="0" eaLnBrk="1" fontAlgn="auto" latinLnBrk="0" hangingPunct="1">
              <a:lnSpc>
                <a:spcPts val="2900"/>
              </a:lnSpc>
              <a:spcBef>
                <a:spcPts val="0"/>
              </a:spcBef>
              <a:spcAft>
                <a:spcPts val="0"/>
              </a:spcAft>
              <a:buClrTx/>
              <a:buSzTx/>
              <a:buFontTx/>
              <a:buNone/>
              <a:defRPr/>
            </a:pPr>
            <a:r>
              <a:rPr kumimoji="0" lang="zh-CN" altLang="en-US" sz="2400" b="0" i="0" u="none" strike="noStrike" kern="10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 这个勒索病毒会攻击哪些系统?</a:t>
            </a:r>
            <a:endParaRPr kumimoji="0" lang="zh-CN" altLang="en-US" sz="2400" b="0" i="0" u="none" strike="noStrike" kern="10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ts val="2900"/>
              </a:lnSpc>
              <a:spcBef>
                <a:spcPts val="0"/>
              </a:spcBef>
              <a:spcAft>
                <a:spcPts val="0"/>
              </a:spcAft>
              <a:buClrTx/>
              <a:buSzTx/>
              <a:buFontTx/>
              <a:buNone/>
              <a:defRPr/>
            </a:pPr>
            <a:r>
              <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答：该病毒利用Windows操作系统MS17-010漏洞在全球范围大爆发，感染了大量的计算机，几乎所有的Windows系统如果没有打补丁，都会被攻击</a:t>
            </a:r>
            <a:endPar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ts val="2900"/>
              </a:lnSpc>
              <a:spcBef>
                <a:spcPts val="0"/>
              </a:spcBef>
              <a:spcAft>
                <a:spcPts val="0"/>
              </a:spcAft>
              <a:buClrTx/>
              <a:buSzTx/>
              <a:buFontTx/>
              <a:buNone/>
              <a:defRPr/>
            </a:pPr>
            <a:r>
              <a:rPr kumimoji="0" lang="zh-CN" altLang="en-US" sz="2400" b="0" i="0" u="none" strike="noStrike" kern="10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 被这个勒索病毒感染后的症状是什么?</a:t>
            </a:r>
            <a:endParaRPr kumimoji="0" lang="zh-CN" altLang="en-US" sz="2400" b="1" i="0" u="none" strike="noStrike" kern="10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ts val="2900"/>
              </a:lnSpc>
              <a:spcBef>
                <a:spcPts val="0"/>
              </a:spcBef>
              <a:spcAft>
                <a:spcPts val="0"/>
              </a:spcAft>
              <a:buClrTx/>
              <a:buSzTx/>
              <a:buFontTx/>
              <a:buNone/>
              <a:defRPr/>
            </a:pPr>
            <a:r>
              <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答：</a:t>
            </a:r>
            <a:r>
              <a:rPr kumimoji="0"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被该勒索软件入侵后，用户主机系统内的照片、图片、文档、音频、视频等几乎所有类型的文件都将被加密，加密文件的后缀名被统一修改为．WNCRY，并会在桌面弹出勒索对话框，要求受害者支付价值数百美元的比特币到攻击者的比特币钱包，且赎金金额还会随着时间的推移而增加</a:t>
            </a:r>
            <a:endParaRPr kumimoji="0"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ts val="2900"/>
              </a:lnSpc>
              <a:spcBef>
                <a:spcPts val="0"/>
              </a:spcBef>
              <a:spcAft>
                <a:spcPts val="0"/>
              </a:spcAft>
              <a:buClrTx/>
              <a:buSzTx/>
              <a:buFontTx/>
              <a:buNone/>
              <a:defRPr/>
            </a:pPr>
            <a:r>
              <a:rPr kumimoji="0" lang="zh-CN" altLang="en-US" sz="2400" b="0" i="0" u="none" strike="noStrike" kern="10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 “永恒之蓝”和“勒索病毒”是什么关系?</a:t>
            </a:r>
            <a:endParaRPr kumimoji="0" lang="zh-CN" altLang="en-US" sz="2400" b="1" i="0" u="none" strike="noStrike" kern="10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ts val="2900"/>
              </a:lnSpc>
              <a:spcBef>
                <a:spcPts val="0"/>
              </a:spcBef>
              <a:spcAft>
                <a:spcPts val="0"/>
              </a:spcAft>
              <a:buClrTx/>
              <a:buSzTx/>
              <a:buFontTx/>
              <a:buNone/>
              <a:defRPr/>
            </a:pPr>
            <a:r>
              <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答：</a:t>
            </a:r>
            <a:r>
              <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此次的勒索病毒WannaCry</a:t>
            </a:r>
            <a:r>
              <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分为蠕虫病毒和勒索病毒两部分，前者利用</a:t>
            </a:r>
            <a:r>
              <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NSA泄露的危险漏洞“EternalBlue永恒之蓝”进行传播和释放，后者用于攻击用户和加密文件</a:t>
            </a:r>
            <a:endPar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ts val="2300"/>
              </a:lnSpc>
              <a:spcBef>
                <a:spcPts val="0"/>
              </a:spcBef>
              <a:spcAft>
                <a:spcPts val="0"/>
              </a:spcAft>
              <a:buClrTx/>
              <a:buSzTx/>
              <a:buFontTx/>
              <a:buNone/>
              <a:defRPr/>
            </a:pPr>
            <a:endParaRPr kumimoji="0" lang="zh-CN" altLang="en-US" sz="1800" b="0"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blinds(horizontal)">
                                      <p:cBhvr>
                                        <p:cTn id="10" dur="500"/>
                                        <p:tgtEl>
                                          <p:spTgt spid="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blinds(horizontal)">
                                      <p:cBhvr>
                                        <p:cTn id="15" dur="500"/>
                                        <p:tgtEl>
                                          <p:spTgt spid="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blinds(horizontal)">
                                      <p:cBhvr>
                                        <p:cTn id="18" dur="500"/>
                                        <p:tgtEl>
                                          <p:spTgt spid="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Effect transition="in" filter="blinds(horizontal)">
                                      <p:cBhvr>
                                        <p:cTn id="23" dur="500"/>
                                        <p:tgtEl>
                                          <p:spTgt spid="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blinds(horizontal)">
                                      <p:cBhvr>
                                        <p:cTn id="26"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131"/>
          <p:cNvGrpSpPr/>
          <p:nvPr/>
        </p:nvGrpSpPr>
        <p:grpSpPr bwMode="auto">
          <a:xfrm flipH="1">
            <a:off x="8190809" y="3359146"/>
            <a:ext cx="735012" cy="681037"/>
            <a:chOff x="-44" y="1473"/>
            <a:chExt cx="981" cy="1105"/>
          </a:xfrm>
        </p:grpSpPr>
        <p:pic>
          <p:nvPicPr>
            <p:cNvPr id="7" name="Picture 132"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133"/>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 name="Group 186"/>
          <p:cNvGrpSpPr/>
          <p:nvPr/>
        </p:nvGrpSpPr>
        <p:grpSpPr bwMode="auto">
          <a:xfrm>
            <a:off x="8732146" y="3602033"/>
            <a:ext cx="831850" cy="1260475"/>
            <a:chOff x="5069" y="1396"/>
            <a:chExt cx="524" cy="794"/>
          </a:xfrm>
        </p:grpSpPr>
        <p:sp>
          <p:nvSpPr>
            <p:cNvPr id="10" name="Text Box 21"/>
            <p:cNvSpPr txBox="1">
              <a:spLocks noChangeArrowheads="1"/>
            </p:cNvSpPr>
            <p:nvPr/>
          </p:nvSpPr>
          <p:spPr bwMode="auto">
            <a:xfrm>
              <a:off x="5069" y="1940"/>
              <a:ext cx="5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target</a:t>
              </a: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1" name="Group 153"/>
            <p:cNvGrpSpPr/>
            <p:nvPr/>
          </p:nvGrpSpPr>
          <p:grpSpPr bwMode="auto">
            <a:xfrm>
              <a:off x="5200" y="1396"/>
              <a:ext cx="258" cy="574"/>
              <a:chOff x="4140" y="429"/>
              <a:chExt cx="1425" cy="2396"/>
            </a:xfrm>
          </p:grpSpPr>
          <p:sp>
            <p:nvSpPr>
              <p:cNvPr id="12" name="Freeform 154"/>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155"/>
              <p:cNvSpPr>
                <a:spLocks noChangeArrowheads="1"/>
              </p:cNvSpPr>
              <p:nvPr/>
            </p:nvSpPr>
            <p:spPr bwMode="auto">
              <a:xfrm>
                <a:off x="4206" y="429"/>
                <a:ext cx="1049"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 name="Freeform 156"/>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7"/>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Rectangle 158"/>
              <p:cNvSpPr>
                <a:spLocks noChangeArrowheads="1"/>
              </p:cNvSpPr>
              <p:nvPr/>
            </p:nvSpPr>
            <p:spPr bwMode="auto">
              <a:xfrm>
                <a:off x="4212" y="692"/>
                <a:ext cx="597"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8" name="Group 159"/>
              <p:cNvGrpSpPr/>
              <p:nvPr/>
            </p:nvGrpSpPr>
            <p:grpSpPr bwMode="auto">
              <a:xfrm>
                <a:off x="4749" y="668"/>
                <a:ext cx="581" cy="145"/>
                <a:chOff x="614" y="2568"/>
                <a:chExt cx="725" cy="139"/>
              </a:xfrm>
            </p:grpSpPr>
            <p:sp>
              <p:nvSpPr>
                <p:cNvPr id="43" name="AutoShape 160"/>
                <p:cNvSpPr>
                  <a:spLocks noChangeArrowheads="1"/>
                </p:cNvSpPr>
                <p:nvPr/>
              </p:nvSpPr>
              <p:spPr bwMode="auto">
                <a:xfrm>
                  <a:off x="612" y="2567"/>
                  <a:ext cx="724"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4" name="AutoShape 161"/>
                <p:cNvSpPr>
                  <a:spLocks noChangeArrowheads="1"/>
                </p:cNvSpPr>
                <p:nvPr/>
              </p:nvSpPr>
              <p:spPr bwMode="auto">
                <a:xfrm>
                  <a:off x="626" y="2583"/>
                  <a:ext cx="689"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19" name="Rectangle 162"/>
              <p:cNvSpPr>
                <a:spLocks noChangeArrowheads="1"/>
              </p:cNvSpPr>
              <p:nvPr/>
            </p:nvSpPr>
            <p:spPr bwMode="auto">
              <a:xfrm>
                <a:off x="4223" y="1018"/>
                <a:ext cx="597"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20" name="Group 163"/>
              <p:cNvGrpSpPr/>
              <p:nvPr/>
            </p:nvGrpSpPr>
            <p:grpSpPr bwMode="auto">
              <a:xfrm>
                <a:off x="4747" y="994"/>
                <a:ext cx="581" cy="134"/>
                <a:chOff x="614" y="2568"/>
                <a:chExt cx="725" cy="139"/>
              </a:xfrm>
            </p:grpSpPr>
            <p:sp>
              <p:nvSpPr>
                <p:cNvPr id="41" name="AutoShape 164"/>
                <p:cNvSpPr>
                  <a:spLocks noChangeArrowheads="1"/>
                </p:cNvSpPr>
                <p:nvPr/>
              </p:nvSpPr>
              <p:spPr bwMode="auto">
                <a:xfrm>
                  <a:off x="615" y="2566"/>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2" name="AutoShape 165"/>
                <p:cNvSpPr>
                  <a:spLocks noChangeArrowheads="1"/>
                </p:cNvSpPr>
                <p:nvPr/>
              </p:nvSpPr>
              <p:spPr bwMode="auto">
                <a:xfrm>
                  <a:off x="628" y="2584"/>
                  <a:ext cx="689"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21" name="Rectangle 166"/>
              <p:cNvSpPr>
                <a:spLocks noChangeArrowheads="1"/>
              </p:cNvSpPr>
              <p:nvPr/>
            </p:nvSpPr>
            <p:spPr bwMode="auto">
              <a:xfrm>
                <a:off x="4217" y="1360"/>
                <a:ext cx="597" cy="46"/>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22" name="Rectangle 167"/>
              <p:cNvSpPr>
                <a:spLocks noChangeArrowheads="1"/>
              </p:cNvSpPr>
              <p:nvPr/>
            </p:nvSpPr>
            <p:spPr bwMode="auto">
              <a:xfrm>
                <a:off x="4228" y="1656"/>
                <a:ext cx="597" cy="46"/>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23" name="Group 168"/>
              <p:cNvGrpSpPr/>
              <p:nvPr/>
            </p:nvGrpSpPr>
            <p:grpSpPr bwMode="auto">
              <a:xfrm>
                <a:off x="4735" y="1627"/>
                <a:ext cx="582" cy="151"/>
                <a:chOff x="614" y="2568"/>
                <a:chExt cx="725" cy="139"/>
              </a:xfrm>
            </p:grpSpPr>
            <p:sp>
              <p:nvSpPr>
                <p:cNvPr id="39" name="AutoShape 169"/>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0" name="AutoShape 170"/>
                <p:cNvSpPr>
                  <a:spLocks noChangeArrowheads="1"/>
                </p:cNvSpPr>
                <p:nvPr/>
              </p:nvSpPr>
              <p:spPr bwMode="auto">
                <a:xfrm>
                  <a:off x="630" y="2583"/>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24" name="Freeform 171"/>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5" name="Group 172"/>
              <p:cNvGrpSpPr/>
              <p:nvPr/>
            </p:nvGrpSpPr>
            <p:grpSpPr bwMode="auto">
              <a:xfrm>
                <a:off x="4739" y="1327"/>
                <a:ext cx="582" cy="139"/>
                <a:chOff x="614" y="2568"/>
                <a:chExt cx="725" cy="139"/>
              </a:xfrm>
            </p:grpSpPr>
            <p:sp>
              <p:nvSpPr>
                <p:cNvPr id="37" name="AutoShape 173"/>
                <p:cNvSpPr>
                  <a:spLocks noChangeArrowheads="1"/>
                </p:cNvSpPr>
                <p:nvPr/>
              </p:nvSpPr>
              <p:spPr bwMode="auto">
                <a:xfrm>
                  <a:off x="611" y="2567"/>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8" name="AutoShape 174"/>
                <p:cNvSpPr>
                  <a:spLocks noChangeArrowheads="1"/>
                </p:cNvSpPr>
                <p:nvPr/>
              </p:nvSpPr>
              <p:spPr bwMode="auto">
                <a:xfrm>
                  <a:off x="625" y="2584"/>
                  <a:ext cx="695" cy="10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26" name="Rectangle 175"/>
              <p:cNvSpPr>
                <a:spLocks noChangeArrowheads="1"/>
              </p:cNvSpPr>
              <p:nvPr/>
            </p:nvSpPr>
            <p:spPr bwMode="auto">
              <a:xfrm>
                <a:off x="5250" y="429"/>
                <a:ext cx="66"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27" name="Freeform 176"/>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Freeform 177"/>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Oval 178"/>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0" name="Freeform 179"/>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AutoShape 180"/>
              <p:cNvSpPr>
                <a:spLocks noChangeArrowheads="1"/>
              </p:cNvSpPr>
              <p:nvPr/>
            </p:nvSpPr>
            <p:spPr bwMode="auto">
              <a:xfrm>
                <a:off x="4140" y="2679"/>
                <a:ext cx="1199" cy="146"/>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2" name="AutoShape 181"/>
              <p:cNvSpPr>
                <a:spLocks noChangeArrowheads="1"/>
              </p:cNvSpPr>
              <p:nvPr/>
            </p:nvSpPr>
            <p:spPr bwMode="auto">
              <a:xfrm>
                <a:off x="4206" y="2712"/>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3" name="Oval 182"/>
              <p:cNvSpPr>
                <a:spLocks noChangeArrowheads="1"/>
              </p:cNvSpPr>
              <p:nvPr/>
            </p:nvSpPr>
            <p:spPr bwMode="auto">
              <a:xfrm>
                <a:off x="4306" y="2383"/>
                <a:ext cx="160"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4" name="Oval 183"/>
              <p:cNvSpPr>
                <a:spLocks noChangeArrowheads="1"/>
              </p:cNvSpPr>
              <p:nvPr/>
            </p:nvSpPr>
            <p:spPr bwMode="auto">
              <a:xfrm>
                <a:off x="4488" y="2383"/>
                <a:ext cx="160"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mn-cs"/>
                </a:endParaRPr>
              </a:p>
            </p:txBody>
          </p:sp>
          <p:sp>
            <p:nvSpPr>
              <p:cNvPr id="35" name="Oval 184"/>
              <p:cNvSpPr>
                <a:spLocks noChangeArrowheads="1"/>
              </p:cNvSpPr>
              <p:nvPr/>
            </p:nvSpPr>
            <p:spPr bwMode="auto">
              <a:xfrm>
                <a:off x="4665" y="2383"/>
                <a:ext cx="155"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6" name="Rectangle 185"/>
              <p:cNvSpPr>
                <a:spLocks noChangeArrowheads="1"/>
              </p:cNvSpPr>
              <p:nvPr/>
            </p:nvSpPr>
            <p:spPr bwMode="auto">
              <a:xfrm>
                <a:off x="5062" y="1836"/>
                <a:ext cx="83" cy="760"/>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grpSp>
      <p:sp>
        <p:nvSpPr>
          <p:cNvPr id="46" name="Rectangle 4"/>
          <p:cNvSpPr>
            <a:spLocks noChangeArrowheads="1"/>
          </p:cNvSpPr>
          <p:nvPr/>
        </p:nvSpPr>
        <p:spPr bwMode="auto">
          <a:xfrm>
            <a:off x="1388166" y="3135571"/>
            <a:ext cx="4114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457200" marR="0" lvl="0" indent="-457200" algn="l" defTabSz="914400" rtl="0" eaLnBrk="1" fontAlgn="auto" latinLnBrk="0" hangingPunct="1">
              <a:lnSpc>
                <a:spcPct val="100000"/>
              </a:lnSpc>
              <a:spcBef>
                <a:spcPct val="20000"/>
              </a:spcBef>
              <a:spcAft>
                <a:spcPts val="0"/>
              </a:spcAft>
              <a:buClr>
                <a:srgbClr val="ED7D31"/>
              </a:buClr>
              <a:buSzPct val="85000"/>
              <a:buFont typeface="ZapfDingbats" charset="2"/>
              <a:buNone/>
              <a:defRPr/>
            </a:pPr>
            <a:r>
              <a:rPr kumimoji="0" lang="en-US"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 选择</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攻击</a:t>
            </a:r>
            <a:r>
              <a:rPr kumimoji="0" lang="en-US"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目标</a:t>
            </a:r>
            <a:endParaRPr kumimoji="0" lang="en-US"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Rectangle 5"/>
          <p:cNvSpPr>
            <a:spLocks noChangeArrowheads="1"/>
          </p:cNvSpPr>
          <p:nvPr/>
        </p:nvSpPr>
        <p:spPr bwMode="auto">
          <a:xfrm>
            <a:off x="1387998" y="3812843"/>
            <a:ext cx="509841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457200" marR="0" lvl="0" indent="-457200" algn="l" defTabSz="914400" rtl="0" eaLnBrk="1" fontAlgn="auto" latinLnBrk="0" hangingPunct="1">
              <a:lnSpc>
                <a:spcPct val="100000"/>
              </a:lnSpc>
              <a:spcBef>
                <a:spcPct val="20000"/>
              </a:spcBef>
              <a:spcAft>
                <a:spcPts val="0"/>
              </a:spcAft>
              <a:buClr>
                <a:srgbClr val="ED7D31"/>
              </a:buClr>
              <a:buSzPct val="85000"/>
              <a:buFont typeface="ZapfDingbats" charset="2"/>
              <a:buNone/>
              <a:defRPr/>
            </a:pPr>
            <a:r>
              <a:rPr kumimoji="0" lang="en-US"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入侵到发起虚假流量的大量</a:t>
            </a:r>
            <a:b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主机（产生僵尸主机或</a:t>
            </a:r>
            <a:r>
              <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僵尸</a:t>
            </a:r>
            <a:br>
              <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网络</a:t>
            </a:r>
            <a:r>
              <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botnet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Rectangle 6"/>
          <p:cNvSpPr>
            <a:spLocks noChangeArrowheads="1"/>
          </p:cNvSpPr>
          <p:nvPr/>
        </p:nvSpPr>
        <p:spPr bwMode="auto">
          <a:xfrm>
            <a:off x="1375604" y="5079462"/>
            <a:ext cx="4309580" cy="1175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313055" lvl="0" indent="-313055">
              <a:spcBef>
                <a:spcPct val="20000"/>
              </a:spcBef>
              <a:buClr>
                <a:srgbClr val="ED7D31"/>
              </a:buClr>
              <a:buSzPct val="85000"/>
              <a:defRPr/>
            </a:pPr>
            <a:r>
              <a:rPr kumimoji="0" lang="en-US"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 从</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被入侵</a:t>
            </a:r>
            <a:r>
              <a:rPr lang="zh-CN" altLang="en-US"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的僵尸</a:t>
            </a:r>
            <a:r>
              <a:rPr kumimoji="0" lang="en-US" altLang="en-US" sz="2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主机向目标</a:t>
            </a:r>
            <a:br>
              <a:rPr kumimoji="0" lang="en-US"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br>
            <a:r>
              <a:rPr kumimoji="0" lang="en-US" altLang="en-US" sz="2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发送大量数据包</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，导致</a:t>
            </a:r>
            <a:r>
              <a:rPr lang="en-US" altLang="en-US" dirty="0" err="1">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目标</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主机无法应对</a:t>
            </a:r>
            <a:endParaRPr kumimoji="0" lang="en-US"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9" name="Group 152"/>
          <p:cNvGrpSpPr/>
          <p:nvPr/>
        </p:nvGrpSpPr>
        <p:grpSpPr bwMode="auto">
          <a:xfrm>
            <a:off x="7520884" y="2897183"/>
            <a:ext cx="2720975" cy="2674938"/>
            <a:chOff x="-262" y="2555"/>
            <a:chExt cx="1714" cy="1685"/>
          </a:xfrm>
        </p:grpSpPr>
        <p:sp>
          <p:nvSpPr>
            <p:cNvPr id="50" name="Line 63"/>
            <p:cNvSpPr>
              <a:spLocks noChangeShapeType="1"/>
            </p:cNvSpPr>
            <p:nvPr/>
          </p:nvSpPr>
          <p:spPr bwMode="auto">
            <a:xfrm flipV="1">
              <a:off x="160" y="3261"/>
              <a:ext cx="436" cy="166"/>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Line 64"/>
            <p:cNvSpPr>
              <a:spLocks noChangeShapeType="1"/>
            </p:cNvSpPr>
            <p:nvPr/>
          </p:nvSpPr>
          <p:spPr bwMode="auto">
            <a:xfrm flipV="1">
              <a:off x="413" y="3470"/>
              <a:ext cx="226" cy="324"/>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Line 65"/>
            <p:cNvSpPr>
              <a:spLocks noChangeShapeType="1"/>
            </p:cNvSpPr>
            <p:nvPr/>
          </p:nvSpPr>
          <p:spPr bwMode="auto">
            <a:xfrm flipH="1" flipV="1">
              <a:off x="857" y="3410"/>
              <a:ext cx="595" cy="456"/>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Line 66"/>
            <p:cNvSpPr>
              <a:spLocks noChangeShapeType="1"/>
            </p:cNvSpPr>
            <p:nvPr/>
          </p:nvSpPr>
          <p:spPr bwMode="auto">
            <a:xfrm>
              <a:off x="735" y="2555"/>
              <a:ext cx="16" cy="46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Line 67"/>
            <p:cNvSpPr>
              <a:spLocks noChangeShapeType="1"/>
            </p:cNvSpPr>
            <p:nvPr/>
          </p:nvSpPr>
          <p:spPr bwMode="auto">
            <a:xfrm flipH="1">
              <a:off x="829" y="3011"/>
              <a:ext cx="473" cy="181"/>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Line 68"/>
            <p:cNvSpPr>
              <a:spLocks noChangeShapeType="1"/>
            </p:cNvSpPr>
            <p:nvPr/>
          </p:nvSpPr>
          <p:spPr bwMode="auto">
            <a:xfrm>
              <a:off x="-262" y="3083"/>
              <a:ext cx="879" cy="111"/>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Line 69"/>
            <p:cNvSpPr>
              <a:spLocks noChangeShapeType="1"/>
            </p:cNvSpPr>
            <p:nvPr/>
          </p:nvSpPr>
          <p:spPr bwMode="auto">
            <a:xfrm flipV="1">
              <a:off x="-201" y="3362"/>
              <a:ext cx="800" cy="649"/>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Line 70"/>
            <p:cNvSpPr>
              <a:spLocks noChangeShapeType="1"/>
            </p:cNvSpPr>
            <p:nvPr/>
          </p:nvSpPr>
          <p:spPr bwMode="auto">
            <a:xfrm flipH="1">
              <a:off x="852" y="2623"/>
              <a:ext cx="352" cy="398"/>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Line 71"/>
            <p:cNvSpPr>
              <a:spLocks noChangeShapeType="1"/>
            </p:cNvSpPr>
            <p:nvPr/>
          </p:nvSpPr>
          <p:spPr bwMode="auto">
            <a:xfrm flipV="1">
              <a:off x="494" y="3582"/>
              <a:ext cx="198" cy="658"/>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Line 72"/>
            <p:cNvSpPr>
              <a:spLocks noChangeShapeType="1"/>
            </p:cNvSpPr>
            <p:nvPr/>
          </p:nvSpPr>
          <p:spPr bwMode="auto">
            <a:xfrm>
              <a:off x="162" y="2738"/>
              <a:ext cx="416" cy="258"/>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0" name="Group 113"/>
          <p:cNvGrpSpPr/>
          <p:nvPr/>
        </p:nvGrpSpPr>
        <p:grpSpPr bwMode="auto">
          <a:xfrm flipH="1">
            <a:off x="9686234" y="2536821"/>
            <a:ext cx="735012" cy="681037"/>
            <a:chOff x="-44" y="1473"/>
            <a:chExt cx="981" cy="1105"/>
          </a:xfrm>
        </p:grpSpPr>
        <p:pic>
          <p:nvPicPr>
            <p:cNvPr id="61" name="Picture 114"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15"/>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 name="Group 116"/>
          <p:cNvGrpSpPr/>
          <p:nvPr/>
        </p:nvGrpSpPr>
        <p:grpSpPr bwMode="auto">
          <a:xfrm flipH="1">
            <a:off x="9973571" y="3373433"/>
            <a:ext cx="735013" cy="681038"/>
            <a:chOff x="-44" y="1473"/>
            <a:chExt cx="981" cy="1105"/>
          </a:xfrm>
        </p:grpSpPr>
        <p:pic>
          <p:nvPicPr>
            <p:cNvPr id="64" name="Picture 117"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Freeform 118"/>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6" name="Group 119"/>
          <p:cNvGrpSpPr/>
          <p:nvPr/>
        </p:nvGrpSpPr>
        <p:grpSpPr bwMode="auto">
          <a:xfrm flipH="1">
            <a:off x="10032309" y="4075108"/>
            <a:ext cx="735012" cy="681038"/>
            <a:chOff x="-44" y="1473"/>
            <a:chExt cx="981" cy="1105"/>
          </a:xfrm>
        </p:grpSpPr>
        <p:pic>
          <p:nvPicPr>
            <p:cNvPr id="67" name="Picture 120"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Freeform 121"/>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9" name="Group 122"/>
          <p:cNvGrpSpPr/>
          <p:nvPr/>
        </p:nvGrpSpPr>
        <p:grpSpPr bwMode="auto">
          <a:xfrm flipH="1">
            <a:off x="10068821" y="4856158"/>
            <a:ext cx="735013" cy="681038"/>
            <a:chOff x="-44" y="1473"/>
            <a:chExt cx="981" cy="1105"/>
          </a:xfrm>
        </p:grpSpPr>
        <p:pic>
          <p:nvPicPr>
            <p:cNvPr id="70" name="Picture 123"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Freeform 124"/>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2" name="Group 125"/>
          <p:cNvGrpSpPr/>
          <p:nvPr/>
        </p:nvGrpSpPr>
        <p:grpSpPr bwMode="auto">
          <a:xfrm flipH="1">
            <a:off x="8724209" y="2665408"/>
            <a:ext cx="735012" cy="681038"/>
            <a:chOff x="-44" y="1473"/>
            <a:chExt cx="981" cy="1105"/>
          </a:xfrm>
        </p:grpSpPr>
        <p:pic>
          <p:nvPicPr>
            <p:cNvPr id="73" name="Picture 126"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Freeform 127"/>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5" name="Group 128"/>
          <p:cNvGrpSpPr/>
          <p:nvPr/>
        </p:nvGrpSpPr>
        <p:grpSpPr bwMode="auto">
          <a:xfrm flipH="1">
            <a:off x="7719321" y="2727321"/>
            <a:ext cx="735013" cy="681037"/>
            <a:chOff x="-44" y="1473"/>
            <a:chExt cx="981" cy="1105"/>
          </a:xfrm>
        </p:grpSpPr>
        <p:pic>
          <p:nvPicPr>
            <p:cNvPr id="76" name="Picture 129"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Freeform 130"/>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8" name="Group 134"/>
          <p:cNvGrpSpPr/>
          <p:nvPr/>
        </p:nvGrpSpPr>
        <p:grpSpPr bwMode="auto">
          <a:xfrm flipH="1">
            <a:off x="7003359" y="3432171"/>
            <a:ext cx="735012" cy="681037"/>
            <a:chOff x="-44" y="1473"/>
            <a:chExt cx="981" cy="1105"/>
          </a:xfrm>
        </p:grpSpPr>
        <p:pic>
          <p:nvPicPr>
            <p:cNvPr id="79" name="Picture 135"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Freeform 136"/>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1" name="Group 137"/>
          <p:cNvGrpSpPr/>
          <p:nvPr/>
        </p:nvGrpSpPr>
        <p:grpSpPr bwMode="auto">
          <a:xfrm flipH="1">
            <a:off x="7635184" y="4167183"/>
            <a:ext cx="735012" cy="681038"/>
            <a:chOff x="-44" y="1473"/>
            <a:chExt cx="981" cy="1105"/>
          </a:xfrm>
        </p:grpSpPr>
        <p:pic>
          <p:nvPicPr>
            <p:cNvPr id="82" name="Picture 138"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Freeform 139"/>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4" name="Group 140"/>
          <p:cNvGrpSpPr/>
          <p:nvPr/>
        </p:nvGrpSpPr>
        <p:grpSpPr bwMode="auto">
          <a:xfrm flipH="1">
            <a:off x="8165409" y="4776783"/>
            <a:ext cx="735012" cy="681038"/>
            <a:chOff x="-44" y="1473"/>
            <a:chExt cx="981" cy="1105"/>
          </a:xfrm>
        </p:grpSpPr>
        <p:pic>
          <p:nvPicPr>
            <p:cNvPr id="85" name="Picture 141"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Freeform 142"/>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7" name="Group 143"/>
          <p:cNvGrpSpPr/>
          <p:nvPr/>
        </p:nvGrpSpPr>
        <p:grpSpPr bwMode="auto">
          <a:xfrm flipH="1">
            <a:off x="7243071" y="5067296"/>
            <a:ext cx="735013" cy="681037"/>
            <a:chOff x="-44" y="1473"/>
            <a:chExt cx="981" cy="1105"/>
          </a:xfrm>
        </p:grpSpPr>
        <p:pic>
          <p:nvPicPr>
            <p:cNvPr id="88" name="Picture 144"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Freeform 145"/>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0" name="Group 146"/>
          <p:cNvGrpSpPr/>
          <p:nvPr/>
        </p:nvGrpSpPr>
        <p:grpSpPr bwMode="auto">
          <a:xfrm flipH="1">
            <a:off x="8435284" y="5573708"/>
            <a:ext cx="735012" cy="681038"/>
            <a:chOff x="-44" y="1473"/>
            <a:chExt cx="981" cy="1105"/>
          </a:xfrm>
        </p:grpSpPr>
        <p:pic>
          <p:nvPicPr>
            <p:cNvPr id="91" name="Picture 147"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 name="Freeform 148"/>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3" name="Group 149"/>
          <p:cNvGrpSpPr/>
          <p:nvPr/>
        </p:nvGrpSpPr>
        <p:grpSpPr bwMode="auto">
          <a:xfrm flipH="1">
            <a:off x="9179821" y="5184771"/>
            <a:ext cx="735013" cy="681037"/>
            <a:chOff x="-44" y="1473"/>
            <a:chExt cx="981" cy="1105"/>
          </a:xfrm>
        </p:grpSpPr>
        <p:pic>
          <p:nvPicPr>
            <p:cNvPr id="94" name="Picture 150"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Freeform 151"/>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6" name="Group 89"/>
          <p:cNvGrpSpPr/>
          <p:nvPr/>
        </p:nvGrpSpPr>
        <p:grpSpPr bwMode="auto">
          <a:xfrm>
            <a:off x="7028759" y="2605083"/>
            <a:ext cx="3525837" cy="3408363"/>
            <a:chOff x="2920" y="1824"/>
            <a:chExt cx="2221" cy="2147"/>
          </a:xfrm>
        </p:grpSpPr>
        <p:pic>
          <p:nvPicPr>
            <p:cNvPr id="97" name="Picture 7"/>
            <p:cNvPicPr>
              <a:picLocks noChangeAspect="1" noChangeArrowheads="1"/>
            </p:cNvPicPr>
            <p:nvPr/>
          </p:nvPicPr>
          <p:blipFill>
            <a:blip r:embed="rId2" cstate="print"/>
            <a:srcRect/>
            <a:stretch>
              <a:fillRect/>
            </a:stretch>
          </p:blipFill>
          <p:spPr bwMode="auto">
            <a:xfrm>
              <a:off x="3967" y="192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98" name="Picture 54"/>
            <p:cNvPicPr>
              <a:picLocks noChangeAspect="1" noChangeArrowheads="1"/>
            </p:cNvPicPr>
            <p:nvPr/>
          </p:nvPicPr>
          <p:blipFill>
            <a:blip r:embed="rId2" cstate="print"/>
            <a:srcRect/>
            <a:stretch>
              <a:fillRect/>
            </a:stretch>
          </p:blipFill>
          <p:spPr bwMode="auto">
            <a:xfrm>
              <a:off x="3321" y="192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99" name="Picture 55"/>
            <p:cNvPicPr>
              <a:picLocks noChangeAspect="1" noChangeArrowheads="1"/>
            </p:cNvPicPr>
            <p:nvPr/>
          </p:nvPicPr>
          <p:blipFill>
            <a:blip r:embed="rId2" cstate="print"/>
            <a:srcRect/>
            <a:stretch>
              <a:fillRect/>
            </a:stretch>
          </p:blipFill>
          <p:spPr bwMode="auto">
            <a:xfrm>
              <a:off x="2920" y="2376"/>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0" name="Picture 56"/>
            <p:cNvPicPr>
              <a:picLocks noChangeAspect="1" noChangeArrowheads="1"/>
            </p:cNvPicPr>
            <p:nvPr/>
          </p:nvPicPr>
          <p:blipFill>
            <a:blip r:embed="rId2" cstate="print"/>
            <a:srcRect/>
            <a:stretch>
              <a:fillRect/>
            </a:stretch>
          </p:blipFill>
          <p:spPr bwMode="auto">
            <a:xfrm>
              <a:off x="3270" y="2803"/>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1" name="Picture 57"/>
            <p:cNvPicPr>
              <a:picLocks noChangeAspect="1" noChangeArrowheads="1"/>
            </p:cNvPicPr>
            <p:nvPr/>
          </p:nvPicPr>
          <p:blipFill>
            <a:blip r:embed="rId2" cstate="print"/>
            <a:srcRect/>
            <a:stretch>
              <a:fillRect/>
            </a:stretch>
          </p:blipFill>
          <p:spPr bwMode="auto">
            <a:xfrm>
              <a:off x="3620" y="3230"/>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2" name="Picture 58"/>
            <p:cNvPicPr>
              <a:picLocks noChangeAspect="1" noChangeArrowheads="1"/>
            </p:cNvPicPr>
            <p:nvPr/>
          </p:nvPicPr>
          <p:blipFill>
            <a:blip r:embed="rId2" cstate="print"/>
            <a:srcRect/>
            <a:stretch>
              <a:fillRect/>
            </a:stretch>
          </p:blipFill>
          <p:spPr bwMode="auto">
            <a:xfrm>
              <a:off x="3787" y="369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3" name="Picture 59"/>
            <p:cNvPicPr>
              <a:picLocks noChangeAspect="1" noChangeArrowheads="1"/>
            </p:cNvPicPr>
            <p:nvPr/>
          </p:nvPicPr>
          <p:blipFill>
            <a:blip r:embed="rId2" cstate="print"/>
            <a:srcRect/>
            <a:stretch>
              <a:fillRect/>
            </a:stretch>
          </p:blipFill>
          <p:spPr bwMode="auto">
            <a:xfrm>
              <a:off x="4844" y="3308"/>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4" name="Picture 60"/>
            <p:cNvPicPr>
              <a:picLocks noChangeAspect="1" noChangeArrowheads="1"/>
            </p:cNvPicPr>
            <p:nvPr/>
          </p:nvPicPr>
          <p:blipFill>
            <a:blip r:embed="rId2" cstate="print"/>
            <a:srcRect/>
            <a:stretch>
              <a:fillRect/>
            </a:stretch>
          </p:blipFill>
          <p:spPr bwMode="auto">
            <a:xfrm>
              <a:off x="4758" y="2339"/>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5" name="Picture 61"/>
            <p:cNvPicPr>
              <a:picLocks noChangeAspect="1" noChangeArrowheads="1"/>
            </p:cNvPicPr>
            <p:nvPr/>
          </p:nvPicPr>
          <p:blipFill>
            <a:blip r:embed="rId2" cstate="print"/>
            <a:srcRect/>
            <a:stretch>
              <a:fillRect/>
            </a:stretch>
          </p:blipFill>
          <p:spPr bwMode="auto">
            <a:xfrm>
              <a:off x="3014" y="3395"/>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6" name="Picture 62"/>
            <p:cNvPicPr>
              <a:picLocks noChangeAspect="1" noChangeArrowheads="1"/>
            </p:cNvPicPr>
            <p:nvPr/>
          </p:nvPicPr>
          <p:blipFill>
            <a:blip r:embed="rId2" cstate="print"/>
            <a:srcRect/>
            <a:stretch>
              <a:fillRect/>
            </a:stretch>
          </p:blipFill>
          <p:spPr bwMode="auto">
            <a:xfrm>
              <a:off x="4552" y="1824"/>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sp>
        <p:nvSpPr>
          <p:cNvPr id="3" name="标题 2"/>
          <p:cNvSpPr>
            <a:spLocks noGrp="1"/>
          </p:cNvSpPr>
          <p:nvPr>
            <p:ph type="title"/>
          </p:nvPr>
        </p:nvSpPr>
        <p:spPr/>
        <p:txBody>
          <a:bodyPr>
            <a:noAutofit/>
          </a:bodyPr>
          <a:lstStyle/>
          <a:p>
            <a:r>
              <a:rPr lang="zh-CN" altLang="en-US" sz="3600" dirty="0"/>
              <a:t>拒绝服务攻击</a:t>
            </a:r>
            <a:r>
              <a:rPr lang="en-US" altLang="zh-CN" sz="2400" dirty="0"/>
              <a:t>(Denial-of-Service (DoS) attack)</a:t>
            </a:r>
            <a:endParaRPr lang="en-US" altLang="zh-CN" sz="2400" dirty="0"/>
          </a:p>
        </p:txBody>
      </p:sp>
      <p:sp>
        <p:nvSpPr>
          <p:cNvPr id="4" name="内容占位符 3"/>
          <p:cNvSpPr>
            <a:spLocks noGrp="1"/>
          </p:cNvSpPr>
          <p:nvPr>
            <p:ph idx="1"/>
          </p:nvPr>
        </p:nvSpPr>
        <p:spPr>
          <a:xfrm>
            <a:off x="918787" y="1499771"/>
            <a:ext cx="10515600" cy="1519645"/>
          </a:xfrm>
        </p:spPr>
        <p:txBody>
          <a:bodyPr/>
          <a:lstStyle/>
          <a:p>
            <a:r>
              <a:rPr lang="zh-CN" altLang="en-US" dirty="0"/>
              <a:t>拒绝服务攻击</a:t>
            </a:r>
            <a:endParaRPr lang="zh-CN" altLang="en-US" dirty="0"/>
          </a:p>
          <a:p>
            <a:pPr lvl="1"/>
            <a:r>
              <a:rPr lang="zh-CN" altLang="en-US" dirty="0"/>
              <a:t>攻击者通过制造大量虚假流量占用资源</a:t>
            </a:r>
            <a:endParaRPr lang="en-US" altLang="zh-CN" dirty="0"/>
          </a:p>
          <a:p>
            <a:pPr lvl="1"/>
            <a:r>
              <a:rPr lang="zh-CN" altLang="en-US" dirty="0"/>
              <a:t>使合法流量无法使用资源</a:t>
            </a:r>
            <a:r>
              <a:rPr lang="en-US" altLang="zh-CN" dirty="0"/>
              <a:t>(</a:t>
            </a:r>
            <a:r>
              <a:rPr lang="zh-CN" altLang="en-US" dirty="0"/>
              <a:t>服务、带宽</a:t>
            </a:r>
            <a:r>
              <a:rPr lang="en-US" altLang="zh-CN" dirty="0"/>
              <a:t>)</a:t>
            </a:r>
            <a:endParaRPr lang="en-US" altLang="zh-CN" dirty="0"/>
          </a:p>
          <a:p>
            <a:endParaRPr lang="zh-CN" altLang="en-US" dirty="0"/>
          </a:p>
        </p:txBody>
      </p:sp>
      <p:sp>
        <p:nvSpPr>
          <p:cNvPr id="2" name="灯片编号占位符 1"/>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
        <p:nvSpPr>
          <p:cNvPr id="108" name="文本框 10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7"/>
                                        </p:tgtEl>
                                        <p:attrNameLst>
                                          <p:attrName>style.visibility</p:attrName>
                                        </p:attrNameLst>
                                      </p:cBhvr>
                                      <p:to>
                                        <p:strVal val="visible"/>
                                      </p:to>
                                    </p:set>
                                  </p:childTnLst>
                                </p:cTn>
                              </p:par>
                              <p:par>
                                <p:cTn id="13" presetID="9" presetClass="entr" presetSubtype="0" fill="hold" nodeType="withEffect">
                                  <p:stCondLst>
                                    <p:cond delay="0"/>
                                  </p:stCondLst>
                                  <p:childTnLst>
                                    <p:set>
                                      <p:cBhvr>
                                        <p:cTn id="14" dur="1" fill="hold">
                                          <p:stCondLst>
                                            <p:cond delay="0"/>
                                          </p:stCondLst>
                                        </p:cTn>
                                        <p:tgtEl>
                                          <p:spTgt spid="96"/>
                                        </p:tgtEl>
                                        <p:attrNameLst>
                                          <p:attrName>style.visibility</p:attrName>
                                        </p:attrNameLst>
                                      </p:cBhvr>
                                      <p:to>
                                        <p:strVal val="visible"/>
                                      </p:to>
                                    </p:set>
                                    <p:animEffect transition="in" filter="dissolve">
                                      <p:cBhvr>
                                        <p:cTn id="15" dur="500"/>
                                        <p:tgtEl>
                                          <p:spTgt spid="9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8"/>
                                        </p:tgtEl>
                                        <p:attrNameLst>
                                          <p:attrName>style.visibility</p:attrName>
                                        </p:attrNameLst>
                                      </p:cBhvr>
                                      <p:to>
                                        <p:strVal val="visible"/>
                                      </p:to>
                                    </p:set>
                                  </p:childTnLst>
                                </p:cTn>
                              </p:par>
                            </p:childTnLst>
                          </p:cTn>
                        </p:par>
                        <p:par>
                          <p:cTn id="20" fill="hold">
                            <p:stCondLst>
                              <p:cond delay="500"/>
                            </p:stCondLst>
                            <p:childTnLst>
                              <p:par>
                                <p:cTn id="21" presetID="9"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utoUpdateAnimBg="0" build="p"/>
      <p:bldP spid="47" grpId="0" autoUpdateAnimBg="0"/>
      <p:bldP spid="48"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亚马逊又双</a:t>
            </a:r>
            <a:r>
              <a:rPr kumimoji="1" lang="zh-CN" altLang="en-US" b="1" dirty="0">
                <a:sym typeface="+mn-ea"/>
              </a:rPr>
              <a:t>叒叕</a:t>
            </a:r>
            <a:r>
              <a:rPr kumimoji="1" lang="zh-CN" altLang="en-US" dirty="0">
                <a:sym typeface="+mn-ea"/>
              </a:rPr>
              <a:t>宕机了！</a:t>
            </a:r>
            <a:endParaRPr kumimoji="1" lang="zh-CN" altLang="en-US" dirty="0">
              <a:sym typeface="+mn-ea"/>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6" name="图片 5" descr="亚马逊"/>
          <p:cNvPicPr>
            <a:picLocks noChangeAspect="1"/>
          </p:cNvPicPr>
          <p:nvPr/>
        </p:nvPicPr>
        <p:blipFill>
          <a:blip r:embed="rId1"/>
          <a:srcRect/>
          <a:stretch>
            <a:fillRect/>
          </a:stretch>
        </p:blipFill>
        <p:spPr>
          <a:xfrm>
            <a:off x="1099185" y="2530475"/>
            <a:ext cx="4229100" cy="2018665"/>
          </a:xfrm>
          <a:prstGeom prst="rect">
            <a:avLst/>
          </a:prstGeom>
        </p:spPr>
      </p:pic>
      <p:pic>
        <p:nvPicPr>
          <p:cNvPr id="9" name="图片 8" descr="1"/>
          <p:cNvPicPr>
            <a:picLocks noChangeAspect="1"/>
          </p:cNvPicPr>
          <p:nvPr/>
        </p:nvPicPr>
        <p:blipFill>
          <a:blip r:embed="rId2"/>
          <a:stretch>
            <a:fillRect/>
          </a:stretch>
        </p:blipFill>
        <p:spPr>
          <a:xfrm>
            <a:off x="6266180" y="1887855"/>
            <a:ext cx="3907790" cy="1414145"/>
          </a:xfrm>
          <a:prstGeom prst="rect">
            <a:avLst/>
          </a:prstGeom>
        </p:spPr>
      </p:pic>
      <p:pic>
        <p:nvPicPr>
          <p:cNvPr id="10" name="图片 9" descr="2"/>
          <p:cNvPicPr>
            <a:picLocks noChangeAspect="1"/>
          </p:cNvPicPr>
          <p:nvPr/>
        </p:nvPicPr>
        <p:blipFill>
          <a:blip r:embed="rId3"/>
          <a:stretch>
            <a:fillRect/>
          </a:stretch>
        </p:blipFill>
        <p:spPr>
          <a:xfrm>
            <a:off x="7778115" y="1887855"/>
            <a:ext cx="3907790" cy="1938655"/>
          </a:xfrm>
          <a:prstGeom prst="rect">
            <a:avLst/>
          </a:prstGeom>
        </p:spPr>
      </p:pic>
      <p:pic>
        <p:nvPicPr>
          <p:cNvPr id="8" name="图片 7" descr="3"/>
          <p:cNvPicPr>
            <a:picLocks noChangeAspect="1"/>
          </p:cNvPicPr>
          <p:nvPr/>
        </p:nvPicPr>
        <p:blipFill>
          <a:blip r:embed="rId4"/>
          <a:stretch>
            <a:fillRect/>
          </a:stretch>
        </p:blipFill>
        <p:spPr>
          <a:xfrm>
            <a:off x="6266180" y="2887980"/>
            <a:ext cx="3907790" cy="1798320"/>
          </a:xfrm>
          <a:prstGeom prst="rect">
            <a:avLst/>
          </a:prstGeom>
        </p:spPr>
      </p:pic>
      <p:pic>
        <p:nvPicPr>
          <p:cNvPr id="11" name="图片 10" descr="4"/>
          <p:cNvPicPr>
            <a:picLocks noChangeAspect="1"/>
          </p:cNvPicPr>
          <p:nvPr/>
        </p:nvPicPr>
        <p:blipFill>
          <a:blip r:embed="rId5"/>
          <a:stretch>
            <a:fillRect/>
          </a:stretch>
        </p:blipFill>
        <p:spPr>
          <a:xfrm>
            <a:off x="7279640" y="2610485"/>
            <a:ext cx="3907790" cy="1938655"/>
          </a:xfrm>
          <a:prstGeom prst="rect">
            <a:avLst/>
          </a:prstGeom>
        </p:spPr>
      </p:pic>
      <p:sp>
        <p:nvSpPr>
          <p:cNvPr id="12" name="文本框 11"/>
          <p:cNvSpPr txBox="1"/>
          <p:nvPr/>
        </p:nvSpPr>
        <p:spPr>
          <a:xfrm>
            <a:off x="922020" y="4686300"/>
            <a:ext cx="10431780" cy="1515223"/>
          </a:xfrm>
          <a:prstGeom prst="rect">
            <a:avLst/>
          </a:prstGeom>
          <a:noFill/>
        </p:spPr>
        <p:txBody>
          <a:bodyPr wrap="square" rtlCol="0">
            <a:spAutoFit/>
          </a:bodyPr>
          <a:lstStyle/>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僵尸网络 （Botnet）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：采用一种或多种传播手段，将大量主机感染bot程序（僵尸程序）病毒，从而在控制者和被感染主机之间所形成的一个可一对多控制的网络</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lvl="0" indent="-457200">
              <a:lnSpc>
                <a:spcPct val="150000"/>
              </a:lnSpc>
              <a:buFont typeface="Wingdings" panose="05000000000000000000" pitchFamily="2" charset="2"/>
              <a:buChar char="Ø"/>
              <a:defRPr/>
            </a:pPr>
            <a:r>
              <a:rPr lang="zh-CN"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分布式</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DoS</a:t>
            </a:r>
            <a:r>
              <a:rPr lang="zh-CN"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攻击的发起者，往往通过僵尸网络发起攻击，从而躲避追查</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nvSpPr>
        <p:spPr>
          <a:xfrm>
            <a:off x="1497175" y="1594088"/>
            <a:ext cx="3433119" cy="830997"/>
          </a:xfrm>
          <a:prstGeom prst="rect">
            <a:avLst/>
          </a:prstGeom>
          <a:ln>
            <a:solidFill>
              <a:srgbClr val="C00000"/>
            </a:solidFill>
          </a:ln>
        </p:spPr>
        <p:txBody>
          <a:bodyPr wrap="none">
            <a:spAutoFit/>
          </a:bodyPr>
          <a:lstStyle/>
          <a:p>
            <a:pPr algn="ctr"/>
            <a:r>
              <a:rPr lang="zh-CN" altLang="en-US" sz="2400" dirty="0">
                <a:latin typeface="微软雅黑" panose="020B0503020204020204" pitchFamily="34" charset="-122"/>
                <a:ea typeface="微软雅黑" panose="020B0503020204020204" pitchFamily="34" charset="-122"/>
              </a:rPr>
              <a:t>亚马逊云服务</a:t>
            </a:r>
            <a:r>
              <a:rPr lang="en-US" altLang="zh-CN" sz="2400" dirty="0">
                <a:latin typeface="微软雅黑" panose="020B0503020204020204" pitchFamily="34" charset="-122"/>
                <a:ea typeface="微软雅黑" panose="020B0503020204020204" pitchFamily="34" charset="-122"/>
              </a:rPr>
              <a:t>AWS</a:t>
            </a:r>
            <a:r>
              <a:rPr lang="zh-CN" altLang="en-US" sz="2400" dirty="0">
                <a:latin typeface="微软雅黑" panose="020B0503020204020204" pitchFamily="34" charset="-122"/>
                <a:ea typeface="微软雅黑" panose="020B0503020204020204" pitchFamily="34" charset="-122"/>
              </a:rPr>
              <a:t>宕机 </a:t>
            </a:r>
            <a:br>
              <a:rPr lang="en-US" altLang="zh-CN"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大半个互联网都快挂了</a:t>
            </a:r>
            <a:endParaRPr lang="zh-CN" altLang="en-US" sz="24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你的密码是怎么泄露的？</a:t>
            </a:r>
            <a:endParaRPr lang="zh-CN" altLang="en-US" dirty="0"/>
          </a:p>
        </p:txBody>
      </p:sp>
      <p:sp>
        <p:nvSpPr>
          <p:cNvPr id="9" name="内容占位符 8"/>
          <p:cNvSpPr>
            <a:spLocks noGrp="1"/>
          </p:cNvSpPr>
          <p:nvPr>
            <p:ph idx="1"/>
          </p:nvPr>
        </p:nvSpPr>
        <p:spPr>
          <a:xfrm>
            <a:off x="535792" y="2980654"/>
            <a:ext cx="3934949" cy="2954020"/>
          </a:xfrm>
        </p:spPr>
        <p:txBody>
          <a:bodyPr>
            <a:normAutofit/>
          </a:bodyPr>
          <a:lstStyle/>
          <a:p>
            <a:pPr marL="285750" lvl="0" indent="-285750">
              <a:lnSpc>
                <a:spcPct val="130000"/>
              </a:lnSpc>
              <a:buFont typeface="Wingdings" panose="05000000000000000000" charset="0"/>
              <a:buChar char="Ø"/>
              <a:defRPr/>
            </a:pPr>
            <a:r>
              <a:rPr lang="zh-CN" altLang="en-US" sz="2200" dirty="0">
                <a:solidFill>
                  <a:prstClr val="black"/>
                </a:solidFill>
              </a:rPr>
              <a:t>拖库：盗走用户资料</a:t>
            </a:r>
            <a:endParaRPr lang="en-US" altLang="zh-CN" sz="2200" dirty="0">
              <a:solidFill>
                <a:prstClr val="black"/>
              </a:solidFill>
            </a:endParaRPr>
          </a:p>
          <a:p>
            <a:pPr marL="285750" lvl="0" indent="-285750">
              <a:lnSpc>
                <a:spcPct val="130000"/>
              </a:lnSpc>
              <a:buFont typeface="Wingdings" panose="05000000000000000000" charset="0"/>
              <a:buChar char="Ø"/>
              <a:defRPr/>
            </a:pPr>
            <a:r>
              <a:rPr lang="zh-CN" altLang="en-US" sz="2200" dirty="0">
                <a:solidFill>
                  <a:prstClr val="black"/>
                </a:solidFill>
              </a:rPr>
              <a:t>洗库：</a:t>
            </a:r>
            <a:r>
              <a:rPr lang="zh-CN" altLang="en-US" sz="2200" dirty="0"/>
              <a:t>黑产用户数据变现</a:t>
            </a:r>
            <a:endParaRPr lang="en-US" altLang="zh-CN" sz="2200" dirty="0"/>
          </a:p>
          <a:p>
            <a:pPr marL="285750" indent="-285750">
              <a:lnSpc>
                <a:spcPct val="130000"/>
              </a:lnSpc>
              <a:buFont typeface="Wingdings" panose="05000000000000000000" charset="0"/>
              <a:buChar char="Ø"/>
              <a:defRPr/>
            </a:pPr>
            <a:r>
              <a:rPr lang="zh-CN" altLang="en-US" sz="2200" dirty="0">
                <a:solidFill>
                  <a:prstClr val="black"/>
                </a:solidFill>
              </a:rPr>
              <a:t>撞库：在其他网站“撞大运”</a:t>
            </a:r>
            <a:endParaRPr lang="zh-CN" altLang="en-US" sz="2200" dirty="0">
              <a:solidFill>
                <a:prstClr val="black"/>
              </a:solidFill>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 name="矩形 5"/>
          <p:cNvSpPr/>
          <p:nvPr/>
        </p:nvSpPr>
        <p:spPr>
          <a:xfrm>
            <a:off x="1848877" y="4899968"/>
            <a:ext cx="2621864" cy="954107"/>
          </a:xfrm>
          <a:prstGeom prst="rect">
            <a:avLst/>
          </a:prstGeom>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抖音千万级账号遭撞库攻击</a:t>
            </a:r>
            <a:endPar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10" name="内容占位符 19" descr="截屏2021-01-27 上午11.02.02"/>
          <p:cNvPicPr>
            <a:picLocks noChangeAspect="1"/>
          </p:cNvPicPr>
          <p:nvPr/>
        </p:nvPicPr>
        <p:blipFill>
          <a:blip r:embed="rId1" cstate="print"/>
          <a:stretch>
            <a:fillRect/>
          </a:stretch>
        </p:blipFill>
        <p:spPr>
          <a:xfrm>
            <a:off x="4379086" y="1600154"/>
            <a:ext cx="7565674" cy="4586694"/>
          </a:xfrm>
          <a:prstGeom prst="rect">
            <a:avLst/>
          </a:prstGeom>
        </p:spPr>
      </p:pic>
      <p:pic>
        <p:nvPicPr>
          <p:cNvPr id="2050" name="Picture 2"/>
          <p:cNvPicPr>
            <a:picLocks noChangeAspect="1" noChangeArrowheads="1"/>
          </p:cNvPicPr>
          <p:nvPr/>
        </p:nvPicPr>
        <p:blipFill>
          <a:blip r:embed="rId2" cstate="print"/>
          <a:srcRect/>
          <a:stretch>
            <a:fillRect/>
          </a:stretch>
        </p:blipFill>
        <p:spPr bwMode="auto">
          <a:xfrm>
            <a:off x="718942" y="4799624"/>
            <a:ext cx="1129935" cy="1154793"/>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3"/>
          <p:cNvSpPr/>
          <p:nvPr/>
        </p:nvSpPr>
        <p:spPr>
          <a:xfrm>
            <a:off x="638980" y="6015272"/>
            <a:ext cx="3647152"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犯罪嫌疑人已被海淀警方刑事拘留</a:t>
            </a: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638980" y="1616784"/>
            <a:ext cx="3469194" cy="1006622"/>
          </a:xfrm>
          <a:prstGeom prst="rect">
            <a:avLst/>
          </a:prstGeom>
          <a:ln>
            <a:solidFill>
              <a:srgbClr val="C00000"/>
            </a:solidFill>
          </a:ln>
        </p:spPr>
        <p:txBody>
          <a:bodyPr wrap="square">
            <a:spAutoFit/>
          </a:bodyPr>
          <a:lstStyle/>
          <a:p>
            <a:pPr marL="342900" lvl="0" indent="-342900">
              <a:lnSpc>
                <a:spcPct val="130000"/>
              </a:lnSpc>
              <a:spcBef>
                <a:spcPts val="600"/>
              </a:spcBef>
              <a:buFont typeface="Arial" panose="020B0604020202020204" pitchFamily="34" charset="0"/>
              <a:buChar char="•"/>
              <a:defRPr/>
            </a:pPr>
            <a:r>
              <a:rPr lang="zh-CN" altLang="en-US" sz="2200" dirty="0">
                <a:solidFill>
                  <a:prstClr val="black"/>
                </a:solidFill>
                <a:latin typeface="微软雅黑" panose="020B0503020204020204" pitchFamily="34" charset="-122"/>
                <a:ea typeface="微软雅黑" panose="020B0503020204020204" pitchFamily="34" charset="-122"/>
              </a:rPr>
              <a:t>你的密码足够复杂吗？</a:t>
            </a:r>
            <a:endParaRPr lang="zh-CN" altLang="en-US" sz="2200" dirty="0">
              <a:solidFill>
                <a:prstClr val="black"/>
              </a:solidFill>
              <a:latin typeface="微软雅黑" panose="020B0503020204020204" pitchFamily="34" charset="-122"/>
              <a:ea typeface="微软雅黑" panose="020B0503020204020204" pitchFamily="34" charset="-122"/>
            </a:endParaRPr>
          </a:p>
          <a:p>
            <a:pPr marL="342900" lvl="0" indent="-342900">
              <a:lnSpc>
                <a:spcPct val="130000"/>
              </a:lnSpc>
              <a:spcBef>
                <a:spcPts val="600"/>
              </a:spcBef>
              <a:buFont typeface="Arial" panose="020B0604020202020204" pitchFamily="34" charset="0"/>
              <a:buChar char="•"/>
              <a:defRPr/>
            </a:pPr>
            <a:r>
              <a:rPr lang="zh-CN" altLang="en-US" sz="2200" dirty="0">
                <a:solidFill>
                  <a:prstClr val="black"/>
                </a:solidFill>
                <a:latin typeface="微软雅黑" panose="020B0503020204020204" pitchFamily="34" charset="-122"/>
                <a:ea typeface="微软雅黑" panose="020B0503020204020204" pitchFamily="34" charset="-122"/>
              </a:rPr>
              <a:t>在不同网站上一样么？</a:t>
            </a:r>
            <a:endParaRPr lang="en-US" altLang="zh-CN" sz="22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5"/>
          <p:cNvSpPr txBox="1">
            <a:spLocks noChangeArrowheads="1"/>
          </p:cNvSpPr>
          <p:nvPr/>
        </p:nvSpPr>
        <p:spPr>
          <a:xfrm>
            <a:off x="500421" y="1445629"/>
            <a:ext cx="5796280" cy="2084705"/>
          </a:xfrm>
          <a:prstGeom prst="rect">
            <a:avLst/>
          </a:prstGeom>
        </p:spPr>
        <p:txBody>
          <a:bodyPr vert="horz" lIns="91440" tIns="45720" rIns="91440" bIns="45720" rtlCol="0">
            <a:normAutofit fontScale="87500"/>
          </a:bodyPr>
          <a:lstStyle>
            <a:lvl1pPr marL="352425" indent="-222250" algn="l" defTabSz="914400" rtl="0" eaLnBrk="1" latinLnBrk="0" hangingPunct="1">
              <a:lnSpc>
                <a:spcPct val="90000"/>
              </a:lnSpc>
              <a:spcBef>
                <a:spcPts val="1000"/>
              </a:spcBef>
              <a:buClr>
                <a:srgbClr val="0000A3"/>
              </a:buClr>
              <a:buFont typeface="Wingdings" panose="05000000000000000000" pitchFamily="2" charset="2"/>
              <a:buChar char="§"/>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755" marR="0" lvl="0" indent="-322580" algn="l" defTabSz="914400" rtl="0" eaLnBrk="1" fontAlgn="auto" latinLnBrk="0" hangingPunct="1">
              <a:lnSpc>
                <a:spcPct val="130000"/>
              </a:lnSpc>
              <a:spcBef>
                <a:spcPts val="600"/>
              </a:spcBef>
              <a:spcAft>
                <a:spcPts val="0"/>
              </a:spcAft>
              <a:buClr>
                <a:srgbClr val="0000A3"/>
              </a:buClr>
              <a:buSzTx/>
              <a:buFont typeface="Wingdings" panose="05000000000000000000" pitchFamily="2" charset="2"/>
              <a:buChar char="Ø"/>
              <a:defRPr/>
            </a:pPr>
            <a:r>
              <a:rPr kumimoji="0" lang="en-US" sz="3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数据包嗅探</a:t>
            </a:r>
            <a:r>
              <a:rPr kumimoji="0" lang="zh-CN" altLang="en-US" sz="3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（packet sniffing）</a:t>
            </a:r>
            <a:r>
              <a:rPr kumimoji="0" lang="en-US" altLang="ja-JP"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kumimoji="0" lang="en-US" altLang="ja-JP" sz="2800" b="0" i="1"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695325" marR="0" lvl="1" indent="-231775" algn="l" defTabSz="914400" rtl="0" eaLnBrk="1" fontAlgn="auto" latinLnBrk="0" hangingPunct="1">
              <a:lnSpc>
                <a:spcPct val="130000"/>
              </a:lnSpc>
              <a:spcBef>
                <a:spcPts val="600"/>
              </a:spcBef>
              <a:spcAft>
                <a:spcPts val="0"/>
              </a:spcAft>
              <a:buClr>
                <a:srgbClr val="0000A8"/>
              </a:buClr>
              <a:buSzTx/>
              <a:buFont typeface="Arial" panose="020B0604020202020204" pitchFamily="34" charset="0"/>
              <a:buChar char="•"/>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广播传输（共享式以太网、无线网） </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695325" marR="0" lvl="1" indent="-231775" algn="l" defTabSz="914400" rtl="0" eaLnBrk="1" fontAlgn="auto" latinLnBrk="0" hangingPunct="1">
              <a:lnSpc>
                <a:spcPct val="130000"/>
              </a:lnSpc>
              <a:spcBef>
                <a:spcPts val="600"/>
              </a:spcBef>
              <a:spcAft>
                <a:spcPts val="0"/>
              </a:spcAft>
              <a:buClr>
                <a:srgbClr val="0000A8"/>
              </a:buClr>
              <a:buSzTx/>
              <a:buFont typeface="Arial" panose="020B0604020202020204" pitchFamily="34" charset="0"/>
              <a:buChar char="•"/>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混杂网络接口读取/记录所有数据包 </a:t>
            </a:r>
            <a:endParaRPr kumimoji="0" lang="en-US" altLang="en-US"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5" name="Group 90"/>
          <p:cNvGrpSpPr/>
          <p:nvPr/>
        </p:nvGrpSpPr>
        <p:grpSpPr bwMode="auto">
          <a:xfrm flipH="1">
            <a:off x="9168765" y="1678305"/>
            <a:ext cx="734695" cy="680720"/>
            <a:chOff x="-44" y="1473"/>
            <a:chExt cx="981" cy="1105"/>
          </a:xfrm>
        </p:grpSpPr>
        <p:pic>
          <p:nvPicPr>
            <p:cNvPr id="7" name="Picture 91"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92"/>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 name="Freeform 43"/>
          <p:cNvSpPr/>
          <p:nvPr/>
        </p:nvSpPr>
        <p:spPr bwMode="auto">
          <a:xfrm>
            <a:off x="6663690" y="2413000"/>
            <a:ext cx="4587875" cy="728980"/>
          </a:xfrm>
          <a:custGeom>
            <a:avLst/>
            <a:gdLst>
              <a:gd name="T0" fmla="*/ 2147483647 w 2620"/>
              <a:gd name="T1" fmla="*/ 0 h 459"/>
              <a:gd name="T2" fmla="*/ 0 w 2620"/>
              <a:gd name="T3" fmla="*/ 2147483647 h 459"/>
              <a:gd name="T4" fmla="*/ 2147483647 w 2620"/>
              <a:gd name="T5" fmla="*/ 2147483647 h 459"/>
              <a:gd name="T6" fmla="*/ 2147483647 w 2620"/>
              <a:gd name="T7" fmla="*/ 2147483647 h 459"/>
              <a:gd name="T8" fmla="*/ 0 60000 65536"/>
              <a:gd name="T9" fmla="*/ 0 60000 65536"/>
              <a:gd name="T10" fmla="*/ 0 60000 65536"/>
              <a:gd name="T11" fmla="*/ 0 60000 65536"/>
              <a:gd name="T12" fmla="*/ 0 w 2620"/>
              <a:gd name="T13" fmla="*/ 0 h 459"/>
              <a:gd name="T14" fmla="*/ 2620 w 2620"/>
              <a:gd name="T15" fmla="*/ 459 h 459"/>
            </a:gdLst>
            <a:ahLst/>
            <a:cxnLst>
              <a:cxn ang="T8">
                <a:pos x="T0" y="T1"/>
              </a:cxn>
              <a:cxn ang="T9">
                <a:pos x="T2" y="T3"/>
              </a:cxn>
              <a:cxn ang="T10">
                <a:pos x="T4" y="T5"/>
              </a:cxn>
              <a:cxn ang="T11">
                <a:pos x="T6" y="T7"/>
              </a:cxn>
            </a:cxnLst>
            <a:rect l="T12" t="T13" r="T14" b="T15"/>
            <a:pathLst>
              <a:path w="2620" h="459">
                <a:moveTo>
                  <a:pt x="2" y="0"/>
                </a:moveTo>
                <a:lnTo>
                  <a:pt x="0" y="253"/>
                </a:lnTo>
                <a:lnTo>
                  <a:pt x="2620" y="253"/>
                </a:lnTo>
                <a:lnTo>
                  <a:pt x="2620" y="459"/>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44"/>
          <p:cNvSpPr/>
          <p:nvPr/>
        </p:nvSpPr>
        <p:spPr bwMode="auto">
          <a:xfrm>
            <a:off x="9495790" y="2282825"/>
            <a:ext cx="4445" cy="522605"/>
          </a:xfrm>
          <a:custGeom>
            <a:avLst/>
            <a:gdLst>
              <a:gd name="T0" fmla="*/ 0 w 3"/>
              <a:gd name="T1" fmla="*/ 2147483647 h 329"/>
              <a:gd name="T2" fmla="*/ 2147483647 w 3"/>
              <a:gd name="T3" fmla="*/ 0 h 329"/>
              <a:gd name="T4" fmla="*/ 0 60000 65536"/>
              <a:gd name="T5" fmla="*/ 0 60000 65536"/>
              <a:gd name="T6" fmla="*/ 0 w 3"/>
              <a:gd name="T7" fmla="*/ 0 h 329"/>
              <a:gd name="T8" fmla="*/ 3 w 3"/>
              <a:gd name="T9" fmla="*/ 329 h 329"/>
            </a:gdLst>
            <a:ahLst/>
            <a:cxnLst>
              <a:cxn ang="T4">
                <a:pos x="T0" y="T1"/>
              </a:cxn>
              <a:cxn ang="T5">
                <a:pos x="T2" y="T3"/>
              </a:cxn>
            </a:cxnLst>
            <a:rect l="T6" t="T7" r="T8" b="T9"/>
            <a:pathLst>
              <a:path w="3" h="329">
                <a:moveTo>
                  <a:pt x="0" y="329"/>
                </a:moveTo>
                <a:lnTo>
                  <a:pt x="3" y="0"/>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Line 45"/>
          <p:cNvSpPr>
            <a:spLocks noChangeShapeType="1"/>
          </p:cNvSpPr>
          <p:nvPr/>
        </p:nvSpPr>
        <p:spPr bwMode="auto">
          <a:xfrm flipV="1">
            <a:off x="7838440" y="2805430"/>
            <a:ext cx="0" cy="37465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Line 46"/>
          <p:cNvSpPr>
            <a:spLocks noChangeShapeType="1"/>
          </p:cNvSpPr>
          <p:nvPr/>
        </p:nvSpPr>
        <p:spPr bwMode="auto">
          <a:xfrm flipV="1">
            <a:off x="7857490" y="3516630"/>
            <a:ext cx="0" cy="2413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Box 47"/>
          <p:cNvSpPr txBox="1">
            <a:spLocks noChangeArrowheads="1"/>
          </p:cNvSpPr>
          <p:nvPr/>
        </p:nvSpPr>
        <p:spPr bwMode="auto">
          <a:xfrm>
            <a:off x="6120765" y="17018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A</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 name="Text Box 48"/>
          <p:cNvSpPr txBox="1">
            <a:spLocks noChangeArrowheads="1"/>
          </p:cNvSpPr>
          <p:nvPr/>
        </p:nvSpPr>
        <p:spPr bwMode="auto">
          <a:xfrm>
            <a:off x="11589385" y="3165475"/>
            <a:ext cx="389255" cy="46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B</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5" name="Text Box 49"/>
          <p:cNvSpPr txBox="1">
            <a:spLocks noChangeArrowheads="1"/>
          </p:cNvSpPr>
          <p:nvPr/>
        </p:nvSpPr>
        <p:spPr bwMode="auto">
          <a:xfrm>
            <a:off x="9687560" y="1679575"/>
            <a:ext cx="40513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C</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4" name="Group 3"/>
          <p:cNvGrpSpPr/>
          <p:nvPr/>
        </p:nvGrpSpPr>
        <p:grpSpPr>
          <a:xfrm>
            <a:off x="8460740" y="2284730"/>
            <a:ext cx="2635250" cy="984250"/>
            <a:chOff x="5156078" y="4004689"/>
            <a:chExt cx="2635250" cy="984250"/>
          </a:xfrm>
        </p:grpSpPr>
        <p:grpSp>
          <p:nvGrpSpPr>
            <p:cNvPr id="16" name="Group 50"/>
            <p:cNvGrpSpPr/>
            <p:nvPr/>
          </p:nvGrpSpPr>
          <p:grpSpPr bwMode="auto">
            <a:xfrm>
              <a:off x="5187828" y="4652389"/>
              <a:ext cx="2295525" cy="336550"/>
              <a:chOff x="2418" y="3342"/>
              <a:chExt cx="1446" cy="212"/>
            </a:xfrm>
          </p:grpSpPr>
          <p:sp>
            <p:nvSpPr>
              <p:cNvPr id="18" name="Rectangle 51"/>
              <p:cNvSpPr>
                <a:spLocks noChangeArrowheads="1"/>
              </p:cNvSpPr>
              <p:nvPr/>
            </p:nvSpPr>
            <p:spPr bwMode="auto">
              <a:xfrm>
                <a:off x="2463" y="3366"/>
                <a:ext cx="1356" cy="174"/>
              </a:xfrm>
              <a:prstGeom prst="rect">
                <a:avLst/>
              </a:prstGeom>
              <a:solidFill>
                <a:srgbClr val="FFFFFF"/>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9" name="Line 52"/>
              <p:cNvSpPr>
                <a:spLocks noChangeShapeType="1"/>
              </p:cNvSpPr>
              <p:nvPr/>
            </p:nvSpPr>
            <p:spPr bwMode="auto">
              <a:xfrm>
                <a:off x="2784" y="3372"/>
                <a:ext cx="0" cy="16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ine 53"/>
              <p:cNvSpPr>
                <a:spLocks noChangeShapeType="1"/>
              </p:cNvSpPr>
              <p:nvPr/>
            </p:nvSpPr>
            <p:spPr bwMode="auto">
              <a:xfrm>
                <a:off x="3186" y="3375"/>
                <a:ext cx="0" cy="16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Line 54"/>
              <p:cNvSpPr>
                <a:spLocks noChangeShapeType="1"/>
              </p:cNvSpPr>
              <p:nvPr/>
            </p:nvSpPr>
            <p:spPr bwMode="auto">
              <a:xfrm>
                <a:off x="3321" y="3375"/>
                <a:ext cx="0" cy="16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Box 55"/>
              <p:cNvSpPr txBox="1">
                <a:spLocks noChangeArrowheads="1"/>
              </p:cNvSpPr>
              <p:nvPr/>
            </p:nvSpPr>
            <p:spPr bwMode="auto">
              <a:xfrm>
                <a:off x="2418" y="3342"/>
                <a:ext cx="14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src:B dest:A     payload</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grpSp>
        <p:sp>
          <p:nvSpPr>
            <p:cNvPr id="23" name="Freeform 56"/>
            <p:cNvSpPr/>
            <p:nvPr/>
          </p:nvSpPr>
          <p:spPr bwMode="auto">
            <a:xfrm>
              <a:off x="5156078" y="4607939"/>
              <a:ext cx="2635250" cy="241300"/>
            </a:xfrm>
            <a:custGeom>
              <a:avLst/>
              <a:gdLst>
                <a:gd name="T0" fmla="*/ 2147483647 w 1660"/>
                <a:gd name="T1" fmla="*/ 2147483647 h 152"/>
                <a:gd name="T2" fmla="*/ 2147483647 w 1660"/>
                <a:gd name="T3" fmla="*/ 0 h 152"/>
                <a:gd name="T4" fmla="*/ 0 w 1660"/>
                <a:gd name="T5" fmla="*/ 2147483647 h 152"/>
                <a:gd name="T6" fmla="*/ 0 60000 65536"/>
                <a:gd name="T7" fmla="*/ 0 60000 65536"/>
                <a:gd name="T8" fmla="*/ 0 60000 65536"/>
                <a:gd name="T9" fmla="*/ 0 w 1660"/>
                <a:gd name="T10" fmla="*/ 0 h 152"/>
                <a:gd name="T11" fmla="*/ 1660 w 1660"/>
                <a:gd name="T12" fmla="*/ 152 h 152"/>
              </a:gdLst>
              <a:ahLst/>
              <a:cxnLst>
                <a:cxn ang="T6">
                  <a:pos x="T0" y="T1"/>
                </a:cxn>
                <a:cxn ang="T7">
                  <a:pos x="T2" y="T3"/>
                </a:cxn>
                <a:cxn ang="T8">
                  <a:pos x="T4" y="T5"/>
                </a:cxn>
              </a:cxnLst>
              <a:rect l="T9" t="T10" r="T11" b="T12"/>
              <a:pathLst>
                <a:path w="1660" h="152">
                  <a:moveTo>
                    <a:pt x="1660" y="152"/>
                  </a:moveTo>
                  <a:lnTo>
                    <a:pt x="1660" y="0"/>
                  </a:lnTo>
                  <a:lnTo>
                    <a:pt x="0" y="4"/>
                  </a:lnTo>
                </a:path>
              </a:pathLst>
            </a:custGeom>
            <a:noFill/>
            <a:ln w="28575">
              <a:solidFill>
                <a:srgbClr val="CC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Line 57"/>
            <p:cNvSpPr>
              <a:spLocks noChangeShapeType="1"/>
            </p:cNvSpPr>
            <p:nvPr/>
          </p:nvSpPr>
          <p:spPr bwMode="auto">
            <a:xfrm flipV="1">
              <a:off x="6299078" y="4004689"/>
              <a:ext cx="0" cy="603250"/>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6" name="Picture 60"/>
          <p:cNvPicPr>
            <a:picLocks noChangeAspect="1" noChangeArrowheads="1"/>
          </p:cNvPicPr>
          <p:nvPr/>
        </p:nvPicPr>
        <p:blipFill>
          <a:blip r:embed="rId2" cstate="print"/>
          <a:srcRect/>
          <a:stretch>
            <a:fillRect/>
          </a:stretch>
        </p:blipFill>
        <p:spPr bwMode="auto">
          <a:xfrm>
            <a:off x="9195435" y="1746250"/>
            <a:ext cx="471805" cy="44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nvGrpSpPr>
          <p:cNvPr id="27" name="Group 54"/>
          <p:cNvGrpSpPr/>
          <p:nvPr/>
        </p:nvGrpSpPr>
        <p:grpSpPr bwMode="auto">
          <a:xfrm>
            <a:off x="6489065" y="1739900"/>
            <a:ext cx="365125" cy="713105"/>
            <a:chOff x="4140" y="429"/>
            <a:chExt cx="1425" cy="2396"/>
          </a:xfrm>
        </p:grpSpPr>
        <p:sp>
          <p:nvSpPr>
            <p:cNvPr id="28" name="Freeform 55"/>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56"/>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0" name="Freeform 57"/>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Freeform 58"/>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angle 59"/>
            <p:cNvSpPr>
              <a:spLocks noChangeArrowheads="1"/>
            </p:cNvSpPr>
            <p:nvPr/>
          </p:nvSpPr>
          <p:spPr bwMode="auto">
            <a:xfrm>
              <a:off x="4214" y="690"/>
              <a:ext cx="595" cy="48"/>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33" name="Group 60"/>
            <p:cNvGrpSpPr/>
            <p:nvPr/>
          </p:nvGrpSpPr>
          <p:grpSpPr bwMode="auto">
            <a:xfrm>
              <a:off x="4749" y="668"/>
              <a:ext cx="581" cy="145"/>
              <a:chOff x="614" y="2568"/>
              <a:chExt cx="725" cy="139"/>
            </a:xfrm>
          </p:grpSpPr>
          <p:sp>
            <p:nvSpPr>
              <p:cNvPr id="58" name="AutoShape 61"/>
              <p:cNvSpPr>
                <a:spLocks noChangeArrowheads="1"/>
              </p:cNvSpPr>
              <p:nvPr/>
            </p:nvSpPr>
            <p:spPr bwMode="auto">
              <a:xfrm>
                <a:off x="612"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59" name="AutoShape 62"/>
              <p:cNvSpPr>
                <a:spLocks noChangeArrowheads="1"/>
              </p:cNvSpPr>
              <p:nvPr/>
            </p:nvSpPr>
            <p:spPr bwMode="auto">
              <a:xfrm>
                <a:off x="627" y="2584"/>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34" name="Rectangle 63"/>
            <p:cNvSpPr>
              <a:spLocks noChangeArrowheads="1"/>
            </p:cNvSpPr>
            <p:nvPr/>
          </p:nvSpPr>
          <p:spPr bwMode="auto">
            <a:xfrm>
              <a:off x="4227" y="1021"/>
              <a:ext cx="595" cy="43"/>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35" name="Group 64"/>
            <p:cNvGrpSpPr/>
            <p:nvPr/>
          </p:nvGrpSpPr>
          <p:grpSpPr bwMode="auto">
            <a:xfrm>
              <a:off x="4747" y="994"/>
              <a:ext cx="581" cy="134"/>
              <a:chOff x="614" y="2568"/>
              <a:chExt cx="725" cy="139"/>
            </a:xfrm>
          </p:grpSpPr>
          <p:sp>
            <p:nvSpPr>
              <p:cNvPr id="56" name="AutoShape 65"/>
              <p:cNvSpPr>
                <a:spLocks noChangeArrowheads="1"/>
              </p:cNvSpPr>
              <p:nvPr/>
            </p:nvSpPr>
            <p:spPr bwMode="auto">
              <a:xfrm>
                <a:off x="614"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57" name="AutoShape 66"/>
              <p:cNvSpPr>
                <a:spLocks noChangeArrowheads="1"/>
              </p:cNvSpPr>
              <p:nvPr/>
            </p:nvSpPr>
            <p:spPr bwMode="auto">
              <a:xfrm>
                <a:off x="630" y="2585"/>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36" name="Rectangle 67"/>
            <p:cNvSpPr>
              <a:spLocks noChangeArrowheads="1"/>
            </p:cNvSpPr>
            <p:nvPr/>
          </p:nvSpPr>
          <p:spPr bwMode="auto">
            <a:xfrm>
              <a:off x="4214" y="1358"/>
              <a:ext cx="601" cy="48"/>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37" name="Rectangle 68"/>
            <p:cNvSpPr>
              <a:spLocks noChangeArrowheads="1"/>
            </p:cNvSpPr>
            <p:nvPr/>
          </p:nvSpPr>
          <p:spPr bwMode="auto">
            <a:xfrm>
              <a:off x="4227" y="1656"/>
              <a:ext cx="595" cy="48"/>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38" name="Group 69"/>
            <p:cNvGrpSpPr/>
            <p:nvPr/>
          </p:nvGrpSpPr>
          <p:grpSpPr bwMode="auto">
            <a:xfrm>
              <a:off x="4735" y="1627"/>
              <a:ext cx="582" cy="151"/>
              <a:chOff x="614" y="2568"/>
              <a:chExt cx="725" cy="139"/>
            </a:xfrm>
          </p:grpSpPr>
          <p:sp>
            <p:nvSpPr>
              <p:cNvPr id="54" name="AutoShape 70"/>
              <p:cNvSpPr>
                <a:spLocks noChangeArrowheads="1"/>
              </p:cNvSpPr>
              <p:nvPr/>
            </p:nvSpPr>
            <p:spPr bwMode="auto">
              <a:xfrm>
                <a:off x="614" y="2570"/>
                <a:ext cx="725"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55" name="AutoShape 71"/>
              <p:cNvSpPr>
                <a:spLocks noChangeArrowheads="1"/>
              </p:cNvSpPr>
              <p:nvPr/>
            </p:nvSpPr>
            <p:spPr bwMode="auto">
              <a:xfrm>
                <a:off x="629" y="2585"/>
                <a:ext cx="695"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39" name="Freeform 72"/>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0" name="Group 73"/>
            <p:cNvGrpSpPr/>
            <p:nvPr/>
          </p:nvGrpSpPr>
          <p:grpSpPr bwMode="auto">
            <a:xfrm>
              <a:off x="4739" y="1327"/>
              <a:ext cx="582" cy="139"/>
              <a:chOff x="614" y="2568"/>
              <a:chExt cx="725" cy="139"/>
            </a:xfrm>
          </p:grpSpPr>
          <p:sp>
            <p:nvSpPr>
              <p:cNvPr id="52" name="AutoShape 74"/>
              <p:cNvSpPr>
                <a:spLocks noChangeArrowheads="1"/>
              </p:cNvSpPr>
              <p:nvPr/>
            </p:nvSpPr>
            <p:spPr bwMode="auto">
              <a:xfrm>
                <a:off x="616" y="256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53" name="AutoShape 75"/>
              <p:cNvSpPr>
                <a:spLocks noChangeArrowheads="1"/>
              </p:cNvSpPr>
              <p:nvPr/>
            </p:nvSpPr>
            <p:spPr bwMode="auto">
              <a:xfrm>
                <a:off x="632" y="2583"/>
                <a:ext cx="69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41" name="Rectangle 76"/>
            <p:cNvSpPr>
              <a:spLocks noChangeArrowheads="1"/>
            </p:cNvSpPr>
            <p:nvPr/>
          </p:nvSpPr>
          <p:spPr bwMode="auto">
            <a:xfrm>
              <a:off x="5249"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2" name="Freeform 77"/>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78"/>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Oval 79"/>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5" name="Freeform 80"/>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AutoShape 81"/>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7" name="AutoShape 82"/>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8" name="Oval 83"/>
            <p:cNvSpPr>
              <a:spLocks noChangeArrowheads="1"/>
            </p:cNvSpPr>
            <p:nvPr/>
          </p:nvSpPr>
          <p:spPr bwMode="auto">
            <a:xfrm>
              <a:off x="4307" y="2382"/>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49" name="Oval 84"/>
            <p:cNvSpPr>
              <a:spLocks noChangeArrowheads="1"/>
            </p:cNvSpPr>
            <p:nvPr/>
          </p:nvSpPr>
          <p:spPr bwMode="auto">
            <a:xfrm>
              <a:off x="4487" y="2382"/>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mn-cs"/>
              </a:endParaRPr>
            </a:p>
          </p:txBody>
        </p:sp>
        <p:sp>
          <p:nvSpPr>
            <p:cNvPr id="50" name="Oval 85"/>
            <p:cNvSpPr>
              <a:spLocks noChangeArrowheads="1"/>
            </p:cNvSpPr>
            <p:nvPr/>
          </p:nvSpPr>
          <p:spPr bwMode="auto">
            <a:xfrm>
              <a:off x="4660" y="2382"/>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51" name="Rectangle 86"/>
            <p:cNvSpPr>
              <a:spLocks noChangeArrowheads="1"/>
            </p:cNvSpPr>
            <p:nvPr/>
          </p:nvSpPr>
          <p:spPr bwMode="auto">
            <a:xfrm>
              <a:off x="5063" y="1832"/>
              <a:ext cx="87" cy="763"/>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grpSp>
        <p:nvGrpSpPr>
          <p:cNvPr id="60" name="Group 87"/>
          <p:cNvGrpSpPr/>
          <p:nvPr/>
        </p:nvGrpSpPr>
        <p:grpSpPr bwMode="auto">
          <a:xfrm flipH="1">
            <a:off x="10981690" y="3057525"/>
            <a:ext cx="734695" cy="681355"/>
            <a:chOff x="-44" y="1473"/>
            <a:chExt cx="981" cy="1105"/>
          </a:xfrm>
        </p:grpSpPr>
        <p:pic>
          <p:nvPicPr>
            <p:cNvPr id="61" name="Picture 88"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89"/>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2" name="Group 81"/>
          <p:cNvGrpSpPr/>
          <p:nvPr/>
        </p:nvGrpSpPr>
        <p:grpSpPr>
          <a:xfrm>
            <a:off x="7359015" y="3063875"/>
            <a:ext cx="958850" cy="476250"/>
            <a:chOff x="7493876" y="2774731"/>
            <a:chExt cx="1481958" cy="894622"/>
          </a:xfrm>
        </p:grpSpPr>
        <p:sp>
          <p:nvSpPr>
            <p:cNvPr id="83" name="Freeform 82"/>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Oval 83"/>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85" name="Group 84"/>
            <p:cNvGrpSpPr/>
            <p:nvPr/>
          </p:nvGrpSpPr>
          <p:grpSpPr>
            <a:xfrm>
              <a:off x="7713663" y="2848339"/>
              <a:ext cx="1042107" cy="425543"/>
              <a:chOff x="7786941" y="2884917"/>
              <a:chExt cx="897649" cy="353919"/>
            </a:xfrm>
          </p:grpSpPr>
          <p:sp>
            <p:nvSpPr>
              <p:cNvPr id="86" name="Freeform 85"/>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 name="Freeform 86"/>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Freeform 87"/>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Freeform 88"/>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 name="标题 5"/>
          <p:cNvSpPr>
            <a:spLocks noGrp="1"/>
          </p:cNvSpPr>
          <p:nvPr>
            <p:ph type="title"/>
          </p:nvPr>
        </p:nvSpPr>
        <p:spPr/>
        <p:txBody>
          <a:bodyPr>
            <a:normAutofit/>
          </a:bodyPr>
          <a:lstStyle/>
          <a:p>
            <a:r>
              <a:rPr lang="zh-CN" altLang="en-US" dirty="0"/>
              <a:t>数据可靠性</a:t>
            </a:r>
            <a:endParaRPr lang="zh-CN" altLang="en-US" dirty="0"/>
          </a:p>
        </p:txBody>
      </p:sp>
      <p:sp>
        <p:nvSpPr>
          <p:cNvPr id="2" name="灯片编号占位符 1"/>
          <p:cNvSpPr>
            <a:spLocks noGrp="1"/>
          </p:cNvSpPr>
          <p:nvPr>
            <p:ph type="sldNum" sz="quarter" idx="12"/>
          </p:nvPr>
        </p:nvSpPr>
        <p:spPr/>
        <p:txBody>
          <a:bodyPr/>
          <a:lstStyle/>
          <a:p>
            <a:fld id="{8D4D1E41-7A09-AB4A-A4E1-09765ADA2698}" type="slidenum">
              <a:rPr kumimoji="1" lang="zh-CN" altLang="en-US" smtClean="0"/>
            </a:fld>
            <a:endParaRPr kumimoji="1" lang="zh-CN" altLang="en-US"/>
          </a:p>
        </p:txBody>
      </p:sp>
      <p:sp>
        <p:nvSpPr>
          <p:cNvPr id="3" name="Rectangle 5"/>
          <p:cNvSpPr txBox="1">
            <a:spLocks noChangeArrowheads="1"/>
          </p:cNvSpPr>
          <p:nvPr/>
        </p:nvSpPr>
        <p:spPr>
          <a:xfrm>
            <a:off x="482875" y="3237548"/>
            <a:ext cx="5747385" cy="1243965"/>
          </a:xfrm>
          <a:prstGeom prst="rect">
            <a:avLst/>
          </a:prstGeom>
        </p:spPr>
        <p:txBody>
          <a:bodyPr vert="horz" lIns="91440" tIns="45720" rIns="91440" bIns="45720" rtlCol="0"/>
          <a:lstStyle>
            <a:lvl1pPr marL="352425" indent="-222250" algn="l" defTabSz="914400" rtl="0" eaLnBrk="1" latinLnBrk="0" hangingPunct="1">
              <a:lnSpc>
                <a:spcPct val="90000"/>
              </a:lnSpc>
              <a:spcBef>
                <a:spcPts val="1000"/>
              </a:spcBef>
              <a:buClr>
                <a:srgbClr val="0000A3"/>
              </a:buClr>
              <a:buFont typeface="Wingdings" panose="05000000000000000000" pitchFamily="2" charset="2"/>
              <a:buChar char="§"/>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755" marR="0" lvl="0" indent="-322580" algn="l" defTabSz="914400" rtl="0" eaLnBrk="1" fontAlgn="auto" latinLnBrk="0" hangingPunct="1">
              <a:lnSpc>
                <a:spcPct val="130000"/>
              </a:lnSpc>
              <a:spcBef>
                <a:spcPts val="400"/>
              </a:spcBef>
              <a:spcAft>
                <a:spcPts val="0"/>
              </a:spcAft>
              <a:buClr>
                <a:srgbClr val="0000A3"/>
              </a:buClr>
              <a:buSzTx/>
              <a:buFont typeface="Wingdings" panose="05000000000000000000" pitchFamily="2" charset="2"/>
              <a:buChar char="Ø"/>
              <a:defRPr/>
            </a:pPr>
            <a:r>
              <a:rPr kumimoji="0" lang="en-US" sz="26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IP欺骗</a:t>
            </a:r>
            <a:r>
              <a:rPr kumimoji="0" lang="zh-CN" altLang="en-US" sz="26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6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IP spoofing</a:t>
            </a:r>
            <a:r>
              <a:rPr kumimoji="0" lang="zh-CN" altLang="en-US" sz="26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6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30000"/>
              </a:lnSpc>
              <a:spcBef>
                <a:spcPts val="400"/>
              </a:spcBef>
              <a:buClr>
                <a:srgbClr val="0000A3"/>
              </a:buClr>
              <a:buFont typeface="Arial" panose="020B0604020202020204" pitchFamily="34" charset="0"/>
              <a:buChar char="•"/>
              <a:defRPr/>
            </a:pPr>
            <a:r>
              <a:rPr lang="zh-CN" altLang="en-US" sz="25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攻击者产生的IP数据包为伪造的源IP地址，以便冒充其他系统或发件人的身份</a:t>
            </a:r>
            <a:endParaRPr lang="zh-CN" altLang="en-US" sz="25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36" name="Group 90"/>
          <p:cNvGrpSpPr/>
          <p:nvPr/>
        </p:nvGrpSpPr>
        <p:grpSpPr bwMode="auto">
          <a:xfrm flipH="1">
            <a:off x="9168765" y="4124325"/>
            <a:ext cx="734695" cy="680720"/>
            <a:chOff x="-44" y="1473"/>
            <a:chExt cx="981" cy="1105"/>
          </a:xfrm>
        </p:grpSpPr>
        <p:pic>
          <p:nvPicPr>
            <p:cNvPr id="137" name="Picture 91"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 name="Freeform 92"/>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9" name="Freeform 43"/>
          <p:cNvSpPr/>
          <p:nvPr/>
        </p:nvSpPr>
        <p:spPr bwMode="auto">
          <a:xfrm>
            <a:off x="6663690" y="4859020"/>
            <a:ext cx="4587875" cy="728980"/>
          </a:xfrm>
          <a:custGeom>
            <a:avLst/>
            <a:gdLst>
              <a:gd name="T0" fmla="*/ 2147483647 w 2620"/>
              <a:gd name="T1" fmla="*/ 0 h 459"/>
              <a:gd name="T2" fmla="*/ 0 w 2620"/>
              <a:gd name="T3" fmla="*/ 2147483647 h 459"/>
              <a:gd name="T4" fmla="*/ 2147483647 w 2620"/>
              <a:gd name="T5" fmla="*/ 2147483647 h 459"/>
              <a:gd name="T6" fmla="*/ 2147483647 w 2620"/>
              <a:gd name="T7" fmla="*/ 2147483647 h 459"/>
              <a:gd name="T8" fmla="*/ 0 60000 65536"/>
              <a:gd name="T9" fmla="*/ 0 60000 65536"/>
              <a:gd name="T10" fmla="*/ 0 60000 65536"/>
              <a:gd name="T11" fmla="*/ 0 60000 65536"/>
              <a:gd name="T12" fmla="*/ 0 w 2620"/>
              <a:gd name="T13" fmla="*/ 0 h 459"/>
              <a:gd name="T14" fmla="*/ 2620 w 2620"/>
              <a:gd name="T15" fmla="*/ 459 h 459"/>
            </a:gdLst>
            <a:ahLst/>
            <a:cxnLst>
              <a:cxn ang="T8">
                <a:pos x="T0" y="T1"/>
              </a:cxn>
              <a:cxn ang="T9">
                <a:pos x="T2" y="T3"/>
              </a:cxn>
              <a:cxn ang="T10">
                <a:pos x="T4" y="T5"/>
              </a:cxn>
              <a:cxn ang="T11">
                <a:pos x="T6" y="T7"/>
              </a:cxn>
            </a:cxnLst>
            <a:rect l="T12" t="T13" r="T14" b="T15"/>
            <a:pathLst>
              <a:path w="2620" h="459">
                <a:moveTo>
                  <a:pt x="2" y="0"/>
                </a:moveTo>
                <a:lnTo>
                  <a:pt x="0" y="253"/>
                </a:lnTo>
                <a:lnTo>
                  <a:pt x="2620" y="253"/>
                </a:lnTo>
                <a:lnTo>
                  <a:pt x="2620" y="459"/>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0" name="Freeform 44"/>
          <p:cNvSpPr/>
          <p:nvPr/>
        </p:nvSpPr>
        <p:spPr bwMode="auto">
          <a:xfrm>
            <a:off x="9495790" y="4728845"/>
            <a:ext cx="4445" cy="522605"/>
          </a:xfrm>
          <a:custGeom>
            <a:avLst/>
            <a:gdLst>
              <a:gd name="T0" fmla="*/ 0 w 3"/>
              <a:gd name="T1" fmla="*/ 2147483647 h 329"/>
              <a:gd name="T2" fmla="*/ 2147483647 w 3"/>
              <a:gd name="T3" fmla="*/ 0 h 329"/>
              <a:gd name="T4" fmla="*/ 0 60000 65536"/>
              <a:gd name="T5" fmla="*/ 0 60000 65536"/>
              <a:gd name="T6" fmla="*/ 0 w 3"/>
              <a:gd name="T7" fmla="*/ 0 h 329"/>
              <a:gd name="T8" fmla="*/ 3 w 3"/>
              <a:gd name="T9" fmla="*/ 329 h 329"/>
            </a:gdLst>
            <a:ahLst/>
            <a:cxnLst>
              <a:cxn ang="T4">
                <a:pos x="T0" y="T1"/>
              </a:cxn>
              <a:cxn ang="T5">
                <a:pos x="T2" y="T3"/>
              </a:cxn>
            </a:cxnLst>
            <a:rect l="T6" t="T7" r="T8" b="T9"/>
            <a:pathLst>
              <a:path w="3" h="329">
                <a:moveTo>
                  <a:pt x="0" y="329"/>
                </a:moveTo>
                <a:lnTo>
                  <a:pt x="3" y="0"/>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1" name="Line 45"/>
          <p:cNvSpPr>
            <a:spLocks noChangeShapeType="1"/>
          </p:cNvSpPr>
          <p:nvPr/>
        </p:nvSpPr>
        <p:spPr bwMode="auto">
          <a:xfrm flipV="1">
            <a:off x="7838440" y="5251450"/>
            <a:ext cx="0" cy="37465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2" name="Line 46"/>
          <p:cNvSpPr>
            <a:spLocks noChangeShapeType="1"/>
          </p:cNvSpPr>
          <p:nvPr/>
        </p:nvSpPr>
        <p:spPr bwMode="auto">
          <a:xfrm flipV="1">
            <a:off x="7857490" y="5962650"/>
            <a:ext cx="0" cy="2413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3" name="Text Box 47"/>
          <p:cNvSpPr txBox="1">
            <a:spLocks noChangeArrowheads="1"/>
          </p:cNvSpPr>
          <p:nvPr/>
        </p:nvSpPr>
        <p:spPr bwMode="auto">
          <a:xfrm>
            <a:off x="6120765" y="414782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A</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4" name="Text Box 48"/>
          <p:cNvSpPr txBox="1">
            <a:spLocks noChangeArrowheads="1"/>
          </p:cNvSpPr>
          <p:nvPr/>
        </p:nvSpPr>
        <p:spPr bwMode="auto">
          <a:xfrm>
            <a:off x="11590020" y="5611495"/>
            <a:ext cx="389255" cy="46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B</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5" name="Text Box 49"/>
          <p:cNvSpPr txBox="1">
            <a:spLocks noChangeArrowheads="1"/>
          </p:cNvSpPr>
          <p:nvPr/>
        </p:nvSpPr>
        <p:spPr bwMode="auto">
          <a:xfrm>
            <a:off x="9688195" y="4125595"/>
            <a:ext cx="40513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C</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pic>
        <p:nvPicPr>
          <p:cNvPr id="146" name="Picture 60"/>
          <p:cNvPicPr>
            <a:picLocks noChangeAspect="1" noChangeArrowheads="1"/>
          </p:cNvPicPr>
          <p:nvPr/>
        </p:nvPicPr>
        <p:blipFill>
          <a:blip r:embed="rId2" cstate="print"/>
          <a:srcRect/>
          <a:stretch>
            <a:fillRect/>
          </a:stretch>
        </p:blipFill>
        <p:spPr bwMode="auto">
          <a:xfrm>
            <a:off x="9196070" y="4192270"/>
            <a:ext cx="471805" cy="44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nvGrpSpPr>
          <p:cNvPr id="147" name="Group 54"/>
          <p:cNvGrpSpPr/>
          <p:nvPr/>
        </p:nvGrpSpPr>
        <p:grpSpPr bwMode="auto">
          <a:xfrm>
            <a:off x="6489065" y="4185920"/>
            <a:ext cx="365125" cy="713105"/>
            <a:chOff x="4140" y="429"/>
            <a:chExt cx="1425" cy="2396"/>
          </a:xfrm>
        </p:grpSpPr>
        <p:sp>
          <p:nvSpPr>
            <p:cNvPr id="148" name="Freeform 55"/>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9" name="Rectangle 56"/>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50" name="Freeform 57"/>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1" name="Freeform 58"/>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2" name="Rectangle 59"/>
            <p:cNvSpPr>
              <a:spLocks noChangeArrowheads="1"/>
            </p:cNvSpPr>
            <p:nvPr/>
          </p:nvSpPr>
          <p:spPr bwMode="auto">
            <a:xfrm>
              <a:off x="4214" y="690"/>
              <a:ext cx="595" cy="48"/>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53" name="Group 60"/>
            <p:cNvGrpSpPr/>
            <p:nvPr/>
          </p:nvGrpSpPr>
          <p:grpSpPr bwMode="auto">
            <a:xfrm>
              <a:off x="4749" y="668"/>
              <a:ext cx="581" cy="145"/>
              <a:chOff x="614" y="2568"/>
              <a:chExt cx="725" cy="139"/>
            </a:xfrm>
          </p:grpSpPr>
          <p:sp>
            <p:nvSpPr>
              <p:cNvPr id="154" name="AutoShape 61"/>
              <p:cNvSpPr>
                <a:spLocks noChangeArrowheads="1"/>
              </p:cNvSpPr>
              <p:nvPr/>
            </p:nvSpPr>
            <p:spPr bwMode="auto">
              <a:xfrm>
                <a:off x="612"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55" name="AutoShape 62"/>
              <p:cNvSpPr>
                <a:spLocks noChangeArrowheads="1"/>
              </p:cNvSpPr>
              <p:nvPr/>
            </p:nvSpPr>
            <p:spPr bwMode="auto">
              <a:xfrm>
                <a:off x="627" y="2584"/>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156" name="Rectangle 63"/>
            <p:cNvSpPr>
              <a:spLocks noChangeArrowheads="1"/>
            </p:cNvSpPr>
            <p:nvPr/>
          </p:nvSpPr>
          <p:spPr bwMode="auto">
            <a:xfrm>
              <a:off x="4227" y="1021"/>
              <a:ext cx="595" cy="43"/>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57" name="Group 64"/>
            <p:cNvGrpSpPr/>
            <p:nvPr/>
          </p:nvGrpSpPr>
          <p:grpSpPr bwMode="auto">
            <a:xfrm>
              <a:off x="4747" y="994"/>
              <a:ext cx="581" cy="134"/>
              <a:chOff x="614" y="2568"/>
              <a:chExt cx="725" cy="139"/>
            </a:xfrm>
          </p:grpSpPr>
          <p:sp>
            <p:nvSpPr>
              <p:cNvPr id="158" name="AutoShape 65"/>
              <p:cNvSpPr>
                <a:spLocks noChangeArrowheads="1"/>
              </p:cNvSpPr>
              <p:nvPr/>
            </p:nvSpPr>
            <p:spPr bwMode="auto">
              <a:xfrm>
                <a:off x="614"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59" name="AutoShape 66"/>
              <p:cNvSpPr>
                <a:spLocks noChangeArrowheads="1"/>
              </p:cNvSpPr>
              <p:nvPr/>
            </p:nvSpPr>
            <p:spPr bwMode="auto">
              <a:xfrm>
                <a:off x="630" y="2585"/>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160" name="Rectangle 67"/>
            <p:cNvSpPr>
              <a:spLocks noChangeArrowheads="1"/>
            </p:cNvSpPr>
            <p:nvPr/>
          </p:nvSpPr>
          <p:spPr bwMode="auto">
            <a:xfrm>
              <a:off x="4214" y="1358"/>
              <a:ext cx="601" cy="48"/>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61" name="Rectangle 68"/>
            <p:cNvSpPr>
              <a:spLocks noChangeArrowheads="1"/>
            </p:cNvSpPr>
            <p:nvPr/>
          </p:nvSpPr>
          <p:spPr bwMode="auto">
            <a:xfrm>
              <a:off x="4227" y="1656"/>
              <a:ext cx="595" cy="48"/>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62" name="Group 69"/>
            <p:cNvGrpSpPr/>
            <p:nvPr/>
          </p:nvGrpSpPr>
          <p:grpSpPr bwMode="auto">
            <a:xfrm>
              <a:off x="4735" y="1627"/>
              <a:ext cx="582" cy="151"/>
              <a:chOff x="614" y="2568"/>
              <a:chExt cx="725" cy="139"/>
            </a:xfrm>
          </p:grpSpPr>
          <p:sp>
            <p:nvSpPr>
              <p:cNvPr id="163" name="AutoShape 70"/>
              <p:cNvSpPr>
                <a:spLocks noChangeArrowheads="1"/>
              </p:cNvSpPr>
              <p:nvPr/>
            </p:nvSpPr>
            <p:spPr bwMode="auto">
              <a:xfrm>
                <a:off x="614" y="2570"/>
                <a:ext cx="725"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64" name="AutoShape 71"/>
              <p:cNvSpPr>
                <a:spLocks noChangeArrowheads="1"/>
              </p:cNvSpPr>
              <p:nvPr/>
            </p:nvSpPr>
            <p:spPr bwMode="auto">
              <a:xfrm>
                <a:off x="629" y="2585"/>
                <a:ext cx="695"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165" name="Freeform 72"/>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66" name="Group 73"/>
            <p:cNvGrpSpPr/>
            <p:nvPr/>
          </p:nvGrpSpPr>
          <p:grpSpPr bwMode="auto">
            <a:xfrm>
              <a:off x="4739" y="1327"/>
              <a:ext cx="582" cy="139"/>
              <a:chOff x="614" y="2568"/>
              <a:chExt cx="725" cy="139"/>
            </a:xfrm>
          </p:grpSpPr>
          <p:sp>
            <p:nvSpPr>
              <p:cNvPr id="167" name="AutoShape 74"/>
              <p:cNvSpPr>
                <a:spLocks noChangeArrowheads="1"/>
              </p:cNvSpPr>
              <p:nvPr/>
            </p:nvSpPr>
            <p:spPr bwMode="auto">
              <a:xfrm>
                <a:off x="616" y="256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68" name="AutoShape 75"/>
              <p:cNvSpPr>
                <a:spLocks noChangeArrowheads="1"/>
              </p:cNvSpPr>
              <p:nvPr/>
            </p:nvSpPr>
            <p:spPr bwMode="auto">
              <a:xfrm>
                <a:off x="632" y="2583"/>
                <a:ext cx="69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sp>
          <p:nvSpPr>
            <p:cNvPr id="169" name="Rectangle 76"/>
            <p:cNvSpPr>
              <a:spLocks noChangeArrowheads="1"/>
            </p:cNvSpPr>
            <p:nvPr/>
          </p:nvSpPr>
          <p:spPr bwMode="auto">
            <a:xfrm>
              <a:off x="5249"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70" name="Freeform 77"/>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1" name="Freeform 78"/>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2" name="Oval 79"/>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73" name="Freeform 80"/>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AutoShape 81"/>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75" name="AutoShape 82"/>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76" name="Oval 83"/>
            <p:cNvSpPr>
              <a:spLocks noChangeArrowheads="1"/>
            </p:cNvSpPr>
            <p:nvPr/>
          </p:nvSpPr>
          <p:spPr bwMode="auto">
            <a:xfrm>
              <a:off x="4307" y="2382"/>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77" name="Oval 84"/>
            <p:cNvSpPr>
              <a:spLocks noChangeArrowheads="1"/>
            </p:cNvSpPr>
            <p:nvPr/>
          </p:nvSpPr>
          <p:spPr bwMode="auto">
            <a:xfrm>
              <a:off x="4487" y="2382"/>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mn-cs"/>
              </a:endParaRPr>
            </a:p>
          </p:txBody>
        </p:sp>
        <p:sp>
          <p:nvSpPr>
            <p:cNvPr id="178" name="Oval 85"/>
            <p:cNvSpPr>
              <a:spLocks noChangeArrowheads="1"/>
            </p:cNvSpPr>
            <p:nvPr/>
          </p:nvSpPr>
          <p:spPr bwMode="auto">
            <a:xfrm>
              <a:off x="4660" y="2382"/>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79" name="Rectangle 86"/>
            <p:cNvSpPr>
              <a:spLocks noChangeArrowheads="1"/>
            </p:cNvSpPr>
            <p:nvPr/>
          </p:nvSpPr>
          <p:spPr bwMode="auto">
            <a:xfrm>
              <a:off x="5063" y="1832"/>
              <a:ext cx="87" cy="763"/>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grpSp>
        <p:nvGrpSpPr>
          <p:cNvPr id="180" name="Group 87"/>
          <p:cNvGrpSpPr/>
          <p:nvPr/>
        </p:nvGrpSpPr>
        <p:grpSpPr bwMode="auto">
          <a:xfrm flipH="1">
            <a:off x="10981690" y="5503545"/>
            <a:ext cx="734695" cy="681355"/>
            <a:chOff x="-44" y="1473"/>
            <a:chExt cx="981" cy="1105"/>
          </a:xfrm>
        </p:grpSpPr>
        <p:pic>
          <p:nvPicPr>
            <p:cNvPr id="181" name="Picture 88" descr="desktop_computer_stylized_medium"/>
            <p:cNvPicPr>
              <a:picLocks noChangeAspect="1" noChangeArrowheads="1"/>
            </p:cNvPicPr>
            <p:nvPr/>
          </p:nvPicPr>
          <p:blipFill>
            <a:blip r:embed="rId1"/>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Freeform 89"/>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83" name="Group 81"/>
          <p:cNvGrpSpPr/>
          <p:nvPr/>
        </p:nvGrpSpPr>
        <p:grpSpPr>
          <a:xfrm>
            <a:off x="7359015" y="5510530"/>
            <a:ext cx="958850" cy="476250"/>
            <a:chOff x="7493876" y="2774731"/>
            <a:chExt cx="1481958" cy="894622"/>
          </a:xfrm>
        </p:grpSpPr>
        <p:sp>
          <p:nvSpPr>
            <p:cNvPr id="184" name="Freeform 82"/>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5" name="Oval 83"/>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6" name="Group 84"/>
            <p:cNvGrpSpPr/>
            <p:nvPr/>
          </p:nvGrpSpPr>
          <p:grpSpPr>
            <a:xfrm>
              <a:off x="7713663" y="2848339"/>
              <a:ext cx="1042107" cy="425543"/>
              <a:chOff x="7786941" y="2884917"/>
              <a:chExt cx="897649" cy="353919"/>
            </a:xfrm>
          </p:grpSpPr>
          <p:sp>
            <p:nvSpPr>
              <p:cNvPr id="187" name="Freeform 85"/>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8" name="Freeform 86"/>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Freeform 87"/>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88"/>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1" name="Group 3"/>
          <p:cNvGrpSpPr/>
          <p:nvPr/>
        </p:nvGrpSpPr>
        <p:grpSpPr>
          <a:xfrm>
            <a:off x="6598920" y="4693285"/>
            <a:ext cx="2967355" cy="819150"/>
            <a:chOff x="3293812" y="3967064"/>
            <a:chExt cx="2967038" cy="819150"/>
          </a:xfrm>
        </p:grpSpPr>
        <p:sp>
          <p:nvSpPr>
            <p:cNvPr id="192" name="Freeform 77"/>
            <p:cNvSpPr/>
            <p:nvPr/>
          </p:nvSpPr>
          <p:spPr bwMode="auto">
            <a:xfrm>
              <a:off x="3293812" y="3967064"/>
              <a:ext cx="2967038" cy="704850"/>
            </a:xfrm>
            <a:custGeom>
              <a:avLst/>
              <a:gdLst>
                <a:gd name="T0" fmla="*/ 2147483647 w 1869"/>
                <a:gd name="T1" fmla="*/ 0 h 444"/>
                <a:gd name="T2" fmla="*/ 2147483647 w 1869"/>
                <a:gd name="T3" fmla="*/ 2147483647 h 444"/>
                <a:gd name="T4" fmla="*/ 0 w 1869"/>
                <a:gd name="T5" fmla="*/ 2147483647 h 444"/>
                <a:gd name="T6" fmla="*/ 0 60000 65536"/>
                <a:gd name="T7" fmla="*/ 0 60000 65536"/>
                <a:gd name="T8" fmla="*/ 0 60000 65536"/>
                <a:gd name="T9" fmla="*/ 0 w 1869"/>
                <a:gd name="T10" fmla="*/ 0 h 444"/>
                <a:gd name="T11" fmla="*/ 1869 w 1869"/>
                <a:gd name="T12" fmla="*/ 444 h 444"/>
              </a:gdLst>
              <a:ahLst/>
              <a:cxnLst>
                <a:cxn ang="T6">
                  <a:pos x="T0" y="T1"/>
                </a:cxn>
                <a:cxn ang="T7">
                  <a:pos x="T2" y="T3"/>
                </a:cxn>
                <a:cxn ang="T8">
                  <a:pos x="T4" y="T5"/>
                </a:cxn>
              </a:cxnLst>
              <a:rect l="T9" t="T10" r="T11" b="T12"/>
              <a:pathLst>
                <a:path w="1869" h="444">
                  <a:moveTo>
                    <a:pt x="1869" y="0"/>
                  </a:moveTo>
                  <a:lnTo>
                    <a:pt x="1869" y="444"/>
                  </a:lnTo>
                  <a:lnTo>
                    <a:pt x="0" y="444"/>
                  </a:lnTo>
                </a:path>
              </a:pathLst>
            </a:custGeom>
            <a:noFill/>
            <a:ln w="28575">
              <a:solidFill>
                <a:srgbClr val="CC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93" name="Group 78"/>
            <p:cNvGrpSpPr/>
            <p:nvPr/>
          </p:nvGrpSpPr>
          <p:grpSpPr bwMode="auto">
            <a:xfrm>
              <a:off x="3760537" y="4449664"/>
              <a:ext cx="2295525" cy="336550"/>
              <a:chOff x="2418" y="3342"/>
              <a:chExt cx="1446" cy="212"/>
            </a:xfrm>
          </p:grpSpPr>
          <p:sp>
            <p:nvSpPr>
              <p:cNvPr id="194" name="Rectangle 79"/>
              <p:cNvSpPr>
                <a:spLocks noChangeArrowheads="1"/>
              </p:cNvSpPr>
              <p:nvPr/>
            </p:nvSpPr>
            <p:spPr bwMode="auto">
              <a:xfrm>
                <a:off x="2463" y="3366"/>
                <a:ext cx="1356" cy="174"/>
              </a:xfrm>
              <a:prstGeom prst="rect">
                <a:avLst/>
              </a:prstGeom>
              <a:solidFill>
                <a:srgbClr val="FFFFFF"/>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95" name="Line 80"/>
              <p:cNvSpPr>
                <a:spLocks noChangeShapeType="1"/>
              </p:cNvSpPr>
              <p:nvPr/>
            </p:nvSpPr>
            <p:spPr bwMode="auto">
              <a:xfrm>
                <a:off x="2784" y="3372"/>
                <a:ext cx="0" cy="16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6" name="Line 81"/>
              <p:cNvSpPr>
                <a:spLocks noChangeShapeType="1"/>
              </p:cNvSpPr>
              <p:nvPr/>
            </p:nvSpPr>
            <p:spPr bwMode="auto">
              <a:xfrm>
                <a:off x="3186" y="3375"/>
                <a:ext cx="0" cy="16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7" name="Line 82"/>
              <p:cNvSpPr>
                <a:spLocks noChangeShapeType="1"/>
              </p:cNvSpPr>
              <p:nvPr/>
            </p:nvSpPr>
            <p:spPr bwMode="auto">
              <a:xfrm>
                <a:off x="3321" y="3375"/>
                <a:ext cx="0" cy="16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8" name="Text Box 83"/>
              <p:cNvSpPr txBox="1">
                <a:spLocks noChangeArrowheads="1"/>
              </p:cNvSpPr>
              <p:nvPr/>
            </p:nvSpPr>
            <p:spPr bwMode="auto">
              <a:xfrm>
                <a:off x="2418" y="3342"/>
                <a:ext cx="14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MS PGothic" panose="020B0600070205080204" pitchFamily="34" charset="-128"/>
                    <a:cs typeface="+mn-cs"/>
                  </a:rPr>
                  <a:t>src:B</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 dest:A     payload</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grpSp>
      </p:grpSp>
      <p:sp>
        <p:nvSpPr>
          <p:cNvPr id="206" name="文本框 205"/>
          <p:cNvSpPr txBox="1"/>
          <p:nvPr/>
        </p:nvSpPr>
        <p:spPr>
          <a:xfrm>
            <a:off x="1065424" y="5549715"/>
            <a:ext cx="506539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包拦截 </a:t>
            </a:r>
            <a:r>
              <a:rPr kumimoji="0" lang="en-US" altLang="zh-CN" sz="2800" b="0" i="0" u="none" strike="noStrike" kern="120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v.s</a:t>
            </a:r>
            <a:r>
              <a:rPr kumimoji="0" lang="en-US" altLang="zh-CN"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伪造身份</a:t>
            </a:r>
            <a:endPar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5" name="文本框 134"/>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righ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par>
                                <p:cTn id="18" presetID="9" presetClass="entr" presetSubtype="0" fill="hold" nodeType="withEffect">
                                  <p:stCondLst>
                                    <p:cond delay="0"/>
                                  </p:stCondLst>
                                  <p:childTnLst>
                                    <p:set>
                                      <p:cBhvr>
                                        <p:cTn id="19" dur="1" fill="hold">
                                          <p:stCondLst>
                                            <p:cond delay="0"/>
                                          </p:stCondLst>
                                        </p:cTn>
                                        <p:tgtEl>
                                          <p:spTgt spid="136"/>
                                        </p:tgtEl>
                                        <p:attrNameLst>
                                          <p:attrName>style.visibility</p:attrName>
                                        </p:attrNameLst>
                                      </p:cBhvr>
                                      <p:to>
                                        <p:strVal val="visible"/>
                                      </p:to>
                                    </p:set>
                                    <p:animEffect transition="in" filter="dissolve">
                                      <p:cBhvr>
                                        <p:cTn id="20" dur="500"/>
                                        <p:tgtEl>
                                          <p:spTgt spid="13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39"/>
                                        </p:tgtEl>
                                        <p:attrNameLst>
                                          <p:attrName>style.visibility</p:attrName>
                                        </p:attrNameLst>
                                      </p:cBhvr>
                                      <p:to>
                                        <p:strVal val="visible"/>
                                      </p:to>
                                    </p:set>
                                    <p:animEffect transition="in" filter="dissolve">
                                      <p:cBhvr>
                                        <p:cTn id="23" dur="500"/>
                                        <p:tgtEl>
                                          <p:spTgt spid="139"/>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40"/>
                                        </p:tgtEl>
                                        <p:attrNameLst>
                                          <p:attrName>style.visibility</p:attrName>
                                        </p:attrNameLst>
                                      </p:cBhvr>
                                      <p:to>
                                        <p:strVal val="visible"/>
                                      </p:to>
                                    </p:set>
                                    <p:animEffect transition="in" filter="dissolve">
                                      <p:cBhvr>
                                        <p:cTn id="26" dur="500"/>
                                        <p:tgtEl>
                                          <p:spTgt spid="140"/>
                                        </p:tgtEl>
                                      </p:cBhvr>
                                    </p:animEffect>
                                  </p:childTnLst>
                                </p:cTn>
                              </p:par>
                              <p:par>
                                <p:cTn id="27" presetID="9" presetClass="entr" presetSubtype="0" fill="hold" nodeType="withEffect">
                                  <p:stCondLst>
                                    <p:cond delay="0"/>
                                  </p:stCondLst>
                                  <p:childTnLst>
                                    <p:set>
                                      <p:cBhvr>
                                        <p:cTn id="28" dur="1" fill="hold">
                                          <p:stCondLst>
                                            <p:cond delay="0"/>
                                          </p:stCondLst>
                                        </p:cTn>
                                        <p:tgtEl>
                                          <p:spTgt spid="141"/>
                                        </p:tgtEl>
                                        <p:attrNameLst>
                                          <p:attrName>style.visibility</p:attrName>
                                        </p:attrNameLst>
                                      </p:cBhvr>
                                      <p:to>
                                        <p:strVal val="visible"/>
                                      </p:to>
                                    </p:set>
                                    <p:animEffect transition="in" filter="dissolve">
                                      <p:cBhvr>
                                        <p:cTn id="29" dur="500"/>
                                        <p:tgtEl>
                                          <p:spTgt spid="141"/>
                                        </p:tgtEl>
                                      </p:cBhvr>
                                    </p:animEffect>
                                  </p:childTnLst>
                                </p:cTn>
                              </p:par>
                              <p:par>
                                <p:cTn id="30" presetID="9" presetClass="entr" presetSubtype="0" fill="hold" nodeType="withEffect">
                                  <p:stCondLst>
                                    <p:cond delay="0"/>
                                  </p:stCondLst>
                                  <p:childTnLst>
                                    <p:set>
                                      <p:cBhvr>
                                        <p:cTn id="31" dur="1" fill="hold">
                                          <p:stCondLst>
                                            <p:cond delay="0"/>
                                          </p:stCondLst>
                                        </p:cTn>
                                        <p:tgtEl>
                                          <p:spTgt spid="142"/>
                                        </p:tgtEl>
                                        <p:attrNameLst>
                                          <p:attrName>style.visibility</p:attrName>
                                        </p:attrNameLst>
                                      </p:cBhvr>
                                      <p:to>
                                        <p:strVal val="visible"/>
                                      </p:to>
                                    </p:set>
                                    <p:animEffect transition="in" filter="dissolve">
                                      <p:cBhvr>
                                        <p:cTn id="32" dur="500"/>
                                        <p:tgtEl>
                                          <p:spTgt spid="142"/>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43"/>
                                        </p:tgtEl>
                                        <p:attrNameLst>
                                          <p:attrName>style.visibility</p:attrName>
                                        </p:attrNameLst>
                                      </p:cBhvr>
                                      <p:to>
                                        <p:strVal val="visible"/>
                                      </p:to>
                                    </p:set>
                                    <p:animEffect transition="in" filter="dissolve">
                                      <p:cBhvr>
                                        <p:cTn id="35" dur="500"/>
                                        <p:tgtEl>
                                          <p:spTgt spid="143"/>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45"/>
                                        </p:tgtEl>
                                        <p:attrNameLst>
                                          <p:attrName>style.visibility</p:attrName>
                                        </p:attrNameLst>
                                      </p:cBhvr>
                                      <p:to>
                                        <p:strVal val="visible"/>
                                      </p:to>
                                    </p:set>
                                    <p:animEffect transition="in" filter="dissolve">
                                      <p:cBhvr>
                                        <p:cTn id="38" dur="500"/>
                                        <p:tgtEl>
                                          <p:spTgt spid="145"/>
                                        </p:tgtEl>
                                      </p:cBhvr>
                                    </p:animEffect>
                                  </p:childTnLst>
                                </p:cTn>
                              </p:par>
                              <p:par>
                                <p:cTn id="39" presetID="9" presetClass="entr" presetSubtype="0" fill="hold" nodeType="withEffect">
                                  <p:stCondLst>
                                    <p:cond delay="0"/>
                                  </p:stCondLst>
                                  <p:childTnLst>
                                    <p:set>
                                      <p:cBhvr>
                                        <p:cTn id="40" dur="1" fill="hold">
                                          <p:stCondLst>
                                            <p:cond delay="0"/>
                                          </p:stCondLst>
                                        </p:cTn>
                                        <p:tgtEl>
                                          <p:spTgt spid="147"/>
                                        </p:tgtEl>
                                        <p:attrNameLst>
                                          <p:attrName>style.visibility</p:attrName>
                                        </p:attrNameLst>
                                      </p:cBhvr>
                                      <p:to>
                                        <p:strVal val="visible"/>
                                      </p:to>
                                    </p:set>
                                    <p:animEffect transition="in" filter="dissolve">
                                      <p:cBhvr>
                                        <p:cTn id="41" dur="500"/>
                                        <p:tgtEl>
                                          <p:spTgt spid="147"/>
                                        </p:tgtEl>
                                      </p:cBhvr>
                                    </p:animEffect>
                                  </p:childTnLst>
                                </p:cTn>
                              </p:par>
                              <p:par>
                                <p:cTn id="42" presetID="9" presetClass="entr" presetSubtype="0" fill="hold" nodeType="withEffect">
                                  <p:stCondLst>
                                    <p:cond delay="0"/>
                                  </p:stCondLst>
                                  <p:childTnLst>
                                    <p:set>
                                      <p:cBhvr>
                                        <p:cTn id="43" dur="1" fill="hold">
                                          <p:stCondLst>
                                            <p:cond delay="0"/>
                                          </p:stCondLst>
                                        </p:cTn>
                                        <p:tgtEl>
                                          <p:spTgt spid="180"/>
                                        </p:tgtEl>
                                        <p:attrNameLst>
                                          <p:attrName>style.visibility</p:attrName>
                                        </p:attrNameLst>
                                      </p:cBhvr>
                                      <p:to>
                                        <p:strVal val="visible"/>
                                      </p:to>
                                    </p:set>
                                    <p:animEffect transition="in" filter="dissolve">
                                      <p:cBhvr>
                                        <p:cTn id="44" dur="500"/>
                                        <p:tgtEl>
                                          <p:spTgt spid="180"/>
                                        </p:tgtEl>
                                      </p:cBhvr>
                                    </p:animEffect>
                                  </p:childTnLst>
                                </p:cTn>
                              </p:par>
                              <p:par>
                                <p:cTn id="45" presetID="9" presetClass="entr" presetSubtype="0" fill="hold" nodeType="withEffect">
                                  <p:stCondLst>
                                    <p:cond delay="0"/>
                                  </p:stCondLst>
                                  <p:childTnLst>
                                    <p:set>
                                      <p:cBhvr>
                                        <p:cTn id="46" dur="1" fill="hold">
                                          <p:stCondLst>
                                            <p:cond delay="0"/>
                                          </p:stCondLst>
                                        </p:cTn>
                                        <p:tgtEl>
                                          <p:spTgt spid="183"/>
                                        </p:tgtEl>
                                        <p:attrNameLst>
                                          <p:attrName>style.visibility</p:attrName>
                                        </p:attrNameLst>
                                      </p:cBhvr>
                                      <p:to>
                                        <p:strVal val="visible"/>
                                      </p:to>
                                    </p:set>
                                    <p:animEffect transition="in" filter="dissolve">
                                      <p:cBhvr>
                                        <p:cTn id="47" dur="500"/>
                                        <p:tgtEl>
                                          <p:spTgt spid="18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146"/>
                                        </p:tgtEl>
                                        <p:attrNameLst>
                                          <p:attrName>style.visibility</p:attrName>
                                        </p:attrNameLst>
                                      </p:cBhvr>
                                      <p:to>
                                        <p:strVal val="visible"/>
                                      </p:to>
                                    </p:set>
                                    <p:animEffect transition="in" filter="wipe(right)">
                                      <p:cBhvr>
                                        <p:cTn id="52" dur="500"/>
                                        <p:tgtEl>
                                          <p:spTgt spid="146"/>
                                        </p:tgtEl>
                                      </p:cBhvr>
                                    </p:animEffect>
                                  </p:childTnLst>
                                </p:cTn>
                              </p:par>
                              <p:par>
                                <p:cTn id="53" presetID="22" presetClass="entr" presetSubtype="2" fill="hold" nodeType="withEffect">
                                  <p:stCondLst>
                                    <p:cond delay="0"/>
                                  </p:stCondLst>
                                  <p:childTnLst>
                                    <p:set>
                                      <p:cBhvr>
                                        <p:cTn id="54" dur="1" fill="hold">
                                          <p:stCondLst>
                                            <p:cond delay="0"/>
                                          </p:stCondLst>
                                        </p:cTn>
                                        <p:tgtEl>
                                          <p:spTgt spid="191"/>
                                        </p:tgtEl>
                                        <p:attrNameLst>
                                          <p:attrName>style.visibility</p:attrName>
                                        </p:attrNameLst>
                                      </p:cBhvr>
                                      <p:to>
                                        <p:strVal val="visible"/>
                                      </p:to>
                                    </p:set>
                                    <p:animEffect transition="in" filter="wipe(right)">
                                      <p:cBhvr>
                                        <p:cTn id="55" dur="500"/>
                                        <p:tgtEl>
                                          <p:spTgt spid="191"/>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grpId="0" nodeType="clickEffect">
                                  <p:stCondLst>
                                    <p:cond delay="0"/>
                                  </p:stCondLst>
                                  <p:childTnLst>
                                    <p:set>
                                      <p:cBhvr>
                                        <p:cTn id="59" dur="1" fill="hold">
                                          <p:stCondLst>
                                            <p:cond delay="0"/>
                                          </p:stCondLst>
                                        </p:cTn>
                                        <p:tgtEl>
                                          <p:spTgt spid="206"/>
                                        </p:tgtEl>
                                        <p:attrNameLst>
                                          <p:attrName>style.visibility</p:attrName>
                                        </p:attrNameLst>
                                      </p:cBhvr>
                                      <p:to>
                                        <p:strVal val="visible"/>
                                      </p:to>
                                    </p:set>
                                    <p:anim calcmode="lin" valueType="num">
                                      <p:cBhvr additive="base">
                                        <p:cTn id="60" dur="500"/>
                                        <p:tgtEl>
                                          <p:spTgt spid="206"/>
                                        </p:tgtEl>
                                        <p:attrNameLst>
                                          <p:attrName>ppt_y</p:attrName>
                                        </p:attrNameLst>
                                      </p:cBhvr>
                                      <p:tavLst>
                                        <p:tav tm="0">
                                          <p:val>
                                            <p:strVal val="#ppt_y+#ppt_h*1.125000"/>
                                          </p:val>
                                        </p:tav>
                                        <p:tav tm="100000">
                                          <p:val>
                                            <p:strVal val="#ppt_y"/>
                                          </p:val>
                                        </p:tav>
                                      </p:tavLst>
                                    </p:anim>
                                    <p:animEffect transition="in" filter="wipe(up)">
                                      <p:cBhvr>
                                        <p:cTn id="61"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9" grpId="0" animBg="1"/>
      <p:bldP spid="140" grpId="0" animBg="1"/>
      <p:bldP spid="143" grpId="0"/>
      <p:bldP spid="145" grpId="0"/>
      <p:bldP spid="206"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“棱镜门”：美国政府窥探着全世界</a:t>
            </a:r>
            <a:endParaRPr lang="zh-CN" altLang="en-US" dirty="0"/>
          </a:p>
        </p:txBody>
      </p:sp>
      <p:sp>
        <p:nvSpPr>
          <p:cNvPr id="15" name="内容占位符 14"/>
          <p:cNvSpPr>
            <a:spLocks noGrp="1"/>
          </p:cNvSpPr>
          <p:nvPr>
            <p:ph idx="1"/>
          </p:nvPr>
        </p:nvSpPr>
        <p:spPr>
          <a:xfrm>
            <a:off x="655320" y="1396696"/>
            <a:ext cx="4516473" cy="4586694"/>
          </a:xfrm>
        </p:spPr>
        <p:txBody>
          <a:bodyPr>
            <a:normAutofit lnSpcReduction="10000"/>
          </a:bodyPr>
          <a:lstStyle/>
          <a:p>
            <a:pPr marL="457200" lvl="0" indent="-457200">
              <a:lnSpc>
                <a:spcPct val="170000"/>
              </a:lnSpc>
              <a:spcBef>
                <a:spcPts val="0"/>
              </a:spcBef>
              <a:buFont typeface="Wingdings" panose="05000000000000000000" charset="0"/>
              <a:buChar char="Ø"/>
              <a:defRPr/>
            </a:pPr>
            <a:r>
              <a:rPr lang="zh-CN" altLang="en-US" dirty="0">
                <a:solidFill>
                  <a:srgbClr val="C00000"/>
                </a:solidFill>
              </a:rPr>
              <a:t>后门程序</a:t>
            </a:r>
            <a:endParaRPr lang="en-US" altLang="zh-CN" dirty="0">
              <a:solidFill>
                <a:srgbClr val="C00000"/>
              </a:solidFill>
            </a:endParaRPr>
          </a:p>
          <a:p>
            <a:pPr marL="782320" lvl="1" indent="-457200">
              <a:lnSpc>
                <a:spcPct val="170000"/>
              </a:lnSpc>
              <a:spcBef>
                <a:spcPts val="0"/>
              </a:spcBef>
              <a:buFont typeface="Arial" panose="020B0604020202020204" pitchFamily="34" charset="0"/>
              <a:buChar char="•"/>
              <a:defRPr/>
            </a:pPr>
            <a:r>
              <a:rPr lang="zh-CN" altLang="en-US" dirty="0">
                <a:solidFill>
                  <a:prstClr val="black"/>
                </a:solidFill>
              </a:rPr>
              <a:t>指那些绕过安全性控制而获取对程序或系统访问权的程序方法</a:t>
            </a:r>
            <a:endParaRPr lang="zh-CN" altLang="en-US" dirty="0">
              <a:solidFill>
                <a:prstClr val="black"/>
              </a:solidFill>
            </a:endParaRPr>
          </a:p>
          <a:p>
            <a:pPr marL="342900" lvl="0" indent="-342900">
              <a:lnSpc>
                <a:spcPct val="170000"/>
              </a:lnSpc>
              <a:spcBef>
                <a:spcPts val="0"/>
              </a:spcBef>
              <a:buFont typeface="Wingdings" panose="05000000000000000000" charset="0"/>
              <a:buChar char="Ø"/>
              <a:defRPr/>
            </a:pPr>
            <a:r>
              <a:rPr lang="zh-CN" altLang="en-US" dirty="0">
                <a:solidFill>
                  <a:srgbClr val="C00000"/>
                </a:solidFill>
                <a:sym typeface="+mn-ea"/>
              </a:rPr>
              <a:t>网络监听</a:t>
            </a:r>
            <a:endParaRPr lang="en-US" altLang="zh-CN" dirty="0">
              <a:solidFill>
                <a:srgbClr val="C00000"/>
              </a:solidFill>
              <a:sym typeface="+mn-ea"/>
            </a:endParaRPr>
          </a:p>
          <a:p>
            <a:pPr marL="668020" lvl="1" indent="-342900">
              <a:lnSpc>
                <a:spcPct val="170000"/>
              </a:lnSpc>
              <a:spcBef>
                <a:spcPts val="0"/>
              </a:spcBef>
              <a:defRPr/>
            </a:pPr>
            <a:r>
              <a:rPr lang="zh-CN" altLang="en-US" dirty="0">
                <a:solidFill>
                  <a:prstClr val="black"/>
                </a:solidFill>
                <a:sym typeface="+mn-ea"/>
              </a:rPr>
              <a:t>监视网络状态、数据流程，截获网络上所传输的信息</a:t>
            </a:r>
            <a:endParaRPr lang="zh-CN" altLang="en-US" dirty="0">
              <a:solidFill>
                <a:prstClr val="black"/>
              </a:solidFill>
              <a:sym typeface="+mn-ea"/>
            </a:endParaRPr>
          </a:p>
          <a:p>
            <a:pPr>
              <a:lnSpc>
                <a:spcPct val="170000"/>
              </a:lnSpc>
            </a:pPr>
            <a:endParaRPr lang="zh-CN" altLang="en-US"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9" name="文本框 8"/>
          <p:cNvSpPr txBox="1"/>
          <p:nvPr/>
        </p:nvSpPr>
        <p:spPr>
          <a:xfrm>
            <a:off x="6388005" y="1396696"/>
            <a:ext cx="391051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事件引发全球哗然！</a:t>
            </a:r>
            <a:endParaRPr kumimoji="0" lang="zh-CN" altLang="en-US" sz="3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16" name="内容占位符 6"/>
          <p:cNvPicPr>
            <a:picLocks noGrp="1" noChangeAspect="1"/>
          </p:cNvPicPr>
          <p:nvPr/>
        </p:nvPicPr>
        <p:blipFill>
          <a:blip r:embed="rId1"/>
          <a:stretch>
            <a:fillRect/>
          </a:stretch>
        </p:blipFill>
        <p:spPr>
          <a:xfrm>
            <a:off x="5171793" y="2353517"/>
            <a:ext cx="6781959" cy="3555267"/>
          </a:xfrm>
          <a:prstGeom prst="rect">
            <a:avLst/>
          </a:prstGeom>
        </p:spPr>
      </p:pic>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如何防御</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solidFill>
                  <a:srgbClr val="C00000"/>
                </a:solidFill>
              </a:rPr>
              <a:t>身份验证：</a:t>
            </a:r>
            <a:r>
              <a:rPr lang="zh-CN" altLang="en-US" dirty="0">
                <a:sym typeface="+mn-ea"/>
              </a:rPr>
              <a:t>证明你就是你！</a:t>
            </a:r>
            <a:endParaRPr lang="zh-CN" altLang="en-US" dirty="0">
              <a:sym typeface="+mn-ea"/>
            </a:endParaRPr>
          </a:p>
          <a:p>
            <a:pPr>
              <a:lnSpc>
                <a:spcPct val="150000"/>
              </a:lnSpc>
            </a:pPr>
            <a:r>
              <a:rPr lang="zh-CN" altLang="en-US" dirty="0">
                <a:solidFill>
                  <a:srgbClr val="C00000"/>
                </a:solidFill>
                <a:sym typeface="+mn-ea"/>
              </a:rPr>
              <a:t>保密：</a:t>
            </a:r>
            <a:r>
              <a:rPr lang="zh-CN" altLang="en-US" dirty="0">
                <a:sym typeface="+mn-ea"/>
              </a:rPr>
              <a:t>加密技术</a:t>
            </a:r>
            <a:endParaRPr lang="zh-CN" altLang="en-US" dirty="0">
              <a:sym typeface="+mn-ea"/>
            </a:endParaRPr>
          </a:p>
          <a:p>
            <a:pPr>
              <a:lnSpc>
                <a:spcPct val="150000"/>
              </a:lnSpc>
            </a:pPr>
            <a:r>
              <a:rPr lang="zh-CN" altLang="en-US" dirty="0">
                <a:solidFill>
                  <a:srgbClr val="C00000"/>
                </a:solidFill>
              </a:rPr>
              <a:t>完整性检查：</a:t>
            </a:r>
            <a:r>
              <a:rPr lang="zh-CN" altLang="en-US" dirty="0"/>
              <a:t>数字签名</a:t>
            </a:r>
            <a:r>
              <a:rPr lang="zh-CN" altLang="en-US" dirty="0">
                <a:sym typeface="+mn-ea"/>
              </a:rPr>
              <a:t>检测</a:t>
            </a:r>
            <a:r>
              <a:rPr lang="zh-CN" altLang="en-US" dirty="0"/>
              <a:t>/</a:t>
            </a:r>
            <a:r>
              <a:rPr lang="zh-CN" altLang="en-US" dirty="0">
                <a:sym typeface="+mn-ea"/>
              </a:rPr>
              <a:t>防止</a:t>
            </a:r>
            <a:r>
              <a:rPr lang="zh-CN" altLang="en-US" dirty="0"/>
              <a:t>篡改</a:t>
            </a:r>
            <a:endParaRPr lang="zh-CN" altLang="en-US" dirty="0"/>
          </a:p>
          <a:p>
            <a:pPr>
              <a:lnSpc>
                <a:spcPct val="150000"/>
              </a:lnSpc>
            </a:pPr>
            <a:r>
              <a:rPr lang="zh-CN" altLang="en-US" dirty="0">
                <a:solidFill>
                  <a:srgbClr val="C00000"/>
                </a:solidFill>
              </a:rPr>
              <a:t>访问限制：</a:t>
            </a:r>
            <a:r>
              <a:rPr lang="zh-CN" altLang="en-US" dirty="0"/>
              <a:t>受密码保护的VPN</a:t>
            </a:r>
            <a:endParaRPr lang="zh-CN" altLang="en-US" dirty="0"/>
          </a:p>
          <a:p>
            <a:pPr>
              <a:lnSpc>
                <a:spcPct val="150000"/>
              </a:lnSpc>
            </a:pPr>
            <a:r>
              <a:rPr lang="zh-CN" altLang="en-US" dirty="0">
                <a:solidFill>
                  <a:srgbClr val="C00000"/>
                </a:solidFill>
              </a:rPr>
              <a:t>防火墙：</a:t>
            </a:r>
            <a:r>
              <a:rPr lang="zh-CN" altLang="en-US" dirty="0"/>
              <a:t>接入网络和核心网络中的专用“安全卫士”</a:t>
            </a: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 name="文本框 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我们国家网络安全的法规</a:t>
            </a:r>
            <a:endParaRPr lang="zh-CN" altLang="en-US" dirty="0"/>
          </a:p>
        </p:txBody>
      </p:sp>
      <p:sp>
        <p:nvSpPr>
          <p:cNvPr id="3" name="内容占位符 2"/>
          <p:cNvSpPr>
            <a:spLocks noGrp="1"/>
          </p:cNvSpPr>
          <p:nvPr>
            <p:ph idx="1"/>
          </p:nvPr>
        </p:nvSpPr>
        <p:spPr>
          <a:xfrm>
            <a:off x="838200" y="1432379"/>
            <a:ext cx="10515600" cy="3338831"/>
          </a:xfrm>
        </p:spPr>
        <p:txBody>
          <a:bodyPr>
            <a:normAutofit fontScale="92500" lnSpcReduction="20000"/>
          </a:bodyPr>
          <a:lstStyle/>
          <a:p>
            <a:pPr>
              <a:lnSpc>
                <a:spcPct val="150000"/>
              </a:lnSpc>
            </a:pPr>
            <a:r>
              <a:rPr lang="en-US" altLang="zh-CN" dirty="0">
                <a:solidFill>
                  <a:srgbClr val="C00000"/>
                </a:solidFill>
              </a:rPr>
              <a:t>《</a:t>
            </a:r>
            <a:r>
              <a:rPr lang="zh-CN" altLang="en-US" dirty="0">
                <a:solidFill>
                  <a:srgbClr val="C00000"/>
                </a:solidFill>
              </a:rPr>
              <a:t>中华人民共和国网络安全法</a:t>
            </a:r>
            <a:r>
              <a:rPr lang="en-US" altLang="zh-CN" dirty="0">
                <a:solidFill>
                  <a:srgbClr val="C00000"/>
                </a:solidFill>
              </a:rPr>
              <a:t>》</a:t>
            </a:r>
            <a:endParaRPr lang="en-US" altLang="zh-CN" dirty="0">
              <a:solidFill>
                <a:srgbClr val="C00000"/>
              </a:solidFill>
            </a:endParaRPr>
          </a:p>
          <a:p>
            <a:pPr lvl="1">
              <a:lnSpc>
                <a:spcPct val="150000"/>
              </a:lnSpc>
            </a:pPr>
            <a:r>
              <a:rPr lang="zh-CN" altLang="en-US" dirty="0"/>
              <a:t>由全国人民代表大会常务委员会于</a:t>
            </a:r>
            <a:r>
              <a:rPr lang="en-US" altLang="zh-CN" dirty="0"/>
              <a:t>2016</a:t>
            </a:r>
            <a:r>
              <a:rPr lang="zh-CN" altLang="en-US" dirty="0"/>
              <a:t>年</a:t>
            </a:r>
            <a:r>
              <a:rPr lang="en-US" altLang="zh-CN" dirty="0"/>
              <a:t>11</a:t>
            </a:r>
            <a:r>
              <a:rPr lang="zh-CN" altLang="en-US" dirty="0"/>
              <a:t>月</a:t>
            </a:r>
            <a:r>
              <a:rPr lang="en-US" altLang="zh-CN" dirty="0"/>
              <a:t>7</a:t>
            </a:r>
            <a:r>
              <a:rPr lang="zh-CN" altLang="en-US" dirty="0"/>
              <a:t>日发布</a:t>
            </a:r>
            <a:endParaRPr lang="en-US" altLang="zh-CN" dirty="0"/>
          </a:p>
          <a:p>
            <a:pPr>
              <a:lnSpc>
                <a:spcPct val="150000"/>
              </a:lnSpc>
            </a:pPr>
            <a:r>
              <a:rPr lang="en-US" altLang="zh-CN" dirty="0">
                <a:solidFill>
                  <a:srgbClr val="C00000"/>
                </a:solidFill>
              </a:rPr>
              <a:t>《</a:t>
            </a:r>
            <a:r>
              <a:rPr lang="zh-CN" altLang="en-US" dirty="0">
                <a:solidFill>
                  <a:srgbClr val="C00000"/>
                </a:solidFill>
              </a:rPr>
              <a:t>互联网信息服务管理办法</a:t>
            </a:r>
            <a:r>
              <a:rPr lang="en-US" altLang="zh-CN" dirty="0">
                <a:solidFill>
                  <a:srgbClr val="C00000"/>
                </a:solidFill>
              </a:rPr>
              <a:t>》</a:t>
            </a:r>
            <a:endParaRPr lang="en-US" altLang="zh-CN" dirty="0">
              <a:solidFill>
                <a:srgbClr val="C00000"/>
              </a:solidFill>
            </a:endParaRPr>
          </a:p>
          <a:p>
            <a:pPr lvl="1">
              <a:lnSpc>
                <a:spcPct val="150000"/>
              </a:lnSpc>
            </a:pPr>
            <a:r>
              <a:rPr lang="en-US" altLang="zh-CN" dirty="0"/>
              <a:t>2000</a:t>
            </a:r>
            <a:r>
              <a:rPr lang="zh-CN" altLang="en-US" dirty="0"/>
              <a:t>年</a:t>
            </a:r>
            <a:r>
              <a:rPr lang="en-US" altLang="zh-CN" dirty="0"/>
              <a:t>9</a:t>
            </a:r>
            <a:r>
              <a:rPr lang="zh-CN" altLang="en-US" dirty="0"/>
              <a:t>月</a:t>
            </a:r>
            <a:r>
              <a:rPr lang="en-US" altLang="zh-CN" dirty="0"/>
              <a:t>25</a:t>
            </a:r>
            <a:r>
              <a:rPr lang="zh-CN" altLang="en-US" dirty="0"/>
              <a:t>日公布施行</a:t>
            </a:r>
            <a:endParaRPr lang="en-US" altLang="zh-CN" dirty="0"/>
          </a:p>
          <a:p>
            <a:pPr lvl="1">
              <a:lnSpc>
                <a:spcPct val="150000"/>
              </a:lnSpc>
            </a:pPr>
            <a:r>
              <a:rPr lang="en-US" altLang="zh-CN" dirty="0"/>
              <a:t>2021</a:t>
            </a:r>
            <a:r>
              <a:rPr lang="zh-CN" altLang="en-US" dirty="0"/>
              <a:t>年</a:t>
            </a:r>
            <a:r>
              <a:rPr lang="en-US" altLang="zh-CN" dirty="0"/>
              <a:t>1</a:t>
            </a:r>
            <a:r>
              <a:rPr lang="zh-CN" altLang="en-US" dirty="0"/>
              <a:t>月</a:t>
            </a:r>
            <a:r>
              <a:rPr lang="en-US" altLang="zh-CN" dirty="0"/>
              <a:t>8</a:t>
            </a:r>
            <a:r>
              <a:rPr lang="zh-CN" altLang="en-US" dirty="0"/>
              <a:t>日，国家网信办就</a:t>
            </a:r>
            <a:r>
              <a:rPr lang="en-US" altLang="zh-CN" dirty="0"/>
              <a:t>《</a:t>
            </a:r>
            <a:r>
              <a:rPr lang="zh-CN" altLang="en-US" dirty="0"/>
              <a:t>互联网信息服务管理办法（修订草案征求意见稿）</a:t>
            </a:r>
            <a:r>
              <a:rPr lang="en-US" altLang="zh-CN" dirty="0"/>
              <a:t>》</a:t>
            </a:r>
            <a:r>
              <a:rPr lang="zh-CN" altLang="en-US" dirty="0"/>
              <a:t>公开征求意见，意见反馈截止日期为</a:t>
            </a:r>
            <a:r>
              <a:rPr lang="en-US" altLang="zh-CN" dirty="0"/>
              <a:t>2021</a:t>
            </a:r>
            <a:r>
              <a:rPr lang="zh-CN" altLang="en-US" dirty="0"/>
              <a:t>年</a:t>
            </a:r>
            <a:r>
              <a:rPr lang="en-US" altLang="zh-CN" dirty="0"/>
              <a:t>2</a:t>
            </a:r>
            <a:r>
              <a:rPr lang="zh-CN" altLang="en-US" dirty="0"/>
              <a:t>月</a:t>
            </a:r>
            <a:r>
              <a:rPr lang="en-US" altLang="zh-CN" dirty="0"/>
              <a:t>7</a:t>
            </a:r>
            <a:r>
              <a:rPr lang="zh-CN" altLang="en-US" dirty="0"/>
              <a:t>日</a:t>
            </a:r>
            <a:endParaRPr lang="en-US" altLang="zh-CN" dirty="0"/>
          </a:p>
          <a:p>
            <a:pPr marL="0" indent="0">
              <a:lnSpc>
                <a:spcPct val="125000"/>
              </a:lnSpc>
              <a:buNone/>
            </a:pPr>
            <a:endParaRPr lang="zh-CN" altLang="en-US"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1.6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网络安全</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5" name="内容占位符 4"/>
          <p:cNvSpPr>
            <a:spLocks noGrp="1"/>
          </p:cNvSpPr>
          <p:nvPr>
            <p:ph idx="1"/>
          </p:nvPr>
        </p:nvSpPr>
        <p:spPr>
          <a:xfrm>
            <a:off x="1307508" y="1510758"/>
            <a:ext cx="10046292" cy="4982116"/>
          </a:xfrm>
        </p:spPr>
        <p:txBody>
          <a:bodyPr>
            <a:normAutofit lnSpcReduction="10000"/>
          </a:bodyPr>
          <a:lstStyle/>
          <a:p>
            <a:pPr marL="0" indent="0">
              <a:lnSpc>
                <a:spcPct val="130000"/>
              </a:lnSpc>
              <a:buNone/>
            </a:pPr>
            <a:r>
              <a:rPr kumimoji="1" lang="en-US" altLang="zh-CN" dirty="0"/>
              <a:t>1.1 </a:t>
            </a:r>
            <a:r>
              <a:rPr kumimoji="1" lang="zh-CN" altLang="en-US" dirty="0"/>
              <a:t>初识互联网</a:t>
            </a:r>
            <a:endParaRPr kumimoji="1" lang="en-US" altLang="zh-CN" dirty="0"/>
          </a:p>
          <a:p>
            <a:pPr marL="0" indent="0">
              <a:lnSpc>
                <a:spcPct val="130000"/>
              </a:lnSpc>
              <a:buNone/>
            </a:pPr>
            <a:r>
              <a:rPr kumimoji="1" lang="en-US" altLang="zh-CN" dirty="0"/>
              <a:t>1.2 </a:t>
            </a:r>
            <a:r>
              <a:rPr kumimoji="1" lang="zh-CN" altLang="en-US" dirty="0"/>
              <a:t>网络实例</a:t>
            </a:r>
            <a:endParaRPr kumimoji="1" lang="en-US" altLang="zh-CN" dirty="0"/>
          </a:p>
          <a:p>
            <a:pPr marL="0" indent="0">
              <a:lnSpc>
                <a:spcPct val="130000"/>
              </a:lnSpc>
              <a:buNone/>
            </a:pPr>
            <a:r>
              <a:rPr kumimoji="1" lang="en-US" altLang="zh-CN" dirty="0"/>
              <a:t>1.3 </a:t>
            </a:r>
            <a:r>
              <a:rPr kumimoji="1" lang="zh-CN" altLang="en-US" dirty="0"/>
              <a:t>协议与分层结构</a:t>
            </a:r>
            <a:endParaRPr kumimoji="1" lang="en-US" altLang="zh-CN" dirty="0"/>
          </a:p>
          <a:p>
            <a:pPr marL="0" indent="0">
              <a:lnSpc>
                <a:spcPct val="130000"/>
              </a:lnSpc>
              <a:buNone/>
            </a:pPr>
            <a:r>
              <a:rPr kumimoji="1" lang="en-US" altLang="zh-CN" dirty="0"/>
              <a:t>1.4 </a:t>
            </a:r>
            <a:r>
              <a:rPr kumimoji="1" lang="zh-CN" altLang="en-US" dirty="0"/>
              <a:t>参考模型</a:t>
            </a:r>
            <a:endParaRPr kumimoji="1" lang="en-US" altLang="zh-CN" dirty="0"/>
          </a:p>
          <a:p>
            <a:pPr marL="0" indent="0">
              <a:lnSpc>
                <a:spcPct val="130000"/>
              </a:lnSpc>
              <a:buNone/>
            </a:pPr>
            <a:r>
              <a:rPr kumimoji="1" lang="en-US" altLang="zh-CN" dirty="0"/>
              <a:t>1.5 </a:t>
            </a:r>
            <a:r>
              <a:rPr kumimoji="1" lang="zh-CN" altLang="en-US" dirty="0"/>
              <a:t>计算机网络度量单位</a:t>
            </a:r>
            <a:endParaRPr kumimoji="1" lang="en-US" altLang="zh-CN" dirty="0"/>
          </a:p>
          <a:p>
            <a:pPr marL="0" indent="0">
              <a:lnSpc>
                <a:spcPct val="130000"/>
              </a:lnSpc>
              <a:buNone/>
            </a:pPr>
            <a:r>
              <a:rPr kumimoji="1" lang="en-US" altLang="zh-CN" dirty="0"/>
              <a:t>1.6 </a:t>
            </a:r>
            <a:r>
              <a:rPr kumimoji="1" lang="zh-CN" altLang="en-US" dirty="0"/>
              <a:t>网络安全与威胁</a:t>
            </a:r>
            <a:endParaRPr kumimoji="1" lang="zh-CN" altLang="en-US" dirty="0"/>
          </a:p>
          <a:p>
            <a:pPr marL="0" indent="0">
              <a:lnSpc>
                <a:spcPct val="130000"/>
              </a:lnSpc>
              <a:buNone/>
            </a:pPr>
            <a:r>
              <a:rPr kumimoji="1" lang="en-US" altLang="zh-CN" dirty="0">
                <a:solidFill>
                  <a:srgbClr val="C00000"/>
                </a:solidFill>
              </a:rPr>
              <a:t>1.7 </a:t>
            </a:r>
            <a:r>
              <a:rPr kumimoji="1" lang="zh-CN" altLang="en-US" dirty="0">
                <a:solidFill>
                  <a:srgbClr val="C00000"/>
                </a:solidFill>
              </a:rPr>
              <a:t>标准化组织</a:t>
            </a:r>
            <a:endParaRPr kumimoji="1" lang="en-US" altLang="zh-CN" dirty="0">
              <a:solidFill>
                <a:srgbClr val="C00000"/>
              </a:solidFill>
            </a:endParaRPr>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 name="矩形标注 6"/>
          <p:cNvSpPr/>
          <p:nvPr/>
        </p:nvSpPr>
        <p:spPr>
          <a:xfrm>
            <a:off x="6226960" y="2941101"/>
            <a:ext cx="3878574" cy="2596450"/>
          </a:xfrm>
          <a:prstGeom prst="wedgeRectCallout">
            <a:avLst>
              <a:gd name="adj1" fmla="val -86019"/>
              <a:gd name="adj2" fmla="val 4242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国际标准组织</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Internet</a:t>
            </a:r>
            <a:r>
              <a:rPr kumimoji="1" lang="zh-CN" altLang="en-US" sz="2400" dirty="0">
                <a:solidFill>
                  <a:prstClr val="black"/>
                </a:solidFill>
                <a:latin typeface="微软雅黑" panose="020B0503020204020204" pitchFamily="34" charset="-122"/>
                <a:ea typeface="微软雅黑" panose="020B0503020204020204" pitchFamily="34" charset="-122"/>
              </a:rPr>
              <a:t>标准化组织</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我国相关标准组织</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开源社区</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国际标准组织</a:t>
            </a:r>
            <a:endParaRPr kumimoji="1" lang="zh-CN" altLang="en-US" dirty="0"/>
          </a:p>
        </p:txBody>
      </p:sp>
      <p:sp>
        <p:nvSpPr>
          <p:cNvPr id="3" name="内容占位符 2"/>
          <p:cNvSpPr>
            <a:spLocks noGrp="1"/>
          </p:cNvSpPr>
          <p:nvPr>
            <p:ph idx="1"/>
          </p:nvPr>
        </p:nvSpPr>
        <p:spPr>
          <a:xfrm>
            <a:off x="838200" y="1432561"/>
            <a:ext cx="9211945" cy="5029200"/>
          </a:xfrm>
        </p:spPr>
        <p:txBody>
          <a:bodyPr>
            <a:normAutofit/>
          </a:bodyPr>
          <a:lstStyle/>
          <a:p>
            <a:pPr>
              <a:lnSpc>
                <a:spcPct val="110000"/>
              </a:lnSpc>
              <a:buFont typeface="Wingdings" panose="05000000000000000000" charset="0"/>
              <a:buChar char="Ø"/>
            </a:pPr>
            <a:r>
              <a:rPr lang="zh-CN" altLang="en-US" sz="2600" dirty="0">
                <a:solidFill>
                  <a:schemeClr val="tx1"/>
                </a:solidFill>
                <a:effectLst/>
                <a:cs typeface="Times New Roman" panose="02020603050405020304" pitchFamily="18" charset="0"/>
              </a:rPr>
              <a:t>国际</a:t>
            </a:r>
            <a:r>
              <a:rPr lang="zh-CN" altLang="en-US" sz="2600" kern="0" dirty="0">
                <a:solidFill>
                  <a:schemeClr val="tx1"/>
                </a:solidFill>
                <a:cs typeface="Times New Roman" panose="02020603050405020304" pitchFamily="18" charset="0"/>
              </a:rPr>
              <a:t>标</a:t>
            </a:r>
            <a:r>
              <a:rPr lang="zh-CN" altLang="en-US" sz="2600" dirty="0">
                <a:solidFill>
                  <a:schemeClr val="tx1"/>
                </a:solidFill>
                <a:effectLst/>
                <a:cs typeface="Times New Roman" panose="02020603050405020304" pitchFamily="18" charset="0"/>
              </a:rPr>
              <a:t>准化组织（</a:t>
            </a:r>
            <a:r>
              <a:rPr lang="en-US" altLang="zh-CN" sz="2600" dirty="0">
                <a:solidFill>
                  <a:schemeClr val="tx1"/>
                </a:solidFill>
                <a:effectLst/>
                <a:cs typeface="Times New Roman" panose="02020603050405020304" pitchFamily="18" charset="0"/>
                <a:sym typeface="+mn-ea"/>
              </a:rPr>
              <a:t>ISO</a:t>
            </a:r>
            <a:r>
              <a:rPr lang="zh-CN" altLang="en-US" sz="2600" dirty="0">
                <a:solidFill>
                  <a:schemeClr val="tx1"/>
                </a:solidFill>
                <a:effectLst/>
                <a:cs typeface="Times New Roman" panose="02020603050405020304" pitchFamily="18" charset="0"/>
              </a:rPr>
              <a:t>）</a:t>
            </a:r>
            <a:endParaRPr lang="en-US" altLang="zh-CN" sz="2600" dirty="0">
              <a:solidFill>
                <a:schemeClr val="tx1"/>
              </a:solidFill>
              <a:effectLst/>
              <a:cs typeface="Times New Roman" panose="02020603050405020304" pitchFamily="18" charset="0"/>
            </a:endParaRPr>
          </a:p>
          <a:p>
            <a:pPr marL="775335" lvl="1" indent="-317500">
              <a:lnSpc>
                <a:spcPct val="110000"/>
              </a:lnSpc>
              <a:spcAft>
                <a:spcPts val="0"/>
              </a:spcAft>
              <a:buFont typeface="Arial" panose="020B0604020202020204" pitchFamily="34" charset="0"/>
              <a:buChar char="•"/>
            </a:pPr>
            <a:r>
              <a:rPr lang="en-US" altLang="zh-CN" sz="2200" kern="0" dirty="0">
                <a:cs typeface="Times New Roman" panose="02020603050405020304" pitchFamily="18" charset="0"/>
                <a:sym typeface="+mn-ea"/>
              </a:rPr>
              <a:t>ISO</a:t>
            </a:r>
            <a:r>
              <a:rPr lang="zh-CN" altLang="en-US" sz="2200" kern="0" dirty="0">
                <a:cs typeface="Times New Roman" panose="02020603050405020304" pitchFamily="18" charset="0"/>
                <a:sym typeface="+mn-ea"/>
              </a:rPr>
              <a:t> </a:t>
            </a:r>
            <a:r>
              <a:rPr lang="en-US" altLang="zh-CN" sz="2200" kern="0" dirty="0">
                <a:cs typeface="Times New Roman" panose="02020603050405020304" pitchFamily="18" charset="0"/>
                <a:sym typeface="+mn-ea"/>
              </a:rPr>
              <a:t>(International Organization for Standardization)</a:t>
            </a:r>
            <a:r>
              <a:rPr lang="zh-CN" altLang="en-US" sz="2200" kern="0" dirty="0">
                <a:cs typeface="Times New Roman" panose="02020603050405020304" pitchFamily="18" charset="0"/>
                <a:sym typeface="+mn-ea"/>
              </a:rPr>
              <a:t>是一个国际化组织，它包括了许多国家的标准团体</a:t>
            </a:r>
            <a:endParaRPr lang="en-US" altLang="zh-CN" sz="2200" dirty="0">
              <a:effectLst/>
              <a:cs typeface="Times New Roman" panose="02020603050405020304" pitchFamily="18" charset="0"/>
            </a:endParaRPr>
          </a:p>
          <a:p>
            <a:pPr marL="807085" lvl="1" indent="-348615">
              <a:lnSpc>
                <a:spcPct val="110000"/>
              </a:lnSpc>
              <a:spcAft>
                <a:spcPts val="0"/>
              </a:spcAft>
              <a:buFont typeface="Arial" panose="020B0604020202020204" pitchFamily="34" charset="0"/>
              <a:buChar char="•"/>
            </a:pPr>
            <a:r>
              <a:rPr lang="zh-CN" altLang="en-US" sz="2200" kern="100" dirty="0">
                <a:solidFill>
                  <a:srgbClr val="C00000"/>
                </a:solidFill>
                <a:effectLst/>
                <a:cs typeface="Times New Roman" panose="02020603050405020304" pitchFamily="18" charset="0"/>
              </a:rPr>
              <a:t>国际标准ISO 7498：</a:t>
            </a:r>
            <a:r>
              <a:rPr lang="zh-CN" altLang="en-US" sz="2200" kern="100" dirty="0">
                <a:solidFill>
                  <a:srgbClr val="C00000"/>
                </a:solidFill>
                <a:effectLst/>
                <a:cs typeface="Times New Roman" panose="02020603050405020304" pitchFamily="18" charset="0"/>
                <a:sym typeface="+mn-ea"/>
              </a:rPr>
              <a:t>OSI 七层参考模型</a:t>
            </a:r>
            <a:endParaRPr lang="en-US" altLang="zh-CN" sz="2200" dirty="0">
              <a:solidFill>
                <a:srgbClr val="C00000"/>
              </a:solidFill>
              <a:effectLst/>
              <a:cs typeface="Times New Roman" panose="02020603050405020304" pitchFamily="18" charset="0"/>
            </a:endParaRPr>
          </a:p>
          <a:p>
            <a:pPr algn="l">
              <a:lnSpc>
                <a:spcPct val="110000"/>
              </a:lnSpc>
              <a:buClrTx/>
              <a:buSzTx/>
              <a:buFont typeface="Wingdings" panose="05000000000000000000" charset="0"/>
              <a:buChar char="Ø"/>
            </a:pPr>
            <a:r>
              <a:rPr lang="zh-CN" altLang="en-US" sz="2600" dirty="0">
                <a:solidFill>
                  <a:schemeClr val="tx1"/>
                </a:solidFill>
                <a:effectLst/>
                <a:cs typeface="Times New Roman" panose="02020603050405020304" pitchFamily="18" charset="0"/>
              </a:rPr>
              <a:t>国际电信联盟（ITU）</a:t>
            </a:r>
            <a:endParaRPr lang="zh-CN" altLang="en-US" sz="2600" dirty="0">
              <a:solidFill>
                <a:schemeClr val="tx1"/>
              </a:solidFill>
              <a:effectLst/>
              <a:cs typeface="Times New Roman" panose="02020603050405020304" pitchFamily="18" charset="0"/>
            </a:endParaRPr>
          </a:p>
          <a:p>
            <a:pPr marL="765175" lvl="1" indent="-307340" algn="l">
              <a:lnSpc>
                <a:spcPct val="110000"/>
              </a:lnSpc>
              <a:spcAft>
                <a:spcPts val="0"/>
              </a:spcAft>
              <a:buClrTx/>
              <a:buSzTx/>
              <a:buFont typeface="Arial" panose="020B0604020202020204" pitchFamily="34" charset="0"/>
              <a:buChar char="•"/>
            </a:pPr>
            <a:r>
              <a:rPr lang="en-US" altLang="zh-CN" sz="2200" dirty="0">
                <a:effectLst/>
                <a:cs typeface="Times New Roman" panose="02020603050405020304" pitchFamily="18" charset="0"/>
                <a:sym typeface="+mn-ea"/>
              </a:rPr>
              <a:t>ITU</a:t>
            </a:r>
            <a:r>
              <a:rPr lang="zh-CN" altLang="en-US" sz="2200" dirty="0">
                <a:effectLst/>
                <a:cs typeface="Times New Roman" panose="02020603050405020304" pitchFamily="18" charset="0"/>
                <a:sym typeface="+mn-ea"/>
              </a:rPr>
              <a:t> </a:t>
            </a:r>
            <a:r>
              <a:rPr lang="en-US" altLang="zh-CN" sz="2200" dirty="0">
                <a:effectLst/>
                <a:cs typeface="Times New Roman" panose="02020603050405020304" pitchFamily="18" charset="0"/>
                <a:sym typeface="+mn-ea"/>
              </a:rPr>
              <a:t>(</a:t>
            </a:r>
            <a:r>
              <a:rPr lang="en-US" altLang="zh-CN" sz="2200" dirty="0">
                <a:effectLst/>
                <a:cs typeface="Times New Roman" panose="02020603050405020304" pitchFamily="18" charset="0"/>
              </a:rPr>
              <a:t>International Telecommunicatons Union)</a:t>
            </a:r>
            <a:r>
              <a:rPr lang="en-US" altLang="zh-CN" sz="2200" dirty="0" err="1">
                <a:effectLst/>
                <a:cs typeface="Times New Roman" panose="02020603050405020304" pitchFamily="18" charset="0"/>
              </a:rPr>
              <a:t>前身是国际电报电话咨询委员会（CCITT</a:t>
            </a:r>
            <a:r>
              <a:rPr lang="en-US" altLang="zh-CN" sz="2200" dirty="0">
                <a:effectLst/>
                <a:cs typeface="Times New Roman" panose="02020603050405020304" pitchFamily="18" charset="0"/>
              </a:rPr>
              <a:t>）</a:t>
            </a:r>
            <a:endParaRPr lang="en-US" altLang="zh-CN" sz="2200" dirty="0">
              <a:cs typeface="Times New Roman" panose="02020603050405020304" pitchFamily="18" charset="0"/>
            </a:endParaRPr>
          </a:p>
          <a:p>
            <a:pPr marL="765175" lvl="1" indent="-307340" algn="l">
              <a:lnSpc>
                <a:spcPct val="110000"/>
              </a:lnSpc>
              <a:spcAft>
                <a:spcPts val="0"/>
              </a:spcAft>
              <a:buClrTx/>
              <a:buSzTx/>
              <a:buFont typeface="Arial" panose="020B0604020202020204" pitchFamily="34" charset="0"/>
              <a:buChar char="•"/>
            </a:pPr>
            <a:r>
              <a:rPr lang="en-US" altLang="zh-CN" sz="2200" dirty="0" err="1">
                <a:effectLst/>
                <a:cs typeface="Times New Roman" panose="02020603050405020304" pitchFamily="18" charset="0"/>
              </a:rPr>
              <a:t>ITU是一家</a:t>
            </a:r>
            <a:r>
              <a:rPr lang="en-US" altLang="zh-CN" sz="2200" dirty="0" err="1">
                <a:solidFill>
                  <a:srgbClr val="C00000"/>
                </a:solidFill>
                <a:effectLst/>
                <a:cs typeface="Times New Roman" panose="02020603050405020304" pitchFamily="18" charset="0"/>
              </a:rPr>
              <a:t>联合国机构</a:t>
            </a:r>
            <a:r>
              <a:rPr lang="en-US" altLang="zh-CN" sz="2200" dirty="0" err="1">
                <a:effectLst/>
                <a:cs typeface="Times New Roman" panose="02020603050405020304" pitchFamily="18" charset="0"/>
              </a:rPr>
              <a:t>，共分为三个部门：ITU-R负责无线电通信，ITU-D是发展部门，</a:t>
            </a:r>
            <a:r>
              <a:rPr lang="en-US" altLang="zh-CN" sz="2200" dirty="0" err="1">
                <a:effectLst/>
                <a:cs typeface="Times New Roman" panose="02020603050405020304" pitchFamily="18" charset="0"/>
                <a:sym typeface="+mn-ea"/>
              </a:rPr>
              <a:t>ITU-T负责电信</a:t>
            </a:r>
            <a:endParaRPr lang="en-US" altLang="zh-CN" sz="2200" dirty="0">
              <a:effectLst/>
              <a:cs typeface="Times New Roman" panose="02020603050405020304" pitchFamily="18" charset="0"/>
              <a:sym typeface="+mn-ea"/>
            </a:endParaRPr>
          </a:p>
          <a:p>
            <a:pPr marL="775335" lvl="1" indent="-317500" algn="l">
              <a:lnSpc>
                <a:spcPct val="110000"/>
              </a:lnSpc>
              <a:spcAft>
                <a:spcPts val="0"/>
              </a:spcAft>
              <a:buClrTx/>
              <a:buSzTx/>
              <a:buFont typeface="Arial" panose="020B0604020202020204" pitchFamily="34" charset="0"/>
              <a:buChar char="•"/>
            </a:pPr>
            <a:r>
              <a:rPr lang="en-US" altLang="zh-CN" sz="2200" dirty="0" err="1">
                <a:effectLst/>
                <a:cs typeface="Times New Roman" panose="02020603050405020304" pitchFamily="18" charset="0"/>
              </a:rPr>
              <a:t>ITU制定了许多</a:t>
            </a:r>
            <a:r>
              <a:rPr lang="zh-CN" altLang="en-US" sz="2200" dirty="0">
                <a:effectLst/>
                <a:cs typeface="Times New Roman" panose="02020603050405020304" pitchFamily="18" charset="0"/>
              </a:rPr>
              <a:t>网络</a:t>
            </a:r>
            <a:r>
              <a:rPr lang="en-US" altLang="zh-CN" sz="2200" dirty="0" err="1">
                <a:effectLst/>
                <a:cs typeface="Times New Roman" panose="02020603050405020304" pitchFamily="18" charset="0"/>
              </a:rPr>
              <a:t>和电话通信方面的标准</a:t>
            </a:r>
            <a:endParaRPr lang="en-US" altLang="zh-CN" sz="2200" dirty="0">
              <a:effectLst/>
              <a:cs typeface="Times New Roman" panose="02020603050405020304" pitchFamily="18" charset="0"/>
            </a:endParaRPr>
          </a:p>
          <a:p>
            <a:pPr marL="775335" lvl="1" indent="-317500" algn="l">
              <a:lnSpc>
                <a:spcPct val="110000"/>
              </a:lnSpc>
              <a:spcAft>
                <a:spcPts val="0"/>
              </a:spcAft>
              <a:buClrTx/>
              <a:buSzTx/>
              <a:buFont typeface="Arial" panose="020B0604020202020204" pitchFamily="34" charset="0"/>
              <a:buChar char="•"/>
            </a:pPr>
            <a:r>
              <a:rPr kumimoji="1" lang="en-US" altLang="zh-CN" sz="2200" dirty="0">
                <a:cs typeface="Times New Roman" panose="02020603050405020304" pitchFamily="18" charset="0"/>
              </a:rPr>
              <a:t>ITU</a:t>
            </a:r>
            <a:r>
              <a:rPr kumimoji="1" lang="zh-CN" altLang="en-US" sz="2200" dirty="0">
                <a:cs typeface="Times New Roman" panose="02020603050405020304" pitchFamily="18" charset="0"/>
              </a:rPr>
              <a:t>常采用政府代表团形式参会，工信部组织我国代表团参加</a:t>
            </a:r>
            <a:endParaRPr kumimoji="1" lang="en-US" altLang="zh-CN" sz="2200" dirty="0">
              <a:effectLst/>
              <a:cs typeface="Times New Roman" panose="02020603050405020304" pitchFamily="18" charset="0"/>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3078" name="Picture 6"/>
          <p:cNvPicPr>
            <a:picLocks noChangeAspect="1" noChangeArrowheads="1"/>
          </p:cNvPicPr>
          <p:nvPr/>
        </p:nvPicPr>
        <p:blipFill>
          <a:blip r:embed="rId1" cstate="print"/>
          <a:srcRect/>
          <a:stretch>
            <a:fillRect/>
          </a:stretch>
        </p:blipFill>
        <p:spPr bwMode="auto">
          <a:xfrm>
            <a:off x="10050780" y="2005965"/>
            <a:ext cx="1613535" cy="112331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p:cNvPicPr>
            <a:picLocks noChangeAspect="1" noChangeArrowheads="1"/>
          </p:cNvPicPr>
          <p:nvPr/>
        </p:nvPicPr>
        <p:blipFill>
          <a:blip r:embed="rId2" cstate="print"/>
          <a:srcRect/>
          <a:stretch>
            <a:fillRect/>
          </a:stretch>
        </p:blipFill>
        <p:spPr bwMode="auto">
          <a:xfrm>
            <a:off x="10335260" y="4423410"/>
            <a:ext cx="1412875" cy="106045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国际标准组织</a:t>
            </a:r>
            <a:endParaRPr kumimoji="1" lang="zh-CN" altLang="en-US" dirty="0"/>
          </a:p>
        </p:txBody>
      </p:sp>
      <p:sp>
        <p:nvSpPr>
          <p:cNvPr id="3" name="内容占位符 2"/>
          <p:cNvSpPr>
            <a:spLocks noGrp="1"/>
          </p:cNvSpPr>
          <p:nvPr>
            <p:ph idx="1"/>
          </p:nvPr>
        </p:nvSpPr>
        <p:spPr>
          <a:xfrm>
            <a:off x="830584" y="1294907"/>
            <a:ext cx="8017582" cy="5372779"/>
          </a:xfrm>
        </p:spPr>
        <p:txBody>
          <a:bodyPr>
            <a:normAutofit fontScale="92500" lnSpcReduction="20000"/>
          </a:bodyPr>
          <a:lstStyle/>
          <a:p>
            <a:pPr>
              <a:lnSpc>
                <a:spcPct val="120000"/>
              </a:lnSpc>
              <a:spcAft>
                <a:spcPts val="0"/>
              </a:spcAft>
              <a:buClrTx/>
              <a:buSzTx/>
              <a:buFont typeface="Wingdings" panose="05000000000000000000" charset="0"/>
              <a:buChar char="Ø"/>
            </a:pPr>
            <a:r>
              <a:rPr lang="zh-CN" altLang="en-US" sz="2400" dirty="0">
                <a:solidFill>
                  <a:schemeClr val="tx1"/>
                </a:solidFill>
                <a:effectLst/>
                <a:cs typeface="Times New Roman" panose="02020603050405020304" pitchFamily="18" charset="0"/>
              </a:rPr>
              <a:t>国际电气和电子工程师协会（</a:t>
            </a:r>
            <a:r>
              <a:rPr lang="zh-CN" altLang="en-US" sz="2400" dirty="0">
                <a:solidFill>
                  <a:schemeClr val="tx1"/>
                </a:solidFill>
                <a:effectLst/>
                <a:cs typeface="Times New Roman" panose="02020603050405020304" pitchFamily="18" charset="0"/>
                <a:sym typeface="+mn-ea"/>
              </a:rPr>
              <a:t>IEEE</a:t>
            </a:r>
            <a:r>
              <a:rPr lang="zh-CN" altLang="en-US" sz="2400" dirty="0">
                <a:solidFill>
                  <a:schemeClr val="tx1"/>
                </a:solidFill>
                <a:effectLst/>
                <a:cs typeface="Times New Roman" panose="02020603050405020304" pitchFamily="18" charset="0"/>
              </a:rPr>
              <a:t>） </a:t>
            </a:r>
            <a:endParaRPr lang="zh-CN" altLang="en-US" sz="2400" dirty="0">
              <a:solidFill>
                <a:srgbClr val="B348FF"/>
              </a:solidFill>
              <a:effectLst/>
              <a:cs typeface="Times New Roman" panose="02020603050405020304" pitchFamily="18" charset="0"/>
            </a:endParaRPr>
          </a:p>
          <a:p>
            <a:pPr marL="646430" indent="-285750">
              <a:lnSpc>
                <a:spcPct val="120000"/>
              </a:lnSpc>
              <a:spcAft>
                <a:spcPts val="0"/>
              </a:spcAft>
              <a:buFont typeface="Arial" panose="020B0604020202020204" pitchFamily="34" charset="0"/>
              <a:buChar char="•"/>
            </a:pPr>
            <a:r>
              <a:rPr lang="en-US" altLang="zh-CN" sz="2200" kern="100" dirty="0">
                <a:effectLst/>
                <a:cs typeface="Times New Roman" panose="02020603050405020304" pitchFamily="18" charset="0"/>
                <a:sym typeface="+mn-ea"/>
              </a:rPr>
              <a:t>IEEE</a:t>
            </a:r>
            <a:r>
              <a:rPr lang="zh-CN" altLang="en-US" sz="2200" kern="100" dirty="0">
                <a:effectLst/>
                <a:cs typeface="Times New Roman" panose="02020603050405020304" pitchFamily="18" charset="0"/>
                <a:sym typeface="+mn-ea"/>
              </a:rPr>
              <a:t> </a:t>
            </a:r>
            <a:r>
              <a:rPr lang="en-US" altLang="zh-CN" sz="2200" kern="100" dirty="0">
                <a:effectLst/>
                <a:cs typeface="Times New Roman" panose="02020603050405020304" pitchFamily="18" charset="0"/>
                <a:sym typeface="+mn-ea"/>
              </a:rPr>
              <a:t>(</a:t>
            </a:r>
            <a:r>
              <a:rPr lang="en-US" altLang="zh-CN" sz="2200" kern="100" dirty="0">
                <a:effectLst/>
                <a:cs typeface="Times New Roman" panose="02020603050405020304" pitchFamily="18" charset="0"/>
              </a:rPr>
              <a:t>Institute of Electrical and Electronic Engineers)</a:t>
            </a:r>
            <a:r>
              <a:rPr lang="zh-CN" altLang="en-US" sz="2200" kern="100" dirty="0">
                <a:effectLst/>
                <a:cs typeface="Times New Roman" panose="02020603050405020304" pitchFamily="18" charset="0"/>
              </a:rPr>
              <a:t> 是世界上最大的专业技术团体</a:t>
            </a:r>
            <a:endParaRPr lang="zh-CN" altLang="en-US" sz="2200" kern="100" dirty="0">
              <a:effectLst/>
              <a:cs typeface="Times New Roman" panose="02020603050405020304" pitchFamily="18" charset="0"/>
            </a:endParaRPr>
          </a:p>
          <a:p>
            <a:pPr marL="646430" indent="-285750">
              <a:lnSpc>
                <a:spcPct val="120000"/>
              </a:lnSpc>
              <a:spcAft>
                <a:spcPts val="0"/>
              </a:spcAft>
              <a:buFont typeface="Arial" panose="020B0604020202020204" pitchFamily="34" charset="0"/>
              <a:buChar char="•"/>
            </a:pPr>
            <a:r>
              <a:rPr lang="en-US" altLang="zh-CN" sz="2200" kern="100" dirty="0">
                <a:effectLst/>
                <a:cs typeface="Times New Roman" panose="02020603050405020304" pitchFamily="18" charset="0"/>
              </a:rPr>
              <a:t>IEEE</a:t>
            </a:r>
            <a:r>
              <a:rPr lang="zh-CN" altLang="en-US" sz="2200" kern="100" dirty="0">
                <a:effectLst/>
                <a:cs typeface="Times New Roman" panose="02020603050405020304" pitchFamily="18" charset="0"/>
              </a:rPr>
              <a:t>在通信领域最著名的研究成果之一是</a:t>
            </a:r>
            <a:r>
              <a:rPr lang="en-US" altLang="zh-CN" sz="2200" kern="100" dirty="0">
                <a:effectLst/>
                <a:cs typeface="Times New Roman" panose="02020603050405020304" pitchFamily="18" charset="0"/>
              </a:rPr>
              <a:t>802</a:t>
            </a:r>
            <a:r>
              <a:rPr lang="zh-CN" altLang="en-US" sz="2200" kern="100" dirty="0">
                <a:effectLst/>
                <a:cs typeface="Times New Roman" panose="02020603050405020304" pitchFamily="18" charset="0"/>
              </a:rPr>
              <a:t>局域网标准，如</a:t>
            </a:r>
            <a:r>
              <a:rPr lang="en-US" altLang="zh-CN" sz="2200" kern="100" dirty="0">
                <a:effectLst/>
                <a:cs typeface="Times New Roman" panose="02020603050405020304" pitchFamily="18" charset="0"/>
              </a:rPr>
              <a:t>IEEE 802.3</a:t>
            </a:r>
            <a:r>
              <a:rPr lang="zh-CN" altLang="en-US" sz="2200" dirty="0">
                <a:sym typeface="+mn-ea"/>
              </a:rPr>
              <a:t>、</a:t>
            </a:r>
            <a:r>
              <a:rPr lang="en-US" altLang="zh-CN" sz="2200" kern="100" dirty="0">
                <a:effectLst/>
                <a:cs typeface="Times New Roman" panose="02020603050405020304" pitchFamily="18" charset="0"/>
              </a:rPr>
              <a:t>IEEE802.11</a:t>
            </a:r>
            <a:endParaRPr lang="en-US" altLang="zh-CN" sz="2200" kern="100" dirty="0">
              <a:effectLst/>
              <a:cs typeface="Times New Roman" panose="02020603050405020304" pitchFamily="18" charset="0"/>
            </a:endParaRPr>
          </a:p>
          <a:p>
            <a:pPr>
              <a:lnSpc>
                <a:spcPct val="120000"/>
              </a:lnSpc>
              <a:spcAft>
                <a:spcPts val="0"/>
              </a:spcAft>
              <a:buClrTx/>
              <a:buSzTx/>
              <a:buFont typeface="Wingdings" panose="05000000000000000000" charset="0"/>
              <a:buChar char="Ø"/>
            </a:pPr>
            <a:r>
              <a:rPr lang="zh-CN" altLang="en-US" sz="2400" dirty="0">
                <a:solidFill>
                  <a:schemeClr val="tx1"/>
                </a:solidFill>
                <a:effectLst/>
                <a:cs typeface="Times New Roman" panose="02020603050405020304" pitchFamily="18" charset="0"/>
              </a:rPr>
              <a:t>WIFI联盟</a:t>
            </a:r>
            <a:endParaRPr lang="zh-CN" altLang="en-US" sz="2400" dirty="0">
              <a:solidFill>
                <a:schemeClr val="tx1"/>
              </a:solidFill>
              <a:effectLst/>
              <a:cs typeface="Times New Roman" panose="02020603050405020304" pitchFamily="18" charset="0"/>
            </a:endParaRPr>
          </a:p>
          <a:p>
            <a:pPr marL="646430" indent="-285750">
              <a:lnSpc>
                <a:spcPct val="120000"/>
              </a:lnSpc>
              <a:spcAft>
                <a:spcPts val="0"/>
              </a:spcAft>
              <a:buFont typeface="Arial" panose="020B0604020202020204" pitchFamily="34" charset="0"/>
              <a:buChar char="•"/>
            </a:pPr>
            <a:r>
              <a:rPr lang="en-US" altLang="zh-CN" sz="2200" kern="100" dirty="0" err="1">
                <a:cs typeface="Times New Roman" panose="02020603050405020304" pitchFamily="18" charset="0"/>
              </a:rPr>
              <a:t>WiFi</a:t>
            </a:r>
            <a:r>
              <a:rPr lang="zh-CN" altLang="en-US" sz="2200" kern="100" dirty="0">
                <a:cs typeface="Times New Roman" panose="02020603050405020304" pitchFamily="18" charset="0"/>
              </a:rPr>
              <a:t>联盟 </a:t>
            </a:r>
            <a:r>
              <a:rPr lang="en-US" altLang="zh-CN" sz="2200" kern="100" dirty="0">
                <a:cs typeface="Times New Roman" panose="02020603050405020304" pitchFamily="18" charset="0"/>
              </a:rPr>
              <a:t>(</a:t>
            </a:r>
            <a:r>
              <a:rPr lang="en-US" altLang="zh-CN" sz="2200" kern="100" dirty="0" err="1">
                <a:cs typeface="Times New Roman" panose="02020603050405020304" pitchFamily="18" charset="0"/>
              </a:rPr>
              <a:t>WiFi</a:t>
            </a:r>
            <a:r>
              <a:rPr lang="en-US" altLang="zh-CN" sz="2200" kern="100" dirty="0">
                <a:cs typeface="Times New Roman" panose="02020603050405020304" pitchFamily="18" charset="0"/>
              </a:rPr>
              <a:t> Alliance</a:t>
            </a:r>
            <a:r>
              <a:rPr lang="zh-CN" altLang="en-US" sz="2200" kern="100" dirty="0">
                <a:cs typeface="Times New Roman" panose="02020603050405020304" pitchFamily="18" charset="0"/>
              </a:rPr>
              <a:t>，简称</a:t>
            </a:r>
            <a:r>
              <a:rPr lang="en-US" altLang="zh-CN" sz="2200" kern="100" dirty="0">
                <a:cs typeface="Times New Roman" panose="02020603050405020304" pitchFamily="18" charset="0"/>
              </a:rPr>
              <a:t>WFA)</a:t>
            </a:r>
            <a:r>
              <a:rPr lang="zh-CN" altLang="en-US" sz="2200" kern="100" dirty="0">
                <a:cs typeface="Times New Roman" panose="02020603050405020304" pitchFamily="18" charset="0"/>
              </a:rPr>
              <a:t>，是一个商业联盟，拥有 </a:t>
            </a:r>
            <a:r>
              <a:rPr lang="en-US" altLang="zh-CN" sz="2200" kern="100" dirty="0" err="1">
                <a:cs typeface="Times New Roman" panose="02020603050405020304" pitchFamily="18" charset="0"/>
              </a:rPr>
              <a:t>WiFi</a:t>
            </a:r>
            <a:r>
              <a:rPr lang="zh-CN" altLang="en-US" sz="2200" kern="100" dirty="0">
                <a:cs typeface="Times New Roman" panose="02020603050405020304" pitchFamily="18" charset="0"/>
              </a:rPr>
              <a:t>的商标</a:t>
            </a:r>
            <a:endParaRPr lang="zh-CN" altLang="en-US" sz="2200" kern="100" dirty="0">
              <a:cs typeface="Times New Roman" panose="02020603050405020304" pitchFamily="18" charset="0"/>
            </a:endParaRPr>
          </a:p>
          <a:p>
            <a:pPr marL="646430" indent="-285750">
              <a:lnSpc>
                <a:spcPct val="120000"/>
              </a:lnSpc>
              <a:spcAft>
                <a:spcPts val="0"/>
              </a:spcAft>
              <a:buFont typeface="Arial" panose="020B0604020202020204" pitchFamily="34" charset="0"/>
              <a:buChar char="•"/>
            </a:pPr>
            <a:r>
              <a:rPr lang="zh-CN" altLang="en-US" sz="2200" kern="100" dirty="0">
                <a:cs typeface="Times New Roman" panose="02020603050405020304" pitchFamily="18" charset="0"/>
              </a:rPr>
              <a:t>成立于</a:t>
            </a:r>
            <a:r>
              <a:rPr lang="en-US" altLang="zh-CN" sz="2200" kern="100" dirty="0">
                <a:cs typeface="Times New Roman" panose="02020603050405020304" pitchFamily="18" charset="0"/>
              </a:rPr>
              <a:t>1999</a:t>
            </a:r>
            <a:r>
              <a:rPr lang="zh-CN" altLang="en-US" sz="2200" kern="100" dirty="0">
                <a:cs typeface="Times New Roman" panose="02020603050405020304" pitchFamily="18" charset="0"/>
              </a:rPr>
              <a:t>年，主要推行</a:t>
            </a:r>
            <a:r>
              <a:rPr lang="en-US" altLang="zh-CN" sz="2200" kern="100" dirty="0" err="1">
                <a:cs typeface="Times New Roman" panose="02020603050405020304" pitchFamily="18" charset="0"/>
              </a:rPr>
              <a:t>WiFi</a:t>
            </a:r>
            <a:r>
              <a:rPr lang="zh-CN" altLang="en-US" sz="2200" kern="100" dirty="0">
                <a:cs typeface="Times New Roman" panose="02020603050405020304" pitchFamily="18" charset="0"/>
              </a:rPr>
              <a:t>产品的</a:t>
            </a:r>
            <a:r>
              <a:rPr lang="zh-CN" altLang="en-US" sz="2200" kern="100" dirty="0">
                <a:solidFill>
                  <a:srgbClr val="C00000"/>
                </a:solidFill>
                <a:cs typeface="Times New Roman" panose="02020603050405020304" pitchFamily="18" charset="0"/>
              </a:rPr>
              <a:t>兼容认证</a:t>
            </a:r>
            <a:r>
              <a:rPr lang="zh-CN" altLang="en-US" sz="2200" kern="100" dirty="0">
                <a:cs typeface="Times New Roman" panose="02020603050405020304" pitchFamily="18" charset="0"/>
              </a:rPr>
              <a:t>，发展</a:t>
            </a:r>
            <a:r>
              <a:rPr lang="en-US" altLang="zh-CN" sz="2200" kern="100" dirty="0">
                <a:cs typeface="Times New Roman" panose="02020603050405020304" pitchFamily="18" charset="0"/>
              </a:rPr>
              <a:t>IEEE802.11</a:t>
            </a:r>
            <a:r>
              <a:rPr lang="zh-CN" altLang="en-US" sz="2200" kern="100" dirty="0">
                <a:cs typeface="Times New Roman" panose="02020603050405020304" pitchFamily="18" charset="0"/>
              </a:rPr>
              <a:t>标准的无线局域网技术</a:t>
            </a:r>
            <a:endParaRPr lang="en-US" altLang="zh-CN" sz="2200" b="1" kern="100" dirty="0">
              <a:cs typeface="Times New Roman" panose="02020603050405020304" pitchFamily="18" charset="0"/>
            </a:endParaRPr>
          </a:p>
          <a:p>
            <a:pPr marL="400050" indent="-347980">
              <a:lnSpc>
                <a:spcPct val="120000"/>
              </a:lnSpc>
              <a:tabLst>
                <a:tab pos="747395" algn="l"/>
              </a:tabLst>
            </a:pPr>
            <a:r>
              <a:rPr lang="zh-CN" altLang="en-US" sz="2400" dirty="0">
                <a:cs typeface="Times New Roman" panose="02020603050405020304" pitchFamily="18" charset="0"/>
              </a:rPr>
              <a:t>万维网联盟（W</a:t>
            </a:r>
            <a:r>
              <a:rPr lang="en-US" altLang="zh-CN" sz="2400" dirty="0">
                <a:cs typeface="Times New Roman" panose="02020603050405020304" pitchFamily="18" charset="0"/>
              </a:rPr>
              <a:t>3C</a:t>
            </a:r>
            <a:r>
              <a:rPr lang="zh-CN" altLang="en-US" sz="2400" dirty="0">
                <a:cs typeface="Times New Roman" panose="02020603050405020304" pitchFamily="18" charset="0"/>
              </a:rPr>
              <a:t>）</a:t>
            </a:r>
            <a:endParaRPr lang="en-US" altLang="zh-CN" sz="2400" dirty="0">
              <a:cs typeface="Times New Roman" panose="02020603050405020304" pitchFamily="18" charset="0"/>
            </a:endParaRPr>
          </a:p>
          <a:p>
            <a:pPr marL="627380" indent="-266700">
              <a:lnSpc>
                <a:spcPct val="120000"/>
              </a:lnSpc>
              <a:buFont typeface="Arial" panose="020B0604020202020204" pitchFamily="34" charset="0"/>
              <a:buChar char="•"/>
            </a:pPr>
            <a:r>
              <a:rPr lang="zh-CN" altLang="en-US" sz="2200" kern="100" dirty="0">
                <a:cs typeface="Times New Roman" panose="02020603050405020304" pitchFamily="18" charset="0"/>
              </a:rPr>
              <a:t>万维网联盟（</a:t>
            </a:r>
            <a:r>
              <a:rPr lang="en-US" altLang="zh-CN" sz="2200" kern="100" dirty="0">
                <a:cs typeface="Times New Roman" panose="02020603050405020304" pitchFamily="18" charset="0"/>
              </a:rPr>
              <a:t>World</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Wide</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Web</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Consortium</a:t>
            </a:r>
            <a:r>
              <a:rPr lang="zh-CN" altLang="en-US" sz="2200" kern="100" dirty="0">
                <a:cs typeface="Times New Roman" panose="02020603050405020304" pitchFamily="18" charset="0"/>
              </a:rPr>
              <a:t>，简称</a:t>
            </a:r>
            <a:r>
              <a:rPr lang="en-US" altLang="zh-CN" sz="2200" kern="100" dirty="0">
                <a:cs typeface="Times New Roman" panose="02020603050405020304" pitchFamily="18" charset="0"/>
              </a:rPr>
              <a:t>W3C</a:t>
            </a:r>
            <a:r>
              <a:rPr lang="zh-CN" altLang="en-US" sz="2200" kern="100" dirty="0">
                <a:cs typeface="Times New Roman" panose="02020603050405020304" pitchFamily="18" charset="0"/>
              </a:rPr>
              <a:t>）是制定网络标准的非营利性组织</a:t>
            </a:r>
            <a:endParaRPr lang="en-US" altLang="zh-CN" sz="2200" kern="100" dirty="0">
              <a:cs typeface="Times New Roman" panose="02020603050405020304" pitchFamily="18" charset="0"/>
            </a:endParaRPr>
          </a:p>
          <a:p>
            <a:pPr marL="627380" indent="-266700">
              <a:lnSpc>
                <a:spcPct val="120000"/>
              </a:lnSpc>
              <a:buFont typeface="Arial" panose="020B0604020202020204" pitchFamily="34" charset="0"/>
              <a:buChar char="•"/>
            </a:pPr>
            <a:r>
              <a:rPr lang="zh-CN" altLang="en-US" sz="2200" kern="100" dirty="0">
                <a:cs typeface="Times New Roman" panose="02020603050405020304" pitchFamily="18" charset="0"/>
              </a:rPr>
              <a:t>主要包含三部分的标准：结构，表现，行为。例如</a:t>
            </a:r>
            <a:r>
              <a:rPr lang="en-US" altLang="zh-CN" sz="2200" kern="100" dirty="0">
                <a:cs typeface="Times New Roman" panose="02020603050405020304" pitchFamily="18" charset="0"/>
              </a:rPr>
              <a:t>XML</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XHTML</a:t>
            </a:r>
            <a:r>
              <a:rPr lang="zh-CN" altLang="en-US" sz="2200" kern="100" dirty="0">
                <a:cs typeface="Times New Roman" panose="02020603050405020304" pitchFamily="18" charset="0"/>
              </a:rPr>
              <a:t>，</a:t>
            </a:r>
            <a:r>
              <a:rPr lang="en-US" altLang="zh-CN" sz="2200" kern="100" dirty="0">
                <a:cs typeface="Times New Roman" panose="02020603050405020304" pitchFamily="18" charset="0"/>
              </a:rPr>
              <a:t>CSS</a:t>
            </a:r>
            <a:r>
              <a:rPr lang="zh-CN" altLang="en-US" sz="2200" kern="100" dirty="0">
                <a:cs typeface="Times New Roman" panose="02020603050405020304" pitchFamily="18" charset="0"/>
              </a:rPr>
              <a:t>，</a:t>
            </a:r>
            <a:r>
              <a:rPr lang="en-US" altLang="zh-CN" sz="2200" kern="100" dirty="0">
                <a:cs typeface="Times New Roman" panose="02020603050405020304" pitchFamily="18" charset="0"/>
              </a:rPr>
              <a:t>Dom,</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ECMAScript</a:t>
            </a:r>
            <a:endParaRPr lang="zh-CN" altLang="en-US" sz="2200" kern="100" dirty="0">
              <a:cs typeface="Times New Roman" panose="02020603050405020304" pitchFamily="18" charset="0"/>
            </a:endParaRPr>
          </a:p>
          <a:p>
            <a:pPr marL="646430" indent="-285750">
              <a:lnSpc>
                <a:spcPct val="130000"/>
              </a:lnSpc>
              <a:spcAft>
                <a:spcPts val="0"/>
              </a:spcAft>
              <a:buFont typeface="Arial" panose="020B0604020202020204" pitchFamily="34" charset="0"/>
              <a:buChar char="•"/>
            </a:pPr>
            <a:endParaRPr lang="en-US" altLang="zh-CN" sz="1900" kern="100" dirty="0">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grpSp>
        <p:nvGrpSpPr>
          <p:cNvPr id="4" name="组合 3"/>
          <p:cNvGrpSpPr/>
          <p:nvPr/>
        </p:nvGrpSpPr>
        <p:grpSpPr>
          <a:xfrm>
            <a:off x="8848166" y="1430006"/>
            <a:ext cx="2940424" cy="2605078"/>
            <a:chOff x="7575117" y="1300071"/>
            <a:chExt cx="2382745" cy="2659866"/>
          </a:xfrm>
        </p:grpSpPr>
        <p:pic>
          <p:nvPicPr>
            <p:cNvPr id="1026" name="Picture 2"/>
            <p:cNvPicPr>
              <a:picLocks noChangeAspect="1" noChangeArrowheads="1"/>
            </p:cNvPicPr>
            <p:nvPr/>
          </p:nvPicPr>
          <p:blipFill>
            <a:blip r:embed="rId1" cstate="print"/>
            <a:srcRect/>
            <a:stretch>
              <a:fillRect/>
            </a:stretch>
          </p:blipFill>
          <p:spPr bwMode="auto">
            <a:xfrm>
              <a:off x="7575117" y="2879412"/>
              <a:ext cx="2382745" cy="10805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2" cstate="print"/>
            <a:srcRect/>
            <a:stretch>
              <a:fillRect/>
            </a:stretch>
          </p:blipFill>
          <p:spPr bwMode="auto">
            <a:xfrm>
              <a:off x="7575117" y="1300071"/>
              <a:ext cx="2154776" cy="1101575"/>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9528320" y="5163605"/>
            <a:ext cx="1717877" cy="966868"/>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err="1">
                <a:cs typeface="Times New Roman" panose="02020603050405020304" pitchFamily="18" charset="0"/>
                <a:sym typeface="+mn-ea"/>
              </a:rPr>
              <a:t>Internet标准化组织</a:t>
            </a:r>
            <a:endParaRPr kumimoji="1" lang="zh-CN" altLang="en-US" dirty="0"/>
          </a:p>
        </p:txBody>
      </p:sp>
      <p:sp>
        <p:nvSpPr>
          <p:cNvPr id="3" name="内容占位符 2"/>
          <p:cNvSpPr>
            <a:spLocks noGrp="1"/>
          </p:cNvSpPr>
          <p:nvPr>
            <p:ph idx="1"/>
          </p:nvPr>
        </p:nvSpPr>
        <p:spPr>
          <a:xfrm>
            <a:off x="838200" y="1259455"/>
            <a:ext cx="10515600" cy="5176270"/>
          </a:xfrm>
        </p:spPr>
        <p:txBody>
          <a:bodyPr>
            <a:noAutofit/>
          </a:bodyPr>
          <a:lstStyle/>
          <a:p>
            <a:pPr>
              <a:lnSpc>
                <a:spcPct val="130000"/>
              </a:lnSpc>
              <a:spcBef>
                <a:spcPts val="0"/>
              </a:spcBef>
              <a:buFont typeface="Wingdings" panose="05000000000000000000" charset="0"/>
              <a:buChar char="Ø"/>
            </a:pPr>
            <a:r>
              <a:rPr lang="en-US" altLang="zh-CN" sz="2600" b="1" dirty="0">
                <a:solidFill>
                  <a:srgbClr val="C00000"/>
                </a:solidFill>
                <a:cs typeface="Times New Roman" panose="02020603050405020304" pitchFamily="18" charset="0"/>
              </a:rPr>
              <a:t>IETF:</a:t>
            </a:r>
            <a:r>
              <a:rPr lang="zh-CN" altLang="en-US" sz="2600" b="1" dirty="0">
                <a:solidFill>
                  <a:srgbClr val="C00000"/>
                </a:solidFill>
                <a:cs typeface="Times New Roman" panose="02020603050405020304" pitchFamily="18" charset="0"/>
              </a:rPr>
              <a:t> </a:t>
            </a:r>
            <a:r>
              <a:rPr lang="zh-CN" altLang="en-US" sz="2600" dirty="0">
                <a:effectLst/>
                <a:cs typeface="Times New Roman" panose="02020603050405020304" pitchFamily="18" charset="0"/>
              </a:rPr>
              <a:t>互联网工程任务组</a:t>
            </a:r>
            <a:endParaRPr lang="zh-CN" altLang="en-US" sz="2600" b="1" dirty="0">
              <a:solidFill>
                <a:srgbClr val="C00000"/>
              </a:solidFill>
              <a:effectLst/>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dirty="0">
                <a:cs typeface="Times New Roman" panose="02020603050405020304" pitchFamily="18" charset="0"/>
              </a:rPr>
              <a:t>IETF</a:t>
            </a:r>
            <a:r>
              <a:rPr lang="zh-CN" altLang="en-US" sz="2200" dirty="0">
                <a:cs typeface="Times New Roman" panose="02020603050405020304" pitchFamily="18" charset="0"/>
              </a:rPr>
              <a:t> </a:t>
            </a:r>
            <a:r>
              <a:rPr lang="en-US" altLang="zh-CN" sz="2200" dirty="0">
                <a:cs typeface="Times New Roman" panose="02020603050405020304" pitchFamily="18" charset="0"/>
              </a:rPr>
              <a:t>(Internet Engineering Task Force)</a:t>
            </a:r>
            <a:r>
              <a:rPr lang="zh-CN" altLang="en-US" sz="2200" dirty="0">
                <a:cs typeface="Times New Roman" panose="02020603050405020304" pitchFamily="18" charset="0"/>
              </a:rPr>
              <a:t> </a:t>
            </a:r>
            <a:r>
              <a:rPr lang="en-US" altLang="zh-CN" sz="2200" dirty="0" err="1">
                <a:cs typeface="Times New Roman" panose="02020603050405020304" pitchFamily="18" charset="0"/>
              </a:rPr>
              <a:t>是国际民间机构</a:t>
            </a:r>
            <a:endParaRPr lang="en-US" altLang="zh-CN" sz="22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dirty="0">
                <a:cs typeface="Times New Roman" panose="02020603050405020304" pitchFamily="18" charset="0"/>
              </a:rPr>
              <a:t>IETF</a:t>
            </a:r>
            <a:r>
              <a:rPr lang="zh-CN" altLang="en-US" sz="2200" dirty="0">
                <a:cs typeface="Times New Roman" panose="02020603050405020304" pitchFamily="18" charset="0"/>
              </a:rPr>
              <a:t>是制定互联网标准的</a:t>
            </a:r>
            <a:r>
              <a:rPr lang="zh-CN" altLang="en-US" sz="2200" dirty="0">
                <a:solidFill>
                  <a:srgbClr val="C00000"/>
                </a:solidFill>
                <a:cs typeface="Times New Roman" panose="02020603050405020304" pitchFamily="18" charset="0"/>
              </a:rPr>
              <a:t>核心组织</a:t>
            </a:r>
            <a:r>
              <a:rPr lang="zh-CN" altLang="en-US" sz="2200" dirty="0">
                <a:cs typeface="Times New Roman" panose="02020603050405020304" pitchFamily="18" charset="0"/>
              </a:rPr>
              <a:t>，如</a:t>
            </a:r>
            <a:r>
              <a:rPr lang="en-US" altLang="zh-CN" sz="2200" dirty="0">
                <a:cs typeface="Times New Roman" panose="02020603050405020304" pitchFamily="18" charset="0"/>
              </a:rPr>
              <a:t>TCP</a:t>
            </a:r>
            <a:r>
              <a:rPr lang="zh-CN" altLang="en-US" sz="2200" dirty="0">
                <a:cs typeface="Times New Roman" panose="02020603050405020304" pitchFamily="18" charset="0"/>
              </a:rPr>
              <a:t>、</a:t>
            </a:r>
            <a:r>
              <a:rPr lang="en-US" altLang="zh-CN" sz="2200" dirty="0">
                <a:cs typeface="Times New Roman" panose="02020603050405020304" pitchFamily="18" charset="0"/>
              </a:rPr>
              <a:t>IP</a:t>
            </a:r>
            <a:r>
              <a:rPr lang="zh-CN" altLang="en-US" sz="2200" dirty="0">
                <a:cs typeface="Times New Roman" panose="02020603050405020304" pitchFamily="18" charset="0"/>
              </a:rPr>
              <a:t>、</a:t>
            </a:r>
            <a:r>
              <a:rPr lang="en-US" altLang="zh-CN" sz="2200" dirty="0">
                <a:cs typeface="Times New Roman" panose="02020603050405020304" pitchFamily="18" charset="0"/>
              </a:rPr>
              <a:t>HTTP</a:t>
            </a:r>
            <a:r>
              <a:rPr lang="zh-CN" altLang="en-US" sz="2200" dirty="0">
                <a:cs typeface="Times New Roman" panose="02020603050405020304" pitchFamily="18" charset="0"/>
              </a:rPr>
              <a:t>等</a:t>
            </a:r>
            <a:br>
              <a:rPr lang="en-US" altLang="zh-CN" sz="2200" dirty="0">
                <a:cs typeface="Times New Roman" panose="02020603050405020304" pitchFamily="18" charset="0"/>
              </a:rPr>
            </a:br>
            <a:r>
              <a:rPr lang="zh-CN" altLang="en-US" sz="2200" dirty="0">
                <a:cs typeface="Times New Roman" panose="02020603050405020304" pitchFamily="18" charset="0"/>
              </a:rPr>
              <a:t>均由</a:t>
            </a:r>
            <a:r>
              <a:rPr lang="en-US" altLang="zh-CN" sz="2200" dirty="0">
                <a:cs typeface="Times New Roman" panose="02020603050405020304" pitchFamily="18" charset="0"/>
              </a:rPr>
              <a:t>IETF</a:t>
            </a:r>
            <a:r>
              <a:rPr lang="zh-CN" altLang="en-US" sz="2200" dirty="0">
                <a:cs typeface="Times New Roman" panose="02020603050405020304" pitchFamily="18" charset="0"/>
              </a:rPr>
              <a:t>制定</a:t>
            </a:r>
            <a:endParaRPr lang="en-US" altLang="zh-CN" sz="22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dirty="0">
                <a:cs typeface="Times New Roman" panose="02020603050405020304" pitchFamily="18" charset="0"/>
              </a:rPr>
              <a:t>IETF</a:t>
            </a:r>
            <a:r>
              <a:rPr lang="zh-CN" altLang="en-US" sz="2200" dirty="0">
                <a:cs typeface="Times New Roman" panose="02020603050405020304" pitchFamily="18" charset="0"/>
              </a:rPr>
              <a:t>分为互联网、路由、传输、安全、应用、运行管理等领域（</a:t>
            </a:r>
            <a:r>
              <a:rPr lang="en-US" altLang="zh-CN" sz="2200" dirty="0">
                <a:cs typeface="Times New Roman" panose="02020603050405020304" pitchFamily="18" charset="0"/>
              </a:rPr>
              <a:t>Area</a:t>
            </a:r>
            <a:r>
              <a:rPr lang="zh-CN" altLang="en-US" sz="2200" dirty="0">
                <a:cs typeface="Times New Roman" panose="02020603050405020304" pitchFamily="18" charset="0"/>
              </a:rPr>
              <a:t>），具体</a:t>
            </a:r>
            <a:r>
              <a:rPr lang="en-US" altLang="zh-CN" sz="2200" dirty="0" err="1">
                <a:cs typeface="Times New Roman" panose="02020603050405020304" pitchFamily="18" charset="0"/>
              </a:rPr>
              <a:t>由其</a:t>
            </a:r>
            <a:r>
              <a:rPr lang="zh-CN" altLang="en-US" sz="2200" dirty="0">
                <a:cs typeface="Times New Roman" panose="02020603050405020304" pitchFamily="18" charset="0"/>
              </a:rPr>
              <a:t>超过</a:t>
            </a:r>
            <a:r>
              <a:rPr lang="en-US" altLang="zh-CN" sz="2200" dirty="0">
                <a:cs typeface="Times New Roman" panose="02020603050405020304" pitchFamily="18" charset="0"/>
              </a:rPr>
              <a:t>100</a:t>
            </a:r>
            <a:r>
              <a:rPr lang="zh-CN" altLang="en-US" sz="2200" dirty="0">
                <a:cs typeface="Times New Roman" panose="02020603050405020304" pitchFamily="18" charset="0"/>
              </a:rPr>
              <a:t>个工作组</a:t>
            </a:r>
            <a:r>
              <a:rPr lang="en-US" altLang="zh-CN" sz="2200" dirty="0" err="1">
                <a:cs typeface="Times New Roman" panose="02020603050405020304" pitchFamily="18" charset="0"/>
              </a:rPr>
              <a:t>WG（WorkingGroup）承担</a:t>
            </a:r>
            <a:endParaRPr lang="en-US" altLang="zh-CN" sz="22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endParaRPr lang="en-US" altLang="zh-CN" sz="24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endParaRPr lang="en-US" altLang="zh-CN" sz="2400" dirty="0">
              <a:cs typeface="Times New Roman" panose="02020603050405020304" pitchFamily="18" charset="0"/>
            </a:endParaRPr>
          </a:p>
          <a:p>
            <a:pPr>
              <a:lnSpc>
                <a:spcPct val="130000"/>
              </a:lnSpc>
              <a:spcBef>
                <a:spcPts val="0"/>
              </a:spcBef>
              <a:buFont typeface="Wingdings" panose="05000000000000000000" charset="0"/>
              <a:buChar char="Ø"/>
            </a:pPr>
            <a:r>
              <a:rPr lang="en-US" altLang="zh-CN" sz="2600" b="1" dirty="0">
                <a:solidFill>
                  <a:srgbClr val="C00000"/>
                </a:solidFill>
                <a:cs typeface="Times New Roman" panose="02020603050405020304" pitchFamily="18" charset="0"/>
              </a:rPr>
              <a:t>IRTF:</a:t>
            </a:r>
            <a:r>
              <a:rPr lang="zh-CN" altLang="en-US" sz="2600" b="1" dirty="0">
                <a:solidFill>
                  <a:srgbClr val="C00000"/>
                </a:solidFill>
                <a:cs typeface="Times New Roman" panose="02020603050405020304" pitchFamily="18" charset="0"/>
              </a:rPr>
              <a:t> </a:t>
            </a:r>
            <a:r>
              <a:rPr lang="zh-CN" altLang="en-US" sz="2600" dirty="0">
                <a:cs typeface="Times New Roman" panose="02020603050405020304" pitchFamily="18" charset="0"/>
              </a:rPr>
              <a:t>Internet研究任务组</a:t>
            </a:r>
            <a:endParaRPr lang="zh-CN" altLang="en-US" sz="2600" b="1" dirty="0">
              <a:solidFill>
                <a:srgbClr val="C00000"/>
              </a:solidFill>
              <a:cs typeface="Times New Roman" panose="02020603050405020304" pitchFamily="18" charset="0"/>
            </a:endParaRPr>
          </a:p>
          <a:p>
            <a:pPr marL="585470" indent="-305435">
              <a:lnSpc>
                <a:spcPct val="120000"/>
              </a:lnSpc>
              <a:spcBef>
                <a:spcPts val="0"/>
              </a:spcBef>
              <a:buFont typeface="Arial" panose="020B0604020202020204" pitchFamily="34" charset="0"/>
              <a:buChar char="•"/>
            </a:pPr>
            <a:r>
              <a:rPr lang="en-US" altLang="zh-CN" sz="2200" dirty="0">
                <a:cs typeface="Times New Roman" panose="02020603050405020304" pitchFamily="18" charset="0"/>
              </a:rPr>
              <a:t>IRTF</a:t>
            </a:r>
            <a:r>
              <a:rPr lang="zh-CN" altLang="en-US" sz="2200" dirty="0">
                <a:cs typeface="Times New Roman" panose="02020603050405020304" pitchFamily="18" charset="0"/>
              </a:rPr>
              <a:t> </a:t>
            </a:r>
            <a:r>
              <a:rPr lang="en-US" altLang="zh-CN" sz="2200" dirty="0">
                <a:cs typeface="Times New Roman" panose="02020603050405020304" pitchFamily="18" charset="0"/>
              </a:rPr>
              <a:t>(Internet Research Task Force)</a:t>
            </a:r>
            <a:r>
              <a:rPr lang="zh-CN" altLang="en-US" sz="2200" dirty="0">
                <a:cs typeface="Times New Roman" panose="02020603050405020304" pitchFamily="18" charset="0"/>
              </a:rPr>
              <a:t> 下设多个专门任务组，针对特定协议、应用、体系结构等进行研究</a:t>
            </a:r>
            <a:endParaRPr lang="en-US" altLang="zh-CN" sz="2200" dirty="0">
              <a:cs typeface="Times New Roman" panose="02020603050405020304" pitchFamily="18" charset="0"/>
            </a:endParaRPr>
          </a:p>
          <a:p>
            <a:pPr marL="585470" indent="-305435">
              <a:lnSpc>
                <a:spcPct val="120000"/>
              </a:lnSpc>
              <a:spcBef>
                <a:spcPts val="0"/>
              </a:spcBef>
              <a:buFont typeface="Arial" panose="020B0604020202020204" pitchFamily="34" charset="0"/>
              <a:buChar char="•"/>
            </a:pPr>
            <a:r>
              <a:rPr lang="en-US" altLang="zh-CN" sz="2200" dirty="0">
                <a:cs typeface="Times New Roman" panose="02020603050405020304" pitchFamily="18" charset="0"/>
              </a:rPr>
              <a:t>IRTF</a:t>
            </a:r>
            <a:r>
              <a:rPr lang="zh-CN" altLang="en-US" sz="2200" dirty="0">
                <a:cs typeface="Times New Roman" panose="02020603050405020304" pitchFamily="18" charset="0"/>
              </a:rPr>
              <a:t> 一般只出研究报告，但不制定协议标准</a:t>
            </a:r>
            <a:endParaRPr lang="en-US" altLang="zh-CN" sz="2200" dirty="0">
              <a:cs typeface="Times New Roman" panose="02020603050405020304" pitchFamily="18" charset="0"/>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 name="文本框 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9218" name="Picture 2"/>
          <p:cNvPicPr>
            <a:picLocks noChangeAspect="1" noChangeArrowheads="1"/>
          </p:cNvPicPr>
          <p:nvPr/>
        </p:nvPicPr>
        <p:blipFill>
          <a:blip r:embed="rId1"/>
          <a:srcRect/>
          <a:stretch>
            <a:fillRect/>
          </a:stretch>
        </p:blipFill>
        <p:spPr bwMode="auto">
          <a:xfrm>
            <a:off x="8825667" y="1533822"/>
            <a:ext cx="2749806" cy="139230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2911321" y="3889604"/>
            <a:ext cx="6142624" cy="784830"/>
          </a:xfrm>
          <a:prstGeom prst="rect">
            <a:avLst/>
          </a:prstGeom>
          <a:ln>
            <a:solidFill>
              <a:srgbClr val="C00000"/>
            </a:solidFill>
          </a:ln>
        </p:spPr>
        <p:txBody>
          <a:bodyPr wrap="square">
            <a:spAutoFit/>
          </a:bodyPr>
          <a:lstStyle/>
          <a:p>
            <a:pPr>
              <a:spcBef>
                <a:spcPts val="600"/>
              </a:spcBef>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RFC 793 - Transmission Control Protocol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TCP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spcBef>
                <a:spcPts val="600"/>
              </a:spcBef>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RFC 791 - Internet Protocol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IP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err="1">
                <a:cs typeface="Times New Roman" panose="02020603050405020304" pitchFamily="18" charset="0"/>
                <a:sym typeface="+mn-ea"/>
              </a:rPr>
              <a:t>Internet标准化组织</a:t>
            </a:r>
            <a:endParaRPr kumimoji="1" lang="zh-CN" altLang="en-US" dirty="0"/>
          </a:p>
        </p:txBody>
      </p:sp>
      <p:sp>
        <p:nvSpPr>
          <p:cNvPr id="3" name="内容占位符 2"/>
          <p:cNvSpPr>
            <a:spLocks noGrp="1"/>
          </p:cNvSpPr>
          <p:nvPr>
            <p:ph idx="1"/>
          </p:nvPr>
        </p:nvSpPr>
        <p:spPr>
          <a:xfrm>
            <a:off x="838200" y="1347519"/>
            <a:ext cx="10515600" cy="3458976"/>
          </a:xfrm>
        </p:spPr>
        <p:txBody>
          <a:bodyPr>
            <a:noAutofit/>
          </a:bodyPr>
          <a:lstStyle/>
          <a:p>
            <a:pPr>
              <a:lnSpc>
                <a:spcPct val="130000"/>
              </a:lnSpc>
              <a:spcBef>
                <a:spcPts val="0"/>
              </a:spcBef>
              <a:buFont typeface="Wingdings" panose="05000000000000000000" charset="0"/>
              <a:buChar char="Ø"/>
            </a:pPr>
            <a:r>
              <a:rPr lang="zh-CN" altLang="en-US" sz="2600" dirty="0">
                <a:effectLst/>
                <a:cs typeface="Times New Roman" panose="02020603050405020304" pitchFamily="18" charset="0"/>
              </a:rPr>
              <a:t>如何</a:t>
            </a:r>
            <a:r>
              <a:rPr lang="zh-CN" altLang="en-US" sz="2600" dirty="0">
                <a:cs typeface="Times New Roman" panose="02020603050405020304" pitchFamily="18" charset="0"/>
              </a:rPr>
              <a:t>进入</a:t>
            </a:r>
            <a:r>
              <a:rPr lang="en-US" altLang="zh-CN" sz="2600" dirty="0">
                <a:cs typeface="Times New Roman" panose="02020603050405020304" pitchFamily="18" charset="0"/>
              </a:rPr>
              <a:t>/</a:t>
            </a:r>
            <a:r>
              <a:rPr lang="zh-CN" altLang="en-US" sz="2600" dirty="0">
                <a:cs typeface="Times New Roman" panose="02020603050405020304" pitchFamily="18" charset="0"/>
              </a:rPr>
              <a:t>参加</a:t>
            </a:r>
            <a:r>
              <a:rPr lang="zh-CN" altLang="en-US" sz="2600" dirty="0">
                <a:effectLst/>
                <a:cs typeface="Times New Roman" panose="02020603050405020304" pitchFamily="18" charset="0"/>
              </a:rPr>
              <a:t>“互联网的殿堂”</a:t>
            </a:r>
            <a:r>
              <a:rPr lang="en-US" altLang="zh-CN" sz="2600" dirty="0">
                <a:effectLst/>
                <a:cs typeface="Times New Roman" panose="02020603050405020304" pitchFamily="18" charset="0"/>
              </a:rPr>
              <a:t>——</a:t>
            </a:r>
            <a:r>
              <a:rPr lang="en-US" altLang="zh-CN" sz="2600" b="1" dirty="0">
                <a:solidFill>
                  <a:srgbClr val="C00000"/>
                </a:solidFill>
                <a:cs typeface="Times New Roman" panose="02020603050405020304" pitchFamily="18" charset="0"/>
              </a:rPr>
              <a:t>IETF</a:t>
            </a:r>
            <a:endParaRPr lang="en-US" altLang="zh-CN" sz="2600" dirty="0">
              <a:effectLst/>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zh-CN" altLang="en-US" sz="2200" kern="0" dirty="0">
                <a:sym typeface="+mn-ea"/>
              </a:rPr>
              <a:t>Internet标准以</a:t>
            </a:r>
            <a:r>
              <a:rPr lang="zh-CN" altLang="en-US" sz="2200" b="1" kern="0" dirty="0">
                <a:solidFill>
                  <a:srgbClr val="7030A0"/>
                </a:solidFill>
                <a:sym typeface="+mn-ea"/>
              </a:rPr>
              <a:t>RFC</a:t>
            </a:r>
            <a:r>
              <a:rPr lang="zh-CN" altLang="en-US" sz="2200" kern="0" dirty="0">
                <a:solidFill>
                  <a:srgbClr val="7030A0"/>
                </a:solidFill>
                <a:sym typeface="+mn-ea"/>
              </a:rPr>
              <a:t>（Request For Comments，请求评注）</a:t>
            </a:r>
            <a:br>
              <a:rPr lang="en-US" altLang="zh-CN" sz="2200" kern="0" dirty="0">
                <a:solidFill>
                  <a:srgbClr val="7030A0"/>
                </a:solidFill>
                <a:sym typeface="+mn-ea"/>
              </a:rPr>
            </a:br>
            <a:r>
              <a:rPr lang="zh-CN" altLang="en-US" sz="2200" kern="0" dirty="0">
                <a:sym typeface="+mn-ea"/>
              </a:rPr>
              <a:t>文档的形式公开，任何人都可免费获得这些</a:t>
            </a:r>
            <a:r>
              <a:rPr lang="en-US" altLang="zh-CN" sz="2200" kern="0" dirty="0">
                <a:sym typeface="+mn-ea"/>
              </a:rPr>
              <a:t>RFC</a:t>
            </a:r>
            <a:r>
              <a:rPr lang="zh-CN" altLang="en-US" sz="2200" kern="0" dirty="0">
                <a:sym typeface="+mn-ea"/>
              </a:rPr>
              <a:t>文档，例如 </a:t>
            </a:r>
            <a:br>
              <a:rPr lang="en-US" altLang="zh-CN" sz="2200" kern="0" dirty="0">
                <a:sym typeface="+mn-ea"/>
              </a:rPr>
            </a:br>
            <a:r>
              <a:rPr lang="zh-CN" altLang="en-US" sz="2200" kern="0" dirty="0">
                <a:sym typeface="+mn-ea"/>
              </a:rPr>
              <a:t>RFC2068为HTTP协议 </a:t>
            </a:r>
            <a:endParaRPr lang="en-US" altLang="zh-CN" sz="2200" kern="0" dirty="0">
              <a:sym typeface="+mn-ea"/>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kern="0" dirty="0">
                <a:sym typeface="+mn-ea"/>
              </a:rPr>
              <a:t>IETF</a:t>
            </a:r>
            <a:r>
              <a:rPr lang="zh-CN" altLang="en-US" sz="2200" kern="0" dirty="0">
                <a:sym typeface="+mn-ea"/>
              </a:rPr>
              <a:t>的各种规章制度（乃至</a:t>
            </a:r>
            <a:r>
              <a:rPr lang="en-US" altLang="zh-CN" sz="2200" kern="0" dirty="0">
                <a:sym typeface="+mn-ea"/>
              </a:rPr>
              <a:t>RFC</a:t>
            </a:r>
            <a:r>
              <a:rPr lang="zh-CN" altLang="en-US" sz="2200" kern="0" dirty="0">
                <a:sym typeface="+mn-ea"/>
              </a:rPr>
              <a:t>产生规则），全部以</a:t>
            </a:r>
            <a:r>
              <a:rPr lang="en-US" altLang="zh-CN" sz="2200" kern="0" dirty="0">
                <a:sym typeface="+mn-ea"/>
              </a:rPr>
              <a:t>RFC</a:t>
            </a:r>
            <a:r>
              <a:rPr lang="zh-CN" altLang="en-US" sz="2200" kern="0" dirty="0">
                <a:sym typeface="+mn-ea"/>
              </a:rPr>
              <a:t>发布</a:t>
            </a:r>
            <a:endParaRPr lang="en-US" altLang="zh-CN" sz="2200" kern="0" dirty="0">
              <a:sym typeface="+mn-ea"/>
            </a:endParaRPr>
          </a:p>
          <a:p>
            <a:pPr marL="574675" indent="-306070">
              <a:lnSpc>
                <a:spcPct val="120000"/>
              </a:lnSpc>
              <a:spcBef>
                <a:spcPts val="0"/>
              </a:spcBef>
              <a:buFont typeface="Arial" panose="020B0604020202020204" pitchFamily="34" charset="0"/>
              <a:buChar char="•"/>
              <a:tabLst>
                <a:tab pos="537210" algn="l"/>
                <a:tab pos="626745" algn="l"/>
              </a:tabLst>
            </a:pPr>
            <a:r>
              <a:rPr lang="zh-CN" altLang="en-US" sz="2200" kern="0" dirty="0">
                <a:sym typeface="+mn-ea"/>
              </a:rPr>
              <a:t>每年</a:t>
            </a:r>
            <a:r>
              <a:rPr lang="en-US" altLang="zh-CN" sz="2200" kern="0" dirty="0">
                <a:sym typeface="+mn-ea"/>
              </a:rPr>
              <a:t>3</a:t>
            </a:r>
            <a:r>
              <a:rPr lang="zh-CN" altLang="en-US" sz="2200" kern="0" dirty="0">
                <a:sym typeface="+mn-ea"/>
              </a:rPr>
              <a:t>次会，但所有决策须在邮件列表确认，因此可仅远程参与</a:t>
            </a:r>
            <a:endParaRPr lang="en-US" altLang="zh-CN" sz="2200" kern="0" dirty="0">
              <a:sym typeface="+mn-ea"/>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dirty="0">
                <a:cs typeface="Times New Roman" panose="02020603050405020304" pitchFamily="18" charset="0"/>
              </a:rPr>
              <a:t>IETF</a:t>
            </a:r>
            <a:r>
              <a:rPr lang="zh-CN" altLang="en-US" sz="2200" dirty="0">
                <a:cs typeface="Times New Roman" panose="02020603050405020304" pitchFamily="18" charset="0"/>
              </a:rPr>
              <a:t>由愿</a:t>
            </a:r>
            <a:r>
              <a:rPr lang="en-US" altLang="zh-CN" sz="2200" dirty="0" err="1">
                <a:cs typeface="Times New Roman" panose="02020603050405020304" pitchFamily="18" charset="0"/>
              </a:rPr>
              <a:t>为互联网发展做出贡献的专家自发参与和管理</a:t>
            </a:r>
            <a:r>
              <a:rPr lang="en-US" altLang="zh-CN" sz="2200" dirty="0">
                <a:cs typeface="Times New Roman" panose="02020603050405020304" pitchFamily="18" charset="0"/>
              </a:rPr>
              <a:t>(</a:t>
            </a:r>
            <a:r>
              <a:rPr lang="zh-CN" altLang="en-US" sz="2200" dirty="0">
                <a:cs typeface="Times New Roman" panose="02020603050405020304" pitchFamily="18" charset="0"/>
              </a:rPr>
              <a:t>无薪</a:t>
            </a:r>
            <a:r>
              <a:rPr lang="en-US" altLang="zh-CN" sz="2200" dirty="0">
                <a:cs typeface="Times New Roman" panose="02020603050405020304" pitchFamily="18" charset="0"/>
              </a:rPr>
              <a:t>)</a:t>
            </a:r>
            <a:endParaRPr lang="en-US" altLang="zh-CN" sz="22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zh-CN" altLang="en-US" sz="2200" kern="0" dirty="0">
                <a:sym typeface="+mn-ea"/>
              </a:rPr>
              <a:t>没有会员制，</a:t>
            </a:r>
            <a:r>
              <a:rPr lang="zh-CN" altLang="en-US" sz="2200" kern="0" dirty="0">
                <a:solidFill>
                  <a:srgbClr val="C00000"/>
                </a:solidFill>
                <a:sym typeface="+mn-ea"/>
              </a:rPr>
              <a:t>每个人都可以是</a:t>
            </a:r>
            <a:r>
              <a:rPr lang="en-US" altLang="zh-CN" sz="2200" kern="0" dirty="0" err="1">
                <a:solidFill>
                  <a:srgbClr val="C00000"/>
                </a:solidFill>
                <a:sym typeface="+mn-ea"/>
              </a:rPr>
              <a:t>IETFer</a:t>
            </a:r>
            <a:r>
              <a:rPr lang="zh-CN" altLang="en-US" sz="2200" kern="0" dirty="0">
                <a:sym typeface="+mn-ea"/>
              </a:rPr>
              <a:t>，在邮件列表参与即可</a:t>
            </a:r>
            <a:endParaRPr lang="zh-CN" altLang="en-US" sz="2200" kern="0" dirty="0">
              <a:sym typeface="+mn-ea"/>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矩形 4"/>
          <p:cNvSpPr/>
          <p:nvPr/>
        </p:nvSpPr>
        <p:spPr>
          <a:xfrm>
            <a:off x="1002668" y="4909800"/>
            <a:ext cx="7879080" cy="1561966"/>
          </a:xfrm>
          <a:prstGeom prst="rect">
            <a:avLst/>
          </a:prstGeom>
          <a:ln>
            <a:solidFill>
              <a:srgbClr val="C00000"/>
            </a:solidFill>
          </a:ln>
        </p:spPr>
        <p:txBody>
          <a:bodyPr wrap="none">
            <a:spAutoFit/>
          </a:bodyPr>
          <a:lstStyle/>
          <a:p>
            <a:pPr algn="ctr">
              <a:spcBef>
                <a:spcPts val="300"/>
              </a:spcBef>
            </a:pPr>
            <a:r>
              <a:rPr lang="en-US" altLang="zh-CN" sz="2800" kern="0" dirty="0">
                <a:solidFill>
                  <a:srgbClr val="C00000"/>
                </a:solidFill>
                <a:latin typeface="微软雅黑" panose="020B0503020204020204" pitchFamily="34" charset="-122"/>
                <a:ea typeface="微软雅黑" panose="020B0503020204020204" pitchFamily="34" charset="-122"/>
                <a:sym typeface="+mn-ea"/>
              </a:rPr>
              <a:t>IETF</a:t>
            </a:r>
            <a:r>
              <a:rPr lang="zh-CN" altLang="en-US" sz="2800" kern="0" dirty="0">
                <a:solidFill>
                  <a:srgbClr val="C00000"/>
                </a:solidFill>
                <a:latin typeface="微软雅黑" panose="020B0503020204020204" pitchFamily="34" charset="-122"/>
                <a:ea typeface="微软雅黑" panose="020B0503020204020204" pitchFamily="34" charset="-122"/>
                <a:sym typeface="+mn-ea"/>
              </a:rPr>
              <a:t>名言 </a:t>
            </a:r>
            <a:r>
              <a:rPr lang="en-US" altLang="zh-CN" sz="2800" kern="0" dirty="0">
                <a:solidFill>
                  <a:srgbClr val="C00000"/>
                </a:solidFill>
                <a:latin typeface="微软雅黑" panose="020B0503020204020204" pitchFamily="34" charset="-122"/>
                <a:ea typeface="微软雅黑" panose="020B0503020204020204" pitchFamily="34" charset="-122"/>
                <a:sym typeface="+mn-ea"/>
              </a:rPr>
              <a:t>(</a:t>
            </a:r>
            <a:r>
              <a:rPr lang="en-US" altLang="zh-CN" sz="2800" dirty="0">
                <a:solidFill>
                  <a:srgbClr val="C00000"/>
                </a:solidFill>
                <a:latin typeface="basis-grotesque-medium"/>
              </a:rPr>
              <a:t>David Clark</a:t>
            </a:r>
            <a:r>
              <a:rPr lang="en-US" altLang="zh-CN" sz="2800" kern="0" dirty="0">
                <a:solidFill>
                  <a:srgbClr val="C00000"/>
                </a:solidFill>
                <a:latin typeface="微软雅黑" panose="020B0503020204020204" pitchFamily="34" charset="-122"/>
                <a:ea typeface="微软雅黑" panose="020B0503020204020204" pitchFamily="34" charset="-122"/>
                <a:sym typeface="+mn-ea"/>
              </a:rPr>
              <a:t>)</a:t>
            </a:r>
            <a:endParaRPr lang="en-US" altLang="zh-CN" sz="2800" kern="0" dirty="0">
              <a:solidFill>
                <a:srgbClr val="C00000"/>
              </a:solidFill>
              <a:latin typeface="微软雅黑" panose="020B0503020204020204" pitchFamily="34" charset="-122"/>
              <a:ea typeface="微软雅黑" panose="020B0503020204020204" pitchFamily="34" charset="-122"/>
              <a:sym typeface="+mn-ea"/>
            </a:endParaRPr>
          </a:p>
          <a:p>
            <a:pPr algn="ctr">
              <a:spcBef>
                <a:spcPts val="300"/>
              </a:spcBef>
            </a:pPr>
            <a:r>
              <a:rPr lang="zh-CN" altLang="en-US" sz="2000" dirty="0">
                <a:latin typeface="微软雅黑" panose="020B0503020204020204" pitchFamily="34" charset="-122"/>
                <a:ea typeface="微软雅黑" panose="020B0503020204020204" pitchFamily="34" charset="-122"/>
              </a:rPr>
              <a:t>我们拒绝国王、总统和投票，简单多数和可运行的代码就是我们信仰</a:t>
            </a:r>
            <a:endParaRPr lang="en-US" altLang="zh-CN" sz="2000" dirty="0">
              <a:latin typeface="微软雅黑" panose="020B0503020204020204" pitchFamily="34" charset="-122"/>
              <a:ea typeface="微软雅黑" panose="020B0503020204020204" pitchFamily="34" charset="-122"/>
            </a:endParaRPr>
          </a:p>
          <a:p>
            <a:pPr algn="ctr">
              <a:spcBef>
                <a:spcPts val="300"/>
              </a:spcBef>
            </a:pPr>
            <a:r>
              <a:rPr lang="en-US" altLang="zh-CN" sz="2000" dirty="0">
                <a:latin typeface="微软雅黑" panose="020B0503020204020204" pitchFamily="34" charset="-122"/>
                <a:ea typeface="微软雅黑" panose="020B0503020204020204" pitchFamily="34" charset="-122"/>
              </a:rPr>
              <a:t>We reject: kings, presidents, and voting. </a:t>
            </a:r>
            <a:endParaRPr lang="en-US" altLang="zh-CN" sz="2000" dirty="0">
              <a:latin typeface="微软雅黑" panose="020B0503020204020204" pitchFamily="34" charset="-122"/>
              <a:ea typeface="微软雅黑" panose="020B0503020204020204" pitchFamily="34" charset="-122"/>
            </a:endParaRPr>
          </a:p>
          <a:p>
            <a:pPr algn="ctr">
              <a:spcBef>
                <a:spcPts val="300"/>
              </a:spcBef>
            </a:pPr>
            <a:r>
              <a:rPr lang="en-US" altLang="zh-CN" sz="2000" dirty="0">
                <a:latin typeface="微软雅黑" panose="020B0503020204020204" pitchFamily="34" charset="-122"/>
                <a:ea typeface="微软雅黑" panose="020B0503020204020204" pitchFamily="34" charset="-122"/>
              </a:rPr>
              <a:t>We believe in: rough consensus and running code</a:t>
            </a:r>
            <a:endParaRPr lang="zh-CN" altLang="en-US" sz="3600" dirty="0">
              <a:latin typeface="微软雅黑" panose="020B0503020204020204" pitchFamily="34" charset="-122"/>
              <a:ea typeface="微软雅黑" panose="020B0503020204020204" pitchFamily="34" charset="-122"/>
            </a:endParaRPr>
          </a:p>
        </p:txBody>
      </p:sp>
      <p:pic>
        <p:nvPicPr>
          <p:cNvPr id="7170" name="Picture 2" descr="Clark"/>
          <p:cNvPicPr>
            <a:picLocks noChangeAspect="1" noChangeArrowheads="1"/>
          </p:cNvPicPr>
          <p:nvPr/>
        </p:nvPicPr>
        <p:blipFill>
          <a:blip r:embed="rId1"/>
          <a:srcRect/>
          <a:stretch>
            <a:fillRect/>
          </a:stretch>
        </p:blipFill>
        <p:spPr bwMode="auto">
          <a:xfrm>
            <a:off x="9636034" y="3819778"/>
            <a:ext cx="1882234" cy="1882234"/>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9636034" y="5805318"/>
            <a:ext cx="1916871" cy="369332"/>
          </a:xfrm>
          <a:prstGeom prst="rect">
            <a:avLst/>
          </a:prstGeom>
        </p:spPr>
        <p:txBody>
          <a:bodyPr wrap="none">
            <a:spAutoFit/>
          </a:bodyPr>
          <a:lstStyle/>
          <a:p>
            <a:r>
              <a:rPr lang="en-US" altLang="zh-CN" dirty="0">
                <a:solidFill>
                  <a:srgbClr val="000000"/>
                </a:solidFill>
                <a:latin typeface="basis-grotesque-medium"/>
              </a:rPr>
              <a:t>David Clark</a:t>
            </a:r>
            <a:r>
              <a:rPr lang="zh-CN" altLang="en-US" dirty="0">
                <a:solidFill>
                  <a:srgbClr val="000000"/>
                </a:solidFill>
                <a:latin typeface="basis-grotesque-medium"/>
              </a:rPr>
              <a:t> </a:t>
            </a:r>
            <a:r>
              <a:rPr lang="en-US" altLang="zh-CN" dirty="0">
                <a:solidFill>
                  <a:srgbClr val="000000"/>
                </a:solidFill>
                <a:latin typeface="basis-grotesque-medium"/>
              </a:rPr>
              <a:t>@</a:t>
            </a:r>
            <a:r>
              <a:rPr lang="zh-CN" altLang="en-US" dirty="0">
                <a:solidFill>
                  <a:srgbClr val="000000"/>
                </a:solidFill>
                <a:latin typeface="basis-grotesque-medium"/>
              </a:rPr>
              <a:t> </a:t>
            </a:r>
            <a:r>
              <a:rPr lang="en-US" altLang="zh-CN" dirty="0">
                <a:solidFill>
                  <a:srgbClr val="000000"/>
                </a:solidFill>
                <a:latin typeface="basis-grotesque-medium"/>
              </a:rPr>
              <a:t>MIT</a:t>
            </a:r>
            <a:endParaRPr lang="en-US" altLang="zh-CN" b="0" i="0" dirty="0">
              <a:solidFill>
                <a:srgbClr val="000000"/>
              </a:solidFill>
              <a:effectLst/>
              <a:latin typeface="basis-grotesque-medium"/>
            </a:endParaRPr>
          </a:p>
        </p:txBody>
      </p:sp>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9214189" y="1752651"/>
            <a:ext cx="2422712" cy="830997"/>
          </a:xfrm>
          <a:prstGeom prst="rect">
            <a:avLst/>
          </a:prstGeom>
          <a:ln>
            <a:solidFill>
              <a:srgbClr val="C00000"/>
            </a:solidFill>
          </a:ln>
        </p:spPr>
        <p:txBody>
          <a:bodyPr wrap="square">
            <a:spAutoFit/>
          </a:bodyPr>
          <a:lstStyle/>
          <a:p>
            <a:pPr algn="ct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不自称为标准的</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事实标准</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RFC</a:t>
            </a:r>
            <a:endPar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cs typeface="Times New Roman" panose="02020603050405020304" pitchFamily="18" charset="0"/>
                <a:sym typeface="+mn-ea"/>
              </a:rPr>
              <a:t>Internet标准化组织</a:t>
            </a:r>
            <a:endParaRPr lang="en-US" altLang="zh-CN" dirty="0"/>
          </a:p>
        </p:txBody>
      </p:sp>
      <p:sp>
        <p:nvSpPr>
          <p:cNvPr id="3" name="内容占位符 2"/>
          <p:cNvSpPr>
            <a:spLocks noGrp="1"/>
          </p:cNvSpPr>
          <p:nvPr>
            <p:ph idx="1"/>
          </p:nvPr>
        </p:nvSpPr>
        <p:spPr>
          <a:xfrm>
            <a:off x="430305" y="1369694"/>
            <a:ext cx="4000502" cy="5351781"/>
          </a:xfrm>
        </p:spPr>
        <p:txBody>
          <a:bodyPr>
            <a:normAutofit lnSpcReduction="10000"/>
          </a:bodyPr>
          <a:lstStyle/>
          <a:p>
            <a:pPr>
              <a:lnSpc>
                <a:spcPct val="110000"/>
              </a:lnSpc>
            </a:pPr>
            <a:r>
              <a:rPr lang="en-US" altLang="zh-CN" sz="2400" dirty="0">
                <a:cs typeface="微软雅黑" panose="020B0503020204020204" pitchFamily="34" charset="-122"/>
              </a:rPr>
              <a:t>RFC</a:t>
            </a:r>
            <a:r>
              <a:rPr lang="zh-CN" altLang="en-US" sz="2400" dirty="0">
                <a:cs typeface="微软雅黑" panose="020B0503020204020204" pitchFamily="34" charset="-122"/>
              </a:rPr>
              <a:t>标准产生过程</a:t>
            </a:r>
            <a:endParaRPr lang="en-US" altLang="zh-CN" sz="2400" dirty="0">
              <a:cs typeface="微软雅黑" panose="020B0503020204020204" pitchFamily="34" charset="-122"/>
            </a:endParaRPr>
          </a:p>
          <a:p>
            <a:pPr lvl="1">
              <a:lnSpc>
                <a:spcPct val="110000"/>
              </a:lnSpc>
            </a:pPr>
            <a:r>
              <a:rPr lang="zh-CN" altLang="en-US" sz="2000" dirty="0">
                <a:cs typeface="微软雅黑" panose="020B0503020204020204" pitchFamily="34" charset="-122"/>
              </a:rPr>
              <a:t>从个人提交个人文稿，到接受为工作组文稿，再通过各层</a:t>
            </a:r>
            <a:r>
              <a:rPr lang="en-US" altLang="zh-CN" sz="2000" dirty="0">
                <a:cs typeface="微软雅黑" panose="020B0503020204020204" pitchFamily="34" charset="-122"/>
              </a:rPr>
              <a:t>Last</a:t>
            </a:r>
            <a:r>
              <a:rPr lang="zh-CN" altLang="en-US" sz="2000" dirty="0">
                <a:cs typeface="微软雅黑" panose="020B0503020204020204" pitchFamily="34" charset="-122"/>
              </a:rPr>
              <a:t> </a:t>
            </a:r>
            <a:r>
              <a:rPr lang="en-US" altLang="zh-CN" sz="2000" dirty="0">
                <a:cs typeface="微软雅黑" panose="020B0503020204020204" pitchFamily="34" charset="-122"/>
              </a:rPr>
              <a:t>Call</a:t>
            </a:r>
            <a:r>
              <a:rPr lang="zh-CN" altLang="en-US" sz="2000" dirty="0">
                <a:cs typeface="微软雅黑" panose="020B0503020204020204" pitchFamily="34" charset="-122"/>
              </a:rPr>
              <a:t>等审核，最终才能成为</a:t>
            </a:r>
            <a:r>
              <a:rPr lang="en-US" altLang="zh-CN" sz="2000" dirty="0">
                <a:cs typeface="微软雅黑" panose="020B0503020204020204" pitchFamily="34" charset="-122"/>
              </a:rPr>
              <a:t>RFC</a:t>
            </a:r>
            <a:endParaRPr lang="en-US" altLang="zh-CN" sz="2000" dirty="0">
              <a:cs typeface="微软雅黑" panose="020B0503020204020204" pitchFamily="34" charset="-122"/>
            </a:endParaRPr>
          </a:p>
          <a:p>
            <a:pPr lvl="1">
              <a:lnSpc>
                <a:spcPct val="110000"/>
              </a:lnSpc>
            </a:pPr>
            <a:r>
              <a:rPr lang="zh-CN" altLang="en-US" sz="2000" dirty="0">
                <a:cs typeface="微软雅黑" panose="020B0503020204020204" pitchFamily="34" charset="-122"/>
              </a:rPr>
              <a:t>上述过程往往至少要</a:t>
            </a:r>
            <a:r>
              <a:rPr lang="en-US" altLang="zh-CN" sz="2000" dirty="0">
                <a:cs typeface="微软雅黑" panose="020B0503020204020204" pitchFamily="34" charset="-122"/>
              </a:rPr>
              <a:t>2~3</a:t>
            </a:r>
            <a:r>
              <a:rPr lang="zh-CN" altLang="en-US" sz="2000" dirty="0">
                <a:cs typeface="微软雅黑" panose="020B0503020204020204" pitchFamily="34" charset="-122"/>
              </a:rPr>
              <a:t>年</a:t>
            </a:r>
            <a:endParaRPr lang="en-US" altLang="zh-CN" sz="2000" dirty="0">
              <a:cs typeface="微软雅黑" panose="020B0503020204020204" pitchFamily="34" charset="-122"/>
            </a:endParaRPr>
          </a:p>
          <a:p>
            <a:pPr>
              <a:lnSpc>
                <a:spcPct val="110000"/>
              </a:lnSpc>
            </a:pPr>
            <a:r>
              <a:rPr lang="zh-CN" altLang="en-US" sz="2400" dirty="0">
                <a:cs typeface="微软雅黑" panose="020B0503020204020204" pitchFamily="34" charset="-122"/>
              </a:rPr>
              <a:t>各国</a:t>
            </a:r>
            <a:r>
              <a:rPr lang="en-US" altLang="zh-CN" sz="2400" dirty="0">
                <a:cs typeface="微软雅黑" panose="020B0503020204020204" pitchFamily="34" charset="-122"/>
              </a:rPr>
              <a:t>RFC</a:t>
            </a:r>
            <a:r>
              <a:rPr lang="zh-CN" altLang="en-US" sz="2400" dirty="0">
                <a:cs typeface="微软雅黑" panose="020B0503020204020204" pitchFamily="34" charset="-122"/>
              </a:rPr>
              <a:t>贡献情况</a:t>
            </a:r>
            <a:endParaRPr lang="en-US" altLang="zh-CN" sz="2400" dirty="0">
              <a:cs typeface="微软雅黑" panose="020B0503020204020204" pitchFamily="34" charset="-122"/>
            </a:endParaRPr>
          </a:p>
          <a:p>
            <a:pPr lvl="1">
              <a:lnSpc>
                <a:spcPct val="110000"/>
              </a:lnSpc>
            </a:pPr>
            <a:r>
              <a:rPr lang="zh-CN" altLang="en-US" sz="2000" dirty="0">
                <a:cs typeface="微软雅黑" panose="020B0503020204020204" pitchFamily="34" charset="-122"/>
              </a:rPr>
              <a:t>全球有约</a:t>
            </a:r>
            <a:r>
              <a:rPr lang="en-US" altLang="zh-CN" sz="2000" dirty="0">
                <a:cs typeface="微软雅黑" panose="020B0503020204020204" pitchFamily="34" charset="-122"/>
              </a:rPr>
              <a:t>9000</a:t>
            </a:r>
            <a:r>
              <a:rPr lang="zh-CN" altLang="en-US" sz="2000" dirty="0">
                <a:cs typeface="微软雅黑" panose="020B0503020204020204" pitchFamily="34" charset="-122"/>
              </a:rPr>
              <a:t>个</a:t>
            </a:r>
            <a:r>
              <a:rPr lang="en-US" altLang="zh-CN" sz="2000" dirty="0">
                <a:cs typeface="微软雅黑" panose="020B0503020204020204" pitchFamily="34" charset="-122"/>
              </a:rPr>
              <a:t>RFC</a:t>
            </a:r>
            <a:endParaRPr lang="en-US" altLang="zh-CN" sz="2000" dirty="0">
              <a:cs typeface="微软雅黑" panose="020B0503020204020204" pitchFamily="34" charset="-122"/>
            </a:endParaRPr>
          </a:p>
          <a:p>
            <a:pPr lvl="1">
              <a:lnSpc>
                <a:spcPct val="110000"/>
              </a:lnSpc>
            </a:pPr>
            <a:r>
              <a:rPr lang="zh-CN" altLang="en-US" sz="2000" dirty="0">
                <a:cs typeface="微软雅黑" panose="020B0503020204020204" pitchFamily="34" charset="-122"/>
              </a:rPr>
              <a:t>美国给</a:t>
            </a:r>
            <a:r>
              <a:rPr lang="en-US" altLang="zh-CN" sz="2000" dirty="0">
                <a:cs typeface="微软雅黑" panose="020B0503020204020204" pitchFamily="34" charset="-122"/>
              </a:rPr>
              <a:t>6600</a:t>
            </a:r>
            <a:r>
              <a:rPr lang="zh-CN" altLang="en-US" sz="2000" dirty="0">
                <a:cs typeface="微软雅黑" panose="020B0503020204020204" pitchFamily="34" charset="-122"/>
              </a:rPr>
              <a:t>个</a:t>
            </a:r>
            <a:r>
              <a:rPr lang="en-US" altLang="zh-CN" sz="2000" dirty="0">
                <a:cs typeface="微软雅黑" panose="020B0503020204020204" pitchFamily="34" charset="-122"/>
              </a:rPr>
              <a:t>RFC</a:t>
            </a:r>
            <a:r>
              <a:rPr lang="zh-CN" altLang="en-US" sz="2000" dirty="0">
                <a:cs typeface="微软雅黑" panose="020B0503020204020204" pitchFamily="34" charset="-122"/>
              </a:rPr>
              <a:t>做过贡献</a:t>
            </a:r>
            <a:endParaRPr lang="en-US" altLang="zh-CN" sz="2000" dirty="0">
              <a:cs typeface="微软雅黑" panose="020B0503020204020204" pitchFamily="34" charset="-122"/>
            </a:endParaRPr>
          </a:p>
          <a:p>
            <a:pPr lvl="1">
              <a:lnSpc>
                <a:spcPct val="110000"/>
              </a:lnSpc>
            </a:pPr>
            <a:r>
              <a:rPr lang="zh-CN" altLang="en-US" sz="2000" dirty="0">
                <a:cs typeface="微软雅黑" panose="020B0503020204020204" pitchFamily="34" charset="-122"/>
              </a:rPr>
              <a:t>英、德、加、法、芬等强国</a:t>
            </a:r>
            <a:endParaRPr lang="en-US" altLang="zh-CN" sz="2000" dirty="0">
              <a:cs typeface="微软雅黑" panose="020B0503020204020204" pitchFamily="34" charset="-122"/>
            </a:endParaRPr>
          </a:p>
          <a:p>
            <a:pPr lvl="1">
              <a:lnSpc>
                <a:spcPct val="110000"/>
              </a:lnSpc>
            </a:pPr>
            <a:r>
              <a:rPr lang="zh-CN" altLang="en-US" sz="2000" dirty="0">
                <a:cs typeface="微软雅黑" panose="020B0503020204020204" pitchFamily="34" charset="-122"/>
              </a:rPr>
              <a:t>我国贡献数上升到第</a:t>
            </a:r>
            <a:r>
              <a:rPr lang="en-US" altLang="zh-CN" sz="2000" dirty="0">
                <a:cs typeface="微软雅黑" panose="020B0503020204020204" pitchFamily="34" charset="-122"/>
              </a:rPr>
              <a:t>7</a:t>
            </a:r>
            <a:r>
              <a:rPr lang="zh-CN" altLang="en-US" sz="2000" dirty="0">
                <a:cs typeface="微软雅黑" panose="020B0503020204020204" pitchFamily="34" charset="-122"/>
              </a:rPr>
              <a:t>位，给近</a:t>
            </a:r>
            <a:r>
              <a:rPr lang="en-US" altLang="zh-CN" sz="2000" dirty="0">
                <a:cs typeface="微软雅黑" panose="020B0503020204020204" pitchFamily="34" charset="-122"/>
              </a:rPr>
              <a:t>500</a:t>
            </a:r>
            <a:r>
              <a:rPr lang="zh-CN" altLang="en-US" sz="2000" dirty="0">
                <a:cs typeface="微软雅黑" panose="020B0503020204020204" pitchFamily="34" charset="-122"/>
              </a:rPr>
              <a:t>个</a:t>
            </a:r>
            <a:r>
              <a:rPr lang="en-US" altLang="zh-CN" sz="2000" dirty="0">
                <a:cs typeface="微软雅黑" panose="020B0503020204020204" pitchFamily="34" charset="-122"/>
              </a:rPr>
              <a:t>RFC</a:t>
            </a:r>
            <a:r>
              <a:rPr lang="zh-CN" altLang="en-US" sz="2000" dirty="0">
                <a:cs typeface="微软雅黑" panose="020B0503020204020204" pitchFamily="34" charset="-122"/>
              </a:rPr>
              <a:t>做了贡献</a:t>
            </a:r>
            <a:endParaRPr lang="zh-CN" altLang="en-US" sz="2000" dirty="0">
              <a:cs typeface="微软雅黑" panose="020B0503020204020204" pitchFamily="34" charset="-122"/>
            </a:endParaRPr>
          </a:p>
          <a:p>
            <a:pPr lvl="1">
              <a:lnSpc>
                <a:spcPct val="110000"/>
              </a:lnSpc>
            </a:pPr>
            <a:r>
              <a:rPr lang="zh-CN" altLang="en-US" sz="2000" dirty="0">
                <a:cs typeface="微软雅黑" panose="020B0503020204020204" pitchFamily="34" charset="-122"/>
              </a:rPr>
              <a:t>美国近</a:t>
            </a:r>
            <a:r>
              <a:rPr lang="en-US" altLang="zh-CN" sz="2000" dirty="0">
                <a:cs typeface="微软雅黑" panose="020B0503020204020204" pitchFamily="34" charset="-122"/>
              </a:rPr>
              <a:t>3000</a:t>
            </a:r>
            <a:r>
              <a:rPr lang="zh-CN" altLang="en-US" sz="2000" dirty="0">
                <a:cs typeface="微软雅黑" panose="020B0503020204020204" pitchFamily="34" charset="-122"/>
              </a:rPr>
              <a:t>人有</a:t>
            </a:r>
            <a:r>
              <a:rPr lang="en-US" altLang="zh-CN" sz="2000" dirty="0">
                <a:cs typeface="微软雅黑" panose="020B0503020204020204" pitchFamily="34" charset="-122"/>
              </a:rPr>
              <a:t>RFC</a:t>
            </a:r>
            <a:r>
              <a:rPr lang="zh-CN" altLang="en-US" sz="2000" dirty="0">
                <a:cs typeface="微软雅黑" panose="020B0503020204020204" pitchFamily="34" charset="-122"/>
              </a:rPr>
              <a:t>署名，我国仅不到</a:t>
            </a:r>
            <a:r>
              <a:rPr lang="en-US" altLang="zh-CN" sz="2000" dirty="0">
                <a:cs typeface="微软雅黑" panose="020B0503020204020204" pitchFamily="34" charset="-122"/>
              </a:rPr>
              <a:t>200</a:t>
            </a:r>
            <a:r>
              <a:rPr lang="zh-CN" altLang="en-US" sz="2000" dirty="0">
                <a:cs typeface="微软雅黑" panose="020B0503020204020204" pitchFamily="34" charset="-122"/>
              </a:rPr>
              <a:t>人有</a:t>
            </a:r>
            <a:r>
              <a:rPr lang="en-US" altLang="zh-CN" sz="2000" dirty="0">
                <a:cs typeface="微软雅黑" panose="020B0503020204020204" pitchFamily="34" charset="-122"/>
              </a:rPr>
              <a:t>RFC</a:t>
            </a:r>
            <a:endParaRPr lang="en-US" altLang="zh-CN" sz="2000" dirty="0">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9" name="文本框 8"/>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8" name="AutoShape 4"/>
          <p:cNvSpPr>
            <a:spLocks noChangeArrowheads="1"/>
          </p:cNvSpPr>
          <p:nvPr/>
        </p:nvSpPr>
        <p:spPr bwMode="auto">
          <a:xfrm>
            <a:off x="4650439" y="1707035"/>
            <a:ext cx="1143000" cy="1028700"/>
          </a:xfrm>
          <a:prstGeom prst="verticalScroll">
            <a:avLst>
              <a:gd name="adj" fmla="val 12500"/>
            </a:avLst>
          </a:prstGeom>
          <a:solidFill>
            <a:srgbClr val="FFFFFF"/>
          </a:solidFill>
          <a:ln w="9525">
            <a:solidFill>
              <a:schemeClr val="tx1"/>
            </a:solidFill>
            <a:round/>
          </a:ln>
          <a:effectLst/>
        </p:spPr>
        <p:txBody>
          <a:bodyPr wrap="none" anchor="ctr"/>
          <a:lstStyle/>
          <a:p>
            <a:pPr algn="ctr"/>
            <a:r>
              <a:rPr lang="zh-CN" altLang="en-US" dirty="0">
                <a:latin typeface="微软雅黑" panose="020B0503020204020204" pitchFamily="34" charset="-122"/>
                <a:ea typeface="微软雅黑" panose="020B0503020204020204" pitchFamily="34" charset="-122"/>
              </a:rPr>
              <a:t>个人</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文稿</a:t>
            </a:r>
            <a:endParaRPr lang="en-US" altLang="zh-CN" dirty="0">
              <a:latin typeface="微软雅黑" panose="020B0503020204020204" pitchFamily="34" charset="-122"/>
              <a:ea typeface="微软雅黑" panose="020B0503020204020204" pitchFamily="34" charset="-122"/>
            </a:endParaRPr>
          </a:p>
        </p:txBody>
      </p:sp>
      <p:sp>
        <p:nvSpPr>
          <p:cNvPr id="12" name="AutoShape 7"/>
          <p:cNvSpPr>
            <a:spLocks noChangeArrowheads="1"/>
          </p:cNvSpPr>
          <p:nvPr/>
        </p:nvSpPr>
        <p:spPr bwMode="auto">
          <a:xfrm>
            <a:off x="5809129" y="2198655"/>
            <a:ext cx="914400" cy="304800"/>
          </a:xfrm>
          <a:prstGeom prst="rightArrow">
            <a:avLst>
              <a:gd name="adj1" fmla="val 50000"/>
              <a:gd name="adj2" fmla="val 75000"/>
            </a:avLst>
          </a:prstGeom>
          <a:solidFill>
            <a:srgbClr val="FFCC00"/>
          </a:solidFill>
          <a:ln w="9525">
            <a:solidFill>
              <a:schemeClr val="tx1"/>
            </a:solidFill>
            <a:miter lim="800000"/>
          </a:ln>
          <a:effectLst/>
        </p:spPr>
        <p:txBody>
          <a:bodyPr wrap="none" anchor="ctr"/>
          <a:lstStyle/>
          <a:p>
            <a:pPr algn="ctr"/>
            <a:endParaRPr lang="en-US">
              <a:solidFill>
                <a:srgbClr val="66FF66"/>
              </a:solidFill>
              <a:latin typeface="微软雅黑" panose="020B0503020204020204" pitchFamily="34" charset="-122"/>
              <a:ea typeface="微软雅黑" panose="020B0503020204020204" pitchFamily="34" charset="-122"/>
            </a:endParaRPr>
          </a:p>
        </p:txBody>
      </p:sp>
      <p:sp>
        <p:nvSpPr>
          <p:cNvPr id="13" name="Text Box 9"/>
          <p:cNvSpPr txBox="1">
            <a:spLocks noChangeArrowheads="1"/>
          </p:cNvSpPr>
          <p:nvPr/>
        </p:nvSpPr>
        <p:spPr bwMode="auto">
          <a:xfrm>
            <a:off x="9727265" y="4464249"/>
            <a:ext cx="2042022" cy="707886"/>
          </a:xfrm>
          <a:prstGeom prst="rect">
            <a:avLst/>
          </a:prstGeom>
          <a:noFill/>
          <a:ln>
            <a:noFill/>
          </a:ln>
          <a:effectLst/>
        </p:spPr>
        <p:txBody>
          <a:bodyPr wrap="square">
            <a:spAutoFit/>
          </a:bodyPr>
          <a:lstStyle/>
          <a:p>
            <a:pPr algn="ctr">
              <a:spcBef>
                <a:spcPct val="50000"/>
              </a:spcBef>
            </a:pPr>
            <a:r>
              <a:rPr lang="zh-CN" altLang="en-US" sz="2000" dirty="0">
                <a:latin typeface="微软雅黑" panose="020B0503020204020204" pitchFamily="34" charset="-122"/>
                <a:ea typeface="微软雅黑" panose="020B0503020204020204" pitchFamily="34" charset="-122"/>
              </a:rPr>
              <a:t>工作组讨论</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（会场唇枪舌战）</a:t>
            </a:r>
            <a:endParaRPr lang="en-US" altLang="zh-CN" sz="2000" dirty="0">
              <a:latin typeface="微软雅黑" panose="020B0503020204020204" pitchFamily="34" charset="-122"/>
              <a:ea typeface="微软雅黑" panose="020B0503020204020204" pitchFamily="34" charset="-122"/>
            </a:endParaRPr>
          </a:p>
        </p:txBody>
      </p:sp>
      <p:pic>
        <p:nvPicPr>
          <p:cNvPr id="14" name="Picture 10" descr="J0301252"/>
          <p:cNvPicPr>
            <a:picLocks noChangeAspect="1" noChangeArrowheads="1"/>
          </p:cNvPicPr>
          <p:nvPr/>
        </p:nvPicPr>
        <p:blipFill>
          <a:blip r:embed="rId1"/>
          <a:srcRect/>
          <a:stretch>
            <a:fillRect/>
          </a:stretch>
        </p:blipFill>
        <p:spPr bwMode="auto">
          <a:xfrm>
            <a:off x="7367934" y="3564985"/>
            <a:ext cx="1143000" cy="977395"/>
          </a:xfrm>
          <a:prstGeom prst="rect">
            <a:avLst/>
          </a:prstGeom>
          <a:noFill/>
        </p:spPr>
      </p:pic>
      <p:sp>
        <p:nvSpPr>
          <p:cNvPr id="15" name="AutoShape 12"/>
          <p:cNvSpPr>
            <a:spLocks noChangeArrowheads="1"/>
          </p:cNvSpPr>
          <p:nvPr/>
        </p:nvSpPr>
        <p:spPr bwMode="auto">
          <a:xfrm>
            <a:off x="8776421" y="3991574"/>
            <a:ext cx="990600" cy="304800"/>
          </a:xfrm>
          <a:prstGeom prst="leftArrow">
            <a:avLst>
              <a:gd name="adj1" fmla="val 50000"/>
              <a:gd name="adj2" fmla="val 81250"/>
            </a:avLst>
          </a:prstGeom>
          <a:solidFill>
            <a:srgbClr val="FFCC00"/>
          </a:solidFill>
          <a:ln w="9525">
            <a:solidFill>
              <a:schemeClr val="tx1"/>
            </a:solidFill>
            <a:miter lim="800000"/>
          </a:ln>
          <a:effec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16" name="Text Box 13"/>
          <p:cNvSpPr txBox="1">
            <a:spLocks noChangeArrowheads="1"/>
          </p:cNvSpPr>
          <p:nvPr/>
        </p:nvSpPr>
        <p:spPr bwMode="auto">
          <a:xfrm>
            <a:off x="7170134" y="4472639"/>
            <a:ext cx="1759323" cy="707886"/>
          </a:xfrm>
          <a:prstGeom prst="rect">
            <a:avLst/>
          </a:prstGeom>
          <a:noFill/>
          <a:ln>
            <a:noFill/>
          </a:ln>
          <a:effectLst/>
        </p:spPr>
        <p:txBody>
          <a:bodyPr wrap="square">
            <a:spAutoFit/>
          </a:bodyPr>
          <a:lstStyle/>
          <a:p>
            <a:pPr>
              <a:spcBef>
                <a:spcPct val="50000"/>
              </a:spcBef>
            </a:pPr>
            <a:r>
              <a:rPr lang="en-US" altLang="zh-CN" sz="2000" dirty="0">
                <a:latin typeface="微软雅黑" panose="020B0503020204020204" pitchFamily="34" charset="-122"/>
                <a:ea typeface="微软雅黑" panose="020B0503020204020204" pitchFamily="34" charset="-122"/>
              </a:rPr>
              <a:t>IETF</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Last Call</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（邮件列表）</a:t>
            </a:r>
            <a:endParaRPr lang="en-US" altLang="zh-CN" sz="2000" dirty="0">
              <a:latin typeface="微软雅黑" panose="020B0503020204020204" pitchFamily="34" charset="-122"/>
              <a:ea typeface="微软雅黑" panose="020B0503020204020204" pitchFamily="34" charset="-122"/>
            </a:endParaRPr>
          </a:p>
        </p:txBody>
      </p:sp>
      <p:pic>
        <p:nvPicPr>
          <p:cNvPr id="18" name="Picture 15" descr="J0291984"/>
          <p:cNvPicPr>
            <a:picLocks noChangeAspect="1" noChangeArrowheads="1"/>
          </p:cNvPicPr>
          <p:nvPr/>
        </p:nvPicPr>
        <p:blipFill>
          <a:blip r:embed="rId2"/>
          <a:srcRect/>
          <a:stretch>
            <a:fillRect/>
          </a:stretch>
        </p:blipFill>
        <p:spPr bwMode="auto">
          <a:xfrm>
            <a:off x="6909781" y="1695265"/>
            <a:ext cx="934459" cy="989810"/>
          </a:xfrm>
          <a:prstGeom prst="rect">
            <a:avLst/>
          </a:prstGeom>
          <a:noFill/>
        </p:spPr>
      </p:pic>
      <p:sp>
        <p:nvSpPr>
          <p:cNvPr id="19" name="Text Box 16"/>
          <p:cNvSpPr txBox="1">
            <a:spLocks noChangeArrowheads="1"/>
          </p:cNvSpPr>
          <p:nvPr/>
        </p:nvSpPr>
        <p:spPr bwMode="auto">
          <a:xfrm>
            <a:off x="6013071" y="2670450"/>
            <a:ext cx="2895600" cy="369332"/>
          </a:xfrm>
          <a:prstGeom prst="rect">
            <a:avLst/>
          </a:prstGeom>
          <a:noFill/>
          <a:ln>
            <a:noFill/>
          </a:ln>
          <a:effectLst/>
        </p:spPr>
        <p:txBody>
          <a:bodyPr lIns="18000" rIns="18000">
            <a:spAutoFit/>
          </a:bodyPr>
          <a:lstStyle/>
          <a:p>
            <a:pPr algn="ctr">
              <a:spcBef>
                <a:spcPct val="50000"/>
              </a:spcBef>
            </a:pPr>
            <a:r>
              <a:rPr lang="zh-CN" altLang="en-US" dirty="0">
                <a:latin typeface="微软雅黑" panose="020B0503020204020204" pitchFamily="34" charset="-122"/>
                <a:ea typeface="微软雅黑" panose="020B0503020204020204" pitchFamily="34" charset="-122"/>
              </a:rPr>
              <a:t>邮件列表讨论或参会</a:t>
            </a:r>
            <a:endParaRPr lang="en-US" altLang="zh-CN" dirty="0">
              <a:latin typeface="微软雅黑" panose="020B0503020204020204" pitchFamily="34" charset="-122"/>
              <a:ea typeface="微软雅黑" panose="020B0503020204020204" pitchFamily="34" charset="-122"/>
            </a:endParaRPr>
          </a:p>
        </p:txBody>
      </p:sp>
      <p:sp>
        <p:nvSpPr>
          <p:cNvPr id="21" name="AutoShape 19"/>
          <p:cNvSpPr>
            <a:spLocks noChangeArrowheads="1"/>
          </p:cNvSpPr>
          <p:nvPr/>
        </p:nvSpPr>
        <p:spPr bwMode="auto">
          <a:xfrm>
            <a:off x="5993168" y="4068359"/>
            <a:ext cx="1083469" cy="305869"/>
          </a:xfrm>
          <a:prstGeom prst="leftArrow">
            <a:avLst>
              <a:gd name="adj1" fmla="val 50000"/>
              <a:gd name="adj2" fmla="val 75000"/>
            </a:avLst>
          </a:prstGeom>
          <a:solidFill>
            <a:srgbClr val="FFCC00"/>
          </a:solidFill>
          <a:ln w="9525">
            <a:solidFill>
              <a:schemeClr val="tx1"/>
            </a:solidFill>
            <a:miter lim="800000"/>
          </a:ln>
          <a:effec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23" name="AutoShape 21"/>
          <p:cNvSpPr>
            <a:spLocks noChangeArrowheads="1"/>
          </p:cNvSpPr>
          <p:nvPr/>
        </p:nvSpPr>
        <p:spPr bwMode="auto">
          <a:xfrm>
            <a:off x="10264588" y="2332384"/>
            <a:ext cx="671513" cy="823913"/>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800 w 21600"/>
              <a:gd name="T5" fmla="*/ -1 h 21600"/>
              <a:gd name="T6" fmla="*/ 2699 w 21600"/>
              <a:gd name="T7" fmla="*/ 10799 h 21600"/>
              <a:gd name="T8" fmla="*/ 10800 w 21600"/>
              <a:gd name="T9" fmla="*/ 5399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1" y="10799"/>
                </a:ln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rgbClr val="FFCC00"/>
          </a:solidFill>
          <a:ln w="9525">
            <a:solidFill>
              <a:schemeClr val="tx1"/>
            </a:solidFill>
            <a:miter lim="800000"/>
          </a:ln>
          <a:effec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24" name="AutoShape 23"/>
          <p:cNvSpPr>
            <a:spLocks noChangeArrowheads="1"/>
          </p:cNvSpPr>
          <p:nvPr/>
        </p:nvSpPr>
        <p:spPr bwMode="auto">
          <a:xfrm>
            <a:off x="9130552" y="1722784"/>
            <a:ext cx="1143000" cy="1028700"/>
          </a:xfrm>
          <a:prstGeom prst="verticalScroll">
            <a:avLst>
              <a:gd name="adj" fmla="val 12500"/>
            </a:avLst>
          </a:prstGeom>
          <a:solidFill>
            <a:srgbClr val="FFFFFF"/>
          </a:solidFill>
          <a:ln w="9525">
            <a:solidFill>
              <a:schemeClr val="tx1"/>
            </a:solidFill>
            <a:round/>
          </a:ln>
          <a:effectLst/>
        </p:spPr>
        <p:txBody>
          <a:bodyPr wrap="none" anchor="ctr"/>
          <a:lstStyle/>
          <a:p>
            <a:pPr algn="ctr"/>
            <a:r>
              <a:rPr lang="zh-CN" altLang="en-US" dirty="0">
                <a:latin typeface="微软雅黑" panose="020B0503020204020204" pitchFamily="34" charset="-122"/>
                <a:ea typeface="微软雅黑" panose="020B0503020204020204" pitchFamily="34" charset="-122"/>
              </a:rPr>
              <a:t>工作组</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文稿</a:t>
            </a:r>
            <a:endParaRPr lang="en-US" altLang="zh-CN" dirty="0">
              <a:latin typeface="微软雅黑" panose="020B0503020204020204" pitchFamily="34" charset="-122"/>
              <a:ea typeface="微软雅黑" panose="020B0503020204020204" pitchFamily="34" charset="-122"/>
            </a:endParaRPr>
          </a:p>
        </p:txBody>
      </p:sp>
      <p:sp>
        <p:nvSpPr>
          <p:cNvPr id="25" name="AutoShape 24"/>
          <p:cNvSpPr>
            <a:spLocks noChangeArrowheads="1"/>
          </p:cNvSpPr>
          <p:nvPr/>
        </p:nvSpPr>
        <p:spPr bwMode="auto">
          <a:xfrm>
            <a:off x="8216152" y="2256184"/>
            <a:ext cx="914400" cy="304800"/>
          </a:xfrm>
          <a:prstGeom prst="rightArrow">
            <a:avLst>
              <a:gd name="adj1" fmla="val 50000"/>
              <a:gd name="adj2" fmla="val 75000"/>
            </a:avLst>
          </a:prstGeom>
          <a:solidFill>
            <a:srgbClr val="FFCC00"/>
          </a:solidFill>
          <a:ln w="9525">
            <a:solidFill>
              <a:schemeClr val="tx1"/>
            </a:solidFill>
            <a:miter lim="800000"/>
          </a:ln>
          <a:effectLst/>
        </p:spPr>
        <p:txBody>
          <a:bodyPr wrap="none" anchor="ctr"/>
          <a:lstStyle/>
          <a:p>
            <a:pPr algn="ctr"/>
            <a:endParaRPr lang="en-US">
              <a:solidFill>
                <a:srgbClr val="66FF66"/>
              </a:solidFill>
              <a:latin typeface="微软雅黑" panose="020B0503020204020204" pitchFamily="34" charset="-122"/>
              <a:ea typeface="微软雅黑" panose="020B0503020204020204" pitchFamily="34" charset="-122"/>
            </a:endParaRPr>
          </a:p>
        </p:txBody>
      </p:sp>
      <p:sp>
        <p:nvSpPr>
          <p:cNvPr id="26" name="Text Box 9"/>
          <p:cNvSpPr txBox="1">
            <a:spLocks noChangeArrowheads="1"/>
          </p:cNvSpPr>
          <p:nvPr/>
        </p:nvSpPr>
        <p:spPr bwMode="auto">
          <a:xfrm>
            <a:off x="7965139" y="1593879"/>
            <a:ext cx="1385045" cy="707886"/>
          </a:xfrm>
          <a:prstGeom prst="rect">
            <a:avLst/>
          </a:prstGeom>
          <a:noFill/>
          <a:ln>
            <a:noFill/>
          </a:ln>
          <a:effectLst/>
        </p:spPr>
        <p:txBody>
          <a:bodyPr wrap="square">
            <a:spAutoFit/>
          </a:bodyPr>
          <a:lstStyle/>
          <a:p>
            <a:pPr algn="ctr">
              <a:spcBef>
                <a:spcPct val="50000"/>
              </a:spcBef>
            </a:pPr>
            <a:r>
              <a:rPr lang="zh-CN" altLang="en-US" sz="2000" dirty="0">
                <a:latin typeface="微软雅黑" panose="020B0503020204020204" pitchFamily="34" charset="-122"/>
                <a:ea typeface="微软雅黑" panose="020B0503020204020204" pitchFamily="34" charset="-122"/>
              </a:rPr>
              <a:t>某工作组</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接受</a:t>
            </a:r>
            <a:endParaRPr lang="en-US" altLang="zh-CN" sz="2000" dirty="0">
              <a:latin typeface="微软雅黑" panose="020B0503020204020204" pitchFamily="34" charset="-122"/>
              <a:ea typeface="微软雅黑" panose="020B0503020204020204" pitchFamily="34" charset="-122"/>
            </a:endParaRPr>
          </a:p>
        </p:txBody>
      </p:sp>
      <p:sp>
        <p:nvSpPr>
          <p:cNvPr id="27" name="Text Box 9"/>
          <p:cNvSpPr txBox="1">
            <a:spLocks noChangeArrowheads="1"/>
          </p:cNvSpPr>
          <p:nvPr/>
        </p:nvSpPr>
        <p:spPr bwMode="auto">
          <a:xfrm>
            <a:off x="10585078" y="1947822"/>
            <a:ext cx="1385045" cy="707886"/>
          </a:xfrm>
          <a:prstGeom prst="rect">
            <a:avLst/>
          </a:prstGeom>
          <a:noFill/>
          <a:ln>
            <a:noFill/>
          </a:ln>
          <a:effectLst/>
        </p:spPr>
        <p:txBody>
          <a:bodyPr wrap="square">
            <a:spAutoFit/>
          </a:bodyPr>
          <a:lstStyle/>
          <a:p>
            <a:pPr algn="ctr">
              <a:spcBef>
                <a:spcPct val="50000"/>
              </a:spcBef>
            </a:pPr>
            <a:r>
              <a:rPr lang="zh-CN" altLang="en-US" sz="2000" dirty="0">
                <a:latin typeface="微软雅黑" panose="020B0503020204020204" pitchFamily="34" charset="-122"/>
                <a:ea typeface="微软雅黑" panose="020B0503020204020204" pitchFamily="34" charset="-122"/>
              </a:rPr>
              <a:t>工作组</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认可</a:t>
            </a:r>
            <a:endParaRPr lang="en-US" altLang="zh-CN" sz="2000" dirty="0">
              <a:latin typeface="微软雅黑" panose="020B0503020204020204" pitchFamily="34" charset="-122"/>
              <a:ea typeface="微软雅黑" panose="020B0503020204020204" pitchFamily="34" charset="-122"/>
            </a:endParaRPr>
          </a:p>
        </p:txBody>
      </p:sp>
      <p:sp>
        <p:nvSpPr>
          <p:cNvPr id="28" name="Text Box 9"/>
          <p:cNvSpPr txBox="1">
            <a:spLocks noChangeArrowheads="1"/>
          </p:cNvSpPr>
          <p:nvPr/>
        </p:nvSpPr>
        <p:spPr bwMode="auto">
          <a:xfrm>
            <a:off x="8509721" y="3337098"/>
            <a:ext cx="1563688" cy="707886"/>
          </a:xfrm>
          <a:prstGeom prst="rect">
            <a:avLst/>
          </a:prstGeom>
          <a:noFill/>
          <a:ln>
            <a:noFill/>
          </a:ln>
          <a:effectLst/>
        </p:spPr>
        <p:txBody>
          <a:bodyPr wrap="square">
            <a:spAutoFit/>
          </a:bodyPr>
          <a:lstStyle/>
          <a:p>
            <a:pPr algn="ctr">
              <a:spcBef>
                <a:spcPct val="50000"/>
              </a:spcBef>
            </a:pPr>
            <a:r>
              <a:rPr lang="zh-CN" altLang="en-US" sz="2000" dirty="0">
                <a:latin typeface="微软雅黑" panose="020B0503020204020204" pitchFamily="34" charset="-122"/>
                <a:ea typeface="微软雅黑" panose="020B0503020204020204" pitchFamily="34" charset="-122"/>
              </a:rPr>
              <a:t>工作组</a:t>
            </a:r>
            <a:br>
              <a:rPr lang="en-US" altLang="zh-CN" sz="2000" dirty="0">
                <a:latin typeface="微软雅黑" panose="020B0503020204020204" pitchFamily="34" charset="-122"/>
                <a:ea typeface="微软雅黑" panose="020B0503020204020204" pitchFamily="34" charset="-122"/>
              </a:rPr>
            </a:br>
            <a:r>
              <a:rPr lang="en-US" altLang="zh-CN" sz="2000" dirty="0">
                <a:latin typeface="微软雅黑" panose="020B0503020204020204" pitchFamily="34" charset="-122"/>
                <a:ea typeface="微软雅黑" panose="020B0503020204020204" pitchFamily="34" charset="-122"/>
              </a:rPr>
              <a:t>Last Call</a:t>
            </a:r>
            <a:endParaRPr lang="en-US" altLang="zh-CN" sz="2000" dirty="0">
              <a:latin typeface="微软雅黑" panose="020B0503020204020204" pitchFamily="34" charset="-122"/>
              <a:ea typeface="微软雅黑" panose="020B0503020204020204" pitchFamily="34" charset="-122"/>
            </a:endParaRPr>
          </a:p>
        </p:txBody>
      </p:sp>
      <p:sp>
        <p:nvSpPr>
          <p:cNvPr id="29" name="Text Box 9"/>
          <p:cNvSpPr txBox="1">
            <a:spLocks noChangeArrowheads="1"/>
          </p:cNvSpPr>
          <p:nvPr/>
        </p:nvSpPr>
        <p:spPr bwMode="auto">
          <a:xfrm>
            <a:off x="5753058" y="3360954"/>
            <a:ext cx="1563688" cy="707886"/>
          </a:xfrm>
          <a:prstGeom prst="rect">
            <a:avLst/>
          </a:prstGeom>
          <a:noFill/>
          <a:ln>
            <a:noFill/>
          </a:ln>
          <a:effectLst/>
        </p:spPr>
        <p:txBody>
          <a:bodyPr wrap="square">
            <a:spAutoFit/>
          </a:bodyPr>
          <a:lstStyle/>
          <a:p>
            <a:pPr algn="ctr">
              <a:spcBef>
                <a:spcPct val="50000"/>
              </a:spcBef>
            </a:pPr>
            <a:r>
              <a:rPr lang="en-US" altLang="zh-CN" sz="2000" dirty="0">
                <a:latin typeface="微软雅黑" panose="020B0503020204020204" pitchFamily="34" charset="-122"/>
                <a:ea typeface="微软雅黑" panose="020B0503020204020204" pitchFamily="34" charset="-122"/>
              </a:rPr>
              <a:t>IESG</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审核通过</a:t>
            </a:r>
            <a:endParaRPr lang="en-US" altLang="zh-CN" sz="2000" dirty="0">
              <a:latin typeface="微软雅黑" panose="020B0503020204020204" pitchFamily="34" charset="-122"/>
              <a:ea typeface="微软雅黑" panose="020B0503020204020204" pitchFamily="34" charset="-122"/>
            </a:endParaRPr>
          </a:p>
        </p:txBody>
      </p:sp>
      <p:sp>
        <p:nvSpPr>
          <p:cNvPr id="6" name="矩形 5"/>
          <p:cNvSpPr/>
          <p:nvPr/>
        </p:nvSpPr>
        <p:spPr>
          <a:xfrm>
            <a:off x="4925886" y="5695815"/>
            <a:ext cx="3129640" cy="707886"/>
          </a:xfrm>
          <a:prstGeom prst="rect">
            <a:avLst/>
          </a:prstGeom>
          <a:ln>
            <a:solidFill>
              <a:srgbClr val="C00000"/>
            </a:solidFill>
          </a:ln>
        </p:spPr>
        <p:txBody>
          <a:bodyPr wrap="square">
            <a:spAutoFit/>
          </a:bodyPr>
          <a:lstStyle/>
          <a:p>
            <a:pPr algn="ctr"/>
            <a:r>
              <a:rPr lang="zh-CN" altLang="en-US" sz="2000" dirty="0">
                <a:solidFill>
                  <a:prstClr val="black"/>
                </a:solidFill>
                <a:latin typeface="微软雅黑" panose="020B0503020204020204" pitchFamily="34" charset="-122"/>
                <a:ea typeface="微软雅黑" panose="020B0503020204020204" pitchFamily="34" charset="-122"/>
              </a:rPr>
              <a:t>互联网工程指导小组</a:t>
            </a:r>
            <a:r>
              <a:rPr lang="en-US" altLang="zh-CN" sz="2000" dirty="0">
                <a:solidFill>
                  <a:prstClr val="black"/>
                </a:solidFill>
                <a:latin typeface="微软雅黑" panose="020B0503020204020204" pitchFamily="34" charset="-122"/>
                <a:ea typeface="微软雅黑" panose="020B0503020204020204" pitchFamily="34" charset="-122"/>
              </a:rPr>
              <a:t>IESG</a:t>
            </a:r>
            <a:r>
              <a:rPr lang="zh-CN" altLang="en-US" sz="2000" dirty="0">
                <a:solidFill>
                  <a:prstClr val="black"/>
                </a:solidFill>
                <a:latin typeface="微软雅黑" panose="020B0503020204020204" pitchFamily="34" charset="-122"/>
                <a:ea typeface="微软雅黑" panose="020B0503020204020204" pitchFamily="34" charset="-122"/>
              </a:rPr>
              <a:t>由</a:t>
            </a:r>
            <a:r>
              <a:rPr lang="en-US" altLang="zh-CN" sz="2000" dirty="0">
                <a:solidFill>
                  <a:prstClr val="black"/>
                </a:solidFill>
                <a:latin typeface="微软雅黑" panose="020B0503020204020204" pitchFamily="34" charset="-122"/>
                <a:ea typeface="微软雅黑" panose="020B0503020204020204" pitchFamily="34" charset="-122"/>
              </a:rPr>
              <a:t>IETF</a:t>
            </a:r>
            <a:r>
              <a:rPr lang="zh-CN" altLang="en-US" sz="2000" dirty="0">
                <a:solidFill>
                  <a:prstClr val="black"/>
                </a:solidFill>
                <a:latin typeface="微软雅黑" panose="020B0503020204020204" pitchFamily="34" charset="-122"/>
                <a:ea typeface="微软雅黑" panose="020B0503020204020204" pitchFamily="34" charset="-122"/>
              </a:rPr>
              <a:t>各领域主席构成</a:t>
            </a:r>
            <a:endParaRPr lang="zh-CN" altLang="en-US" dirty="0"/>
          </a:p>
        </p:txBody>
      </p:sp>
      <p:pic>
        <p:nvPicPr>
          <p:cNvPr id="8196" name="Picture 4"/>
          <p:cNvPicPr>
            <a:picLocks noChangeAspect="1" noChangeArrowheads="1"/>
          </p:cNvPicPr>
          <p:nvPr/>
        </p:nvPicPr>
        <p:blipFill>
          <a:blip r:embed="rId3"/>
          <a:srcRect/>
          <a:stretch>
            <a:fillRect/>
          </a:stretch>
        </p:blipFill>
        <p:spPr bwMode="auto">
          <a:xfrm>
            <a:off x="9979841" y="3315784"/>
            <a:ext cx="1616383" cy="1126850"/>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4"/>
          <p:cNvSpPr>
            <a:spLocks noChangeArrowheads="1"/>
          </p:cNvSpPr>
          <p:nvPr/>
        </p:nvSpPr>
        <p:spPr bwMode="auto">
          <a:xfrm>
            <a:off x="4660479" y="3629624"/>
            <a:ext cx="1143000" cy="1028700"/>
          </a:xfrm>
          <a:prstGeom prst="verticalScroll">
            <a:avLst>
              <a:gd name="adj" fmla="val 12500"/>
            </a:avLst>
          </a:prstGeom>
          <a:solidFill>
            <a:srgbClr val="FFFFFF"/>
          </a:solidFill>
          <a:ln w="9525">
            <a:solidFill>
              <a:schemeClr val="tx1"/>
            </a:solidFill>
            <a:round/>
          </a:ln>
          <a:effectLst/>
        </p:spPr>
        <p:txBody>
          <a:bodyPr wrap="none" anchor="ctr"/>
          <a:lstStyle/>
          <a:p>
            <a:pPr algn="ctr"/>
            <a:r>
              <a:rPr lang="en-US" altLang="zh-CN" dirty="0">
                <a:latin typeface="微软雅黑" panose="020B0503020204020204" pitchFamily="34" charset="-122"/>
                <a:ea typeface="微软雅黑" panose="020B0503020204020204" pitchFamily="34" charset="-122"/>
              </a:rPr>
              <a:t>RFC</a:t>
            </a:r>
            <a:endParaRPr lang="en-US" altLang="zh-CN" dirty="0">
              <a:latin typeface="微软雅黑" panose="020B0503020204020204" pitchFamily="34" charset="-122"/>
              <a:ea typeface="微软雅黑" panose="020B0503020204020204" pitchFamily="34" charset="-122"/>
            </a:endParaRPr>
          </a:p>
        </p:txBody>
      </p:sp>
      <p:sp>
        <p:nvSpPr>
          <p:cNvPr id="5" name="矩形 4"/>
          <p:cNvSpPr/>
          <p:nvPr/>
        </p:nvSpPr>
        <p:spPr>
          <a:xfrm>
            <a:off x="5221939" y="5297995"/>
            <a:ext cx="2480679" cy="400110"/>
          </a:xfrm>
          <a:prstGeom prst="rect">
            <a:avLst/>
          </a:prstGeom>
        </p:spPr>
        <p:txBody>
          <a:bodyPr wrap="none">
            <a:spAutoFit/>
          </a:bodyPr>
          <a:lstStyle/>
          <a:p>
            <a:r>
              <a:rPr lang="en-US" altLang="zh-CN" sz="2000" dirty="0">
                <a:solidFill>
                  <a:prstClr val="black"/>
                </a:solidFill>
                <a:latin typeface="微软雅黑" panose="020B0503020204020204" pitchFamily="34" charset="-122"/>
                <a:ea typeface="微软雅黑" panose="020B0503020204020204" pitchFamily="34" charset="-122"/>
              </a:rPr>
              <a:t>IETF</a:t>
            </a:r>
            <a:r>
              <a:rPr lang="zh-CN" altLang="en-US" sz="2000" dirty="0">
                <a:solidFill>
                  <a:prstClr val="black"/>
                </a:solidFill>
                <a:latin typeface="微软雅黑" panose="020B0503020204020204" pitchFamily="34" charset="-122"/>
                <a:ea typeface="微软雅黑" panose="020B0503020204020204" pitchFamily="34" charset="-122"/>
              </a:rPr>
              <a:t>的核心权利机构</a:t>
            </a:r>
            <a:endParaRPr lang="zh-CN" altLang="en-US" dirty="0"/>
          </a:p>
        </p:txBody>
      </p:sp>
      <p:grpSp>
        <p:nvGrpSpPr>
          <p:cNvPr id="10" name="组合 9"/>
          <p:cNvGrpSpPr/>
          <p:nvPr/>
        </p:nvGrpSpPr>
        <p:grpSpPr>
          <a:xfrm>
            <a:off x="8339223" y="5287550"/>
            <a:ext cx="3129640" cy="1110839"/>
            <a:chOff x="8339223" y="5287550"/>
            <a:chExt cx="3129640" cy="1110839"/>
          </a:xfrm>
        </p:grpSpPr>
        <p:sp>
          <p:nvSpPr>
            <p:cNvPr id="31" name="矩形 30"/>
            <p:cNvSpPr/>
            <p:nvPr/>
          </p:nvSpPr>
          <p:spPr>
            <a:xfrm>
              <a:off x="8339223" y="5690503"/>
              <a:ext cx="3129640" cy="707886"/>
            </a:xfrm>
            <a:prstGeom prst="rect">
              <a:avLst/>
            </a:prstGeom>
            <a:ln>
              <a:solidFill>
                <a:srgbClr val="C00000"/>
              </a:solidFill>
            </a:ln>
          </p:spPr>
          <p:txBody>
            <a:bodyPr wrap="square">
              <a:spAutoFit/>
            </a:bodyPr>
            <a:lstStyle/>
            <a:p>
              <a:pPr algn="ctr"/>
              <a:r>
                <a:rPr lang="zh-CN" altLang="en-US" sz="2000" dirty="0">
                  <a:solidFill>
                    <a:prstClr val="black"/>
                  </a:solidFill>
                  <a:latin typeface="微软雅黑" panose="020B0503020204020204" pitchFamily="34" charset="-122"/>
                  <a:ea typeface="微软雅黑" panose="020B0503020204020204" pitchFamily="34" charset="-122"/>
                </a:rPr>
                <a:t>我国参与</a:t>
              </a:r>
              <a:r>
                <a:rPr lang="en-US" altLang="zh-CN" sz="2000" dirty="0">
                  <a:solidFill>
                    <a:prstClr val="black"/>
                  </a:solidFill>
                  <a:latin typeface="微软雅黑" panose="020B0503020204020204" pitchFamily="34" charset="-122"/>
                  <a:ea typeface="微软雅黑" panose="020B0503020204020204" pitchFamily="34" charset="-122"/>
                </a:rPr>
                <a:t>RFC</a:t>
              </a:r>
              <a:r>
                <a:rPr lang="zh-CN" altLang="en-US" sz="2000" dirty="0">
                  <a:solidFill>
                    <a:prstClr val="black"/>
                  </a:solidFill>
                  <a:latin typeface="微软雅黑" panose="020B0503020204020204" pitchFamily="34" charset="-122"/>
                  <a:ea typeface="微软雅黑" panose="020B0503020204020204" pitchFamily="34" charset="-122"/>
                </a:rPr>
                <a:t>的人数少，主导的</a:t>
              </a:r>
              <a:r>
                <a:rPr lang="en-US" altLang="zh-CN" sz="2000" dirty="0">
                  <a:solidFill>
                    <a:prstClr val="black"/>
                  </a:solidFill>
                  <a:latin typeface="微软雅黑" panose="020B0503020204020204" pitchFamily="34" charset="-122"/>
                  <a:ea typeface="微软雅黑" panose="020B0503020204020204" pitchFamily="34" charset="-122"/>
                </a:rPr>
                <a:t>RFC</a:t>
              </a:r>
              <a:r>
                <a:rPr lang="zh-CN" altLang="en-US" sz="2000" dirty="0">
                  <a:solidFill>
                    <a:prstClr val="black"/>
                  </a:solidFill>
                  <a:latin typeface="微软雅黑" panose="020B0503020204020204" pitchFamily="34" charset="-122"/>
                  <a:ea typeface="微软雅黑" panose="020B0503020204020204" pitchFamily="34" charset="-122"/>
                </a:rPr>
                <a:t>数量有限</a:t>
              </a:r>
              <a:endParaRPr lang="en-US" altLang="zh-CN" sz="2000" dirty="0">
                <a:solidFill>
                  <a:prstClr val="black"/>
                </a:solidFill>
                <a:latin typeface="微软雅黑" panose="020B0503020204020204" pitchFamily="34" charset="-122"/>
                <a:ea typeface="微软雅黑" panose="020B0503020204020204" pitchFamily="34" charset="-122"/>
              </a:endParaRPr>
            </a:p>
          </p:txBody>
        </p:sp>
        <p:sp>
          <p:nvSpPr>
            <p:cNvPr id="7" name="矩形 6"/>
            <p:cNvSpPr/>
            <p:nvPr/>
          </p:nvSpPr>
          <p:spPr>
            <a:xfrm>
              <a:off x="8621992" y="5287550"/>
              <a:ext cx="2492990" cy="400110"/>
            </a:xfrm>
            <a:prstGeom prst="rect">
              <a:avLst/>
            </a:prstGeom>
          </p:spPr>
          <p:txBody>
            <a:bodyPr wrap="none">
              <a:spAutoFit/>
            </a:bodyPr>
            <a:lstStyle/>
            <a:p>
              <a:pPr lvl="0" algn="ctr"/>
              <a:r>
                <a:rPr lang="zh-CN" altLang="en-US" sz="2000" dirty="0">
                  <a:solidFill>
                    <a:prstClr val="black"/>
                  </a:solidFill>
                  <a:latin typeface="微软雅黑" panose="020B0503020204020204" pitchFamily="34" charset="-122"/>
                  <a:ea typeface="微软雅黑" panose="020B0503020204020204" pitchFamily="34" charset="-122"/>
                </a:rPr>
                <a:t>互联网大国而非强国</a:t>
              </a:r>
              <a:endParaRPr lang="zh-CN" altLang="en-US" dirty="0">
                <a:solidFill>
                  <a:prstClr val="black"/>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linds(horizontal)">
                                      <p:cBhvr>
                                        <p:cTn id="19" dur="500"/>
                                        <p:tgtEl>
                                          <p:spTgt spid="3">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linds(horizontal)">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027" name="AutoShape 45"/>
          <p:cNvCxnSpPr>
            <a:cxnSpLocks noChangeShapeType="1"/>
          </p:cNvCxnSpPr>
          <p:nvPr/>
        </p:nvCxnSpPr>
        <p:spPr bwMode="auto">
          <a:xfrm>
            <a:off x="8687321" y="3188830"/>
            <a:ext cx="1125751" cy="976269"/>
          </a:xfrm>
          <a:prstGeom prst="straightConnector1">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9" name="AutoShape 47"/>
          <p:cNvCxnSpPr>
            <a:cxnSpLocks noChangeShapeType="1"/>
          </p:cNvCxnSpPr>
          <p:nvPr/>
        </p:nvCxnSpPr>
        <p:spPr bwMode="auto">
          <a:xfrm flipH="1">
            <a:off x="7818580" y="3188830"/>
            <a:ext cx="868743" cy="976269"/>
          </a:xfrm>
          <a:prstGeom prst="straightConnector1">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标题 1"/>
          <p:cNvSpPr>
            <a:spLocks noGrp="1"/>
          </p:cNvSpPr>
          <p:nvPr>
            <p:ph type="title"/>
          </p:nvPr>
        </p:nvSpPr>
        <p:spPr/>
        <p:txBody>
          <a:bodyPr>
            <a:normAutofit/>
          </a:bodyPr>
          <a:lstStyle/>
          <a:p>
            <a:r>
              <a:rPr kumimoji="1" lang="en-US" altLang="zh-CN" dirty="0" err="1">
                <a:cs typeface="Times New Roman" panose="02020603050405020304" pitchFamily="18" charset="0"/>
                <a:sym typeface="+mn-ea"/>
              </a:rPr>
              <a:t>Internet标准化组织</a:t>
            </a:r>
            <a:endParaRPr kumimoji="1" lang="zh-CN" altLang="en-US" dirty="0"/>
          </a:p>
        </p:txBody>
      </p:sp>
      <p:sp>
        <p:nvSpPr>
          <p:cNvPr id="3" name="内容占位符 2"/>
          <p:cNvSpPr>
            <a:spLocks noGrp="1"/>
          </p:cNvSpPr>
          <p:nvPr>
            <p:ph idx="1"/>
          </p:nvPr>
        </p:nvSpPr>
        <p:spPr>
          <a:xfrm>
            <a:off x="699198" y="1386204"/>
            <a:ext cx="5014553" cy="5106670"/>
          </a:xfrm>
        </p:spPr>
        <p:txBody>
          <a:bodyPr>
            <a:normAutofit fontScale="92500" lnSpcReduction="20000"/>
          </a:bodyPr>
          <a:lstStyle/>
          <a:p>
            <a:pPr>
              <a:lnSpc>
                <a:spcPct val="120000"/>
              </a:lnSpc>
              <a:spcBef>
                <a:spcPts val="400"/>
              </a:spcBef>
              <a:buFont typeface="Wingdings" panose="05000000000000000000" charset="0"/>
              <a:buChar char="Ø"/>
            </a:pPr>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互联网协会</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ISOC</a:t>
            </a:r>
            <a:endParaRPr kumimoji="1"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spcBef>
                <a:spcPts val="400"/>
              </a:spcBef>
            </a:pPr>
            <a:r>
              <a:rPr lang="en-US" altLang="zh-CN" dirty="0">
                <a:cs typeface="Times New Roman" panose="02020603050405020304" pitchFamily="18" charset="0"/>
              </a:rPr>
              <a:t>Internet Society</a:t>
            </a:r>
            <a:r>
              <a:rPr lang="zh-CN" altLang="en-US" dirty="0">
                <a:cs typeface="Times New Roman" panose="02020603050405020304" pitchFamily="18" charset="0"/>
              </a:rPr>
              <a:t>，简称</a:t>
            </a:r>
            <a:r>
              <a:rPr lang="en-US" altLang="zh-CN" dirty="0">
                <a:cs typeface="Times New Roman" panose="02020603050405020304" pitchFamily="18" charset="0"/>
              </a:rPr>
              <a:t>ISOC</a:t>
            </a:r>
            <a:endParaRPr lang="en-US" altLang="zh-CN" dirty="0">
              <a:cs typeface="Times New Roman" panose="02020603050405020304" pitchFamily="18" charset="0"/>
            </a:endParaRPr>
          </a:p>
          <a:p>
            <a:pPr lvl="1">
              <a:lnSpc>
                <a:spcPct val="120000"/>
              </a:lnSpc>
              <a:spcBef>
                <a:spcPts val="400"/>
              </a:spcBef>
            </a:pPr>
            <a:r>
              <a:rPr lang="zh-CN" altLang="en-US" dirty="0">
                <a:cs typeface="Times New Roman" panose="02020603050405020304" pitchFamily="18" charset="0"/>
              </a:rPr>
              <a:t>由国际互联网协会为</a:t>
            </a:r>
            <a:r>
              <a:rPr lang="en-US" altLang="zh-CN" dirty="0">
                <a:cs typeface="Times New Roman" panose="02020603050405020304" pitchFamily="18" charset="0"/>
              </a:rPr>
              <a:t>IETF</a:t>
            </a:r>
            <a:r>
              <a:rPr lang="zh-CN" altLang="en-US" dirty="0">
                <a:cs typeface="Times New Roman" panose="02020603050405020304" pitchFamily="18" charset="0"/>
              </a:rPr>
              <a:t>等提供法律支撑</a:t>
            </a:r>
            <a:endParaRPr kumimoji="1"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spcBef>
                <a:spcPts val="400"/>
              </a:spcBef>
              <a:buFont typeface="Wingdings" panose="05000000000000000000" charset="0"/>
              <a:buChar char="Ø"/>
            </a:pPr>
            <a:r>
              <a:rPr lang="zh-CN" altLang="en-US" dirty="0">
                <a:solidFill>
                  <a:schemeClr val="tx1"/>
                </a:solidFill>
                <a:effectLst/>
                <a:cs typeface="Times New Roman" panose="02020603050405020304" pitchFamily="18" charset="0"/>
              </a:rPr>
              <a:t>互联网体系结构</a:t>
            </a:r>
            <a:r>
              <a:rPr lang="en-US" altLang="zh-CN" dirty="0" err="1">
                <a:cs typeface="Times New Roman" panose="02020603050405020304" pitchFamily="18" charset="0"/>
                <a:sym typeface="+mn-ea"/>
              </a:rPr>
              <a:t>委员会IAB</a:t>
            </a:r>
            <a:endParaRPr lang="zh-CN" altLang="en-US" dirty="0">
              <a:solidFill>
                <a:schemeClr val="tx1"/>
              </a:solidFill>
              <a:effectLst/>
              <a:cs typeface="Times New Roman" panose="02020603050405020304" pitchFamily="18" charset="0"/>
            </a:endParaRPr>
          </a:p>
          <a:p>
            <a:pPr lvl="1">
              <a:lnSpc>
                <a:spcPct val="120000"/>
              </a:lnSpc>
              <a:spcBef>
                <a:spcPts val="400"/>
              </a:spcBef>
              <a:buFont typeface="Arial" panose="020B0604020202020204" pitchFamily="34" charset="0"/>
              <a:buChar char="•"/>
            </a:pPr>
            <a:r>
              <a:rPr lang="en-US" altLang="zh-CN" dirty="0">
                <a:cs typeface="Times New Roman" panose="02020603050405020304" pitchFamily="18" charset="0"/>
                <a:sym typeface="+mn-ea"/>
              </a:rPr>
              <a:t>IAB: Internet Architecture Board</a:t>
            </a:r>
            <a:endParaRPr lang="en-US" altLang="zh-CN" dirty="0">
              <a:cs typeface="Times New Roman" panose="02020603050405020304" pitchFamily="18" charset="0"/>
              <a:sym typeface="+mn-ea"/>
            </a:endParaRPr>
          </a:p>
          <a:p>
            <a:pPr lvl="1" algn="l">
              <a:lnSpc>
                <a:spcPct val="120000"/>
              </a:lnSpc>
              <a:spcBef>
                <a:spcPts val="400"/>
              </a:spcBef>
              <a:buClrTx/>
              <a:buSzTx/>
              <a:buFont typeface="Arial" panose="020B0604020202020204" pitchFamily="34" charset="0"/>
              <a:buChar char="•"/>
            </a:pPr>
            <a:r>
              <a:rPr lang="en-US" altLang="zh-CN" dirty="0" err="1">
                <a:cs typeface="Times New Roman" panose="02020603050405020304" pitchFamily="18" charset="0"/>
                <a:sym typeface="+mn-ea"/>
              </a:rPr>
              <a:t>IAB是国际互联网标准化组织IETF的顶层</a:t>
            </a:r>
            <a:r>
              <a:rPr lang="zh-CN" altLang="en-US" dirty="0">
                <a:cs typeface="Times New Roman" panose="02020603050405020304" pitchFamily="18" charset="0"/>
                <a:sym typeface="+mn-ea"/>
              </a:rPr>
              <a:t>架构</a:t>
            </a:r>
            <a:r>
              <a:rPr lang="en-US" altLang="zh-CN" dirty="0">
                <a:cs typeface="Times New Roman" panose="02020603050405020304" pitchFamily="18" charset="0"/>
                <a:sym typeface="+mn-ea"/>
              </a:rPr>
              <a:t>委员会，由13个</a:t>
            </a:r>
            <a:r>
              <a:rPr lang="zh-CN" altLang="en-US" dirty="0">
                <a:cs typeface="Times New Roman" panose="02020603050405020304" pitchFamily="18" charset="0"/>
                <a:sym typeface="+mn-ea"/>
              </a:rPr>
              <a:t>个人</a:t>
            </a:r>
            <a:r>
              <a:rPr lang="en-US" altLang="zh-CN" dirty="0" err="1">
                <a:cs typeface="Times New Roman" panose="02020603050405020304" pitchFamily="18" charset="0"/>
                <a:sym typeface="+mn-ea"/>
              </a:rPr>
              <a:t>成员组成</a:t>
            </a:r>
            <a:endParaRPr lang="en-US" altLang="zh-CN" dirty="0">
              <a:cs typeface="Times New Roman" panose="02020603050405020304" pitchFamily="18" charset="0"/>
            </a:endParaRPr>
          </a:p>
          <a:p>
            <a:pPr lvl="1">
              <a:lnSpc>
                <a:spcPct val="120000"/>
              </a:lnSpc>
              <a:spcBef>
                <a:spcPts val="400"/>
              </a:spcBef>
            </a:pPr>
            <a:r>
              <a:rPr lang="zh-CN" altLang="en-US" dirty="0">
                <a:cs typeface="Times New Roman" panose="02020603050405020304" pitchFamily="18" charset="0"/>
                <a:sym typeface="+mn-ea"/>
              </a:rPr>
              <a:t>负责</a:t>
            </a:r>
            <a:r>
              <a:rPr lang="en-US" altLang="zh-CN" dirty="0">
                <a:cs typeface="Times New Roman" panose="02020603050405020304" pitchFamily="18" charset="0"/>
                <a:sym typeface="+mn-ea"/>
              </a:rPr>
              <a:t>TCP/IP</a:t>
            </a:r>
            <a:r>
              <a:rPr lang="zh-CN" altLang="en-US" dirty="0">
                <a:cs typeface="Times New Roman" panose="02020603050405020304" pitchFamily="18" charset="0"/>
                <a:sym typeface="+mn-ea"/>
              </a:rPr>
              <a:t>协议簇开发研究方向的指导</a:t>
            </a:r>
            <a:endParaRPr lang="en-US" altLang="zh-CN" dirty="0">
              <a:cs typeface="Times New Roman" panose="02020603050405020304" pitchFamily="18" charset="0"/>
              <a:sym typeface="+mn-ea"/>
            </a:endParaRPr>
          </a:p>
          <a:p>
            <a:pPr lvl="1">
              <a:lnSpc>
                <a:spcPct val="120000"/>
              </a:lnSpc>
              <a:spcBef>
                <a:spcPts val="400"/>
              </a:spcBef>
            </a:pPr>
            <a:r>
              <a:rPr lang="zh-CN" altLang="en-US" dirty="0">
                <a:cs typeface="Times New Roman" panose="02020603050405020304" pitchFamily="18" charset="0"/>
                <a:sym typeface="+mn-ea"/>
              </a:rPr>
              <a:t>成立于</a:t>
            </a:r>
            <a:r>
              <a:rPr lang="en-US" altLang="zh-CN" dirty="0">
                <a:cs typeface="Times New Roman" panose="02020603050405020304" pitchFamily="18" charset="0"/>
                <a:sym typeface="+mn-ea"/>
              </a:rPr>
              <a:t>1983</a:t>
            </a:r>
            <a:r>
              <a:rPr lang="zh-CN" altLang="en-US" dirty="0">
                <a:cs typeface="Times New Roman" panose="02020603050405020304" pitchFamily="18" charset="0"/>
                <a:sym typeface="+mn-ea"/>
              </a:rPr>
              <a:t>年</a:t>
            </a:r>
            <a:endParaRPr lang="en-US" altLang="zh-CN" dirty="0">
              <a:cs typeface="Times New Roman" panose="02020603050405020304" pitchFamily="18" charset="0"/>
              <a:sym typeface="+mn-ea"/>
            </a:endParaRPr>
          </a:p>
          <a:p>
            <a:pPr lvl="1">
              <a:lnSpc>
                <a:spcPct val="120000"/>
              </a:lnSpc>
              <a:spcBef>
                <a:spcPts val="400"/>
              </a:spcBef>
              <a:buFont typeface="Arial" panose="020B0604020202020204" pitchFamily="34" charset="0"/>
              <a:buChar char="•"/>
            </a:pPr>
            <a:endParaRPr lang="zh-CN" altLang="en-US" dirty="0">
              <a:cs typeface="Times New Roman" panose="02020603050405020304" pitchFamily="18" charset="0"/>
            </a:endParaRPr>
          </a:p>
          <a:p>
            <a:pPr>
              <a:lnSpc>
                <a:spcPct val="120000"/>
              </a:lnSpc>
              <a:spcBef>
                <a:spcPts val="400"/>
              </a:spcBef>
              <a:buNone/>
            </a:pPr>
            <a:endParaRPr kumimoji="1" lang="zh-CN" altLang="en-US" sz="600" dirty="0">
              <a:cs typeface="Times New Roman" panose="02020603050405020304" pitchFamily="18" charset="0"/>
            </a:endParaRPr>
          </a:p>
          <a:p>
            <a:pPr marL="0" indent="0">
              <a:lnSpc>
                <a:spcPct val="120000"/>
              </a:lnSpc>
              <a:spcBef>
                <a:spcPts val="400"/>
              </a:spcBef>
              <a:buNone/>
            </a:pPr>
            <a:endParaRPr kumimoji="1" lang="zh-CN" altLang="en-US" sz="600" dirty="0">
              <a:cs typeface="Times New Roman" panose="02020603050405020304" pitchFamily="18" charset="0"/>
            </a:endParaRPr>
          </a:p>
          <a:p>
            <a:pPr marL="0" indent="0">
              <a:lnSpc>
                <a:spcPct val="120000"/>
              </a:lnSpc>
              <a:spcBef>
                <a:spcPts val="400"/>
              </a:spcBef>
              <a:buNone/>
            </a:pPr>
            <a:endParaRPr kumimoji="1" lang="zh-CN" altLang="en-US" sz="600" dirty="0">
              <a:cs typeface="Times New Roman" panose="02020603050405020304" pitchFamily="18" charset="0"/>
            </a:endParaRPr>
          </a:p>
          <a:p>
            <a:pPr marL="0" indent="0" algn="ctr">
              <a:lnSpc>
                <a:spcPct val="120000"/>
              </a:lnSpc>
              <a:spcBef>
                <a:spcPts val="400"/>
              </a:spcBef>
              <a:buNone/>
            </a:pPr>
            <a:endParaRPr kumimoji="1" lang="en-US" altLang="zh-CN" sz="1000" b="1" dirty="0">
              <a:solidFill>
                <a:srgbClr val="0B10F1"/>
              </a:solidFill>
              <a:effectLst>
                <a:outerShdw blurRad="38100" dist="38100" dir="2700000" algn="tl">
                  <a:srgbClr val="000000">
                    <a:alpha val="43137"/>
                  </a:srgbClr>
                </a:outerShdw>
              </a:effectLst>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5" name="文本框 4"/>
          <p:cNvSpPr txBox="1"/>
          <p:nvPr/>
        </p:nvSpPr>
        <p:spPr>
          <a:xfrm>
            <a:off x="7247890" y="6156960"/>
            <a:ext cx="3333115" cy="460375"/>
          </a:xfrm>
          <a:prstGeom prst="rect">
            <a:avLst/>
          </a:prstGeom>
          <a:noFill/>
        </p:spPr>
        <p:txBody>
          <a:bodyPr wrap="square" rtlCol="0" anchor="t">
            <a:spAutoFit/>
          </a:bodyPr>
          <a:lstStyle/>
          <a:p>
            <a:pPr marL="0" indent="0" algn="ctr">
              <a:buNone/>
            </a:pPr>
            <a:r>
              <a:rPr kumimoji="1" lang="en-US" altLang="zh-CN" sz="2400" b="1" dirty="0">
                <a:solidFill>
                  <a:srgbClr val="7030A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sym typeface="+mn-ea"/>
              </a:rPr>
              <a:t>https://www.iab.org</a:t>
            </a:r>
            <a:endParaRPr kumimoji="1" lang="en-US" altLang="zh-CN" sz="2400" b="1" dirty="0">
              <a:solidFill>
                <a:srgbClr val="7030A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8" name="AutoShape 44"/>
          <p:cNvSpPr>
            <a:spLocks noChangeArrowheads="1"/>
          </p:cNvSpPr>
          <p:nvPr/>
        </p:nvSpPr>
        <p:spPr bwMode="auto">
          <a:xfrm>
            <a:off x="9250197" y="3947547"/>
            <a:ext cx="2723384" cy="2121669"/>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a:latin typeface="微软雅黑" panose="020B0503020204020204" pitchFamily="34" charset="-122"/>
              <a:ea typeface="微软雅黑" panose="020B0503020204020204" pitchFamily="34" charset="-122"/>
            </a:endParaRPr>
          </a:p>
        </p:txBody>
      </p:sp>
      <p:sp>
        <p:nvSpPr>
          <p:cNvPr id="9" name="AutoShape 43"/>
          <p:cNvSpPr>
            <a:spLocks noChangeArrowheads="1"/>
          </p:cNvSpPr>
          <p:nvPr/>
        </p:nvSpPr>
        <p:spPr bwMode="auto">
          <a:xfrm>
            <a:off x="5713751" y="3947547"/>
            <a:ext cx="2688461" cy="2136849"/>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a:latin typeface="微软雅黑" panose="020B0503020204020204" pitchFamily="34" charset="-122"/>
              <a:ea typeface="微软雅黑" panose="020B0503020204020204" pitchFamily="34" charset="-122"/>
            </a:endParaRPr>
          </a:p>
        </p:txBody>
      </p:sp>
      <p:sp>
        <p:nvSpPr>
          <p:cNvPr id="41999" name="Line 6"/>
          <p:cNvSpPr>
            <a:spLocks noChangeShapeType="1"/>
          </p:cNvSpPr>
          <p:nvPr/>
        </p:nvSpPr>
        <p:spPr bwMode="auto">
          <a:xfrm>
            <a:off x="7194799" y="4851988"/>
            <a:ext cx="425670" cy="52865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0" name="Line 8"/>
          <p:cNvSpPr>
            <a:spLocks noChangeShapeType="1"/>
          </p:cNvSpPr>
          <p:nvPr/>
        </p:nvSpPr>
        <p:spPr bwMode="auto">
          <a:xfrm flipH="1">
            <a:off x="6453222" y="4851988"/>
            <a:ext cx="424332" cy="52865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1" name="Line 18"/>
          <p:cNvSpPr>
            <a:spLocks noChangeShapeType="1"/>
          </p:cNvSpPr>
          <p:nvPr/>
        </p:nvSpPr>
        <p:spPr bwMode="auto">
          <a:xfrm flipV="1">
            <a:off x="10024569" y="4824976"/>
            <a:ext cx="101733" cy="198727"/>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2" name="Line 19"/>
          <p:cNvSpPr>
            <a:spLocks noChangeShapeType="1"/>
          </p:cNvSpPr>
          <p:nvPr/>
        </p:nvSpPr>
        <p:spPr bwMode="auto">
          <a:xfrm>
            <a:off x="10969610" y="4823048"/>
            <a:ext cx="164646" cy="154351"/>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3" name="Line 24"/>
          <p:cNvSpPr>
            <a:spLocks noChangeShapeType="1"/>
          </p:cNvSpPr>
          <p:nvPr/>
        </p:nvSpPr>
        <p:spPr bwMode="auto">
          <a:xfrm flipH="1">
            <a:off x="9648426" y="5278383"/>
            <a:ext cx="211497" cy="15049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4" name="Line 25"/>
          <p:cNvSpPr>
            <a:spLocks noChangeShapeType="1"/>
          </p:cNvSpPr>
          <p:nvPr/>
        </p:nvSpPr>
        <p:spPr bwMode="auto">
          <a:xfrm>
            <a:off x="10020553" y="5278383"/>
            <a:ext cx="318583" cy="15049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5" name="Line 26"/>
          <p:cNvSpPr>
            <a:spLocks noChangeShapeType="1"/>
          </p:cNvSpPr>
          <p:nvPr/>
        </p:nvSpPr>
        <p:spPr bwMode="auto">
          <a:xfrm flipH="1">
            <a:off x="10763468" y="5278383"/>
            <a:ext cx="266379" cy="15049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6" name="Line 27"/>
          <p:cNvSpPr>
            <a:spLocks noChangeShapeType="1"/>
          </p:cNvSpPr>
          <p:nvPr/>
        </p:nvSpPr>
        <p:spPr bwMode="auto">
          <a:xfrm>
            <a:off x="11187800" y="5278383"/>
            <a:ext cx="266379" cy="15049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7" name="Freeform 4"/>
          <p:cNvSpPr/>
          <p:nvPr/>
        </p:nvSpPr>
        <p:spPr bwMode="auto">
          <a:xfrm>
            <a:off x="7864300" y="2702625"/>
            <a:ext cx="1749532" cy="225739"/>
          </a:xfrm>
          <a:custGeom>
            <a:avLst/>
            <a:gdLst>
              <a:gd name="T0" fmla="*/ 0 w 1584"/>
              <a:gd name="T1" fmla="*/ 0 h 336"/>
              <a:gd name="T2" fmla="*/ 2147483647 w 1584"/>
              <a:gd name="T3" fmla="*/ 0 h 336"/>
              <a:gd name="T4" fmla="*/ 2147483647 w 1584"/>
              <a:gd name="T5" fmla="*/ 136021576 h 336"/>
              <a:gd name="T6" fmla="*/ 544752399 w 1584"/>
              <a:gd name="T7" fmla="*/ 136021576 h 336"/>
              <a:gd name="T8" fmla="*/ 0 w 1584"/>
              <a:gd name="T9" fmla="*/ 0 h 336"/>
              <a:gd name="T10" fmla="*/ 0 60000 65536"/>
              <a:gd name="T11" fmla="*/ 0 60000 65536"/>
              <a:gd name="T12" fmla="*/ 0 60000 65536"/>
              <a:gd name="T13" fmla="*/ 0 60000 65536"/>
              <a:gd name="T14" fmla="*/ 0 60000 65536"/>
              <a:gd name="T15" fmla="*/ 0 w 1584"/>
              <a:gd name="T16" fmla="*/ 0 h 336"/>
              <a:gd name="T17" fmla="*/ 1584 w 1584"/>
              <a:gd name="T18" fmla="*/ 336 h 336"/>
            </a:gdLst>
            <a:ahLst/>
            <a:cxnLst>
              <a:cxn ang="T10">
                <a:pos x="T0" y="T1"/>
              </a:cxn>
              <a:cxn ang="T11">
                <a:pos x="T2" y="T3"/>
              </a:cxn>
              <a:cxn ang="T12">
                <a:pos x="T4" y="T5"/>
              </a:cxn>
              <a:cxn ang="T13">
                <a:pos x="T6" y="T7"/>
              </a:cxn>
              <a:cxn ang="T14">
                <a:pos x="T8" y="T9"/>
              </a:cxn>
            </a:cxnLst>
            <a:rect l="T15" t="T16" r="T17" b="T18"/>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sz="2400">
              <a:latin typeface="微软雅黑" panose="020B0503020204020204" pitchFamily="34" charset="-122"/>
              <a:ea typeface="微软雅黑" panose="020B0503020204020204" pitchFamily="34" charset="-122"/>
            </a:endParaRPr>
          </a:p>
        </p:txBody>
      </p:sp>
      <p:sp>
        <p:nvSpPr>
          <p:cNvPr id="42009" name="Text Box 12"/>
          <p:cNvSpPr txBox="1">
            <a:spLocks noChangeArrowheads="1"/>
          </p:cNvSpPr>
          <p:nvPr/>
        </p:nvSpPr>
        <p:spPr bwMode="auto">
          <a:xfrm>
            <a:off x="5778703" y="3291654"/>
            <a:ext cx="240209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IRTF</a:t>
            </a:r>
            <a:br>
              <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br>
            <a:r>
              <a:rPr kumimoji="1"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互联网研究任务组</a:t>
            </a:r>
            <a:endPar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010" name="Text Box 13"/>
          <p:cNvSpPr txBox="1">
            <a:spLocks noChangeArrowheads="1"/>
          </p:cNvSpPr>
          <p:nvPr/>
        </p:nvSpPr>
        <p:spPr bwMode="auto">
          <a:xfrm>
            <a:off x="9219312" y="3295584"/>
            <a:ext cx="272338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IETF </a:t>
            </a:r>
            <a:endPar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eaLnBrk="0" hangingPunct="0"/>
            <a:r>
              <a:rPr kumimoji="1"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互联网工程任务组</a:t>
            </a:r>
            <a:endPar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012" name="Text Box 17"/>
          <p:cNvSpPr txBox="1">
            <a:spLocks noChangeArrowheads="1"/>
          </p:cNvSpPr>
          <p:nvPr/>
        </p:nvSpPr>
        <p:spPr bwMode="auto">
          <a:xfrm>
            <a:off x="10372601" y="4850059"/>
            <a:ext cx="326615" cy="46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400">
                <a:solidFill>
                  <a:schemeClr val="bg1"/>
                </a:solidFill>
                <a:latin typeface="微软雅黑" panose="020B0503020204020204" pitchFamily="34" charset="-122"/>
                <a:ea typeface="微软雅黑" panose="020B0503020204020204" pitchFamily="34" charset="-122"/>
              </a:rPr>
              <a:t>…</a:t>
            </a:r>
            <a:endParaRPr kumimoji="1" lang="en-US" altLang="zh-CN" sz="2400">
              <a:solidFill>
                <a:schemeClr val="bg1"/>
              </a:solidFill>
              <a:latin typeface="微软雅黑" panose="020B0503020204020204" pitchFamily="34" charset="-122"/>
              <a:ea typeface="微软雅黑" panose="020B0503020204020204" pitchFamily="34" charset="-122"/>
            </a:endParaRPr>
          </a:p>
        </p:txBody>
      </p:sp>
      <p:sp>
        <p:nvSpPr>
          <p:cNvPr id="42013" name="Rectangle 20"/>
          <p:cNvSpPr>
            <a:spLocks noChangeArrowheads="1"/>
          </p:cNvSpPr>
          <p:nvPr/>
        </p:nvSpPr>
        <p:spPr bwMode="auto">
          <a:xfrm>
            <a:off x="6169024" y="5380826"/>
            <a:ext cx="464797" cy="375915"/>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RG</a:t>
            </a:r>
            <a:endParaRPr kumimoji="1" lang="en-US" altLang="zh-CN" sz="2000">
              <a:latin typeface="微软雅黑" panose="020B0503020204020204" pitchFamily="34" charset="-122"/>
              <a:ea typeface="微软雅黑" panose="020B0503020204020204" pitchFamily="34" charset="-122"/>
            </a:endParaRPr>
          </a:p>
        </p:txBody>
      </p:sp>
      <p:sp>
        <p:nvSpPr>
          <p:cNvPr id="42014" name="Rectangle 21"/>
          <p:cNvSpPr>
            <a:spLocks noChangeArrowheads="1"/>
          </p:cNvSpPr>
          <p:nvPr/>
        </p:nvSpPr>
        <p:spPr bwMode="auto">
          <a:xfrm>
            <a:off x="11417683" y="5418925"/>
            <a:ext cx="373997" cy="38036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2000" dirty="0">
                <a:latin typeface="微软雅黑" panose="020B0503020204020204" pitchFamily="34" charset="-122"/>
                <a:ea typeface="微软雅黑" panose="020B0503020204020204" pitchFamily="34" charset="-122"/>
              </a:rPr>
              <a:t>WG</a:t>
            </a:r>
            <a:endParaRPr kumimoji="1" lang="en-US" altLang="zh-CN" sz="2000" dirty="0">
              <a:latin typeface="微软雅黑" panose="020B0503020204020204" pitchFamily="34" charset="-122"/>
              <a:ea typeface="微软雅黑" panose="020B0503020204020204" pitchFamily="34" charset="-122"/>
            </a:endParaRPr>
          </a:p>
        </p:txBody>
      </p:sp>
      <p:sp>
        <p:nvSpPr>
          <p:cNvPr id="42015" name="Text Box 22"/>
          <p:cNvSpPr txBox="1">
            <a:spLocks noChangeArrowheads="1"/>
          </p:cNvSpPr>
          <p:nvPr/>
        </p:nvSpPr>
        <p:spPr bwMode="auto">
          <a:xfrm>
            <a:off x="9855907" y="5318899"/>
            <a:ext cx="326615" cy="46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400">
                <a:solidFill>
                  <a:schemeClr val="bg1"/>
                </a:solidFill>
                <a:latin typeface="微软雅黑" panose="020B0503020204020204" pitchFamily="34" charset="-122"/>
                <a:ea typeface="微软雅黑" panose="020B0503020204020204" pitchFamily="34" charset="-122"/>
              </a:rPr>
              <a:t>…</a:t>
            </a:r>
            <a:endParaRPr kumimoji="1" lang="en-US" altLang="zh-CN" sz="2400">
              <a:solidFill>
                <a:schemeClr val="bg1"/>
              </a:solidFill>
              <a:latin typeface="微软雅黑" panose="020B0503020204020204" pitchFamily="34" charset="-122"/>
              <a:ea typeface="微软雅黑" panose="020B0503020204020204" pitchFamily="34" charset="-122"/>
            </a:endParaRPr>
          </a:p>
        </p:txBody>
      </p:sp>
      <p:sp>
        <p:nvSpPr>
          <p:cNvPr id="42016" name="Text Box 23"/>
          <p:cNvSpPr txBox="1">
            <a:spLocks noChangeArrowheads="1"/>
          </p:cNvSpPr>
          <p:nvPr/>
        </p:nvSpPr>
        <p:spPr bwMode="auto">
          <a:xfrm>
            <a:off x="11064650" y="5318899"/>
            <a:ext cx="326615" cy="46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400">
                <a:solidFill>
                  <a:schemeClr val="bg1"/>
                </a:solidFill>
                <a:latin typeface="微软雅黑" panose="020B0503020204020204" pitchFamily="34" charset="-122"/>
                <a:ea typeface="微软雅黑" panose="020B0503020204020204" pitchFamily="34" charset="-122"/>
              </a:rPr>
              <a:t>…</a:t>
            </a:r>
            <a:endParaRPr kumimoji="1" lang="en-US" altLang="zh-CN" sz="2400">
              <a:solidFill>
                <a:schemeClr val="bg1"/>
              </a:solidFill>
              <a:latin typeface="微软雅黑" panose="020B0503020204020204" pitchFamily="34" charset="-122"/>
              <a:ea typeface="微软雅黑" panose="020B0503020204020204" pitchFamily="34" charset="-122"/>
            </a:endParaRPr>
          </a:p>
        </p:txBody>
      </p:sp>
      <p:sp>
        <p:nvSpPr>
          <p:cNvPr id="42017" name="Rectangle 28"/>
          <p:cNvSpPr>
            <a:spLocks noChangeArrowheads="1"/>
          </p:cNvSpPr>
          <p:nvPr/>
        </p:nvSpPr>
        <p:spPr bwMode="auto">
          <a:xfrm>
            <a:off x="7360862" y="5380826"/>
            <a:ext cx="457813" cy="375915"/>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RG</a:t>
            </a:r>
            <a:endParaRPr kumimoji="1" lang="en-US" altLang="zh-CN" sz="2000">
              <a:latin typeface="微软雅黑" panose="020B0503020204020204" pitchFamily="34" charset="-122"/>
              <a:ea typeface="微软雅黑" panose="020B0503020204020204" pitchFamily="34" charset="-122"/>
            </a:endParaRPr>
          </a:p>
        </p:txBody>
      </p:sp>
      <p:sp>
        <p:nvSpPr>
          <p:cNvPr id="42018" name="Text Box 29"/>
          <p:cNvSpPr txBox="1">
            <a:spLocks noChangeArrowheads="1"/>
          </p:cNvSpPr>
          <p:nvPr/>
        </p:nvSpPr>
        <p:spPr bwMode="auto">
          <a:xfrm>
            <a:off x="6834719" y="5345911"/>
            <a:ext cx="326615" cy="46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400">
                <a:solidFill>
                  <a:schemeClr val="bg1"/>
                </a:solidFill>
                <a:latin typeface="微软雅黑" panose="020B0503020204020204" pitchFamily="34" charset="-122"/>
                <a:ea typeface="微软雅黑" panose="020B0503020204020204" pitchFamily="34" charset="-122"/>
              </a:rPr>
              <a:t>…</a:t>
            </a:r>
            <a:endParaRPr kumimoji="1" lang="en-US" altLang="zh-CN" sz="2400">
              <a:solidFill>
                <a:schemeClr val="bg1"/>
              </a:solidFill>
              <a:latin typeface="微软雅黑" panose="020B0503020204020204" pitchFamily="34" charset="-122"/>
              <a:ea typeface="微软雅黑" panose="020B0503020204020204" pitchFamily="34" charset="-122"/>
            </a:endParaRPr>
          </a:p>
        </p:txBody>
      </p:sp>
      <p:sp>
        <p:nvSpPr>
          <p:cNvPr id="42019" name="Rectangle 30"/>
          <p:cNvSpPr>
            <a:spLocks noChangeArrowheads="1"/>
          </p:cNvSpPr>
          <p:nvPr/>
        </p:nvSpPr>
        <p:spPr bwMode="auto">
          <a:xfrm>
            <a:off x="9648658" y="4977606"/>
            <a:ext cx="690847" cy="35686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2000">
                <a:latin typeface="微软雅黑" panose="020B0503020204020204" pitchFamily="34" charset="-122"/>
                <a:ea typeface="微软雅黑" panose="020B0503020204020204" pitchFamily="34" charset="-122"/>
              </a:rPr>
              <a:t>领域</a:t>
            </a:r>
            <a:endParaRPr kumimoji="1" lang="zh-CN" altLang="en-US" sz="2000">
              <a:latin typeface="微软雅黑" panose="020B0503020204020204" pitchFamily="34" charset="-122"/>
              <a:ea typeface="微软雅黑" panose="020B0503020204020204" pitchFamily="34" charset="-122"/>
            </a:endParaRPr>
          </a:p>
        </p:txBody>
      </p:sp>
      <p:sp>
        <p:nvSpPr>
          <p:cNvPr id="42020" name="Rectangle 31"/>
          <p:cNvSpPr>
            <a:spLocks noChangeArrowheads="1"/>
          </p:cNvSpPr>
          <p:nvPr/>
        </p:nvSpPr>
        <p:spPr bwMode="auto">
          <a:xfrm>
            <a:off x="10969395" y="4977606"/>
            <a:ext cx="561948" cy="35686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2000">
                <a:latin typeface="微软雅黑" panose="020B0503020204020204" pitchFamily="34" charset="-122"/>
                <a:ea typeface="微软雅黑" panose="020B0503020204020204" pitchFamily="34" charset="-122"/>
              </a:rPr>
              <a:t>领域</a:t>
            </a:r>
            <a:endParaRPr kumimoji="1" lang="zh-CN" altLang="en-US" sz="2000">
              <a:latin typeface="微软雅黑" panose="020B0503020204020204" pitchFamily="34" charset="-122"/>
              <a:ea typeface="微软雅黑" panose="020B0503020204020204" pitchFamily="34" charset="-122"/>
            </a:endParaRPr>
          </a:p>
        </p:txBody>
      </p:sp>
      <p:sp>
        <p:nvSpPr>
          <p:cNvPr id="42024" name="Rectangle 33"/>
          <p:cNvSpPr>
            <a:spLocks noChangeArrowheads="1"/>
          </p:cNvSpPr>
          <p:nvPr/>
        </p:nvSpPr>
        <p:spPr bwMode="auto">
          <a:xfrm>
            <a:off x="10648099" y="5418925"/>
            <a:ext cx="417175" cy="38036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WG</a:t>
            </a:r>
            <a:endParaRPr kumimoji="1" lang="en-US" altLang="zh-CN" sz="2000">
              <a:latin typeface="微软雅黑" panose="020B0503020204020204" pitchFamily="34" charset="-122"/>
              <a:ea typeface="微软雅黑" panose="020B0503020204020204" pitchFamily="34" charset="-122"/>
            </a:endParaRPr>
          </a:p>
        </p:txBody>
      </p:sp>
      <p:sp>
        <p:nvSpPr>
          <p:cNvPr id="42025" name="Rectangle 34"/>
          <p:cNvSpPr>
            <a:spLocks noChangeArrowheads="1"/>
          </p:cNvSpPr>
          <p:nvPr/>
        </p:nvSpPr>
        <p:spPr bwMode="auto">
          <a:xfrm>
            <a:off x="10150284" y="5418925"/>
            <a:ext cx="370822" cy="38036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WG</a:t>
            </a:r>
            <a:endParaRPr kumimoji="1" lang="en-US" altLang="zh-CN" sz="2000">
              <a:latin typeface="微软雅黑" panose="020B0503020204020204" pitchFamily="34" charset="-122"/>
              <a:ea typeface="微软雅黑" panose="020B0503020204020204" pitchFamily="34" charset="-122"/>
            </a:endParaRPr>
          </a:p>
        </p:txBody>
      </p:sp>
      <p:sp>
        <p:nvSpPr>
          <p:cNvPr id="42026" name="Rectangle 35"/>
          <p:cNvSpPr>
            <a:spLocks noChangeArrowheads="1"/>
          </p:cNvSpPr>
          <p:nvPr/>
        </p:nvSpPr>
        <p:spPr bwMode="auto">
          <a:xfrm>
            <a:off x="9449912" y="5418925"/>
            <a:ext cx="409555" cy="38036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WG</a:t>
            </a:r>
            <a:endParaRPr kumimoji="1" lang="en-US" altLang="zh-CN" sz="2400">
              <a:latin typeface="微软雅黑" panose="020B0503020204020204" pitchFamily="34" charset="-122"/>
              <a:ea typeface="微软雅黑" panose="020B0503020204020204" pitchFamily="34" charset="-122"/>
            </a:endParaRPr>
          </a:p>
        </p:txBody>
      </p:sp>
      <p:cxnSp>
        <p:nvCxnSpPr>
          <p:cNvPr id="42028" name="AutoShape 46"/>
          <p:cNvCxnSpPr>
            <a:cxnSpLocks noChangeShapeType="1"/>
            <a:stCxn id="43" idx="2"/>
            <a:endCxn id="30" idx="2"/>
          </p:cNvCxnSpPr>
          <p:nvPr/>
        </p:nvCxnSpPr>
        <p:spPr bwMode="auto">
          <a:xfrm>
            <a:off x="8681635" y="2022974"/>
            <a:ext cx="14200" cy="1172084"/>
          </a:xfrm>
          <a:prstGeom prst="straightConnector1">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Rectangle 32"/>
          <p:cNvSpPr>
            <a:spLocks noChangeArrowheads="1"/>
          </p:cNvSpPr>
          <p:nvPr/>
        </p:nvSpPr>
        <p:spPr bwMode="auto">
          <a:xfrm>
            <a:off x="7326523" y="2318236"/>
            <a:ext cx="2738624" cy="876821"/>
          </a:xfrm>
          <a:prstGeom prst="rect">
            <a:avLst/>
          </a:prstGeom>
          <a:solidFill>
            <a:srgbClr val="FFFF00"/>
          </a:solidFill>
          <a:ln w="28575">
            <a:solidFill>
              <a:srgbClr val="000066"/>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algn="ctr" eaLnBrk="0" fontAlgn="auto" hangingPunct="0">
              <a:spcBef>
                <a:spcPts val="0"/>
              </a:spcBef>
              <a:spcAft>
                <a:spcPts val="0"/>
              </a:spcAft>
              <a:defRPr/>
            </a:pPr>
            <a:r>
              <a:rPr kumimoji="1"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互联网体系结构</a:t>
            </a:r>
            <a:endParaRPr kumimoji="1"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algn="ctr" eaLnBrk="0" fontAlgn="auto" hangingPunct="0">
              <a:spcBef>
                <a:spcPts val="0"/>
              </a:spcBef>
              <a:spcAft>
                <a:spcPts val="0"/>
              </a:spcAft>
              <a:defRPr/>
            </a:pPr>
            <a:r>
              <a:rPr kumimoji="1"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研究委员会</a:t>
            </a:r>
            <a:r>
              <a:rPr kumimoji="1"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IAB</a:t>
            </a:r>
            <a:endParaRPr kumimoji="1"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008" name="Rectangle 10"/>
          <p:cNvSpPr>
            <a:spLocks noChangeArrowheads="1"/>
          </p:cNvSpPr>
          <p:nvPr/>
        </p:nvSpPr>
        <p:spPr bwMode="auto">
          <a:xfrm>
            <a:off x="5827411" y="4313406"/>
            <a:ext cx="2439553" cy="664836"/>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互联网研究</a:t>
            </a:r>
            <a:endPar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algn="ctr" eaLnBrk="0" hangingPunct="0"/>
            <a:r>
              <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指导小组</a:t>
            </a:r>
            <a:r>
              <a:rPr kumimoji="1" lang="en-US"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IRSG </a:t>
            </a:r>
            <a:endParaRPr kumimoji="1" lang="en-US"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011" name="Rectangle 16"/>
          <p:cNvSpPr>
            <a:spLocks noChangeArrowheads="1"/>
          </p:cNvSpPr>
          <p:nvPr/>
        </p:nvSpPr>
        <p:spPr bwMode="auto">
          <a:xfrm>
            <a:off x="9477216" y="4221332"/>
            <a:ext cx="2214139" cy="60387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互联网工程</a:t>
            </a:r>
            <a:endPar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algn="ctr" eaLnBrk="0" hangingPunct="0"/>
            <a:r>
              <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指导小组</a:t>
            </a:r>
            <a:r>
              <a:rPr kumimoji="1" lang="en-US"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IESG </a:t>
            </a:r>
            <a:endParaRPr kumimoji="1" lang="en-US"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Rectangle 5"/>
          <p:cNvSpPr>
            <a:spLocks noChangeArrowheads="1"/>
          </p:cNvSpPr>
          <p:nvPr/>
        </p:nvSpPr>
        <p:spPr bwMode="auto">
          <a:xfrm>
            <a:off x="7203990" y="1477442"/>
            <a:ext cx="2955290" cy="545532"/>
          </a:xfrm>
          <a:prstGeom prst="rect">
            <a:avLst/>
          </a:prstGeom>
          <a:noFill/>
          <a:ln w="28575">
            <a:solidFill>
              <a:srgbClr val="000066"/>
            </a:solidFill>
            <a:miter lim="800000"/>
          </a:ln>
          <a:effectLst/>
        </p:spPr>
        <p:txBody>
          <a:bodyPr wrap="none" anchor="ctr"/>
          <a:lstStyle/>
          <a:p>
            <a:pPr algn="ctr" eaLnBrk="0" fontAlgn="auto" hangingPunct="0">
              <a:spcBef>
                <a:spcPts val="0"/>
              </a:spcBef>
              <a:spcAft>
                <a:spcPts val="0"/>
              </a:spcAft>
              <a:defRPr/>
            </a:pP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互联网协会 </a:t>
            </a:r>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ISOC</a:t>
            </a:r>
            <a:endPar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latin typeface="Times New Roman" panose="02020603050405020304" pitchFamily="18" charset="0"/>
                <a:cs typeface="Times New Roman" panose="02020603050405020304" pitchFamily="18" charset="0"/>
                <a:sym typeface="+mn-ea"/>
              </a:rPr>
              <a:t>中国的</a:t>
            </a:r>
            <a:r>
              <a:rPr kumimoji="1" lang="en-US" altLang="zh-CN" dirty="0" err="1">
                <a:latin typeface="Times New Roman" panose="02020603050405020304" pitchFamily="18" charset="0"/>
                <a:cs typeface="Times New Roman" panose="02020603050405020304" pitchFamily="18" charset="0"/>
                <a:sym typeface="+mn-ea"/>
              </a:rPr>
              <a:t>相关标准组织与联盟</a:t>
            </a:r>
            <a:endParaRPr kumimoji="1" lang="zh-CN" altLang="en-US" dirty="0"/>
          </a:p>
        </p:txBody>
      </p:sp>
      <p:sp>
        <p:nvSpPr>
          <p:cNvPr id="3" name="内容占位符 2"/>
          <p:cNvSpPr>
            <a:spLocks noGrp="1"/>
          </p:cNvSpPr>
          <p:nvPr>
            <p:ph idx="1"/>
          </p:nvPr>
        </p:nvSpPr>
        <p:spPr>
          <a:xfrm>
            <a:off x="838200" y="1300603"/>
            <a:ext cx="7905750" cy="5192271"/>
          </a:xfrm>
        </p:spPr>
        <p:txBody>
          <a:bodyPr>
            <a:normAutofit fontScale="97500"/>
          </a:bodyPr>
          <a:lstStyle/>
          <a:p>
            <a:pPr>
              <a:lnSpc>
                <a:spcPct val="130000"/>
              </a:lnSpc>
              <a:buFont typeface="Wingdings" panose="05000000000000000000" charset="0"/>
              <a:buChar char="Ø"/>
            </a:pPr>
            <a:r>
              <a:rPr lang="zh-CN" altLang="en-US" dirty="0">
                <a:solidFill>
                  <a:schemeClr val="tx1"/>
                </a:solidFill>
                <a:effectLst/>
                <a:latin typeface="Times New Roman" panose="02020603050405020304" pitchFamily="18" charset="0"/>
                <a:cs typeface="Times New Roman" panose="02020603050405020304" pitchFamily="18" charset="0"/>
              </a:rPr>
              <a:t>中国通信标准化</a:t>
            </a:r>
            <a:r>
              <a:rPr lang="zh-CN" altLang="en-US" dirty="0">
                <a:latin typeface="Times New Roman" panose="02020603050405020304" pitchFamily="18" charset="0"/>
                <a:cs typeface="Times New Roman" panose="02020603050405020304" pitchFamily="18" charset="0"/>
              </a:rPr>
              <a:t>协会CCSA</a:t>
            </a:r>
            <a:endParaRPr lang="zh-CN" altLang="en-US" dirty="0">
              <a:solidFill>
                <a:schemeClr val="tx1"/>
              </a:solidFill>
              <a:effectLst/>
              <a:latin typeface="Times New Roman" panose="02020603050405020304" pitchFamily="18" charset="0"/>
              <a:cs typeface="Times New Roman" panose="02020603050405020304" pitchFamily="18" charset="0"/>
            </a:endParaRPr>
          </a:p>
          <a:p>
            <a:pPr marL="585470" indent="-305435" algn="l">
              <a:lnSpc>
                <a:spcPct val="120000"/>
              </a:lnSpc>
              <a:spcAft>
                <a:spcPts val="0"/>
              </a:spcAft>
              <a:buClrTx/>
              <a:buSzTx/>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sym typeface="+mn-ea"/>
              </a:rPr>
              <a:t>CCSA</a:t>
            </a:r>
            <a:r>
              <a:rPr lang="en-US" altLang="zh-CN" sz="2400" dirty="0">
                <a:latin typeface="Times New Roman" panose="02020603050405020304" pitchFamily="18" charset="0"/>
                <a:cs typeface="Times New Roman" panose="02020603050405020304" pitchFamily="18" charset="0"/>
              </a:rPr>
              <a:t> (China Communications Standards </a:t>
            </a:r>
            <a:br>
              <a:rPr lang="en-US" altLang="zh-CN" sz="2400" dirty="0">
                <a:latin typeface="Times New Roman" panose="02020603050405020304" pitchFamily="18" charset="0"/>
                <a:cs typeface="Times New Roman" panose="02020603050405020304" pitchFamily="18" charset="0"/>
              </a:rPr>
            </a:br>
            <a:r>
              <a:rPr lang="en-US" altLang="zh-CN" sz="2400" dirty="0">
                <a:latin typeface="Times New Roman" panose="02020603050405020304" pitchFamily="18" charset="0"/>
                <a:cs typeface="Times New Roman" panose="02020603050405020304" pitchFamily="18" charset="0"/>
              </a:rPr>
              <a:t>Association)</a:t>
            </a:r>
            <a:endParaRPr lang="en-US" altLang="zh-CN" sz="2400" dirty="0">
              <a:latin typeface="Times New Roman" panose="02020603050405020304" pitchFamily="18" charset="0"/>
              <a:cs typeface="Times New Roman" panose="02020603050405020304" pitchFamily="18" charset="0"/>
            </a:endParaRPr>
          </a:p>
          <a:p>
            <a:pPr marL="585470" indent="-305435" algn="l">
              <a:lnSpc>
                <a:spcPct val="120000"/>
              </a:lnSpc>
              <a:spcAft>
                <a:spcPts val="0"/>
              </a:spcAft>
              <a:buClrTx/>
              <a:buSzTx/>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2002年12月18日成立</a:t>
            </a:r>
            <a:endParaRPr lang="en-US" altLang="zh-CN" sz="2400" dirty="0">
              <a:latin typeface="Times New Roman" panose="02020603050405020304" pitchFamily="18" charset="0"/>
              <a:cs typeface="Times New Roman" panose="02020603050405020304" pitchFamily="18" charset="0"/>
            </a:endParaRPr>
          </a:p>
          <a:p>
            <a:pPr marL="585470" indent="-305435" algn="l">
              <a:lnSpc>
                <a:spcPct val="130000"/>
              </a:lnSpc>
              <a:spcAft>
                <a:spcPts val="0"/>
              </a:spcAft>
              <a:buClrTx/>
              <a:buSzTx/>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10</a:t>
            </a:r>
            <a:r>
              <a:rPr lang="zh-CN" altLang="en-US" sz="2400" dirty="0">
                <a:latin typeface="Times New Roman" panose="02020603050405020304" pitchFamily="18" charset="0"/>
                <a:cs typeface="Times New Roman" panose="02020603050405020304" pitchFamily="18" charset="0"/>
              </a:rPr>
              <a:t>余个</a:t>
            </a:r>
            <a:r>
              <a:rPr lang="en-US" altLang="zh-CN" sz="2400" dirty="0" err="1">
                <a:latin typeface="Times New Roman" panose="02020603050405020304" pitchFamily="18" charset="0"/>
                <a:cs typeface="Times New Roman" panose="02020603050405020304" pitchFamily="18" charset="0"/>
              </a:rPr>
              <a:t>技术委员会TC</a:t>
            </a:r>
            <a:r>
              <a:rPr lang="zh-CN" altLang="en-US" sz="2400" dirty="0">
                <a:latin typeface="Times New Roman" panose="02020603050405020304" pitchFamily="18" charset="0"/>
                <a:cs typeface="Times New Roman" panose="02020603050405020304" pitchFamily="18" charset="0"/>
              </a:rPr>
              <a:t>，根据技术需求成立和解散</a:t>
            </a:r>
            <a:endParaRPr lang="zh-CN" altLang="en-US" sz="2400" dirty="0">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6" name="图片 5"/>
          <p:cNvPicPr>
            <a:picLocks noChangeAspect="1"/>
          </p:cNvPicPr>
          <p:nvPr/>
        </p:nvPicPr>
        <p:blipFill>
          <a:blip r:embed="rId1"/>
          <a:stretch>
            <a:fillRect/>
          </a:stretch>
        </p:blipFill>
        <p:spPr>
          <a:xfrm>
            <a:off x="7156270" y="1775917"/>
            <a:ext cx="3930286" cy="718185"/>
          </a:xfrm>
          <a:prstGeom prst="rect">
            <a:avLst/>
          </a:prstGeom>
        </p:spPr>
      </p:pic>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graphicFrame>
        <p:nvGraphicFramePr>
          <p:cNvPr id="4" name="表格 8"/>
          <p:cNvGraphicFramePr>
            <a:graphicFrameLocks noGrp="1"/>
          </p:cNvGraphicFramePr>
          <p:nvPr/>
        </p:nvGraphicFramePr>
        <p:xfrm>
          <a:off x="2032000" y="4074919"/>
          <a:ext cx="8128000" cy="222504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TC1：互联网与应用</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TC8：网络与信息安全</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TC3：网络与业务能力</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TC9：电磁环境与安全防护</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TC4：通信电源与通信局站工作环境</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TC10：物联网</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TC5：无线通信</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TC11：移动互联网应用和终端</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TC6：传送网与接入网</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TC12：航天通信技术</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b="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TC7：网络管理与运营支撑</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开源社区</a:t>
            </a:r>
            <a:endParaRPr kumimoji="1" lang="zh-CN" altLang="en-US" dirty="0"/>
          </a:p>
        </p:txBody>
      </p:sp>
      <p:sp>
        <p:nvSpPr>
          <p:cNvPr id="8" name="内容占位符 2"/>
          <p:cNvSpPr>
            <a:spLocks noGrp="1"/>
          </p:cNvSpPr>
          <p:nvPr>
            <p:ph idx="1"/>
          </p:nvPr>
        </p:nvSpPr>
        <p:spPr>
          <a:xfrm>
            <a:off x="838200" y="1510757"/>
            <a:ext cx="6767830" cy="5198017"/>
          </a:xfrm>
        </p:spPr>
        <p:txBody>
          <a:bodyPr>
            <a:normAutofit lnSpcReduction="10000"/>
          </a:bodyPr>
          <a:lstStyle/>
          <a:p>
            <a:pPr algn="l">
              <a:lnSpc>
                <a:spcPct val="125000"/>
              </a:lnSpc>
              <a:spcAft>
                <a:spcPts val="0"/>
              </a:spcAft>
              <a:buClrTx/>
              <a:buSzTx/>
              <a:buFont typeface="Wingdings" panose="05000000000000000000" charset="0"/>
              <a:buChar char="Ø"/>
            </a:pPr>
            <a:r>
              <a:rPr lang="en-US" altLang="zh-CN" dirty="0" err="1">
                <a:effectLst/>
                <a:cs typeface="微软雅黑" panose="020B0503020204020204" pitchFamily="34" charset="-122"/>
              </a:rPr>
              <a:t>开源社区</a:t>
            </a:r>
            <a:r>
              <a:rPr lang="zh-CN" altLang="en-US" dirty="0">
                <a:effectLst/>
                <a:cs typeface="微软雅黑" panose="020B0503020204020204" pitchFamily="34" charset="-122"/>
              </a:rPr>
              <a:t> </a:t>
            </a:r>
            <a:r>
              <a:rPr lang="en-US" altLang="zh-CN" dirty="0">
                <a:effectLst/>
                <a:cs typeface="微软雅黑" panose="020B0503020204020204" pitchFamily="34" charset="-122"/>
              </a:rPr>
              <a:t>(Open Source Community)</a:t>
            </a:r>
            <a:endParaRPr lang="en-US" altLang="zh-CN" dirty="0">
              <a:effectLst/>
              <a:cs typeface="微软雅黑" panose="020B0503020204020204" pitchFamily="34" charset="-122"/>
            </a:endParaRPr>
          </a:p>
          <a:p>
            <a:pPr lvl="1">
              <a:lnSpc>
                <a:spcPct val="125000"/>
              </a:lnSpc>
              <a:buFont typeface="Arial" panose="020B0604020202020204" pitchFamily="34" charset="0"/>
              <a:buChar char="•"/>
            </a:pPr>
            <a:r>
              <a:rPr lang="en-US" altLang="zh-CN" dirty="0" err="1">
                <a:effectLst/>
                <a:cs typeface="微软雅黑" panose="020B0503020204020204" pitchFamily="34" charset="-122"/>
              </a:rPr>
              <a:t>又称开放源代码社区</a:t>
            </a:r>
            <a:r>
              <a:rPr lang="zh-CN" altLang="en-US" dirty="0">
                <a:cs typeface="微软雅黑" panose="020B0503020204020204" pitchFamily="34" charset="-122"/>
              </a:rPr>
              <a:t>，</a:t>
            </a:r>
            <a:r>
              <a:rPr lang="en-US" altLang="zh-CN" dirty="0" err="1">
                <a:cs typeface="微软雅黑" panose="020B0503020204020204" pitchFamily="34" charset="-122"/>
              </a:rPr>
              <a:t>公布软件源代码的网络平台，同时也为网络成员提供一个自由学习交流的空间</a:t>
            </a:r>
            <a:endParaRPr lang="en-US" altLang="zh-CN" dirty="0">
              <a:effectLst/>
              <a:cs typeface="微软雅黑" panose="020B0503020204020204" pitchFamily="34" charset="-122"/>
            </a:endParaRPr>
          </a:p>
          <a:p>
            <a:pPr lvl="1">
              <a:lnSpc>
                <a:spcPct val="125000"/>
              </a:lnSpc>
              <a:spcAft>
                <a:spcPts val="0"/>
              </a:spcAft>
              <a:buFont typeface="Arial" panose="020B0604020202020204" pitchFamily="34" charset="0"/>
              <a:buChar char="•"/>
            </a:pPr>
            <a:r>
              <a:rPr lang="en-US" altLang="zh-CN" dirty="0" err="1">
                <a:effectLst/>
                <a:cs typeface="微软雅黑" panose="020B0503020204020204" pitchFamily="34" charset="-122"/>
              </a:rPr>
              <a:t>根据相应的开源软件许可证协议</a:t>
            </a:r>
            <a:endParaRPr lang="en-US" altLang="zh-CN" dirty="0">
              <a:effectLst/>
              <a:cs typeface="微软雅黑" panose="020B0503020204020204" pitchFamily="34" charset="-122"/>
            </a:endParaRPr>
          </a:p>
          <a:p>
            <a:pPr>
              <a:lnSpc>
                <a:spcPct val="125000"/>
              </a:lnSpc>
              <a:spcAft>
                <a:spcPts val="0"/>
              </a:spcAft>
              <a:buFont typeface="Wingdings" panose="05000000000000000000" charset="0"/>
              <a:buChar char="Ø"/>
            </a:pPr>
            <a:r>
              <a:rPr lang="en-US" altLang="zh-CN" dirty="0">
                <a:effectLst/>
                <a:cs typeface="微软雅黑" panose="020B0503020204020204" pitchFamily="34" charset="-122"/>
              </a:rPr>
              <a:t>GitHub </a:t>
            </a:r>
            <a:endParaRPr lang="en-US" altLang="zh-CN" dirty="0">
              <a:effectLst/>
              <a:cs typeface="微软雅黑" panose="020B0503020204020204" pitchFamily="34" charset="-122"/>
            </a:endParaRPr>
          </a:p>
          <a:p>
            <a:pPr lvl="1">
              <a:lnSpc>
                <a:spcPct val="125000"/>
              </a:lnSpc>
              <a:spcAft>
                <a:spcPts val="0"/>
              </a:spcAft>
              <a:buFont typeface="Arial" panose="020B0604020202020204" pitchFamily="34" charset="0"/>
              <a:buChar char="•"/>
            </a:pPr>
            <a:r>
              <a:rPr lang="zh-CN" altLang="zh-CN" dirty="0">
                <a:effectLst/>
                <a:cs typeface="微软雅黑" panose="020B0503020204020204" pitchFamily="34" charset="-122"/>
              </a:rPr>
              <a:t>面向开源及私有软件项目的托管网络平台</a:t>
            </a:r>
            <a:r>
              <a:rPr lang="en-US" altLang="zh-CN" kern="100" dirty="0">
                <a:effectLst/>
                <a:cs typeface="微软雅黑" panose="020B0503020204020204" pitchFamily="34" charset="-122"/>
                <a:hlinkClick r:id="rId1"/>
              </a:rPr>
              <a:t>https://github.com</a:t>
            </a:r>
            <a:endParaRPr lang="en-US" altLang="zh-CN" kern="100" dirty="0">
              <a:effectLst/>
              <a:cs typeface="微软雅黑" panose="020B0503020204020204" pitchFamily="34" charset="-122"/>
            </a:endParaRPr>
          </a:p>
          <a:p>
            <a:pPr lvl="1">
              <a:lnSpc>
                <a:spcPct val="125000"/>
              </a:lnSpc>
              <a:spcAft>
                <a:spcPts val="0"/>
              </a:spcAft>
              <a:buFont typeface="Arial" panose="020B0604020202020204" pitchFamily="34" charset="0"/>
              <a:buChar char="•"/>
            </a:pPr>
            <a:r>
              <a:rPr lang="en-US" altLang="zh-CN" b="1" dirty="0">
                <a:solidFill>
                  <a:srgbClr val="C00000"/>
                </a:solidFill>
                <a:sym typeface="+mn-ea"/>
              </a:rPr>
              <a:t>Google </a:t>
            </a:r>
            <a:r>
              <a:rPr lang="zh-CN" altLang="en-US" b="1" dirty="0">
                <a:solidFill>
                  <a:srgbClr val="C00000"/>
                </a:solidFill>
                <a:sym typeface="+mn-ea"/>
              </a:rPr>
              <a:t>QUIC协议项目</a:t>
            </a:r>
            <a:endParaRPr lang="zh-CN" altLang="en-US" b="1" dirty="0">
              <a:solidFill>
                <a:srgbClr val="C00000"/>
              </a:solidFill>
              <a:sym typeface="+mn-ea"/>
            </a:endParaRPr>
          </a:p>
          <a:p>
            <a:pPr lvl="1">
              <a:lnSpc>
                <a:spcPct val="125000"/>
              </a:lnSpc>
              <a:buFont typeface="Arial" panose="020B0604020202020204" pitchFamily="34" charset="0"/>
              <a:buChar char="•"/>
            </a:pPr>
            <a:r>
              <a:rPr lang="en-US" altLang="zh-CN" b="1" dirty="0">
                <a:solidFill>
                  <a:srgbClr val="C00000"/>
                </a:solidFill>
                <a:sym typeface="+mn-ea"/>
              </a:rPr>
              <a:t>Google </a:t>
            </a:r>
            <a:r>
              <a:rPr lang="zh-CN" altLang="en-US" b="1" dirty="0">
                <a:solidFill>
                  <a:srgbClr val="C00000"/>
                </a:solidFill>
                <a:sym typeface="+mn-ea"/>
              </a:rPr>
              <a:t>WebRTC项目</a:t>
            </a:r>
            <a:endParaRPr lang="en-US" altLang="zh-CN" kern="100" dirty="0">
              <a:solidFill>
                <a:srgbClr val="C00000"/>
              </a:solidFill>
              <a:effectLst/>
              <a:cs typeface="微软雅黑" panose="020B0503020204020204" pitchFamily="34" charset="-122"/>
            </a:endParaRP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pic>
        <p:nvPicPr>
          <p:cNvPr id="5" name="图片 4"/>
          <p:cNvPicPr>
            <a:picLocks noChangeAspect="1"/>
          </p:cNvPicPr>
          <p:nvPr/>
        </p:nvPicPr>
        <p:blipFill>
          <a:blip r:embed="rId2" cstate="print"/>
          <a:stretch>
            <a:fillRect/>
          </a:stretch>
        </p:blipFill>
        <p:spPr>
          <a:xfrm>
            <a:off x="7606030" y="1728032"/>
            <a:ext cx="4379595" cy="3201019"/>
          </a:xfrm>
          <a:prstGeom prst="rect">
            <a:avLst/>
          </a:prstGeom>
        </p:spPr>
      </p:pic>
      <p:sp>
        <p:nvSpPr>
          <p:cNvPr id="3" name="矩形 2"/>
          <p:cNvSpPr/>
          <p:nvPr/>
        </p:nvSpPr>
        <p:spPr>
          <a:xfrm>
            <a:off x="6096000" y="5517077"/>
            <a:ext cx="3869635" cy="826573"/>
          </a:xfrm>
          <a:prstGeom prst="rect">
            <a:avLst/>
          </a:prstGeom>
          <a:ln>
            <a:solidFill>
              <a:srgbClr val="C00000"/>
            </a:solidFill>
          </a:ln>
        </p:spPr>
        <p:txBody>
          <a:bodyPr wrap="square">
            <a:spAutoFit/>
          </a:bodyPr>
          <a:lstStyle/>
          <a:p>
            <a:pPr algn="ctr">
              <a:lnSpc>
                <a:spcPct val="125000"/>
              </a:lnSpc>
            </a:pPr>
            <a:r>
              <a:rPr lang="zh-CN" altLang="en-US" sz="2000" dirty="0">
                <a:latin typeface="微软雅黑" panose="020B0503020204020204" pitchFamily="34" charset="-122"/>
                <a:ea typeface="微软雅黑" panose="020B0503020204020204" pitchFamily="34" charset="-122"/>
                <a:sym typeface="+mn-ea"/>
              </a:rPr>
              <a:t>通过开源使得该技术广泛使用，</a:t>
            </a:r>
            <a:endParaRPr lang="en-US" altLang="zh-CN" sz="2000" dirty="0">
              <a:latin typeface="微软雅黑" panose="020B0503020204020204" pitchFamily="34" charset="-122"/>
              <a:ea typeface="微软雅黑" panose="020B0503020204020204" pitchFamily="34" charset="-122"/>
              <a:sym typeface="+mn-ea"/>
            </a:endParaRPr>
          </a:p>
          <a:p>
            <a:pPr algn="ctr">
              <a:lnSpc>
                <a:spcPct val="125000"/>
              </a:lnSpc>
            </a:pPr>
            <a:r>
              <a:rPr lang="zh-CN" altLang="en-US" sz="2000" dirty="0">
                <a:latin typeface="微软雅黑" panose="020B0503020204020204" pitchFamily="34" charset="-122"/>
                <a:ea typeface="微软雅黑" panose="020B0503020204020204" pitchFamily="34" charset="-122"/>
                <a:sym typeface="+mn-ea"/>
              </a:rPr>
              <a:t>进而推动标准建设</a:t>
            </a:r>
            <a:endParaRPr lang="en-US" altLang="zh-CN" sz="2000" kern="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endParaRPr kumimoji="1" lang="zh-CN" altLang="en-US" dirty="0"/>
          </a:p>
        </p:txBody>
      </p:sp>
      <p:sp>
        <p:nvSpPr>
          <p:cNvPr id="5" name="内容占位符 4"/>
          <p:cNvSpPr>
            <a:spLocks noGrp="1"/>
          </p:cNvSpPr>
          <p:nvPr>
            <p:ph idx="1"/>
          </p:nvPr>
        </p:nvSpPr>
        <p:spPr>
          <a:xfrm>
            <a:off x="681375" y="1493018"/>
            <a:ext cx="10515600" cy="4845592"/>
          </a:xfrm>
        </p:spPr>
        <p:txBody>
          <a:bodyPr>
            <a:normAutofit lnSpcReduction="10000"/>
          </a:bodyPr>
          <a:lstStyle/>
          <a:p>
            <a:pPr marL="0" indent="0">
              <a:lnSpc>
                <a:spcPct val="130000"/>
              </a:lnSpc>
              <a:buNone/>
            </a:pPr>
            <a:r>
              <a:rPr kumimoji="1" lang="en-US" altLang="zh-CN" dirty="0"/>
              <a:t>1.1 </a:t>
            </a:r>
            <a:r>
              <a:rPr kumimoji="1" lang="zh-CN" altLang="en-US" dirty="0"/>
              <a:t>初识互联网</a:t>
            </a:r>
            <a:endParaRPr kumimoji="1" lang="en-US" altLang="zh-CN" dirty="0"/>
          </a:p>
          <a:p>
            <a:pPr marL="0" indent="0">
              <a:lnSpc>
                <a:spcPct val="130000"/>
              </a:lnSpc>
              <a:buNone/>
            </a:pPr>
            <a:r>
              <a:rPr kumimoji="1" lang="en-US" altLang="zh-CN" dirty="0"/>
              <a:t>1.2 </a:t>
            </a:r>
            <a:r>
              <a:rPr kumimoji="1" lang="zh-CN" altLang="en-US" dirty="0"/>
              <a:t>网络实例</a:t>
            </a:r>
            <a:endParaRPr kumimoji="1" lang="en-US" altLang="zh-CN" dirty="0"/>
          </a:p>
          <a:p>
            <a:pPr marL="0" indent="0">
              <a:lnSpc>
                <a:spcPct val="130000"/>
              </a:lnSpc>
              <a:buNone/>
            </a:pPr>
            <a:r>
              <a:rPr kumimoji="1" lang="en-US" altLang="zh-CN" dirty="0"/>
              <a:t>1.3 </a:t>
            </a:r>
            <a:r>
              <a:rPr kumimoji="1" lang="zh-CN" altLang="en-US" dirty="0"/>
              <a:t>协议与分层结构</a:t>
            </a:r>
            <a:endParaRPr kumimoji="1" lang="en-US" altLang="zh-CN" dirty="0"/>
          </a:p>
          <a:p>
            <a:pPr marL="0" indent="0">
              <a:lnSpc>
                <a:spcPct val="130000"/>
              </a:lnSpc>
              <a:buNone/>
            </a:pPr>
            <a:r>
              <a:rPr kumimoji="1" lang="en-US" altLang="zh-CN" dirty="0"/>
              <a:t>1.4 </a:t>
            </a:r>
            <a:r>
              <a:rPr kumimoji="1" lang="zh-CN" altLang="en-US" dirty="0"/>
              <a:t>参考模型</a:t>
            </a:r>
            <a:endParaRPr kumimoji="1" lang="en-US" altLang="zh-CN" dirty="0"/>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1.5 </a:t>
            </a:r>
            <a:r>
              <a:rPr kumimoji="1" lang="zh-CN" altLang="en-US" dirty="0"/>
              <a:t>计算机网络度量单位</a:t>
            </a:r>
            <a:endParaRPr kumimoji="1" lang="en-US" altLang="zh-CN" dirty="0"/>
          </a:p>
          <a:p>
            <a:pPr marL="0" indent="0">
              <a:lnSpc>
                <a:spcPct val="130000"/>
              </a:lnSpc>
              <a:buNone/>
            </a:pPr>
            <a:r>
              <a:rPr kumimoji="1" lang="en-US" altLang="zh-CN" dirty="0"/>
              <a:t>1.6 </a:t>
            </a:r>
            <a:r>
              <a:rPr kumimoji="1" lang="zh-CN" altLang="en-US" dirty="0"/>
              <a:t>网络安全与威胁</a:t>
            </a:r>
            <a:endParaRPr kumimoji="1" lang="zh-CN" altLang="en-US" dirty="0"/>
          </a:p>
          <a:p>
            <a:pPr marL="0" indent="0">
              <a:lnSpc>
                <a:spcPct val="130000"/>
              </a:lnSpc>
              <a:buNone/>
            </a:pPr>
            <a:r>
              <a:rPr kumimoji="1" lang="en-US" altLang="zh-CN" dirty="0">
                <a:solidFill>
                  <a:srgbClr val="C00000"/>
                </a:solidFill>
              </a:rPr>
              <a:t>1.8 </a:t>
            </a:r>
            <a:r>
              <a:rPr kumimoji="1" lang="zh-CN" altLang="en-US" dirty="0">
                <a:solidFill>
                  <a:srgbClr val="C00000"/>
                </a:solidFill>
              </a:rPr>
              <a:t>互联网发展史与启示</a:t>
            </a:r>
            <a:endParaRPr lang="zh-CN" altLang="en-US" dirty="0">
              <a:solidFill>
                <a:srgbClr val="C00000"/>
              </a:solidFill>
            </a:endParaRP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 name="矩形标注 6"/>
          <p:cNvSpPr/>
          <p:nvPr/>
        </p:nvSpPr>
        <p:spPr>
          <a:xfrm>
            <a:off x="5627936" y="3429000"/>
            <a:ext cx="5344864" cy="2633042"/>
          </a:xfrm>
          <a:prstGeom prst="wedgeRectCallout">
            <a:avLst>
              <a:gd name="adj1" fmla="val -65745"/>
              <a:gd name="adj2" fmla="val 4210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457200" indent="-367030">
              <a:lnSpc>
                <a:spcPct val="130000"/>
              </a:lnSpc>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互联网早期发展与启示</a:t>
            </a:r>
            <a:endParaRPr kumimoji="1" lang="zh-CN" altLang="en-US" sz="2400" dirty="0">
              <a:solidFill>
                <a:schemeClr val="tx1"/>
              </a:solidFill>
              <a:latin typeface="微软雅黑" panose="020B0503020204020204" pitchFamily="34" charset="-122"/>
              <a:ea typeface="微软雅黑" panose="020B0503020204020204" pitchFamily="34" charset="-122"/>
            </a:endParaRPr>
          </a:p>
          <a:p>
            <a:pPr marL="457200" indent="-367030">
              <a:lnSpc>
                <a:spcPct val="130000"/>
              </a:lnSpc>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互联网的新发展与启示</a:t>
            </a:r>
            <a:endParaRPr kumimoji="1" lang="zh-CN" altLang="en-US" sz="2400" dirty="0">
              <a:solidFill>
                <a:schemeClr val="tx1"/>
              </a:solidFill>
              <a:latin typeface="微软雅黑" panose="020B0503020204020204" pitchFamily="34" charset="-122"/>
              <a:ea typeface="微软雅黑" panose="020B0503020204020204" pitchFamily="34" charset="-122"/>
            </a:endParaRPr>
          </a:p>
          <a:p>
            <a:pPr marL="457200" indent="-367030">
              <a:lnSpc>
                <a:spcPct val="130000"/>
              </a:lnSpc>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我国的互联网发展情况</a:t>
            </a:r>
            <a:endParaRPr lang="zh-CN" altLang="en-US" sz="2400" dirty="0">
              <a:solidFill>
                <a:schemeClr val="tx1"/>
              </a:solidFill>
              <a:latin typeface="微软雅黑" panose="020B0503020204020204" pitchFamily="34" charset="-122"/>
              <a:ea typeface="微软雅黑" panose="020B0503020204020204" pitchFamily="34" charset="-122"/>
            </a:endParaRPr>
          </a:p>
          <a:p>
            <a:pPr marL="457200" indent="-367030">
              <a:lnSpc>
                <a:spcPct val="130000"/>
              </a:lnSpc>
              <a:buFont typeface="+mj-lt"/>
              <a:buAutoNum type="arabicPeriod"/>
            </a:pPr>
            <a:r>
              <a:rPr lang="zh-CN" altLang="zh-CN" sz="2400" dirty="0">
                <a:solidFill>
                  <a:schemeClr val="tx1"/>
                </a:solidFill>
                <a:latin typeface="微软雅黑" panose="020B0503020204020204" pitchFamily="34" charset="-122"/>
                <a:ea typeface="微软雅黑" panose="020B0503020204020204" pitchFamily="34" charset="-122"/>
              </a:rPr>
              <a:t>中国教育和科研计算机网</a:t>
            </a:r>
            <a:r>
              <a:rPr lang="en-US" altLang="zh-CN" sz="2400" dirty="0">
                <a:solidFill>
                  <a:schemeClr val="tx1"/>
                </a:solidFill>
                <a:latin typeface="微软雅黑" panose="020B0503020204020204" pitchFamily="34" charset="-122"/>
                <a:ea typeface="微软雅黑" panose="020B0503020204020204" pitchFamily="34" charset="-122"/>
              </a:rPr>
              <a:t>CERNET</a:t>
            </a:r>
            <a:endParaRPr lang="en-US" altLang="zh-CN" sz="2400" dirty="0">
              <a:solidFill>
                <a:schemeClr val="tx1"/>
              </a:solidFill>
              <a:latin typeface="微软雅黑" panose="020B0503020204020204" pitchFamily="34" charset="-122"/>
              <a:ea typeface="微软雅黑" panose="020B0503020204020204" pitchFamily="34" charset="-122"/>
            </a:endParaRPr>
          </a:p>
          <a:p>
            <a:pPr marL="457200" indent="-367030">
              <a:lnSpc>
                <a:spcPct val="130000"/>
              </a:lnSpc>
              <a:buFont typeface="+mj-lt"/>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华为的成长与启示</a:t>
            </a:r>
            <a:endParaRPr kumimoji="1" lang="zh-CN" altLang="en-US" sz="2400" dirty="0">
              <a:solidFill>
                <a:schemeClr val="tx1"/>
              </a:solidFill>
              <a:latin typeface="微软雅黑" panose="020B0503020204020204" pitchFamily="34" charset="-122"/>
              <a:ea typeface="微软雅黑" panose="020B0503020204020204" pitchFamily="34" charset="-122"/>
            </a:endParaRPr>
          </a:p>
          <a:p>
            <a:pPr marL="587375" lvl="0" indent="-438150">
              <a:lnSpc>
                <a:spcPct val="130000"/>
              </a:lnSpc>
              <a:spcBef>
                <a:spcPts val="600"/>
              </a:spcBef>
              <a:buFont typeface="+mj-lt"/>
              <a:buAutoNum type="arabicPeriod"/>
            </a:pP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latin typeface="微软雅黑" panose="020B0503020204020204" pitchFamily="34" charset="-122"/>
                <a:ea typeface="微软雅黑" panose="020B0503020204020204" pitchFamily="34" charset="-122"/>
              </a:rPr>
              <a:t>互联网早期发展与启示</a:t>
            </a:r>
            <a:endParaRPr lang="zh-CN" altLang="en-US" dirty="0"/>
          </a:p>
        </p:txBody>
      </p:sp>
      <p:sp>
        <p:nvSpPr>
          <p:cNvPr id="5" name="矩形 4"/>
          <p:cNvSpPr/>
          <p:nvPr/>
        </p:nvSpPr>
        <p:spPr>
          <a:xfrm>
            <a:off x="7779446" y="5060303"/>
            <a:ext cx="1809183" cy="998673"/>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6" name="矩形 5"/>
          <p:cNvSpPr/>
          <p:nvPr/>
        </p:nvSpPr>
        <p:spPr>
          <a:xfrm>
            <a:off x="5232113" y="5060303"/>
            <a:ext cx="2449094" cy="994968"/>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7" name="矩形 6"/>
          <p:cNvSpPr/>
          <p:nvPr/>
        </p:nvSpPr>
        <p:spPr>
          <a:xfrm>
            <a:off x="2575269" y="5060303"/>
            <a:ext cx="2138099" cy="98176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8" name="矩形 7"/>
          <p:cNvSpPr/>
          <p:nvPr/>
        </p:nvSpPr>
        <p:spPr>
          <a:xfrm>
            <a:off x="258149" y="5060303"/>
            <a:ext cx="2129957" cy="98176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cxnSp>
        <p:nvCxnSpPr>
          <p:cNvPr id="10" name="直接箭头连接符 9"/>
          <p:cNvCxnSpPr/>
          <p:nvPr/>
        </p:nvCxnSpPr>
        <p:spPr>
          <a:xfrm flipV="1">
            <a:off x="486377" y="4898093"/>
            <a:ext cx="10644187" cy="2115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pic>
        <p:nvPicPr>
          <p:cNvPr id="11" name="内容占位符 3"/>
          <p:cNvPicPr>
            <a:picLocks noGrp="1" noChangeAspect="1"/>
          </p:cNvPicPr>
          <p:nvPr>
            <p:ph idx="1"/>
          </p:nvPr>
        </p:nvPicPr>
        <p:blipFill rotWithShape="1">
          <a:blip r:embed="rId1" cstate="print"/>
          <a:srcRect/>
          <a:stretch>
            <a:fillRect/>
          </a:stretch>
        </p:blipFill>
        <p:spPr>
          <a:xfrm>
            <a:off x="383142" y="3019343"/>
            <a:ext cx="2092418" cy="1287671"/>
          </a:xfrm>
          <a:prstGeom prst="rect">
            <a:avLst/>
          </a:prstGeom>
        </p:spPr>
      </p:pic>
      <p:sp>
        <p:nvSpPr>
          <p:cNvPr id="12" name="文本框 11"/>
          <p:cNvSpPr txBox="1"/>
          <p:nvPr/>
        </p:nvSpPr>
        <p:spPr>
          <a:xfrm>
            <a:off x="611525" y="5110951"/>
            <a:ext cx="1753337"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rPr>
              <a:t>1957</a:t>
            </a:r>
            <a:r>
              <a:rPr lang="zh-CN" altLang="en-US" sz="1800" dirty="0">
                <a:latin typeface="微软雅黑" panose="020B0503020204020204" pitchFamily="34" charset="-122"/>
                <a:ea typeface="微软雅黑" panose="020B0503020204020204" pitchFamily="34" charset="-122"/>
              </a:rPr>
              <a:t>年</a:t>
            </a:r>
            <a:r>
              <a:rPr lang="en-US" altLang="zh-CN" sz="1800" dirty="0">
                <a:latin typeface="微软雅黑" panose="020B0503020204020204" pitchFamily="34" charset="-122"/>
                <a:ea typeface="微软雅黑" panose="020B0503020204020204" pitchFamily="34" charset="-122"/>
              </a:rPr>
              <a:t>10</a:t>
            </a:r>
            <a:r>
              <a:rPr lang="zh-CN" altLang="en-US" sz="1800" dirty="0">
                <a:latin typeface="微软雅黑" panose="020B0503020204020204" pitchFamily="34" charset="-122"/>
                <a:ea typeface="微软雅黑" panose="020B0503020204020204" pitchFamily="34" charset="-122"/>
              </a:rPr>
              <a:t>月</a:t>
            </a:r>
            <a:endParaRPr lang="zh-CN" altLang="en-US" dirty="0">
              <a:latin typeface="微软雅黑" panose="020B0503020204020204" pitchFamily="34" charset="-122"/>
              <a:ea typeface="微软雅黑" panose="020B0503020204020204" pitchFamily="34" charset="-122"/>
            </a:endParaRPr>
          </a:p>
        </p:txBody>
      </p:sp>
      <p:sp>
        <p:nvSpPr>
          <p:cNvPr id="13" name="等腰三角形 12"/>
          <p:cNvSpPr/>
          <p:nvPr/>
        </p:nvSpPr>
        <p:spPr>
          <a:xfrm>
            <a:off x="1200751" y="4783661"/>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p:cNvSpPr txBox="1"/>
          <p:nvPr/>
        </p:nvSpPr>
        <p:spPr>
          <a:xfrm>
            <a:off x="196161" y="5443723"/>
            <a:ext cx="2237780" cy="646331"/>
          </a:xfrm>
          <a:prstGeom prst="rect">
            <a:avLst/>
          </a:prstGeom>
          <a:noFill/>
        </p:spPr>
        <p:txBody>
          <a:bodyPr wrap="square">
            <a:spAutoFit/>
          </a:bodyPr>
          <a:lstStyle/>
          <a:p>
            <a:pPr algn="ctr"/>
            <a:r>
              <a:rPr lang="zh-CN" altLang="en-US" sz="1800" dirty="0">
                <a:latin typeface="微软雅黑" panose="020B0503020204020204" pitchFamily="34" charset="-122"/>
                <a:ea typeface="微软雅黑" panose="020B0503020204020204" pitchFamily="34" charset="-122"/>
              </a:rPr>
              <a:t>苏联发射成功</a:t>
            </a:r>
            <a:br>
              <a:rPr lang="en-US" altLang="zh-CN" sz="1800" dirty="0">
                <a:latin typeface="微软雅黑" panose="020B0503020204020204" pitchFamily="34" charset="-122"/>
                <a:ea typeface="微软雅黑" panose="020B0503020204020204" pitchFamily="34" charset="-122"/>
              </a:rPr>
            </a:br>
            <a:r>
              <a:rPr lang="zh-CN" altLang="en-US" sz="1800" dirty="0">
                <a:latin typeface="微软雅黑" panose="020B0503020204020204" pitchFamily="34" charset="-122"/>
                <a:ea typeface="微软雅黑" panose="020B0503020204020204" pitchFamily="34" charset="-122"/>
              </a:rPr>
              <a:t>第一颗人造卫星</a:t>
            </a:r>
            <a:endParaRPr lang="zh-CN" altLang="en-US" sz="1800"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563840" y="4288956"/>
            <a:ext cx="1873449" cy="369332"/>
          </a:xfrm>
          <a:prstGeom prst="rect">
            <a:avLst/>
          </a:prstGeom>
          <a:noFill/>
        </p:spPr>
        <p:txBody>
          <a:bodyPr wrap="square">
            <a:spAutoFit/>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斯普特尼克</a:t>
            </a:r>
            <a:r>
              <a:rPr lang="en-US" altLang="zh-CN" b="0" i="0" dirty="0">
                <a:solidFill>
                  <a:srgbClr val="000000"/>
                </a:solidFill>
                <a:effectLst/>
                <a:latin typeface="微软雅黑" panose="020B0503020204020204" pitchFamily="34" charset="-122"/>
                <a:ea typeface="微软雅黑" panose="020B0503020204020204" pitchFamily="34" charset="-122"/>
              </a:rPr>
              <a:t>1</a:t>
            </a:r>
            <a:r>
              <a:rPr lang="zh-CN" altLang="en-US" b="0" i="0" dirty="0">
                <a:solidFill>
                  <a:srgbClr val="000000"/>
                </a:solidFill>
                <a:effectLst/>
                <a:latin typeface="微软雅黑" panose="020B0503020204020204" pitchFamily="34" charset="-122"/>
                <a:ea typeface="微软雅黑" panose="020B0503020204020204" pitchFamily="34" charset="-122"/>
              </a:rPr>
              <a:t>号</a:t>
            </a:r>
            <a:endParaRPr lang="zh-CN" altLang="en-US"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2460074" y="5443723"/>
            <a:ext cx="2381860"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美国成立</a:t>
            </a:r>
            <a:r>
              <a:rPr lang="zh-CN" altLang="en-US" b="0" i="0" dirty="0">
                <a:effectLst/>
                <a:latin typeface="微软雅黑" panose="020B0503020204020204" pitchFamily="34" charset="-122"/>
                <a:ea typeface="微软雅黑" panose="020B0503020204020204" pitchFamily="34" charset="-122"/>
              </a:rPr>
              <a:t>国防高级研究计划局（</a:t>
            </a:r>
            <a:r>
              <a:rPr lang="en-US" altLang="zh-CN" b="1" i="0" dirty="0">
                <a:effectLst/>
                <a:latin typeface="微软雅黑" panose="020B0503020204020204" pitchFamily="34" charset="-122"/>
                <a:ea typeface="微软雅黑" panose="020B0503020204020204" pitchFamily="34" charset="-122"/>
              </a:rPr>
              <a:t>ARPA</a:t>
            </a:r>
            <a:r>
              <a:rPr lang="zh-CN" altLang="en-US" b="1" i="0" dirty="0">
                <a:effectLst/>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7" name="等腰三角形 16"/>
          <p:cNvSpPr/>
          <p:nvPr/>
        </p:nvSpPr>
        <p:spPr>
          <a:xfrm>
            <a:off x="3439185" y="4783661"/>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文本框 17"/>
          <p:cNvSpPr txBox="1"/>
          <p:nvPr/>
        </p:nvSpPr>
        <p:spPr>
          <a:xfrm>
            <a:off x="2574671" y="5082378"/>
            <a:ext cx="2138698" cy="369332"/>
          </a:xfrm>
          <a:prstGeom prst="rect">
            <a:avLst/>
          </a:prstGeom>
          <a:noFill/>
        </p:spPr>
        <p:txBody>
          <a:bodyPr wrap="square">
            <a:spAutoFit/>
          </a:bodyPr>
          <a:lstStyle/>
          <a:p>
            <a:pPr algn="ctr"/>
            <a:r>
              <a:rPr lang="en-US" altLang="zh-CN" b="0" i="0" dirty="0">
                <a:solidFill>
                  <a:srgbClr val="202124"/>
                </a:solidFill>
                <a:effectLst/>
                <a:latin typeface="微软雅黑" panose="020B0503020204020204" pitchFamily="34" charset="-122"/>
                <a:ea typeface="微软雅黑" panose="020B0503020204020204" pitchFamily="34" charset="-122"/>
              </a:rPr>
              <a:t>1958</a:t>
            </a:r>
            <a:r>
              <a:rPr lang="zh-CN" altLang="en-US" b="0" i="0" dirty="0">
                <a:solidFill>
                  <a:srgbClr val="202124"/>
                </a:solidFill>
                <a:effectLst/>
                <a:latin typeface="微软雅黑" panose="020B0503020204020204" pitchFamily="34" charset="-122"/>
                <a:ea typeface="微软雅黑" panose="020B0503020204020204" pitchFamily="34" charset="-122"/>
              </a:rPr>
              <a:t>年</a:t>
            </a:r>
            <a:r>
              <a:rPr lang="en-US" altLang="zh-CN" b="0" i="0" dirty="0">
                <a:solidFill>
                  <a:srgbClr val="202124"/>
                </a:solidFill>
                <a:effectLst/>
                <a:latin typeface="微软雅黑" panose="020B0503020204020204" pitchFamily="34" charset="-122"/>
                <a:ea typeface="微软雅黑" panose="020B0503020204020204" pitchFamily="34" charset="-122"/>
              </a:rPr>
              <a:t>2</a:t>
            </a:r>
            <a:r>
              <a:rPr lang="zh-CN" altLang="en-US" b="0" i="0" dirty="0">
                <a:solidFill>
                  <a:srgbClr val="202124"/>
                </a:solidFill>
                <a:effectLst/>
                <a:latin typeface="微软雅黑" panose="020B0503020204020204" pitchFamily="34" charset="-122"/>
                <a:ea typeface="微软雅黑" panose="020B0503020204020204" pitchFamily="34" charset="-122"/>
              </a:rPr>
              <a:t>月</a:t>
            </a:r>
            <a:endParaRPr lang="zh-CN" altLang="en-US"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2" cstate="print"/>
          <a:srcRect/>
          <a:stretch>
            <a:fillRect/>
          </a:stretch>
        </p:blipFill>
        <p:spPr>
          <a:xfrm>
            <a:off x="2688778" y="3019343"/>
            <a:ext cx="2153155" cy="1300225"/>
          </a:xfrm>
          <a:prstGeom prst="rect">
            <a:avLst/>
          </a:prstGeom>
        </p:spPr>
      </p:pic>
      <p:sp>
        <p:nvSpPr>
          <p:cNvPr id="20" name="文本框 19"/>
          <p:cNvSpPr txBox="1"/>
          <p:nvPr/>
        </p:nvSpPr>
        <p:spPr>
          <a:xfrm>
            <a:off x="2688778" y="4304133"/>
            <a:ext cx="2390539" cy="369332"/>
          </a:xfrm>
          <a:prstGeom prst="rect">
            <a:avLst/>
          </a:prstGeom>
          <a:noFill/>
        </p:spPr>
        <p:txBody>
          <a:bodyPr wrap="square">
            <a:spAutoFit/>
          </a:bodyPr>
          <a:lstStyle/>
          <a:p>
            <a:r>
              <a:rPr lang="zh-CN" altLang="en-US" b="0" i="0" dirty="0">
                <a:solidFill>
                  <a:srgbClr val="C00000"/>
                </a:solidFill>
                <a:effectLst/>
                <a:latin typeface="微软雅黑" panose="020B0503020204020204" pitchFamily="34" charset="-122"/>
                <a:ea typeface="微软雅黑" panose="020B0503020204020204" pitchFamily="34" charset="-122"/>
              </a:rPr>
              <a:t>国防高级研究计划局</a:t>
            </a:r>
            <a:endParaRPr lang="zh-CN" altLang="en-US" dirty="0">
              <a:solidFill>
                <a:srgbClr val="C00000"/>
              </a:solidFill>
            </a:endParaRPr>
          </a:p>
        </p:txBody>
      </p:sp>
      <p:sp>
        <p:nvSpPr>
          <p:cNvPr id="21" name="等腰三角形 20"/>
          <p:cNvSpPr/>
          <p:nvPr/>
        </p:nvSpPr>
        <p:spPr>
          <a:xfrm>
            <a:off x="6362103" y="4783661"/>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22" name="图片 21"/>
          <p:cNvPicPr>
            <a:picLocks noChangeAspect="1"/>
          </p:cNvPicPr>
          <p:nvPr/>
        </p:nvPicPr>
        <p:blipFill rotWithShape="1">
          <a:blip r:embed="rId3" cstate="print"/>
          <a:srcRect b="15499"/>
          <a:stretch>
            <a:fillRect/>
          </a:stretch>
        </p:blipFill>
        <p:spPr>
          <a:xfrm>
            <a:off x="5113843" y="3541860"/>
            <a:ext cx="2553543" cy="746177"/>
          </a:xfrm>
          <a:prstGeom prst="rect">
            <a:avLst/>
          </a:prstGeom>
          <a:ln>
            <a:solidFill>
              <a:schemeClr val="bg1">
                <a:lumMod val="75000"/>
              </a:schemeClr>
            </a:solidFill>
          </a:ln>
        </p:spPr>
      </p:pic>
      <p:sp>
        <p:nvSpPr>
          <p:cNvPr id="23" name="文本框 22"/>
          <p:cNvSpPr txBox="1"/>
          <p:nvPr/>
        </p:nvSpPr>
        <p:spPr>
          <a:xfrm>
            <a:off x="5248263" y="4320340"/>
            <a:ext cx="2390539" cy="369332"/>
          </a:xfrm>
          <a:prstGeom prst="rect">
            <a:avLst/>
          </a:prstGeom>
          <a:noFill/>
        </p:spPr>
        <p:txBody>
          <a:bodyPr wrap="square">
            <a:spAutoFit/>
          </a:bodyPr>
          <a:lstStyle/>
          <a:p>
            <a:pPr algn="ctr"/>
            <a:r>
              <a:rPr lang="en-US" altLang="zh-CN" b="0" i="0" dirty="0">
                <a:solidFill>
                  <a:srgbClr val="C00000"/>
                </a:solidFill>
                <a:effectLst/>
                <a:latin typeface="微软雅黑" panose="020B0503020204020204" pitchFamily="34" charset="-122"/>
                <a:ea typeface="微软雅黑" panose="020B0503020204020204" pitchFamily="34" charset="-122"/>
              </a:rPr>
              <a:t>ARPANET</a:t>
            </a:r>
            <a:r>
              <a:rPr lang="zh-CN" altLang="en-US" b="0" i="0" dirty="0">
                <a:solidFill>
                  <a:srgbClr val="C00000"/>
                </a:solidFill>
                <a:effectLst/>
                <a:latin typeface="微软雅黑" panose="020B0503020204020204" pitchFamily="34" charset="-122"/>
                <a:ea typeface="微软雅黑" panose="020B0503020204020204" pitchFamily="34" charset="-122"/>
              </a:rPr>
              <a:t>诞生</a:t>
            </a:r>
            <a:endParaRPr lang="zh-CN" altLang="en-US" dirty="0">
              <a:solidFill>
                <a:srgbClr val="C00000"/>
              </a:solidFill>
            </a:endParaRPr>
          </a:p>
        </p:txBody>
      </p:sp>
      <p:sp>
        <p:nvSpPr>
          <p:cNvPr id="24" name="文本框 23"/>
          <p:cNvSpPr txBox="1"/>
          <p:nvPr/>
        </p:nvSpPr>
        <p:spPr>
          <a:xfrm>
            <a:off x="5830848" y="5084681"/>
            <a:ext cx="1484945" cy="369332"/>
          </a:xfrm>
          <a:prstGeom prst="rect">
            <a:avLst/>
          </a:prstGeom>
          <a:noFill/>
        </p:spPr>
        <p:txBody>
          <a:bodyPr wrap="square">
            <a:spAutoFit/>
          </a:bodyPr>
          <a:lstStyle/>
          <a:p>
            <a:r>
              <a:rPr lang="en-US" altLang="zh-CN" b="0" i="0" dirty="0">
                <a:solidFill>
                  <a:srgbClr val="202124"/>
                </a:solidFill>
                <a:effectLst/>
                <a:latin typeface="微软雅黑" panose="020B0503020204020204" pitchFamily="34" charset="-122"/>
                <a:ea typeface="微软雅黑" panose="020B0503020204020204" pitchFamily="34" charset="-122"/>
              </a:rPr>
              <a:t>1969</a:t>
            </a:r>
            <a:r>
              <a:rPr lang="zh-CN" altLang="en-US" b="0" i="0" dirty="0">
                <a:solidFill>
                  <a:srgbClr val="202124"/>
                </a:solidFill>
                <a:effectLst/>
                <a:latin typeface="微软雅黑" panose="020B0503020204020204" pitchFamily="34" charset="-122"/>
                <a:ea typeface="微软雅黑" panose="020B0503020204020204" pitchFamily="34" charset="-122"/>
              </a:rPr>
              <a:t>年</a:t>
            </a:r>
            <a:r>
              <a:rPr lang="en-US" altLang="zh-CN" b="0" i="0" dirty="0">
                <a:solidFill>
                  <a:srgbClr val="202124"/>
                </a:solidFill>
                <a:effectLst/>
                <a:latin typeface="微软雅黑" panose="020B0503020204020204" pitchFamily="34" charset="-122"/>
                <a:ea typeface="微软雅黑" panose="020B0503020204020204" pitchFamily="34" charset="-122"/>
              </a:rPr>
              <a:t>8</a:t>
            </a:r>
            <a:r>
              <a:rPr lang="zh-CN" altLang="en-US" b="0" i="0" dirty="0">
                <a:solidFill>
                  <a:srgbClr val="202124"/>
                </a:solidFill>
                <a:effectLst/>
                <a:latin typeface="微软雅黑" panose="020B0503020204020204" pitchFamily="34" charset="-122"/>
                <a:ea typeface="微软雅黑" panose="020B0503020204020204" pitchFamily="34" charset="-122"/>
              </a:rPr>
              <a:t>月</a:t>
            </a:r>
            <a:endParaRPr lang="zh-CN" altLang="en-US"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5142607" y="5443042"/>
            <a:ext cx="2610567" cy="646331"/>
          </a:xfrm>
          <a:prstGeom prst="rect">
            <a:avLst/>
          </a:prstGeom>
          <a:noFill/>
        </p:spPr>
        <p:txBody>
          <a:bodyPr wrap="square" rtlCol="0">
            <a:spAutoFit/>
          </a:bodyPr>
          <a:lstStyle/>
          <a:p>
            <a:pPr algn="ctr"/>
            <a:r>
              <a:rPr lang="en-US" altLang="zh-CN" b="0" i="0" dirty="0">
                <a:effectLst/>
                <a:latin typeface="微软雅黑" panose="020B0503020204020204" pitchFamily="34" charset="-122"/>
                <a:ea typeface="微软雅黑" panose="020B0503020204020204" pitchFamily="34" charset="-122"/>
              </a:rPr>
              <a:t>ARPANET</a:t>
            </a:r>
            <a:r>
              <a:rPr lang="zh-CN" altLang="en-US" b="0" i="0" dirty="0">
                <a:effectLst/>
                <a:latin typeface="微软雅黑" panose="020B0503020204020204" pitchFamily="34" charset="-122"/>
                <a:ea typeface="微软雅黑" panose="020B0503020204020204" pitchFamily="34" charset="-122"/>
              </a:rPr>
              <a:t>诞生，</a:t>
            </a:r>
            <a:r>
              <a:rPr lang="zh-CN" altLang="en-US" b="0" i="0" dirty="0">
                <a:solidFill>
                  <a:srgbClr val="C00000"/>
                </a:solidFill>
                <a:effectLst/>
                <a:latin typeface="微软雅黑" panose="020B0503020204020204" pitchFamily="34" charset="-122"/>
                <a:ea typeface="微软雅黑" panose="020B0503020204020204" pitchFamily="34" charset="-122"/>
              </a:rPr>
              <a:t>创新地</a:t>
            </a:r>
            <a:r>
              <a:rPr lang="zh-CN" altLang="en-US" dirty="0">
                <a:solidFill>
                  <a:srgbClr val="C00000"/>
                </a:solidFill>
                <a:latin typeface="微软雅黑" panose="020B0503020204020204" pitchFamily="34" charset="-122"/>
                <a:ea typeface="微软雅黑" panose="020B0503020204020204" pitchFamily="34" charset="-122"/>
              </a:rPr>
              <a:t>采用了</a:t>
            </a:r>
            <a:r>
              <a:rPr lang="zh-CN" altLang="en-US" b="0" i="0" dirty="0">
                <a:solidFill>
                  <a:srgbClr val="C00000"/>
                </a:solidFill>
                <a:effectLst/>
                <a:latin typeface="微软雅黑" panose="020B0503020204020204" pitchFamily="34" charset="-122"/>
                <a:ea typeface="微软雅黑" panose="020B0503020204020204" pitchFamily="34" charset="-122"/>
              </a:rPr>
              <a:t>分组交换技术</a:t>
            </a:r>
            <a:endParaRPr lang="zh-CN" altLang="en-US" dirty="0"/>
          </a:p>
        </p:txBody>
      </p:sp>
      <p:sp>
        <p:nvSpPr>
          <p:cNvPr id="26" name="文本框 25"/>
          <p:cNvSpPr txBox="1"/>
          <p:nvPr/>
        </p:nvSpPr>
        <p:spPr>
          <a:xfrm>
            <a:off x="5012919" y="2751507"/>
            <a:ext cx="2766527" cy="707886"/>
          </a:xfrm>
          <a:prstGeom prst="rect">
            <a:avLst/>
          </a:prstGeom>
          <a:noFill/>
        </p:spPr>
        <p:txBody>
          <a:bodyPr wrap="square">
            <a:spAutoFit/>
          </a:bodyPr>
          <a:lstStyle/>
          <a:p>
            <a:pPr algn="ctr"/>
            <a:r>
              <a:rPr lang="zh-CN" altLang="en-US" sz="2000" b="1" i="0" dirty="0">
                <a:solidFill>
                  <a:srgbClr val="202122"/>
                </a:solidFill>
                <a:effectLst/>
                <a:latin typeface="微软雅黑" panose="020B0503020204020204" pitchFamily="34" charset="-122"/>
                <a:ea typeface="微软雅黑" panose="020B0503020204020204" pitchFamily="34" charset="-122"/>
              </a:rPr>
              <a:t>四个节</a:t>
            </a:r>
            <a:r>
              <a:rPr lang="zh-CN" altLang="en-US" sz="2000" b="1" dirty="0">
                <a:solidFill>
                  <a:srgbClr val="202122"/>
                </a:solidFill>
                <a:latin typeface="微软雅黑" panose="020B0503020204020204" pitchFamily="34" charset="-122"/>
                <a:ea typeface="微软雅黑" panose="020B0503020204020204" pitchFamily="34" charset="-122"/>
              </a:rPr>
              <a:t>点</a:t>
            </a:r>
            <a:r>
              <a:rPr lang="en-US" altLang="zh-CN" sz="2000" b="0" i="0" dirty="0">
                <a:solidFill>
                  <a:srgbClr val="202122"/>
                </a:solidFill>
                <a:effectLst/>
                <a:latin typeface="Arial" panose="020B0604020202020204" pitchFamily="34" charset="0"/>
              </a:rPr>
              <a:t>UCLA</a:t>
            </a:r>
            <a:r>
              <a:rPr lang="en-US" altLang="zh-CN" sz="2000" dirty="0">
                <a:solidFill>
                  <a:srgbClr val="202122"/>
                </a:solidFill>
                <a:latin typeface="Arial" panose="020B0604020202020204" pitchFamily="34" charset="0"/>
              </a:rPr>
              <a:t>/</a:t>
            </a:r>
            <a:r>
              <a:rPr lang="en-US" altLang="zh-CN" sz="2000" b="0" i="0" dirty="0">
                <a:solidFill>
                  <a:srgbClr val="202122"/>
                </a:solidFill>
                <a:effectLst/>
                <a:latin typeface="Arial" panose="020B0604020202020204" pitchFamily="34" charset="0"/>
              </a:rPr>
              <a:t>SRI/UCSB/Utah</a:t>
            </a:r>
            <a:endParaRPr lang="zh-CN" altLang="en-US" sz="2000" dirty="0"/>
          </a:p>
        </p:txBody>
      </p:sp>
      <p:sp>
        <p:nvSpPr>
          <p:cNvPr id="27" name="文本框 26"/>
          <p:cNvSpPr txBox="1"/>
          <p:nvPr/>
        </p:nvSpPr>
        <p:spPr>
          <a:xfrm>
            <a:off x="7966010" y="5056871"/>
            <a:ext cx="1484945" cy="335756"/>
          </a:xfrm>
          <a:prstGeom prst="rect">
            <a:avLst/>
          </a:prstGeom>
          <a:noFill/>
        </p:spPr>
        <p:txBody>
          <a:bodyPr wrap="square">
            <a:spAutoFit/>
          </a:bodyPr>
          <a:lstStyle/>
          <a:p>
            <a:pPr algn="ctr"/>
            <a:r>
              <a:rPr lang="en-US" altLang="zh-CN" b="0" i="0" dirty="0">
                <a:solidFill>
                  <a:srgbClr val="202124"/>
                </a:solidFill>
                <a:effectLst/>
                <a:latin typeface="微软雅黑" panose="020B0503020204020204" pitchFamily="34" charset="-122"/>
                <a:ea typeface="微软雅黑" panose="020B0503020204020204" pitchFamily="34" charset="-122"/>
              </a:rPr>
              <a:t>1983</a:t>
            </a:r>
            <a:r>
              <a:rPr lang="zh-CN" altLang="en-US" b="0" i="0" dirty="0">
                <a:solidFill>
                  <a:srgbClr val="202124"/>
                </a:solidFill>
                <a:effectLst/>
                <a:latin typeface="微软雅黑" panose="020B0503020204020204" pitchFamily="34" charset="-122"/>
                <a:ea typeface="微软雅黑" panose="020B0503020204020204" pitchFamily="34" charset="-122"/>
              </a:rPr>
              <a:t>年</a:t>
            </a:r>
            <a:endParaRPr lang="zh-CN" altLang="en-US"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7748823" y="5439047"/>
            <a:ext cx="1919320"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ARPANET</a:t>
            </a:r>
            <a:r>
              <a:rPr lang="zh-CN" altLang="en-US" dirty="0">
                <a:latin typeface="微软雅黑" panose="020B0503020204020204" pitchFamily="34" charset="-122"/>
                <a:ea typeface="微软雅黑" panose="020B0503020204020204" pitchFamily="34" charset="-122"/>
              </a:rPr>
              <a:t>采用</a:t>
            </a:r>
            <a:r>
              <a:rPr lang="en-US" altLang="zh-CN" dirty="0">
                <a:latin typeface="微软雅黑" panose="020B0503020204020204" pitchFamily="34" charset="-122"/>
                <a:ea typeface="微软雅黑" panose="020B0503020204020204" pitchFamily="34" charset="-122"/>
              </a:rPr>
              <a:t>TCP/IP</a:t>
            </a:r>
            <a:endParaRPr lang="zh-CN" altLang="en-US" dirty="0">
              <a:latin typeface="微软雅黑" panose="020B0503020204020204" pitchFamily="34" charset="-122"/>
              <a:ea typeface="微软雅黑" panose="020B0503020204020204" pitchFamily="34" charset="-122"/>
            </a:endParaRPr>
          </a:p>
        </p:txBody>
      </p:sp>
      <p:sp>
        <p:nvSpPr>
          <p:cNvPr id="30" name="矩形 29"/>
          <p:cNvSpPr/>
          <p:nvPr/>
        </p:nvSpPr>
        <p:spPr>
          <a:xfrm>
            <a:off x="9717491" y="5060303"/>
            <a:ext cx="2046196" cy="1029751"/>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31" name="文本框 30"/>
          <p:cNvSpPr txBox="1"/>
          <p:nvPr/>
        </p:nvSpPr>
        <p:spPr>
          <a:xfrm>
            <a:off x="9904055" y="5026882"/>
            <a:ext cx="1484945" cy="369332"/>
          </a:xfrm>
          <a:prstGeom prst="rect">
            <a:avLst/>
          </a:prstGeom>
          <a:noFill/>
        </p:spPr>
        <p:txBody>
          <a:bodyPr wrap="square">
            <a:spAutoFit/>
          </a:bodyPr>
          <a:lstStyle/>
          <a:p>
            <a:pPr algn="ctr"/>
            <a:r>
              <a:rPr lang="en-US" altLang="zh-CN" b="0" i="0" dirty="0">
                <a:solidFill>
                  <a:srgbClr val="202124"/>
                </a:solidFill>
                <a:effectLst/>
                <a:latin typeface="微软雅黑" panose="020B0503020204020204" pitchFamily="34" charset="-122"/>
                <a:ea typeface="微软雅黑" panose="020B0503020204020204" pitchFamily="34" charset="-122"/>
              </a:rPr>
              <a:t>1990</a:t>
            </a:r>
            <a:r>
              <a:rPr lang="zh-CN" altLang="en-US" b="0" i="0" dirty="0">
                <a:solidFill>
                  <a:srgbClr val="202124"/>
                </a:solidFill>
                <a:effectLst/>
                <a:latin typeface="微软雅黑" panose="020B0503020204020204" pitchFamily="34" charset="-122"/>
                <a:ea typeface="微软雅黑" panose="020B0503020204020204" pitchFamily="34" charset="-122"/>
              </a:rPr>
              <a:t>年</a:t>
            </a:r>
            <a:endParaRPr lang="zh-CN" altLang="en-US"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9686867" y="5425846"/>
            <a:ext cx="2138099"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ARPANET</a:t>
            </a:r>
            <a:r>
              <a:rPr lang="zh-CN" altLang="en-US" dirty="0">
                <a:latin typeface="微软雅黑" panose="020B0503020204020204" pitchFamily="34" charset="-122"/>
                <a:ea typeface="微软雅黑" panose="020B0503020204020204" pitchFamily="34" charset="-122"/>
              </a:rPr>
              <a:t>退役</a:t>
            </a:r>
            <a:br>
              <a:rPr lang="en-US" altLang="zh-CN" dirty="0">
                <a:latin typeface="微软雅黑" panose="020B0503020204020204" pitchFamily="34" charset="-122"/>
                <a:ea typeface="微软雅黑" panose="020B0503020204020204" pitchFamily="34" charset="-122"/>
              </a:rPr>
            </a:br>
            <a:r>
              <a:rPr lang="zh-CN" altLang="en-US" dirty="0">
                <a:solidFill>
                  <a:srgbClr val="C00000"/>
                </a:solidFill>
                <a:latin typeface="微软雅黑" panose="020B0503020204020204" pitchFamily="34" charset="-122"/>
                <a:ea typeface="微软雅黑" panose="020B0503020204020204" pitchFamily="34" charset="-122"/>
              </a:rPr>
              <a:t>移交基金委</a:t>
            </a:r>
            <a:r>
              <a:rPr lang="en-US" altLang="zh-CN" dirty="0">
                <a:solidFill>
                  <a:srgbClr val="C00000"/>
                </a:solidFill>
                <a:latin typeface="微软雅黑" panose="020B0503020204020204" pitchFamily="34" charset="-122"/>
                <a:ea typeface="微软雅黑" panose="020B0503020204020204" pitchFamily="34" charset="-122"/>
              </a:rPr>
              <a:t>NSF</a:t>
            </a: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33" name="等腰三角形 32"/>
          <p:cNvSpPr/>
          <p:nvPr/>
        </p:nvSpPr>
        <p:spPr>
          <a:xfrm>
            <a:off x="10495240" y="4783661"/>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4" name="文本框 33"/>
          <p:cNvSpPr txBox="1"/>
          <p:nvPr/>
        </p:nvSpPr>
        <p:spPr>
          <a:xfrm>
            <a:off x="7939296" y="1390959"/>
            <a:ext cx="4060092" cy="2654573"/>
          </a:xfrm>
          <a:prstGeom prst="rect">
            <a:avLst/>
          </a:prstGeom>
          <a:noFill/>
        </p:spPr>
        <p:txBody>
          <a:bodyPr wrap="square">
            <a:spAutoFit/>
          </a:bodyPr>
          <a:lstStyle/>
          <a:p>
            <a:pPr marL="342900" indent="-342900">
              <a:spcBef>
                <a:spcPts val="900"/>
              </a:spcBef>
              <a:buFont typeface="Wingdings" panose="05000000000000000000" pitchFamily="2" charset="2"/>
              <a:buChar char="Ø"/>
            </a:pPr>
            <a:r>
              <a:rPr lang="en-US" altLang="zh-CN" sz="2200" b="0" i="0" dirty="0">
                <a:solidFill>
                  <a:srgbClr val="0A0A0A"/>
                </a:solidFill>
                <a:effectLst/>
                <a:latin typeface="微软雅黑" panose="020B0503020204020204" pitchFamily="34" charset="-122"/>
                <a:ea typeface="微软雅黑" panose="020B0503020204020204" pitchFamily="34" charset="-122"/>
              </a:rPr>
              <a:t>1972</a:t>
            </a:r>
            <a:r>
              <a:rPr lang="zh-CN" altLang="en-US" sz="2200" b="0" i="0" dirty="0">
                <a:solidFill>
                  <a:srgbClr val="0A0A0A"/>
                </a:solidFill>
                <a:effectLst/>
                <a:latin typeface="微软雅黑" panose="020B0503020204020204" pitchFamily="34" charset="-122"/>
                <a:ea typeface="微软雅黑" panose="020B0503020204020204" pitchFamily="34" charset="-122"/>
              </a:rPr>
              <a:t>年底：</a:t>
            </a:r>
            <a:r>
              <a:rPr lang="en-US" altLang="zh-CN" sz="2200" b="0" i="0" dirty="0">
                <a:solidFill>
                  <a:srgbClr val="0A0A0A"/>
                </a:solidFill>
                <a:effectLst/>
                <a:latin typeface="微软雅黑" panose="020B0503020204020204" pitchFamily="34" charset="-122"/>
                <a:ea typeface="微软雅黑" panose="020B0503020204020204" pitchFamily="34" charset="-122"/>
              </a:rPr>
              <a:t>24</a:t>
            </a:r>
            <a:r>
              <a:rPr lang="zh-CN" altLang="en-US" sz="2200" b="0" i="0" dirty="0">
                <a:solidFill>
                  <a:srgbClr val="0A0A0A"/>
                </a:solidFill>
                <a:effectLst/>
                <a:latin typeface="微软雅黑" panose="020B0503020204020204" pitchFamily="34" charset="-122"/>
                <a:ea typeface="微软雅黑" panose="020B0503020204020204" pitchFamily="34" charset="-122"/>
              </a:rPr>
              <a:t>个站点</a:t>
            </a:r>
            <a:endParaRPr lang="en-US" altLang="zh-CN" sz="2200" b="0" i="0" dirty="0">
              <a:solidFill>
                <a:srgbClr val="0A0A0A"/>
              </a:solidFill>
              <a:effectLst/>
              <a:latin typeface="微软雅黑" panose="020B0503020204020204" pitchFamily="34" charset="-122"/>
              <a:ea typeface="微软雅黑" panose="020B0503020204020204" pitchFamily="34" charset="-122"/>
            </a:endParaRPr>
          </a:p>
          <a:p>
            <a:pPr marL="800100" lvl="1" indent="-342900">
              <a:spcBef>
                <a:spcPts val="900"/>
              </a:spcBef>
              <a:buFont typeface="Arial" panose="020B0604020202020204" pitchFamily="34" charset="0"/>
              <a:buChar char="•"/>
            </a:pPr>
            <a:r>
              <a:rPr lang="zh-CN" altLang="en-US" sz="2000" b="0" i="0" dirty="0">
                <a:solidFill>
                  <a:srgbClr val="0A0A0A"/>
                </a:solidFill>
                <a:effectLst/>
                <a:latin typeface="微软雅黑" panose="020B0503020204020204" pitchFamily="34" charset="-122"/>
                <a:ea typeface="微软雅黑" panose="020B0503020204020204" pitchFamily="34" charset="-122"/>
              </a:rPr>
              <a:t>美国国防部</a:t>
            </a:r>
            <a:r>
              <a:rPr lang="en-US" altLang="zh-CN" sz="2000" b="0" i="0" dirty="0">
                <a:solidFill>
                  <a:srgbClr val="0A0A0A"/>
                </a:solidFill>
                <a:effectLst/>
                <a:latin typeface="微软雅黑" panose="020B0503020204020204" pitchFamily="34" charset="-122"/>
                <a:ea typeface="微软雅黑" panose="020B0503020204020204" pitchFamily="34" charset="-122"/>
              </a:rPr>
              <a:t>DARPA</a:t>
            </a:r>
            <a:r>
              <a:rPr lang="zh-CN" altLang="en-US" sz="2000" dirty="0">
                <a:solidFill>
                  <a:srgbClr val="0A0A0A"/>
                </a:solidFill>
                <a:latin typeface="微软雅黑" panose="020B0503020204020204" pitchFamily="34" charset="-122"/>
                <a:ea typeface="微软雅黑" panose="020B0503020204020204" pitchFamily="34" charset="-122"/>
              </a:rPr>
              <a:t>、基金委</a:t>
            </a:r>
            <a:r>
              <a:rPr lang="en-US" altLang="zh-CN" sz="2000" b="0" i="0" dirty="0">
                <a:solidFill>
                  <a:srgbClr val="0A0A0A"/>
                </a:solidFill>
                <a:effectLst/>
                <a:latin typeface="微软雅黑" panose="020B0503020204020204" pitchFamily="34" charset="-122"/>
                <a:ea typeface="微软雅黑" panose="020B0503020204020204" pitchFamily="34" charset="-122"/>
              </a:rPr>
              <a:t>NSF</a:t>
            </a:r>
            <a:r>
              <a:rPr lang="zh-CN" altLang="en-US" sz="2000" b="0" i="0" dirty="0">
                <a:solidFill>
                  <a:srgbClr val="0A0A0A"/>
                </a:solidFill>
                <a:effectLst/>
                <a:latin typeface="微软雅黑" panose="020B0503020204020204" pitchFamily="34" charset="-122"/>
                <a:ea typeface="微软雅黑" panose="020B0503020204020204" pitchFamily="34" charset="-122"/>
              </a:rPr>
              <a:t>以及</a:t>
            </a:r>
            <a:r>
              <a:rPr lang="en-US" altLang="zh-CN" sz="2000" b="0" i="0" dirty="0">
                <a:solidFill>
                  <a:srgbClr val="0A0A0A"/>
                </a:solidFill>
                <a:effectLst/>
                <a:latin typeface="微软雅黑" panose="020B0503020204020204" pitchFamily="34" charset="-122"/>
                <a:ea typeface="微软雅黑" panose="020B0503020204020204" pitchFamily="34" charset="-122"/>
              </a:rPr>
              <a:t>UCLA</a:t>
            </a:r>
            <a:r>
              <a:rPr lang="zh-CN" altLang="en-US" sz="2000" b="0" i="0" dirty="0">
                <a:solidFill>
                  <a:srgbClr val="0A0A0A"/>
                </a:solidFill>
                <a:effectLst/>
                <a:latin typeface="微软雅黑" panose="020B0503020204020204" pitchFamily="34" charset="-122"/>
                <a:ea typeface="微软雅黑" panose="020B0503020204020204" pitchFamily="34" charset="-122"/>
              </a:rPr>
              <a:t>、</a:t>
            </a:r>
            <a:r>
              <a:rPr lang="en-US" altLang="zh-CN" sz="2000" b="0" i="0" dirty="0">
                <a:solidFill>
                  <a:srgbClr val="0A0A0A"/>
                </a:solidFill>
                <a:effectLst/>
                <a:latin typeface="微软雅黑" panose="020B0503020204020204" pitchFamily="34" charset="-122"/>
                <a:ea typeface="微软雅黑" panose="020B0503020204020204" pitchFamily="34" charset="-122"/>
              </a:rPr>
              <a:t>UCSB</a:t>
            </a:r>
            <a:r>
              <a:rPr lang="zh-CN" altLang="en-US" sz="2000" dirty="0">
                <a:solidFill>
                  <a:srgbClr val="0A0A0A"/>
                </a:solidFill>
                <a:latin typeface="微软雅黑" panose="020B0503020204020204" pitchFamily="34" charset="-122"/>
                <a:ea typeface="微软雅黑" panose="020B0503020204020204" pitchFamily="34" charset="-122"/>
              </a:rPr>
              <a:t>等高校</a:t>
            </a:r>
            <a:endParaRPr lang="en-US" altLang="zh-CN" sz="2000" b="0" i="0" dirty="0">
              <a:solidFill>
                <a:srgbClr val="0A0A0A"/>
              </a:solidFill>
              <a:effectLst/>
              <a:latin typeface="微软雅黑" panose="020B0503020204020204" pitchFamily="34" charset="-122"/>
              <a:ea typeface="微软雅黑" panose="020B0503020204020204" pitchFamily="34" charset="-122"/>
            </a:endParaRPr>
          </a:p>
          <a:p>
            <a:pPr marL="342900" indent="-342900">
              <a:spcBef>
                <a:spcPts val="900"/>
              </a:spcBef>
              <a:buFont typeface="Wingdings" panose="05000000000000000000" pitchFamily="2" charset="2"/>
              <a:buChar char="Ø"/>
            </a:pPr>
            <a:r>
              <a:rPr lang="en-US" altLang="zh-CN" sz="2200" b="0" i="0" dirty="0">
                <a:solidFill>
                  <a:srgbClr val="0A0A0A"/>
                </a:solidFill>
                <a:effectLst/>
                <a:latin typeface="微软雅黑" panose="020B0503020204020204" pitchFamily="34" charset="-122"/>
                <a:ea typeface="微软雅黑" panose="020B0503020204020204" pitchFamily="34" charset="-122"/>
              </a:rPr>
              <a:t>80</a:t>
            </a:r>
            <a:r>
              <a:rPr lang="zh-CN" altLang="en-US" sz="2200" b="0" i="0" dirty="0">
                <a:solidFill>
                  <a:srgbClr val="0A0A0A"/>
                </a:solidFill>
                <a:effectLst/>
                <a:latin typeface="微软雅黑" panose="020B0503020204020204" pitchFamily="34" charset="-122"/>
                <a:ea typeface="微软雅黑" panose="020B0503020204020204" pitchFamily="34" charset="-122"/>
              </a:rPr>
              <a:t>年代中期</a:t>
            </a:r>
            <a:endParaRPr lang="en-US" altLang="zh-CN" sz="2200" b="0" i="0" dirty="0">
              <a:solidFill>
                <a:srgbClr val="0A0A0A"/>
              </a:solidFill>
              <a:effectLst/>
              <a:latin typeface="微软雅黑" panose="020B0503020204020204" pitchFamily="34" charset="-122"/>
              <a:ea typeface="微软雅黑" panose="020B0503020204020204" pitchFamily="34" charset="-122"/>
            </a:endParaRPr>
          </a:p>
          <a:p>
            <a:pPr marL="800100" lvl="1" indent="-342900">
              <a:spcBef>
                <a:spcPts val="900"/>
              </a:spcBef>
              <a:buFont typeface="Arial" panose="020B0604020202020204" pitchFamily="34" charset="0"/>
              <a:buChar char="•"/>
            </a:pPr>
            <a:r>
              <a:rPr lang="en-US" altLang="zh-CN" sz="2000" dirty="0">
                <a:solidFill>
                  <a:srgbClr val="0A0A0A"/>
                </a:solidFill>
                <a:latin typeface="微软雅黑" panose="020B0503020204020204" pitchFamily="34" charset="-122"/>
                <a:ea typeface="微软雅黑" panose="020B0503020204020204" pitchFamily="34" charset="-122"/>
              </a:rPr>
              <a:t>Internet</a:t>
            </a:r>
            <a:r>
              <a:rPr lang="zh-CN" altLang="en-US" sz="2000" b="0" i="0" dirty="0">
                <a:solidFill>
                  <a:srgbClr val="0A0A0A"/>
                </a:solidFill>
                <a:effectLst/>
                <a:latin typeface="微软雅黑" panose="020B0503020204020204" pitchFamily="34" charset="-122"/>
                <a:ea typeface="微软雅黑" panose="020B0503020204020204" pitchFamily="34" charset="-122"/>
              </a:rPr>
              <a:t>横跨北美、欧洲和澳大利亚，成为全球性网络</a:t>
            </a:r>
            <a:endParaRPr lang="en-US" altLang="zh-CN" sz="2000" b="0" i="0" dirty="0">
              <a:solidFill>
                <a:srgbClr val="0A0A0A"/>
              </a:solidFill>
              <a:effectLst/>
              <a:latin typeface="微软雅黑" panose="020B0503020204020204" pitchFamily="34" charset="-122"/>
              <a:ea typeface="微软雅黑" panose="020B0503020204020204" pitchFamily="34" charset="-122"/>
            </a:endParaRPr>
          </a:p>
        </p:txBody>
      </p:sp>
      <p:sp>
        <p:nvSpPr>
          <p:cNvPr id="35" name="文本框 34"/>
          <p:cNvSpPr txBox="1"/>
          <p:nvPr/>
        </p:nvSpPr>
        <p:spPr>
          <a:xfrm>
            <a:off x="7553240" y="6250866"/>
            <a:ext cx="2236510" cy="400110"/>
          </a:xfrm>
          <a:prstGeom prst="rect">
            <a:avLst/>
          </a:prstGeom>
          <a:noFill/>
        </p:spPr>
        <p:txBody>
          <a:bodyPr wrap="none" rtlCol="0">
            <a:spAutoFit/>
          </a:bodyPr>
          <a:lstStyle/>
          <a:p>
            <a:r>
              <a:rPr lang="zh-CN" altLang="en-US" sz="2000" b="1" dirty="0">
                <a:solidFill>
                  <a:srgbClr val="C00000"/>
                </a:solidFill>
                <a:latin typeface="微软雅黑" panose="020B0503020204020204" pitchFamily="34" charset="-122"/>
                <a:ea typeface="微软雅黑" panose="020B0503020204020204" pitchFamily="34" charset="-122"/>
              </a:rPr>
              <a:t>标志着互联网诞生</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36" name="星形: 五角 35"/>
          <p:cNvSpPr/>
          <p:nvPr/>
        </p:nvSpPr>
        <p:spPr>
          <a:xfrm>
            <a:off x="8474930" y="6076920"/>
            <a:ext cx="393130" cy="223872"/>
          </a:xfrm>
          <a:prstGeom prst="star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1982865" y="1583636"/>
            <a:ext cx="4493538" cy="892552"/>
          </a:xfrm>
          <a:prstGeom prst="rect">
            <a:avLst/>
          </a:prstGeom>
          <a:noFill/>
          <a:ln>
            <a:solidFill>
              <a:srgbClr val="7030A0"/>
            </a:solidFill>
          </a:ln>
        </p:spPr>
        <p:txBody>
          <a:bodyPr wrap="none" rtlCol="0">
            <a:spAutoFit/>
          </a:bodyPr>
          <a:lstStyle/>
          <a:p>
            <a:pPr algn="ctr"/>
            <a:r>
              <a:rPr lang="zh-CN" altLang="en-US" sz="2800" dirty="0">
                <a:solidFill>
                  <a:srgbClr val="C00000"/>
                </a:solidFill>
                <a:latin typeface="微软雅黑" panose="020B0503020204020204" pitchFamily="34" charset="-122"/>
                <a:ea typeface="微软雅黑" panose="020B0503020204020204" pitchFamily="34" charset="-122"/>
              </a:rPr>
              <a:t>美苏争霸</a:t>
            </a:r>
            <a:endParaRPr lang="en-US" altLang="zh-CN" sz="2800" dirty="0">
              <a:solidFill>
                <a:srgbClr val="C00000"/>
              </a:solidFill>
              <a:latin typeface="微软雅黑" panose="020B0503020204020204" pitchFamily="34" charset="-122"/>
              <a:ea typeface="微软雅黑" panose="020B0503020204020204" pitchFamily="34" charset="-122"/>
            </a:endParaRPr>
          </a:p>
          <a:p>
            <a:pPr algn="ctr"/>
            <a:r>
              <a:rPr lang="zh-CN" altLang="en-US" sz="2400" dirty="0">
                <a:solidFill>
                  <a:srgbClr val="C00000"/>
                </a:solidFill>
                <a:latin typeface="微软雅黑" panose="020B0503020204020204" pitchFamily="34" charset="-122"/>
                <a:ea typeface="微软雅黑" panose="020B0503020204020204" pitchFamily="34" charset="-122"/>
              </a:rPr>
              <a:t>在核打击下能够通信的是什么？</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30510" y="1954924"/>
            <a:ext cx="184731" cy="369332"/>
          </a:xfrm>
          <a:prstGeom prst="rect">
            <a:avLst/>
          </a:prstGeom>
          <a:noFill/>
        </p:spPr>
        <p:txBody>
          <a:bodyPr wrap="none" rtlCol="0">
            <a:spAutoFit/>
          </a:bodyPr>
          <a:lstStyle/>
          <a:p>
            <a:endParaRPr kumimoji="1" lang="zh-CN" altLang="en-US"/>
          </a:p>
        </p:txBody>
      </p:sp>
      <p:sp>
        <p:nvSpPr>
          <p:cNvPr id="39" name="等腰三角形 20"/>
          <p:cNvSpPr/>
          <p:nvPr/>
        </p:nvSpPr>
        <p:spPr>
          <a:xfrm>
            <a:off x="8557195" y="4780556"/>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矩形 8"/>
          <p:cNvSpPr/>
          <p:nvPr/>
        </p:nvSpPr>
        <p:spPr>
          <a:xfrm>
            <a:off x="7943778" y="3983336"/>
            <a:ext cx="4060093" cy="769441"/>
          </a:xfrm>
          <a:prstGeom prst="rect">
            <a:avLst/>
          </a:prstGeom>
        </p:spPr>
        <p:txBody>
          <a:bodyPr wrap="square">
            <a:spAutoFit/>
          </a:bodyPr>
          <a:lstStyle/>
          <a:p>
            <a:pPr marL="342900" lvl="0" indent="-342900">
              <a:spcBef>
                <a:spcPts val="900"/>
              </a:spcBef>
              <a:buFont typeface="Wingdings" panose="05000000000000000000" pitchFamily="2" charset="2"/>
              <a:buChar char="Ø"/>
            </a:pPr>
            <a:r>
              <a:rPr lang="zh-CN" altLang="en-US" sz="2200" dirty="0">
                <a:solidFill>
                  <a:srgbClr val="0A0A0A"/>
                </a:solidFill>
                <a:latin typeface="微软雅黑" panose="020B0503020204020204" pitchFamily="34" charset="-122"/>
                <a:ea typeface="微软雅黑" panose="020B0503020204020204" pitchFamily="34" charset="-122"/>
              </a:rPr>
              <a:t>国防系统的实验，如何扩大研究范畴吸引更多研究者？</a:t>
            </a:r>
            <a:endParaRPr lang="zh-CN" altLang="en-US" sz="2200" dirty="0">
              <a:solidFill>
                <a:prstClr val="black"/>
              </a:solidFill>
              <a:latin typeface="微软雅黑" panose="020B0503020204020204" pitchFamily="34" charset="-122"/>
              <a:ea typeface="微软雅黑" panose="020B0503020204020204" pitchFamily="34" charset="-122"/>
            </a:endParaRPr>
          </a:p>
        </p:txBody>
      </p:sp>
      <p:sp>
        <p:nvSpPr>
          <p:cNvPr id="29" name="灯片编号占位符 28"/>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40" name="文本框 39"/>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xEl>
                                              <p:pRg st="2" end="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blinds(horizontal)">
                                      <p:cBhvr>
                                        <p:cTn id="65" dur="500"/>
                                        <p:tgtEl>
                                          <p:spTgt spid="9"/>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6" grpId="0"/>
      <p:bldP spid="17" grpId="0" animBg="1"/>
      <p:bldP spid="18" grpId="0"/>
      <p:bldP spid="20" grpId="0"/>
      <p:bldP spid="21" grpId="0" animBg="1"/>
      <p:bldP spid="23" grpId="0"/>
      <p:bldP spid="24" grpId="0"/>
      <p:bldP spid="25" grpId="0"/>
      <p:bldP spid="26" grpId="0"/>
      <p:bldP spid="27" grpId="0"/>
      <p:bldP spid="28" grpId="0"/>
      <p:bldP spid="30" grpId="0" animBg="1"/>
      <p:bldP spid="31" grpId="0"/>
      <p:bldP spid="32" grpId="0"/>
      <p:bldP spid="33" grpId="0" animBg="1"/>
      <p:bldP spid="35" grpId="0"/>
      <p:bldP spid="36" grpId="0" animBg="1"/>
      <p:bldP spid="37" grpId="0" animBg="1"/>
      <p:bldP spid="39" grpId="0" animBg="1"/>
      <p:bldP spid="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任意多边形: 形状 149"/>
          <p:cNvSpPr/>
          <p:nvPr/>
        </p:nvSpPr>
        <p:spPr>
          <a:xfrm>
            <a:off x="4058194" y="1410789"/>
            <a:ext cx="6209212" cy="3640182"/>
          </a:xfrm>
          <a:custGeom>
            <a:avLst/>
            <a:gdLst>
              <a:gd name="connsiteX0" fmla="*/ 148046 w 6209212"/>
              <a:gd name="connsiteY0" fmla="*/ 165462 h 3640182"/>
              <a:gd name="connsiteX1" fmla="*/ 5138057 w 6209212"/>
              <a:gd name="connsiteY1" fmla="*/ 156754 h 3640182"/>
              <a:gd name="connsiteX2" fmla="*/ 5338355 w 6209212"/>
              <a:gd name="connsiteY2" fmla="*/ 17417 h 3640182"/>
              <a:gd name="connsiteX3" fmla="*/ 6209212 w 6209212"/>
              <a:gd name="connsiteY3" fmla="*/ 0 h 3640182"/>
              <a:gd name="connsiteX4" fmla="*/ 6174377 w 6209212"/>
              <a:gd name="connsiteY4" fmla="*/ 3640182 h 3640182"/>
              <a:gd name="connsiteX5" fmla="*/ 5120640 w 6209212"/>
              <a:gd name="connsiteY5" fmla="*/ 3622765 h 3640182"/>
              <a:gd name="connsiteX6" fmla="*/ 5138057 w 6209212"/>
              <a:gd name="connsiteY6" fmla="*/ 748937 h 3640182"/>
              <a:gd name="connsiteX7" fmla="*/ 0 w 6209212"/>
              <a:gd name="connsiteY7" fmla="*/ 766354 h 3640182"/>
              <a:gd name="connsiteX8" fmla="*/ 17417 w 6209212"/>
              <a:gd name="connsiteY8" fmla="*/ 182880 h 3640182"/>
              <a:gd name="connsiteX9" fmla="*/ 148046 w 6209212"/>
              <a:gd name="connsiteY9" fmla="*/ 165462 h 364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09212" h="3640182">
                <a:moveTo>
                  <a:pt x="148046" y="165462"/>
                </a:moveTo>
                <a:lnTo>
                  <a:pt x="5138057" y="156754"/>
                </a:lnTo>
                <a:lnTo>
                  <a:pt x="5338355" y="17417"/>
                </a:lnTo>
                <a:lnTo>
                  <a:pt x="6209212" y="0"/>
                </a:lnTo>
                <a:lnTo>
                  <a:pt x="6174377" y="3640182"/>
                </a:lnTo>
                <a:lnTo>
                  <a:pt x="5120640" y="3622765"/>
                </a:lnTo>
                <a:lnTo>
                  <a:pt x="5138057" y="748937"/>
                </a:lnTo>
                <a:lnTo>
                  <a:pt x="0" y="766354"/>
                </a:lnTo>
                <a:lnTo>
                  <a:pt x="17417" y="182880"/>
                </a:lnTo>
                <a:lnTo>
                  <a:pt x="148046" y="165462"/>
                </a:lnTo>
                <a:close/>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AutoShape 5"/>
          <p:cNvSpPr>
            <a:spLocks noChangeArrowheads="1"/>
          </p:cNvSpPr>
          <p:nvPr/>
        </p:nvSpPr>
        <p:spPr bwMode="auto">
          <a:xfrm>
            <a:off x="9402757" y="1463040"/>
            <a:ext cx="792163" cy="3503362"/>
          </a:xfrm>
          <a:prstGeom prst="roundRect">
            <a:avLst>
              <a:gd name="adj" fmla="val 16667"/>
            </a:avLst>
          </a:prstGeom>
          <a:solidFill>
            <a:schemeClr val="bg1"/>
          </a:solidFill>
          <a:ln w="9525">
            <a:solidFill>
              <a:schemeClr val="tx1"/>
            </a:solidFill>
            <a:round/>
          </a:ln>
          <a:effec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cxnSp>
        <p:nvCxnSpPr>
          <p:cNvPr id="99" name="直接箭头连接符 98"/>
          <p:cNvCxnSpPr>
            <a:stCxn id="38" idx="3"/>
          </p:cNvCxnSpPr>
          <p:nvPr/>
        </p:nvCxnSpPr>
        <p:spPr>
          <a:xfrm>
            <a:off x="4843730" y="4816917"/>
            <a:ext cx="45590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互联网早期发展与启示</a:t>
            </a:r>
            <a:endParaRPr lang="zh-CN" altLang="en-US" dirty="0"/>
          </a:p>
        </p:txBody>
      </p:sp>
      <p:sp>
        <p:nvSpPr>
          <p:cNvPr id="3" name="内容占位符 2"/>
          <p:cNvSpPr>
            <a:spLocks noGrp="1"/>
          </p:cNvSpPr>
          <p:nvPr>
            <p:ph idx="1"/>
          </p:nvPr>
        </p:nvSpPr>
        <p:spPr>
          <a:xfrm>
            <a:off x="770626" y="5506626"/>
            <a:ext cx="10583174" cy="643744"/>
          </a:xfrm>
        </p:spPr>
        <p:txBody>
          <a:bodyPr>
            <a:normAutofit/>
          </a:bodyPr>
          <a:lstStyle/>
          <a:p>
            <a:pPr marL="0" indent="0">
              <a:buNone/>
            </a:pPr>
            <a:r>
              <a:rPr lang="zh-CN" altLang="en-US" dirty="0"/>
              <a:t>多个网络项目，美国发起的</a:t>
            </a:r>
            <a:r>
              <a:rPr lang="en-US" altLang="zh-CN" dirty="0"/>
              <a:t>ARPNET</a:t>
            </a:r>
            <a:r>
              <a:rPr lang="zh-CN" altLang="en-US" dirty="0"/>
              <a:t>最终胜出，成为今天的互联网</a:t>
            </a:r>
            <a:endParaRPr lang="zh-CN" altLang="en-US" dirty="0"/>
          </a:p>
        </p:txBody>
      </p:sp>
      <p:sp>
        <p:nvSpPr>
          <p:cNvPr id="58" name="AutoShape 7"/>
          <p:cNvSpPr>
            <a:spLocks noChangeArrowheads="1"/>
          </p:cNvSpPr>
          <p:nvPr/>
        </p:nvSpPr>
        <p:spPr bwMode="auto">
          <a:xfrm>
            <a:off x="1416949" y="1602994"/>
            <a:ext cx="1627925" cy="576263"/>
          </a:xfrm>
          <a:prstGeom prst="roundRect">
            <a:avLst>
              <a:gd name="adj" fmla="val 16667"/>
            </a:avLst>
          </a:prstGeom>
          <a:solidFill>
            <a:srgbClr val="FAF4FF"/>
          </a:solidFill>
          <a:ln w="9525">
            <a:solidFill>
              <a:srgbClr val="5B307E"/>
            </a:solidFill>
            <a:rou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叛逆思想</a:t>
            </a:r>
            <a:endParaRPr lang="zh-CN" altLang="en-US" sz="2000" dirty="0">
              <a:latin typeface="微软雅黑" panose="020B0503020204020204" pitchFamily="34" charset="-122"/>
              <a:ea typeface="微软雅黑" panose="020B0503020204020204" pitchFamily="34" charset="-122"/>
            </a:endParaRPr>
          </a:p>
        </p:txBody>
      </p:sp>
      <p:sp>
        <p:nvSpPr>
          <p:cNvPr id="59" name="AutoShape 8"/>
          <p:cNvSpPr>
            <a:spLocks noChangeArrowheads="1"/>
          </p:cNvSpPr>
          <p:nvPr/>
        </p:nvSpPr>
        <p:spPr bwMode="auto">
          <a:xfrm>
            <a:off x="1416949" y="2299358"/>
            <a:ext cx="1627925" cy="576263"/>
          </a:xfrm>
          <a:prstGeom prst="roundRect">
            <a:avLst>
              <a:gd name="adj" fmla="val 16667"/>
            </a:avLst>
          </a:prstGeom>
          <a:solidFill>
            <a:srgbClr val="FAF4FF"/>
          </a:solidFill>
          <a:ln w="9525">
            <a:solidFill>
              <a:srgbClr val="5B307E"/>
            </a:solidFill>
            <a:rou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军方战略</a:t>
            </a:r>
            <a:endParaRPr lang="zh-CN" altLang="en-US" sz="2000" dirty="0">
              <a:latin typeface="微软雅黑" panose="020B0503020204020204" pitchFamily="34" charset="-122"/>
              <a:ea typeface="微软雅黑" panose="020B0503020204020204" pitchFamily="34" charset="-122"/>
            </a:endParaRPr>
          </a:p>
        </p:txBody>
      </p:sp>
      <p:sp>
        <p:nvSpPr>
          <p:cNvPr id="60" name="AutoShape 9"/>
          <p:cNvSpPr>
            <a:spLocks noChangeArrowheads="1"/>
          </p:cNvSpPr>
          <p:nvPr/>
        </p:nvSpPr>
        <p:spPr bwMode="auto">
          <a:xfrm>
            <a:off x="1416949" y="3009786"/>
            <a:ext cx="1627925" cy="576263"/>
          </a:xfrm>
          <a:prstGeom prst="roundRect">
            <a:avLst>
              <a:gd name="adj" fmla="val 16667"/>
            </a:avLst>
          </a:prstGeom>
          <a:solidFill>
            <a:srgbClr val="FAF4FF"/>
          </a:solidFill>
          <a:ln w="9525">
            <a:solidFill>
              <a:srgbClr val="5B307E"/>
            </a:solidFill>
            <a:rou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充足经费</a:t>
            </a:r>
            <a:endParaRPr lang="zh-CN" altLang="en-US" sz="2000" dirty="0">
              <a:latin typeface="微软雅黑" panose="020B0503020204020204" pitchFamily="34" charset="-122"/>
              <a:ea typeface="微软雅黑" panose="020B0503020204020204" pitchFamily="34" charset="-122"/>
            </a:endParaRPr>
          </a:p>
        </p:txBody>
      </p:sp>
      <p:sp>
        <p:nvSpPr>
          <p:cNvPr id="61" name="AutoShape 10"/>
          <p:cNvSpPr>
            <a:spLocks noChangeArrowheads="1"/>
          </p:cNvSpPr>
          <p:nvPr/>
        </p:nvSpPr>
        <p:spPr bwMode="auto">
          <a:xfrm>
            <a:off x="1416949" y="3714699"/>
            <a:ext cx="1627925" cy="576263"/>
          </a:xfrm>
          <a:prstGeom prst="roundRect">
            <a:avLst>
              <a:gd name="adj" fmla="val 16667"/>
            </a:avLst>
          </a:prstGeom>
          <a:solidFill>
            <a:srgbClr val="FAF4FF"/>
          </a:solidFill>
          <a:ln w="9525">
            <a:solidFill>
              <a:srgbClr val="5B307E"/>
            </a:solidFill>
            <a:rou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市场经济</a:t>
            </a:r>
            <a:endParaRPr lang="zh-CN" altLang="en-US" sz="2000" dirty="0">
              <a:latin typeface="微软雅黑" panose="020B0503020204020204" pitchFamily="34" charset="-122"/>
              <a:ea typeface="微软雅黑" panose="020B0503020204020204" pitchFamily="34" charset="-122"/>
            </a:endParaRPr>
          </a:p>
        </p:txBody>
      </p:sp>
      <p:sp>
        <p:nvSpPr>
          <p:cNvPr id="62" name="AutoShape 11"/>
          <p:cNvSpPr>
            <a:spLocks noChangeArrowheads="1"/>
          </p:cNvSpPr>
          <p:nvPr/>
        </p:nvSpPr>
        <p:spPr bwMode="auto">
          <a:xfrm>
            <a:off x="1416949" y="4423522"/>
            <a:ext cx="1627925" cy="576263"/>
          </a:xfrm>
          <a:prstGeom prst="roundRect">
            <a:avLst>
              <a:gd name="adj" fmla="val 16667"/>
            </a:avLst>
          </a:prstGeom>
          <a:solidFill>
            <a:srgbClr val="FAF4FF"/>
          </a:solidFill>
          <a:ln w="9525">
            <a:solidFill>
              <a:srgbClr val="5B307E"/>
            </a:solidFill>
            <a:rou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精英团队</a:t>
            </a:r>
            <a:endParaRPr lang="zh-CN" altLang="en-US" sz="2000" dirty="0">
              <a:latin typeface="微软雅黑" panose="020B0503020204020204" pitchFamily="34" charset="-122"/>
              <a:ea typeface="微软雅黑" panose="020B0503020204020204" pitchFamily="34" charset="-122"/>
            </a:endParaRPr>
          </a:p>
        </p:txBody>
      </p:sp>
      <p:sp>
        <p:nvSpPr>
          <p:cNvPr id="26" name="Text Box 20"/>
          <p:cNvSpPr txBox="1">
            <a:spLocks noChangeArrowheads="1"/>
          </p:cNvSpPr>
          <p:nvPr/>
        </p:nvSpPr>
        <p:spPr bwMode="auto">
          <a:xfrm>
            <a:off x="8501586" y="1703474"/>
            <a:ext cx="800219" cy="338554"/>
          </a:xfrm>
          <a:prstGeom prst="rect">
            <a:avLst/>
          </a:prstGeom>
          <a:solidFill>
            <a:srgbClr val="FFFEA0"/>
          </a:solidFill>
          <a:ln w="9525">
            <a:solidFill>
              <a:srgbClr val="7030A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latin typeface="微软雅黑" panose="020B0503020204020204" pitchFamily="34" charset="-122"/>
                <a:ea typeface="微软雅黑" panose="020B0503020204020204" pitchFamily="34" charset="-122"/>
              </a:rPr>
              <a:t>商业化</a:t>
            </a:r>
            <a:endParaRPr lang="zh-CN" altLang="en-US" sz="1600">
              <a:latin typeface="微软雅黑" panose="020B0503020204020204" pitchFamily="34" charset="-122"/>
              <a:ea typeface="微软雅黑" panose="020B0503020204020204" pitchFamily="34" charset="-122"/>
            </a:endParaRPr>
          </a:p>
        </p:txBody>
      </p:sp>
      <p:sp>
        <p:nvSpPr>
          <p:cNvPr id="31" name="Rectangle 25"/>
          <p:cNvSpPr>
            <a:spLocks noChangeArrowheads="1"/>
          </p:cNvSpPr>
          <p:nvPr/>
        </p:nvSpPr>
        <p:spPr bwMode="auto">
          <a:xfrm>
            <a:off x="7309243" y="3500700"/>
            <a:ext cx="870751" cy="338554"/>
          </a:xfrm>
          <a:prstGeom prst="rect">
            <a:avLst/>
          </a:prstGeom>
          <a:solidFill>
            <a:srgbClr val="FFFEA0"/>
          </a:solidFill>
          <a:ln w="9525" algn="ctr">
            <a:solidFill>
              <a:srgbClr val="7030A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panose="020B0503020204020204" pitchFamily="34" charset="-122"/>
                <a:ea typeface="微软雅黑" panose="020B0503020204020204" pitchFamily="34" charset="-122"/>
              </a:rPr>
              <a:t>WWW </a:t>
            </a:r>
            <a:endParaRPr lang="en-US" altLang="zh-CN" sz="1600" dirty="0">
              <a:latin typeface="微软雅黑" panose="020B0503020204020204" pitchFamily="34" charset="-122"/>
              <a:ea typeface="微软雅黑" panose="020B0503020204020204" pitchFamily="34" charset="-122"/>
            </a:endParaRPr>
          </a:p>
        </p:txBody>
      </p:sp>
      <p:sp>
        <p:nvSpPr>
          <p:cNvPr id="33" name="Text Box 27"/>
          <p:cNvSpPr txBox="1">
            <a:spLocks noChangeArrowheads="1"/>
          </p:cNvSpPr>
          <p:nvPr/>
        </p:nvSpPr>
        <p:spPr bwMode="auto">
          <a:xfrm>
            <a:off x="4197399" y="1695844"/>
            <a:ext cx="64633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微软雅黑" panose="020B0503020204020204" pitchFamily="34" charset="-122"/>
                <a:ea typeface="微软雅黑" panose="020B0503020204020204" pitchFamily="34" charset="-122"/>
              </a:rPr>
              <a:t>美国</a:t>
            </a:r>
            <a:endParaRPr lang="zh-CN" altLang="en-US" dirty="0">
              <a:latin typeface="微软雅黑" panose="020B0503020204020204" pitchFamily="34" charset="-122"/>
              <a:ea typeface="微软雅黑" panose="020B0503020204020204" pitchFamily="34" charset="-122"/>
            </a:endParaRPr>
          </a:p>
        </p:txBody>
      </p:sp>
      <p:sp>
        <p:nvSpPr>
          <p:cNvPr id="34" name="Text Box 28"/>
          <p:cNvSpPr txBox="1">
            <a:spLocks noChangeArrowheads="1"/>
          </p:cNvSpPr>
          <p:nvPr/>
        </p:nvSpPr>
        <p:spPr bwMode="auto">
          <a:xfrm>
            <a:off x="4197399" y="2306527"/>
            <a:ext cx="64633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微软雅黑" panose="020B0503020204020204" pitchFamily="34" charset="-122"/>
                <a:ea typeface="微软雅黑" panose="020B0503020204020204" pitchFamily="34" charset="-122"/>
              </a:rPr>
              <a:t>英国</a:t>
            </a:r>
            <a:endParaRPr lang="zh-CN" altLang="en-US" dirty="0">
              <a:latin typeface="微软雅黑" panose="020B0503020204020204" pitchFamily="34" charset="-122"/>
              <a:ea typeface="微软雅黑" panose="020B0503020204020204" pitchFamily="34" charset="-122"/>
            </a:endParaRPr>
          </a:p>
        </p:txBody>
      </p:sp>
      <p:sp>
        <p:nvSpPr>
          <p:cNvPr id="35" name="Text Box 29"/>
          <p:cNvSpPr txBox="1">
            <a:spLocks noChangeArrowheads="1"/>
          </p:cNvSpPr>
          <p:nvPr/>
        </p:nvSpPr>
        <p:spPr bwMode="auto">
          <a:xfrm>
            <a:off x="4197399" y="2889451"/>
            <a:ext cx="64633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panose="020B0503020204020204" pitchFamily="34" charset="-122"/>
                <a:ea typeface="微软雅黑" panose="020B0503020204020204" pitchFamily="34" charset="-122"/>
              </a:rPr>
              <a:t>法国</a:t>
            </a:r>
            <a:endParaRPr lang="zh-CN" altLang="en-US">
              <a:latin typeface="微软雅黑" panose="020B0503020204020204" pitchFamily="34" charset="-122"/>
              <a:ea typeface="微软雅黑" panose="020B0503020204020204" pitchFamily="34" charset="-122"/>
            </a:endParaRPr>
          </a:p>
        </p:txBody>
      </p:sp>
      <p:sp>
        <p:nvSpPr>
          <p:cNvPr id="36" name="Text Box 30"/>
          <p:cNvSpPr txBox="1">
            <a:spLocks noChangeArrowheads="1"/>
          </p:cNvSpPr>
          <p:nvPr/>
        </p:nvSpPr>
        <p:spPr bwMode="auto">
          <a:xfrm>
            <a:off x="4206108" y="4083476"/>
            <a:ext cx="64633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panose="020B0503020204020204" pitchFamily="34" charset="-122"/>
                <a:ea typeface="微软雅黑" panose="020B0503020204020204" pitchFamily="34" charset="-122"/>
              </a:rPr>
              <a:t>苏联</a:t>
            </a:r>
            <a:endParaRPr lang="zh-CN" altLang="en-US">
              <a:latin typeface="微软雅黑" panose="020B0503020204020204" pitchFamily="34" charset="-122"/>
              <a:ea typeface="微软雅黑" panose="020B0503020204020204" pitchFamily="34" charset="-122"/>
            </a:endParaRPr>
          </a:p>
        </p:txBody>
      </p:sp>
      <p:sp>
        <p:nvSpPr>
          <p:cNvPr id="37" name="Text Box 31"/>
          <p:cNvSpPr txBox="1">
            <a:spLocks noChangeArrowheads="1"/>
          </p:cNvSpPr>
          <p:nvPr/>
        </p:nvSpPr>
        <p:spPr bwMode="auto">
          <a:xfrm>
            <a:off x="4197399" y="3480232"/>
            <a:ext cx="64633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panose="020B0503020204020204" pitchFamily="34" charset="-122"/>
                <a:ea typeface="微软雅黑" panose="020B0503020204020204" pitchFamily="34" charset="-122"/>
              </a:rPr>
              <a:t>欧洲</a:t>
            </a:r>
            <a:endParaRPr lang="zh-CN" altLang="en-US">
              <a:latin typeface="微软雅黑" panose="020B0503020204020204" pitchFamily="34" charset="-122"/>
              <a:ea typeface="微软雅黑" panose="020B0503020204020204" pitchFamily="34" charset="-122"/>
            </a:endParaRPr>
          </a:p>
        </p:txBody>
      </p:sp>
      <p:sp>
        <p:nvSpPr>
          <p:cNvPr id="38" name="Text Box 32"/>
          <p:cNvSpPr txBox="1">
            <a:spLocks noChangeArrowheads="1"/>
          </p:cNvSpPr>
          <p:nvPr/>
        </p:nvSpPr>
        <p:spPr bwMode="auto">
          <a:xfrm>
            <a:off x="4197399" y="4632251"/>
            <a:ext cx="64633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微软雅黑" panose="020B0503020204020204" pitchFamily="34" charset="-122"/>
                <a:ea typeface="微软雅黑" panose="020B0503020204020204" pitchFamily="34" charset="-122"/>
              </a:rPr>
              <a:t>中国</a:t>
            </a:r>
            <a:endParaRPr lang="zh-CN" altLang="en-US" dirty="0">
              <a:latin typeface="微软雅黑" panose="020B0503020204020204" pitchFamily="34" charset="-122"/>
              <a:ea typeface="微软雅黑" panose="020B0503020204020204" pitchFamily="34" charset="-122"/>
            </a:endParaRPr>
          </a:p>
        </p:txBody>
      </p:sp>
      <p:sp>
        <p:nvSpPr>
          <p:cNvPr id="41" name="Line 35"/>
          <p:cNvSpPr>
            <a:spLocks noChangeShapeType="1"/>
          </p:cNvSpPr>
          <p:nvPr/>
        </p:nvSpPr>
        <p:spPr bwMode="auto">
          <a:xfrm flipV="1">
            <a:off x="9015734" y="2153834"/>
            <a:ext cx="461666" cy="151106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latin typeface="微软雅黑" panose="020B0503020204020204" pitchFamily="34" charset="-122"/>
              <a:ea typeface="微软雅黑" panose="020B0503020204020204" pitchFamily="34" charset="-122"/>
            </a:endParaRPr>
          </a:p>
        </p:txBody>
      </p:sp>
      <p:sp>
        <p:nvSpPr>
          <p:cNvPr id="42" name="Text Box 36"/>
          <p:cNvSpPr txBox="1">
            <a:spLocks noChangeArrowheads="1"/>
          </p:cNvSpPr>
          <p:nvPr/>
        </p:nvSpPr>
        <p:spPr bwMode="auto">
          <a:xfrm rot="5400000">
            <a:off x="8538205" y="3072910"/>
            <a:ext cx="2495748" cy="461665"/>
          </a:xfrm>
          <a:prstGeom prst="rect">
            <a:avLst/>
          </a:prstGeom>
          <a:solidFill>
            <a:schemeClr val="bg1"/>
          </a:solidFill>
          <a:ln>
            <a:noFill/>
          </a:ln>
          <a:effectLst/>
        </p:spPr>
        <p:txBody>
          <a:bodyPr wrap="none">
            <a:spAutoFit/>
          </a:bodyPr>
          <a:lstStyle/>
          <a:p>
            <a:r>
              <a:rPr lang="en-US" altLang="zh-CN" sz="2400" dirty="0">
                <a:latin typeface="微软雅黑" panose="020B0503020204020204" pitchFamily="34" charset="-122"/>
                <a:ea typeface="微软雅黑" panose="020B0503020204020204" pitchFamily="34" charset="-122"/>
              </a:rPr>
              <a:t>TCP/IP</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WWW</a:t>
            </a:r>
            <a:endParaRPr lang="en-US" altLang="zh-CN" sz="2400" dirty="0">
              <a:latin typeface="微软雅黑" panose="020B0503020204020204" pitchFamily="34" charset="-122"/>
              <a:ea typeface="微软雅黑" panose="020B0503020204020204" pitchFamily="34" charset="-122"/>
            </a:endParaRPr>
          </a:p>
        </p:txBody>
      </p:sp>
      <p:sp>
        <p:nvSpPr>
          <p:cNvPr id="64" name="Text Box 27"/>
          <p:cNvSpPr txBox="1">
            <a:spLocks noChangeArrowheads="1"/>
          </p:cNvSpPr>
          <p:nvPr/>
        </p:nvSpPr>
        <p:spPr bwMode="auto">
          <a:xfrm>
            <a:off x="5319530" y="1703474"/>
            <a:ext cx="141244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ARPANET</a:t>
            </a:r>
            <a:endParaRPr lang="en-US" altLang="zh-CN" sz="1800" dirty="0">
              <a:latin typeface="微软雅黑" panose="020B0503020204020204" pitchFamily="34" charset="-122"/>
              <a:ea typeface="微软雅黑" panose="020B0503020204020204" pitchFamily="34" charset="-122"/>
            </a:endParaRPr>
          </a:p>
        </p:txBody>
      </p:sp>
      <p:cxnSp>
        <p:nvCxnSpPr>
          <p:cNvPr id="66" name="直接箭头连接符 65"/>
          <p:cNvCxnSpPr>
            <a:stCxn id="33" idx="3"/>
            <a:endCxn id="64" idx="1"/>
          </p:cNvCxnSpPr>
          <p:nvPr/>
        </p:nvCxnSpPr>
        <p:spPr>
          <a:xfrm>
            <a:off x="4843730" y="1880510"/>
            <a:ext cx="475800" cy="763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71" name="Text Box 27"/>
          <p:cNvSpPr txBox="1">
            <a:spLocks noChangeArrowheads="1"/>
          </p:cNvSpPr>
          <p:nvPr/>
        </p:nvSpPr>
        <p:spPr bwMode="auto">
          <a:xfrm>
            <a:off x="7156030" y="1692509"/>
            <a:ext cx="111591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NSFNET</a:t>
            </a:r>
            <a:endParaRPr lang="en-US" altLang="zh-CN" sz="1800" dirty="0">
              <a:latin typeface="微软雅黑" panose="020B0503020204020204" pitchFamily="34" charset="-122"/>
              <a:ea typeface="微软雅黑" panose="020B0503020204020204" pitchFamily="34" charset="-122"/>
            </a:endParaRPr>
          </a:p>
        </p:txBody>
      </p:sp>
      <p:sp>
        <p:nvSpPr>
          <p:cNvPr id="73" name="Text Box 27"/>
          <p:cNvSpPr txBox="1">
            <a:spLocks noChangeArrowheads="1"/>
          </p:cNvSpPr>
          <p:nvPr/>
        </p:nvSpPr>
        <p:spPr bwMode="auto">
          <a:xfrm>
            <a:off x="5341117" y="2304322"/>
            <a:ext cx="141244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NPL Mark I </a:t>
            </a:r>
            <a:endParaRPr lang="en-US" altLang="zh-CN" sz="1800" dirty="0">
              <a:latin typeface="微软雅黑" panose="020B0503020204020204" pitchFamily="34" charset="-122"/>
              <a:ea typeface="微软雅黑" panose="020B0503020204020204" pitchFamily="34" charset="-122"/>
            </a:endParaRPr>
          </a:p>
        </p:txBody>
      </p:sp>
      <p:cxnSp>
        <p:nvCxnSpPr>
          <p:cNvPr id="75" name="直接箭头连接符 74"/>
          <p:cNvCxnSpPr>
            <a:stCxn id="64" idx="3"/>
            <a:endCxn id="71" idx="1"/>
          </p:cNvCxnSpPr>
          <p:nvPr/>
        </p:nvCxnSpPr>
        <p:spPr>
          <a:xfrm flipV="1">
            <a:off x="6731971" y="1877175"/>
            <a:ext cx="424059" cy="1096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73" idx="3"/>
            <a:endCxn id="71" idx="2"/>
          </p:cNvCxnSpPr>
          <p:nvPr/>
        </p:nvCxnSpPr>
        <p:spPr>
          <a:xfrm flipV="1">
            <a:off x="6753558" y="2061841"/>
            <a:ext cx="960428" cy="42714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83" idx="3"/>
            <a:endCxn id="71" idx="2"/>
          </p:cNvCxnSpPr>
          <p:nvPr/>
        </p:nvCxnSpPr>
        <p:spPr>
          <a:xfrm flipV="1">
            <a:off x="6703433" y="2061841"/>
            <a:ext cx="1010553" cy="101068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3" name="Text Box 27"/>
          <p:cNvSpPr txBox="1">
            <a:spLocks noChangeArrowheads="1"/>
          </p:cNvSpPr>
          <p:nvPr/>
        </p:nvSpPr>
        <p:spPr bwMode="auto">
          <a:xfrm>
            <a:off x="5290992" y="2887864"/>
            <a:ext cx="1412441"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CYCLADES </a:t>
            </a:r>
            <a:endParaRPr lang="en-US" altLang="zh-CN" sz="1800" dirty="0">
              <a:latin typeface="微软雅黑" panose="020B0503020204020204" pitchFamily="34" charset="-122"/>
              <a:ea typeface="微软雅黑" panose="020B0503020204020204" pitchFamily="34" charset="-122"/>
            </a:endParaRPr>
          </a:p>
        </p:txBody>
      </p:sp>
      <p:cxnSp>
        <p:nvCxnSpPr>
          <p:cNvPr id="86" name="直接箭头连接符 85"/>
          <p:cNvCxnSpPr>
            <a:stCxn id="35" idx="3"/>
            <a:endCxn id="83" idx="1"/>
          </p:cNvCxnSpPr>
          <p:nvPr/>
        </p:nvCxnSpPr>
        <p:spPr>
          <a:xfrm flipV="1">
            <a:off x="4843730" y="3072530"/>
            <a:ext cx="447262" cy="158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37" idx="3"/>
          </p:cNvCxnSpPr>
          <p:nvPr/>
        </p:nvCxnSpPr>
        <p:spPr>
          <a:xfrm>
            <a:off x="4843730" y="3664898"/>
            <a:ext cx="2406503"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36" idx="3"/>
            <a:endCxn id="141" idx="1"/>
          </p:cNvCxnSpPr>
          <p:nvPr/>
        </p:nvCxnSpPr>
        <p:spPr>
          <a:xfrm flipV="1">
            <a:off x="4852439" y="4264661"/>
            <a:ext cx="447866" cy="348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93" name="Text Box 27"/>
          <p:cNvSpPr txBox="1">
            <a:spLocks noChangeArrowheads="1"/>
          </p:cNvSpPr>
          <p:nvPr/>
        </p:nvSpPr>
        <p:spPr bwMode="auto">
          <a:xfrm>
            <a:off x="6892261" y="4079186"/>
            <a:ext cx="1295400"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OGAS </a:t>
            </a:r>
            <a:endParaRPr lang="en-US" altLang="zh-CN" sz="1800" dirty="0">
              <a:latin typeface="微软雅黑" panose="020B0503020204020204" pitchFamily="34" charset="-122"/>
              <a:ea typeface="微软雅黑" panose="020B0503020204020204" pitchFamily="34" charset="-122"/>
            </a:endParaRPr>
          </a:p>
        </p:txBody>
      </p:sp>
      <p:cxnSp>
        <p:nvCxnSpPr>
          <p:cNvPr id="97" name="直接箭头连接符 96"/>
          <p:cNvCxnSpPr>
            <a:stCxn id="71" idx="3"/>
            <a:endCxn id="26" idx="1"/>
          </p:cNvCxnSpPr>
          <p:nvPr/>
        </p:nvCxnSpPr>
        <p:spPr>
          <a:xfrm flipV="1">
            <a:off x="8271941" y="1872751"/>
            <a:ext cx="229645" cy="442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58" idx="3"/>
            <a:endCxn id="33" idx="1"/>
          </p:cNvCxnSpPr>
          <p:nvPr/>
        </p:nvCxnSpPr>
        <p:spPr>
          <a:xfrm flipV="1">
            <a:off x="3044874" y="1880510"/>
            <a:ext cx="1152525" cy="10616"/>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58" idx="3"/>
            <a:endCxn id="34" idx="1"/>
          </p:cNvCxnSpPr>
          <p:nvPr/>
        </p:nvCxnSpPr>
        <p:spPr>
          <a:xfrm>
            <a:off x="3044874" y="1891126"/>
            <a:ext cx="1152525" cy="60006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a:stCxn id="58" idx="3"/>
            <a:endCxn id="35" idx="1"/>
          </p:cNvCxnSpPr>
          <p:nvPr/>
        </p:nvCxnSpPr>
        <p:spPr>
          <a:xfrm>
            <a:off x="3044874" y="1891126"/>
            <a:ext cx="1152525" cy="11829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58" idx="3"/>
            <a:endCxn id="37" idx="1"/>
          </p:cNvCxnSpPr>
          <p:nvPr/>
        </p:nvCxnSpPr>
        <p:spPr>
          <a:xfrm>
            <a:off x="3044874" y="1891126"/>
            <a:ext cx="1152525" cy="177377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a:stCxn id="59" idx="3"/>
            <a:endCxn id="33" idx="1"/>
          </p:cNvCxnSpPr>
          <p:nvPr/>
        </p:nvCxnSpPr>
        <p:spPr>
          <a:xfrm flipV="1">
            <a:off x="3044874" y="1880510"/>
            <a:ext cx="1152525" cy="70698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a:stCxn id="59" idx="3"/>
            <a:endCxn id="36" idx="1"/>
          </p:cNvCxnSpPr>
          <p:nvPr/>
        </p:nvCxnSpPr>
        <p:spPr>
          <a:xfrm>
            <a:off x="3044874" y="2587490"/>
            <a:ext cx="1161234" cy="168065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59" idx="3"/>
            <a:endCxn id="38" idx="1"/>
          </p:cNvCxnSpPr>
          <p:nvPr/>
        </p:nvCxnSpPr>
        <p:spPr>
          <a:xfrm>
            <a:off x="3044874" y="2587490"/>
            <a:ext cx="1152525" cy="222942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a:stCxn id="60" idx="3"/>
            <a:endCxn id="33" idx="1"/>
          </p:cNvCxnSpPr>
          <p:nvPr/>
        </p:nvCxnSpPr>
        <p:spPr>
          <a:xfrm flipV="1">
            <a:off x="3044874" y="1880510"/>
            <a:ext cx="1152525" cy="141740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a:stCxn id="61" idx="3"/>
            <a:endCxn id="33" idx="1"/>
          </p:cNvCxnSpPr>
          <p:nvPr/>
        </p:nvCxnSpPr>
        <p:spPr>
          <a:xfrm flipV="1">
            <a:off x="3044874" y="1880510"/>
            <a:ext cx="1152525" cy="212232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a:stCxn id="62" idx="3"/>
            <a:endCxn id="33" idx="1"/>
          </p:cNvCxnSpPr>
          <p:nvPr/>
        </p:nvCxnSpPr>
        <p:spPr>
          <a:xfrm flipV="1">
            <a:off x="3044874" y="1880510"/>
            <a:ext cx="1152525" cy="283114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a:stCxn id="62" idx="3"/>
            <a:endCxn id="34" idx="1"/>
          </p:cNvCxnSpPr>
          <p:nvPr/>
        </p:nvCxnSpPr>
        <p:spPr>
          <a:xfrm flipV="1">
            <a:off x="3044874" y="2491193"/>
            <a:ext cx="1152525" cy="222046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a:stCxn id="62" idx="3"/>
            <a:endCxn id="35" idx="1"/>
          </p:cNvCxnSpPr>
          <p:nvPr/>
        </p:nvCxnSpPr>
        <p:spPr>
          <a:xfrm flipV="1">
            <a:off x="3044874" y="3074117"/>
            <a:ext cx="1152525" cy="163753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a:stCxn id="62" idx="3"/>
            <a:endCxn id="37" idx="1"/>
          </p:cNvCxnSpPr>
          <p:nvPr/>
        </p:nvCxnSpPr>
        <p:spPr>
          <a:xfrm flipV="1">
            <a:off x="3044874" y="3664898"/>
            <a:ext cx="1152525" cy="1046756"/>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p:cNvCxnSpPr>
            <a:stCxn id="62" idx="3"/>
            <a:endCxn id="36" idx="1"/>
          </p:cNvCxnSpPr>
          <p:nvPr/>
        </p:nvCxnSpPr>
        <p:spPr>
          <a:xfrm flipV="1">
            <a:off x="3044874" y="4268142"/>
            <a:ext cx="1161234" cy="44351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p:cNvCxnSpPr>
            <a:stCxn id="62" idx="3"/>
            <a:endCxn id="38" idx="1"/>
          </p:cNvCxnSpPr>
          <p:nvPr/>
        </p:nvCxnSpPr>
        <p:spPr>
          <a:xfrm>
            <a:off x="3044874" y="4711654"/>
            <a:ext cx="1152525" cy="10526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9" name="直接箭头连接符 138"/>
          <p:cNvCxnSpPr>
            <a:stCxn id="34" idx="3"/>
            <a:endCxn id="73" idx="1"/>
          </p:cNvCxnSpPr>
          <p:nvPr/>
        </p:nvCxnSpPr>
        <p:spPr>
          <a:xfrm flipV="1">
            <a:off x="4843730" y="2488988"/>
            <a:ext cx="497387" cy="220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1" name="Text Box 27"/>
          <p:cNvSpPr txBox="1">
            <a:spLocks noChangeArrowheads="1"/>
          </p:cNvSpPr>
          <p:nvPr/>
        </p:nvSpPr>
        <p:spPr bwMode="auto">
          <a:xfrm>
            <a:off x="5300305" y="4079995"/>
            <a:ext cx="1403128" cy="369332"/>
          </a:xfrm>
          <a:prstGeom prst="rect">
            <a:avLst/>
          </a:prstGeom>
          <a:noFill/>
          <a:ln w="9525">
            <a:solidFill>
              <a:srgbClr val="703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红书”方案</a:t>
            </a:r>
            <a:endParaRPr lang="en-US" altLang="zh-CN" sz="1800" dirty="0">
              <a:latin typeface="微软雅黑" panose="020B0503020204020204" pitchFamily="34" charset="-122"/>
              <a:ea typeface="微软雅黑" panose="020B0503020204020204" pitchFamily="34" charset="-122"/>
            </a:endParaRPr>
          </a:p>
        </p:txBody>
      </p:sp>
      <p:sp>
        <p:nvSpPr>
          <p:cNvPr id="151" name="箭头: 右 150"/>
          <p:cNvSpPr/>
          <p:nvPr/>
        </p:nvSpPr>
        <p:spPr>
          <a:xfrm>
            <a:off x="4813166" y="1802794"/>
            <a:ext cx="679268" cy="201089"/>
          </a:xfrm>
          <a:prstGeom prst="rightArrow">
            <a:avLst/>
          </a:prstGeom>
          <a:solidFill>
            <a:srgbClr val="C0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箭头: 右 151"/>
          <p:cNvSpPr/>
          <p:nvPr/>
        </p:nvSpPr>
        <p:spPr>
          <a:xfrm>
            <a:off x="6570965" y="1776668"/>
            <a:ext cx="679268" cy="201089"/>
          </a:xfrm>
          <a:prstGeom prst="rightArrow">
            <a:avLst/>
          </a:prstGeom>
          <a:solidFill>
            <a:srgbClr val="C0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箭头: 右 152"/>
          <p:cNvSpPr/>
          <p:nvPr/>
        </p:nvSpPr>
        <p:spPr>
          <a:xfrm>
            <a:off x="8178925" y="1779966"/>
            <a:ext cx="391527" cy="197792"/>
          </a:xfrm>
          <a:prstGeom prst="rightArrow">
            <a:avLst/>
          </a:prstGeom>
          <a:solidFill>
            <a:srgbClr val="C0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箭头: 右 153"/>
          <p:cNvSpPr/>
          <p:nvPr/>
        </p:nvSpPr>
        <p:spPr>
          <a:xfrm>
            <a:off x="9301805" y="1771376"/>
            <a:ext cx="391527" cy="197792"/>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9317757" y="5100232"/>
            <a:ext cx="95410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互联网</a:t>
            </a:r>
            <a:endParaRPr lang="zh-CN" altLang="en-US" sz="2000" b="1" dirty="0">
              <a:latin typeface="微软雅黑" panose="020B0503020204020204" pitchFamily="34" charset="-122"/>
              <a:ea typeface="微软雅黑" panose="020B0503020204020204" pitchFamily="34" charset="-122"/>
            </a:endParaRPr>
          </a:p>
        </p:txBody>
      </p:sp>
      <p:sp>
        <p:nvSpPr>
          <p:cNvPr id="65" name="Rectangle 25"/>
          <p:cNvSpPr>
            <a:spLocks noChangeArrowheads="1"/>
          </p:cNvSpPr>
          <p:nvPr/>
        </p:nvSpPr>
        <p:spPr bwMode="auto">
          <a:xfrm>
            <a:off x="8270037" y="3493679"/>
            <a:ext cx="763351" cy="338554"/>
          </a:xfrm>
          <a:prstGeom prst="rect">
            <a:avLst/>
          </a:prstGeom>
          <a:solidFill>
            <a:srgbClr val="FFFEA0"/>
          </a:solidFill>
          <a:ln w="9525" algn="ctr">
            <a:solidFill>
              <a:srgbClr val="7030A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panose="020B0503020204020204" pitchFamily="34" charset="-122"/>
                <a:ea typeface="微软雅黑" panose="020B0503020204020204" pitchFamily="34" charset="-122"/>
              </a:rPr>
              <a:t>Linux </a:t>
            </a:r>
            <a:endParaRPr lang="en-US" altLang="zh-CN"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3" name="文本框 62"/>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151" grpId="0" animBg="1"/>
      <p:bldP spid="152" grpId="0" animBg="1"/>
      <p:bldP spid="153" grpId="0" animBg="1"/>
      <p:bldP spid="154" grpId="0" animBg="1"/>
      <p:bldP spid="15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400163" cy="879086"/>
          </a:xfrm>
        </p:spPr>
        <p:txBody>
          <a:bodyPr>
            <a:normAutofit/>
          </a:bodyPr>
          <a:lstStyle/>
          <a:p>
            <a:r>
              <a:rPr lang="zh-CN" altLang="en-US" dirty="0">
                <a:latin typeface="微软雅黑" panose="020B0503020204020204" pitchFamily="34" charset="-122"/>
                <a:ea typeface="微软雅黑" panose="020B0503020204020204" pitchFamily="34" charset="-122"/>
              </a:rPr>
              <a:t>互联网早期发展与启示</a:t>
            </a:r>
            <a:endParaRPr lang="zh-CN" altLang="en-US" dirty="0"/>
          </a:p>
        </p:txBody>
      </p:sp>
      <p:sp>
        <p:nvSpPr>
          <p:cNvPr id="3" name="内容占位符 2"/>
          <p:cNvSpPr>
            <a:spLocks noGrp="1"/>
          </p:cNvSpPr>
          <p:nvPr>
            <p:ph idx="1"/>
          </p:nvPr>
        </p:nvSpPr>
        <p:spPr>
          <a:xfrm>
            <a:off x="838200" y="1377485"/>
            <a:ext cx="10515600" cy="4982116"/>
          </a:xfrm>
        </p:spPr>
        <p:txBody>
          <a:bodyPr>
            <a:normAutofit/>
          </a:bodyPr>
          <a:lstStyle/>
          <a:p>
            <a:r>
              <a:rPr lang="zh-CN" altLang="en-US" dirty="0"/>
              <a:t>诞生阶段的启发</a:t>
            </a:r>
            <a:endParaRPr lang="en-US" altLang="zh-CN" dirty="0"/>
          </a:p>
          <a:p>
            <a:pPr lvl="1"/>
            <a:r>
              <a:rPr lang="zh-CN" altLang="en-US" dirty="0"/>
              <a:t>有战略背景和传统技术无法解决的</a:t>
            </a:r>
            <a:r>
              <a:rPr lang="zh-CN" altLang="en-US" dirty="0">
                <a:solidFill>
                  <a:srgbClr val="C00000"/>
                </a:solidFill>
              </a:rPr>
              <a:t>重大需求</a:t>
            </a:r>
            <a:endParaRPr lang="en-US" altLang="zh-CN" dirty="0"/>
          </a:p>
          <a:p>
            <a:pPr lvl="1"/>
            <a:r>
              <a:rPr lang="zh-CN" altLang="en-US" dirty="0">
                <a:solidFill>
                  <a:srgbClr val="C00000"/>
                </a:solidFill>
              </a:rPr>
              <a:t>分组交换</a:t>
            </a:r>
            <a:r>
              <a:rPr lang="zh-CN" altLang="en-US" dirty="0"/>
              <a:t>的</a:t>
            </a:r>
            <a:r>
              <a:rPr lang="zh-CN" altLang="en-US" dirty="0">
                <a:solidFill>
                  <a:srgbClr val="C00000"/>
                </a:solidFill>
              </a:rPr>
              <a:t>理论突破</a:t>
            </a:r>
            <a:r>
              <a:rPr lang="zh-CN" altLang="en-US" dirty="0"/>
              <a:t>和</a:t>
            </a:r>
            <a:r>
              <a:rPr lang="zh-CN" altLang="en-US" dirty="0">
                <a:solidFill>
                  <a:srgbClr val="C00000"/>
                </a:solidFill>
              </a:rPr>
              <a:t>原型系统实验</a:t>
            </a:r>
            <a:r>
              <a:rPr lang="zh-CN" altLang="en-US" dirty="0"/>
              <a:t>并举</a:t>
            </a:r>
            <a:endParaRPr lang="en-US" altLang="zh-CN" dirty="0"/>
          </a:p>
          <a:p>
            <a:pPr lvl="1"/>
            <a:r>
              <a:rPr lang="zh-CN" altLang="en-US" dirty="0"/>
              <a:t>有政府的不断支持：从</a:t>
            </a:r>
            <a:r>
              <a:rPr lang="en-US" altLang="zh-CN" dirty="0"/>
              <a:t>1969</a:t>
            </a:r>
            <a:r>
              <a:rPr lang="zh-CN" altLang="en-US" dirty="0"/>
              <a:t>开创至今</a:t>
            </a:r>
            <a:endParaRPr lang="en-US" altLang="zh-CN" dirty="0"/>
          </a:p>
          <a:p>
            <a:r>
              <a:rPr lang="zh-CN" altLang="en-US" dirty="0"/>
              <a:t>成长壮大阶段</a:t>
            </a:r>
            <a:endParaRPr lang="en-US" altLang="zh-CN" dirty="0"/>
          </a:p>
          <a:p>
            <a:pPr lvl="1"/>
            <a:r>
              <a:rPr lang="zh-CN" altLang="en-US" dirty="0">
                <a:solidFill>
                  <a:srgbClr val="C00000"/>
                </a:solidFill>
              </a:rPr>
              <a:t>简单实用</a:t>
            </a:r>
            <a:r>
              <a:rPr lang="zh-CN" altLang="en-US" dirty="0"/>
              <a:t>的技术路线</a:t>
            </a:r>
            <a:r>
              <a:rPr lang="en-US" altLang="zh-CN" dirty="0">
                <a:solidFill>
                  <a:srgbClr val="C00000"/>
                </a:solidFill>
              </a:rPr>
              <a:t>TCP/IP</a:t>
            </a:r>
            <a:r>
              <a:rPr lang="zh-CN" altLang="en-US" dirty="0">
                <a:solidFill>
                  <a:srgbClr val="C00000"/>
                </a:solidFill>
              </a:rPr>
              <a:t>诞生和发展</a:t>
            </a:r>
            <a:endParaRPr lang="en-US" altLang="zh-CN" dirty="0">
              <a:solidFill>
                <a:srgbClr val="C00000"/>
              </a:solidFill>
            </a:endParaRPr>
          </a:p>
          <a:p>
            <a:pPr lvl="1"/>
            <a:r>
              <a:rPr lang="zh-CN" altLang="en-US" dirty="0"/>
              <a:t>教育和科研的示范网络为</a:t>
            </a:r>
            <a:r>
              <a:rPr lang="zh-CN" altLang="en-US" dirty="0">
                <a:solidFill>
                  <a:srgbClr val="C00000"/>
                </a:solidFill>
              </a:rPr>
              <a:t>起点</a:t>
            </a:r>
            <a:r>
              <a:rPr lang="zh-CN" altLang="en-US" dirty="0"/>
              <a:t>：</a:t>
            </a:r>
            <a:br>
              <a:rPr lang="en-US" altLang="zh-CN" dirty="0"/>
            </a:br>
            <a:r>
              <a:rPr lang="zh-CN" altLang="en-US" dirty="0"/>
              <a:t>具有实验物理学的研究特点</a:t>
            </a:r>
            <a:endParaRPr lang="zh-CN" altLang="en-US" dirty="0"/>
          </a:p>
          <a:p>
            <a:pPr lvl="2"/>
            <a:r>
              <a:rPr lang="en-US" altLang="zh-CN" dirty="0"/>
              <a:t>ARPAnet</a:t>
            </a:r>
            <a:r>
              <a:rPr lang="zh-CN" altLang="en-US" dirty="0"/>
              <a:t>、</a:t>
            </a:r>
            <a:r>
              <a:rPr lang="en-US" altLang="zh-CN" dirty="0"/>
              <a:t>NSFNET</a:t>
            </a:r>
            <a:r>
              <a:rPr lang="zh-CN" altLang="en-US" dirty="0"/>
              <a:t>、</a:t>
            </a:r>
            <a:r>
              <a:rPr lang="en-US" altLang="zh-CN" dirty="0"/>
              <a:t>ANS</a:t>
            </a:r>
            <a:r>
              <a:rPr lang="zh-CN" altLang="en-US" dirty="0"/>
              <a:t>、</a:t>
            </a:r>
            <a:r>
              <a:rPr lang="en-US" altLang="zh-CN" dirty="0" err="1"/>
              <a:t>vBNS</a:t>
            </a:r>
            <a:endParaRPr lang="en-US" altLang="zh-CN" dirty="0"/>
          </a:p>
          <a:p>
            <a:pPr lvl="1"/>
            <a:r>
              <a:rPr lang="zh-CN" altLang="en-US" dirty="0">
                <a:solidFill>
                  <a:srgbClr val="C00000"/>
                </a:solidFill>
              </a:rPr>
              <a:t>联合协作的开放式研究</a:t>
            </a:r>
            <a:r>
              <a:rPr lang="zh-CN" altLang="en-US" dirty="0"/>
              <a:t>：</a:t>
            </a:r>
            <a:r>
              <a:rPr lang="en-US" altLang="zh-CN" dirty="0"/>
              <a:t>IETF/RFC</a:t>
            </a:r>
            <a:endParaRPr lang="zh-CN" altLang="en-US" dirty="0"/>
          </a:p>
          <a:p>
            <a:pPr lvl="1"/>
            <a:r>
              <a:rPr lang="zh-CN" altLang="en-US" dirty="0"/>
              <a:t>在不断试错中快速成长壮大 </a:t>
            </a:r>
            <a:endParaRPr lang="en-US" altLang="zh-CN"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7" name="文本框 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7802201" y="1679608"/>
            <a:ext cx="3994944" cy="1422890"/>
          </a:xfrm>
          <a:prstGeom prst="rect">
            <a:avLst/>
          </a:prstGeom>
          <a:ln>
            <a:solidFill>
              <a:srgbClr val="C00000"/>
            </a:solidFill>
          </a:ln>
        </p:spPr>
        <p:txBody>
          <a:bodyPr wrap="square">
            <a:spAutoFit/>
          </a:bodyPr>
          <a:lstStyle/>
          <a:p>
            <a:pPr algn="ctr">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互联网诞生的两种说法</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1969</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2000" dirty="0">
                <a:latin typeface="微软雅黑" panose="020B0503020204020204" pitchFamily="34" charset="-122"/>
                <a:ea typeface="微软雅黑" panose="020B0503020204020204" pitchFamily="34" charset="-122"/>
              </a:rPr>
              <a:t>ARPANET</a:t>
            </a:r>
            <a:r>
              <a:rPr lang="zh-CN" altLang="en-US" sz="2000" dirty="0">
                <a:latin typeface="微软雅黑" panose="020B0503020204020204" pitchFamily="34" charset="-122"/>
                <a:ea typeface="微软雅黑" panose="020B0503020204020204" pitchFamily="34" charset="-122"/>
              </a:rPr>
              <a:t>诞生</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1983</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ARPANET</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采用</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TCP/IP</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7689669" y="5573353"/>
            <a:ext cx="4234178" cy="1015663"/>
          </a:xfrm>
          <a:prstGeom prst="rect">
            <a:avLst/>
          </a:prstGeom>
          <a:ln>
            <a:noFill/>
          </a:ln>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rPr>
              <a:t>互联网诞生</a:t>
            </a:r>
            <a:r>
              <a:rPr lang="en-US" altLang="zh-CN" sz="2000" dirty="0">
                <a:latin typeface="微软雅黑" panose="020B0503020204020204" pitchFamily="34" charset="-122"/>
                <a:ea typeface="微软雅黑" panose="020B0503020204020204" pitchFamily="34" charset="-122"/>
              </a:rPr>
              <a:t>50</a:t>
            </a:r>
            <a:r>
              <a:rPr lang="zh-CN" altLang="en-US" sz="2000" dirty="0">
                <a:latin typeface="微软雅黑" panose="020B0503020204020204" pitchFamily="34" charset="-122"/>
                <a:ea typeface="微软雅黑" panose="020B0503020204020204" pitchFamily="34" charset="-122"/>
              </a:rPr>
              <a:t>周年之际，清华大学于</a:t>
            </a:r>
            <a:r>
              <a:rPr lang="en-US" altLang="zh-CN" sz="2000" dirty="0">
                <a:latin typeface="微软雅黑" panose="020B0503020204020204" pitchFamily="34" charset="-122"/>
                <a:ea typeface="微软雅黑" panose="020B0503020204020204" pitchFamily="34" charset="-122"/>
                <a:sym typeface="+mn-ea"/>
              </a:rPr>
              <a:t>2019</a:t>
            </a:r>
            <a:r>
              <a:rPr lang="zh-CN" altLang="en-US" sz="2000" dirty="0">
                <a:latin typeface="微软雅黑" panose="020B0503020204020204" pitchFamily="34" charset="-122"/>
                <a:ea typeface="微软雅黑" panose="020B0503020204020204" pitchFamily="34" charset="-122"/>
                <a:sym typeface="+mn-ea"/>
              </a:rPr>
              <a:t>年</a:t>
            </a:r>
            <a:r>
              <a:rPr lang="zh-CN" altLang="en-US" sz="2000" dirty="0">
                <a:latin typeface="微软雅黑" panose="020B0503020204020204" pitchFamily="34" charset="-122"/>
                <a:ea typeface="微软雅黑" panose="020B0503020204020204" pitchFamily="34" charset="-122"/>
              </a:rPr>
              <a:t>在北京承办</a:t>
            </a:r>
            <a:r>
              <a:rPr lang="zh-CN" altLang="en-US" sz="2000" dirty="0">
                <a:latin typeface="微软雅黑" panose="020B0503020204020204" pitchFamily="34" charset="-122"/>
                <a:ea typeface="微软雅黑" panose="020B0503020204020204" pitchFamily="34" charset="-122"/>
                <a:sym typeface="+mn-ea"/>
              </a:rPr>
              <a:t>网络领域顶会</a:t>
            </a:r>
            <a:r>
              <a:rPr lang="en-US" altLang="zh-CN" sz="2000" dirty="0">
                <a:latin typeface="微软雅黑" panose="020B0503020204020204" pitchFamily="34" charset="-122"/>
                <a:ea typeface="微软雅黑" panose="020B0503020204020204" pitchFamily="34" charset="-122"/>
                <a:sym typeface="+mn-ea"/>
              </a:rPr>
              <a:t>ACM</a:t>
            </a:r>
            <a:r>
              <a:rPr lang="zh-CN" altLang="en-US" sz="2000" dirty="0">
                <a:latin typeface="微软雅黑" panose="020B0503020204020204" pitchFamily="34" charset="-122"/>
                <a:ea typeface="微软雅黑" panose="020B0503020204020204" pitchFamily="34" charset="-122"/>
                <a:sym typeface="+mn-ea"/>
              </a:rPr>
              <a:t> </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sym typeface="+mn-ea"/>
              </a:rPr>
              <a:t>Sigcomm</a:t>
            </a:r>
            <a:endParaRPr lang="zh-CN" altLang="en-US" sz="2000" dirty="0">
              <a:latin typeface="微软雅黑" panose="020B0503020204020204" pitchFamily="34" charset="-122"/>
              <a:ea typeface="微软雅黑" panose="020B0503020204020204" pitchFamily="34" charset="-122"/>
            </a:endParaRPr>
          </a:p>
        </p:txBody>
      </p:sp>
      <p:pic>
        <p:nvPicPr>
          <p:cNvPr id="4" name="Picture 2"/>
          <p:cNvPicPr>
            <a:picLocks noChangeAspect="1" noChangeArrowheads="1"/>
          </p:cNvPicPr>
          <p:nvPr/>
        </p:nvPicPr>
        <p:blipFill>
          <a:blip r:embed="rId1"/>
          <a:srcRect/>
          <a:stretch>
            <a:fillRect/>
          </a:stretch>
        </p:blipFill>
        <p:spPr bwMode="auto">
          <a:xfrm>
            <a:off x="7802201" y="3449174"/>
            <a:ext cx="3994944" cy="210126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457200" y="1998133"/>
            <a:ext cx="184731" cy="369332"/>
          </a:xfrm>
          <a:prstGeom prst="rect">
            <a:avLst/>
          </a:prstGeom>
          <a:noFill/>
        </p:spPr>
        <p:txBody>
          <a:bodyPr wrap="none" rtlCol="0">
            <a:spAutoFit/>
          </a:bodyPr>
          <a:lstStyle/>
          <a:p>
            <a:endParaRPr kumimoji="1"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latin typeface="微软雅黑" panose="020B0503020204020204" pitchFamily="34" charset="-122"/>
                <a:ea typeface="微软雅黑" panose="020B0503020204020204" pitchFamily="34" charset="-122"/>
              </a:rPr>
              <a:t>互联网的新发展与启示</a:t>
            </a:r>
            <a:endParaRPr lang="zh-CN" altLang="en-US" dirty="0"/>
          </a:p>
        </p:txBody>
      </p:sp>
      <p:sp>
        <p:nvSpPr>
          <p:cNvPr id="5" name="箭头: V 形 4"/>
          <p:cNvSpPr/>
          <p:nvPr/>
        </p:nvSpPr>
        <p:spPr>
          <a:xfrm>
            <a:off x="123201" y="5082043"/>
            <a:ext cx="3517124" cy="1070648"/>
          </a:xfrm>
          <a:prstGeom prst="chevron">
            <a:avLst/>
          </a:prstGeom>
          <a:solidFill>
            <a:srgbClr val="FFD80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600" b="1" i="0" dirty="0">
                <a:solidFill>
                  <a:srgbClr val="333333"/>
                </a:solidFill>
                <a:effectLst/>
                <a:latin typeface="微软雅黑" panose="020B0503020204020204" pitchFamily="34" charset="-122"/>
                <a:ea typeface="微软雅黑" panose="020B0503020204020204" pitchFamily="34" charset="-122"/>
              </a:rPr>
              <a:t>Web 1.0</a:t>
            </a:r>
            <a:r>
              <a:rPr lang="zh-CN" altLang="en-US" sz="1600" b="1" i="0" dirty="0">
                <a:solidFill>
                  <a:schemeClr val="tx1"/>
                </a:solidFill>
                <a:effectLst/>
                <a:latin typeface="微软雅黑" panose="020B0503020204020204" pitchFamily="34" charset="-122"/>
                <a:ea typeface="微软雅黑" panose="020B0503020204020204" pitchFamily="34" charset="-122"/>
              </a:rPr>
              <a:t>（</a:t>
            </a:r>
            <a:r>
              <a:rPr lang="en-US" altLang="zh-CN" sz="1600" b="1" dirty="0">
                <a:solidFill>
                  <a:schemeClr val="tx1"/>
                </a:solidFill>
                <a:latin typeface="微软雅黑" panose="020B0503020204020204" pitchFamily="34" charset="-122"/>
                <a:ea typeface="微软雅黑" panose="020B0503020204020204" pitchFamily="34" charset="-122"/>
              </a:rPr>
              <a:t>1993-1999</a:t>
            </a:r>
            <a:r>
              <a:rPr lang="zh-CN" altLang="en-US" sz="1600" b="1" dirty="0">
                <a:solidFill>
                  <a:schemeClr val="tx1"/>
                </a:solidFill>
                <a:latin typeface="微软雅黑" panose="020B0503020204020204" pitchFamily="34" charset="-122"/>
                <a:ea typeface="微软雅黑" panose="020B0503020204020204" pitchFamily="34" charset="-122"/>
              </a:rPr>
              <a:t>）</a:t>
            </a:r>
            <a:endParaRPr lang="en-US" altLang="zh-CN" sz="1600" b="1" i="0" dirty="0">
              <a:solidFill>
                <a:schemeClr val="tx1"/>
              </a:solidFill>
              <a:effectLst/>
              <a:latin typeface="微软雅黑" panose="020B0503020204020204" pitchFamily="34" charset="-122"/>
              <a:ea typeface="微软雅黑" panose="020B0503020204020204" pitchFamily="34" charset="-122"/>
            </a:endParaRPr>
          </a:p>
          <a:p>
            <a:pPr algn="ctr">
              <a:lnSpc>
                <a:spcPct val="130000"/>
              </a:lnSpc>
            </a:pPr>
            <a:r>
              <a:rPr lang="zh-CN" altLang="en-US" sz="1600" b="0" i="0" dirty="0">
                <a:solidFill>
                  <a:srgbClr val="333333"/>
                </a:solidFill>
                <a:effectLst/>
                <a:latin typeface="微软雅黑" panose="020B0503020204020204" pitchFamily="34" charset="-122"/>
                <a:ea typeface="微软雅黑" panose="020B0503020204020204" pitchFamily="34" charset="-122"/>
              </a:rPr>
              <a:t>浏览器、门户、电子商务</a:t>
            </a:r>
            <a:endParaRPr lang="en-US" altLang="zh-CN" sz="1600" b="0" i="0" dirty="0">
              <a:solidFill>
                <a:srgbClr val="333333"/>
              </a:solidFill>
              <a:effectLst/>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ISDN</a:t>
            </a:r>
            <a:r>
              <a:rPr lang="zh-CN" altLang="en-US" sz="1600" b="1" dirty="0">
                <a:solidFill>
                  <a:srgbClr val="C00000"/>
                </a:solidFill>
                <a:latin typeface="微软雅黑" panose="020B0503020204020204" pitchFamily="34" charset="-122"/>
                <a:ea typeface="微软雅黑" panose="020B0503020204020204" pitchFamily="34" charset="-122"/>
              </a:rPr>
              <a:t>上网，</a:t>
            </a:r>
            <a:r>
              <a:rPr lang="en-US" altLang="zh-CN" sz="1600" b="1" dirty="0">
                <a:solidFill>
                  <a:srgbClr val="C00000"/>
                </a:solidFill>
                <a:latin typeface="微软雅黑" panose="020B0503020204020204" pitchFamily="34" charset="-122"/>
                <a:ea typeface="微软雅黑" panose="020B0503020204020204" pitchFamily="34" charset="-122"/>
              </a:rPr>
              <a:t>~64Kbps</a:t>
            </a:r>
            <a:r>
              <a:rPr lang="zh-CN" altLang="en-US" sz="1600" b="1" dirty="0">
                <a:solidFill>
                  <a:srgbClr val="C00000"/>
                </a:solidFill>
                <a:latin typeface="微软雅黑" panose="020B0503020204020204" pitchFamily="34" charset="-122"/>
                <a:ea typeface="微软雅黑" panose="020B0503020204020204" pitchFamily="34" charset="-122"/>
              </a:rPr>
              <a:t> </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7" name="箭头: V 形 6"/>
          <p:cNvSpPr/>
          <p:nvPr/>
        </p:nvSpPr>
        <p:spPr>
          <a:xfrm>
            <a:off x="3154231" y="5084213"/>
            <a:ext cx="3458563" cy="1066309"/>
          </a:xfrm>
          <a:prstGeom prst="chevron">
            <a:avLst/>
          </a:prstGeom>
          <a:solidFill>
            <a:srgbClr val="FDCB0B"/>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600" b="1" dirty="0">
                <a:solidFill>
                  <a:srgbClr val="333333"/>
                </a:solidFill>
                <a:latin typeface="微软雅黑" panose="020B0503020204020204" pitchFamily="34" charset="-122"/>
                <a:ea typeface="微软雅黑" panose="020B0503020204020204" pitchFamily="34" charset="-122"/>
              </a:rPr>
              <a:t>Web 2.0</a:t>
            </a:r>
            <a:r>
              <a:rPr lang="zh-CN" altLang="en-US" sz="1600" b="1" dirty="0">
                <a:solidFill>
                  <a:srgbClr val="333333"/>
                </a:solidFill>
                <a:latin typeface="微软雅黑" panose="020B0503020204020204" pitchFamily="34" charset="-122"/>
                <a:ea typeface="微软雅黑" panose="020B0503020204020204" pitchFamily="34" charset="-122"/>
              </a:rPr>
              <a:t>（</a:t>
            </a:r>
            <a:r>
              <a:rPr lang="en-US" altLang="zh-CN" sz="1600" b="1" dirty="0">
                <a:solidFill>
                  <a:srgbClr val="333333"/>
                </a:solidFill>
                <a:latin typeface="微软雅黑" panose="020B0503020204020204" pitchFamily="34" charset="-122"/>
                <a:ea typeface="微软雅黑" panose="020B0503020204020204" pitchFamily="34" charset="-122"/>
              </a:rPr>
              <a:t>2000-2007</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博客、社交媒体、视频</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DSL/LAN</a:t>
            </a:r>
            <a:r>
              <a:rPr lang="zh-CN" altLang="en-US" sz="1600" b="1"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~10Mbps</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9" name="箭头: V 形 8"/>
          <p:cNvSpPr/>
          <p:nvPr/>
        </p:nvSpPr>
        <p:spPr>
          <a:xfrm>
            <a:off x="6126700" y="5084213"/>
            <a:ext cx="3638197" cy="1066308"/>
          </a:xfrm>
          <a:prstGeom prst="chevron">
            <a:avLst/>
          </a:prstGeom>
          <a:solidFill>
            <a:srgbClr val="F9BC12"/>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600" b="1" dirty="0">
                <a:solidFill>
                  <a:srgbClr val="333333"/>
                </a:solidFill>
                <a:latin typeface="微软雅黑" panose="020B0503020204020204" pitchFamily="34" charset="-122"/>
                <a:ea typeface="微软雅黑" panose="020B0503020204020204" pitchFamily="34" charset="-122"/>
              </a:rPr>
              <a:t>移动互联（</a:t>
            </a:r>
            <a:r>
              <a:rPr lang="en-US" altLang="zh-CN" sz="1600" b="1" dirty="0">
                <a:solidFill>
                  <a:srgbClr val="333333"/>
                </a:solidFill>
                <a:latin typeface="微软雅黑" panose="020B0503020204020204" pitchFamily="34" charset="-122"/>
                <a:ea typeface="微软雅黑" panose="020B0503020204020204" pitchFamily="34" charset="-122"/>
              </a:rPr>
              <a:t>~2018</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导航，网购，互联网</a:t>
            </a:r>
            <a:r>
              <a:rPr lang="en-US" altLang="zh-CN" sz="1600" dirty="0">
                <a:solidFill>
                  <a:srgbClr val="333333"/>
                </a:solidFill>
                <a:latin typeface="微软雅黑" panose="020B0503020204020204" pitchFamily="34" charset="-122"/>
                <a:ea typeface="微软雅黑" panose="020B0503020204020204" pitchFamily="34" charset="-122"/>
              </a:rPr>
              <a:t>+</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WIFI+4G+</a:t>
            </a:r>
            <a:r>
              <a:rPr lang="zh-CN" altLang="en-US" sz="1600" b="1"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~100Mbps</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11" name="箭头: V 形 10"/>
          <p:cNvSpPr/>
          <p:nvPr/>
        </p:nvSpPr>
        <p:spPr>
          <a:xfrm>
            <a:off x="9278802" y="5084213"/>
            <a:ext cx="2943997" cy="1066308"/>
          </a:xfrm>
          <a:prstGeom prst="chevron">
            <a:avLst/>
          </a:prstGeom>
          <a:solidFill>
            <a:srgbClr val="F5B11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600" b="1" dirty="0">
                <a:solidFill>
                  <a:srgbClr val="333333"/>
                </a:solidFill>
                <a:latin typeface="微软雅黑" panose="020B0503020204020204" pitchFamily="34" charset="-122"/>
                <a:ea typeface="微软雅黑" panose="020B0503020204020204" pitchFamily="34" charset="-122"/>
              </a:rPr>
              <a:t>智能互联（</a:t>
            </a:r>
            <a:r>
              <a:rPr lang="en-US" altLang="zh-CN" sz="1600" b="1" dirty="0">
                <a:solidFill>
                  <a:srgbClr val="333333"/>
                </a:solidFill>
                <a:latin typeface="微软雅黑" panose="020B0503020204020204" pitchFamily="34" charset="-122"/>
                <a:ea typeface="微软雅黑" panose="020B0503020204020204" pitchFamily="34" charset="-122"/>
              </a:rPr>
              <a:t>~</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万物互联</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5G+</a:t>
            </a:r>
            <a:r>
              <a:rPr lang="zh-CN" altLang="en-US" sz="1600" b="1" dirty="0">
                <a:solidFill>
                  <a:srgbClr val="C00000"/>
                </a:solidFill>
                <a:latin typeface="微软雅黑" panose="020B0503020204020204" pitchFamily="34" charset="-122"/>
                <a:ea typeface="微软雅黑" panose="020B0503020204020204" pitchFamily="34" charset="-122"/>
              </a:rPr>
              <a:t>，一体化网络</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488223" y="1377429"/>
            <a:ext cx="3541603" cy="3556808"/>
          </a:xfrm>
          <a:prstGeom prst="rect">
            <a:avLst/>
          </a:prstGeom>
          <a:solidFill>
            <a:schemeClr val="bg1"/>
          </a:solidFill>
          <a:ln>
            <a:solidFill>
              <a:schemeClr val="bg1"/>
            </a:solidFill>
          </a:ln>
        </p:spPr>
        <p:txBody>
          <a:bodyPr wrap="square">
            <a:spAutoFit/>
          </a:bodyPr>
          <a:lstStyle/>
          <a:p>
            <a:pPr marL="285750" indent="-285750">
              <a:lnSpc>
                <a:spcPct val="110000"/>
              </a:lnSpc>
              <a:spcBef>
                <a:spcPts val="200"/>
              </a:spcBef>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1993</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Mosaic</a:t>
            </a:r>
            <a:r>
              <a:rPr lang="zh-CN" altLang="en-US" sz="2000" dirty="0">
                <a:solidFill>
                  <a:srgbClr val="C00000"/>
                </a:solidFill>
                <a:latin typeface="微软雅黑" panose="020B0503020204020204" pitchFamily="34" charset="-122"/>
                <a:ea typeface="微软雅黑" panose="020B0503020204020204" pitchFamily="34" charset="-122"/>
              </a:rPr>
              <a:t>浏览器诞生，开启了互联网广泛商用之路</a:t>
            </a:r>
            <a:endParaRPr lang="zh-CN" altLang="en-US" sz="2000" dirty="0">
              <a:solidFill>
                <a:srgbClr val="C00000"/>
              </a:solidFill>
              <a:latin typeface="微软雅黑" panose="020B0503020204020204" pitchFamily="34" charset="-122"/>
              <a:ea typeface="微软雅黑" panose="020B0503020204020204" pitchFamily="34" charset="-122"/>
            </a:endParaRPr>
          </a:p>
          <a:p>
            <a:pPr marL="285750" indent="-285750">
              <a:lnSpc>
                <a:spcPct val="110000"/>
              </a:lnSpc>
              <a:spcBef>
                <a:spcPts val="200"/>
              </a:spcBef>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94</a:t>
            </a:r>
            <a:r>
              <a:rPr lang="zh-CN" altLang="en-US" sz="2000" dirty="0">
                <a:latin typeface="微软雅黑" panose="020B0503020204020204" pitchFamily="34" charset="-122"/>
                <a:ea typeface="微软雅黑" panose="020B0503020204020204" pitchFamily="34" charset="-122"/>
              </a:rPr>
              <a:t>年万维网联盟</a:t>
            </a:r>
            <a:r>
              <a:rPr lang="en-US" altLang="zh-CN" sz="2000" dirty="0">
                <a:latin typeface="微软雅黑" panose="020B0503020204020204" pitchFamily="34" charset="-122"/>
                <a:ea typeface="微软雅黑" panose="020B0503020204020204" pitchFamily="34" charset="-122"/>
              </a:rPr>
              <a:t>W3C</a:t>
            </a:r>
            <a:r>
              <a:rPr lang="zh-CN" altLang="en-US" sz="2000" dirty="0">
                <a:latin typeface="微软雅黑" panose="020B0503020204020204" pitchFamily="34" charset="-122"/>
                <a:ea typeface="微软雅黑" panose="020B0503020204020204" pitchFamily="34" charset="-122"/>
              </a:rPr>
              <a:t>成立</a:t>
            </a:r>
            <a:endParaRPr lang="en-US" altLang="zh-CN" sz="2000" dirty="0">
              <a:latin typeface="微软雅黑" panose="020B0503020204020204" pitchFamily="34" charset="-122"/>
              <a:ea typeface="微软雅黑" panose="020B0503020204020204" pitchFamily="34" charset="-122"/>
            </a:endParaRPr>
          </a:p>
          <a:p>
            <a:pPr marL="285750" indent="-285750">
              <a:lnSpc>
                <a:spcPct val="110000"/>
              </a:lnSpc>
              <a:spcBef>
                <a:spcPts val="200"/>
              </a:spcBef>
              <a:buFont typeface="Wingdings" panose="05000000000000000000" pitchFamily="2" charset="2"/>
              <a:buChar char="Ø"/>
            </a:pPr>
            <a:r>
              <a:rPr lang="zh-CN" altLang="en-US" sz="2000" dirty="0">
                <a:solidFill>
                  <a:srgbClr val="121212"/>
                </a:solidFill>
                <a:latin typeface="微软雅黑" panose="020B0503020204020204" pitchFamily="34" charset="-122"/>
                <a:ea typeface="微软雅黑" panose="020B0503020204020204" pitchFamily="34" charset="-122"/>
              </a:rPr>
              <a:t>互联网进入高速发展期：</a:t>
            </a:r>
            <a:br>
              <a:rPr lang="en-US" altLang="zh-CN" sz="2000" dirty="0">
                <a:solidFill>
                  <a:srgbClr val="121212"/>
                </a:solidFill>
                <a:latin typeface="微软雅黑" panose="020B0503020204020204" pitchFamily="34" charset="-122"/>
                <a:ea typeface="微软雅黑" panose="020B0503020204020204" pitchFamily="34" charset="-122"/>
              </a:rPr>
            </a:br>
            <a:r>
              <a:rPr lang="zh-CN" altLang="en-US" sz="2000" dirty="0">
                <a:solidFill>
                  <a:srgbClr val="121212"/>
                </a:solidFill>
                <a:latin typeface="微软雅黑" panose="020B0503020204020204" pitchFamily="34" charset="-122"/>
                <a:ea typeface="微软雅黑" panose="020B0503020204020204" pitchFamily="34" charset="-122"/>
              </a:rPr>
              <a:t>雅虎、</a:t>
            </a:r>
            <a:r>
              <a:rPr lang="en-US" altLang="zh-CN" sz="2000" dirty="0">
                <a:solidFill>
                  <a:srgbClr val="121212"/>
                </a:solidFill>
                <a:latin typeface="微软雅黑" panose="020B0503020204020204" pitchFamily="34" charset="-122"/>
                <a:ea typeface="微软雅黑" panose="020B0503020204020204" pitchFamily="34" charset="-122"/>
              </a:rPr>
              <a:t>AOL</a:t>
            </a:r>
            <a:r>
              <a:rPr lang="zh-CN" altLang="en-US" sz="2000" dirty="0">
                <a:solidFill>
                  <a:srgbClr val="121212"/>
                </a:solidFill>
                <a:latin typeface="微软雅黑" panose="020B0503020204020204" pitchFamily="34" charset="-122"/>
                <a:ea typeface="微软雅黑" panose="020B0503020204020204" pitchFamily="34" charset="-122"/>
              </a:rPr>
              <a:t>、谷歌、亚马逊、</a:t>
            </a:r>
            <a:r>
              <a:rPr lang="en-US" altLang="zh-CN" sz="2000" dirty="0" err="1">
                <a:solidFill>
                  <a:srgbClr val="121212"/>
                </a:solidFill>
                <a:latin typeface="微软雅黑" panose="020B0503020204020204" pitchFamily="34" charset="-122"/>
                <a:ea typeface="微软雅黑" panose="020B0503020204020204" pitchFamily="34" charset="-122"/>
              </a:rPr>
              <a:t>EBay</a:t>
            </a:r>
            <a:r>
              <a:rPr lang="zh-CN" altLang="en-US" sz="2000" dirty="0">
                <a:solidFill>
                  <a:srgbClr val="121212"/>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Netflix</a:t>
            </a:r>
            <a:r>
              <a:rPr lang="zh-CN" altLang="en-US" sz="2000" dirty="0">
                <a:solidFill>
                  <a:srgbClr val="333333"/>
                </a:solidFill>
                <a:latin typeface="微软雅黑" panose="020B0503020204020204" pitchFamily="34" charset="-122"/>
                <a:ea typeface="微软雅黑" panose="020B0503020204020204" pitchFamily="34" charset="-122"/>
              </a:rPr>
              <a:t>、</a:t>
            </a:r>
            <a:r>
              <a:rPr lang="zh-CN" altLang="en-US" sz="2000" dirty="0">
                <a:solidFill>
                  <a:srgbClr val="121212"/>
                </a:solidFill>
                <a:latin typeface="微软雅黑" panose="020B0503020204020204" pitchFamily="34" charset="-122"/>
                <a:ea typeface="微软雅黑" panose="020B0503020204020204" pitchFamily="34" charset="-122"/>
              </a:rPr>
              <a:t>腾讯，阿里，百度，京东</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lnSpc>
                <a:spcPct val="110000"/>
              </a:lnSpc>
              <a:spcBef>
                <a:spcPts val="200"/>
              </a:spcBef>
              <a:buFont typeface="Wingdings" panose="05000000000000000000" pitchFamily="2" charset="2"/>
              <a:buChar char="Ø"/>
            </a:pPr>
            <a:r>
              <a:rPr lang="en-US" altLang="zh-CN" sz="2000" dirty="0">
                <a:solidFill>
                  <a:srgbClr val="C00000"/>
                </a:solidFill>
                <a:latin typeface="微软雅黑" panose="020B0503020204020204" pitchFamily="34" charset="-122"/>
                <a:ea typeface="微软雅黑" panose="020B0503020204020204" pitchFamily="34" charset="-122"/>
              </a:rPr>
              <a:t>95</a:t>
            </a:r>
            <a:r>
              <a:rPr lang="zh-CN" altLang="en-US" sz="2000" dirty="0">
                <a:solidFill>
                  <a:srgbClr val="C00000"/>
                </a:solidFill>
                <a:latin typeface="微软雅黑" panose="020B0503020204020204" pitchFamily="34" charset="-122"/>
                <a:ea typeface="微软雅黑" panose="020B0503020204020204" pitchFamily="34" charset="-122"/>
              </a:rPr>
              <a:t>年</a:t>
            </a:r>
            <a:r>
              <a:rPr lang="en-US" altLang="zh-CN" sz="2000" dirty="0" err="1">
                <a:solidFill>
                  <a:srgbClr val="C00000"/>
                </a:solidFill>
                <a:latin typeface="微软雅黑" panose="020B0503020204020204" pitchFamily="34" charset="-122"/>
                <a:ea typeface="微软雅黑" panose="020B0503020204020204" pitchFamily="34" charset="-122"/>
              </a:rPr>
              <a:t>NSFnet</a:t>
            </a:r>
            <a:r>
              <a:rPr lang="zh-CN" altLang="en-US" sz="2000" dirty="0">
                <a:solidFill>
                  <a:srgbClr val="C00000"/>
                </a:solidFill>
                <a:latin typeface="微软雅黑" panose="020B0503020204020204" pitchFamily="34" charset="-122"/>
                <a:ea typeface="微软雅黑" panose="020B0503020204020204" pitchFamily="34" charset="-122"/>
              </a:rPr>
              <a:t>退役，转商业，网景上市，达</a:t>
            </a:r>
            <a:r>
              <a:rPr lang="en-US" altLang="zh-CN" sz="2000" dirty="0">
                <a:solidFill>
                  <a:srgbClr val="C00000"/>
                </a:solidFill>
                <a:latin typeface="微软雅黑" panose="020B0503020204020204" pitchFamily="34" charset="-122"/>
                <a:ea typeface="微软雅黑" panose="020B0503020204020204" pitchFamily="34" charset="-122"/>
              </a:rPr>
              <a:t>29</a:t>
            </a:r>
            <a:r>
              <a:rPr lang="zh-CN" altLang="en-US" sz="2000" dirty="0">
                <a:solidFill>
                  <a:srgbClr val="C00000"/>
                </a:solidFill>
                <a:latin typeface="微软雅黑" panose="020B0503020204020204" pitchFamily="34" charset="-122"/>
                <a:ea typeface="微软雅黑" panose="020B0503020204020204" pitchFamily="34" charset="-122"/>
              </a:rPr>
              <a:t>亿美元</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lnSpc>
                <a:spcPct val="110000"/>
              </a:lnSpc>
              <a:spcBef>
                <a:spcPts val="200"/>
              </a:spcBef>
              <a:buFont typeface="Wingdings" panose="05000000000000000000" pitchFamily="2" charset="2"/>
              <a:buChar char="Ø"/>
            </a:pPr>
            <a:r>
              <a:rPr lang="en-US" altLang="zh-CN" sz="2000" dirty="0">
                <a:solidFill>
                  <a:srgbClr val="C00000"/>
                </a:solidFill>
                <a:latin typeface="微软雅黑" panose="020B0503020204020204" pitchFamily="34" charset="-122"/>
                <a:ea typeface="微软雅黑" panose="020B0503020204020204" pitchFamily="34" charset="-122"/>
              </a:rPr>
              <a:t>Netscape/</a:t>
            </a:r>
            <a:r>
              <a:rPr lang="zh-CN" altLang="en-US" sz="2000" dirty="0">
                <a:solidFill>
                  <a:srgbClr val="C00000"/>
                </a:solidFill>
                <a:latin typeface="微软雅黑" panose="020B0503020204020204" pitchFamily="34" charset="-122"/>
                <a:ea typeface="微软雅黑" panose="020B0503020204020204" pitchFamily="34" charset="-122"/>
              </a:rPr>
              <a:t>微软</a:t>
            </a:r>
            <a:r>
              <a:rPr lang="en-US" altLang="zh-CN" sz="2000" dirty="0">
                <a:solidFill>
                  <a:srgbClr val="C00000"/>
                </a:solidFill>
                <a:latin typeface="微软雅黑" panose="020B0503020204020204" pitchFamily="34" charset="-122"/>
                <a:ea typeface="微软雅黑" panose="020B0503020204020204" pitchFamily="34" charset="-122"/>
              </a:rPr>
              <a:t>IE</a:t>
            </a:r>
            <a:r>
              <a:rPr lang="zh-CN" altLang="en-US" sz="2000" dirty="0">
                <a:solidFill>
                  <a:srgbClr val="C00000"/>
                </a:solidFill>
                <a:latin typeface="微软雅黑" panose="020B0503020204020204" pitchFamily="34" charset="-122"/>
                <a:ea typeface="微软雅黑" panose="020B0503020204020204" pitchFamily="34" charset="-122"/>
              </a:rPr>
              <a:t>世纪之争</a:t>
            </a:r>
            <a:endParaRPr lang="en-US" altLang="zh-CN" sz="2000" i="0" dirty="0">
              <a:solidFill>
                <a:srgbClr val="C00000"/>
              </a:solidFill>
              <a:effectLst/>
              <a:latin typeface="微软雅黑" panose="020B0503020204020204" pitchFamily="34" charset="-122"/>
              <a:ea typeface="微软雅黑" panose="020B0503020204020204" pitchFamily="34" charset="-122"/>
            </a:endParaRPr>
          </a:p>
        </p:txBody>
      </p:sp>
      <p:sp>
        <p:nvSpPr>
          <p:cNvPr id="14" name="文本框 13"/>
          <p:cNvSpPr txBox="1"/>
          <p:nvPr/>
        </p:nvSpPr>
        <p:spPr>
          <a:xfrm>
            <a:off x="4085024" y="1620168"/>
            <a:ext cx="3062303" cy="3170099"/>
          </a:xfrm>
          <a:prstGeom prst="rect">
            <a:avLst/>
          </a:prstGeom>
          <a:solidFill>
            <a:schemeClr val="bg1"/>
          </a:solidFill>
          <a:ln>
            <a:solidFill>
              <a:schemeClr val="bg1"/>
            </a:solidFill>
          </a:ln>
        </p:spPr>
        <p:txBody>
          <a:bodyPr wrap="square">
            <a:spAutoFit/>
          </a:bodyPr>
          <a:lstStyle/>
          <a:p>
            <a:pPr marL="285750" indent="-285750">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年，互联网泡沫破灭，进入低调发展阶段</a:t>
            </a:r>
            <a:endParaRPr lang="zh-CN" altLang="en-US"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en-US" altLang="zh-CN" sz="2000" dirty="0">
                <a:solidFill>
                  <a:srgbClr val="333333"/>
                </a:solidFill>
                <a:latin typeface="微软雅黑" panose="020B0503020204020204" pitchFamily="34" charset="-122"/>
                <a:ea typeface="微软雅黑" panose="020B0503020204020204" pitchFamily="34" charset="-122"/>
              </a:rPr>
              <a:t>Myspace</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Skype</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Safari</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Facebook</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Twitter</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err="1">
                <a:solidFill>
                  <a:srgbClr val="333333"/>
                </a:solidFill>
                <a:latin typeface="微软雅黑" panose="020B0503020204020204" pitchFamily="34" charset="-122"/>
                <a:ea typeface="微软雅黑" panose="020B0503020204020204" pitchFamily="34" charset="-122"/>
              </a:rPr>
              <a:t>youtube</a:t>
            </a:r>
            <a:r>
              <a:rPr lang="zh-CN" altLang="en-US" sz="2000" dirty="0">
                <a:solidFill>
                  <a:srgbClr val="333333"/>
                </a:solidFill>
                <a:latin typeface="微软雅黑" panose="020B0503020204020204" pitchFamily="34" charset="-122"/>
                <a:ea typeface="微软雅黑" panose="020B0503020204020204" pitchFamily="34" charset="-122"/>
              </a:rPr>
              <a:t>，土豆，</a:t>
            </a:r>
            <a:r>
              <a:rPr lang="en-US" altLang="zh-CN" sz="2000" dirty="0" err="1">
                <a:solidFill>
                  <a:srgbClr val="333333"/>
                </a:solidFill>
                <a:latin typeface="微软雅黑" panose="020B0503020204020204" pitchFamily="34" charset="-122"/>
                <a:ea typeface="微软雅黑" panose="020B0503020204020204" pitchFamily="34" charset="-122"/>
              </a:rPr>
              <a:t>youku</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en-US" altLang="zh-CN" sz="2000" dirty="0">
                <a:solidFill>
                  <a:srgbClr val="C00000"/>
                </a:solidFill>
                <a:latin typeface="微软雅黑" panose="020B0503020204020204" pitchFamily="34" charset="-122"/>
                <a:ea typeface="微软雅黑" panose="020B0503020204020204" pitchFamily="34" charset="-122"/>
              </a:rPr>
              <a:t>2007</a:t>
            </a:r>
            <a:r>
              <a:rPr lang="zh-CN" altLang="en-US" sz="2000" dirty="0">
                <a:solidFill>
                  <a:srgbClr val="C00000"/>
                </a:solidFill>
                <a:latin typeface="微软雅黑" panose="020B0503020204020204" pitchFamily="34" charset="-122"/>
                <a:ea typeface="微软雅黑" panose="020B0503020204020204" pitchFamily="34" charset="-122"/>
              </a:rPr>
              <a:t>年，</a:t>
            </a:r>
            <a:r>
              <a:rPr lang="en-US" altLang="zh-CN" sz="2000" dirty="0">
                <a:solidFill>
                  <a:srgbClr val="C00000"/>
                </a:solidFill>
                <a:latin typeface="微软雅黑" panose="020B0503020204020204" pitchFamily="34" charset="-122"/>
                <a:ea typeface="微软雅黑" panose="020B0503020204020204" pitchFamily="34" charset="-122"/>
              </a:rPr>
              <a:t>3G+iPhone</a:t>
            </a:r>
            <a:r>
              <a:rPr lang="zh-CN" altLang="en-US" sz="2000" dirty="0">
                <a:solidFill>
                  <a:srgbClr val="C00000"/>
                </a:solidFill>
                <a:latin typeface="微软雅黑" panose="020B0503020204020204" pitchFamily="34" charset="-122"/>
                <a:ea typeface="微软雅黑" panose="020B0503020204020204" pitchFamily="34" charset="-122"/>
              </a:rPr>
              <a:t>，谷歌收购安卓，即将进入移动互联</a:t>
            </a:r>
            <a:endParaRPr lang="en-US" altLang="zh-CN" sz="2000" dirty="0">
              <a:solidFill>
                <a:srgbClr val="C00000"/>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7139329" y="1977074"/>
            <a:ext cx="3024771" cy="2862322"/>
          </a:xfrm>
          <a:prstGeom prst="rect">
            <a:avLst/>
          </a:prstGeom>
          <a:solidFill>
            <a:schemeClr val="bg1"/>
          </a:solidFill>
          <a:ln>
            <a:solidFill>
              <a:schemeClr val="bg1"/>
            </a:solidFill>
          </a:ln>
        </p:spPr>
        <p:txBody>
          <a:bodyPr wrap="square">
            <a:spAutoFit/>
          </a:bodyPr>
          <a:lstStyle/>
          <a:p>
            <a:pPr marL="285750" indent="-285750">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各种应用：</a:t>
            </a:r>
            <a:r>
              <a:rPr lang="en-US" altLang="zh-CN" sz="2000" dirty="0">
                <a:solidFill>
                  <a:srgbClr val="333333"/>
                </a:solidFill>
                <a:latin typeface="微软雅黑" panose="020B0503020204020204" pitchFamily="34" charset="-122"/>
                <a:ea typeface="微软雅黑" panose="020B0503020204020204" pitchFamily="34" charset="-122"/>
              </a:rPr>
              <a:t>Uber, </a:t>
            </a:r>
            <a:r>
              <a:rPr lang="en-US" altLang="zh-CN" sz="2000" dirty="0" err="1">
                <a:latin typeface="微软雅黑" panose="020B0503020204020204" pitchFamily="34" charset="-122"/>
                <a:ea typeface="微软雅黑" panose="020B0503020204020204" pitchFamily="34" charset="-122"/>
              </a:rPr>
              <a:t>airbnb</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333333"/>
                </a:solidFill>
                <a:latin typeface="微软雅黑" panose="020B0503020204020204" pitchFamily="34" charset="-122"/>
                <a:ea typeface="微软雅黑" panose="020B0503020204020204" pitchFamily="34" charset="-122"/>
              </a:rPr>
              <a:t>滴滴， 抖音，头条，美团，拼多多</a:t>
            </a:r>
            <a:r>
              <a:rPr lang="en-US" altLang="zh-CN" sz="2000" dirty="0">
                <a:solidFill>
                  <a:srgbClr val="333333"/>
                </a:solidFill>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2000" dirty="0">
                <a:solidFill>
                  <a:srgbClr val="C00000"/>
                </a:solidFill>
                <a:latin typeface="微软雅黑" panose="020B0503020204020204" pitchFamily="34" charset="-122"/>
                <a:ea typeface="微软雅黑" panose="020B0503020204020204" pitchFamily="34" charset="-122"/>
              </a:rPr>
              <a:t>云为基础的互联网平台</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新技术爆发：高速网络，云，</a:t>
            </a:r>
            <a:r>
              <a:rPr lang="en-US" altLang="zh-CN" sz="2000" dirty="0">
                <a:latin typeface="微软雅黑" panose="020B0503020204020204" pitchFamily="34" charset="-122"/>
                <a:ea typeface="微软雅黑" panose="020B0503020204020204" pitchFamily="34" charset="-122"/>
              </a:rPr>
              <a:t>SDN</a:t>
            </a:r>
            <a:r>
              <a:rPr lang="zh-CN" altLang="en-US" sz="2000" dirty="0">
                <a:latin typeface="微软雅黑" panose="020B0503020204020204" pitchFamily="34" charset="-122"/>
                <a:ea typeface="微软雅黑" panose="020B0503020204020204" pitchFamily="34" charset="-122"/>
              </a:rPr>
              <a:t>，大数据</a:t>
            </a:r>
            <a:r>
              <a:rPr lang="en-US" altLang="zh-CN" sz="2000" dirty="0">
                <a:latin typeface="微软雅黑" panose="020B0503020204020204" pitchFamily="34" charset="-122"/>
                <a:ea typeface="微软雅黑" panose="020B0503020204020204" pitchFamily="34" charset="-122"/>
              </a:rPr>
              <a:t>/AI</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VR/AR</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en-US" altLang="zh-CN" sz="2000" dirty="0">
                <a:solidFill>
                  <a:srgbClr val="C00000"/>
                </a:solidFill>
                <a:latin typeface="微软雅黑" panose="020B0503020204020204" pitchFamily="34" charset="-122"/>
                <a:ea typeface="微软雅黑" panose="020B0503020204020204" pitchFamily="34" charset="-122"/>
              </a:rPr>
              <a:t>2010</a:t>
            </a:r>
            <a:r>
              <a:rPr lang="zh-CN" altLang="en-US" sz="2000" dirty="0">
                <a:solidFill>
                  <a:srgbClr val="C00000"/>
                </a:solidFill>
                <a:latin typeface="微软雅黑" panose="020B0503020204020204" pitchFamily="34" charset="-122"/>
                <a:ea typeface="微软雅黑" panose="020B0503020204020204" pitchFamily="34" charset="-122"/>
              </a:rPr>
              <a:t>年，</a:t>
            </a:r>
            <a:r>
              <a:rPr lang="en-US" altLang="zh-CN" sz="2000" dirty="0">
                <a:solidFill>
                  <a:srgbClr val="C00000"/>
                </a:solidFill>
                <a:latin typeface="微软雅黑" panose="020B0503020204020204" pitchFamily="34" charset="-122"/>
                <a:ea typeface="微软雅黑" panose="020B0503020204020204" pitchFamily="34" charset="-122"/>
              </a:rPr>
              <a:t>4G LTE</a:t>
            </a:r>
            <a:r>
              <a:rPr lang="zh-CN" altLang="en-US" sz="2000" dirty="0">
                <a:solidFill>
                  <a:srgbClr val="C00000"/>
                </a:solidFill>
                <a:latin typeface="微软雅黑" panose="020B0503020204020204" pitchFamily="34" charset="-122"/>
                <a:ea typeface="微软雅黑" panose="020B0503020204020204" pitchFamily="34" charset="-122"/>
              </a:rPr>
              <a:t>部署</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0368597" y="2523855"/>
            <a:ext cx="1620203" cy="2005076"/>
          </a:xfrm>
          <a:prstGeom prst="rect">
            <a:avLst/>
          </a:prstGeom>
          <a:solidFill>
            <a:schemeClr val="bg1"/>
          </a:solidFill>
          <a:ln>
            <a:solidFill>
              <a:schemeClr val="bg1"/>
            </a:solidFill>
          </a:ln>
        </p:spPr>
        <p:txBody>
          <a:bodyPr wrap="square">
            <a:noAutofit/>
          </a:bodyPr>
          <a:lstStyle/>
          <a:p>
            <a:pPr marL="285750" indent="-285750">
              <a:lnSpc>
                <a:spcPct val="13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IoT</a:t>
            </a:r>
            <a:endParaRPr lang="en-US" altLang="zh-CN" sz="20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车联网</a:t>
            </a:r>
            <a:endParaRPr lang="en-US" altLang="zh-CN" sz="20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进入各行业</a:t>
            </a:r>
            <a:endParaRPr lang="en-US" altLang="zh-CN" sz="20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endParaRPr lang="en-US" altLang="zh-CN" sz="20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p:txBody>
      </p:sp>
      <p:sp>
        <p:nvSpPr>
          <p:cNvPr id="37" name="矩形 36"/>
          <p:cNvSpPr/>
          <p:nvPr/>
        </p:nvSpPr>
        <p:spPr>
          <a:xfrm>
            <a:off x="65451" y="5752811"/>
            <a:ext cx="12072656" cy="372270"/>
          </a:xfrm>
          <a:prstGeom prst="rect">
            <a:avLst/>
          </a:prstGeom>
          <a:noFill/>
          <a:ln w="38100">
            <a:solidFill>
              <a:srgbClr val="B348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1696100" y="6182462"/>
            <a:ext cx="3647152"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数据以下载为主，下行带宽要求高</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6096000" y="6210483"/>
            <a:ext cx="6186309"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直播应用用户开始产生数据，开始对上行带宽提出更高要求</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7" name="文本框 1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blinds(horizontal)">
                                      <p:cBhvr>
                                        <p:cTn id="9" dur="5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3" presetClass="entr" presetSubtype="1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linds(horizontal)">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4" grpId="0" animBg="1"/>
      <p:bldP spid="28" grpId="0" animBg="1"/>
      <p:bldP spid="37" grpId="0" animBg="1"/>
      <p:bldP spid="41"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互联网的新发展与启示</a:t>
            </a:r>
            <a:endParaRPr lang="zh-CN" altLang="en-US" dirty="0"/>
          </a:p>
        </p:txBody>
      </p:sp>
      <p:sp>
        <p:nvSpPr>
          <p:cNvPr id="5" name="箭头: V 形 4"/>
          <p:cNvSpPr/>
          <p:nvPr/>
        </p:nvSpPr>
        <p:spPr>
          <a:xfrm>
            <a:off x="123201" y="5096934"/>
            <a:ext cx="3517124" cy="1040866"/>
          </a:xfrm>
          <a:prstGeom prst="chevron">
            <a:avLst/>
          </a:prstGeom>
          <a:solidFill>
            <a:srgbClr val="FFD80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600" b="1" i="0" dirty="0">
                <a:solidFill>
                  <a:srgbClr val="333333"/>
                </a:solidFill>
                <a:effectLst/>
                <a:latin typeface="微软雅黑" panose="020B0503020204020204" pitchFamily="34" charset="-122"/>
                <a:ea typeface="微软雅黑" panose="020B0503020204020204" pitchFamily="34" charset="-122"/>
              </a:rPr>
              <a:t>Web 1.0</a:t>
            </a:r>
            <a:r>
              <a:rPr lang="zh-CN" altLang="en-US" sz="1600" b="1" i="0" dirty="0">
                <a:solidFill>
                  <a:schemeClr val="tx1"/>
                </a:solidFill>
                <a:effectLst/>
                <a:latin typeface="微软雅黑" panose="020B0503020204020204" pitchFamily="34" charset="-122"/>
                <a:ea typeface="微软雅黑" panose="020B0503020204020204" pitchFamily="34" charset="-122"/>
              </a:rPr>
              <a:t>（</a:t>
            </a:r>
            <a:r>
              <a:rPr lang="en-US" altLang="zh-CN" sz="1600" b="1" dirty="0">
                <a:solidFill>
                  <a:schemeClr val="tx1"/>
                </a:solidFill>
                <a:latin typeface="微软雅黑" panose="020B0503020204020204" pitchFamily="34" charset="-122"/>
                <a:ea typeface="微软雅黑" panose="020B0503020204020204" pitchFamily="34" charset="-122"/>
              </a:rPr>
              <a:t>1993-1999</a:t>
            </a:r>
            <a:r>
              <a:rPr lang="zh-CN" altLang="en-US" sz="1600" b="1" dirty="0">
                <a:solidFill>
                  <a:schemeClr val="tx1"/>
                </a:solidFill>
                <a:latin typeface="微软雅黑" panose="020B0503020204020204" pitchFamily="34" charset="-122"/>
                <a:ea typeface="微软雅黑" panose="020B0503020204020204" pitchFamily="34" charset="-122"/>
              </a:rPr>
              <a:t>）</a:t>
            </a:r>
            <a:endParaRPr lang="en-US" altLang="zh-CN" sz="1600" b="1" i="0" dirty="0">
              <a:solidFill>
                <a:schemeClr val="tx1"/>
              </a:solidFill>
              <a:effectLst/>
              <a:latin typeface="微软雅黑" panose="020B0503020204020204" pitchFamily="34" charset="-122"/>
              <a:ea typeface="微软雅黑" panose="020B0503020204020204" pitchFamily="34" charset="-122"/>
            </a:endParaRPr>
          </a:p>
          <a:p>
            <a:pPr algn="ctr">
              <a:lnSpc>
                <a:spcPct val="130000"/>
              </a:lnSpc>
            </a:pPr>
            <a:r>
              <a:rPr lang="zh-CN" altLang="en-US" sz="1600" b="0" i="0" dirty="0">
                <a:solidFill>
                  <a:srgbClr val="333333"/>
                </a:solidFill>
                <a:effectLst/>
                <a:latin typeface="微软雅黑" panose="020B0503020204020204" pitchFamily="34" charset="-122"/>
                <a:ea typeface="微软雅黑" panose="020B0503020204020204" pitchFamily="34" charset="-122"/>
              </a:rPr>
              <a:t>浏览器、门户、电子商务</a:t>
            </a:r>
            <a:endParaRPr lang="en-US" altLang="zh-CN" sz="1600" b="0" i="0" dirty="0">
              <a:solidFill>
                <a:srgbClr val="333333"/>
              </a:solidFill>
              <a:effectLst/>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ISDN</a:t>
            </a:r>
            <a:r>
              <a:rPr lang="zh-CN" altLang="en-US" sz="1600" b="1" dirty="0">
                <a:solidFill>
                  <a:srgbClr val="C00000"/>
                </a:solidFill>
                <a:latin typeface="微软雅黑" panose="020B0503020204020204" pitchFamily="34" charset="-122"/>
                <a:ea typeface="微软雅黑" panose="020B0503020204020204" pitchFamily="34" charset="-122"/>
              </a:rPr>
              <a:t>上网，</a:t>
            </a:r>
            <a:r>
              <a:rPr lang="en-US" altLang="zh-CN" sz="1600" b="1" dirty="0">
                <a:solidFill>
                  <a:srgbClr val="C00000"/>
                </a:solidFill>
                <a:latin typeface="微软雅黑" panose="020B0503020204020204" pitchFamily="34" charset="-122"/>
                <a:ea typeface="微软雅黑" panose="020B0503020204020204" pitchFamily="34" charset="-122"/>
              </a:rPr>
              <a:t>~64Kbps</a:t>
            </a:r>
            <a:r>
              <a:rPr lang="zh-CN" altLang="en-US" sz="1600" b="1" dirty="0">
                <a:solidFill>
                  <a:srgbClr val="C00000"/>
                </a:solidFill>
                <a:latin typeface="微软雅黑" panose="020B0503020204020204" pitchFamily="34" charset="-122"/>
                <a:ea typeface="微软雅黑" panose="020B0503020204020204" pitchFamily="34" charset="-122"/>
              </a:rPr>
              <a:t> </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7" name="箭头: V 形 6"/>
          <p:cNvSpPr/>
          <p:nvPr/>
        </p:nvSpPr>
        <p:spPr>
          <a:xfrm>
            <a:off x="3154231" y="5084213"/>
            <a:ext cx="3458563" cy="1066309"/>
          </a:xfrm>
          <a:prstGeom prst="chevron">
            <a:avLst/>
          </a:prstGeom>
          <a:solidFill>
            <a:srgbClr val="FDCB0B"/>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600" b="1" dirty="0">
                <a:solidFill>
                  <a:srgbClr val="333333"/>
                </a:solidFill>
                <a:latin typeface="微软雅黑" panose="020B0503020204020204" pitchFamily="34" charset="-122"/>
                <a:ea typeface="微软雅黑" panose="020B0503020204020204" pitchFamily="34" charset="-122"/>
              </a:rPr>
              <a:t>Web 2.0</a:t>
            </a:r>
            <a:r>
              <a:rPr lang="zh-CN" altLang="en-US" sz="1600" b="1" dirty="0">
                <a:solidFill>
                  <a:srgbClr val="333333"/>
                </a:solidFill>
                <a:latin typeface="微软雅黑" panose="020B0503020204020204" pitchFamily="34" charset="-122"/>
                <a:ea typeface="微软雅黑" panose="020B0503020204020204" pitchFamily="34" charset="-122"/>
              </a:rPr>
              <a:t>（</a:t>
            </a:r>
            <a:r>
              <a:rPr lang="en-US" altLang="zh-CN" sz="1600" b="1" dirty="0">
                <a:solidFill>
                  <a:srgbClr val="333333"/>
                </a:solidFill>
                <a:latin typeface="微软雅黑" panose="020B0503020204020204" pitchFamily="34" charset="-122"/>
                <a:ea typeface="微软雅黑" panose="020B0503020204020204" pitchFamily="34" charset="-122"/>
              </a:rPr>
              <a:t>2000-2007</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博客、社交媒体、视频</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DSL/LAN</a:t>
            </a:r>
            <a:r>
              <a:rPr lang="zh-CN" altLang="en-US" sz="1600" b="1"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~10Mbps</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9" name="箭头: V 形 8"/>
          <p:cNvSpPr/>
          <p:nvPr/>
        </p:nvSpPr>
        <p:spPr>
          <a:xfrm>
            <a:off x="6126700" y="5084213"/>
            <a:ext cx="3638197" cy="1066308"/>
          </a:xfrm>
          <a:prstGeom prst="chevron">
            <a:avLst/>
          </a:prstGeom>
          <a:solidFill>
            <a:srgbClr val="F9BC12"/>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600" b="1" dirty="0">
                <a:solidFill>
                  <a:srgbClr val="333333"/>
                </a:solidFill>
                <a:latin typeface="微软雅黑" panose="020B0503020204020204" pitchFamily="34" charset="-122"/>
                <a:ea typeface="微软雅黑" panose="020B0503020204020204" pitchFamily="34" charset="-122"/>
              </a:rPr>
              <a:t>移动互联（</a:t>
            </a:r>
            <a:r>
              <a:rPr lang="en-US" altLang="zh-CN" sz="1600" b="1" dirty="0">
                <a:solidFill>
                  <a:srgbClr val="333333"/>
                </a:solidFill>
                <a:latin typeface="微软雅黑" panose="020B0503020204020204" pitchFamily="34" charset="-122"/>
                <a:ea typeface="微软雅黑" panose="020B0503020204020204" pitchFamily="34" charset="-122"/>
              </a:rPr>
              <a:t>~2018</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导航，网购，互联网</a:t>
            </a:r>
            <a:r>
              <a:rPr lang="en-US" altLang="zh-CN" sz="1600" dirty="0">
                <a:solidFill>
                  <a:srgbClr val="333333"/>
                </a:solidFill>
                <a:latin typeface="微软雅黑" panose="020B0503020204020204" pitchFamily="34" charset="-122"/>
                <a:ea typeface="微软雅黑" panose="020B0503020204020204" pitchFamily="34" charset="-122"/>
              </a:rPr>
              <a:t>+</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WIFI+4G+</a:t>
            </a:r>
            <a:r>
              <a:rPr lang="zh-CN" altLang="en-US" sz="1600" b="1"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~100Mbps</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11" name="箭头: V 形 10"/>
          <p:cNvSpPr/>
          <p:nvPr/>
        </p:nvSpPr>
        <p:spPr>
          <a:xfrm>
            <a:off x="9278802" y="5084213"/>
            <a:ext cx="2943997" cy="1066308"/>
          </a:xfrm>
          <a:prstGeom prst="chevron">
            <a:avLst/>
          </a:prstGeom>
          <a:solidFill>
            <a:srgbClr val="F6A52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600" b="1" dirty="0">
                <a:solidFill>
                  <a:srgbClr val="333333"/>
                </a:solidFill>
                <a:latin typeface="微软雅黑" panose="020B0503020204020204" pitchFamily="34" charset="-122"/>
                <a:ea typeface="微软雅黑" panose="020B0503020204020204" pitchFamily="34" charset="-122"/>
              </a:rPr>
              <a:t>智能互联（</a:t>
            </a:r>
            <a:r>
              <a:rPr lang="en-US" altLang="zh-CN" sz="1600" b="1" dirty="0">
                <a:solidFill>
                  <a:srgbClr val="333333"/>
                </a:solidFill>
                <a:latin typeface="微软雅黑" panose="020B0503020204020204" pitchFamily="34" charset="-122"/>
                <a:ea typeface="微软雅黑" panose="020B0503020204020204" pitchFamily="34" charset="-122"/>
              </a:rPr>
              <a:t>~</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万物互联</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5G+</a:t>
            </a:r>
            <a:r>
              <a:rPr lang="zh-CN" altLang="en-US" sz="1600" b="1" dirty="0">
                <a:solidFill>
                  <a:srgbClr val="C00000"/>
                </a:solidFill>
                <a:latin typeface="微软雅黑" panose="020B0503020204020204" pitchFamily="34" charset="-122"/>
                <a:ea typeface="微软雅黑" panose="020B0503020204020204" pitchFamily="34" charset="-122"/>
              </a:rPr>
              <a:t>，一体化网络</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37" name="矩形 36"/>
          <p:cNvSpPr/>
          <p:nvPr/>
        </p:nvSpPr>
        <p:spPr>
          <a:xfrm>
            <a:off x="65451" y="5752811"/>
            <a:ext cx="12072656" cy="372270"/>
          </a:xfrm>
          <a:prstGeom prst="rect">
            <a:avLst/>
          </a:prstGeom>
          <a:noFill/>
          <a:ln w="38100">
            <a:solidFill>
              <a:srgbClr val="B348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1696100" y="6182462"/>
            <a:ext cx="3647152"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数据以下载为主，下行带宽要求高</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6096000" y="6210483"/>
            <a:ext cx="6186309"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直播应用用户开始产生数据，开始对上行带宽提出更高要求</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439946" y="1386276"/>
            <a:ext cx="11334519" cy="3495914"/>
          </a:xfrm>
          <a:prstGeom prst="rect">
            <a:avLst/>
          </a:prstGeom>
          <a:solidFill>
            <a:schemeClr val="bg1"/>
          </a:solidFill>
          <a:ln w="28575">
            <a:solidFill>
              <a:srgbClr val="7030A0"/>
            </a:solidFill>
          </a:ln>
        </p:spPr>
        <p:txBody>
          <a:bodyPr wrap="square" rtlCol="0">
            <a:noAutofit/>
          </a:bodyPr>
          <a:lstStyle/>
          <a:p>
            <a:pPr algn="ctr">
              <a:lnSpc>
                <a:spcPct val="130000"/>
              </a:lnSpc>
            </a:pPr>
            <a:r>
              <a:rPr lang="zh-CN" altLang="en-US" sz="2800" dirty="0">
                <a:solidFill>
                  <a:srgbClr val="C00000"/>
                </a:solidFill>
                <a:latin typeface="微软雅黑" panose="020B0503020204020204" pitchFamily="34" charset="-122"/>
                <a:ea typeface="微软雅黑" panose="020B0503020204020204" pitchFamily="34" charset="-122"/>
              </a:rPr>
              <a:t>商业需求是核心驱动力，技术创新提供重要基础</a:t>
            </a:r>
            <a:endParaRPr lang="en-US" altLang="zh-CN" sz="2800" dirty="0">
              <a:solidFill>
                <a:srgbClr val="C00000"/>
              </a:solidFill>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有远见的</a:t>
            </a:r>
            <a:r>
              <a:rPr lang="zh-CN" altLang="en-US" sz="2400" dirty="0">
                <a:solidFill>
                  <a:srgbClr val="C00000"/>
                </a:solidFill>
                <a:latin typeface="微软雅黑" panose="020B0503020204020204" pitchFamily="34" charset="-122"/>
                <a:ea typeface="微软雅黑" panose="020B0503020204020204" pitchFamily="34" charset="-122"/>
              </a:rPr>
              <a:t>企业</a:t>
            </a:r>
            <a:r>
              <a:rPr lang="zh-CN" altLang="en-US" sz="2400" dirty="0">
                <a:latin typeface="微软雅黑" panose="020B0503020204020204" pitchFamily="34" charset="-122"/>
                <a:ea typeface="微软雅黑" panose="020B0503020204020204" pitchFamily="34" charset="-122"/>
              </a:rPr>
              <a:t>参与并不断投入：</a:t>
            </a:r>
            <a:r>
              <a:rPr lang="en-US" altLang="zh-CN" sz="2400" dirty="0">
                <a:latin typeface="微软雅黑" panose="020B0503020204020204" pitchFamily="34" charset="-122"/>
                <a:ea typeface="微软雅黑" panose="020B0503020204020204" pitchFamily="34" charset="-122"/>
              </a:rPr>
              <a:t> MCI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IBM</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Qwest</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CISCO……</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有线</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无线</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广覆盖：便捷程度决定了用户使用方式和在线时间</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网络性能决定了应用体验，成了互联网应用发展的必要条件</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网络带宽决定了应用能传什么：</a:t>
            </a:r>
            <a:br>
              <a:rPr lang="en-US" altLang="zh-CN"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文本</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图片（静图</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动图）</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音频</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视频（低清</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高清，短视频</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直播）</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网络性能提升、延迟降低</a:t>
            </a:r>
            <a:r>
              <a:rPr lang="zh-CN" altLang="en-US" sz="2400" dirty="0">
                <a:latin typeface="微软雅黑" panose="020B0503020204020204" pitchFamily="34" charset="-122"/>
                <a:ea typeface="微软雅黑" panose="020B0503020204020204" pitchFamily="34" charset="-122"/>
              </a:rPr>
              <a:t>：快速响应？可靠性？计算、存储、传输的互换？</a:t>
            </a:r>
            <a:endParaRPr lang="en-US" altLang="zh-CN" sz="2400"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3" name="文本框 12"/>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7660025" y="1860154"/>
            <a:ext cx="3973497" cy="1601083"/>
          </a:xfrm>
          <a:prstGeom prst="rect">
            <a:avLst/>
          </a:prstGeom>
        </p:spPr>
      </p:pic>
      <p:sp>
        <p:nvSpPr>
          <p:cNvPr id="7" name="矩形: 圆角 6"/>
          <p:cNvSpPr/>
          <p:nvPr/>
        </p:nvSpPr>
        <p:spPr>
          <a:xfrm>
            <a:off x="7570658" y="1326368"/>
            <a:ext cx="4163514" cy="2261563"/>
          </a:xfrm>
          <a:prstGeom prst="roundRect">
            <a:avLst/>
          </a:prstGeom>
          <a:noFill/>
          <a:ln w="19050">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normAutofit/>
          </a:bodyPr>
          <a:lstStyle/>
          <a:p>
            <a:r>
              <a:rPr lang="zh-CN" altLang="en-US" dirty="0"/>
              <a:t>我国的互联网发展情况</a:t>
            </a:r>
            <a:endParaRPr lang="zh-CN" altLang="en-US" dirty="0"/>
          </a:p>
        </p:txBody>
      </p:sp>
      <p:sp>
        <p:nvSpPr>
          <p:cNvPr id="3" name="内容占位符 2"/>
          <p:cNvSpPr>
            <a:spLocks noGrp="1"/>
          </p:cNvSpPr>
          <p:nvPr>
            <p:ph idx="1"/>
          </p:nvPr>
        </p:nvSpPr>
        <p:spPr>
          <a:xfrm>
            <a:off x="637917" y="1400973"/>
            <a:ext cx="7027155" cy="4955377"/>
          </a:xfrm>
        </p:spPr>
        <p:txBody>
          <a:bodyPr>
            <a:noAutofit/>
          </a:bodyPr>
          <a:lstStyle/>
          <a:p>
            <a:r>
              <a:rPr lang="zh-CN" altLang="en-US" sz="2400" i="0" dirty="0">
                <a:solidFill>
                  <a:srgbClr val="121212"/>
                </a:solidFill>
                <a:effectLst/>
                <a:latin typeface="微软雅黑" panose="020B0503020204020204" pitchFamily="34" charset="-122"/>
                <a:ea typeface="微软雅黑" panose="020B0503020204020204" pitchFamily="34" charset="-122"/>
              </a:rPr>
              <a:t>起步阶段</a:t>
            </a:r>
            <a:endParaRPr lang="en-US" altLang="zh-CN" sz="2400" i="0" dirty="0">
              <a:solidFill>
                <a:srgbClr val="121212"/>
              </a:solidFill>
              <a:effectLst/>
              <a:latin typeface="微软雅黑" panose="020B0503020204020204" pitchFamily="34" charset="-122"/>
              <a:ea typeface="微软雅黑" panose="020B0503020204020204" pitchFamily="34" charset="-122"/>
            </a:endParaRPr>
          </a:p>
          <a:p>
            <a:pPr lvl="1"/>
            <a:r>
              <a:rPr lang="en-US" altLang="zh-CN" sz="2000" b="0" i="0" dirty="0">
                <a:solidFill>
                  <a:srgbClr val="121212"/>
                </a:solidFill>
                <a:effectLst/>
                <a:latin typeface="微软雅黑" panose="020B0503020204020204" pitchFamily="34" charset="-122"/>
                <a:ea typeface="微软雅黑" panose="020B0503020204020204" pitchFamily="34" charset="-122"/>
              </a:rPr>
              <a:t>1987</a:t>
            </a:r>
            <a:r>
              <a:rPr lang="zh-CN" altLang="en-US" sz="2000" b="0" i="0" dirty="0">
                <a:solidFill>
                  <a:srgbClr val="121212"/>
                </a:solidFill>
                <a:effectLst/>
                <a:latin typeface="微软雅黑" panose="020B0503020204020204" pitchFamily="34" charset="-122"/>
                <a:ea typeface="微软雅黑" panose="020B0503020204020204" pitchFamily="34" charset="-122"/>
              </a:rPr>
              <a:t>年，建成第一个电子邮件节点，从北京向德国发送第一封邮件</a:t>
            </a:r>
            <a:r>
              <a:rPr lang="zh-CN" altLang="en-US" sz="2000" dirty="0">
                <a:solidFill>
                  <a:srgbClr val="121212"/>
                </a:solidFill>
                <a:latin typeface="微软雅黑" panose="020B0503020204020204" pitchFamily="34" charset="-122"/>
                <a:ea typeface="微软雅黑" panose="020B0503020204020204" pitchFamily="34" charset="-122"/>
              </a:rPr>
              <a:t>成功（越过长城，走向世界）</a:t>
            </a:r>
            <a:endParaRPr lang="en-US" altLang="zh-CN" sz="2000" b="0" i="0" dirty="0">
              <a:solidFill>
                <a:srgbClr val="121212"/>
              </a:solidFill>
              <a:effectLst/>
              <a:latin typeface="微软雅黑" panose="020B0503020204020204" pitchFamily="34" charset="-122"/>
              <a:ea typeface="微软雅黑" panose="020B0503020204020204" pitchFamily="34" charset="-122"/>
            </a:endParaRPr>
          </a:p>
          <a:p>
            <a:pPr lvl="1"/>
            <a:r>
              <a:rPr lang="en-US" altLang="zh-CN" sz="2000" dirty="0">
                <a:solidFill>
                  <a:srgbClr val="121212"/>
                </a:solidFill>
                <a:latin typeface="微软雅黑" panose="020B0503020204020204" pitchFamily="34" charset="-122"/>
                <a:ea typeface="微软雅黑" panose="020B0503020204020204" pitchFamily="34" charset="-122"/>
              </a:rPr>
              <a:t>1994</a:t>
            </a:r>
            <a:r>
              <a:rPr lang="zh-CN" altLang="en-US" sz="2000" dirty="0">
                <a:solidFill>
                  <a:srgbClr val="121212"/>
                </a:solidFill>
                <a:latin typeface="微软雅黑" panose="020B0503020204020204" pitchFamily="34" charset="-122"/>
                <a:ea typeface="微软雅黑" panose="020B0503020204020204" pitchFamily="34" charset="-122"/>
              </a:rPr>
              <a:t>年，我国通过</a:t>
            </a:r>
            <a:r>
              <a:rPr lang="en-US" altLang="zh-CN" sz="2000" dirty="0">
                <a:solidFill>
                  <a:srgbClr val="C00000"/>
                </a:solidFill>
                <a:latin typeface="微软雅黑" panose="020B0503020204020204" pitchFamily="34" charset="-122"/>
                <a:ea typeface="微软雅黑" panose="020B0503020204020204" pitchFamily="34" charset="-122"/>
              </a:rPr>
              <a:t>64K</a:t>
            </a:r>
            <a:r>
              <a:rPr lang="zh-CN" altLang="en-US" sz="2000" dirty="0">
                <a:solidFill>
                  <a:srgbClr val="121212"/>
                </a:solidFill>
                <a:latin typeface="微软雅黑" panose="020B0503020204020204" pitchFamily="34" charset="-122"/>
                <a:ea typeface="微软雅黑" panose="020B0503020204020204" pitchFamily="34" charset="-122"/>
              </a:rPr>
              <a:t>专线接入互联网，全功能连接</a:t>
            </a:r>
            <a:endParaRPr lang="en-US" altLang="zh-CN" sz="2000" dirty="0">
              <a:solidFill>
                <a:srgbClr val="121212"/>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我国网络发展规模</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五大网络：</a:t>
            </a:r>
            <a:r>
              <a:rPr lang="en-US" altLang="zh-CN" sz="2000" dirty="0">
                <a:latin typeface="微软雅黑" panose="020B0503020204020204" pitchFamily="34" charset="-122"/>
                <a:ea typeface="微软雅黑" panose="020B0503020204020204" pitchFamily="34" charset="-122"/>
              </a:rPr>
              <a:t>CHINANET</a:t>
            </a:r>
            <a:r>
              <a:rPr lang="zh-CN" altLang="en-US" sz="2000" dirty="0">
                <a:latin typeface="微软雅黑" panose="020B0503020204020204" pitchFamily="34" charset="-122"/>
                <a:ea typeface="微软雅黑" panose="020B0503020204020204" pitchFamily="34" charset="-122"/>
              </a:rPr>
              <a:t>电信，</a:t>
            </a:r>
            <a:r>
              <a:rPr lang="en-US" altLang="zh-CN" sz="2000" dirty="0">
                <a:latin typeface="微软雅黑" panose="020B0503020204020204" pitchFamily="34" charset="-122"/>
                <a:ea typeface="微软雅黑" panose="020B0503020204020204" pitchFamily="34" charset="-122"/>
              </a:rPr>
              <a:t>UNINET</a:t>
            </a:r>
            <a:r>
              <a:rPr lang="zh-CN" altLang="en-US" sz="2000" dirty="0">
                <a:latin typeface="微软雅黑" panose="020B0503020204020204" pitchFamily="34" charset="-122"/>
                <a:ea typeface="微软雅黑" panose="020B0503020204020204" pitchFamily="34" charset="-122"/>
              </a:rPr>
              <a:t>联通，</a:t>
            </a:r>
            <a:r>
              <a:rPr lang="en-US" altLang="zh-CN" sz="2000" dirty="0">
                <a:latin typeface="微软雅黑" panose="020B0503020204020204" pitchFamily="34" charset="-122"/>
                <a:ea typeface="微软雅黑" panose="020B0503020204020204" pitchFamily="34" charset="-122"/>
              </a:rPr>
              <a:t>CMNET</a:t>
            </a:r>
            <a:r>
              <a:rPr lang="zh-CN" altLang="en-US" sz="2000" dirty="0">
                <a:latin typeface="微软雅黑" panose="020B0503020204020204" pitchFamily="34" charset="-122"/>
                <a:ea typeface="微软雅黑" panose="020B0503020204020204" pitchFamily="34" charset="-122"/>
              </a:rPr>
              <a:t>移动，</a:t>
            </a:r>
            <a:r>
              <a:rPr lang="en-US" altLang="zh-CN" sz="2000" dirty="0">
                <a:latin typeface="微软雅黑" panose="020B0503020204020204" pitchFamily="34" charset="-122"/>
                <a:ea typeface="微软雅黑" panose="020B0503020204020204" pitchFamily="34" charset="-122"/>
              </a:rPr>
              <a:t>CERNET</a:t>
            </a:r>
            <a:r>
              <a:rPr lang="zh-CN" altLang="en-US" sz="2000" dirty="0">
                <a:latin typeface="微软雅黑" panose="020B0503020204020204" pitchFamily="34" charset="-122"/>
                <a:ea typeface="微软雅黑" panose="020B0503020204020204" pitchFamily="34" charset="-122"/>
              </a:rPr>
              <a:t>教育网，</a:t>
            </a:r>
            <a:r>
              <a:rPr lang="en-US" altLang="zh-CN" sz="2000" dirty="0">
                <a:latin typeface="微软雅黑" panose="020B0503020204020204" pitchFamily="34" charset="-122"/>
                <a:ea typeface="微软雅黑" panose="020B0503020204020204" pitchFamily="34" charset="-122"/>
              </a:rPr>
              <a:t>CSTNET</a:t>
            </a:r>
            <a:r>
              <a:rPr lang="zh-CN" altLang="en-US" sz="2000" dirty="0">
                <a:latin typeface="微软雅黑" panose="020B0503020204020204" pitchFamily="34" charset="-122"/>
                <a:ea typeface="微软雅黑" panose="020B0503020204020204" pitchFamily="34" charset="-122"/>
              </a:rPr>
              <a:t>科技网</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2019</a:t>
            </a:r>
            <a:r>
              <a:rPr lang="zh-CN" altLang="en-US" sz="2000" dirty="0">
                <a:latin typeface="微软雅黑" panose="020B0503020204020204" pitchFamily="34" charset="-122"/>
                <a:ea typeface="微软雅黑" panose="020B0503020204020204" pitchFamily="34" charset="-122"/>
              </a:rPr>
              <a:t>年底，我国国际出口带宽超过</a:t>
            </a:r>
            <a:r>
              <a:rPr lang="en-US" altLang="zh-CN" sz="2000" dirty="0">
                <a:latin typeface="微软雅黑" panose="020B0503020204020204" pitchFamily="34" charset="-122"/>
                <a:ea typeface="微软雅黑" panose="020B0503020204020204" pitchFamily="34" charset="-122"/>
              </a:rPr>
              <a:t>8.8T</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4G</a:t>
            </a:r>
            <a:r>
              <a:rPr lang="zh-CN" altLang="en-US" sz="2000" dirty="0">
                <a:latin typeface="微软雅黑" panose="020B0503020204020204" pitchFamily="34" charset="-122"/>
                <a:ea typeface="微软雅黑" panose="020B0503020204020204" pitchFamily="34" charset="-122"/>
              </a:rPr>
              <a:t>基站</a:t>
            </a:r>
            <a:r>
              <a:rPr lang="en-US" altLang="zh-CN" sz="2000" dirty="0">
                <a:latin typeface="微软雅黑" panose="020B0503020204020204" pitchFamily="34" charset="-122"/>
                <a:ea typeface="微软雅黑" panose="020B0503020204020204" pitchFamily="34" charset="-122"/>
              </a:rPr>
              <a:t>551</a:t>
            </a:r>
            <a:r>
              <a:rPr lang="zh-CN" altLang="en-US" sz="2000" dirty="0">
                <a:latin typeface="微软雅黑" panose="020B0503020204020204" pitchFamily="34" charset="-122"/>
                <a:ea typeface="微软雅黑" panose="020B0503020204020204" pitchFamily="34" charset="-122"/>
              </a:rPr>
              <a:t>万个（</a:t>
            </a:r>
            <a:r>
              <a:rPr lang="zh-CN" altLang="en-US" sz="2000" b="0" i="0" dirty="0">
                <a:solidFill>
                  <a:srgbClr val="333333"/>
                </a:solidFill>
                <a:effectLst/>
                <a:latin typeface="微软雅黑" panose="020B0503020204020204" pitchFamily="34" charset="-122"/>
                <a:ea typeface="微软雅黑" panose="020B0503020204020204" pitchFamily="34" charset="-122"/>
              </a:rPr>
              <a:t>全球</a:t>
            </a:r>
            <a:r>
              <a:rPr lang="en-US" altLang="zh-CN" sz="2000" b="0" i="0" dirty="0">
                <a:solidFill>
                  <a:srgbClr val="333333"/>
                </a:solidFill>
                <a:effectLst/>
                <a:latin typeface="微软雅黑" panose="020B0503020204020204" pitchFamily="34" charset="-122"/>
                <a:ea typeface="微软雅黑" panose="020B0503020204020204" pitchFamily="34" charset="-122"/>
              </a:rPr>
              <a:t>4G</a:t>
            </a:r>
            <a:r>
              <a:rPr lang="zh-CN" altLang="en-US" sz="2000" b="0" i="0" dirty="0">
                <a:solidFill>
                  <a:srgbClr val="333333"/>
                </a:solidFill>
                <a:effectLst/>
                <a:latin typeface="微软雅黑" panose="020B0503020204020204" pitchFamily="34" charset="-122"/>
                <a:ea typeface="微软雅黑" panose="020B0503020204020204" pitchFamily="34" charset="-122"/>
              </a:rPr>
              <a:t>基站总数不超过</a:t>
            </a:r>
            <a:r>
              <a:rPr lang="en-US" altLang="zh-CN" sz="2000" b="0" i="0" dirty="0">
                <a:solidFill>
                  <a:srgbClr val="333333"/>
                </a:solidFill>
                <a:effectLst/>
                <a:latin typeface="微软雅黑" panose="020B0503020204020204" pitchFamily="34" charset="-122"/>
                <a:ea typeface="微软雅黑" panose="020B0503020204020204" pitchFamily="34" charset="-122"/>
              </a:rPr>
              <a:t>900</a:t>
            </a:r>
            <a:r>
              <a:rPr lang="zh-CN" altLang="en-US" sz="2000" b="0" i="0" dirty="0">
                <a:solidFill>
                  <a:srgbClr val="333333"/>
                </a:solidFill>
                <a:effectLst/>
                <a:latin typeface="微软雅黑" panose="020B0503020204020204" pitchFamily="34" charset="-122"/>
                <a:ea typeface="微软雅黑" panose="020B0503020204020204" pitchFamily="34" charset="-122"/>
              </a:rPr>
              <a:t>万）</a:t>
            </a:r>
            <a:endParaRPr lang="en-US" altLang="zh-CN" sz="2000" b="0" i="0" dirty="0">
              <a:solidFill>
                <a:srgbClr val="333333"/>
              </a:solidFill>
              <a:effectLst/>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2020</a:t>
            </a:r>
            <a:r>
              <a:rPr lang="zh-CN" altLang="en-US" sz="2000" dirty="0">
                <a:latin typeface="微软雅黑" panose="020B0503020204020204" pitchFamily="34" charset="-122"/>
                <a:ea typeface="微软雅黑" panose="020B0503020204020204" pitchFamily="34" charset="-122"/>
              </a:rPr>
              <a:t>年底，</a:t>
            </a: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基站达</a:t>
            </a:r>
            <a:r>
              <a:rPr lang="en-US" altLang="zh-CN" sz="2000" dirty="0">
                <a:latin typeface="微软雅黑" panose="020B0503020204020204" pitchFamily="34" charset="-122"/>
                <a:ea typeface="微软雅黑" panose="020B0503020204020204" pitchFamily="34" charset="-122"/>
              </a:rPr>
              <a:t>70</a:t>
            </a:r>
            <a:r>
              <a:rPr lang="zh-CN" altLang="en-US" sz="2000" dirty="0">
                <a:latin typeface="微软雅黑" panose="020B0503020204020204" pitchFamily="34" charset="-122"/>
                <a:ea typeface="微软雅黑" panose="020B0503020204020204" pitchFamily="34" charset="-122"/>
              </a:rPr>
              <a:t>万个，占全球比重近</a:t>
            </a:r>
            <a:r>
              <a:rPr lang="en-US" altLang="zh-CN" sz="2000" dirty="0">
                <a:latin typeface="微软雅黑" panose="020B0503020204020204" pitchFamily="34" charset="-122"/>
                <a:ea typeface="微软雅黑" panose="020B0503020204020204" pitchFamily="34" charset="-122"/>
              </a:rPr>
              <a:t>7</a:t>
            </a:r>
            <a:r>
              <a:rPr lang="zh-CN" altLang="en-US" sz="2000" dirty="0">
                <a:latin typeface="微软雅黑" panose="020B0503020204020204" pitchFamily="34" charset="-122"/>
                <a:ea typeface="微软雅黑" panose="020B0503020204020204" pitchFamily="34" charset="-122"/>
              </a:rPr>
              <a:t>成</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IPv4</a:t>
            </a:r>
            <a:r>
              <a:rPr lang="zh-CN" altLang="en-US" sz="2000" dirty="0">
                <a:latin typeface="微软雅黑" panose="020B0503020204020204" pitchFamily="34" charset="-122"/>
                <a:ea typeface="微软雅黑" panose="020B0503020204020204" pitchFamily="34" charset="-122"/>
              </a:rPr>
              <a:t>地址</a:t>
            </a:r>
            <a:r>
              <a:rPr lang="en-US" altLang="zh-CN" sz="2000" dirty="0">
                <a:latin typeface="微软雅黑" panose="020B0503020204020204" pitchFamily="34" charset="-122"/>
                <a:ea typeface="微软雅黑" panose="020B0503020204020204" pitchFamily="34" charset="-122"/>
              </a:rPr>
              <a:t>3.8</a:t>
            </a:r>
            <a:r>
              <a:rPr lang="zh-CN" altLang="en-US" sz="2000" dirty="0">
                <a:latin typeface="微软雅黑" panose="020B0503020204020204" pitchFamily="34" charset="-122"/>
                <a:ea typeface="微软雅黑" panose="020B0503020204020204" pitchFamily="34" charset="-122"/>
              </a:rPr>
              <a:t>亿个；</a:t>
            </a:r>
            <a:r>
              <a:rPr lang="en-US" altLang="zh-CN" sz="2000" dirty="0">
                <a:latin typeface="微软雅黑" panose="020B0503020204020204" pitchFamily="34" charset="-122"/>
                <a:ea typeface="微软雅黑" panose="020B0503020204020204" pitchFamily="34" charset="-122"/>
              </a:rPr>
              <a:t>IPv6</a:t>
            </a:r>
            <a:r>
              <a:rPr lang="zh-CN" altLang="en-US" sz="2000" dirty="0">
                <a:latin typeface="微软雅黑" panose="020B0503020204020204" pitchFamily="34" charset="-122"/>
                <a:ea typeface="微软雅黑" panose="020B0503020204020204" pitchFamily="34" charset="-122"/>
              </a:rPr>
              <a:t>地址</a:t>
            </a:r>
            <a:r>
              <a:rPr lang="en-US" altLang="zh-CN" sz="2000" dirty="0">
                <a:latin typeface="微软雅黑" panose="020B0503020204020204" pitchFamily="34" charset="-122"/>
                <a:ea typeface="微软雅黑" panose="020B0503020204020204" pitchFamily="34" charset="-122"/>
              </a:rPr>
              <a:t>50903</a:t>
            </a:r>
            <a:r>
              <a:rPr lang="zh-CN" altLang="en-US" sz="2000" dirty="0">
                <a:latin typeface="微软雅黑" panose="020B0503020204020204" pitchFamily="34" charset="-122"/>
                <a:ea typeface="微软雅黑" panose="020B0503020204020204" pitchFamily="34" charset="-122"/>
              </a:rPr>
              <a:t>块</a:t>
            </a:r>
            <a:r>
              <a:rPr lang="en-US" altLang="zh-CN" sz="2000" dirty="0">
                <a:latin typeface="微软雅黑" panose="020B0503020204020204" pitchFamily="34" charset="-122"/>
                <a:ea typeface="微软雅黑" panose="020B0503020204020204" pitchFamily="34" charset="-122"/>
              </a:rPr>
              <a:t>/32</a:t>
            </a:r>
            <a:r>
              <a:rPr lang="zh-CN" altLang="en-US" sz="2000" dirty="0">
                <a:latin typeface="微软雅黑" panose="020B0503020204020204" pitchFamily="34" charset="-122"/>
                <a:ea typeface="微软雅黑" panose="020B0503020204020204" pitchFamily="34" charset="-122"/>
              </a:rPr>
              <a:t>，居世界第二</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.CN</a:t>
            </a:r>
            <a:r>
              <a:rPr lang="zh-CN" altLang="en-US" sz="2000" dirty="0">
                <a:latin typeface="微软雅黑" panose="020B0503020204020204" pitchFamily="34" charset="-122"/>
                <a:ea typeface="微软雅黑" panose="020B0503020204020204" pitchFamily="34" charset="-122"/>
              </a:rPr>
              <a:t>域名数</a:t>
            </a:r>
            <a:r>
              <a:rPr lang="en-US" altLang="zh-CN" sz="2000" dirty="0">
                <a:latin typeface="微软雅黑" panose="020B0503020204020204" pitchFamily="34" charset="-122"/>
                <a:ea typeface="微软雅黑" panose="020B0503020204020204" pitchFamily="34" charset="-122"/>
              </a:rPr>
              <a:t>2304</a:t>
            </a:r>
            <a:r>
              <a:rPr lang="zh-CN" altLang="en-US" sz="2000" dirty="0">
                <a:latin typeface="微软雅黑" panose="020B0503020204020204" pitchFamily="34" charset="-122"/>
                <a:ea typeface="微软雅黑" panose="020B0503020204020204" pitchFamily="34" charset="-122"/>
              </a:rPr>
              <a:t>万个，全球第一</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应用</a:t>
            </a:r>
            <a:r>
              <a:rPr lang="en-US" altLang="zh-CN" sz="2000" dirty="0">
                <a:latin typeface="微软雅黑" panose="020B0503020204020204" pitchFamily="34" charset="-122"/>
                <a:ea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rPr>
              <a:t>在架数量达到</a:t>
            </a:r>
            <a:r>
              <a:rPr lang="en-US" altLang="zh-CN" sz="2000" dirty="0">
                <a:latin typeface="微软雅黑" panose="020B0503020204020204" pitchFamily="34" charset="-122"/>
                <a:ea typeface="微软雅黑" panose="020B0503020204020204" pitchFamily="34" charset="-122"/>
              </a:rPr>
              <a:t>359</a:t>
            </a:r>
            <a:r>
              <a:rPr lang="zh-CN" altLang="en-US" sz="2000" dirty="0">
                <a:latin typeface="微软雅黑" panose="020B0503020204020204" pitchFamily="34" charset="-122"/>
                <a:ea typeface="微软雅黑" panose="020B0503020204020204" pitchFamily="34" charset="-122"/>
              </a:rPr>
              <a:t>万款</a:t>
            </a:r>
            <a:endParaRPr lang="en-US" altLang="zh-CN" sz="20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cstate="print"/>
          <a:stretch>
            <a:fillRect/>
          </a:stretch>
        </p:blipFill>
        <p:spPr>
          <a:xfrm>
            <a:off x="7682327" y="4212702"/>
            <a:ext cx="3973497" cy="2169429"/>
          </a:xfrm>
          <a:prstGeom prst="rect">
            <a:avLst/>
          </a:prstGeom>
        </p:spPr>
      </p:pic>
      <p:sp>
        <p:nvSpPr>
          <p:cNvPr id="9" name="文本框 8"/>
          <p:cNvSpPr txBox="1"/>
          <p:nvPr/>
        </p:nvSpPr>
        <p:spPr>
          <a:xfrm>
            <a:off x="8007402" y="1418966"/>
            <a:ext cx="3323346" cy="400110"/>
          </a:xfrm>
          <a:prstGeom prst="rect">
            <a:avLst/>
          </a:prstGeom>
          <a:noFill/>
          <a:ln>
            <a:noFill/>
          </a:ln>
        </p:spPr>
        <p:txBody>
          <a:bodyPr wrap="non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网民约</a:t>
            </a:r>
            <a:r>
              <a:rPr lang="en-US" altLang="zh-CN" sz="2000" dirty="0">
                <a:solidFill>
                  <a:srgbClr val="C00000"/>
                </a:solidFill>
                <a:latin typeface="微软雅黑" panose="020B0503020204020204" pitchFamily="34" charset="-122"/>
                <a:ea typeface="微软雅黑" panose="020B0503020204020204" pitchFamily="34" charset="-122"/>
              </a:rPr>
              <a:t>10</a:t>
            </a:r>
            <a:r>
              <a:rPr lang="zh-CN" altLang="en-US" sz="2000" dirty="0">
                <a:solidFill>
                  <a:srgbClr val="C00000"/>
                </a:solidFill>
                <a:latin typeface="微软雅黑" panose="020B0503020204020204" pitchFamily="34" charset="-122"/>
                <a:ea typeface="微软雅黑" panose="020B0503020204020204" pitchFamily="34" charset="-122"/>
              </a:rPr>
              <a:t>亿人，普及率</a:t>
            </a:r>
            <a:r>
              <a:rPr lang="en-US" altLang="zh-CN" sz="2000" dirty="0">
                <a:solidFill>
                  <a:srgbClr val="C00000"/>
                </a:solidFill>
                <a:latin typeface="微软雅黑" panose="020B0503020204020204" pitchFamily="34" charset="-122"/>
                <a:ea typeface="微软雅黑" panose="020B0503020204020204" pitchFamily="34" charset="-122"/>
              </a:rPr>
              <a:t>70%</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8331499" y="3819224"/>
            <a:ext cx="2900153" cy="400110"/>
          </a:xfrm>
          <a:prstGeom prst="rect">
            <a:avLst/>
          </a:prstGeom>
          <a:noFill/>
          <a:ln>
            <a:noFill/>
          </a:ln>
        </p:spPr>
        <p:txBody>
          <a:bodyPr wrap="non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“健康码”助</a:t>
            </a:r>
            <a:r>
              <a:rPr lang="en-US" altLang="zh-CN" sz="2000" dirty="0">
                <a:solidFill>
                  <a:srgbClr val="C00000"/>
                </a:solidFill>
                <a:latin typeface="微软雅黑" panose="020B0503020204020204" pitchFamily="34" charset="-122"/>
                <a:ea typeface="微软雅黑" panose="020B0503020204020204" pitchFamily="34" charset="-122"/>
              </a:rPr>
              <a:t>9</a:t>
            </a:r>
            <a:r>
              <a:rPr lang="zh-CN" altLang="en-US" sz="2000" dirty="0">
                <a:solidFill>
                  <a:srgbClr val="C00000"/>
                </a:solidFill>
                <a:latin typeface="微软雅黑" panose="020B0503020204020204" pitchFamily="34" charset="-122"/>
                <a:ea typeface="微软雅黑" panose="020B0503020204020204" pitchFamily="34" charset="-122"/>
              </a:rPr>
              <a:t>亿人出行</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11" name="矩形: 圆角 10"/>
          <p:cNvSpPr/>
          <p:nvPr/>
        </p:nvSpPr>
        <p:spPr>
          <a:xfrm>
            <a:off x="7587318" y="3771664"/>
            <a:ext cx="4163514" cy="2687757"/>
          </a:xfrm>
          <a:prstGeom prst="roundRect">
            <a:avLst/>
          </a:prstGeom>
          <a:noFill/>
          <a:ln w="19050">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297823" y="5695369"/>
            <a:ext cx="2049859" cy="830997"/>
          </a:xfrm>
          <a:prstGeom prst="rect">
            <a:avLst/>
          </a:prstGeom>
          <a:ln>
            <a:solidFill>
              <a:srgbClr val="C00000"/>
            </a:solidFill>
          </a:ln>
        </p:spPr>
        <p:txBody>
          <a:bodyPr wrap="square">
            <a:spAutoFit/>
          </a:bodyPr>
          <a:lstStyle/>
          <a:p>
            <a:pPr algn="ctr"/>
            <a:r>
              <a:rPr lang="en-US" altLang="zh-CN" sz="24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rgbClr val="C00000"/>
                </a:solidFill>
                <a:latin typeface="微软雅黑" panose="020B0503020204020204" pitchFamily="34" charset="-122"/>
                <a:ea typeface="微软雅黑" panose="020B0503020204020204" pitchFamily="34" charset="-122"/>
              </a:rPr>
              <a:t>很幸运</a:t>
            </a:r>
            <a:r>
              <a:rPr lang="en-US" altLang="zh-CN" sz="240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dirty="0">
              <a:solidFill>
                <a:srgbClr val="C00000"/>
              </a:solidFill>
              <a:latin typeface="微软雅黑" panose="020B0503020204020204" pitchFamily="34" charset="-122"/>
              <a:ea typeface="微软雅黑" panose="020B0503020204020204" pitchFamily="34" charset="-122"/>
            </a:endParaRPr>
          </a:p>
          <a:p>
            <a:pPr algn="ctr"/>
            <a:r>
              <a:rPr lang="zh-CN" altLang="en-US" sz="2400" dirty="0">
                <a:solidFill>
                  <a:srgbClr val="C00000"/>
                </a:solidFill>
                <a:latin typeface="微软雅黑" panose="020B0503020204020204" pitchFamily="34" charset="-122"/>
                <a:ea typeface="微软雅黑" panose="020B0503020204020204" pitchFamily="34" charset="-122"/>
              </a:rPr>
              <a:t>能看懂中文</a:t>
            </a:r>
            <a:endParaRPr lang="zh-CN" altLang="en-US" sz="2400" dirty="0">
              <a:solidFill>
                <a:srgbClr val="C00000"/>
              </a:solidFill>
            </a:endParaRPr>
          </a:p>
        </p:txBody>
      </p:sp>
      <p:sp>
        <p:nvSpPr>
          <p:cNvPr id="13" name="灯片编号占位符 1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4" name="文本框 1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我国的互联网发展情况</a:t>
            </a:r>
            <a:endParaRPr lang="zh-CN" altLang="en-US" dirty="0"/>
          </a:p>
        </p:txBody>
      </p:sp>
      <p:sp>
        <p:nvSpPr>
          <p:cNvPr id="3" name="内容占位符 2"/>
          <p:cNvSpPr>
            <a:spLocks noGrp="1"/>
          </p:cNvSpPr>
          <p:nvPr>
            <p:ph idx="1"/>
          </p:nvPr>
        </p:nvSpPr>
        <p:spPr>
          <a:xfrm>
            <a:off x="704251" y="1371659"/>
            <a:ext cx="6443681" cy="5208217"/>
          </a:xfrm>
        </p:spPr>
        <p:txBody>
          <a:bodyPr>
            <a:normAutofit/>
          </a:bodyPr>
          <a:lstStyle/>
          <a:p>
            <a:r>
              <a:rPr lang="zh-CN" altLang="en-US" sz="2400" dirty="0">
                <a:solidFill>
                  <a:srgbClr val="000000"/>
                </a:solidFill>
                <a:latin typeface="微软雅黑" panose="020B0503020204020204" pitchFamily="34" charset="-122"/>
                <a:ea typeface="微软雅黑" panose="020B0503020204020204" pitchFamily="34" charset="-122"/>
              </a:rPr>
              <a:t>中国下一代互联网示范工程</a:t>
            </a:r>
            <a:r>
              <a:rPr lang="en-US" altLang="zh-CN" sz="2400" dirty="0">
                <a:solidFill>
                  <a:srgbClr val="000000"/>
                </a:solidFill>
                <a:latin typeface="微软雅黑" panose="020B0503020204020204" pitchFamily="34" charset="-122"/>
                <a:ea typeface="微软雅黑" panose="020B0503020204020204" pitchFamily="34" charset="-122"/>
              </a:rPr>
              <a:t>CNGI</a:t>
            </a:r>
            <a:endParaRPr lang="en-US" altLang="zh-CN" sz="2400" dirty="0">
              <a:solidFill>
                <a:srgbClr val="000000"/>
              </a:solidFill>
              <a:latin typeface="微软雅黑" panose="020B0503020204020204" pitchFamily="34" charset="-122"/>
              <a:ea typeface="微软雅黑" panose="020B0503020204020204" pitchFamily="34" charset="-122"/>
            </a:endParaRPr>
          </a:p>
          <a:p>
            <a:pPr lvl="1"/>
            <a:r>
              <a:rPr lang="en-US" altLang="zh-CN" sz="2000" dirty="0">
                <a:solidFill>
                  <a:srgbClr val="000000"/>
                </a:solidFill>
                <a:latin typeface="微软雅黑" panose="020B0503020204020204" pitchFamily="34" charset="-122"/>
                <a:ea typeface="微软雅黑" panose="020B0503020204020204" pitchFamily="34" charset="-122"/>
              </a:rPr>
              <a:t>CNGI: China's Next Generation Internet</a:t>
            </a:r>
            <a:endParaRPr lang="en-US" altLang="zh-CN" sz="2000" dirty="0">
              <a:solidFill>
                <a:srgbClr val="000000"/>
              </a:solidFill>
              <a:latin typeface="微软雅黑" panose="020B0503020204020204" pitchFamily="34" charset="-122"/>
              <a:ea typeface="微软雅黑" panose="020B0503020204020204" pitchFamily="34" charset="-122"/>
            </a:endParaRPr>
          </a:p>
          <a:p>
            <a:pPr lvl="1"/>
            <a:r>
              <a:rPr lang="zh-CN" altLang="en-US" sz="2000" dirty="0">
                <a:solidFill>
                  <a:srgbClr val="000000"/>
                </a:solidFill>
                <a:latin typeface="微软雅黑" panose="020B0503020204020204" pitchFamily="34" charset="-122"/>
                <a:ea typeface="微软雅黑" panose="020B0503020204020204" pitchFamily="34" charset="-122"/>
              </a:rPr>
              <a:t>在国际上首次提出并研制成功大型纯</a:t>
            </a:r>
            <a:r>
              <a:rPr lang="en-US" altLang="zh-CN" sz="2000" dirty="0">
                <a:solidFill>
                  <a:srgbClr val="C00000"/>
                </a:solidFill>
                <a:latin typeface="微软雅黑" panose="020B0503020204020204" pitchFamily="34" charset="-122"/>
                <a:ea typeface="微软雅黑" panose="020B0503020204020204" pitchFamily="34" charset="-122"/>
              </a:rPr>
              <a:t>IPv6</a:t>
            </a:r>
            <a:r>
              <a:rPr lang="zh-CN" altLang="en-US" sz="2000" dirty="0">
                <a:solidFill>
                  <a:srgbClr val="000000"/>
                </a:solidFill>
                <a:latin typeface="微软雅黑" panose="020B0503020204020204" pitchFamily="34" charset="-122"/>
                <a:ea typeface="微软雅黑" panose="020B0503020204020204" pitchFamily="34" charset="-122"/>
              </a:rPr>
              <a:t>互联网主干网</a:t>
            </a:r>
            <a:r>
              <a:rPr lang="en-US" altLang="zh-CN" sz="2000" dirty="0">
                <a:solidFill>
                  <a:srgbClr val="000000"/>
                </a:solidFill>
                <a:latin typeface="微软雅黑" panose="020B0503020204020204" pitchFamily="34" charset="-122"/>
                <a:ea typeface="微软雅黑" panose="020B0503020204020204" pitchFamily="34" charset="-122"/>
              </a:rPr>
              <a:t>CNGI-CERNET2</a:t>
            </a:r>
            <a:endParaRPr lang="zh-CN" altLang="en-US"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“宽带中国”的国家战略</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三个阶段：全面提速（</a:t>
            </a:r>
            <a:r>
              <a:rPr lang="en-US" altLang="zh-CN" sz="2000" dirty="0">
                <a:latin typeface="微软雅黑" panose="020B0503020204020204" pitchFamily="34" charset="-122"/>
                <a:ea typeface="微软雅黑" panose="020B0503020204020204" pitchFamily="34" charset="-122"/>
              </a:rPr>
              <a:t>2013</a:t>
            </a:r>
            <a:r>
              <a:rPr lang="zh-CN" altLang="en-US" sz="2000" dirty="0">
                <a:latin typeface="微软雅黑" panose="020B0503020204020204" pitchFamily="34" charset="-122"/>
                <a:ea typeface="微软雅黑" panose="020B0503020204020204" pitchFamily="34" charset="-122"/>
              </a:rPr>
              <a:t>年）、推广普及（</a:t>
            </a:r>
            <a:r>
              <a:rPr lang="en-US" altLang="zh-CN" sz="2000" dirty="0">
                <a:latin typeface="微软雅黑" panose="020B0503020204020204" pitchFamily="34" charset="-122"/>
                <a:ea typeface="微软雅黑" panose="020B0503020204020204" pitchFamily="34" charset="-122"/>
              </a:rPr>
              <a:t>2014-2015</a:t>
            </a:r>
            <a:r>
              <a:rPr lang="zh-CN" altLang="en-US" sz="2000" dirty="0">
                <a:latin typeface="微软雅黑" panose="020B0503020204020204" pitchFamily="34" charset="-122"/>
                <a:ea typeface="微软雅黑" panose="020B0503020204020204" pitchFamily="34" charset="-122"/>
              </a:rPr>
              <a:t>）、优化升级（</a:t>
            </a:r>
            <a:r>
              <a:rPr lang="en-US" altLang="zh-CN" sz="2000" dirty="0">
                <a:latin typeface="微软雅黑" panose="020B0503020204020204" pitchFamily="34" charset="-122"/>
                <a:ea typeface="微软雅黑" panose="020B0503020204020204" pitchFamily="34" charset="-122"/>
              </a:rPr>
              <a:t>2016-2020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技术变革：拨号上网</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双绞线上网</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光纤入户</a:t>
            </a:r>
            <a:endParaRPr lang="en-US" altLang="zh-CN" sz="2000" dirty="0">
              <a:latin typeface="微软雅黑" panose="020B0503020204020204" pitchFamily="34" charset="-122"/>
              <a:ea typeface="微软雅黑" panose="020B0503020204020204" pitchFamily="34" charset="-122"/>
            </a:endParaRPr>
          </a:p>
          <a:p>
            <a:r>
              <a:rPr lang="zh-CN" altLang="en-US" sz="2400" dirty="0"/>
              <a:t>工信部颁发</a:t>
            </a:r>
            <a:r>
              <a:rPr lang="zh-CN" altLang="en-US" sz="2400" dirty="0">
                <a:latin typeface="微软雅黑" panose="020B0503020204020204" pitchFamily="34" charset="-122"/>
                <a:ea typeface="微软雅黑" panose="020B0503020204020204" pitchFamily="34" charset="-122"/>
              </a:rPr>
              <a:t>移动通信牌照</a:t>
            </a:r>
            <a:endParaRPr lang="en-US" altLang="zh-CN" sz="2400" dirty="0">
              <a:latin typeface="微软雅黑" panose="020B0503020204020204" pitchFamily="34" charset="-122"/>
              <a:ea typeface="微软雅黑" panose="020B0503020204020204" pitchFamily="34" charset="-122"/>
            </a:endParaRPr>
          </a:p>
          <a:p>
            <a:pPr lvl="1"/>
            <a:r>
              <a:rPr lang="en-US" altLang="zh-CN" sz="2000" dirty="0"/>
              <a:t>2009</a:t>
            </a:r>
            <a:r>
              <a:rPr lang="zh-CN" altLang="en-US" sz="2000" dirty="0"/>
              <a:t>年，三大运营商（中国移动、中国电信、</a:t>
            </a:r>
            <a:br>
              <a:rPr lang="en-US" altLang="zh-CN" sz="2000" dirty="0"/>
            </a:br>
            <a:r>
              <a:rPr lang="zh-CN" altLang="en-US" sz="2000" dirty="0"/>
              <a:t>中国联通）获</a:t>
            </a:r>
            <a:r>
              <a:rPr lang="en-US" altLang="zh-CN" sz="2000" dirty="0"/>
              <a:t>3G</a:t>
            </a:r>
            <a:r>
              <a:rPr lang="zh-CN" altLang="en-US" sz="2000" dirty="0"/>
              <a:t>牌照（移动负责</a:t>
            </a:r>
            <a:r>
              <a:rPr lang="en-US" altLang="zh-CN" sz="2000" dirty="0"/>
              <a:t>TD-SCDMA</a:t>
            </a:r>
            <a:r>
              <a:rPr lang="zh-CN" altLang="en-US" sz="2000" dirty="0"/>
              <a:t>）</a:t>
            </a:r>
            <a:endParaRPr lang="en-US" altLang="zh-CN" sz="2000" dirty="0"/>
          </a:p>
          <a:p>
            <a:pPr lvl="1"/>
            <a:r>
              <a:rPr lang="en-US" altLang="zh-CN" sz="2000" dirty="0"/>
              <a:t>2013</a:t>
            </a:r>
            <a:r>
              <a:rPr lang="zh-CN" altLang="en-US" sz="2000" dirty="0"/>
              <a:t>年，三大运营商获</a:t>
            </a:r>
            <a:r>
              <a:rPr lang="en-US" altLang="zh-CN" sz="2000" dirty="0"/>
              <a:t>4G</a:t>
            </a:r>
            <a:r>
              <a:rPr lang="zh-CN" altLang="en-US" sz="2000" dirty="0"/>
              <a:t>牌照（</a:t>
            </a:r>
            <a:r>
              <a:rPr lang="en-US" altLang="zh-CN" sz="2000" dirty="0"/>
              <a:t>TD-LTE</a:t>
            </a:r>
            <a:r>
              <a:rPr lang="zh-CN" altLang="en-US" sz="2000" dirty="0"/>
              <a:t>）</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2019</a:t>
            </a:r>
            <a:r>
              <a:rPr lang="zh-CN" altLang="en-US" sz="2000" dirty="0">
                <a:latin typeface="微软雅黑" panose="020B0503020204020204" pitchFamily="34" charset="-122"/>
                <a:ea typeface="微软雅黑" panose="020B0503020204020204" pitchFamily="34" charset="-122"/>
              </a:rPr>
              <a:t>年，</a:t>
            </a:r>
            <a:r>
              <a:rPr lang="zh-CN" altLang="en-US" sz="2000" dirty="0"/>
              <a:t>三大运营商和</a:t>
            </a:r>
            <a:r>
              <a:rPr lang="zh-CN" altLang="en-US" sz="2000" dirty="0">
                <a:latin typeface="微软雅黑" panose="020B0503020204020204" pitchFamily="34" charset="-122"/>
                <a:ea typeface="微软雅黑" panose="020B0503020204020204" pitchFamily="34" charset="-122"/>
              </a:rPr>
              <a:t>中国广电获</a:t>
            </a: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商用牌照</a:t>
            </a:r>
            <a:endParaRPr lang="en-US" altLang="zh-CN" sz="2000" b="0" i="0" dirty="0">
              <a:solidFill>
                <a:srgbClr val="000000"/>
              </a:solidFill>
              <a:effectLst/>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1"/>
          <a:srcRect/>
          <a:stretch>
            <a:fillRect/>
          </a:stretch>
        </p:blipFill>
        <p:spPr bwMode="auto">
          <a:xfrm>
            <a:off x="7348841" y="1396391"/>
            <a:ext cx="4271075" cy="237272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折角 12"/>
          <p:cNvSpPr/>
          <p:nvPr/>
        </p:nvSpPr>
        <p:spPr>
          <a:xfrm>
            <a:off x="7237144" y="3921291"/>
            <a:ext cx="4523788" cy="2469783"/>
          </a:xfrm>
          <a:prstGeom prst="foldedCorner">
            <a:avLst>
              <a:gd name="adj" fmla="val 351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36000" bIns="0"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下一代是什么？</a:t>
            </a:r>
            <a:endParaRPr lang="en-US" altLang="zh-CN" sz="2400" dirty="0">
              <a:solidFill>
                <a:schemeClr val="tx1"/>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下一代网络</a:t>
            </a:r>
            <a:r>
              <a:rPr lang="en-US" altLang="zh-CN" sz="2000" dirty="0">
                <a:solidFill>
                  <a:schemeClr val="tx1"/>
                </a:solidFill>
                <a:latin typeface="微软雅黑" panose="020B0503020204020204" pitchFamily="34" charset="-122"/>
                <a:ea typeface="微软雅黑" panose="020B0503020204020204" pitchFamily="34" charset="-122"/>
              </a:rPr>
              <a:t>NGN</a:t>
            </a:r>
            <a:br>
              <a:rPr lang="en-US" altLang="zh-CN" sz="2000" dirty="0">
                <a:solidFill>
                  <a:schemeClr val="tx1"/>
                </a:solidFill>
                <a:latin typeface="微软雅黑" panose="020B0503020204020204" pitchFamily="34" charset="-122"/>
                <a:ea typeface="微软雅黑" panose="020B0503020204020204" pitchFamily="34" charset="-122"/>
              </a:rPr>
            </a:br>
            <a:r>
              <a:rPr lang="en-US" altLang="zh-CN" sz="2000" dirty="0">
                <a:solidFill>
                  <a:schemeClr val="tx1"/>
                </a:solidFill>
                <a:latin typeface="微软雅黑" panose="020B0503020204020204" pitchFamily="34" charset="-122"/>
                <a:ea typeface="微软雅黑" panose="020B0503020204020204" pitchFamily="34" charset="-122"/>
              </a:rPr>
              <a:t>Next-generation Network</a:t>
            </a:r>
            <a:endParaRPr lang="en-US" altLang="zh-CN" sz="2000" dirty="0">
              <a:solidFill>
                <a:schemeClr val="tx1"/>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下一代互联网</a:t>
            </a:r>
            <a:r>
              <a:rPr lang="en-US" altLang="zh-CN" sz="2000" dirty="0">
                <a:solidFill>
                  <a:schemeClr val="tx1"/>
                </a:solidFill>
                <a:latin typeface="微软雅黑" panose="020B0503020204020204" pitchFamily="34" charset="-122"/>
                <a:ea typeface="微软雅黑" panose="020B0503020204020204" pitchFamily="34" charset="-122"/>
              </a:rPr>
              <a:t>NGI</a:t>
            </a:r>
            <a:r>
              <a:rPr lang="zh-CN" altLang="en-US" sz="2000" dirty="0">
                <a:solidFill>
                  <a:schemeClr val="tx1"/>
                </a:solidFill>
                <a:latin typeface="微软雅黑" panose="020B0503020204020204" pitchFamily="34" charset="-122"/>
                <a:ea typeface="微软雅黑" panose="020B0503020204020204" pitchFamily="34" charset="-122"/>
              </a:rPr>
              <a:t> </a:t>
            </a:r>
            <a:br>
              <a:rPr lang="en-US" altLang="zh-CN" sz="2000" dirty="0">
                <a:solidFill>
                  <a:schemeClr val="tx1"/>
                </a:solidFill>
                <a:latin typeface="微软雅黑" panose="020B0503020204020204" pitchFamily="34" charset="-122"/>
                <a:ea typeface="微软雅黑" panose="020B0503020204020204" pitchFamily="34" charset="-122"/>
              </a:rPr>
            </a:br>
            <a:r>
              <a:rPr lang="en-US" altLang="zh-CN" sz="2000" dirty="0">
                <a:solidFill>
                  <a:schemeClr val="tx1"/>
                </a:solidFill>
                <a:latin typeface="微软雅黑" panose="020B0503020204020204" pitchFamily="34" charset="-122"/>
                <a:ea typeface="微软雅黑" panose="020B0503020204020204" pitchFamily="34" charset="-122"/>
              </a:rPr>
              <a:t>Next-generation Internet</a:t>
            </a:r>
            <a:endParaRPr lang="en-US" altLang="zh-CN" sz="2000" dirty="0">
              <a:solidFill>
                <a:schemeClr val="tx1"/>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谁是真正的基础？谁是谁的应用？</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8" name="文本框 7"/>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7485246" y="1078671"/>
            <a:ext cx="4399207" cy="3526944"/>
          </a:xfrm>
          <a:prstGeom prst="rect">
            <a:avLst/>
          </a:prstGeom>
        </p:spPr>
      </p:pic>
      <p:sp>
        <p:nvSpPr>
          <p:cNvPr id="2" name="标题 1"/>
          <p:cNvSpPr>
            <a:spLocks noGrp="1"/>
          </p:cNvSpPr>
          <p:nvPr>
            <p:ph type="title"/>
          </p:nvPr>
        </p:nvSpPr>
        <p:spPr>
          <a:xfrm>
            <a:off x="1307507" y="365126"/>
            <a:ext cx="9582166" cy="879086"/>
          </a:xfrm>
        </p:spPr>
        <p:txBody>
          <a:bodyPr>
            <a:normAutofit/>
          </a:bodyPr>
          <a:lstStyle/>
          <a:p>
            <a:r>
              <a:rPr lang="zh-CN" altLang="zh-CN" sz="3700" dirty="0">
                <a:latin typeface="微软雅黑" panose="020B0503020204020204" pitchFamily="34" charset="-122"/>
                <a:ea typeface="微软雅黑" panose="020B0503020204020204" pitchFamily="34" charset="-122"/>
              </a:rPr>
              <a:t>中国教育和科研计算机网</a:t>
            </a:r>
            <a:r>
              <a:rPr lang="en-US" altLang="zh-CN" sz="3700" dirty="0">
                <a:latin typeface="微软雅黑" panose="020B0503020204020204" pitchFamily="34" charset="-122"/>
                <a:ea typeface="微软雅黑" panose="020B0503020204020204" pitchFamily="34" charset="-122"/>
              </a:rPr>
              <a:t>CERNET</a:t>
            </a:r>
            <a:endParaRPr lang="zh-CN" altLang="en-US" sz="3700" dirty="0"/>
          </a:p>
        </p:txBody>
      </p:sp>
      <p:sp>
        <p:nvSpPr>
          <p:cNvPr id="3" name="内容占位符 2"/>
          <p:cNvSpPr>
            <a:spLocks noGrp="1"/>
          </p:cNvSpPr>
          <p:nvPr>
            <p:ph idx="1"/>
          </p:nvPr>
        </p:nvSpPr>
        <p:spPr>
          <a:xfrm>
            <a:off x="733246" y="1279565"/>
            <a:ext cx="7104468" cy="4898389"/>
          </a:xfrm>
        </p:spPr>
        <p:txBody>
          <a:bodyPr>
            <a:noAutofit/>
          </a:bodyPr>
          <a:lstStyle/>
          <a:p>
            <a:pPr>
              <a:spcBef>
                <a:spcPts val="400"/>
              </a:spcBef>
            </a:pPr>
            <a:r>
              <a:rPr lang="zh-CN" altLang="en-US" sz="2000" b="0" i="0" dirty="0">
                <a:effectLst/>
                <a:latin typeface="微软雅黑" panose="020B0503020204020204" pitchFamily="34" charset="-122"/>
                <a:ea typeface="微软雅黑" panose="020B0503020204020204" pitchFamily="34" charset="-122"/>
              </a:rPr>
              <a:t>始建于</a:t>
            </a:r>
            <a:r>
              <a:rPr lang="en-US" altLang="zh-CN" sz="2000" b="0" i="0" dirty="0">
                <a:effectLst/>
                <a:latin typeface="微软雅黑" panose="020B0503020204020204" pitchFamily="34" charset="-122"/>
                <a:ea typeface="微软雅黑" panose="020B0503020204020204" pitchFamily="34" charset="-122"/>
              </a:rPr>
              <a:t>1994</a:t>
            </a:r>
            <a:r>
              <a:rPr lang="zh-CN" altLang="en-US" sz="2000" b="0" i="0" dirty="0">
                <a:effectLst/>
                <a:latin typeface="微软雅黑" panose="020B0503020204020204" pitchFamily="34" charset="-122"/>
                <a:ea typeface="微软雅黑" panose="020B0503020204020204" pitchFamily="34" charset="-122"/>
              </a:rPr>
              <a:t>年的全球最大学术互联网，教育部管理，</a:t>
            </a:r>
            <a:br>
              <a:rPr lang="en-US" altLang="zh-CN" sz="2000" b="0" i="0" dirty="0">
                <a:effectLst/>
                <a:latin typeface="微软雅黑" panose="020B0503020204020204" pitchFamily="34" charset="-122"/>
                <a:ea typeface="微软雅黑" panose="020B0503020204020204" pitchFamily="34" charset="-122"/>
              </a:rPr>
            </a:br>
            <a:r>
              <a:rPr lang="zh-CN" altLang="en-US" sz="2000" b="0" i="0" dirty="0">
                <a:effectLst/>
                <a:latin typeface="微软雅黑" panose="020B0503020204020204" pitchFamily="34" charset="-122"/>
                <a:ea typeface="微软雅黑" panose="020B0503020204020204" pitchFamily="34" charset="-122"/>
              </a:rPr>
              <a:t>清华大学等高校承担建设和运行</a:t>
            </a:r>
            <a:endParaRPr lang="en-US" altLang="zh-CN" sz="2000" b="0" i="0" dirty="0">
              <a:effectLst/>
              <a:latin typeface="微软雅黑" panose="020B0503020204020204" pitchFamily="34" charset="-122"/>
              <a:ea typeface="微软雅黑" panose="020B0503020204020204" pitchFamily="34" charset="-122"/>
            </a:endParaRPr>
          </a:p>
          <a:p>
            <a:pPr>
              <a:spcBef>
                <a:spcPts val="400"/>
              </a:spcBef>
            </a:pP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个教育科研单位，</a:t>
            </a: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万人，全国</a:t>
            </a:r>
            <a:r>
              <a:rPr lang="en-US" altLang="zh-CN" sz="2000" dirty="0">
                <a:latin typeface="微软雅黑" panose="020B0503020204020204" pitchFamily="34" charset="-122"/>
                <a:ea typeface="微软雅黑" panose="020B0503020204020204" pitchFamily="34" charset="-122"/>
              </a:rPr>
              <a:t>41</a:t>
            </a:r>
            <a:r>
              <a:rPr lang="zh-CN" altLang="en-US" sz="2000" dirty="0">
                <a:latin typeface="微软雅黑" panose="020B0503020204020204" pitchFamily="34" charset="-122"/>
                <a:ea typeface="微软雅黑" panose="020B0503020204020204" pitchFamily="34" charset="-122"/>
              </a:rPr>
              <a:t>个主节点院校</a:t>
            </a:r>
            <a:endParaRPr lang="en-US" altLang="zh-CN"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国家网络中心： 清华大学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地区网络中心： </a:t>
            </a:r>
            <a:r>
              <a:rPr lang="zh-CN" altLang="en-US" sz="1600" dirty="0">
                <a:latin typeface="微软雅黑" panose="020B0503020204020204" pitchFamily="34" charset="-122"/>
                <a:ea typeface="微软雅黑" panose="020B0503020204020204" pitchFamily="34" charset="-122"/>
              </a:rPr>
              <a:t>北京大学 上海交通大学 西安交通大学 东南大学 </a:t>
            </a:r>
            <a:br>
              <a:rPr lang="en-US" altLang="zh-CN" sz="1600" dirty="0">
                <a:latin typeface="微软雅黑" panose="020B0503020204020204" pitchFamily="34" charset="-122"/>
                <a:ea typeface="微软雅黑" panose="020B0503020204020204" pitchFamily="34" charset="-122"/>
              </a:rPr>
            </a:br>
            <a:r>
              <a:rPr lang="zh-CN" altLang="en-US" sz="1600" dirty="0">
                <a:latin typeface="微软雅黑" panose="020B0503020204020204" pitchFamily="34" charset="-122"/>
                <a:ea typeface="微软雅黑" panose="020B0503020204020204" pitchFamily="34" charset="-122"/>
              </a:rPr>
              <a:t>华南理工大学 东北大学 北京邮电大学 华中科技大学 电子科技大学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华北主节点： </a:t>
            </a:r>
            <a:r>
              <a:rPr lang="zh-CN" altLang="en-US" sz="1600" dirty="0">
                <a:latin typeface="微软雅黑" panose="020B0503020204020204" pitchFamily="34" charset="-122"/>
                <a:ea typeface="微软雅黑" panose="020B0503020204020204" pitchFamily="34" charset="-122"/>
              </a:rPr>
              <a:t>天津大学 河北师范大学 太原理工大学 内蒙古大学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东北主节点</a:t>
            </a:r>
            <a:r>
              <a:rPr lang="zh-CN" altLang="en-US" sz="1600" dirty="0">
                <a:latin typeface="微软雅黑" panose="020B0503020204020204" pitchFamily="34" charset="-122"/>
                <a:ea typeface="微软雅黑" panose="020B0503020204020204" pitchFamily="34" charset="-122"/>
              </a:rPr>
              <a:t>： 大连理工大学 吉林大学 哈尔滨工业大学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华东</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南</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地区主节点</a:t>
            </a:r>
            <a:r>
              <a:rPr lang="zh-CN" altLang="en-US" sz="1600" dirty="0">
                <a:latin typeface="微软雅黑" panose="020B0503020204020204" pitchFamily="34" charset="-122"/>
                <a:ea typeface="微软雅黑" panose="020B0503020204020204" pitchFamily="34" charset="-122"/>
              </a:rPr>
              <a:t>： 浙江大学 福州大学 南昌大学 厦门大学</a:t>
            </a:r>
            <a:endParaRPr lang="zh-CN" altLang="en-US" sz="16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华东</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北</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地区主节点</a:t>
            </a:r>
            <a:r>
              <a:rPr lang="zh-CN" altLang="en-US" sz="1600" dirty="0">
                <a:latin typeface="微软雅黑" panose="020B0503020204020204" pitchFamily="34" charset="-122"/>
                <a:ea typeface="微软雅黑" panose="020B0503020204020204" pitchFamily="34" charset="-122"/>
              </a:rPr>
              <a:t>： 山东大学 中国科学技术大学 中国海洋大学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华中地区主节点</a:t>
            </a:r>
            <a:r>
              <a:rPr lang="zh-CN" altLang="en-US" sz="1600" dirty="0">
                <a:latin typeface="微软雅黑" panose="020B0503020204020204" pitchFamily="34" charset="-122"/>
                <a:ea typeface="微软雅黑" panose="020B0503020204020204" pitchFamily="34" charset="-122"/>
              </a:rPr>
              <a:t>： 中南大学 郑州大学</a:t>
            </a:r>
            <a:endParaRPr lang="zh-CN" altLang="en-US" sz="16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华南地区主节点</a:t>
            </a:r>
            <a:r>
              <a:rPr lang="zh-CN" altLang="en-US" sz="1600" dirty="0">
                <a:latin typeface="微软雅黑" panose="020B0503020204020204" pitchFamily="34" charset="-122"/>
                <a:ea typeface="微软雅黑" panose="020B0503020204020204" pitchFamily="34" charset="-122"/>
              </a:rPr>
              <a:t>： 广西大学 广西师范大学 海南师范大学 深圳大学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西南地区主节点</a:t>
            </a:r>
            <a:r>
              <a:rPr lang="zh-CN" altLang="en-US" sz="1600" dirty="0">
                <a:latin typeface="微软雅黑" panose="020B0503020204020204" pitchFamily="34" charset="-122"/>
                <a:ea typeface="微软雅黑" panose="020B0503020204020204" pitchFamily="34" charset="-122"/>
              </a:rPr>
              <a:t>： 重庆大学 贵州大学 云南大学 西藏大学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西北地区主节点</a:t>
            </a:r>
            <a:r>
              <a:rPr lang="zh-CN" altLang="en-US" sz="1600" dirty="0">
                <a:latin typeface="微软雅黑" panose="020B0503020204020204" pitchFamily="34" charset="-122"/>
                <a:ea typeface="微软雅黑" panose="020B0503020204020204" pitchFamily="34" charset="-122"/>
              </a:rPr>
              <a:t>： 兰州大学 青海师范大学 宁夏大学 新疆大学</a:t>
            </a:r>
            <a:endParaRPr lang="zh-CN" altLang="en-US" sz="2000" dirty="0">
              <a:latin typeface="微软雅黑" panose="020B0503020204020204" pitchFamily="34" charset="-122"/>
              <a:ea typeface="微软雅黑" panose="020B0503020204020204" pitchFamily="34" charset="-122"/>
            </a:endParaRPr>
          </a:p>
        </p:txBody>
      </p:sp>
      <p:grpSp>
        <p:nvGrpSpPr>
          <p:cNvPr id="12" name="组合 11"/>
          <p:cNvGrpSpPr/>
          <p:nvPr/>
        </p:nvGrpSpPr>
        <p:grpSpPr>
          <a:xfrm>
            <a:off x="7792790" y="4671778"/>
            <a:ext cx="4091663" cy="1787894"/>
            <a:chOff x="7909955" y="1419099"/>
            <a:chExt cx="4091663" cy="1787894"/>
          </a:xfrm>
        </p:grpSpPr>
        <p:pic>
          <p:nvPicPr>
            <p:cNvPr id="1026" name="Picture 2"/>
            <p:cNvPicPr>
              <a:picLocks noChangeAspect="1" noChangeArrowheads="1"/>
            </p:cNvPicPr>
            <p:nvPr/>
          </p:nvPicPr>
          <p:blipFill>
            <a:blip r:embed="rId2"/>
            <a:srcRect/>
            <a:stretch>
              <a:fillRect/>
            </a:stretch>
          </p:blipFill>
          <p:spPr bwMode="auto">
            <a:xfrm>
              <a:off x="7909955" y="1422069"/>
              <a:ext cx="1269279" cy="1784924"/>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9179234" y="1419099"/>
              <a:ext cx="2822384" cy="1784924"/>
            </a:xfrm>
            <a:prstGeom prst="rect">
              <a:avLst/>
            </a:prstGeom>
            <a:noFill/>
            <a:ln>
              <a:noFill/>
            </a:ln>
          </p:spPr>
          <p:txBody>
            <a:bodyPr wrap="square">
              <a:noAutofit/>
            </a:bodyPr>
            <a:lstStyle/>
            <a:p>
              <a:pPr>
                <a:lnSpc>
                  <a:spcPct val="120000"/>
                </a:lnSpc>
              </a:pPr>
              <a:r>
                <a:rPr lang="zh-CN" altLang="en-US" sz="2000" dirty="0">
                  <a:latin typeface="微软雅黑" panose="020B0503020204020204" pitchFamily="34" charset="-122"/>
                  <a:ea typeface="微软雅黑" panose="020B0503020204020204" pitchFamily="34" charset="-122"/>
                </a:rPr>
                <a:t>吴建平 中国工程院院士</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en-US" altLang="zh-CN" sz="2000" dirty="0">
                  <a:latin typeface="微软雅黑" panose="020B0503020204020204" pitchFamily="34" charset="-122"/>
                  <a:ea typeface="微软雅黑" panose="020B0503020204020204" pitchFamily="34" charset="-122"/>
                </a:rPr>
                <a:t>CERNET</a:t>
              </a:r>
              <a:r>
                <a:rPr lang="zh-CN" altLang="en-US" sz="2000" dirty="0">
                  <a:latin typeface="微软雅黑" panose="020B0503020204020204" pitchFamily="34" charset="-122"/>
                  <a:ea typeface="微软雅黑" panose="020B0503020204020204" pitchFamily="34" charset="-122"/>
                </a:rPr>
                <a:t>专家委主任</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000" dirty="0">
                  <a:latin typeface="微软雅黑" panose="020B0503020204020204" pitchFamily="34" charset="-122"/>
                  <a:ea typeface="微软雅黑" panose="020B0503020204020204" pitchFamily="34" charset="-122"/>
                </a:rPr>
                <a:t>英国皇家工程院院士</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rPr>
                <a:t>入选全球“互联网名人堂”</a:t>
              </a:r>
              <a:endParaRPr lang="en-US" altLang="zh-CN" dirty="0">
                <a:latin typeface="微软雅黑" panose="020B0503020204020204" pitchFamily="34" charset="-122"/>
                <a:ea typeface="微软雅黑" panose="020B0503020204020204" pitchFamily="34" charset="-122"/>
              </a:endParaRPr>
            </a:p>
            <a:p>
              <a:pPr>
                <a:lnSpc>
                  <a:spcPct val="120000"/>
                </a:lnSpc>
              </a:pPr>
              <a:r>
                <a:rPr lang="en-US" altLang="zh-CN" dirty="0">
                  <a:latin typeface="微软雅黑" panose="020B0503020204020204" pitchFamily="34" charset="-122"/>
                  <a:ea typeface="微软雅黑" panose="020B0503020204020204" pitchFamily="34" charset="-122"/>
                </a:rPr>
                <a:t>89</a:t>
              </a:r>
              <a:r>
                <a:rPr lang="zh-CN" altLang="en-US" dirty="0">
                  <a:latin typeface="微软雅黑" panose="020B0503020204020204" pitchFamily="34" charset="-122"/>
                  <a:ea typeface="微软雅黑" panose="020B0503020204020204" pitchFamily="34" charset="-122"/>
                </a:rPr>
                <a:t>年从加拿大访学归来</a:t>
              </a:r>
              <a:endParaRPr lang="zh-CN" altLang="en-US" dirty="0">
                <a:latin typeface="微软雅黑" panose="020B0503020204020204" pitchFamily="34" charset="-122"/>
                <a:ea typeface="微软雅黑" panose="020B0503020204020204" pitchFamily="34" charset="-122"/>
              </a:endParaRPr>
            </a:p>
          </p:txBody>
        </p:sp>
      </p:grpSp>
      <p:sp>
        <p:nvSpPr>
          <p:cNvPr id="8" name="矩形 7"/>
          <p:cNvSpPr/>
          <p:nvPr/>
        </p:nvSpPr>
        <p:spPr>
          <a:xfrm>
            <a:off x="8960594" y="1227063"/>
            <a:ext cx="1756058" cy="396583"/>
          </a:xfrm>
          <a:prstGeom prst="rect">
            <a:avLst/>
          </a:prstGeom>
          <a:solidFill>
            <a:schemeClr val="bg1"/>
          </a:solidFill>
        </p:spPr>
        <p:txBody>
          <a:bodyPr wrap="none">
            <a:spAutoFit/>
          </a:bodyPr>
          <a:lstStyle/>
          <a:p>
            <a:pPr>
              <a:lnSpc>
                <a:spcPct val="120000"/>
              </a:lnSpc>
            </a:pPr>
            <a:r>
              <a:rPr lang="en-US" altLang="zh-CN" dirty="0">
                <a:latin typeface="微软雅黑" panose="020B0503020204020204" pitchFamily="34" charset="-122"/>
                <a:ea typeface="微软雅黑" panose="020B0503020204020204" pitchFamily="34" charset="-122"/>
              </a:rPr>
              <a:t>CERNET</a:t>
            </a:r>
            <a:r>
              <a:rPr lang="zh-CN" altLang="en-US" dirty="0">
                <a:latin typeface="微软雅黑" panose="020B0503020204020204" pitchFamily="34" charset="-122"/>
                <a:ea typeface="微软雅黑" panose="020B0503020204020204" pitchFamily="34" charset="-122"/>
              </a:rPr>
              <a:t>主干网</a:t>
            </a:r>
            <a:endParaRPr lang="en-US" altLang="zh-CN" dirty="0">
              <a:latin typeface="微软雅黑" panose="020B0503020204020204" pitchFamily="34" charset="-122"/>
              <a:ea typeface="微软雅黑" panose="020B0503020204020204" pitchFamily="34" charset="-122"/>
            </a:endParaRPr>
          </a:p>
        </p:txBody>
      </p:sp>
      <p:sp>
        <p:nvSpPr>
          <p:cNvPr id="11" name="矩形 10"/>
          <p:cNvSpPr/>
          <p:nvPr/>
        </p:nvSpPr>
        <p:spPr>
          <a:xfrm>
            <a:off x="2134737" y="6177954"/>
            <a:ext cx="3877985" cy="497957"/>
          </a:xfrm>
          <a:prstGeom prst="rect">
            <a:avLst/>
          </a:prstGeom>
          <a:ln>
            <a:solidFill>
              <a:srgbClr val="C00000"/>
            </a:solidFill>
          </a:ln>
        </p:spPr>
        <p:txBody>
          <a:bodyPr wrap="none">
            <a:spAutoFit/>
          </a:bodyPr>
          <a:lstStyle/>
          <a:p>
            <a:pPr>
              <a:lnSpc>
                <a:spcPct val="120000"/>
              </a:lnSpc>
            </a:pPr>
            <a:r>
              <a:rPr lang="zh-CN" altLang="en-US" sz="2400" dirty="0">
                <a:solidFill>
                  <a:srgbClr val="C00000"/>
                </a:solidFill>
                <a:latin typeface="微软雅黑" panose="020B0503020204020204" pitchFamily="34" charset="-122"/>
                <a:ea typeface="微软雅黑" panose="020B0503020204020204" pitchFamily="34" charset="-122"/>
              </a:rPr>
              <a:t>你从哪个主节点学校接入？</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4" name="文本框 13"/>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3"/>
          <p:cNvPicPr>
            <a:picLocks noChangeArrowheads="1"/>
          </p:cNvPicPr>
          <p:nvPr/>
        </p:nvPicPr>
        <p:blipFill>
          <a:blip r:embed="rId1" cstate="print"/>
          <a:srcRect/>
          <a:stretch>
            <a:fillRect/>
          </a:stretch>
        </p:blipFill>
        <p:spPr bwMode="auto">
          <a:xfrm>
            <a:off x="5486400" y="2237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6" name="Picture 4"/>
          <p:cNvPicPr>
            <a:picLocks noChangeArrowheads="1"/>
          </p:cNvPicPr>
          <p:nvPr/>
        </p:nvPicPr>
        <p:blipFill>
          <a:blip r:embed="rId1" cstate="print"/>
          <a:srcRect/>
          <a:stretch>
            <a:fillRect/>
          </a:stretch>
        </p:blipFill>
        <p:spPr bwMode="auto">
          <a:xfrm>
            <a:off x="4572000" y="30755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7" name="Picture 5"/>
          <p:cNvPicPr>
            <a:picLocks noChangeArrowheads="1"/>
          </p:cNvPicPr>
          <p:nvPr/>
        </p:nvPicPr>
        <p:blipFill>
          <a:blip r:embed="rId1" cstate="print"/>
          <a:srcRect/>
          <a:stretch>
            <a:fillRect/>
          </a:stretch>
        </p:blipFill>
        <p:spPr bwMode="auto">
          <a:xfrm>
            <a:off x="6400800" y="30755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8" name="Picture 6"/>
          <p:cNvPicPr>
            <a:picLocks noChangeArrowheads="1"/>
          </p:cNvPicPr>
          <p:nvPr/>
        </p:nvPicPr>
        <p:blipFill>
          <a:blip r:embed="rId1" cstate="print"/>
          <a:srcRect/>
          <a:stretch>
            <a:fillRect/>
          </a:stretch>
        </p:blipFill>
        <p:spPr bwMode="auto">
          <a:xfrm>
            <a:off x="4572000" y="4066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9" name="Picture 7"/>
          <p:cNvPicPr>
            <a:picLocks noChangeArrowheads="1"/>
          </p:cNvPicPr>
          <p:nvPr/>
        </p:nvPicPr>
        <p:blipFill>
          <a:blip r:embed="rId1" cstate="print"/>
          <a:srcRect/>
          <a:stretch>
            <a:fillRect/>
          </a:stretch>
        </p:blipFill>
        <p:spPr bwMode="auto">
          <a:xfrm>
            <a:off x="6400800" y="4066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40" name="Picture 8"/>
          <p:cNvPicPr>
            <a:picLocks noChangeArrowheads="1"/>
          </p:cNvPicPr>
          <p:nvPr/>
        </p:nvPicPr>
        <p:blipFill>
          <a:blip r:embed="rId1" cstate="print"/>
          <a:srcRect/>
          <a:stretch>
            <a:fillRect/>
          </a:stretch>
        </p:blipFill>
        <p:spPr bwMode="auto">
          <a:xfrm>
            <a:off x="5486400" y="47519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41" name="Line 9"/>
          <p:cNvSpPr>
            <a:spLocks noChangeShapeType="1"/>
          </p:cNvSpPr>
          <p:nvPr/>
        </p:nvSpPr>
        <p:spPr bwMode="auto">
          <a:xfrm flipH="1">
            <a:off x="4724400" y="2389762"/>
            <a:ext cx="762000" cy="762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42" name="Line 10"/>
          <p:cNvSpPr>
            <a:spLocks noChangeShapeType="1"/>
          </p:cNvSpPr>
          <p:nvPr/>
        </p:nvSpPr>
        <p:spPr bwMode="auto">
          <a:xfrm>
            <a:off x="5791200" y="2389762"/>
            <a:ext cx="685800" cy="6858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43" name="Line 11"/>
          <p:cNvSpPr>
            <a:spLocks noChangeShapeType="1"/>
          </p:cNvSpPr>
          <p:nvPr/>
        </p:nvSpPr>
        <p:spPr bwMode="auto">
          <a:xfrm>
            <a:off x="4724400" y="3304162"/>
            <a:ext cx="0" cy="762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44" name="Line 12"/>
          <p:cNvSpPr>
            <a:spLocks noChangeShapeType="1"/>
          </p:cNvSpPr>
          <p:nvPr/>
        </p:nvSpPr>
        <p:spPr bwMode="auto">
          <a:xfrm>
            <a:off x="6553200" y="3304162"/>
            <a:ext cx="0" cy="762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45" name="Line 13"/>
          <p:cNvSpPr>
            <a:spLocks noChangeShapeType="1"/>
          </p:cNvSpPr>
          <p:nvPr/>
        </p:nvSpPr>
        <p:spPr bwMode="auto">
          <a:xfrm>
            <a:off x="4800600" y="4294762"/>
            <a:ext cx="685800" cy="5334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46" name="Line 14"/>
          <p:cNvSpPr>
            <a:spLocks noChangeShapeType="1"/>
          </p:cNvSpPr>
          <p:nvPr/>
        </p:nvSpPr>
        <p:spPr bwMode="auto">
          <a:xfrm flipV="1">
            <a:off x="5867400" y="4218562"/>
            <a:ext cx="609600" cy="6096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47" name="Line 15"/>
          <p:cNvSpPr>
            <a:spLocks noChangeShapeType="1"/>
          </p:cNvSpPr>
          <p:nvPr/>
        </p:nvSpPr>
        <p:spPr bwMode="auto">
          <a:xfrm>
            <a:off x="4953000" y="3227962"/>
            <a:ext cx="144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48" name="Line 16"/>
          <p:cNvSpPr>
            <a:spLocks noChangeShapeType="1"/>
          </p:cNvSpPr>
          <p:nvPr/>
        </p:nvSpPr>
        <p:spPr bwMode="auto">
          <a:xfrm>
            <a:off x="4876800" y="3304162"/>
            <a:ext cx="762000" cy="14478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49" name="Line 17"/>
          <p:cNvSpPr>
            <a:spLocks noChangeShapeType="1"/>
          </p:cNvSpPr>
          <p:nvPr/>
        </p:nvSpPr>
        <p:spPr bwMode="auto">
          <a:xfrm flipV="1">
            <a:off x="4876800" y="2389762"/>
            <a:ext cx="762000" cy="17526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0" name="Line 18"/>
          <p:cNvSpPr>
            <a:spLocks noChangeShapeType="1"/>
          </p:cNvSpPr>
          <p:nvPr/>
        </p:nvSpPr>
        <p:spPr bwMode="auto">
          <a:xfrm flipV="1">
            <a:off x="4876800" y="3304162"/>
            <a:ext cx="1600200" cy="9144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1" name="Line 19"/>
          <p:cNvSpPr>
            <a:spLocks noChangeShapeType="1"/>
          </p:cNvSpPr>
          <p:nvPr/>
        </p:nvSpPr>
        <p:spPr bwMode="auto">
          <a:xfrm>
            <a:off x="5715000" y="2465962"/>
            <a:ext cx="762000" cy="16002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2" name="Line 20"/>
          <p:cNvSpPr>
            <a:spLocks noChangeShapeType="1"/>
          </p:cNvSpPr>
          <p:nvPr/>
        </p:nvSpPr>
        <p:spPr bwMode="auto">
          <a:xfrm>
            <a:off x="5638800" y="2465962"/>
            <a:ext cx="0" cy="2286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3" name="Line 21"/>
          <p:cNvSpPr>
            <a:spLocks noChangeShapeType="1"/>
          </p:cNvSpPr>
          <p:nvPr/>
        </p:nvSpPr>
        <p:spPr bwMode="auto">
          <a:xfrm>
            <a:off x="4876800" y="3227962"/>
            <a:ext cx="1676400" cy="9144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4" name="Line 22"/>
          <p:cNvSpPr>
            <a:spLocks noChangeShapeType="1"/>
          </p:cNvSpPr>
          <p:nvPr/>
        </p:nvSpPr>
        <p:spPr bwMode="auto">
          <a:xfrm>
            <a:off x="4953000" y="4218562"/>
            <a:ext cx="1524000"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5" name="Line 23"/>
          <p:cNvSpPr>
            <a:spLocks noChangeShapeType="1"/>
          </p:cNvSpPr>
          <p:nvPr/>
        </p:nvSpPr>
        <p:spPr bwMode="auto">
          <a:xfrm flipH="1">
            <a:off x="5105400" y="4904362"/>
            <a:ext cx="457200" cy="7620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6" name="Line 24"/>
          <p:cNvSpPr>
            <a:spLocks noChangeShapeType="1"/>
          </p:cNvSpPr>
          <p:nvPr/>
        </p:nvSpPr>
        <p:spPr bwMode="auto">
          <a:xfrm>
            <a:off x="5638800" y="4980562"/>
            <a:ext cx="0" cy="609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7" name="Line 25"/>
          <p:cNvSpPr>
            <a:spLocks noChangeShapeType="1"/>
          </p:cNvSpPr>
          <p:nvPr/>
        </p:nvSpPr>
        <p:spPr bwMode="auto">
          <a:xfrm>
            <a:off x="5715000" y="4904362"/>
            <a:ext cx="381000" cy="6858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8" name="Line 26"/>
          <p:cNvSpPr>
            <a:spLocks noChangeShapeType="1"/>
          </p:cNvSpPr>
          <p:nvPr/>
        </p:nvSpPr>
        <p:spPr bwMode="auto">
          <a:xfrm flipV="1">
            <a:off x="6781800" y="3837562"/>
            <a:ext cx="762000" cy="3048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59" name="Line 27"/>
          <p:cNvSpPr>
            <a:spLocks noChangeShapeType="1"/>
          </p:cNvSpPr>
          <p:nvPr/>
        </p:nvSpPr>
        <p:spPr bwMode="auto">
          <a:xfrm>
            <a:off x="6781800" y="4180462"/>
            <a:ext cx="762000" cy="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0" name="Line 28"/>
          <p:cNvSpPr>
            <a:spLocks noChangeShapeType="1"/>
          </p:cNvSpPr>
          <p:nvPr/>
        </p:nvSpPr>
        <p:spPr bwMode="auto">
          <a:xfrm>
            <a:off x="6705600" y="4218562"/>
            <a:ext cx="914400" cy="228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1" name="Line 29"/>
          <p:cNvSpPr>
            <a:spLocks noChangeShapeType="1"/>
          </p:cNvSpPr>
          <p:nvPr/>
        </p:nvSpPr>
        <p:spPr bwMode="auto">
          <a:xfrm flipV="1">
            <a:off x="6781800" y="2694562"/>
            <a:ext cx="762000" cy="3810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2" name="Line 30"/>
          <p:cNvSpPr>
            <a:spLocks noChangeShapeType="1"/>
          </p:cNvSpPr>
          <p:nvPr/>
        </p:nvSpPr>
        <p:spPr bwMode="auto">
          <a:xfrm flipV="1">
            <a:off x="6781800" y="3075562"/>
            <a:ext cx="914400" cy="381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3" name="Line 31"/>
          <p:cNvSpPr>
            <a:spLocks noChangeShapeType="1"/>
          </p:cNvSpPr>
          <p:nvPr/>
        </p:nvSpPr>
        <p:spPr bwMode="auto">
          <a:xfrm>
            <a:off x="6705600" y="3151762"/>
            <a:ext cx="914400" cy="228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4" name="Line 32"/>
          <p:cNvSpPr>
            <a:spLocks noChangeShapeType="1"/>
          </p:cNvSpPr>
          <p:nvPr/>
        </p:nvSpPr>
        <p:spPr bwMode="auto">
          <a:xfrm flipV="1">
            <a:off x="3733800" y="4218562"/>
            <a:ext cx="838200" cy="3810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5" name="Line 33"/>
          <p:cNvSpPr>
            <a:spLocks noChangeShapeType="1"/>
          </p:cNvSpPr>
          <p:nvPr/>
        </p:nvSpPr>
        <p:spPr bwMode="auto">
          <a:xfrm>
            <a:off x="3733800" y="4218562"/>
            <a:ext cx="838200" cy="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6" name="Line 34"/>
          <p:cNvSpPr>
            <a:spLocks noChangeShapeType="1"/>
          </p:cNvSpPr>
          <p:nvPr/>
        </p:nvSpPr>
        <p:spPr bwMode="auto">
          <a:xfrm>
            <a:off x="3657600" y="3913762"/>
            <a:ext cx="990600" cy="228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7" name="Line 35"/>
          <p:cNvSpPr>
            <a:spLocks noChangeShapeType="1"/>
          </p:cNvSpPr>
          <p:nvPr/>
        </p:nvSpPr>
        <p:spPr bwMode="auto">
          <a:xfrm flipV="1">
            <a:off x="3657600" y="3227962"/>
            <a:ext cx="914400" cy="228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8" name="Line 36"/>
          <p:cNvSpPr>
            <a:spLocks noChangeShapeType="1"/>
          </p:cNvSpPr>
          <p:nvPr/>
        </p:nvSpPr>
        <p:spPr bwMode="auto">
          <a:xfrm>
            <a:off x="3733800" y="3151762"/>
            <a:ext cx="914400" cy="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69" name="Line 37"/>
          <p:cNvSpPr>
            <a:spLocks noChangeShapeType="1"/>
          </p:cNvSpPr>
          <p:nvPr/>
        </p:nvSpPr>
        <p:spPr bwMode="auto">
          <a:xfrm>
            <a:off x="3657600" y="2770762"/>
            <a:ext cx="990600" cy="3048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70" name="Line 38"/>
          <p:cNvSpPr>
            <a:spLocks noChangeShapeType="1"/>
          </p:cNvSpPr>
          <p:nvPr/>
        </p:nvSpPr>
        <p:spPr bwMode="auto">
          <a:xfrm>
            <a:off x="5105400" y="1627762"/>
            <a:ext cx="457200" cy="6858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71" name="Line 39"/>
          <p:cNvSpPr>
            <a:spLocks noChangeShapeType="1"/>
          </p:cNvSpPr>
          <p:nvPr/>
        </p:nvSpPr>
        <p:spPr bwMode="auto">
          <a:xfrm>
            <a:off x="5638800" y="1627762"/>
            <a:ext cx="0" cy="609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72" name="Line 40"/>
          <p:cNvSpPr>
            <a:spLocks noChangeShapeType="1"/>
          </p:cNvSpPr>
          <p:nvPr/>
        </p:nvSpPr>
        <p:spPr bwMode="auto">
          <a:xfrm flipV="1">
            <a:off x="5791200" y="1627762"/>
            <a:ext cx="381000" cy="609600"/>
          </a:xfrm>
          <a:prstGeom prst="line">
            <a:avLst/>
          </a:prstGeom>
          <a:noFill/>
          <a:ln w="15875">
            <a:solidFill>
              <a:srgbClr val="003366"/>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73" name="Text Box 41"/>
          <p:cNvSpPr txBox="1">
            <a:spLocks noChangeArrowheads="1"/>
          </p:cNvSpPr>
          <p:nvPr/>
        </p:nvSpPr>
        <p:spPr bwMode="auto">
          <a:xfrm>
            <a:off x="4904502" y="3309480"/>
            <a:ext cx="1600199" cy="7566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en-US" altLang="zh-CN" sz="1800" dirty="0">
                <a:latin typeface="微软雅黑" panose="020B0503020204020204" pitchFamily="34" charset="-122"/>
                <a:ea typeface="微软雅黑" panose="020B0503020204020204" pitchFamily="34" charset="-122"/>
              </a:rPr>
              <a:t>IBGP</a:t>
            </a:r>
            <a:r>
              <a:rPr lang="zh-CN" altLang="en-US" sz="1800" dirty="0">
                <a:latin typeface="微软雅黑" panose="020B0503020204020204" pitchFamily="34" charset="-122"/>
                <a:ea typeface="微软雅黑" panose="020B0503020204020204" pitchFamily="34" charset="-122"/>
              </a:rPr>
              <a:t>全连接</a:t>
            </a:r>
            <a:endParaRPr lang="zh-CN" altLang="en-US" sz="1800" dirty="0">
              <a:latin typeface="微软雅黑" panose="020B0503020204020204" pitchFamily="34" charset="-122"/>
              <a:ea typeface="微软雅黑" panose="020B0503020204020204" pitchFamily="34" charset="-122"/>
            </a:endParaRPr>
          </a:p>
          <a:p>
            <a:pPr algn="ctr" eaLnBrk="1" hangingPunct="1">
              <a:lnSpc>
                <a:spcPct val="120000"/>
              </a:lnSpc>
              <a:spcBef>
                <a:spcPct val="10000"/>
              </a:spcBef>
              <a:buClr>
                <a:schemeClr val="tx1"/>
              </a:buClr>
              <a:buFont typeface="Symbol" panose="05050102010706020507" pitchFamily="18" charset="2"/>
              <a:buNone/>
            </a:pPr>
            <a:r>
              <a:rPr lang="zh-CN" altLang="en-US" sz="1800" dirty="0">
                <a:latin typeface="微软雅黑" panose="020B0503020204020204" pitchFamily="34" charset="-122"/>
                <a:ea typeface="微软雅黑" panose="020B0503020204020204" pitchFamily="34" charset="-122"/>
              </a:rPr>
              <a:t>八大地区中心</a:t>
            </a:r>
            <a:endParaRPr lang="zh-CN" altLang="en-US" sz="1800" dirty="0">
              <a:latin typeface="微软雅黑" panose="020B0503020204020204" pitchFamily="34" charset="-122"/>
              <a:ea typeface="微软雅黑" panose="020B0503020204020204" pitchFamily="34" charset="-122"/>
            </a:endParaRPr>
          </a:p>
        </p:txBody>
      </p:sp>
      <p:pic>
        <p:nvPicPr>
          <p:cNvPr id="18474" name="Picture 47"/>
          <p:cNvPicPr>
            <a:picLocks noChangeArrowheads="1"/>
          </p:cNvPicPr>
          <p:nvPr/>
        </p:nvPicPr>
        <p:blipFill>
          <a:blip r:embed="rId4" cstate="print"/>
          <a:srcRect/>
          <a:stretch>
            <a:fillRect/>
          </a:stretch>
        </p:blipFill>
        <p:spPr bwMode="auto">
          <a:xfrm>
            <a:off x="7543800" y="2542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5" name="Picture 48"/>
          <p:cNvPicPr>
            <a:picLocks noChangeArrowheads="1"/>
          </p:cNvPicPr>
          <p:nvPr/>
        </p:nvPicPr>
        <p:blipFill>
          <a:blip r:embed="rId4" cstate="print"/>
          <a:srcRect/>
          <a:stretch>
            <a:fillRect/>
          </a:stretch>
        </p:blipFill>
        <p:spPr bwMode="auto">
          <a:xfrm>
            <a:off x="7543800" y="2999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6" name="Picture 49"/>
          <p:cNvPicPr>
            <a:picLocks noChangeArrowheads="1"/>
          </p:cNvPicPr>
          <p:nvPr/>
        </p:nvPicPr>
        <p:blipFill>
          <a:blip r:embed="rId4" cstate="print"/>
          <a:srcRect/>
          <a:stretch>
            <a:fillRect/>
          </a:stretch>
        </p:blipFill>
        <p:spPr bwMode="auto">
          <a:xfrm>
            <a:off x="7620000" y="3304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7" name="Picture 50"/>
          <p:cNvPicPr>
            <a:picLocks noChangeArrowheads="1"/>
          </p:cNvPicPr>
          <p:nvPr/>
        </p:nvPicPr>
        <p:blipFill>
          <a:blip r:embed="rId4" cstate="print"/>
          <a:srcRect/>
          <a:stretch>
            <a:fillRect/>
          </a:stretch>
        </p:blipFill>
        <p:spPr bwMode="auto">
          <a:xfrm>
            <a:off x="7543800" y="3685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8" name="Picture 51"/>
          <p:cNvPicPr>
            <a:picLocks noChangeArrowheads="1"/>
          </p:cNvPicPr>
          <p:nvPr/>
        </p:nvPicPr>
        <p:blipFill>
          <a:blip r:embed="rId4" cstate="print"/>
          <a:srcRect/>
          <a:stretch>
            <a:fillRect/>
          </a:stretch>
        </p:blipFill>
        <p:spPr bwMode="auto">
          <a:xfrm>
            <a:off x="7543800" y="4066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9" name="Picture 52"/>
          <p:cNvPicPr>
            <a:picLocks noChangeArrowheads="1"/>
          </p:cNvPicPr>
          <p:nvPr/>
        </p:nvPicPr>
        <p:blipFill>
          <a:blip r:embed="rId4" cstate="print"/>
          <a:srcRect/>
          <a:stretch>
            <a:fillRect/>
          </a:stretch>
        </p:blipFill>
        <p:spPr bwMode="auto">
          <a:xfrm>
            <a:off x="7543800" y="43709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0" name="Picture 53"/>
          <p:cNvPicPr>
            <a:picLocks noChangeArrowheads="1"/>
          </p:cNvPicPr>
          <p:nvPr/>
        </p:nvPicPr>
        <p:blipFill>
          <a:blip r:embed="rId4" cstate="print"/>
          <a:srcRect/>
          <a:stretch>
            <a:fillRect/>
          </a:stretch>
        </p:blipFill>
        <p:spPr bwMode="auto">
          <a:xfrm>
            <a:off x="4876800" y="5590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1" name="Picture 54"/>
          <p:cNvPicPr>
            <a:picLocks noChangeArrowheads="1"/>
          </p:cNvPicPr>
          <p:nvPr/>
        </p:nvPicPr>
        <p:blipFill>
          <a:blip r:embed="rId4" cstate="print"/>
          <a:srcRect/>
          <a:stretch>
            <a:fillRect/>
          </a:stretch>
        </p:blipFill>
        <p:spPr bwMode="auto">
          <a:xfrm>
            <a:off x="5486400" y="5590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2" name="Picture 55"/>
          <p:cNvPicPr>
            <a:picLocks noChangeArrowheads="1"/>
          </p:cNvPicPr>
          <p:nvPr/>
        </p:nvPicPr>
        <p:blipFill>
          <a:blip r:embed="rId4" cstate="print"/>
          <a:srcRect/>
          <a:stretch>
            <a:fillRect/>
          </a:stretch>
        </p:blipFill>
        <p:spPr bwMode="auto">
          <a:xfrm>
            <a:off x="6019800" y="5590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3" name="Picture 56"/>
          <p:cNvPicPr>
            <a:picLocks noChangeArrowheads="1"/>
          </p:cNvPicPr>
          <p:nvPr/>
        </p:nvPicPr>
        <p:blipFill>
          <a:blip r:embed="rId4" cstate="print"/>
          <a:srcRect/>
          <a:stretch>
            <a:fillRect/>
          </a:stretch>
        </p:blipFill>
        <p:spPr bwMode="auto">
          <a:xfrm>
            <a:off x="4953000" y="1475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4" name="Picture 57"/>
          <p:cNvPicPr>
            <a:picLocks noChangeArrowheads="1"/>
          </p:cNvPicPr>
          <p:nvPr/>
        </p:nvPicPr>
        <p:blipFill>
          <a:blip r:embed="rId4" cstate="print"/>
          <a:srcRect/>
          <a:stretch>
            <a:fillRect/>
          </a:stretch>
        </p:blipFill>
        <p:spPr bwMode="auto">
          <a:xfrm>
            <a:off x="5486400" y="1475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5" name="Picture 58"/>
          <p:cNvPicPr>
            <a:picLocks noChangeArrowheads="1"/>
          </p:cNvPicPr>
          <p:nvPr/>
        </p:nvPicPr>
        <p:blipFill>
          <a:blip r:embed="rId4" cstate="print"/>
          <a:srcRect/>
          <a:stretch>
            <a:fillRect/>
          </a:stretch>
        </p:blipFill>
        <p:spPr bwMode="auto">
          <a:xfrm>
            <a:off x="6019800" y="1475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6" name="Picture 59"/>
          <p:cNvPicPr>
            <a:picLocks noChangeArrowheads="1"/>
          </p:cNvPicPr>
          <p:nvPr/>
        </p:nvPicPr>
        <p:blipFill>
          <a:blip r:embed="rId4" cstate="print"/>
          <a:srcRect/>
          <a:stretch>
            <a:fillRect/>
          </a:stretch>
        </p:blipFill>
        <p:spPr bwMode="auto">
          <a:xfrm>
            <a:off x="3352800" y="2618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7" name="Picture 60"/>
          <p:cNvPicPr>
            <a:picLocks noChangeArrowheads="1"/>
          </p:cNvPicPr>
          <p:nvPr/>
        </p:nvPicPr>
        <p:blipFill>
          <a:blip r:embed="rId4" cstate="print"/>
          <a:srcRect/>
          <a:stretch>
            <a:fillRect/>
          </a:stretch>
        </p:blipFill>
        <p:spPr bwMode="auto">
          <a:xfrm>
            <a:off x="3352800" y="30755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8" name="Picture 61"/>
          <p:cNvPicPr>
            <a:picLocks noChangeArrowheads="1"/>
          </p:cNvPicPr>
          <p:nvPr/>
        </p:nvPicPr>
        <p:blipFill>
          <a:blip r:embed="rId4" cstate="print"/>
          <a:srcRect/>
          <a:stretch>
            <a:fillRect/>
          </a:stretch>
        </p:blipFill>
        <p:spPr bwMode="auto">
          <a:xfrm>
            <a:off x="3352800" y="3380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9" name="Picture 62"/>
          <p:cNvPicPr>
            <a:picLocks noChangeArrowheads="1"/>
          </p:cNvPicPr>
          <p:nvPr/>
        </p:nvPicPr>
        <p:blipFill>
          <a:blip r:embed="rId4" cstate="print"/>
          <a:srcRect/>
          <a:stretch>
            <a:fillRect/>
          </a:stretch>
        </p:blipFill>
        <p:spPr bwMode="auto">
          <a:xfrm>
            <a:off x="3352800" y="3761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0" name="Picture 63"/>
          <p:cNvPicPr>
            <a:picLocks noChangeArrowheads="1"/>
          </p:cNvPicPr>
          <p:nvPr/>
        </p:nvPicPr>
        <p:blipFill>
          <a:blip r:embed="rId4" cstate="print"/>
          <a:srcRect/>
          <a:stretch>
            <a:fillRect/>
          </a:stretch>
        </p:blipFill>
        <p:spPr bwMode="auto">
          <a:xfrm>
            <a:off x="3352800" y="4142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1" name="Picture 64"/>
          <p:cNvPicPr>
            <a:picLocks noChangeArrowheads="1"/>
          </p:cNvPicPr>
          <p:nvPr/>
        </p:nvPicPr>
        <p:blipFill>
          <a:blip r:embed="rId4" cstate="print"/>
          <a:srcRect/>
          <a:stretch>
            <a:fillRect/>
          </a:stretch>
        </p:blipFill>
        <p:spPr bwMode="auto">
          <a:xfrm>
            <a:off x="3352800" y="4447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92" name="Line 65"/>
          <p:cNvSpPr>
            <a:spLocks noChangeShapeType="1"/>
          </p:cNvSpPr>
          <p:nvPr/>
        </p:nvSpPr>
        <p:spPr bwMode="auto">
          <a:xfrm flipV="1">
            <a:off x="8001000" y="3685162"/>
            <a:ext cx="1066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93" name="Line 66"/>
          <p:cNvSpPr>
            <a:spLocks noChangeShapeType="1"/>
          </p:cNvSpPr>
          <p:nvPr/>
        </p:nvSpPr>
        <p:spPr bwMode="auto">
          <a:xfrm>
            <a:off x="8001000" y="4142362"/>
            <a:ext cx="1143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94" name="Line 67"/>
          <p:cNvSpPr>
            <a:spLocks noChangeShapeType="1"/>
          </p:cNvSpPr>
          <p:nvPr/>
        </p:nvSpPr>
        <p:spPr bwMode="auto">
          <a:xfrm>
            <a:off x="8001000" y="4218562"/>
            <a:ext cx="990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495" name="Text Box 68"/>
          <p:cNvSpPr txBox="1">
            <a:spLocks noChangeArrowheads="1"/>
          </p:cNvSpPr>
          <p:nvPr/>
        </p:nvSpPr>
        <p:spPr bwMode="auto">
          <a:xfrm>
            <a:off x="9296401" y="4828163"/>
            <a:ext cx="1107996" cy="3965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a:latin typeface="微软雅黑" panose="020B0503020204020204" pitchFamily="34" charset="-122"/>
                <a:ea typeface="微软雅黑" panose="020B0503020204020204" pitchFamily="34" charset="-122"/>
              </a:rPr>
              <a:t>接入学校</a:t>
            </a:r>
            <a:endParaRPr lang="zh-CN" altLang="en-US" sz="1800">
              <a:latin typeface="微软雅黑" panose="020B0503020204020204" pitchFamily="34" charset="-122"/>
              <a:ea typeface="微软雅黑" panose="020B0503020204020204" pitchFamily="34" charset="-122"/>
            </a:endParaRPr>
          </a:p>
        </p:txBody>
      </p:sp>
      <p:pic>
        <p:nvPicPr>
          <p:cNvPr id="18496" name="Picture 69"/>
          <p:cNvPicPr>
            <a:picLocks noChangeArrowheads="1"/>
          </p:cNvPicPr>
          <p:nvPr/>
        </p:nvPicPr>
        <p:blipFill>
          <a:blip r:embed="rId5" cstate="print"/>
          <a:srcRect/>
          <a:stretch>
            <a:fillRect/>
          </a:stretch>
        </p:blipFill>
        <p:spPr bwMode="auto">
          <a:xfrm>
            <a:off x="9067800" y="35327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7" name="Picture 70"/>
          <p:cNvPicPr>
            <a:picLocks noChangeArrowheads="1"/>
          </p:cNvPicPr>
          <p:nvPr/>
        </p:nvPicPr>
        <p:blipFill>
          <a:blip r:embed="rId5" cstate="print"/>
          <a:srcRect/>
          <a:stretch>
            <a:fillRect/>
          </a:stretch>
        </p:blipFill>
        <p:spPr bwMode="auto">
          <a:xfrm>
            <a:off x="9144000" y="40661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8" name="Picture 71"/>
          <p:cNvPicPr>
            <a:picLocks noChangeArrowheads="1"/>
          </p:cNvPicPr>
          <p:nvPr/>
        </p:nvPicPr>
        <p:blipFill>
          <a:blip r:embed="rId5" cstate="print"/>
          <a:srcRect/>
          <a:stretch>
            <a:fillRect/>
          </a:stretch>
        </p:blipFill>
        <p:spPr bwMode="auto">
          <a:xfrm>
            <a:off x="9067800" y="44471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99" name="Line 72"/>
          <p:cNvSpPr>
            <a:spLocks noChangeShapeType="1"/>
          </p:cNvSpPr>
          <p:nvPr/>
        </p:nvSpPr>
        <p:spPr bwMode="auto">
          <a:xfrm flipH="1" flipV="1">
            <a:off x="2590800" y="2770762"/>
            <a:ext cx="838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500" name="Line 73"/>
          <p:cNvSpPr>
            <a:spLocks noChangeShapeType="1"/>
          </p:cNvSpPr>
          <p:nvPr/>
        </p:nvSpPr>
        <p:spPr bwMode="auto">
          <a:xfrm flipH="1">
            <a:off x="2438400" y="3151762"/>
            <a:ext cx="914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501" name="Line 74"/>
          <p:cNvSpPr>
            <a:spLocks noChangeShapeType="1"/>
          </p:cNvSpPr>
          <p:nvPr/>
        </p:nvSpPr>
        <p:spPr bwMode="auto">
          <a:xfrm flipH="1">
            <a:off x="2667000" y="3227962"/>
            <a:ext cx="685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pic>
        <p:nvPicPr>
          <p:cNvPr id="18502" name="Picture 75"/>
          <p:cNvPicPr>
            <a:picLocks noChangeArrowheads="1"/>
          </p:cNvPicPr>
          <p:nvPr/>
        </p:nvPicPr>
        <p:blipFill>
          <a:blip r:embed="rId5" cstate="print"/>
          <a:srcRect/>
          <a:stretch>
            <a:fillRect/>
          </a:stretch>
        </p:blipFill>
        <p:spPr bwMode="auto">
          <a:xfrm>
            <a:off x="2286000" y="26183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3" name="Picture 76"/>
          <p:cNvPicPr>
            <a:picLocks noChangeArrowheads="1"/>
          </p:cNvPicPr>
          <p:nvPr/>
        </p:nvPicPr>
        <p:blipFill>
          <a:blip r:embed="rId5" cstate="print"/>
          <a:srcRect/>
          <a:stretch>
            <a:fillRect/>
          </a:stretch>
        </p:blipFill>
        <p:spPr bwMode="auto">
          <a:xfrm>
            <a:off x="2209800" y="30755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4" name="Picture 77"/>
          <p:cNvPicPr>
            <a:picLocks noChangeArrowheads="1"/>
          </p:cNvPicPr>
          <p:nvPr/>
        </p:nvPicPr>
        <p:blipFill>
          <a:blip r:embed="rId5" cstate="print"/>
          <a:srcRect/>
          <a:stretch>
            <a:fillRect/>
          </a:stretch>
        </p:blipFill>
        <p:spPr bwMode="auto">
          <a:xfrm>
            <a:off x="2362200" y="34565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05" name="Line 78"/>
          <p:cNvSpPr>
            <a:spLocks noChangeShapeType="1"/>
          </p:cNvSpPr>
          <p:nvPr/>
        </p:nvSpPr>
        <p:spPr bwMode="auto">
          <a:xfrm flipH="1" flipV="1">
            <a:off x="2590800" y="3907412"/>
            <a:ext cx="838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506" name="Line 79"/>
          <p:cNvSpPr>
            <a:spLocks noChangeShapeType="1"/>
          </p:cNvSpPr>
          <p:nvPr/>
        </p:nvSpPr>
        <p:spPr bwMode="auto">
          <a:xfrm flipH="1">
            <a:off x="2438400" y="4288412"/>
            <a:ext cx="914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507" name="Line 80"/>
          <p:cNvSpPr>
            <a:spLocks noChangeShapeType="1"/>
          </p:cNvSpPr>
          <p:nvPr/>
        </p:nvSpPr>
        <p:spPr bwMode="auto">
          <a:xfrm flipH="1">
            <a:off x="2667000" y="4364612"/>
            <a:ext cx="685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pic>
        <p:nvPicPr>
          <p:cNvPr id="18508" name="Picture 81"/>
          <p:cNvPicPr>
            <a:picLocks noChangeArrowheads="1"/>
          </p:cNvPicPr>
          <p:nvPr/>
        </p:nvPicPr>
        <p:blipFill>
          <a:blip r:embed="rId5" cstate="print"/>
          <a:srcRect/>
          <a:stretch>
            <a:fillRect/>
          </a:stretch>
        </p:blipFill>
        <p:spPr bwMode="auto">
          <a:xfrm>
            <a:off x="2286000" y="37550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9" name="Picture 82"/>
          <p:cNvPicPr>
            <a:picLocks noChangeArrowheads="1"/>
          </p:cNvPicPr>
          <p:nvPr/>
        </p:nvPicPr>
        <p:blipFill>
          <a:blip r:embed="rId5" cstate="print"/>
          <a:srcRect/>
          <a:stretch>
            <a:fillRect/>
          </a:stretch>
        </p:blipFill>
        <p:spPr bwMode="auto">
          <a:xfrm>
            <a:off x="2209800" y="42122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10" name="Picture 83"/>
          <p:cNvPicPr>
            <a:picLocks noChangeArrowheads="1"/>
          </p:cNvPicPr>
          <p:nvPr/>
        </p:nvPicPr>
        <p:blipFill>
          <a:blip r:embed="rId5" cstate="print"/>
          <a:srcRect/>
          <a:stretch>
            <a:fillRect/>
          </a:stretch>
        </p:blipFill>
        <p:spPr bwMode="auto">
          <a:xfrm>
            <a:off x="2362200" y="45932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1" name="Line 84"/>
          <p:cNvSpPr>
            <a:spLocks noChangeShapeType="1"/>
          </p:cNvSpPr>
          <p:nvPr/>
        </p:nvSpPr>
        <p:spPr bwMode="auto">
          <a:xfrm flipV="1">
            <a:off x="7924800" y="2612012"/>
            <a:ext cx="1066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512" name="Line 85"/>
          <p:cNvSpPr>
            <a:spLocks noChangeShapeType="1"/>
          </p:cNvSpPr>
          <p:nvPr/>
        </p:nvSpPr>
        <p:spPr bwMode="auto">
          <a:xfrm>
            <a:off x="7924800" y="3069212"/>
            <a:ext cx="1143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pic>
        <p:nvPicPr>
          <p:cNvPr id="18513" name="Picture 86"/>
          <p:cNvPicPr>
            <a:picLocks noChangeArrowheads="1"/>
          </p:cNvPicPr>
          <p:nvPr/>
        </p:nvPicPr>
        <p:blipFill>
          <a:blip r:embed="rId5" cstate="print"/>
          <a:srcRect/>
          <a:stretch>
            <a:fillRect/>
          </a:stretch>
        </p:blipFill>
        <p:spPr bwMode="auto">
          <a:xfrm>
            <a:off x="8991600" y="24596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14" name="Picture 87"/>
          <p:cNvPicPr>
            <a:picLocks noChangeArrowheads="1"/>
          </p:cNvPicPr>
          <p:nvPr/>
        </p:nvPicPr>
        <p:blipFill>
          <a:blip r:embed="rId5" cstate="print"/>
          <a:srcRect/>
          <a:stretch>
            <a:fillRect/>
          </a:stretch>
        </p:blipFill>
        <p:spPr bwMode="auto">
          <a:xfrm>
            <a:off x="9067800" y="29930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5" name="Text Box 88"/>
          <p:cNvSpPr txBox="1">
            <a:spLocks noChangeArrowheads="1"/>
          </p:cNvSpPr>
          <p:nvPr/>
        </p:nvSpPr>
        <p:spPr bwMode="auto">
          <a:xfrm>
            <a:off x="5881688" y="4809112"/>
            <a:ext cx="923330" cy="30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a:latin typeface="微软雅黑" panose="020B0503020204020204" pitchFamily="34" charset="-122"/>
                <a:ea typeface="微软雅黑" panose="020B0503020204020204" pitchFamily="34" charset="-122"/>
              </a:rPr>
              <a:t>地区中心</a:t>
            </a:r>
            <a:endParaRPr lang="zh-CN" altLang="en-US" sz="1800">
              <a:latin typeface="微软雅黑" panose="020B0503020204020204" pitchFamily="34" charset="-122"/>
              <a:ea typeface="微软雅黑" panose="020B0503020204020204" pitchFamily="34" charset="-122"/>
            </a:endParaRPr>
          </a:p>
        </p:txBody>
      </p:sp>
      <p:sp>
        <p:nvSpPr>
          <p:cNvPr id="29781" name="Text Box 93"/>
          <p:cNvSpPr txBox="1">
            <a:spLocks noChangeArrowheads="1"/>
          </p:cNvSpPr>
          <p:nvPr/>
        </p:nvSpPr>
        <p:spPr bwMode="auto">
          <a:xfrm>
            <a:off x="684815" y="1582960"/>
            <a:ext cx="3062288" cy="941155"/>
          </a:xfrm>
          <a:prstGeom prst="rect">
            <a:avLst/>
          </a:prstGeom>
          <a:noFill/>
          <a:ln>
            <a:noFill/>
          </a:ln>
        </p:spPr>
        <p:txBody>
          <a:bodyPr>
            <a:spAutoFit/>
          </a:bodyPr>
          <a:lstStyle>
            <a:lvl1pPr eaLnBrk="0" hangingPunct="0">
              <a:defRPr kumimoji="1">
                <a:solidFill>
                  <a:schemeClr val="tx1"/>
                </a:solidFill>
                <a:latin typeface="Comic Sans MS" panose="030F0702030302020204" pitchFamily="66" charset="0"/>
                <a:ea typeface="楷体_GB2312" pitchFamily="49" charset="-122"/>
              </a:defRPr>
            </a:lvl1pPr>
            <a:lvl2pPr marL="742950" indent="-285750" eaLnBrk="0" hangingPunct="0">
              <a:defRPr kumimoji="1">
                <a:solidFill>
                  <a:schemeClr val="tx1"/>
                </a:solidFill>
                <a:latin typeface="Comic Sans MS" panose="030F0702030302020204" pitchFamily="66" charset="0"/>
                <a:ea typeface="楷体_GB2312" pitchFamily="49" charset="-122"/>
              </a:defRPr>
            </a:lvl2pPr>
            <a:lvl3pPr marL="1143000" indent="-228600" eaLnBrk="0" hangingPunct="0">
              <a:defRPr kumimoji="1">
                <a:solidFill>
                  <a:schemeClr val="tx1"/>
                </a:solidFill>
                <a:latin typeface="Comic Sans MS" panose="030F0702030302020204" pitchFamily="66" charset="0"/>
                <a:ea typeface="楷体_GB2312" pitchFamily="49" charset="-122"/>
              </a:defRPr>
            </a:lvl3pPr>
            <a:lvl4pPr marL="1600200" indent="-228600" eaLnBrk="0" hangingPunct="0">
              <a:defRPr kumimoji="1">
                <a:solidFill>
                  <a:schemeClr val="tx1"/>
                </a:solidFill>
                <a:latin typeface="Comic Sans MS" panose="030F0702030302020204" pitchFamily="66" charset="0"/>
                <a:ea typeface="楷体_GB2312" pitchFamily="49" charset="-122"/>
              </a:defRPr>
            </a:lvl4pPr>
            <a:lvl5pPr marL="2057400" indent="-228600" eaLnBrk="0" hangingPunct="0">
              <a:defRPr kumimoji="1">
                <a:solidFill>
                  <a:schemeClr val="tx1"/>
                </a:solidFill>
                <a:latin typeface="Comic Sans MS" panose="030F0702030302020204" pitchFamily="66" charset="0"/>
                <a:ea typeface="楷体_GB2312" pitchFamily="49" charset="-122"/>
              </a:defRPr>
            </a:lvl5pPr>
            <a:lvl6pPr marL="2514600" indent="-228600" eaLnBrk="0" fontAlgn="base" hangingPunct="0">
              <a:lnSpc>
                <a:spcPct val="120000"/>
              </a:lnSpc>
              <a:spcBef>
                <a:spcPct val="10000"/>
              </a:spcBef>
              <a:spcAft>
                <a:spcPct val="0"/>
              </a:spcAft>
              <a:buClr>
                <a:schemeClr val="tx1"/>
              </a:buClr>
              <a:buFont typeface="Symbol" panose="05050102010706020507" pitchFamily="18" charset="2"/>
              <a:defRPr kumimoji="1">
                <a:solidFill>
                  <a:schemeClr val="tx1"/>
                </a:solidFill>
                <a:latin typeface="Comic Sans MS" panose="030F0702030302020204" pitchFamily="66" charset="0"/>
                <a:ea typeface="楷体_GB2312" pitchFamily="49" charset="-122"/>
              </a:defRPr>
            </a:lvl6pPr>
            <a:lvl7pPr marL="2971800" indent="-228600" eaLnBrk="0" fontAlgn="base" hangingPunct="0">
              <a:lnSpc>
                <a:spcPct val="120000"/>
              </a:lnSpc>
              <a:spcBef>
                <a:spcPct val="10000"/>
              </a:spcBef>
              <a:spcAft>
                <a:spcPct val="0"/>
              </a:spcAft>
              <a:buClr>
                <a:schemeClr val="tx1"/>
              </a:buClr>
              <a:buFont typeface="Symbol" panose="05050102010706020507" pitchFamily="18" charset="2"/>
              <a:defRPr kumimoji="1">
                <a:solidFill>
                  <a:schemeClr val="tx1"/>
                </a:solidFill>
                <a:latin typeface="Comic Sans MS" panose="030F0702030302020204" pitchFamily="66" charset="0"/>
                <a:ea typeface="楷体_GB2312" pitchFamily="49" charset="-122"/>
              </a:defRPr>
            </a:lvl7pPr>
            <a:lvl8pPr marL="3429000" indent="-228600" eaLnBrk="0" fontAlgn="base" hangingPunct="0">
              <a:lnSpc>
                <a:spcPct val="120000"/>
              </a:lnSpc>
              <a:spcBef>
                <a:spcPct val="10000"/>
              </a:spcBef>
              <a:spcAft>
                <a:spcPct val="0"/>
              </a:spcAft>
              <a:buClr>
                <a:schemeClr val="tx1"/>
              </a:buClr>
              <a:buFont typeface="Symbol" panose="05050102010706020507" pitchFamily="18" charset="2"/>
              <a:defRPr kumimoji="1">
                <a:solidFill>
                  <a:schemeClr val="tx1"/>
                </a:solidFill>
                <a:latin typeface="Comic Sans MS" panose="030F0702030302020204" pitchFamily="66" charset="0"/>
                <a:ea typeface="楷体_GB2312" pitchFamily="49" charset="-122"/>
              </a:defRPr>
            </a:lvl8pPr>
            <a:lvl9pPr marL="3886200" indent="-228600" eaLnBrk="0" fontAlgn="base" hangingPunct="0">
              <a:lnSpc>
                <a:spcPct val="120000"/>
              </a:lnSpc>
              <a:spcBef>
                <a:spcPct val="10000"/>
              </a:spcBef>
              <a:spcAft>
                <a:spcPct val="0"/>
              </a:spcAft>
              <a:buClr>
                <a:schemeClr val="tx1"/>
              </a:buClr>
              <a:buFont typeface="Symbol" panose="05050102010706020507" pitchFamily="18" charset="2"/>
              <a:defRPr kumimoji="1">
                <a:solidFill>
                  <a:schemeClr val="tx1"/>
                </a:solidFill>
                <a:latin typeface="Comic Sans MS" panose="030F0702030302020204" pitchFamily="66" charset="0"/>
                <a:ea typeface="楷体_GB2312" pitchFamily="49" charset="-122"/>
              </a:defRPr>
            </a:lvl9pPr>
          </a:lstStyle>
          <a:p>
            <a:pPr algn="ctr" eaLnBrk="1" hangingPunct="1">
              <a:lnSpc>
                <a:spcPct val="120000"/>
              </a:lnSpc>
              <a:spcBef>
                <a:spcPct val="10000"/>
              </a:spcBef>
              <a:buClr>
                <a:schemeClr val="tx1"/>
              </a:buClr>
              <a:buFont typeface="Symbol" panose="05050102010706020507" pitchFamily="18" charset="2"/>
              <a:buNone/>
              <a:defRPr/>
            </a:pPr>
            <a:r>
              <a:rPr lang="zh-CN" altLang="en-US" sz="2400" dirty="0">
                <a:latin typeface="微软雅黑" panose="020B0503020204020204" pitchFamily="34" charset="-122"/>
                <a:ea typeface="微软雅黑" panose="020B0503020204020204" pitchFamily="34" charset="-122"/>
              </a:rPr>
              <a:t>全球唯一自治系统号</a:t>
            </a:r>
            <a:r>
              <a:rPr lang="en-US" altLang="zh-CN" sz="2400" dirty="0">
                <a:latin typeface="微软雅黑" panose="020B0503020204020204" pitchFamily="34" charset="-122"/>
                <a:ea typeface="微软雅黑" panose="020B0503020204020204" pitchFamily="34" charset="-122"/>
              </a:rPr>
              <a:t>AS: 4538</a:t>
            </a:r>
            <a:endParaRPr lang="en-US" altLang="zh-CN" sz="2400" dirty="0">
              <a:latin typeface="微软雅黑" panose="020B0503020204020204" pitchFamily="34" charset="-122"/>
              <a:ea typeface="微软雅黑" panose="020B0503020204020204" pitchFamily="34" charset="-122"/>
            </a:endParaRPr>
          </a:p>
        </p:txBody>
      </p:sp>
      <p:pic>
        <p:nvPicPr>
          <p:cNvPr id="18517" name="Picture 94"/>
          <p:cNvPicPr>
            <a:picLocks noChangeArrowheads="1"/>
          </p:cNvPicPr>
          <p:nvPr/>
        </p:nvPicPr>
        <p:blipFill>
          <a:blip r:embed="rId1" cstate="print"/>
          <a:srcRect/>
          <a:stretch>
            <a:fillRect/>
          </a:stretch>
        </p:blipFill>
        <p:spPr bwMode="auto">
          <a:xfrm>
            <a:off x="2590800" y="6279137"/>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8" name="Text Box 95"/>
          <p:cNvSpPr txBox="1">
            <a:spLocks noChangeArrowheads="1"/>
          </p:cNvSpPr>
          <p:nvPr/>
        </p:nvSpPr>
        <p:spPr bwMode="auto">
          <a:xfrm>
            <a:off x="3200400" y="6260087"/>
            <a:ext cx="1671638" cy="30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dirty="0">
                <a:latin typeface="微软雅黑" panose="020B0503020204020204" pitchFamily="34" charset="-122"/>
                <a:ea typeface="微软雅黑" panose="020B0503020204020204" pitchFamily="34" charset="-122"/>
              </a:rPr>
              <a:t>地区级</a:t>
            </a:r>
            <a:endParaRPr lang="en-US" altLang="zh-CN" sz="1800" dirty="0">
              <a:latin typeface="微软雅黑" panose="020B0503020204020204" pitchFamily="34" charset="-122"/>
              <a:ea typeface="微软雅黑" panose="020B0503020204020204" pitchFamily="34" charset="-122"/>
            </a:endParaRPr>
          </a:p>
        </p:txBody>
      </p:sp>
      <p:pic>
        <p:nvPicPr>
          <p:cNvPr id="18519" name="Picture 96"/>
          <p:cNvPicPr>
            <a:picLocks noChangeArrowheads="1"/>
          </p:cNvPicPr>
          <p:nvPr/>
        </p:nvPicPr>
        <p:blipFill>
          <a:blip r:embed="rId4" cstate="print"/>
          <a:srcRect/>
          <a:stretch>
            <a:fillRect/>
          </a:stretch>
        </p:blipFill>
        <p:spPr bwMode="auto">
          <a:xfrm>
            <a:off x="4167188" y="630929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0" name="Text Box 97"/>
          <p:cNvSpPr txBox="1">
            <a:spLocks noChangeArrowheads="1"/>
          </p:cNvSpPr>
          <p:nvPr/>
        </p:nvSpPr>
        <p:spPr bwMode="auto">
          <a:xfrm>
            <a:off x="4738688" y="6252149"/>
            <a:ext cx="1384300" cy="30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dirty="0">
                <a:latin typeface="微软雅黑" panose="020B0503020204020204" pitchFamily="34" charset="-122"/>
                <a:ea typeface="微软雅黑" panose="020B0503020204020204" pitchFamily="34" charset="-122"/>
              </a:rPr>
              <a:t>省级</a:t>
            </a:r>
            <a:endParaRPr lang="en-US" altLang="zh-CN" sz="1800" dirty="0">
              <a:latin typeface="微软雅黑" panose="020B0503020204020204" pitchFamily="34" charset="-122"/>
              <a:ea typeface="微软雅黑" panose="020B0503020204020204" pitchFamily="34" charset="-122"/>
            </a:endParaRPr>
          </a:p>
        </p:txBody>
      </p:sp>
      <p:pic>
        <p:nvPicPr>
          <p:cNvPr id="18521" name="Picture 98"/>
          <p:cNvPicPr>
            <a:picLocks noChangeArrowheads="1"/>
          </p:cNvPicPr>
          <p:nvPr/>
        </p:nvPicPr>
        <p:blipFill>
          <a:blip r:embed="rId5" cstate="print"/>
          <a:srcRect/>
          <a:stretch>
            <a:fillRect/>
          </a:stretch>
        </p:blipFill>
        <p:spPr bwMode="auto">
          <a:xfrm>
            <a:off x="5595938" y="62886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2" name="Text Box 99"/>
          <p:cNvSpPr txBox="1">
            <a:spLocks noChangeArrowheads="1"/>
          </p:cNvSpPr>
          <p:nvPr/>
        </p:nvSpPr>
        <p:spPr bwMode="auto">
          <a:xfrm>
            <a:off x="6092826" y="6237862"/>
            <a:ext cx="2055751" cy="30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dirty="0">
                <a:latin typeface="微软雅黑" panose="020B0503020204020204" pitchFamily="34" charset="-122"/>
                <a:ea typeface="微软雅黑" panose="020B0503020204020204" pitchFamily="34" charset="-122"/>
              </a:rPr>
              <a:t>接入用户</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互联单位</a:t>
            </a:r>
            <a:endParaRPr lang="zh-CN" altLang="en-US" sz="1800" dirty="0">
              <a:latin typeface="微软雅黑" panose="020B0503020204020204" pitchFamily="34" charset="-122"/>
              <a:ea typeface="微软雅黑" panose="020B0503020204020204" pitchFamily="34" charset="-122"/>
            </a:endParaRPr>
          </a:p>
        </p:txBody>
      </p:sp>
      <p:sp>
        <p:nvSpPr>
          <p:cNvPr id="18523" name="Oval 100"/>
          <p:cNvSpPr>
            <a:spLocks noChangeArrowheads="1"/>
          </p:cNvSpPr>
          <p:nvPr/>
        </p:nvSpPr>
        <p:spPr bwMode="auto">
          <a:xfrm>
            <a:off x="4343400" y="2237362"/>
            <a:ext cx="2514600" cy="2895600"/>
          </a:xfrm>
          <a:prstGeom prst="ellipse">
            <a:avLst/>
          </a:prstGeom>
          <a:noFill/>
          <a:ln w="9525">
            <a:solidFill>
              <a:srgbClr val="FF0000"/>
            </a:solidFill>
            <a:prstDash val="lg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2000">
              <a:latin typeface="微软雅黑" panose="020B0503020204020204" pitchFamily="34" charset="-122"/>
              <a:ea typeface="微软雅黑" panose="020B0503020204020204" pitchFamily="34" charset="-122"/>
            </a:endParaRPr>
          </a:p>
        </p:txBody>
      </p:sp>
      <p:sp>
        <p:nvSpPr>
          <p:cNvPr id="18524" name="Oval 101"/>
          <p:cNvSpPr>
            <a:spLocks noChangeArrowheads="1"/>
          </p:cNvSpPr>
          <p:nvPr/>
        </p:nvSpPr>
        <p:spPr bwMode="auto">
          <a:xfrm>
            <a:off x="3429000" y="1475362"/>
            <a:ext cx="4495800" cy="4343400"/>
          </a:xfrm>
          <a:prstGeom prst="ellipse">
            <a:avLst/>
          </a:prstGeom>
          <a:noFill/>
          <a:ln w="9525">
            <a:solidFill>
              <a:srgbClr val="0000FF"/>
            </a:solidFill>
            <a:prstDash val="lg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2000">
              <a:latin typeface="微软雅黑" panose="020B0503020204020204" pitchFamily="34" charset="-122"/>
              <a:ea typeface="微软雅黑" panose="020B0503020204020204" pitchFamily="34" charset="-122"/>
            </a:endParaRPr>
          </a:p>
        </p:txBody>
      </p:sp>
      <p:sp>
        <p:nvSpPr>
          <p:cNvPr id="18525" name="Text Box 102"/>
          <p:cNvSpPr txBox="1">
            <a:spLocks noChangeArrowheads="1"/>
          </p:cNvSpPr>
          <p:nvPr/>
        </p:nvSpPr>
        <p:spPr bwMode="auto">
          <a:xfrm>
            <a:off x="4079876" y="1989712"/>
            <a:ext cx="88357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en-US" altLang="zh-CN" sz="2400">
                <a:latin typeface="微软雅黑" panose="020B0503020204020204" pitchFamily="34" charset="-122"/>
                <a:ea typeface="微软雅黑" panose="020B0503020204020204" pitchFamily="34" charset="-122"/>
              </a:rPr>
              <a:t>IBGP</a:t>
            </a:r>
            <a:endParaRPr lang="en-US" altLang="zh-CN" sz="2400">
              <a:latin typeface="微软雅黑" panose="020B0503020204020204" pitchFamily="34" charset="-122"/>
              <a:ea typeface="微软雅黑" panose="020B0503020204020204" pitchFamily="34" charset="-122"/>
            </a:endParaRPr>
          </a:p>
        </p:txBody>
      </p:sp>
      <p:sp>
        <p:nvSpPr>
          <p:cNvPr id="18526" name="Line 103"/>
          <p:cNvSpPr>
            <a:spLocks noChangeShapeType="1"/>
          </p:cNvSpPr>
          <p:nvPr/>
        </p:nvSpPr>
        <p:spPr bwMode="auto">
          <a:xfrm flipV="1">
            <a:off x="7896226" y="1940499"/>
            <a:ext cx="936625" cy="647700"/>
          </a:xfrm>
          <a:prstGeom prst="line">
            <a:avLst/>
          </a:prstGeom>
          <a:noFill/>
          <a:ln w="9525">
            <a:solidFill>
              <a:srgbClr val="FF00FF"/>
            </a:solidFill>
            <a:rou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527" name="Text Box 104"/>
          <p:cNvSpPr txBox="1">
            <a:spLocks noChangeArrowheads="1"/>
          </p:cNvSpPr>
          <p:nvPr/>
        </p:nvSpPr>
        <p:spPr bwMode="auto">
          <a:xfrm>
            <a:off x="7824788" y="1867475"/>
            <a:ext cx="96853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en-US" altLang="zh-CN" sz="2400">
                <a:latin typeface="微软雅黑" panose="020B0503020204020204" pitchFamily="34" charset="-122"/>
                <a:ea typeface="微软雅黑" panose="020B0503020204020204" pitchFamily="34" charset="-122"/>
              </a:rPr>
              <a:t>eBGP</a:t>
            </a:r>
            <a:endParaRPr lang="en-US" altLang="zh-CN" sz="2400">
              <a:latin typeface="微软雅黑" panose="020B0503020204020204" pitchFamily="34" charset="-122"/>
              <a:ea typeface="微软雅黑" panose="020B0503020204020204" pitchFamily="34" charset="-122"/>
            </a:endParaRPr>
          </a:p>
        </p:txBody>
      </p:sp>
      <p:pic>
        <p:nvPicPr>
          <p:cNvPr id="18528" name="Picture 105"/>
          <p:cNvPicPr>
            <a:picLocks noChangeArrowheads="1"/>
          </p:cNvPicPr>
          <p:nvPr/>
        </p:nvPicPr>
        <p:blipFill>
          <a:blip r:embed="rId5" cstate="print"/>
          <a:srcRect/>
          <a:stretch>
            <a:fillRect/>
          </a:stretch>
        </p:blipFill>
        <p:spPr bwMode="auto">
          <a:xfrm>
            <a:off x="8832850" y="172459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9" name="Text Box 106"/>
          <p:cNvSpPr txBox="1">
            <a:spLocks noChangeArrowheads="1"/>
          </p:cNvSpPr>
          <p:nvPr/>
        </p:nvSpPr>
        <p:spPr bwMode="auto">
          <a:xfrm>
            <a:off x="9191626" y="1651575"/>
            <a:ext cx="1107996" cy="3965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a:latin typeface="微软雅黑" panose="020B0503020204020204" pitchFamily="34" charset="-122"/>
                <a:ea typeface="微软雅黑" panose="020B0503020204020204" pitchFamily="34" charset="-122"/>
              </a:rPr>
              <a:t>互联单位</a:t>
            </a:r>
            <a:endParaRPr lang="zh-CN" altLang="en-US" sz="1800">
              <a:latin typeface="微软雅黑" panose="020B0503020204020204" pitchFamily="34" charset="-122"/>
              <a:ea typeface="微软雅黑" panose="020B0503020204020204" pitchFamily="34" charset="-122"/>
            </a:endParaRPr>
          </a:p>
        </p:txBody>
      </p:sp>
      <p:sp>
        <p:nvSpPr>
          <p:cNvPr id="98" name="标题 1"/>
          <p:cNvSpPr txBox="1"/>
          <p:nvPr/>
        </p:nvSpPr>
        <p:spPr>
          <a:xfrm>
            <a:off x="2139727"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1.2 Internet</a:t>
            </a:r>
            <a:r>
              <a:rPr lang="zh-CN" altLang="en-US" sz="36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发展历程</a:t>
            </a:r>
            <a:endParaRPr lang="zh-CN" altLang="en-US" sz="36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p:cNvSpPr>
            <a:spLocks noGrp="1"/>
          </p:cNvSpPr>
          <p:nvPr>
            <p:ph type="title"/>
          </p:nvPr>
        </p:nvSpPr>
        <p:spPr>
          <a:xfrm>
            <a:off x="1320432" y="354013"/>
            <a:ext cx="8220812" cy="879086"/>
          </a:xfrm>
        </p:spPr>
        <p:txBody>
          <a:bodyPr>
            <a:normAutofit/>
          </a:bodyPr>
          <a:lstStyle/>
          <a:p>
            <a:r>
              <a:rPr lang="en-US" altLang="zh-CN" dirty="0">
                <a:latin typeface="微软雅黑" panose="020B0503020204020204" pitchFamily="34" charset="-122"/>
                <a:ea typeface="微软雅黑" panose="020B0503020204020204" pitchFamily="34" charset="-122"/>
              </a:rPr>
              <a:t>CERNET</a:t>
            </a:r>
            <a:r>
              <a:rPr lang="zh-CN" altLang="en-US" dirty="0">
                <a:latin typeface="微软雅黑" panose="020B0503020204020204" pitchFamily="34" charset="-122"/>
                <a:ea typeface="微软雅黑" panose="020B0503020204020204" pitchFamily="34" charset="-122"/>
              </a:rPr>
              <a:t>网络结构</a:t>
            </a:r>
            <a:endParaRPr lang="zh-CN" altLang="en-US"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01" name="文本框 100"/>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t>网络设备商华为</a:t>
            </a:r>
            <a:endParaRPr lang="zh-CN" altLang="en-US" dirty="0"/>
          </a:p>
        </p:txBody>
      </p:sp>
      <p:sp>
        <p:nvSpPr>
          <p:cNvPr id="3" name="内容占位符 2"/>
          <p:cNvSpPr>
            <a:spLocks noGrp="1"/>
          </p:cNvSpPr>
          <p:nvPr>
            <p:ph idx="1"/>
          </p:nvPr>
        </p:nvSpPr>
        <p:spPr>
          <a:xfrm>
            <a:off x="613785" y="1311401"/>
            <a:ext cx="6802141" cy="5089019"/>
          </a:xfrm>
        </p:spPr>
        <p:txBody>
          <a:bodyPr>
            <a:noAutofit/>
          </a:bodyPr>
          <a:lstStyle/>
          <a:p>
            <a:r>
              <a:rPr lang="zh-CN" altLang="en-US" sz="2400" dirty="0">
                <a:latin typeface="微软雅黑" panose="020B0503020204020204" pitchFamily="34" charset="-122"/>
                <a:ea typeface="微软雅黑" panose="020B0503020204020204" pitchFamily="34" charset="-122"/>
              </a:rPr>
              <a:t>华为现状</a:t>
            </a:r>
            <a:endParaRPr lang="en-US" altLang="zh-CN" sz="24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1987</a:t>
            </a:r>
            <a:r>
              <a:rPr lang="zh-CN" altLang="en-US" sz="2000" dirty="0">
                <a:latin typeface="微软雅黑" panose="020B0503020204020204" pitchFamily="34" charset="-122"/>
                <a:ea typeface="微软雅黑" panose="020B0503020204020204" pitchFamily="34" charset="-122"/>
              </a:rPr>
              <a:t>年成立，全球</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万人，多个产品线全球第一：</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宽带接入、光传输、移动接入网、移动核心网</a:t>
            </a:r>
            <a:endParaRPr lang="en-US" altLang="zh-CN"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居安思危</a:t>
            </a:r>
            <a:endParaRPr lang="en-US" altLang="zh-CN" sz="2400" dirty="0">
              <a:latin typeface="微软雅黑" panose="020B0503020204020204" pitchFamily="34" charset="-122"/>
              <a:ea typeface="微软雅黑" panose="020B0503020204020204" pitchFamily="34" charset="-122"/>
            </a:endParaRPr>
          </a:p>
          <a:p>
            <a:pPr lvl="1"/>
            <a:r>
              <a:rPr lang="en-US" altLang="zh-CN" sz="2000" dirty="0">
                <a:solidFill>
                  <a:srgbClr val="000000"/>
                </a:solidFill>
                <a:latin typeface="微软雅黑" panose="020B0503020204020204" pitchFamily="34" charset="-122"/>
                <a:ea typeface="微软雅黑" panose="020B0503020204020204" pitchFamily="34" charset="-122"/>
              </a:rPr>
              <a:t>2000</a:t>
            </a:r>
            <a:r>
              <a:rPr lang="zh-CN" altLang="en-US" sz="2000" dirty="0">
                <a:solidFill>
                  <a:srgbClr val="000000"/>
                </a:solidFill>
                <a:latin typeface="微软雅黑" panose="020B0503020204020204" pitchFamily="34" charset="-122"/>
                <a:ea typeface="微软雅黑" panose="020B0503020204020204" pitchFamily="34" charset="-122"/>
              </a:rPr>
              <a:t>年全国电子百强首位，任正非：华为的冬天</a:t>
            </a:r>
            <a:br>
              <a:rPr lang="en-US" altLang="zh-CN" sz="2000" dirty="0">
                <a:solidFill>
                  <a:srgbClr val="000000"/>
                </a:solidFill>
                <a:latin typeface="微软雅黑" panose="020B0503020204020204" pitchFamily="34" charset="-122"/>
                <a:ea typeface="微软雅黑" panose="020B0503020204020204" pitchFamily="34" charset="-122"/>
              </a:rPr>
            </a:b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2000</a:t>
            </a:r>
            <a:r>
              <a:rPr lang="zh-CN" altLang="en-US" sz="2000" dirty="0">
                <a:solidFill>
                  <a:srgbClr val="000000"/>
                </a:solidFill>
                <a:latin typeface="微软雅黑" panose="020B0503020204020204" pitchFamily="34" charset="-122"/>
                <a:ea typeface="微软雅黑" panose="020B0503020204020204" pitchFamily="34" charset="-122"/>
              </a:rPr>
              <a:t>年互联网泡沫来临，设备商巨头朗讯倒下）</a:t>
            </a:r>
            <a:endParaRPr lang="en-US" altLang="zh-CN" sz="2000" dirty="0">
              <a:solidFill>
                <a:srgbClr val="000000"/>
              </a:solidFill>
              <a:latin typeface="微软雅黑" panose="020B0503020204020204" pitchFamily="34" charset="-122"/>
              <a:ea typeface="微软雅黑" panose="020B0503020204020204" pitchFamily="34" charset="-122"/>
            </a:endParaRPr>
          </a:p>
          <a:p>
            <a:pPr lvl="1"/>
            <a:r>
              <a:rPr lang="zh-CN" altLang="en-US" sz="2000" dirty="0">
                <a:solidFill>
                  <a:srgbClr val="000000"/>
                </a:solidFill>
                <a:latin typeface="微软雅黑" panose="020B0503020204020204" pitchFamily="34" charset="-122"/>
                <a:ea typeface="微软雅黑" panose="020B0503020204020204" pitchFamily="34" charset="-122"/>
              </a:rPr>
              <a:t>长期坚持超大研发投入，从幕后走到前台</a:t>
            </a:r>
            <a:endParaRPr lang="en-US" altLang="zh-CN" sz="2000" dirty="0">
              <a:solidFill>
                <a:srgbClr val="000000"/>
              </a:solidFill>
              <a:latin typeface="微软雅黑" panose="020B0503020204020204" pitchFamily="34" charset="-122"/>
              <a:ea typeface="微软雅黑" panose="020B0503020204020204" pitchFamily="34" charset="-122"/>
            </a:endParaRPr>
          </a:p>
          <a:p>
            <a:pPr lvl="1"/>
            <a:r>
              <a:rPr lang="zh-CN" altLang="en-US" sz="2000" dirty="0">
                <a:solidFill>
                  <a:srgbClr val="000000"/>
                </a:solidFill>
                <a:latin typeface="微软雅黑" panose="020B0503020204020204" pitchFamily="34" charset="-122"/>
                <a:ea typeface="微软雅黑" panose="020B0503020204020204" pitchFamily="34" charset="-122"/>
              </a:rPr>
              <a:t>长期受美国打压，难进全球最大市场美国</a:t>
            </a:r>
            <a:endParaRPr lang="en-US" altLang="zh-CN" sz="2000" b="0" i="0" dirty="0">
              <a:solidFill>
                <a:srgbClr val="000000"/>
              </a:solidFill>
              <a:effectLst/>
              <a:latin typeface="微软雅黑" panose="020B0503020204020204" pitchFamily="34" charset="-122"/>
              <a:ea typeface="微软雅黑" panose="020B0503020204020204" pitchFamily="34" charset="-122"/>
            </a:endParaRPr>
          </a:p>
          <a:p>
            <a:pPr lvl="1"/>
            <a:r>
              <a:rPr lang="zh-CN" altLang="en-US" sz="2000" dirty="0">
                <a:solidFill>
                  <a:srgbClr val="C00000"/>
                </a:solidFill>
                <a:latin typeface="微软雅黑" panose="020B0503020204020204" pitchFamily="34" charset="-122"/>
                <a:ea typeface="微软雅黑" panose="020B0503020204020204" pitchFamily="34" charset="-122"/>
              </a:rPr>
              <a:t>美国科技封锁，自研芯片等备胎转正，焉知非福？</a:t>
            </a:r>
            <a:endParaRPr lang="en-US" altLang="zh-CN" sz="2000" dirty="0">
              <a:solidFill>
                <a:srgbClr val="C00000"/>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技术领先、标准引领，秉持开放共赢</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学术：活跃于</a:t>
            </a:r>
            <a:r>
              <a:rPr lang="en-US" altLang="zh-CN" sz="2000" dirty="0" err="1">
                <a:latin typeface="微软雅黑" panose="020B0503020204020204" pitchFamily="34" charset="-122"/>
                <a:ea typeface="微软雅黑" panose="020B0503020204020204" pitchFamily="34" charset="-122"/>
              </a:rPr>
              <a:t>Sigcomm</a:t>
            </a:r>
            <a:r>
              <a:rPr lang="zh-CN" altLang="en-US" sz="2000" dirty="0">
                <a:latin typeface="微软雅黑" panose="020B0503020204020204" pitchFamily="34" charset="-122"/>
                <a:ea typeface="微软雅黑" panose="020B0503020204020204" pitchFamily="34" charset="-122"/>
              </a:rPr>
              <a:t>等顶级学术会议</a:t>
            </a:r>
            <a:endParaRPr lang="zh-CN" altLang="en-US" sz="2000" dirty="0"/>
          </a:p>
          <a:p>
            <a:pPr lvl="1"/>
            <a:r>
              <a:rPr lang="zh-CN" altLang="en-US" sz="2000" dirty="0">
                <a:latin typeface="微软雅黑" panose="020B0503020204020204" pitchFamily="34" charset="-122"/>
                <a:ea typeface="微软雅黑" panose="020B0503020204020204" pitchFamily="34" charset="-122"/>
              </a:rPr>
              <a:t>专利：专利申请全球第一，从数量到质量</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标准：</a:t>
            </a:r>
            <a:r>
              <a:rPr lang="en-US" altLang="zh-CN" sz="2000" dirty="0">
                <a:latin typeface="微软雅黑" panose="020B0503020204020204" pitchFamily="34" charset="-122"/>
                <a:ea typeface="微软雅黑" panose="020B0503020204020204" pitchFamily="34" charset="-122"/>
              </a:rPr>
              <a:t>3GPP</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ITU-T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IETF</a:t>
            </a:r>
            <a:r>
              <a:rPr lang="zh-CN" altLang="en-US" sz="2000" dirty="0">
                <a:latin typeface="微软雅黑" panose="020B0503020204020204" pitchFamily="34" charset="-122"/>
                <a:ea typeface="微软雅黑" panose="020B0503020204020204" pitchFamily="34" charset="-122"/>
              </a:rPr>
              <a:t>等标准主要贡献者</a:t>
            </a:r>
            <a:endParaRPr lang="en-US" altLang="zh-CN" sz="2000" dirty="0">
              <a:latin typeface="微软雅黑" panose="020B0503020204020204" pitchFamily="34" charset="-122"/>
              <a:ea typeface="微软雅黑" panose="020B0503020204020204" pitchFamily="34" charset="-122"/>
            </a:endParaRPr>
          </a:p>
        </p:txBody>
      </p:sp>
      <p:pic>
        <p:nvPicPr>
          <p:cNvPr id="24" name="图片 23"/>
          <p:cNvPicPr>
            <a:picLocks noChangeAspect="1"/>
          </p:cNvPicPr>
          <p:nvPr/>
        </p:nvPicPr>
        <p:blipFill rotWithShape="1">
          <a:blip r:embed="rId1" cstate="print"/>
          <a:srcRect r="1614"/>
          <a:stretch>
            <a:fillRect/>
          </a:stretch>
        </p:blipFill>
        <p:spPr>
          <a:xfrm>
            <a:off x="7349298" y="1311401"/>
            <a:ext cx="4609532" cy="3056325"/>
          </a:xfrm>
          <a:prstGeom prst="rect">
            <a:avLst/>
          </a:prstGeom>
          <a:ln>
            <a:solidFill>
              <a:schemeClr val="tx1"/>
            </a:solidFill>
          </a:ln>
        </p:spPr>
      </p:pic>
      <p:grpSp>
        <p:nvGrpSpPr>
          <p:cNvPr id="25" name="组合 24"/>
          <p:cNvGrpSpPr/>
          <p:nvPr/>
        </p:nvGrpSpPr>
        <p:grpSpPr>
          <a:xfrm>
            <a:off x="7847792" y="4593022"/>
            <a:ext cx="3744006" cy="1797521"/>
            <a:chOff x="6865" y="1525"/>
            <a:chExt cx="5563" cy="2831"/>
          </a:xfrm>
        </p:grpSpPr>
        <p:pic>
          <p:nvPicPr>
            <p:cNvPr id="26" name="图片 25"/>
            <p:cNvPicPr>
              <a:picLocks noChangeAspect="1"/>
            </p:cNvPicPr>
            <p:nvPr/>
          </p:nvPicPr>
          <p:blipFill>
            <a:blip r:embed="rId2" cstate="print"/>
            <a:stretch>
              <a:fillRect/>
            </a:stretch>
          </p:blipFill>
          <p:spPr>
            <a:xfrm>
              <a:off x="10556" y="1652"/>
              <a:ext cx="1696" cy="2432"/>
            </a:xfrm>
            <a:prstGeom prst="rect">
              <a:avLst/>
            </a:prstGeom>
          </p:spPr>
        </p:pic>
        <p:sp>
          <p:nvSpPr>
            <p:cNvPr id="27" name="文本框 26"/>
            <p:cNvSpPr txBox="1"/>
            <p:nvPr/>
          </p:nvSpPr>
          <p:spPr>
            <a:xfrm>
              <a:off x="6933" y="1525"/>
              <a:ext cx="3608" cy="2831"/>
            </a:xfrm>
            <a:prstGeom prst="rect">
              <a:avLst/>
            </a:prstGeom>
            <a:noFill/>
          </p:spPr>
          <p:txBody>
            <a:bodyPr wrap="square" rtlCol="0">
              <a:spAutoFit/>
            </a:bodyPr>
            <a:lstStyle/>
            <a:p>
              <a:pPr algn="ctr">
                <a:lnSpc>
                  <a:spcPct val="100000"/>
                </a:lnSpc>
                <a:spcAft>
                  <a:spcPts val="600"/>
                </a:spcAft>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任正非</a:t>
              </a:r>
              <a:endPar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随着逐步逼近香农定理、摩尔定律的极限</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面对</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大流量、低延时</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的理论还未创造出来</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圆角矩形 9"/>
            <p:cNvSpPr/>
            <p:nvPr/>
          </p:nvSpPr>
          <p:spPr>
            <a:xfrm>
              <a:off x="6865" y="1541"/>
              <a:ext cx="5563" cy="2653"/>
            </a:xfrm>
            <a:prstGeom prst="roundRect">
              <a:avLst>
                <a:gd name="adj" fmla="val 10892"/>
              </a:avLst>
            </a:prstGeom>
            <a:noFill/>
            <a:ln w="19050">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1350"/>
            </a:p>
          </p:txBody>
        </p:sp>
      </p:grpSp>
      <p:cxnSp>
        <p:nvCxnSpPr>
          <p:cNvPr id="15" name="直接箭头连接符 14"/>
          <p:cNvCxnSpPr/>
          <p:nvPr/>
        </p:nvCxnSpPr>
        <p:spPr>
          <a:xfrm>
            <a:off x="9998650" y="1890108"/>
            <a:ext cx="180705" cy="2152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8173714" y="1496950"/>
            <a:ext cx="2656115" cy="707886"/>
          </a:xfrm>
          <a:prstGeom prst="rect">
            <a:avLst/>
          </a:prstGeom>
          <a:noFill/>
        </p:spPr>
        <p:txBody>
          <a:bodyPr wrap="square" rtlCol="0">
            <a:spAutoFit/>
          </a:bodyPr>
          <a:lstStyle/>
          <a:p>
            <a:r>
              <a:rPr lang="en-US" altLang="zh-CN" sz="2000" dirty="0">
                <a:solidFill>
                  <a:srgbClr val="C00000"/>
                </a:solidFill>
                <a:latin typeface="微软雅黑" panose="020B0503020204020204" pitchFamily="34" charset="-122"/>
                <a:ea typeface="微软雅黑" panose="020B0503020204020204" pitchFamily="34" charset="-122"/>
              </a:rPr>
              <a:t>2014</a:t>
            </a:r>
            <a:r>
              <a:rPr lang="zh-CN" altLang="en-US" sz="2000" dirty="0">
                <a:solidFill>
                  <a:srgbClr val="C00000"/>
                </a:solidFill>
                <a:latin typeface="微软雅黑" panose="020B0503020204020204" pitchFamily="34" charset="-122"/>
                <a:ea typeface="微软雅黑" panose="020B0503020204020204" pitchFamily="34" charset="-122"/>
              </a:rPr>
              <a:t>年以后华为开始甩开竞争对手</a:t>
            </a:r>
            <a:endParaRPr lang="zh-CN" altLang="en-US" sz="2000" dirty="0">
              <a:solidFill>
                <a:srgbClr val="C00000"/>
              </a:solidFill>
              <a:latin typeface="微软雅黑" panose="020B0503020204020204" pitchFamily="34" charset="-122"/>
              <a:ea typeface="微软雅黑" panose="020B0503020204020204" pitchFamily="34" charset="-122"/>
            </a:endParaRPr>
          </a:p>
        </p:txBody>
      </p:sp>
      <p:cxnSp>
        <p:nvCxnSpPr>
          <p:cNvPr id="37" name="直接箭头连接符 36"/>
          <p:cNvCxnSpPr/>
          <p:nvPr/>
        </p:nvCxnSpPr>
        <p:spPr>
          <a:xfrm>
            <a:off x="10637630" y="2121068"/>
            <a:ext cx="0" cy="557348"/>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0637630" y="2156113"/>
            <a:ext cx="1366102" cy="400110"/>
          </a:xfrm>
          <a:prstGeom prst="rect">
            <a:avLst/>
          </a:prstGeom>
          <a:noFill/>
        </p:spPr>
        <p:txBody>
          <a:bodyPr wrap="squar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遥遥领先</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6038663" y="4751129"/>
            <a:ext cx="1679538" cy="1092607"/>
          </a:xfrm>
          <a:prstGeom prst="rect">
            <a:avLst/>
          </a:prstGeom>
          <a:noFill/>
          <a:ln>
            <a:solidFill>
              <a:srgbClr val="C00000"/>
            </a:solidFill>
          </a:ln>
        </p:spPr>
        <p:txBody>
          <a:bodyPr wrap="square" rtlCol="0">
            <a:spAutoFit/>
          </a:bodyPr>
          <a:lstStyle/>
          <a:p>
            <a:pPr algn="ctr">
              <a:lnSpc>
                <a:spcPct val="100000"/>
              </a:lnSpc>
              <a:spcAft>
                <a:spcPts val="600"/>
              </a:spcAft>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不仅仅是</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00000"/>
              </a:lnSpc>
              <a:spcAft>
                <a:spcPts val="600"/>
              </a:spcAft>
            </a:pP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200</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万年薪的</a:t>
            </a:r>
            <a:b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“天才少年”</a:t>
            </a:r>
            <a:endPar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17" name="文本框 16"/>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endParaRPr lang="zh-CN" altLang="en-US" sz="16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本章总结</a:t>
            </a:r>
            <a:endParaRPr kumimoji="1" lang="zh-CN" altLang="en-US" dirty="0"/>
          </a:p>
        </p:txBody>
      </p:sp>
      <p:sp>
        <p:nvSpPr>
          <p:cNvPr id="3" name="内容占位符 2"/>
          <p:cNvSpPr>
            <a:spLocks noGrp="1"/>
          </p:cNvSpPr>
          <p:nvPr>
            <p:ph idx="1"/>
          </p:nvPr>
        </p:nvSpPr>
        <p:spPr/>
        <p:txBody>
          <a:bodyPr>
            <a:normAutofit lnSpcReduction="10000"/>
          </a:bodyPr>
          <a:lstStyle/>
          <a:p>
            <a:pPr>
              <a:lnSpc>
                <a:spcPct val="120000"/>
              </a:lnSpc>
            </a:pPr>
            <a:r>
              <a:rPr kumimoji="1" lang="zh-CN" altLang="en-US" dirty="0"/>
              <a:t>计算机网络的重要性</a:t>
            </a:r>
            <a:endParaRPr kumimoji="1" lang="zh-CN" altLang="en-US" dirty="0"/>
          </a:p>
          <a:p>
            <a:pPr>
              <a:lnSpc>
                <a:spcPct val="120000"/>
              </a:lnSpc>
            </a:pPr>
            <a:r>
              <a:rPr kumimoji="1" lang="zh-CN" altLang="en-US" dirty="0"/>
              <a:t>了解网络中的基本概念和术语，</a:t>
            </a:r>
            <a:r>
              <a:rPr kumimoji="1" lang="zh-CN" altLang="en-US" dirty="0">
                <a:solidFill>
                  <a:srgbClr val="C00000"/>
                </a:solidFill>
              </a:rPr>
              <a:t>理解分组交换的优缺点</a:t>
            </a:r>
            <a:endParaRPr kumimoji="1" lang="zh-CN" altLang="en-US" dirty="0">
              <a:solidFill>
                <a:srgbClr val="C00000"/>
              </a:solidFill>
            </a:endParaRPr>
          </a:p>
          <a:p>
            <a:pPr>
              <a:lnSpc>
                <a:spcPct val="120000"/>
              </a:lnSpc>
            </a:pPr>
            <a:r>
              <a:rPr kumimoji="1" lang="zh-CN" altLang="en-US" dirty="0"/>
              <a:t>分层结构：</a:t>
            </a:r>
            <a:r>
              <a:rPr kumimoji="1" lang="zh-CN" altLang="en-US" dirty="0">
                <a:solidFill>
                  <a:srgbClr val="C00000"/>
                </a:solidFill>
              </a:rPr>
              <a:t>上下层之间的服务和接口，对等的协议</a:t>
            </a:r>
            <a:endParaRPr kumimoji="1" lang="zh-CN" altLang="en-US" dirty="0">
              <a:solidFill>
                <a:srgbClr val="C00000"/>
              </a:solidFill>
            </a:endParaRPr>
          </a:p>
          <a:p>
            <a:pPr>
              <a:lnSpc>
                <a:spcPct val="120000"/>
              </a:lnSpc>
            </a:pPr>
            <a:r>
              <a:rPr kumimoji="1" lang="zh-CN" altLang="en-US" dirty="0"/>
              <a:t>网络</a:t>
            </a:r>
            <a:r>
              <a:rPr kumimoji="1" lang="zh-CN" altLang="en-US" dirty="0">
                <a:solidFill>
                  <a:srgbClr val="C00000"/>
                </a:solidFill>
              </a:rPr>
              <a:t>参考模型</a:t>
            </a:r>
            <a:r>
              <a:rPr kumimoji="1" lang="zh-CN" altLang="en-US" dirty="0"/>
              <a:t>：理想的</a:t>
            </a:r>
            <a:r>
              <a:rPr kumimoji="1" lang="en-US" altLang="zh-CN" dirty="0"/>
              <a:t>7</a:t>
            </a:r>
            <a:r>
              <a:rPr kumimoji="1" lang="zh-CN" altLang="en-US" dirty="0"/>
              <a:t>层</a:t>
            </a:r>
            <a:r>
              <a:rPr kumimoji="1" lang="en-US" altLang="zh-CN" dirty="0"/>
              <a:t>OSI</a:t>
            </a:r>
            <a:r>
              <a:rPr kumimoji="1" lang="zh-CN" altLang="en-US" dirty="0"/>
              <a:t>，现实的</a:t>
            </a:r>
            <a:r>
              <a:rPr kumimoji="1" lang="en-US" altLang="zh-CN" dirty="0"/>
              <a:t>4</a:t>
            </a:r>
            <a:r>
              <a:rPr kumimoji="1" lang="zh-CN" altLang="en-US" dirty="0"/>
              <a:t>层</a:t>
            </a:r>
            <a:r>
              <a:rPr kumimoji="1" lang="en-US" altLang="zh-CN" dirty="0"/>
              <a:t>TCP/IP</a:t>
            </a:r>
            <a:endParaRPr kumimoji="1" lang="zh-CN" altLang="en-US" dirty="0"/>
          </a:p>
          <a:p>
            <a:pPr>
              <a:lnSpc>
                <a:spcPct val="120000"/>
              </a:lnSpc>
            </a:pPr>
            <a:r>
              <a:rPr kumimoji="1" lang="zh-CN" altLang="en-US" dirty="0">
                <a:solidFill>
                  <a:srgbClr val="C00000"/>
                </a:solidFill>
              </a:rPr>
              <a:t>网络度量单位</a:t>
            </a:r>
            <a:r>
              <a:rPr kumimoji="1" lang="zh-CN" altLang="en-US" dirty="0"/>
              <a:t>：带宽、时延和丢失率</a:t>
            </a:r>
            <a:endParaRPr kumimoji="1" lang="zh-CN" altLang="en-US" dirty="0"/>
          </a:p>
          <a:p>
            <a:pPr>
              <a:lnSpc>
                <a:spcPct val="120000"/>
              </a:lnSpc>
            </a:pPr>
            <a:r>
              <a:rPr kumimoji="1" lang="zh-CN" altLang="en-US" dirty="0"/>
              <a:t>网络威胁：无所不在</a:t>
            </a:r>
            <a:endParaRPr kumimoji="1" lang="zh-CN" altLang="en-US" dirty="0"/>
          </a:p>
          <a:p>
            <a:pPr>
              <a:lnSpc>
                <a:spcPct val="120000"/>
              </a:lnSpc>
            </a:pPr>
            <a:r>
              <a:rPr kumimoji="1" lang="zh-CN" altLang="en-US" dirty="0"/>
              <a:t>标准化组织：官方的</a:t>
            </a:r>
            <a:r>
              <a:rPr kumimoji="1" lang="en-US" altLang="zh-CN" dirty="0"/>
              <a:t>ITU</a:t>
            </a:r>
            <a:r>
              <a:rPr kumimoji="1" lang="zh-CN" altLang="en-US" dirty="0"/>
              <a:t>、</a:t>
            </a:r>
            <a:r>
              <a:rPr kumimoji="1" lang="en-US" altLang="zh-CN" dirty="0"/>
              <a:t>ISO</a:t>
            </a:r>
            <a:r>
              <a:rPr kumimoji="1" lang="zh-CN" altLang="en-US" dirty="0"/>
              <a:t>，发挥核心作用的</a:t>
            </a:r>
            <a:r>
              <a:rPr kumimoji="1" lang="en-US" altLang="zh-CN" dirty="0"/>
              <a:t>IETF</a:t>
            </a:r>
            <a:r>
              <a:rPr kumimoji="1" lang="zh-CN" altLang="en-US" dirty="0"/>
              <a:t>和</a:t>
            </a:r>
            <a:r>
              <a:rPr kumimoji="1" lang="en-US" altLang="zh-CN" dirty="0"/>
              <a:t>IEEE</a:t>
            </a:r>
            <a:endParaRPr kumimoji="1" lang="zh-CN" altLang="en-US" dirty="0"/>
          </a:p>
          <a:p>
            <a:pPr>
              <a:lnSpc>
                <a:spcPct val="120000"/>
              </a:lnSpc>
            </a:pPr>
            <a:r>
              <a:rPr kumimoji="1" lang="zh-CN" altLang="en-US" dirty="0"/>
              <a:t>互联网发展史与</a:t>
            </a:r>
            <a:r>
              <a:rPr kumimoji="1" lang="zh-CN" altLang="en-US" dirty="0">
                <a:solidFill>
                  <a:srgbClr val="C00000"/>
                </a:solidFill>
              </a:rPr>
              <a:t>启示</a:t>
            </a:r>
            <a:endParaRPr kumimoji="1" lang="zh-CN" altLang="en-US" dirty="0">
              <a:solidFill>
                <a:srgbClr val="C00000"/>
              </a:solidFill>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作业</a:t>
            </a:r>
            <a:endParaRPr lang="en-US" dirty="0"/>
          </a:p>
        </p:txBody>
      </p:sp>
      <p:sp>
        <p:nvSpPr>
          <p:cNvPr id="3" name="Content Placeholder 2"/>
          <p:cNvSpPr>
            <a:spLocks noGrp="1"/>
          </p:cNvSpPr>
          <p:nvPr>
            <p:ph idx="1"/>
          </p:nvPr>
        </p:nvSpPr>
        <p:spPr>
          <a:xfrm>
            <a:off x="838200" y="2100915"/>
            <a:ext cx="10515600" cy="4586694"/>
          </a:xfrm>
        </p:spPr>
        <p:txBody>
          <a:bodyPr>
            <a:normAutofit fontScale="85000" lnSpcReduction="20000"/>
          </a:bodyPr>
          <a:lstStyle/>
          <a:p>
            <a:pPr marL="0" indent="0">
              <a:lnSpc>
                <a:spcPct val="120000"/>
              </a:lnSpc>
              <a:buNone/>
            </a:pPr>
            <a:r>
              <a:rPr lang="en-US" altLang="zh-CN" sz="2400" dirty="0">
                <a:latin typeface="+mn-ea"/>
                <a:ea typeface="+mn-ea"/>
              </a:rPr>
              <a:t>1</a:t>
            </a:r>
            <a:r>
              <a:rPr lang="zh-CN" altLang="en-US" sz="2400" dirty="0">
                <a:latin typeface="+mn-ea"/>
                <a:ea typeface="+mn-ea"/>
              </a:rPr>
              <a:t>、用小狗运送</a:t>
            </a:r>
            <a:r>
              <a:rPr lang="en-US" altLang="zh-CN" sz="2400" dirty="0">
                <a:latin typeface="+mn-ea"/>
                <a:ea typeface="+mn-ea"/>
              </a:rPr>
              <a:t>3</a:t>
            </a:r>
            <a:r>
              <a:rPr lang="zh-CN" altLang="en-US" sz="2400" dirty="0">
                <a:latin typeface="+mn-ea"/>
                <a:ea typeface="+mn-ea"/>
              </a:rPr>
              <a:t>盘磁带，每盘容量</a:t>
            </a:r>
            <a:r>
              <a:rPr lang="en-US" altLang="zh-CN" sz="2400" dirty="0">
                <a:latin typeface="+mn-ea"/>
                <a:ea typeface="+mn-ea"/>
              </a:rPr>
              <a:t>7GB</a:t>
            </a:r>
            <a:r>
              <a:rPr lang="zh-CN" altLang="en-US" sz="2400" dirty="0">
                <a:latin typeface="+mn-ea"/>
                <a:ea typeface="+mn-ea"/>
              </a:rPr>
              <a:t>，小狗以每小时</a:t>
            </a:r>
            <a:r>
              <a:rPr lang="en-US" altLang="zh-CN" sz="2400" dirty="0">
                <a:latin typeface="+mn-ea"/>
                <a:ea typeface="+mn-ea"/>
              </a:rPr>
              <a:t>18km</a:t>
            </a:r>
            <a:r>
              <a:rPr lang="zh-CN" altLang="en-US" sz="2400" dirty="0">
                <a:latin typeface="+mn-ea"/>
                <a:ea typeface="+mn-ea"/>
              </a:rPr>
              <a:t>速度向你跑来。问在什么距离内，小狗的数据传输率比</a:t>
            </a:r>
            <a:r>
              <a:rPr lang="en-US" altLang="zh-CN" sz="2400" dirty="0">
                <a:latin typeface="+mn-ea"/>
                <a:ea typeface="+mn-ea"/>
              </a:rPr>
              <a:t>155Mb/s</a:t>
            </a:r>
            <a:r>
              <a:rPr lang="zh-CN" altLang="en-US" sz="2400" dirty="0">
                <a:latin typeface="+mn-ea"/>
                <a:ea typeface="+mn-ea"/>
              </a:rPr>
              <a:t>的</a:t>
            </a:r>
            <a:r>
              <a:rPr lang="en-US" altLang="zh-CN" sz="2400" dirty="0">
                <a:latin typeface="+mn-ea"/>
                <a:ea typeface="+mn-ea"/>
              </a:rPr>
              <a:t>ATM</a:t>
            </a:r>
            <a:r>
              <a:rPr lang="zh-CN" altLang="en-US" sz="2400" dirty="0">
                <a:latin typeface="+mn-ea"/>
                <a:ea typeface="+mn-ea"/>
              </a:rPr>
              <a:t>线路高（</a:t>
            </a:r>
            <a:r>
              <a:rPr lang="en-US" altLang="zh-CN" sz="2400" dirty="0">
                <a:latin typeface="+mn-ea"/>
                <a:ea typeface="+mn-ea"/>
              </a:rPr>
              <a:t>G=10^9</a:t>
            </a:r>
            <a:r>
              <a:rPr lang="zh-CN" altLang="en-US" sz="2400" dirty="0">
                <a:latin typeface="+mn-ea"/>
                <a:ea typeface="+mn-ea"/>
              </a:rPr>
              <a:t>，</a:t>
            </a:r>
            <a:r>
              <a:rPr lang="en-US" altLang="zh-CN" sz="2400" dirty="0">
                <a:latin typeface="+mn-ea"/>
                <a:ea typeface="+mn-ea"/>
              </a:rPr>
              <a:t>M=10^6</a:t>
            </a:r>
            <a:r>
              <a:rPr lang="zh-CN" altLang="en-US" sz="2400" dirty="0">
                <a:latin typeface="+mn-ea"/>
                <a:ea typeface="+mn-ea"/>
              </a:rPr>
              <a:t>）。</a:t>
            </a:r>
            <a:endParaRPr lang="zh-CN" altLang="en-US" sz="2400" dirty="0">
              <a:latin typeface="+mn-ea"/>
              <a:ea typeface="+mn-ea"/>
            </a:endParaRPr>
          </a:p>
          <a:p>
            <a:pPr marL="0" indent="0">
              <a:lnSpc>
                <a:spcPct val="120000"/>
              </a:lnSpc>
              <a:buNone/>
            </a:pPr>
            <a:r>
              <a:rPr lang="en-US" altLang="zh-CN" sz="2400" dirty="0">
                <a:latin typeface="+mn-ea"/>
                <a:ea typeface="+mn-ea"/>
              </a:rPr>
              <a:t>2</a:t>
            </a:r>
            <a:r>
              <a:rPr lang="zh-CN" altLang="en-US" sz="2400" dirty="0">
                <a:latin typeface="+mn-ea"/>
                <a:ea typeface="+mn-ea"/>
              </a:rPr>
              <a:t>、一个系统的协议结构有</a:t>
            </a:r>
            <a:r>
              <a:rPr lang="en-US" altLang="zh-CN" sz="2400" dirty="0">
                <a:latin typeface="+mn-ea"/>
                <a:ea typeface="+mn-ea"/>
              </a:rPr>
              <a:t>N</a:t>
            </a:r>
            <a:r>
              <a:rPr lang="zh-CN" altLang="en-US" sz="2400" dirty="0">
                <a:latin typeface="+mn-ea"/>
                <a:ea typeface="+mn-ea"/>
              </a:rPr>
              <a:t>层。应用程序产生</a:t>
            </a:r>
            <a:r>
              <a:rPr lang="en-US" altLang="zh-CN" sz="2400" dirty="0">
                <a:latin typeface="+mn-ea"/>
                <a:ea typeface="+mn-ea"/>
              </a:rPr>
              <a:t>M</a:t>
            </a:r>
            <a:r>
              <a:rPr lang="zh-CN" altLang="en-US" sz="2400" dirty="0">
                <a:latin typeface="+mn-ea"/>
                <a:ea typeface="+mn-ea"/>
              </a:rPr>
              <a:t>字节长的报文。网络软件在每层都加上</a:t>
            </a:r>
            <a:r>
              <a:rPr lang="en-US" altLang="zh-CN" sz="2400" dirty="0">
                <a:latin typeface="+mn-ea"/>
                <a:ea typeface="+mn-ea"/>
              </a:rPr>
              <a:t>H</a:t>
            </a:r>
            <a:r>
              <a:rPr lang="zh-CN" altLang="en-US" sz="2400" dirty="0">
                <a:latin typeface="+mn-ea"/>
                <a:ea typeface="+mn-ea"/>
              </a:rPr>
              <a:t>字节长的报头。请问网络带宽中有多大比率用于报头信息的传输？</a:t>
            </a:r>
            <a:r>
              <a:rPr lang="en-US" altLang="zh-CN" sz="2400" dirty="0">
                <a:latin typeface="+mn-ea"/>
                <a:ea typeface="+mn-ea"/>
              </a:rPr>
              <a:t>(</a:t>
            </a:r>
            <a:r>
              <a:rPr lang="zh-CN" altLang="en-US" sz="2400" dirty="0">
                <a:latin typeface="+mn-ea"/>
                <a:ea typeface="+mn-ea"/>
              </a:rPr>
              <a:t>写出公式）</a:t>
            </a:r>
            <a:endParaRPr lang="zh-CN" altLang="en-US" sz="2400" dirty="0">
              <a:latin typeface="+mn-ea"/>
              <a:ea typeface="+mn-ea"/>
            </a:endParaRPr>
          </a:p>
          <a:p>
            <a:pPr marL="0" indent="0" eaLnBrk="1" hangingPunct="1">
              <a:lnSpc>
                <a:spcPct val="120000"/>
              </a:lnSpc>
              <a:spcBef>
                <a:spcPct val="10000"/>
              </a:spcBef>
              <a:buNone/>
              <a:defRPr/>
            </a:pPr>
            <a:r>
              <a:rPr kumimoji="1" lang="en-US" altLang="zh-CN" sz="2400" dirty="0">
                <a:effectLst>
                  <a:outerShdw blurRad="38100" dist="38100" dir="2700000" algn="tl">
                    <a:srgbClr val="000000">
                      <a:alpha val="43137"/>
                    </a:srgbClr>
                  </a:outerShdw>
                </a:effectLst>
                <a:latin typeface="+mn-ea"/>
                <a:ea typeface="+mn-ea"/>
              </a:rPr>
              <a:t>3</a:t>
            </a:r>
            <a:r>
              <a:rPr kumimoji="1" lang="zh-CN" altLang="en-US" sz="2400" dirty="0">
                <a:effectLst>
                  <a:outerShdw blurRad="38100" dist="38100" dir="2700000" algn="tl">
                    <a:srgbClr val="000000">
                      <a:alpha val="43137"/>
                    </a:srgbClr>
                  </a:outerShdw>
                </a:effectLst>
                <a:latin typeface="+mn-ea"/>
                <a:ea typeface="+mn-ea"/>
              </a:rPr>
              <a:t>、</a:t>
            </a:r>
            <a:r>
              <a:rPr kumimoji="1" lang="zh-CN" altLang="en-US" sz="2400" dirty="0">
                <a:latin typeface="+mn-ea"/>
                <a:ea typeface="+mn-ea"/>
              </a:rPr>
              <a:t>设需在两台计算机间经两个中间节点传送</a:t>
            </a:r>
            <a:r>
              <a:rPr kumimoji="1" lang="en-US" altLang="zh-CN" sz="2400" dirty="0">
                <a:latin typeface="+mn-ea"/>
                <a:ea typeface="+mn-ea"/>
              </a:rPr>
              <a:t>100M</a:t>
            </a:r>
            <a:r>
              <a:rPr kumimoji="1" lang="zh-CN" altLang="en-US" sz="2400" dirty="0">
                <a:latin typeface="+mn-ea"/>
                <a:ea typeface="+mn-ea"/>
              </a:rPr>
              <a:t>字节的文件，假定：</a:t>
            </a:r>
            <a:endParaRPr kumimoji="1" lang="zh-CN" altLang="en-US" sz="2400" dirty="0">
              <a:latin typeface="+mn-ea"/>
              <a:ea typeface="+mn-ea"/>
            </a:endParaRPr>
          </a:p>
          <a:p>
            <a:pPr marL="0" indent="0">
              <a:lnSpc>
                <a:spcPct val="120000"/>
              </a:lnSpc>
              <a:spcBef>
                <a:spcPct val="10000"/>
              </a:spcBef>
              <a:buNone/>
              <a:defRPr/>
            </a:pPr>
            <a:r>
              <a:rPr kumimoji="1" lang="zh-CN" altLang="en-US" sz="2400" dirty="0">
                <a:latin typeface="+mn-ea"/>
                <a:ea typeface="+mn-ea"/>
              </a:rPr>
              <a:t>      </a:t>
            </a:r>
            <a:r>
              <a:rPr kumimoji="1" lang="en-US" altLang="zh-CN" sz="2400" dirty="0">
                <a:latin typeface="+mn-ea"/>
                <a:ea typeface="+mn-ea"/>
              </a:rPr>
              <a:t>a</a:t>
            </a:r>
            <a:r>
              <a:rPr kumimoji="1" lang="zh-CN" altLang="en-US" sz="2400" dirty="0">
                <a:latin typeface="+mn-ea"/>
                <a:ea typeface="+mn-ea"/>
              </a:rPr>
              <a:t>．计算机与中间节点的通信线路以及中间节点间通信线路的通信速率皆为</a:t>
            </a:r>
            <a:r>
              <a:rPr kumimoji="1" lang="en-US" altLang="zh-CN" sz="2400" dirty="0">
                <a:latin typeface="+mn-ea"/>
                <a:ea typeface="+mn-ea"/>
              </a:rPr>
              <a:t>8kbps;</a:t>
            </a:r>
            <a:endParaRPr kumimoji="1" lang="en-US" altLang="zh-CN" sz="2400" dirty="0">
              <a:latin typeface="+mn-ea"/>
              <a:ea typeface="+mn-ea"/>
            </a:endParaRPr>
          </a:p>
          <a:p>
            <a:pPr marL="0" indent="0">
              <a:lnSpc>
                <a:spcPct val="120000"/>
              </a:lnSpc>
              <a:spcBef>
                <a:spcPct val="10000"/>
              </a:spcBef>
              <a:buNone/>
              <a:defRPr/>
            </a:pPr>
            <a:r>
              <a:rPr kumimoji="1" lang="en-US" altLang="zh-CN" sz="2400" dirty="0">
                <a:latin typeface="+mn-ea"/>
                <a:ea typeface="+mn-ea"/>
              </a:rPr>
              <a:t>      b</a:t>
            </a:r>
            <a:r>
              <a:rPr kumimoji="1" lang="zh-CN" altLang="en-US" sz="2400" dirty="0">
                <a:latin typeface="+mn-ea"/>
                <a:ea typeface="+mn-ea"/>
              </a:rPr>
              <a:t>．外界电磁干扰对数据传输的影响可以忽略不计。</a:t>
            </a:r>
            <a:endParaRPr kumimoji="1" lang="zh-CN" altLang="en-US" sz="2400" dirty="0">
              <a:latin typeface="+mn-ea"/>
              <a:ea typeface="+mn-ea"/>
            </a:endParaRPr>
          </a:p>
          <a:p>
            <a:pPr marL="0" indent="0">
              <a:lnSpc>
                <a:spcPct val="120000"/>
              </a:lnSpc>
              <a:spcBef>
                <a:spcPct val="10000"/>
              </a:spcBef>
              <a:buNone/>
              <a:defRPr/>
            </a:pPr>
            <a:r>
              <a:rPr kumimoji="1" lang="zh-CN" altLang="en-US" sz="2400" dirty="0">
                <a:latin typeface="+mn-ea"/>
                <a:ea typeface="+mn-ea"/>
              </a:rPr>
              <a:t>      </a:t>
            </a:r>
            <a:r>
              <a:rPr kumimoji="1" lang="en-US" altLang="zh-CN" sz="2400" dirty="0">
                <a:latin typeface="+mn-ea"/>
                <a:ea typeface="+mn-ea"/>
              </a:rPr>
              <a:t>c</a:t>
            </a:r>
            <a:r>
              <a:rPr kumimoji="1" lang="zh-CN" altLang="en-US" sz="2400" dirty="0">
                <a:latin typeface="+mn-ea"/>
                <a:ea typeface="+mn-ea"/>
              </a:rPr>
              <a:t>．中间节点存储转发时间可以忽略不计</a:t>
            </a:r>
            <a:endParaRPr kumimoji="1" lang="en-US" altLang="zh-CN" sz="2400" dirty="0">
              <a:latin typeface="+mn-ea"/>
              <a:ea typeface="+mn-ea"/>
            </a:endParaRPr>
          </a:p>
          <a:p>
            <a:pPr marL="0" indent="0">
              <a:lnSpc>
                <a:spcPct val="120000"/>
              </a:lnSpc>
              <a:spcBef>
                <a:spcPct val="10000"/>
              </a:spcBef>
              <a:buNone/>
              <a:defRPr/>
            </a:pPr>
            <a:r>
              <a:rPr kumimoji="1" lang="zh-CN" altLang="en-US" sz="2400" dirty="0">
                <a:latin typeface="+mn-ea"/>
                <a:ea typeface="+mn-ea"/>
              </a:rPr>
              <a:t>      试计算采用甲、乙两种方案传送此文件各自所需时间，并对计算结果进行解释。其中：</a:t>
            </a:r>
            <a:endParaRPr kumimoji="1" lang="zh-CN" altLang="en-US" sz="2400" dirty="0">
              <a:latin typeface="+mn-ea"/>
              <a:ea typeface="+mn-ea"/>
            </a:endParaRPr>
          </a:p>
          <a:p>
            <a:pPr marL="0" indent="0">
              <a:lnSpc>
                <a:spcPct val="120000"/>
              </a:lnSpc>
              <a:spcBef>
                <a:spcPct val="10000"/>
              </a:spcBef>
              <a:buNone/>
              <a:defRPr/>
            </a:pPr>
            <a:r>
              <a:rPr kumimoji="1" lang="zh-CN" altLang="en-US" sz="2400" dirty="0">
                <a:latin typeface="+mn-ea"/>
                <a:ea typeface="+mn-ea"/>
              </a:rPr>
              <a:t>      方案甲：将整个文件逐级存储转发（不计</a:t>
            </a:r>
            <a:r>
              <a:rPr kumimoji="1" lang="en-US" altLang="zh-CN" sz="2400" dirty="0">
                <a:latin typeface="+mn-ea"/>
                <a:ea typeface="+mn-ea"/>
              </a:rPr>
              <a:t>message header </a:t>
            </a:r>
            <a:r>
              <a:rPr kumimoji="1" lang="zh-CN" altLang="en-US" sz="2400" dirty="0">
                <a:latin typeface="+mn-ea"/>
                <a:ea typeface="+mn-ea"/>
              </a:rPr>
              <a:t>的</a:t>
            </a:r>
            <a:r>
              <a:rPr kumimoji="1" lang="en-US" altLang="zh-CN" sz="2400" dirty="0">
                <a:latin typeface="+mn-ea"/>
                <a:ea typeface="+mn-ea"/>
              </a:rPr>
              <a:t>overhead</a:t>
            </a:r>
            <a:r>
              <a:rPr kumimoji="1" lang="zh-CN" altLang="en-US" sz="2400" dirty="0">
                <a:latin typeface="+mn-ea"/>
                <a:ea typeface="+mn-ea"/>
              </a:rPr>
              <a:t>）。</a:t>
            </a:r>
            <a:br>
              <a:rPr kumimoji="1" lang="en-US" altLang="zh-CN" sz="2400" dirty="0">
                <a:latin typeface="+mn-ea"/>
                <a:ea typeface="+mn-ea"/>
              </a:rPr>
            </a:br>
            <a:r>
              <a:rPr kumimoji="1" lang="zh-CN" altLang="en-US" sz="2400" dirty="0">
                <a:latin typeface="+mn-ea"/>
                <a:ea typeface="+mn-ea"/>
              </a:rPr>
              <a:t>      方案乙：将文件分为</a:t>
            </a:r>
            <a:r>
              <a:rPr kumimoji="1" lang="en-US" altLang="zh-CN" sz="2400" dirty="0">
                <a:latin typeface="+mn-ea"/>
                <a:ea typeface="+mn-ea"/>
              </a:rPr>
              <a:t>1000</a:t>
            </a:r>
            <a:r>
              <a:rPr kumimoji="1" lang="zh-CN" altLang="en-US" sz="2400" dirty="0">
                <a:latin typeface="+mn-ea"/>
                <a:ea typeface="+mn-ea"/>
              </a:rPr>
              <a:t>字节的帧，再进行存储转发。假定额外的帧头和帧尾开销一共为</a:t>
            </a:r>
            <a:r>
              <a:rPr kumimoji="1" lang="en-US" altLang="zh-CN" sz="2400" dirty="0">
                <a:latin typeface="+mn-ea"/>
                <a:ea typeface="+mn-ea"/>
              </a:rPr>
              <a:t>10</a:t>
            </a:r>
            <a:r>
              <a:rPr kumimoji="1" lang="zh-CN" altLang="en-US" sz="2400" dirty="0">
                <a:latin typeface="+mn-ea"/>
                <a:ea typeface="+mn-ea"/>
              </a:rPr>
              <a:t>字节。</a:t>
            </a:r>
            <a:endParaRPr kumimoji="1" lang="zh-CN" altLang="en-US" sz="2400" dirty="0">
              <a:latin typeface="+mn-ea"/>
              <a:ea typeface="+mn-ea"/>
            </a:endParaRPr>
          </a:p>
          <a:p>
            <a:pPr marL="0" indent="0">
              <a:lnSpc>
                <a:spcPct val="120000"/>
              </a:lnSpc>
              <a:spcBef>
                <a:spcPct val="10000"/>
              </a:spcBef>
              <a:buNone/>
              <a:defRPr/>
            </a:pPr>
            <a:r>
              <a:rPr kumimoji="1" lang="en-US" altLang="zh-CN" sz="2400" dirty="0">
                <a:latin typeface="+mn-ea"/>
                <a:ea typeface="+mn-ea"/>
              </a:rPr>
              <a:t>4. </a:t>
            </a:r>
            <a:r>
              <a:rPr kumimoji="1" lang="zh-CN" altLang="en-US" sz="2400" dirty="0">
                <a:latin typeface="+mn-ea"/>
                <a:ea typeface="+mn-ea"/>
              </a:rPr>
              <a:t>举出</a:t>
            </a:r>
            <a:r>
              <a:rPr kumimoji="1" lang="en-US" altLang="zh-CN" sz="2400" dirty="0">
                <a:latin typeface="+mn-ea"/>
                <a:ea typeface="+mn-ea"/>
              </a:rPr>
              <a:t>OSI</a:t>
            </a:r>
            <a:r>
              <a:rPr kumimoji="1" lang="zh-CN" altLang="en-US" sz="2400" dirty="0">
                <a:latin typeface="+mn-ea"/>
                <a:ea typeface="+mn-ea"/>
              </a:rPr>
              <a:t>参考模型和</a:t>
            </a:r>
            <a:r>
              <a:rPr kumimoji="1" lang="en-US" altLang="zh-CN" sz="2400" dirty="0">
                <a:latin typeface="+mn-ea"/>
                <a:ea typeface="+mn-ea"/>
              </a:rPr>
              <a:t>TCP/IP</a:t>
            </a:r>
            <a:r>
              <a:rPr kumimoji="1" lang="zh-CN" altLang="en-US" sz="2400" dirty="0">
                <a:latin typeface="+mn-ea"/>
                <a:ea typeface="+mn-ea"/>
              </a:rPr>
              <a:t>协议族的两个相同的方面和两个不同的方面。</a:t>
            </a:r>
            <a:endParaRPr kumimoji="1" lang="en-US" altLang="zh-CN" sz="2400" dirty="0">
              <a:latin typeface="+mn-ea"/>
              <a:ea typeface="+mn-ea"/>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fld>
            <a:endParaRPr kumimoji="1" lang="zh-CN" altLang="en-US" dirty="0"/>
          </a:p>
        </p:txBody>
      </p:sp>
      <p:sp>
        <p:nvSpPr>
          <p:cNvPr id="6" name="TextBox 5"/>
          <p:cNvSpPr txBox="1"/>
          <p:nvPr/>
        </p:nvSpPr>
        <p:spPr>
          <a:xfrm>
            <a:off x="838199" y="1504830"/>
            <a:ext cx="10515599" cy="461665"/>
          </a:xfrm>
          <a:prstGeom prst="rect">
            <a:avLst/>
          </a:prstGeom>
          <a:noFill/>
        </p:spPr>
        <p:txBody>
          <a:bodyPr wrap="square">
            <a:spAutoFit/>
          </a:bodyPr>
          <a:lstStyle/>
          <a:p>
            <a:r>
              <a:rPr lang="en-US" altLang="zh-CN" sz="2400" dirty="0">
                <a:highlight>
                  <a:srgbClr val="FFFF00"/>
                </a:highlight>
              </a:rPr>
              <a:t>【</a:t>
            </a:r>
            <a:r>
              <a:rPr lang="zh-CN" altLang="en-US" sz="2400" dirty="0">
                <a:highlight>
                  <a:srgbClr val="FFFF00"/>
                </a:highlight>
              </a:rPr>
              <a:t>交</a:t>
            </a:r>
            <a:r>
              <a:rPr lang="en-US" altLang="zh-CN" sz="2400" dirty="0">
                <a:highlight>
                  <a:srgbClr val="FFFF00"/>
                </a:highlight>
              </a:rPr>
              <a:t>A4</a:t>
            </a:r>
            <a:r>
              <a:rPr lang="zh-CN" altLang="en-US" sz="2400" dirty="0">
                <a:highlight>
                  <a:srgbClr val="FFFF00"/>
                </a:highlight>
              </a:rPr>
              <a:t>纸，直接写题号</a:t>
            </a:r>
            <a:r>
              <a:rPr lang="en-US" altLang="zh-CN" sz="2400" dirty="0">
                <a:highlight>
                  <a:srgbClr val="FFFF00"/>
                </a:highlight>
              </a:rPr>
              <a:t>+</a:t>
            </a:r>
            <a:r>
              <a:rPr lang="zh-CN" altLang="en-US" sz="2400" dirty="0">
                <a:highlight>
                  <a:srgbClr val="FFFF00"/>
                </a:highlight>
              </a:rPr>
              <a:t>答案，多页订一起，写明：学号</a:t>
            </a:r>
            <a:r>
              <a:rPr lang="en-US" altLang="zh-CN" sz="2400" dirty="0">
                <a:highlight>
                  <a:srgbClr val="FFFF00"/>
                </a:highlight>
              </a:rPr>
              <a:t>+</a:t>
            </a:r>
            <a:r>
              <a:rPr lang="zh-CN" altLang="en-US" sz="2400" dirty="0">
                <a:highlight>
                  <a:srgbClr val="FFFF00"/>
                </a:highlight>
              </a:rPr>
              <a:t>姓名</a:t>
            </a:r>
            <a:r>
              <a:rPr lang="en-US" altLang="zh-CN" sz="2400" dirty="0">
                <a:highlight>
                  <a:srgbClr val="FFFF00"/>
                </a:highlight>
              </a:rPr>
              <a:t>】</a:t>
            </a:r>
            <a:endParaRPr lang="en-US" sz="2400" dirty="0">
              <a:highlight>
                <a:srgbClr val="FFFF00"/>
              </a:highlight>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25735</Words>
  <Application>WPS 演示</Application>
  <PresentationFormat>宽屏</PresentationFormat>
  <Paragraphs>3292</Paragraphs>
  <Slides>110</Slides>
  <Notes>86</Notes>
  <HiddenSlides>0</HiddenSlides>
  <MMClips>3</MMClips>
  <ScaleCrop>false</ScaleCrop>
  <HeadingPairs>
    <vt:vector size="8" baseType="variant">
      <vt:variant>
        <vt:lpstr>已用的字体</vt:lpstr>
      </vt:variant>
      <vt:variant>
        <vt:i4>33</vt:i4>
      </vt:variant>
      <vt:variant>
        <vt:lpstr>主题</vt:lpstr>
      </vt:variant>
      <vt:variant>
        <vt:i4>1</vt:i4>
      </vt:variant>
      <vt:variant>
        <vt:lpstr>嵌入 OLE 服务器</vt:lpstr>
      </vt:variant>
      <vt:variant>
        <vt:i4>6</vt:i4>
      </vt:variant>
      <vt:variant>
        <vt:lpstr>幻灯片标题</vt:lpstr>
      </vt:variant>
      <vt:variant>
        <vt:i4>110</vt:i4>
      </vt:variant>
    </vt:vector>
  </HeadingPairs>
  <TitlesOfParts>
    <vt:vector size="150" baseType="lpstr">
      <vt:lpstr>Arial</vt:lpstr>
      <vt:lpstr>宋体</vt:lpstr>
      <vt:lpstr>Wingdings</vt:lpstr>
      <vt:lpstr>微软雅黑</vt:lpstr>
      <vt:lpstr>Times New Roman</vt:lpstr>
      <vt:lpstr>Arial Black</vt:lpstr>
      <vt:lpstr>楷体_GB2312</vt:lpstr>
      <vt:lpstr>新宋体</vt:lpstr>
      <vt:lpstr>Verdana</vt:lpstr>
      <vt:lpstr>Wingdings 2</vt:lpstr>
      <vt:lpstr>Calibri</vt:lpstr>
      <vt:lpstr>Tahoma</vt:lpstr>
      <vt:lpstr>等线</vt:lpstr>
      <vt:lpstr>Arial Unicode MS</vt:lpstr>
      <vt:lpstr>黑体</vt:lpstr>
      <vt:lpstr>Gill Sans MT</vt:lpstr>
      <vt:lpstr>MS PGothic</vt:lpstr>
      <vt:lpstr>Comic Sans MS</vt:lpstr>
      <vt:lpstr>Wingdings</vt:lpstr>
      <vt:lpstr>Calibri</vt:lpstr>
      <vt:lpstr>Arial</vt:lpstr>
      <vt:lpstr>Gulim</vt:lpstr>
      <vt:lpstr>Malgun Gothic</vt:lpstr>
      <vt:lpstr>Symbol</vt:lpstr>
      <vt:lpstr>Monotype Sorts</vt:lpstr>
      <vt:lpstr>ZapfDingbats</vt:lpstr>
      <vt:lpstr>basis-grotesque-medium</vt:lpstr>
      <vt:lpstr>Segoe Print</vt:lpstr>
      <vt:lpstr>굴림</vt:lpstr>
      <vt:lpstr>等线 Light</vt:lpstr>
      <vt:lpstr>方正仿宋_GB2312</vt:lpstr>
      <vt:lpstr>Toots Regular</vt:lpstr>
      <vt:lpstr>Therese</vt:lpstr>
      <vt:lpstr>Office 主题​​</vt:lpstr>
      <vt:lpstr>MS_ClipArt_Gallery.2</vt:lpstr>
      <vt:lpstr>MS_ClipArt_Gallery.2</vt:lpstr>
      <vt:lpstr>MS_ClipArt_Gallery.2</vt:lpstr>
      <vt:lpstr>MS_ClipArt_Gallery.2</vt:lpstr>
      <vt:lpstr>MS_ClipArt_Gallery.2</vt:lpstr>
      <vt:lpstr>MS_ClipArt_Gallery.2</vt:lpstr>
      <vt:lpstr>计算机网络</vt:lpstr>
      <vt:lpstr>课程的任务、目的和基本要求</vt:lpstr>
      <vt:lpstr>PowerPoint 演示文稿</vt:lpstr>
      <vt:lpstr>PowerPoint 演示文稿</vt:lpstr>
      <vt:lpstr>主要教学内容</vt:lpstr>
      <vt:lpstr>第一章 引言</vt:lpstr>
      <vt:lpstr>本章目标</vt:lpstr>
      <vt:lpstr>本章内容</vt:lpstr>
      <vt:lpstr>网络的基本功能</vt:lpstr>
      <vt:lpstr>多种多样的网络服务</vt:lpstr>
      <vt:lpstr>网络改变生活</vt:lpstr>
      <vt:lpstr>网络在军事领域的应用</vt:lpstr>
      <vt:lpstr>互联网成为网络空间的核心</vt:lpstr>
      <vt:lpstr>全球市值前十名公司的变迁</vt:lpstr>
      <vt:lpstr>我国的新基建</vt:lpstr>
      <vt:lpstr>本章内容</vt:lpstr>
      <vt:lpstr>网络分类（按地域规模）</vt:lpstr>
      <vt:lpstr>网络的网络</vt:lpstr>
      <vt:lpstr>互联网的层级结构</vt:lpstr>
      <vt:lpstr>互联网的构成</vt:lpstr>
      <vt:lpstr>网络边缘</vt:lpstr>
      <vt:lpstr>网络边缘设备</vt:lpstr>
      <vt:lpstr>接入网概述</vt:lpstr>
      <vt:lpstr>接入网：光纤到户FTTH</vt:lpstr>
      <vt:lpstr>接入网：数字用户线DSL</vt:lpstr>
      <vt:lpstr>接入网：同轴电缆</vt:lpstr>
      <vt:lpstr>接入网：无线接入</vt:lpstr>
      <vt:lpstr>接入网：企业和家庭网络</vt:lpstr>
      <vt:lpstr>物理介质</vt:lpstr>
      <vt:lpstr>物理介质：光纤</vt:lpstr>
      <vt:lpstr>物理介质：双绞线和同轴电缆</vt:lpstr>
      <vt:lpstr>物理介质：非引导型介质</vt:lpstr>
      <vt:lpstr>网络核心</vt:lpstr>
      <vt:lpstr>网络核心的两大功能</vt:lpstr>
      <vt:lpstr>路由器转发模型</vt:lpstr>
      <vt:lpstr>电路交换</vt:lpstr>
      <vt:lpstr>电路交换</vt:lpstr>
      <vt:lpstr>存储转发的报文交换</vt:lpstr>
      <vt:lpstr>分组交换</vt:lpstr>
      <vt:lpstr>分组交换</vt:lpstr>
      <vt:lpstr>典型交换方式的比较</vt:lpstr>
      <vt:lpstr>PowerPoint 演示文稿</vt:lpstr>
      <vt:lpstr>PowerPoint 演示文稿</vt:lpstr>
      <vt:lpstr>PowerPoint 演示文稿</vt:lpstr>
      <vt:lpstr>本章内容</vt:lpstr>
      <vt:lpstr>协议设计目的</vt:lpstr>
      <vt:lpstr>协议设计目的</vt:lpstr>
      <vt:lpstr>协议分层结构的必要性</vt:lpstr>
      <vt:lpstr>分层结构示例</vt:lpstr>
      <vt:lpstr>分层结构示例</vt:lpstr>
      <vt:lpstr>协议分层结构</vt:lpstr>
      <vt:lpstr>协议分层结构</vt:lpstr>
      <vt:lpstr>服务原语</vt:lpstr>
      <vt:lpstr>服务原语</vt:lpstr>
      <vt:lpstr>服务原语</vt:lpstr>
      <vt:lpstr>服务与协议的关系</vt:lpstr>
      <vt:lpstr>目  录</vt:lpstr>
      <vt:lpstr>OSI参考模型</vt:lpstr>
      <vt:lpstr>OSI参考模型</vt:lpstr>
      <vt:lpstr>OSI参考模型</vt:lpstr>
      <vt:lpstr>OSI参考模型</vt:lpstr>
      <vt:lpstr>OSI参考模型</vt:lpstr>
      <vt:lpstr>TCP/IP参考模型</vt:lpstr>
      <vt:lpstr>TCP/IP参考模型</vt:lpstr>
      <vt:lpstr>OSI模型与TCP/IP模型比较</vt:lpstr>
      <vt:lpstr>OSI模型与TCP/IP模型比较</vt:lpstr>
      <vt:lpstr>本教程内容的分层组织</vt:lpstr>
      <vt:lpstr>分层模型与网络实例</vt:lpstr>
      <vt:lpstr>本章内容</vt:lpstr>
      <vt:lpstr>计算机网络度量单位</vt:lpstr>
      <vt:lpstr>计算机网络度量单位</vt:lpstr>
      <vt:lpstr>计算机网络度量单位</vt:lpstr>
      <vt:lpstr>计算机网络度量单位</vt:lpstr>
      <vt:lpstr>计算机网络度量单位</vt:lpstr>
      <vt:lpstr>计算机网络度量单位</vt:lpstr>
      <vt:lpstr>计算机网络度量单位</vt:lpstr>
      <vt:lpstr>本章内容</vt:lpstr>
      <vt:lpstr>网络安全与威胁</vt:lpstr>
      <vt:lpstr>你见过点三支香的熊猫么？</vt:lpstr>
      <vt:lpstr>恶意软件</vt:lpstr>
      <vt:lpstr>网络安全与威胁</vt:lpstr>
      <vt:lpstr>拒绝服务攻击(Denial-of-Service (DoS) attack)</vt:lpstr>
      <vt:lpstr>亚马逊又双叒叕宕机了！</vt:lpstr>
      <vt:lpstr>你的密码是怎么泄露的？</vt:lpstr>
      <vt:lpstr>数据可靠性</vt:lpstr>
      <vt:lpstr>“棱镜门”：美国政府窥探着全世界</vt:lpstr>
      <vt:lpstr>如何防御</vt:lpstr>
      <vt:lpstr>我们国家网络安全的法规</vt:lpstr>
      <vt:lpstr>本章内容</vt:lpstr>
      <vt:lpstr>国际标准组织</vt:lpstr>
      <vt:lpstr>国际标准组织</vt:lpstr>
      <vt:lpstr>Internet标准化组织</vt:lpstr>
      <vt:lpstr>Internet标准化组织</vt:lpstr>
      <vt:lpstr>Internet标准化组织</vt:lpstr>
      <vt:lpstr>Internet标准化组织</vt:lpstr>
      <vt:lpstr>中国的相关标准组织与联盟</vt:lpstr>
      <vt:lpstr>开源社区</vt:lpstr>
      <vt:lpstr>本章内容</vt:lpstr>
      <vt:lpstr>互联网早期发展与启示</vt:lpstr>
      <vt:lpstr>互联网早期发展与启示</vt:lpstr>
      <vt:lpstr>互联网早期发展与启示</vt:lpstr>
      <vt:lpstr>互联网的新发展与启示</vt:lpstr>
      <vt:lpstr>互联网的新发展与启示</vt:lpstr>
      <vt:lpstr>我国的互联网发展情况</vt:lpstr>
      <vt:lpstr>我国的互联网发展情况</vt:lpstr>
      <vt:lpstr>中国教育和科研计算机网CERNET</vt:lpstr>
      <vt:lpstr>CERNET网络结构</vt:lpstr>
      <vt:lpstr>网络设备商华为</vt:lpstr>
      <vt:lpstr>本章总结</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WPS_1702205245</cp:lastModifiedBy>
  <cp:revision>1340</cp:revision>
  <dcterms:created xsi:type="dcterms:W3CDTF">2021-01-06T05:35:00Z</dcterms:created>
  <dcterms:modified xsi:type="dcterms:W3CDTF">2025-09-08T02:40:59Z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05932880DD83489B9BEB76CB4E7A50DC_12</vt:lpwstr>
  </property>
  <property fmtid="{D5CDD505-2E9C-101B-9397-08002B2CF9AE}" pid="3" name="KSOProductBuildVer">
    <vt:lpwstr>2052-12.1.0.22529</vt:lpwstr>
  </property>
</Properties>
</file>