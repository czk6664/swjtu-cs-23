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
  </p:notesMasterIdLst>
  <p:sldIdLst>
    <p:sldId id="256" r:id="rId3"/>
    <p:sldId id="991" r:id="rId4"/>
    <p:sldId id="1270" r:id="rId5"/>
    <p:sldId id="260" r:id="rId7"/>
    <p:sldId id="334" r:id="rId8"/>
    <p:sldId id="333" r:id="rId9"/>
    <p:sldId id="1004" r:id="rId10"/>
    <p:sldId id="1078" r:id="rId11"/>
    <p:sldId id="1097" r:id="rId12"/>
    <p:sldId id="1017" r:id="rId13"/>
    <p:sldId id="1018" r:id="rId14"/>
    <p:sldId id="1100" r:id="rId15"/>
    <p:sldId id="1101" r:id="rId16"/>
    <p:sldId id="1102" r:id="rId17"/>
    <p:sldId id="1272" r:id="rId18"/>
    <p:sldId id="264" r:id="rId19"/>
    <p:sldId id="323" r:id="rId20"/>
    <p:sldId id="1108" r:id="rId21"/>
    <p:sldId id="1109" r:id="rId22"/>
    <p:sldId id="1110" r:id="rId23"/>
    <p:sldId id="1111" r:id="rId24"/>
    <p:sldId id="1028" r:id="rId25"/>
    <p:sldId id="1029" r:id="rId26"/>
    <p:sldId id="1217" r:id="rId27"/>
    <p:sldId id="1274" r:id="rId28"/>
    <p:sldId id="1273" r:id="rId29"/>
    <p:sldId id="1218" r:id="rId30"/>
    <p:sldId id="1219" r:id="rId31"/>
    <p:sldId id="1221" r:id="rId32"/>
    <p:sldId id="1220" r:id="rId33"/>
    <p:sldId id="1222" r:id="rId34"/>
    <p:sldId id="1275" r:id="rId35"/>
    <p:sldId id="1276" r:id="rId36"/>
    <p:sldId id="1277" r:id="rId37"/>
    <p:sldId id="1278" r:id="rId38"/>
    <p:sldId id="1223" r:id="rId39"/>
    <p:sldId id="1279" r:id="rId40"/>
    <p:sldId id="1244" r:id="rId41"/>
    <p:sldId id="1225" r:id="rId42"/>
    <p:sldId id="1240" r:id="rId43"/>
    <p:sldId id="1295" r:id="rId44"/>
    <p:sldId id="1241" r:id="rId45"/>
    <p:sldId id="1242" r:id="rId46"/>
    <p:sldId id="1243" r:id="rId47"/>
    <p:sldId id="1296" r:id="rId48"/>
    <p:sldId id="1280" r:id="rId49"/>
    <p:sldId id="1281" r:id="rId50"/>
    <p:sldId id="350" r:id="rId51"/>
    <p:sldId id="351" r:id="rId52"/>
    <p:sldId id="352" r:id="rId53"/>
    <p:sldId id="353" r:id="rId54"/>
    <p:sldId id="1224" r:id="rId55"/>
    <p:sldId id="1283" r:id="rId56"/>
    <p:sldId id="340" r:id="rId57"/>
    <p:sldId id="339" r:id="rId58"/>
    <p:sldId id="1226" r:id="rId59"/>
    <p:sldId id="271" r:id="rId60"/>
    <p:sldId id="272" r:id="rId61"/>
    <p:sldId id="342" r:id="rId62"/>
    <p:sldId id="1228" r:id="rId63"/>
    <p:sldId id="273" r:id="rId64"/>
    <p:sldId id="274" r:id="rId65"/>
    <p:sldId id="1284" r:id="rId66"/>
    <p:sldId id="275" r:id="rId67"/>
    <p:sldId id="276" r:id="rId68"/>
    <p:sldId id="277" r:id="rId69"/>
    <p:sldId id="1232" r:id="rId70"/>
    <p:sldId id="1006" r:id="rId71"/>
    <p:sldId id="1081" r:id="rId72"/>
    <p:sldId id="372" r:id="rId73"/>
    <p:sldId id="373" r:id="rId74"/>
    <p:sldId id="282" r:id="rId75"/>
    <p:sldId id="283" r:id="rId76"/>
    <p:sldId id="1285" r:id="rId77"/>
    <p:sldId id="1286" r:id="rId78"/>
    <p:sldId id="1287" r:id="rId79"/>
    <p:sldId id="365" r:id="rId80"/>
    <p:sldId id="1288" r:id="rId81"/>
    <p:sldId id="288" r:id="rId82"/>
    <p:sldId id="289" r:id="rId83"/>
    <p:sldId id="321" r:id="rId84"/>
    <p:sldId id="367" r:id="rId85"/>
    <p:sldId id="368" r:id="rId86"/>
    <p:sldId id="369" r:id="rId87"/>
    <p:sldId id="370" r:id="rId88"/>
    <p:sldId id="1298" r:id="rId89"/>
    <p:sldId id="291" r:id="rId90"/>
    <p:sldId id="371" r:id="rId91"/>
    <p:sldId id="374" r:id="rId92"/>
    <p:sldId id="1289" r:id="rId93"/>
    <p:sldId id="293" r:id="rId94"/>
    <p:sldId id="294" r:id="rId95"/>
    <p:sldId id="364" r:id="rId96"/>
    <p:sldId id="375" r:id="rId97"/>
    <p:sldId id="376" r:id="rId98"/>
    <p:sldId id="428" r:id="rId99"/>
    <p:sldId id="429" r:id="rId100"/>
    <p:sldId id="1290" r:id="rId101"/>
    <p:sldId id="394" r:id="rId102"/>
    <p:sldId id="395" r:id="rId103"/>
    <p:sldId id="399" r:id="rId104"/>
    <p:sldId id="400" r:id="rId105"/>
    <p:sldId id="408" r:id="rId106"/>
    <p:sldId id="1291" r:id="rId107"/>
    <p:sldId id="322" r:id="rId108"/>
    <p:sldId id="409" r:id="rId109"/>
    <p:sldId id="410" r:id="rId110"/>
    <p:sldId id="411" r:id="rId111"/>
    <p:sldId id="412" r:id="rId112"/>
    <p:sldId id="413" r:id="rId113"/>
    <p:sldId id="414" r:id="rId114"/>
    <p:sldId id="415" r:id="rId115"/>
    <p:sldId id="416" r:id="rId116"/>
    <p:sldId id="417" r:id="rId117"/>
    <p:sldId id="419" r:id="rId1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A2D3"/>
    <a:srgbClr val="6600FF"/>
    <a:srgbClr val="6666FF"/>
    <a:srgbClr val="6900B0"/>
    <a:srgbClr val="5B307E"/>
    <a:srgbClr val="FDCB0B"/>
    <a:srgbClr val="FFD700"/>
    <a:srgbClr val="F9BC12"/>
    <a:srgbClr val="FFD801"/>
    <a:srgbClr val="EFB9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73" autoAdjust="0"/>
    <p:restoredTop sz="73984" autoAdjust="0"/>
  </p:normalViewPr>
  <p:slideViewPr>
    <p:cSldViewPr snapToGrid="0" snapToObjects="1">
      <p:cViewPr varScale="1">
        <p:scale>
          <a:sx n="75" d="100"/>
          <a:sy n="75" d="100"/>
        </p:scale>
        <p:origin x="1848" y="176"/>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9.xml"/><Relationship Id="rId119" Type="http://schemas.openxmlformats.org/officeDocument/2006/relationships/presProps" Target="presProps.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楷体_GB2312" pitchFamily="49" charset="-122"/>
              </a:defRPr>
            </a:lvl1pPr>
            <a:lvl2pPr marL="803275" indent="-307975">
              <a:defRPr sz="2000">
                <a:solidFill>
                  <a:schemeClr val="tx1"/>
                </a:solidFill>
                <a:latin typeface="Arial" panose="020B0604020202020204" pitchFamily="34" charset="0"/>
                <a:ea typeface="楷体_GB2312" pitchFamily="49" charset="-122"/>
              </a:defRPr>
            </a:lvl2pPr>
            <a:lvl3pPr marL="1236980" indent="-246380">
              <a:defRPr sz="2000">
                <a:solidFill>
                  <a:schemeClr val="tx1"/>
                </a:solidFill>
                <a:latin typeface="Arial" panose="020B0604020202020204" pitchFamily="34" charset="0"/>
                <a:ea typeface="楷体_GB2312" pitchFamily="49" charset="-122"/>
              </a:defRPr>
            </a:lvl3pPr>
            <a:lvl4pPr marL="1732280" indent="-246380">
              <a:defRPr sz="2000">
                <a:solidFill>
                  <a:schemeClr val="tx1"/>
                </a:solidFill>
                <a:latin typeface="Arial" panose="020B0604020202020204" pitchFamily="34" charset="0"/>
                <a:ea typeface="楷体_GB2312" pitchFamily="49" charset="-122"/>
              </a:defRPr>
            </a:lvl4pPr>
            <a:lvl5pPr marL="2227580" indent="-246380">
              <a:defRPr sz="2000">
                <a:solidFill>
                  <a:schemeClr val="tx1"/>
                </a:solidFill>
                <a:latin typeface="Arial" panose="020B0604020202020204" pitchFamily="34" charset="0"/>
                <a:ea typeface="楷体_GB2312" pitchFamily="49" charset="-122"/>
              </a:defRPr>
            </a:lvl5pPr>
            <a:lvl6pPr marL="2684780" indent="-246380"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6pPr>
            <a:lvl7pPr marL="3141980" indent="-246380"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7pPr>
            <a:lvl8pPr marL="3599180" indent="-246380"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8pPr>
            <a:lvl9pPr marL="4056380" indent="-246380"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9pPr>
          </a:lstStyle>
          <a:p>
            <a:fld id="{74799CDD-4FDB-44E9-82C1-8D101EADDEDF}" type="slidenum">
              <a:rPr lang="en-US" altLang="zh-CN" sz="1300" smtClean="0">
                <a:ea typeface="宋体" panose="02010600030101010101" pitchFamily="2" charset="-122"/>
              </a:rPr>
            </a:fld>
            <a:endParaRPr lang="en-US" altLang="zh-CN" sz="1300">
              <a:ea typeface="宋体" panose="02010600030101010101" pitchFamily="2" charset="-122"/>
            </a:endParaRPr>
          </a:p>
        </p:txBody>
      </p:sp>
      <p:sp>
        <p:nvSpPr>
          <p:cNvPr id="10243" name="Rectangle 2"/>
          <p:cNvSpPr>
            <a:spLocks noGrp="1" noRot="1" noChangeAspect="1" noChangeArrowheads="1" noTextEdit="1"/>
          </p:cNvSpPr>
          <p:nvPr>
            <p:ph type="sldImg"/>
          </p:nvPr>
        </p:nvSpPr>
        <p:spPr>
          <a:xfrm>
            <a:off x="141288" y="768350"/>
            <a:ext cx="6819900" cy="3836988"/>
          </a:xfrm>
          <a:solidFill>
            <a:srgbClr val="FFFFFF"/>
          </a:solidFill>
        </p:spPr>
      </p:sp>
      <p:sp>
        <p:nvSpPr>
          <p:cNvPr id="10244" name="Rectangle 3"/>
          <p:cNvSpPr>
            <a:spLocks noGrp="1" noChangeArrowheads="1"/>
          </p:cNvSpPr>
          <p:nvPr>
            <p:ph type="body" idx="1"/>
          </p:nvPr>
        </p:nvSpPr>
        <p:spPr>
          <a:xfrm>
            <a:off x="946573" y="4860171"/>
            <a:ext cx="5209329" cy="4604623"/>
          </a:xfrm>
          <a:solidFill>
            <a:srgbClr val="FFFFFF"/>
          </a:solidFill>
          <a:ln>
            <a:solidFill>
              <a:srgbClr val="000000"/>
            </a:solidFill>
            <a:miter lim="800000"/>
          </a:ln>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、数据链路层位于物理层之上</a:t>
            </a:r>
            <a:endParaRPr lang="en-US" altLang="zh-CN" dirty="0"/>
          </a:p>
          <a:p>
            <a:r>
              <a:rPr lang="en-US" altLang="zh-CN" dirty="0"/>
              <a:t>2</a:t>
            </a:r>
            <a:r>
              <a:rPr lang="zh-CN" altLang="en-US" dirty="0"/>
              <a:t>、对于局域网，数据链路层被划分成介质访问控制层和逻辑链路控制层</a:t>
            </a:r>
            <a:endParaRPr lang="en-US" altLang="zh-CN" dirty="0"/>
          </a:p>
          <a:p>
            <a:r>
              <a:rPr lang="en-US" altLang="zh-CN" dirty="0"/>
              <a:t>3</a:t>
            </a:r>
            <a:r>
              <a:rPr lang="zh-CN" altLang="en-US" dirty="0"/>
              <a:t>、本章主要以点到点链路为基础（相邻的两个节点之间），介绍数据链路层的基本功能和提供的服务类型，对于局域网的介质访问控制方法及相关局域网技术将在下一章进行介绍</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数据链路层主要通过成帧（</a:t>
            </a:r>
            <a:r>
              <a:rPr lang="en-US" altLang="zh-CN" sz="1200" dirty="0"/>
              <a:t>framing</a:t>
            </a:r>
            <a:r>
              <a:rPr lang="zh-CN" altLang="en-US" sz="1200" dirty="0"/>
              <a:t>），提供差错控制 和 流量控制 能力，并对网络层提供服务。</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数据链路层数据单元称为帧（</a:t>
            </a:r>
            <a:r>
              <a:rPr lang="en-US" altLang="zh-CN" dirty="0"/>
              <a:t>Frame</a:t>
            </a:r>
            <a:r>
              <a:rPr lang="zh-CN" altLang="en-US" dirty="0"/>
              <a:t>），通常由头标（</a:t>
            </a:r>
            <a:r>
              <a:rPr lang="en-US" altLang="zh-CN" dirty="0"/>
              <a:t>Header</a:t>
            </a:r>
            <a:r>
              <a:rPr lang="zh-CN" altLang="en-US" dirty="0"/>
              <a:t>）、尾标（</a:t>
            </a:r>
            <a:r>
              <a:rPr lang="en-US" altLang="zh-CN" dirty="0"/>
              <a:t>Trailer</a:t>
            </a:r>
            <a:r>
              <a:rPr lang="zh-CN" altLang="en-US" dirty="0"/>
              <a:t>）、有效载荷构成，有效载荷部分封装上层（网络层）数据单元（分组，</a:t>
            </a:r>
            <a:r>
              <a:rPr lang="en-US" altLang="zh-CN" dirty="0"/>
              <a:t>packet</a:t>
            </a:r>
            <a:r>
              <a:rPr lang="zh-CN" altLang="en-US" dirty="0"/>
              <a:t>），帧之间有帧分隔符（帧定界符）</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、成帧中的一个关键问题：如何定界一个帧的开始？</a:t>
            </a:r>
            <a:endParaRPr lang="en-US" altLang="zh-CN" dirty="0"/>
          </a:p>
          <a:p>
            <a:r>
              <a:rPr lang="en-US" altLang="zh-CN" dirty="0"/>
              <a:t>2</a:t>
            </a:r>
            <a:r>
              <a:rPr lang="zh-CN" altLang="en-US" dirty="0"/>
              <a:t>、基于不同的定界方法，成帧方式可以包含所列四种类型，并在后面对四种类型进行介绍</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、如果出现的差错，正好是一帧的计数，就会破坏帧的边界，导致一连串帧的错误，接收方会失去同步。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、字节计数法很少使用</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用一个特殊位组合标识帧的开始和结束。</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、比特填充：对有效载荷部分中出现定界符的处理，即避免连续六个</a:t>
            </a:r>
            <a:r>
              <a:rPr lang="en-US" altLang="zh-CN" dirty="0"/>
              <a:t>1</a:t>
            </a:r>
            <a:r>
              <a:rPr lang="zh-CN" altLang="en-US" dirty="0"/>
              <a:t>出现，在连续</a:t>
            </a:r>
            <a:r>
              <a:rPr lang="en-US" altLang="zh-CN" dirty="0"/>
              <a:t>5</a:t>
            </a:r>
            <a:r>
              <a:rPr lang="zh-CN" altLang="en-US" dirty="0"/>
              <a:t>个</a:t>
            </a:r>
            <a:r>
              <a:rPr lang="en-US" altLang="zh-CN" dirty="0"/>
              <a:t>1</a:t>
            </a:r>
            <a:r>
              <a:rPr lang="zh-CN" altLang="en-US" dirty="0"/>
              <a:t>比特之后插入</a:t>
            </a:r>
            <a:r>
              <a:rPr lang="en-US" altLang="zh-CN" dirty="0"/>
              <a:t>1</a:t>
            </a:r>
            <a:r>
              <a:rPr lang="zh-CN" altLang="en-US" dirty="0"/>
              <a:t>个</a:t>
            </a:r>
            <a:r>
              <a:rPr lang="en-US" altLang="zh-CN" dirty="0"/>
              <a:t>0</a:t>
            </a:r>
            <a:r>
              <a:rPr lang="zh-CN" altLang="en-US" dirty="0"/>
              <a:t>比特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、发送方：仅对</a:t>
            </a:r>
            <a:r>
              <a:rPr lang="zh-CN" altLang="en-US" baseline="0" dirty="0"/>
              <a:t> 有效载荷 部分，进行填充。</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、接收方：对所有接收到的数据进行检查。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、比特填充和字节填充均会带来帧的长度与携带的内容相关，即取决于填充字节或比特的数量</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核心思想：使用特殊的定界符，保证在正常的编码中不太容易产生或不会产生相应的信号</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乱序在点到点链路中一般不会出现。</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20204" pitchFamily="34" charset="0"/>
              <a:buChar char="•"/>
            </a:pPr>
            <a:r>
              <a:rPr lang="zh-CN" altLang="en-US" dirty="0"/>
              <a:t>发送发：每个比特传三份</a:t>
            </a:r>
            <a:endParaRPr lang="en-US" altLang="zh-CN" dirty="0"/>
          </a:p>
          <a:p>
            <a:pPr marL="171450" indent="-171450">
              <a:buFont typeface="Arial" panose="020B0604020202020204" pitchFamily="34" charset="0"/>
              <a:buChar char="•"/>
            </a:pPr>
            <a:r>
              <a:rPr lang="zh-CN" altLang="en-US" dirty="0"/>
              <a:t>接收方：</a:t>
            </a:r>
            <a:endParaRPr lang="en-US" altLang="zh-CN" dirty="0"/>
          </a:p>
          <a:p>
            <a:pPr marL="171450" indent="-171450">
              <a:buFont typeface="微软雅黑" panose="020B0503020204020204" pitchFamily="34" charset="-122"/>
              <a:buChar char="−"/>
            </a:pPr>
            <a:r>
              <a:rPr lang="zh-CN" altLang="en-US" dirty="0"/>
              <a:t>比较每个比特的三份，如果不一致，能识别出传输错误；</a:t>
            </a:r>
            <a:endParaRPr lang="en-US" altLang="zh-CN" dirty="0"/>
          </a:p>
          <a:p>
            <a:pPr marL="171450" indent="-171450">
              <a:buFont typeface="微软雅黑" panose="020B0503020204020204" pitchFamily="34" charset="-122"/>
              <a:buChar char="−"/>
            </a:pPr>
            <a:r>
              <a:rPr lang="zh-CN" altLang="en-US" dirty="0"/>
              <a:t>如果三比特中只有一位错，则可以以其中相同的两位为准，对不同的位进行纠正。</a:t>
            </a:r>
            <a:endParaRPr lang="en-US" altLang="zh-CN" dirty="0"/>
          </a:p>
          <a:p>
            <a:pPr marL="171450" indent="-171450">
              <a:buFont typeface="Arial" panose="020B0604020202020204" pitchFamily="34" charset="0"/>
              <a:buChar char="•"/>
            </a:pPr>
            <a:r>
              <a:rPr lang="zh-CN" altLang="en-US" dirty="0"/>
              <a:t>携带</a:t>
            </a:r>
            <a:r>
              <a:rPr lang="en-US" altLang="zh-CN" dirty="0"/>
              <a:t>2/3</a:t>
            </a:r>
            <a:r>
              <a:rPr lang="zh-CN" altLang="en-US" dirty="0"/>
              <a:t>的冗余信息，冗余信息量大，如蓝牙中的</a:t>
            </a:r>
            <a:r>
              <a:rPr lang="en-US" altLang="zh-CN" dirty="0"/>
              <a:t>1/3FEC</a:t>
            </a:r>
            <a:r>
              <a:rPr lang="zh-CN" altLang="en-US" dirty="0"/>
              <a:t>采用了类似的方法</a:t>
            </a:r>
            <a:endParaRPr lang="en-US" altLang="zh-CN" dirty="0"/>
          </a:p>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选择错略具体策略取决于信道特征：例如，误码率较高的无线链路和误码率较低的光纤链路，需要不同的策略。</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根据信道的不同会选择不同的码率：在有噪声信道上可能为</a:t>
            </a:r>
            <a:r>
              <a:rPr lang="en-US" altLang="zh-CN" dirty="0"/>
              <a:t>1/2</a:t>
            </a:r>
            <a:r>
              <a:rPr lang="zh-CN" altLang="en-US" dirty="0"/>
              <a:t>，在高质量信道上可能接近</a:t>
            </a:r>
            <a:r>
              <a:rPr lang="en-US" altLang="zh-CN" dirty="0"/>
              <a:t>1</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E1D19-F9E4-41D8-88AB-F75072E4C5D4}" type="slidenum">
              <a:rPr lang="en-US" altLang="zh-CN"/>
            </a:fld>
            <a:endParaRPr lang="en-US" altLang="zh-CN"/>
          </a:p>
        </p:txBody>
      </p:sp>
      <p:sp>
        <p:nvSpPr>
          <p:cNvPr id="53250" name="Rectangle 2"/>
          <p:cNvSpPr>
            <a:spLocks noGrp="1" noRot="1" noChangeAspect="1" noChangeArrowheads="1" noTextEdit="1"/>
          </p:cNvSpPr>
          <p:nvPr>
            <p:ph type="sldImg"/>
          </p:nvPr>
        </p:nvSpPr>
        <p:spPr/>
      </p:sp>
      <p:sp>
        <p:nvSpPr>
          <p:cNvPr id="53251"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、海明码利用奇偶校验，是奇偶校验的扩展，首先向学生介绍基本的奇偶校验方法</a:t>
            </a:r>
            <a:endParaRPr lang="en-US" altLang="zh-CN" dirty="0"/>
          </a:p>
          <a:p>
            <a:r>
              <a:rPr lang="en-US" altLang="zh-CN" dirty="0"/>
              <a:t>2</a:t>
            </a:r>
            <a:r>
              <a:rPr lang="zh-CN" altLang="en-US" dirty="0"/>
              <a:t>、</a:t>
            </a:r>
            <a:r>
              <a:rPr lang="en-US" altLang="zh-CN" dirty="0"/>
              <a:t>1</a:t>
            </a:r>
            <a:r>
              <a:rPr lang="zh-CN" altLang="en-US" dirty="0"/>
              <a:t>位奇偶校验，只能检错，不能纠错，校验能力很弱，但可以作为更为复杂方案的重要基础</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Verdana" panose="020B0604030504040204" pitchFamily="34" charset="0"/>
              </a:rPr>
              <a:t>当发送</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包时，需要计算</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报头的校验和：</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1</a:t>
            </a:r>
            <a:r>
              <a:rPr lang="zh-CN" altLang="en-US" b="0" i="0" dirty="0">
                <a:solidFill>
                  <a:srgbClr val="000000"/>
                </a:solidFill>
                <a:effectLst/>
                <a:latin typeface="Verdana" panose="020B0604030504040204" pitchFamily="34" charset="0"/>
              </a:rPr>
              <a:t>、  把校验和字段置为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  对</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头部中的每</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进行二进制求和；</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  如果和的高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不为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，则将和的高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和低</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反复相加，直到和的高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，从而获得一个</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4</a:t>
            </a:r>
            <a:r>
              <a:rPr lang="zh-CN" altLang="en-US" b="0" i="0" dirty="0">
                <a:solidFill>
                  <a:srgbClr val="000000"/>
                </a:solidFill>
                <a:effectLst/>
                <a:latin typeface="Verdana" panose="020B0604030504040204" pitchFamily="34" charset="0"/>
              </a:rPr>
              <a:t>、  将该</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的值取反，存入校验和字段。</a:t>
            </a:r>
            <a:endParaRPr lang="zh-CN" altLang="en-US" b="0" i="0" dirty="0">
              <a:solidFill>
                <a:srgbClr val="000000"/>
              </a:solidFill>
              <a:effectLst/>
              <a:latin typeface="Verdana" panose="020B0604030504040204" pitchFamily="34" charset="0"/>
            </a:endParaRPr>
          </a:p>
          <a:p>
            <a:pPr algn="l"/>
            <a:r>
              <a:rPr lang="zh-CN" altLang="en-US" b="0" i="0" dirty="0">
                <a:solidFill>
                  <a:srgbClr val="000000"/>
                </a:solidFill>
                <a:effectLst/>
                <a:latin typeface="Verdana" panose="020B0604030504040204" pitchFamily="34" charset="0"/>
              </a:rPr>
              <a:t>◆当接收</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包时，需要对报头进行确认，检查</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头是否有误，算法同上</a:t>
            </a:r>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步，然后判断取反 的结果是否为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，是则正确，否则有错。</a:t>
            </a:r>
            <a:endParaRPr lang="zh-CN" altLang="en-US" b="0" i="0" dirty="0">
              <a:solidFill>
                <a:srgbClr val="000000"/>
              </a:solidFill>
              <a:effectLst/>
              <a:latin typeface="Verdana" panose="020B0604030504040204" pitchFamily="34" charset="0"/>
            </a:endParaRPr>
          </a:p>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Verdana" panose="020B0604030504040204" pitchFamily="34" charset="0"/>
              </a:rPr>
              <a:t>当发送</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包时，需要计算</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报头的校验和：</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1</a:t>
            </a:r>
            <a:r>
              <a:rPr lang="zh-CN" altLang="en-US" b="0" i="0" dirty="0">
                <a:solidFill>
                  <a:srgbClr val="000000"/>
                </a:solidFill>
                <a:effectLst/>
                <a:latin typeface="Verdana" panose="020B0604030504040204" pitchFamily="34" charset="0"/>
              </a:rPr>
              <a:t>、  把校验和字段置为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  对</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头部中的每</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进行二进制求和；</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  如果和的高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不为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，则将和的高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和低</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反复相加，直到和的高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，从而获得一个</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a:t>
            </a:r>
            <a:endParaRPr lang="zh-CN" altLang="en-US" b="0" i="0" dirty="0">
              <a:solidFill>
                <a:srgbClr val="000000"/>
              </a:solidFill>
              <a:effectLst/>
              <a:latin typeface="Verdana" panose="020B0604030504040204" pitchFamily="34" charset="0"/>
            </a:endParaRPr>
          </a:p>
          <a:p>
            <a:pPr algn="l"/>
            <a:r>
              <a:rPr lang="en-US" altLang="zh-CN" b="0" i="0" dirty="0">
                <a:solidFill>
                  <a:srgbClr val="000000"/>
                </a:solidFill>
                <a:effectLst/>
                <a:latin typeface="Verdana" panose="020B0604030504040204" pitchFamily="34" charset="0"/>
              </a:rPr>
              <a:t>4</a:t>
            </a:r>
            <a:r>
              <a:rPr lang="zh-CN" altLang="en-US" b="0" i="0" dirty="0">
                <a:solidFill>
                  <a:srgbClr val="000000"/>
                </a:solidFill>
                <a:effectLst/>
                <a:latin typeface="Verdana" panose="020B0604030504040204" pitchFamily="34" charset="0"/>
              </a:rPr>
              <a:t>、  将该</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的值取反，存入校验和字段。</a:t>
            </a:r>
            <a:endParaRPr lang="zh-CN" altLang="en-US" b="0" i="0" dirty="0">
              <a:solidFill>
                <a:srgbClr val="000000"/>
              </a:solidFill>
              <a:effectLst/>
              <a:latin typeface="Verdana" panose="020B0604030504040204" pitchFamily="34" charset="0"/>
            </a:endParaRPr>
          </a:p>
          <a:p>
            <a:pPr algn="l"/>
            <a:r>
              <a:rPr lang="zh-CN" altLang="en-US" b="0" i="0" dirty="0">
                <a:solidFill>
                  <a:srgbClr val="000000"/>
                </a:solidFill>
                <a:effectLst/>
                <a:latin typeface="Verdana" panose="020B0604030504040204" pitchFamily="34" charset="0"/>
              </a:rPr>
              <a:t>◆当接收</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包时，需要对报头进行确认，检查</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头是否有误，算法同上</a:t>
            </a:r>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步，然后判断取反 的结果是否为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，是则正确，否则有错。</a:t>
            </a:r>
            <a:endParaRPr lang="zh-CN" altLang="en-US" b="0" i="0" dirty="0">
              <a:solidFill>
                <a:srgbClr val="000000"/>
              </a:solidFill>
              <a:effectLst/>
              <a:latin typeface="Verdana" panose="020B0604030504040204" pitchFamily="34" charset="0"/>
            </a:endParaRPr>
          </a:p>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要点：可以引导学生思考接收端的计算方法：直接做除法运算，余数为</a:t>
            </a:r>
            <a:r>
              <a:rPr kumimoji="1" lang="en-US" altLang="zh-CN" dirty="0"/>
              <a:t>0</a:t>
            </a:r>
            <a:r>
              <a:rPr kumimoji="1" lang="zh-CN" altLang="en-US" dirty="0"/>
              <a:t>，则未监测出错误。</a:t>
            </a:r>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0F6816-A5B4-4674-8788-E4794043BB64}" type="slidenum">
              <a:rPr lang="en-US" altLang="zh-CN"/>
            </a:fld>
            <a:endParaRPr lang="en-US" altLang="zh-CN"/>
          </a:p>
        </p:txBody>
      </p:sp>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3.3</a:t>
            </a:r>
            <a:r>
              <a:rPr lang="zh-CN" altLang="en-US" dirty="0"/>
              <a:t>节主要讨论基本数据链层协议的设计方法，从理想情况入手，介绍</a:t>
            </a:r>
            <a:r>
              <a:rPr lang="zh-CN" altLang="en-US" sz="12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等待协议和无错信道单工停止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等待协议的实现，主要集中在如何解决差错问题</a:t>
            </a:r>
            <a:endParaRPr lang="en-US" altLang="zh-CN" sz="120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关注数据链路层与上下层之间的关系</a:t>
            </a:r>
            <a:endParaRPr lang="zh-CN" altLang="en-US" dirty="0"/>
          </a:p>
          <a:p>
            <a:r>
              <a:rPr lang="zh-CN" altLang="en-US" dirty="0"/>
              <a:t>以及数据链路层的实现方式</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endParaRPr kumimoji="1" lang="zh-CN" altLang="en-US" dirty="0"/>
          </a:p>
        </p:txBody>
      </p:sp>
      <p:sp>
        <p:nvSpPr>
          <p:cNvPr id="4" name="日期占位符 3"/>
          <p:cNvSpPr>
            <a:spLocks noGrp="1"/>
          </p:cNvSpPr>
          <p:nvPr>
            <p:ph type="dt" sz="half" idx="10"/>
          </p:nvPr>
        </p:nvSpPr>
        <p:spPr/>
        <p:txBody>
          <a:bodyPr/>
          <a:lstStyle/>
          <a:p>
            <a:fld id="{0E59C439-FD35-4547-BEF5-304266CA27AE}"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7" name="矩形 6"/>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endParaRPr lang="zh-CN" altLang="en-US" sz="2800" b="0" spc="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endParaRPr lang="zh-CN" altLang="en-US" sz="1800" spc="600" dirty="0">
              <a:solidFill>
                <a:srgbClr val="5B307E"/>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endParaRPr kumimoji="1" lang="zh-CN" altLang="en-US" dirty="0"/>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10"/>
          </p:nvPr>
        </p:nvSpPr>
        <p:spPr/>
        <p:txBody>
          <a:bodyPr/>
          <a:lstStyle/>
          <a:p>
            <a:fld id="{742A9FFD-B852-1440-BFA7-3771E624B655}"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userDrawn="1"/>
        </p:nvGrpSpPr>
        <p:grpSpPr>
          <a:xfrm>
            <a:off x="9849450" y="844221"/>
            <a:ext cx="1961485" cy="208345"/>
            <a:chOff x="1368170" y="1165302"/>
            <a:chExt cx="4139947" cy="439737"/>
          </a:xfrm>
        </p:grpSpPr>
        <p:grpSp>
          <p:nvGrpSpPr>
            <p:cNvPr id="42" name="组合 41"/>
            <p:cNvGrpSpPr/>
            <p:nvPr/>
          </p:nvGrpSpPr>
          <p:grpSpPr>
            <a:xfrm>
              <a:off x="1368170" y="1165302"/>
              <a:ext cx="550582" cy="439737"/>
              <a:chOff x="1368170" y="664579"/>
              <a:chExt cx="550582" cy="439737"/>
            </a:xfrm>
          </p:grpSpPr>
          <p:sp>
            <p:nvSpPr>
              <p:cNvPr id="5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p:cNvGrpSpPr/>
            <p:nvPr/>
          </p:nvGrpSpPr>
          <p:grpSpPr>
            <a:xfrm>
              <a:off x="2028870" y="1197389"/>
              <a:ext cx="3479247" cy="365353"/>
              <a:chOff x="2028870" y="696666"/>
              <a:chExt cx="3479247" cy="365353"/>
            </a:xfrm>
            <a:solidFill>
              <a:schemeClr val="bg1">
                <a:lumMod val="50000"/>
              </a:schemeClr>
            </a:solidFill>
          </p:grpSpPr>
          <p:sp>
            <p:nvSpPr>
              <p:cNvPr id="44"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7" name="Picture 6"/>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8FB9FD2C-6821-D14F-9B68-59272353C12E}"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5" name="日期占位符 4"/>
          <p:cNvSpPr>
            <a:spLocks noGrp="1"/>
          </p:cNvSpPr>
          <p:nvPr>
            <p:ph type="dt" sz="half" idx="10"/>
          </p:nvPr>
        </p:nvSpPr>
        <p:spPr/>
        <p:txBody>
          <a:bodyPr/>
          <a:lstStyle/>
          <a:p>
            <a:fld id="{3B2C8BEE-C117-B242-AE80-6684D8ECFAC3}"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8" name="矩形 7"/>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9849450" y="844221"/>
            <a:ext cx="1961485" cy="208345"/>
            <a:chOff x="1368170" y="1165302"/>
            <a:chExt cx="4139947" cy="439737"/>
          </a:xfrm>
        </p:grpSpPr>
        <p:grpSp>
          <p:nvGrpSpPr>
            <p:cNvPr id="11" name="组合 10"/>
            <p:cNvGrpSpPr/>
            <p:nvPr/>
          </p:nvGrpSpPr>
          <p:grpSpPr>
            <a:xfrm>
              <a:off x="1368170" y="1165302"/>
              <a:ext cx="550582" cy="439737"/>
              <a:chOff x="1368170" y="664579"/>
              <a:chExt cx="550582" cy="439737"/>
            </a:xfrm>
          </p:grpSpPr>
          <p:sp>
            <p:nvSpPr>
              <p:cNvPr id="2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p:cNvGrpSpPr/>
            <p:nvPr/>
          </p:nvGrpSpPr>
          <p:grpSpPr>
            <a:xfrm>
              <a:off x="2028870" y="1197389"/>
              <a:ext cx="3479247" cy="365353"/>
              <a:chOff x="2028870" y="696666"/>
              <a:chExt cx="3479247" cy="365353"/>
            </a:xfrm>
            <a:solidFill>
              <a:schemeClr val="bg1">
                <a:lumMod val="50000"/>
              </a:schemeClr>
            </a:solidFill>
          </p:grpSpPr>
          <p:sp>
            <p:nvSpPr>
              <p:cNvPr id="13"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646397"/>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51"/>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24184" y="365126"/>
            <a:ext cx="10031204" cy="879086"/>
          </a:xfrm>
        </p:spPr>
        <p:txBody>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endParaRPr kumimoji="1" lang="zh-CN" altLang="en-US" dirty="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242C34E1-A7B1-194A-A03F-68AF0754181E}" type="datetime1">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10" name="矩形 9"/>
          <p:cNvSpPr/>
          <p:nvPr userDrawn="1"/>
        </p:nvSpPr>
        <p:spPr>
          <a:xfrm>
            <a:off x="667831" y="636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9849450" y="844221"/>
            <a:ext cx="1961485" cy="208345"/>
            <a:chOff x="1368170" y="1165302"/>
            <a:chExt cx="4139947" cy="439737"/>
          </a:xfrm>
        </p:grpSpPr>
        <p:grpSp>
          <p:nvGrpSpPr>
            <p:cNvPr id="13" name="组合 12"/>
            <p:cNvGrpSpPr/>
            <p:nvPr/>
          </p:nvGrpSpPr>
          <p:grpSpPr>
            <a:xfrm>
              <a:off x="1368170" y="1165302"/>
              <a:ext cx="550582" cy="439737"/>
              <a:chOff x="1368170" y="664579"/>
              <a:chExt cx="550582" cy="439737"/>
            </a:xfrm>
          </p:grpSpPr>
          <p:sp>
            <p:nvSpPr>
              <p:cNvPr id="24"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4" name="组合 13"/>
            <p:cNvGrpSpPr/>
            <p:nvPr/>
          </p:nvGrpSpPr>
          <p:grpSpPr>
            <a:xfrm>
              <a:off x="2028870" y="1197389"/>
              <a:ext cx="3479247" cy="365353"/>
              <a:chOff x="2028870" y="696666"/>
              <a:chExt cx="3479247" cy="365353"/>
            </a:xfrm>
            <a:solidFill>
              <a:schemeClr val="bg1">
                <a:lumMod val="50000"/>
              </a:schemeClr>
            </a:solidFill>
          </p:grpSpPr>
          <p:sp>
            <p:nvSpPr>
              <p:cNvPr id="15"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5" name="直线连接符 34"/>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userDrawn="1"/>
        </p:nvGrpSpPr>
        <p:grpSpPr>
          <a:xfrm>
            <a:off x="10332133" y="426643"/>
            <a:ext cx="927707" cy="369331"/>
            <a:chOff x="1113126" y="809213"/>
            <a:chExt cx="2133357" cy="523762"/>
          </a:xfrm>
          <a:solidFill>
            <a:schemeClr val="bg1">
              <a:lumMod val="75000"/>
            </a:schemeClr>
          </a:solidFill>
        </p:grpSpPr>
        <p:sp>
          <p:nvSpPr>
            <p:cNvPr id="37" name="椭圆 36"/>
            <p:cNvSpPr/>
            <p:nvPr userDrawn="1"/>
          </p:nvSpPr>
          <p:spPr>
            <a:xfrm>
              <a:off x="1113126"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userDrawn="1"/>
          </p:nvSpPr>
          <p:spPr>
            <a:xfrm>
              <a:off x="1649658"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userDrawn="1"/>
          </p:nvSpPr>
          <p:spPr>
            <a:xfrm>
              <a:off x="2186190"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userDrawn="1"/>
          </p:nvSpPr>
          <p:spPr>
            <a:xfrm>
              <a:off x="2722721"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 name="矩形 40"/>
          <p:cNvSpPr/>
          <p:nvPr userDrawn="1"/>
        </p:nvSpPr>
        <p:spPr>
          <a:xfrm>
            <a:off x="10245804" y="413133"/>
            <a:ext cx="1107996" cy="369332"/>
          </a:xfrm>
          <a:prstGeom prst="rect">
            <a:avLst/>
          </a:prstGeom>
          <a:noFill/>
        </p:spPr>
        <p:txBody>
          <a:bodyPr wrap="none" lIns="91440" tIns="45720" rIns="91440" bIns="45720">
            <a:spAutoFit/>
          </a:bodyPr>
          <a:lstStyle/>
          <a:p>
            <a:pPr algn="ctr"/>
            <a:r>
              <a:rPr lang="zh-CN" altLang="en-US" sz="1800" b="1" cap="none" spc="0" dirty="0">
                <a:ln w="22225">
                  <a:noFill/>
                  <a:prstDash val="solid"/>
                </a:ln>
                <a:solidFill>
                  <a:schemeClr val="accent1">
                    <a:lumMod val="60000"/>
                    <a:lumOff val="40000"/>
                  </a:schemeClr>
                </a:solidFill>
                <a:effectLst/>
              </a:rPr>
              <a:t>我的学校</a:t>
            </a:r>
            <a:endParaRPr lang="zh-CN" altLang="en-US" sz="1800" b="1" cap="none" spc="0" dirty="0">
              <a:ln w="22225">
                <a:noFill/>
                <a:prstDash val="solid"/>
              </a:ln>
              <a:solidFill>
                <a:schemeClr val="accent1">
                  <a:lumMod val="60000"/>
                  <a:lumOff val="40000"/>
                </a:schemeClr>
              </a:solidFill>
              <a:effectLst/>
            </a:endParaRPr>
          </a:p>
        </p:txBody>
      </p:sp>
      <p:grpSp>
        <p:nvGrpSpPr>
          <p:cNvPr id="42" name="组合 41"/>
          <p:cNvGrpSpPr/>
          <p:nvPr userDrawn="1"/>
        </p:nvGrpSpPr>
        <p:grpSpPr>
          <a:xfrm>
            <a:off x="715452" y="729525"/>
            <a:ext cx="403039" cy="321898"/>
            <a:chOff x="1368170" y="664579"/>
            <a:chExt cx="550582" cy="439737"/>
          </a:xfrm>
          <a:solidFill>
            <a:schemeClr val="bg1"/>
          </a:solidFill>
        </p:grpSpPr>
        <p:sp>
          <p:nvSpPr>
            <p:cNvPr id="4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021A7F0-2857-4BB0-ABE7-FD9D4410572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560244-FBFA-42FA-A5DC-C392AF1883C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r>
              <a:rPr lang="en-US" altLang="zh-CN"/>
              <a:t>Computer Network</a:t>
            </a: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2AAF93DC-1AF2-40C5-A519-3C53F0141A12}" type="slidenum">
              <a:rPr lang="en-US" altLang="zh-CN"/>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fld id="{F745FD7F-E1E7-4727-BD24-89E1126485D5}" type="datetime1">
              <a:rPr lang="zh-CN" altLang="en-US"/>
            </a:fld>
            <a:endParaRPr lang="en-US" altLang="zh-CN"/>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E00C8306-BE8F-E24C-B25D-A6E484FA7A8C}" type="datetime1">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a:p>
        </p:txBody>
      </p:sp>
      <p:sp>
        <p:nvSpPr>
          <p:cNvPr id="6" name="灯片编号占位符 5"/>
          <p:cNvSpPr>
            <a:spLocks noGrp="1"/>
          </p:cNvSpPr>
          <p:nvPr>
            <p:ph type="sldNum" sz="quarter" idx="4"/>
          </p:nvPr>
        </p:nvSpPr>
        <p:spPr>
          <a:xfrm>
            <a:off x="8610600" y="6356350"/>
            <a:ext cx="331967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hyperlink" Target="https://en.wikipedia.org/wiki/Transport_layer" TargetMode="External"/><Relationship Id="rId8" Type="http://schemas.openxmlformats.org/officeDocument/2006/relationships/hyperlink" Target="https://en.wikipedia.org/wiki/Session_(computer_science)" TargetMode="External"/><Relationship Id="rId7" Type="http://schemas.openxmlformats.org/officeDocument/2006/relationships/hyperlink" Target="https://en.wikipedia.org/wiki/Session_layer" TargetMode="External"/><Relationship Id="rId6" Type="http://schemas.openxmlformats.org/officeDocument/2006/relationships/hyperlink" Target="https://en.wikipedia.org/wiki/Presentation_layer" TargetMode="External"/><Relationship Id="rId5" Type="http://schemas.openxmlformats.org/officeDocument/2006/relationships/hyperlink" Target="https://en.wikipedia.org/wiki/API" TargetMode="External"/><Relationship Id="rId4" Type="http://schemas.openxmlformats.org/officeDocument/2006/relationships/hyperlink" Target="https://en.wikipedia.org/wiki/Data_(computing)" TargetMode="External"/><Relationship Id="rId3" Type="http://schemas.openxmlformats.org/officeDocument/2006/relationships/hyperlink" Target="https://en.wikipedia.org/wiki/Application_layer" TargetMode="External"/><Relationship Id="rId2" Type="http://schemas.openxmlformats.org/officeDocument/2006/relationships/hyperlink" Target="https://en.wikipedia.org/wiki/OSI_model#cite_note-20" TargetMode="External"/><Relationship Id="rId15" Type="http://schemas.openxmlformats.org/officeDocument/2006/relationships/slideLayout" Target="../slideLayouts/slideLayout7.xml"/><Relationship Id="rId14" Type="http://schemas.openxmlformats.org/officeDocument/2006/relationships/hyperlink" Target="https://en.wikipedia.org/wiki/Physical_layer" TargetMode="External"/><Relationship Id="rId13" Type="http://schemas.openxmlformats.org/officeDocument/2006/relationships/hyperlink" Target="https://en.wikipedia.org/wiki/Frame_(networking)" TargetMode="External"/><Relationship Id="rId12" Type="http://schemas.openxmlformats.org/officeDocument/2006/relationships/hyperlink" Target="https://en.wikipedia.org/wiki/Data_link_layer" TargetMode="External"/><Relationship Id="rId11" Type="http://schemas.openxmlformats.org/officeDocument/2006/relationships/hyperlink" Target="https://en.wikipedia.org/wiki/Network_packet" TargetMode="External"/><Relationship Id="rId10" Type="http://schemas.openxmlformats.org/officeDocument/2006/relationships/hyperlink" Target="https://en.wikipedia.org/wiki/Network_layer" TargetMode="External"/><Relationship Id="rId1" Type="http://schemas.openxmlformats.org/officeDocument/2006/relationships/hyperlink" Target="https://en.wikipedia.org/wiki/Protocol_data_un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1.bin"/></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17.emf"/><Relationship Id="rId1" Type="http://schemas.openxmlformats.org/officeDocument/2006/relationships/oleObject" Target="../embeddings/oleObject2.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17.emf"/><Relationship Id="rId1" Type="http://schemas.openxmlformats.org/officeDocument/2006/relationships/oleObject" Target="../embeddings/oleObject3.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4.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2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oleObject" Target="../embeddings/oleObject5.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41.emf"/><Relationship Id="rId1" Type="http://schemas.openxmlformats.org/officeDocument/2006/relationships/oleObject" Target="../embeddings/oleObject6.bin"/></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91254"/>
            <a:ext cx="9144000" cy="2002674"/>
          </a:xfrm>
        </p:spPr>
        <p:txBody>
          <a:bodyPr/>
          <a:lstStyle/>
          <a:p>
            <a:r>
              <a:rPr kumimoji="1" lang="zh-CN" altLang="en-US" dirty="0"/>
              <a:t>第三章 数据据链路层基础</a:t>
            </a:r>
            <a:endParaRPr kumimoji="1" lang="zh-CN" altLang="en-US" dirty="0"/>
          </a:p>
        </p:txBody>
      </p:sp>
      <p:sp>
        <p:nvSpPr>
          <p:cNvPr id="3" name="副标题 2"/>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授课教师：邢焕来</a:t>
            </a:r>
            <a:endParaRPr kumimoji="1" lang="en-US" altLang="zh-CN" sz="3200" dirty="0"/>
          </a:p>
        </p:txBody>
      </p:sp>
      <p:sp>
        <p:nvSpPr>
          <p:cNvPr id="4" name="TextBox 3"/>
          <p:cNvSpPr txBox="1"/>
          <p:nvPr/>
        </p:nvSpPr>
        <p:spPr>
          <a:xfrm>
            <a:off x="2914651" y="6177069"/>
            <a:ext cx="6867525" cy="369332"/>
          </a:xfrm>
          <a:prstGeom prst="rect">
            <a:avLst/>
          </a:prstGeom>
          <a:noFill/>
        </p:spPr>
        <p:txBody>
          <a:bodyPr wrap="square">
            <a:spAutoFit/>
          </a:bodyPr>
          <a:lstStyle/>
          <a:p>
            <a:r>
              <a:rPr kumimoji="1" lang="zh-CN" altLang="en-US" dirty="0"/>
              <a:t>主要内容来自：计算机网络教案社区，版权归原作者所有，有增改</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本章目标</a:t>
            </a:r>
            <a:endParaRPr kumimoji="1" lang="zh-CN" altLang="en-US" dirty="0"/>
          </a:p>
        </p:txBody>
      </p:sp>
      <p:sp>
        <p:nvSpPr>
          <p:cNvPr id="3" name="内容占位符 2"/>
          <p:cNvSpPr>
            <a:spLocks noGrp="1"/>
          </p:cNvSpPr>
          <p:nvPr>
            <p:ph idx="1"/>
          </p:nvPr>
        </p:nvSpPr>
        <p:spPr/>
        <p:txBody>
          <a:bodyPr>
            <a:normAutofit/>
          </a:bodyPr>
          <a:lstStyle/>
          <a:p>
            <a:pPr>
              <a:lnSpc>
                <a:spcPct val="130000"/>
              </a:lnSpc>
            </a:pPr>
            <a:r>
              <a:rPr kumimoji="1" lang="zh-CN" altLang="en-US" sz="2600" dirty="0"/>
              <a:t>了解数据链路层在网络体系结构中的位置及基本功能和服务</a:t>
            </a:r>
            <a:endParaRPr kumimoji="1" lang="zh-CN" altLang="en-US" sz="2600" dirty="0"/>
          </a:p>
          <a:p>
            <a:pPr>
              <a:lnSpc>
                <a:spcPct val="130000"/>
              </a:lnSpc>
            </a:pPr>
            <a:r>
              <a:rPr kumimoji="1" lang="zh-CN" altLang="en-US" sz="2600" dirty="0">
                <a:solidFill>
                  <a:srgbClr val="C00000"/>
                </a:solidFill>
              </a:rPr>
              <a:t>掌握差错检测和纠正的基本原理和典型的编码方法（核心内容）</a:t>
            </a:r>
            <a:endParaRPr kumimoji="1" lang="zh-CN" altLang="en-US" sz="2600" dirty="0">
              <a:solidFill>
                <a:srgbClr val="C00000"/>
              </a:solidFill>
            </a:endParaRPr>
          </a:p>
          <a:p>
            <a:pPr>
              <a:lnSpc>
                <a:spcPct val="130000"/>
              </a:lnSpc>
            </a:pPr>
            <a:r>
              <a:rPr kumimoji="1" lang="zh-CN" altLang="en-US" sz="2600" dirty="0">
                <a:solidFill>
                  <a:srgbClr val="C00000"/>
                </a:solidFill>
              </a:rPr>
              <a:t>掌握无错信道和有错信道上停等协议的设计和实现方法（核心内容）</a:t>
            </a:r>
            <a:endParaRPr kumimoji="1" lang="zh-CN" altLang="en-US" sz="2600" dirty="0">
              <a:solidFill>
                <a:srgbClr val="C00000"/>
              </a:solidFill>
            </a:endParaRPr>
          </a:p>
          <a:p>
            <a:pPr>
              <a:lnSpc>
                <a:spcPct val="130000"/>
              </a:lnSpc>
            </a:pPr>
            <a:r>
              <a:rPr lang="zh-CN" altLang="en-US" sz="2600" dirty="0"/>
              <a:t>理解</a:t>
            </a:r>
            <a:r>
              <a:rPr lang="zh-CN" altLang="zh-CN" sz="2600" dirty="0"/>
              <a:t>停等协议的性能问题及滑动窗口协议</a:t>
            </a:r>
            <a:r>
              <a:rPr lang="zh-CN" altLang="en-US" sz="2600" dirty="0"/>
              <a:t>的</a:t>
            </a:r>
            <a:r>
              <a:rPr lang="zh-CN" altLang="zh-CN" sz="2600" dirty="0"/>
              <a:t>基本思想</a:t>
            </a:r>
            <a:endParaRPr lang="en-US" altLang="zh-CN" sz="2600" dirty="0"/>
          </a:p>
          <a:p>
            <a:pPr>
              <a:lnSpc>
                <a:spcPct val="130000"/>
              </a:lnSpc>
            </a:pPr>
            <a:r>
              <a:rPr kumimoji="1" lang="zh-CN" altLang="en-US" sz="2600" dirty="0">
                <a:solidFill>
                  <a:srgbClr val="C00000"/>
                </a:solidFill>
              </a:rPr>
              <a:t>掌握</a:t>
            </a:r>
            <a:r>
              <a:rPr kumimoji="1" lang="zh-CN" altLang="zh-CN" sz="2600" dirty="0">
                <a:solidFill>
                  <a:srgbClr val="C00000"/>
                </a:solidFill>
              </a:rPr>
              <a:t>回退</a:t>
            </a:r>
            <a:r>
              <a:rPr kumimoji="1" lang="en-US" altLang="zh-CN" sz="2600" dirty="0">
                <a:solidFill>
                  <a:srgbClr val="C00000"/>
                </a:solidFill>
              </a:rPr>
              <a:t>N</a:t>
            </a:r>
            <a:r>
              <a:rPr kumimoji="1" lang="zh-CN" altLang="en-US" sz="2600" dirty="0">
                <a:solidFill>
                  <a:srgbClr val="C00000"/>
                </a:solidFill>
              </a:rPr>
              <a:t>和选择重传两种典型滑动窗口协议的工作机制（核心内容）</a:t>
            </a:r>
            <a:endParaRPr kumimoji="1" lang="zh-CN" altLang="en-US" sz="2600" dirty="0">
              <a:solidFill>
                <a:srgbClr val="C00000"/>
              </a:solidFill>
            </a:endParaRPr>
          </a:p>
          <a:p>
            <a:pPr>
              <a:lnSpc>
                <a:spcPct val="130000"/>
              </a:lnSpc>
            </a:pPr>
            <a:r>
              <a:rPr lang="zh-CN" altLang="en-US" sz="2600" dirty="0"/>
              <a:t>了解</a:t>
            </a:r>
            <a:r>
              <a:rPr lang="zh-CN" altLang="zh-CN" sz="2600" dirty="0"/>
              <a:t>点到点链路层协议</a:t>
            </a:r>
            <a:r>
              <a:rPr lang="en-US" altLang="zh-CN" sz="2600" dirty="0"/>
              <a:t>PPP</a:t>
            </a:r>
            <a:r>
              <a:rPr lang="zh-CN" altLang="en-US" sz="2600" dirty="0"/>
              <a:t>与</a:t>
            </a:r>
            <a:r>
              <a:rPr lang="en-US" altLang="zh-CN" sz="2600" dirty="0" err="1"/>
              <a:t>PPPoE</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921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14DD85B-61AE-4611-A13E-475DE10FFB1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7" name="日期占位符 5"/>
          <p:cNvSpPr>
            <a:spLocks noGrp="1"/>
          </p:cNvSpPr>
          <p:nvPr>
            <p:ph type="dt" sz="quarter" idx="12"/>
          </p:nvPr>
        </p:nvSpPr>
        <p:spPr/>
        <p:txBody>
          <a:bodyPr/>
          <a:lstStyle/>
          <a:p>
            <a:pPr>
              <a:defRPr/>
            </a:pPr>
            <a:fld id="{98187C2B-2CB6-40FA-B599-48522DDED6B8}" type="datetime1">
              <a:rPr lang="zh-CN" altLang="en-US"/>
            </a:fld>
            <a:endParaRPr lang="en-US" altLang="zh-CN"/>
          </a:p>
        </p:txBody>
      </p:sp>
      <p:sp>
        <p:nvSpPr>
          <p:cNvPr id="831491" name="Text Box 3"/>
          <p:cNvSpPr txBox="1">
            <a:spLocks noChangeArrowheads="1"/>
          </p:cNvSpPr>
          <p:nvPr/>
        </p:nvSpPr>
        <p:spPr bwMode="auto">
          <a:xfrm>
            <a:off x="2424114" y="1624013"/>
            <a:ext cx="6948487" cy="476250"/>
          </a:xfrm>
          <a:prstGeom prst="rect">
            <a:avLst/>
          </a:prstGeom>
          <a:noFill/>
          <a:ln>
            <a:noFill/>
          </a:ln>
          <a:effectLst/>
        </p:spPr>
        <p:txBody>
          <a:bodyPr>
            <a:spAutoFit/>
          </a:bodyPr>
          <a:lstStyle/>
          <a:p>
            <a:pPr eaLnBrk="1" hangingPunct="1">
              <a:lnSpc>
                <a:spcPct val="90000"/>
              </a:lnSpc>
              <a:spcBef>
                <a:spcPct val="50000"/>
              </a:spcBef>
              <a:buClr>
                <a:schemeClr val="tx1"/>
              </a:buClr>
              <a:buSzPct val="80000"/>
              <a:buFont typeface="Wingdings" panose="05000000000000000000" pitchFamily="2" charset="2"/>
              <a:buNone/>
              <a:defRPr/>
            </a:pPr>
            <a:r>
              <a:rPr kumimoji="1" lang="en-US" altLang="zh-CN" sz="2800" dirty="0">
                <a:solidFill>
                  <a:srgbClr val="FF0000"/>
                </a:solidFill>
                <a:effectLst>
                  <a:outerShdw blurRad="38100" dist="38100" dir="2700000" algn="tl">
                    <a:srgbClr val="C0C0C0"/>
                  </a:outerShdw>
                </a:effectLst>
                <a:latin typeface="Verdana" panose="020B0604030504040204" pitchFamily="34" charset="0"/>
              </a:rPr>
              <a:t>OSI</a:t>
            </a:r>
            <a:r>
              <a:rPr kumimoji="1" lang="zh-CN" altLang="en-US" sz="2800" b="1" dirty="0">
                <a:solidFill>
                  <a:srgbClr val="0000FF"/>
                </a:solidFill>
                <a:effectLst>
                  <a:outerShdw blurRad="38100" dist="38100" dir="2700000" algn="tl">
                    <a:srgbClr val="C0C0C0"/>
                  </a:outerShdw>
                </a:effectLst>
                <a:latin typeface="Verdana" panose="020B0604030504040204" pitchFamily="34" charset="0"/>
              </a:rPr>
              <a:t>数据链路层的作用</a:t>
            </a:r>
            <a:r>
              <a:rPr kumimoji="1" lang="zh-CN" altLang="en-US" sz="2800" dirty="0">
                <a:solidFill>
                  <a:srgbClr val="0000FF"/>
                </a:solidFill>
                <a:effectLst>
                  <a:outerShdw blurRad="38100" dist="38100" dir="2700000" algn="tl">
                    <a:srgbClr val="C0C0C0"/>
                  </a:outerShdw>
                </a:effectLst>
                <a:latin typeface="Verdana" panose="020B0604030504040204" pitchFamily="34" charset="0"/>
                <a:ea typeface="宋体" panose="02010600030101010101" pitchFamily="2" charset="-122"/>
              </a:rPr>
              <a:t>：</a:t>
            </a:r>
            <a:r>
              <a:rPr kumimoji="1" lang="zh-CN" altLang="en-US" sz="2400" b="1" dirty="0">
                <a:effectLst>
                  <a:outerShdw blurRad="38100" dist="38100" dir="2700000" algn="tl">
                    <a:srgbClr val="C0C0C0"/>
                  </a:outerShdw>
                </a:effectLst>
                <a:latin typeface="Verdana" panose="020B0604030504040204" pitchFamily="34" charset="0"/>
              </a:rPr>
              <a:t>点到点的可靠传输</a:t>
            </a:r>
            <a:endParaRPr kumimoji="1" lang="zh-CN" altLang="en-US" sz="2400" b="1" dirty="0">
              <a:effectLst>
                <a:outerShdw blurRad="38100" dist="38100" dir="2700000" algn="tl">
                  <a:srgbClr val="C0C0C0"/>
                </a:outerShdw>
              </a:effectLst>
              <a:latin typeface="Verdana" panose="020B0604030504040204" pitchFamily="34" charset="0"/>
            </a:endParaRPr>
          </a:p>
        </p:txBody>
      </p:sp>
      <p:pic>
        <p:nvPicPr>
          <p:cNvPr id="2" name="图片 1"/>
          <p:cNvPicPr>
            <a:picLocks noChangeAspect="1"/>
          </p:cNvPicPr>
          <p:nvPr/>
        </p:nvPicPr>
        <p:blipFill>
          <a:blip r:embed="rId1"/>
          <a:stretch>
            <a:fillRect/>
          </a:stretch>
        </p:blipFill>
        <p:spPr>
          <a:xfrm>
            <a:off x="1751172" y="2332832"/>
            <a:ext cx="8719211" cy="3760464"/>
          </a:xfrm>
          <a:prstGeom prst="rect">
            <a:avLst/>
          </a:prstGeom>
        </p:spPr>
      </p:pic>
      <p:sp>
        <p:nvSpPr>
          <p:cNvPr id="4" name="Title 3"/>
          <p:cNvSpPr>
            <a:spLocks noGrp="1"/>
          </p:cNvSpPr>
          <p:nvPr>
            <p:ph type="title"/>
          </p:nvPr>
        </p:nvSpPr>
        <p:spPr/>
        <p:txBody>
          <a:bodyPr/>
          <a:lstStyle/>
          <a:p>
            <a:endParaRPr lang="en-US"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112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F19DA75-CBDB-4343-8A8B-8FBECB6609EC}"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F75AF8A1-95CB-4462-BF0C-CF3F4BB1ECA8}" type="datetime1">
              <a:rPr lang="zh-CN" altLang="en-US"/>
            </a:fld>
            <a:endParaRPr lang="en-US" altLang="zh-CN"/>
          </a:p>
        </p:txBody>
      </p:sp>
      <p:sp>
        <p:nvSpPr>
          <p:cNvPr id="833538" name="Rectangle 2"/>
          <p:cNvSpPr>
            <a:spLocks noChangeArrowheads="1"/>
          </p:cNvSpPr>
          <p:nvPr/>
        </p:nvSpPr>
        <p:spPr bwMode="auto">
          <a:xfrm>
            <a:off x="2209801" y="1536700"/>
            <a:ext cx="7847013" cy="4413250"/>
          </a:xfrm>
          <a:prstGeom prst="rect">
            <a:avLst/>
          </a:prstGeom>
          <a:noFill/>
          <a:ln>
            <a:noFill/>
          </a:ln>
          <a:effectLst/>
        </p:spPr>
        <p:txBody>
          <a:bodyPr>
            <a:spAutoFit/>
          </a:bodyPr>
          <a:lstStyle/>
          <a:p>
            <a:pPr eaLnBrk="1" hangingPunct="1">
              <a:lnSpc>
                <a:spcPct val="120000"/>
              </a:lnSpc>
              <a:spcBef>
                <a:spcPct val="15000"/>
              </a:spcBef>
              <a:buClr>
                <a:schemeClr val="tx1"/>
              </a:buClr>
              <a:buSzPct val="80000"/>
              <a:buFont typeface="Wingdings" panose="05000000000000000000" pitchFamily="2" charset="2"/>
              <a:buNone/>
              <a:defRPr/>
            </a:pPr>
            <a:r>
              <a:rPr kumimoji="1" lang="en-US" altLang="zh-CN" sz="2400" b="1" dirty="0">
                <a:solidFill>
                  <a:srgbClr val="0000FF"/>
                </a:solidFill>
                <a:latin typeface="Verdana" panose="020B0604030504040204" pitchFamily="34" charset="0"/>
              </a:rPr>
              <a:t>     </a:t>
            </a:r>
            <a:r>
              <a:rPr kumimoji="1" lang="en-US" altLang="zh-CN" sz="2400" dirty="0">
                <a:latin typeface="Verdana" panose="020B0604030504040204" pitchFamily="34" charset="0"/>
              </a:rPr>
              <a:t>OSI</a:t>
            </a:r>
            <a:r>
              <a:rPr kumimoji="1" lang="zh-CN" altLang="en-US" sz="2400" b="1" dirty="0">
                <a:latin typeface="Verdana" panose="020B0604030504040204" pitchFamily="34" charset="0"/>
              </a:rPr>
              <a:t>数据链路层协议，</a:t>
            </a:r>
            <a:r>
              <a:rPr kumimoji="1" lang="zh-CN" altLang="en-US" sz="2400" b="1" dirty="0">
                <a:solidFill>
                  <a:srgbClr val="0000FF"/>
                </a:solidFill>
                <a:latin typeface="Verdana" panose="020B0604030504040204" pitchFamily="34" charset="0"/>
              </a:rPr>
              <a:t>在不可靠的物理链路上实现可靠的传输</a:t>
            </a:r>
            <a:r>
              <a:rPr lang="en-US" altLang="zh-CN" sz="2400" dirty="0">
                <a:solidFill>
                  <a:srgbClr val="FF3300"/>
                </a:solidFill>
                <a:effectLst>
                  <a:outerShdw blurRad="38100" dist="38100" dir="2700000" algn="tl">
                    <a:srgbClr val="C0C0C0"/>
                  </a:outerShdw>
                </a:effectLst>
                <a:latin typeface="Arial" panose="020B0604020202020204" pitchFamily="34" charset="0"/>
              </a:rPr>
              <a:t>(</a:t>
            </a:r>
            <a:r>
              <a:rPr lang="zh-CN" altLang="en-US" sz="2400" dirty="0">
                <a:solidFill>
                  <a:srgbClr val="FF3300"/>
                </a:solidFill>
                <a:effectLst>
                  <a:outerShdw blurRad="38100" dist="38100" dir="2700000" algn="tl">
                    <a:srgbClr val="C0C0C0"/>
                  </a:outerShdw>
                </a:effectLst>
                <a:latin typeface="Arial" panose="020B0604020202020204" pitchFamily="34" charset="0"/>
              </a:rPr>
              <a:t>无差错、无丢失、无重复、按顺序</a:t>
            </a:r>
            <a:r>
              <a:rPr lang="en-US" altLang="zh-CN" sz="2400" dirty="0">
                <a:solidFill>
                  <a:srgbClr val="FF3300"/>
                </a:solidFill>
                <a:effectLst>
                  <a:outerShdw blurRad="38100" dist="38100" dir="2700000" algn="tl">
                    <a:srgbClr val="C0C0C0"/>
                  </a:outerShdw>
                </a:effectLst>
                <a:latin typeface="Arial" panose="020B0604020202020204" pitchFamily="34" charset="0"/>
              </a:rPr>
              <a:t>)</a:t>
            </a:r>
            <a:r>
              <a:rPr kumimoji="1" lang="en-US" altLang="zh-CN" dirty="0">
                <a:latin typeface="Arial" panose="020B0604020202020204" pitchFamily="34" charset="0"/>
              </a:rPr>
              <a:t> </a:t>
            </a:r>
            <a:r>
              <a:rPr kumimoji="1" lang="en-US" altLang="zh-CN" sz="2400" b="1" dirty="0">
                <a:solidFill>
                  <a:srgbClr val="0000FF"/>
                </a:solidFill>
                <a:latin typeface="Verdana" panose="020B0604030504040204" pitchFamily="34" charset="0"/>
              </a:rPr>
              <a:t>:</a:t>
            </a:r>
            <a:endParaRPr kumimoji="1" lang="zh-CN" altLang="en-US" sz="2400" b="1" dirty="0">
              <a:solidFill>
                <a:srgbClr val="0000FF"/>
              </a:solidFill>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数据成帧</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传输单位：帧；帧同步</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差错控制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纠错；检错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流量控制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收、发方速率适配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anose="020B0604030504040204" pitchFamily="34" charset="0"/>
              </a:rPr>
              <a:t> 透明传输</a:t>
            </a:r>
            <a:r>
              <a:rPr kumimoji="1" lang="zh-CN" altLang="en-US" sz="2400" dirty="0">
                <a:latin typeface="Verdana" panose="020B0604030504040204" pitchFamily="34" charset="0"/>
              </a:rPr>
              <a:t>：无论上层什么数据，链路层都可同样传输</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链路控制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收发方确认对方是否准备好；数据链路的建立、维持、释放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anose="020B0604030504040204" pitchFamily="34" charset="0"/>
              </a:rPr>
              <a:t> 寻址：</a:t>
            </a:r>
            <a:r>
              <a:rPr kumimoji="1" lang="en-US" altLang="zh-CN" sz="2400" dirty="0">
                <a:latin typeface="Verdana" panose="020B0604030504040204" pitchFamily="34" charset="0"/>
              </a:rPr>
              <a:t>MAC</a:t>
            </a:r>
            <a:r>
              <a:rPr kumimoji="1" lang="zh-CN" altLang="en-US" sz="2400" dirty="0">
                <a:latin typeface="Verdana" panose="020B0604030504040204" pitchFamily="34" charset="0"/>
              </a:rPr>
              <a:t>地址 </a:t>
            </a:r>
            <a:endParaRPr kumimoji="1" lang="zh-CN" altLang="en-US" sz="2400" dirty="0">
              <a:latin typeface="Verdana" panose="020B0604030504040204" pitchFamily="34" charset="0"/>
            </a:endParaRPr>
          </a:p>
        </p:txBody>
      </p:sp>
      <p:sp>
        <p:nvSpPr>
          <p:cNvPr id="11270" name="Text Box 3"/>
          <p:cNvSpPr txBox="1">
            <a:spLocks noChangeArrowheads="1"/>
          </p:cNvSpPr>
          <p:nvPr/>
        </p:nvSpPr>
        <p:spPr bwMode="auto">
          <a:xfrm>
            <a:off x="2057401" y="838201"/>
            <a:ext cx="418306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b="1" dirty="0">
                <a:solidFill>
                  <a:srgbClr val="0000FF"/>
                </a:solidFill>
                <a:latin typeface="Arial Unicode MS" panose="020B0604020202020204" pitchFamily="34" charset="-122"/>
                <a:ea typeface="楷体_GB2312" pitchFamily="49" charset="-122"/>
              </a:rPr>
              <a:t>数据链路层的功能</a:t>
            </a:r>
            <a:r>
              <a:rPr kumimoji="1" lang="zh-CN" altLang="en-US" dirty="0">
                <a:solidFill>
                  <a:srgbClr val="0000FF"/>
                </a:solidFill>
                <a:latin typeface="Arial Unicode MS" panose="020B0604020202020204" pitchFamily="34" charset="-122"/>
                <a:ea typeface="楷体_GB2312" pitchFamily="49" charset="-122"/>
              </a:rPr>
              <a:t>：</a:t>
            </a:r>
            <a:endParaRPr kumimoji="1" lang="zh-CN" altLang="en-US" dirty="0">
              <a:solidFill>
                <a:srgbClr val="0000FF"/>
              </a:solidFill>
              <a:latin typeface="Arial Unicode MS" panose="020B0604020202020204" pitchFamily="34" charset="-122"/>
              <a:ea typeface="楷体_GB2312" pitchFamily="49" charset="-122"/>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112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F19DA75-CBDB-4343-8A8B-8FBECB6609EC}"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F75AF8A1-95CB-4462-BF0C-CF3F4BB1ECA8}" type="datetime1">
              <a:rPr lang="zh-CN" altLang="en-US"/>
            </a:fld>
            <a:endParaRPr lang="en-US" altLang="zh-CN"/>
          </a:p>
        </p:txBody>
      </p:sp>
      <p:sp>
        <p:nvSpPr>
          <p:cNvPr id="833538" name="Rectangle 2"/>
          <p:cNvSpPr>
            <a:spLocks noChangeArrowheads="1"/>
          </p:cNvSpPr>
          <p:nvPr/>
        </p:nvSpPr>
        <p:spPr bwMode="auto">
          <a:xfrm>
            <a:off x="2209801" y="1536700"/>
            <a:ext cx="7847013" cy="4413250"/>
          </a:xfrm>
          <a:prstGeom prst="rect">
            <a:avLst/>
          </a:prstGeom>
          <a:noFill/>
          <a:ln>
            <a:noFill/>
          </a:ln>
          <a:effectLst/>
        </p:spPr>
        <p:txBody>
          <a:bodyPr>
            <a:spAutoFit/>
          </a:bodyPr>
          <a:lstStyle/>
          <a:p>
            <a:pPr eaLnBrk="1" hangingPunct="1">
              <a:lnSpc>
                <a:spcPct val="120000"/>
              </a:lnSpc>
              <a:spcBef>
                <a:spcPct val="15000"/>
              </a:spcBef>
              <a:buClr>
                <a:schemeClr val="tx1"/>
              </a:buClr>
              <a:buSzPct val="80000"/>
              <a:buFont typeface="Wingdings" panose="05000000000000000000" pitchFamily="2" charset="2"/>
              <a:buNone/>
              <a:defRPr/>
            </a:pPr>
            <a:r>
              <a:rPr kumimoji="1" lang="en-US" altLang="zh-CN" sz="2400" b="1" dirty="0">
                <a:solidFill>
                  <a:srgbClr val="0000FF"/>
                </a:solidFill>
                <a:latin typeface="Verdana" panose="020B0604030504040204" pitchFamily="34" charset="0"/>
              </a:rPr>
              <a:t>     </a:t>
            </a:r>
            <a:r>
              <a:rPr kumimoji="1" lang="en-US" altLang="zh-CN" sz="2400" dirty="0">
                <a:latin typeface="Verdana" panose="020B0604030504040204" pitchFamily="34" charset="0"/>
              </a:rPr>
              <a:t>OSI</a:t>
            </a:r>
            <a:r>
              <a:rPr kumimoji="1" lang="zh-CN" altLang="en-US" sz="2400" b="1" dirty="0">
                <a:latin typeface="Verdana" panose="020B0604030504040204" pitchFamily="34" charset="0"/>
              </a:rPr>
              <a:t>数据链路层协议，</a:t>
            </a:r>
            <a:r>
              <a:rPr kumimoji="1" lang="zh-CN" altLang="en-US" sz="2400" b="1" dirty="0">
                <a:solidFill>
                  <a:srgbClr val="0000FF"/>
                </a:solidFill>
                <a:latin typeface="Verdana" panose="020B0604030504040204" pitchFamily="34" charset="0"/>
              </a:rPr>
              <a:t>在不可靠的物理链路上实现可靠的传输</a:t>
            </a:r>
            <a:r>
              <a:rPr lang="en-US" altLang="zh-CN" sz="2400" dirty="0">
                <a:solidFill>
                  <a:srgbClr val="FF3300"/>
                </a:solidFill>
                <a:effectLst>
                  <a:outerShdw blurRad="38100" dist="38100" dir="2700000" algn="tl">
                    <a:srgbClr val="C0C0C0"/>
                  </a:outerShdw>
                </a:effectLst>
                <a:latin typeface="Arial" panose="020B0604020202020204" pitchFamily="34" charset="0"/>
              </a:rPr>
              <a:t>(</a:t>
            </a:r>
            <a:r>
              <a:rPr lang="zh-CN" altLang="en-US" sz="2400" dirty="0">
                <a:solidFill>
                  <a:srgbClr val="FF3300"/>
                </a:solidFill>
                <a:effectLst>
                  <a:outerShdw blurRad="38100" dist="38100" dir="2700000" algn="tl">
                    <a:srgbClr val="C0C0C0"/>
                  </a:outerShdw>
                </a:effectLst>
                <a:latin typeface="Arial" panose="020B0604020202020204" pitchFamily="34" charset="0"/>
              </a:rPr>
              <a:t>无差错、</a:t>
            </a:r>
            <a:r>
              <a:rPr lang="zh-CN" altLang="en-US" sz="2400" dirty="0">
                <a:solidFill>
                  <a:srgbClr val="FF0000"/>
                </a:solidFill>
                <a:effectLst>
                  <a:outerShdw blurRad="38100" dist="38100" dir="2700000" algn="tl">
                    <a:srgbClr val="C0C0C0"/>
                  </a:outerShdw>
                </a:effectLst>
                <a:latin typeface="Arial" panose="020B0604020202020204" pitchFamily="34" charset="0"/>
              </a:rPr>
              <a:t>无丢失</a:t>
            </a:r>
            <a:r>
              <a:rPr lang="zh-CN" altLang="en-US" sz="2400" dirty="0">
                <a:solidFill>
                  <a:srgbClr val="FF3300"/>
                </a:solidFill>
                <a:effectLst>
                  <a:outerShdw blurRad="38100" dist="38100" dir="2700000" algn="tl">
                    <a:srgbClr val="C0C0C0"/>
                  </a:outerShdw>
                </a:effectLst>
                <a:latin typeface="Arial" panose="020B0604020202020204" pitchFamily="34" charset="0"/>
              </a:rPr>
              <a:t>、无重复、按顺序</a:t>
            </a:r>
            <a:r>
              <a:rPr lang="en-US" altLang="zh-CN" sz="2400" dirty="0">
                <a:solidFill>
                  <a:srgbClr val="FF3300"/>
                </a:solidFill>
                <a:effectLst>
                  <a:outerShdw blurRad="38100" dist="38100" dir="2700000" algn="tl">
                    <a:srgbClr val="C0C0C0"/>
                  </a:outerShdw>
                </a:effectLst>
                <a:latin typeface="Arial" panose="020B0604020202020204" pitchFamily="34" charset="0"/>
              </a:rPr>
              <a:t>)</a:t>
            </a:r>
            <a:r>
              <a:rPr kumimoji="1" lang="en-US" altLang="zh-CN" dirty="0">
                <a:latin typeface="Arial" panose="020B0604020202020204" pitchFamily="34" charset="0"/>
              </a:rPr>
              <a:t> </a:t>
            </a:r>
            <a:r>
              <a:rPr kumimoji="1" lang="en-US" altLang="zh-CN" sz="2400" b="1" dirty="0">
                <a:solidFill>
                  <a:srgbClr val="0000FF"/>
                </a:solidFill>
                <a:latin typeface="Verdana" panose="020B0604030504040204" pitchFamily="34" charset="0"/>
              </a:rPr>
              <a:t>:</a:t>
            </a:r>
            <a:endParaRPr kumimoji="1" lang="zh-CN" altLang="en-US" sz="2400" b="1" dirty="0">
              <a:solidFill>
                <a:srgbClr val="0000FF"/>
              </a:solidFill>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数据成帧</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传输单位：帧；帧同步</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差错控制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纠错；检错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流量控制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收、发方速率适配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anose="020B0604030504040204" pitchFamily="34" charset="0"/>
              </a:rPr>
              <a:t> 透明传输</a:t>
            </a:r>
            <a:r>
              <a:rPr kumimoji="1" lang="zh-CN" altLang="en-US" sz="2400" dirty="0">
                <a:latin typeface="Verdana" panose="020B0604030504040204" pitchFamily="34" charset="0"/>
              </a:rPr>
              <a:t>：无论上层什么数据，链路层都可同样传输</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anose="020B0604030504040204" pitchFamily="34" charset="0"/>
              </a:rPr>
              <a:t> </a:t>
            </a:r>
            <a:r>
              <a:rPr kumimoji="1" lang="zh-CN" altLang="en-US" sz="2400" b="1" dirty="0">
                <a:solidFill>
                  <a:srgbClr val="0000FF"/>
                </a:solidFill>
                <a:latin typeface="Verdana" panose="020B0604030504040204" pitchFamily="34" charset="0"/>
              </a:rPr>
              <a:t>链路控制</a:t>
            </a:r>
            <a:r>
              <a:rPr kumimoji="1" lang="zh-CN" altLang="en-US" sz="2400" dirty="0">
                <a:solidFill>
                  <a:srgbClr val="0000FF"/>
                </a:solidFill>
                <a:latin typeface="Verdana" panose="020B0604030504040204" pitchFamily="34" charset="0"/>
              </a:rPr>
              <a:t>：</a:t>
            </a:r>
            <a:r>
              <a:rPr kumimoji="1" lang="zh-CN" altLang="en-US" sz="2400" dirty="0">
                <a:latin typeface="Verdana" panose="020B0604030504040204" pitchFamily="34" charset="0"/>
              </a:rPr>
              <a:t>收发方确认对方是否准备好；数据链路的建立、维持、释放   </a:t>
            </a:r>
            <a:endParaRPr kumimoji="1" lang="zh-CN" altLang="en-US" sz="2400" dirty="0">
              <a:latin typeface="Verdana" panose="020B0604030504040204"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anose="020B0604030504040204" pitchFamily="34" charset="0"/>
              </a:rPr>
              <a:t> 寻址：</a:t>
            </a:r>
            <a:r>
              <a:rPr kumimoji="1" lang="en-US" altLang="zh-CN" sz="2400" dirty="0">
                <a:latin typeface="Verdana" panose="020B0604030504040204" pitchFamily="34" charset="0"/>
              </a:rPr>
              <a:t>MAC</a:t>
            </a:r>
            <a:r>
              <a:rPr kumimoji="1" lang="zh-CN" altLang="en-US" sz="2400" dirty="0">
                <a:latin typeface="Verdana" panose="020B0604030504040204" pitchFamily="34" charset="0"/>
              </a:rPr>
              <a:t>地址 </a:t>
            </a:r>
            <a:endParaRPr kumimoji="1" lang="zh-CN" altLang="en-US" sz="2400" dirty="0">
              <a:latin typeface="Verdana" panose="020B0604030504040204" pitchFamily="34" charset="0"/>
            </a:endParaRPr>
          </a:p>
        </p:txBody>
      </p:sp>
      <p:sp>
        <p:nvSpPr>
          <p:cNvPr id="11270" name="Text Box 3"/>
          <p:cNvSpPr txBox="1">
            <a:spLocks noChangeArrowheads="1"/>
          </p:cNvSpPr>
          <p:nvPr/>
        </p:nvSpPr>
        <p:spPr bwMode="auto">
          <a:xfrm>
            <a:off x="2057401" y="838201"/>
            <a:ext cx="418306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b="1" dirty="0">
                <a:solidFill>
                  <a:srgbClr val="0000FF"/>
                </a:solidFill>
                <a:latin typeface="Arial Unicode MS" panose="020B0604020202020204" pitchFamily="34" charset="-122"/>
                <a:ea typeface="楷体_GB2312" pitchFamily="49" charset="-122"/>
              </a:rPr>
              <a:t>数据链路层的功能</a:t>
            </a:r>
            <a:r>
              <a:rPr kumimoji="1" lang="zh-CN" altLang="en-US" dirty="0">
                <a:solidFill>
                  <a:srgbClr val="0000FF"/>
                </a:solidFill>
                <a:latin typeface="Arial Unicode MS" panose="020B0604020202020204" pitchFamily="34" charset="-122"/>
                <a:ea typeface="楷体_GB2312" pitchFamily="49" charset="-122"/>
              </a:rPr>
              <a:t>：</a:t>
            </a:r>
            <a:endParaRPr kumimoji="1" lang="zh-CN" altLang="en-US" dirty="0">
              <a:solidFill>
                <a:srgbClr val="0000FF"/>
              </a:solidFill>
              <a:latin typeface="Arial Unicode MS" panose="020B0604020202020204" pitchFamily="34" charset="-122"/>
              <a:ea typeface="楷体_GB2312" pitchFamily="49" charset="-122"/>
            </a:endParaRPr>
          </a:p>
        </p:txBody>
      </p:sp>
      <p:sp>
        <p:nvSpPr>
          <p:cNvPr id="3" name="圆角矩形标注 2"/>
          <p:cNvSpPr/>
          <p:nvPr/>
        </p:nvSpPr>
        <p:spPr bwMode="auto">
          <a:xfrm>
            <a:off x="7327716" y="2681263"/>
            <a:ext cx="3322712" cy="1225868"/>
          </a:xfrm>
          <a:prstGeom prst="wedgeRoundRectCallout">
            <a:avLst>
              <a:gd name="adj1" fmla="val -22023"/>
              <a:gd name="adj2" fmla="val -68559"/>
              <a:gd name="adj3" fmla="val 16667"/>
            </a:avLst>
          </a:prstGeom>
          <a:noFill/>
          <a:ln w="28575" cap="flat" cmpd="sng" algn="ctr">
            <a:solidFill>
              <a:srgbClr val="FF3300"/>
            </a:solidFill>
            <a:prstDash val="solid"/>
            <a:round/>
            <a:headEnd type="none" w="med" len="med"/>
            <a:tailEnd type="triangle" w="med" len="med"/>
          </a:ln>
          <a:effectLst/>
        </p:spPr>
        <p:txBody>
          <a:bodyPr vert="horz" wrap="square" lIns="0" tIns="0" rIns="0" bIns="0" numCol="1" rtlCol="0" anchor="t" anchorCtr="0" compatLnSpc="1">
            <a:spAutoFit/>
          </a:bodyPr>
          <a:lstStyle/>
          <a:p>
            <a:pPr algn="ctr" eaLnBrk="1" hangingPunct="1">
              <a:spcBef>
                <a:spcPct val="50000"/>
              </a:spcBef>
            </a:pPr>
            <a:r>
              <a:rPr lang="zh-CN" altLang="en-US" sz="1800" dirty="0">
                <a:solidFill>
                  <a:srgbClr val="FF0000"/>
                </a:solidFill>
                <a:latin typeface="Arial" panose="020B0604020202020204" pitchFamily="34" charset="0"/>
              </a:rPr>
              <a:t>注意，关于“可靠”，这是</a:t>
            </a:r>
            <a:r>
              <a:rPr lang="en-US" altLang="zh-CN" sz="1800" dirty="0">
                <a:solidFill>
                  <a:srgbClr val="FF0000"/>
                </a:solidFill>
                <a:latin typeface="Arial" panose="020B0604020202020204" pitchFamily="34" charset="0"/>
              </a:rPr>
              <a:t>OSI</a:t>
            </a:r>
            <a:r>
              <a:rPr lang="zh-CN" altLang="en-US" sz="1800" dirty="0">
                <a:solidFill>
                  <a:srgbClr val="FF0000"/>
                </a:solidFill>
                <a:latin typeface="Arial" panose="020B0604020202020204" pitchFamily="34" charset="0"/>
              </a:rPr>
              <a:t>模型中的要求，实际网络中的数据链路层并不一定保证这一点。</a:t>
            </a:r>
            <a:r>
              <a:rPr lang="en-US" altLang="zh-CN" sz="1800" dirty="0">
                <a:solidFill>
                  <a:srgbClr val="FF0000"/>
                </a:solidFill>
                <a:latin typeface="Arial" panose="020B0604020202020204" pitchFamily="34" charset="0"/>
              </a:rPr>
              <a:t>e.g., 802.3 vs 802.11</a:t>
            </a:r>
            <a:endParaRPr lang="en-US" altLang="zh-CN" sz="1800" dirty="0">
              <a:solidFill>
                <a:srgbClr val="FF0000"/>
              </a:solidFill>
              <a:latin typeface="Arial" panose="020B0604020202020204" pitchFamily="34" charset="0"/>
            </a:endParaRPr>
          </a:p>
        </p:txBody>
      </p:sp>
      <p:sp>
        <p:nvSpPr>
          <p:cNvPr id="5" name="Rectangle 4"/>
          <p:cNvSpPr/>
          <p:nvPr/>
        </p:nvSpPr>
        <p:spPr bwMode="auto">
          <a:xfrm>
            <a:off x="2057401" y="1536700"/>
            <a:ext cx="8503095" cy="1028204"/>
          </a:xfrm>
          <a:prstGeom prst="rect">
            <a:avLst/>
          </a:prstGeom>
          <a:noFill/>
          <a:ln w="9525" cap="flat" cmpd="sng" algn="ctr">
            <a:solidFill>
              <a:srgbClr val="FF0000"/>
            </a:solidFill>
            <a:prstDash val="solid"/>
            <a:round/>
            <a:headEnd type="none" w="med" len="med"/>
            <a:tailEnd type="triangle" w="med" len="med"/>
          </a:ln>
          <a:effectLst/>
        </p:spPr>
        <p:txBody>
          <a:bodyPr vert="horz" wrap="square" lIns="0" tIns="0" rIns="0" bIns="0" numCol="1" rtlCol="0" anchor="t" anchorCtr="0" compatLnSpc="1">
            <a:sp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0" lang="en-US" sz="2000" b="0" i="0" u="none" strike="noStrike" cap="none" normalizeH="0" baseline="0">
              <a:ln>
                <a:noFill/>
              </a:ln>
              <a:solidFill>
                <a:schemeClr val="tx1"/>
              </a:solidFill>
              <a:effectLst/>
              <a:latin typeface="Arial" panose="020B0604020202020204" pitchFamily="34" charset="0"/>
              <a:ea typeface="楷体_GB2312" pitchFamily="49" charset="-12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graphicFrame>
        <p:nvGraphicFramePr>
          <p:cNvPr id="9" name="表格 8"/>
          <p:cNvGraphicFramePr>
            <a:graphicFrameLocks noGrp="1"/>
          </p:cNvGraphicFramePr>
          <p:nvPr/>
        </p:nvGraphicFramePr>
        <p:xfrm>
          <a:off x="1055440" y="1196752"/>
          <a:ext cx="10009114" cy="5038390"/>
        </p:xfrm>
        <a:graphic>
          <a:graphicData uri="http://schemas.openxmlformats.org/drawingml/2006/table">
            <a:tbl>
              <a:tblPr>
                <a:tableStyleId>{5940675A-B579-460E-94D1-54222C63F5DA}</a:tableStyleId>
              </a:tblPr>
              <a:tblGrid>
                <a:gridCol w="901721"/>
                <a:gridCol w="450862"/>
                <a:gridCol w="1442756"/>
                <a:gridCol w="1532928"/>
                <a:gridCol w="5680847"/>
              </a:tblGrid>
              <a:tr h="0">
                <a:tc gridSpan="3">
                  <a:txBody>
                    <a:bodyPr/>
                    <a:lstStyle/>
                    <a:p>
                      <a:pPr algn="ctr" fontAlgn="ctr"/>
                      <a:r>
                        <a:rPr lang="en-US" sz="1600" u="none" strike="noStrike">
                          <a:effectLst/>
                        </a:rPr>
                        <a:t>Layer</a:t>
                      </a:r>
                      <a:endParaRPr lang="en-US" sz="1600" b="1"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hMerge="1">
                  <a:tcPr/>
                </a:tc>
                <a:tc hMerge="1">
                  <a:tcPr/>
                </a:tc>
                <a:tc>
                  <a:txBody>
                    <a:bodyPr/>
                    <a:lstStyle/>
                    <a:p>
                      <a:pPr algn="ctr" fontAlgn="ctr"/>
                      <a:r>
                        <a:rPr lang="en-US" sz="1600" u="none" strike="noStrike">
                          <a:effectLst/>
                          <a:hlinkClick r:id="rId1" tooltip="https://en.wikipedia.org/wiki/Protocol_data_unit"/>
                        </a:rPr>
                        <a:t>Protocol data unit (PDU)</a:t>
                      </a:r>
                      <a:endParaRPr lang="en-US" sz="1600" b="1"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ctr" fontAlgn="ctr"/>
                      <a:r>
                        <a:rPr lang="en-US" sz="1600" u="none" strike="noStrike">
                          <a:effectLst/>
                          <a:hlinkClick r:id="rId2"/>
                        </a:rPr>
                        <a:t>Function[20]</a:t>
                      </a:r>
                      <a:endParaRPr lang="en-US" sz="1600" b="1"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400237">
                <a:tc rowSpan="4">
                  <a:txBody>
                    <a:bodyPr/>
                    <a:lstStyle/>
                    <a:p>
                      <a:pPr algn="ctr" fontAlgn="ctr"/>
                      <a:r>
                        <a:rPr lang="en-US" sz="1600" u="none" strike="noStrike" dirty="0">
                          <a:effectLst/>
                        </a:rPr>
                        <a:t>Host</a:t>
                      </a:r>
                      <a:endParaRPr lang="en-US" sz="1600" b="1" i="0" u="none" strike="noStrike" dirty="0">
                        <a:solidFill>
                          <a:srgbClr val="202122"/>
                        </a:solidFill>
                        <a:effectLst/>
                        <a:latin typeface="Arial" panose="020B0604020202020204" pitchFamily="34" charset="0"/>
                        <a:ea typeface="宋体" panose="02010600030101010101" pitchFamily="2" charset="-122"/>
                      </a:endParaRPr>
                    </a:p>
                    <a:p>
                      <a:pPr algn="ctr" fontAlgn="ctr"/>
                      <a:r>
                        <a:rPr lang="en-US" sz="1600" u="none" strike="noStrike" dirty="0">
                          <a:effectLst/>
                        </a:rPr>
                        <a:t>layers</a:t>
                      </a:r>
                      <a:endParaRPr lang="en-US" sz="16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7</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3" tooltip="https://en.wikipedia.org/wiki/Application_layer"/>
                        </a:rPr>
                        <a:t>Application</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rowSpan="3">
                  <a:txBody>
                    <a:bodyPr/>
                    <a:lstStyle/>
                    <a:p>
                      <a:pPr algn="l" fontAlgn="ctr"/>
                      <a:r>
                        <a:rPr lang="en-US" sz="1600" u="none" strike="noStrike" dirty="0">
                          <a:effectLst/>
                          <a:hlinkClick r:id="rId4" tooltip="https://en.wikipedia.org/wiki/Data_(computing)"/>
                        </a:rPr>
                        <a:t>Data</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5" tooltip="https://en.wikipedia.org/wiki/API"/>
                        </a:rPr>
                        <a:t>High-level APIs, including resource sharing, remote file access</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925131">
                <a:tc vMerge="1">
                  <a:tcPr marL="1910" marR="1910" marT="1910" marB="0" anchor="ctr"/>
                </a:tc>
                <a:tc>
                  <a:txBody>
                    <a:bodyPr/>
                    <a:lstStyle/>
                    <a:p>
                      <a:pPr algn="r" fontAlgn="ctr"/>
                      <a:r>
                        <a:rPr lang="en-US" sz="1600" u="none" strike="noStrike">
                          <a:effectLst/>
                        </a:rPr>
                        <a:t>6</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hlinkClick r:id="rId6" tooltip="https://en.wikipedia.org/wiki/Presentation_layer"/>
                        </a:rPr>
                        <a:t>Presentation</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vMerge="1">
                  <a:tcPr/>
                </a:tc>
                <a:tc>
                  <a:txBody>
                    <a:bodyPr/>
                    <a:lstStyle/>
                    <a:p>
                      <a:pPr algn="l" fontAlgn="ctr"/>
                      <a:r>
                        <a:rPr lang="en-US" sz="1600" u="none" strike="noStrike">
                          <a:effectLst/>
                        </a:rPr>
                        <a:t>Translation of data between a networking service and an application; including character encoding, data compression and encryption/decryption</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925131">
                <a:tc vMerge="1">
                  <a:tcPr marL="1910" marR="1910" marT="1910" marB="0" anchor="ctr"/>
                </a:tc>
                <a:tc>
                  <a:txBody>
                    <a:bodyPr/>
                    <a:lstStyle/>
                    <a:p>
                      <a:pPr algn="r" fontAlgn="ctr"/>
                      <a:r>
                        <a:rPr lang="en-US" sz="1600" u="none" strike="noStrike" dirty="0">
                          <a:effectLst/>
                        </a:rPr>
                        <a:t>5</a:t>
                      </a:r>
                      <a:endParaRPr lang="en-US" sz="1600" b="0"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7" tooltip="https://en.wikipedia.org/wiki/Session_layer"/>
                        </a:rPr>
                        <a:t>Session</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vMerge="1">
                  <a:tcPr/>
                </a:tc>
                <a:tc>
                  <a:txBody>
                    <a:bodyPr/>
                    <a:lstStyle/>
                    <a:p>
                      <a:pPr algn="l" fontAlgn="ctr"/>
                      <a:r>
                        <a:rPr lang="en-US" sz="1600" u="none" strike="noStrike">
                          <a:effectLst/>
                          <a:hlinkClick r:id="rId8" tooltip="https://en.wikipedia.org/wiki/Session_(computer_science)"/>
                        </a:rPr>
                        <a:t>Managing communication sessions, i.e., continuous exchange of information in the form of multiple back-and-forth transmissions between two nodes</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749371">
                <a:tc vMerge="1">
                  <a:tcPr marL="1910" marR="1910" marT="1910" marB="0" anchor="ctr"/>
                </a:tc>
                <a:tc>
                  <a:txBody>
                    <a:bodyPr/>
                    <a:lstStyle/>
                    <a:p>
                      <a:pPr algn="r" fontAlgn="ctr"/>
                      <a:r>
                        <a:rPr lang="en-US" sz="1600" u="none" strike="noStrike">
                          <a:effectLst/>
                        </a:rPr>
                        <a:t>4</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hlinkClick r:id="rId9" tooltip="https://en.wikipedia.org/wiki/Transport_layer"/>
                        </a:rPr>
                        <a:t>Transport</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Segment, Datagram</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Reliable transmission of data segments between points on a network, including segmentation, acknowledgement and multiplexing</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529670">
                <a:tc rowSpan="3">
                  <a:txBody>
                    <a:bodyPr/>
                    <a:lstStyle/>
                    <a:p>
                      <a:pPr algn="ctr" fontAlgn="ctr"/>
                      <a:r>
                        <a:rPr lang="en-US" sz="1600" u="none" strike="noStrike" dirty="0">
                          <a:effectLst/>
                        </a:rPr>
                        <a:t>Media</a:t>
                      </a:r>
                      <a:endParaRPr lang="en-US" sz="1600" b="1" i="0" u="none" strike="noStrike" dirty="0">
                        <a:solidFill>
                          <a:srgbClr val="202122"/>
                        </a:solidFill>
                        <a:effectLst/>
                        <a:latin typeface="Arial" panose="020B0604020202020204" pitchFamily="34" charset="0"/>
                        <a:ea typeface="宋体" panose="02010600030101010101" pitchFamily="2" charset="-122"/>
                      </a:endParaRPr>
                    </a:p>
                    <a:p>
                      <a:pPr algn="ctr" fontAlgn="ctr"/>
                      <a:r>
                        <a:rPr lang="en-US" sz="1600" u="none" strike="noStrike" dirty="0">
                          <a:effectLst/>
                        </a:rPr>
                        <a:t>layers</a:t>
                      </a:r>
                      <a:endParaRPr lang="en-US" sz="16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3</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0" tooltip="https://en.wikipedia.org/wiki/Network_layer"/>
                        </a:rPr>
                        <a:t>Network</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1" tooltip="https://en.wikipedia.org/wiki/Network_packet"/>
                        </a:rPr>
                        <a:t>Packet</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Structuring and managing a multi-node network, including addressing, routing and traffic control</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529670">
                <a:tc vMerge="1">
                  <a:tcPr marL="1910" marR="1910" marT="1910" marB="0" anchor="ctr"/>
                </a:tc>
                <a:tc>
                  <a:txBody>
                    <a:bodyPr/>
                    <a:lstStyle/>
                    <a:p>
                      <a:pPr algn="r" fontAlgn="ctr"/>
                      <a:r>
                        <a:rPr lang="en-US" sz="1600" u="none" strike="noStrike">
                          <a:effectLst/>
                        </a:rPr>
                        <a:t>2</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2" tooltip="https://en.wikipedia.org/wiki/Data_link_layer"/>
                        </a:rPr>
                        <a:t>Data link</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3" tooltip="https://en.wikipedia.org/wiki/Frame_(networking)"/>
                        </a:rPr>
                        <a:t>Frame</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Reliable transmission of data frames between two nodes connected by a physical layer</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r>
              <a:tr h="441790">
                <a:tc vMerge="1">
                  <a:tcPr marL="1910" marR="1910" marT="1910" marB="0" anchor="ctr"/>
                </a:tc>
                <a:tc>
                  <a:txBody>
                    <a:bodyPr/>
                    <a:lstStyle/>
                    <a:p>
                      <a:pPr algn="r" fontAlgn="ctr"/>
                      <a:r>
                        <a:rPr lang="en-US" sz="1600" u="none" strike="noStrike">
                          <a:effectLst/>
                        </a:rPr>
                        <a:t>1</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4" tooltip="https://en.wikipedia.org/wiki/Physical_layer"/>
                        </a:rPr>
                        <a:t>Physical</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Bit, Symbol</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rPr>
                        <a:t>Transmission and reception of raw bit streams over a physical medium</a:t>
                      </a:r>
                      <a:endParaRPr lang="en-US" sz="1600" b="0"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r>
            </a:tbl>
          </a:graphicData>
        </a:graphic>
      </p:graphicFrame>
      <p:sp>
        <p:nvSpPr>
          <p:cNvPr id="10" name="矩形 9"/>
          <p:cNvSpPr/>
          <p:nvPr/>
        </p:nvSpPr>
        <p:spPr>
          <a:xfrm>
            <a:off x="4088904" y="311608"/>
            <a:ext cx="4572000" cy="400110"/>
          </a:xfrm>
          <a:prstGeom prst="rect">
            <a:avLst/>
          </a:prstGeom>
        </p:spPr>
        <p:txBody>
          <a:bodyPr>
            <a:spAutoFit/>
          </a:bodyPr>
          <a:lstStyle/>
          <a:p>
            <a:r>
              <a:rPr lang="en-US" sz="2000" dirty="0">
                <a:highlight>
                  <a:srgbClr val="FFFF00"/>
                </a:highlight>
              </a:rPr>
              <a:t>OSI model</a:t>
            </a:r>
            <a:endParaRPr lang="en-US" sz="2000" dirty="0">
              <a:highlight>
                <a:srgbClr val="FFFF00"/>
              </a:highlight>
            </a:endParaRPr>
          </a:p>
        </p:txBody>
      </p:sp>
    </p:spTree>
  </p:cSld>
  <p:clrMapOvr>
    <a:masterClrMapping/>
  </p:clrMapOvr>
  <p:transition spd="slow">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kumimoji="1" lang="zh-CN" altLang="en-US" dirty="0"/>
          </a:p>
        </p:txBody>
      </p:sp>
      <p:sp>
        <p:nvSpPr>
          <p:cNvPr id="3" name="内容占位符 2"/>
          <p:cNvSpPr>
            <a:spLocks noGrp="1"/>
          </p:cNvSpPr>
          <p:nvPr>
            <p:ph idx="1"/>
          </p:nvPr>
        </p:nvSpPr>
        <p:spPr/>
        <p:txBody>
          <a:bodyPr>
            <a:normAutofit/>
          </a:bodyPr>
          <a:lstStyle/>
          <a:p>
            <a:pPr marL="0" indent="0">
              <a:lnSpc>
                <a:spcPct val="130000"/>
              </a:lnSpc>
              <a:buNone/>
            </a:pPr>
            <a:r>
              <a:rPr kumimoji="1" lang="en-US" altLang="zh-CN" dirty="0">
                <a:solidFill>
                  <a:srgbClr val="C00000"/>
                </a:solidFill>
              </a:rPr>
              <a:t>3.1 </a:t>
            </a:r>
            <a:r>
              <a:rPr kumimoji="1" lang="zh-CN" altLang="zh-CN" dirty="0">
                <a:solidFill>
                  <a:srgbClr val="C00000"/>
                </a:solidFill>
              </a:rPr>
              <a:t>数据链路层的设计问题</a:t>
            </a:r>
            <a:endParaRPr kumimoji="1" lang="en-US" altLang="zh-CN" dirty="0">
              <a:solidFill>
                <a:srgbClr val="C00000"/>
              </a:solidFill>
            </a:endParaRPr>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endParaRPr kumimoji="1" lang="zh-CN"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矩形标注 4"/>
          <p:cNvSpPr/>
          <p:nvPr/>
        </p:nvSpPr>
        <p:spPr>
          <a:xfrm>
            <a:off x="6096000" y="1510758"/>
            <a:ext cx="4768770" cy="3317541"/>
          </a:xfrm>
          <a:prstGeom prst="wedgeRectCallout">
            <a:avLst>
              <a:gd name="adj1" fmla="val -70353"/>
              <a:gd name="adj2" fmla="val -3934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数据链路层在协议栈中的位置</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数据链路层的功能</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数据链路层提供的服务</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成帧</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差错控制</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流量控制</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数据链路层在协议栈中的位置</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997335" y="3017185"/>
            <a:ext cx="3849451" cy="3263718"/>
            <a:chOff x="4332600" y="2496402"/>
            <a:chExt cx="3454707" cy="3263718"/>
          </a:xfrm>
          <a:solidFill>
            <a:schemeClr val="accent5">
              <a:lumMod val="20000"/>
              <a:lumOff val="80000"/>
            </a:schemeClr>
          </a:solidFill>
        </p:grpSpPr>
        <p:sp>
          <p:nvSpPr>
            <p:cNvPr id="8" name="Rectangle 6"/>
            <p:cNvSpPr>
              <a:spLocks noChangeArrowheads="1"/>
            </p:cNvSpPr>
            <p:nvPr/>
          </p:nvSpPr>
          <p:spPr bwMode="auto">
            <a:xfrm>
              <a:off x="4332600" y="2496402"/>
              <a:ext cx="3454707" cy="431800"/>
            </a:xfrm>
            <a:prstGeom prst="rect">
              <a:avLst/>
            </a:prstGeom>
            <a:grpFill/>
            <a:ln w="19050">
              <a:solidFill>
                <a:schemeClr val="accent5">
                  <a:lumMod val="20000"/>
                  <a:lumOff val="80000"/>
                </a:schemeClr>
              </a:solidFill>
              <a:miter lim="800000"/>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88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Rectangle 7"/>
            <p:cNvSpPr>
              <a:spLocks noChangeArrowheads="1"/>
            </p:cNvSpPr>
            <p:nvPr/>
          </p:nvSpPr>
          <p:spPr bwMode="auto">
            <a:xfrm>
              <a:off x="4332600" y="2928202"/>
              <a:ext cx="3454707" cy="431800"/>
            </a:xfrm>
            <a:prstGeom prst="rect">
              <a:avLst/>
            </a:prstGeom>
            <a:grpFill/>
            <a:ln w="19050">
              <a:solidFill>
                <a:schemeClr val="accent5">
                  <a:lumMod val="20000"/>
                  <a:lumOff val="80000"/>
                </a:schemeClr>
              </a:solidFill>
              <a:miter lim="800000"/>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88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传输层（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Rectangle 8"/>
            <p:cNvSpPr>
              <a:spLocks noChangeArrowheads="1"/>
            </p:cNvSpPr>
            <p:nvPr/>
          </p:nvSpPr>
          <p:spPr bwMode="auto">
            <a:xfrm>
              <a:off x="4332600" y="3360002"/>
              <a:ext cx="3454707" cy="431800"/>
            </a:xfrm>
            <a:prstGeom prst="rect">
              <a:avLst/>
            </a:prstGeom>
            <a:grpFill/>
            <a:ln w="19050">
              <a:solidFill>
                <a:schemeClr val="accent5">
                  <a:lumMod val="20000"/>
                  <a:lumOff val="80000"/>
                </a:schemeClr>
              </a:solidFill>
              <a:miter lim="800000"/>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88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NL</a:t>
              </a: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Rectangle 11"/>
            <p:cNvSpPr>
              <a:spLocks noChangeArrowheads="1"/>
            </p:cNvSpPr>
            <p:nvPr/>
          </p:nvSpPr>
          <p:spPr bwMode="auto">
            <a:xfrm>
              <a:off x="4332600" y="4656990"/>
              <a:ext cx="3454707" cy="431800"/>
            </a:xfrm>
            <a:prstGeom prst="rect">
              <a:avLst/>
            </a:prstGeom>
            <a:grpFill/>
            <a:ln w="19050">
              <a:solidFill>
                <a:schemeClr val="accent5">
                  <a:lumMod val="20000"/>
                  <a:lumOff val="80000"/>
                </a:schemeClr>
              </a:solidFill>
              <a:miter lim="800000"/>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880" algn="ctr"/>
              <a:r>
                <a:rPr lang="zh-CN" altLang="en-US" sz="2000" kern="0" dirty="0">
                  <a:solidFill>
                    <a:prstClr val="black"/>
                  </a:solidFill>
                  <a:latin typeface="微软雅黑" panose="020B0503020204020204" pitchFamily="34" charset="-122"/>
                  <a:ea typeface="微软雅黑" panose="020B0503020204020204" pitchFamily="34" charset="-122"/>
                </a:rPr>
                <a:t>物理层（</a:t>
              </a:r>
              <a:r>
                <a:rPr lang="en-US" altLang="zh-CN" sz="2000" kern="0" dirty="0">
                  <a:solidFill>
                    <a:prstClr val="black"/>
                  </a:solidFill>
                  <a:latin typeface="微软雅黑" panose="020B0503020204020204" pitchFamily="34" charset="-122"/>
                  <a:ea typeface="微软雅黑" panose="020B0503020204020204" pitchFamily="34" charset="-122"/>
                </a:rPr>
                <a:t>PHL</a:t>
              </a:r>
              <a:r>
                <a:rPr lang="zh-CN" altLang="en-US" sz="2000" kern="0" dirty="0">
                  <a:solidFill>
                    <a:prstClr val="black"/>
                  </a:solidFill>
                  <a:latin typeface="微软雅黑" panose="020B0503020204020204" pitchFamily="34" charset="-122"/>
                  <a:ea typeface="微软雅黑" panose="020B0503020204020204" pitchFamily="34" charset="-122"/>
                </a:rPr>
                <a:t>）</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4" name="矩形 13"/>
            <p:cNvSpPr/>
            <p:nvPr/>
          </p:nvSpPr>
          <p:spPr>
            <a:xfrm>
              <a:off x="4741682" y="5360010"/>
              <a:ext cx="2611225"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参考协议栈</a:t>
              </a:r>
              <a:endPar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16" name="Rectangle 9"/>
          <p:cNvSpPr>
            <a:spLocks noChangeArrowheads="1"/>
          </p:cNvSpPr>
          <p:nvPr/>
        </p:nvSpPr>
        <p:spPr bwMode="auto">
          <a:xfrm>
            <a:off x="6846786" y="4313378"/>
            <a:ext cx="2794580" cy="444376"/>
          </a:xfrm>
          <a:prstGeom prst="rect">
            <a:avLst/>
          </a:prstGeom>
          <a:solidFill>
            <a:schemeClr val="accent2">
              <a:lumMod val="40000"/>
              <a:lumOff val="60000"/>
            </a:schemeClr>
          </a:solidFill>
          <a:ln w="1905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880" algn="ctr">
              <a:defRPr/>
            </a:pPr>
            <a:r>
              <a:rPr lang="zh-CN" altLang="en-US" sz="2000" kern="0" dirty="0">
                <a:solidFill>
                  <a:prstClr val="black"/>
                </a:solidFill>
                <a:latin typeface="微软雅黑" panose="020B0503020204020204" pitchFamily="34" charset="-122"/>
                <a:ea typeface="微软雅黑" panose="020B0503020204020204" pitchFamily="34" charset="-122"/>
              </a:rPr>
              <a:t>逻辑链路控制 </a:t>
            </a:r>
            <a:r>
              <a:rPr lang="en-US" altLang="zh-CN" sz="2000" kern="0" dirty="0">
                <a:solidFill>
                  <a:prstClr val="black"/>
                </a:solidFill>
                <a:latin typeface="微软雅黑" panose="020B0503020204020204" pitchFamily="34" charset="-122"/>
                <a:ea typeface="微软雅黑" panose="020B0503020204020204" pitchFamily="34" charset="-122"/>
              </a:rPr>
              <a:t>(LLC)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7" name="Rectangle 10"/>
          <p:cNvSpPr>
            <a:spLocks noChangeArrowheads="1"/>
          </p:cNvSpPr>
          <p:nvPr/>
        </p:nvSpPr>
        <p:spPr bwMode="auto">
          <a:xfrm>
            <a:off x="6846787" y="4745178"/>
            <a:ext cx="2794580" cy="445169"/>
          </a:xfrm>
          <a:prstGeom prst="rect">
            <a:avLst/>
          </a:prstGeom>
          <a:solidFill>
            <a:schemeClr val="accent2">
              <a:lumMod val="40000"/>
              <a:lumOff val="60000"/>
            </a:schemeClr>
          </a:solidFill>
          <a:ln w="1905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880" algn="ctr"/>
            <a:r>
              <a:rPr lang="zh-CN" altLang="en-US" sz="2000" kern="0" dirty="0">
                <a:solidFill>
                  <a:prstClr val="black"/>
                </a:solidFill>
                <a:latin typeface="微软雅黑" panose="020B0503020204020204" pitchFamily="34" charset="-122"/>
                <a:ea typeface="微软雅黑" panose="020B0503020204020204" pitchFamily="34" charset="-122"/>
              </a:rPr>
              <a:t>介质访问控制 </a:t>
            </a:r>
            <a:r>
              <a:rPr lang="en-US" altLang="zh-CN" sz="2000" kern="0" dirty="0">
                <a:solidFill>
                  <a:prstClr val="black"/>
                </a:solidFill>
                <a:latin typeface="微软雅黑" panose="020B0503020204020204" pitchFamily="34" charset="-122"/>
                <a:ea typeface="微软雅黑" panose="020B0503020204020204" pitchFamily="34" charset="-122"/>
              </a:rPr>
              <a:t>(MAC)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9" name="Rectangle 8"/>
          <p:cNvSpPr>
            <a:spLocks noChangeArrowheads="1"/>
          </p:cNvSpPr>
          <p:nvPr/>
        </p:nvSpPr>
        <p:spPr bwMode="auto">
          <a:xfrm>
            <a:off x="2997335" y="4313378"/>
            <a:ext cx="3849451" cy="864395"/>
          </a:xfrm>
          <a:prstGeom prst="rect">
            <a:avLst/>
          </a:prstGeom>
          <a:solidFill>
            <a:schemeClr val="accent2">
              <a:lumMod val="40000"/>
              <a:lumOff val="60000"/>
            </a:schemeClr>
          </a:solidFill>
          <a:ln w="19050">
            <a:solidFill>
              <a:schemeClr val="accent5">
                <a:lumMod val="20000"/>
                <a:lumOff val="80000"/>
              </a:schemeClr>
            </a:solidFill>
            <a:miter lim="800000"/>
          </a:ln>
          <a:effectLst/>
          <a:scene3d>
            <a:camera prst="orthographicFront"/>
            <a:lightRig rig="threePt" dir="t"/>
          </a:scene3d>
          <a:sp3d>
            <a:bevelT/>
          </a:sp3d>
        </p:spPr>
        <p:txBody>
          <a:bodyPr wrap="none" lIns="0" tIns="0" rIns="0" bIns="0" anchor="ctr"/>
          <a:lstStyle/>
          <a:p>
            <a:pPr marL="182880" algn="ctr"/>
            <a:r>
              <a:rPr lang="zh-CN" altLang="en-US" sz="2000" kern="0" dirty="0">
                <a:solidFill>
                  <a:prstClr val="black"/>
                </a:solidFill>
                <a:latin typeface="微软雅黑" panose="020B0503020204020204" pitchFamily="34" charset="-122"/>
                <a:ea typeface="微软雅黑" panose="020B0503020204020204" pitchFamily="34" charset="-122"/>
              </a:rPr>
              <a:t>数据链路层（</a:t>
            </a:r>
            <a:r>
              <a:rPr lang="en-US" altLang="zh-CN" sz="2000" kern="0" dirty="0">
                <a:solidFill>
                  <a:prstClr val="black"/>
                </a:solidFill>
                <a:latin typeface="微软雅黑" panose="020B0503020204020204" pitchFamily="34" charset="-122"/>
                <a:ea typeface="微软雅黑" panose="020B0503020204020204" pitchFamily="34" charset="-122"/>
              </a:rPr>
              <a:t>DLL</a:t>
            </a:r>
            <a:r>
              <a:rPr lang="zh-CN" altLang="en-US" sz="2000" kern="0" dirty="0">
                <a:solidFill>
                  <a:prstClr val="black"/>
                </a:solidFill>
                <a:latin typeface="微软雅黑" panose="020B0503020204020204" pitchFamily="34" charset="-122"/>
                <a:ea typeface="微软雅黑" panose="020B0503020204020204" pitchFamily="34" charset="-122"/>
              </a:rPr>
              <a:t>）</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22" name="椭圆形标注 21"/>
          <p:cNvSpPr/>
          <p:nvPr/>
        </p:nvSpPr>
        <p:spPr>
          <a:xfrm>
            <a:off x="7525042" y="2926026"/>
            <a:ext cx="1987626" cy="950825"/>
          </a:xfrm>
          <a:prstGeom prst="wedgeEllipseCallout">
            <a:avLst>
              <a:gd name="adj1" fmla="val -39044"/>
              <a:gd name="adj2" fmla="val 109510"/>
            </a:avLst>
          </a:prstGeom>
          <a:solidFill>
            <a:schemeClr val="accent5">
              <a:lumMod val="20000"/>
              <a:lumOff val="80000"/>
            </a:schemeClr>
          </a:solidFill>
          <a:ln w="19050">
            <a:solidFill>
              <a:schemeClr val="accent5">
                <a:lumMod val="20000"/>
                <a:lumOff val="80000"/>
              </a:schemeClr>
            </a:solidFill>
            <a:miter lim="800000"/>
          </a:ln>
          <a:effectLst/>
          <a:scene3d>
            <a:camera prst="orthographicFront"/>
            <a:lightRig rig="threePt" dir="t"/>
          </a:scene3d>
          <a:sp3d>
            <a:bevelT/>
          </a:sp3d>
        </p:spPr>
        <p:txBody>
          <a:bodyPr wrap="none" lIns="0" tIns="0" rIns="0" bIns="0" anchor="ctr"/>
          <a:lstStyle/>
          <a:p>
            <a:pPr marR="0" lvl="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局域网的</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数据链路层</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内容占位符 2"/>
          <p:cNvSpPr>
            <a:spLocks noGrp="1"/>
          </p:cNvSpPr>
          <p:nvPr>
            <p:ph idx="1"/>
          </p:nvPr>
        </p:nvSpPr>
        <p:spPr>
          <a:xfrm>
            <a:off x="838200" y="1510758"/>
            <a:ext cx="10515600" cy="1190878"/>
          </a:xfrm>
        </p:spPr>
        <p:txBody>
          <a:bodyPr>
            <a:normAutofit/>
          </a:bodyPr>
          <a:lstStyle/>
          <a:p>
            <a:pPr>
              <a:lnSpc>
                <a:spcPts val="3800"/>
              </a:lnSpc>
            </a:pPr>
            <a:r>
              <a:rPr lang="zh-CN" altLang="en-US" dirty="0"/>
              <a:t>向下：利用物理层提供的位流服务</a:t>
            </a:r>
            <a:endParaRPr lang="en-US" altLang="zh-CN" dirty="0"/>
          </a:p>
          <a:p>
            <a:pPr>
              <a:lnSpc>
                <a:spcPts val="3800"/>
              </a:lnSpc>
            </a:pPr>
            <a:r>
              <a:rPr lang="zh-CN" altLang="en-US" dirty="0"/>
              <a:t>向上：向网络层提供</a:t>
            </a:r>
            <a:r>
              <a:rPr lang="zh-CN" altLang="en-US" dirty="0">
                <a:solidFill>
                  <a:srgbClr val="7030A0"/>
                </a:solidFill>
              </a:rPr>
              <a:t>明确的 </a:t>
            </a:r>
            <a:r>
              <a:rPr lang="en-US" altLang="zh-CN" dirty="0"/>
              <a:t>(well-defined) </a:t>
            </a:r>
            <a:r>
              <a:rPr lang="zh-CN" altLang="en-US" dirty="0">
                <a:solidFill>
                  <a:srgbClr val="7030A0"/>
                </a:solidFill>
              </a:rPr>
              <a:t>服务接口</a:t>
            </a:r>
            <a:endParaRPr lang="en-US" altLang="zh-CN" dirty="0">
              <a:solidFill>
                <a:srgbClr val="7030A0"/>
              </a:solidFill>
            </a:endParaRPr>
          </a:p>
          <a:p>
            <a:pPr marL="0" indent="0">
              <a:lnSpc>
                <a:spcPts val="3800"/>
              </a:lnSpc>
              <a:buNone/>
            </a:pP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数据链路层的功能</a:t>
            </a:r>
            <a:endParaRPr lang="zh-CN" altLang="en-US" dirty="0"/>
          </a:p>
        </p:txBody>
      </p:sp>
      <p:sp>
        <p:nvSpPr>
          <p:cNvPr id="3" name="内容占位符 2"/>
          <p:cNvSpPr>
            <a:spLocks noGrp="1"/>
          </p:cNvSpPr>
          <p:nvPr>
            <p:ph idx="1"/>
          </p:nvPr>
        </p:nvSpPr>
        <p:spPr>
          <a:xfrm>
            <a:off x="838200" y="1510757"/>
            <a:ext cx="10515600" cy="4585243"/>
          </a:xfrm>
        </p:spPr>
        <p:txBody>
          <a:bodyPr>
            <a:normAutofit/>
          </a:bodyPr>
          <a:lstStyle/>
          <a:p>
            <a:pPr>
              <a:lnSpc>
                <a:spcPts val="3800"/>
              </a:lnSpc>
            </a:pPr>
            <a:r>
              <a:rPr lang="zh-CN" altLang="en-US" b="1" dirty="0"/>
              <a:t>成帧 （</a:t>
            </a:r>
            <a:r>
              <a:rPr lang="en-US" altLang="zh-CN" b="1" dirty="0"/>
              <a:t>Framing</a:t>
            </a:r>
            <a:r>
              <a:rPr lang="zh-CN" altLang="en-US" b="1" dirty="0"/>
              <a:t>）</a:t>
            </a:r>
            <a:endParaRPr lang="en-US" altLang="zh-CN" b="1" dirty="0"/>
          </a:p>
          <a:p>
            <a:pPr lvl="1">
              <a:lnSpc>
                <a:spcPts val="3800"/>
              </a:lnSpc>
            </a:pPr>
            <a:r>
              <a:rPr lang="zh-CN" altLang="en-US" dirty="0"/>
              <a:t>将比特流划分成</a:t>
            </a:r>
            <a:r>
              <a:rPr lang="zh-CN" altLang="en-US" dirty="0">
                <a:solidFill>
                  <a:srgbClr val="C00000"/>
                </a:solidFill>
              </a:rPr>
              <a:t>“帧”</a:t>
            </a:r>
            <a:r>
              <a:rPr lang="zh-CN" altLang="en-US" dirty="0"/>
              <a:t>的主要目的是为了检测和纠正物理层在比特传输中可能出现的错误，数据链路层功能需借助</a:t>
            </a:r>
            <a:r>
              <a:rPr lang="zh-CN" altLang="en-US" dirty="0">
                <a:solidFill>
                  <a:srgbClr val="C00000"/>
                </a:solidFill>
              </a:rPr>
              <a:t>“帧”</a:t>
            </a:r>
            <a:r>
              <a:rPr lang="zh-CN" altLang="en-US" dirty="0"/>
              <a:t>的各个域来实现</a:t>
            </a:r>
            <a:endParaRPr lang="en-US" altLang="zh-CN" dirty="0"/>
          </a:p>
          <a:p>
            <a:pPr>
              <a:lnSpc>
                <a:spcPts val="3800"/>
              </a:lnSpc>
            </a:pPr>
            <a:r>
              <a:rPr lang="zh-CN" altLang="en-US" b="1" dirty="0"/>
              <a:t>差错控制 （</a:t>
            </a:r>
            <a:r>
              <a:rPr lang="en-US" altLang="zh-CN" b="1" dirty="0"/>
              <a:t>Error Control</a:t>
            </a:r>
            <a:r>
              <a:rPr lang="zh-CN" altLang="en-US" b="1" dirty="0"/>
              <a:t>）</a:t>
            </a:r>
            <a:endParaRPr lang="en-US" altLang="zh-CN" b="1" dirty="0"/>
          </a:p>
          <a:p>
            <a:pPr lvl="1">
              <a:lnSpc>
                <a:spcPts val="3800"/>
              </a:lnSpc>
            </a:pPr>
            <a:r>
              <a:rPr lang="zh-CN" altLang="en-US" dirty="0"/>
              <a:t>处理传输中出现的</a:t>
            </a:r>
            <a:r>
              <a:rPr lang="zh-CN" altLang="en-US" dirty="0">
                <a:solidFill>
                  <a:srgbClr val="7030A0"/>
                </a:solidFill>
              </a:rPr>
              <a:t>差错</a:t>
            </a:r>
            <a:r>
              <a:rPr lang="zh-CN" altLang="en-US" dirty="0"/>
              <a:t>，如位错误、丢失等</a:t>
            </a:r>
            <a:endParaRPr lang="en-US" altLang="zh-CN" dirty="0"/>
          </a:p>
          <a:p>
            <a:pPr>
              <a:lnSpc>
                <a:spcPts val="3800"/>
              </a:lnSpc>
            </a:pPr>
            <a:r>
              <a:rPr lang="zh-CN" altLang="en-US" b="1" dirty="0"/>
              <a:t>流量控制 （</a:t>
            </a:r>
            <a:r>
              <a:rPr lang="en-US" altLang="zh-CN" b="1" dirty="0"/>
              <a:t>Flow Control</a:t>
            </a:r>
            <a:r>
              <a:rPr lang="zh-CN" altLang="en-US" b="1" dirty="0"/>
              <a:t>）</a:t>
            </a:r>
            <a:endParaRPr lang="en-US" altLang="zh-CN" b="1" dirty="0"/>
          </a:p>
          <a:p>
            <a:pPr lvl="1">
              <a:lnSpc>
                <a:spcPts val="3800"/>
              </a:lnSpc>
            </a:pPr>
            <a:r>
              <a:rPr lang="zh-CN" altLang="en-US" dirty="0"/>
              <a:t>确保发送方的</a:t>
            </a:r>
            <a:r>
              <a:rPr lang="zh-CN" altLang="en-US" dirty="0">
                <a:solidFill>
                  <a:srgbClr val="7030A0"/>
                </a:solidFill>
              </a:rPr>
              <a:t>发送速率</a:t>
            </a:r>
            <a:r>
              <a:rPr lang="zh-CN" altLang="en-US" dirty="0"/>
              <a:t>，不大于接收方的处理速率</a:t>
            </a:r>
            <a:endParaRPr lang="en-US" altLang="zh-CN" dirty="0"/>
          </a:p>
          <a:p>
            <a:pPr lvl="2" indent="-341630">
              <a:lnSpc>
                <a:spcPts val="3800"/>
              </a:lnSpc>
              <a:buFont typeface="微软雅黑" panose="020B0503020204020204" pitchFamily="34" charset="-122"/>
              <a:buChar char="−"/>
            </a:pPr>
            <a:r>
              <a:rPr lang="zh-CN" altLang="en-US" dirty="0"/>
              <a:t>避免接收缓冲区溢出</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数据链路层提供的服务</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b="1" dirty="0">
                <a:solidFill>
                  <a:srgbClr val="5B307E"/>
                </a:solidFill>
              </a:rPr>
              <a:t>无确认 无连接 </a:t>
            </a:r>
            <a:r>
              <a:rPr lang="zh-CN" altLang="en-US" b="1" dirty="0"/>
              <a:t>服务（</a:t>
            </a:r>
            <a:r>
              <a:rPr lang="en-US" altLang="zh-CN" b="1" dirty="0">
                <a:solidFill>
                  <a:srgbClr val="00B0F0"/>
                </a:solidFill>
              </a:rPr>
              <a:t> </a:t>
            </a:r>
            <a:r>
              <a:rPr lang="en-US" altLang="zh-CN" b="1" dirty="0">
                <a:solidFill>
                  <a:srgbClr val="7030A0"/>
                </a:solidFill>
              </a:rPr>
              <a:t>Unack</a:t>
            </a:r>
            <a:r>
              <a:rPr lang="en-US" altLang="zh-CN" b="1" dirty="0"/>
              <a:t>nowledged connection</a:t>
            </a:r>
            <a:r>
              <a:rPr lang="en-US" altLang="zh-CN" b="1" dirty="0">
                <a:solidFill>
                  <a:srgbClr val="7030A0"/>
                </a:solidFill>
              </a:rPr>
              <a:t>less</a:t>
            </a:r>
            <a:r>
              <a:rPr lang="en-US" altLang="zh-CN" b="1" dirty="0"/>
              <a:t> </a:t>
            </a:r>
            <a:r>
              <a:rPr lang="zh-CN" altLang="en-US" b="1" dirty="0"/>
              <a:t>）</a:t>
            </a:r>
            <a:endParaRPr lang="en-US" altLang="zh-CN" b="1" dirty="0"/>
          </a:p>
          <a:p>
            <a:pPr lvl="1"/>
            <a:r>
              <a:rPr lang="zh-CN" altLang="en-US" dirty="0"/>
              <a:t>接收方不对收到的帧进行确认</a:t>
            </a:r>
            <a:endParaRPr lang="en-US" altLang="zh-CN" dirty="0"/>
          </a:p>
          <a:p>
            <a:pPr lvl="1"/>
            <a:r>
              <a:rPr lang="zh-CN" altLang="en-US" dirty="0"/>
              <a:t>适用场景：误码率低的可靠信道；实时通信；</a:t>
            </a:r>
            <a:endParaRPr lang="en-US" altLang="zh-CN" dirty="0"/>
          </a:p>
          <a:p>
            <a:pPr lvl="1"/>
            <a:r>
              <a:rPr lang="zh-CN" altLang="en-US" dirty="0"/>
              <a:t>网络实例：以太网</a:t>
            </a:r>
            <a:endParaRPr lang="en-US" altLang="zh-CN" dirty="0"/>
          </a:p>
          <a:p>
            <a:pPr>
              <a:spcBef>
                <a:spcPts val="2400"/>
              </a:spcBef>
            </a:pPr>
            <a:r>
              <a:rPr lang="zh-CN" altLang="en-US" b="1" dirty="0">
                <a:solidFill>
                  <a:srgbClr val="C00000"/>
                </a:solidFill>
              </a:rPr>
              <a:t>有确认 </a:t>
            </a:r>
            <a:r>
              <a:rPr lang="zh-CN" altLang="en-US" b="1" dirty="0">
                <a:solidFill>
                  <a:srgbClr val="7030A0"/>
                </a:solidFill>
              </a:rPr>
              <a:t>无连接 </a:t>
            </a:r>
            <a:r>
              <a:rPr lang="zh-CN" altLang="en-US" b="1" dirty="0"/>
              <a:t>服务（</a:t>
            </a:r>
            <a:r>
              <a:rPr lang="en-US" altLang="zh-CN" b="1" dirty="0">
                <a:solidFill>
                  <a:srgbClr val="00B0F0"/>
                </a:solidFill>
              </a:rPr>
              <a:t> </a:t>
            </a:r>
            <a:r>
              <a:rPr lang="en-US" altLang="zh-CN" b="1" dirty="0">
                <a:solidFill>
                  <a:srgbClr val="C00000"/>
                </a:solidFill>
              </a:rPr>
              <a:t>Ack</a:t>
            </a:r>
            <a:r>
              <a:rPr lang="en-US" altLang="zh-CN" b="1" dirty="0"/>
              <a:t>nowledged connection</a:t>
            </a:r>
            <a:r>
              <a:rPr lang="en-US" altLang="zh-CN" b="1" dirty="0">
                <a:solidFill>
                  <a:srgbClr val="7030A0"/>
                </a:solidFill>
              </a:rPr>
              <a:t>less</a:t>
            </a:r>
            <a:r>
              <a:rPr lang="en-US" altLang="zh-CN" b="1" dirty="0"/>
              <a:t> </a:t>
            </a:r>
            <a:r>
              <a:rPr lang="zh-CN" altLang="en-US" b="1" dirty="0"/>
              <a:t>）</a:t>
            </a:r>
            <a:endParaRPr lang="en-US" altLang="zh-CN" b="1" dirty="0"/>
          </a:p>
          <a:p>
            <a:pPr lvl="1"/>
            <a:r>
              <a:rPr lang="zh-CN" altLang="en-US" dirty="0"/>
              <a:t>每一帧都得到单独的确认</a:t>
            </a:r>
            <a:endParaRPr lang="en-US" altLang="zh-CN" dirty="0"/>
          </a:p>
          <a:p>
            <a:pPr lvl="1"/>
            <a:r>
              <a:rPr lang="zh-CN" altLang="en-US" dirty="0"/>
              <a:t>适用场景：不可靠的信道（无线信道）</a:t>
            </a:r>
            <a:endParaRPr lang="en-US" altLang="zh-CN" dirty="0"/>
          </a:p>
          <a:p>
            <a:pPr lvl="1"/>
            <a:r>
              <a:rPr lang="zh-CN" altLang="en-US" dirty="0"/>
              <a:t>网络实例：</a:t>
            </a:r>
            <a:r>
              <a:rPr lang="en-US" altLang="zh-CN" dirty="0"/>
              <a:t>802.11</a:t>
            </a:r>
            <a:endParaRPr lang="en-US" altLang="zh-CN" dirty="0"/>
          </a:p>
          <a:p>
            <a:pPr>
              <a:spcBef>
                <a:spcPts val="2400"/>
              </a:spcBef>
            </a:pPr>
            <a:r>
              <a:rPr lang="zh-CN" altLang="en-US" b="1" dirty="0">
                <a:solidFill>
                  <a:srgbClr val="C00000"/>
                </a:solidFill>
              </a:rPr>
              <a:t>有确认 有连接 </a:t>
            </a:r>
            <a:r>
              <a:rPr lang="zh-CN" altLang="en-US" b="1" dirty="0"/>
              <a:t>服务（</a:t>
            </a:r>
            <a:r>
              <a:rPr lang="en-US" altLang="zh-CN" b="1" dirty="0">
                <a:solidFill>
                  <a:srgbClr val="00B0F0"/>
                </a:solidFill>
              </a:rPr>
              <a:t> </a:t>
            </a:r>
            <a:r>
              <a:rPr lang="en-US" altLang="zh-CN" b="1" dirty="0">
                <a:solidFill>
                  <a:srgbClr val="C00000"/>
                </a:solidFill>
              </a:rPr>
              <a:t>Ack</a:t>
            </a:r>
            <a:r>
              <a:rPr lang="en-US" altLang="zh-CN" b="1" dirty="0"/>
              <a:t>nowledged connection-</a:t>
            </a:r>
            <a:r>
              <a:rPr lang="en-US" altLang="zh-CN" b="1" dirty="0">
                <a:solidFill>
                  <a:srgbClr val="C00000"/>
                </a:solidFill>
              </a:rPr>
              <a:t>oriented</a:t>
            </a:r>
            <a:r>
              <a:rPr lang="en-US" altLang="zh-CN" b="1" dirty="0"/>
              <a:t> </a:t>
            </a:r>
            <a:r>
              <a:rPr lang="zh-CN" altLang="en-US" b="1" dirty="0"/>
              <a:t>）</a:t>
            </a:r>
            <a:endParaRPr lang="en-US" altLang="zh-CN" b="1" dirty="0"/>
          </a:p>
          <a:p>
            <a:pPr lvl="1"/>
            <a:r>
              <a:rPr lang="zh-CN" altLang="en-US" dirty="0"/>
              <a:t>适用场景：长延迟的不可靠信道</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left)">
                                      <p:cBhvr>
                                        <p:cTn id="13" dur="500"/>
                                        <p:tgtEl>
                                          <p:spTgt spid="3">
                                            <p:txEl>
                                              <p:pRg st="6" end="6"/>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left)">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wipe(left)">
                                      <p:cBhvr>
                                        <p:cTn id="21" dur="500"/>
                                        <p:tgtEl>
                                          <p:spTgt spid="3">
                                            <p:txEl>
                                              <p:pRg st="8" end="8"/>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wipe(left)">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a:xfrm>
            <a:off x="838200" y="1510758"/>
            <a:ext cx="10515600" cy="581089"/>
          </a:xfrm>
        </p:spPr>
        <p:txBody>
          <a:bodyPr/>
          <a:lstStyle/>
          <a:p>
            <a:r>
              <a:rPr lang="zh-CN" altLang="en-US" dirty="0"/>
              <a:t>分组 </a:t>
            </a:r>
            <a:r>
              <a:rPr lang="en-US" altLang="zh-CN" dirty="0"/>
              <a:t>(packet)</a:t>
            </a:r>
            <a:r>
              <a:rPr lang="zh-CN" altLang="en-US" dirty="0"/>
              <a:t> 与 帧</a:t>
            </a:r>
            <a:r>
              <a:rPr lang="en-US" altLang="zh-CN" dirty="0"/>
              <a:t>(frame)</a:t>
            </a:r>
            <a:r>
              <a:rPr lang="zh-CN" altLang="en-US" dirty="0"/>
              <a:t>的关系</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049486" y="2514867"/>
            <a:ext cx="9368375" cy="3072223"/>
            <a:chOff x="818984" y="1963972"/>
            <a:chExt cx="9368375" cy="3072223"/>
          </a:xfrm>
        </p:grpSpPr>
        <p:sp>
          <p:nvSpPr>
            <p:cNvPr id="8" name="Rectangle 6"/>
            <p:cNvSpPr>
              <a:spLocks noChangeArrowheads="1"/>
            </p:cNvSpPr>
            <p:nvPr/>
          </p:nvSpPr>
          <p:spPr bwMode="auto">
            <a:xfrm>
              <a:off x="818984" y="3727641"/>
              <a:ext cx="9368375" cy="837187"/>
            </a:xfrm>
            <a:prstGeom prst="rect">
              <a:avLst/>
            </a:prstGeom>
            <a:noFill/>
            <a:ln w="9525">
              <a:solidFill>
                <a:srgbClr val="FF0000"/>
              </a:solidFill>
              <a:prstDash val="dash"/>
              <a:miter lim="800000"/>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数据链路层</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9" name="Rectangle 6"/>
            <p:cNvSpPr>
              <a:spLocks noChangeArrowheads="1"/>
            </p:cNvSpPr>
            <p:nvPr/>
          </p:nvSpPr>
          <p:spPr bwMode="auto">
            <a:xfrm>
              <a:off x="818984" y="2983966"/>
              <a:ext cx="9368375" cy="743675"/>
            </a:xfrm>
            <a:prstGeom prst="rect">
              <a:avLst/>
            </a:prstGeom>
            <a:noFill/>
            <a:ln w="9525">
              <a:solidFill>
                <a:srgbClr val="FF0000"/>
              </a:solidFill>
              <a:prstDash val="dash"/>
              <a:miter lim="800000"/>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网络层</a:t>
              </a:r>
              <a:endParaRPr kumimoji="1" lang="zh-CN" altLang="en-US" sz="2000" b="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endParaRPr>
            </a:p>
          </p:txBody>
        </p:sp>
        <p:sp>
          <p:nvSpPr>
            <p:cNvPr id="10" name="圆角矩形 9"/>
            <p:cNvSpPr/>
            <p:nvPr/>
          </p:nvSpPr>
          <p:spPr bwMode="auto">
            <a:xfrm>
              <a:off x="3328597"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rPr>
                <a:t>分组</a:t>
              </a:r>
              <a:endPar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1" name="圆角矩形 10"/>
            <p:cNvSpPr/>
            <p:nvPr/>
          </p:nvSpPr>
          <p:spPr bwMode="auto">
            <a:xfrm>
              <a:off x="2410495" y="1963972"/>
              <a:ext cx="3132348" cy="2784191"/>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panose="020B0502040204020203" pitchFamily="34" charset="0"/>
                </a:rPr>
                <a:t>发送方</a:t>
              </a:r>
              <a:endParaRPr kumimoji="1"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2" name="圆角矩形 11"/>
            <p:cNvSpPr/>
            <p:nvPr/>
          </p:nvSpPr>
          <p:spPr bwMode="auto">
            <a:xfrm>
              <a:off x="2554511"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rPr>
                <a:t>头标</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圆角矩形 12"/>
            <p:cNvSpPr/>
            <p:nvPr/>
          </p:nvSpPr>
          <p:spPr bwMode="auto">
            <a:xfrm>
              <a:off x="4606739"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rPr>
                <a:t>尾标</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4" name="圆角矩形 13"/>
            <p:cNvSpPr/>
            <p:nvPr/>
          </p:nvSpPr>
          <p:spPr bwMode="auto">
            <a:xfrm>
              <a:off x="7758406"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rPr>
                <a:t>分组</a:t>
              </a:r>
              <a:endPar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5" name="圆角矩形 14"/>
            <p:cNvSpPr/>
            <p:nvPr/>
          </p:nvSpPr>
          <p:spPr bwMode="auto">
            <a:xfrm>
              <a:off x="6838987" y="1963972"/>
              <a:ext cx="3132348" cy="2793099"/>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noAutofit/>
            </a:bodyPr>
            <a:lstStyle/>
            <a:p>
              <a:pPr algn="ctr" fontAlgn="base">
                <a:spcBef>
                  <a:spcPct val="50000"/>
                </a:spcBef>
                <a:spcAft>
                  <a:spcPct val="0"/>
                </a:spcAft>
              </a:pPr>
              <a:r>
                <a:rPr kumimoji="1" lang="zh-CN" altLang="en-US" sz="2000" kern="0" dirty="0">
                  <a:solidFill>
                    <a:prstClr val="black"/>
                  </a:solidFill>
                  <a:latin typeface="微软雅黑" panose="020B0503020204020204" pitchFamily="34" charset="-122"/>
                  <a:ea typeface="微软雅黑" panose="020B0503020204020204" pitchFamily="34" charset="-122"/>
                  <a:cs typeface="Segoe UI" panose="020B0502040204020203" pitchFamily="34" charset="0"/>
                </a:rPr>
                <a:t>接收方</a:t>
              </a:r>
              <a:endParaRPr kumimoji="1" lang="zh-CN" altLang="en-US" sz="2000" kern="0" dirty="0">
                <a:solidFill>
                  <a:prstClr val="black"/>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6" name="圆角矩形 15"/>
            <p:cNvSpPr/>
            <p:nvPr/>
          </p:nvSpPr>
          <p:spPr bwMode="auto">
            <a:xfrm>
              <a:off x="6983003"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rPr>
                <a:t>头标</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17" name="圆角矩形 16"/>
            <p:cNvSpPr/>
            <p:nvPr/>
          </p:nvSpPr>
          <p:spPr bwMode="auto">
            <a:xfrm>
              <a:off x="9035231"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rPr>
                <a:t>尾标</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cxnSp>
          <p:nvCxnSpPr>
            <p:cNvPr id="18" name="直接箭头连接符 17"/>
            <p:cNvCxnSpPr/>
            <p:nvPr/>
          </p:nvCxnSpPr>
          <p:spPr bwMode="auto">
            <a:xfrm>
              <a:off x="3976669" y="3488023"/>
              <a:ext cx="0" cy="48765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19" name="直接箭头连接符 18"/>
            <p:cNvCxnSpPr/>
            <p:nvPr/>
          </p:nvCxnSpPr>
          <p:spPr bwMode="auto">
            <a:xfrm flipV="1">
              <a:off x="8409955" y="3496931"/>
              <a:ext cx="0" cy="50974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0" name="直接箭头连接符 19"/>
            <p:cNvCxnSpPr/>
            <p:nvPr/>
          </p:nvCxnSpPr>
          <p:spPr bwMode="auto">
            <a:xfrm>
              <a:off x="3958667"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1" name="直接箭头连接符 20"/>
            <p:cNvCxnSpPr/>
            <p:nvPr/>
          </p:nvCxnSpPr>
          <p:spPr bwMode="auto">
            <a:xfrm flipV="1">
              <a:off x="8406478"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2" name="直接连接符 21"/>
            <p:cNvCxnSpPr/>
            <p:nvPr/>
          </p:nvCxnSpPr>
          <p:spPr bwMode="auto">
            <a:xfrm>
              <a:off x="3958667" y="5036195"/>
              <a:ext cx="4447811" cy="0"/>
            </a:xfrm>
            <a:prstGeom prst="line">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sp>
          <p:nvSpPr>
            <p:cNvPr id="23" name="圆角矩形标注 22"/>
            <p:cNvSpPr/>
            <p:nvPr/>
          </p:nvSpPr>
          <p:spPr bwMode="auto">
            <a:xfrm>
              <a:off x="5686859" y="3848333"/>
              <a:ext cx="876558" cy="413569"/>
            </a:xfrm>
            <a:prstGeom prst="wedgeRoundRectCallout">
              <a:avLst>
                <a:gd name="adj1" fmla="val -81097"/>
                <a:gd name="adj2" fmla="val 52321"/>
                <a:gd name="adj3" fmla="val 16667"/>
              </a:avLst>
            </a:prstGeom>
            <a:solidFill>
              <a:schemeClr val="accent5">
                <a:lumMod val="20000"/>
                <a:lumOff val="80000"/>
              </a:schemeClr>
            </a:solidFill>
            <a:ln w="1270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rPr>
                <a:t>帧</a:t>
              </a:r>
              <a:endPar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24" name="圆角矩形 23"/>
            <p:cNvSpPr/>
            <p:nvPr/>
          </p:nvSpPr>
          <p:spPr bwMode="auto">
            <a:xfrm>
              <a:off x="3310595" y="3992079"/>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rPr>
                <a:t>有效载荷</a:t>
              </a:r>
              <a:endPar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25" name="圆角矩形 24"/>
            <p:cNvSpPr/>
            <p:nvPr/>
          </p:nvSpPr>
          <p:spPr bwMode="auto">
            <a:xfrm>
              <a:off x="7739087" y="4000987"/>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no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rPr>
                <a:t>有效载荷</a:t>
              </a:r>
              <a:endPar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a:xfrm>
            <a:off x="838200" y="2313711"/>
            <a:ext cx="10515600" cy="3963180"/>
          </a:xfrm>
        </p:spPr>
        <p:txBody>
          <a:bodyPr>
            <a:normAutofit fontScale="77500" lnSpcReduction="20000"/>
          </a:bodyPr>
          <a:lstStyle/>
          <a:p>
            <a:pPr>
              <a:lnSpc>
                <a:spcPct val="160000"/>
              </a:lnSpc>
              <a:spcBef>
                <a:spcPts val="0"/>
              </a:spcBef>
            </a:pPr>
            <a:r>
              <a:rPr lang="zh-CN" altLang="en-US" dirty="0">
                <a:solidFill>
                  <a:srgbClr val="C00000"/>
                </a:solidFill>
              </a:rPr>
              <a:t>关键问题：如何标识一个帧的开始？</a:t>
            </a:r>
            <a:endParaRPr lang="en-US" altLang="zh-CN" dirty="0">
              <a:solidFill>
                <a:srgbClr val="C00000"/>
              </a:solidFill>
            </a:endParaRPr>
          </a:p>
          <a:p>
            <a:pPr lvl="1">
              <a:lnSpc>
                <a:spcPct val="160000"/>
              </a:lnSpc>
              <a:spcBef>
                <a:spcPts val="0"/>
              </a:spcBef>
            </a:pPr>
            <a:r>
              <a:rPr lang="zh-CN" altLang="en-US" dirty="0"/>
              <a:t>接收方必须能从物理层接收的比特流中明确区分出一帧的开始和结束，这个问题被称为帧同步或帧定界</a:t>
            </a:r>
            <a:endParaRPr lang="en-US" altLang="zh-CN" dirty="0"/>
          </a:p>
          <a:p>
            <a:pPr lvl="1">
              <a:lnSpc>
                <a:spcPct val="160000"/>
              </a:lnSpc>
              <a:spcBef>
                <a:spcPts val="0"/>
              </a:spcBef>
            </a:pPr>
            <a:r>
              <a:rPr lang="zh-CN" altLang="en-US" dirty="0"/>
              <a:t>关键：选择何种</a:t>
            </a:r>
            <a:r>
              <a:rPr lang="zh-CN" altLang="en-US" dirty="0">
                <a:solidFill>
                  <a:srgbClr val="7030A0"/>
                </a:solidFill>
              </a:rPr>
              <a:t>定界符</a:t>
            </a:r>
            <a:r>
              <a:rPr lang="zh-CN" altLang="en-US" dirty="0"/>
              <a:t>？定界符出现在数据部分如何处理？</a:t>
            </a:r>
            <a:endParaRPr lang="en-US" altLang="zh-CN" dirty="0"/>
          </a:p>
          <a:p>
            <a:pPr>
              <a:lnSpc>
                <a:spcPct val="160000"/>
              </a:lnSpc>
              <a:spcBef>
                <a:spcPts val="0"/>
              </a:spcBef>
            </a:pPr>
            <a:r>
              <a:rPr lang="zh-CN" altLang="en-US" dirty="0"/>
              <a:t>成帧（</a:t>
            </a:r>
            <a:r>
              <a:rPr lang="en-US" altLang="zh-CN" dirty="0"/>
              <a:t>framing</a:t>
            </a:r>
            <a:r>
              <a:rPr lang="zh-CN" altLang="en-US" dirty="0"/>
              <a:t>）的方式</a:t>
            </a:r>
            <a:endParaRPr lang="en-US" altLang="zh-CN" dirty="0"/>
          </a:p>
          <a:p>
            <a:pPr lvl="1">
              <a:lnSpc>
                <a:spcPct val="160000"/>
              </a:lnSpc>
              <a:spcBef>
                <a:spcPts val="0"/>
              </a:spcBef>
            </a:pPr>
            <a:r>
              <a:rPr lang="zh-CN" altLang="en-US" dirty="0"/>
              <a:t>字节计数法（</a:t>
            </a:r>
            <a:r>
              <a:rPr lang="en-US" altLang="zh-CN" dirty="0"/>
              <a:t> Byte count </a:t>
            </a:r>
            <a:r>
              <a:rPr lang="zh-CN" altLang="en-US" dirty="0"/>
              <a:t>）</a:t>
            </a:r>
            <a:endParaRPr lang="en-US" altLang="zh-CN" dirty="0"/>
          </a:p>
          <a:p>
            <a:pPr lvl="1">
              <a:lnSpc>
                <a:spcPct val="160000"/>
              </a:lnSpc>
              <a:spcBef>
                <a:spcPts val="0"/>
              </a:spcBef>
            </a:pPr>
            <a:r>
              <a:rPr lang="zh-CN" altLang="en-US" dirty="0"/>
              <a:t>带</a:t>
            </a:r>
            <a:r>
              <a:rPr lang="zh-CN" altLang="en-US" dirty="0">
                <a:solidFill>
                  <a:srgbClr val="C00000"/>
                </a:solidFill>
              </a:rPr>
              <a:t>字节</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bytes with </a:t>
            </a:r>
            <a:r>
              <a:rPr lang="en-US" altLang="zh-CN" dirty="0">
                <a:solidFill>
                  <a:srgbClr val="C00000"/>
                </a:solidFill>
              </a:rPr>
              <a:t>byte</a:t>
            </a:r>
            <a:r>
              <a:rPr lang="en-US" altLang="zh-CN" dirty="0"/>
              <a:t> stuffing </a:t>
            </a:r>
            <a:r>
              <a:rPr lang="zh-CN" altLang="en-US" dirty="0"/>
              <a:t>）</a:t>
            </a:r>
            <a:endParaRPr lang="zh-CN" altLang="en-US" dirty="0"/>
          </a:p>
          <a:p>
            <a:pPr lvl="1">
              <a:lnSpc>
                <a:spcPct val="160000"/>
              </a:lnSpc>
              <a:spcBef>
                <a:spcPts val="0"/>
              </a:spcBef>
            </a:pPr>
            <a:r>
              <a:rPr lang="zh-CN" altLang="en-US" dirty="0"/>
              <a:t>带</a:t>
            </a:r>
            <a:r>
              <a:rPr lang="zh-CN" altLang="en-US" dirty="0">
                <a:solidFill>
                  <a:srgbClr val="C00000"/>
                </a:solidFill>
              </a:rPr>
              <a:t>比特</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bits with </a:t>
            </a:r>
            <a:r>
              <a:rPr lang="en-US" altLang="zh-CN" dirty="0">
                <a:solidFill>
                  <a:srgbClr val="C00000"/>
                </a:solidFill>
              </a:rPr>
              <a:t>bit</a:t>
            </a:r>
            <a:r>
              <a:rPr lang="en-US" altLang="zh-CN" dirty="0"/>
              <a:t> stuffing </a:t>
            </a:r>
            <a:r>
              <a:rPr lang="zh-CN" altLang="en-US" dirty="0"/>
              <a:t>）</a:t>
            </a:r>
            <a:endParaRPr lang="zh-CN" altLang="en-US" dirty="0"/>
          </a:p>
          <a:p>
            <a:pPr lvl="1">
              <a:lnSpc>
                <a:spcPct val="160000"/>
              </a:lnSpc>
              <a:spcBef>
                <a:spcPts val="0"/>
              </a:spcBef>
            </a:pPr>
            <a:r>
              <a:rPr lang="zh-CN" altLang="en-US" dirty="0">
                <a:solidFill>
                  <a:srgbClr val="7030A0"/>
                </a:solidFill>
              </a:rPr>
              <a:t>物理层</a:t>
            </a:r>
            <a:r>
              <a:rPr lang="zh-CN" altLang="en-US" dirty="0"/>
              <a:t>编码违例（</a:t>
            </a:r>
            <a:r>
              <a:rPr lang="en-US" altLang="zh-CN" dirty="0"/>
              <a:t> Physical layer coding violations </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858979" y="1426396"/>
            <a:ext cx="8572356" cy="830997"/>
          </a:xfrm>
          <a:prstGeom prst="rect">
            <a:avLst/>
          </a:prstGeom>
          <a:noFill/>
        </p:spPr>
        <p:txBody>
          <a:bodyPr wrap="square">
            <a:spAutoFit/>
          </a:bodyPr>
          <a:lstStyle/>
          <a:p>
            <a:pPr eaLnBrk="1" hangingPunct="1">
              <a:buSzPct val="90000"/>
              <a:buFont typeface="Wingdings" panose="05000000000000000000" pitchFamily="2" charset="2"/>
              <a:buChar char="§"/>
              <a:defRPr/>
            </a:pPr>
            <a:r>
              <a:rPr lang="zh-CN" altLang="en-US" sz="2400" b="1" dirty="0">
                <a:solidFill>
                  <a:srgbClr val="0000FF"/>
                </a:solidFill>
                <a:latin typeface="Verdana" panose="020B0604030504040204" pitchFamily="34" charset="0"/>
                <a:ea typeface="楷体_GB2312" pitchFamily="49" charset="-122"/>
              </a:rPr>
              <a:t>帧定界问题 </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比特流分成帧</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a:t>
            </a:r>
            <a:endParaRPr lang="zh-CN" altLang="en-US"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zh-CN" altLang="en-US" sz="2400" b="1" dirty="0">
                <a:solidFill>
                  <a:srgbClr val="0000FF"/>
                </a:solidFill>
                <a:latin typeface="Verdana" panose="020B0604030504040204" pitchFamily="34" charset="0"/>
                <a:ea typeface="楷体_GB2312" pitchFamily="49" charset="-122"/>
              </a:rPr>
              <a:t>透明传输问题 </a:t>
            </a:r>
            <a:r>
              <a:rPr lang="en-US" altLang="zh-CN" sz="2400" dirty="0">
                <a:solidFill>
                  <a:schemeClr val="tx2"/>
                </a:solidFill>
                <a:latin typeface="Verdana" panose="020B0604030504040204" pitchFamily="34" charset="0"/>
                <a:ea typeface="楷体_GB2312" pitchFamily="49" charset="-122"/>
              </a:rPr>
              <a:t>(</a:t>
            </a:r>
            <a:r>
              <a:rPr lang="zh-CN" altLang="en-US" sz="2400" dirty="0">
                <a:solidFill>
                  <a:schemeClr val="tx2"/>
                </a:solidFill>
                <a:latin typeface="Verdana" panose="020B0604030504040204" pitchFamily="34" charset="0"/>
                <a:ea typeface="楷体_GB2312" pitchFamily="49" charset="-122"/>
              </a:rPr>
              <a:t>任何字符都可以传输</a:t>
            </a:r>
            <a:r>
              <a:rPr lang="en-US" altLang="zh-CN" sz="2400" dirty="0">
                <a:solidFill>
                  <a:schemeClr val="tx2"/>
                </a:solidFill>
                <a:latin typeface="Verdana" panose="020B0604030504040204" pitchFamily="34" charset="0"/>
                <a:ea typeface="楷体_GB2312" pitchFamily="49" charset="-122"/>
              </a:rPr>
              <a:t>)</a:t>
            </a:r>
            <a:r>
              <a:rPr lang="zh-CN" altLang="en-US" sz="2400" dirty="0">
                <a:solidFill>
                  <a:schemeClr val="tx2"/>
                </a:solidFill>
                <a:latin typeface="Verdana" panose="020B0604030504040204" pitchFamily="34" charset="0"/>
                <a:ea typeface="楷体_GB2312" pitchFamily="49" charset="-122"/>
              </a:rPr>
              <a: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：无差错传输的情形</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883750" y="3755963"/>
            <a:ext cx="1594449" cy="995523"/>
            <a:chOff x="1628570" y="3387255"/>
            <a:chExt cx="1594449" cy="995523"/>
          </a:xfrm>
        </p:grpSpPr>
        <p:sp>
          <p:nvSpPr>
            <p:cNvPr id="8" name="左大括号 7"/>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 name="矩形 8"/>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3478200" y="3755963"/>
            <a:ext cx="1594449" cy="995523"/>
            <a:chOff x="3223020" y="3387255"/>
            <a:chExt cx="1594449" cy="995523"/>
          </a:xfrm>
        </p:grpSpPr>
        <p:sp>
          <p:nvSpPr>
            <p:cNvPr id="11" name="左大括号 10"/>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 name="矩形 11"/>
            <p:cNvSpPr/>
            <p:nvPr/>
          </p:nvSpPr>
          <p:spPr>
            <a:xfrm>
              <a:off x="354472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12"/>
          <p:cNvGrpSpPr/>
          <p:nvPr/>
        </p:nvGrpSpPr>
        <p:grpSpPr>
          <a:xfrm>
            <a:off x="5072650" y="3755963"/>
            <a:ext cx="2549057" cy="997132"/>
            <a:chOff x="4817470" y="3387255"/>
            <a:chExt cx="2549057" cy="997132"/>
          </a:xfrm>
        </p:grpSpPr>
        <p:sp>
          <p:nvSpPr>
            <p:cNvPr id="14" name="左大括号 13"/>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5" name="矩形 14"/>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6" name="组合 15"/>
          <p:cNvGrpSpPr/>
          <p:nvPr/>
        </p:nvGrpSpPr>
        <p:grpSpPr>
          <a:xfrm>
            <a:off x="7609714" y="3759181"/>
            <a:ext cx="1925519" cy="990138"/>
            <a:chOff x="7354534" y="3390473"/>
            <a:chExt cx="1925519" cy="990138"/>
          </a:xfrm>
        </p:grpSpPr>
        <p:sp>
          <p:nvSpPr>
            <p:cNvPr id="17" name="左大括号 16"/>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矩形 17"/>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9" name="组合 18"/>
          <p:cNvGrpSpPr/>
          <p:nvPr/>
        </p:nvGrpSpPr>
        <p:grpSpPr>
          <a:xfrm>
            <a:off x="1883750" y="3338395"/>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20" name="Rectangle 44"/>
            <p:cNvSpPr>
              <a:spLocks noChangeArrowheads="1"/>
            </p:cNvSpPr>
            <p:nvPr/>
          </p:nvSpPr>
          <p:spPr bwMode="auto">
            <a:xfrm>
              <a:off x="1465472"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1" name="Rectangle 44"/>
            <p:cNvSpPr>
              <a:spLocks noChangeArrowheads="1"/>
            </p:cNvSpPr>
            <p:nvPr/>
          </p:nvSpPr>
          <p:spPr bwMode="auto">
            <a:xfrm>
              <a:off x="1784549"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Rectangle 44"/>
            <p:cNvSpPr>
              <a:spLocks noChangeArrowheads="1"/>
            </p:cNvSpPr>
            <p:nvPr/>
          </p:nvSpPr>
          <p:spPr bwMode="auto">
            <a:xfrm>
              <a:off x="2103626"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Rectangle 44"/>
            <p:cNvSpPr>
              <a:spLocks noChangeArrowheads="1"/>
            </p:cNvSpPr>
            <p:nvPr/>
          </p:nvSpPr>
          <p:spPr bwMode="auto">
            <a:xfrm>
              <a:off x="2422703"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Rectangle 44"/>
            <p:cNvSpPr>
              <a:spLocks noChangeArrowheads="1"/>
            </p:cNvSpPr>
            <p:nvPr/>
          </p:nvSpPr>
          <p:spPr bwMode="auto">
            <a:xfrm>
              <a:off x="2741780"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Rectangle 44"/>
            <p:cNvSpPr>
              <a:spLocks noChangeArrowheads="1"/>
            </p:cNvSpPr>
            <p:nvPr/>
          </p:nvSpPr>
          <p:spPr bwMode="auto">
            <a:xfrm>
              <a:off x="3060857"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6" name="Rectangle 44"/>
            <p:cNvSpPr>
              <a:spLocks noChangeArrowheads="1"/>
            </p:cNvSpPr>
            <p:nvPr/>
          </p:nvSpPr>
          <p:spPr bwMode="auto">
            <a:xfrm>
              <a:off x="3379934"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7" name="Rectangle 44"/>
            <p:cNvSpPr>
              <a:spLocks noChangeArrowheads="1"/>
            </p:cNvSpPr>
            <p:nvPr/>
          </p:nvSpPr>
          <p:spPr bwMode="auto">
            <a:xfrm>
              <a:off x="3699011"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 name="Rectangle 44"/>
            <p:cNvSpPr>
              <a:spLocks noChangeArrowheads="1"/>
            </p:cNvSpPr>
            <p:nvPr/>
          </p:nvSpPr>
          <p:spPr bwMode="auto">
            <a:xfrm>
              <a:off x="4018088"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9" name="Rectangle 44"/>
            <p:cNvSpPr>
              <a:spLocks noChangeArrowheads="1"/>
            </p:cNvSpPr>
            <p:nvPr/>
          </p:nvSpPr>
          <p:spPr bwMode="auto">
            <a:xfrm>
              <a:off x="4337165"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Rectangle 44"/>
            <p:cNvSpPr>
              <a:spLocks noChangeArrowheads="1"/>
            </p:cNvSpPr>
            <p:nvPr/>
          </p:nvSpPr>
          <p:spPr bwMode="auto">
            <a:xfrm>
              <a:off x="465624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1" name="Rectangle 44"/>
            <p:cNvSpPr>
              <a:spLocks noChangeArrowheads="1"/>
            </p:cNvSpPr>
            <p:nvPr/>
          </p:nvSpPr>
          <p:spPr bwMode="auto">
            <a:xfrm>
              <a:off x="497531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Rectangle 44"/>
            <p:cNvSpPr>
              <a:spLocks noChangeArrowheads="1"/>
            </p:cNvSpPr>
            <p:nvPr/>
          </p:nvSpPr>
          <p:spPr bwMode="auto">
            <a:xfrm>
              <a:off x="529439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Rectangle 44"/>
            <p:cNvSpPr>
              <a:spLocks noChangeArrowheads="1"/>
            </p:cNvSpPr>
            <p:nvPr/>
          </p:nvSpPr>
          <p:spPr bwMode="auto">
            <a:xfrm>
              <a:off x="561347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Rectangle 44"/>
            <p:cNvSpPr>
              <a:spLocks noChangeArrowheads="1"/>
            </p:cNvSpPr>
            <p:nvPr/>
          </p:nvSpPr>
          <p:spPr bwMode="auto">
            <a:xfrm>
              <a:off x="5932550"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5" name="Rectangle 44"/>
            <p:cNvSpPr>
              <a:spLocks noChangeArrowheads="1"/>
            </p:cNvSpPr>
            <p:nvPr/>
          </p:nvSpPr>
          <p:spPr bwMode="auto">
            <a:xfrm>
              <a:off x="6251627"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Rectangle 44"/>
            <p:cNvSpPr>
              <a:spLocks noChangeArrowheads="1"/>
            </p:cNvSpPr>
            <p:nvPr/>
          </p:nvSpPr>
          <p:spPr bwMode="auto">
            <a:xfrm>
              <a:off x="6570704"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Rectangle 44"/>
            <p:cNvSpPr>
              <a:spLocks noChangeArrowheads="1"/>
            </p:cNvSpPr>
            <p:nvPr/>
          </p:nvSpPr>
          <p:spPr bwMode="auto">
            <a:xfrm>
              <a:off x="6889781"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Rectangle 44"/>
            <p:cNvSpPr>
              <a:spLocks noChangeArrowheads="1"/>
            </p:cNvSpPr>
            <p:nvPr/>
          </p:nvSpPr>
          <p:spPr bwMode="auto">
            <a:xfrm>
              <a:off x="7208858"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9" name="Rectangle 44"/>
            <p:cNvSpPr>
              <a:spLocks noChangeArrowheads="1"/>
            </p:cNvSpPr>
            <p:nvPr/>
          </p:nvSpPr>
          <p:spPr bwMode="auto">
            <a:xfrm>
              <a:off x="7527935"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Rectangle 44"/>
            <p:cNvSpPr>
              <a:spLocks noChangeArrowheads="1"/>
            </p:cNvSpPr>
            <p:nvPr/>
          </p:nvSpPr>
          <p:spPr bwMode="auto">
            <a:xfrm>
              <a:off x="784701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Rectangle 44"/>
            <p:cNvSpPr>
              <a:spLocks noChangeArrowheads="1"/>
            </p:cNvSpPr>
            <p:nvPr/>
          </p:nvSpPr>
          <p:spPr bwMode="auto">
            <a:xfrm>
              <a:off x="816608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Rectangle 44"/>
            <p:cNvSpPr>
              <a:spLocks noChangeArrowheads="1"/>
            </p:cNvSpPr>
            <p:nvPr/>
          </p:nvSpPr>
          <p:spPr bwMode="auto">
            <a:xfrm>
              <a:off x="848516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Rectangle 44"/>
            <p:cNvSpPr>
              <a:spLocks noChangeArrowheads="1"/>
            </p:cNvSpPr>
            <p:nvPr/>
          </p:nvSpPr>
          <p:spPr bwMode="auto">
            <a:xfrm>
              <a:off x="880424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44" name="任意多边形 43"/>
          <p:cNvSpPr/>
          <p:nvPr/>
        </p:nvSpPr>
        <p:spPr>
          <a:xfrm>
            <a:off x="3639473" y="2581936"/>
            <a:ext cx="128806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任意多边形 44"/>
          <p:cNvSpPr/>
          <p:nvPr/>
        </p:nvSpPr>
        <p:spPr>
          <a:xfrm>
            <a:off x="5254394" y="2581936"/>
            <a:ext cx="2230080"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6" name="任意多边形 45"/>
          <p:cNvSpPr/>
          <p:nvPr/>
        </p:nvSpPr>
        <p:spPr>
          <a:xfrm>
            <a:off x="7780775" y="2581935"/>
            <a:ext cx="160023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7" name="任意多边形 46"/>
          <p:cNvSpPr/>
          <p:nvPr/>
        </p:nvSpPr>
        <p:spPr>
          <a:xfrm>
            <a:off x="2043289" y="2581933"/>
            <a:ext cx="1284051"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文本框 4"/>
          <p:cNvSpPr txBox="1"/>
          <p:nvPr/>
        </p:nvSpPr>
        <p:spPr>
          <a:xfrm>
            <a:off x="2521436" y="5404955"/>
            <a:ext cx="6541546" cy="461665"/>
          </a:xfrm>
          <a:prstGeom prst="rect">
            <a:avLst/>
          </a:prstGeom>
          <a:solidFill>
            <a:schemeClr val="accent5">
              <a:lumMod val="20000"/>
              <a:lumOff val="80000"/>
            </a:schemeClr>
          </a:solidFill>
          <a:ln>
            <a:solidFill>
              <a:srgbClr val="C00000"/>
            </a:solidFill>
          </a:ln>
        </p:spPr>
        <p:txBody>
          <a:bodyPr wrap="square" rtlCol="0">
            <a:spAutoFit/>
          </a:bodyPr>
          <a:lstStyle/>
          <a:p>
            <a:r>
              <a:rPr lang="zh-CN" altLang="en-US" sz="2400" dirty="0"/>
              <a:t>问题：如果某个计数字节出错会发生什么情况？</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wipe(left)">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left)">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出现了一个字节</a:t>
            </a:r>
            <a:r>
              <a:rPr lang="zh-CN" altLang="en-US" dirty="0">
                <a:solidFill>
                  <a:srgbClr val="C00000"/>
                </a:solidFill>
              </a:rPr>
              <a:t>差错</a:t>
            </a:r>
            <a:r>
              <a:rPr lang="zh-CN" altLang="en-US" dirty="0"/>
              <a:t>的情形</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807610" y="4017047"/>
            <a:ext cx="1594449" cy="995523"/>
            <a:chOff x="1628570" y="3387255"/>
            <a:chExt cx="1594449" cy="995523"/>
          </a:xfrm>
        </p:grpSpPr>
        <p:sp>
          <p:nvSpPr>
            <p:cNvPr id="49" name="左大括号 48"/>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0" name="矩形 49"/>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51" name="组合 50"/>
          <p:cNvGrpSpPr/>
          <p:nvPr/>
        </p:nvGrpSpPr>
        <p:grpSpPr>
          <a:xfrm>
            <a:off x="3402060" y="4017047"/>
            <a:ext cx="1594450" cy="995523"/>
            <a:chOff x="3223020" y="3387255"/>
            <a:chExt cx="1594450" cy="995523"/>
          </a:xfrm>
        </p:grpSpPr>
        <p:sp>
          <p:nvSpPr>
            <p:cNvPr id="52" name="左大括号 51"/>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矩形 52"/>
            <p:cNvSpPr/>
            <p:nvPr/>
          </p:nvSpPr>
          <p:spPr>
            <a:xfrm>
              <a:off x="3223020" y="3674892"/>
              <a:ext cx="1594450"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出现差错</a:t>
              </a:r>
              <a:endParaRPr kumimoji="1"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grpSp>
      <p:grpSp>
        <p:nvGrpSpPr>
          <p:cNvPr id="54" name="组合 53"/>
          <p:cNvGrpSpPr/>
          <p:nvPr/>
        </p:nvGrpSpPr>
        <p:grpSpPr>
          <a:xfrm>
            <a:off x="4996510" y="4017047"/>
            <a:ext cx="2549057" cy="997132"/>
            <a:chOff x="4817470" y="3387255"/>
            <a:chExt cx="2549057" cy="997132"/>
          </a:xfrm>
        </p:grpSpPr>
        <p:sp>
          <p:nvSpPr>
            <p:cNvPr id="55" name="左大括号 54"/>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6" name="矩形 55"/>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57" name="组合 56"/>
          <p:cNvGrpSpPr/>
          <p:nvPr/>
        </p:nvGrpSpPr>
        <p:grpSpPr>
          <a:xfrm>
            <a:off x="7533574" y="4020265"/>
            <a:ext cx="1925519" cy="990138"/>
            <a:chOff x="7354534" y="3390473"/>
            <a:chExt cx="1925519" cy="990138"/>
          </a:xfrm>
        </p:grpSpPr>
        <p:sp>
          <p:nvSpPr>
            <p:cNvPr id="58" name="左大括号 57"/>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矩形 58"/>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0" name="组合 59"/>
          <p:cNvGrpSpPr/>
          <p:nvPr/>
        </p:nvGrpSpPr>
        <p:grpSpPr>
          <a:xfrm>
            <a:off x="1807610" y="3599479"/>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61" name="Rectangle 44"/>
            <p:cNvSpPr>
              <a:spLocks noChangeArrowheads="1"/>
            </p:cNvSpPr>
            <p:nvPr/>
          </p:nvSpPr>
          <p:spPr bwMode="auto">
            <a:xfrm>
              <a:off x="1465472"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62" name="Rectangle 44"/>
            <p:cNvSpPr>
              <a:spLocks noChangeArrowheads="1"/>
            </p:cNvSpPr>
            <p:nvPr/>
          </p:nvSpPr>
          <p:spPr bwMode="auto">
            <a:xfrm>
              <a:off x="1784549"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Rectangle 44"/>
            <p:cNvSpPr>
              <a:spLocks noChangeArrowheads="1"/>
            </p:cNvSpPr>
            <p:nvPr/>
          </p:nvSpPr>
          <p:spPr bwMode="auto">
            <a:xfrm>
              <a:off x="2103626"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 name="Rectangle 44"/>
            <p:cNvSpPr>
              <a:spLocks noChangeArrowheads="1"/>
            </p:cNvSpPr>
            <p:nvPr/>
          </p:nvSpPr>
          <p:spPr bwMode="auto">
            <a:xfrm>
              <a:off x="2422703"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Rectangle 44"/>
            <p:cNvSpPr>
              <a:spLocks noChangeArrowheads="1"/>
            </p:cNvSpPr>
            <p:nvPr/>
          </p:nvSpPr>
          <p:spPr bwMode="auto">
            <a:xfrm>
              <a:off x="2741780"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6" name="Rectangle 44"/>
            <p:cNvSpPr>
              <a:spLocks noChangeArrowheads="1"/>
            </p:cNvSpPr>
            <p:nvPr/>
          </p:nvSpPr>
          <p:spPr bwMode="auto">
            <a:xfrm>
              <a:off x="3060857"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67" name="Rectangle 44"/>
            <p:cNvSpPr>
              <a:spLocks noChangeArrowheads="1"/>
            </p:cNvSpPr>
            <p:nvPr/>
          </p:nvSpPr>
          <p:spPr bwMode="auto">
            <a:xfrm>
              <a:off x="3379934"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8" name="Rectangle 44"/>
            <p:cNvSpPr>
              <a:spLocks noChangeArrowheads="1"/>
            </p:cNvSpPr>
            <p:nvPr/>
          </p:nvSpPr>
          <p:spPr bwMode="auto">
            <a:xfrm>
              <a:off x="3699011"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9" name="Rectangle 44"/>
            <p:cNvSpPr>
              <a:spLocks noChangeArrowheads="1"/>
            </p:cNvSpPr>
            <p:nvPr/>
          </p:nvSpPr>
          <p:spPr bwMode="auto">
            <a:xfrm>
              <a:off x="4018088"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0" name="Rectangle 44"/>
            <p:cNvSpPr>
              <a:spLocks noChangeArrowheads="1"/>
            </p:cNvSpPr>
            <p:nvPr/>
          </p:nvSpPr>
          <p:spPr bwMode="auto">
            <a:xfrm>
              <a:off x="4337165"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Rectangle 44"/>
            <p:cNvSpPr>
              <a:spLocks noChangeArrowheads="1"/>
            </p:cNvSpPr>
            <p:nvPr/>
          </p:nvSpPr>
          <p:spPr bwMode="auto">
            <a:xfrm>
              <a:off x="465624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72" name="Rectangle 44"/>
            <p:cNvSpPr>
              <a:spLocks noChangeArrowheads="1"/>
            </p:cNvSpPr>
            <p:nvPr/>
          </p:nvSpPr>
          <p:spPr bwMode="auto">
            <a:xfrm>
              <a:off x="497531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3" name="Rectangle 44"/>
            <p:cNvSpPr>
              <a:spLocks noChangeArrowheads="1"/>
            </p:cNvSpPr>
            <p:nvPr/>
          </p:nvSpPr>
          <p:spPr bwMode="auto">
            <a:xfrm>
              <a:off x="529439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4" name="Rectangle 44"/>
            <p:cNvSpPr>
              <a:spLocks noChangeArrowheads="1"/>
            </p:cNvSpPr>
            <p:nvPr/>
          </p:nvSpPr>
          <p:spPr bwMode="auto">
            <a:xfrm>
              <a:off x="561347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Rectangle 44"/>
            <p:cNvSpPr>
              <a:spLocks noChangeArrowheads="1"/>
            </p:cNvSpPr>
            <p:nvPr/>
          </p:nvSpPr>
          <p:spPr bwMode="auto">
            <a:xfrm>
              <a:off x="5932550"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Rectangle 44"/>
            <p:cNvSpPr>
              <a:spLocks noChangeArrowheads="1"/>
            </p:cNvSpPr>
            <p:nvPr/>
          </p:nvSpPr>
          <p:spPr bwMode="auto">
            <a:xfrm>
              <a:off x="6251627"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 name="Rectangle 44"/>
            <p:cNvSpPr>
              <a:spLocks noChangeArrowheads="1"/>
            </p:cNvSpPr>
            <p:nvPr/>
          </p:nvSpPr>
          <p:spPr bwMode="auto">
            <a:xfrm>
              <a:off x="6570704"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Rectangle 44"/>
            <p:cNvSpPr>
              <a:spLocks noChangeArrowheads="1"/>
            </p:cNvSpPr>
            <p:nvPr/>
          </p:nvSpPr>
          <p:spPr bwMode="auto">
            <a:xfrm>
              <a:off x="6889781"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9" name="Rectangle 44"/>
            <p:cNvSpPr>
              <a:spLocks noChangeArrowheads="1"/>
            </p:cNvSpPr>
            <p:nvPr/>
          </p:nvSpPr>
          <p:spPr bwMode="auto">
            <a:xfrm>
              <a:off x="7208858"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0" name="Rectangle 44"/>
            <p:cNvSpPr>
              <a:spLocks noChangeArrowheads="1"/>
            </p:cNvSpPr>
            <p:nvPr/>
          </p:nvSpPr>
          <p:spPr bwMode="auto">
            <a:xfrm>
              <a:off x="7527935"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1" name="Rectangle 44"/>
            <p:cNvSpPr>
              <a:spLocks noChangeArrowheads="1"/>
            </p:cNvSpPr>
            <p:nvPr/>
          </p:nvSpPr>
          <p:spPr bwMode="auto">
            <a:xfrm>
              <a:off x="784701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Rectangle 44"/>
            <p:cNvSpPr>
              <a:spLocks noChangeArrowheads="1"/>
            </p:cNvSpPr>
            <p:nvPr/>
          </p:nvSpPr>
          <p:spPr bwMode="auto">
            <a:xfrm>
              <a:off x="816608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Rectangle 44"/>
            <p:cNvSpPr>
              <a:spLocks noChangeArrowheads="1"/>
            </p:cNvSpPr>
            <p:nvPr/>
          </p:nvSpPr>
          <p:spPr bwMode="auto">
            <a:xfrm>
              <a:off x="848516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Rectangle 44"/>
            <p:cNvSpPr>
              <a:spLocks noChangeArrowheads="1"/>
            </p:cNvSpPr>
            <p:nvPr/>
          </p:nvSpPr>
          <p:spPr bwMode="auto">
            <a:xfrm>
              <a:off x="880424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5" name="圆角矩形 84"/>
          <p:cNvSpPr/>
          <p:nvPr/>
        </p:nvSpPr>
        <p:spPr bwMode="auto">
          <a:xfrm>
            <a:off x="3361813" y="3465189"/>
            <a:ext cx="386379" cy="486742"/>
          </a:xfrm>
          <a:prstGeom prst="roundRect">
            <a:avLst>
              <a:gd name="adj" fmla="val 28217"/>
            </a:avLst>
          </a:prstGeom>
          <a:noFill/>
          <a:ln w="15875" cap="flat" cmpd="sng" algn="ctr">
            <a:solidFill>
              <a:srgbClr val="FF0000"/>
            </a:solidFill>
            <a:prstDash val="solid"/>
            <a:round/>
            <a:headEnd type="none" w="med" len="med"/>
            <a:tailEnd type="none" w="med" len="med"/>
          </a:ln>
          <a:effectLst/>
        </p:spPr>
        <p:txBody>
          <a:bodyPr vert="horz" wrap="square" lIns="0" tIns="0" rIns="0" bIns="0" numCol="1" rtlCol="0" anchor="t" anchorCtr="0" compatLnSpc="1">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mn-cs"/>
            </a:endParaRPr>
          </a:p>
        </p:txBody>
      </p:sp>
      <p:sp>
        <p:nvSpPr>
          <p:cNvPr id="86" name="任意多边形 85"/>
          <p:cNvSpPr/>
          <p:nvPr/>
        </p:nvSpPr>
        <p:spPr>
          <a:xfrm>
            <a:off x="3563332" y="2843020"/>
            <a:ext cx="222778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7" name="任意多边形 86"/>
          <p:cNvSpPr/>
          <p:nvPr/>
        </p:nvSpPr>
        <p:spPr>
          <a:xfrm>
            <a:off x="6086174" y="2843020"/>
            <a:ext cx="65598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8" name="任意多边形 87"/>
          <p:cNvSpPr/>
          <p:nvPr/>
        </p:nvSpPr>
        <p:spPr>
          <a:xfrm>
            <a:off x="7093441" y="2843019"/>
            <a:ext cx="151715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9" name="任意多边形 88"/>
          <p:cNvSpPr/>
          <p:nvPr/>
        </p:nvSpPr>
        <p:spPr>
          <a:xfrm>
            <a:off x="9050210" y="2843018"/>
            <a:ext cx="87216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0" name="矩形 89"/>
          <p:cNvSpPr/>
          <p:nvPr/>
        </p:nvSpPr>
        <p:spPr>
          <a:xfrm>
            <a:off x="4519764" y="5560045"/>
            <a:ext cx="5954272" cy="461665"/>
          </a:xfrm>
          <a:prstGeom prst="rect">
            <a:avLst/>
          </a:prstGeom>
          <a:noFill/>
          <a:ln>
            <a:noFill/>
          </a:ln>
        </p:spPr>
        <p:txBody>
          <a:bodyPr wrap="square">
            <a:spAutoFit/>
          </a:bodyPr>
          <a:lstStyle/>
          <a:p>
            <a:pPr lvl="0" algn="ctr" fontAlgn="base">
              <a:spcBef>
                <a:spcPct val="50000"/>
              </a:spcBef>
              <a:spcAft>
                <a:spcPct val="0"/>
              </a:spcAft>
              <a:defRPr/>
            </a:pPr>
            <a:r>
              <a:rPr kumimoji="1"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破坏了帧的边界，</a:t>
            </a:r>
            <a:r>
              <a:rPr kumimoji="1" lang="zh-CN" altLang="en-US" sz="2400" dirty="0">
                <a:solidFill>
                  <a:srgbClr val="C00000"/>
                </a:solidFill>
                <a:latin typeface="微软雅黑" panose="020B0503020204020204" pitchFamily="34" charset="-122"/>
                <a:ea typeface="微软雅黑" panose="020B0503020204020204" pitchFamily="34" charset="-122"/>
              </a:rPr>
              <a:t>导致一连串帧的错误</a:t>
            </a:r>
            <a:endParaRPr kumimoji="1"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91" name="任意多边形 90"/>
          <p:cNvSpPr/>
          <p:nvPr/>
        </p:nvSpPr>
        <p:spPr>
          <a:xfrm>
            <a:off x="1967148" y="2843017"/>
            <a:ext cx="1250185"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left)">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wipe(left)">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wipe(left)">
                                      <p:cBhvr>
                                        <p:cTn id="22" dur="500"/>
                                        <p:tgtEl>
                                          <p:spTgt spid="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500"/>
                                        <p:tgtEl>
                                          <p:spTgt spid="8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wipe(left)">
                                      <p:cBhvr>
                                        <p:cTn id="31"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88" grpId="0" animBg="1"/>
      <p:bldP spid="89" grpId="0" animBg="1"/>
      <p:bldP spid="90" grpId="0"/>
      <p:bldP spid="9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成帧（</a:t>
            </a:r>
            <a:r>
              <a:rPr lang="en-US" altLang="zh-CN" dirty="0"/>
              <a:t>Framing</a:t>
            </a:r>
            <a:r>
              <a:rPr lang="zh-CN" altLang="en-US" dirty="0"/>
              <a:t>）</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Rectangle 3"/>
          <p:cNvSpPr txBox="1">
            <a:spLocks noChangeArrowheads="1"/>
          </p:cNvSpPr>
          <p:nvPr/>
        </p:nvSpPr>
        <p:spPr>
          <a:xfrm>
            <a:off x="2944093" y="1537857"/>
            <a:ext cx="8142288" cy="2743200"/>
          </a:xfrm>
          <a:prstGeom prst="rect">
            <a:avLst/>
          </a:prstGeom>
        </p:spPr>
        <p:txBody>
          <a:bodyPr vert="horz" lIns="91440" tIns="45720" rIns="91440" bIns="45720" rtlCol="0">
            <a:normAutofit lnSpcReduction="10000"/>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SzPct val="90000"/>
              <a:buFont typeface="Wingdings" panose="05000000000000000000" pitchFamily="2" charset="2"/>
              <a:buChar char="§"/>
              <a:defRPr/>
            </a:pPr>
            <a:r>
              <a:rPr lang="en-US" altLang="zh-CN" sz="2400">
                <a:latin typeface="Verdana" panose="020B0604030504040204" pitchFamily="34" charset="0"/>
                <a:ea typeface="楷体_GB2312" pitchFamily="49" charset="-122"/>
              </a:rPr>
              <a:t>ASCII</a:t>
            </a:r>
            <a:r>
              <a:rPr lang="zh-CN" altLang="en-US" sz="2400">
                <a:latin typeface="Verdana" panose="020B0604030504040204" pitchFamily="34" charset="0"/>
                <a:ea typeface="楷体_GB2312" pitchFamily="49" charset="-122"/>
              </a:rPr>
              <a:t>字符：帧头</a:t>
            </a:r>
            <a:r>
              <a:rPr lang="en-US" altLang="zh-CN" sz="2400">
                <a:solidFill>
                  <a:srgbClr val="0000FF"/>
                </a:solidFill>
                <a:latin typeface="Verdana" panose="020B0604030504040204" pitchFamily="34" charset="0"/>
                <a:ea typeface="楷体_GB2312" pitchFamily="49" charset="-122"/>
              </a:rPr>
              <a:t>DLE STX</a:t>
            </a:r>
            <a:r>
              <a:rPr lang="zh-CN" altLang="en-US" sz="2400">
                <a:latin typeface="Verdana" panose="020B0604030504040204" pitchFamily="34" charset="0"/>
                <a:ea typeface="楷体_GB2312" pitchFamily="49" charset="-122"/>
              </a:rPr>
              <a:t>，帧尾</a:t>
            </a:r>
            <a:r>
              <a:rPr lang="en-US" altLang="zh-CN" sz="2400">
                <a:solidFill>
                  <a:srgbClr val="0000FF"/>
                </a:solidFill>
                <a:latin typeface="Verdana" panose="020B0604030504040204" pitchFamily="34" charset="0"/>
                <a:ea typeface="楷体_GB2312" pitchFamily="49" charset="-122"/>
              </a:rPr>
              <a:t>DLE ETX</a:t>
            </a:r>
            <a:endParaRPr lang="en-US" altLang="zh-CN" sz="2400">
              <a:solidFill>
                <a:srgbClr val="0000FF"/>
              </a:solidFill>
              <a:latin typeface="Verdana" panose="020B0604030504040204" pitchFamily="34" charset="0"/>
              <a:ea typeface="楷体_GB2312" pitchFamily="49" charset="-122"/>
            </a:endParaRPr>
          </a:p>
          <a:p>
            <a:pPr lvl="1" algn="just">
              <a:buSzPct val="90000"/>
              <a:buFont typeface="Wingdings" panose="05000000000000000000" pitchFamily="2" charset="2"/>
              <a:buChar char="§"/>
              <a:defRPr/>
            </a:pPr>
            <a:r>
              <a:rPr lang="en-US" altLang="zh-CN" sz="2000">
                <a:latin typeface="Verdana" panose="020B0604030504040204" pitchFamily="34" charset="0"/>
                <a:ea typeface="楷体_GB2312" pitchFamily="49" charset="-122"/>
              </a:rPr>
              <a:t>DLE (Data Link Escape); </a:t>
            </a:r>
            <a:endParaRPr lang="en-US" altLang="zh-CN" sz="2000">
              <a:latin typeface="Verdana" panose="020B0604030504040204" pitchFamily="34" charset="0"/>
              <a:ea typeface="楷体_GB2312" pitchFamily="49" charset="-122"/>
            </a:endParaRPr>
          </a:p>
          <a:p>
            <a:pPr lvl="1" algn="just">
              <a:buSzPct val="90000"/>
              <a:buFont typeface="Wingdings" panose="05000000000000000000" pitchFamily="2" charset="2"/>
              <a:buChar char="§"/>
              <a:defRPr/>
            </a:pPr>
            <a:r>
              <a:rPr lang="en-US" altLang="zh-CN" sz="2000">
                <a:latin typeface="Verdana" panose="020B0604030504040204" pitchFamily="34" charset="0"/>
                <a:ea typeface="楷体_GB2312" pitchFamily="49" charset="-122"/>
              </a:rPr>
              <a:t>STX (Start of Text); </a:t>
            </a:r>
            <a:endParaRPr lang="en-US" altLang="zh-CN" sz="2000">
              <a:latin typeface="Verdana" panose="020B0604030504040204" pitchFamily="34" charset="0"/>
              <a:ea typeface="楷体_GB2312" pitchFamily="49" charset="-122"/>
            </a:endParaRPr>
          </a:p>
          <a:p>
            <a:pPr lvl="1" algn="just">
              <a:buSzPct val="90000"/>
              <a:buFont typeface="Wingdings" panose="05000000000000000000" pitchFamily="2" charset="2"/>
              <a:buChar char="§"/>
              <a:defRPr/>
            </a:pPr>
            <a:r>
              <a:rPr lang="en-US" altLang="zh-CN" sz="2000">
                <a:latin typeface="Verdana" panose="020B0604030504040204" pitchFamily="34" charset="0"/>
                <a:ea typeface="楷体_GB2312" pitchFamily="49" charset="-122"/>
              </a:rPr>
              <a:t>EXT (End of Text)</a:t>
            </a:r>
            <a:endParaRPr lang="en-US" altLang="zh-CN" sz="2000">
              <a:latin typeface="Verdana" panose="020B0604030504040204" pitchFamily="34" charset="0"/>
              <a:ea typeface="楷体_GB2312" pitchFamily="49" charset="-122"/>
            </a:endParaRPr>
          </a:p>
          <a:p>
            <a:pPr>
              <a:buSzPct val="90000"/>
              <a:buFont typeface="Wingdings" panose="05000000000000000000" pitchFamily="2" charset="2"/>
              <a:buChar char="§"/>
              <a:defRPr/>
            </a:pPr>
            <a:r>
              <a:rPr lang="zh-CN" altLang="en-US" sz="2400">
                <a:latin typeface="Verdana" panose="020B0604030504040204" pitchFamily="34" charset="0"/>
                <a:ea typeface="楷体_GB2312" pitchFamily="49" charset="-122"/>
              </a:rPr>
              <a:t>如果字符中出现</a:t>
            </a:r>
            <a:r>
              <a:rPr lang="en-US" altLang="zh-CN" sz="2400">
                <a:latin typeface="Verdana" panose="020B0604030504040204" pitchFamily="34" charset="0"/>
                <a:ea typeface="楷体_GB2312" pitchFamily="49" charset="-122"/>
              </a:rPr>
              <a:t>DLE</a:t>
            </a:r>
            <a:r>
              <a:rPr lang="zh-CN" altLang="en-US" sz="2400">
                <a:latin typeface="Verdana" panose="020B0604030504040204" pitchFamily="34" charset="0"/>
                <a:ea typeface="楷体_GB2312" pitchFamily="49" charset="-122"/>
              </a:rPr>
              <a:t>，就添一个</a:t>
            </a:r>
            <a:r>
              <a:rPr lang="en-US" altLang="zh-CN" sz="2400">
                <a:latin typeface="Verdana" panose="020B0604030504040204" pitchFamily="34" charset="0"/>
                <a:ea typeface="楷体_GB2312" pitchFamily="49" charset="-122"/>
              </a:rPr>
              <a:t>DLE</a:t>
            </a:r>
            <a:r>
              <a:rPr lang="zh-CN" altLang="en-US" sz="2400">
                <a:latin typeface="Verdana" panose="020B0604030504040204" pitchFamily="34" charset="0"/>
                <a:ea typeface="楷体_GB2312" pitchFamily="49" charset="-122"/>
              </a:rPr>
              <a:t>，称为</a:t>
            </a:r>
            <a:r>
              <a:rPr lang="zh-CN" altLang="en-US" sz="2400" b="1">
                <a:solidFill>
                  <a:srgbClr val="FF66FF"/>
                </a:solidFill>
                <a:effectLst>
                  <a:outerShdw blurRad="38100" dist="38100" dir="2700000" algn="tl">
                    <a:srgbClr val="C0C0C0"/>
                  </a:outerShdw>
                </a:effectLst>
                <a:latin typeface="Verdana" panose="020B0604030504040204" pitchFamily="34" charset="0"/>
                <a:ea typeface="楷体_GB2312" pitchFamily="49" charset="-122"/>
              </a:rPr>
              <a:t>字符填充</a:t>
            </a:r>
            <a:r>
              <a:rPr lang="zh-CN" altLang="en-US" sz="2400">
                <a:latin typeface="Verdana" panose="020B0604030504040204" pitchFamily="34" charset="0"/>
                <a:ea typeface="楷体_GB2312" pitchFamily="49" charset="-122"/>
              </a:rPr>
              <a:t>。</a:t>
            </a:r>
            <a:endParaRPr lang="zh-CN" altLang="en-US" sz="2400">
              <a:latin typeface="Verdana" panose="020B0604030504040204" pitchFamily="34" charset="0"/>
              <a:ea typeface="楷体_GB2312" pitchFamily="49" charset="-122"/>
            </a:endParaRPr>
          </a:p>
          <a:p>
            <a:pPr>
              <a:buSzPct val="90000"/>
              <a:buFont typeface="Wingdings" panose="05000000000000000000" pitchFamily="2" charset="2"/>
              <a:buChar char="§"/>
              <a:defRPr/>
            </a:pPr>
            <a:r>
              <a:rPr lang="zh-CN" altLang="en-US" sz="2400">
                <a:latin typeface="Verdana" panose="020B0604030504040204" pitchFamily="34" charset="0"/>
                <a:ea typeface="楷体_GB2312" pitchFamily="49" charset="-122"/>
              </a:rPr>
              <a:t>缺点：完全依赖</a:t>
            </a:r>
            <a:r>
              <a:rPr lang="en-US" altLang="zh-CN" sz="2400">
                <a:latin typeface="Verdana" panose="020B0604030504040204" pitchFamily="34" charset="0"/>
                <a:ea typeface="楷体_GB2312" pitchFamily="49" charset="-122"/>
              </a:rPr>
              <a:t>8</a:t>
            </a:r>
            <a:r>
              <a:rPr lang="zh-CN" altLang="en-US" sz="2400">
                <a:latin typeface="Verdana" panose="020B0604030504040204" pitchFamily="34" charset="0"/>
                <a:ea typeface="楷体_GB2312" pitchFamily="49" charset="-122"/>
              </a:rPr>
              <a:t>位字符，特别是</a:t>
            </a:r>
            <a:r>
              <a:rPr lang="en-US" altLang="zh-CN" sz="2400">
                <a:latin typeface="Verdana" panose="020B0604030504040204" pitchFamily="34" charset="0"/>
                <a:ea typeface="楷体_GB2312" pitchFamily="49" charset="-122"/>
              </a:rPr>
              <a:t>ASCII</a:t>
            </a:r>
            <a:r>
              <a:rPr lang="zh-CN" altLang="en-US" sz="2400">
                <a:latin typeface="Verdana" panose="020B0604030504040204" pitchFamily="34" charset="0"/>
                <a:ea typeface="楷体_GB2312" pitchFamily="49" charset="-122"/>
              </a:rPr>
              <a:t>字符。</a:t>
            </a:r>
            <a:endParaRPr lang="zh-CN" altLang="en-US" sz="2400">
              <a:latin typeface="Verdana" panose="020B0604030504040204" pitchFamily="34" charset="0"/>
              <a:ea typeface="楷体_GB2312" pitchFamily="49" charset="-122"/>
            </a:endParaRPr>
          </a:p>
          <a:p>
            <a:pPr>
              <a:buSzPct val="90000"/>
              <a:buFont typeface="Wingdings" panose="05000000000000000000" pitchFamily="2" charset="2"/>
              <a:buNone/>
              <a:defRPr/>
            </a:pPr>
            <a:r>
              <a:rPr lang="zh-CN" altLang="en-US" sz="2400" b="1">
                <a:solidFill>
                  <a:srgbClr val="0000FF"/>
                </a:solidFill>
                <a:latin typeface="Verdana" panose="020B0604030504040204" pitchFamily="34" charset="0"/>
                <a:ea typeface="楷体_GB2312" pitchFamily="49" charset="-122"/>
              </a:rPr>
              <a:t>    </a:t>
            </a:r>
            <a:endParaRPr lang="zh-CN" altLang="en-US" sz="2400" b="1" dirty="0">
              <a:solidFill>
                <a:srgbClr val="0000FF"/>
              </a:solidFill>
              <a:latin typeface="Verdana" panose="020B0604030504040204" pitchFamily="34" charset="0"/>
              <a:ea typeface="楷体_GB2312" pitchFamily="49" charset="-122"/>
            </a:endParaRPr>
          </a:p>
        </p:txBody>
      </p:sp>
      <p:graphicFrame>
        <p:nvGraphicFramePr>
          <p:cNvPr id="6" name="Group 4"/>
          <p:cNvGraphicFramePr>
            <a:graphicFrameLocks noGrp="1"/>
          </p:cNvGraphicFramePr>
          <p:nvPr/>
        </p:nvGraphicFramePr>
        <p:xfrm>
          <a:off x="6391455" y="4241429"/>
          <a:ext cx="3429000" cy="457200"/>
        </p:xfrm>
        <a:graphic>
          <a:graphicData uri="http://schemas.openxmlformats.org/drawingml/2006/table">
            <a:tbl>
              <a:tblPr/>
              <a:tblGrid>
                <a:gridCol w="900113"/>
                <a:gridCol w="900112"/>
                <a:gridCol w="900113"/>
                <a:gridCol w="728662"/>
              </a:tblGrid>
              <a:tr h="4572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r>
            </a:tbl>
          </a:graphicData>
        </a:graphic>
      </p:graphicFrame>
      <p:sp>
        <p:nvSpPr>
          <p:cNvPr id="7" name="Text Box 16"/>
          <p:cNvSpPr txBox="1">
            <a:spLocks noChangeArrowheads="1"/>
          </p:cNvSpPr>
          <p:nvPr/>
        </p:nvSpPr>
        <p:spPr bwMode="auto">
          <a:xfrm>
            <a:off x="3035328" y="4186249"/>
            <a:ext cx="244812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None/>
            </a:pPr>
            <a:r>
              <a:rPr lang="zh-CN" altLang="en-US" sz="2400" b="1" dirty="0">
                <a:solidFill>
                  <a:srgbClr val="0000FF"/>
                </a:solidFill>
                <a:latin typeface="Verdana" panose="020B0604030504040204" pitchFamily="34" charset="0"/>
                <a:ea typeface="楷体_GB2312" pitchFamily="49" charset="-122"/>
              </a:rPr>
              <a:t>例：</a:t>
            </a:r>
            <a:r>
              <a:rPr kumimoji="1" lang="zh-CN" altLang="en-US" sz="2400" dirty="0">
                <a:latin typeface="楷体_GB2312" pitchFamily="49" charset="-122"/>
                <a:ea typeface="楷体_GB2312" pitchFamily="49" charset="-122"/>
              </a:rPr>
              <a:t>网络层发出：</a:t>
            </a:r>
            <a:endParaRPr kumimoji="1" lang="zh-CN" altLang="en-US" sz="2400" dirty="0">
              <a:latin typeface="楷体_GB2312" pitchFamily="49" charset="-122"/>
              <a:ea typeface="楷体_GB2312" pitchFamily="49" charset="-122"/>
            </a:endParaRPr>
          </a:p>
        </p:txBody>
      </p:sp>
      <p:sp>
        <p:nvSpPr>
          <p:cNvPr id="8" name="Text Box 17"/>
          <p:cNvSpPr txBox="1">
            <a:spLocks noChangeArrowheads="1"/>
          </p:cNvSpPr>
          <p:nvPr/>
        </p:nvSpPr>
        <p:spPr bwMode="auto">
          <a:xfrm>
            <a:off x="3611391" y="4724847"/>
            <a:ext cx="31623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400" dirty="0">
                <a:latin typeface="楷体_GB2312" pitchFamily="49" charset="-122"/>
                <a:ea typeface="楷体_GB2312" pitchFamily="49" charset="-122"/>
              </a:rPr>
              <a:t>经数据链路层填充：</a:t>
            </a:r>
            <a:endParaRPr kumimoji="1" lang="zh-CN" altLang="en-US" sz="2400" dirty="0">
              <a:latin typeface="楷体_GB2312" pitchFamily="49" charset="-122"/>
              <a:ea typeface="楷体_GB2312" pitchFamily="49" charset="-122"/>
            </a:endParaRPr>
          </a:p>
        </p:txBody>
      </p:sp>
      <p:sp>
        <p:nvSpPr>
          <p:cNvPr id="9" name="Text Box 18"/>
          <p:cNvSpPr txBox="1">
            <a:spLocks noChangeArrowheads="1"/>
          </p:cNvSpPr>
          <p:nvPr/>
        </p:nvSpPr>
        <p:spPr bwMode="auto">
          <a:xfrm>
            <a:off x="3611392" y="6090057"/>
            <a:ext cx="30956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400" dirty="0">
                <a:latin typeface="楷体_GB2312" pitchFamily="49" charset="-122"/>
                <a:ea typeface="楷体_GB2312" pitchFamily="49" charset="-122"/>
              </a:rPr>
              <a:t>传给接收方网络层：</a:t>
            </a:r>
            <a:endParaRPr kumimoji="1" lang="zh-CN" altLang="en-US" sz="2400" dirty="0">
              <a:latin typeface="楷体_GB2312" pitchFamily="49" charset="-122"/>
              <a:ea typeface="楷体_GB2312" pitchFamily="49" charset="-122"/>
            </a:endParaRPr>
          </a:p>
        </p:txBody>
      </p:sp>
      <p:graphicFrame>
        <p:nvGraphicFramePr>
          <p:cNvPr id="10" name="Group 19"/>
          <p:cNvGraphicFramePr>
            <a:graphicFrameLocks noGrp="1"/>
          </p:cNvGraphicFramePr>
          <p:nvPr/>
        </p:nvGraphicFramePr>
        <p:xfrm>
          <a:off x="6391455" y="6071799"/>
          <a:ext cx="3429000" cy="457200"/>
        </p:xfrm>
        <a:graphic>
          <a:graphicData uri="http://schemas.openxmlformats.org/drawingml/2006/table">
            <a:tbl>
              <a:tblPr/>
              <a:tblGrid>
                <a:gridCol w="900113"/>
                <a:gridCol w="900112"/>
                <a:gridCol w="900113"/>
                <a:gridCol w="728662"/>
              </a:tblGrid>
              <a:tr h="3810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r>
            </a:tbl>
          </a:graphicData>
        </a:graphic>
      </p:graphicFrame>
      <p:graphicFrame>
        <p:nvGraphicFramePr>
          <p:cNvPr id="11" name="Group 31"/>
          <p:cNvGraphicFramePr>
            <a:graphicFrameLocks noGrp="1"/>
          </p:cNvGraphicFramePr>
          <p:nvPr/>
        </p:nvGraphicFramePr>
        <p:xfrm>
          <a:off x="3742333" y="5259398"/>
          <a:ext cx="7239000" cy="504528"/>
        </p:xfrm>
        <a:graphic>
          <a:graphicData uri="http://schemas.openxmlformats.org/drawingml/2006/table">
            <a:tbl>
              <a:tblPr/>
              <a:tblGrid>
                <a:gridCol w="804863"/>
                <a:gridCol w="803275"/>
                <a:gridCol w="804862"/>
                <a:gridCol w="804863"/>
                <a:gridCol w="803275"/>
                <a:gridCol w="804862"/>
                <a:gridCol w="804863"/>
                <a:gridCol w="803275"/>
                <a:gridCol w="804862"/>
              </a:tblGrid>
              <a:tr h="50452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STX</a:t>
                      </a:r>
                      <a:endPar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endPar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ETX</a:t>
                      </a:r>
                      <a:endPar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r>
            </a:tbl>
          </a:graphicData>
        </a:graphic>
      </p:graphicFrame>
      <p:sp>
        <p:nvSpPr>
          <p:cNvPr id="12" name="圆角矩形标注 1"/>
          <p:cNvSpPr/>
          <p:nvPr/>
        </p:nvSpPr>
        <p:spPr bwMode="auto">
          <a:xfrm>
            <a:off x="7774781" y="2258582"/>
            <a:ext cx="2727050" cy="681038"/>
          </a:xfrm>
          <a:prstGeom prst="wedgeRoundRectCallout">
            <a:avLst>
              <a:gd name="adj1" fmla="val -39303"/>
              <a:gd name="adj2" fmla="val 83299"/>
              <a:gd name="adj3" fmla="val 16667"/>
            </a:avLst>
          </a:prstGeom>
          <a:noFill/>
          <a:ln w="9525" cap="flat" cmpd="sng" algn="ctr">
            <a:solidFill>
              <a:srgbClr val="FF3300"/>
            </a:solidFill>
            <a:prstDash val="solid"/>
            <a:round/>
            <a:headEnd type="none" w="med" len="med"/>
            <a:tailEnd type="triangle" w="med" len="med"/>
          </a:ln>
          <a:effectLst/>
        </p:spPr>
        <p:txBody>
          <a:bodyPr vert="horz" wrap="square" lIns="0" tIns="0" rIns="0" bIns="0" numCol="1" rtlCol="0" anchor="t" anchorCtr="0" compatLnSpc="1">
            <a:spAutoFit/>
          </a:bodyPr>
          <a:lstStyle/>
          <a:p>
            <a:pPr algn="ctr" eaLnBrk="1" hangingPunct="1">
              <a:spcBef>
                <a:spcPct val="50000"/>
              </a:spcBef>
            </a:pPr>
            <a:r>
              <a:rPr lang="zh-CN" altLang="en-US" dirty="0">
                <a:solidFill>
                  <a:srgbClr val="FF0000"/>
                </a:solidFill>
                <a:latin typeface="Arial" panose="020B0604020202020204" pitchFamily="34" charset="0"/>
              </a:rPr>
              <a:t>联想：</a:t>
            </a:r>
            <a:br>
              <a:rPr lang="en-US" altLang="zh-CN" dirty="0">
                <a:solidFill>
                  <a:srgbClr val="FF0000"/>
                </a:solidFill>
                <a:latin typeface="Arial" panose="020B0604020202020204" pitchFamily="34" charset="0"/>
              </a:rPr>
            </a:br>
            <a:r>
              <a:rPr lang="en-US" altLang="zh-CN" dirty="0">
                <a:solidFill>
                  <a:srgbClr val="FF0000"/>
                </a:solidFill>
                <a:latin typeface="Arial" panose="020B0604020202020204" pitchFamily="34" charset="0"/>
              </a:rPr>
              <a:t>C</a:t>
            </a:r>
            <a:r>
              <a:rPr lang="zh-CN" altLang="en-US" dirty="0">
                <a:solidFill>
                  <a:srgbClr val="FF0000"/>
                </a:solidFill>
                <a:latin typeface="Arial" panose="020B0604020202020204" pitchFamily="34" charset="0"/>
              </a:rPr>
              <a:t>语言中</a:t>
            </a:r>
            <a:r>
              <a:rPr lang="en-US" altLang="zh-CN" dirty="0">
                <a:solidFill>
                  <a:srgbClr val="FF0000"/>
                </a:solidFill>
                <a:latin typeface="Arial" panose="020B0604020202020204" pitchFamily="34" charset="0"/>
              </a:rPr>
              <a:t>“\”</a:t>
            </a:r>
            <a:r>
              <a:rPr lang="zh-CN" altLang="en-US" dirty="0">
                <a:solidFill>
                  <a:srgbClr val="FF0000"/>
                </a:solidFill>
                <a:latin typeface="Arial" panose="020B0604020202020204" pitchFamily="34" charset="0"/>
              </a:rPr>
              <a:t>字符的表示</a:t>
            </a:r>
            <a:endParaRPr lang="en-US" dirty="0">
              <a:solidFill>
                <a:srgbClr val="FF0000"/>
              </a:solidFill>
              <a:latin typeface="Arial" panose="020B0604020202020204" pitchFamily="34" charset="0"/>
            </a:endParaRPr>
          </a:p>
        </p:txBody>
      </p:sp>
      <p:sp>
        <p:nvSpPr>
          <p:cNvPr id="16" name="内容占位符 2"/>
          <p:cNvSpPr>
            <a:spLocks noGrp="1"/>
          </p:cNvSpPr>
          <p:nvPr>
            <p:ph idx="1"/>
          </p:nvPr>
        </p:nvSpPr>
        <p:spPr>
          <a:xfrm>
            <a:off x="498764" y="1510758"/>
            <a:ext cx="2341418" cy="4128042"/>
          </a:xfrm>
        </p:spPr>
        <p:txBody>
          <a:bodyPr/>
          <a:lstStyle/>
          <a:p>
            <a:pPr>
              <a:lnSpc>
                <a:spcPts val="3600"/>
              </a:lnSpc>
            </a:pPr>
            <a:r>
              <a:rPr lang="zh-CN" altLang="en-US" dirty="0">
                <a:solidFill>
                  <a:srgbClr val="C00000"/>
                </a:solidFill>
              </a:rPr>
              <a:t>带字节填充的定界符法</a:t>
            </a:r>
            <a:endParaRPr lang="en-US" altLang="zh-CN" dirty="0">
              <a:solidFill>
                <a:srgbClr val="C00000"/>
              </a:solidFill>
            </a:endParaRPr>
          </a:p>
          <a:p>
            <a:pPr marL="457200" lvl="1" indent="0">
              <a:buNone/>
            </a:pPr>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5"/>
          <p:cNvSpPr>
            <a:spLocks noGrp="1"/>
          </p:cNvSpPr>
          <p:nvPr>
            <p:ph type="dt" sz="quarter" idx="12"/>
          </p:nvPr>
        </p:nvSpPr>
        <p:spPr>
          <a:xfrm>
            <a:off x="8610600" y="6730425"/>
            <a:ext cx="3319670" cy="365125"/>
          </a:xfrm>
        </p:spPr>
        <p:txBody>
          <a:bodyPr/>
          <a:lstStyle/>
          <a:p>
            <a:pPr>
              <a:defRPr/>
            </a:pPr>
            <a:fld id="{89E51B3B-758B-4F70-9038-8A0C5A441FC6}" type="datetime1">
              <a:rPr lang="zh-CN" altLang="en-US"/>
            </a:fld>
            <a:endParaRPr lang="en-US" altLang="zh-CN"/>
          </a:p>
        </p:txBody>
      </p:sp>
      <p:sp>
        <p:nvSpPr>
          <p:cNvPr id="837635" name="Rectangle 3"/>
          <p:cNvSpPr>
            <a:spLocks noGrp="1" noChangeArrowheads="1"/>
          </p:cNvSpPr>
          <p:nvPr>
            <p:ph type="body" idx="1"/>
          </p:nvPr>
        </p:nvSpPr>
        <p:spPr>
          <a:xfrm>
            <a:off x="1828800" y="1440875"/>
            <a:ext cx="10210800" cy="2217738"/>
          </a:xfrm>
        </p:spPr>
        <p:txBody>
          <a:bodyPr>
            <a:normAutofit/>
          </a:bodyPr>
          <a:lstStyle/>
          <a:p>
            <a:pPr eaLnBrk="1" hangingPunct="1">
              <a:lnSpc>
                <a:spcPct val="115000"/>
              </a:lnSpc>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典型代表是</a:t>
            </a:r>
            <a:r>
              <a:rPr lang="en-US" altLang="zh-CN" sz="2400" dirty="0">
                <a:latin typeface="Verdana" panose="020B0604030504040204" pitchFamily="34" charset="0"/>
                <a:ea typeface="楷体_GB2312" pitchFamily="49" charset="-122"/>
              </a:rPr>
              <a:t>IBM</a:t>
            </a:r>
            <a:r>
              <a:rPr lang="zh-CN" altLang="en-US" sz="2400" dirty="0">
                <a:latin typeface="Verdana" panose="020B0604030504040204" pitchFamily="34" charset="0"/>
                <a:ea typeface="楷体_GB2312" pitchFamily="49" charset="-122"/>
              </a:rPr>
              <a:t>二进制同步通信协议</a:t>
            </a:r>
            <a:r>
              <a:rPr lang="en-US" altLang="zh-CN" sz="2400" dirty="0">
                <a:latin typeface="Verdana" panose="020B0604030504040204" pitchFamily="34" charset="0"/>
                <a:ea typeface="楷体_GB2312" pitchFamily="49" charset="-122"/>
              </a:rPr>
              <a:t>(BSC)</a:t>
            </a:r>
            <a:r>
              <a:rPr lang="zh-CN" altLang="en-US" sz="2400" dirty="0">
                <a:latin typeface="Verdana" panose="020B0604030504040204" pitchFamily="34" charset="0"/>
                <a:ea typeface="楷体_GB2312" pitchFamily="49" charset="-122"/>
              </a:rPr>
              <a:t>。</a:t>
            </a:r>
            <a:endParaRPr lang="en-US" altLang="zh-CN" sz="2400" dirty="0">
              <a:latin typeface="Verdana" panose="020B0604030504040204" pitchFamily="34" charset="0"/>
              <a:ea typeface="楷体_GB2312" pitchFamily="49" charset="-122"/>
            </a:endParaRPr>
          </a:p>
          <a:p>
            <a:pPr eaLnBrk="1" hangingPunct="1">
              <a:lnSpc>
                <a:spcPct val="115000"/>
              </a:lnSpc>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特点是一次传送若干个字符组成的数据块而非一个字符，并规定</a:t>
            </a:r>
            <a:r>
              <a:rPr lang="en-US" altLang="zh-CN" sz="2400" dirty="0">
                <a:latin typeface="Verdana" panose="020B0604030504040204" pitchFamily="34" charset="0"/>
                <a:ea typeface="楷体_GB2312" pitchFamily="49" charset="-122"/>
              </a:rPr>
              <a:t>10</a:t>
            </a:r>
            <a:r>
              <a:rPr lang="zh-CN" altLang="en-US" sz="2400" dirty="0">
                <a:latin typeface="Verdana" panose="020B0604030504040204" pitchFamily="34" charset="0"/>
                <a:ea typeface="楷体_GB2312" pitchFamily="49" charset="-122"/>
              </a:rPr>
              <a:t>个字符作为该数据块的开头与结束标志及整个传输过程的控制信息</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通信控制字</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。由于被传送的数据块是</a:t>
            </a:r>
            <a:r>
              <a:rPr lang="zh-CN" altLang="en-US"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由字符组成</a:t>
            </a:r>
            <a:r>
              <a:rPr lang="zh-CN" altLang="en-US" sz="2400" dirty="0">
                <a:latin typeface="Verdana" panose="020B0604030504040204" pitchFamily="34" charset="0"/>
                <a:ea typeface="楷体_GB2312" pitchFamily="49" charset="-122"/>
              </a:rPr>
              <a:t>，故被称作</a:t>
            </a:r>
            <a:r>
              <a:rPr lang="zh-CN" altLang="en-US" sz="2400" dirty="0">
                <a:solidFill>
                  <a:srgbClr val="FF3300"/>
                </a:solidFill>
                <a:effectLst>
                  <a:outerShdw blurRad="38100" dist="38100" dir="2700000" algn="tl">
                    <a:srgbClr val="000000">
                      <a:alpha val="43137"/>
                    </a:srgbClr>
                  </a:outerShdw>
                </a:effectLst>
                <a:latin typeface="Verdana" panose="020B0604030504040204" pitchFamily="34" charset="0"/>
                <a:ea typeface="楷体_GB2312" pitchFamily="49" charset="-122"/>
              </a:rPr>
              <a:t>面向字符的协议</a:t>
            </a:r>
            <a:r>
              <a:rPr lang="zh-CN" altLang="en-US" sz="2400" dirty="0">
                <a:latin typeface="Verdana" panose="020B0604030504040204" pitchFamily="34" charset="0"/>
                <a:ea typeface="楷体_GB2312" pitchFamily="49" charset="-122"/>
              </a:rPr>
              <a:t>。</a:t>
            </a:r>
            <a:endParaRPr lang="zh-CN" altLang="en-US" sz="2400" dirty="0">
              <a:latin typeface="Verdana" panose="020B0604030504040204" pitchFamily="34" charset="0"/>
              <a:ea typeface="楷体_GB2312" pitchFamily="49" charset="-122"/>
            </a:endParaRPr>
          </a:p>
        </p:txBody>
      </p:sp>
      <p:graphicFrame>
        <p:nvGraphicFramePr>
          <p:cNvPr id="2" name="表格 1"/>
          <p:cNvGraphicFramePr>
            <a:graphicFrameLocks noGrp="1"/>
          </p:cNvGraphicFramePr>
          <p:nvPr/>
        </p:nvGraphicFramePr>
        <p:xfrm>
          <a:off x="5634236" y="3379385"/>
          <a:ext cx="5038327" cy="3017520"/>
        </p:xfrm>
        <a:graphic>
          <a:graphicData uri="http://schemas.openxmlformats.org/drawingml/2006/table">
            <a:tbl>
              <a:tblPr firstRow="1" firstCol="1" bandRow="1"/>
              <a:tblGrid>
                <a:gridCol w="3309109"/>
                <a:gridCol w="860542"/>
                <a:gridCol w="868676"/>
              </a:tblGrid>
              <a:tr h="274320">
                <a:tc>
                  <a:txBody>
                    <a:bodyPr/>
                    <a:lstStyle/>
                    <a:p>
                      <a:pPr algn="ctr">
                        <a:lnSpc>
                          <a:spcPts val="1800"/>
                        </a:lnSpc>
                        <a:spcAft>
                          <a:spcPts val="0"/>
                        </a:spcAft>
                      </a:pPr>
                      <a:r>
                        <a:rPr lang="zh-CN" sz="1400" b="1" kern="100" dirty="0">
                          <a:solidFill>
                            <a:srgbClr val="FF0000"/>
                          </a:solidFill>
                          <a:effectLst/>
                          <a:latin typeface="Times New Roman" panose="02020603050405020304"/>
                          <a:ea typeface="宋体" panose="02010600030101010101" pitchFamily="2" charset="-122"/>
                          <a:cs typeface="Times New Roman" panose="02020603050405020304"/>
                        </a:rPr>
                        <a:t>符号名称</a:t>
                      </a:r>
                      <a:endParaRPr lang="zh-CN" sz="1400" b="1" kern="100" dirty="0">
                        <a:solidFill>
                          <a:srgbClr val="FF0000"/>
                        </a:solidFill>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FF0000"/>
                          </a:solidFill>
                          <a:effectLst/>
                          <a:latin typeface="Times New Roman" panose="02020603050405020304"/>
                          <a:ea typeface="宋体" panose="02010600030101010101" pitchFamily="2" charset="-122"/>
                          <a:cs typeface="Times New Roman" panose="02020603050405020304"/>
                        </a:rPr>
                        <a:t>十进制</a:t>
                      </a:r>
                      <a:endParaRPr lang="zh-CN" sz="1400" b="1" kern="100" dirty="0">
                        <a:solidFill>
                          <a:srgbClr val="FF0000"/>
                        </a:solidFill>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FF0000"/>
                          </a:solidFill>
                          <a:effectLst/>
                          <a:latin typeface="Times New Roman" panose="02020603050405020304"/>
                          <a:ea typeface="宋体" panose="02010600030101010101" pitchFamily="2" charset="-122"/>
                          <a:cs typeface="Times New Roman" panose="02020603050405020304"/>
                        </a:rPr>
                        <a:t>十六进制</a:t>
                      </a:r>
                      <a:endParaRPr lang="zh-CN" sz="1400" b="1" kern="100" dirty="0">
                        <a:solidFill>
                          <a:srgbClr val="FF0000"/>
                        </a:solidFill>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SOH</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start of headline </a:t>
                      </a:r>
                      <a:r>
                        <a:rPr lang="zh-CN" sz="1400" kern="0" dirty="0">
                          <a:effectLst/>
                          <a:latin typeface="Times New Roman" panose="02020603050405020304"/>
                          <a:ea typeface="宋体" panose="02010600030101010101" pitchFamily="2" charset="-122"/>
                          <a:cs typeface="Times New Roman" panose="02020603050405020304"/>
                        </a:rPr>
                        <a:t>标题开始）</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1</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01</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a:effectLst/>
                          <a:latin typeface="Times New Roman" panose="02020603050405020304"/>
                          <a:ea typeface="宋体" panose="02010600030101010101" pitchFamily="2" charset="-122"/>
                          <a:cs typeface="Times New Roman" panose="02020603050405020304"/>
                        </a:rPr>
                        <a:t>STX</a:t>
                      </a:r>
                      <a:r>
                        <a:rPr lang="zh-CN" sz="1400" kern="100">
                          <a:effectLst/>
                          <a:latin typeface="Times New Roman" panose="02020603050405020304"/>
                          <a:ea typeface="宋体" panose="02010600030101010101" pitchFamily="2" charset="-122"/>
                          <a:cs typeface="Times New Roman" panose="02020603050405020304"/>
                        </a:rPr>
                        <a:t>（</a:t>
                      </a:r>
                      <a:r>
                        <a:rPr lang="en-US" sz="1400" kern="0">
                          <a:effectLst/>
                          <a:latin typeface="Times New Roman" panose="02020603050405020304"/>
                          <a:ea typeface="宋体" panose="02010600030101010101" pitchFamily="2" charset="-122"/>
                          <a:cs typeface="Times New Roman" panose="02020603050405020304"/>
                        </a:rPr>
                        <a:t>start of text </a:t>
                      </a:r>
                      <a:r>
                        <a:rPr lang="zh-CN" sz="1400" kern="0">
                          <a:effectLst/>
                          <a:latin typeface="Times New Roman" panose="02020603050405020304"/>
                          <a:ea typeface="宋体" panose="02010600030101010101" pitchFamily="2" charset="-122"/>
                          <a:cs typeface="Times New Roman" panose="02020603050405020304"/>
                        </a:rPr>
                        <a:t>正文开始）</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2</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02</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ETX</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end of text </a:t>
                      </a:r>
                      <a:r>
                        <a:rPr lang="zh-CN" sz="1400" kern="0" dirty="0">
                          <a:effectLst/>
                          <a:latin typeface="Times New Roman" panose="02020603050405020304"/>
                          <a:ea typeface="宋体" panose="02010600030101010101" pitchFamily="2" charset="-122"/>
                          <a:cs typeface="Times New Roman" panose="02020603050405020304"/>
                        </a:rPr>
                        <a:t>正文结束）</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3</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03</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EOT</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end of transmission</a:t>
                      </a:r>
                      <a:r>
                        <a:rPr lang="zh-CN" sz="1400" kern="0" dirty="0">
                          <a:effectLst/>
                          <a:latin typeface="Times New Roman" panose="02020603050405020304"/>
                          <a:ea typeface="宋体" panose="02010600030101010101" pitchFamily="2" charset="-122"/>
                          <a:cs typeface="Times New Roman" panose="02020603050405020304"/>
                        </a:rPr>
                        <a:t>传输结束）</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4</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04</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ENQ</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enquiry </a:t>
                      </a:r>
                      <a:r>
                        <a:rPr lang="zh-CN" sz="1400" kern="0" dirty="0">
                          <a:effectLst/>
                          <a:latin typeface="Times New Roman" panose="02020603050405020304"/>
                          <a:ea typeface="宋体" panose="02010600030101010101" pitchFamily="2" charset="-122"/>
                          <a:cs typeface="Times New Roman" panose="02020603050405020304"/>
                        </a:rPr>
                        <a:t>请求）</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5</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05</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ACK</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acknowledge </a:t>
                      </a:r>
                      <a:r>
                        <a:rPr lang="zh-CN" sz="1400" kern="0" dirty="0">
                          <a:effectLst/>
                          <a:latin typeface="Times New Roman" panose="02020603050405020304"/>
                          <a:ea typeface="宋体" panose="02010600030101010101" pitchFamily="2" charset="-122"/>
                          <a:cs typeface="Times New Roman" panose="02020603050405020304"/>
                        </a:rPr>
                        <a:t>收到通知）</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6</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06</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spcAft>
                          <a:spcPts val="0"/>
                        </a:spcAft>
                      </a:pPr>
                      <a:r>
                        <a:rPr lang="en-US" sz="1400" kern="100">
                          <a:effectLst/>
                          <a:latin typeface="Times New Roman" panose="02020603050405020304"/>
                          <a:ea typeface="宋体" panose="02010600030101010101" pitchFamily="2" charset="-122"/>
                          <a:cs typeface="Times New Roman" panose="02020603050405020304"/>
                        </a:rPr>
                        <a:t>DLE</a:t>
                      </a:r>
                      <a:r>
                        <a:rPr lang="zh-CN" sz="1400" kern="100">
                          <a:effectLst/>
                          <a:latin typeface="Times New Roman" panose="02020603050405020304"/>
                          <a:ea typeface="宋体" panose="02010600030101010101" pitchFamily="2" charset="-122"/>
                          <a:cs typeface="Times New Roman" panose="02020603050405020304"/>
                        </a:rPr>
                        <a:t>（</a:t>
                      </a:r>
                      <a:r>
                        <a:rPr lang="en-US" sz="1400" kern="100">
                          <a:effectLst/>
                          <a:latin typeface="Times New Roman" panose="02020603050405020304"/>
                          <a:ea typeface="宋体" panose="02010600030101010101" pitchFamily="2" charset="-122"/>
                          <a:cs typeface="Times New Roman" panose="02020603050405020304"/>
                        </a:rPr>
                        <a:t>data link escape </a:t>
                      </a:r>
                      <a:r>
                        <a:rPr lang="zh-CN" sz="1400" kern="100">
                          <a:effectLst/>
                          <a:latin typeface="Times New Roman" panose="02020603050405020304"/>
                          <a:ea typeface="宋体" panose="02010600030101010101" pitchFamily="2" charset="-122"/>
                          <a:cs typeface="Times New Roman" panose="02020603050405020304"/>
                        </a:rPr>
                        <a:t>数据链路转义）</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16</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10</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a:effectLst/>
                          <a:latin typeface="Times New Roman" panose="02020603050405020304"/>
                          <a:ea typeface="宋体" panose="02010600030101010101" pitchFamily="2" charset="-122"/>
                          <a:cs typeface="Times New Roman" panose="02020603050405020304"/>
                        </a:rPr>
                        <a:t>NAK</a:t>
                      </a:r>
                      <a:r>
                        <a:rPr lang="zh-CN" sz="1400" kern="100">
                          <a:effectLst/>
                          <a:latin typeface="Times New Roman" panose="02020603050405020304"/>
                          <a:ea typeface="宋体" panose="02010600030101010101" pitchFamily="2" charset="-122"/>
                          <a:cs typeface="Times New Roman" panose="02020603050405020304"/>
                        </a:rPr>
                        <a:t>（</a:t>
                      </a:r>
                      <a:r>
                        <a:rPr lang="en-US" sz="1400" kern="0">
                          <a:effectLst/>
                          <a:latin typeface="Times New Roman" panose="02020603050405020304"/>
                          <a:ea typeface="宋体" panose="02010600030101010101" pitchFamily="2" charset="-122"/>
                          <a:cs typeface="Times New Roman" panose="02020603050405020304"/>
                        </a:rPr>
                        <a:t>negative acknowledge </a:t>
                      </a:r>
                      <a:r>
                        <a:rPr lang="zh-CN" sz="1400" kern="0">
                          <a:effectLst/>
                          <a:latin typeface="Times New Roman" panose="02020603050405020304"/>
                          <a:ea typeface="宋体" panose="02010600030101010101" pitchFamily="2" charset="-122"/>
                          <a:cs typeface="Times New Roman" panose="02020603050405020304"/>
                        </a:rPr>
                        <a:t>拒绝接收）</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21</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15</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spcAft>
                          <a:spcPts val="0"/>
                        </a:spcAft>
                      </a:pPr>
                      <a:r>
                        <a:rPr lang="en-US" sz="1400" kern="100" dirty="0">
                          <a:effectLst/>
                          <a:latin typeface="Times New Roman" panose="02020603050405020304"/>
                          <a:ea typeface="宋体" panose="02010600030101010101" pitchFamily="2" charset="-122"/>
                          <a:cs typeface="Times New Roman" panose="02020603050405020304"/>
                        </a:rPr>
                        <a:t>SYN</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100" dirty="0">
                          <a:effectLst/>
                          <a:latin typeface="Times New Roman" panose="02020603050405020304"/>
                          <a:ea typeface="宋体" panose="02010600030101010101" pitchFamily="2" charset="-122"/>
                          <a:cs typeface="Times New Roman" panose="02020603050405020304"/>
                        </a:rPr>
                        <a:t>(synchronous idle </a:t>
                      </a:r>
                      <a:r>
                        <a:rPr lang="zh-CN" sz="1400" kern="100" dirty="0">
                          <a:effectLst/>
                          <a:latin typeface="Times New Roman" panose="02020603050405020304"/>
                          <a:ea typeface="宋体" panose="02010600030101010101" pitchFamily="2" charset="-122"/>
                          <a:cs typeface="Times New Roman" panose="02020603050405020304"/>
                        </a:rPr>
                        <a:t>同步空闲）</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22</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16</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just">
                        <a:lnSpc>
                          <a:spcPts val="1800"/>
                        </a:lnSpc>
                        <a:spcAft>
                          <a:spcPts val="0"/>
                        </a:spcAft>
                      </a:pPr>
                      <a:r>
                        <a:rPr lang="en-US" sz="1400" kern="100" dirty="0">
                          <a:effectLst/>
                          <a:latin typeface="Times New Roman" panose="02020603050405020304"/>
                          <a:ea typeface="宋体" panose="02010600030101010101" pitchFamily="2" charset="-122"/>
                          <a:cs typeface="Times New Roman" panose="02020603050405020304"/>
                        </a:rPr>
                        <a:t>ETB</a:t>
                      </a:r>
                      <a:r>
                        <a:rPr lang="zh-CN" sz="1400" kern="100" dirty="0">
                          <a:effectLst/>
                          <a:latin typeface="Times New Roman" panose="02020603050405020304"/>
                          <a:ea typeface="宋体" panose="02010600030101010101" pitchFamily="2" charset="-122"/>
                          <a:cs typeface="Times New Roman" panose="02020603050405020304"/>
                        </a:rPr>
                        <a:t>（</a:t>
                      </a:r>
                      <a:r>
                        <a:rPr lang="en-US" sz="1400" kern="0" dirty="0">
                          <a:effectLst/>
                          <a:latin typeface="Times New Roman" panose="02020603050405020304"/>
                          <a:ea typeface="宋体" panose="02010600030101010101" pitchFamily="2" charset="-122"/>
                          <a:cs typeface="Times New Roman" panose="02020603050405020304"/>
                        </a:rPr>
                        <a:t>end of trans. block </a:t>
                      </a:r>
                      <a:r>
                        <a:rPr lang="zh-CN" sz="1400" kern="0" dirty="0">
                          <a:effectLst/>
                          <a:latin typeface="Times New Roman" panose="02020603050405020304"/>
                          <a:ea typeface="宋体" panose="02010600030101010101" pitchFamily="2" charset="-122"/>
                          <a:cs typeface="Times New Roman" panose="02020603050405020304"/>
                        </a:rPr>
                        <a:t>传输块结束）</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panose="02020603050405020304"/>
                          <a:ea typeface="宋体" panose="02010600030101010101" pitchFamily="2" charset="-122"/>
                          <a:cs typeface="Times New Roman" panose="02020603050405020304"/>
                        </a:rPr>
                        <a:t>23</a:t>
                      </a:r>
                      <a:endParaRPr lang="zh-CN" sz="1400" kern="10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panose="02020603050405020304"/>
                          <a:ea typeface="宋体" panose="02010600030101010101" pitchFamily="2" charset="-122"/>
                          <a:cs typeface="Times New Roman" panose="02020603050405020304"/>
                        </a:rPr>
                        <a:t>17</a:t>
                      </a:r>
                      <a:endParaRPr lang="zh-CN" sz="1400" kern="100" dirty="0">
                        <a:effectLst/>
                        <a:latin typeface="Calibri" panose="020F0502020204030204"/>
                        <a:ea typeface="宋体" panose="02010600030101010101" pitchFamily="2" charset="-122"/>
                        <a:cs typeface="Times New Roman" panose="02020603050405020304"/>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417" name="矩形 2"/>
          <p:cNvSpPr>
            <a:spLocks noChangeArrowheads="1"/>
          </p:cNvSpPr>
          <p:nvPr/>
        </p:nvSpPr>
        <p:spPr bwMode="auto">
          <a:xfrm>
            <a:off x="2135188" y="3888800"/>
            <a:ext cx="26654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buClrTx/>
              <a:buSzPct val="90000"/>
              <a:buFont typeface="Wingdings" panose="05000000000000000000" pitchFamily="2" charset="2"/>
              <a:buChar char="§"/>
            </a:pPr>
            <a:r>
              <a:rPr lang="zh-CN" altLang="en-US" sz="2400" dirty="0">
                <a:solidFill>
                  <a:srgbClr val="0000FF"/>
                </a:solidFill>
                <a:latin typeface="Verdana" panose="020B0604030504040204" pitchFamily="34" charset="0"/>
                <a:ea typeface="楷体_GB2312" pitchFamily="49" charset="-122"/>
              </a:rPr>
              <a:t> 相关控制字符的</a:t>
            </a:r>
            <a:r>
              <a:rPr lang="en-US" altLang="zh-CN" sz="2400" dirty="0">
                <a:solidFill>
                  <a:srgbClr val="0000FF"/>
                </a:solidFill>
                <a:latin typeface="Verdana" panose="020B0604030504040204" pitchFamily="34" charset="0"/>
                <a:ea typeface="楷体_GB2312" pitchFamily="49" charset="-122"/>
              </a:rPr>
              <a:t>ASCII</a:t>
            </a:r>
            <a:r>
              <a:rPr lang="zh-CN" altLang="en-US" sz="2400" dirty="0">
                <a:solidFill>
                  <a:srgbClr val="0000FF"/>
                </a:solidFill>
                <a:latin typeface="Verdana" panose="020B0604030504040204" pitchFamily="34" charset="0"/>
                <a:ea typeface="楷体_GB2312" pitchFamily="49" charset="-122"/>
              </a:rPr>
              <a:t>定义</a:t>
            </a:r>
            <a:r>
              <a:rPr lang="zh-CN" altLang="en-US" sz="2400" dirty="0">
                <a:latin typeface="Verdana" panose="020B0604030504040204" pitchFamily="34" charset="0"/>
                <a:ea typeface="楷体_GB2312" pitchFamily="49" charset="-122"/>
              </a:rPr>
              <a:t>：</a:t>
            </a:r>
            <a:endParaRPr lang="zh-CN" altLang="en-US" sz="2400" dirty="0">
              <a:latin typeface="Verdana" panose="020B0604030504040204" pitchFamily="34" charset="0"/>
              <a:ea typeface="楷体_GB2312" pitchFamily="49" charset="-122"/>
            </a:endParaRPr>
          </a:p>
        </p:txBody>
      </p:sp>
      <p:sp>
        <p:nvSpPr>
          <p:cNvPr id="4" name="Title 3"/>
          <p:cNvSpPr>
            <a:spLocks noGrp="1"/>
          </p:cNvSpPr>
          <p:nvPr>
            <p:ph type="title"/>
          </p:nvPr>
        </p:nvSpPr>
        <p:spPr/>
        <p:txBody>
          <a:bodyPr/>
          <a:lstStyle/>
          <a:p>
            <a:r>
              <a:rPr lang="zh-CN" altLang="en-US" dirty="0"/>
              <a:t>成帧（</a:t>
            </a:r>
            <a:r>
              <a:rPr lang="en-US" altLang="zh-CN" dirty="0"/>
              <a:t>Framing</a:t>
            </a:r>
            <a:r>
              <a:rPr lang="zh-CN" altLang="en-US" dirty="0"/>
              <a:t>）</a:t>
            </a:r>
            <a:endParaRPr lang="en-US" dirty="0"/>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1638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CA489E3-FB5D-4E31-A01E-FE3C434B9C04}"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100BD884-D45D-4C95-95D6-C700520D6AA6}" type="datetime1">
              <a:rPr lang="zh-CN" altLang="en-US" smtClean="0"/>
            </a:fld>
            <a:endParaRPr lang="en-US" altLang="zh-CN"/>
          </a:p>
        </p:txBody>
      </p:sp>
      <p:pic>
        <p:nvPicPr>
          <p:cNvPr id="1638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5800" y="1255713"/>
            <a:ext cx="8280400" cy="560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3"/>
          <p:cNvSpPr>
            <a:spLocks noGrp="1"/>
          </p:cNvSpPr>
          <p:nvPr>
            <p:ph type="title"/>
          </p:nvPr>
        </p:nvSpPr>
        <p:spPr>
          <a:xfrm>
            <a:off x="1307508" y="365126"/>
            <a:ext cx="8220812" cy="879086"/>
          </a:xfrm>
        </p:spPr>
        <p:txBody>
          <a:bodyPr/>
          <a:lstStyle/>
          <a:p>
            <a:r>
              <a:rPr lang="zh-CN" altLang="en-US" dirty="0"/>
              <a:t>成帧（</a:t>
            </a:r>
            <a:r>
              <a:rPr lang="en-US" altLang="zh-CN" dirty="0"/>
              <a:t>Framing</a:t>
            </a:r>
            <a:r>
              <a:rPr lang="zh-CN" altLang="en-US" dirty="0"/>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endParaRPr lang="en-US" altLang="zh-CN" dirty="0">
              <a:solidFill>
                <a:srgbClr val="C00000"/>
              </a:solidFill>
            </a:endParaRPr>
          </a:p>
          <a:p>
            <a:pPr lvl="1">
              <a:lnSpc>
                <a:spcPts val="3600"/>
              </a:lnSpc>
              <a:spcBef>
                <a:spcPts val="1200"/>
              </a:spcBef>
            </a:pPr>
            <a:r>
              <a:rPr lang="zh-CN" altLang="en-US" dirty="0"/>
              <a:t>定界符：两个</a:t>
            </a:r>
            <a:r>
              <a:rPr lang="en-US" altLang="zh-CN" dirty="0"/>
              <a:t>0</a:t>
            </a:r>
            <a:r>
              <a:rPr lang="zh-CN" altLang="en-US" dirty="0"/>
              <a:t>比特之间，连续</a:t>
            </a:r>
            <a:r>
              <a:rPr lang="en-US" altLang="zh-CN" dirty="0"/>
              <a:t>6</a:t>
            </a:r>
            <a:r>
              <a:rPr lang="zh-CN" altLang="en-US" dirty="0"/>
              <a:t>个</a:t>
            </a:r>
            <a:r>
              <a:rPr lang="en-US" altLang="zh-CN" dirty="0"/>
              <a:t>1</a:t>
            </a:r>
            <a:r>
              <a:rPr lang="zh-CN" altLang="en-US" dirty="0"/>
              <a:t>比特，即</a:t>
            </a:r>
            <a:r>
              <a:rPr lang="en-US" altLang="zh-CN" dirty="0">
                <a:solidFill>
                  <a:srgbClr val="C00000"/>
                </a:solidFill>
              </a:rPr>
              <a:t>01111110</a:t>
            </a:r>
            <a:r>
              <a:rPr lang="zh-CN" altLang="en-US" dirty="0"/>
              <a:t>，</a:t>
            </a:r>
            <a:r>
              <a:rPr lang="en-US" altLang="zh-CN" dirty="0"/>
              <a:t>0x7E</a:t>
            </a:r>
            <a:endParaRPr lang="zh-CN" altLang="en-US" dirty="0"/>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2351627" y="3546296"/>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19" name="Rectangle 44"/>
            <p:cNvSpPr>
              <a:spLocks noChangeArrowheads="1"/>
            </p:cNvSpPr>
            <p:nvPr/>
          </p:nvSpPr>
          <p:spPr bwMode="auto">
            <a:xfrm>
              <a:off x="1465472"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Rectangle 44"/>
            <p:cNvSpPr>
              <a:spLocks noChangeArrowheads="1"/>
            </p:cNvSpPr>
            <p:nvPr/>
          </p:nvSpPr>
          <p:spPr bwMode="auto">
            <a:xfrm>
              <a:off x="1784549"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Rectangle 44"/>
            <p:cNvSpPr>
              <a:spLocks noChangeArrowheads="1"/>
            </p:cNvSpPr>
            <p:nvPr/>
          </p:nvSpPr>
          <p:spPr bwMode="auto">
            <a:xfrm>
              <a:off x="2103626"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Rectangle 44"/>
            <p:cNvSpPr>
              <a:spLocks noChangeArrowheads="1"/>
            </p:cNvSpPr>
            <p:nvPr/>
          </p:nvSpPr>
          <p:spPr bwMode="auto">
            <a:xfrm>
              <a:off x="2422703"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Rectangle 44"/>
            <p:cNvSpPr>
              <a:spLocks noChangeArrowheads="1"/>
            </p:cNvSpPr>
            <p:nvPr/>
          </p:nvSpPr>
          <p:spPr bwMode="auto">
            <a:xfrm>
              <a:off x="2741780"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Rectangle 44"/>
            <p:cNvSpPr>
              <a:spLocks noChangeArrowheads="1"/>
            </p:cNvSpPr>
            <p:nvPr/>
          </p:nvSpPr>
          <p:spPr bwMode="auto">
            <a:xfrm>
              <a:off x="3060857"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5" name="Rectangle 44"/>
            <p:cNvSpPr>
              <a:spLocks noChangeArrowheads="1"/>
            </p:cNvSpPr>
            <p:nvPr/>
          </p:nvSpPr>
          <p:spPr bwMode="auto">
            <a:xfrm>
              <a:off x="3379934"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6" name="Rectangle 44"/>
            <p:cNvSpPr>
              <a:spLocks noChangeArrowheads="1"/>
            </p:cNvSpPr>
            <p:nvPr/>
          </p:nvSpPr>
          <p:spPr bwMode="auto">
            <a:xfrm>
              <a:off x="3699011"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 name="Rectangle 44"/>
            <p:cNvSpPr>
              <a:spLocks noChangeArrowheads="1"/>
            </p:cNvSpPr>
            <p:nvPr/>
          </p:nvSpPr>
          <p:spPr bwMode="auto">
            <a:xfrm>
              <a:off x="4018088"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8" name="Rectangle 44"/>
            <p:cNvSpPr>
              <a:spLocks noChangeArrowheads="1"/>
            </p:cNvSpPr>
            <p:nvPr/>
          </p:nvSpPr>
          <p:spPr bwMode="auto">
            <a:xfrm>
              <a:off x="4337165"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9" name="Rectangle 44"/>
            <p:cNvSpPr>
              <a:spLocks noChangeArrowheads="1"/>
            </p:cNvSpPr>
            <p:nvPr/>
          </p:nvSpPr>
          <p:spPr bwMode="auto">
            <a:xfrm>
              <a:off x="465624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0" name="Rectangle 44"/>
            <p:cNvSpPr>
              <a:spLocks noChangeArrowheads="1"/>
            </p:cNvSpPr>
            <p:nvPr/>
          </p:nvSpPr>
          <p:spPr bwMode="auto">
            <a:xfrm>
              <a:off x="497531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1" name="Rectangle 44"/>
            <p:cNvSpPr>
              <a:spLocks noChangeArrowheads="1"/>
            </p:cNvSpPr>
            <p:nvPr/>
          </p:nvSpPr>
          <p:spPr bwMode="auto">
            <a:xfrm>
              <a:off x="529439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2" name="Rectangle 44"/>
            <p:cNvSpPr>
              <a:spLocks noChangeArrowheads="1"/>
            </p:cNvSpPr>
            <p:nvPr/>
          </p:nvSpPr>
          <p:spPr bwMode="auto">
            <a:xfrm>
              <a:off x="561347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Rectangle 44"/>
            <p:cNvSpPr>
              <a:spLocks noChangeArrowheads="1"/>
            </p:cNvSpPr>
            <p:nvPr/>
          </p:nvSpPr>
          <p:spPr bwMode="auto">
            <a:xfrm>
              <a:off x="5932550"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Rectangle 44"/>
            <p:cNvSpPr>
              <a:spLocks noChangeArrowheads="1"/>
            </p:cNvSpPr>
            <p:nvPr/>
          </p:nvSpPr>
          <p:spPr bwMode="auto">
            <a:xfrm>
              <a:off x="6251627"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5" name="Rectangle 44"/>
            <p:cNvSpPr>
              <a:spLocks noChangeArrowheads="1"/>
            </p:cNvSpPr>
            <p:nvPr/>
          </p:nvSpPr>
          <p:spPr bwMode="auto">
            <a:xfrm>
              <a:off x="6570704"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Rectangle 44"/>
            <p:cNvSpPr>
              <a:spLocks noChangeArrowheads="1"/>
            </p:cNvSpPr>
            <p:nvPr/>
          </p:nvSpPr>
          <p:spPr bwMode="auto">
            <a:xfrm>
              <a:off x="6889781"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Rectangle 44"/>
            <p:cNvSpPr>
              <a:spLocks noChangeArrowheads="1"/>
            </p:cNvSpPr>
            <p:nvPr/>
          </p:nvSpPr>
          <p:spPr bwMode="auto">
            <a:xfrm>
              <a:off x="7208858"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Rectangle 44"/>
            <p:cNvSpPr>
              <a:spLocks noChangeArrowheads="1"/>
            </p:cNvSpPr>
            <p:nvPr/>
          </p:nvSpPr>
          <p:spPr bwMode="auto">
            <a:xfrm>
              <a:off x="7527935"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Rectangle 44"/>
            <p:cNvSpPr>
              <a:spLocks noChangeArrowheads="1"/>
            </p:cNvSpPr>
            <p:nvPr/>
          </p:nvSpPr>
          <p:spPr bwMode="auto">
            <a:xfrm>
              <a:off x="784701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Rectangle 44"/>
            <p:cNvSpPr>
              <a:spLocks noChangeArrowheads="1"/>
            </p:cNvSpPr>
            <p:nvPr/>
          </p:nvSpPr>
          <p:spPr bwMode="auto">
            <a:xfrm>
              <a:off x="816608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Rectangle 44"/>
            <p:cNvSpPr>
              <a:spLocks noChangeArrowheads="1"/>
            </p:cNvSpPr>
            <p:nvPr/>
          </p:nvSpPr>
          <p:spPr bwMode="auto">
            <a:xfrm>
              <a:off x="848516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Rectangle 44"/>
            <p:cNvSpPr>
              <a:spLocks noChangeArrowheads="1"/>
            </p:cNvSpPr>
            <p:nvPr/>
          </p:nvSpPr>
          <p:spPr bwMode="auto">
            <a:xfrm>
              <a:off x="880424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43" name="组合 42"/>
          <p:cNvGrpSpPr/>
          <p:nvPr/>
        </p:nvGrpSpPr>
        <p:grpSpPr>
          <a:xfrm>
            <a:off x="4050788" y="4040037"/>
            <a:ext cx="2375557" cy="770327"/>
            <a:chOff x="4242062" y="3880284"/>
            <a:chExt cx="2375557" cy="770327"/>
          </a:xfrm>
        </p:grpSpPr>
        <p:sp>
          <p:nvSpPr>
            <p:cNvPr id="44" name="左大括号 43"/>
            <p:cNvSpPr/>
            <p:nvPr/>
          </p:nvSpPr>
          <p:spPr>
            <a:xfrm rot="16200000">
              <a:off x="5347931" y="2774415"/>
              <a:ext cx="163819" cy="2375557"/>
            </a:xfrm>
            <a:prstGeom prst="leftBrace">
              <a:avLst>
                <a:gd name="adj1" fmla="val 9512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5" name="矩形 44"/>
            <p:cNvSpPr/>
            <p:nvPr/>
          </p:nvSpPr>
          <p:spPr>
            <a:xfrm>
              <a:off x="4696282"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定界符</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grpSp>
        <p:nvGrpSpPr>
          <p:cNvPr id="46" name="组合 45"/>
          <p:cNvGrpSpPr/>
          <p:nvPr/>
        </p:nvGrpSpPr>
        <p:grpSpPr>
          <a:xfrm>
            <a:off x="1307508" y="4040038"/>
            <a:ext cx="2552617" cy="764096"/>
            <a:chOff x="1498782" y="3880285"/>
            <a:chExt cx="2552617" cy="764096"/>
          </a:xfrm>
        </p:grpSpPr>
        <p:sp>
          <p:nvSpPr>
            <p:cNvPr id="47" name="左大括号 46"/>
            <p:cNvSpPr/>
            <p:nvPr/>
          </p:nvSpPr>
          <p:spPr>
            <a:xfrm rot="16200000">
              <a:off x="2693181" y="2685886"/>
              <a:ext cx="163819" cy="255261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8" name="矩形 47"/>
            <p:cNvSpPr/>
            <p:nvPr/>
          </p:nvSpPr>
          <p:spPr>
            <a:xfrm>
              <a:off x="2056778" y="424427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上一帧</a:t>
              </a:r>
              <a:endPar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grpSp>
        <p:nvGrpSpPr>
          <p:cNvPr id="49" name="组合 48"/>
          <p:cNvGrpSpPr/>
          <p:nvPr/>
        </p:nvGrpSpPr>
        <p:grpSpPr>
          <a:xfrm>
            <a:off x="6588157" y="4044103"/>
            <a:ext cx="4438466" cy="766261"/>
            <a:chOff x="6779431" y="3884350"/>
            <a:chExt cx="4438466" cy="766261"/>
          </a:xfrm>
        </p:grpSpPr>
        <p:sp>
          <p:nvSpPr>
            <p:cNvPr id="50" name="左大括号 49"/>
            <p:cNvSpPr/>
            <p:nvPr/>
          </p:nvSpPr>
          <p:spPr>
            <a:xfrm rot="16200000">
              <a:off x="8916754" y="1747027"/>
              <a:ext cx="163819" cy="4438466"/>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1" name="矩形 50"/>
            <p:cNvSpPr/>
            <p:nvPr/>
          </p:nvSpPr>
          <p:spPr>
            <a:xfrm>
              <a:off x="8276860"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下一帧</a:t>
              </a:r>
              <a:endPar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sp>
        <p:nvSpPr>
          <p:cNvPr id="53" name="文本框 52"/>
          <p:cNvSpPr txBox="1"/>
          <p:nvPr/>
        </p:nvSpPr>
        <p:spPr>
          <a:xfrm>
            <a:off x="1865504" y="5501483"/>
            <a:ext cx="8913332"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”相同的位组合如何解决？</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linds(horizontal)">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linds(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发送方检查有效载荷</a:t>
            </a:r>
            <a:endParaRPr lang="en-US" altLang="zh-CN" dirty="0"/>
          </a:p>
          <a:p>
            <a:pPr lvl="1">
              <a:lnSpc>
                <a:spcPts val="3600"/>
              </a:lnSpc>
              <a:spcBef>
                <a:spcPts val="1200"/>
              </a:spcBef>
            </a:pPr>
            <a:r>
              <a:rPr lang="zh-CN" altLang="en-US" dirty="0"/>
              <a:t>若在</a:t>
            </a:r>
            <a:r>
              <a:rPr lang="zh-CN" altLang="en-US" dirty="0">
                <a:solidFill>
                  <a:srgbClr val="7030A0"/>
                </a:solidFill>
              </a:rPr>
              <a:t>有效载荷</a:t>
            </a:r>
            <a:r>
              <a:rPr lang="zh-CN" altLang="en-US" dirty="0"/>
              <a:t>中出现</a:t>
            </a:r>
            <a:r>
              <a:rPr lang="zh-CN" altLang="en-US" dirty="0">
                <a:solidFill>
                  <a:srgbClr val="C00000"/>
                </a:solidFill>
              </a:rPr>
              <a:t>连续</a:t>
            </a:r>
            <a:r>
              <a:rPr lang="en-US" altLang="zh-CN" dirty="0">
                <a:solidFill>
                  <a:srgbClr val="C00000"/>
                </a:solidFill>
              </a:rPr>
              <a:t>5</a:t>
            </a:r>
            <a:r>
              <a:rPr lang="zh-CN" altLang="en-US" dirty="0">
                <a:solidFill>
                  <a:srgbClr val="C00000"/>
                </a:solidFill>
              </a:rPr>
              <a:t>个</a:t>
            </a:r>
            <a:r>
              <a:rPr lang="en-US" altLang="zh-CN" dirty="0">
                <a:solidFill>
                  <a:srgbClr val="C00000"/>
                </a:solidFill>
              </a:rPr>
              <a:t>1</a:t>
            </a:r>
            <a:r>
              <a:rPr lang="zh-CN" altLang="en-US" dirty="0"/>
              <a:t>比特，则直接</a:t>
            </a:r>
            <a:r>
              <a:rPr lang="zh-CN" altLang="en-US" dirty="0">
                <a:solidFill>
                  <a:srgbClr val="C00000"/>
                </a:solidFill>
              </a:rPr>
              <a:t>插入</a:t>
            </a:r>
            <a:r>
              <a:rPr lang="en-US" altLang="zh-CN" dirty="0">
                <a:solidFill>
                  <a:srgbClr val="C00000"/>
                </a:solidFill>
              </a:rPr>
              <a:t>1</a:t>
            </a:r>
            <a:r>
              <a:rPr lang="zh-CN" altLang="en-US" dirty="0">
                <a:solidFill>
                  <a:srgbClr val="C00000"/>
                </a:solidFill>
              </a:rPr>
              <a:t>个</a:t>
            </a:r>
            <a:r>
              <a:rPr lang="en-US" altLang="zh-CN" dirty="0">
                <a:solidFill>
                  <a:srgbClr val="C00000"/>
                </a:solidFill>
              </a:rPr>
              <a:t>0</a:t>
            </a:r>
            <a:r>
              <a:rPr lang="zh-CN" altLang="en-US" dirty="0"/>
              <a:t>比特</a:t>
            </a:r>
            <a:endParaRPr lang="zh-CN" altLang="en-US" dirty="0"/>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2702440" y="3535103"/>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53" name="Rectangle 44"/>
            <p:cNvSpPr>
              <a:spLocks noChangeArrowheads="1"/>
            </p:cNvSpPr>
            <p:nvPr/>
          </p:nvSpPr>
          <p:spPr bwMode="auto">
            <a:xfrm>
              <a:off x="1465472"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Rectangle 44"/>
            <p:cNvSpPr>
              <a:spLocks noChangeArrowheads="1"/>
            </p:cNvSpPr>
            <p:nvPr/>
          </p:nvSpPr>
          <p:spPr bwMode="auto">
            <a:xfrm>
              <a:off x="1784549"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Rectangle 44"/>
            <p:cNvSpPr>
              <a:spLocks noChangeArrowheads="1"/>
            </p:cNvSpPr>
            <p:nvPr/>
          </p:nvSpPr>
          <p:spPr bwMode="auto">
            <a:xfrm>
              <a:off x="2103626"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6" name="Rectangle 44"/>
            <p:cNvSpPr>
              <a:spLocks noChangeArrowheads="1"/>
            </p:cNvSpPr>
            <p:nvPr/>
          </p:nvSpPr>
          <p:spPr bwMode="auto">
            <a:xfrm>
              <a:off x="2422703"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Rectangle 44"/>
            <p:cNvSpPr>
              <a:spLocks noChangeArrowheads="1"/>
            </p:cNvSpPr>
            <p:nvPr/>
          </p:nvSpPr>
          <p:spPr bwMode="auto">
            <a:xfrm>
              <a:off x="2741780"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8" name="Rectangle 44"/>
            <p:cNvSpPr>
              <a:spLocks noChangeArrowheads="1"/>
            </p:cNvSpPr>
            <p:nvPr/>
          </p:nvSpPr>
          <p:spPr bwMode="auto">
            <a:xfrm>
              <a:off x="3060857"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Rectangle 44"/>
            <p:cNvSpPr>
              <a:spLocks noChangeArrowheads="1"/>
            </p:cNvSpPr>
            <p:nvPr/>
          </p:nvSpPr>
          <p:spPr bwMode="auto">
            <a:xfrm>
              <a:off x="3379934"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0" name="Rectangle 44"/>
            <p:cNvSpPr>
              <a:spLocks noChangeArrowheads="1"/>
            </p:cNvSpPr>
            <p:nvPr/>
          </p:nvSpPr>
          <p:spPr bwMode="auto">
            <a:xfrm>
              <a:off x="3699011"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1" name="Rectangle 44"/>
            <p:cNvSpPr>
              <a:spLocks noChangeArrowheads="1"/>
            </p:cNvSpPr>
            <p:nvPr/>
          </p:nvSpPr>
          <p:spPr bwMode="auto">
            <a:xfrm>
              <a:off x="4018088"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Rectangle 44"/>
            <p:cNvSpPr>
              <a:spLocks noChangeArrowheads="1"/>
            </p:cNvSpPr>
            <p:nvPr/>
          </p:nvSpPr>
          <p:spPr bwMode="auto">
            <a:xfrm>
              <a:off x="4337165" y="2463488"/>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Rectangle 44"/>
            <p:cNvSpPr>
              <a:spLocks noChangeArrowheads="1"/>
            </p:cNvSpPr>
            <p:nvPr/>
          </p:nvSpPr>
          <p:spPr bwMode="auto">
            <a:xfrm>
              <a:off x="465624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 name="Rectangle 44"/>
            <p:cNvSpPr>
              <a:spLocks noChangeArrowheads="1"/>
            </p:cNvSpPr>
            <p:nvPr/>
          </p:nvSpPr>
          <p:spPr bwMode="auto">
            <a:xfrm>
              <a:off x="497531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Rectangle 44"/>
            <p:cNvSpPr>
              <a:spLocks noChangeArrowheads="1"/>
            </p:cNvSpPr>
            <p:nvPr/>
          </p:nvSpPr>
          <p:spPr bwMode="auto">
            <a:xfrm>
              <a:off x="529439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6" name="Rectangle 44"/>
            <p:cNvSpPr>
              <a:spLocks noChangeArrowheads="1"/>
            </p:cNvSpPr>
            <p:nvPr/>
          </p:nvSpPr>
          <p:spPr bwMode="auto">
            <a:xfrm>
              <a:off x="561347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7" name="Rectangle 44"/>
            <p:cNvSpPr>
              <a:spLocks noChangeArrowheads="1"/>
            </p:cNvSpPr>
            <p:nvPr/>
          </p:nvSpPr>
          <p:spPr bwMode="auto">
            <a:xfrm>
              <a:off x="5932550"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8" name="Rectangle 44"/>
            <p:cNvSpPr>
              <a:spLocks noChangeArrowheads="1"/>
            </p:cNvSpPr>
            <p:nvPr/>
          </p:nvSpPr>
          <p:spPr bwMode="auto">
            <a:xfrm>
              <a:off x="6251627"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9" name="Rectangle 44"/>
            <p:cNvSpPr>
              <a:spLocks noChangeArrowheads="1"/>
            </p:cNvSpPr>
            <p:nvPr/>
          </p:nvSpPr>
          <p:spPr bwMode="auto">
            <a:xfrm>
              <a:off x="6570704"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0" name="Rectangle 44"/>
            <p:cNvSpPr>
              <a:spLocks noChangeArrowheads="1"/>
            </p:cNvSpPr>
            <p:nvPr/>
          </p:nvSpPr>
          <p:spPr bwMode="auto">
            <a:xfrm>
              <a:off x="6889781"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Rectangle 44"/>
            <p:cNvSpPr>
              <a:spLocks noChangeArrowheads="1"/>
            </p:cNvSpPr>
            <p:nvPr/>
          </p:nvSpPr>
          <p:spPr bwMode="auto">
            <a:xfrm>
              <a:off x="7208858"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2" name="Rectangle 44"/>
            <p:cNvSpPr>
              <a:spLocks noChangeArrowheads="1"/>
            </p:cNvSpPr>
            <p:nvPr/>
          </p:nvSpPr>
          <p:spPr bwMode="auto">
            <a:xfrm>
              <a:off x="7527935"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3" name="Rectangle 44"/>
            <p:cNvSpPr>
              <a:spLocks noChangeArrowheads="1"/>
            </p:cNvSpPr>
            <p:nvPr/>
          </p:nvSpPr>
          <p:spPr bwMode="auto">
            <a:xfrm>
              <a:off x="7847012"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4" name="Rectangle 44"/>
            <p:cNvSpPr>
              <a:spLocks noChangeArrowheads="1"/>
            </p:cNvSpPr>
            <p:nvPr/>
          </p:nvSpPr>
          <p:spPr bwMode="auto">
            <a:xfrm>
              <a:off x="8166089"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Rectangle 44"/>
            <p:cNvSpPr>
              <a:spLocks noChangeArrowheads="1"/>
            </p:cNvSpPr>
            <p:nvPr/>
          </p:nvSpPr>
          <p:spPr bwMode="auto">
            <a:xfrm>
              <a:off x="8485166"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Rectangle 44"/>
            <p:cNvSpPr>
              <a:spLocks noChangeArrowheads="1"/>
            </p:cNvSpPr>
            <p:nvPr/>
          </p:nvSpPr>
          <p:spPr bwMode="auto">
            <a:xfrm>
              <a:off x="8804243" y="246349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7" name="矩形 76"/>
          <p:cNvSpPr/>
          <p:nvPr/>
        </p:nvSpPr>
        <p:spPr>
          <a:xfrm>
            <a:off x="1092734" y="347871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原始载荷</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矩形 77"/>
          <p:cNvSpPr/>
          <p:nvPr/>
        </p:nvSpPr>
        <p:spPr>
          <a:xfrm>
            <a:off x="1092734" y="433655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载荷填充</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9" name="组合 78"/>
          <p:cNvGrpSpPr/>
          <p:nvPr/>
        </p:nvGrpSpPr>
        <p:grpSpPr>
          <a:xfrm>
            <a:off x="2702440" y="4392943"/>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80" name="Rectangle 44"/>
            <p:cNvSpPr>
              <a:spLocks noChangeArrowheads="1"/>
            </p:cNvSpPr>
            <p:nvPr/>
          </p:nvSpPr>
          <p:spPr bwMode="auto">
            <a:xfrm>
              <a:off x="2861978"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1" name="Rectangle 44"/>
            <p:cNvSpPr>
              <a:spLocks noChangeArrowheads="1"/>
            </p:cNvSpPr>
            <p:nvPr/>
          </p:nvSpPr>
          <p:spPr bwMode="auto">
            <a:xfrm>
              <a:off x="3181055"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Rectangle 44"/>
            <p:cNvSpPr>
              <a:spLocks noChangeArrowheads="1"/>
            </p:cNvSpPr>
            <p:nvPr/>
          </p:nvSpPr>
          <p:spPr bwMode="auto">
            <a:xfrm>
              <a:off x="3500132"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Rectangle 44"/>
            <p:cNvSpPr>
              <a:spLocks noChangeArrowheads="1"/>
            </p:cNvSpPr>
            <p:nvPr/>
          </p:nvSpPr>
          <p:spPr bwMode="auto">
            <a:xfrm>
              <a:off x="3819209"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Rectangle 44"/>
            <p:cNvSpPr>
              <a:spLocks noChangeArrowheads="1"/>
            </p:cNvSpPr>
            <p:nvPr/>
          </p:nvSpPr>
          <p:spPr bwMode="auto">
            <a:xfrm>
              <a:off x="4138286"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Rectangle 44"/>
            <p:cNvSpPr>
              <a:spLocks noChangeArrowheads="1"/>
            </p:cNvSpPr>
            <p:nvPr/>
          </p:nvSpPr>
          <p:spPr bwMode="auto">
            <a:xfrm>
              <a:off x="4457363"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86" name="直接箭头连接符 85"/>
          <p:cNvCxnSpPr/>
          <p:nvPr/>
        </p:nvCxnSpPr>
        <p:spPr>
          <a:xfrm>
            <a:off x="4616902" y="3822447"/>
            <a:ext cx="159539"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Rectangle 44"/>
          <p:cNvSpPr>
            <a:spLocks noChangeArrowheads="1"/>
          </p:cNvSpPr>
          <p:nvPr/>
        </p:nvSpPr>
        <p:spPr bwMode="auto">
          <a:xfrm>
            <a:off x="4616902" y="4392943"/>
            <a:ext cx="319077" cy="287338"/>
          </a:xfrm>
          <a:prstGeom prst="rect">
            <a:avLst/>
          </a:prstGeom>
          <a:solidFill>
            <a:schemeClr val="bg1">
              <a:lumMod val="95000"/>
            </a:schemeClr>
          </a:solidFill>
          <a:ln w="1270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88" name="组合 87"/>
          <p:cNvGrpSpPr/>
          <p:nvPr/>
        </p:nvGrpSpPr>
        <p:grpSpPr>
          <a:xfrm>
            <a:off x="4935979" y="4392943"/>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89" name="Rectangle 44"/>
            <p:cNvSpPr>
              <a:spLocks noChangeArrowheads="1"/>
            </p:cNvSpPr>
            <p:nvPr/>
          </p:nvSpPr>
          <p:spPr bwMode="auto">
            <a:xfrm>
              <a:off x="5095517"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 name="Rectangle 44"/>
            <p:cNvSpPr>
              <a:spLocks noChangeArrowheads="1"/>
            </p:cNvSpPr>
            <p:nvPr/>
          </p:nvSpPr>
          <p:spPr bwMode="auto">
            <a:xfrm>
              <a:off x="5414594"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 name="Rectangle 44"/>
            <p:cNvSpPr>
              <a:spLocks noChangeArrowheads="1"/>
            </p:cNvSpPr>
            <p:nvPr/>
          </p:nvSpPr>
          <p:spPr bwMode="auto">
            <a:xfrm>
              <a:off x="5733671"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2" name="Rectangle 44"/>
            <p:cNvSpPr>
              <a:spLocks noChangeArrowheads="1"/>
            </p:cNvSpPr>
            <p:nvPr/>
          </p:nvSpPr>
          <p:spPr bwMode="auto">
            <a:xfrm>
              <a:off x="6052748"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3" name="Rectangle 44"/>
            <p:cNvSpPr>
              <a:spLocks noChangeArrowheads="1"/>
            </p:cNvSpPr>
            <p:nvPr/>
          </p:nvSpPr>
          <p:spPr bwMode="auto">
            <a:xfrm>
              <a:off x="6371825"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Rectangle 44"/>
            <p:cNvSpPr>
              <a:spLocks noChangeArrowheads="1"/>
            </p:cNvSpPr>
            <p:nvPr/>
          </p:nvSpPr>
          <p:spPr bwMode="auto">
            <a:xfrm>
              <a:off x="6690902"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95" name="直接箭头连接符 94"/>
          <p:cNvCxnSpPr/>
          <p:nvPr/>
        </p:nvCxnSpPr>
        <p:spPr>
          <a:xfrm>
            <a:off x="6531363" y="3822447"/>
            <a:ext cx="397338"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Rectangle 44"/>
          <p:cNvSpPr>
            <a:spLocks noChangeArrowheads="1"/>
          </p:cNvSpPr>
          <p:nvPr/>
        </p:nvSpPr>
        <p:spPr bwMode="auto">
          <a:xfrm>
            <a:off x="6850441" y="4392949"/>
            <a:ext cx="319077" cy="287338"/>
          </a:xfrm>
          <a:prstGeom prst="rect">
            <a:avLst/>
          </a:prstGeom>
          <a:solidFill>
            <a:schemeClr val="bg1">
              <a:lumMod val="95000"/>
            </a:schemeClr>
          </a:solidFill>
          <a:ln w="1270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97" name="组合 96"/>
          <p:cNvGrpSpPr/>
          <p:nvPr/>
        </p:nvGrpSpPr>
        <p:grpSpPr>
          <a:xfrm>
            <a:off x="7169518" y="4392949"/>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98" name="Rectangle 44"/>
            <p:cNvSpPr>
              <a:spLocks noChangeArrowheads="1"/>
            </p:cNvSpPr>
            <p:nvPr/>
          </p:nvSpPr>
          <p:spPr bwMode="auto">
            <a:xfrm>
              <a:off x="7329056"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9" name="Rectangle 44"/>
            <p:cNvSpPr>
              <a:spLocks noChangeArrowheads="1"/>
            </p:cNvSpPr>
            <p:nvPr/>
          </p:nvSpPr>
          <p:spPr bwMode="auto">
            <a:xfrm>
              <a:off x="7648133"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0" name="Rectangle 44"/>
            <p:cNvSpPr>
              <a:spLocks noChangeArrowheads="1"/>
            </p:cNvSpPr>
            <p:nvPr/>
          </p:nvSpPr>
          <p:spPr bwMode="auto">
            <a:xfrm>
              <a:off x="7967210"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1" name="Rectangle 44"/>
            <p:cNvSpPr>
              <a:spLocks noChangeArrowheads="1"/>
            </p:cNvSpPr>
            <p:nvPr/>
          </p:nvSpPr>
          <p:spPr bwMode="auto">
            <a:xfrm>
              <a:off x="8286287"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2" name="Rectangle 44"/>
            <p:cNvSpPr>
              <a:spLocks noChangeArrowheads="1"/>
            </p:cNvSpPr>
            <p:nvPr/>
          </p:nvSpPr>
          <p:spPr bwMode="auto">
            <a:xfrm>
              <a:off x="8605364"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3" name="Rectangle 44"/>
            <p:cNvSpPr>
              <a:spLocks noChangeArrowheads="1"/>
            </p:cNvSpPr>
            <p:nvPr/>
          </p:nvSpPr>
          <p:spPr bwMode="auto">
            <a:xfrm>
              <a:off x="8924441"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 name="Rectangle 44"/>
            <p:cNvSpPr>
              <a:spLocks noChangeArrowheads="1"/>
            </p:cNvSpPr>
            <p:nvPr/>
          </p:nvSpPr>
          <p:spPr bwMode="auto">
            <a:xfrm>
              <a:off x="9243518"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5" name="Rectangle 44"/>
            <p:cNvSpPr>
              <a:spLocks noChangeArrowheads="1"/>
            </p:cNvSpPr>
            <p:nvPr/>
          </p:nvSpPr>
          <p:spPr bwMode="auto">
            <a:xfrm>
              <a:off x="10200747"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6" name="Rectangle 44"/>
            <p:cNvSpPr>
              <a:spLocks noChangeArrowheads="1"/>
            </p:cNvSpPr>
            <p:nvPr/>
          </p:nvSpPr>
          <p:spPr bwMode="auto">
            <a:xfrm>
              <a:off x="10519824"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7" name="Rectangle 44"/>
            <p:cNvSpPr>
              <a:spLocks noChangeArrowheads="1"/>
            </p:cNvSpPr>
            <p:nvPr/>
          </p:nvSpPr>
          <p:spPr bwMode="auto">
            <a:xfrm>
              <a:off x="10838901"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8" name="Rectangle 44"/>
            <p:cNvSpPr>
              <a:spLocks noChangeArrowheads="1"/>
            </p:cNvSpPr>
            <p:nvPr/>
          </p:nvSpPr>
          <p:spPr bwMode="auto">
            <a:xfrm>
              <a:off x="9562595"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9" name="Rectangle 44"/>
            <p:cNvSpPr>
              <a:spLocks noChangeArrowheads="1"/>
            </p:cNvSpPr>
            <p:nvPr/>
          </p:nvSpPr>
          <p:spPr bwMode="auto">
            <a:xfrm>
              <a:off x="9881672"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110" name="直接箭头连接符 109"/>
          <p:cNvCxnSpPr/>
          <p:nvPr/>
        </p:nvCxnSpPr>
        <p:spPr>
          <a:xfrm>
            <a:off x="2702440" y="3953933"/>
            <a:ext cx="191446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4696671" y="3953933"/>
            <a:ext cx="183469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6690902" y="3953933"/>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left)">
                                      <p:cBhvr>
                                        <p:cTn id="11" dur="500"/>
                                        <p:tgtEl>
                                          <p:spTgt spid="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left)">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wipe(left)">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wipe(up)">
                                      <p:cBhvr>
                                        <p:cTn id="31" dur="500"/>
                                        <p:tgtEl>
                                          <p:spTgt spid="86"/>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
                                        </p:tgtEl>
                                        <p:attrNameLst>
                                          <p:attrName>style.visibility</p:attrName>
                                        </p:attrNameLst>
                                      </p:cBhvr>
                                      <p:to>
                                        <p:strVal val="visible"/>
                                      </p:to>
                                    </p:set>
                                    <p:animEffect transition="in" filter="wipe(left)">
                                      <p:cBhvr>
                                        <p:cTn id="39" dur="500"/>
                                        <p:tgtEl>
                                          <p:spTgt spid="1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left)">
                                      <p:cBhvr>
                                        <p:cTn id="44" dur="500"/>
                                        <p:tgtEl>
                                          <p:spTgt spid="8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5"/>
                                        </p:tgtEl>
                                        <p:attrNameLst>
                                          <p:attrName>style.visibility</p:attrName>
                                        </p:attrNameLst>
                                      </p:cBhvr>
                                      <p:to>
                                        <p:strVal val="visible"/>
                                      </p:to>
                                    </p:set>
                                    <p:animEffect transition="in" filter="wipe(up)">
                                      <p:cBhvr>
                                        <p:cTn id="49" dur="500"/>
                                        <p:tgtEl>
                                          <p:spTgt spid="95"/>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2"/>
                                        </p:tgtEl>
                                        <p:attrNameLst>
                                          <p:attrName>style.visibility</p:attrName>
                                        </p:attrNameLst>
                                      </p:cBhvr>
                                      <p:to>
                                        <p:strVal val="visible"/>
                                      </p:to>
                                    </p:set>
                                    <p:animEffect transition="in" filter="wipe(left)">
                                      <p:cBhvr>
                                        <p:cTn id="57" dur="500"/>
                                        <p:tgtEl>
                                          <p:spTgt spid="1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wipe(left)">
                                      <p:cBhvr>
                                        <p:cTn id="6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7" grpId="0" animBg="1"/>
      <p:bldP spid="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接收方的处理</a:t>
            </a:r>
            <a:endParaRPr lang="en-US" altLang="zh-CN" dirty="0"/>
          </a:p>
          <a:p>
            <a:pPr lvl="1">
              <a:lnSpc>
                <a:spcPts val="3600"/>
              </a:lnSpc>
            </a:pPr>
            <a:r>
              <a:rPr lang="zh-CN" altLang="en-US" dirty="0"/>
              <a:t>若出现</a:t>
            </a:r>
            <a:r>
              <a:rPr lang="zh-CN" altLang="en-US" dirty="0">
                <a:solidFill>
                  <a:srgbClr val="7030A0"/>
                </a:solidFill>
              </a:rPr>
              <a:t>连续</a:t>
            </a:r>
            <a:r>
              <a:rPr lang="en-US" altLang="zh-CN" dirty="0">
                <a:solidFill>
                  <a:srgbClr val="7030A0"/>
                </a:solidFill>
              </a:rPr>
              <a:t>5</a:t>
            </a:r>
            <a:r>
              <a:rPr lang="zh-CN" altLang="en-US" dirty="0">
                <a:solidFill>
                  <a:srgbClr val="7030A0"/>
                </a:solidFill>
              </a:rPr>
              <a:t>个</a:t>
            </a:r>
            <a:r>
              <a:rPr lang="en-US" altLang="zh-CN" dirty="0">
                <a:solidFill>
                  <a:srgbClr val="7030A0"/>
                </a:solidFill>
              </a:rPr>
              <a:t>1</a:t>
            </a:r>
            <a:r>
              <a:rPr lang="zh-CN" altLang="en-US" dirty="0"/>
              <a:t>比特</a:t>
            </a:r>
            <a:endParaRPr lang="en-US" altLang="zh-CN" dirty="0"/>
          </a:p>
          <a:p>
            <a:pPr lvl="2">
              <a:lnSpc>
                <a:spcPts val="3600"/>
              </a:lnSpc>
              <a:spcBef>
                <a:spcPts val="0"/>
              </a:spcBef>
              <a:buFont typeface="微软雅黑" panose="020B0503020204020204" pitchFamily="34" charset="-122"/>
              <a:buChar char="−"/>
            </a:pPr>
            <a:r>
              <a:rPr lang="zh-CN" altLang="en-US" dirty="0"/>
              <a:t>若下一比特为</a:t>
            </a:r>
            <a:r>
              <a:rPr lang="en-US" altLang="zh-CN" dirty="0">
                <a:solidFill>
                  <a:srgbClr val="C00000"/>
                </a:solidFill>
              </a:rPr>
              <a:t>0</a:t>
            </a:r>
            <a:r>
              <a:rPr lang="zh-CN" altLang="en-US" dirty="0"/>
              <a:t>，则为</a:t>
            </a:r>
            <a:r>
              <a:rPr lang="zh-CN" altLang="en-US" dirty="0">
                <a:solidFill>
                  <a:srgbClr val="7030A0"/>
                </a:solidFill>
              </a:rPr>
              <a:t>有效载荷</a:t>
            </a:r>
            <a:r>
              <a:rPr lang="zh-CN" altLang="en-US" dirty="0"/>
              <a:t>，直接</a:t>
            </a:r>
            <a:r>
              <a:rPr lang="zh-CN" altLang="en-US" dirty="0">
                <a:solidFill>
                  <a:srgbClr val="7030A0"/>
                </a:solidFill>
              </a:rPr>
              <a:t>丢弃</a:t>
            </a:r>
            <a:r>
              <a:rPr lang="en-US" altLang="zh-CN" dirty="0">
                <a:solidFill>
                  <a:srgbClr val="7030A0"/>
                </a:solidFill>
              </a:rPr>
              <a:t>0</a:t>
            </a:r>
            <a:r>
              <a:rPr lang="zh-CN" altLang="en-US" dirty="0"/>
              <a:t>比特</a:t>
            </a:r>
            <a:endParaRPr lang="en-US" altLang="zh-CN" dirty="0"/>
          </a:p>
          <a:p>
            <a:pPr lvl="2">
              <a:lnSpc>
                <a:spcPts val="3600"/>
              </a:lnSpc>
              <a:spcBef>
                <a:spcPts val="0"/>
              </a:spcBef>
              <a:buFont typeface="微软雅黑" panose="020B0503020204020204" pitchFamily="34" charset="-122"/>
              <a:buChar char="−"/>
            </a:pPr>
            <a:r>
              <a:rPr lang="zh-CN" altLang="en-US" dirty="0"/>
              <a:t>若下一比特为</a:t>
            </a:r>
            <a:r>
              <a:rPr lang="en-US" altLang="zh-CN" dirty="0">
                <a:solidFill>
                  <a:srgbClr val="C00000"/>
                </a:solidFill>
              </a:rPr>
              <a:t>1</a:t>
            </a:r>
            <a:r>
              <a:rPr lang="zh-CN" altLang="en-US" dirty="0"/>
              <a:t>，则连同后一比特的</a:t>
            </a:r>
            <a:r>
              <a:rPr lang="en-US" altLang="zh-CN" dirty="0"/>
              <a:t>0</a:t>
            </a:r>
            <a:r>
              <a:rPr lang="zh-CN" altLang="en-US" dirty="0"/>
              <a:t>，构成</a:t>
            </a:r>
            <a:r>
              <a:rPr lang="zh-CN" altLang="en-US" dirty="0">
                <a:solidFill>
                  <a:srgbClr val="7030A0"/>
                </a:solidFill>
              </a:rPr>
              <a:t>定界符，</a:t>
            </a:r>
            <a:r>
              <a:rPr lang="zh-CN" altLang="en-US" dirty="0"/>
              <a:t>一帧结束</a:t>
            </a:r>
            <a:endParaRPr lang="zh-CN" altLang="en-US"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3" name="Rectangle 44"/>
          <p:cNvSpPr>
            <a:spLocks noChangeArrowheads="1"/>
          </p:cNvSpPr>
          <p:nvPr/>
        </p:nvSpPr>
        <p:spPr bwMode="auto">
          <a:xfrm>
            <a:off x="7015215" y="4554313"/>
            <a:ext cx="319077" cy="287338"/>
          </a:xfrm>
          <a:prstGeom prst="rect">
            <a:avLst/>
          </a:prstGeom>
          <a:solidFill>
            <a:schemeClr val="bg1">
              <a:lumMod val="95000"/>
            </a:schemeClr>
          </a:solidFill>
          <a:ln w="1270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14" name="Rectangle 44"/>
          <p:cNvSpPr>
            <a:spLocks noChangeArrowheads="1"/>
          </p:cNvSpPr>
          <p:nvPr/>
        </p:nvSpPr>
        <p:spPr bwMode="auto">
          <a:xfrm>
            <a:off x="4781676" y="4554307"/>
            <a:ext cx="319077" cy="287338"/>
          </a:xfrm>
          <a:prstGeom prst="rect">
            <a:avLst/>
          </a:prstGeom>
          <a:solidFill>
            <a:schemeClr val="bg1">
              <a:lumMod val="95000"/>
            </a:schemeClr>
          </a:solidFill>
          <a:ln w="12700">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115" name="组合 114"/>
          <p:cNvGrpSpPr/>
          <p:nvPr/>
        </p:nvGrpSpPr>
        <p:grpSpPr>
          <a:xfrm>
            <a:off x="2867214" y="5537993"/>
            <a:ext cx="1914462" cy="287338"/>
            <a:chOff x="3131931" y="5275314"/>
            <a:chExt cx="1914462" cy="287338"/>
          </a:xfrm>
          <a:solidFill>
            <a:schemeClr val="bg1">
              <a:lumMod val="95000"/>
            </a:schemeClr>
          </a:solidFill>
          <a:scene3d>
            <a:camera prst="orthographicFront">
              <a:rot lat="0" lon="0" rev="0"/>
            </a:camera>
            <a:lightRig rig="soft" dir="t">
              <a:rot lat="0" lon="0" rev="0"/>
            </a:lightRig>
          </a:scene3d>
        </p:grpSpPr>
        <p:sp>
          <p:nvSpPr>
            <p:cNvPr id="116" name="Rectangle 44"/>
            <p:cNvSpPr>
              <a:spLocks noChangeArrowheads="1"/>
            </p:cNvSpPr>
            <p:nvPr/>
          </p:nvSpPr>
          <p:spPr bwMode="auto">
            <a:xfrm>
              <a:off x="3131931"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17" name="Rectangle 44"/>
            <p:cNvSpPr>
              <a:spLocks noChangeArrowheads="1"/>
            </p:cNvSpPr>
            <p:nvPr/>
          </p:nvSpPr>
          <p:spPr bwMode="auto">
            <a:xfrm>
              <a:off x="3451008"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18" name="Rectangle 44"/>
            <p:cNvSpPr>
              <a:spLocks noChangeArrowheads="1"/>
            </p:cNvSpPr>
            <p:nvPr/>
          </p:nvSpPr>
          <p:spPr bwMode="auto">
            <a:xfrm>
              <a:off x="3770085"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19" name="Rectangle 44"/>
            <p:cNvSpPr>
              <a:spLocks noChangeArrowheads="1"/>
            </p:cNvSpPr>
            <p:nvPr/>
          </p:nvSpPr>
          <p:spPr bwMode="auto">
            <a:xfrm>
              <a:off x="4089162"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0" name="Rectangle 44"/>
            <p:cNvSpPr>
              <a:spLocks noChangeArrowheads="1"/>
            </p:cNvSpPr>
            <p:nvPr/>
          </p:nvSpPr>
          <p:spPr bwMode="auto">
            <a:xfrm>
              <a:off x="4408239"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1" name="Rectangle 44"/>
            <p:cNvSpPr>
              <a:spLocks noChangeArrowheads="1"/>
            </p:cNvSpPr>
            <p:nvPr/>
          </p:nvSpPr>
          <p:spPr bwMode="auto">
            <a:xfrm>
              <a:off x="4727316"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grpSp>
      <p:grpSp>
        <p:nvGrpSpPr>
          <p:cNvPr id="122" name="组合 121"/>
          <p:cNvGrpSpPr/>
          <p:nvPr/>
        </p:nvGrpSpPr>
        <p:grpSpPr>
          <a:xfrm>
            <a:off x="4781676" y="5537993"/>
            <a:ext cx="1914462" cy="287344"/>
            <a:chOff x="5046393" y="5275314"/>
            <a:chExt cx="1914462" cy="287344"/>
          </a:xfrm>
          <a:solidFill>
            <a:schemeClr val="bg1">
              <a:lumMod val="95000"/>
            </a:schemeClr>
          </a:solidFill>
          <a:scene3d>
            <a:camera prst="orthographicFront">
              <a:rot lat="0" lon="0" rev="0"/>
            </a:camera>
            <a:lightRig rig="soft" dir="t">
              <a:rot lat="0" lon="0" rev="0"/>
            </a:lightRig>
          </a:scene3d>
        </p:grpSpPr>
        <p:sp>
          <p:nvSpPr>
            <p:cNvPr id="123" name="Rectangle 44"/>
            <p:cNvSpPr>
              <a:spLocks noChangeArrowheads="1"/>
            </p:cNvSpPr>
            <p:nvPr/>
          </p:nvSpPr>
          <p:spPr bwMode="auto">
            <a:xfrm>
              <a:off x="5046393"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24" name="Rectangle 44"/>
            <p:cNvSpPr>
              <a:spLocks noChangeArrowheads="1"/>
            </p:cNvSpPr>
            <p:nvPr/>
          </p:nvSpPr>
          <p:spPr bwMode="auto">
            <a:xfrm>
              <a:off x="5365470"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5" name="Rectangle 44"/>
            <p:cNvSpPr>
              <a:spLocks noChangeArrowheads="1"/>
            </p:cNvSpPr>
            <p:nvPr/>
          </p:nvSpPr>
          <p:spPr bwMode="auto">
            <a:xfrm>
              <a:off x="5684547"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6" name="Rectangle 44"/>
            <p:cNvSpPr>
              <a:spLocks noChangeArrowheads="1"/>
            </p:cNvSpPr>
            <p:nvPr/>
          </p:nvSpPr>
          <p:spPr bwMode="auto">
            <a:xfrm>
              <a:off x="6003624" y="5275314"/>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7" name="Rectangle 44"/>
            <p:cNvSpPr>
              <a:spLocks noChangeArrowheads="1"/>
            </p:cNvSpPr>
            <p:nvPr/>
          </p:nvSpPr>
          <p:spPr bwMode="auto">
            <a:xfrm>
              <a:off x="6322701"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28" name="Rectangle 44"/>
            <p:cNvSpPr>
              <a:spLocks noChangeArrowheads="1"/>
            </p:cNvSpPr>
            <p:nvPr/>
          </p:nvSpPr>
          <p:spPr bwMode="auto">
            <a:xfrm>
              <a:off x="6641778"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grpSp>
      <p:grpSp>
        <p:nvGrpSpPr>
          <p:cNvPr id="129" name="组合 128"/>
          <p:cNvGrpSpPr/>
          <p:nvPr/>
        </p:nvGrpSpPr>
        <p:grpSpPr>
          <a:xfrm>
            <a:off x="6696138" y="5537999"/>
            <a:ext cx="3828924" cy="287338"/>
            <a:chOff x="6960855" y="5275320"/>
            <a:chExt cx="3828924" cy="287338"/>
          </a:xfrm>
          <a:solidFill>
            <a:schemeClr val="bg1">
              <a:lumMod val="95000"/>
            </a:schemeClr>
          </a:solidFill>
          <a:scene3d>
            <a:camera prst="orthographicFront">
              <a:rot lat="0" lon="0" rev="0"/>
            </a:camera>
            <a:lightRig rig="soft" dir="t">
              <a:rot lat="0" lon="0" rev="0"/>
            </a:lightRig>
          </a:scene3d>
        </p:grpSpPr>
        <p:sp>
          <p:nvSpPr>
            <p:cNvPr id="130" name="Rectangle 44"/>
            <p:cNvSpPr>
              <a:spLocks noChangeArrowheads="1"/>
            </p:cNvSpPr>
            <p:nvPr/>
          </p:nvSpPr>
          <p:spPr bwMode="auto">
            <a:xfrm>
              <a:off x="6960855"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1" name="Rectangle 44"/>
            <p:cNvSpPr>
              <a:spLocks noChangeArrowheads="1"/>
            </p:cNvSpPr>
            <p:nvPr/>
          </p:nvSpPr>
          <p:spPr bwMode="auto">
            <a:xfrm>
              <a:off x="7279932"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2" name="Rectangle 44"/>
            <p:cNvSpPr>
              <a:spLocks noChangeArrowheads="1"/>
            </p:cNvSpPr>
            <p:nvPr/>
          </p:nvSpPr>
          <p:spPr bwMode="auto">
            <a:xfrm>
              <a:off x="7599009"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3" name="Rectangle 44"/>
            <p:cNvSpPr>
              <a:spLocks noChangeArrowheads="1"/>
            </p:cNvSpPr>
            <p:nvPr/>
          </p:nvSpPr>
          <p:spPr bwMode="auto">
            <a:xfrm>
              <a:off x="7918086"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4" name="Rectangle 44"/>
            <p:cNvSpPr>
              <a:spLocks noChangeArrowheads="1"/>
            </p:cNvSpPr>
            <p:nvPr/>
          </p:nvSpPr>
          <p:spPr bwMode="auto">
            <a:xfrm>
              <a:off x="8237163"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5" name="Rectangle 44"/>
            <p:cNvSpPr>
              <a:spLocks noChangeArrowheads="1"/>
            </p:cNvSpPr>
            <p:nvPr/>
          </p:nvSpPr>
          <p:spPr bwMode="auto">
            <a:xfrm>
              <a:off x="8556240"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6" name="Rectangle 44"/>
            <p:cNvSpPr>
              <a:spLocks noChangeArrowheads="1"/>
            </p:cNvSpPr>
            <p:nvPr/>
          </p:nvSpPr>
          <p:spPr bwMode="auto">
            <a:xfrm>
              <a:off x="8875317"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7" name="Rectangle 44"/>
            <p:cNvSpPr>
              <a:spLocks noChangeArrowheads="1"/>
            </p:cNvSpPr>
            <p:nvPr/>
          </p:nvSpPr>
          <p:spPr bwMode="auto">
            <a:xfrm>
              <a:off x="9194394"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8" name="Rectangle 44"/>
            <p:cNvSpPr>
              <a:spLocks noChangeArrowheads="1"/>
            </p:cNvSpPr>
            <p:nvPr/>
          </p:nvSpPr>
          <p:spPr bwMode="auto">
            <a:xfrm>
              <a:off x="9513471"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9" name="Rectangle 44"/>
            <p:cNvSpPr>
              <a:spLocks noChangeArrowheads="1"/>
            </p:cNvSpPr>
            <p:nvPr/>
          </p:nvSpPr>
          <p:spPr bwMode="auto">
            <a:xfrm>
              <a:off x="9832548"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0" name="Rectangle 44"/>
            <p:cNvSpPr>
              <a:spLocks noChangeArrowheads="1"/>
            </p:cNvSpPr>
            <p:nvPr/>
          </p:nvSpPr>
          <p:spPr bwMode="auto">
            <a:xfrm>
              <a:off x="10151625"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1" name="Rectangle 44"/>
            <p:cNvSpPr>
              <a:spLocks noChangeArrowheads="1"/>
            </p:cNvSpPr>
            <p:nvPr/>
          </p:nvSpPr>
          <p:spPr bwMode="auto">
            <a:xfrm>
              <a:off x="10470702" y="5275320"/>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42" name="矩形 141"/>
          <p:cNvSpPr/>
          <p:nvPr/>
        </p:nvSpPr>
        <p:spPr>
          <a:xfrm>
            <a:off x="1042791" y="5481607"/>
            <a:ext cx="1715708"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处理后的载荷</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3" name="矩形 142"/>
          <p:cNvSpPr/>
          <p:nvPr/>
        </p:nvSpPr>
        <p:spPr>
          <a:xfrm>
            <a:off x="1042791" y="4497921"/>
            <a:ext cx="1824422"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收到的比特流</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44" name="组合 143"/>
          <p:cNvGrpSpPr/>
          <p:nvPr/>
        </p:nvGrpSpPr>
        <p:grpSpPr>
          <a:xfrm>
            <a:off x="2867214" y="4554307"/>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145" name="Rectangle 44"/>
            <p:cNvSpPr>
              <a:spLocks noChangeArrowheads="1"/>
            </p:cNvSpPr>
            <p:nvPr/>
          </p:nvSpPr>
          <p:spPr bwMode="auto">
            <a:xfrm>
              <a:off x="2861978"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46" name="Rectangle 44"/>
            <p:cNvSpPr>
              <a:spLocks noChangeArrowheads="1"/>
            </p:cNvSpPr>
            <p:nvPr/>
          </p:nvSpPr>
          <p:spPr bwMode="auto">
            <a:xfrm>
              <a:off x="3181055"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47" name="Rectangle 44"/>
            <p:cNvSpPr>
              <a:spLocks noChangeArrowheads="1"/>
            </p:cNvSpPr>
            <p:nvPr/>
          </p:nvSpPr>
          <p:spPr bwMode="auto">
            <a:xfrm>
              <a:off x="3500132"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48" name="Rectangle 44"/>
            <p:cNvSpPr>
              <a:spLocks noChangeArrowheads="1"/>
            </p:cNvSpPr>
            <p:nvPr/>
          </p:nvSpPr>
          <p:spPr bwMode="auto">
            <a:xfrm>
              <a:off x="3819209"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49" name="Rectangle 44"/>
            <p:cNvSpPr>
              <a:spLocks noChangeArrowheads="1"/>
            </p:cNvSpPr>
            <p:nvPr/>
          </p:nvSpPr>
          <p:spPr bwMode="auto">
            <a:xfrm>
              <a:off x="4138286"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50" name="Rectangle 44"/>
            <p:cNvSpPr>
              <a:spLocks noChangeArrowheads="1"/>
            </p:cNvSpPr>
            <p:nvPr/>
          </p:nvSpPr>
          <p:spPr bwMode="auto">
            <a:xfrm>
              <a:off x="4457363"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grpSp>
      <p:grpSp>
        <p:nvGrpSpPr>
          <p:cNvPr id="151" name="组合 150"/>
          <p:cNvGrpSpPr/>
          <p:nvPr/>
        </p:nvGrpSpPr>
        <p:grpSpPr>
          <a:xfrm>
            <a:off x="5100753" y="4554307"/>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152" name="Rectangle 44"/>
            <p:cNvSpPr>
              <a:spLocks noChangeArrowheads="1"/>
            </p:cNvSpPr>
            <p:nvPr/>
          </p:nvSpPr>
          <p:spPr bwMode="auto">
            <a:xfrm>
              <a:off x="5095517"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3" name="Rectangle 44"/>
            <p:cNvSpPr>
              <a:spLocks noChangeArrowheads="1"/>
            </p:cNvSpPr>
            <p:nvPr/>
          </p:nvSpPr>
          <p:spPr bwMode="auto">
            <a:xfrm>
              <a:off x="5414594"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54" name="Rectangle 44"/>
            <p:cNvSpPr>
              <a:spLocks noChangeArrowheads="1"/>
            </p:cNvSpPr>
            <p:nvPr/>
          </p:nvSpPr>
          <p:spPr bwMode="auto">
            <a:xfrm>
              <a:off x="5733671" y="3678775"/>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55" name="Rectangle 44"/>
            <p:cNvSpPr>
              <a:spLocks noChangeArrowheads="1"/>
            </p:cNvSpPr>
            <p:nvPr/>
          </p:nvSpPr>
          <p:spPr bwMode="auto">
            <a:xfrm>
              <a:off x="6052748"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56" name="Rectangle 44"/>
            <p:cNvSpPr>
              <a:spLocks noChangeArrowheads="1"/>
            </p:cNvSpPr>
            <p:nvPr/>
          </p:nvSpPr>
          <p:spPr bwMode="auto">
            <a:xfrm>
              <a:off x="6371825"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157" name="Rectangle 44"/>
            <p:cNvSpPr>
              <a:spLocks noChangeArrowheads="1"/>
            </p:cNvSpPr>
            <p:nvPr/>
          </p:nvSpPr>
          <p:spPr bwMode="auto">
            <a:xfrm>
              <a:off x="6690902"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grpSp>
      <p:grpSp>
        <p:nvGrpSpPr>
          <p:cNvPr id="158" name="组合 157"/>
          <p:cNvGrpSpPr/>
          <p:nvPr/>
        </p:nvGrpSpPr>
        <p:grpSpPr>
          <a:xfrm>
            <a:off x="7334292" y="4554313"/>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159" name="Rectangle 44"/>
            <p:cNvSpPr>
              <a:spLocks noChangeArrowheads="1"/>
            </p:cNvSpPr>
            <p:nvPr/>
          </p:nvSpPr>
          <p:spPr bwMode="auto">
            <a:xfrm>
              <a:off x="7329056"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0" name="Rectangle 44"/>
            <p:cNvSpPr>
              <a:spLocks noChangeArrowheads="1"/>
            </p:cNvSpPr>
            <p:nvPr/>
          </p:nvSpPr>
          <p:spPr bwMode="auto">
            <a:xfrm>
              <a:off x="7648133"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1" name="Rectangle 44"/>
            <p:cNvSpPr>
              <a:spLocks noChangeArrowheads="1"/>
            </p:cNvSpPr>
            <p:nvPr/>
          </p:nvSpPr>
          <p:spPr bwMode="auto">
            <a:xfrm>
              <a:off x="7967210"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2" name="Rectangle 44"/>
            <p:cNvSpPr>
              <a:spLocks noChangeArrowheads="1"/>
            </p:cNvSpPr>
            <p:nvPr/>
          </p:nvSpPr>
          <p:spPr bwMode="auto">
            <a:xfrm>
              <a:off x="8286287"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3" name="Rectangle 44"/>
            <p:cNvSpPr>
              <a:spLocks noChangeArrowheads="1"/>
            </p:cNvSpPr>
            <p:nvPr/>
          </p:nvSpPr>
          <p:spPr bwMode="auto">
            <a:xfrm>
              <a:off x="8605364"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4" name="Rectangle 44"/>
            <p:cNvSpPr>
              <a:spLocks noChangeArrowheads="1"/>
            </p:cNvSpPr>
            <p:nvPr/>
          </p:nvSpPr>
          <p:spPr bwMode="auto">
            <a:xfrm>
              <a:off x="8924441"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5" name="Rectangle 44"/>
            <p:cNvSpPr>
              <a:spLocks noChangeArrowheads="1"/>
            </p:cNvSpPr>
            <p:nvPr/>
          </p:nvSpPr>
          <p:spPr bwMode="auto">
            <a:xfrm>
              <a:off x="9243518"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6" name="Rectangle 44"/>
            <p:cNvSpPr>
              <a:spLocks noChangeArrowheads="1"/>
            </p:cNvSpPr>
            <p:nvPr/>
          </p:nvSpPr>
          <p:spPr bwMode="auto">
            <a:xfrm>
              <a:off x="10200747"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7" name="Rectangle 44"/>
            <p:cNvSpPr>
              <a:spLocks noChangeArrowheads="1"/>
            </p:cNvSpPr>
            <p:nvPr/>
          </p:nvSpPr>
          <p:spPr bwMode="auto">
            <a:xfrm>
              <a:off x="10519824"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8" name="Rectangle 44"/>
            <p:cNvSpPr>
              <a:spLocks noChangeArrowheads="1"/>
            </p:cNvSpPr>
            <p:nvPr/>
          </p:nvSpPr>
          <p:spPr bwMode="auto">
            <a:xfrm>
              <a:off x="10838901"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9" name="Rectangle 44"/>
            <p:cNvSpPr>
              <a:spLocks noChangeArrowheads="1"/>
            </p:cNvSpPr>
            <p:nvPr/>
          </p:nvSpPr>
          <p:spPr bwMode="auto">
            <a:xfrm>
              <a:off x="9562595"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0" name="Rectangle 44"/>
            <p:cNvSpPr>
              <a:spLocks noChangeArrowheads="1"/>
            </p:cNvSpPr>
            <p:nvPr/>
          </p:nvSpPr>
          <p:spPr bwMode="auto">
            <a:xfrm>
              <a:off x="9881672" y="3678781"/>
              <a:ext cx="319077" cy="287338"/>
            </a:xfrm>
            <a:prstGeom prst="rect">
              <a:avLst/>
            </a:prstGeom>
            <a:grpFill/>
            <a:ln w="12700">
              <a:noFill/>
              <a:miter lim="800000"/>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cxnSp>
        <p:nvCxnSpPr>
          <p:cNvPr id="171" name="直接箭头连接符 170"/>
          <p:cNvCxnSpPr>
            <a:endCxn id="114" idx="0"/>
          </p:cNvCxnSpPr>
          <p:nvPr/>
        </p:nvCxnSpPr>
        <p:spPr>
          <a:xfrm flipH="1">
            <a:off x="4941215" y="3983811"/>
            <a:ext cx="159538" cy="570496"/>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5100753"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173" name="直接箭头连接符 172"/>
          <p:cNvCxnSpPr>
            <a:endCxn id="113" idx="0"/>
          </p:cNvCxnSpPr>
          <p:nvPr/>
        </p:nvCxnSpPr>
        <p:spPr>
          <a:xfrm flipH="1">
            <a:off x="7174754" y="4053574"/>
            <a:ext cx="159538" cy="500739"/>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4" name="矩形 173"/>
          <p:cNvSpPr/>
          <p:nvPr/>
        </p:nvSpPr>
        <p:spPr>
          <a:xfrm>
            <a:off x="7391484"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75" name="Line 78"/>
          <p:cNvSpPr>
            <a:spLocks noChangeShapeType="1"/>
          </p:cNvSpPr>
          <p:nvPr/>
        </p:nvSpPr>
        <p:spPr bwMode="auto">
          <a:xfrm flipH="1">
            <a:off x="4941213" y="4869766"/>
            <a:ext cx="281807" cy="668234"/>
          </a:xfrm>
          <a:prstGeom prst="line">
            <a:avLst/>
          </a:prstGeom>
          <a:noFill/>
          <a:ln w="19050">
            <a:solidFill>
              <a:srgbClr val="C000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charset="-122"/>
              <a:cs typeface="Calibri" panose="020F0502020204030204" pitchFamily="34" charset="0"/>
            </a:endParaRPr>
          </a:p>
        </p:txBody>
      </p:sp>
      <p:sp>
        <p:nvSpPr>
          <p:cNvPr id="176" name="Line 78"/>
          <p:cNvSpPr>
            <a:spLocks noChangeShapeType="1"/>
          </p:cNvSpPr>
          <p:nvPr/>
        </p:nvSpPr>
        <p:spPr bwMode="auto">
          <a:xfrm flipH="1">
            <a:off x="6855674" y="4898031"/>
            <a:ext cx="550059" cy="639962"/>
          </a:xfrm>
          <a:prstGeom prst="line">
            <a:avLst/>
          </a:prstGeom>
          <a:noFill/>
          <a:ln w="19050">
            <a:solidFill>
              <a:srgbClr val="C000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charset="-122"/>
              <a:cs typeface="Calibri" panose="020F0502020204030204" pitchFamily="34" charset="0"/>
            </a:endParaRPr>
          </a:p>
        </p:txBody>
      </p:sp>
      <p:cxnSp>
        <p:nvCxnSpPr>
          <p:cNvPr id="177" name="直接箭头连接符 176"/>
          <p:cNvCxnSpPr/>
          <p:nvPr/>
        </p:nvCxnSpPr>
        <p:spPr>
          <a:xfrm>
            <a:off x="2867215" y="4994409"/>
            <a:ext cx="1914461"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8" name="直接箭头连接符 177"/>
          <p:cNvCxnSpPr/>
          <p:nvPr/>
        </p:nvCxnSpPr>
        <p:spPr>
          <a:xfrm>
            <a:off x="5174506" y="4994409"/>
            <a:ext cx="1840709"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9" name="直接箭头连接符 178"/>
          <p:cNvCxnSpPr/>
          <p:nvPr/>
        </p:nvCxnSpPr>
        <p:spPr>
          <a:xfrm>
            <a:off x="7391484" y="4994409"/>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291523" y="1970707"/>
            <a:ext cx="3545621" cy="830997"/>
          </a:xfrm>
          <a:prstGeom prst="rect">
            <a:avLst/>
          </a:prstGeom>
          <a:noFill/>
        </p:spPr>
        <p:txBody>
          <a:bodyPr wrap="square">
            <a:spAutoFit/>
          </a:bodyPr>
          <a:lstStyle/>
          <a:p>
            <a:pPr marL="457200" lvl="1" indent="0">
              <a:buNone/>
            </a:pPr>
            <a:r>
              <a:rPr lang="zh-CN" altLang="en-US" sz="2400" dirty="0">
                <a:highlight>
                  <a:srgbClr val="FFFF00"/>
                </a:highlight>
                <a:latin typeface="+mn-ea"/>
              </a:rPr>
              <a:t>若出现</a:t>
            </a:r>
            <a:r>
              <a:rPr lang="zh-CN" altLang="en-US" sz="2400" dirty="0">
                <a:solidFill>
                  <a:srgbClr val="7030A0"/>
                </a:solidFill>
                <a:highlight>
                  <a:srgbClr val="FFFF00"/>
                </a:highlight>
                <a:latin typeface="+mn-ea"/>
              </a:rPr>
              <a:t>连续</a:t>
            </a:r>
            <a:r>
              <a:rPr lang="en-US" altLang="zh-CN" sz="2400" dirty="0">
                <a:solidFill>
                  <a:srgbClr val="7030A0"/>
                </a:solidFill>
                <a:highlight>
                  <a:srgbClr val="FFFF00"/>
                </a:highlight>
                <a:latin typeface="+mn-ea"/>
              </a:rPr>
              <a:t>5</a:t>
            </a:r>
            <a:r>
              <a:rPr lang="zh-CN" altLang="en-US" sz="2400" dirty="0">
                <a:solidFill>
                  <a:srgbClr val="7030A0"/>
                </a:solidFill>
                <a:highlight>
                  <a:srgbClr val="FFFF00"/>
                </a:highlight>
                <a:latin typeface="+mn-ea"/>
              </a:rPr>
              <a:t>个</a:t>
            </a:r>
            <a:r>
              <a:rPr lang="en-US" altLang="zh-CN" sz="2400" dirty="0">
                <a:solidFill>
                  <a:srgbClr val="7030A0"/>
                </a:solidFill>
                <a:highlight>
                  <a:srgbClr val="FFFF00"/>
                </a:highlight>
                <a:latin typeface="+mn-ea"/>
              </a:rPr>
              <a:t>1</a:t>
            </a:r>
            <a:r>
              <a:rPr lang="zh-CN" altLang="en-US" sz="2400" dirty="0">
                <a:highlight>
                  <a:srgbClr val="FFFF00"/>
                </a:highlight>
                <a:latin typeface="+mn-ea"/>
              </a:rPr>
              <a:t>比特，则去掉后面的一个“</a:t>
            </a:r>
            <a:r>
              <a:rPr lang="en-US" altLang="zh-CN" sz="2400" dirty="0">
                <a:highlight>
                  <a:srgbClr val="FFFF00"/>
                </a:highlight>
                <a:latin typeface="+mn-ea"/>
              </a:rPr>
              <a:t>0”</a:t>
            </a:r>
            <a:endParaRPr lang="en-US" altLang="zh-CN" sz="2400" dirty="0">
              <a:highlight>
                <a:srgbClr val="FFFF00"/>
              </a:highlight>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wipe(left)">
                                      <p:cBhvr>
                                        <p:cTn id="24" dur="500"/>
                                        <p:tgtEl>
                                          <p:spTgt spid="1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7"/>
                                        </p:tgtEl>
                                        <p:attrNameLst>
                                          <p:attrName>style.visibility</p:attrName>
                                        </p:attrNameLst>
                                      </p:cBhvr>
                                      <p:to>
                                        <p:strVal val="visible"/>
                                      </p:to>
                                    </p:set>
                                    <p:animEffect transition="in" filter="wipe(left)">
                                      <p:cBhvr>
                                        <p:cTn id="29" dur="500"/>
                                        <p:tgtEl>
                                          <p:spTgt spid="177"/>
                                        </p:tgtEl>
                                      </p:cBhvr>
                                    </p:animEffec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1" nodeType="clickEffect">
                                  <p:stCondLst>
                                    <p:cond delay="0"/>
                                  </p:stCondLst>
                                  <p:childTnLst>
                                    <p:set>
                                      <p:cBhvr>
                                        <p:cTn id="33" dur="1" fill="hold">
                                          <p:stCondLst>
                                            <p:cond delay="0"/>
                                          </p:stCondLst>
                                        </p:cTn>
                                        <p:tgtEl>
                                          <p:spTgt spid="114"/>
                                        </p:tgtEl>
                                        <p:attrNameLst>
                                          <p:attrName>style.visibility</p:attrName>
                                        </p:attrNameLst>
                                      </p:cBhvr>
                                      <p:to>
                                        <p:strVal val="visible"/>
                                      </p:to>
                                    </p:set>
                                    <p:animEffect transition="in" filter="randombar(horizontal)">
                                      <p:cBhvr>
                                        <p:cTn id="34" dur="500"/>
                                        <p:tgtEl>
                                          <p:spTgt spid="114"/>
                                        </p:tgtEl>
                                      </p:cBhvr>
                                    </p:animEffect>
                                  </p:childTnLst>
                                  <p:subTnLst>
                                    <p:animClr clrSpc="rgb" dir="cw">
                                      <p:cBhvr override="childStyle">
                                        <p:cTn dur="1" fill="hold" display="0" masterRel="nextClick" afterEffect="1"/>
                                        <p:tgtEl>
                                          <p:spTgt spid="114"/>
                                        </p:tgtEl>
                                        <p:attrNameLst>
                                          <p:attrName>ppt_c</p:attrName>
                                        </p:attrNameLst>
                                      </p:cBhvr>
                                      <p:to>
                                        <a:schemeClr val="bg1"/>
                                      </p:to>
                                    </p:animClr>
                                  </p:subTnLst>
                                </p:cTn>
                              </p:par>
                              <p:par>
                                <p:cTn id="35" presetID="14" presetClass="entr" presetSubtype="10" fill="hold" nodeType="withEffect">
                                  <p:stCondLst>
                                    <p:cond delay="0"/>
                                  </p:stCondLst>
                                  <p:childTnLst>
                                    <p:set>
                                      <p:cBhvr>
                                        <p:cTn id="36" dur="1" fill="hold">
                                          <p:stCondLst>
                                            <p:cond delay="0"/>
                                          </p:stCondLst>
                                        </p:cTn>
                                        <p:tgtEl>
                                          <p:spTgt spid="171"/>
                                        </p:tgtEl>
                                        <p:attrNameLst>
                                          <p:attrName>style.visibility</p:attrName>
                                        </p:attrNameLst>
                                      </p:cBhvr>
                                      <p:to>
                                        <p:strVal val="visible"/>
                                      </p:to>
                                    </p:set>
                                    <p:animEffect transition="in" filter="randombar(horizontal)">
                                      <p:cBhvr>
                                        <p:cTn id="37" dur="500"/>
                                        <p:tgtEl>
                                          <p:spTgt spid="171"/>
                                        </p:tgtEl>
                                      </p:cBhvr>
                                    </p:animEffect>
                                  </p:childTnLst>
                                  <p:subTnLst>
                                    <p:animClr clrSpc="rgb" dir="cw">
                                      <p:cBhvr override="childStyle">
                                        <p:cTn dur="1" fill="hold" display="0" masterRel="nextClick" afterEffect="1"/>
                                        <p:tgtEl>
                                          <p:spTgt spid="171"/>
                                        </p:tgtEl>
                                        <p:attrNameLst>
                                          <p:attrName>ppt_c</p:attrName>
                                        </p:attrNameLst>
                                      </p:cBhvr>
                                      <p:to>
                                        <a:schemeClr val="bg1"/>
                                      </p:to>
                                    </p:animClr>
                                  </p:subTnLst>
                                </p:cTn>
                              </p:par>
                              <p:par>
                                <p:cTn id="38" presetID="14" presetClass="entr" presetSubtype="10" fill="hold" grpId="0" nodeType="withEffect">
                                  <p:stCondLst>
                                    <p:cond delay="0"/>
                                  </p:stCondLst>
                                  <p:childTnLst>
                                    <p:set>
                                      <p:cBhvr>
                                        <p:cTn id="39" dur="1" fill="hold">
                                          <p:stCondLst>
                                            <p:cond delay="0"/>
                                          </p:stCondLst>
                                        </p:cTn>
                                        <p:tgtEl>
                                          <p:spTgt spid="172"/>
                                        </p:tgtEl>
                                        <p:attrNameLst>
                                          <p:attrName>style.visibility</p:attrName>
                                        </p:attrNameLst>
                                      </p:cBhvr>
                                      <p:to>
                                        <p:strVal val="visible"/>
                                      </p:to>
                                    </p:set>
                                    <p:animEffect transition="in" filter="randombar(horizontal)">
                                      <p:cBhvr>
                                        <p:cTn id="40" dur="500"/>
                                        <p:tgtEl>
                                          <p:spTgt spid="172"/>
                                        </p:tgtEl>
                                      </p:cBhvr>
                                    </p:animEffect>
                                  </p:childTnLst>
                                  <p:subTnLst>
                                    <p:animClr clrSpc="rgb" dir="cw">
                                      <p:cBhvr override="childStyle">
                                        <p:cTn dur="1" fill="hold" display="0" masterRel="nextClick" afterEffect="1"/>
                                        <p:tgtEl>
                                          <p:spTgt spid="172"/>
                                        </p:tgtEl>
                                        <p:attrNameLst>
                                          <p:attrName>ppt_c</p:attrName>
                                        </p:attrNameLst>
                                      </p:cBhvr>
                                      <p:to>
                                        <a:schemeClr val="bg1"/>
                                      </p:to>
                                    </p:animClr>
                                  </p:sub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5"/>
                                        </p:tgtEl>
                                        <p:attrNameLst>
                                          <p:attrName>style.visibility</p:attrName>
                                        </p:attrNameLst>
                                      </p:cBhvr>
                                      <p:to>
                                        <p:strVal val="visible"/>
                                      </p:to>
                                    </p:set>
                                    <p:animEffect transition="in" filter="wipe(left)">
                                      <p:cBhvr>
                                        <p:cTn id="45" dur="500"/>
                                        <p:tgtEl>
                                          <p:spTgt spid="1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8"/>
                                        </p:tgtEl>
                                        <p:attrNameLst>
                                          <p:attrName>style.visibility</p:attrName>
                                        </p:attrNameLst>
                                      </p:cBhvr>
                                      <p:to>
                                        <p:strVal val="visible"/>
                                      </p:to>
                                    </p:set>
                                    <p:animEffect transition="in" filter="wipe(left)">
                                      <p:cBhvr>
                                        <p:cTn id="50" dur="5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1" nodeType="click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randombar(horizontal)">
                                      <p:cBhvr>
                                        <p:cTn id="55" dur="500"/>
                                        <p:tgtEl>
                                          <p:spTgt spid="113"/>
                                        </p:tgtEl>
                                      </p:cBhvr>
                                    </p:animEffect>
                                  </p:childTnLst>
                                  <p:subTnLst>
                                    <p:animClr clrSpc="rgb" dir="cw">
                                      <p:cBhvr override="childStyle">
                                        <p:cTn dur="1" fill="hold" display="0" masterRel="nextClick" afterEffect="1"/>
                                        <p:tgtEl>
                                          <p:spTgt spid="113"/>
                                        </p:tgtEl>
                                        <p:attrNameLst>
                                          <p:attrName>ppt_c</p:attrName>
                                        </p:attrNameLst>
                                      </p:cBhvr>
                                      <p:to>
                                        <a:schemeClr val="bg1"/>
                                      </p:to>
                                    </p:animClr>
                                  </p:subTnLst>
                                </p:cTn>
                              </p:par>
                              <p:par>
                                <p:cTn id="56" presetID="14" presetClass="entr" presetSubtype="10" fill="hold" nodeType="with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randombar(horizontal)">
                                      <p:cBhvr>
                                        <p:cTn id="58" dur="500"/>
                                        <p:tgtEl>
                                          <p:spTgt spid="173"/>
                                        </p:tgtEl>
                                      </p:cBhvr>
                                    </p:animEffect>
                                  </p:childTnLst>
                                  <p:subTnLst>
                                    <p:animClr clrSpc="rgb" dir="cw">
                                      <p:cBhvr override="childStyle">
                                        <p:cTn dur="1" fill="hold" display="0" masterRel="nextClick" afterEffect="1"/>
                                        <p:tgtEl>
                                          <p:spTgt spid="173"/>
                                        </p:tgtEl>
                                        <p:attrNameLst>
                                          <p:attrName>ppt_c</p:attrName>
                                        </p:attrNameLst>
                                      </p:cBhvr>
                                      <p:to>
                                        <a:schemeClr val="bg1"/>
                                      </p:to>
                                    </p:animClr>
                                  </p:subTnLst>
                                </p:cTn>
                              </p:par>
                              <p:par>
                                <p:cTn id="59" presetID="14" presetClass="entr" presetSubtype="10" fill="hold" grpId="0" nodeType="withEffect">
                                  <p:stCondLst>
                                    <p:cond delay="0"/>
                                  </p:stCondLst>
                                  <p:childTnLst>
                                    <p:set>
                                      <p:cBhvr>
                                        <p:cTn id="60" dur="1" fill="hold">
                                          <p:stCondLst>
                                            <p:cond delay="0"/>
                                          </p:stCondLst>
                                        </p:cTn>
                                        <p:tgtEl>
                                          <p:spTgt spid="174"/>
                                        </p:tgtEl>
                                        <p:attrNameLst>
                                          <p:attrName>style.visibility</p:attrName>
                                        </p:attrNameLst>
                                      </p:cBhvr>
                                      <p:to>
                                        <p:strVal val="visible"/>
                                      </p:to>
                                    </p:set>
                                    <p:animEffect transition="in" filter="randombar(horizontal)">
                                      <p:cBhvr>
                                        <p:cTn id="61" dur="500"/>
                                        <p:tgtEl>
                                          <p:spTgt spid="174"/>
                                        </p:tgtEl>
                                      </p:cBhvr>
                                    </p:animEffect>
                                  </p:childTnLst>
                                  <p:subTnLst>
                                    <p:animClr clrSpc="rgb" dir="cw">
                                      <p:cBhvr override="childStyle">
                                        <p:cTn dur="1" fill="hold" display="0" masterRel="nextClick" afterEffect="1"/>
                                        <p:tgtEl>
                                          <p:spTgt spid="174"/>
                                        </p:tgtEl>
                                        <p:attrNameLst>
                                          <p:attrName>ppt_c</p:attrName>
                                        </p:attrNameLst>
                                      </p:cBhvr>
                                      <p:to>
                                        <a:schemeClr val="bg1"/>
                                      </p:to>
                                    </p:animClr>
                                  </p:sub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wipe(up)">
                                      <p:cBhvr>
                                        <p:cTn id="66" dur="500"/>
                                        <p:tgtEl>
                                          <p:spTgt spid="17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wipe(left)">
                                      <p:cBhvr>
                                        <p:cTn id="71" dur="500"/>
                                        <p:tgtEl>
                                          <p:spTgt spid="12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79"/>
                                        </p:tgtEl>
                                        <p:attrNameLst>
                                          <p:attrName>style.visibility</p:attrName>
                                        </p:attrNameLst>
                                      </p:cBhvr>
                                      <p:to>
                                        <p:strVal val="visible"/>
                                      </p:to>
                                    </p:set>
                                    <p:animEffect transition="in" filter="wipe(left)">
                                      <p:cBhvr>
                                        <p:cTn id="76" dur="5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wipe(up)">
                                      <p:cBhvr>
                                        <p:cTn id="81" dur="500"/>
                                        <p:tgtEl>
                                          <p:spTgt spid="17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29"/>
                                        </p:tgtEl>
                                        <p:attrNameLst>
                                          <p:attrName>style.visibility</p:attrName>
                                        </p:attrNameLst>
                                      </p:cBhvr>
                                      <p:to>
                                        <p:strVal val="visible"/>
                                      </p:to>
                                    </p:set>
                                    <p:animEffect transition="in" filter="wipe(left)">
                                      <p:cBhvr>
                                        <p:cTn id="86"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3" grpId="1" animBg="1"/>
      <p:bldP spid="114" grpId="0" animBg="1"/>
      <p:bldP spid="114" grpId="1" animBg="1"/>
      <p:bldP spid="142" grpId="0"/>
      <p:bldP spid="143" grpId="0"/>
      <p:bldP spid="172" grpId="0"/>
      <p:bldP spid="174" grpId="0"/>
      <p:bldP spid="175" grpId="0" animBg="1"/>
      <p:bldP spid="17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endParaRPr lang="zh-CN" altLang="en-US" dirty="0"/>
          </a:p>
        </p:txBody>
      </p:sp>
      <p:sp>
        <p:nvSpPr>
          <p:cNvPr id="3" name="内容占位符 2"/>
          <p:cNvSpPr>
            <a:spLocks noGrp="1"/>
          </p:cNvSpPr>
          <p:nvPr>
            <p:ph idx="1"/>
          </p:nvPr>
        </p:nvSpPr>
        <p:spPr>
          <a:xfrm>
            <a:off x="631065" y="1371601"/>
            <a:ext cx="10998557" cy="5063124"/>
          </a:xfrm>
        </p:spPr>
        <p:txBody>
          <a:bodyPr>
            <a:normAutofit fontScale="92500"/>
          </a:bodyPr>
          <a:lstStyle/>
          <a:p>
            <a:pPr>
              <a:lnSpc>
                <a:spcPts val="2800"/>
              </a:lnSpc>
            </a:pPr>
            <a:r>
              <a:rPr lang="zh-CN" altLang="en-US" dirty="0">
                <a:solidFill>
                  <a:srgbClr val="C00000"/>
                </a:solidFill>
              </a:rPr>
              <a:t>物理层编码违例：</a:t>
            </a:r>
            <a:endParaRPr lang="en-US" altLang="zh-CN" dirty="0">
              <a:solidFill>
                <a:srgbClr val="C00000"/>
              </a:solidFill>
            </a:endParaRPr>
          </a:p>
          <a:p>
            <a:pPr lvl="1">
              <a:lnSpc>
                <a:spcPts val="2800"/>
              </a:lnSpc>
            </a:pPr>
            <a:r>
              <a:rPr lang="zh-CN" altLang="en-US" b="1" dirty="0"/>
              <a:t>核心思想：选择的定界符不会在数据部分出现</a:t>
            </a:r>
            <a:endParaRPr lang="en-US" altLang="zh-CN" b="1" dirty="0"/>
          </a:p>
          <a:p>
            <a:pPr lvl="1">
              <a:lnSpc>
                <a:spcPts val="2800"/>
              </a:lnSpc>
              <a:spcBef>
                <a:spcPts val="1200"/>
              </a:spcBef>
            </a:pPr>
            <a:r>
              <a:rPr lang="en-US" altLang="zh-CN" dirty="0"/>
              <a:t>4B/5B</a:t>
            </a:r>
            <a:r>
              <a:rPr lang="zh-CN" altLang="en-US" dirty="0"/>
              <a:t>编码方案</a:t>
            </a:r>
            <a:endParaRPr lang="en-US" altLang="zh-CN" dirty="0"/>
          </a:p>
          <a:p>
            <a:pPr lvl="2">
              <a:lnSpc>
                <a:spcPts val="2800"/>
              </a:lnSpc>
              <a:buFont typeface="微软雅黑" panose="020B0503020204020204" pitchFamily="34" charset="-122"/>
              <a:buChar char="−"/>
            </a:pPr>
            <a:r>
              <a:rPr lang="en-US" altLang="zh-CN" sz="2100" dirty="0"/>
              <a:t>4</a:t>
            </a:r>
            <a:r>
              <a:rPr lang="zh-CN" altLang="en-US" sz="2100" dirty="0"/>
              <a:t>比特数据映射成</a:t>
            </a:r>
            <a:r>
              <a:rPr lang="en-US" altLang="zh-CN" sz="2100" dirty="0">
                <a:solidFill>
                  <a:srgbClr val="7030A0"/>
                </a:solidFill>
              </a:rPr>
              <a:t>5</a:t>
            </a:r>
            <a:r>
              <a:rPr lang="zh-CN" altLang="en-US" sz="2100" dirty="0">
                <a:solidFill>
                  <a:srgbClr val="7030A0"/>
                </a:solidFill>
              </a:rPr>
              <a:t>比特编码，</a:t>
            </a:r>
            <a:r>
              <a:rPr lang="zh-CN" altLang="en-US" dirty="0"/>
              <a:t>剩余的一半码字（</a:t>
            </a:r>
            <a:r>
              <a:rPr lang="en-US" altLang="zh-CN" dirty="0"/>
              <a:t>16</a:t>
            </a:r>
            <a:r>
              <a:rPr lang="zh-CN" altLang="en-US" dirty="0"/>
              <a:t>个码字）未使用，可以用做帧定界符</a:t>
            </a:r>
            <a:endParaRPr lang="en-US" altLang="zh-CN" dirty="0"/>
          </a:p>
          <a:p>
            <a:pPr lvl="2">
              <a:lnSpc>
                <a:spcPts val="2800"/>
              </a:lnSpc>
              <a:buFont typeface="微软雅黑" panose="020B0503020204020204" pitchFamily="34" charset="-122"/>
              <a:buChar char="−"/>
            </a:pPr>
            <a:r>
              <a:rPr lang="zh-CN" altLang="en-US" dirty="0"/>
              <a:t>例如：</a:t>
            </a:r>
            <a:r>
              <a:rPr lang="en-US" altLang="zh-CN" dirty="0"/>
              <a:t> 00110</a:t>
            </a:r>
            <a:r>
              <a:rPr lang="zh-CN" altLang="en-US" dirty="0"/>
              <a:t>组合不包含在</a:t>
            </a:r>
            <a:r>
              <a:rPr lang="en-US" altLang="zh-CN" dirty="0"/>
              <a:t>4B/5B</a:t>
            </a:r>
            <a:r>
              <a:rPr lang="zh-CN" altLang="en-US" dirty="0"/>
              <a:t>编码中，可做帧定界符</a:t>
            </a:r>
            <a:endParaRPr lang="en-US" altLang="zh-CN" dirty="0"/>
          </a:p>
          <a:p>
            <a:pPr lvl="1">
              <a:lnSpc>
                <a:spcPts val="2800"/>
              </a:lnSpc>
              <a:spcBef>
                <a:spcPts val="1200"/>
              </a:spcBef>
            </a:pPr>
            <a:r>
              <a:rPr lang="zh-CN" altLang="en-US" dirty="0"/>
              <a:t>前导码</a:t>
            </a:r>
            <a:endParaRPr lang="en-US" altLang="zh-CN" dirty="0"/>
          </a:p>
          <a:p>
            <a:pPr lvl="2">
              <a:lnSpc>
                <a:spcPts val="2800"/>
              </a:lnSpc>
              <a:buFont typeface="微软雅黑" panose="020B0503020204020204" pitchFamily="34" charset="-122"/>
              <a:buChar char="−"/>
            </a:pPr>
            <a:r>
              <a:rPr lang="zh-CN" altLang="en-US" dirty="0"/>
              <a:t>存在很长的 </a:t>
            </a:r>
            <a:r>
              <a:rPr lang="zh-CN" altLang="en-US" dirty="0">
                <a:solidFill>
                  <a:srgbClr val="7030A0"/>
                </a:solidFill>
              </a:rPr>
              <a:t>前导码</a:t>
            </a:r>
            <a:r>
              <a:rPr lang="zh-CN" altLang="en-US" dirty="0"/>
              <a:t>（</a:t>
            </a:r>
            <a:r>
              <a:rPr lang="en-US" altLang="zh-CN" dirty="0"/>
              <a:t>preamble</a:t>
            </a:r>
            <a:r>
              <a:rPr lang="zh-CN" altLang="en-US" dirty="0"/>
              <a:t>），可以用作定界符</a:t>
            </a:r>
            <a:endParaRPr lang="en-US" altLang="zh-CN" dirty="0"/>
          </a:p>
          <a:p>
            <a:pPr lvl="2">
              <a:lnSpc>
                <a:spcPts val="2800"/>
              </a:lnSpc>
              <a:buFont typeface="微软雅黑" panose="020B0503020204020204" pitchFamily="34" charset="-122"/>
              <a:buChar char="−"/>
            </a:pPr>
            <a:r>
              <a:rPr lang="zh-CN" altLang="en-US" dirty="0"/>
              <a:t>例如：传统以太网、</a:t>
            </a:r>
            <a:r>
              <a:rPr lang="en-US" altLang="zh-CN" dirty="0"/>
              <a:t>802.11</a:t>
            </a:r>
            <a:endParaRPr lang="en-US" altLang="zh-CN" dirty="0"/>
          </a:p>
          <a:p>
            <a:pPr lvl="1">
              <a:lnSpc>
                <a:spcPts val="2800"/>
              </a:lnSpc>
              <a:spcBef>
                <a:spcPts val="1200"/>
              </a:spcBef>
            </a:pPr>
            <a:r>
              <a:rPr lang="zh-CN" altLang="en-US" dirty="0"/>
              <a:t>曼切斯特编码 </a:t>
            </a:r>
            <a:r>
              <a:rPr lang="en-US" altLang="zh-CN" dirty="0"/>
              <a:t>/ </a:t>
            </a:r>
            <a:r>
              <a:rPr lang="zh-CN" altLang="en-US" dirty="0"/>
              <a:t>差分曼切斯特编码</a:t>
            </a:r>
            <a:endParaRPr lang="en-US" altLang="zh-CN" dirty="0"/>
          </a:p>
          <a:p>
            <a:pPr lvl="2">
              <a:lnSpc>
                <a:spcPts val="2800"/>
              </a:lnSpc>
              <a:buFont typeface="微软雅黑" panose="020B0503020204020204" pitchFamily="34" charset="-122"/>
              <a:buChar char="−"/>
            </a:pPr>
            <a:r>
              <a:rPr lang="zh-CN" altLang="en-US" dirty="0"/>
              <a:t>正常的信号在周期</a:t>
            </a:r>
            <a:r>
              <a:rPr lang="zh-CN" altLang="en-US" sz="2100" dirty="0">
                <a:solidFill>
                  <a:srgbClr val="7030A0"/>
                </a:solidFill>
              </a:rPr>
              <a:t>中间有跳变</a:t>
            </a:r>
            <a:r>
              <a:rPr lang="zh-CN" altLang="en-US" dirty="0"/>
              <a:t>，持续的高电平（或低电平）为违例码，可以用作定界符</a:t>
            </a:r>
            <a:endParaRPr lang="en-US" altLang="zh-CN" dirty="0"/>
          </a:p>
          <a:p>
            <a:pPr lvl="2">
              <a:lnSpc>
                <a:spcPts val="2800"/>
              </a:lnSpc>
              <a:buFont typeface="微软雅黑" panose="020B0503020204020204" pitchFamily="34" charset="-122"/>
              <a:buChar char="−"/>
            </a:pPr>
            <a:r>
              <a:rPr lang="zh-CN" altLang="en-US" dirty="0"/>
              <a:t>例如：</a:t>
            </a:r>
            <a:r>
              <a:rPr lang="en-US" altLang="zh-CN" dirty="0"/>
              <a:t>802.5</a:t>
            </a:r>
            <a:r>
              <a:rPr lang="zh-CN" altLang="en-US" dirty="0"/>
              <a:t>令牌环网</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差错控制</a:t>
            </a:r>
            <a:endParaRPr lang="zh-CN" altLang="en-US" dirty="0"/>
          </a:p>
        </p:txBody>
      </p:sp>
      <p:sp>
        <p:nvSpPr>
          <p:cNvPr id="3" name="内容占位符 2"/>
          <p:cNvSpPr>
            <a:spLocks noGrp="1"/>
          </p:cNvSpPr>
          <p:nvPr>
            <p:ph idx="1"/>
          </p:nvPr>
        </p:nvSpPr>
        <p:spPr/>
        <p:txBody>
          <a:bodyPr>
            <a:normAutofit/>
          </a:bodyPr>
          <a:lstStyle/>
          <a:p>
            <a:r>
              <a:rPr lang="zh-CN" altLang="en-US" dirty="0"/>
              <a:t>链路层存在的一个问题：</a:t>
            </a:r>
            <a:r>
              <a:rPr lang="zh-CN" altLang="en-US" dirty="0">
                <a:solidFill>
                  <a:srgbClr val="C00000"/>
                </a:solidFill>
              </a:rPr>
              <a:t>信道的噪声导致数据传输问题</a:t>
            </a:r>
            <a:endParaRPr lang="en-US" altLang="zh-CN" dirty="0">
              <a:solidFill>
                <a:srgbClr val="C00000"/>
              </a:solidFill>
            </a:endParaRPr>
          </a:p>
          <a:p>
            <a:pPr lvl="1"/>
            <a:r>
              <a:rPr lang="zh-CN" altLang="en-US" dirty="0"/>
              <a:t>差错（</a:t>
            </a:r>
            <a:r>
              <a:rPr lang="en-US" altLang="zh-CN" dirty="0"/>
              <a:t> incorrect </a:t>
            </a:r>
            <a:r>
              <a:rPr lang="zh-CN" altLang="en-US" dirty="0"/>
              <a:t>）：数据发生错误</a:t>
            </a:r>
            <a:endParaRPr lang="en-US" altLang="zh-CN" dirty="0"/>
          </a:p>
          <a:p>
            <a:pPr lvl="1"/>
            <a:r>
              <a:rPr lang="zh-CN" altLang="en-US" dirty="0"/>
              <a:t>丢失（</a:t>
            </a:r>
            <a:r>
              <a:rPr lang="en-US" altLang="zh-CN" dirty="0"/>
              <a:t> lost </a:t>
            </a:r>
            <a:r>
              <a:rPr lang="zh-CN" altLang="en-US" dirty="0"/>
              <a:t>）：接收方未收到</a:t>
            </a:r>
            <a:endParaRPr lang="en-US" altLang="zh-CN" dirty="0"/>
          </a:p>
          <a:p>
            <a:pPr lvl="1"/>
            <a:r>
              <a:rPr lang="zh-CN" altLang="en-US" dirty="0">
                <a:solidFill>
                  <a:srgbClr val="7030A0"/>
                </a:solidFill>
              </a:rPr>
              <a:t>乱序（</a:t>
            </a:r>
            <a:r>
              <a:rPr lang="en-US" altLang="zh-CN" dirty="0">
                <a:solidFill>
                  <a:srgbClr val="7030A0"/>
                </a:solidFill>
              </a:rPr>
              <a:t>out of order</a:t>
            </a:r>
            <a:r>
              <a:rPr lang="zh-CN" altLang="en-US" dirty="0">
                <a:solidFill>
                  <a:srgbClr val="7030A0"/>
                </a:solidFill>
              </a:rPr>
              <a:t>）：先发后到，后发先到</a:t>
            </a:r>
            <a:endParaRPr lang="en-US" altLang="zh-CN" dirty="0">
              <a:solidFill>
                <a:srgbClr val="7030A0"/>
              </a:solidFill>
            </a:endParaRPr>
          </a:p>
          <a:p>
            <a:pPr lvl="1"/>
            <a:r>
              <a:rPr lang="zh-CN" altLang="en-US" dirty="0"/>
              <a:t>重复（</a:t>
            </a:r>
            <a:r>
              <a:rPr lang="en-US" altLang="zh-CN" dirty="0"/>
              <a:t>repeatedly delivery</a:t>
            </a:r>
            <a:r>
              <a:rPr lang="zh-CN" altLang="en-US" dirty="0"/>
              <a:t>）：一次发送，多次接收</a:t>
            </a:r>
            <a:endParaRPr lang="en-US" altLang="zh-CN" dirty="0"/>
          </a:p>
          <a:p>
            <a:pPr>
              <a:spcBef>
                <a:spcPts val="2400"/>
              </a:spcBef>
            </a:pPr>
            <a:r>
              <a:rPr lang="zh-CN" altLang="en-US" dirty="0"/>
              <a:t>解决方案：</a:t>
            </a:r>
            <a:r>
              <a:rPr lang="zh-CN" altLang="en-US" dirty="0">
                <a:solidFill>
                  <a:srgbClr val="C00000"/>
                </a:solidFill>
              </a:rPr>
              <a:t>差错检测与纠正、确认重传</a:t>
            </a:r>
            <a:endParaRPr lang="en-US" altLang="zh-CN" dirty="0">
              <a:solidFill>
                <a:srgbClr val="C00000"/>
              </a:solidFill>
            </a:endParaRPr>
          </a:p>
          <a:p>
            <a:pPr lvl="1"/>
            <a:r>
              <a:rPr lang="zh-CN" altLang="en-US" dirty="0"/>
              <a:t>确认：</a:t>
            </a:r>
            <a:r>
              <a:rPr lang="zh-CN" altLang="en-US" dirty="0">
                <a:solidFill>
                  <a:srgbClr val="7030A0"/>
                </a:solidFill>
              </a:rPr>
              <a:t>接收方</a:t>
            </a:r>
            <a:r>
              <a:rPr lang="zh-CN" altLang="en-US" dirty="0"/>
              <a:t>校验数据（差错校验），并给发送方应答，防止</a:t>
            </a:r>
            <a:r>
              <a:rPr lang="zh-CN" altLang="en-US" dirty="0">
                <a:solidFill>
                  <a:srgbClr val="7030A0"/>
                </a:solidFill>
              </a:rPr>
              <a:t>差错</a:t>
            </a:r>
            <a:endParaRPr lang="en-US" altLang="zh-CN" dirty="0"/>
          </a:p>
          <a:p>
            <a:pPr lvl="1"/>
            <a:r>
              <a:rPr lang="zh-CN" altLang="en-US" dirty="0"/>
              <a:t>定时器：</a:t>
            </a:r>
            <a:r>
              <a:rPr lang="zh-CN" altLang="en-US" dirty="0">
                <a:solidFill>
                  <a:srgbClr val="7030A0"/>
                </a:solidFill>
              </a:rPr>
              <a:t>发送方</a:t>
            </a:r>
            <a:r>
              <a:rPr lang="zh-CN" altLang="en-US" dirty="0"/>
              <a:t>启动定时器，防止</a:t>
            </a:r>
            <a:r>
              <a:rPr lang="zh-CN" altLang="en-US" dirty="0">
                <a:solidFill>
                  <a:srgbClr val="7030A0"/>
                </a:solidFill>
              </a:rPr>
              <a:t>丢失</a:t>
            </a:r>
            <a:endParaRPr lang="en-US" altLang="zh-CN" dirty="0"/>
          </a:p>
          <a:p>
            <a:pPr lvl="1"/>
            <a:r>
              <a:rPr lang="zh-CN" altLang="en-US" dirty="0"/>
              <a:t>顺序号：</a:t>
            </a:r>
            <a:r>
              <a:rPr lang="zh-CN" altLang="en-US" dirty="0">
                <a:solidFill>
                  <a:srgbClr val="7030A0"/>
                </a:solidFill>
              </a:rPr>
              <a:t>接收方</a:t>
            </a:r>
            <a:r>
              <a:rPr lang="zh-CN" altLang="en-US" dirty="0"/>
              <a:t>检查序号，防止</a:t>
            </a:r>
            <a:r>
              <a:rPr lang="zh-CN" altLang="en-US" dirty="0">
                <a:solidFill>
                  <a:srgbClr val="7030A0"/>
                </a:solidFill>
              </a:rPr>
              <a:t>乱序</a:t>
            </a:r>
            <a:r>
              <a:rPr lang="zh-CN" altLang="en-US" dirty="0"/>
              <a:t>递交、</a:t>
            </a:r>
            <a:r>
              <a:rPr lang="zh-CN" altLang="en-US" dirty="0">
                <a:solidFill>
                  <a:srgbClr val="7030A0"/>
                </a:solidFill>
              </a:rPr>
              <a:t>重复</a:t>
            </a:r>
            <a:r>
              <a:rPr lang="zh-CN" altLang="en-US" dirty="0"/>
              <a:t>递交</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left)">
                                      <p:cBhvr>
                                        <p:cTn id="13" dur="500"/>
                                        <p:tgtEl>
                                          <p:spTgt spid="3">
                                            <p:txEl>
                                              <p:pRg st="7" end="7"/>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left)">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流量控制</a:t>
            </a:r>
            <a:endParaRPr lang="zh-CN" altLang="en-US" dirty="0"/>
          </a:p>
        </p:txBody>
      </p:sp>
      <p:sp>
        <p:nvSpPr>
          <p:cNvPr id="3" name="内容占位符 2"/>
          <p:cNvSpPr>
            <a:spLocks noGrp="1"/>
          </p:cNvSpPr>
          <p:nvPr>
            <p:ph idx="1"/>
          </p:nvPr>
        </p:nvSpPr>
        <p:spPr/>
        <p:txBody>
          <a:bodyPr/>
          <a:lstStyle/>
          <a:p>
            <a:pPr>
              <a:lnSpc>
                <a:spcPts val="3600"/>
              </a:lnSpc>
            </a:pPr>
            <a:r>
              <a:rPr lang="zh-CN" altLang="en-US" dirty="0"/>
              <a:t>链路层存在的另一个问题：</a:t>
            </a:r>
            <a:r>
              <a:rPr lang="zh-CN" altLang="en-US" dirty="0">
                <a:solidFill>
                  <a:srgbClr val="C00000"/>
                </a:solidFill>
              </a:rPr>
              <a:t>接收方的处理速率</a:t>
            </a:r>
            <a:endParaRPr lang="zh-CN" altLang="en-US" dirty="0">
              <a:solidFill>
                <a:srgbClr val="C00000"/>
              </a:solidFill>
            </a:endParaRPr>
          </a:p>
          <a:p>
            <a:pPr lvl="1">
              <a:lnSpc>
                <a:spcPts val="3600"/>
              </a:lnSpc>
            </a:pPr>
            <a:r>
              <a:rPr lang="zh-CN" altLang="en-US" dirty="0"/>
              <a:t>接收方的接收缓冲区溢出</a:t>
            </a:r>
            <a:endParaRPr lang="en-US" altLang="zh-CN" dirty="0"/>
          </a:p>
          <a:p>
            <a:pPr>
              <a:lnSpc>
                <a:spcPts val="3600"/>
              </a:lnSpc>
            </a:pPr>
            <a:r>
              <a:rPr lang="zh-CN" altLang="en-US" dirty="0"/>
              <a:t>解决方案</a:t>
            </a:r>
            <a:endParaRPr lang="en-US" altLang="zh-CN" dirty="0"/>
          </a:p>
          <a:p>
            <a:pPr lvl="1">
              <a:lnSpc>
                <a:spcPts val="3600"/>
              </a:lnSpc>
            </a:pPr>
            <a:r>
              <a:rPr lang="zh-CN" altLang="en-US" dirty="0"/>
              <a:t>基于</a:t>
            </a:r>
            <a:r>
              <a:rPr lang="zh-CN" altLang="en-US" dirty="0">
                <a:solidFill>
                  <a:srgbClr val="7030A0"/>
                </a:solidFill>
              </a:rPr>
              <a:t>反馈 </a:t>
            </a:r>
            <a:r>
              <a:rPr lang="en-US" altLang="zh-CN" dirty="0"/>
              <a:t>(feedback-based) </a:t>
            </a:r>
            <a:r>
              <a:rPr lang="zh-CN" altLang="en-US" dirty="0"/>
              <a:t>的流量控制</a:t>
            </a:r>
            <a:endParaRPr lang="en-US" altLang="zh-CN" dirty="0"/>
          </a:p>
          <a:p>
            <a:pPr lvl="2">
              <a:lnSpc>
                <a:spcPts val="3600"/>
              </a:lnSpc>
            </a:pPr>
            <a:r>
              <a:rPr lang="zh-CN" altLang="en-US" dirty="0"/>
              <a:t>接收方反馈，发送方调整发送速率</a:t>
            </a:r>
            <a:endParaRPr lang="en-US" altLang="zh-CN" dirty="0"/>
          </a:p>
          <a:p>
            <a:pPr lvl="1">
              <a:lnSpc>
                <a:spcPts val="3600"/>
              </a:lnSpc>
            </a:pPr>
            <a:r>
              <a:rPr lang="zh-CN" altLang="en-US" dirty="0"/>
              <a:t>基于</a:t>
            </a:r>
            <a:r>
              <a:rPr lang="zh-CN" altLang="en-US" dirty="0">
                <a:solidFill>
                  <a:srgbClr val="7030A0"/>
                </a:solidFill>
              </a:rPr>
              <a:t>速率 </a:t>
            </a:r>
            <a:r>
              <a:rPr lang="en-US" altLang="zh-CN" dirty="0"/>
              <a:t>(rate-based) </a:t>
            </a:r>
            <a:r>
              <a:rPr lang="zh-CN" altLang="en-US" dirty="0"/>
              <a:t>的流量控制</a:t>
            </a:r>
            <a:endParaRPr lang="en-US" altLang="zh-CN" dirty="0"/>
          </a:p>
          <a:p>
            <a:pPr lvl="2">
              <a:lnSpc>
                <a:spcPts val="3600"/>
              </a:lnSpc>
            </a:pPr>
            <a:r>
              <a:rPr lang="zh-CN" altLang="en-US" dirty="0"/>
              <a:t>发送方根据内建机制，自行限速</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箭头: 五边形 11"/>
          <p:cNvSpPr/>
          <p:nvPr/>
        </p:nvSpPr>
        <p:spPr>
          <a:xfrm>
            <a:off x="9759737" y="10566"/>
            <a:ext cx="2432263" cy="354560"/>
          </a:xfrm>
          <a:prstGeom prst="homePlate">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rgbClr val="C00000"/>
                </a:solidFill>
                <a:latin typeface="微软雅黑" panose="020B0503020204020204" pitchFamily="34" charset="-122"/>
                <a:ea typeface="微软雅黑" panose="020B0503020204020204" pitchFamily="34" charset="-122"/>
              </a:rPr>
              <a:t>面临的问题</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kumimoji="1" lang="zh-CN" altLang="en-US" dirty="0"/>
          </a:p>
        </p:txBody>
      </p:sp>
      <p:sp>
        <p:nvSpPr>
          <p:cNvPr id="3" name="内容占位符 2"/>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solidFill>
                  <a:srgbClr val="C00000"/>
                </a:solidFill>
              </a:rPr>
              <a:t>3.2 </a:t>
            </a:r>
            <a:r>
              <a:rPr kumimoji="1" lang="zh-CN" altLang="zh-CN" dirty="0">
                <a:solidFill>
                  <a:srgbClr val="C00000"/>
                </a:solidFill>
              </a:rPr>
              <a:t>差错检测和纠正</a:t>
            </a:r>
            <a:endParaRPr kumimoji="1" lang="en-US" altLang="zh-CN" dirty="0">
              <a:solidFill>
                <a:srgbClr val="C00000"/>
              </a:solidFill>
            </a:endParaRPr>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endParaRPr kumimoji="1" lang="zh-CN"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矩形标注 4"/>
          <p:cNvSpPr/>
          <p:nvPr/>
        </p:nvSpPr>
        <p:spPr>
          <a:xfrm>
            <a:off x="5764996" y="2133600"/>
            <a:ext cx="4768770" cy="1669143"/>
          </a:xfrm>
          <a:prstGeom prst="wedgeRectCallout">
            <a:avLst>
              <a:gd name="adj1" fmla="val -84124"/>
              <a:gd name="adj2" fmla="val -3053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差错检测与纠正概述</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典型的纠错码</a:t>
            </a:r>
            <a:endParaRPr lang="en-US" altLang="zh-CN"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典型的检错码</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sz="4400" dirty="0">
                <a:solidFill>
                  <a:srgbClr val="0000FF"/>
                </a:solidFill>
                <a:effectLst>
                  <a:outerShdw blurRad="38100" dist="38100" dir="2700000" algn="tl">
                    <a:srgbClr val="C0C0C0"/>
                  </a:outerShdw>
                </a:effectLst>
                <a:latin typeface="楷体_GB2312" pitchFamily="49" charset="-122"/>
                <a:ea typeface="楷体_GB2312" pitchFamily="49" charset="-122"/>
              </a:rPr>
              <a:t>差错原因</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Rectangle 3"/>
          <p:cNvSpPr txBox="1">
            <a:spLocks noChangeArrowheads="1"/>
          </p:cNvSpPr>
          <p:nvPr/>
        </p:nvSpPr>
        <p:spPr>
          <a:xfrm>
            <a:off x="609600" y="1484783"/>
            <a:ext cx="11233248" cy="4871567"/>
          </a:xfrm>
          <a:prstGeom prst="rect">
            <a:avLst/>
          </a:prstGeom>
        </p:spPr>
        <p:txBody>
          <a:bodyPr vert="horz" lIns="91440" tIns="45720" rIns="91440" bIns="45720" rtlCol="0">
            <a:norm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5000"/>
              </a:spcBef>
              <a:buSzPct val="90000"/>
              <a:buFont typeface="Wingdings" panose="05000000000000000000" pitchFamily="2" charset="2"/>
              <a:buChar char="§"/>
              <a:defRPr/>
            </a:pPr>
            <a:r>
              <a:rPr lang="zh-CN" altLang="en-US" sz="2000" b="1" dirty="0">
                <a:solidFill>
                  <a:srgbClr val="0000FF"/>
                </a:solidFill>
                <a:latin typeface="楷体_GB2312" pitchFamily="49" charset="-122"/>
                <a:ea typeface="楷体_GB2312" pitchFamily="49" charset="-122"/>
              </a:rPr>
              <a:t>噪声干扰：</a:t>
            </a:r>
            <a:endParaRPr lang="zh-CN" altLang="en-US" sz="2000" b="1" dirty="0">
              <a:solidFill>
                <a:srgbClr val="0000FF"/>
              </a:solidFill>
              <a:latin typeface="楷体_GB2312" pitchFamily="49" charset="-122"/>
              <a:ea typeface="楷体_GB2312" pitchFamily="49" charset="-122"/>
            </a:endParaRP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随机热噪声：导体电子运动引起，时刻存在，幅度较小，强度与频率无关，频谱很宽。</a:t>
            </a:r>
            <a:endParaRPr lang="zh-CN" altLang="en-US" sz="2000" dirty="0">
              <a:latin typeface="楷体_GB2312" pitchFamily="49" charset="-122"/>
              <a:ea typeface="楷体_GB2312" pitchFamily="49" charset="-122"/>
            </a:endParaRP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冲击噪声：引起差错的主要原因</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引起相邻数据突发性错。</a:t>
            </a:r>
            <a:endParaRPr lang="zh-CN" altLang="en-US" sz="2000" dirty="0">
              <a:latin typeface="楷体_GB2312" pitchFamily="49" charset="-122"/>
              <a:ea typeface="楷体_GB2312" pitchFamily="49" charset="-122"/>
            </a:endParaRPr>
          </a:p>
          <a:p>
            <a:pPr>
              <a:spcBef>
                <a:spcPct val="15000"/>
              </a:spcBef>
              <a:buSzPct val="90000"/>
              <a:buFont typeface="Wingdings" panose="05000000000000000000" pitchFamily="2" charset="2"/>
              <a:buChar char="§"/>
              <a:defRPr/>
            </a:pPr>
            <a:r>
              <a:rPr lang="zh-CN" altLang="en-US" sz="2000" b="1" dirty="0">
                <a:solidFill>
                  <a:srgbClr val="0000FF"/>
                </a:solidFill>
                <a:latin typeface="楷体_GB2312" pitchFamily="49" charset="-122"/>
                <a:ea typeface="楷体_GB2312" pitchFamily="49" charset="-122"/>
              </a:rPr>
              <a:t>数据处理引起：</a:t>
            </a:r>
            <a:endParaRPr lang="zh-CN" altLang="en-US" sz="2000" dirty="0">
              <a:latin typeface="楷体_GB2312" pitchFamily="49" charset="-122"/>
              <a:ea typeface="楷体_GB2312" pitchFamily="49" charset="-122"/>
            </a:endParaRP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调制、解调</a:t>
            </a:r>
            <a:endParaRPr lang="en-US" altLang="zh-CN" sz="2000" dirty="0">
              <a:latin typeface="楷体_GB2312" pitchFamily="49" charset="-122"/>
              <a:ea typeface="楷体_GB2312" pitchFamily="49" charset="-122"/>
            </a:endParaRPr>
          </a:p>
          <a:p>
            <a:pPr>
              <a:buSzPct val="90000"/>
              <a:buFont typeface="Wingdings" panose="05000000000000000000" pitchFamily="2" charset="2"/>
              <a:buChar char="§"/>
              <a:defRPr/>
            </a:pPr>
            <a:r>
              <a:rPr lang="en-US" altLang="zh-CN" b="1" dirty="0">
                <a:solidFill>
                  <a:srgbClr val="0000FF"/>
                </a:solidFill>
                <a:latin typeface="楷体_GB2312" pitchFamily="49" charset="-122"/>
              </a:rPr>
              <a:t> </a:t>
            </a:r>
            <a:r>
              <a:rPr lang="zh-CN" altLang="en-US" sz="2000" b="1" dirty="0">
                <a:solidFill>
                  <a:srgbClr val="0000FF"/>
                </a:solidFill>
                <a:latin typeface="楷体_GB2312" pitchFamily="49" charset="-122"/>
              </a:rPr>
              <a:t>信道失真：</a:t>
            </a:r>
            <a:endParaRPr lang="zh-CN" altLang="en-US" sz="2000" b="1" dirty="0">
              <a:solidFill>
                <a:srgbClr val="0000FF"/>
              </a:solidFill>
              <a:latin typeface="楷体_GB2312" pitchFamily="49" charset="-122"/>
            </a:endParaRPr>
          </a:p>
          <a:p>
            <a:pPr lvl="1">
              <a:buFont typeface="Wingdings" panose="05000000000000000000" pitchFamily="2" charset="2"/>
              <a:buChar char="Ø"/>
              <a:defRPr/>
            </a:pPr>
            <a:r>
              <a:rPr lang="zh-CN" altLang="en-US" sz="2000" dirty="0">
                <a:solidFill>
                  <a:srgbClr val="FF0000"/>
                </a:solidFill>
                <a:latin typeface="楷体_GB2312" pitchFamily="49" charset="-122"/>
              </a:rPr>
              <a:t>色散</a:t>
            </a:r>
            <a:r>
              <a:rPr lang="en-US" altLang="zh-CN" sz="2000" dirty="0">
                <a:latin typeface="楷体_GB2312" pitchFamily="49" charset="-122"/>
              </a:rPr>
              <a:t>: </a:t>
            </a:r>
            <a:r>
              <a:rPr lang="zh-CN" altLang="en-US" sz="2000" dirty="0">
                <a:latin typeface="楷体_GB2312" pitchFamily="49" charset="-122"/>
              </a:rPr>
              <a:t>光线透过媒介中间时，因波长关系光学性质改变的一种现象。如光线射入镜片或三棱镜时，因波长的不同产生</a:t>
            </a:r>
            <a:r>
              <a:rPr lang="zh-CN" altLang="en-US" sz="2000" dirty="0">
                <a:solidFill>
                  <a:schemeClr val="hlink"/>
                </a:solidFill>
                <a:effectLst>
                  <a:outerShdw blurRad="38100" dist="38100" dir="2700000" algn="tl">
                    <a:srgbClr val="C0C0C0"/>
                  </a:outerShdw>
                </a:effectLst>
                <a:latin typeface="楷体_GB2312" pitchFamily="49" charset="-122"/>
              </a:rPr>
              <a:t>折射率</a:t>
            </a:r>
            <a:r>
              <a:rPr lang="zh-CN" altLang="en-US" sz="2000" dirty="0">
                <a:latin typeface="楷体_GB2312" pitchFamily="49" charset="-122"/>
              </a:rPr>
              <a:t>互异的现象，称之为光的</a:t>
            </a:r>
            <a:r>
              <a:rPr lang="zh-CN" altLang="en-US" sz="2000" dirty="0">
                <a:solidFill>
                  <a:srgbClr val="0000FF"/>
                </a:solidFill>
                <a:effectLst>
                  <a:outerShdw blurRad="38100" dist="38100" dir="2700000" algn="tl">
                    <a:srgbClr val="C0C0C0"/>
                  </a:outerShdw>
                </a:effectLst>
                <a:latin typeface="楷体_GB2312" pitchFamily="49" charset="-122"/>
              </a:rPr>
              <a:t>分散或色散</a:t>
            </a:r>
            <a:r>
              <a:rPr lang="zh-CN" altLang="en-US" sz="2000" dirty="0">
                <a:latin typeface="楷体_GB2312" pitchFamily="49" charset="-122"/>
              </a:rPr>
              <a:t>。光纤色散主要是因为光源不是</a:t>
            </a:r>
            <a:r>
              <a:rPr lang="zh-CN" altLang="en-US" sz="2000" dirty="0">
                <a:solidFill>
                  <a:srgbClr val="0000FF"/>
                </a:solidFill>
                <a:effectLst>
                  <a:outerShdw blurRad="38100" dist="38100" dir="2700000" algn="tl">
                    <a:srgbClr val="C0C0C0"/>
                  </a:outerShdw>
                </a:effectLst>
                <a:latin typeface="楷体_GB2312" pitchFamily="49" charset="-122"/>
              </a:rPr>
              <a:t>单色光</a:t>
            </a:r>
            <a:r>
              <a:rPr lang="zh-CN" altLang="en-US" sz="2000" dirty="0">
                <a:latin typeface="楷体_GB2312" pitchFamily="49" charset="-122"/>
              </a:rPr>
              <a:t>引起。</a:t>
            </a:r>
            <a:endParaRPr lang="zh-CN" altLang="en-US" sz="2000" dirty="0">
              <a:latin typeface="楷体_GB2312" pitchFamily="49" charset="-122"/>
            </a:endParaRPr>
          </a:p>
          <a:p>
            <a:pPr lvl="1">
              <a:buFont typeface="Wingdings" panose="05000000000000000000" pitchFamily="2" charset="2"/>
              <a:buChar char="Ø"/>
              <a:defRPr/>
            </a:pPr>
            <a:r>
              <a:rPr lang="zh-CN" altLang="en-US" sz="2000" dirty="0">
                <a:solidFill>
                  <a:srgbClr val="FF0000"/>
                </a:solidFill>
                <a:latin typeface="楷体_GB2312" pitchFamily="49" charset="-122"/>
              </a:rPr>
              <a:t>有限带宽</a:t>
            </a:r>
            <a:r>
              <a:rPr lang="en-US" altLang="zh-CN" sz="2000" dirty="0">
                <a:latin typeface="楷体_GB2312" pitchFamily="49" charset="-122"/>
              </a:rPr>
              <a:t>:</a:t>
            </a:r>
            <a:endParaRPr lang="en-US" altLang="zh-CN" sz="2000" dirty="0">
              <a:latin typeface="楷体_GB2312" pitchFamily="49" charset="-122"/>
            </a:endParaRPr>
          </a:p>
          <a:p>
            <a:pPr lvl="1">
              <a:buFont typeface="Wingdings" panose="05000000000000000000" pitchFamily="2" charset="2"/>
              <a:buChar char="Ø"/>
              <a:defRPr/>
            </a:pPr>
            <a:r>
              <a:rPr lang="zh-CN" altLang="en-US" sz="2000" dirty="0">
                <a:solidFill>
                  <a:srgbClr val="FF0000"/>
                </a:solidFill>
                <a:latin typeface="楷体_GB2312" pitchFamily="49" charset="-122"/>
              </a:rPr>
              <a:t>限幅</a:t>
            </a:r>
            <a:r>
              <a:rPr lang="en-US" altLang="zh-CN" sz="2000" dirty="0">
                <a:latin typeface="楷体_GB2312" pitchFamily="49" charset="-122"/>
              </a:rPr>
              <a:t>:</a:t>
            </a:r>
            <a:endParaRPr lang="en-US" altLang="zh-CN" sz="2000" dirty="0">
              <a:latin typeface="楷体_GB2312" pitchFamily="49" charset="-122"/>
            </a:endParaRPr>
          </a:p>
          <a:p>
            <a:pPr>
              <a:buSzPct val="90000"/>
              <a:buFont typeface="Wingdings" panose="05000000000000000000" pitchFamily="2" charset="2"/>
              <a:buChar char="§"/>
              <a:defRPr/>
            </a:pPr>
            <a:r>
              <a:rPr lang="en-US" altLang="zh-CN" sz="2000" b="1" dirty="0">
                <a:solidFill>
                  <a:srgbClr val="0000FF"/>
                </a:solidFill>
                <a:latin typeface="楷体_GB2312" pitchFamily="49" charset="-122"/>
              </a:rPr>
              <a:t> </a:t>
            </a:r>
            <a:r>
              <a:rPr lang="zh-CN" altLang="en-US" sz="2000" b="1" dirty="0">
                <a:solidFill>
                  <a:srgbClr val="0000FF"/>
                </a:solidFill>
                <a:latin typeface="楷体_GB2312" pitchFamily="49" charset="-122"/>
              </a:rPr>
              <a:t>其它原因：</a:t>
            </a:r>
            <a:endParaRPr lang="zh-CN" altLang="en-US" sz="2000" b="1" dirty="0">
              <a:solidFill>
                <a:srgbClr val="0000FF"/>
              </a:solidFill>
              <a:latin typeface="楷体_GB2312" pitchFamily="49" charset="-122"/>
            </a:endParaRPr>
          </a:p>
          <a:p>
            <a:pPr lvl="1">
              <a:buFont typeface="Wingdings" panose="05000000000000000000" pitchFamily="2" charset="2"/>
              <a:buChar char="Ø"/>
              <a:defRPr/>
            </a:pPr>
            <a:r>
              <a:rPr lang="zh-CN" altLang="en-US" sz="2000" dirty="0">
                <a:latin typeface="楷体_GB2312" pitchFamily="49" charset="-122"/>
              </a:rPr>
              <a:t>介质连接不良，通信设备数据处理出错</a:t>
            </a:r>
            <a:r>
              <a:rPr lang="en-US" altLang="zh-CN" sz="2000" dirty="0"/>
              <a:t>……</a:t>
            </a:r>
            <a:endParaRPr lang="en-US" altLang="zh-CN" sz="2000" dirty="0">
              <a:latin typeface="楷体_GB2312" pitchFamily="49" charset="-122"/>
            </a:endParaRPr>
          </a:p>
          <a:p>
            <a:pPr lvl="1">
              <a:spcBef>
                <a:spcPct val="15000"/>
              </a:spcBef>
              <a:buFont typeface="Wingdings" panose="05000000000000000000" pitchFamily="2" charset="2"/>
              <a:buChar char="Ø"/>
              <a:defRPr/>
            </a:pPr>
            <a:endParaRPr lang="zh-CN" altLang="en-US" sz="1600" dirty="0">
              <a:latin typeface="楷体_GB2312" pitchFamily="49" charset="-122"/>
              <a:ea typeface="楷体_GB2312"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zh-CN" altLang="en-US" sz="4400" dirty="0">
                <a:solidFill>
                  <a:srgbClr val="FF0000"/>
                </a:solidFill>
              </a:rPr>
              <a:t>差错的类型</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图片 6"/>
          <p:cNvPicPr>
            <a:picLocks noChangeAspect="1"/>
          </p:cNvPicPr>
          <p:nvPr/>
        </p:nvPicPr>
        <p:blipFill>
          <a:blip r:embed="rId1"/>
          <a:stretch>
            <a:fillRect/>
          </a:stretch>
        </p:blipFill>
        <p:spPr>
          <a:xfrm>
            <a:off x="1985938" y="1412776"/>
            <a:ext cx="8682062" cy="47495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838200" y="1384300"/>
            <a:ext cx="10820400" cy="1840814"/>
          </a:xfrm>
        </p:spPr>
        <p:txBody>
          <a:bodyPr>
            <a:normAutofit/>
          </a:bodyPr>
          <a:lstStyle/>
          <a:p>
            <a:pPr>
              <a:lnSpc>
                <a:spcPct val="140000"/>
              </a:lnSpc>
            </a:pPr>
            <a:r>
              <a:rPr kumimoji="1" lang="zh-CN" altLang="en-US" dirty="0"/>
              <a:t>如何解决信道传输差错问题</a:t>
            </a:r>
            <a:endParaRPr kumimoji="1" lang="en-US" altLang="zh-CN" dirty="0"/>
          </a:p>
          <a:p>
            <a:pPr lvl="1">
              <a:lnSpc>
                <a:spcPct val="140000"/>
              </a:lnSpc>
            </a:pPr>
            <a:r>
              <a:rPr kumimoji="1" lang="zh-CN" altLang="en-US" dirty="0"/>
              <a:t>通常采用</a:t>
            </a:r>
            <a:r>
              <a:rPr kumimoji="1" lang="zh-CN" altLang="en-US" dirty="0">
                <a:solidFill>
                  <a:srgbClr val="C00000"/>
                </a:solidFill>
              </a:rPr>
              <a:t>增加冗余信息（或称校验信息）</a:t>
            </a:r>
            <a:r>
              <a:rPr kumimoji="1" lang="zh-CN" altLang="en-US" dirty="0"/>
              <a:t>的策略</a:t>
            </a:r>
            <a:endParaRPr kumimoji="1" lang="en-US" altLang="zh-CN" dirty="0"/>
          </a:p>
          <a:p>
            <a:pPr lvl="1">
              <a:lnSpc>
                <a:spcPct val="140000"/>
              </a:lnSpc>
            </a:pPr>
            <a:r>
              <a:rPr kumimoji="1" lang="zh-CN" altLang="en-US" dirty="0"/>
              <a:t>简单示例：每个比特传三份，如果每比特的三份中有一位出错，可以纠正</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2040911" y="3420271"/>
          <a:ext cx="6155520" cy="1416633"/>
        </p:xfrm>
        <a:graphic>
          <a:graphicData uri="http://schemas.openxmlformats.org/drawingml/2006/table">
            <a:tbl>
              <a:tblPr firstRow="1" bandRow="1">
                <a:tableStyleId>{5C22544A-7EE6-4342-B048-85BDC9FD1C3A}</a:tableStyleId>
              </a:tblPr>
              <a:tblGrid>
                <a:gridCol w="439680"/>
                <a:gridCol w="439680"/>
                <a:gridCol w="439680"/>
                <a:gridCol w="439680"/>
                <a:gridCol w="439680"/>
                <a:gridCol w="439680"/>
                <a:gridCol w="439680"/>
                <a:gridCol w="439680"/>
                <a:gridCol w="439680"/>
                <a:gridCol w="439680"/>
                <a:gridCol w="439680"/>
                <a:gridCol w="439680"/>
                <a:gridCol w="439680"/>
                <a:gridCol w="439680"/>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0</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1</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2043807" y="3369617"/>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4772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19127" y="3363894"/>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56483"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7976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227636"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72552" y="3365051"/>
            <a:ext cx="430001"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421773" y="3963804"/>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0</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733610" y="349173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1</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7" name="矩形 16"/>
          <p:cNvSpPr/>
          <p:nvPr/>
        </p:nvSpPr>
        <p:spPr>
          <a:xfrm>
            <a:off x="4672553" y="3369075"/>
            <a:ext cx="435304"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354401" y="3365461"/>
            <a:ext cx="437859"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043807" y="5139645"/>
            <a:ext cx="6196509" cy="1088966"/>
            <a:chOff x="2043807" y="5139645"/>
            <a:chExt cx="6196509" cy="1088966"/>
          </a:xfrm>
        </p:grpSpPr>
        <p:sp>
          <p:nvSpPr>
            <p:cNvPr id="19" name="文本框 18"/>
            <p:cNvSpPr txBox="1"/>
            <p:nvPr/>
          </p:nvSpPr>
          <p:spPr>
            <a:xfrm>
              <a:off x="2043807" y="5828501"/>
              <a:ext cx="2092857" cy="400110"/>
            </a:xfrm>
            <a:prstGeom prst="rect">
              <a:avLst/>
            </a:prstGeom>
            <a:solidFill>
              <a:srgbClr val="66CCFF"/>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33.3%</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4136663" y="5828501"/>
              <a:ext cx="4103652" cy="400110"/>
            </a:xfrm>
            <a:prstGeom prst="rect">
              <a:avLst/>
            </a:prstGeom>
            <a:solidFill>
              <a:srgbClr val="009999"/>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66.7%</a:t>
              </a:r>
              <a:endParaRPr lang="zh-CN" altLang="en-US" sz="2000" dirty="0">
                <a:latin typeface="微软雅黑" panose="020B0503020204020204" pitchFamily="34" charset="-122"/>
                <a:ea typeface="微软雅黑" panose="020B0503020204020204" pitchFamily="34" charset="-122"/>
              </a:endParaRPr>
            </a:p>
          </p:txBody>
        </p:sp>
        <p:sp>
          <p:nvSpPr>
            <p:cNvPr id="21" name="右大括号 20"/>
            <p:cNvSpPr/>
            <p:nvPr/>
          </p:nvSpPr>
          <p:spPr>
            <a:xfrm rot="16200000">
              <a:off x="2961432" y="4591352"/>
              <a:ext cx="257605" cy="2092856"/>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2348089" y="5147733"/>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原始数据</a:t>
              </a:r>
              <a:endParaRPr lang="zh-CN" altLang="en-US" sz="2000" dirty="0">
                <a:latin typeface="微软雅黑" panose="020B0503020204020204" pitchFamily="34" charset="-122"/>
                <a:ea typeface="微软雅黑" panose="020B0503020204020204" pitchFamily="34" charset="-122"/>
              </a:endParaRPr>
            </a:p>
          </p:txBody>
        </p:sp>
        <p:sp>
          <p:nvSpPr>
            <p:cNvPr id="23" name="右大括号 22"/>
            <p:cNvSpPr/>
            <p:nvPr/>
          </p:nvSpPr>
          <p:spPr>
            <a:xfrm rot="16200000">
              <a:off x="6073154" y="3597454"/>
              <a:ext cx="247552" cy="4086773"/>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5559778" y="51396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冗余信息</a:t>
              </a:r>
              <a:endParaRPr lang="zh-CN" altLang="en-US" sz="2000" dirty="0">
                <a:latin typeface="微软雅黑" panose="020B0503020204020204" pitchFamily="34" charset="-122"/>
                <a:ea typeface="微软雅黑" panose="020B0503020204020204" pitchFamily="34" charset="-122"/>
              </a:endParaRPr>
            </a:p>
          </p:txBody>
        </p:sp>
      </p:grpSp>
      <p:sp>
        <p:nvSpPr>
          <p:cNvPr id="25" name="矩形 24"/>
          <p:cNvSpPr/>
          <p:nvPr/>
        </p:nvSpPr>
        <p:spPr>
          <a:xfrm>
            <a:off x="8789667" y="3789690"/>
            <a:ext cx="3140603" cy="984885"/>
          </a:xfrm>
          <a:prstGeom prst="rect">
            <a:avLst/>
          </a:prstGeom>
        </p:spPr>
        <p:txBody>
          <a:bodyPr wrap="none">
            <a:spAutoFit/>
          </a:bodyPr>
          <a:lstStyle/>
          <a:p>
            <a:pP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携带</a:t>
            </a:r>
            <a:r>
              <a:rPr kumimoji="1" lang="en-US" altLang="zh-CN" sz="2400" dirty="0">
                <a:solidFill>
                  <a:srgbClr val="C00000"/>
                </a:solidFill>
                <a:latin typeface="微软雅黑" panose="020B0503020204020204" pitchFamily="34" charset="-122"/>
                <a:ea typeface="微软雅黑" panose="020B0503020204020204" pitchFamily="34" charset="-122"/>
              </a:rPr>
              <a:t>2/3</a:t>
            </a:r>
            <a:r>
              <a:rPr kumimoji="1" lang="zh-CN" altLang="en-US" sz="2400" dirty="0">
                <a:solidFill>
                  <a:srgbClr val="C00000"/>
                </a:solidFill>
                <a:latin typeface="微软雅黑" panose="020B0503020204020204" pitchFamily="34" charset="-122"/>
                <a:ea typeface="微软雅黑" panose="020B0503020204020204" pitchFamily="34" charset="-122"/>
              </a:rPr>
              <a:t>的冗余信息！</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algn="ct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冗余信息量大！</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par>
                          <p:cTn id="27" fill="hold">
                            <p:stCondLst>
                              <p:cond delay="500"/>
                            </p:stCondLst>
                            <p:childTnLst>
                              <p:par>
                                <p:cTn id="28" presetID="45" presetClass="entr" presetSubtype="0" fill="hold" grpId="0" nodeType="afterEffect">
                                  <p:stCondLst>
                                    <p:cond delay="0"/>
                                  </p:stCondLst>
                                  <p:iterate type="lt">
                                    <p:tmPct val="10000"/>
                                  </p:iterate>
                                  <p:childTnLst>
                                    <p:set>
                                      <p:cBhvr>
                                        <p:cTn id="29" dur="1" fill="hold">
                                          <p:stCondLst>
                                            <p:cond delay="0"/>
                                          </p:stCondLst>
                                        </p:cTn>
                                        <p:tgtEl>
                                          <p:spTgt spid="14"/>
                                        </p:tgtEl>
                                        <p:attrNameLst>
                                          <p:attrName>style.visibility</p:attrName>
                                        </p:attrNameLst>
                                      </p:cBhvr>
                                      <p:to>
                                        <p:strVal val="visible"/>
                                      </p:to>
                                    </p:set>
                                    <p:animEffect transition="in" filter="fade">
                                      <p:cBhvr>
                                        <p:cTn id="30" dur="5000"/>
                                        <p:tgtEl>
                                          <p:spTgt spid="14"/>
                                        </p:tgtEl>
                                      </p:cBhvr>
                                    </p:animEffect>
                                    <p:anim calcmode="lin" valueType="num">
                                      <p:cBhvr>
                                        <p:cTn id="31" dur="5000" fill="hold"/>
                                        <p:tgtEl>
                                          <p:spTgt spid="14"/>
                                        </p:tgtEl>
                                        <p:attrNameLst>
                                          <p:attrName>ppt_w</p:attrName>
                                        </p:attrNameLst>
                                      </p:cBhvr>
                                      <p:tavLst>
                                        <p:tav tm="0" fmla="#ppt_w*sin(2.5*pi*$)">
                                          <p:val>
                                            <p:fltVal val="0"/>
                                          </p:val>
                                        </p:tav>
                                        <p:tav tm="100000">
                                          <p:val>
                                            <p:fltVal val="1"/>
                                          </p:val>
                                        </p:tav>
                                      </p:tavLst>
                                    </p:anim>
                                    <p:anim calcmode="lin" valueType="num">
                                      <p:cBhvr>
                                        <p:cTn id="3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4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52" fill="hold">
                            <p:stCondLst>
                              <p:cond delay="500"/>
                            </p:stCondLst>
                            <p:childTnLst>
                              <p:par>
                                <p:cTn id="53" presetID="45" presetClass="entr" presetSubtype="0" fill="hold" grpId="0" nodeType="afterEffect">
                                  <p:stCondLst>
                                    <p:cond delay="0"/>
                                  </p:stCondLst>
                                  <p:iterate type="lt">
                                    <p:tmPct val="10000"/>
                                  </p:iterate>
                                  <p:childTnLst>
                                    <p:set>
                                      <p:cBhvr>
                                        <p:cTn id="54" dur="1" fill="hold">
                                          <p:stCondLst>
                                            <p:cond delay="0"/>
                                          </p:stCondLst>
                                        </p:cTn>
                                        <p:tgtEl>
                                          <p:spTgt spid="15"/>
                                        </p:tgtEl>
                                        <p:attrNameLst>
                                          <p:attrName>style.visibility</p:attrName>
                                        </p:attrNameLst>
                                      </p:cBhvr>
                                      <p:to>
                                        <p:strVal val="visible"/>
                                      </p:to>
                                    </p:set>
                                    <p:animEffect transition="in" filter="fade">
                                      <p:cBhvr>
                                        <p:cTn id="55" dur="5000"/>
                                        <p:tgtEl>
                                          <p:spTgt spid="15"/>
                                        </p:tgtEl>
                                      </p:cBhvr>
                                    </p:animEffect>
                                    <p:anim calcmode="lin" valueType="num">
                                      <p:cBhvr>
                                        <p:cTn id="56" dur="5000" fill="hold"/>
                                        <p:tgtEl>
                                          <p:spTgt spid="15"/>
                                        </p:tgtEl>
                                        <p:attrNameLst>
                                          <p:attrName>ppt_w</p:attrName>
                                        </p:attrNameLst>
                                      </p:cBhvr>
                                      <p:tavLst>
                                        <p:tav tm="0" fmla="#ppt_w*sin(2.5*pi*$)">
                                          <p:val>
                                            <p:fltVal val="0"/>
                                          </p:val>
                                        </p:tav>
                                        <p:tav tm="100000">
                                          <p:val>
                                            <p:fltVal val="1"/>
                                          </p:val>
                                        </p:tav>
                                      </p:tavLst>
                                    </p:anim>
                                    <p:anim calcmode="lin" valueType="num">
                                      <p:cBhvr>
                                        <p:cTn id="57" dur="5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838199" y="1343891"/>
            <a:ext cx="10709031" cy="4753561"/>
          </a:xfrm>
        </p:spPr>
        <p:txBody>
          <a:bodyPr>
            <a:normAutofit fontScale="92500"/>
          </a:bodyPr>
          <a:lstStyle/>
          <a:p>
            <a:pPr>
              <a:lnSpc>
                <a:spcPct val="140000"/>
              </a:lnSpc>
            </a:pPr>
            <a:r>
              <a:rPr kumimoji="1" lang="zh-CN" altLang="en-US" dirty="0">
                <a:solidFill>
                  <a:srgbClr val="C00000"/>
                </a:solidFill>
              </a:rPr>
              <a:t>目标：</a:t>
            </a:r>
            <a:r>
              <a:rPr kumimoji="1" lang="zh-CN" altLang="en-US" dirty="0"/>
              <a:t>保证一定差错检测和纠错能力的前提下，如何减少冗余信息量？</a:t>
            </a:r>
            <a:endParaRPr lang="zh-CN" altLang="en-US" dirty="0"/>
          </a:p>
          <a:p>
            <a:pPr>
              <a:lnSpc>
                <a:spcPct val="140000"/>
              </a:lnSpc>
            </a:pPr>
            <a:r>
              <a:rPr kumimoji="1" lang="zh-CN" altLang="en-US" dirty="0">
                <a:solidFill>
                  <a:srgbClr val="C00000"/>
                </a:solidFill>
              </a:rPr>
              <a:t>考虑的问题</a:t>
            </a:r>
            <a:endParaRPr kumimoji="1" lang="en-US" altLang="zh-CN" dirty="0">
              <a:solidFill>
                <a:srgbClr val="C00000"/>
              </a:solidFill>
            </a:endParaRPr>
          </a:p>
          <a:p>
            <a:pPr lvl="1">
              <a:lnSpc>
                <a:spcPct val="140000"/>
              </a:lnSpc>
            </a:pPr>
            <a:r>
              <a:rPr kumimoji="1" lang="zh-CN" altLang="en-US" dirty="0"/>
              <a:t>信道的特征和传输需求</a:t>
            </a:r>
            <a:endParaRPr kumimoji="1" lang="en-US" altLang="zh-CN" dirty="0"/>
          </a:p>
          <a:p>
            <a:pPr lvl="1">
              <a:lnSpc>
                <a:spcPct val="140000"/>
              </a:lnSpc>
            </a:pPr>
            <a:r>
              <a:rPr kumimoji="1" lang="zh-CN" altLang="en-US" dirty="0"/>
              <a:t>冗余信息的计算方法、携带的冗余信息量</a:t>
            </a:r>
            <a:endParaRPr kumimoji="1" lang="en-US" altLang="zh-CN" dirty="0"/>
          </a:p>
          <a:p>
            <a:pPr lvl="1">
              <a:lnSpc>
                <a:spcPct val="140000"/>
              </a:lnSpc>
            </a:pPr>
            <a:r>
              <a:rPr kumimoji="1" lang="zh-CN" altLang="en-US" dirty="0"/>
              <a:t>计算的复杂度等</a:t>
            </a:r>
            <a:endParaRPr kumimoji="1" lang="en-US" altLang="zh-CN" dirty="0"/>
          </a:p>
          <a:p>
            <a:pPr>
              <a:lnSpc>
                <a:spcPct val="140000"/>
              </a:lnSpc>
            </a:pPr>
            <a:r>
              <a:rPr kumimoji="1" lang="zh-CN" altLang="en-US" dirty="0">
                <a:solidFill>
                  <a:srgbClr val="C00000"/>
                </a:solidFill>
              </a:rPr>
              <a:t>两种主要策略</a:t>
            </a:r>
            <a:endParaRPr kumimoji="1" lang="en-US" altLang="zh-CN" dirty="0">
              <a:solidFill>
                <a:srgbClr val="C00000"/>
              </a:solidFill>
            </a:endParaRPr>
          </a:p>
          <a:p>
            <a:pPr lvl="1">
              <a:lnSpc>
                <a:spcPct val="140000"/>
              </a:lnSpc>
            </a:pPr>
            <a:r>
              <a:rPr kumimoji="1" lang="zh-CN" altLang="en-US" dirty="0"/>
              <a:t>检错码（</a:t>
            </a:r>
            <a:r>
              <a:rPr kumimoji="1" lang="en-US" altLang="zh-CN" dirty="0"/>
              <a:t>error-detecting code</a:t>
            </a:r>
            <a:r>
              <a:rPr kumimoji="1" lang="zh-CN" altLang="en-US" dirty="0"/>
              <a:t>）</a:t>
            </a:r>
            <a:endParaRPr kumimoji="1" lang="en-US" altLang="zh-CN" dirty="0">
              <a:solidFill>
                <a:srgbClr val="C00000"/>
              </a:solidFill>
            </a:endParaRPr>
          </a:p>
          <a:p>
            <a:pPr lvl="1">
              <a:lnSpc>
                <a:spcPct val="140000"/>
              </a:lnSpc>
            </a:pPr>
            <a:r>
              <a:rPr kumimoji="1" lang="zh-CN" altLang="en-US" dirty="0"/>
              <a:t>纠错码（</a:t>
            </a:r>
            <a:r>
              <a:rPr kumimoji="1" lang="en-US" altLang="zh-CN" dirty="0"/>
              <a:t>error-correcting code)</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838200" y="1409700"/>
            <a:ext cx="10515600" cy="4687752"/>
          </a:xfrm>
        </p:spPr>
        <p:txBody>
          <a:bodyPr>
            <a:normAutofit/>
          </a:bodyPr>
          <a:lstStyle/>
          <a:p>
            <a:pPr>
              <a:lnSpc>
                <a:spcPct val="140000"/>
              </a:lnSpc>
            </a:pPr>
            <a:r>
              <a:rPr kumimoji="1" lang="zh-CN" altLang="en-US" dirty="0"/>
              <a:t>检错码（</a:t>
            </a:r>
            <a:r>
              <a:rPr kumimoji="1" lang="en-US" altLang="zh-CN" dirty="0"/>
              <a:t>error-detecting code</a:t>
            </a:r>
            <a:r>
              <a:rPr kumimoji="1" lang="zh-CN" altLang="en-US" dirty="0"/>
              <a:t>）</a:t>
            </a:r>
            <a:endParaRPr kumimoji="1" lang="en-US" altLang="zh-CN" dirty="0"/>
          </a:p>
          <a:p>
            <a:pPr lvl="1">
              <a:lnSpc>
                <a:spcPct val="140000"/>
              </a:lnSpc>
            </a:pPr>
            <a:r>
              <a:rPr kumimoji="1" lang="zh-CN" altLang="en-US" dirty="0"/>
              <a:t>在被发送的数据块中，包含一些冗余信息，但这些信息只能使接收方推断是否发生错误，但不能推断哪位发生错误，接收方可以请求发送方重传数据</a:t>
            </a:r>
            <a:endParaRPr kumimoji="1" lang="en-US" altLang="zh-CN" dirty="0"/>
          </a:p>
          <a:p>
            <a:pPr lvl="1">
              <a:lnSpc>
                <a:spcPct val="140000"/>
              </a:lnSpc>
            </a:pPr>
            <a:r>
              <a:rPr kumimoji="1" lang="zh-CN" altLang="en-US" dirty="0"/>
              <a:t>主要用在高可靠、误码率较低的信道上，例如光纤链路</a:t>
            </a:r>
            <a:endParaRPr kumimoji="1" lang="en-US" altLang="zh-CN" dirty="0"/>
          </a:p>
          <a:p>
            <a:pPr lvl="1">
              <a:lnSpc>
                <a:spcPct val="140000"/>
              </a:lnSpc>
            </a:pPr>
            <a:r>
              <a:rPr kumimoji="1" lang="zh-CN" altLang="en-US" dirty="0"/>
              <a:t>偶尔发生的差错，可以通过重传解决差错问题</a:t>
            </a:r>
            <a:endParaRPr kumimoji="1" lang="en-US" altLang="zh-CN" dirty="0"/>
          </a:p>
          <a:p>
            <a:pPr lvl="1">
              <a:lnSpc>
                <a:spcPct val="140000"/>
              </a:lnSpc>
            </a:pP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838200" y="1409700"/>
            <a:ext cx="10706100" cy="4687752"/>
          </a:xfrm>
        </p:spPr>
        <p:txBody>
          <a:bodyPr>
            <a:normAutofit/>
          </a:bodyPr>
          <a:lstStyle/>
          <a:p>
            <a:pPr>
              <a:lnSpc>
                <a:spcPct val="140000"/>
              </a:lnSpc>
              <a:spcBef>
                <a:spcPts val="800"/>
              </a:spcBef>
            </a:pPr>
            <a:r>
              <a:rPr kumimoji="1" lang="zh-CN" altLang="en-US" dirty="0"/>
              <a:t>纠错码（</a:t>
            </a:r>
            <a:r>
              <a:rPr kumimoji="1" lang="en-US" altLang="zh-CN" dirty="0"/>
              <a:t>error-correcting code)</a:t>
            </a:r>
            <a:endParaRPr kumimoji="1" lang="en-US" altLang="zh-CN" dirty="0"/>
          </a:p>
          <a:p>
            <a:pPr lvl="1">
              <a:lnSpc>
                <a:spcPct val="140000"/>
              </a:lnSpc>
              <a:spcBef>
                <a:spcPts val="800"/>
              </a:spcBef>
            </a:pPr>
            <a:r>
              <a:rPr lang="zh-CN" altLang="en-US" dirty="0"/>
              <a:t>发送方在每个数据块中加入足够的冗余信息，使得接收方能够判断接收到的数据是否有错，并能纠正错误（</a:t>
            </a:r>
            <a:r>
              <a:rPr lang="zh-CN" altLang="en-US" dirty="0">
                <a:solidFill>
                  <a:srgbClr val="C00000"/>
                </a:solidFill>
              </a:rPr>
              <a:t>定位出错的位置</a:t>
            </a:r>
            <a:r>
              <a:rPr lang="zh-CN" altLang="en-US" dirty="0"/>
              <a:t>）</a:t>
            </a:r>
            <a:endParaRPr lang="zh-CN" altLang="en-US" dirty="0"/>
          </a:p>
          <a:p>
            <a:pPr lvl="1">
              <a:lnSpc>
                <a:spcPct val="140000"/>
              </a:lnSpc>
              <a:spcBef>
                <a:spcPts val="800"/>
              </a:spcBef>
            </a:pPr>
            <a:r>
              <a:rPr kumimoji="1" lang="zh-CN" altLang="en-US" dirty="0"/>
              <a:t>主要用于错误发生比较频繁的信道上，如无线链路</a:t>
            </a:r>
            <a:endParaRPr kumimoji="1" lang="en-US" altLang="zh-CN" dirty="0"/>
          </a:p>
          <a:p>
            <a:pPr lvl="1">
              <a:lnSpc>
                <a:spcPct val="140000"/>
              </a:lnSpc>
              <a:spcBef>
                <a:spcPts val="800"/>
              </a:spcBef>
            </a:pPr>
            <a:r>
              <a:rPr kumimoji="1" lang="zh-CN" altLang="en-US" dirty="0"/>
              <a:t>也经常用于物理层，以及更高层（例如，实时流媒体应用和内容分发）</a:t>
            </a:r>
            <a:endParaRPr kumimoji="1" lang="en-US" altLang="zh-CN" dirty="0"/>
          </a:p>
          <a:p>
            <a:pPr lvl="1">
              <a:lnSpc>
                <a:spcPct val="140000"/>
              </a:lnSpc>
              <a:spcBef>
                <a:spcPts val="800"/>
              </a:spcBef>
            </a:pPr>
            <a:r>
              <a:rPr kumimoji="1" lang="zh-CN" altLang="en-US" dirty="0"/>
              <a:t>使用纠错码的技术通常称为</a:t>
            </a:r>
            <a:r>
              <a:rPr kumimoji="1" lang="zh-CN" altLang="en-US" dirty="0">
                <a:solidFill>
                  <a:srgbClr val="C00000"/>
                </a:solidFill>
              </a:rPr>
              <a:t>前向纠错</a:t>
            </a:r>
            <a:r>
              <a:rPr kumimoji="1" lang="zh-CN" altLang="en-US" dirty="0"/>
              <a:t>（</a:t>
            </a:r>
            <a:r>
              <a:rPr kumimoji="1" lang="en-US" altLang="zh-CN" dirty="0"/>
              <a:t>FEC</a:t>
            </a:r>
            <a:r>
              <a:rPr kumimoji="1" lang="zh-CN" altLang="en-US" dirty="0"/>
              <a:t>，</a:t>
            </a:r>
            <a:r>
              <a:rPr kumimoji="1" lang="en-US" altLang="zh-CN" dirty="0"/>
              <a:t>Forward Error Correction)</a:t>
            </a: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736979" y="1469182"/>
            <a:ext cx="10809027" cy="4923967"/>
          </a:xfrm>
        </p:spPr>
        <p:txBody>
          <a:bodyPr>
            <a:normAutofit fontScale="92500"/>
          </a:bodyPr>
          <a:lstStyle/>
          <a:p>
            <a:pPr>
              <a:lnSpc>
                <a:spcPts val="3500"/>
              </a:lnSpc>
              <a:spcBef>
                <a:spcPts val="1200"/>
              </a:spcBef>
            </a:pPr>
            <a:r>
              <a:rPr kumimoji="1" lang="zh-CN" altLang="en-US" dirty="0">
                <a:highlight>
                  <a:srgbClr val="FFFF00"/>
                </a:highlight>
              </a:rPr>
              <a:t>码字 </a:t>
            </a:r>
            <a:r>
              <a:rPr kumimoji="1" lang="en-US" altLang="zh-CN" dirty="0">
                <a:highlight>
                  <a:srgbClr val="FFFF00"/>
                </a:highlight>
              </a:rPr>
              <a:t>(code word)</a:t>
            </a:r>
            <a:r>
              <a:rPr kumimoji="1" lang="zh-CN" altLang="en-US" dirty="0"/>
              <a:t>：一个包含</a:t>
            </a:r>
            <a:r>
              <a:rPr kumimoji="1" lang="en-US" altLang="zh-CN" dirty="0"/>
              <a:t>m</a:t>
            </a:r>
            <a:r>
              <a:rPr kumimoji="1" lang="zh-CN" altLang="en-US" dirty="0"/>
              <a:t>个数据位和</a:t>
            </a:r>
            <a:r>
              <a:rPr kumimoji="1" lang="en-US" altLang="zh-CN" dirty="0"/>
              <a:t>r</a:t>
            </a:r>
            <a:r>
              <a:rPr kumimoji="1" lang="zh-CN" altLang="en-US" dirty="0"/>
              <a:t>个校验位的</a:t>
            </a:r>
            <a:r>
              <a:rPr kumimoji="1" lang="en-US" altLang="zh-CN" dirty="0"/>
              <a:t>n</a:t>
            </a:r>
            <a:r>
              <a:rPr kumimoji="1" lang="zh-CN" altLang="en-US" dirty="0"/>
              <a:t>位单元</a:t>
            </a:r>
            <a:endParaRPr kumimoji="1" lang="en-US" altLang="zh-CN" dirty="0"/>
          </a:p>
          <a:p>
            <a:pPr lvl="1">
              <a:lnSpc>
                <a:spcPts val="3500"/>
              </a:lnSpc>
            </a:pPr>
            <a:r>
              <a:rPr kumimoji="1" lang="zh-CN" altLang="en-US" dirty="0"/>
              <a:t>描述为 </a:t>
            </a:r>
            <a:r>
              <a:rPr kumimoji="1" lang="en-US" altLang="zh-CN" dirty="0"/>
              <a:t>(n, m) </a:t>
            </a:r>
            <a:r>
              <a:rPr kumimoji="1" lang="zh-CN" altLang="en-US" dirty="0"/>
              <a:t>码，</a:t>
            </a:r>
            <a:r>
              <a:rPr kumimoji="1" lang="en-US" altLang="zh-CN" dirty="0"/>
              <a:t>n=</a:t>
            </a:r>
            <a:r>
              <a:rPr kumimoji="1" lang="en-US" altLang="zh-CN" dirty="0" err="1"/>
              <a:t>m+r</a:t>
            </a:r>
            <a:endParaRPr kumimoji="1" lang="en-US" altLang="zh-CN" dirty="0"/>
          </a:p>
          <a:p>
            <a:pPr>
              <a:lnSpc>
                <a:spcPts val="3500"/>
              </a:lnSpc>
              <a:spcBef>
                <a:spcPts val="1200"/>
              </a:spcBef>
            </a:pPr>
            <a:r>
              <a:rPr kumimoji="1" lang="zh-CN" altLang="en-US" dirty="0">
                <a:highlight>
                  <a:srgbClr val="FFFF00"/>
                </a:highlight>
              </a:rPr>
              <a:t>码率 </a:t>
            </a:r>
            <a:r>
              <a:rPr kumimoji="1" lang="en-US" altLang="zh-CN" dirty="0">
                <a:highlight>
                  <a:srgbClr val="FFFF00"/>
                </a:highlight>
              </a:rPr>
              <a:t>(code rate)</a:t>
            </a:r>
            <a:r>
              <a:rPr kumimoji="1" lang="zh-CN" altLang="en-US" dirty="0"/>
              <a:t>：码字中不含冗余部分所占的比例，可以用</a:t>
            </a:r>
            <a:r>
              <a:rPr kumimoji="1" lang="en-US" altLang="zh-CN" dirty="0"/>
              <a:t>m/n</a:t>
            </a:r>
            <a:r>
              <a:rPr kumimoji="1" lang="zh-CN" altLang="en-US" dirty="0"/>
              <a:t>表示</a:t>
            </a:r>
            <a:endParaRPr kumimoji="1" lang="en-US" altLang="zh-CN" dirty="0"/>
          </a:p>
          <a:p>
            <a:pPr>
              <a:lnSpc>
                <a:spcPts val="3500"/>
              </a:lnSpc>
              <a:spcBef>
                <a:spcPts val="1200"/>
              </a:spcBef>
            </a:pPr>
            <a:r>
              <a:rPr lang="zh-CN" altLang="en-US" dirty="0">
                <a:highlight>
                  <a:srgbClr val="FFFF00"/>
                </a:highlight>
              </a:rPr>
              <a:t>海明距离 </a:t>
            </a:r>
            <a:r>
              <a:rPr kumimoji="1" lang="en-US" altLang="zh-CN" dirty="0">
                <a:highlight>
                  <a:srgbClr val="FFFF00"/>
                </a:highlight>
              </a:rPr>
              <a:t>(</a:t>
            </a:r>
            <a:r>
              <a:rPr lang="en-US" altLang="zh-CN" dirty="0">
                <a:highlight>
                  <a:srgbClr val="FFFF00"/>
                </a:highlight>
              </a:rPr>
              <a:t>Hamming distance)</a:t>
            </a:r>
            <a:r>
              <a:rPr lang="zh-CN" altLang="en-US" dirty="0"/>
              <a:t>：两个码字之间不同对应比特的数目</a:t>
            </a:r>
            <a:endParaRPr lang="zh-CN" altLang="en-US" dirty="0"/>
          </a:p>
          <a:p>
            <a:pPr lvl="1">
              <a:lnSpc>
                <a:spcPts val="3500"/>
              </a:lnSpc>
            </a:pPr>
            <a:r>
              <a:rPr lang="zh-CN" altLang="en-US" dirty="0"/>
              <a:t>例：</a:t>
            </a:r>
            <a:r>
              <a:rPr lang="en-US" altLang="zh-CN" dirty="0"/>
              <a:t>0000000000 </a:t>
            </a:r>
            <a:r>
              <a:rPr lang="zh-CN" altLang="en-US" dirty="0"/>
              <a:t>与</a:t>
            </a:r>
            <a:r>
              <a:rPr lang="en-US" altLang="zh-CN" dirty="0"/>
              <a:t>0000011111</a:t>
            </a:r>
            <a:r>
              <a:rPr lang="zh-CN" altLang="en-US" dirty="0"/>
              <a:t>的海明距离为</a:t>
            </a:r>
            <a:r>
              <a:rPr lang="en-US" altLang="zh-CN" dirty="0"/>
              <a:t>5</a:t>
            </a:r>
            <a:endParaRPr lang="en-US" altLang="zh-CN" dirty="0"/>
          </a:p>
          <a:p>
            <a:pPr lvl="1">
              <a:lnSpc>
                <a:spcPts val="3500"/>
              </a:lnSpc>
            </a:pPr>
            <a:r>
              <a:rPr lang="zh-CN" altLang="en-US" dirty="0"/>
              <a:t>如果两个码字的海明距离为</a:t>
            </a:r>
            <a:r>
              <a:rPr lang="en-US" altLang="zh-CN" dirty="0"/>
              <a:t>d</a:t>
            </a:r>
            <a:r>
              <a:rPr lang="zh-CN" altLang="en-US" dirty="0"/>
              <a:t>，则需要</a:t>
            </a:r>
            <a:r>
              <a:rPr lang="en-US" altLang="zh-CN" dirty="0"/>
              <a:t>d</a:t>
            </a:r>
            <a:r>
              <a:rPr lang="zh-CN" altLang="en-US" dirty="0"/>
              <a:t>个单比特错就可以把一个码字转换成另一个码字</a:t>
            </a:r>
            <a:endParaRPr lang="zh-CN" altLang="en-US" dirty="0"/>
          </a:p>
          <a:p>
            <a:pPr lvl="1">
              <a:lnSpc>
                <a:spcPts val="3500"/>
              </a:lnSpc>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endParaRPr lang="zh-CN" altLang="en-US" dirty="0"/>
          </a:p>
          <a:p>
            <a:pPr lvl="1">
              <a:lnSpc>
                <a:spcPts val="3500"/>
              </a:lnSpc>
            </a:pPr>
            <a:r>
              <a:rPr lang="zh-CN" altLang="en-US" dirty="0"/>
              <a:t>为了纠正</a:t>
            </a:r>
            <a:r>
              <a:rPr lang="en-US" altLang="zh-CN" dirty="0"/>
              <a:t>d</a:t>
            </a:r>
            <a:r>
              <a:rPr lang="zh-CN" altLang="en-US" dirty="0"/>
              <a:t>个错，可以使用海明距离为 </a:t>
            </a:r>
            <a:r>
              <a:rPr lang="en-US" altLang="zh-CN" b="1" dirty="0">
                <a:solidFill>
                  <a:srgbClr val="C00000"/>
                </a:solidFill>
              </a:rPr>
              <a:t>2d+1 </a:t>
            </a:r>
            <a:r>
              <a:rPr lang="zh-CN" altLang="en-US" dirty="0"/>
              <a:t>的编码</a:t>
            </a:r>
            <a:endParaRPr lang="zh-CN" altLang="en-US" dirty="0"/>
          </a:p>
          <a:p>
            <a:pPr>
              <a:lnSpc>
                <a:spcPts val="3800"/>
              </a:lnSpc>
            </a:pPr>
            <a:endParaRPr kumimoji="1" lang="en-US" altLang="zh-CN" dirty="0"/>
          </a:p>
          <a:p>
            <a:pPr>
              <a:lnSpc>
                <a:spcPts val="3800"/>
              </a:lnSpc>
            </a:pPr>
            <a:endParaRPr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思考题</a:t>
            </a:r>
            <a:endParaRPr lang="en-US" dirty="0"/>
          </a:p>
        </p:txBody>
      </p:sp>
      <p:sp>
        <p:nvSpPr>
          <p:cNvPr id="3" name="Content Placeholder 2"/>
          <p:cNvSpPr>
            <a:spLocks noGrp="1"/>
          </p:cNvSpPr>
          <p:nvPr>
            <p:ph idx="1"/>
          </p:nvPr>
        </p:nvSpPr>
        <p:spPr>
          <a:xfrm>
            <a:off x="838200" y="1510758"/>
            <a:ext cx="10515600" cy="1163169"/>
          </a:xfrm>
        </p:spPr>
        <p:txBody>
          <a:bodyPr/>
          <a:lstStyle/>
          <a:p>
            <a:pPr marL="0" indent="0">
              <a:buNone/>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思考题</a:t>
            </a:r>
            <a:endParaRPr lang="en-US" dirty="0"/>
          </a:p>
        </p:txBody>
      </p:sp>
      <p:sp>
        <p:nvSpPr>
          <p:cNvPr id="3" name="Content Placeholder 2"/>
          <p:cNvSpPr>
            <a:spLocks noGrp="1"/>
          </p:cNvSpPr>
          <p:nvPr>
            <p:ph idx="1"/>
          </p:nvPr>
        </p:nvSpPr>
        <p:spPr>
          <a:xfrm>
            <a:off x="838200" y="1510758"/>
            <a:ext cx="10515600" cy="1163169"/>
          </a:xfrm>
        </p:spPr>
        <p:txBody>
          <a:bodyPr/>
          <a:lstStyle/>
          <a:p>
            <a:pPr marL="0" indent="0">
              <a:buNone/>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图片 6"/>
          <p:cNvPicPr>
            <a:picLocks noChangeAspect="1"/>
          </p:cNvPicPr>
          <p:nvPr/>
        </p:nvPicPr>
        <p:blipFill rotWithShape="1">
          <a:blip r:embed="rId1"/>
          <a:srcRect l="3583"/>
          <a:stretch>
            <a:fillRect/>
          </a:stretch>
        </p:blipFill>
        <p:spPr>
          <a:xfrm>
            <a:off x="2313953" y="2117182"/>
            <a:ext cx="8922959" cy="442173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思考题</a:t>
            </a:r>
            <a:endParaRPr lang="en-US" dirty="0"/>
          </a:p>
        </p:txBody>
      </p:sp>
      <p:sp>
        <p:nvSpPr>
          <p:cNvPr id="3" name="Content Placeholder 2"/>
          <p:cNvSpPr>
            <a:spLocks noGrp="1"/>
          </p:cNvSpPr>
          <p:nvPr>
            <p:ph idx="1"/>
          </p:nvPr>
        </p:nvSpPr>
        <p:spPr>
          <a:xfrm>
            <a:off x="838200" y="1510758"/>
            <a:ext cx="10515600" cy="1163169"/>
          </a:xfrm>
        </p:spPr>
        <p:txBody>
          <a:bodyPr/>
          <a:lstStyle/>
          <a:p>
            <a:pPr marL="0" indent="0">
              <a:buNone/>
            </a:pPr>
            <a:r>
              <a:rPr lang="zh-CN" altLang="en-US" dirty="0"/>
              <a:t>为了纠正</a:t>
            </a:r>
            <a:r>
              <a:rPr lang="en-US" altLang="zh-CN" dirty="0"/>
              <a:t>d</a:t>
            </a:r>
            <a:r>
              <a:rPr lang="zh-CN" altLang="en-US" dirty="0"/>
              <a:t>个错，可以使用海明距离为 </a:t>
            </a:r>
            <a:r>
              <a:rPr lang="en-US" altLang="zh-CN" dirty="0"/>
              <a:t>2d+1 </a:t>
            </a:r>
            <a:r>
              <a:rPr lang="zh-CN" altLang="en-US" dirty="0"/>
              <a:t>的编码？</a:t>
            </a:r>
            <a:endParaRPr lang="zh-CN" altLang="en-US" dirty="0"/>
          </a:p>
          <a:p>
            <a:pPr marL="0" indent="0">
              <a:buNone/>
            </a:pP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思考题</a:t>
            </a:r>
            <a:endParaRPr lang="en-US" dirty="0"/>
          </a:p>
        </p:txBody>
      </p:sp>
      <p:sp>
        <p:nvSpPr>
          <p:cNvPr id="3" name="Content Placeholder 2"/>
          <p:cNvSpPr>
            <a:spLocks noGrp="1"/>
          </p:cNvSpPr>
          <p:nvPr>
            <p:ph idx="1"/>
          </p:nvPr>
        </p:nvSpPr>
        <p:spPr>
          <a:xfrm>
            <a:off x="838200" y="1510758"/>
            <a:ext cx="10515600" cy="1163169"/>
          </a:xfrm>
        </p:spPr>
        <p:txBody>
          <a:bodyPr/>
          <a:lstStyle/>
          <a:p>
            <a:pPr marL="0" indent="0">
              <a:buNone/>
            </a:pPr>
            <a:r>
              <a:rPr lang="zh-CN" altLang="en-US" dirty="0"/>
              <a:t>为了纠正</a:t>
            </a:r>
            <a:r>
              <a:rPr lang="en-US" altLang="zh-CN" dirty="0"/>
              <a:t>d</a:t>
            </a:r>
            <a:r>
              <a:rPr lang="zh-CN" altLang="en-US" dirty="0"/>
              <a:t>个错，可以使用海明距离为 </a:t>
            </a:r>
            <a:r>
              <a:rPr lang="en-US" altLang="zh-CN" dirty="0"/>
              <a:t>2d+1 </a:t>
            </a:r>
            <a:r>
              <a:rPr lang="zh-CN" altLang="en-US" dirty="0"/>
              <a:t>的编码？</a:t>
            </a:r>
            <a:endParaRPr lang="zh-CN" altLang="en-US" dirty="0"/>
          </a:p>
          <a:p>
            <a:pPr marL="0" indent="0">
              <a:buNone/>
            </a:pP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图片 4"/>
          <p:cNvPicPr>
            <a:picLocks noChangeAspect="1"/>
          </p:cNvPicPr>
          <p:nvPr/>
        </p:nvPicPr>
        <p:blipFill>
          <a:blip r:embed="rId1"/>
          <a:stretch>
            <a:fillRect/>
          </a:stretch>
        </p:blipFill>
        <p:spPr>
          <a:xfrm>
            <a:off x="1536737" y="2238124"/>
            <a:ext cx="9118526" cy="448335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endParaRPr kumimoji="1" lang="zh-CN" altLang="en-US" dirty="0"/>
          </a:p>
        </p:txBody>
      </p:sp>
      <p:sp>
        <p:nvSpPr>
          <p:cNvPr id="3" name="内容占位符 2"/>
          <p:cNvSpPr>
            <a:spLocks noGrp="1"/>
          </p:cNvSpPr>
          <p:nvPr>
            <p:ph idx="1"/>
          </p:nvPr>
        </p:nvSpPr>
        <p:spPr>
          <a:xfrm>
            <a:off x="736979" y="1469182"/>
            <a:ext cx="10699845" cy="4923967"/>
          </a:xfrm>
        </p:spPr>
        <p:txBody>
          <a:bodyPr>
            <a:normAutofit/>
          </a:bodyPr>
          <a:lstStyle/>
          <a:p>
            <a:pPr>
              <a:lnSpc>
                <a:spcPts val="3500"/>
              </a:lnSpc>
              <a:spcBef>
                <a:spcPts val="1200"/>
              </a:spcBef>
            </a:pPr>
            <a:r>
              <a:rPr kumimoji="1" lang="zh-CN" altLang="en-US" dirty="0"/>
              <a:t>例如：</a:t>
            </a:r>
            <a:endParaRPr kumimoji="1" lang="en-US" altLang="zh-CN" dirty="0"/>
          </a:p>
          <a:p>
            <a:pPr lvl="1">
              <a:lnSpc>
                <a:spcPts val="3500"/>
              </a:lnSpc>
              <a:spcBef>
                <a:spcPts val="1200"/>
              </a:spcBef>
            </a:pPr>
            <a:r>
              <a:rPr kumimoji="1" lang="zh-CN" altLang="en-US" dirty="0"/>
              <a:t>一个只有</a:t>
            </a:r>
            <a:r>
              <a:rPr kumimoji="1" lang="en-US" altLang="zh-CN" dirty="0"/>
              <a:t>4</a:t>
            </a:r>
            <a:r>
              <a:rPr kumimoji="1" lang="zh-CN" altLang="en-US" dirty="0"/>
              <a:t>个有效码字的编码方案：</a:t>
            </a:r>
            <a:br>
              <a:rPr kumimoji="1" lang="en-US" altLang="zh-CN" dirty="0"/>
            </a:br>
            <a:r>
              <a:rPr kumimoji="1" lang="en-US" altLang="zh-CN" dirty="0"/>
              <a:t>0000000000, 0000011111, 1111100000, 1111111111</a:t>
            </a:r>
            <a:endParaRPr kumimoji="1" lang="en-US" altLang="zh-CN" dirty="0"/>
          </a:p>
          <a:p>
            <a:pPr lvl="1">
              <a:lnSpc>
                <a:spcPts val="3500"/>
              </a:lnSpc>
              <a:spcBef>
                <a:spcPts val="1200"/>
              </a:spcBef>
            </a:pPr>
            <a:r>
              <a:rPr kumimoji="1" lang="zh-CN" altLang="en-US" dirty="0"/>
              <a:t>海明距离为</a:t>
            </a:r>
            <a:r>
              <a:rPr kumimoji="1" lang="en-US" altLang="zh-CN" dirty="0"/>
              <a:t>5</a:t>
            </a:r>
            <a:r>
              <a:rPr kumimoji="1" lang="zh-CN" altLang="en-US" dirty="0"/>
              <a:t>，可以检测</a:t>
            </a:r>
            <a:r>
              <a:rPr kumimoji="1" lang="en-US" altLang="zh-CN" dirty="0"/>
              <a:t>4</a:t>
            </a:r>
            <a:r>
              <a:rPr kumimoji="1" lang="zh-CN" altLang="en-US" dirty="0"/>
              <a:t>位错，纠正</a:t>
            </a:r>
            <a:r>
              <a:rPr kumimoji="1" lang="en-US" altLang="zh-CN" dirty="0"/>
              <a:t>2</a:t>
            </a:r>
            <a:r>
              <a:rPr kumimoji="1" lang="zh-CN" altLang="en-US" dirty="0"/>
              <a:t>位错</a:t>
            </a:r>
            <a:endParaRPr kumimoji="1" lang="en-US" altLang="zh-CN" dirty="0"/>
          </a:p>
          <a:p>
            <a:pPr lvl="1">
              <a:lnSpc>
                <a:spcPts val="3500"/>
              </a:lnSpc>
              <a:spcBef>
                <a:spcPts val="1200"/>
              </a:spcBef>
            </a:pPr>
            <a:r>
              <a:rPr kumimoji="1" lang="zh-CN" altLang="en-US" dirty="0"/>
              <a:t>如果已知只有</a:t>
            </a:r>
            <a:r>
              <a:rPr kumimoji="1" lang="en-US" altLang="zh-CN" dirty="0"/>
              <a:t>1</a:t>
            </a:r>
            <a:r>
              <a:rPr kumimoji="1" lang="zh-CN" altLang="en-US" dirty="0"/>
              <a:t>位或</a:t>
            </a:r>
            <a:r>
              <a:rPr kumimoji="1" lang="en-US" altLang="zh-CN" dirty="0"/>
              <a:t>2</a:t>
            </a:r>
            <a:r>
              <a:rPr kumimoji="1" lang="zh-CN" altLang="en-US" dirty="0"/>
              <a:t>位错误，接收方接收</a:t>
            </a:r>
            <a:r>
              <a:rPr kumimoji="1" lang="en-US" altLang="zh-CN" dirty="0"/>
              <a:t>0000000111</a:t>
            </a:r>
            <a:endParaRPr kumimoji="1" lang="en-US" altLang="zh-CN" dirty="0"/>
          </a:p>
          <a:p>
            <a:pPr lvl="2" indent="-338455">
              <a:lnSpc>
                <a:spcPts val="3500"/>
              </a:lnSpc>
              <a:spcBef>
                <a:spcPts val="1200"/>
              </a:spcBef>
              <a:buFont typeface="微软雅黑" panose="020B0503020204020204" pitchFamily="34" charset="-122"/>
              <a:buChar char="−"/>
            </a:pPr>
            <a:r>
              <a:rPr kumimoji="1" lang="zh-CN" altLang="en-US" dirty="0"/>
              <a:t>则可知原码字为：</a:t>
            </a:r>
            <a:r>
              <a:rPr kumimoji="1" lang="en-US" altLang="zh-CN" dirty="0"/>
              <a:t>0000011111</a:t>
            </a:r>
            <a:endParaRPr kumimoji="1" lang="en-US" altLang="zh-CN" dirty="0"/>
          </a:p>
          <a:p>
            <a:pPr lvl="1">
              <a:lnSpc>
                <a:spcPts val="3500"/>
              </a:lnSpc>
              <a:spcBef>
                <a:spcPts val="1200"/>
              </a:spcBef>
            </a:pPr>
            <a:r>
              <a:rPr kumimoji="1" lang="zh-CN" altLang="en-US" dirty="0"/>
              <a:t>如果发生</a:t>
            </a:r>
            <a:r>
              <a:rPr kumimoji="1" lang="en-US" altLang="zh-CN" dirty="0"/>
              <a:t>3</a:t>
            </a:r>
            <a:r>
              <a:rPr kumimoji="1" lang="zh-CN" altLang="en-US" dirty="0"/>
              <a:t>位错误，例如</a:t>
            </a:r>
            <a:r>
              <a:rPr kumimoji="1" lang="en-US" altLang="zh-CN" dirty="0"/>
              <a:t>0000000000</a:t>
            </a:r>
            <a:r>
              <a:rPr kumimoji="1" lang="zh-CN" altLang="en-US" dirty="0"/>
              <a:t>变成</a:t>
            </a:r>
            <a:r>
              <a:rPr kumimoji="1" lang="en-US" altLang="zh-CN" dirty="0"/>
              <a:t>0000000111</a:t>
            </a:r>
            <a:r>
              <a:rPr kumimoji="1" lang="zh-CN" altLang="en-US" dirty="0"/>
              <a:t>，接收方无法纠正错误，但可以检测出错误</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图片 4"/>
          <p:cNvPicPr>
            <a:picLocks noChangeAspect="1"/>
          </p:cNvPicPr>
          <p:nvPr/>
        </p:nvPicPr>
        <p:blipFill>
          <a:blip r:embed="rId1"/>
          <a:stretch>
            <a:fillRect/>
          </a:stretch>
        </p:blipFill>
        <p:spPr>
          <a:xfrm>
            <a:off x="1631505" y="1628800"/>
            <a:ext cx="8635178" cy="417310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kumimoji="0" lang="zh-CN" altLang="en-US" dirty="0">
                <a:latin typeface="宋体" panose="02010600030101010101" pitchFamily="2" charset="-122"/>
              </a:rPr>
              <a:t>典型检错码</a:t>
            </a:r>
            <a:endParaRPr kumimoji="0" lang="zh-CN" altLang="en-US" dirty="0">
              <a:latin typeface="宋体" panose="02010600030101010101" pitchFamily="2" charset="-122"/>
            </a:endParaRPr>
          </a:p>
        </p:txBody>
      </p:sp>
      <p:sp>
        <p:nvSpPr>
          <p:cNvPr id="52226" name="Rectangle 3"/>
          <p:cNvSpPr>
            <a:spLocks noGrp="1" noChangeArrowheads="1"/>
          </p:cNvSpPr>
          <p:nvPr>
            <p:ph type="body" idx="1"/>
          </p:nvPr>
        </p:nvSpPr>
        <p:spPr>
          <a:xfrm>
            <a:off x="838200" y="1510758"/>
            <a:ext cx="10310870" cy="4372684"/>
          </a:xfrm>
        </p:spPr>
        <p:txBody>
          <a:bodyPr>
            <a:normAutofit/>
          </a:bodyPr>
          <a:lstStyle/>
          <a:p>
            <a:pPr>
              <a:lnSpc>
                <a:spcPts val="4300"/>
              </a:lnSpc>
              <a:spcBef>
                <a:spcPts val="1200"/>
              </a:spcBef>
            </a:pPr>
            <a:r>
              <a:rPr lang="zh-CN" altLang="en-US" dirty="0">
                <a:sym typeface="Symbol" panose="05050102010706020507" pitchFamily="18" charset="2"/>
              </a:rPr>
              <a:t>常用的检错码包括：</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奇偶检验</a:t>
            </a:r>
            <a:r>
              <a:rPr lang="zh-CN" altLang="en-US" dirty="0">
                <a:sym typeface="Symbol" panose="05050102010706020507" pitchFamily="18" charset="2"/>
              </a:rPr>
              <a:t> </a:t>
            </a:r>
            <a:r>
              <a:rPr lang="en-US" altLang="zh-CN" dirty="0">
                <a:sym typeface="Symbol" panose="05050102010706020507" pitchFamily="18" charset="2"/>
              </a:rPr>
              <a:t>(</a:t>
            </a:r>
            <a:r>
              <a:rPr lang="en-US" altLang="zh-CN" dirty="0"/>
              <a:t>Parity Check</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1</a:t>
            </a:r>
            <a:r>
              <a:rPr lang="zh-CN" altLang="en-US" dirty="0">
                <a:sym typeface="Symbol" panose="05050102010706020507" pitchFamily="18" charset="2"/>
              </a:rPr>
              <a:t>位奇偶校验是最简单、最基础的检错码</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校验和</a:t>
            </a:r>
            <a:r>
              <a:rPr lang="en-US" altLang="zh-CN" dirty="0">
                <a:sym typeface="Symbol" panose="05050102010706020507" pitchFamily="18" charset="2"/>
              </a:rPr>
              <a:t> (Checksum)</a:t>
            </a:r>
            <a:r>
              <a:rPr lang="zh-CN" altLang="en-US" dirty="0">
                <a:sym typeface="Symbol" panose="05050102010706020507" pitchFamily="18" charset="2"/>
              </a:rPr>
              <a:t>：主要用于</a:t>
            </a:r>
            <a:r>
              <a:rPr lang="en-US" altLang="zh-CN" dirty="0">
                <a:sym typeface="Symbol" panose="05050102010706020507" pitchFamily="18" charset="2"/>
              </a:rPr>
              <a:t>TCP/IP</a:t>
            </a:r>
            <a:r>
              <a:rPr lang="zh-CN" altLang="en-US" dirty="0">
                <a:sym typeface="Symbol" panose="05050102010706020507" pitchFamily="18" charset="2"/>
              </a:rPr>
              <a:t>体系中的</a:t>
            </a:r>
            <a:r>
              <a:rPr lang="zh-CN" altLang="en-US" dirty="0">
                <a:highlight>
                  <a:srgbClr val="FFFF00"/>
                </a:highlight>
                <a:sym typeface="Symbol" panose="05050102010706020507" pitchFamily="18" charset="2"/>
              </a:rPr>
              <a:t>网络层和传输层</a:t>
            </a:r>
            <a:endParaRPr lang="en-US" altLang="zh-CN" dirty="0">
              <a:highlight>
                <a:srgbClr val="FFFF00"/>
              </a:highlight>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循环冗余校验 </a:t>
            </a:r>
            <a:r>
              <a:rPr lang="en-US" altLang="zh-CN" dirty="0">
                <a:sym typeface="Symbol" panose="05050102010706020507" pitchFamily="18" charset="2"/>
              </a:rPr>
              <a:t>(</a:t>
            </a:r>
            <a:r>
              <a:rPr lang="en-US" altLang="zh-CN" dirty="0"/>
              <a:t>Cyclic Redundancy Check</a:t>
            </a:r>
            <a:r>
              <a:rPr lang="zh-CN" altLang="en-US" dirty="0"/>
              <a:t>，</a:t>
            </a:r>
            <a:r>
              <a:rPr lang="en-US" altLang="zh-CN" dirty="0"/>
              <a:t>CRC)</a:t>
            </a:r>
            <a:r>
              <a:rPr lang="zh-CN" altLang="en-US" dirty="0"/>
              <a:t>：</a:t>
            </a:r>
            <a:r>
              <a:rPr lang="zh-CN" altLang="en-US" dirty="0">
                <a:highlight>
                  <a:srgbClr val="FFFF00"/>
                </a:highlight>
              </a:rPr>
              <a:t>数据链路层</a:t>
            </a:r>
            <a:r>
              <a:rPr lang="zh-CN" altLang="en-US" dirty="0"/>
              <a:t>广泛使用的校验方法</a:t>
            </a:r>
            <a:endParaRPr lang="en-US" altLang="zh-CN" dirty="0">
              <a:sym typeface="Symbol" panose="05050102010706020507" pitchFamily="18" charset="2"/>
            </a:endParaRPr>
          </a:p>
          <a:p>
            <a:pPr marL="457200" lvl="1" indent="0">
              <a:lnSpc>
                <a:spcPts val="3800"/>
              </a:lnSpc>
              <a:buNone/>
            </a:pPr>
            <a:endParaRPr lang="zh-CN" altLang="en-US" dirty="0">
              <a:sym typeface="Symbol" panose="05050102010706020507" pitchFamily="18" charset="2"/>
            </a:endParaRPr>
          </a:p>
        </p:txBody>
      </p:sp>
      <p:sp>
        <p:nvSpPr>
          <p:cNvPr id="4" name="文本框 3"/>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rPr>
              <a:t>典型检错码</a:t>
            </a:r>
            <a:r>
              <a:rPr kumimoji="1" lang="en-US" altLang="zh-CN" sz="3200" dirty="0"/>
              <a:t>—</a:t>
            </a:r>
            <a:r>
              <a:rPr kumimoji="1" lang="zh-CN" altLang="en-US" sz="3200" dirty="0">
                <a:solidFill>
                  <a:schemeClr val="accent1">
                    <a:lumMod val="75000"/>
                  </a:schemeClr>
                </a:solidFill>
              </a:rPr>
              <a:t>奇偶校验</a:t>
            </a:r>
            <a:endParaRPr kumimoji="1" lang="zh-CN" altLang="en-US" sz="3200" dirty="0"/>
          </a:p>
        </p:txBody>
      </p:sp>
      <p:sp>
        <p:nvSpPr>
          <p:cNvPr id="3" name="内容占位符 2"/>
          <p:cNvSpPr>
            <a:spLocks noGrp="1"/>
          </p:cNvSpPr>
          <p:nvPr>
            <p:ph idx="1"/>
          </p:nvPr>
        </p:nvSpPr>
        <p:spPr>
          <a:xfrm>
            <a:off x="838200" y="1384300"/>
            <a:ext cx="10617200" cy="594625"/>
          </a:xfrm>
        </p:spPr>
        <p:txBody>
          <a:bodyPr>
            <a:noAutofit/>
          </a:bodyPr>
          <a:lstStyle/>
          <a:p>
            <a:pPr>
              <a:lnSpc>
                <a:spcPts val="3800"/>
              </a:lnSpc>
            </a:pPr>
            <a:r>
              <a:rPr kumimoji="1" lang="en-US" altLang="zh-CN" dirty="0"/>
              <a:t>1</a:t>
            </a:r>
            <a:r>
              <a:rPr kumimoji="1" lang="zh-CN" altLang="en-US" dirty="0"/>
              <a:t>位奇偶校验：增加</a:t>
            </a:r>
            <a:r>
              <a:rPr kumimoji="1" lang="en-US" altLang="zh-CN" dirty="0"/>
              <a:t>1</a:t>
            </a:r>
            <a:r>
              <a:rPr kumimoji="1" lang="zh-CN" altLang="en-US" dirty="0"/>
              <a:t>位校验位，</a:t>
            </a:r>
            <a:r>
              <a:rPr lang="zh-CN" altLang="en-US" dirty="0">
                <a:solidFill>
                  <a:srgbClr val="C00000"/>
                </a:solidFill>
              </a:rPr>
              <a:t>可以检查奇数位错误</a:t>
            </a:r>
            <a:endParaRPr kumimoji="1" lang="en-US" altLang="zh-CN"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2228815" y="2815083"/>
          <a:ext cx="3680664" cy="472211"/>
        </p:xfrm>
        <a:graphic>
          <a:graphicData uri="http://schemas.openxmlformats.org/drawingml/2006/table">
            <a:tbl>
              <a:tblPr firstRow="1" bandRow="1">
                <a:tableStyleId>{5C22544A-7EE6-4342-B048-85BDC9FD1C3A}</a:tableStyleId>
              </a:tblPr>
              <a:tblGrid>
                <a:gridCol w="460083"/>
                <a:gridCol w="460083"/>
                <a:gridCol w="460083"/>
                <a:gridCol w="460083"/>
                <a:gridCol w="460083"/>
                <a:gridCol w="460083"/>
                <a:gridCol w="460083"/>
                <a:gridCol w="460083"/>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1" name="文本框 10"/>
          <p:cNvSpPr txBox="1"/>
          <p:nvPr/>
        </p:nvSpPr>
        <p:spPr>
          <a:xfrm>
            <a:off x="5490073" y="2926495"/>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0</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nvGraphicFramePr>
        <p:xfrm>
          <a:off x="2228815" y="4871884"/>
          <a:ext cx="3680664" cy="472211"/>
        </p:xfrm>
        <a:graphic>
          <a:graphicData uri="http://schemas.openxmlformats.org/drawingml/2006/table">
            <a:tbl>
              <a:tblPr firstRow="1" bandRow="1">
                <a:tableStyleId>{5C22544A-7EE6-4342-B048-85BDC9FD1C3A}</a:tableStyleId>
              </a:tblPr>
              <a:tblGrid>
                <a:gridCol w="460083"/>
                <a:gridCol w="460083"/>
                <a:gridCol w="460083"/>
                <a:gridCol w="460083"/>
                <a:gridCol w="460083"/>
                <a:gridCol w="460083"/>
                <a:gridCol w="460083"/>
                <a:gridCol w="460083"/>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4" name="文本框 13"/>
          <p:cNvSpPr txBox="1"/>
          <p:nvPr/>
        </p:nvSpPr>
        <p:spPr>
          <a:xfrm>
            <a:off x="5490073" y="498329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1</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内容占位符 2"/>
          <p:cNvSpPr txBox="1"/>
          <p:nvPr/>
        </p:nvSpPr>
        <p:spPr>
          <a:xfrm>
            <a:off x="799439" y="2046626"/>
            <a:ext cx="10617200" cy="618328"/>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偶校验：保证</a:t>
            </a:r>
            <a:r>
              <a:rPr kumimoji="1" lang="en-US" altLang="zh-CN" dirty="0"/>
              <a:t>1</a:t>
            </a:r>
            <a:r>
              <a:rPr kumimoji="1" lang="zh-CN" altLang="en-US" dirty="0"/>
              <a:t>的个数为偶数个，例如：</a:t>
            </a:r>
            <a:endParaRPr kumimoji="1" lang="en-US" altLang="zh-CN" dirty="0"/>
          </a:p>
        </p:txBody>
      </p:sp>
      <p:sp>
        <p:nvSpPr>
          <p:cNvPr id="17" name="内容占位符 2"/>
          <p:cNvSpPr txBox="1"/>
          <p:nvPr/>
        </p:nvSpPr>
        <p:spPr>
          <a:xfrm>
            <a:off x="809767" y="4110483"/>
            <a:ext cx="10617200" cy="571710"/>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奇校验：保证</a:t>
            </a:r>
            <a:r>
              <a:rPr kumimoji="1" lang="en-US" altLang="zh-CN" dirty="0"/>
              <a:t>1</a:t>
            </a:r>
            <a:r>
              <a:rPr kumimoji="1" lang="zh-CN" altLang="en-US" dirty="0"/>
              <a:t>的个数为奇数个，例如：</a:t>
            </a:r>
            <a:endParaRPr kumimoji="1" lang="en-US" altLang="zh-CN" dirty="0"/>
          </a:p>
        </p:txBody>
      </p:sp>
      <p:grpSp>
        <p:nvGrpSpPr>
          <p:cNvPr id="31" name="组合 30"/>
          <p:cNvGrpSpPr/>
          <p:nvPr/>
        </p:nvGrpSpPr>
        <p:grpSpPr>
          <a:xfrm>
            <a:off x="2228814" y="3343933"/>
            <a:ext cx="4156163" cy="781137"/>
            <a:chOff x="2228814" y="3343933"/>
            <a:chExt cx="4156163" cy="781137"/>
          </a:xfrm>
        </p:grpSpPr>
        <p:sp>
          <p:nvSpPr>
            <p:cNvPr id="21" name="右大括号 20"/>
            <p:cNvSpPr/>
            <p:nvPr/>
          </p:nvSpPr>
          <p:spPr>
            <a:xfrm rot="16200000" flipH="1">
              <a:off x="3650532" y="192221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3126011" y="3724262"/>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endParaRPr lang="zh-CN" altLang="en-US" sz="2000" dirty="0">
                <a:latin typeface="微软雅黑" panose="020B0503020204020204" pitchFamily="34" charset="-122"/>
                <a:ea typeface="微软雅黑" panose="020B0503020204020204" pitchFamily="34" charset="-122"/>
              </a:endParaRPr>
            </a:p>
          </p:txBody>
        </p:sp>
        <p:cxnSp>
          <p:nvCxnSpPr>
            <p:cNvPr id="26" name="直接箭头连接符 25"/>
            <p:cNvCxnSpPr/>
            <p:nvPr/>
          </p:nvCxnSpPr>
          <p:spPr>
            <a:xfrm flipV="1">
              <a:off x="5660204" y="3343933"/>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935431" y="372496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endParaRPr lang="zh-CN" altLang="en-US" sz="2000" dirty="0">
                <a:latin typeface="微软雅黑" panose="020B0503020204020204" pitchFamily="34" charset="-122"/>
                <a:ea typeface="微软雅黑" panose="020B0503020204020204" pitchFamily="34" charset="-122"/>
              </a:endParaRPr>
            </a:p>
          </p:txBody>
        </p:sp>
      </p:grpSp>
      <p:grpSp>
        <p:nvGrpSpPr>
          <p:cNvPr id="32" name="组合 31"/>
          <p:cNvGrpSpPr/>
          <p:nvPr/>
        </p:nvGrpSpPr>
        <p:grpSpPr>
          <a:xfrm>
            <a:off x="2269758" y="5389018"/>
            <a:ext cx="4115219" cy="793532"/>
            <a:chOff x="2269758" y="5389018"/>
            <a:chExt cx="4115219" cy="793532"/>
          </a:xfrm>
        </p:grpSpPr>
        <p:sp>
          <p:nvSpPr>
            <p:cNvPr id="18" name="右大括号 17"/>
            <p:cNvSpPr/>
            <p:nvPr/>
          </p:nvSpPr>
          <p:spPr>
            <a:xfrm rot="16200000" flipH="1">
              <a:off x="3691476" y="398005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3166955" y="578244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endParaRPr lang="zh-CN" altLang="en-US" sz="2000" dirty="0">
                <a:latin typeface="微软雅黑" panose="020B0503020204020204" pitchFamily="34" charset="-122"/>
                <a:ea typeface="微软雅黑" panose="020B0503020204020204" pitchFamily="34" charset="-122"/>
              </a:endParaRPr>
            </a:p>
          </p:txBody>
        </p:sp>
        <p:cxnSp>
          <p:nvCxnSpPr>
            <p:cNvPr id="29" name="直接箭头连接符 28"/>
            <p:cNvCxnSpPr/>
            <p:nvPr/>
          </p:nvCxnSpPr>
          <p:spPr>
            <a:xfrm flipV="1">
              <a:off x="5660204" y="5389018"/>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935431" y="57700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endParaRPr lang="zh-CN" altLang="en-US" sz="2000" dirty="0">
                <a:latin typeface="微软雅黑" panose="020B0503020204020204" pitchFamily="34" charset="-122"/>
                <a:ea typeface="微软雅黑" panose="020B0503020204020204" pitchFamily="34" charset="-122"/>
              </a:endParaRPr>
            </a:p>
          </p:txBody>
        </p:sp>
      </p:grpSp>
      <p:sp>
        <p:nvSpPr>
          <p:cNvPr id="33" name="文本框 32"/>
          <p:cNvSpPr txBox="1"/>
          <p:nvPr/>
        </p:nvSpPr>
        <p:spPr>
          <a:xfrm>
            <a:off x="7707110" y="3311778"/>
            <a:ext cx="3844542" cy="1027333"/>
          </a:xfrm>
          <a:prstGeom prst="rect">
            <a:avLst/>
          </a:prstGeom>
          <a:noFill/>
          <a:ln>
            <a:solidFill>
              <a:srgbClr val="00B0F0"/>
            </a:solidFill>
          </a:ln>
        </p:spPr>
        <p:txBody>
          <a:bodyPr wrap="square" rtlCol="0" anchor="ctr">
            <a:spAutoFit/>
          </a:bodyPr>
          <a:lstStyle/>
          <a:p>
            <a:pPr algn="ctr">
              <a:lnSpc>
                <a:spcPts val="3800"/>
              </a:lnSpc>
            </a:pPr>
            <a:r>
              <a:rPr lang="zh-CN" altLang="en-US" sz="2400" dirty="0">
                <a:solidFill>
                  <a:srgbClr val="C00000"/>
                </a:solidFill>
              </a:rPr>
              <a:t>考虑二维奇偶校验，是否可以进行纠错？</a:t>
            </a:r>
            <a:endParaRPr lang="en-US" altLang="zh-CN" sz="24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1+#ppt_w/2"/>
                                          </p:val>
                                        </p:tav>
                                        <p:tav tm="100000">
                                          <p:val>
                                            <p:strVal val="#ppt_x"/>
                                          </p:val>
                                        </p:tav>
                                      </p:tavLst>
                                    </p:anim>
                                    <p:anim calcmode="lin" valueType="num">
                                      <p:cBhvr additive="base">
                                        <p:cTn id="3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circle(in)">
                                      <p:cBhvr>
                                        <p:cTn id="3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17" grpId="0"/>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961542" y="3669534"/>
            <a:ext cx="4306081" cy="2369880"/>
            <a:chOff x="2744714" y="3986470"/>
            <a:chExt cx="4306081" cy="2369880"/>
          </a:xfrm>
        </p:grpSpPr>
        <p:sp>
          <p:nvSpPr>
            <p:cNvPr id="7" name="Text Box 4"/>
            <p:cNvSpPr txBox="1">
              <a:spLocks noChangeArrowheads="1"/>
            </p:cNvSpPr>
            <p:nvPr/>
          </p:nvSpPr>
          <p:spPr bwMode="auto">
            <a:xfrm>
              <a:off x="2820914" y="3986470"/>
              <a:ext cx="4229881" cy="2369880"/>
            </a:xfrm>
            <a:prstGeom prst="rect">
              <a:avLst/>
            </a:prstGeom>
            <a:noFill/>
            <a:ln>
              <a:noFill/>
            </a:ln>
            <a:effectLst/>
          </p:spPr>
          <p:txBody>
            <a:bodyPr wrap="square">
              <a:spAutoFit/>
            </a:bodyPr>
            <a:lstStyle>
              <a:lvl1pPr>
                <a:defRPr sz="1600">
                  <a:solidFill>
                    <a:schemeClr val="tx1"/>
                  </a:solidFill>
                  <a:latin typeface="Tahoma" panose="020B0604030504040204" charset="0"/>
                  <a:ea typeface="MS PGothic" panose="020B0600070205080204" charset="-128"/>
                </a:defRPr>
              </a:lvl1pPr>
              <a:lvl2pPr marL="742950" indent="-285750">
                <a:defRPr sz="1600">
                  <a:solidFill>
                    <a:schemeClr val="tx1"/>
                  </a:solidFill>
                  <a:latin typeface="Tahoma" panose="020B0604030504040204" charset="0"/>
                  <a:ea typeface="MS PGothic" panose="020B0600070205080204" charset="-128"/>
                </a:defRPr>
              </a:lvl2pPr>
              <a:lvl3pPr marL="1143000" indent="-228600">
                <a:defRPr sz="1600">
                  <a:solidFill>
                    <a:schemeClr val="tx1"/>
                  </a:solidFill>
                  <a:latin typeface="Tahoma" panose="020B0604030504040204" charset="0"/>
                  <a:ea typeface="MS PGothic" panose="020B0600070205080204" charset="-128"/>
                </a:defRPr>
              </a:lvl3pPr>
              <a:lvl4pPr marL="1600200" indent="-228600">
                <a:defRPr sz="1600">
                  <a:solidFill>
                    <a:schemeClr val="tx1"/>
                  </a:solidFill>
                  <a:latin typeface="Tahoma" panose="020B0604030504040204" charset="0"/>
                  <a:ea typeface="MS PGothic" panose="020B0600070205080204" charset="-128"/>
                </a:defRPr>
              </a:lvl4pPr>
              <a:lvl5pPr marL="2057400" indent="-228600">
                <a:defRPr sz="1600">
                  <a:solidFill>
                    <a:schemeClr val="tx1"/>
                  </a:solidFill>
                  <a:latin typeface="Tahoma" panose="020B0604030504040204" charset="0"/>
                  <a:ea typeface="MS PGothic" panose="020B0600070205080204" charset="-128"/>
                </a:defRPr>
              </a:lvl5pPr>
              <a:lvl6pPr marL="25146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6pPr>
              <a:lvl7pPr marL="29718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7pPr>
              <a:lvl8pPr marL="34290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8pPr>
              <a:lvl9pPr marL="38862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endParaRPr lang="en-US" sz="2000" b="1" dirty="0">
                <a:latin typeface="微软雅黑" panose="020B0503020204020204" pitchFamily="34" charset="-122"/>
                <a:ea typeface="微软雅黑" panose="020B0503020204020204" pitchFamily="34" charset="-122"/>
              </a:endParaRP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endParaRPr lang="en-US" sz="2000" b="1" dirty="0">
                <a:latin typeface="微软雅黑" panose="020B0503020204020204" pitchFamily="34" charset="-122"/>
                <a:ea typeface="微软雅黑" panose="020B0503020204020204" pitchFamily="34" charset="-122"/>
              </a:endParaRP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1 0 1 1 1 0 1 1 1 0 1 1 1 1 0 0</a:t>
              </a: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8" name="Line 5"/>
            <p:cNvSpPr>
              <a:spLocks noChangeShapeType="1"/>
            </p:cNvSpPr>
            <p:nvPr/>
          </p:nvSpPr>
          <p:spPr bwMode="auto">
            <a:xfrm flipH="1">
              <a:off x="2744714" y="4813558"/>
              <a:ext cx="4206929" cy="0"/>
            </a:xfrm>
            <a:prstGeom prst="line">
              <a:avLst/>
            </a:prstGeom>
            <a:noFill/>
            <a:ln w="12700">
              <a:solidFill>
                <a:schemeClr val="tx1"/>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9" name="Oval 6"/>
            <p:cNvSpPr>
              <a:spLocks noChangeArrowheads="1"/>
            </p:cNvSpPr>
            <p:nvPr/>
          </p:nvSpPr>
          <p:spPr bwMode="auto">
            <a:xfrm>
              <a:off x="2820913" y="4989770"/>
              <a:ext cx="309415" cy="304800"/>
            </a:xfrm>
            <a:prstGeom prst="ellipse">
              <a:avLst/>
            </a:prstGeom>
            <a:noFill/>
            <a:ln w="9525">
              <a:solidFill>
                <a:srgbClr val="FF0000"/>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0" name="Line 10"/>
            <p:cNvSpPr>
              <a:spLocks noChangeShapeType="1"/>
            </p:cNvSpPr>
            <p:nvPr/>
          </p:nvSpPr>
          <p:spPr bwMode="auto">
            <a:xfrm flipH="1">
              <a:off x="2744714" y="5532695"/>
              <a:ext cx="4206929" cy="0"/>
            </a:xfrm>
            <a:prstGeom prst="line">
              <a:avLst/>
            </a:prstGeom>
            <a:noFill/>
            <a:ln w="12700">
              <a:solidFill>
                <a:schemeClr val="tx1"/>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1" name="Freeform 11"/>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464361" y="1974594"/>
            <a:ext cx="6042774" cy="1631216"/>
          </a:xfrm>
          <a:prstGeom prst="rect">
            <a:avLst/>
          </a:prstGeom>
          <a:ln>
            <a:solidFill>
              <a:schemeClr val="accent1"/>
            </a:solidFill>
          </a:ln>
        </p:spPr>
        <p:txBody>
          <a:bodyPr wrap="square">
            <a:spAutoFit/>
          </a:bodyPr>
          <a:lstStyle/>
          <a:p>
            <a:pPr algn="l"/>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发送方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0" i="0" dirty="0">
              <a:solidFill>
                <a:srgbClr val="000000"/>
              </a:solidFill>
              <a:effectLst/>
              <a:latin typeface="+mn-ea"/>
            </a:endParaRPr>
          </a:p>
          <a:p>
            <a:pPr marL="342900" indent="-342900" algn="l">
              <a:buFont typeface="Arial" panose="020B0604020202020204" pitchFamily="34" charset="0"/>
              <a:buChar char="•"/>
            </a:pPr>
            <a:r>
              <a:rPr lang="zh-CN" altLang="en-US" sz="2000" b="0" i="0" dirty="0">
                <a:solidFill>
                  <a:srgbClr val="000000"/>
                </a:solidFill>
                <a:effectLst/>
                <a:latin typeface="+mn-ea"/>
              </a:rPr>
              <a:t>对每</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进行二进制求和；如果和的高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不为</a:t>
            </a:r>
            <a:r>
              <a:rPr lang="en-US" altLang="zh-CN" sz="2000" b="0" i="0" dirty="0">
                <a:solidFill>
                  <a:srgbClr val="000000"/>
                </a:solidFill>
                <a:effectLst/>
                <a:latin typeface="+mn-ea"/>
              </a:rPr>
              <a:t>0</a:t>
            </a:r>
            <a:r>
              <a:rPr lang="zh-CN" altLang="en-US" sz="2000" b="0" i="0" dirty="0">
                <a:solidFill>
                  <a:srgbClr val="000000"/>
                </a:solidFill>
                <a:effectLst/>
                <a:latin typeface="+mn-ea"/>
              </a:rPr>
              <a:t>，则将和的高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和低</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反复相加，直到和的高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为</a:t>
            </a:r>
            <a:r>
              <a:rPr lang="en-US" altLang="zh-CN" sz="2000" b="0" i="0" dirty="0">
                <a:solidFill>
                  <a:srgbClr val="000000"/>
                </a:solidFill>
                <a:effectLst/>
                <a:latin typeface="+mn-ea"/>
              </a:rPr>
              <a:t>0</a:t>
            </a:r>
            <a:r>
              <a:rPr lang="zh-CN" altLang="en-US" sz="2000" b="0" i="0" dirty="0">
                <a:solidFill>
                  <a:srgbClr val="000000"/>
                </a:solidFill>
                <a:effectLst/>
                <a:latin typeface="+mn-ea"/>
              </a:rPr>
              <a:t>，从而获得一个</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的值；</a:t>
            </a:r>
            <a:endParaRPr lang="zh-CN" altLang="en-US" sz="2000" b="0" i="0" dirty="0">
              <a:solidFill>
                <a:srgbClr val="000000"/>
              </a:solidFill>
              <a:effectLst/>
              <a:latin typeface="+mn-ea"/>
            </a:endParaRPr>
          </a:p>
          <a:p>
            <a:pPr marL="342900" indent="-342900" algn="l">
              <a:buFont typeface="Arial" panose="020B0604020202020204" pitchFamily="34" charset="0"/>
              <a:buChar char="•"/>
            </a:pPr>
            <a:r>
              <a:rPr lang="zh-CN" altLang="en-US" sz="2000" b="0" i="0" dirty="0">
                <a:solidFill>
                  <a:srgbClr val="000000"/>
                </a:solidFill>
                <a:effectLst/>
                <a:latin typeface="+mn-ea"/>
              </a:rPr>
              <a:t>将该</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的值取反，存入校验和字段，一起发送</a:t>
            </a:r>
            <a:endParaRPr lang="zh-CN" altLang="en-US" sz="2000" b="0" i="0" dirty="0">
              <a:solidFill>
                <a:srgbClr val="000000"/>
              </a:solidFill>
              <a:effectLst/>
              <a:latin typeface="+mn-ea"/>
            </a:endParaRPr>
          </a:p>
        </p:txBody>
      </p:sp>
      <p:sp>
        <p:nvSpPr>
          <p:cNvPr id="13" name="矩形 12"/>
          <p:cNvSpPr/>
          <p:nvPr/>
        </p:nvSpPr>
        <p:spPr>
          <a:xfrm>
            <a:off x="6872231" y="2121989"/>
            <a:ext cx="3924300" cy="1323439"/>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接收方</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：进行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16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位二进制补码求和运算（包含校验和），结果非全</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，则检测到错误</a:t>
            </a:r>
            <a:endParaRPr lang="en-US" altLang="zh-CN" sz="2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226764" y="555970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endParaRPr lang="zh-CN" altLang="en-US" sz="22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26764" y="383704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endParaRPr lang="zh-CN" altLang="en-US" sz="2200" dirty="0">
              <a:solidFill>
                <a:schemeClr val="accent1">
                  <a:lumMod val="7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6490450" y="3693915"/>
            <a:ext cx="4306081" cy="2693045"/>
            <a:chOff x="2744714" y="3986470"/>
            <a:chExt cx="4306081" cy="2693045"/>
          </a:xfrm>
        </p:grpSpPr>
        <p:sp>
          <p:nvSpPr>
            <p:cNvPr id="17" name="Text Box 4"/>
            <p:cNvSpPr txBox="1">
              <a:spLocks noChangeArrowheads="1"/>
            </p:cNvSpPr>
            <p:nvPr/>
          </p:nvSpPr>
          <p:spPr bwMode="auto">
            <a:xfrm>
              <a:off x="2820914" y="3986470"/>
              <a:ext cx="4229881" cy="2693045"/>
            </a:xfrm>
            <a:prstGeom prst="rect">
              <a:avLst/>
            </a:prstGeom>
            <a:noFill/>
            <a:ln>
              <a:noFill/>
            </a:ln>
            <a:effectLst/>
          </p:spPr>
          <p:txBody>
            <a:bodyPr wrap="square">
              <a:spAutoFit/>
            </a:bodyPr>
            <a:lstStyle>
              <a:lvl1pPr>
                <a:defRPr sz="1600">
                  <a:solidFill>
                    <a:schemeClr val="tx1"/>
                  </a:solidFill>
                  <a:latin typeface="Tahoma" panose="020B0604030504040204" charset="0"/>
                  <a:ea typeface="MS PGothic" panose="020B0600070205080204" charset="-128"/>
                </a:defRPr>
              </a:lvl1pPr>
              <a:lvl2pPr marL="742950" indent="-285750">
                <a:defRPr sz="1600">
                  <a:solidFill>
                    <a:schemeClr val="tx1"/>
                  </a:solidFill>
                  <a:latin typeface="Tahoma" panose="020B0604030504040204" charset="0"/>
                  <a:ea typeface="MS PGothic" panose="020B0600070205080204" charset="-128"/>
                </a:defRPr>
              </a:lvl2pPr>
              <a:lvl3pPr marL="1143000" indent="-228600">
                <a:defRPr sz="1600">
                  <a:solidFill>
                    <a:schemeClr val="tx1"/>
                  </a:solidFill>
                  <a:latin typeface="Tahoma" panose="020B0604030504040204" charset="0"/>
                  <a:ea typeface="MS PGothic" panose="020B0600070205080204" charset="-128"/>
                </a:defRPr>
              </a:lvl3pPr>
              <a:lvl4pPr marL="1600200" indent="-228600">
                <a:defRPr sz="1600">
                  <a:solidFill>
                    <a:schemeClr val="tx1"/>
                  </a:solidFill>
                  <a:latin typeface="Tahoma" panose="020B0604030504040204" charset="0"/>
                  <a:ea typeface="MS PGothic" panose="020B0600070205080204" charset="-128"/>
                </a:defRPr>
              </a:lvl4pPr>
              <a:lvl5pPr marL="2057400" indent="-228600">
                <a:defRPr sz="1600">
                  <a:solidFill>
                    <a:schemeClr val="tx1"/>
                  </a:solidFill>
                  <a:latin typeface="Tahoma" panose="020B0604030504040204" charset="0"/>
                  <a:ea typeface="MS PGothic" panose="020B0600070205080204" charset="-128"/>
                </a:defRPr>
              </a:lvl5pPr>
              <a:lvl6pPr marL="25146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6pPr>
              <a:lvl7pPr marL="29718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7pPr>
              <a:lvl8pPr marL="34290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8pPr>
              <a:lvl9pPr marL="3886200" indent="-228600" algn="ctr" eaLnBrk="0" fontAlgn="base" hangingPunct="0">
                <a:spcBef>
                  <a:spcPct val="0"/>
                </a:spcBef>
                <a:spcAft>
                  <a:spcPct val="0"/>
                </a:spcAft>
                <a:defRPr sz="1600">
                  <a:solidFill>
                    <a:schemeClr val="tx1"/>
                  </a:solidFill>
                  <a:latin typeface="Tahoma" panose="020B0604030504040204" charset="0"/>
                  <a:ea typeface="MS PGothic" panose="020B0600070205080204" charset="-128"/>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endParaRPr lang="en-US" sz="2000" b="1" dirty="0">
                <a:latin typeface="微软雅黑" panose="020B0503020204020204" pitchFamily="34" charset="-122"/>
                <a:ea typeface="微软雅黑" panose="020B0503020204020204" pitchFamily="34" charset="-122"/>
              </a:endParaRP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endParaRPr lang="en-US" sz="2000" b="1" dirty="0">
                <a:latin typeface="微软雅黑" panose="020B0503020204020204" pitchFamily="34" charset="-122"/>
                <a:ea typeface="微软雅黑" panose="020B0503020204020204" pitchFamily="34" charset="-122"/>
              </a:endParaRPr>
            </a:p>
            <a:p>
              <a:pPr>
                <a:spcBef>
                  <a:spcPts val="1800"/>
                </a:spcBef>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altLang="zh-CN" sz="2400" b="1" dirty="0">
                <a:solidFill>
                  <a:srgbClr val="C00000"/>
                </a:solidFill>
                <a:latin typeface="微软雅黑" panose="020B0503020204020204" pitchFamily="34" charset="-122"/>
                <a:ea typeface="微软雅黑" panose="020B0503020204020204" pitchFamily="34" charset="-122"/>
              </a:endParaRPr>
            </a:p>
            <a:p>
              <a:pPr algn="l">
                <a:spcBef>
                  <a:spcPts val="1200"/>
                </a:spcBef>
                <a:defRPr/>
              </a:pPr>
              <a:r>
                <a:rPr lang="en-US" sz="2000" b="1" dirty="0">
                  <a:latin typeface="微软雅黑" panose="020B0503020204020204" pitchFamily="34" charset="-122"/>
                  <a:ea typeface="微软雅黑" panose="020B0503020204020204" pitchFamily="34" charset="-122"/>
                </a:rPr>
                <a:t>    </a:t>
              </a:r>
              <a:r>
                <a:rPr lang="en-US" sz="2000" b="1" dirty="0">
                  <a:solidFill>
                    <a:srgbClr val="6600FF"/>
                  </a:solidFill>
                  <a:latin typeface="微软雅黑" panose="020B0503020204020204" pitchFamily="34" charset="-122"/>
                  <a:ea typeface="微软雅黑" panose="020B0503020204020204" pitchFamily="34" charset="-122"/>
                </a:rPr>
                <a:t>1 1 1 1 1 1 1 1 1 1 1 1 1 1 1 1</a:t>
              </a:r>
              <a:endParaRPr lang="en-US" sz="2000" b="1" dirty="0">
                <a:solidFill>
                  <a:srgbClr val="6600FF"/>
                </a:solidFill>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18" name="Line 5"/>
            <p:cNvSpPr>
              <a:spLocks noChangeShapeType="1"/>
            </p:cNvSpPr>
            <p:nvPr/>
          </p:nvSpPr>
          <p:spPr bwMode="auto">
            <a:xfrm flipH="1">
              <a:off x="2744714" y="4813558"/>
              <a:ext cx="4206929" cy="0"/>
            </a:xfrm>
            <a:prstGeom prst="line">
              <a:avLst/>
            </a:prstGeom>
            <a:noFill/>
            <a:ln w="12700">
              <a:solidFill>
                <a:schemeClr val="tx1"/>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9" name="Oval 6"/>
            <p:cNvSpPr>
              <a:spLocks noChangeArrowheads="1"/>
            </p:cNvSpPr>
            <p:nvPr/>
          </p:nvSpPr>
          <p:spPr bwMode="auto">
            <a:xfrm>
              <a:off x="2820913" y="4989770"/>
              <a:ext cx="309415" cy="304800"/>
            </a:xfrm>
            <a:prstGeom prst="ellipse">
              <a:avLst/>
            </a:prstGeom>
            <a:noFill/>
            <a:ln w="9525">
              <a:solidFill>
                <a:srgbClr val="FF0000"/>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1" name="Freeform 11"/>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22" name="Line 5"/>
          <p:cNvSpPr>
            <a:spLocks noChangeShapeType="1"/>
          </p:cNvSpPr>
          <p:nvPr/>
        </p:nvSpPr>
        <p:spPr bwMode="auto">
          <a:xfrm flipH="1">
            <a:off x="6507135" y="5537667"/>
            <a:ext cx="4206929" cy="0"/>
          </a:xfrm>
          <a:prstGeom prst="line">
            <a:avLst/>
          </a:prstGeom>
          <a:noFill/>
          <a:ln w="12700">
            <a:solidFill>
              <a:schemeClr val="tx1"/>
            </a:solidFill>
            <a:round/>
            <a:headEnd type="none" w="sm" len="med"/>
          </a:ln>
          <a:effec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10714064" y="3866763"/>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endParaRPr lang="zh-CN" altLang="en-US" sz="22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10714064" y="5128814"/>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endParaRPr lang="zh-CN" altLang="en-US" sz="22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8" name="圆角矩形标注 27"/>
          <p:cNvSpPr/>
          <p:nvPr/>
        </p:nvSpPr>
        <p:spPr>
          <a:xfrm>
            <a:off x="5211573" y="6185705"/>
            <a:ext cx="1905320" cy="512642"/>
          </a:xfrm>
          <a:prstGeom prst="wedgeRoundRectCallout">
            <a:avLst>
              <a:gd name="adj1" fmla="val 56567"/>
              <a:gd name="adj2" fmla="val -9417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9" name="文本框 28"/>
          <p:cNvSpPr txBox="1"/>
          <p:nvPr/>
        </p:nvSpPr>
        <p:spPr>
          <a:xfrm>
            <a:off x="5211573" y="6227977"/>
            <a:ext cx="1905321" cy="430887"/>
          </a:xfrm>
          <a:prstGeom prst="rect">
            <a:avLst/>
          </a:prstGeom>
          <a:noFill/>
        </p:spPr>
        <p:txBody>
          <a:bodyPr wrap="square" rtlCol="0">
            <a:spAutoFit/>
          </a:bodyPr>
          <a:lstStyle/>
          <a:p>
            <a:pPr algn="ctr"/>
            <a:r>
              <a:rPr lang="zh-CN" altLang="en-US" sz="2200" dirty="0">
                <a:solidFill>
                  <a:srgbClr val="C00000"/>
                </a:solidFill>
                <a:latin typeface="微软雅黑" panose="020B0503020204020204" pitchFamily="34" charset="-122"/>
                <a:ea typeface="微软雅黑" panose="020B0503020204020204" pitchFamily="34" charset="-122"/>
              </a:rPr>
              <a:t>未检测到错误</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pic>
        <p:nvPicPr>
          <p:cNvPr id="20" name="Picture 19"/>
          <p:cNvPicPr>
            <a:picLocks noChangeAspect="1"/>
          </p:cNvPicPr>
          <p:nvPr/>
        </p:nvPicPr>
        <p:blipFill>
          <a:blip r:embed="rId1"/>
          <a:stretch>
            <a:fillRect/>
          </a:stretch>
        </p:blipFill>
        <p:spPr>
          <a:xfrm>
            <a:off x="0" y="2376016"/>
            <a:ext cx="6160367" cy="2782892"/>
          </a:xfrm>
          <a:prstGeom prst="rect">
            <a:avLst/>
          </a:prstGeom>
        </p:spPr>
      </p:pic>
      <p:pic>
        <p:nvPicPr>
          <p:cNvPr id="25" name="Picture 24"/>
          <p:cNvPicPr>
            <a:picLocks noChangeAspect="1"/>
          </p:cNvPicPr>
          <p:nvPr/>
        </p:nvPicPr>
        <p:blipFill>
          <a:blip r:embed="rId2"/>
          <a:stretch>
            <a:fillRect/>
          </a:stretch>
        </p:blipFill>
        <p:spPr>
          <a:xfrm>
            <a:off x="6664030" y="2640272"/>
            <a:ext cx="5266240" cy="251863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613611" y="1313922"/>
            <a:ext cx="7496682" cy="5051093"/>
          </a:xfrm>
        </p:spPr>
        <p:txBody>
          <a:bodyPr>
            <a:normAutofit lnSpcReduction="10000"/>
          </a:bodyPr>
          <a:lstStyle/>
          <a:p>
            <a:pPr>
              <a:lnSpc>
                <a:spcPct val="150000"/>
              </a:lnSpc>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校验码计算方法</a:t>
            </a:r>
            <a:endParaRPr kumimoji="1" lang="zh-CN"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设原始数据</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如果要产生</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校验码，事先选定一个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dirty="0">
                <a:solidFill>
                  <a:srgbClr val="C0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称为生成多项式，收发双方提前商定</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的最高位为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将原始数据</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baseline="30000"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后面添加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k+n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对该位模式做模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除，得到余数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位，不足</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位前面用</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补齐</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）即为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8451310" y="1842951"/>
            <a:ext cx="233289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原始数据</a:t>
            </a:r>
            <a:r>
              <a:rPr lang="en-US" altLang="zh-CN" sz="1400" b="1" dirty="0">
                <a:solidFill>
                  <a:schemeClr val="tx1"/>
                </a:solidFill>
                <a:latin typeface="微软雅黑" panose="020B0503020204020204" pitchFamily="34" charset="-122"/>
                <a:ea typeface="微软雅黑" panose="020B0503020204020204" pitchFamily="34" charset="-122"/>
              </a:rPr>
              <a:t>D</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10784200" y="1842951"/>
            <a:ext cx="1184033" cy="29969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pitchFamily="34" charset="-122"/>
                <a:ea typeface="微软雅黑" panose="020B0503020204020204" pitchFamily="34" charset="-122"/>
              </a:rPr>
              <a:t>CRC </a:t>
            </a:r>
            <a:r>
              <a:rPr lang="zh-CN" altLang="en-US" sz="1400" b="1" dirty="0">
                <a:solidFill>
                  <a:schemeClr val="tx1"/>
                </a:solidFill>
                <a:latin typeface="微软雅黑" panose="020B0503020204020204" pitchFamily="34" charset="-122"/>
                <a:ea typeface="微软雅黑" panose="020B0503020204020204" pitchFamily="34" charset="-122"/>
              </a:rPr>
              <a:t>校验码</a:t>
            </a:r>
            <a:endParaRPr lang="zh-CN" altLang="en-US" sz="1400" b="1" dirty="0">
              <a:latin typeface="微软雅黑" panose="020B0503020204020204" pitchFamily="34" charset="-122"/>
              <a:ea typeface="微软雅黑" panose="020B0503020204020204" pitchFamily="34" charset="-122"/>
            </a:endParaRPr>
          </a:p>
        </p:txBody>
      </p:sp>
      <p:sp>
        <p:nvSpPr>
          <p:cNvPr id="14" name="矩形 13"/>
          <p:cNvSpPr/>
          <p:nvPr/>
        </p:nvSpPr>
        <p:spPr>
          <a:xfrm>
            <a:off x="8451310" y="2769075"/>
            <a:ext cx="351692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发送数据</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9350241" y="1568241"/>
            <a:ext cx="476413" cy="276999"/>
          </a:xfrm>
          <a:prstGeom prst="rect">
            <a:avLst/>
          </a:prstGeom>
        </p:spPr>
        <p:txBody>
          <a:bodyPr wrap="none">
            <a:spAutoFit/>
          </a:bodyPr>
          <a:lstStyle/>
          <a:p>
            <a:pPr algn="ctr"/>
            <a:r>
              <a:rPr lang="en-US" altLang="zh-CN" sz="1200" b="1" i="1" dirty="0">
                <a:latin typeface="微软雅黑" panose="020B0503020204020204" pitchFamily="34" charset="-122"/>
                <a:ea typeface="微软雅黑" panose="020B0503020204020204" pitchFamily="34" charset="-122"/>
              </a:rPr>
              <a:t>k</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位</a:t>
            </a:r>
            <a:endParaRPr lang="zh-CN" altLang="en-US" sz="1200" b="1" dirty="0">
              <a:latin typeface="微软雅黑" panose="020B0503020204020204" pitchFamily="34" charset="-122"/>
              <a:ea typeface="微软雅黑" panose="020B0503020204020204" pitchFamily="34" charset="-122"/>
            </a:endParaRPr>
          </a:p>
        </p:txBody>
      </p:sp>
      <p:sp>
        <p:nvSpPr>
          <p:cNvPr id="16" name="矩形 15"/>
          <p:cNvSpPr/>
          <p:nvPr/>
        </p:nvSpPr>
        <p:spPr>
          <a:xfrm>
            <a:off x="11092970" y="1568241"/>
            <a:ext cx="484428" cy="276999"/>
          </a:xfrm>
          <a:prstGeom prst="rect">
            <a:avLst/>
          </a:prstGeom>
        </p:spPr>
        <p:txBody>
          <a:bodyPr wrap="none">
            <a:spAutoFit/>
          </a:bodyPr>
          <a:lstStyle/>
          <a:p>
            <a:pPr algn="ctr"/>
            <a:r>
              <a:rPr lang="en-US" altLang="zh-CN" sz="1200" b="1" i="1" dirty="0">
                <a:latin typeface="微软雅黑" panose="020B0503020204020204" pitchFamily="34" charset="-122"/>
                <a:ea typeface="微软雅黑" panose="020B0503020204020204" pitchFamily="34" charset="-122"/>
              </a:rPr>
              <a:t>n</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位</a:t>
            </a:r>
            <a:endParaRPr lang="zh-CN" altLang="en-US" sz="1200" b="1" dirty="0">
              <a:latin typeface="微软雅黑" panose="020B0503020204020204" pitchFamily="34" charset="-122"/>
              <a:ea typeface="微软雅黑" panose="020B0503020204020204" pitchFamily="34" charset="-122"/>
            </a:endParaRPr>
          </a:p>
        </p:txBody>
      </p:sp>
      <p:sp>
        <p:nvSpPr>
          <p:cNvPr id="17" name="下箭头 16"/>
          <p:cNvSpPr/>
          <p:nvPr/>
        </p:nvSpPr>
        <p:spPr>
          <a:xfrm>
            <a:off x="10033924" y="2248159"/>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824364" y="3067961"/>
            <a:ext cx="785793" cy="276999"/>
          </a:xfrm>
          <a:prstGeom prst="rect">
            <a:avLst/>
          </a:prstGeom>
        </p:spPr>
        <p:txBody>
          <a:bodyPr wrap="none">
            <a:spAutoFit/>
          </a:bodyPr>
          <a:lstStyle/>
          <a:p>
            <a:pPr algn="ctr"/>
            <a:r>
              <a:rPr lang="en-US" altLang="zh-CN" sz="1200" b="1" i="1" dirty="0">
                <a:latin typeface="微软雅黑" panose="020B0503020204020204" pitchFamily="34" charset="-122"/>
                <a:ea typeface="微软雅黑" panose="020B0503020204020204" pitchFamily="34" charset="-122"/>
              </a:rPr>
              <a:t>k</a:t>
            </a:r>
            <a:r>
              <a:rPr lang="en-US" altLang="zh-CN" sz="1200" b="1" dirty="0">
                <a:latin typeface="微软雅黑" panose="020B0503020204020204" pitchFamily="34" charset="-122"/>
                <a:ea typeface="微软雅黑" panose="020B0503020204020204" pitchFamily="34" charset="-122"/>
              </a:rPr>
              <a:t> + </a:t>
            </a:r>
            <a:r>
              <a:rPr lang="en-US" altLang="zh-CN" sz="1200" b="1" i="1" dirty="0">
                <a:latin typeface="微软雅黑" panose="020B0503020204020204" pitchFamily="34" charset="-122"/>
                <a:ea typeface="微软雅黑" panose="020B0503020204020204" pitchFamily="34" charset="-122"/>
              </a:rPr>
              <a:t>n</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位</a:t>
            </a:r>
            <a:endParaRPr lang="zh-CN" altLang="en-US" sz="12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10784202" y="2769075"/>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下箭头 17"/>
          <p:cNvSpPr/>
          <p:nvPr/>
        </p:nvSpPr>
        <p:spPr>
          <a:xfrm>
            <a:off x="10033924" y="3391851"/>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58453" y="4425743"/>
            <a:ext cx="3168502" cy="826637"/>
          </a:xfrm>
          <a:prstGeom prst="rect">
            <a:avLst/>
          </a:prstGeom>
          <a:solidFill>
            <a:schemeClr val="bg1"/>
          </a:solidFill>
          <a:ln>
            <a:solidFill>
              <a:srgbClr val="00B0F0"/>
            </a:solidFill>
          </a:ln>
        </p:spPr>
        <p:txBody>
          <a:bodyPr wrap="square">
            <a:spAutoFit/>
          </a:bodyPr>
          <a:lstStyle/>
          <a:p>
            <a:pPr>
              <a:lnSpc>
                <a:spcPts val="3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校验能力：能检测出少于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位的突发错误</a:t>
            </a:r>
            <a:endParaRPr lang="zh-CN" altLang="en-US" sz="2000" dirty="0">
              <a:latin typeface="微软雅黑" panose="020B0503020204020204" pitchFamily="34" charset="-122"/>
              <a:ea typeface="微软雅黑" panose="020B0503020204020204" pitchFamily="34" charset="-122"/>
            </a:endParaRPr>
          </a:p>
        </p:txBody>
      </p:sp>
      <p:sp>
        <p:nvSpPr>
          <p:cNvPr id="22" name="矩形 21"/>
          <p:cNvSpPr/>
          <p:nvPr/>
        </p:nvSpPr>
        <p:spPr>
          <a:xfrm>
            <a:off x="9049254" y="5707517"/>
            <a:ext cx="2510244" cy="477054"/>
          </a:xfrm>
          <a:prstGeom prst="rect">
            <a:avLst/>
          </a:prstGeom>
          <a:solidFill>
            <a:schemeClr val="accent5">
              <a:lumMod val="20000"/>
              <a:lumOff val="8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接收端如何计算？</a:t>
            </a:r>
            <a:endParaRPr lang="zh-CN" altLang="en-US" sz="2000" b="1" dirty="0">
              <a:solidFill>
                <a:srgbClr val="C00000"/>
              </a:solidFill>
              <a:latin typeface="黑体" panose="02010609060101010101" pitchFamily="49" charset="-122"/>
              <a:ea typeface="黑体" panose="02010609060101010101" pitchFamily="49" charset="-122"/>
            </a:endParaRPr>
          </a:p>
        </p:txBody>
      </p:sp>
      <p:sp>
        <p:nvSpPr>
          <p:cNvPr id="23"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383632"/>
            <a:ext cx="6395814" cy="4362969"/>
          </a:xfrm>
        </p:spPr>
        <p:txBody>
          <a:bodyPr>
            <a:normAutofit/>
          </a:bodyPr>
          <a:lstStyle/>
          <a:p>
            <a:pPr>
              <a:lnSpc>
                <a:spcPts val="3600"/>
              </a:lnSpc>
              <a:spcBef>
                <a:spcPts val="1200"/>
              </a:spcBef>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校验码计算示例</a:t>
            </a:r>
            <a:endParaRPr kumimoji="1" lang="en-US" altLang="zh-CN" dirty="0">
              <a:latin typeface="微软雅黑" panose="020B0503020204020204" pitchFamily="34" charset="-122"/>
              <a:ea typeface="微软雅黑" panose="020B0503020204020204" pitchFamily="34" charset="-122"/>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 = </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endPar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 5</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 110101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+ 1</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 = 01110</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实际传输数据：</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01110</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24" name="Group 46"/>
          <p:cNvGrpSpPr/>
          <p:nvPr/>
        </p:nvGrpSpPr>
        <p:grpSpPr bwMode="auto">
          <a:xfrm>
            <a:off x="5389340" y="1423838"/>
            <a:ext cx="6742112" cy="4359275"/>
            <a:chOff x="720" y="1281"/>
            <a:chExt cx="4247" cy="2746"/>
          </a:xfrm>
        </p:grpSpPr>
        <p:sp>
          <p:nvSpPr>
            <p:cNvPr id="25" name="Text Box 25"/>
            <p:cNvSpPr txBox="1">
              <a:spLocks noChangeArrowheads="1"/>
            </p:cNvSpPr>
            <p:nvPr/>
          </p:nvSpPr>
          <p:spPr bwMode="auto">
            <a:xfrm>
              <a:off x="720" y="1281"/>
              <a:ext cx="4247" cy="2746"/>
            </a:xfrm>
            <a:prstGeom prst="rect">
              <a:avLst/>
            </a:prstGeom>
            <a:noFill/>
            <a:ln w="9525">
              <a:noFill/>
              <a:miter lim="800000"/>
            </a:ln>
          </p:spPr>
          <p:txBody>
            <a:bodyPr>
              <a:spAutoFit/>
            </a:bodyPr>
            <a:lstStyle/>
            <a:p>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                1101010110</a:t>
              </a:r>
              <a:endParaRPr lang="en-US" altLang="zh-CN" sz="2000" dirty="0">
                <a:latin typeface="Courier New" panose="02070309020205020404" pitchFamily="49" charset="0"/>
                <a:ea typeface="黑体" panose="02010609060101010101" pitchFamily="49" charset="-122"/>
              </a:endParaRPr>
            </a:p>
            <a:p>
              <a:r>
                <a:rPr lang="zh-CN" altLang="zh-CN" sz="2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 </a:t>
              </a:r>
              <a:r>
                <a:rPr lang="en-US" altLang="zh-CN" dirty="0">
                  <a:latin typeface="Courier New" panose="02070309020205020404" pitchFamily="49" charset="0"/>
                  <a:ea typeface="黑体" panose="02010609060101010101" pitchFamily="49" charset="-122"/>
                </a:rPr>
                <a:t>    </a:t>
              </a:r>
              <a:r>
                <a:rPr lang="en-US" altLang="zh-CN" sz="2000" i="1" dirty="0">
                  <a:latin typeface="Courier New" panose="02070309020205020404" pitchFamily="49" charset="0"/>
                  <a:ea typeface="黑体" panose="02010609060101010101" pitchFamily="49" charset="-122"/>
                </a:rPr>
                <a:t>G </a:t>
              </a:r>
              <a:r>
                <a:rPr lang="en-US" altLang="zh-CN" sz="2000" dirty="0">
                  <a:latin typeface="Courier New" panose="02070309020205020404" pitchFamily="49" charset="0"/>
                  <a:ea typeface="黑体" panose="02010609060101010101" pitchFamily="49" charset="-122"/>
                </a:rPr>
                <a:t>→</a:t>
              </a:r>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110101 1010001101</a:t>
              </a:r>
              <a:r>
                <a:rPr lang="en-US" altLang="zh-CN" sz="2000" b="1" dirty="0">
                  <a:solidFill>
                    <a:srgbClr val="00B050"/>
                  </a:solidFill>
                  <a:latin typeface="Courier New" panose="02070309020205020404" pitchFamily="49" charset="0"/>
                  <a:ea typeface="黑体" panose="02010609060101010101" pitchFamily="49" charset="-122"/>
                </a:rPr>
                <a:t>00000</a:t>
              </a:r>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a:t>
              </a:r>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2</a:t>
              </a:r>
              <a:r>
                <a:rPr lang="en-US" altLang="zh-CN" sz="2000" i="1" baseline="30000" dirty="0">
                  <a:latin typeface="Courier New" panose="02070309020205020404" pitchFamily="49" charset="0"/>
                  <a:ea typeface="黑体" panose="02010609060101010101" pitchFamily="49" charset="-122"/>
                </a:rPr>
                <a:t>n</a:t>
              </a:r>
              <a:r>
                <a:rPr lang="en-US" altLang="zh-CN" sz="2000" i="1" dirty="0">
                  <a:latin typeface="Courier New" panose="02070309020205020404" pitchFamily="49" charset="0"/>
                  <a:ea typeface="黑体" panose="02010609060101010101" pitchFamily="49" charset="-122"/>
                </a:rPr>
                <a:t>D</a:t>
              </a:r>
              <a:endParaRPr lang="en-US" altLang="zh-CN" sz="2000" dirty="0">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 110101</a:t>
              </a:r>
              <a:endParaRPr lang="en-US" altLang="zh-CN" sz="2000" dirty="0">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111011</a:t>
              </a:r>
              <a:r>
                <a:rPr lang="en-US" altLang="zh-CN" sz="1000" dirty="0">
                  <a:latin typeface="Courier New" panose="02070309020205020404" pitchFamily="49" charset="0"/>
                  <a:ea typeface="黑体" panose="02010609060101010101" pitchFamily="49" charset="-122"/>
                </a:rPr>
                <a:t> </a:t>
              </a:r>
              <a:endParaRPr lang="en-US" altLang="zh-CN" sz="2000" dirty="0">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a:t>
              </a:r>
              <a:endParaRPr lang="en-US" altLang="zh-CN" sz="2000" dirty="0">
                <a:latin typeface="Courier New" panose="02070309020205020404" pitchFamily="49" charset="0"/>
                <a:ea typeface="黑体" panose="02010609060101010101" pitchFamily="49" charset="-122"/>
              </a:endParaRPr>
            </a:p>
            <a:p>
              <a:r>
                <a:rPr lang="en-US" altLang="zh-CN" sz="10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111010</a:t>
              </a:r>
              <a:endParaRPr lang="en-US" altLang="zh-CN" sz="2000" dirty="0">
                <a:latin typeface="Courier New" panose="02070309020205020404" pitchFamily="49" charset="0"/>
                <a:ea typeface="黑体" panose="02010609060101010101" pitchFamily="49" charset="-122"/>
              </a:endParaRPr>
            </a:p>
            <a:p>
              <a:r>
                <a:rPr lang="en-US" altLang="zh-CN" sz="10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a:t>
              </a:r>
              <a:endParaRPr lang="en-US" altLang="zh-CN" sz="2000" dirty="0">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11111</a:t>
              </a:r>
              <a:r>
                <a:rPr lang="en-US" altLang="zh-CN" sz="2000" b="1" dirty="0">
                  <a:solidFill>
                    <a:srgbClr val="00B050"/>
                  </a:solidFill>
                  <a:latin typeface="Courier New" panose="02070309020205020404" pitchFamily="49" charset="0"/>
                  <a:ea typeface="黑体" panose="02010609060101010101" pitchFamily="49" charset="-122"/>
                </a:rPr>
                <a:t>0</a:t>
              </a:r>
              <a:endParaRPr lang="en-US" altLang="zh-CN" sz="2000" b="1" dirty="0">
                <a:solidFill>
                  <a:srgbClr val="00B050"/>
                </a:solidFill>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a:t>
              </a:r>
              <a:endParaRPr lang="en-US" altLang="zh-CN" sz="2000" dirty="0">
                <a:latin typeface="Courier New" panose="02070309020205020404" pitchFamily="49" charset="0"/>
                <a:ea typeface="黑体" panose="02010609060101010101" pitchFamily="49" charset="-122"/>
              </a:endParaRPr>
            </a:p>
            <a:p>
              <a:r>
                <a:rPr lang="en-US" altLang="zh-CN" sz="1000" dirty="0">
                  <a:latin typeface="Courier New" panose="02070309020205020404" pitchFamily="49" charset="0"/>
                  <a:ea typeface="黑体" panose="02010609060101010101" pitchFamily="49" charset="-122"/>
                </a:rPr>
                <a:t> </a:t>
              </a:r>
              <a:r>
                <a:rPr lang="en-US" altLang="zh-CN" sz="9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1011</a:t>
              </a:r>
              <a:r>
                <a:rPr lang="en-US" altLang="zh-CN" sz="2000" b="1" dirty="0">
                  <a:solidFill>
                    <a:srgbClr val="00B050"/>
                  </a:solidFill>
                  <a:latin typeface="Courier New" panose="02070309020205020404" pitchFamily="49" charset="0"/>
                  <a:ea typeface="黑体" panose="02010609060101010101" pitchFamily="49" charset="-122"/>
                </a:rPr>
                <a:t>00</a:t>
              </a:r>
              <a:endParaRPr lang="en-US" altLang="zh-CN" sz="2000" b="1" dirty="0">
                <a:solidFill>
                  <a:srgbClr val="00B050"/>
                </a:solidFill>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9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9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a:t>
              </a:r>
              <a:endParaRPr lang="en-US" altLang="zh-CN" sz="2000" dirty="0">
                <a:latin typeface="Courier New" panose="02070309020205020404" pitchFamily="49" charset="0"/>
                <a:ea typeface="黑体" panose="02010609060101010101" pitchFamily="49" charset="-122"/>
              </a:endParaRPr>
            </a:p>
            <a:p>
              <a:r>
                <a:rPr lang="en-US" altLang="zh-CN" sz="800" dirty="0">
                  <a:latin typeface="Courier New" panose="02070309020205020404" pitchFamily="49" charset="0"/>
                  <a:ea typeface="黑体" panose="02010609060101010101" pitchFamily="49" charset="-122"/>
                </a:rPr>
                <a:t>   </a:t>
              </a:r>
              <a:r>
                <a:rPr lang="en-US" altLang="zh-CN" sz="9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11001</a:t>
              </a:r>
              <a:r>
                <a:rPr lang="en-US" altLang="zh-CN" sz="2000" b="1" dirty="0">
                  <a:solidFill>
                    <a:srgbClr val="00B050"/>
                  </a:solidFill>
                  <a:latin typeface="Courier New" panose="02070309020205020404" pitchFamily="49" charset="0"/>
                  <a:ea typeface="黑体" panose="02010609060101010101" pitchFamily="49" charset="-122"/>
                </a:rPr>
                <a:t>0</a:t>
              </a:r>
              <a:endParaRPr lang="en-US" altLang="zh-CN" sz="2000" b="1" dirty="0">
                <a:solidFill>
                  <a:srgbClr val="00B050"/>
                </a:solidFill>
                <a:latin typeface="Courier New" panose="02070309020205020404" pitchFamily="49" charset="0"/>
                <a:ea typeface="黑体" panose="02010609060101010101" pitchFamily="49" charset="-122"/>
              </a:endParaRPr>
            </a:p>
            <a:p>
              <a:r>
                <a:rPr lang="en-US" altLang="zh-CN" sz="9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110101</a:t>
              </a:r>
              <a:endParaRPr lang="en-US" altLang="zh-CN" sz="2000" dirty="0">
                <a:latin typeface="Courier New" panose="02070309020205020404" pitchFamily="49" charset="0"/>
                <a:ea typeface="黑体" panose="02010609060101010101" pitchFamily="49" charset="-122"/>
              </a:endParaRPr>
            </a:p>
            <a:p>
              <a:r>
                <a:rPr lang="en-US" altLang="zh-CN" sz="1000" dirty="0">
                  <a:latin typeface="Courier New" panose="02070309020205020404" pitchFamily="49" charset="0"/>
                  <a:ea typeface="黑体" panose="02010609060101010101" pitchFamily="49" charset="-122"/>
                </a:rPr>
                <a:t> </a:t>
              </a:r>
              <a:r>
                <a:rPr lang="en-US" altLang="zh-CN" sz="900" dirty="0">
                  <a:latin typeface="Courier New" panose="02070309020205020404" pitchFamily="49" charset="0"/>
                  <a:ea typeface="黑体" panose="02010609060101010101" pitchFamily="49" charset="-122"/>
                </a:rPr>
                <a:t>                                </a:t>
              </a:r>
              <a:r>
                <a:rPr lang="en-US" altLang="zh-CN" sz="8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0111</a:t>
              </a:r>
              <a:r>
                <a:rPr lang="en-US" altLang="zh-CN" sz="2000" b="1" dirty="0">
                  <a:solidFill>
                    <a:srgbClr val="00B050"/>
                  </a:solidFill>
                  <a:latin typeface="Courier New" panose="02070309020205020404" pitchFamily="49" charset="0"/>
                  <a:ea typeface="黑体" panose="02010609060101010101" pitchFamily="49" charset="-122"/>
                </a:rPr>
                <a:t>0</a:t>
              </a:r>
              <a:r>
                <a:rPr lang="en-US" altLang="zh-CN" sz="1000" dirty="0">
                  <a:latin typeface="Courier New" panose="02070309020205020404" pitchFamily="49" charset="0"/>
                  <a:ea typeface="黑体" panose="02010609060101010101" pitchFamily="49" charset="-122"/>
                </a:rPr>
                <a:t> </a:t>
              </a:r>
              <a:r>
                <a:rPr lang="en-US" altLang="zh-CN" sz="2000" dirty="0">
                  <a:latin typeface="Courier New" panose="02070309020205020404" pitchFamily="49" charset="0"/>
                  <a:ea typeface="黑体" panose="02010609060101010101" pitchFamily="49" charset="-122"/>
                </a:rPr>
                <a:t>←</a:t>
              </a:r>
              <a:r>
                <a:rPr lang="en-US" altLang="zh-CN" sz="1000" dirty="0">
                  <a:latin typeface="Courier New" panose="02070309020205020404" pitchFamily="49" charset="0"/>
                  <a:ea typeface="黑体" panose="02010609060101010101" pitchFamily="49" charset="-122"/>
                </a:rPr>
                <a:t> </a:t>
              </a:r>
              <a:r>
                <a:rPr lang="en-US" altLang="zh-CN" sz="2000" i="1" dirty="0">
                  <a:latin typeface="Courier New" panose="02070309020205020404" pitchFamily="49" charset="0"/>
                  <a:ea typeface="黑体" panose="02010609060101010101" pitchFamily="49" charset="-122"/>
                </a:rPr>
                <a:t>R</a:t>
              </a:r>
              <a:endParaRPr lang="en-US" altLang="zh-CN" sz="2000" dirty="0">
                <a:latin typeface="Courier New" panose="02070309020205020404" pitchFamily="49" charset="0"/>
                <a:ea typeface="黑体" panose="02010609060101010101" pitchFamily="49" charset="-122"/>
              </a:endParaRPr>
            </a:p>
          </p:txBody>
        </p:sp>
        <p:sp>
          <p:nvSpPr>
            <p:cNvPr id="26" name="Freeform 26"/>
            <p:cNvSpPr/>
            <p:nvPr/>
          </p:nvSpPr>
          <p:spPr bwMode="auto">
            <a:xfrm>
              <a:off x="2274" y="1480"/>
              <a:ext cx="1513" cy="168"/>
            </a:xfrm>
            <a:custGeom>
              <a:avLst/>
              <a:gdLst>
                <a:gd name="T0" fmla="*/ 0 w 1332"/>
                <a:gd name="T1" fmla="*/ 684 h 156"/>
                <a:gd name="T2" fmla="*/ 0 w 1332"/>
                <a:gd name="T3" fmla="*/ 0 h 156"/>
                <a:gd name="T4" fmla="*/ 17033 w 1332"/>
                <a:gd name="T5" fmla="*/ 1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rgbClr val="333399"/>
              </a:solidFill>
              <a:round/>
            </a:ln>
          </p:spPr>
          <p:txBody>
            <a:bodyPr wrap="none" anchor="ctr"/>
            <a:lstStyle/>
            <a:p>
              <a:endParaRPr lang="zh-CN" altLang="en-US"/>
            </a:p>
          </p:txBody>
        </p:sp>
        <p:sp>
          <p:nvSpPr>
            <p:cNvPr id="27" name="Freeform 27"/>
            <p:cNvSpPr/>
            <p:nvPr/>
          </p:nvSpPr>
          <p:spPr bwMode="auto">
            <a:xfrm>
              <a:off x="2944" y="1679"/>
              <a:ext cx="3" cy="237"/>
            </a:xfrm>
            <a:custGeom>
              <a:avLst/>
              <a:gdLst>
                <a:gd name="T0" fmla="*/ 0 w 3"/>
                <a:gd name="T1" fmla="*/ 0 h 237"/>
                <a:gd name="T2" fmla="*/ 3 w 3"/>
                <a:gd name="T3" fmla="*/ 237 h 237"/>
                <a:gd name="T4" fmla="*/ 0 60000 65536"/>
                <a:gd name="T5" fmla="*/ 0 60000 65536"/>
                <a:gd name="T6" fmla="*/ 0 w 3"/>
                <a:gd name="T7" fmla="*/ 0 h 237"/>
                <a:gd name="T8" fmla="*/ 3 w 3"/>
                <a:gd name="T9" fmla="*/ 237 h 237"/>
              </a:gdLst>
              <a:ahLst/>
              <a:cxnLst>
                <a:cxn ang="T4">
                  <a:pos x="T0" y="T1"/>
                </a:cxn>
                <a:cxn ang="T5">
                  <a:pos x="T2" y="T3"/>
                </a:cxn>
              </a:cxnLst>
              <a:rect l="T6" t="T7" r="T8" b="T9"/>
              <a:pathLst>
                <a:path w="3" h="237">
                  <a:moveTo>
                    <a:pt x="0" y="0"/>
                  </a:moveTo>
                  <a:lnTo>
                    <a:pt x="3" y="237"/>
                  </a:lnTo>
                </a:path>
              </a:pathLst>
            </a:custGeom>
            <a:noFill/>
            <a:ln w="19050">
              <a:solidFill>
                <a:srgbClr val="FF0000"/>
              </a:solidFill>
              <a:round/>
              <a:tailEnd type="triangle" w="sm" len="med"/>
            </a:ln>
          </p:spPr>
          <p:txBody>
            <a:bodyPr/>
            <a:lstStyle/>
            <a:p>
              <a:endParaRPr lang="zh-CN" altLang="en-US"/>
            </a:p>
          </p:txBody>
        </p:sp>
        <p:sp>
          <p:nvSpPr>
            <p:cNvPr id="28" name="Freeform 28"/>
            <p:cNvSpPr/>
            <p:nvPr/>
          </p:nvSpPr>
          <p:spPr bwMode="auto">
            <a:xfrm>
              <a:off x="3040" y="1679"/>
              <a:ext cx="1" cy="576"/>
            </a:xfrm>
            <a:custGeom>
              <a:avLst/>
              <a:gdLst>
                <a:gd name="T0" fmla="*/ 0 w 1"/>
                <a:gd name="T1" fmla="*/ 0 h 576"/>
                <a:gd name="T2" fmla="*/ 0 w 1"/>
                <a:gd name="T3" fmla="*/ 576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noFill/>
            <a:ln w="28575">
              <a:solidFill>
                <a:srgbClr val="FF0000"/>
              </a:solidFill>
              <a:round/>
              <a:tailEnd type="triangle" w="sm" len="med"/>
            </a:ln>
          </p:spPr>
          <p:txBody>
            <a:bodyPr/>
            <a:lstStyle/>
            <a:p>
              <a:endParaRPr lang="zh-CN" altLang="en-US"/>
            </a:p>
          </p:txBody>
        </p:sp>
        <p:sp>
          <p:nvSpPr>
            <p:cNvPr id="29" name="Freeform 29"/>
            <p:cNvSpPr/>
            <p:nvPr/>
          </p:nvSpPr>
          <p:spPr bwMode="auto">
            <a:xfrm>
              <a:off x="3136" y="1679"/>
              <a:ext cx="8" cy="592"/>
            </a:xfrm>
            <a:custGeom>
              <a:avLst/>
              <a:gdLst>
                <a:gd name="T0" fmla="*/ 0 w 8"/>
                <a:gd name="T1" fmla="*/ 0 h 592"/>
                <a:gd name="T2" fmla="*/ 8 w 8"/>
                <a:gd name="T3" fmla="*/ 592 h 592"/>
                <a:gd name="T4" fmla="*/ 0 60000 65536"/>
                <a:gd name="T5" fmla="*/ 0 60000 65536"/>
                <a:gd name="T6" fmla="*/ 0 w 8"/>
                <a:gd name="T7" fmla="*/ 0 h 592"/>
                <a:gd name="T8" fmla="*/ 8 w 8"/>
                <a:gd name="T9" fmla="*/ 592 h 592"/>
              </a:gdLst>
              <a:ahLst/>
              <a:cxnLst>
                <a:cxn ang="T4">
                  <a:pos x="T0" y="T1"/>
                </a:cxn>
                <a:cxn ang="T5">
                  <a:pos x="T2" y="T3"/>
                </a:cxn>
              </a:cxnLst>
              <a:rect l="T6" t="T7" r="T8" b="T9"/>
              <a:pathLst>
                <a:path w="8" h="592">
                  <a:moveTo>
                    <a:pt x="0" y="0"/>
                  </a:moveTo>
                  <a:lnTo>
                    <a:pt x="8" y="592"/>
                  </a:lnTo>
                </a:path>
              </a:pathLst>
            </a:custGeom>
            <a:noFill/>
            <a:ln w="28575">
              <a:solidFill>
                <a:srgbClr val="FF0000"/>
              </a:solidFill>
              <a:round/>
              <a:tailEnd type="triangle" w="sm" len="med"/>
            </a:ln>
          </p:spPr>
          <p:txBody>
            <a:bodyPr/>
            <a:lstStyle/>
            <a:p>
              <a:endParaRPr lang="zh-CN" altLang="en-US"/>
            </a:p>
          </p:txBody>
        </p:sp>
        <p:sp>
          <p:nvSpPr>
            <p:cNvPr id="30" name="Freeform 30"/>
            <p:cNvSpPr/>
            <p:nvPr/>
          </p:nvSpPr>
          <p:spPr bwMode="auto">
            <a:xfrm>
              <a:off x="3224" y="1679"/>
              <a:ext cx="8" cy="992"/>
            </a:xfrm>
            <a:custGeom>
              <a:avLst/>
              <a:gdLst>
                <a:gd name="T0" fmla="*/ 0 w 8"/>
                <a:gd name="T1" fmla="*/ 0 h 992"/>
                <a:gd name="T2" fmla="*/ 8 w 8"/>
                <a:gd name="T3" fmla="*/ 992 h 992"/>
                <a:gd name="T4" fmla="*/ 0 60000 65536"/>
                <a:gd name="T5" fmla="*/ 0 60000 65536"/>
                <a:gd name="T6" fmla="*/ 0 w 8"/>
                <a:gd name="T7" fmla="*/ 0 h 992"/>
                <a:gd name="T8" fmla="*/ 8 w 8"/>
                <a:gd name="T9" fmla="*/ 992 h 992"/>
              </a:gdLst>
              <a:ahLst/>
              <a:cxnLst>
                <a:cxn ang="T4">
                  <a:pos x="T0" y="T1"/>
                </a:cxn>
                <a:cxn ang="T5">
                  <a:pos x="T2" y="T3"/>
                </a:cxn>
              </a:cxnLst>
              <a:rect l="T6" t="T7" r="T8" b="T9"/>
              <a:pathLst>
                <a:path w="8" h="992">
                  <a:moveTo>
                    <a:pt x="0" y="0"/>
                  </a:moveTo>
                  <a:lnTo>
                    <a:pt x="8" y="992"/>
                  </a:lnTo>
                </a:path>
              </a:pathLst>
            </a:custGeom>
            <a:noFill/>
            <a:ln w="28575">
              <a:solidFill>
                <a:srgbClr val="FF0000"/>
              </a:solidFill>
              <a:round/>
              <a:tailEnd type="triangle" w="sm" len="med"/>
            </a:ln>
          </p:spPr>
          <p:txBody>
            <a:bodyPr/>
            <a:lstStyle/>
            <a:p>
              <a:endParaRPr lang="zh-CN" altLang="en-US"/>
            </a:p>
          </p:txBody>
        </p:sp>
        <p:sp>
          <p:nvSpPr>
            <p:cNvPr id="31" name="Freeform 31"/>
            <p:cNvSpPr/>
            <p:nvPr/>
          </p:nvSpPr>
          <p:spPr bwMode="auto">
            <a:xfrm>
              <a:off x="3320" y="1679"/>
              <a:ext cx="1" cy="976"/>
            </a:xfrm>
            <a:custGeom>
              <a:avLst/>
              <a:gdLst>
                <a:gd name="T0" fmla="*/ 0 w 1"/>
                <a:gd name="T1" fmla="*/ 0 h 976"/>
                <a:gd name="T2" fmla="*/ 0 w 1"/>
                <a:gd name="T3" fmla="*/ 976 h 976"/>
                <a:gd name="T4" fmla="*/ 0 60000 65536"/>
                <a:gd name="T5" fmla="*/ 0 60000 65536"/>
                <a:gd name="T6" fmla="*/ 0 w 1"/>
                <a:gd name="T7" fmla="*/ 0 h 976"/>
                <a:gd name="T8" fmla="*/ 1 w 1"/>
                <a:gd name="T9" fmla="*/ 976 h 976"/>
              </a:gdLst>
              <a:ahLst/>
              <a:cxnLst>
                <a:cxn ang="T4">
                  <a:pos x="T0" y="T1"/>
                </a:cxn>
                <a:cxn ang="T5">
                  <a:pos x="T2" y="T3"/>
                </a:cxn>
              </a:cxnLst>
              <a:rect l="T6" t="T7" r="T8" b="T9"/>
              <a:pathLst>
                <a:path w="1" h="976">
                  <a:moveTo>
                    <a:pt x="0" y="0"/>
                  </a:moveTo>
                  <a:lnTo>
                    <a:pt x="0" y="976"/>
                  </a:lnTo>
                </a:path>
              </a:pathLst>
            </a:custGeom>
            <a:noFill/>
            <a:ln w="28575">
              <a:solidFill>
                <a:srgbClr val="FF0000"/>
              </a:solidFill>
              <a:round/>
              <a:tailEnd type="triangle" w="sm" len="med"/>
            </a:ln>
          </p:spPr>
          <p:txBody>
            <a:bodyPr/>
            <a:lstStyle/>
            <a:p>
              <a:endParaRPr lang="zh-CN" altLang="en-US"/>
            </a:p>
          </p:txBody>
        </p:sp>
        <p:sp>
          <p:nvSpPr>
            <p:cNvPr id="32" name="Line 32"/>
            <p:cNvSpPr>
              <a:spLocks noChangeShapeType="1"/>
            </p:cNvSpPr>
            <p:nvPr/>
          </p:nvSpPr>
          <p:spPr bwMode="auto">
            <a:xfrm>
              <a:off x="3416" y="1679"/>
              <a:ext cx="8" cy="1342"/>
            </a:xfrm>
            <a:prstGeom prst="line">
              <a:avLst/>
            </a:prstGeom>
            <a:noFill/>
            <a:ln w="28575">
              <a:solidFill>
                <a:srgbClr val="FF0000"/>
              </a:solidFill>
              <a:round/>
              <a:tailEnd type="triangle" w="sm" len="med"/>
            </a:ln>
          </p:spPr>
          <p:txBody>
            <a:bodyPr/>
            <a:lstStyle/>
            <a:p>
              <a:endParaRPr lang="zh-CN" altLang="en-US"/>
            </a:p>
          </p:txBody>
        </p:sp>
        <p:sp>
          <p:nvSpPr>
            <p:cNvPr id="33" name="Line 33"/>
            <p:cNvSpPr>
              <a:spLocks noChangeShapeType="1"/>
            </p:cNvSpPr>
            <p:nvPr/>
          </p:nvSpPr>
          <p:spPr bwMode="auto">
            <a:xfrm>
              <a:off x="3512" y="1679"/>
              <a:ext cx="3" cy="1343"/>
            </a:xfrm>
            <a:prstGeom prst="line">
              <a:avLst/>
            </a:prstGeom>
            <a:noFill/>
            <a:ln w="28575">
              <a:solidFill>
                <a:srgbClr val="FF0000"/>
              </a:solidFill>
              <a:round/>
              <a:tailEnd type="triangle" w="sm" len="med"/>
            </a:ln>
          </p:spPr>
          <p:txBody>
            <a:bodyPr/>
            <a:lstStyle/>
            <a:p>
              <a:endParaRPr lang="zh-CN" altLang="en-US"/>
            </a:p>
          </p:txBody>
        </p:sp>
        <p:sp>
          <p:nvSpPr>
            <p:cNvPr id="34" name="Line 34"/>
            <p:cNvSpPr>
              <a:spLocks noChangeShapeType="1"/>
            </p:cNvSpPr>
            <p:nvPr/>
          </p:nvSpPr>
          <p:spPr bwMode="auto">
            <a:xfrm flipH="1">
              <a:off x="3606" y="1679"/>
              <a:ext cx="2" cy="1734"/>
            </a:xfrm>
            <a:prstGeom prst="line">
              <a:avLst/>
            </a:prstGeom>
            <a:noFill/>
            <a:ln w="28575">
              <a:solidFill>
                <a:srgbClr val="FF0000"/>
              </a:solidFill>
              <a:round/>
              <a:tailEnd type="triangle" w="sm" len="med"/>
            </a:ln>
          </p:spPr>
          <p:txBody>
            <a:bodyPr/>
            <a:lstStyle/>
            <a:p>
              <a:endParaRPr lang="zh-CN" altLang="en-US"/>
            </a:p>
          </p:txBody>
        </p:sp>
        <p:sp>
          <p:nvSpPr>
            <p:cNvPr id="35" name="Line 35"/>
            <p:cNvSpPr>
              <a:spLocks noChangeShapeType="1"/>
            </p:cNvSpPr>
            <p:nvPr/>
          </p:nvSpPr>
          <p:spPr bwMode="auto">
            <a:xfrm flipH="1">
              <a:off x="3696" y="1679"/>
              <a:ext cx="8" cy="2114"/>
            </a:xfrm>
            <a:prstGeom prst="line">
              <a:avLst/>
            </a:prstGeom>
            <a:noFill/>
            <a:ln w="28575">
              <a:solidFill>
                <a:srgbClr val="FF0000"/>
              </a:solidFill>
              <a:round/>
              <a:tailEnd type="triangle" w="sm" len="med"/>
            </a:ln>
          </p:spPr>
          <p:txBody>
            <a:bodyPr/>
            <a:lstStyle/>
            <a:p>
              <a:endParaRPr lang="zh-CN" altLang="en-US"/>
            </a:p>
          </p:txBody>
        </p:sp>
        <p:sp>
          <p:nvSpPr>
            <p:cNvPr id="36" name="Line 36"/>
            <p:cNvSpPr>
              <a:spLocks noChangeShapeType="1"/>
            </p:cNvSpPr>
            <p:nvPr/>
          </p:nvSpPr>
          <p:spPr bwMode="auto">
            <a:xfrm flipV="1">
              <a:off x="3123" y="3816"/>
              <a:ext cx="549" cy="6"/>
            </a:xfrm>
            <a:prstGeom prst="line">
              <a:avLst/>
            </a:prstGeom>
            <a:noFill/>
            <a:ln w="28575">
              <a:solidFill>
                <a:srgbClr val="333399"/>
              </a:solidFill>
              <a:round/>
            </a:ln>
          </p:spPr>
          <p:txBody>
            <a:bodyPr/>
            <a:lstStyle/>
            <a:p>
              <a:endParaRPr lang="zh-CN" altLang="en-US"/>
            </a:p>
          </p:txBody>
        </p:sp>
        <p:sp>
          <p:nvSpPr>
            <p:cNvPr id="37" name="Line 37"/>
            <p:cNvSpPr>
              <a:spLocks noChangeShapeType="1"/>
            </p:cNvSpPr>
            <p:nvPr/>
          </p:nvSpPr>
          <p:spPr bwMode="auto">
            <a:xfrm flipV="1">
              <a:off x="3016" y="3430"/>
              <a:ext cx="544" cy="0"/>
            </a:xfrm>
            <a:prstGeom prst="line">
              <a:avLst/>
            </a:prstGeom>
            <a:noFill/>
            <a:ln w="28575">
              <a:solidFill>
                <a:srgbClr val="333399"/>
              </a:solidFill>
              <a:round/>
            </a:ln>
          </p:spPr>
          <p:txBody>
            <a:bodyPr/>
            <a:lstStyle/>
            <a:p>
              <a:endParaRPr lang="zh-CN" altLang="en-US"/>
            </a:p>
          </p:txBody>
        </p:sp>
        <p:sp>
          <p:nvSpPr>
            <p:cNvPr id="38" name="Line 38"/>
            <p:cNvSpPr>
              <a:spLocks noChangeShapeType="1"/>
            </p:cNvSpPr>
            <p:nvPr/>
          </p:nvSpPr>
          <p:spPr bwMode="auto">
            <a:xfrm>
              <a:off x="2835" y="3038"/>
              <a:ext cx="531" cy="0"/>
            </a:xfrm>
            <a:prstGeom prst="line">
              <a:avLst/>
            </a:prstGeom>
            <a:noFill/>
            <a:ln w="28575">
              <a:solidFill>
                <a:srgbClr val="333399"/>
              </a:solidFill>
              <a:round/>
            </a:ln>
          </p:spPr>
          <p:txBody>
            <a:bodyPr/>
            <a:lstStyle/>
            <a:p>
              <a:endParaRPr lang="zh-CN" altLang="en-US"/>
            </a:p>
          </p:txBody>
        </p:sp>
        <p:sp>
          <p:nvSpPr>
            <p:cNvPr id="39" name="Line 39"/>
            <p:cNvSpPr>
              <a:spLocks noChangeShapeType="1"/>
            </p:cNvSpPr>
            <p:nvPr/>
          </p:nvSpPr>
          <p:spPr bwMode="auto">
            <a:xfrm>
              <a:off x="2653" y="2659"/>
              <a:ext cx="545" cy="0"/>
            </a:xfrm>
            <a:prstGeom prst="line">
              <a:avLst/>
            </a:prstGeom>
            <a:noFill/>
            <a:ln w="28575">
              <a:solidFill>
                <a:srgbClr val="333399"/>
              </a:solidFill>
              <a:round/>
            </a:ln>
          </p:spPr>
          <p:txBody>
            <a:bodyPr/>
            <a:lstStyle/>
            <a:p>
              <a:endParaRPr lang="zh-CN" altLang="en-US"/>
            </a:p>
          </p:txBody>
        </p:sp>
        <p:sp>
          <p:nvSpPr>
            <p:cNvPr id="40" name="Line 40"/>
            <p:cNvSpPr>
              <a:spLocks noChangeShapeType="1"/>
            </p:cNvSpPr>
            <p:nvPr/>
          </p:nvSpPr>
          <p:spPr bwMode="auto">
            <a:xfrm>
              <a:off x="2423" y="2272"/>
              <a:ext cx="574" cy="0"/>
            </a:xfrm>
            <a:prstGeom prst="line">
              <a:avLst/>
            </a:prstGeom>
            <a:noFill/>
            <a:ln w="28575">
              <a:solidFill>
                <a:srgbClr val="333399"/>
              </a:solidFill>
              <a:round/>
            </a:ln>
          </p:spPr>
          <p:txBody>
            <a:bodyPr/>
            <a:lstStyle/>
            <a:p>
              <a:endParaRPr lang="zh-CN" altLang="en-US"/>
            </a:p>
          </p:txBody>
        </p:sp>
        <p:sp>
          <p:nvSpPr>
            <p:cNvPr id="41" name="Line 41"/>
            <p:cNvSpPr>
              <a:spLocks noChangeShapeType="1"/>
            </p:cNvSpPr>
            <p:nvPr/>
          </p:nvSpPr>
          <p:spPr bwMode="auto">
            <a:xfrm>
              <a:off x="2336" y="1888"/>
              <a:ext cx="544" cy="0"/>
            </a:xfrm>
            <a:prstGeom prst="line">
              <a:avLst/>
            </a:prstGeom>
            <a:noFill/>
            <a:ln w="28575">
              <a:solidFill>
                <a:srgbClr val="333399"/>
              </a:solidFill>
              <a:round/>
            </a:ln>
          </p:spPr>
          <p:txBody>
            <a:bodyPr/>
            <a:lstStyle/>
            <a:p>
              <a:endParaRPr lang="zh-CN" altLang="en-US"/>
            </a:p>
          </p:txBody>
        </p:sp>
        <p:sp>
          <p:nvSpPr>
            <p:cNvPr id="42" name="Line 42"/>
            <p:cNvSpPr>
              <a:spLocks noChangeShapeType="1"/>
            </p:cNvSpPr>
            <p:nvPr/>
          </p:nvSpPr>
          <p:spPr bwMode="auto">
            <a:xfrm>
              <a:off x="3244" y="4004"/>
              <a:ext cx="862" cy="0"/>
            </a:xfrm>
            <a:prstGeom prst="line">
              <a:avLst/>
            </a:prstGeom>
            <a:noFill/>
            <a:ln w="76200">
              <a:solidFill>
                <a:srgbClr val="00FF00"/>
              </a:solidFill>
              <a:round/>
            </a:ln>
          </p:spPr>
          <p:txBody>
            <a:bodyPr/>
            <a:lstStyle/>
            <a:p>
              <a:endParaRPr lang="zh-CN" altLang="en-US"/>
            </a:p>
          </p:txBody>
        </p:sp>
        <p:sp>
          <p:nvSpPr>
            <p:cNvPr id="43" name="Line 43"/>
            <p:cNvSpPr>
              <a:spLocks noChangeShapeType="1"/>
            </p:cNvSpPr>
            <p:nvPr/>
          </p:nvSpPr>
          <p:spPr bwMode="auto">
            <a:xfrm>
              <a:off x="3833" y="1706"/>
              <a:ext cx="363" cy="0"/>
            </a:xfrm>
            <a:prstGeom prst="line">
              <a:avLst/>
            </a:prstGeom>
            <a:noFill/>
            <a:ln w="76200">
              <a:solidFill>
                <a:srgbClr val="00FF00"/>
              </a:solidFill>
              <a:round/>
            </a:ln>
          </p:spPr>
          <p:txBody>
            <a:bodyPr/>
            <a:lstStyle/>
            <a:p>
              <a:endParaRPr lang="zh-CN" altLang="en-US"/>
            </a:p>
          </p:txBody>
        </p:sp>
        <p:sp>
          <p:nvSpPr>
            <p:cNvPr id="44" name="Line 44"/>
            <p:cNvSpPr>
              <a:spLocks noChangeShapeType="1"/>
            </p:cNvSpPr>
            <p:nvPr/>
          </p:nvSpPr>
          <p:spPr bwMode="auto">
            <a:xfrm>
              <a:off x="1294" y="1706"/>
              <a:ext cx="181" cy="0"/>
            </a:xfrm>
            <a:prstGeom prst="line">
              <a:avLst/>
            </a:prstGeom>
            <a:noFill/>
            <a:ln w="76200">
              <a:solidFill>
                <a:srgbClr val="00FF00"/>
              </a:solidFill>
              <a:round/>
            </a:ln>
          </p:spPr>
          <p:txBody>
            <a:bodyPr/>
            <a:lstStyle/>
            <a:p>
              <a:endParaRPr lang="zh-CN" altLang="en-US"/>
            </a:p>
          </p:txBody>
        </p:sp>
      </p:grpSp>
      <p:sp>
        <p:nvSpPr>
          <p:cNvPr id="4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0" lang="zh-CN" altLang="en-US" sz="3200" dirty="0">
              <a:solidFill>
                <a:schemeClr val="accent1">
                  <a:lumMod val="75000"/>
                </a:schemeClr>
              </a:solidFill>
              <a:latin typeface="宋体" panose="02010600030101010101" pitchFamily="2" charset="-122"/>
            </a:endParaRPr>
          </a:p>
        </p:txBody>
      </p:sp>
      <p:sp>
        <p:nvSpPr>
          <p:cNvPr id="61442" name="Rectangle 3"/>
          <p:cNvSpPr>
            <a:spLocks noGrp="1" noChangeArrowheads="1"/>
          </p:cNvSpPr>
          <p:nvPr>
            <p:ph type="body" idx="1"/>
          </p:nvPr>
        </p:nvSpPr>
        <p:spPr/>
        <p:txBody>
          <a:bodyPr/>
          <a:lstStyle/>
          <a:p>
            <a:pPr eaLnBrk="1" hangingPunct="1">
              <a:lnSpc>
                <a:spcPts val="4100"/>
              </a:lnSpc>
            </a:pPr>
            <a:r>
              <a:rPr lang="zh-CN" altLang="en-US" dirty="0"/>
              <a:t>四个国际标准生成多项式</a:t>
            </a:r>
            <a:endParaRPr lang="zh-CN" altLang="en-US" dirty="0"/>
          </a:p>
          <a:p>
            <a:pPr lvl="1" eaLnBrk="1" hangingPunct="1">
              <a:lnSpc>
                <a:spcPts val="4100"/>
              </a:lnSpc>
            </a:pPr>
            <a:r>
              <a:rPr lang="en-US" altLang="zh-CN" dirty="0"/>
              <a:t>CRC-12 = x</a:t>
            </a:r>
            <a:r>
              <a:rPr lang="en-US" altLang="zh-CN" baseline="30000" dirty="0"/>
              <a:t>12</a:t>
            </a:r>
            <a:r>
              <a:rPr lang="en-US" altLang="zh-CN" dirty="0"/>
              <a:t>+x</a:t>
            </a:r>
            <a:r>
              <a:rPr lang="en-US" altLang="zh-CN" baseline="30000" dirty="0"/>
              <a:t>11</a:t>
            </a:r>
            <a:r>
              <a:rPr lang="en-US" altLang="zh-CN" dirty="0"/>
              <a:t>+x</a:t>
            </a:r>
            <a:r>
              <a:rPr lang="en-US" altLang="zh-CN" baseline="30000" dirty="0"/>
              <a:t>3</a:t>
            </a:r>
            <a:r>
              <a:rPr lang="en-US" altLang="zh-CN" dirty="0"/>
              <a:t>+x</a:t>
            </a:r>
            <a:r>
              <a:rPr lang="en-US" altLang="zh-CN" baseline="30000" dirty="0"/>
              <a:t>2</a:t>
            </a:r>
            <a:r>
              <a:rPr lang="en-US" altLang="zh-CN" dirty="0"/>
              <a:t>+x+1</a:t>
            </a:r>
            <a:endParaRPr lang="en-US" altLang="zh-CN" dirty="0"/>
          </a:p>
          <a:p>
            <a:pPr lvl="1" eaLnBrk="1" hangingPunct="1">
              <a:lnSpc>
                <a:spcPts val="4100"/>
              </a:lnSpc>
            </a:pPr>
            <a:r>
              <a:rPr lang="en-US" altLang="zh-CN" dirty="0"/>
              <a:t>CRC-16 = x</a:t>
            </a:r>
            <a:r>
              <a:rPr lang="en-US" altLang="zh-CN" baseline="30000" dirty="0"/>
              <a:t>16</a:t>
            </a:r>
            <a:r>
              <a:rPr lang="en-US" altLang="zh-CN" dirty="0"/>
              <a:t>+x</a:t>
            </a:r>
            <a:r>
              <a:rPr lang="en-US" altLang="zh-CN" baseline="30000" dirty="0"/>
              <a:t>15</a:t>
            </a:r>
            <a:r>
              <a:rPr lang="en-US" altLang="zh-CN" dirty="0"/>
              <a:t>+x</a:t>
            </a:r>
            <a:r>
              <a:rPr lang="en-US" altLang="zh-CN" baseline="30000" dirty="0"/>
              <a:t>2</a:t>
            </a:r>
            <a:r>
              <a:rPr lang="en-US" altLang="zh-CN" dirty="0"/>
              <a:t>+1</a:t>
            </a:r>
            <a:endParaRPr lang="en-US" altLang="zh-CN" dirty="0"/>
          </a:p>
          <a:p>
            <a:pPr lvl="1" eaLnBrk="1" hangingPunct="1">
              <a:lnSpc>
                <a:spcPts val="4100"/>
              </a:lnSpc>
            </a:pPr>
            <a:r>
              <a:rPr lang="en-US" altLang="zh-CN" dirty="0"/>
              <a:t>CRC-CCITT = x</a:t>
            </a:r>
            <a:r>
              <a:rPr lang="en-US" altLang="zh-CN" baseline="30000" dirty="0"/>
              <a:t>16</a:t>
            </a:r>
            <a:r>
              <a:rPr lang="en-US" altLang="zh-CN" dirty="0"/>
              <a:t>+x</a:t>
            </a:r>
            <a:r>
              <a:rPr lang="en-US" altLang="zh-CN" baseline="30000" dirty="0"/>
              <a:t>12</a:t>
            </a:r>
            <a:r>
              <a:rPr lang="en-US" altLang="zh-CN" dirty="0"/>
              <a:t>+x</a:t>
            </a:r>
            <a:r>
              <a:rPr lang="en-US" altLang="zh-CN" baseline="30000" dirty="0"/>
              <a:t>5</a:t>
            </a:r>
            <a:r>
              <a:rPr lang="en-US" altLang="zh-CN" dirty="0"/>
              <a:t>+1</a:t>
            </a:r>
            <a:endParaRPr lang="en-US" altLang="zh-CN" dirty="0"/>
          </a:p>
          <a:p>
            <a:pPr lvl="1" eaLnBrk="1" hangingPunct="1">
              <a:lnSpc>
                <a:spcPts val="4100"/>
              </a:lnSpc>
            </a:pPr>
            <a:r>
              <a:rPr lang="en-US" altLang="zh-CN" dirty="0"/>
              <a:t>CRC-32 = x</a:t>
            </a:r>
            <a:r>
              <a:rPr lang="en-US" altLang="zh-CN" baseline="30000" dirty="0"/>
              <a:t>32</a:t>
            </a:r>
            <a:r>
              <a:rPr lang="en-US" altLang="zh-CN" dirty="0"/>
              <a:t>+x</a:t>
            </a:r>
            <a:r>
              <a:rPr lang="en-US" altLang="zh-CN" baseline="30000" dirty="0"/>
              <a:t>26</a:t>
            </a:r>
            <a:r>
              <a:rPr lang="en-US" altLang="zh-CN" dirty="0"/>
              <a:t>+x</a:t>
            </a:r>
            <a:r>
              <a:rPr lang="en-US" altLang="zh-CN" baseline="30000" dirty="0"/>
              <a:t>23</a:t>
            </a:r>
            <a:r>
              <a:rPr lang="en-US" altLang="zh-CN" dirty="0"/>
              <a:t>+x</a:t>
            </a:r>
            <a:r>
              <a:rPr lang="en-US" altLang="zh-CN" baseline="30000" dirty="0"/>
              <a:t>22</a:t>
            </a:r>
            <a:r>
              <a:rPr lang="en-US" altLang="zh-CN" dirty="0"/>
              <a:t>+x</a:t>
            </a:r>
            <a:r>
              <a:rPr lang="en-US" altLang="zh-CN" baseline="30000" dirty="0"/>
              <a:t>16</a:t>
            </a:r>
            <a:r>
              <a:rPr lang="en-US" altLang="zh-CN" dirty="0"/>
              <a:t>+x</a:t>
            </a:r>
            <a:r>
              <a:rPr lang="en-US" altLang="zh-CN" baseline="30000" dirty="0"/>
              <a:t>12</a:t>
            </a:r>
            <a:r>
              <a:rPr lang="en-US" altLang="zh-CN" dirty="0"/>
              <a:t>+x</a:t>
            </a:r>
            <a:r>
              <a:rPr lang="en-US" altLang="zh-CN" baseline="30000" dirty="0"/>
              <a:t>11</a:t>
            </a:r>
            <a:r>
              <a:rPr lang="en-US" altLang="zh-CN" dirty="0"/>
              <a:t>+x</a:t>
            </a:r>
            <a:r>
              <a:rPr lang="en-US" altLang="zh-CN" baseline="30000" dirty="0"/>
              <a:t>10</a:t>
            </a:r>
            <a:r>
              <a:rPr lang="en-US" altLang="zh-CN" dirty="0"/>
              <a:t>+x</a:t>
            </a:r>
            <a:r>
              <a:rPr lang="en-US" altLang="zh-CN" baseline="30000" dirty="0"/>
              <a:t>8</a:t>
            </a:r>
            <a:r>
              <a:rPr lang="en-US" altLang="zh-CN" dirty="0"/>
              <a:t>+x</a:t>
            </a:r>
            <a:r>
              <a:rPr lang="en-US" altLang="zh-CN" baseline="30000" dirty="0"/>
              <a:t>7</a:t>
            </a:r>
            <a:r>
              <a:rPr lang="en-US" altLang="zh-CN" dirty="0"/>
              <a:t>+x</a:t>
            </a:r>
            <a:r>
              <a:rPr lang="en-US" altLang="zh-CN" baseline="30000" dirty="0"/>
              <a:t>5</a:t>
            </a:r>
            <a:r>
              <a:rPr lang="en-US" altLang="zh-CN" dirty="0"/>
              <a:t>+x</a:t>
            </a:r>
            <a:r>
              <a:rPr lang="en-US" altLang="zh-CN" baseline="30000" dirty="0"/>
              <a:t>4</a:t>
            </a:r>
            <a:r>
              <a:rPr lang="en-US" altLang="zh-CN" dirty="0"/>
              <a:t>+x</a:t>
            </a:r>
            <a:r>
              <a:rPr lang="en-US" altLang="zh-CN" baseline="30000" dirty="0"/>
              <a:t>2</a:t>
            </a:r>
            <a:r>
              <a:rPr lang="en-US" altLang="zh-CN" dirty="0"/>
              <a:t>+x+1</a:t>
            </a:r>
            <a:endParaRPr lang="en-US" altLang="zh-CN" dirty="0"/>
          </a:p>
        </p:txBody>
      </p:sp>
      <p:sp>
        <p:nvSpPr>
          <p:cNvPr id="4" name="矩形 3"/>
          <p:cNvSpPr/>
          <p:nvPr/>
        </p:nvSpPr>
        <p:spPr>
          <a:xfrm>
            <a:off x="1418390" y="5057679"/>
            <a:ext cx="7467822" cy="454099"/>
          </a:xfrm>
          <a:prstGeom prst="rect">
            <a:avLst/>
          </a:prstGeom>
          <a:ln>
            <a:solidFill>
              <a:srgbClr val="00B0F0"/>
            </a:solidFill>
          </a:ln>
        </p:spPr>
        <p:txBody>
          <a:bodyPr wrap="square">
            <a:spAutoFit/>
          </a:bodyPr>
          <a:lstStyle/>
          <a:p>
            <a:pPr marL="0" lvl="1" algn="ctr">
              <a:lnSpc>
                <a:spcPts val="3000"/>
              </a:lnSpc>
              <a:spcBef>
                <a:spcPts val="600"/>
              </a:spcBef>
              <a:buClr>
                <a:srgbClr val="C00000"/>
              </a:buClr>
              <a:buSzPct val="100000"/>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例如，以太网、无线局域网使用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CRC-32</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生成多项式</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8D4D1E41-7A09-AB4A-A4E1-09765ADA2698}" type="slidenum">
              <a:rPr kumimoji="1" lang="zh-CN" altLang="en-US" smtClean="0"/>
            </a:fld>
            <a:endParaRPr kumimoji="1" lang="zh-CN" altLang="en-US" dirty="0"/>
          </a:p>
        </p:txBody>
      </p:sp>
      <p:sp>
        <p:nvSpPr>
          <p:cNvPr id="5" name="矩形 1"/>
          <p:cNvSpPr/>
          <p:nvPr/>
        </p:nvSpPr>
        <p:spPr>
          <a:xfrm>
            <a:off x="1407747" y="1921411"/>
            <a:ext cx="9209452" cy="1979837"/>
          </a:xfrm>
          <a:prstGeom prst="rect">
            <a:avLst/>
          </a:prstGeom>
        </p:spPr>
        <p:txBody>
          <a:bodyPr wrap="square">
            <a:spAutoFit/>
          </a:bodyPr>
          <a:lstStyle/>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特点</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：检错能力强，开销小，易于用编码器及检测电路实现。</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检错能力</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：它所不能发现的错误的几率仅为</a:t>
            </a:r>
            <a:r>
              <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rPr>
              <a:t>0.0047%</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以下。</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性能和开销</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：均远远优于奇偶校验及算术和校验等方式。</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在数据存储和数据通讯领域</a:t>
            </a:r>
            <a:r>
              <a:rPr lang="en-US" altLang="zh-CN"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CRC</a:t>
            </a: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无处不在</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a:t>
            </a:r>
            <a:br>
              <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rPr>
            </a:br>
            <a:endPar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6" name="矩形 6"/>
          <p:cNvSpPr/>
          <p:nvPr/>
        </p:nvSpPr>
        <p:spPr>
          <a:xfrm>
            <a:off x="2055332" y="4123789"/>
            <a:ext cx="8561867" cy="1596847"/>
          </a:xfrm>
          <a:prstGeom prst="rect">
            <a:avLst/>
          </a:prstGeom>
        </p:spPr>
        <p:txBody>
          <a:bodyPr wrap="square">
            <a:spAutoFit/>
          </a:bodyPr>
          <a:lstStyle/>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著名的通讯协议</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X.25</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的</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FCS</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采用</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CRC-CCITT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endPar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endParaRPr>
          </a:p>
          <a:p>
            <a:pPr marL="457200" indent="-457200">
              <a:lnSpc>
                <a:spcPts val="3000"/>
              </a:lnSpc>
              <a:buFont typeface="Wingdings" panose="05000000000000000000" pitchFamily="2" charset="2"/>
              <a:buChar char="ü"/>
              <a:defRPr/>
            </a:pP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WinRAR</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NERO</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ARJ</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LHA</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等压缩工具软件采用的是</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CRC-32</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endPar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endParaRPr>
          </a:p>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磁盘驱动器读写采用</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CRC-16</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endPar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endParaRPr>
          </a:p>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图像存储格式</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GIF</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TIFF</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等也都用</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CRC</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作为检错手段。</a:t>
            </a:r>
            <a:endPar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endParaRPr>
          </a:p>
        </p:txBody>
      </p:sp>
    </p:spTree>
  </p:cSld>
  <p:clrMapOvr>
    <a:masterClrMapping/>
  </p:clrMapOvr>
  <p:transition spd="slow">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842356" y="1124744"/>
            <a:ext cx="8507288" cy="1301318"/>
          </a:xfrm>
          <a:prstGeom prst="rect">
            <a:avLst/>
          </a:prstGeom>
          <a:noFill/>
        </p:spPr>
        <p:txBody>
          <a:bodyPr wrap="square" rtlCol="0">
            <a:spAutoFit/>
          </a:bodyPr>
          <a:lstStyle/>
          <a:p>
            <a:pPr algn="ctr">
              <a:lnSpc>
                <a:spcPct val="150000"/>
              </a:lnSpc>
            </a:pPr>
            <a:r>
              <a:rPr lang="zh-CN" altLang="en-US" sz="2800" dirty="0">
                <a:solidFill>
                  <a:srgbClr val="FF0000"/>
                </a:solidFill>
              </a:rPr>
              <a:t>思考：</a:t>
            </a:r>
            <a:endParaRPr lang="en-US" altLang="zh-CN" sz="2800" dirty="0">
              <a:solidFill>
                <a:srgbClr val="FF0000"/>
              </a:solidFill>
            </a:endParaRPr>
          </a:p>
          <a:p>
            <a:pPr algn="ctr">
              <a:lnSpc>
                <a:spcPct val="150000"/>
              </a:lnSpc>
            </a:pPr>
            <a:r>
              <a:rPr lang="zh-CN" altLang="en-US" sz="2800" dirty="0">
                <a:solidFill>
                  <a:srgbClr val="FF0000"/>
                </a:solidFill>
              </a:rPr>
              <a:t>循环冗余校验码，能够检查出多少位错误？</a:t>
            </a:r>
            <a:endParaRPr lang="zh-CN" altLang="en-US" sz="2800" dirty="0">
              <a:solidFill>
                <a:srgbClr val="FF0000"/>
              </a:solidFill>
            </a:endParaRPr>
          </a:p>
        </p:txBody>
      </p:sp>
    </p:spTree>
  </p:cSld>
  <p:clrMapOvr>
    <a:masterClrMapping/>
  </p:clrMapOvr>
  <p:transition spd="slow">
    <p:pull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842356" y="1124744"/>
            <a:ext cx="8507288" cy="1301318"/>
          </a:xfrm>
          <a:prstGeom prst="rect">
            <a:avLst/>
          </a:prstGeom>
          <a:noFill/>
        </p:spPr>
        <p:txBody>
          <a:bodyPr wrap="square" rtlCol="0">
            <a:spAutoFit/>
          </a:bodyPr>
          <a:lstStyle/>
          <a:p>
            <a:pPr algn="ctr">
              <a:lnSpc>
                <a:spcPct val="150000"/>
              </a:lnSpc>
            </a:pPr>
            <a:r>
              <a:rPr lang="zh-CN" altLang="en-US" sz="2800" dirty="0">
                <a:solidFill>
                  <a:srgbClr val="FF0000"/>
                </a:solidFill>
              </a:rPr>
              <a:t>思考：</a:t>
            </a:r>
            <a:endParaRPr lang="en-US" altLang="zh-CN" sz="2800" dirty="0">
              <a:solidFill>
                <a:srgbClr val="FF0000"/>
              </a:solidFill>
            </a:endParaRPr>
          </a:p>
          <a:p>
            <a:pPr algn="ctr">
              <a:lnSpc>
                <a:spcPct val="150000"/>
              </a:lnSpc>
            </a:pPr>
            <a:r>
              <a:rPr lang="zh-CN" altLang="en-US" sz="2800" dirty="0">
                <a:solidFill>
                  <a:srgbClr val="FF0000"/>
                </a:solidFill>
              </a:rPr>
              <a:t>循环冗余校验码，能够检查出多少位错误？</a:t>
            </a:r>
            <a:endParaRPr lang="zh-CN" altLang="en-US" sz="2800" dirty="0">
              <a:solidFill>
                <a:srgbClr val="FF0000"/>
              </a:solidFill>
            </a:endParaRPr>
          </a:p>
        </p:txBody>
      </p:sp>
      <p:sp>
        <p:nvSpPr>
          <p:cNvPr id="6" name="文本框 5"/>
          <p:cNvSpPr txBox="1"/>
          <p:nvPr/>
        </p:nvSpPr>
        <p:spPr>
          <a:xfrm>
            <a:off x="1775521" y="2636912"/>
            <a:ext cx="8640959" cy="3344570"/>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altLang="zh-CN" sz="2400" dirty="0"/>
              <a:t>CRC</a:t>
            </a:r>
            <a:r>
              <a:rPr lang="zh-CN" altLang="en-US" sz="2400" dirty="0"/>
              <a:t>的错误检测能力依赖于关键多项式的阶次以及所使用的特定关键多项式。</a:t>
            </a:r>
            <a:endParaRPr lang="en-US" altLang="zh-CN" sz="2400" dirty="0"/>
          </a:p>
          <a:p>
            <a:pPr marL="342900" indent="-342900">
              <a:lnSpc>
                <a:spcPct val="150000"/>
              </a:lnSpc>
              <a:buFont typeface="Wingdings" panose="05000000000000000000" pitchFamily="2" charset="2"/>
              <a:buChar char="q"/>
            </a:pPr>
            <a:r>
              <a:rPr lang="zh-CN" altLang="en-US" sz="2400" dirty="0"/>
              <a:t>误码多项式</a:t>
            </a:r>
            <a:r>
              <a:rPr lang="en-US" altLang="zh-CN" sz="2400" dirty="0"/>
              <a:t>E(x)</a:t>
            </a:r>
            <a:r>
              <a:rPr lang="zh-CN" altLang="en-US" sz="2400" dirty="0"/>
              <a:t>。</a:t>
            </a:r>
            <a:r>
              <a:rPr lang="en-US" altLang="zh-CN" sz="2400" dirty="0"/>
              <a:t>E(x)</a:t>
            </a:r>
            <a:r>
              <a:rPr lang="zh-CN" altLang="en-US" sz="2400" dirty="0"/>
              <a:t>是接收到的消息码字与正确消息码字的异或结果。</a:t>
            </a:r>
            <a:endParaRPr lang="en-US" altLang="zh-CN" sz="2400" dirty="0"/>
          </a:p>
          <a:p>
            <a:pPr marL="342900" indent="-342900">
              <a:lnSpc>
                <a:spcPct val="150000"/>
              </a:lnSpc>
              <a:buFont typeface="Wingdings" panose="05000000000000000000" pitchFamily="2" charset="2"/>
              <a:buChar char="q"/>
            </a:pPr>
            <a:r>
              <a:rPr lang="zh-CN" altLang="en-US" sz="2400" dirty="0"/>
              <a:t>当且仅当误码多项式能够被</a:t>
            </a:r>
            <a:r>
              <a:rPr lang="en-US" altLang="zh-CN" sz="2400" dirty="0"/>
              <a:t>CRC</a:t>
            </a:r>
            <a:r>
              <a:rPr lang="zh-CN" altLang="en-US" sz="2400" dirty="0"/>
              <a:t>多项式整除的时候</a:t>
            </a:r>
            <a:r>
              <a:rPr lang="en-US" altLang="zh-CN" sz="2400" dirty="0"/>
              <a:t>CRC</a:t>
            </a:r>
            <a:r>
              <a:rPr lang="zh-CN" altLang="en-US" sz="2400" dirty="0"/>
              <a:t>算法无法检查到错误。</a:t>
            </a:r>
            <a:endParaRPr lang="en-US" sz="2400" dirty="0"/>
          </a:p>
        </p:txBody>
      </p:sp>
    </p:spTree>
  </p:cSld>
  <p:clrMapOvr>
    <a:masterClrMapping/>
  </p:clrMapOvr>
  <p:transition spd="slow">
    <p:pull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sp>
        <p:nvSpPr>
          <p:cNvPr id="8" name="文本框 7"/>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pic>
        <p:nvPicPr>
          <p:cNvPr id="7" name="图片 6"/>
          <p:cNvPicPr>
            <a:picLocks noChangeAspect="1"/>
          </p:cNvPicPr>
          <p:nvPr/>
        </p:nvPicPr>
        <p:blipFill rotWithShape="1">
          <a:blip r:embed="rId1"/>
          <a:srcRect b="60317"/>
          <a:stretch>
            <a:fillRect/>
          </a:stretch>
        </p:blipFill>
        <p:spPr>
          <a:xfrm>
            <a:off x="1635777" y="2033020"/>
            <a:ext cx="8920447" cy="1107949"/>
          </a:xfrm>
          <a:prstGeom prst="rect">
            <a:avLst/>
          </a:prstGeom>
        </p:spPr>
      </p:pic>
    </p:spTree>
  </p:cSld>
  <p:clrMapOvr>
    <a:masterClrMapping/>
  </p:clrMapOvr>
  <p:transition spd="slow">
    <p:pull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635777" y="2033020"/>
            <a:ext cx="8920447" cy="2791961"/>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cSld>
  <p:clrMapOvr>
    <a:masterClrMapping/>
  </p:clrMapOvr>
  <p:transition spd="slow">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703513" y="1471549"/>
            <a:ext cx="8823603" cy="4307651"/>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546810" y="1425154"/>
            <a:ext cx="9157703" cy="4164086"/>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cSld>
  <p:clrMapOvr>
    <a:masterClrMapping/>
  </p:clrMapOvr>
  <p:transition spd="slow">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1788391"/>
          </a:xfrm>
        </p:spPr>
        <p:txBody>
          <a:bodyPr>
            <a:noAutofit/>
          </a:bodyPr>
          <a:lstStyle/>
          <a:p>
            <a:pPr>
              <a:lnSpc>
                <a:spcPts val="3600"/>
              </a:lnSpc>
            </a:pPr>
            <a:r>
              <a:rPr lang="zh-CN" altLang="en-US" dirty="0"/>
              <a:t>设计纠错码</a:t>
            </a:r>
            <a:endParaRPr lang="zh-CN" altLang="en-US" dirty="0"/>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marL="806450" lvl="2" indent="0">
              <a:lnSpc>
                <a:spcPts val="3400"/>
              </a:lnSpc>
              <a:buNone/>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endParaRPr lang="zh-CN" altLang="en-US" dirty="0">
              <a:latin typeface="微软雅黑" panose="020B0503020204020204" pitchFamily="34" charset="-122"/>
              <a:ea typeface="微软雅黑" panose="020B0503020204020204" pitchFamily="34" charset="-122"/>
            </a:endParaRPr>
          </a:p>
        </p:txBody>
      </p:sp>
      <p:sp>
        <p:nvSpPr>
          <p:cNvPr id="7" name="标题 1"/>
          <p:cNvSpPr txBox="1"/>
          <p:nvPr/>
        </p:nvSpPr>
        <p:spPr>
          <a:xfrm>
            <a:off x="838200" y="3862508"/>
            <a:ext cx="9368481" cy="8032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20000"/>
              </a:lnSpc>
            </a:pPr>
            <a:r>
              <a:rPr lang="zh-CN" altLang="en-US" sz="2400" dirty="0">
                <a:solidFill>
                  <a:srgbClr val="FF0000"/>
                </a:solidFill>
              </a:rPr>
              <a:t>思考：要传输的数据有</a:t>
            </a:r>
            <a:r>
              <a:rPr lang="en-US" altLang="zh-CN" sz="2400" dirty="0">
                <a:solidFill>
                  <a:srgbClr val="FF0000"/>
                </a:solidFill>
              </a:rPr>
              <a:t>m</a:t>
            </a:r>
            <a:r>
              <a:rPr lang="zh-CN" altLang="en-US" sz="2400" dirty="0">
                <a:solidFill>
                  <a:srgbClr val="FF0000"/>
                </a:solidFill>
              </a:rPr>
              <a:t>位，冗余位</a:t>
            </a:r>
            <a:r>
              <a:rPr lang="en-US" altLang="zh-CN" sz="2400" dirty="0">
                <a:solidFill>
                  <a:srgbClr val="FF0000"/>
                </a:solidFill>
              </a:rPr>
              <a:t>r</a:t>
            </a:r>
            <a:r>
              <a:rPr lang="zh-CN" altLang="en-US" sz="2400" dirty="0">
                <a:solidFill>
                  <a:srgbClr val="FF0000"/>
                </a:solidFill>
              </a:rPr>
              <a:t>至少是多少，才能纠正</a:t>
            </a:r>
            <a:r>
              <a:rPr lang="en-US" altLang="zh-CN" sz="2400" dirty="0">
                <a:solidFill>
                  <a:srgbClr val="FF0000"/>
                </a:solidFill>
              </a:rPr>
              <a:t>1</a:t>
            </a:r>
            <a:r>
              <a:rPr lang="zh-CN" altLang="en-US" sz="2400" dirty="0">
                <a:solidFill>
                  <a:srgbClr val="FF0000"/>
                </a:solidFill>
              </a:rPr>
              <a:t>为错误？</a:t>
            </a:r>
            <a:endParaRPr lang="en-US" sz="2400"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4419600"/>
          </a:xfrm>
        </p:spPr>
        <p:txBody>
          <a:bodyPr>
            <a:noAutofit/>
          </a:bodyPr>
          <a:lstStyle/>
          <a:p>
            <a:pPr>
              <a:lnSpc>
                <a:spcPts val="3600"/>
              </a:lnSpc>
            </a:pPr>
            <a:r>
              <a:rPr lang="zh-CN" altLang="en-US" dirty="0"/>
              <a:t>设计纠错码</a:t>
            </a:r>
            <a:endParaRPr lang="zh-CN" altLang="en-US" dirty="0"/>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lvl="1">
              <a:lnSpc>
                <a:spcPts val="3600"/>
              </a:lnSpc>
            </a:pPr>
            <a:r>
              <a:rPr lang="zh-CN" altLang="zh-CN" dirty="0"/>
              <a:t>对2</a:t>
            </a:r>
            <a:r>
              <a:rPr lang="en-US" altLang="zh-CN" baseline="30000" dirty="0"/>
              <a:t>m</a:t>
            </a:r>
            <a:r>
              <a:rPr lang="zh-CN" altLang="zh-CN" dirty="0"/>
              <a:t>个有效信息中任何一个，有</a:t>
            </a:r>
            <a:r>
              <a:rPr lang="en-US" altLang="zh-CN" dirty="0"/>
              <a:t>n</a:t>
            </a:r>
            <a:r>
              <a:rPr lang="zh-CN" altLang="zh-CN" dirty="0"/>
              <a:t>个与其距离为1的无效码字</a:t>
            </a:r>
            <a:r>
              <a:rPr lang="zh-CN" altLang="en-US" dirty="0"/>
              <a:t>：</a:t>
            </a:r>
            <a:endParaRPr lang="en-US" altLang="zh-CN" dirty="0"/>
          </a:p>
          <a:p>
            <a:pPr lvl="2" indent="-336550">
              <a:lnSpc>
                <a:spcPts val="3600"/>
              </a:lnSpc>
              <a:buFont typeface="微软雅黑" panose="020B0503020204020204" pitchFamily="34" charset="-122"/>
              <a:buChar char="−"/>
            </a:pPr>
            <a:r>
              <a:rPr lang="zh-CN" altLang="en-US" dirty="0"/>
              <a:t>可以考虑将该信息对应的合法码字的</a:t>
            </a:r>
            <a:r>
              <a:rPr lang="en-US" altLang="zh-CN" dirty="0"/>
              <a:t>n</a:t>
            </a:r>
            <a:r>
              <a:rPr lang="zh-CN" altLang="en-US" dirty="0"/>
              <a:t>位逐个取反，得到</a:t>
            </a:r>
            <a:r>
              <a:rPr lang="en-US" altLang="zh-CN" dirty="0"/>
              <a:t>n</a:t>
            </a:r>
            <a:r>
              <a:rPr lang="zh-CN" altLang="en-US" dirty="0"/>
              <a:t>个距离为</a:t>
            </a:r>
            <a:r>
              <a:rPr lang="en-US" altLang="zh-CN" dirty="0"/>
              <a:t>1</a:t>
            </a:r>
            <a:r>
              <a:rPr lang="zh-CN" altLang="en-US" dirty="0"/>
              <a:t>的非法码字，需要</a:t>
            </a:r>
            <a:r>
              <a:rPr lang="en-US" altLang="zh-CN" dirty="0"/>
              <a:t>n+1</a:t>
            </a:r>
            <a:r>
              <a:rPr lang="zh-CN" altLang="en-US" dirty="0"/>
              <a:t>个位模式来标识</a:t>
            </a:r>
            <a:endParaRPr lang="en-US" altLang="zh-CN" dirty="0"/>
          </a:p>
          <a:p>
            <a:pPr marL="692150" lvl="1" indent="-342900">
              <a:lnSpc>
                <a:spcPts val="3600"/>
              </a:lnSpc>
            </a:pPr>
            <a:r>
              <a:rPr lang="zh-CN" altLang="zh-CN" dirty="0"/>
              <a:t>因此有</a:t>
            </a:r>
            <a:r>
              <a:rPr lang="zh-CN" altLang="en-US" dirty="0"/>
              <a:t>：</a:t>
            </a:r>
            <a:r>
              <a:rPr lang="en-US" altLang="zh-CN" dirty="0"/>
              <a:t>(n + 1) 2</a:t>
            </a:r>
            <a:r>
              <a:rPr lang="en-US" altLang="zh-CN" baseline="30000" dirty="0"/>
              <a:t>m</a:t>
            </a:r>
            <a:r>
              <a:rPr lang="en-US" altLang="zh-CN" dirty="0"/>
              <a:t> </a:t>
            </a:r>
            <a:r>
              <a:rPr lang="en-US" altLang="zh-CN" dirty="0">
                <a:sym typeface="Symbol" panose="05050102010706020507" pitchFamily="18" charset="2"/>
              </a:rPr>
              <a:t> 2</a:t>
            </a:r>
            <a:r>
              <a:rPr lang="en-US" altLang="zh-CN" baseline="30000" dirty="0">
                <a:sym typeface="Symbol" panose="05050102010706020507" pitchFamily="18" charset="2"/>
              </a:rPr>
              <a:t>n</a:t>
            </a:r>
            <a:endParaRPr lang="en-US" altLang="zh-CN" baseline="30000" dirty="0">
              <a:sym typeface="Symbol" panose="05050102010706020507" pitchFamily="18" charset="2"/>
            </a:endParaRPr>
          </a:p>
          <a:p>
            <a:pPr marL="692150" lvl="1" indent="-342900">
              <a:lnSpc>
                <a:spcPts val="3600"/>
              </a:lnSpc>
            </a:pPr>
            <a:r>
              <a:rPr lang="zh-CN" altLang="en-US" dirty="0">
                <a:sym typeface="Symbol" panose="05050102010706020507" pitchFamily="18" charset="2"/>
              </a:rPr>
              <a:t>利用 </a:t>
            </a:r>
            <a:r>
              <a:rPr lang="en-US" altLang="zh-CN" dirty="0">
                <a:sym typeface="Symbol" panose="05050102010706020507" pitchFamily="18" charset="2"/>
              </a:rPr>
              <a:t>n = m + r</a:t>
            </a:r>
            <a:r>
              <a:rPr lang="zh-CN" altLang="en-US" dirty="0">
                <a:sym typeface="Symbol" panose="05050102010706020507" pitchFamily="18" charset="2"/>
              </a:rPr>
              <a:t>，得到 </a:t>
            </a:r>
            <a:r>
              <a:rPr lang="en-US" altLang="zh-CN" dirty="0">
                <a:highlight>
                  <a:srgbClr val="FFFF00"/>
                </a:highlight>
                <a:sym typeface="Symbol" panose="05050102010706020507" pitchFamily="18" charset="2"/>
              </a:rPr>
              <a:t>(m + r + 1)  2</a:t>
            </a:r>
            <a:r>
              <a:rPr lang="en-US" altLang="zh-CN" baseline="30000" dirty="0">
                <a:highlight>
                  <a:srgbClr val="FFFF00"/>
                </a:highlight>
                <a:sym typeface="Symbol" panose="05050102010706020507" pitchFamily="18" charset="2"/>
              </a:rPr>
              <a:t>r</a:t>
            </a:r>
            <a:endParaRPr lang="en-US" altLang="zh-CN" dirty="0">
              <a:highlight>
                <a:srgbClr val="FFFF00"/>
              </a:highlight>
              <a:sym typeface="Symbol" panose="05050102010706020507" pitchFamily="18" charset="2"/>
            </a:endParaRPr>
          </a:p>
          <a:p>
            <a:pPr marL="692150" lvl="1" indent="-342900">
              <a:lnSpc>
                <a:spcPts val="3600"/>
              </a:lnSpc>
            </a:pPr>
            <a:r>
              <a:rPr lang="zh-CN" altLang="en-US" dirty="0">
                <a:sym typeface="Symbol" panose="05050102010706020507" pitchFamily="18" charset="2"/>
              </a:rPr>
              <a:t>在给定</a:t>
            </a:r>
            <a:r>
              <a:rPr lang="en-US" altLang="zh-CN" dirty="0">
                <a:sym typeface="Symbol" panose="05050102010706020507" pitchFamily="18" charset="2"/>
              </a:rPr>
              <a:t>m</a:t>
            </a:r>
            <a:r>
              <a:rPr lang="zh-CN" altLang="en-US" dirty="0">
                <a:sym typeface="Symbol" panose="05050102010706020507" pitchFamily="18" charset="2"/>
              </a:rPr>
              <a:t>的情况下，利用该式可以得出纠正单比特错误校验位数的下界</a:t>
            </a:r>
            <a:endParaRPr lang="zh-CN" altLang="en-US" dirty="0"/>
          </a:p>
          <a:p>
            <a:pPr lvl="2" indent="-336550">
              <a:lnSpc>
                <a:spcPts val="3400"/>
              </a:lnSpc>
              <a:buFont typeface="微软雅黑" panose="020B0503020204020204" pitchFamily="34" charset="-122"/>
              <a:buChar char="−"/>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a:xfrm>
            <a:off x="1551709" y="2780693"/>
            <a:ext cx="8885459" cy="1296615"/>
          </a:xfrm>
        </p:spPr>
        <p:txBody>
          <a:bodyPr>
            <a:normAutofit fontScale="92500"/>
          </a:bodyPr>
          <a:lstStyle/>
          <a:p>
            <a:pPr marL="0" indent="0">
              <a:buNone/>
            </a:pPr>
            <a:r>
              <a:rPr lang="zh-CN" altLang="en-US" dirty="0">
                <a:solidFill>
                  <a:srgbClr val="FF0000"/>
                </a:solidFill>
              </a:rPr>
              <a:t>课练：</a:t>
            </a:r>
            <a:endParaRPr lang="en-US" altLang="zh-CN" dirty="0">
              <a:solidFill>
                <a:srgbClr val="FF0000"/>
              </a:solidFill>
            </a:endParaRPr>
          </a:p>
          <a:p>
            <a:pPr marL="0" indent="0">
              <a:buNone/>
            </a:pPr>
            <a:r>
              <a:rPr lang="en-US" altLang="zh-CN" dirty="0">
                <a:solidFill>
                  <a:srgbClr val="FF0000"/>
                </a:solidFill>
              </a:rPr>
              <a:t>r=1</a:t>
            </a:r>
            <a:r>
              <a:rPr lang="zh-CN" altLang="en-US" dirty="0">
                <a:solidFill>
                  <a:srgbClr val="FF0000"/>
                </a:solidFill>
              </a:rPr>
              <a:t>、</a:t>
            </a:r>
            <a:r>
              <a:rPr lang="en-US" altLang="zh-CN" dirty="0">
                <a:solidFill>
                  <a:srgbClr val="FF0000"/>
                </a:solidFill>
              </a:rPr>
              <a:t>2</a:t>
            </a:r>
            <a:r>
              <a:rPr lang="zh-CN" altLang="en-US" dirty="0">
                <a:solidFill>
                  <a:srgbClr val="FF0000"/>
                </a:solidFill>
              </a:rPr>
              <a:t>、</a:t>
            </a:r>
            <a:r>
              <a:rPr lang="en-US" altLang="zh-CN" dirty="0">
                <a:solidFill>
                  <a:srgbClr val="FF0000"/>
                </a:solidFill>
              </a:rPr>
              <a:t>3</a:t>
            </a:r>
            <a:r>
              <a:rPr lang="zh-CN" altLang="en-US" dirty="0">
                <a:solidFill>
                  <a:srgbClr val="FF0000"/>
                </a:solidFill>
              </a:rPr>
              <a:t>、</a:t>
            </a:r>
            <a:r>
              <a:rPr lang="en-US" altLang="zh-CN" dirty="0">
                <a:solidFill>
                  <a:srgbClr val="FF0000"/>
                </a:solidFill>
              </a:rPr>
              <a:t>4</a:t>
            </a:r>
            <a:r>
              <a:rPr lang="zh-CN" altLang="en-US" dirty="0">
                <a:solidFill>
                  <a:srgbClr val="FF0000"/>
                </a:solidFill>
              </a:rPr>
              <a:t>、</a:t>
            </a:r>
            <a:r>
              <a:rPr lang="en-US" altLang="zh-CN" dirty="0">
                <a:solidFill>
                  <a:srgbClr val="FF0000"/>
                </a:solidFill>
              </a:rPr>
              <a:t>5</a:t>
            </a:r>
            <a:r>
              <a:rPr lang="zh-CN" altLang="en-US" dirty="0">
                <a:solidFill>
                  <a:srgbClr val="FF0000"/>
                </a:solidFill>
              </a:rPr>
              <a:t>、</a:t>
            </a:r>
            <a:r>
              <a:rPr lang="en-US" altLang="zh-CN" dirty="0">
                <a:solidFill>
                  <a:srgbClr val="FF0000"/>
                </a:solidFill>
              </a:rPr>
              <a:t>6… </a:t>
            </a:r>
            <a:r>
              <a:rPr lang="zh-CN" altLang="en-US" dirty="0">
                <a:solidFill>
                  <a:srgbClr val="FF0000"/>
                </a:solidFill>
              </a:rPr>
              <a:t>分别能纠正多长码字中的单个错误？</a:t>
            </a:r>
            <a:endParaRPr lang="en-US" altLang="zh-CN" dirty="0">
              <a:solidFill>
                <a:srgbClr val="FF0000"/>
              </a:solidFill>
            </a:endParaRPr>
          </a:p>
          <a:p>
            <a:pPr marL="0" indent="0">
              <a:buNone/>
            </a:pPr>
            <a:endParaRPr lang="en-US" altLang="zh-CN" dirty="0">
              <a:solidFill>
                <a:srgbClr val="FF0000"/>
              </a:solidFill>
            </a:endParaRPr>
          </a:p>
        </p:txBody>
      </p:sp>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页脚占位符 2"/>
          <p:cNvSpPr>
            <a:spLocks noGrp="1"/>
          </p:cNvSpPr>
          <p:nvPr>
            <p:ph type="ftr" sz="quarter" idx="10"/>
          </p:nvPr>
        </p:nvSpPr>
        <p:spPr/>
        <p:txBody>
          <a:bodyPr/>
          <a:lstStyle/>
          <a:p>
            <a:pPr>
              <a:defRPr/>
            </a:pPr>
            <a:r>
              <a:rPr lang="en-US" altLang="zh-CN"/>
              <a:t>Computer Network</a:t>
            </a:r>
            <a:endParaRPr lang="en-US" altLang="zh-CN"/>
          </a:p>
        </p:txBody>
      </p:sp>
      <p:sp>
        <p:nvSpPr>
          <p:cNvPr id="4" name="灯片编号占位符 3"/>
          <p:cNvSpPr>
            <a:spLocks noGrp="1"/>
          </p:cNvSpPr>
          <p:nvPr>
            <p:ph type="sldNum" sz="quarter" idx="11"/>
          </p:nvPr>
        </p:nvSpPr>
        <p:spPr/>
        <p:txBody>
          <a:bodyPr/>
          <a:lstStyle/>
          <a:p>
            <a:pPr>
              <a:defRPr/>
            </a:pPr>
            <a:fld id="{DF8DEF6E-0B00-4609-97FA-5DF125261ACD}" type="slidenum">
              <a:rPr lang="en-US" altLang="zh-CN" smtClean="0"/>
            </a:fld>
            <a:endParaRPr lang="en-US" altLang="zh-CN"/>
          </a:p>
        </p:txBody>
      </p:sp>
      <p:sp>
        <p:nvSpPr>
          <p:cNvPr id="5" name="日期占位符 4"/>
          <p:cNvSpPr>
            <a:spLocks noGrp="1"/>
          </p:cNvSpPr>
          <p:nvPr>
            <p:ph type="dt" sz="half" idx="12"/>
          </p:nvPr>
        </p:nvSpPr>
        <p:spPr/>
        <p:txBody>
          <a:bodyPr/>
          <a:lstStyle/>
          <a:p>
            <a:pPr>
              <a:defRPr/>
            </a:pPr>
            <a:fld id="{3448096D-4C4A-4251-8D73-B45B9D0D4728}" type="datetime1">
              <a:rPr lang="zh-CN" altLang="en-US" smtClean="0"/>
            </a:fld>
            <a:endParaRPr lang="en-US" altLang="zh-CN"/>
          </a:p>
        </p:txBody>
      </p:sp>
      <p:pic>
        <p:nvPicPr>
          <p:cNvPr id="6" name="图片 5"/>
          <p:cNvPicPr>
            <a:picLocks noChangeAspect="1"/>
          </p:cNvPicPr>
          <p:nvPr/>
        </p:nvPicPr>
        <p:blipFill>
          <a:blip r:embed="rId1"/>
          <a:stretch>
            <a:fillRect/>
          </a:stretch>
        </p:blipFill>
        <p:spPr>
          <a:xfrm>
            <a:off x="1894462" y="1412776"/>
            <a:ext cx="8403077" cy="492463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92340"/>
            <a:ext cx="10515600" cy="4736320"/>
          </a:xfrm>
        </p:spPr>
        <p:txBody>
          <a:bodyPr>
            <a:noAutofit/>
          </a:bodyPr>
          <a:lstStyle/>
          <a:p>
            <a:pPr>
              <a:lnSpc>
                <a:spcPct val="150000"/>
              </a:lnSpc>
            </a:pPr>
            <a:r>
              <a:rPr kumimoji="1" lang="zh-CN" altLang="en-US" sz="2600" dirty="0">
                <a:solidFill>
                  <a:srgbClr val="C00000"/>
                </a:solidFill>
              </a:rPr>
              <a:t>目标</a:t>
            </a:r>
            <a:r>
              <a:rPr kumimoji="1" lang="zh-CN" altLang="en-US" sz="2600" dirty="0"/>
              <a:t>：</a:t>
            </a:r>
            <a:r>
              <a:rPr kumimoji="1" lang="zh-CN" altLang="en-US" sz="2600" dirty="0">
                <a:solidFill>
                  <a:schemeClr val="accent1">
                    <a:lumMod val="75000"/>
                  </a:schemeClr>
                </a:solidFill>
              </a:rPr>
              <a:t>以</a:t>
            </a:r>
            <a:r>
              <a:rPr lang="zh-CN" altLang="en-US" sz="2600" dirty="0">
                <a:solidFill>
                  <a:schemeClr val="accent1">
                    <a:lumMod val="75000"/>
                  </a:schemeClr>
                </a:solidFill>
              </a:rPr>
              <a:t>奇偶校验为基础，如何找到出错位置，提供</a:t>
            </a:r>
            <a:r>
              <a:rPr lang="en-US" altLang="zh-CN" sz="2600" dirty="0">
                <a:solidFill>
                  <a:schemeClr val="accent1">
                    <a:lumMod val="75000"/>
                  </a:schemeClr>
                </a:solidFill>
              </a:rPr>
              <a:t>1</a:t>
            </a:r>
            <a:r>
              <a:rPr lang="zh-CN" altLang="en-US" sz="2600" dirty="0">
                <a:solidFill>
                  <a:schemeClr val="accent1">
                    <a:lumMod val="75000"/>
                  </a:schemeClr>
                </a:solidFill>
              </a:rPr>
              <a:t>位纠错能力</a:t>
            </a:r>
            <a:endParaRPr kumimoji="1" lang="en-US" altLang="zh-CN" sz="2600" dirty="0">
              <a:solidFill>
                <a:schemeClr val="accent1">
                  <a:lumMod val="75000"/>
                </a:schemeClr>
              </a:solidFill>
            </a:endParaRPr>
          </a:p>
          <a:p>
            <a:pPr>
              <a:lnSpc>
                <a:spcPct val="150000"/>
              </a:lnSpc>
            </a:pPr>
            <a:r>
              <a:rPr kumimoji="1" lang="zh-CN" altLang="en-US" sz="2600" dirty="0"/>
              <a:t>理解海明码编码过程，以 </a:t>
            </a:r>
            <a:r>
              <a:rPr kumimoji="1" lang="en-US" altLang="zh-CN" sz="2600" dirty="0"/>
              <a:t>(15, 11)</a:t>
            </a:r>
            <a:r>
              <a:rPr kumimoji="1" lang="zh-CN" altLang="en-US" sz="2600" dirty="0"/>
              <a:t>海明码为例</a:t>
            </a:r>
            <a:endParaRPr kumimoji="1" lang="en-US" altLang="zh-CN" sz="2600" dirty="0"/>
          </a:p>
          <a:p>
            <a:pPr lvl="1">
              <a:lnSpc>
                <a:spcPct val="150000"/>
              </a:lnSpc>
            </a:pPr>
            <a:r>
              <a:rPr kumimoji="1" lang="zh-CN" altLang="en-US" sz="2200" dirty="0"/>
              <a:t>例如：</a:t>
            </a:r>
            <a:r>
              <a:rPr kumimoji="1" lang="en-US" altLang="zh-CN" sz="2200" dirty="0"/>
              <a:t>11</a:t>
            </a:r>
            <a:r>
              <a:rPr kumimoji="1" lang="zh-CN" altLang="en-US" sz="2200" dirty="0"/>
              <a:t>比特的数据</a:t>
            </a:r>
            <a:r>
              <a:rPr kumimoji="1" lang="en-US" altLang="zh-CN" sz="2200" dirty="0">
                <a:solidFill>
                  <a:srgbClr val="C00000"/>
                </a:solidFill>
              </a:rPr>
              <a:t>01011001101</a:t>
            </a:r>
            <a:endParaRPr kumimoji="1" lang="en-US" altLang="zh-CN" sz="2200" dirty="0">
              <a:solidFill>
                <a:srgbClr val="C00000"/>
              </a:solidFill>
            </a:endParaRPr>
          </a:p>
          <a:p>
            <a:pPr lvl="1">
              <a:lnSpc>
                <a:spcPct val="150000"/>
              </a:lnSpc>
            </a:pPr>
            <a:r>
              <a:rPr kumimoji="1" lang="en-US" altLang="zh-CN" sz="2200" dirty="0"/>
              <a:t>11</a:t>
            </a:r>
            <a:r>
              <a:rPr kumimoji="1" lang="zh-CN" altLang="en-US" sz="2200" dirty="0"/>
              <a:t>比特数据按顺序放入数据位</a:t>
            </a:r>
            <a:endParaRPr kumimoji="1" lang="en-US" altLang="zh-CN" sz="2200" dirty="0"/>
          </a:p>
          <a:p>
            <a:pPr lvl="1">
              <a:lnSpc>
                <a:spcPct val="150000"/>
              </a:lnSpc>
            </a:pPr>
            <a:r>
              <a:rPr kumimoji="1" lang="zh-CN" altLang="en-US" dirty="0">
                <a:solidFill>
                  <a:srgbClr val="C00000"/>
                </a:solidFill>
              </a:rPr>
              <a:t>校验位：</a:t>
            </a:r>
            <a:r>
              <a:rPr kumimoji="1" lang="en-US" altLang="zh-CN" dirty="0"/>
              <a:t>2</a:t>
            </a:r>
            <a:r>
              <a:rPr kumimoji="1" lang="zh-CN" altLang="en-US" dirty="0"/>
              <a:t>的幂次方位（记为</a:t>
            </a:r>
            <a:r>
              <a:rPr kumimoji="1" lang="en-US" altLang="zh-CN" dirty="0"/>
              <a:t>p1, p2, p4, p8</a:t>
            </a:r>
            <a:r>
              <a:rPr kumimoji="1" lang="zh-CN" altLang="en-US" dirty="0"/>
              <a:t>）</a:t>
            </a:r>
            <a:endParaRPr kumimoji="1" lang="en-US" altLang="zh-CN" dirty="0"/>
          </a:p>
          <a:p>
            <a:pPr lvl="1">
              <a:lnSpc>
                <a:spcPct val="150000"/>
              </a:lnSpc>
            </a:pPr>
            <a:r>
              <a:rPr kumimoji="1" lang="zh-CN" altLang="en-US" sz="2200" dirty="0"/>
              <a:t>每个校验位对数据位的子集做校验，缩小定位错误的范围</a:t>
            </a:r>
            <a:endParaRPr kumimoji="1" lang="en-US" altLang="zh-CN" sz="2200" dirty="0"/>
          </a:p>
          <a:p>
            <a:pPr lvl="1">
              <a:lnSpc>
                <a:spcPct val="150000"/>
              </a:lnSpc>
            </a:pPr>
            <a:r>
              <a:rPr kumimoji="1" lang="zh-CN" altLang="en-US" sz="2200" dirty="0">
                <a:solidFill>
                  <a:srgbClr val="C00000"/>
                </a:solidFill>
              </a:rPr>
              <a:t>问题：每个校验位如何计算？</a:t>
            </a:r>
            <a:endParaRPr kumimoji="1" lang="en-US" altLang="zh-CN" sz="2200" dirty="0">
              <a:solidFill>
                <a:srgbClr val="C00000"/>
              </a:solidFill>
            </a:endParaRPr>
          </a:p>
          <a:p>
            <a:pPr lvl="1">
              <a:lnSpc>
                <a:spcPct val="150000"/>
              </a:lnSpc>
            </a:pPr>
            <a:r>
              <a:rPr kumimoji="1" lang="zh-CN" altLang="en-US" sz="2200" dirty="0"/>
              <a:t>海明码缺省为偶校验（也可以使用奇校验）</a:t>
            </a:r>
            <a:endParaRPr kumimoji="1" lang="en-US" altLang="zh-CN" sz="2200" dirty="0"/>
          </a:p>
          <a:p>
            <a:pPr lvl="1">
              <a:lnSpc>
                <a:spcPct val="150000"/>
              </a:lnSpc>
            </a:pP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3" name="矩形 42"/>
          <p:cNvSpPr/>
          <p:nvPr/>
        </p:nvSpPr>
        <p:spPr>
          <a:xfrm>
            <a:off x="9008032" y="5009781"/>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9148894" y="4939415"/>
            <a:ext cx="955209" cy="369332"/>
          </a:xfrm>
          <a:prstGeom prst="rect">
            <a:avLst/>
          </a:prstGeom>
          <a:noFill/>
        </p:spPr>
        <p:txBody>
          <a:bodyPr wrap="square" rtlCol="0">
            <a:spAutoFit/>
          </a:bodyPr>
          <a:lstStyle/>
          <a:p>
            <a:pPr algn="ctr"/>
            <a:r>
              <a:rPr lang="zh-CN" altLang="en-US" dirty="0"/>
              <a:t>校验位</a:t>
            </a:r>
            <a:endParaRPr lang="zh-CN" altLang="en-US" dirty="0"/>
          </a:p>
        </p:txBody>
      </p:sp>
      <p:sp>
        <p:nvSpPr>
          <p:cNvPr id="45" name="矩形 44"/>
          <p:cNvSpPr/>
          <p:nvPr/>
        </p:nvSpPr>
        <p:spPr>
          <a:xfrm>
            <a:off x="10175777" y="5009781"/>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0328153" y="4939415"/>
            <a:ext cx="955209" cy="369332"/>
          </a:xfrm>
          <a:prstGeom prst="rect">
            <a:avLst/>
          </a:prstGeom>
          <a:noFill/>
        </p:spPr>
        <p:txBody>
          <a:bodyPr wrap="square" rtlCol="0">
            <a:spAutoFit/>
          </a:bodyPr>
          <a:lstStyle/>
          <a:p>
            <a:pPr algn="ctr"/>
            <a:r>
              <a:rPr lang="zh-CN" altLang="en-US" dirty="0"/>
              <a:t>数据位</a:t>
            </a:r>
            <a:endParaRPr lang="zh-CN" altLang="en-US" dirty="0"/>
          </a:p>
        </p:txBody>
      </p:sp>
      <p:sp>
        <p:nvSpPr>
          <p:cNvPr id="47" name="文本框 46"/>
          <p:cNvSpPr txBox="1"/>
          <p:nvPr/>
        </p:nvSpPr>
        <p:spPr>
          <a:xfrm>
            <a:off x="8410938" y="5376196"/>
            <a:ext cx="3370198" cy="369332"/>
          </a:xfrm>
          <a:prstGeom prst="rect">
            <a:avLst/>
          </a:prstGeom>
          <a:noFill/>
        </p:spPr>
        <p:txBody>
          <a:bodyPr wrap="square" rtlCol="0">
            <a:spAutoFit/>
          </a:bodyPr>
          <a:lstStyle/>
          <a:p>
            <a:pPr algn="ctr"/>
            <a:r>
              <a:rPr lang="zh-CN" altLang="en-US" dirty="0"/>
              <a:t>右下角数字为码字中位序号</a:t>
            </a:r>
            <a:endParaRPr lang="zh-CN" altLang="en-US" dirty="0"/>
          </a:p>
        </p:txBody>
      </p:sp>
      <p:graphicFrame>
        <p:nvGraphicFramePr>
          <p:cNvPr id="49" name="表格 48"/>
          <p:cNvGraphicFramePr>
            <a:graphicFrameLocks noGrp="1"/>
          </p:cNvGraphicFramePr>
          <p:nvPr/>
        </p:nvGraphicFramePr>
        <p:xfrm>
          <a:off x="9090064" y="3365677"/>
          <a:ext cx="460029" cy="1218177"/>
        </p:xfrm>
        <a:graphic>
          <a:graphicData uri="http://schemas.openxmlformats.org/drawingml/2006/table">
            <a:tbl>
              <a:tblPr firstRow="1" bandRow="1">
                <a:tableStyleId>{5C22544A-7EE6-4342-B048-85BDC9FD1C3A}</a:tableStyleId>
              </a:tblPr>
              <a:tblGrid>
                <a:gridCol w="460029"/>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50" name="表格 49"/>
          <p:cNvGraphicFramePr>
            <a:graphicFrameLocks noGrp="1"/>
          </p:cNvGraphicFramePr>
          <p:nvPr/>
        </p:nvGraphicFramePr>
        <p:xfrm>
          <a:off x="9550093" y="2953908"/>
          <a:ext cx="1426536" cy="1630128"/>
        </p:xfrm>
        <a:graphic>
          <a:graphicData uri="http://schemas.openxmlformats.org/drawingml/2006/table">
            <a:tbl>
              <a:tblPr firstRow="1" bandRow="1">
                <a:tableStyleId>{5C22544A-7EE6-4342-B048-85BDC9FD1C3A}</a:tableStyleId>
              </a:tblPr>
              <a:tblGrid>
                <a:gridCol w="475512"/>
                <a:gridCol w="475512"/>
                <a:gridCol w="475512"/>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1" name="文本框 50"/>
          <p:cNvSpPr txBox="1"/>
          <p:nvPr/>
        </p:nvSpPr>
        <p:spPr>
          <a:xfrm>
            <a:off x="9779175" y="32031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0265509" y="3192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10726512" y="31926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314739" y="3604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9779174"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0260132"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10726512" y="35926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9314739" y="40011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9777620" y="399477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0222032" y="400094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0716663" y="40042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9270733" y="43996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746314" y="44059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0228382" y="43933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10703963" y="439475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2457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B630472-F32D-4F63-AC0C-7766CD1D8297}"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D1C9C373-2E1E-417A-B39D-35DF17D290D5}" type="datetime1">
              <a:rPr lang="zh-CN" altLang="en-US"/>
            </a:fld>
            <a:endParaRPr lang="en-US" altLang="zh-CN"/>
          </a:p>
        </p:txBody>
      </p:sp>
      <p:sp>
        <p:nvSpPr>
          <p:cNvPr id="24582" name="Rectangle 3"/>
          <p:cNvSpPr>
            <a:spLocks noGrp="1" noChangeArrowheads="1"/>
          </p:cNvSpPr>
          <p:nvPr>
            <p:ph type="body" idx="1"/>
          </p:nvPr>
        </p:nvSpPr>
        <p:spPr>
          <a:xfrm>
            <a:off x="2381250" y="1556792"/>
            <a:ext cx="7467600" cy="4114800"/>
          </a:xfrm>
        </p:spPr>
        <p:txBody>
          <a:bodyPr/>
          <a:lstStyle/>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能纠一位错</a:t>
            </a:r>
            <a:endParaRPr lang="zh-CN" altLang="en-US" sz="2400" dirty="0">
              <a:latin typeface="Verdana" panose="020B0604030504040204" pitchFamily="34" charset="0"/>
              <a:ea typeface="楷体_GB2312" pitchFamily="49" charset="-122"/>
            </a:endParaRP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编码形式：</a:t>
            </a:r>
            <a:endParaRPr lang="zh-CN" altLang="en-US" sz="2400" dirty="0">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1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2</a:t>
            </a:r>
            <a:r>
              <a:rPr lang="en-US" altLang="zh-CN" sz="2400" baseline="-300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3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4</a:t>
            </a:r>
            <a:r>
              <a:rPr lang="en-US" altLang="zh-CN" sz="2400" baseline="-300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6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7 </a:t>
            </a:r>
            <a:r>
              <a:rPr lang="en-US" altLang="zh-CN" sz="2400" baseline="-300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8</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9</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10</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11  </a:t>
            </a:r>
            <a:r>
              <a:rPr lang="en-US" altLang="zh-CN" sz="2400" dirty="0">
                <a:latin typeface="Verdana" panose="020B0604030504040204" pitchFamily="34" charset="0"/>
                <a:ea typeface="楷体_GB2312" pitchFamily="49" charset="-122"/>
              </a:rPr>
              <a:t>...</a:t>
            </a:r>
            <a:endParaRPr lang="en-US" altLang="zh-CN" sz="2400" dirty="0">
              <a:latin typeface="Verdana" panose="020B0604030504040204" pitchFamily="34" charset="0"/>
              <a:ea typeface="楷体_GB2312" pitchFamily="49" charset="-122"/>
            </a:endParaRPr>
          </a:p>
          <a:p>
            <a:pPr eaLnBrk="1" hangingPunct="1">
              <a:lnSpc>
                <a:spcPct val="115000"/>
              </a:lnSpc>
            </a:pPr>
            <a:endParaRPr lang="en-US" altLang="zh-CN" sz="2400" dirty="0">
              <a:latin typeface="Verdana" panose="020B0604030504040204" pitchFamily="34" charset="0"/>
              <a:ea typeface="楷体_GB2312" pitchFamily="49" charset="-122"/>
            </a:endParaRPr>
          </a:p>
          <a:p>
            <a:pPr eaLnBrk="1" hangingPunct="1">
              <a:lnSpc>
                <a:spcPct val="115000"/>
              </a:lnSpc>
              <a:buClr>
                <a:schemeClr val="tx1"/>
              </a:buClr>
              <a:buFont typeface="Wingdings" panose="05000000000000000000" pitchFamily="2" charset="2"/>
              <a:buChar char="Ø"/>
            </a:pPr>
            <a:r>
              <a:rPr lang="en-US" altLang="zh-CN" sz="2400" dirty="0">
                <a:latin typeface="Verdana" panose="020B0604030504040204" pitchFamily="34" charset="0"/>
                <a:ea typeface="楷体_GB2312" pitchFamily="49" charset="-122"/>
              </a:rPr>
              <a:t>r</a:t>
            </a:r>
            <a:r>
              <a:rPr lang="zh-CN" altLang="en-US" sz="2400" dirty="0">
                <a:latin typeface="Verdana" panose="020B0604030504040204" pitchFamily="34" charset="0"/>
                <a:ea typeface="楷体_GB2312" pitchFamily="49" charset="-122"/>
              </a:rPr>
              <a:t>为效验位，其下标为</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的整次幂的位。</a:t>
            </a:r>
            <a:endParaRPr lang="zh-CN" altLang="en-US" sz="2400" dirty="0">
              <a:latin typeface="Verdana" panose="020B0604030504040204" pitchFamily="34" charset="0"/>
              <a:ea typeface="楷体_GB2312" pitchFamily="49" charset="-122"/>
            </a:endParaRPr>
          </a:p>
          <a:p>
            <a:pPr algn="just" eaLnBrk="1" hangingPunct="1">
              <a:lnSpc>
                <a:spcPct val="115000"/>
              </a:lnSpc>
              <a:buClr>
                <a:schemeClr val="tx1"/>
              </a:buClr>
              <a:buFont typeface="Wingdings" panose="05000000000000000000" pitchFamily="2" charset="2"/>
              <a:buChar char="Ø"/>
            </a:pPr>
            <a:r>
              <a:rPr lang="en-US" altLang="zh-CN" sz="2400" dirty="0">
                <a:latin typeface="Verdana" panose="020B0604030504040204" pitchFamily="34" charset="0"/>
                <a:ea typeface="楷体_GB2312" pitchFamily="49" charset="-122"/>
              </a:rPr>
              <a:t>m</a:t>
            </a:r>
            <a:r>
              <a:rPr lang="zh-CN" altLang="en-US" sz="2400" dirty="0">
                <a:latin typeface="Verdana" panose="020B0604030504040204" pitchFamily="34" charset="0"/>
                <a:ea typeface="楷体_GB2312" pitchFamily="49" charset="-122"/>
              </a:rPr>
              <a:t>信息位，其下标为</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的非整次幂的位。</a:t>
            </a:r>
            <a:endParaRPr lang="zh-CN" altLang="en-US" sz="2400" dirty="0">
              <a:latin typeface="Verdana" panose="020B0604030504040204" pitchFamily="34" charset="0"/>
              <a:ea typeface="楷体_GB2312" pitchFamily="49" charset="-122"/>
            </a:endParaRPr>
          </a:p>
          <a:p>
            <a:pPr algn="just" eaLnBrk="1" hangingPunct="1">
              <a:lnSpc>
                <a:spcPct val="115000"/>
              </a:lnSpc>
              <a:buClr>
                <a:schemeClr val="tx1"/>
              </a:buClr>
              <a:buFont typeface="Wingdings" panose="05000000000000000000" pitchFamily="2" charset="2"/>
              <a:buChar char="Ø"/>
            </a:pPr>
            <a:r>
              <a:rPr lang="zh-CN" altLang="en-US" sz="2400" dirty="0">
                <a:latin typeface="Verdana" panose="020B0604030504040204" pitchFamily="34" charset="0"/>
                <a:ea typeface="楷体_GB2312" pitchFamily="49" charset="-122"/>
              </a:rPr>
              <a:t>信息位第</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位，和相应</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的整次幂的校验位有关。</a:t>
            </a:r>
            <a:endParaRPr lang="zh-CN" altLang="en-US" sz="2400" dirty="0">
              <a:latin typeface="Verdana" panose="020B0604030504040204" pitchFamily="34" charset="0"/>
              <a:ea typeface="楷体_GB2312" pitchFamily="49" charset="-122"/>
            </a:endParaRPr>
          </a:p>
        </p:txBody>
      </p:sp>
      <p:sp>
        <p:nvSpPr>
          <p:cNvPr id="7" name="Title 6"/>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endParaRPr lang="en-US" dirty="0"/>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256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BCC87A-8404-442C-B1FB-1CDF8977C040}"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8" name="日期占位符 5"/>
          <p:cNvSpPr>
            <a:spLocks noGrp="1"/>
          </p:cNvSpPr>
          <p:nvPr>
            <p:ph type="dt" sz="quarter" idx="12"/>
          </p:nvPr>
        </p:nvSpPr>
        <p:spPr/>
        <p:txBody>
          <a:bodyPr/>
          <a:lstStyle/>
          <a:p>
            <a:pPr>
              <a:defRPr/>
            </a:pPr>
            <a:fld id="{569BA861-AE3B-41F6-9985-9FDBDB7ACDFC}" type="datetime1">
              <a:rPr lang="zh-CN" altLang="en-US"/>
            </a:fld>
            <a:endParaRPr lang="en-US" altLang="zh-CN"/>
          </a:p>
        </p:txBody>
      </p:sp>
      <p:sp>
        <p:nvSpPr>
          <p:cNvPr id="845826" name="Rectangle 2"/>
          <p:cNvSpPr>
            <a:spLocks noGrp="1" noChangeArrowheads="1"/>
          </p:cNvSpPr>
          <p:nvPr>
            <p:ph type="title"/>
          </p:nvPr>
        </p:nvSpPr>
        <p:spPr>
          <a:xfrm>
            <a:off x="2209800" y="685800"/>
            <a:ext cx="6096000" cy="533400"/>
          </a:xfrm>
        </p:spPr>
        <p:txBody>
          <a:bodyPr/>
          <a:lstStyle/>
          <a:p>
            <a:pPr eaLnBrk="1" hangingPunct="1">
              <a:defRPr/>
            </a:pPr>
            <a:r>
              <a:rPr lang="zh-CN" altLang="en-US" sz="2400" b="1" dirty="0">
                <a:solidFill>
                  <a:srgbClr val="FF0000"/>
                </a:solidFill>
                <a:latin typeface="楷体_GB2312" pitchFamily="49" charset="-122"/>
              </a:rPr>
              <a:t>例：</a:t>
            </a:r>
            <a:endParaRPr lang="zh-CN" altLang="en-US" sz="2400" b="1" dirty="0">
              <a:solidFill>
                <a:srgbClr val="FF0000"/>
              </a:solidFill>
              <a:latin typeface="楷体_GB2312" pitchFamily="49" charset="-122"/>
            </a:endParaRPr>
          </a:p>
        </p:txBody>
      </p:sp>
      <p:sp>
        <p:nvSpPr>
          <p:cNvPr id="25606" name="Rectangle 3"/>
          <p:cNvSpPr>
            <a:spLocks noGrp="1" noChangeArrowheads="1"/>
          </p:cNvSpPr>
          <p:nvPr>
            <p:ph type="body" idx="1"/>
          </p:nvPr>
        </p:nvSpPr>
        <p:spPr>
          <a:xfrm>
            <a:off x="2286000" y="1295400"/>
            <a:ext cx="3505200" cy="2209800"/>
          </a:xfrm>
        </p:spPr>
        <p:txBody>
          <a:bodyPr/>
          <a:lstStyle/>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3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2</a:t>
            </a:r>
            <a:r>
              <a:rPr lang="en-US" altLang="zh-CN" sz="2400" dirty="0">
                <a:latin typeface="Verdana" panose="020B0604030504040204" pitchFamily="34" charset="0"/>
                <a:ea typeface="楷体_GB2312" pitchFamily="49" charset="-122"/>
              </a:rPr>
              <a:t> </a:t>
            </a:r>
            <a:r>
              <a:rPr lang="zh-CN" altLang="en-US" sz="2400" dirty="0">
                <a:latin typeface="Verdana" panose="020B0604030504040204" pitchFamily="34" charset="0"/>
                <a:ea typeface="楷体_GB2312" pitchFamily="49" charset="-122"/>
              </a:rPr>
              <a:t>有关 </a:t>
            </a:r>
            <a:endParaRPr lang="zh-CN" altLang="en-US"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4 </a:t>
            </a:r>
            <a:r>
              <a:rPr lang="zh-CN" altLang="en-US" sz="2400" dirty="0">
                <a:latin typeface="Verdana" panose="020B0604030504040204" pitchFamily="34" charset="0"/>
                <a:ea typeface="楷体_GB2312" pitchFamily="49" charset="-122"/>
              </a:rPr>
              <a:t>有关</a:t>
            </a:r>
            <a:endParaRPr lang="zh-CN" altLang="en-US"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6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2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4</a:t>
            </a:r>
            <a:r>
              <a:rPr lang="zh-CN" altLang="en-US" sz="2400" dirty="0">
                <a:latin typeface="Verdana" panose="020B0604030504040204" pitchFamily="34" charset="0"/>
                <a:ea typeface="楷体_GB2312" pitchFamily="49" charset="-122"/>
              </a:rPr>
              <a:t>有关</a:t>
            </a:r>
            <a:endParaRPr lang="zh-CN" altLang="en-US"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7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2 </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4</a:t>
            </a:r>
            <a:r>
              <a:rPr lang="zh-CN" altLang="en-US" sz="2400" dirty="0">
                <a:latin typeface="Verdana" panose="020B0604030504040204" pitchFamily="34" charset="0"/>
                <a:ea typeface="楷体_GB2312" pitchFamily="49" charset="-122"/>
              </a:rPr>
              <a:t>有关</a:t>
            </a:r>
            <a:endParaRPr lang="zh-CN" altLang="en-US" sz="2400" dirty="0">
              <a:latin typeface="Verdana" panose="020B0604030504040204" pitchFamily="34" charset="0"/>
              <a:ea typeface="楷体_GB2312" pitchFamily="49" charset="-122"/>
            </a:endParaRPr>
          </a:p>
        </p:txBody>
      </p:sp>
      <p:graphicFrame>
        <p:nvGraphicFramePr>
          <p:cNvPr id="25607" name="Object 4"/>
          <p:cNvGraphicFramePr>
            <a:graphicFrameLocks noChangeAspect="1"/>
          </p:cNvGraphicFramePr>
          <p:nvPr/>
        </p:nvGraphicFramePr>
        <p:xfrm>
          <a:off x="5995737" y="1420813"/>
          <a:ext cx="3421336" cy="1671637"/>
        </p:xfrm>
        <a:graphic>
          <a:graphicData uri="http://schemas.openxmlformats.org/presentationml/2006/ole">
            <mc:AlternateContent xmlns:mc="http://schemas.openxmlformats.org/markup-compatibility/2006">
              <mc:Choice xmlns:v="urn:schemas-microsoft-com:vml" Requires="v">
                <p:oleObj spid="_x0000_s0" name="Equation" r:id="rId1" imgW="1511300" imgH="914400" progId="Equation.DSMT4">
                  <p:embed/>
                </p:oleObj>
              </mc:Choice>
              <mc:Fallback>
                <p:oleObj name="Equation" r:id="rId1" imgW="1511300" imgH="9144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5737" y="1420813"/>
                        <a:ext cx="3421336" cy="1671637"/>
                      </a:xfrm>
                      <a:prstGeom prst="rect">
                        <a:avLst/>
                      </a:prstGeom>
                      <a:solidFill>
                        <a:schemeClr val="accent1"/>
                      </a:solidFill>
                      <a:ln w="9525">
                        <a:solidFill>
                          <a:schemeClr val="bg1"/>
                        </a:solidFill>
                        <a:miter lim="800000"/>
                        <a:headEnd/>
                        <a:tailEnd/>
                      </a:ln>
                    </p:spPr>
                  </p:pic>
                </p:oleObj>
              </mc:Fallback>
            </mc:AlternateContent>
          </a:graphicData>
        </a:graphic>
      </p:graphicFrame>
      <p:sp>
        <p:nvSpPr>
          <p:cNvPr id="845829" name="Text Box 5"/>
          <p:cNvSpPr txBox="1">
            <a:spLocks noChangeArrowheads="1"/>
          </p:cNvSpPr>
          <p:nvPr/>
        </p:nvSpPr>
        <p:spPr bwMode="auto">
          <a:xfrm>
            <a:off x="2209801" y="3763963"/>
            <a:ext cx="7199313" cy="2308324"/>
          </a:xfrm>
          <a:prstGeom prst="rect">
            <a:avLst/>
          </a:prstGeom>
          <a:noFill/>
          <a:ln>
            <a:noFill/>
          </a:ln>
          <a:effectLst/>
        </p:spPr>
        <p:txBody>
          <a:bodyPr>
            <a:spAutoFit/>
          </a:bodyPr>
          <a:lstStyle/>
          <a:p>
            <a:pPr eaLnBrk="1" hangingPunct="1">
              <a:lnSpc>
                <a:spcPct val="110000"/>
              </a:lnSpc>
              <a:spcBef>
                <a:spcPct val="50000"/>
              </a:spcBef>
              <a:buClr>
                <a:schemeClr val="tx1"/>
              </a:buClr>
              <a:buSzPct val="80000"/>
              <a:buFont typeface="Wingdings" panose="05000000000000000000" pitchFamily="2" charset="2"/>
              <a:buNone/>
              <a:defRPr/>
            </a:pPr>
            <a:r>
              <a:rPr kumimoji="1" lang="zh-CN" altLang="en-US" sz="2400" dirty="0">
                <a:solidFill>
                  <a:srgbClr val="0000FF"/>
                </a:solidFill>
                <a:effectLst>
                  <a:outerShdw blurRad="38100" dist="38100" dir="2700000" algn="tl">
                    <a:srgbClr val="C0C0C0"/>
                  </a:outerShdw>
                </a:effectLst>
                <a:latin typeface="Verdana" panose="020B0604030504040204" pitchFamily="34" charset="0"/>
              </a:rPr>
              <a:t>例：</a:t>
            </a:r>
            <a:r>
              <a:rPr kumimoji="1" lang="zh-CN" altLang="en-US" sz="2400" dirty="0">
                <a:effectLst>
                  <a:outerShdw blurRad="38100" dist="38100" dir="2700000" algn="tl">
                    <a:srgbClr val="C0C0C0"/>
                  </a:outerShdw>
                </a:effectLst>
                <a:latin typeface="Verdana" panose="020B0604030504040204" pitchFamily="34" charset="0"/>
              </a:rPr>
              <a:t>对</a:t>
            </a:r>
            <a:r>
              <a:rPr kumimoji="1" lang="en-US" altLang="zh-CN" sz="2400" dirty="0">
                <a:effectLst>
                  <a:outerShdw blurRad="38100" dist="38100" dir="2700000" algn="tl">
                    <a:srgbClr val="C0C0C0"/>
                  </a:outerShdw>
                </a:effectLst>
                <a:latin typeface="Verdana" panose="020B0604030504040204" pitchFamily="34" charset="0"/>
              </a:rPr>
              <a:t>0010</a:t>
            </a:r>
            <a:r>
              <a:rPr kumimoji="1" lang="zh-CN" altLang="en-US" sz="2400" dirty="0">
                <a:effectLst>
                  <a:outerShdw blurRad="38100" dist="38100" dir="2700000" algn="tl">
                    <a:srgbClr val="C0C0C0"/>
                  </a:outerShdw>
                </a:effectLst>
                <a:latin typeface="Verdana" panose="020B0604030504040204" pitchFamily="34" charset="0"/>
              </a:rPr>
              <a:t>求汉明码。                  </a:t>
            </a:r>
            <a:endParaRPr kumimoji="1" lang="en-US" altLang="zh-CN" sz="2400" dirty="0">
              <a:effectLst>
                <a:outerShdw blurRad="38100" dist="38100" dir="2700000" algn="tl">
                  <a:srgbClr val="C0C0C0"/>
                </a:outerShdw>
              </a:effectLst>
              <a:latin typeface="Verdana" panose="020B0604030504040204" pitchFamily="34" charset="0"/>
            </a:endParaRPr>
          </a:p>
          <a:p>
            <a:pPr eaLnBrk="1" hangingPunct="1">
              <a:lnSpc>
                <a:spcPct val="110000"/>
              </a:lnSpc>
              <a:spcBef>
                <a:spcPct val="50000"/>
              </a:spcBef>
              <a:buClr>
                <a:schemeClr val="tx1"/>
              </a:buClr>
              <a:buSzPct val="80000"/>
              <a:buFont typeface="Wingdings" panose="05000000000000000000" pitchFamily="2" charset="2"/>
              <a:buNone/>
              <a:defRPr/>
            </a:pPr>
            <a:r>
              <a:rPr kumimoji="1" lang="zh-CN" altLang="en-US" sz="2400" dirty="0">
                <a:effectLst>
                  <a:outerShdw blurRad="38100" dist="38100" dir="2700000" algn="tl">
                    <a:srgbClr val="C0C0C0"/>
                  </a:outerShdw>
                </a:effectLst>
                <a:latin typeface="Verdana" panose="020B0604030504040204" pitchFamily="34" charset="0"/>
              </a:rPr>
              <a:t>解：</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3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5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6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7 </a:t>
            </a:r>
            <a:endParaRPr kumimoji="1" lang="en-US" altLang="zh-CN" sz="2400" dirty="0">
              <a:effectLst>
                <a:outerShdw blurRad="38100" dist="38100" dir="2700000" algn="tl">
                  <a:srgbClr val="C0C0C0"/>
                </a:outerShdw>
              </a:effectLst>
              <a:latin typeface="Verdana" panose="020B0604030504040204" pitchFamily="34" charset="0"/>
            </a:endParaRPr>
          </a:p>
          <a:p>
            <a:pPr eaLnBrk="1" hangingPunct="1">
              <a:lnSpc>
                <a:spcPct val="110000"/>
              </a:lnSpc>
              <a:defRPr/>
            </a:pPr>
            <a:r>
              <a:rPr kumimoji="1" lang="en-US" altLang="zh-CN" sz="2400" dirty="0">
                <a:latin typeface="Verdana" panose="020B0604030504040204" pitchFamily="34" charset="0"/>
              </a:rPr>
              <a:t>      0   0    1   0</a:t>
            </a:r>
            <a:endParaRPr kumimoji="1" lang="en-US" altLang="zh-CN" sz="2400" dirty="0">
              <a:effectLst>
                <a:outerShdw blurRad="38100" dist="38100" dir="2700000" algn="tl">
                  <a:srgbClr val="C0C0C0"/>
                </a:outerShdw>
              </a:effectLst>
              <a:latin typeface="Verdana" panose="020B0604030504040204" pitchFamily="34" charset="0"/>
            </a:endParaRPr>
          </a:p>
          <a:p>
            <a:pPr eaLnBrk="1" hangingPunct="1">
              <a:lnSpc>
                <a:spcPct val="110000"/>
              </a:lnSpc>
              <a:defRPr/>
            </a:pPr>
            <a:r>
              <a:rPr kumimoji="1" lang="en-US" altLang="zh-CN" sz="2400" dirty="0">
                <a:effectLst>
                  <a:outerShdw blurRad="38100" dist="38100" dir="2700000" algn="tl">
                    <a:srgbClr val="C0C0C0"/>
                  </a:outerShdw>
                </a:effectLst>
                <a:latin typeface="Verdana" panose="020B0604030504040204" pitchFamily="34" charset="0"/>
              </a:rPr>
              <a:t>    </a:t>
            </a:r>
            <a:r>
              <a:rPr kumimoji="1" lang="en-US" altLang="zh-CN" sz="2400" dirty="0">
                <a:latin typeface="Verdana" panose="020B0604030504040204" pitchFamily="34" charset="0"/>
              </a:rPr>
              <a:t>r</a:t>
            </a:r>
            <a:r>
              <a:rPr kumimoji="1" lang="en-US" altLang="zh-CN" sz="2400" baseline="-30000" dirty="0">
                <a:latin typeface="Verdana" panose="020B0604030504040204" pitchFamily="34" charset="0"/>
              </a:rPr>
              <a:t>1 </a:t>
            </a:r>
            <a:r>
              <a:rPr kumimoji="1" lang="en-US" altLang="zh-CN" sz="2400" dirty="0">
                <a:latin typeface="Verdana" panose="020B0604030504040204" pitchFamily="34" charset="0"/>
              </a:rPr>
              <a:t>r</a:t>
            </a:r>
            <a:r>
              <a:rPr kumimoji="1" lang="en-US" altLang="zh-CN" sz="2400" baseline="-30000" dirty="0">
                <a:latin typeface="Verdana" panose="020B0604030504040204" pitchFamily="34" charset="0"/>
              </a:rPr>
              <a:t>2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3 </a:t>
            </a:r>
            <a:r>
              <a:rPr kumimoji="1" lang="en-US" altLang="zh-CN" sz="2400" dirty="0">
                <a:latin typeface="Verdana" panose="020B0604030504040204" pitchFamily="34" charset="0"/>
              </a:rPr>
              <a:t>r</a:t>
            </a:r>
            <a:r>
              <a:rPr kumimoji="1" lang="en-US" altLang="zh-CN" sz="2400" baseline="-30000" dirty="0">
                <a:latin typeface="Verdana" panose="020B0604030504040204" pitchFamily="34" charset="0"/>
              </a:rPr>
              <a:t>4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5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6 </a:t>
            </a:r>
            <a:r>
              <a:rPr kumimoji="1" lang="en-US" altLang="zh-CN" sz="2400" dirty="0">
                <a:latin typeface="Verdana" panose="020B0604030504040204" pitchFamily="34" charset="0"/>
              </a:rPr>
              <a:t>m</a:t>
            </a:r>
            <a:r>
              <a:rPr kumimoji="1" lang="en-US" altLang="zh-CN" sz="2400" baseline="-30000" dirty="0">
                <a:latin typeface="Verdana" panose="020B0604030504040204" pitchFamily="34" charset="0"/>
              </a:rPr>
              <a:t>7 </a:t>
            </a:r>
            <a:endParaRPr kumimoji="1" lang="en-US" altLang="zh-CN" sz="2400" dirty="0">
              <a:effectLst>
                <a:outerShdw blurRad="38100" dist="38100" dir="2700000" algn="tl">
                  <a:srgbClr val="C0C0C0"/>
                </a:outerShdw>
              </a:effectLst>
              <a:latin typeface="Verdana" panose="020B0604030504040204" pitchFamily="34" charset="0"/>
            </a:endParaRPr>
          </a:p>
          <a:p>
            <a:pPr eaLnBrk="1" hangingPunct="1">
              <a:lnSpc>
                <a:spcPct val="110000"/>
              </a:lnSpc>
              <a:defRPr/>
            </a:pPr>
            <a:r>
              <a:rPr kumimoji="1" lang="en-US" altLang="zh-CN" sz="2400" dirty="0">
                <a:latin typeface="Verdana" panose="020B0604030504040204" pitchFamily="34" charset="0"/>
              </a:rPr>
              <a:t>    0  1  0  1  0   1   0</a:t>
            </a:r>
            <a:endParaRPr kumimoji="1" lang="en-US" altLang="zh-CN" sz="2400" dirty="0">
              <a:latin typeface="Verdana" panose="020B0604030504040204" pitchFamily="34" charset="0"/>
            </a:endParaRPr>
          </a:p>
        </p:txBody>
      </p:sp>
      <p:sp>
        <p:nvSpPr>
          <p:cNvPr id="2" name="文本框 1"/>
          <p:cNvSpPr txBox="1"/>
          <p:nvPr/>
        </p:nvSpPr>
        <p:spPr>
          <a:xfrm>
            <a:off x="3143673" y="836712"/>
            <a:ext cx="2749471" cy="400110"/>
          </a:xfrm>
          <a:prstGeom prst="rect">
            <a:avLst/>
          </a:prstGeom>
          <a:noFill/>
        </p:spPr>
        <p:txBody>
          <a:bodyPr wrap="none" rtlCol="0">
            <a:spAutoFit/>
          </a:bodyPr>
          <a:lstStyle/>
          <a:p>
            <a:r>
              <a:rPr lang="zh-CN" altLang="en-US" dirty="0">
                <a:solidFill>
                  <a:srgbClr val="FF0000"/>
                </a:solidFill>
              </a:rPr>
              <a:t>（下标的二进制表达）</a:t>
            </a:r>
            <a:endParaRPr lang="en-US" dirty="0">
              <a:solidFill>
                <a:srgbClr val="FF0000"/>
              </a:solidFill>
            </a:endParaRPr>
          </a:p>
        </p:txBody>
      </p:sp>
      <p:sp>
        <p:nvSpPr>
          <p:cNvPr id="4" name="矩形 3"/>
          <p:cNvSpPr/>
          <p:nvPr/>
        </p:nvSpPr>
        <p:spPr>
          <a:xfrm>
            <a:off x="3060005" y="6052463"/>
            <a:ext cx="954107" cy="405688"/>
          </a:xfrm>
          <a:prstGeom prst="rect">
            <a:avLst/>
          </a:prstGeom>
        </p:spPr>
        <p:txBody>
          <a:bodyPr wrap="none">
            <a:spAutoFit/>
          </a:bodyPr>
          <a:lstStyle/>
          <a:p>
            <a:pPr eaLnBrk="1" hangingPunct="1">
              <a:lnSpc>
                <a:spcPct val="110000"/>
              </a:lnSpc>
              <a:spcBef>
                <a:spcPct val="50000"/>
              </a:spcBef>
              <a:buClr>
                <a:schemeClr val="tx1"/>
              </a:buClr>
              <a:buSzPct val="80000"/>
              <a:buFont typeface="Wingdings" panose="05000000000000000000" pitchFamily="2" charset="2"/>
              <a:buNone/>
              <a:defRPr/>
            </a:pPr>
            <a:r>
              <a:rPr kumimoji="1" lang="zh-CN" altLang="en-US" dirty="0">
                <a:solidFill>
                  <a:srgbClr val="FF3300"/>
                </a:solidFill>
                <a:effectLst>
                  <a:outerShdw blurRad="38100" dist="38100" dir="2700000" algn="tl">
                    <a:srgbClr val="C0C0C0"/>
                  </a:outerShdw>
                </a:effectLst>
                <a:latin typeface="Verdana" panose="020B0604030504040204" pitchFamily="34" charset="0"/>
              </a:rPr>
              <a:t>偶校验</a:t>
            </a:r>
            <a:endParaRPr kumimoji="1" lang="zh-CN" altLang="en-US" dirty="0">
              <a:solidFill>
                <a:srgbClr val="FF3300"/>
              </a:solidFill>
              <a:effectLst>
                <a:outerShdw blurRad="38100" dist="38100" dir="2700000" algn="tl">
                  <a:srgbClr val="C0C0C0"/>
                </a:outerShdw>
              </a:effectLst>
              <a:latin typeface="Verdana" panose="020B0604030504040204" pitchFamily="34" charset="0"/>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pic>
        <p:nvPicPr>
          <p:cNvPr id="8" name="图片 7"/>
          <p:cNvPicPr>
            <a:picLocks noChangeAspect="1"/>
          </p:cNvPicPr>
          <p:nvPr/>
        </p:nvPicPr>
        <p:blipFill rotWithShape="1">
          <a:blip r:embed="rId1"/>
          <a:srcRect l="2750"/>
          <a:stretch>
            <a:fillRect/>
          </a:stretch>
        </p:blipFill>
        <p:spPr>
          <a:xfrm>
            <a:off x="2999656" y="1"/>
            <a:ext cx="6029745" cy="3545561"/>
          </a:xfrm>
          <a:prstGeom prst="rect">
            <a:avLst/>
          </a:prstGeom>
        </p:spPr>
      </p:pic>
      <p:pic>
        <p:nvPicPr>
          <p:cNvPr id="9" name="图片 8"/>
          <p:cNvPicPr>
            <a:picLocks noChangeAspect="1"/>
          </p:cNvPicPr>
          <p:nvPr/>
        </p:nvPicPr>
        <p:blipFill>
          <a:blip r:embed="rId2"/>
          <a:stretch>
            <a:fillRect/>
          </a:stretch>
        </p:blipFill>
        <p:spPr>
          <a:xfrm>
            <a:off x="2876573" y="3356993"/>
            <a:ext cx="6313888" cy="3438763"/>
          </a:xfrm>
          <a:prstGeom prst="rect">
            <a:avLst/>
          </a:prstGeom>
        </p:spPr>
      </p:pic>
    </p:spTree>
  </p:cSld>
  <p:clrMapOvr>
    <a:masterClrMapping/>
  </p:clrMapOvr>
  <p:transition spd="slow">
    <p:pull dir="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92340"/>
            <a:ext cx="10515600" cy="1562825"/>
          </a:xfrm>
        </p:spPr>
        <p:txBody>
          <a:bodyPr>
            <a:noAutofit/>
          </a:bodyPr>
          <a:lstStyle/>
          <a:p>
            <a:pPr>
              <a:lnSpc>
                <a:spcPct val="150000"/>
              </a:lnSpc>
            </a:pPr>
            <a:r>
              <a:rPr kumimoji="1" lang="zh-CN" altLang="en-US" sz="2600" dirty="0"/>
              <a:t>码字的发送与接收</a:t>
            </a:r>
            <a:endParaRPr kumimoji="1" lang="en-US" altLang="zh-CN" sz="2600" dirty="0"/>
          </a:p>
          <a:p>
            <a:pPr lvl="1">
              <a:lnSpc>
                <a:spcPct val="150000"/>
              </a:lnSpc>
            </a:pPr>
            <a:r>
              <a:rPr kumimoji="1" lang="zh-CN" altLang="en-US" sz="2200" dirty="0"/>
              <a:t>如果发送过程中第</a:t>
            </a:r>
            <a:r>
              <a:rPr kumimoji="1" lang="en-US" altLang="zh-CN" sz="2200" dirty="0"/>
              <a:t>7</a:t>
            </a:r>
            <a:r>
              <a:rPr kumimoji="1" lang="zh-CN" altLang="en-US" sz="2200" dirty="0"/>
              <a:t>位出现差错，如何定位错误？</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aphicFrame>
        <p:nvGraphicFramePr>
          <p:cNvPr id="124" name="表格 123"/>
          <p:cNvGraphicFramePr>
            <a:graphicFrameLocks noGrp="1"/>
          </p:cNvGraphicFramePr>
          <p:nvPr/>
        </p:nvGraphicFramePr>
        <p:xfrm>
          <a:off x="1491651" y="3407613"/>
          <a:ext cx="460029" cy="1218177"/>
        </p:xfrm>
        <a:graphic>
          <a:graphicData uri="http://schemas.openxmlformats.org/drawingml/2006/table">
            <a:tbl>
              <a:tblPr firstRow="1" bandRow="1">
                <a:tableStyleId>{5C22544A-7EE6-4342-B048-85BDC9FD1C3A}</a:tableStyleId>
              </a:tblPr>
              <a:tblGrid>
                <a:gridCol w="460029"/>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26" name="表格 125"/>
          <p:cNvGraphicFramePr>
            <a:graphicFrameLocks noGrp="1"/>
          </p:cNvGraphicFramePr>
          <p:nvPr/>
        </p:nvGraphicFramePr>
        <p:xfrm>
          <a:off x="1951680" y="2995844"/>
          <a:ext cx="1426536" cy="1630128"/>
        </p:xfrm>
        <a:graphic>
          <a:graphicData uri="http://schemas.openxmlformats.org/drawingml/2006/table">
            <a:tbl>
              <a:tblPr firstRow="1" bandRow="1">
                <a:tableStyleId>{5C22544A-7EE6-4342-B048-85BDC9FD1C3A}</a:tableStyleId>
              </a:tblPr>
              <a:tblGrid>
                <a:gridCol w="475512"/>
                <a:gridCol w="475512"/>
                <a:gridCol w="475512"/>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27" name="文本框 126"/>
          <p:cNvSpPr txBox="1"/>
          <p:nvPr/>
        </p:nvSpPr>
        <p:spPr>
          <a:xfrm>
            <a:off x="2180762" y="32451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2667096" y="3234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3128099" y="32346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3" name="文本框 142"/>
          <p:cNvSpPr txBox="1"/>
          <p:nvPr/>
        </p:nvSpPr>
        <p:spPr>
          <a:xfrm>
            <a:off x="1716326" y="3646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2180761"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2" name="文本框 151"/>
          <p:cNvSpPr txBox="1"/>
          <p:nvPr/>
        </p:nvSpPr>
        <p:spPr>
          <a:xfrm>
            <a:off x="2661719"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3128099" y="36345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4" name="文本框 153"/>
          <p:cNvSpPr txBox="1"/>
          <p:nvPr/>
        </p:nvSpPr>
        <p:spPr>
          <a:xfrm>
            <a:off x="1716326" y="40430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5" name="文本框 154"/>
          <p:cNvSpPr txBox="1"/>
          <p:nvPr/>
        </p:nvSpPr>
        <p:spPr>
          <a:xfrm>
            <a:off x="2179207" y="40367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2623619" y="40428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7" name="文本框 156"/>
          <p:cNvSpPr txBox="1"/>
          <p:nvPr/>
        </p:nvSpPr>
        <p:spPr>
          <a:xfrm>
            <a:off x="3118250" y="404623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a:off x="1672320" y="444156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2147901" y="44479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2629969" y="44353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3105550" y="4436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2" name="矩形 161"/>
          <p:cNvSpPr/>
          <p:nvPr/>
        </p:nvSpPr>
        <p:spPr>
          <a:xfrm>
            <a:off x="1346975" y="5047848"/>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文本框 162"/>
          <p:cNvSpPr txBox="1"/>
          <p:nvPr/>
        </p:nvSpPr>
        <p:spPr>
          <a:xfrm>
            <a:off x="1487837" y="4977482"/>
            <a:ext cx="955209" cy="369332"/>
          </a:xfrm>
          <a:prstGeom prst="rect">
            <a:avLst/>
          </a:prstGeom>
          <a:noFill/>
        </p:spPr>
        <p:txBody>
          <a:bodyPr wrap="square" rtlCol="0">
            <a:spAutoFit/>
          </a:bodyPr>
          <a:lstStyle/>
          <a:p>
            <a:pPr algn="ctr"/>
            <a:r>
              <a:rPr lang="zh-CN" altLang="en-US" dirty="0"/>
              <a:t>校验位</a:t>
            </a:r>
            <a:endParaRPr lang="zh-CN" altLang="en-US" dirty="0"/>
          </a:p>
        </p:txBody>
      </p:sp>
      <p:sp>
        <p:nvSpPr>
          <p:cNvPr id="164" name="矩形 163"/>
          <p:cNvSpPr/>
          <p:nvPr/>
        </p:nvSpPr>
        <p:spPr>
          <a:xfrm>
            <a:off x="2514720" y="5047848"/>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2667096" y="4977482"/>
            <a:ext cx="955209" cy="369332"/>
          </a:xfrm>
          <a:prstGeom prst="rect">
            <a:avLst/>
          </a:prstGeom>
          <a:noFill/>
        </p:spPr>
        <p:txBody>
          <a:bodyPr wrap="square" rtlCol="0">
            <a:spAutoFit/>
          </a:bodyPr>
          <a:lstStyle/>
          <a:p>
            <a:pPr algn="ctr"/>
            <a:r>
              <a:rPr lang="zh-CN" altLang="en-US" dirty="0"/>
              <a:t>数据位</a:t>
            </a:r>
            <a:endParaRPr lang="zh-CN" altLang="en-US" dirty="0"/>
          </a:p>
        </p:txBody>
      </p:sp>
      <p:sp>
        <p:nvSpPr>
          <p:cNvPr id="7" name="右箭头 6"/>
          <p:cNvSpPr/>
          <p:nvPr/>
        </p:nvSpPr>
        <p:spPr>
          <a:xfrm>
            <a:off x="3838245" y="3726863"/>
            <a:ext cx="3875964" cy="197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182"/>
          <p:cNvSpPr/>
          <p:nvPr/>
        </p:nvSpPr>
        <p:spPr>
          <a:xfrm>
            <a:off x="8023133" y="5081505"/>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p:cNvSpPr txBox="1"/>
          <p:nvPr/>
        </p:nvSpPr>
        <p:spPr>
          <a:xfrm>
            <a:off x="8163995" y="5011139"/>
            <a:ext cx="955209" cy="369332"/>
          </a:xfrm>
          <a:prstGeom prst="rect">
            <a:avLst/>
          </a:prstGeom>
          <a:noFill/>
        </p:spPr>
        <p:txBody>
          <a:bodyPr wrap="square" rtlCol="0">
            <a:spAutoFit/>
          </a:bodyPr>
          <a:lstStyle/>
          <a:p>
            <a:pPr algn="ctr"/>
            <a:r>
              <a:rPr lang="zh-CN" altLang="en-US" dirty="0"/>
              <a:t>校验位</a:t>
            </a:r>
            <a:endParaRPr lang="zh-CN" altLang="en-US" dirty="0"/>
          </a:p>
        </p:txBody>
      </p:sp>
      <p:sp>
        <p:nvSpPr>
          <p:cNvPr id="185" name="矩形 184"/>
          <p:cNvSpPr/>
          <p:nvPr/>
        </p:nvSpPr>
        <p:spPr>
          <a:xfrm>
            <a:off x="9190878" y="5081505"/>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9343254" y="5011139"/>
            <a:ext cx="955209" cy="369332"/>
          </a:xfrm>
          <a:prstGeom prst="rect">
            <a:avLst/>
          </a:prstGeom>
          <a:noFill/>
        </p:spPr>
        <p:txBody>
          <a:bodyPr wrap="square" rtlCol="0">
            <a:spAutoFit/>
          </a:bodyPr>
          <a:lstStyle/>
          <a:p>
            <a:pPr algn="ctr"/>
            <a:r>
              <a:rPr lang="zh-CN" altLang="en-US" dirty="0"/>
              <a:t>数据位</a:t>
            </a:r>
            <a:endParaRPr lang="zh-CN" altLang="en-US" dirty="0"/>
          </a:p>
        </p:txBody>
      </p:sp>
      <p:sp>
        <p:nvSpPr>
          <p:cNvPr id="9" name="文本框 8"/>
          <p:cNvSpPr txBox="1"/>
          <p:nvPr/>
        </p:nvSpPr>
        <p:spPr>
          <a:xfrm>
            <a:off x="3838245" y="3245387"/>
            <a:ext cx="3763558" cy="461665"/>
          </a:xfrm>
          <a:prstGeom prst="rect">
            <a:avLst/>
          </a:prstGeom>
          <a:no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101100111010001</a:t>
            </a:r>
            <a:endParaRPr lang="zh-CN" altLang="en-US" sz="2400" dirty="0">
              <a:latin typeface="微软雅黑" panose="020B0503020204020204" pitchFamily="34" charset="-122"/>
              <a:ea typeface="微软雅黑" panose="020B0503020204020204" pitchFamily="34" charset="-122"/>
            </a:endParaRPr>
          </a:p>
        </p:txBody>
      </p:sp>
      <p:graphicFrame>
        <p:nvGraphicFramePr>
          <p:cNvPr id="187" name="表格 186"/>
          <p:cNvGraphicFramePr>
            <a:graphicFrameLocks noGrp="1"/>
          </p:cNvGraphicFramePr>
          <p:nvPr/>
        </p:nvGraphicFramePr>
        <p:xfrm>
          <a:off x="8123454" y="3403001"/>
          <a:ext cx="460029" cy="1218177"/>
        </p:xfrm>
        <a:graphic>
          <a:graphicData uri="http://schemas.openxmlformats.org/drawingml/2006/table">
            <a:tbl>
              <a:tblPr firstRow="1" bandRow="1">
                <a:tableStyleId>{5C22544A-7EE6-4342-B048-85BDC9FD1C3A}</a:tableStyleId>
              </a:tblPr>
              <a:tblGrid>
                <a:gridCol w="460029"/>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88" name="表格 187"/>
          <p:cNvGraphicFramePr>
            <a:graphicFrameLocks noGrp="1"/>
          </p:cNvGraphicFramePr>
          <p:nvPr/>
        </p:nvGraphicFramePr>
        <p:xfrm>
          <a:off x="8583483" y="2991232"/>
          <a:ext cx="1426536" cy="1630128"/>
        </p:xfrm>
        <a:graphic>
          <a:graphicData uri="http://schemas.openxmlformats.org/drawingml/2006/table">
            <a:tbl>
              <a:tblPr firstRow="1" bandRow="1">
                <a:tableStyleId>{5C22544A-7EE6-4342-B048-85BDC9FD1C3A}</a:tableStyleId>
              </a:tblPr>
              <a:tblGrid>
                <a:gridCol w="475512"/>
                <a:gridCol w="475512"/>
                <a:gridCol w="475512"/>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89" name="文本框 188"/>
          <p:cNvSpPr txBox="1"/>
          <p:nvPr/>
        </p:nvSpPr>
        <p:spPr>
          <a:xfrm>
            <a:off x="8812565" y="32405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0" name="文本框 189"/>
          <p:cNvSpPr txBox="1"/>
          <p:nvPr/>
        </p:nvSpPr>
        <p:spPr>
          <a:xfrm>
            <a:off x="9298899" y="3229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1" name="文本框 190"/>
          <p:cNvSpPr txBox="1"/>
          <p:nvPr/>
        </p:nvSpPr>
        <p:spPr>
          <a:xfrm>
            <a:off x="9759902" y="322999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2" name="文本框 191"/>
          <p:cNvSpPr txBox="1"/>
          <p:nvPr/>
        </p:nvSpPr>
        <p:spPr>
          <a:xfrm>
            <a:off x="8348129" y="3641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8812564"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4" name="文本框 193"/>
          <p:cNvSpPr txBox="1"/>
          <p:nvPr/>
        </p:nvSpPr>
        <p:spPr>
          <a:xfrm>
            <a:off x="9293522"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9759902" y="36299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6" name="文本框 195"/>
          <p:cNvSpPr txBox="1"/>
          <p:nvPr/>
        </p:nvSpPr>
        <p:spPr>
          <a:xfrm>
            <a:off x="8348129" y="403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8811010" y="40320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8" name="文本框 197"/>
          <p:cNvSpPr txBox="1"/>
          <p:nvPr/>
        </p:nvSpPr>
        <p:spPr>
          <a:xfrm>
            <a:off x="9255422" y="40382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9" name="文本框 198"/>
          <p:cNvSpPr txBox="1"/>
          <p:nvPr/>
        </p:nvSpPr>
        <p:spPr>
          <a:xfrm>
            <a:off x="9750053" y="40416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a:off x="8304123" y="443695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8779704" y="44433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2" name="文本框 201"/>
          <p:cNvSpPr txBox="1"/>
          <p:nvPr/>
        </p:nvSpPr>
        <p:spPr>
          <a:xfrm>
            <a:off x="9261772" y="443070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9737353" y="44320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4" name="文本框 203"/>
          <p:cNvSpPr txBox="1"/>
          <p:nvPr/>
        </p:nvSpPr>
        <p:spPr>
          <a:xfrm>
            <a:off x="1845141" y="5515675"/>
            <a:ext cx="1109034" cy="461665"/>
          </a:xfrm>
          <a:prstGeom prst="rect">
            <a:avLst/>
          </a:prstGeom>
          <a:noFill/>
        </p:spPr>
        <p:txBody>
          <a:bodyPr wrap="square" rtlCol="0">
            <a:spAutoFit/>
          </a:bodyPr>
          <a:lstStyle/>
          <a:p>
            <a:pPr algn="ctr"/>
            <a:r>
              <a:rPr lang="zh-CN" altLang="en-US" sz="2400" dirty="0"/>
              <a:t>发送方</a:t>
            </a:r>
            <a:endParaRPr lang="zh-CN" altLang="en-US" sz="2400" dirty="0"/>
          </a:p>
        </p:txBody>
      </p:sp>
      <p:sp>
        <p:nvSpPr>
          <p:cNvPr id="12" name="任意多边形 11"/>
          <p:cNvSpPr/>
          <p:nvPr/>
        </p:nvSpPr>
        <p:spPr>
          <a:xfrm>
            <a:off x="5305926" y="3112121"/>
            <a:ext cx="1070821" cy="1231279"/>
          </a:xfrm>
          <a:custGeom>
            <a:avLst/>
            <a:gdLst>
              <a:gd name="connsiteX0" fmla="*/ 0 w 1070821"/>
              <a:gd name="connsiteY0" fmla="*/ 1038774 h 1231279"/>
              <a:gd name="connsiteX1" fmla="*/ 12032 w 1070821"/>
              <a:gd name="connsiteY1" fmla="*/ 653763 h 1231279"/>
              <a:gd name="connsiteX2" fmla="*/ 48127 w 1070821"/>
              <a:gd name="connsiteY2" fmla="*/ 629700 h 1231279"/>
              <a:gd name="connsiteX3" fmla="*/ 72190 w 1070821"/>
              <a:gd name="connsiteY3" fmla="*/ 689858 h 1231279"/>
              <a:gd name="connsiteX4" fmla="*/ 96253 w 1070821"/>
              <a:gd name="connsiteY4" fmla="*/ 834237 h 1231279"/>
              <a:gd name="connsiteX5" fmla="*/ 108285 w 1070821"/>
              <a:gd name="connsiteY5" fmla="*/ 870332 h 1231279"/>
              <a:gd name="connsiteX6" fmla="*/ 132348 w 1070821"/>
              <a:gd name="connsiteY6" fmla="*/ 990647 h 1231279"/>
              <a:gd name="connsiteX7" fmla="*/ 156411 w 1070821"/>
              <a:gd name="connsiteY7" fmla="*/ 954553 h 1231279"/>
              <a:gd name="connsiteX8" fmla="*/ 168442 w 1070821"/>
              <a:gd name="connsiteY8" fmla="*/ 906426 h 1231279"/>
              <a:gd name="connsiteX9" fmla="*/ 192506 w 1070821"/>
              <a:gd name="connsiteY9" fmla="*/ 858300 h 1231279"/>
              <a:gd name="connsiteX10" fmla="*/ 204537 w 1070821"/>
              <a:gd name="connsiteY10" fmla="*/ 786111 h 1231279"/>
              <a:gd name="connsiteX11" fmla="*/ 228600 w 1070821"/>
              <a:gd name="connsiteY11" fmla="*/ 725953 h 1231279"/>
              <a:gd name="connsiteX12" fmla="*/ 264695 w 1070821"/>
              <a:gd name="connsiteY12" fmla="*/ 605637 h 1231279"/>
              <a:gd name="connsiteX13" fmla="*/ 288758 w 1070821"/>
              <a:gd name="connsiteY13" fmla="*/ 533447 h 1231279"/>
              <a:gd name="connsiteX14" fmla="*/ 300790 w 1070821"/>
              <a:gd name="connsiteY14" fmla="*/ 497353 h 1231279"/>
              <a:gd name="connsiteX15" fmla="*/ 324853 w 1070821"/>
              <a:gd name="connsiteY15" fmla="*/ 581574 h 1231279"/>
              <a:gd name="connsiteX16" fmla="*/ 348916 w 1070821"/>
              <a:gd name="connsiteY16" fmla="*/ 653763 h 1231279"/>
              <a:gd name="connsiteX17" fmla="*/ 385011 w 1070821"/>
              <a:gd name="connsiteY17" fmla="*/ 810174 h 1231279"/>
              <a:gd name="connsiteX18" fmla="*/ 421106 w 1070821"/>
              <a:gd name="connsiteY18" fmla="*/ 978616 h 1231279"/>
              <a:gd name="connsiteX19" fmla="*/ 433137 w 1070821"/>
              <a:gd name="connsiteY19" fmla="*/ 1038774 h 1231279"/>
              <a:gd name="connsiteX20" fmla="*/ 457200 w 1070821"/>
              <a:gd name="connsiteY20" fmla="*/ 1122995 h 1231279"/>
              <a:gd name="connsiteX21" fmla="*/ 469232 w 1070821"/>
              <a:gd name="connsiteY21" fmla="*/ 208595 h 1231279"/>
              <a:gd name="connsiteX22" fmla="*/ 481263 w 1070821"/>
              <a:gd name="connsiteY22" fmla="*/ 4058 h 1231279"/>
              <a:gd name="connsiteX23" fmla="*/ 493295 w 1070821"/>
              <a:gd name="connsiteY23" fmla="*/ 64216 h 1231279"/>
              <a:gd name="connsiteX24" fmla="*/ 541421 w 1070821"/>
              <a:gd name="connsiteY24" fmla="*/ 232658 h 1231279"/>
              <a:gd name="connsiteX25" fmla="*/ 553453 w 1070821"/>
              <a:gd name="connsiteY25" fmla="*/ 304847 h 1231279"/>
              <a:gd name="connsiteX26" fmla="*/ 565485 w 1070821"/>
              <a:gd name="connsiteY26" fmla="*/ 340942 h 1231279"/>
              <a:gd name="connsiteX27" fmla="*/ 589548 w 1070821"/>
              <a:gd name="connsiteY27" fmla="*/ 437195 h 1231279"/>
              <a:gd name="connsiteX28" fmla="*/ 637674 w 1070821"/>
              <a:gd name="connsiteY28" fmla="*/ 581574 h 1231279"/>
              <a:gd name="connsiteX29" fmla="*/ 709863 w 1070821"/>
              <a:gd name="connsiteY29" fmla="*/ 822205 h 1231279"/>
              <a:gd name="connsiteX30" fmla="*/ 721895 w 1070821"/>
              <a:gd name="connsiteY30" fmla="*/ 870332 h 1231279"/>
              <a:gd name="connsiteX31" fmla="*/ 745958 w 1070821"/>
              <a:gd name="connsiteY31" fmla="*/ 930490 h 1231279"/>
              <a:gd name="connsiteX32" fmla="*/ 770021 w 1070821"/>
              <a:gd name="connsiteY32" fmla="*/ 1002679 h 1231279"/>
              <a:gd name="connsiteX33" fmla="*/ 806116 w 1070821"/>
              <a:gd name="connsiteY33" fmla="*/ 1110963 h 1231279"/>
              <a:gd name="connsiteX34" fmla="*/ 818148 w 1070821"/>
              <a:gd name="connsiteY34" fmla="*/ 1147058 h 1231279"/>
              <a:gd name="connsiteX35" fmla="*/ 830179 w 1070821"/>
              <a:gd name="connsiteY35" fmla="*/ 1183153 h 1231279"/>
              <a:gd name="connsiteX36" fmla="*/ 842211 w 1070821"/>
              <a:gd name="connsiteY36" fmla="*/ 617668 h 1231279"/>
              <a:gd name="connsiteX37" fmla="*/ 854242 w 1070821"/>
              <a:gd name="connsiteY37" fmla="*/ 545479 h 1231279"/>
              <a:gd name="connsiteX38" fmla="*/ 866274 w 1070821"/>
              <a:gd name="connsiteY38" fmla="*/ 593605 h 1231279"/>
              <a:gd name="connsiteX39" fmla="*/ 902369 w 1070821"/>
              <a:gd name="connsiteY39" fmla="*/ 713921 h 1231279"/>
              <a:gd name="connsiteX40" fmla="*/ 914400 w 1070821"/>
              <a:gd name="connsiteY40" fmla="*/ 774079 h 1231279"/>
              <a:gd name="connsiteX41" fmla="*/ 938463 w 1070821"/>
              <a:gd name="connsiteY41" fmla="*/ 810174 h 1231279"/>
              <a:gd name="connsiteX42" fmla="*/ 950495 w 1070821"/>
              <a:gd name="connsiteY42" fmla="*/ 882363 h 1231279"/>
              <a:gd name="connsiteX43" fmla="*/ 986590 w 1070821"/>
              <a:gd name="connsiteY43" fmla="*/ 942521 h 1231279"/>
              <a:gd name="connsiteX44" fmla="*/ 1046748 w 1070821"/>
              <a:gd name="connsiteY44" fmla="*/ 1147058 h 1231279"/>
              <a:gd name="connsiteX45" fmla="*/ 1070811 w 1070821"/>
              <a:gd name="connsiteY45" fmla="*/ 1231279 h 12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70821" h="1231279">
                <a:moveTo>
                  <a:pt x="0" y="1038774"/>
                </a:moveTo>
                <a:cubicBezTo>
                  <a:pt x="4011" y="910437"/>
                  <a:pt x="4910" y="781965"/>
                  <a:pt x="12032" y="653763"/>
                </a:cubicBezTo>
                <a:cubicBezTo>
                  <a:pt x="15922" y="583740"/>
                  <a:pt x="19842" y="601416"/>
                  <a:pt x="48127" y="629700"/>
                </a:cubicBezTo>
                <a:cubicBezTo>
                  <a:pt x="56148" y="649753"/>
                  <a:pt x="67243" y="668835"/>
                  <a:pt x="72190" y="689858"/>
                </a:cubicBezTo>
                <a:cubicBezTo>
                  <a:pt x="83365" y="737351"/>
                  <a:pt x="80824" y="787951"/>
                  <a:pt x="96253" y="834237"/>
                </a:cubicBezTo>
                <a:cubicBezTo>
                  <a:pt x="100264" y="846269"/>
                  <a:pt x="105433" y="857974"/>
                  <a:pt x="108285" y="870332"/>
                </a:cubicBezTo>
                <a:cubicBezTo>
                  <a:pt x="117482" y="910184"/>
                  <a:pt x="132348" y="990647"/>
                  <a:pt x="132348" y="990647"/>
                </a:cubicBezTo>
                <a:cubicBezTo>
                  <a:pt x="140369" y="978616"/>
                  <a:pt x="150715" y="967844"/>
                  <a:pt x="156411" y="954553"/>
                </a:cubicBezTo>
                <a:cubicBezTo>
                  <a:pt x="162925" y="939354"/>
                  <a:pt x="162636" y="921909"/>
                  <a:pt x="168442" y="906426"/>
                </a:cubicBezTo>
                <a:cubicBezTo>
                  <a:pt x="174740" y="889632"/>
                  <a:pt x="184485" y="874342"/>
                  <a:pt x="192506" y="858300"/>
                </a:cubicBezTo>
                <a:cubicBezTo>
                  <a:pt x="196516" y="834237"/>
                  <a:pt x="198118" y="809646"/>
                  <a:pt x="204537" y="786111"/>
                </a:cubicBezTo>
                <a:cubicBezTo>
                  <a:pt x="210220" y="765275"/>
                  <a:pt x="221219" y="746250"/>
                  <a:pt x="228600" y="725953"/>
                </a:cubicBezTo>
                <a:cubicBezTo>
                  <a:pt x="277211" y="592272"/>
                  <a:pt x="233917" y="708230"/>
                  <a:pt x="264695" y="605637"/>
                </a:cubicBezTo>
                <a:cubicBezTo>
                  <a:pt x="271984" y="581342"/>
                  <a:pt x="280737" y="557510"/>
                  <a:pt x="288758" y="533447"/>
                </a:cubicBezTo>
                <a:lnTo>
                  <a:pt x="300790" y="497353"/>
                </a:lnTo>
                <a:cubicBezTo>
                  <a:pt x="341228" y="618672"/>
                  <a:pt x="279523" y="430475"/>
                  <a:pt x="324853" y="581574"/>
                </a:cubicBezTo>
                <a:cubicBezTo>
                  <a:pt x="332142" y="605869"/>
                  <a:pt x="342764" y="629156"/>
                  <a:pt x="348916" y="653763"/>
                </a:cubicBezTo>
                <a:cubicBezTo>
                  <a:pt x="402014" y="866157"/>
                  <a:pt x="351813" y="710582"/>
                  <a:pt x="385011" y="810174"/>
                </a:cubicBezTo>
                <a:cubicBezTo>
                  <a:pt x="406913" y="985395"/>
                  <a:pt x="381542" y="833547"/>
                  <a:pt x="421106" y="978616"/>
                </a:cubicBezTo>
                <a:cubicBezTo>
                  <a:pt x="426487" y="998345"/>
                  <a:pt x="428701" y="1018811"/>
                  <a:pt x="433137" y="1038774"/>
                </a:cubicBezTo>
                <a:cubicBezTo>
                  <a:pt x="443207" y="1084088"/>
                  <a:pt x="443804" y="1082806"/>
                  <a:pt x="457200" y="1122995"/>
                </a:cubicBezTo>
                <a:cubicBezTo>
                  <a:pt x="461211" y="818195"/>
                  <a:pt x="462678" y="513351"/>
                  <a:pt x="469232" y="208595"/>
                </a:cubicBezTo>
                <a:cubicBezTo>
                  <a:pt x="470700" y="140314"/>
                  <a:pt x="470035" y="71426"/>
                  <a:pt x="481263" y="4058"/>
                </a:cubicBezTo>
                <a:cubicBezTo>
                  <a:pt x="484625" y="-16114"/>
                  <a:pt x="488091" y="44440"/>
                  <a:pt x="493295" y="64216"/>
                </a:cubicBezTo>
                <a:cubicBezTo>
                  <a:pt x="508156" y="120687"/>
                  <a:pt x="531821" y="175058"/>
                  <a:pt x="541421" y="232658"/>
                </a:cubicBezTo>
                <a:cubicBezTo>
                  <a:pt x="545432" y="256721"/>
                  <a:pt x="548161" y="281033"/>
                  <a:pt x="553453" y="304847"/>
                </a:cubicBezTo>
                <a:cubicBezTo>
                  <a:pt x="556204" y="317227"/>
                  <a:pt x="562148" y="328706"/>
                  <a:pt x="565485" y="340942"/>
                </a:cubicBezTo>
                <a:cubicBezTo>
                  <a:pt x="574187" y="372848"/>
                  <a:pt x="580045" y="405518"/>
                  <a:pt x="589548" y="437195"/>
                </a:cubicBezTo>
                <a:cubicBezTo>
                  <a:pt x="604125" y="485785"/>
                  <a:pt x="625370" y="532359"/>
                  <a:pt x="637674" y="581574"/>
                </a:cubicBezTo>
                <a:cubicBezTo>
                  <a:pt x="707903" y="862490"/>
                  <a:pt x="638513" y="608155"/>
                  <a:pt x="709863" y="822205"/>
                </a:cubicBezTo>
                <a:cubicBezTo>
                  <a:pt x="715092" y="837893"/>
                  <a:pt x="716666" y="854644"/>
                  <a:pt x="721895" y="870332"/>
                </a:cubicBezTo>
                <a:cubicBezTo>
                  <a:pt x="728725" y="890821"/>
                  <a:pt x="738577" y="910193"/>
                  <a:pt x="745958" y="930490"/>
                </a:cubicBezTo>
                <a:cubicBezTo>
                  <a:pt x="754626" y="954328"/>
                  <a:pt x="762000" y="978616"/>
                  <a:pt x="770021" y="1002679"/>
                </a:cubicBezTo>
                <a:lnTo>
                  <a:pt x="806116" y="1110963"/>
                </a:lnTo>
                <a:lnTo>
                  <a:pt x="818148" y="1147058"/>
                </a:lnTo>
                <a:lnTo>
                  <a:pt x="830179" y="1183153"/>
                </a:lnTo>
                <a:cubicBezTo>
                  <a:pt x="834190" y="994658"/>
                  <a:pt x="835101" y="806072"/>
                  <a:pt x="842211" y="617668"/>
                </a:cubicBezTo>
                <a:cubicBezTo>
                  <a:pt x="843131" y="593290"/>
                  <a:pt x="836992" y="562729"/>
                  <a:pt x="854242" y="545479"/>
                </a:cubicBezTo>
                <a:cubicBezTo>
                  <a:pt x="865935" y="533786"/>
                  <a:pt x="862687" y="577463"/>
                  <a:pt x="866274" y="593605"/>
                </a:cubicBezTo>
                <a:cubicBezTo>
                  <a:pt x="886609" y="685109"/>
                  <a:pt x="866416" y="624037"/>
                  <a:pt x="902369" y="713921"/>
                </a:cubicBezTo>
                <a:cubicBezTo>
                  <a:pt x="906379" y="733974"/>
                  <a:pt x="907220" y="754931"/>
                  <a:pt x="914400" y="774079"/>
                </a:cubicBezTo>
                <a:cubicBezTo>
                  <a:pt x="919477" y="787619"/>
                  <a:pt x="933890" y="796456"/>
                  <a:pt x="938463" y="810174"/>
                </a:cubicBezTo>
                <a:cubicBezTo>
                  <a:pt x="946177" y="833317"/>
                  <a:pt x="942158" y="859437"/>
                  <a:pt x="950495" y="882363"/>
                </a:cubicBezTo>
                <a:cubicBezTo>
                  <a:pt x="958487" y="904340"/>
                  <a:pt x="977378" y="921027"/>
                  <a:pt x="986590" y="942521"/>
                </a:cubicBezTo>
                <a:cubicBezTo>
                  <a:pt x="1022957" y="1027376"/>
                  <a:pt x="1022312" y="1061531"/>
                  <a:pt x="1046748" y="1147058"/>
                </a:cubicBezTo>
                <a:cubicBezTo>
                  <a:pt x="1072079" y="1235718"/>
                  <a:pt x="1070811" y="1191880"/>
                  <a:pt x="1070811" y="1231279"/>
                </a:cubicBezTo>
              </a:path>
            </a:pathLst>
          </a:custGeom>
          <a:ln w="127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05" name="文本框 204"/>
          <p:cNvSpPr txBox="1"/>
          <p:nvPr/>
        </p:nvSpPr>
        <p:spPr>
          <a:xfrm>
            <a:off x="8605551" y="5460916"/>
            <a:ext cx="1109034" cy="461665"/>
          </a:xfrm>
          <a:prstGeom prst="rect">
            <a:avLst/>
          </a:prstGeom>
          <a:noFill/>
        </p:spPr>
        <p:txBody>
          <a:bodyPr wrap="square" rtlCol="0">
            <a:spAutoFit/>
          </a:bodyPr>
          <a:lstStyle/>
          <a:p>
            <a:pPr algn="ctr"/>
            <a:r>
              <a:rPr lang="zh-CN" altLang="en-US" sz="2400" dirty="0"/>
              <a:t>接收方</a:t>
            </a:r>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2662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9EE86E1-7A99-420A-BECF-7486BC93C9D4}"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half" idx="12"/>
          </p:nvPr>
        </p:nvSpPr>
        <p:spPr/>
        <p:txBody>
          <a:bodyPr/>
          <a:lstStyle/>
          <a:p>
            <a:pPr>
              <a:defRPr/>
            </a:pPr>
            <a:fld id="{60CACEC6-7906-4A6B-B6CE-37FBC8F1F3EA}" type="datetime1">
              <a:rPr lang="zh-CN" altLang="en-US"/>
            </a:fld>
            <a:endParaRPr lang="en-US" altLang="zh-CN"/>
          </a:p>
        </p:txBody>
      </p:sp>
      <p:sp>
        <p:nvSpPr>
          <p:cNvPr id="846850" name="Rectangle 2"/>
          <p:cNvSpPr>
            <a:spLocks noGrp="1" noChangeArrowheads="1"/>
          </p:cNvSpPr>
          <p:nvPr>
            <p:ph type="title" idx="4294967295"/>
          </p:nvPr>
        </p:nvSpPr>
        <p:spPr>
          <a:xfrm>
            <a:off x="4705350" y="914400"/>
            <a:ext cx="7486650" cy="428625"/>
          </a:xfrm>
        </p:spPr>
        <p:txBody>
          <a:bodyPr/>
          <a:lstStyle/>
          <a:p>
            <a:pPr eaLnBrk="1" hangingPunct="1">
              <a:defRPr/>
            </a:pPr>
            <a:r>
              <a:rPr lang="zh-CN" altLang="en-US" sz="2400" b="1">
                <a:solidFill>
                  <a:srgbClr val="0000FF"/>
                </a:solidFill>
              </a:rPr>
              <a:t>处理方式：</a:t>
            </a:r>
            <a:endParaRPr lang="zh-CN" altLang="en-US" sz="2400" b="1">
              <a:solidFill>
                <a:srgbClr val="0000FF"/>
              </a:solidFill>
            </a:endParaRPr>
          </a:p>
        </p:txBody>
      </p:sp>
      <p:sp>
        <p:nvSpPr>
          <p:cNvPr id="26630" name="Rectangle 3"/>
          <p:cNvSpPr>
            <a:spLocks noGrp="1" noChangeArrowheads="1"/>
          </p:cNvSpPr>
          <p:nvPr>
            <p:ph type="body" idx="4294967295"/>
          </p:nvPr>
        </p:nvSpPr>
        <p:spPr>
          <a:xfrm>
            <a:off x="1634838" y="1524000"/>
            <a:ext cx="6324600" cy="4191000"/>
          </a:xfrm>
        </p:spPr>
        <p:txBody>
          <a:bodyPr/>
          <a:lstStyle/>
          <a:p>
            <a:pPr eaLnBrk="1" hangingPunct="1">
              <a:lnSpc>
                <a:spcPct val="115000"/>
              </a:lnSpc>
              <a:buFont typeface="Wingdings" panose="05000000000000000000" pitchFamily="2" charset="2"/>
              <a:buNone/>
            </a:pPr>
            <a:r>
              <a:rPr lang="en-US" altLang="zh-CN" sz="2400" b="1" dirty="0">
                <a:latin typeface="Verdana" panose="020B0604030504040204" pitchFamily="34" charset="0"/>
                <a:ea typeface="楷体_GB2312" pitchFamily="49" charset="-122"/>
              </a:rPr>
              <a:t>	</a:t>
            </a:r>
            <a:r>
              <a:rPr lang="zh-CN" altLang="en-US" sz="2400" b="1" dirty="0">
                <a:solidFill>
                  <a:srgbClr val="0000FF"/>
                </a:solidFill>
                <a:latin typeface="Verdana" panose="020B0604030504040204" pitchFamily="34" charset="0"/>
                <a:ea typeface="楷体_GB2312" pitchFamily="49" charset="-122"/>
              </a:rPr>
              <a:t>发方：</a:t>
            </a:r>
            <a:endParaRPr lang="zh-CN" altLang="en-US" sz="2400" b="1" dirty="0">
              <a:solidFill>
                <a:srgbClr val="0000FF"/>
              </a:solidFill>
              <a:latin typeface="Verdana" panose="020B0604030504040204" pitchFamily="34" charset="0"/>
              <a:ea typeface="楷体_GB2312" pitchFamily="49" charset="-122"/>
            </a:endParaRP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编码：</a:t>
            </a: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a:t>
            </a:r>
            <a:r>
              <a:rPr lang="zh-CN" altLang="en-US" sz="2400" dirty="0">
                <a:latin typeface="Verdana" panose="020B0604030504040204" pitchFamily="34" charset="0"/>
                <a:ea typeface="楷体_GB2312" pitchFamily="49" charset="-122"/>
              </a:rPr>
              <a:t>各相关信息位的异或</a:t>
            </a:r>
            <a:endParaRPr lang="zh-CN" altLang="en-US" sz="2400" dirty="0">
              <a:latin typeface="Verdana" panose="020B0604030504040204" pitchFamily="34" charset="0"/>
              <a:ea typeface="楷体_GB2312" pitchFamily="49" charset="-122"/>
            </a:endParaRPr>
          </a:p>
          <a:p>
            <a:pPr eaLnBrk="1" hangingPunct="1">
              <a:lnSpc>
                <a:spcPct val="115000"/>
              </a:lnSpc>
            </a:pPr>
            <a:endParaRPr lang="zh-CN" altLang="en-US" sz="2400" dirty="0">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zh-CN" altLang="en-US" sz="2400" b="1" dirty="0">
                <a:solidFill>
                  <a:srgbClr val="0000FF"/>
                </a:solidFill>
                <a:latin typeface="Verdana" panose="020B0604030504040204" pitchFamily="34" charset="0"/>
                <a:ea typeface="楷体_GB2312" pitchFamily="49" charset="-122"/>
              </a:rPr>
              <a:t>收方：</a:t>
            </a:r>
            <a:endParaRPr lang="zh-CN" altLang="en-US" sz="2400" b="1" dirty="0">
              <a:solidFill>
                <a:srgbClr val="0000FF"/>
              </a:solidFill>
              <a:latin typeface="Verdana" panose="020B0604030504040204" pitchFamily="34" charset="0"/>
              <a:ea typeface="楷体_GB2312" pitchFamily="49" charset="-122"/>
            </a:endParaRP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解码：设</a:t>
            </a:r>
            <a:r>
              <a:rPr lang="en-US" altLang="zh-CN" sz="2400" dirty="0">
                <a:latin typeface="Verdana" panose="020B0604030504040204" pitchFamily="34" charset="0"/>
                <a:ea typeface="楷体_GB2312" pitchFamily="49" charset="-122"/>
              </a:rPr>
              <a:t>C=0</a:t>
            </a:r>
            <a:r>
              <a:rPr lang="zh-CN" altLang="en-US" sz="2400" dirty="0">
                <a:latin typeface="Verdana" panose="020B0604030504040204" pitchFamily="34" charset="0"/>
                <a:ea typeface="楷体_GB2312" pitchFamily="49" charset="-122"/>
              </a:rPr>
              <a:t>，</a:t>
            </a:r>
            <a:endParaRPr lang="zh-CN" altLang="en-US" sz="2400" dirty="0">
              <a:latin typeface="Verdana" panose="020B0604030504040204" pitchFamily="34" charset="0"/>
              <a:ea typeface="楷体_GB2312" pitchFamily="49" charset="-122"/>
            </a:endParaRPr>
          </a:p>
          <a:p>
            <a:pPr lvl="1" eaLnBrk="1" hangingPunct="1">
              <a:lnSpc>
                <a:spcPct val="115000"/>
              </a:lnSpc>
              <a:buFont typeface="Wingdings" panose="05000000000000000000" pitchFamily="2" charset="2"/>
              <a:buChar char="Ø"/>
            </a:pP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zh-CN" altLang="en-US" sz="2400" dirty="0">
                <a:latin typeface="Verdana" panose="020B0604030504040204" pitchFamily="34" charset="0"/>
                <a:ea typeface="楷体_GB2312" pitchFamily="49" charset="-122"/>
              </a:rPr>
              <a:t>与相关信息位的异或为</a:t>
            </a:r>
            <a:r>
              <a:rPr lang="en-US" altLang="zh-CN" sz="2400" dirty="0">
                <a:latin typeface="Verdana" panose="020B0604030504040204" pitchFamily="34" charset="0"/>
                <a:ea typeface="楷体_GB2312" pitchFamily="49" charset="-122"/>
              </a:rPr>
              <a:t>0</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C+=0</a:t>
            </a:r>
            <a:endParaRPr lang="en-US" altLang="zh-CN" sz="2400" dirty="0">
              <a:latin typeface="Verdana" panose="020B0604030504040204" pitchFamily="34" charset="0"/>
              <a:ea typeface="楷体_GB2312" pitchFamily="49" charset="-122"/>
            </a:endParaRPr>
          </a:p>
          <a:p>
            <a:pPr lvl="1" eaLnBrk="1" hangingPunct="1">
              <a:lnSpc>
                <a:spcPct val="115000"/>
              </a:lnSpc>
              <a:buFont typeface="Wingdings" panose="05000000000000000000" pitchFamily="2" charset="2"/>
              <a:buChar char="Ø"/>
            </a:pP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zh-CN" altLang="en-US" sz="2400" dirty="0">
                <a:latin typeface="Verdana" panose="020B0604030504040204" pitchFamily="34" charset="0"/>
                <a:ea typeface="楷体_GB2312" pitchFamily="49" charset="-122"/>
              </a:rPr>
              <a:t>与相关信息位的异或为</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a:t>
            </a: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a:t>
            </a:r>
            <a:endParaRPr lang="en-US" altLang="zh-CN" sz="2400" dirty="0">
              <a:latin typeface="Verdana" panose="020B0604030504040204" pitchFamily="34" charset="0"/>
              <a:ea typeface="楷体_GB2312" pitchFamily="49" charset="-122"/>
            </a:endParaRPr>
          </a:p>
          <a:p>
            <a:pPr lvl="1" eaLnBrk="1" hangingPunct="1">
              <a:lnSpc>
                <a:spcPct val="115000"/>
              </a:lnSpc>
              <a:buFont typeface="Wingdings" panose="05000000000000000000" pitchFamily="2" charset="2"/>
              <a:buChar char="Ø"/>
            </a:pPr>
            <a:r>
              <a:rPr lang="en-US" altLang="zh-CN" sz="2400" dirty="0">
                <a:latin typeface="Verdana" panose="020B0604030504040204" pitchFamily="34" charset="0"/>
                <a:ea typeface="楷体_GB2312" pitchFamily="49" charset="-122"/>
              </a:rPr>
              <a:t>C</a:t>
            </a:r>
            <a:r>
              <a:rPr lang="zh-CN" altLang="en-US" sz="2400" dirty="0">
                <a:latin typeface="Verdana" panose="020B0604030504040204" pitchFamily="34" charset="0"/>
                <a:ea typeface="楷体_GB2312" pitchFamily="49" charset="-122"/>
              </a:rPr>
              <a:t>为出错位置。</a:t>
            </a:r>
            <a:endParaRPr lang="zh-CN" altLang="en-US" sz="2400" dirty="0">
              <a:latin typeface="Verdana" panose="020B0604030504040204" pitchFamily="34" charset="0"/>
              <a:ea typeface="楷体_GB2312" pitchFamily="49" charset="-122"/>
            </a:endParaRP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a:xfrm>
            <a:off x="387927" y="365126"/>
            <a:ext cx="10099964" cy="879086"/>
          </a:xfrm>
        </p:spPr>
        <p:txBody>
          <a:bodyPr/>
          <a:lstStyle/>
          <a:p>
            <a:pPr eaLnBrk="1" hangingPunct="1">
              <a:lnSpc>
                <a:spcPct val="110000"/>
              </a:lnSpc>
              <a:defRPr/>
            </a:pPr>
            <a:r>
              <a:rPr lang="zh-CN" altLang="en-US" sz="2400" b="1" dirty="0">
                <a:solidFill>
                  <a:srgbClr val="FF0000"/>
                </a:solidFill>
              </a:rPr>
              <a:t>例：</a:t>
            </a:r>
            <a:r>
              <a:rPr lang="zh-CN" altLang="en-US" sz="2400" dirty="0">
                <a:solidFill>
                  <a:srgbClr val="0000FF"/>
                </a:solidFill>
              </a:rPr>
              <a:t>若汉明码为</a:t>
            </a:r>
            <a:r>
              <a:rPr lang="en-US" altLang="zh-CN" sz="2400" dirty="0">
                <a:solidFill>
                  <a:srgbClr val="0000FF"/>
                </a:solidFill>
              </a:rPr>
              <a:t>1101101</a:t>
            </a:r>
            <a:r>
              <a:rPr lang="zh-CN" altLang="en-US" sz="2400" dirty="0">
                <a:solidFill>
                  <a:srgbClr val="0000FF"/>
                </a:solidFill>
              </a:rPr>
              <a:t>，判定是否有错，并错在何处？</a:t>
            </a:r>
            <a:r>
              <a:rPr lang="en-US" altLang="zh-CN" sz="2400" dirty="0">
                <a:solidFill>
                  <a:srgbClr val="0000FF"/>
                </a:solidFill>
              </a:rPr>
              <a:t>(</a:t>
            </a:r>
            <a:r>
              <a:rPr lang="zh-CN" altLang="en-US" sz="2400" dirty="0">
                <a:solidFill>
                  <a:srgbClr val="0000FF"/>
                </a:solidFill>
              </a:rPr>
              <a:t>写出原正确码</a:t>
            </a:r>
            <a:r>
              <a:rPr lang="en-US" altLang="zh-CN" sz="2400" dirty="0">
                <a:solidFill>
                  <a:srgbClr val="0000FF"/>
                </a:solidFill>
              </a:rPr>
              <a:t>)</a:t>
            </a:r>
            <a:endParaRPr lang="en-US" altLang="zh-CN" sz="2400" dirty="0">
              <a:solidFill>
                <a:srgbClr val="0000FF"/>
              </a:solidFill>
            </a:endParaRPr>
          </a:p>
        </p:txBody>
      </p:sp>
      <p:sp>
        <p:nvSpPr>
          <p:cNvPr id="7" name="日期占位符 5"/>
          <p:cNvSpPr>
            <a:spLocks noGrp="1"/>
          </p:cNvSpPr>
          <p:nvPr>
            <p:ph type="dt" sz="half" idx="10"/>
          </p:nvPr>
        </p:nvSpPr>
        <p:spPr/>
        <p:txBody>
          <a:bodyPr/>
          <a:lstStyle/>
          <a:p>
            <a:pPr>
              <a:defRPr/>
            </a:pPr>
            <a:fld id="{05E261D6-1AC5-42EB-8E1A-E02AE390A790}" type="datetime1">
              <a:rPr lang="zh-CN" altLang="en-US"/>
            </a:fld>
            <a:endParaRPr lang="en-US" altLang="zh-CN"/>
          </a:p>
        </p:txBody>
      </p:sp>
      <p:sp>
        <p:nvSpPr>
          <p:cNvPr id="5" name="页脚占位符 3"/>
          <p:cNvSpPr>
            <a:spLocks noGrp="1"/>
          </p:cNvSpPr>
          <p:nvPr>
            <p:ph type="ftr" sz="quarter" idx="11"/>
          </p:nvPr>
        </p:nvSpPr>
        <p:spPr/>
        <p:txBody>
          <a:bodyPr/>
          <a:lstStyle/>
          <a:p>
            <a:pPr>
              <a:defRPr/>
            </a:pPr>
            <a:r>
              <a:rPr lang="en-US" altLang="zh-CN"/>
              <a:t>Computer Network</a:t>
            </a:r>
            <a:endParaRPr lang="en-US" altLang="zh-CN"/>
          </a:p>
        </p:txBody>
      </p:sp>
      <p:sp>
        <p:nvSpPr>
          <p:cNvPr id="2765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418D3E-B07B-4979-917B-AD1BB1A56D65}" type="slidenum">
              <a:rPr lang="en-US" altLang="zh-CN" sz="1200">
                <a:latin typeface="Arial Black" panose="020B0A04020102020204" pitchFamily="34" charset="0"/>
              </a:rPr>
            </a:fld>
            <a:endParaRPr lang="en-US" altLang="zh-CN" sz="1200">
              <a:latin typeface="Arial Black" panose="020B0A04020102020204" pitchFamily="34" charset="0"/>
            </a:endParaRPr>
          </a:p>
        </p:txBody>
      </p:sp>
      <p:graphicFrame>
        <p:nvGraphicFramePr>
          <p:cNvPr id="27655" name="Object 4"/>
          <p:cNvGraphicFramePr>
            <a:graphicFrameLocks noChangeAspect="1"/>
          </p:cNvGraphicFramePr>
          <p:nvPr/>
        </p:nvGraphicFramePr>
        <p:xfrm>
          <a:off x="6816080" y="1731964"/>
          <a:ext cx="3001912" cy="1489075"/>
        </p:xfrm>
        <a:graphic>
          <a:graphicData uri="http://schemas.openxmlformats.org/presentationml/2006/ole">
            <mc:AlternateContent xmlns:mc="http://schemas.openxmlformats.org/markup-compatibility/2006">
              <mc:Choice xmlns:v="urn:schemas-microsoft-com:vml" Requires="v">
                <p:oleObj spid="_x0000_s0" name="Equation" r:id="rId1" imgW="1524000" imgH="914400" progId="Equation.DSMT4">
                  <p:embed/>
                </p:oleObj>
              </mc:Choice>
              <mc:Fallback>
                <p:oleObj name="Equation" r:id="rId1" imgW="1524000" imgH="9144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080" y="1731964"/>
                        <a:ext cx="3001912" cy="1489075"/>
                      </a:xfrm>
                      <a:prstGeom prst="rect">
                        <a:avLst/>
                      </a:prstGeom>
                      <a:solidFill>
                        <a:schemeClr val="accent1"/>
                      </a:solidFill>
                      <a:ln>
                        <a:noFill/>
                      </a:ln>
                    </p:spPr>
                  </p:pic>
                </p:oleObj>
              </mc:Fallback>
            </mc:AlternateContent>
          </a:graphicData>
        </a:graphic>
      </p:graphicFrame>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a:xfrm>
            <a:off x="387927" y="365126"/>
            <a:ext cx="10099964" cy="879086"/>
          </a:xfrm>
        </p:spPr>
        <p:txBody>
          <a:bodyPr/>
          <a:lstStyle/>
          <a:p>
            <a:pPr eaLnBrk="1" hangingPunct="1">
              <a:lnSpc>
                <a:spcPct val="110000"/>
              </a:lnSpc>
              <a:defRPr/>
            </a:pPr>
            <a:r>
              <a:rPr lang="zh-CN" altLang="en-US" sz="2400" b="1" dirty="0">
                <a:solidFill>
                  <a:srgbClr val="FF0000"/>
                </a:solidFill>
              </a:rPr>
              <a:t>例：</a:t>
            </a:r>
            <a:r>
              <a:rPr lang="zh-CN" altLang="en-US" sz="2400" dirty="0">
                <a:solidFill>
                  <a:srgbClr val="0000FF"/>
                </a:solidFill>
              </a:rPr>
              <a:t>若汉明码为</a:t>
            </a:r>
            <a:r>
              <a:rPr lang="en-US" altLang="zh-CN" sz="2400" dirty="0">
                <a:solidFill>
                  <a:srgbClr val="0000FF"/>
                </a:solidFill>
              </a:rPr>
              <a:t>1101101</a:t>
            </a:r>
            <a:r>
              <a:rPr lang="zh-CN" altLang="en-US" sz="2400" dirty="0">
                <a:solidFill>
                  <a:srgbClr val="0000FF"/>
                </a:solidFill>
              </a:rPr>
              <a:t>，判定是否有错，并错在何处？</a:t>
            </a:r>
            <a:r>
              <a:rPr lang="en-US" altLang="zh-CN" sz="2400" dirty="0">
                <a:solidFill>
                  <a:srgbClr val="0000FF"/>
                </a:solidFill>
              </a:rPr>
              <a:t>(</a:t>
            </a:r>
            <a:r>
              <a:rPr lang="zh-CN" altLang="en-US" sz="2400" dirty="0">
                <a:solidFill>
                  <a:srgbClr val="0000FF"/>
                </a:solidFill>
              </a:rPr>
              <a:t>写出原正确码</a:t>
            </a:r>
            <a:r>
              <a:rPr lang="en-US" altLang="zh-CN" sz="2400" dirty="0">
                <a:solidFill>
                  <a:srgbClr val="0000FF"/>
                </a:solidFill>
              </a:rPr>
              <a:t>)</a:t>
            </a:r>
            <a:endParaRPr lang="en-US" altLang="zh-CN" sz="2400" dirty="0">
              <a:solidFill>
                <a:srgbClr val="0000FF"/>
              </a:solidFill>
            </a:endParaRPr>
          </a:p>
        </p:txBody>
      </p:sp>
      <p:sp>
        <p:nvSpPr>
          <p:cNvPr id="7" name="日期占位符 5"/>
          <p:cNvSpPr>
            <a:spLocks noGrp="1"/>
          </p:cNvSpPr>
          <p:nvPr>
            <p:ph type="dt" sz="half" idx="10"/>
          </p:nvPr>
        </p:nvSpPr>
        <p:spPr/>
        <p:txBody>
          <a:bodyPr/>
          <a:lstStyle/>
          <a:p>
            <a:pPr>
              <a:defRPr/>
            </a:pPr>
            <a:fld id="{05E261D6-1AC5-42EB-8E1A-E02AE390A790}" type="datetime1">
              <a:rPr lang="zh-CN" altLang="en-US"/>
            </a:fld>
            <a:endParaRPr lang="en-US" altLang="zh-CN"/>
          </a:p>
        </p:txBody>
      </p:sp>
      <p:sp>
        <p:nvSpPr>
          <p:cNvPr id="5" name="页脚占位符 3"/>
          <p:cNvSpPr>
            <a:spLocks noGrp="1"/>
          </p:cNvSpPr>
          <p:nvPr>
            <p:ph type="ftr" sz="quarter" idx="11"/>
          </p:nvPr>
        </p:nvSpPr>
        <p:spPr/>
        <p:txBody>
          <a:bodyPr/>
          <a:lstStyle/>
          <a:p>
            <a:pPr>
              <a:defRPr/>
            </a:pPr>
            <a:r>
              <a:rPr lang="en-US" altLang="zh-CN"/>
              <a:t>Computer Network</a:t>
            </a:r>
            <a:endParaRPr lang="en-US" altLang="zh-CN"/>
          </a:p>
        </p:txBody>
      </p:sp>
      <p:sp>
        <p:nvSpPr>
          <p:cNvPr id="2765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418D3E-B07B-4979-917B-AD1BB1A56D65}"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847875" name="Rectangle 3"/>
          <p:cNvSpPr>
            <a:spLocks noGrp="1" noChangeArrowheads="1"/>
          </p:cNvSpPr>
          <p:nvPr>
            <p:ph idx="4294967295"/>
          </p:nvPr>
        </p:nvSpPr>
        <p:spPr>
          <a:xfrm>
            <a:off x="1524000" y="2348345"/>
            <a:ext cx="6629400" cy="3657600"/>
          </a:xfrm>
        </p:spPr>
        <p:txBody>
          <a:bodyPr/>
          <a:lstStyle/>
          <a:p>
            <a:pPr eaLnBrk="1" hangingPunct="1">
              <a:lnSpc>
                <a:spcPct val="120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解：</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2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3  </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4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6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7 </a:t>
            </a:r>
            <a:endParaRPr lang="en-US" altLang="zh-CN" sz="2400" dirty="0">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spcBef>
                <a:spcPct val="0"/>
              </a:spcBef>
              <a:buClrTx/>
              <a:buSzTx/>
              <a:buFontTx/>
              <a:buNone/>
              <a:defRPr/>
            </a:pPr>
            <a:r>
              <a:rPr lang="en-US" altLang="zh-CN" sz="2400" b="1"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1  1  0   1   1   0    1</a:t>
            </a:r>
            <a:endParaRPr lang="en-US" altLang="zh-CN"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初始  </a:t>
            </a:r>
            <a:r>
              <a:rPr lang="en-US" altLang="zh-CN" sz="2400" dirty="0">
                <a:latin typeface="Verdana" panose="020B0604030504040204" pitchFamily="34" charset="0"/>
                <a:ea typeface="楷体_GB2312" pitchFamily="49" charset="-122"/>
              </a:rPr>
              <a:t>C=0 </a:t>
            </a:r>
            <a:endParaRPr lang="en-US" altLang="zh-CN"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1</a:t>
            </a:r>
            <a:r>
              <a:rPr lang="zh-CN" altLang="en-US" sz="2400" dirty="0">
                <a:latin typeface="Verdana" panose="020B0604030504040204" pitchFamily="34" charset="0"/>
                <a:ea typeface="楷体_GB2312" pitchFamily="49" charset="-122"/>
              </a:rPr>
              <a:t>，异或为</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 </a:t>
            </a: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C=1</a:t>
            </a:r>
            <a:endParaRPr lang="en-US" altLang="zh-CN"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2</a:t>
            </a:r>
            <a:r>
              <a:rPr lang="zh-CN" altLang="en-US" sz="2400" dirty="0">
                <a:latin typeface="Verdana" panose="020B0604030504040204" pitchFamily="34" charset="0"/>
                <a:ea typeface="楷体_GB2312" pitchFamily="49" charset="-122"/>
              </a:rPr>
              <a:t>，异或为</a:t>
            </a:r>
            <a:r>
              <a:rPr lang="en-US" altLang="zh-CN" sz="2400" dirty="0">
                <a:latin typeface="Verdana" panose="020B0604030504040204" pitchFamily="34" charset="0"/>
                <a:ea typeface="楷体_GB2312" pitchFamily="49" charset="-122"/>
              </a:rPr>
              <a:t>0</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 0 , C=1+0=1</a:t>
            </a:r>
            <a:endParaRPr lang="en-US" altLang="zh-CN"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4</a:t>
            </a:r>
            <a:r>
              <a:rPr lang="zh-CN" altLang="en-US" sz="2400" dirty="0">
                <a:latin typeface="Verdana" panose="020B0604030504040204" pitchFamily="34" charset="0"/>
                <a:ea typeface="楷体_GB2312" pitchFamily="49" charset="-122"/>
              </a:rPr>
              <a:t>，异或为</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 </a:t>
            </a: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C=1+4=5</a:t>
            </a:r>
            <a:endParaRPr lang="en-US" altLang="zh-CN"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出错位为</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a:t>
            </a:r>
            <a:r>
              <a:rPr lang="zh-CN" altLang="en-US" sz="2400" dirty="0">
                <a:latin typeface="Verdana" panose="020B0604030504040204" pitchFamily="34" charset="0"/>
                <a:ea typeface="楷体_GB2312" pitchFamily="49" charset="-122"/>
              </a:rPr>
              <a:t>位</a:t>
            </a:r>
            <a:endParaRPr lang="zh-CN" altLang="en-US" sz="2400" dirty="0">
              <a:latin typeface="Verdana" panose="020B0604030504040204" pitchFamily="34" charset="0"/>
              <a:ea typeface="楷体_GB2312" pitchFamily="49" charset="-122"/>
            </a:endParaRPr>
          </a:p>
          <a:p>
            <a:pPr eaLnBrk="1" hangingPunct="1">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即：原正确码为</a:t>
            </a:r>
            <a:r>
              <a:rPr lang="en-US" altLang="zh-CN" sz="2400" dirty="0">
                <a:latin typeface="Verdana" panose="020B0604030504040204" pitchFamily="34" charset="0"/>
                <a:ea typeface="楷体_GB2312" pitchFamily="49" charset="-122"/>
              </a:rPr>
              <a:t>1101001</a:t>
            </a:r>
            <a:endParaRPr lang="en-US" altLang="zh-CN" sz="2400" dirty="0">
              <a:latin typeface="Verdana" panose="020B0604030504040204" pitchFamily="34" charset="0"/>
              <a:ea typeface="楷体_GB2312" pitchFamily="49" charset="-122"/>
            </a:endParaRPr>
          </a:p>
        </p:txBody>
      </p:sp>
      <p:graphicFrame>
        <p:nvGraphicFramePr>
          <p:cNvPr id="27655" name="Object 4"/>
          <p:cNvGraphicFramePr>
            <a:graphicFrameLocks noChangeAspect="1"/>
          </p:cNvGraphicFramePr>
          <p:nvPr/>
        </p:nvGraphicFramePr>
        <p:xfrm>
          <a:off x="6816080" y="1731964"/>
          <a:ext cx="3001912" cy="1489075"/>
        </p:xfrm>
        <a:graphic>
          <a:graphicData uri="http://schemas.openxmlformats.org/presentationml/2006/ole">
            <mc:AlternateContent xmlns:mc="http://schemas.openxmlformats.org/markup-compatibility/2006">
              <mc:Choice xmlns:v="urn:schemas-microsoft-com:vml" Requires="v">
                <p:oleObj spid="_x0000_s0" name="Equation" r:id="rId1" imgW="1524000" imgH="914400" progId="Equation.DSMT4">
                  <p:embed/>
                </p:oleObj>
              </mc:Choice>
              <mc:Fallback>
                <p:oleObj name="Equation" r:id="rId1" imgW="1524000" imgH="9144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080" y="1731964"/>
                        <a:ext cx="3001912" cy="1489075"/>
                      </a:xfrm>
                      <a:prstGeom prst="rect">
                        <a:avLst/>
                      </a:prstGeom>
                      <a:solidFill>
                        <a:schemeClr val="accent1"/>
                      </a:solidFill>
                      <a:ln>
                        <a:noFill/>
                      </a:ln>
                    </p:spPr>
                  </p:pic>
                </p:oleObj>
              </mc:Fallback>
            </mc:AlternateContent>
          </a:graphicData>
        </a:graphic>
      </p:graphicFrame>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2867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973FF6F-F26F-41B9-8E05-0042E16929F4}"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94DA50E6-9C5D-447D-B213-8422544B7BB7}" type="datetime1">
              <a:rPr lang="zh-CN" altLang="en-US"/>
            </a:fld>
            <a:endParaRPr lang="en-US" altLang="zh-CN"/>
          </a:p>
        </p:txBody>
      </p:sp>
      <p:sp>
        <p:nvSpPr>
          <p:cNvPr id="28677" name="Rectangle 2"/>
          <p:cNvSpPr>
            <a:spLocks noGrp="1" noChangeArrowheads="1"/>
          </p:cNvSpPr>
          <p:nvPr>
            <p:ph type="title"/>
          </p:nvPr>
        </p:nvSpPr>
        <p:spPr>
          <a:xfrm>
            <a:off x="2137792" y="555625"/>
            <a:ext cx="7772400" cy="609600"/>
          </a:xfrm>
        </p:spPr>
        <p:txBody>
          <a:bodyPr/>
          <a:lstStyle/>
          <a:p>
            <a:pPr eaLnBrk="1" hangingPunct="1"/>
            <a:r>
              <a:rPr lang="zh-CN" altLang="en-US" sz="2400" b="1" dirty="0">
                <a:solidFill>
                  <a:srgbClr val="0000FF"/>
                </a:solidFill>
                <a:effectLst/>
              </a:rPr>
              <a:t>海明码的应用</a:t>
            </a:r>
            <a:endParaRPr lang="zh-CN" altLang="en-US" sz="2400" b="1" dirty="0">
              <a:solidFill>
                <a:srgbClr val="0000FF"/>
              </a:solidFill>
              <a:effectLst/>
            </a:endParaRPr>
          </a:p>
        </p:txBody>
      </p:sp>
      <p:sp>
        <p:nvSpPr>
          <p:cNvPr id="28678" name="Rectangle 3"/>
          <p:cNvSpPr>
            <a:spLocks noGrp="1" noChangeArrowheads="1"/>
          </p:cNvSpPr>
          <p:nvPr>
            <p:ph idx="1"/>
          </p:nvPr>
        </p:nvSpPr>
        <p:spPr>
          <a:xfrm>
            <a:off x="1919536" y="2057400"/>
            <a:ext cx="8208912" cy="3124200"/>
          </a:xfrm>
        </p:spPr>
        <p:txBody>
          <a:bodyPr/>
          <a:lstStyle/>
          <a:p>
            <a:pPr eaLnBrk="1" hangingPunct="1">
              <a:lnSpc>
                <a:spcPct val="120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用汉明码纠正</a:t>
            </a:r>
            <a:r>
              <a:rPr lang="zh-CN" altLang="en-US" sz="2400" b="1" dirty="0">
                <a:solidFill>
                  <a:srgbClr val="0000FF"/>
                </a:solidFill>
                <a:latin typeface="Verdana" panose="020B0604030504040204" pitchFamily="34" charset="0"/>
                <a:ea typeface="楷体_GB2312" pitchFamily="49" charset="-122"/>
              </a:rPr>
              <a:t>非突发性错</a:t>
            </a:r>
            <a:endParaRPr lang="zh-CN" altLang="en-US" sz="2400" b="1" dirty="0">
              <a:solidFill>
                <a:srgbClr val="0000FF"/>
              </a:solidFill>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将总信息分为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组，每组进行汉明编码，共能纠正</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位错。</a:t>
            </a:r>
            <a:endParaRPr lang="zh-CN" altLang="en-US" sz="2400" dirty="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用汉明码纠正</a:t>
            </a:r>
            <a:r>
              <a:rPr lang="zh-CN" altLang="en-US" sz="2400" dirty="0">
                <a:highlight>
                  <a:srgbClr val="FFFF00"/>
                </a:highlight>
                <a:latin typeface="Verdana" panose="020B0604030504040204" pitchFamily="34" charset="0"/>
                <a:ea typeface="楷体_GB2312" pitchFamily="49" charset="-122"/>
              </a:rPr>
              <a:t>突发性错</a:t>
            </a:r>
            <a:endParaRPr lang="zh-CN" altLang="en-US" sz="2400" dirty="0">
              <a:highlight>
                <a:srgbClr val="FFFF00"/>
              </a:highlight>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将信息分为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行</a:t>
            </a:r>
            <a:r>
              <a:rPr lang="en-US" altLang="zh-CN" sz="2400" dirty="0">
                <a:latin typeface="Verdana" panose="020B0604030504040204" pitchFamily="34" charset="0"/>
                <a:ea typeface="楷体_GB2312" pitchFamily="49" charset="-122"/>
              </a:rPr>
              <a:t>N</a:t>
            </a:r>
            <a:r>
              <a:rPr lang="zh-CN" altLang="en-US" sz="2400" dirty="0">
                <a:latin typeface="Verdana" panose="020B0604030504040204" pitchFamily="34" charset="0"/>
                <a:ea typeface="楷体_GB2312" pitchFamily="49" charset="-122"/>
              </a:rPr>
              <a:t>列，对每行进行汉明编码，恢复长度最多为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的突发性错。</a:t>
            </a:r>
            <a:endParaRPr lang="zh-CN" altLang="en-US" sz="2400" dirty="0">
              <a:latin typeface="Verdana" panose="020B0604030504040204" pitchFamily="34" charset="0"/>
              <a:ea typeface="楷体_GB2312" pitchFamily="49" charset="-122"/>
            </a:endParaRP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2969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123F7FC-51FA-4A7D-ACB2-9E699FEEFC1D}"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10" name="日期占位符 5"/>
          <p:cNvSpPr>
            <a:spLocks noGrp="1"/>
          </p:cNvSpPr>
          <p:nvPr>
            <p:ph type="dt" sz="quarter" idx="12"/>
          </p:nvPr>
        </p:nvSpPr>
        <p:spPr/>
        <p:txBody>
          <a:bodyPr/>
          <a:lstStyle/>
          <a:p>
            <a:pPr>
              <a:defRPr/>
            </a:pPr>
            <a:fld id="{FC3B03F6-F29A-4A94-BCF0-13F7004B8DAA}" type="datetime1">
              <a:rPr lang="zh-CN" altLang="en-US"/>
            </a:fld>
            <a:endParaRPr lang="en-US" altLang="zh-CN"/>
          </a:p>
        </p:txBody>
      </p:sp>
      <p:sp>
        <p:nvSpPr>
          <p:cNvPr id="849922" name="Rectangle 2"/>
          <p:cNvSpPr>
            <a:spLocks noGrp="1" noChangeArrowheads="1"/>
          </p:cNvSpPr>
          <p:nvPr>
            <p:ph type="title"/>
          </p:nvPr>
        </p:nvSpPr>
        <p:spPr>
          <a:xfrm>
            <a:off x="2209800" y="685800"/>
            <a:ext cx="7162800" cy="482600"/>
          </a:xfrm>
        </p:spPr>
        <p:txBody>
          <a:bodyPr/>
          <a:lstStyle/>
          <a:p>
            <a:pPr eaLnBrk="1" hangingPunct="1">
              <a:defRPr/>
            </a:pPr>
            <a:r>
              <a:rPr lang="zh-CN" altLang="en-US" sz="2400" b="1" dirty="0">
                <a:solidFill>
                  <a:srgbClr val="0000FF"/>
                </a:solidFill>
                <a:latin typeface="宋体" panose="02010600030101010101" pitchFamily="2" charset="-122"/>
              </a:rPr>
              <a:t>用</a:t>
            </a:r>
            <a:r>
              <a:rPr lang="zh-CN" altLang="en-US" sz="2400" b="1" dirty="0">
                <a:solidFill>
                  <a:srgbClr val="0000FF"/>
                </a:solidFill>
                <a:effectLst/>
              </a:rPr>
              <a:t>海</a:t>
            </a:r>
            <a:r>
              <a:rPr lang="zh-CN" altLang="en-US" sz="2400" b="1" dirty="0">
                <a:solidFill>
                  <a:srgbClr val="0000FF"/>
                </a:solidFill>
                <a:latin typeface="宋体" panose="02010600030101010101" pitchFamily="2" charset="-122"/>
              </a:rPr>
              <a:t>明码纠正突发性错：</a:t>
            </a:r>
            <a:endParaRPr lang="zh-CN" altLang="en-US" sz="2400" b="1" dirty="0">
              <a:solidFill>
                <a:srgbClr val="0000FF"/>
              </a:solidFill>
              <a:latin typeface="宋体" panose="02010600030101010101" pitchFamily="2" charset="-122"/>
            </a:endParaRPr>
          </a:p>
        </p:txBody>
      </p:sp>
      <p:sp>
        <p:nvSpPr>
          <p:cNvPr id="29702" name="Rectangle 3"/>
          <p:cNvSpPr>
            <a:spLocks noGrp="1" noChangeArrowheads="1"/>
          </p:cNvSpPr>
          <p:nvPr>
            <p:ph type="body" idx="1"/>
          </p:nvPr>
        </p:nvSpPr>
        <p:spPr>
          <a:xfrm>
            <a:off x="2133600" y="1295400"/>
            <a:ext cx="7924800" cy="2209800"/>
          </a:xfrm>
        </p:spPr>
        <p:txBody>
          <a:bodyPr/>
          <a:lstStyle/>
          <a:p>
            <a:pPr eaLnBrk="1" hangingPunct="1">
              <a:lnSpc>
                <a:spcPct val="105000"/>
              </a:lnSpc>
              <a:buSzPct val="90000"/>
              <a:buFont typeface="Wingdings" panose="05000000000000000000" pitchFamily="2" charset="2"/>
              <a:buChar char="§"/>
              <a:defRPr/>
            </a:pPr>
            <a:r>
              <a:rPr lang="en-US" altLang="zh-CN" sz="2400" kern="100" spc="-100" dirty="0">
                <a:latin typeface="Verdana" panose="020B0604030504040204" pitchFamily="34" charset="0"/>
                <a:ea typeface="楷体_GB2312" pitchFamily="49" charset="-122"/>
              </a:rPr>
              <a:t>k</a:t>
            </a:r>
            <a:r>
              <a:rPr lang="zh-CN" altLang="en-US" sz="2400" kern="100" spc="-100" dirty="0">
                <a:latin typeface="Verdana" panose="020B0604030504040204" pitchFamily="34" charset="0"/>
                <a:ea typeface="楷体_GB2312" pitchFamily="49" charset="-122"/>
              </a:rPr>
              <a:t>个码字组成一个矩阵，一行一个码字</a:t>
            </a:r>
            <a:r>
              <a:rPr lang="en-US" altLang="zh-CN" sz="2400" kern="100" spc="-100" dirty="0">
                <a:latin typeface="Verdana" panose="020B0604030504040204" pitchFamily="34" charset="0"/>
                <a:ea typeface="楷体_GB2312" pitchFamily="49" charset="-122"/>
              </a:rPr>
              <a:t>(</a:t>
            </a:r>
            <a:r>
              <a:rPr lang="zh-CN" altLang="en-US" sz="2400" kern="100" spc="-100" dirty="0">
                <a:latin typeface="Verdana" panose="020B0604030504040204" pitchFamily="34" charset="0"/>
                <a:ea typeface="楷体_GB2312" pitchFamily="49" charset="-122"/>
              </a:rPr>
              <a:t>大小为</a:t>
            </a:r>
            <a:r>
              <a:rPr lang="en-US" altLang="zh-CN" sz="2400" kern="100" spc="-100" dirty="0">
                <a:latin typeface="Verdana" panose="020B0604030504040204" pitchFamily="34" charset="0"/>
                <a:ea typeface="楷体_GB2312" pitchFamily="49" charset="-122"/>
              </a:rPr>
              <a:t>n)</a:t>
            </a:r>
            <a:r>
              <a:rPr lang="zh-CN" altLang="en-US" sz="2400" kern="100" spc="-100" dirty="0">
                <a:latin typeface="Verdana" panose="020B0604030504040204" pitchFamily="34" charset="0"/>
                <a:ea typeface="楷体_GB2312" pitchFamily="49" charset="-122"/>
              </a:rPr>
              <a:t>，每行都采用海明码。</a:t>
            </a:r>
            <a:endParaRPr lang="zh-CN" altLang="en-US" sz="2400" kern="100" spc="-100" dirty="0">
              <a:latin typeface="Verdana" panose="020B0604030504040204" pitchFamily="34" charset="0"/>
              <a:ea typeface="楷体_GB2312" pitchFamily="49" charset="-122"/>
            </a:endParaRPr>
          </a:p>
          <a:p>
            <a:pPr eaLnBrk="1" hangingPunct="1">
              <a:lnSpc>
                <a:spcPct val="105000"/>
              </a:lnSpc>
              <a:buSzPct val="90000"/>
              <a:buFont typeface="Wingdings" panose="05000000000000000000" pitchFamily="2" charset="2"/>
              <a:buChar char="§"/>
              <a:defRPr/>
            </a:pPr>
            <a:r>
              <a:rPr lang="zh-CN" altLang="en-US" sz="2400" kern="100" spc="-100" dirty="0">
                <a:latin typeface="Verdana" panose="020B0604030504040204" pitchFamily="34" charset="0"/>
                <a:ea typeface="楷体_GB2312" pitchFamily="49" charset="-122"/>
              </a:rPr>
              <a:t>从左开始每次发送一列，帧到达接收方重组成矩阵。</a:t>
            </a:r>
            <a:endParaRPr lang="zh-CN" altLang="en-US" sz="2400" kern="100" spc="-100" dirty="0">
              <a:latin typeface="Verdana" panose="020B0604030504040204" pitchFamily="34" charset="0"/>
              <a:ea typeface="楷体_GB2312" pitchFamily="49" charset="-122"/>
            </a:endParaRPr>
          </a:p>
          <a:p>
            <a:pPr eaLnBrk="1" hangingPunct="1">
              <a:lnSpc>
                <a:spcPct val="105000"/>
              </a:lnSpc>
              <a:buSzPct val="90000"/>
              <a:buFont typeface="Wingdings" panose="05000000000000000000" pitchFamily="2" charset="2"/>
              <a:buChar char="§"/>
              <a:defRPr/>
            </a:pPr>
            <a:r>
              <a:rPr lang="zh-CN" altLang="en-US" sz="2400" kern="100" spc="-100" dirty="0">
                <a:latin typeface="Verdana" panose="020B0604030504040204" pitchFamily="34" charset="0"/>
                <a:ea typeface="楷体_GB2312" pitchFamily="49" charset="-122"/>
              </a:rPr>
              <a:t>如果有</a:t>
            </a:r>
            <a:r>
              <a:rPr lang="en-US" altLang="zh-CN" sz="2400" kern="100" spc="-100" dirty="0">
                <a:latin typeface="Verdana" panose="020B0604030504040204" pitchFamily="34" charset="0"/>
                <a:ea typeface="楷体_GB2312" pitchFamily="49" charset="-122"/>
              </a:rPr>
              <a:t>k</a:t>
            </a:r>
            <a:r>
              <a:rPr lang="zh-CN" altLang="en-US" sz="2400" kern="100" spc="-100" dirty="0">
                <a:latin typeface="Verdana" panose="020B0604030504040204" pitchFamily="34" charset="0"/>
                <a:ea typeface="楷体_GB2312" pitchFamily="49" charset="-122"/>
              </a:rPr>
              <a:t>位连续发生突发错误，则每个码字中只用一位发生错误，可用海明码纠正。</a:t>
            </a:r>
            <a:endParaRPr lang="zh-CN" altLang="en-US" sz="2400" kern="100" spc="-100" dirty="0">
              <a:latin typeface="Verdana" panose="020B0604030504040204" pitchFamily="34" charset="0"/>
              <a:ea typeface="楷体_GB2312" pitchFamily="49" charset="-122"/>
            </a:endParaRPr>
          </a:p>
        </p:txBody>
      </p:sp>
      <p:grpSp>
        <p:nvGrpSpPr>
          <p:cNvPr id="29703" name="Group 4"/>
          <p:cNvGrpSpPr/>
          <p:nvPr/>
        </p:nvGrpSpPr>
        <p:grpSpPr bwMode="auto">
          <a:xfrm>
            <a:off x="3503614" y="3873501"/>
            <a:ext cx="701675" cy="2003425"/>
            <a:chOff x="1222" y="2544"/>
            <a:chExt cx="458" cy="1488"/>
          </a:xfrm>
        </p:grpSpPr>
        <p:sp>
          <p:nvSpPr>
            <p:cNvPr id="29731" name="Text Box 6"/>
            <p:cNvSpPr txBox="1">
              <a:spLocks noChangeArrowheads="1"/>
            </p:cNvSpPr>
            <p:nvPr/>
          </p:nvSpPr>
          <p:spPr bwMode="auto">
            <a:xfrm>
              <a:off x="1222" y="2688"/>
              <a:ext cx="301" cy="1251"/>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vert="eaVert">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000">
                  <a:latin typeface="Times New Roman" panose="02020603050405020304" pitchFamily="18" charset="0"/>
                  <a:ea typeface="楷体_GB2312" pitchFamily="49" charset="-122"/>
                </a:rPr>
                <a:t>位传输顺序</a:t>
              </a:r>
              <a:endParaRPr kumimoji="1" lang="zh-CN" altLang="en-US" sz="2000">
                <a:latin typeface="Times New Roman" panose="02020603050405020304" pitchFamily="18" charset="0"/>
                <a:ea typeface="楷体_GB2312" pitchFamily="49" charset="-122"/>
              </a:endParaRPr>
            </a:p>
          </p:txBody>
        </p:sp>
        <p:sp>
          <p:nvSpPr>
            <p:cNvPr id="29732" name="Line 7"/>
            <p:cNvSpPr>
              <a:spLocks noChangeShapeType="1"/>
            </p:cNvSpPr>
            <p:nvPr/>
          </p:nvSpPr>
          <p:spPr bwMode="auto">
            <a:xfrm>
              <a:off x="1680" y="2544"/>
              <a:ext cx="0" cy="1488"/>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 name="表格 1"/>
          <p:cNvGraphicFramePr>
            <a:graphicFrameLocks noGrp="1"/>
          </p:cNvGraphicFramePr>
          <p:nvPr/>
        </p:nvGraphicFramePr>
        <p:xfrm>
          <a:off x="4727575" y="3773489"/>
          <a:ext cx="4016376" cy="2176461"/>
        </p:xfrm>
        <a:graphic>
          <a:graphicData uri="http://schemas.openxmlformats.org/drawingml/2006/table">
            <a:tbl>
              <a:tblPr>
                <a:tableStyleId>{5C22544A-7EE6-4342-B048-85BDC9FD1C3A}</a:tableStyleId>
              </a:tblPr>
              <a:tblGrid>
                <a:gridCol w="1004094"/>
                <a:gridCol w="1004094"/>
                <a:gridCol w="1004094"/>
                <a:gridCol w="1004094"/>
              </a:tblGrid>
              <a:tr h="545544">
                <a:tc>
                  <a:txBody>
                    <a:bodyPr/>
                    <a:lstStyle/>
                    <a:p>
                      <a:pPr algn="ctr">
                        <a:spcAft>
                          <a:spcPts val="0"/>
                        </a:spcAft>
                      </a:pPr>
                      <a:r>
                        <a:rPr lang="en-US" sz="2000" kern="100" dirty="0">
                          <a:effectLst/>
                        </a:rPr>
                        <a:t>m</a:t>
                      </a:r>
                      <a:r>
                        <a:rPr lang="en-US" sz="2000" kern="100" baseline="-25000" dirty="0">
                          <a:effectLst/>
                        </a:rPr>
                        <a:t>11</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a:effectLst/>
                        </a:rPr>
                        <a:t>m</a:t>
                      </a:r>
                      <a:r>
                        <a:rPr lang="en-US" sz="2000" kern="100" baseline="-25000" dirty="0">
                          <a:effectLst/>
                        </a:rPr>
                        <a:t>12</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1n</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r>
              <a:tr h="543639">
                <a:tc>
                  <a:txBody>
                    <a:bodyPr/>
                    <a:lstStyle/>
                    <a:p>
                      <a:pPr algn="ctr">
                        <a:spcAft>
                          <a:spcPts val="0"/>
                        </a:spcAft>
                      </a:pPr>
                      <a:r>
                        <a:rPr lang="en-US" sz="2000" kern="100">
                          <a:effectLst/>
                        </a:rPr>
                        <a:t>m</a:t>
                      </a:r>
                      <a:r>
                        <a:rPr lang="en-US" sz="2000" kern="100" baseline="-25000">
                          <a:effectLst/>
                        </a:rPr>
                        <a:t>21</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a:effectLst/>
                        </a:rPr>
                        <a:t>m</a:t>
                      </a:r>
                      <a:r>
                        <a:rPr lang="en-US" sz="2000" kern="100" baseline="-25000" dirty="0">
                          <a:effectLst/>
                        </a:rPr>
                        <a:t>22</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2n</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r>
              <a:tr h="543639">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r>
              <a:tr h="543639">
                <a:tc>
                  <a:txBody>
                    <a:bodyPr/>
                    <a:lstStyle/>
                    <a:p>
                      <a:pPr algn="ctr">
                        <a:spcAft>
                          <a:spcPts val="0"/>
                        </a:spcAft>
                      </a:pPr>
                      <a:r>
                        <a:rPr lang="en-US" sz="2000" kern="100">
                          <a:effectLst/>
                        </a:rPr>
                        <a:t>m</a:t>
                      </a:r>
                      <a:r>
                        <a:rPr lang="en-US" sz="2000" kern="100" baseline="-25000">
                          <a:effectLst/>
                        </a:rPr>
                        <a:t>k1</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k2</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err="1">
                          <a:effectLst/>
                        </a:rPr>
                        <a:t>m</a:t>
                      </a:r>
                      <a:r>
                        <a:rPr lang="en-US" sz="2000" kern="100" baseline="-25000" dirty="0" err="1">
                          <a:effectLst/>
                        </a:rPr>
                        <a:t>kn</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r>
            </a:tbl>
          </a:graphicData>
        </a:graphic>
      </p:graphicFrame>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3072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B6BEF50-3CC2-40C7-BB42-4AB0A62E58A8}"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10" name="日期占位符 5"/>
          <p:cNvSpPr>
            <a:spLocks noGrp="1"/>
          </p:cNvSpPr>
          <p:nvPr>
            <p:ph type="dt" sz="quarter" idx="12"/>
          </p:nvPr>
        </p:nvSpPr>
        <p:spPr/>
        <p:txBody>
          <a:bodyPr/>
          <a:lstStyle/>
          <a:p>
            <a:pPr>
              <a:defRPr/>
            </a:pPr>
            <a:fld id="{7A0A6B3C-8641-43D5-89D0-3A965F034D72}" type="datetime1">
              <a:rPr lang="zh-CN" altLang="en-US"/>
            </a:fld>
            <a:endParaRPr lang="en-US" altLang="zh-CN"/>
          </a:p>
        </p:txBody>
      </p:sp>
      <p:sp>
        <p:nvSpPr>
          <p:cNvPr id="850946" name="Rectangle 2"/>
          <p:cNvSpPr>
            <a:spLocks noGrp="1" noChangeArrowheads="1"/>
          </p:cNvSpPr>
          <p:nvPr>
            <p:ph type="title"/>
          </p:nvPr>
        </p:nvSpPr>
        <p:spPr>
          <a:xfrm>
            <a:off x="1740025" y="260648"/>
            <a:ext cx="1828800" cy="609600"/>
          </a:xfrm>
        </p:spPr>
        <p:txBody>
          <a:bodyPr/>
          <a:lstStyle/>
          <a:p>
            <a:pPr eaLnBrk="1" hangingPunct="1">
              <a:defRPr/>
            </a:pPr>
            <a:r>
              <a:rPr lang="zh-CN" altLang="en-US" sz="3200" b="1" dirty="0">
                <a:solidFill>
                  <a:srgbClr val="FF0000"/>
                </a:solidFill>
                <a:latin typeface="楷体_GB2312" pitchFamily="49" charset="-122"/>
              </a:rPr>
              <a:t>例</a:t>
            </a:r>
            <a:r>
              <a:rPr lang="en-US" altLang="zh-CN" sz="3200" b="1" dirty="0">
                <a:solidFill>
                  <a:srgbClr val="FF0000"/>
                </a:solidFill>
                <a:latin typeface="楷体_GB2312" pitchFamily="49" charset="-122"/>
              </a:rPr>
              <a:t>:</a:t>
            </a:r>
            <a:endParaRPr lang="en-US" altLang="zh-CN" sz="3200" b="1" dirty="0">
              <a:solidFill>
                <a:srgbClr val="FF0000"/>
              </a:solidFill>
              <a:latin typeface="楷体_GB2312" pitchFamily="49" charset="-122"/>
            </a:endParaRPr>
          </a:p>
        </p:txBody>
      </p:sp>
      <p:sp>
        <p:nvSpPr>
          <p:cNvPr id="850947" name="Rectangle 3"/>
          <p:cNvSpPr>
            <a:spLocks noGrp="1" noChangeArrowheads="1"/>
          </p:cNvSpPr>
          <p:nvPr>
            <p:ph type="body" idx="1"/>
          </p:nvPr>
        </p:nvSpPr>
        <p:spPr>
          <a:xfrm>
            <a:off x="2438400" y="2101552"/>
            <a:ext cx="6781800" cy="4495800"/>
          </a:xfrm>
        </p:spPr>
        <p:txBody>
          <a:bodyPr/>
          <a:lstStyle/>
          <a:p>
            <a:pPr eaLnBrk="1" hangingPunct="1">
              <a:buFont typeface="Wingdings" panose="05000000000000000000" pitchFamily="2" charset="2"/>
              <a:buNone/>
              <a:defRPr/>
            </a:pPr>
            <a:endParaRPr lang="en-US" altLang="zh-CN" sz="2400" dirty="0"/>
          </a:p>
          <a:p>
            <a:pPr eaLnBrk="1" hangingPunct="1">
              <a:buFont typeface="Wingdings" panose="05000000000000000000" pitchFamily="2" charset="2"/>
              <a:buNone/>
              <a:defRPr/>
            </a:pP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字符   </a:t>
            </a:r>
            <a:r>
              <a:rPr lang="en-US" altLang="zh-CN"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ASCII </a:t>
            </a:r>
            <a:r>
              <a:rPr lang="en-US" altLang="zh-CN" sz="2400" b="1"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校验位</a:t>
            </a:r>
            <a:endPar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eaLnBrk="1" hangingPunct="1">
              <a:buFont typeface="Wingdings" panose="05000000000000000000" pitchFamily="2" charset="2"/>
              <a:buNone/>
              <a:defRPr/>
            </a:pPr>
            <a:r>
              <a:rPr lang="en-US" altLang="zh-CN" sz="2400" dirty="0"/>
              <a:t>H        1001000              00110010000</a:t>
            </a:r>
            <a:endParaRPr lang="en-US" altLang="zh-CN" sz="2400" dirty="0"/>
          </a:p>
          <a:p>
            <a:pPr eaLnBrk="1" hangingPunct="1">
              <a:buFont typeface="Wingdings" panose="05000000000000000000" pitchFamily="2" charset="2"/>
              <a:buNone/>
              <a:defRPr/>
            </a:pPr>
            <a:r>
              <a:rPr lang="en-US" altLang="zh-CN" sz="2400" dirty="0"/>
              <a:t>a         1100001              10111001001</a:t>
            </a:r>
            <a:endParaRPr lang="en-US" altLang="zh-CN" sz="2400" dirty="0"/>
          </a:p>
          <a:p>
            <a:pPr eaLnBrk="1" hangingPunct="1">
              <a:buFont typeface="Wingdings" panose="05000000000000000000" pitchFamily="2" charset="2"/>
              <a:buNone/>
              <a:defRPr/>
            </a:pPr>
            <a:r>
              <a:rPr lang="en-US" altLang="zh-CN" sz="2400" dirty="0"/>
              <a:t>m        1101101              11101010101</a:t>
            </a:r>
            <a:endParaRPr lang="en-US" altLang="zh-CN" sz="2400" dirty="0"/>
          </a:p>
          <a:p>
            <a:pPr eaLnBrk="1" hangingPunct="1">
              <a:buFont typeface="Wingdings" panose="05000000000000000000" pitchFamily="2" charset="2"/>
              <a:buNone/>
              <a:defRPr/>
            </a:pPr>
            <a:r>
              <a:rPr lang="en-US" altLang="zh-CN" sz="2400" dirty="0"/>
              <a:t>m        1101101              11101010101</a:t>
            </a:r>
            <a:endParaRPr lang="en-US" altLang="zh-CN" sz="2400" dirty="0"/>
          </a:p>
          <a:p>
            <a:pPr eaLnBrk="1" hangingPunct="1">
              <a:buFont typeface="Wingdings" panose="05000000000000000000" pitchFamily="2" charset="2"/>
              <a:buNone/>
              <a:defRPr/>
            </a:pPr>
            <a:r>
              <a:rPr lang="en-US" altLang="zh-CN" sz="2400" dirty="0"/>
              <a:t> </a:t>
            </a:r>
            <a:r>
              <a:rPr lang="en-US" altLang="zh-CN" sz="2400" dirty="0" err="1"/>
              <a:t>i</a:t>
            </a:r>
            <a:r>
              <a:rPr lang="en-US" altLang="zh-CN" sz="2400" dirty="0"/>
              <a:t>         1101001              01101011001</a:t>
            </a:r>
            <a:endParaRPr lang="en-US" altLang="zh-CN" sz="2400" dirty="0"/>
          </a:p>
          <a:p>
            <a:pPr eaLnBrk="1" hangingPunct="1">
              <a:buFont typeface="Wingdings" panose="05000000000000000000" pitchFamily="2" charset="2"/>
              <a:buNone/>
              <a:defRPr/>
            </a:pPr>
            <a:r>
              <a:rPr lang="en-US" altLang="zh-CN" sz="2400" dirty="0"/>
              <a:t>n         1101110              01101010110</a:t>
            </a:r>
            <a:endParaRPr lang="en-US" altLang="zh-CN" sz="2400" dirty="0"/>
          </a:p>
          <a:p>
            <a:pPr eaLnBrk="1" hangingPunct="1">
              <a:buFont typeface="Wingdings" panose="05000000000000000000" pitchFamily="2" charset="2"/>
              <a:buNone/>
              <a:defRPr/>
            </a:pPr>
            <a:r>
              <a:rPr lang="en-US" altLang="zh-CN" sz="2400" dirty="0"/>
              <a:t>g         1100111              11111001111</a:t>
            </a:r>
            <a:endParaRPr lang="en-US" altLang="zh-CN" sz="2400" dirty="0"/>
          </a:p>
          <a:p>
            <a:pPr eaLnBrk="1" hangingPunct="1">
              <a:buFont typeface="Wingdings" panose="05000000000000000000" pitchFamily="2" charset="2"/>
              <a:buNone/>
              <a:defRPr/>
            </a:pPr>
            <a:r>
              <a:rPr lang="en-US" altLang="zh-CN" sz="2400" b="1" dirty="0"/>
              <a:t>           </a:t>
            </a:r>
            <a:endParaRPr lang="en-US" altLang="zh-CN" sz="2400" b="1" dirty="0"/>
          </a:p>
        </p:txBody>
      </p:sp>
      <p:grpSp>
        <p:nvGrpSpPr>
          <p:cNvPr id="30727" name="Group 4"/>
          <p:cNvGrpSpPr/>
          <p:nvPr/>
        </p:nvGrpSpPr>
        <p:grpSpPr bwMode="auto">
          <a:xfrm>
            <a:off x="5101406" y="2852936"/>
            <a:ext cx="490538" cy="3200400"/>
            <a:chOff x="2400" y="1728"/>
            <a:chExt cx="270" cy="2352"/>
          </a:xfrm>
        </p:grpSpPr>
        <p:sp>
          <p:nvSpPr>
            <p:cNvPr id="30729" name="Line 5"/>
            <p:cNvSpPr>
              <a:spLocks noChangeShapeType="1"/>
            </p:cNvSpPr>
            <p:nvPr/>
          </p:nvSpPr>
          <p:spPr bwMode="auto">
            <a:xfrm>
              <a:off x="2670" y="1728"/>
              <a:ext cx="0" cy="2352"/>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Text Box 6"/>
            <p:cNvSpPr txBox="1">
              <a:spLocks noChangeArrowheads="1"/>
            </p:cNvSpPr>
            <p:nvPr/>
          </p:nvSpPr>
          <p:spPr bwMode="auto">
            <a:xfrm>
              <a:off x="2400" y="1761"/>
              <a:ext cx="243"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位</a:t>
              </a: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传</a:t>
              </a: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输</a:t>
              </a: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顺</a:t>
              </a: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序</a:t>
              </a:r>
              <a:endParaRPr kumimoji="1" lang="zh-CN" altLang="en-US" sz="2000" b="1">
                <a:latin typeface="Times New Roman" panose="02020603050405020304" pitchFamily="18" charset="0"/>
                <a:ea typeface="楷体_GB2312" pitchFamily="49" charset="-122"/>
              </a:endParaRPr>
            </a:p>
          </p:txBody>
        </p:sp>
      </p:grpSp>
      <p:graphicFrame>
        <p:nvGraphicFramePr>
          <p:cNvPr id="30728" name="Object 7"/>
          <p:cNvGraphicFramePr>
            <a:graphicFrameLocks noChangeAspect="1"/>
          </p:cNvGraphicFramePr>
          <p:nvPr/>
        </p:nvGraphicFramePr>
        <p:xfrm>
          <a:off x="6528049" y="764705"/>
          <a:ext cx="2903537" cy="1509713"/>
        </p:xfrm>
        <a:graphic>
          <a:graphicData uri="http://schemas.openxmlformats.org/presentationml/2006/ole">
            <mc:AlternateContent xmlns:mc="http://schemas.openxmlformats.org/markup-compatibility/2006">
              <mc:Choice xmlns:v="urn:schemas-microsoft-com:vml" Requires="v">
                <p:oleObj spid="_x0000_s0" name="Equation" r:id="rId1" imgW="1524000" imgH="914400" progId="Equation.DSMT4">
                  <p:embed/>
                </p:oleObj>
              </mc:Choice>
              <mc:Fallback>
                <p:oleObj name="Equation" r:id="rId1" imgW="1524000" imgH="9144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8049" y="764705"/>
                        <a:ext cx="2903537" cy="1509713"/>
                      </a:xfrm>
                      <a:prstGeom prst="rect">
                        <a:avLst/>
                      </a:prstGeom>
                      <a:solidFill>
                        <a:schemeClr val="accent1"/>
                      </a:solidFill>
                      <a:ln>
                        <a:noFill/>
                      </a:ln>
                    </p:spPr>
                  </p:pic>
                </p:oleObj>
              </mc:Fallback>
            </mc:AlternateContent>
          </a:graphicData>
        </a:graphic>
      </p:graphicFrame>
      <p:sp>
        <p:nvSpPr>
          <p:cNvPr id="2" name="文本框 1"/>
          <p:cNvSpPr txBox="1"/>
          <p:nvPr/>
        </p:nvSpPr>
        <p:spPr>
          <a:xfrm>
            <a:off x="8275340" y="2863112"/>
            <a:ext cx="1440160" cy="955903"/>
          </a:xfrm>
          <a:prstGeom prst="rect">
            <a:avLst/>
          </a:prstGeom>
          <a:noFill/>
        </p:spPr>
        <p:txBody>
          <a:bodyPr wrap="square" rtlCol="0">
            <a:spAutoFit/>
          </a:bodyPr>
          <a:lstStyle/>
          <a:p>
            <a:pPr algn="ctr">
              <a:lnSpc>
                <a:spcPct val="150000"/>
              </a:lnSpc>
            </a:pPr>
            <a:r>
              <a:rPr lang="zh-CN" altLang="en-US" b="1" dirty="0">
                <a:solidFill>
                  <a:srgbClr val="FF0000"/>
                </a:solidFill>
              </a:rPr>
              <a:t>水平校验</a:t>
            </a:r>
            <a:endParaRPr lang="en-US" altLang="zh-CN" b="1" dirty="0">
              <a:solidFill>
                <a:srgbClr val="FF0000"/>
              </a:solidFill>
            </a:endParaRPr>
          </a:p>
          <a:p>
            <a:pPr algn="ctr">
              <a:lnSpc>
                <a:spcPct val="150000"/>
              </a:lnSpc>
            </a:pPr>
            <a:r>
              <a:rPr lang="zh-CN" altLang="en-US" b="1" dirty="0">
                <a:solidFill>
                  <a:srgbClr val="FF0000"/>
                </a:solidFill>
              </a:rPr>
              <a:t>垂直发送</a:t>
            </a:r>
            <a:endParaRPr lang="zh-CN" altLang="en-US" b="1" dirty="0">
              <a:solidFill>
                <a:srgbClr val="FF0000"/>
              </a:solidFill>
            </a:endParaRP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海明码（小结）</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383632"/>
            <a:ext cx="10515600" cy="4872789"/>
          </a:xfrm>
        </p:spPr>
        <p:txBody>
          <a:bodyPr>
            <a:noAutofit/>
          </a:bodyPr>
          <a:lstStyle/>
          <a:p>
            <a:pPr>
              <a:lnSpc>
                <a:spcPts val="3300"/>
              </a:lnSpc>
            </a:pPr>
            <a:r>
              <a:rPr lang="zh-CN" altLang="en-US" sz="2600" dirty="0">
                <a:sym typeface="Symbol" panose="05050102010706020507" pitchFamily="18" charset="2"/>
              </a:rPr>
              <a:t>海明码纠正的实现过程</a:t>
            </a:r>
            <a:endParaRPr lang="zh-CN" altLang="en-US" sz="2600" dirty="0">
              <a:sym typeface="Symbol" panose="05050102010706020507" pitchFamily="18" charset="2"/>
            </a:endParaRPr>
          </a:p>
          <a:p>
            <a:pPr lvl="1">
              <a:lnSpc>
                <a:spcPts val="3300"/>
              </a:lnSpc>
            </a:pPr>
            <a:r>
              <a:rPr lang="zh-CN" altLang="en-US" sz="2200" dirty="0"/>
              <a:t>每个码字到来前，接收方计数器清零</a:t>
            </a:r>
            <a:endParaRPr lang="zh-CN" altLang="en-US" sz="2200" dirty="0"/>
          </a:p>
          <a:p>
            <a:pPr lvl="1">
              <a:lnSpc>
                <a:spcPts val="3300"/>
              </a:lnSpc>
            </a:pPr>
            <a:r>
              <a:rPr lang="zh-CN" altLang="en-US" sz="2200" dirty="0"/>
              <a:t>接收方检查每个校验位</a:t>
            </a:r>
            <a:r>
              <a:rPr lang="en-US" altLang="zh-CN" sz="2200" dirty="0"/>
              <a:t>k (k = 1, 2, 4 …)</a:t>
            </a:r>
            <a:r>
              <a:rPr lang="zh-CN" altLang="en-US" sz="2200" dirty="0"/>
              <a:t>的奇偶值是否正确（每组运算）</a:t>
            </a:r>
            <a:endParaRPr lang="zh-CN" altLang="en-US" sz="2200" dirty="0"/>
          </a:p>
          <a:p>
            <a:pPr lvl="1">
              <a:lnSpc>
                <a:spcPts val="3300"/>
              </a:lnSpc>
            </a:pPr>
            <a:r>
              <a:rPr lang="zh-CN" altLang="en-US" sz="2200" dirty="0"/>
              <a:t>若 </a:t>
            </a:r>
            <a:r>
              <a:rPr lang="en-US" altLang="zh-CN" sz="2200" dirty="0" err="1"/>
              <a:t>pk</a:t>
            </a:r>
            <a:r>
              <a:rPr lang="en-US" altLang="zh-CN" sz="2200" dirty="0"/>
              <a:t> </a:t>
            </a:r>
            <a:r>
              <a:rPr lang="zh-CN" altLang="en-US" sz="2200" dirty="0"/>
              <a:t>奇偶值不对，计数器加 </a:t>
            </a:r>
            <a:r>
              <a:rPr lang="en-US" altLang="zh-CN" sz="2200" dirty="0"/>
              <a:t>k</a:t>
            </a:r>
            <a:endParaRPr lang="en-US" altLang="zh-CN" sz="2200" dirty="0"/>
          </a:p>
          <a:p>
            <a:pPr lvl="1">
              <a:lnSpc>
                <a:spcPts val="3300"/>
              </a:lnSpc>
            </a:pPr>
            <a:r>
              <a:rPr lang="zh-CN" altLang="en-US" sz="2200" dirty="0"/>
              <a:t>所有校验位检查完后，若计数器值为</a:t>
            </a:r>
            <a:r>
              <a:rPr lang="en-US" altLang="zh-CN" sz="2200" dirty="0"/>
              <a:t>0</a:t>
            </a:r>
            <a:r>
              <a:rPr lang="zh-CN" altLang="en-US" sz="2200" dirty="0"/>
              <a:t>，则码字有效；若计数器值为 </a:t>
            </a:r>
            <a:r>
              <a:rPr lang="en-US" altLang="zh-CN" sz="2200" dirty="0"/>
              <a:t>j</a:t>
            </a:r>
            <a:r>
              <a:rPr lang="zh-CN" altLang="en-US" sz="2200" dirty="0"/>
              <a:t>，则第 </a:t>
            </a:r>
            <a:r>
              <a:rPr lang="en-US" altLang="zh-CN" sz="2200" dirty="0"/>
              <a:t>j </a:t>
            </a:r>
            <a:r>
              <a:rPr lang="zh-CN" altLang="en-US" sz="2200" dirty="0"/>
              <a:t>位出错。例：若校验位</a:t>
            </a:r>
            <a:r>
              <a:rPr lang="en-US" altLang="zh-CN" sz="2200" dirty="0"/>
              <a:t>p1</a:t>
            </a:r>
            <a:r>
              <a:rPr lang="zh-CN" altLang="en-US" sz="2200" dirty="0"/>
              <a:t>、</a:t>
            </a:r>
            <a:r>
              <a:rPr lang="en-US" altLang="zh-CN" sz="2200" dirty="0"/>
              <a:t>p2</a:t>
            </a:r>
            <a:r>
              <a:rPr lang="zh-CN" altLang="en-US" sz="2200" dirty="0"/>
              <a:t>、</a:t>
            </a:r>
            <a:r>
              <a:rPr lang="en-US" altLang="zh-CN" sz="2200" dirty="0"/>
              <a:t>p8</a:t>
            </a:r>
            <a:r>
              <a:rPr lang="zh-CN" altLang="en-US" sz="2200" dirty="0"/>
              <a:t>出错，则第</a:t>
            </a:r>
            <a:r>
              <a:rPr lang="en-US" altLang="zh-CN" sz="2200" dirty="0"/>
              <a:t>11</a:t>
            </a:r>
            <a:r>
              <a:rPr lang="zh-CN" altLang="en-US" sz="2200" dirty="0"/>
              <a:t>位变反</a:t>
            </a:r>
            <a:endParaRPr lang="zh-CN" altLang="en-US" sz="2200" dirty="0"/>
          </a:p>
          <a:p>
            <a:pPr>
              <a:lnSpc>
                <a:spcPts val="3300"/>
              </a:lnSpc>
              <a:spcBef>
                <a:spcPts val="1200"/>
              </a:spcBef>
            </a:pPr>
            <a:r>
              <a:rPr lang="zh-CN" altLang="en-US" sz="2600" dirty="0"/>
              <a:t>使用海明码纠正突发错误</a:t>
            </a:r>
            <a:endParaRPr lang="zh-CN" altLang="en-US" sz="2600" dirty="0"/>
          </a:p>
          <a:p>
            <a:pPr lvl="1">
              <a:lnSpc>
                <a:spcPts val="3300"/>
              </a:lnSpc>
            </a:pPr>
            <a:r>
              <a:rPr lang="zh-CN" altLang="en-US" sz="2200" dirty="0"/>
              <a:t>可采用</a:t>
            </a:r>
            <a:r>
              <a:rPr lang="en-US" altLang="zh-CN" sz="2200" dirty="0"/>
              <a:t>k</a:t>
            </a:r>
            <a:r>
              <a:rPr lang="zh-CN" altLang="en-US" sz="2200" dirty="0"/>
              <a:t>个码字（</a:t>
            </a:r>
            <a:r>
              <a:rPr lang="en-US" altLang="zh-CN" sz="2200" dirty="0"/>
              <a:t>n = m + r</a:t>
            </a:r>
            <a:r>
              <a:rPr lang="zh-CN" altLang="en-US" sz="2200" dirty="0"/>
              <a:t>）</a:t>
            </a:r>
            <a:r>
              <a:rPr lang="zh-CN" altLang="zh-CN" sz="2200" dirty="0"/>
              <a:t>组成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矩阵，按列发送，接收方恢复成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a:t>
            </a:r>
            <a:endParaRPr lang="zh-CN" altLang="en-US" sz="2200" dirty="0">
              <a:sym typeface="Symbol" panose="05050102010706020507" pitchFamily="18" charset="2"/>
            </a:endParaRPr>
          </a:p>
          <a:p>
            <a:pPr lvl="1">
              <a:lnSpc>
                <a:spcPts val="3300"/>
              </a:lnSpc>
            </a:pPr>
            <a:r>
              <a:rPr lang="en-US" altLang="zh-CN" sz="2200" dirty="0" err="1">
                <a:sym typeface="Symbol" panose="05050102010706020507" pitchFamily="18" charset="2"/>
              </a:rPr>
              <a:t>kr</a:t>
            </a:r>
            <a:r>
              <a:rPr lang="zh-CN" altLang="zh-CN" sz="2200" dirty="0">
                <a:sym typeface="Symbol" panose="05050102010706020507" pitchFamily="18" charset="2"/>
              </a:rPr>
              <a:t>个校验位，</a:t>
            </a:r>
            <a:r>
              <a:rPr lang="en-US" altLang="zh-CN" sz="2200" dirty="0">
                <a:sym typeface="Symbol" panose="05050102010706020507" pitchFamily="18" charset="2"/>
              </a:rPr>
              <a:t>km</a:t>
            </a:r>
            <a:r>
              <a:rPr lang="zh-CN" altLang="zh-CN" sz="2200" dirty="0">
                <a:sym typeface="Symbol" panose="05050102010706020507" pitchFamily="18" charset="2"/>
              </a:rPr>
              <a:t>个数据位，可纠正最多为</a:t>
            </a:r>
            <a:r>
              <a:rPr lang="en-US" altLang="zh-CN" sz="2200" dirty="0">
                <a:sym typeface="Symbol" panose="05050102010706020507" pitchFamily="18" charset="2"/>
              </a:rPr>
              <a:t>k</a:t>
            </a:r>
            <a:r>
              <a:rPr lang="zh-CN" altLang="zh-CN" sz="2200" dirty="0">
                <a:sym typeface="Symbol" panose="05050102010706020507" pitchFamily="18" charset="2"/>
              </a:rPr>
              <a:t>个的突发性连续比特错</a:t>
            </a:r>
            <a:endParaRPr lang="zh-CN" altLang="en-US"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kumimoji="1" lang="zh-CN" altLang="en-US" dirty="0"/>
          </a:p>
        </p:txBody>
      </p:sp>
      <p:sp>
        <p:nvSpPr>
          <p:cNvPr id="3" name="内容占位符 2"/>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solidFill>
                  <a:srgbClr val="C00000"/>
                </a:solidFill>
              </a:rPr>
              <a:t>3.3 </a:t>
            </a:r>
            <a:r>
              <a:rPr kumimoji="1" lang="zh-CN" altLang="zh-CN" dirty="0">
                <a:solidFill>
                  <a:srgbClr val="C00000"/>
                </a:solidFill>
              </a:rPr>
              <a:t>基本的数据链路层协议</a:t>
            </a:r>
            <a:endParaRPr kumimoji="1" lang="zh-CN" altLang="en-US" dirty="0">
              <a:solidFill>
                <a:srgbClr val="C00000"/>
              </a:solidFill>
            </a:endParaRPr>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endParaRPr kumimoji="1" lang="zh-CN"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矩形标注 4"/>
          <p:cNvSpPr/>
          <p:nvPr/>
        </p:nvSpPr>
        <p:spPr>
          <a:xfrm>
            <a:off x="6226215" y="2145334"/>
            <a:ext cx="4768770" cy="2138567"/>
          </a:xfrm>
          <a:prstGeom prst="wedgeRectCallout">
            <a:avLst>
              <a:gd name="adj1" fmla="val -73121"/>
              <a:gd name="adj2" fmla="val -22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rPr>
              <a:t>1. </a:t>
            </a:r>
            <a:r>
              <a:rPr lang="zh-CN" altLang="en-US" sz="2400" dirty="0">
                <a:solidFill>
                  <a:schemeClr val="tx1"/>
                </a:solidFill>
                <a:latin typeface="微软雅黑" panose="020B0503020204020204" pitchFamily="34" charset="-122"/>
                <a:ea typeface="微软雅黑" panose="020B0503020204020204" pitchFamily="34" charset="-122"/>
              </a:rPr>
              <a:t>定义与假设</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2. </a:t>
            </a:r>
            <a:r>
              <a:rPr lang="en-US" altLang="zh-CN" sz="2400" dirty="0" err="1">
                <a:solidFill>
                  <a:schemeClr val="tx1"/>
                </a:solidFill>
                <a:latin typeface="微软雅黑" panose="020B0503020204020204" pitchFamily="34" charset="-122"/>
                <a:ea typeface="微软雅黑" panose="020B0503020204020204" pitchFamily="34" charset="-122"/>
                <a:sym typeface="+mn-ea"/>
              </a:rPr>
              <a:t>乌托邦式单工协议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3. </a:t>
            </a:r>
            <a:r>
              <a:rPr lang="zh-CN" altLang="en-US" sz="24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4. </a:t>
            </a:r>
            <a:r>
              <a:rPr lang="zh-CN" altLang="en-US" sz="2400" dirty="0">
                <a:solidFill>
                  <a:schemeClr val="tx1"/>
                </a:solidFill>
                <a:latin typeface="微软雅黑" panose="020B0503020204020204" pitchFamily="34" charset="-122"/>
                <a:ea typeface="微软雅黑" panose="020B0503020204020204" pitchFamily="34" charset="-122"/>
                <a:sym typeface="+mn-ea"/>
              </a:rPr>
              <a:t>有错信道单工停止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600" dirty="0" err="1"/>
              <a:t>物理层</a:t>
            </a:r>
            <a:r>
              <a:rPr lang="zh-CN" altLang="en-US" sz="3600" dirty="0"/>
              <a:t>、数据链路层和网络层的实现</a:t>
            </a:r>
            <a:endParaRPr lang="en-US" sz="3600" dirty="0"/>
          </a:p>
        </p:txBody>
      </p:sp>
      <p:sp>
        <p:nvSpPr>
          <p:cNvPr id="3" name="Content Placeholder 2"/>
          <p:cNvSpPr>
            <a:spLocks noGrp="1"/>
          </p:cNvSpPr>
          <p:nvPr>
            <p:ph idx="1"/>
          </p:nvPr>
        </p:nvSpPr>
        <p:spPr>
          <a:xfrm>
            <a:off x="838201" y="1510757"/>
            <a:ext cx="5069206" cy="4313845"/>
          </a:xfrm>
        </p:spPr>
        <p:txBody>
          <a:bodyPr>
            <a:normAutofit/>
          </a:bodyPr>
          <a:lstStyle/>
          <a:p>
            <a:pPr>
              <a:lnSpc>
                <a:spcPct val="120000"/>
              </a:lnSpc>
              <a:spcBef>
                <a:spcPts val="1200"/>
              </a:spcBef>
            </a:pPr>
            <a:r>
              <a:rPr lang="en-US" altLang="zh-CN" sz="2600" dirty="0" err="1"/>
              <a:t>物理层进程和某些数据链路层进程运行在专用硬件上</a:t>
            </a:r>
            <a:r>
              <a:rPr lang="zh-CN" altLang="en-US" sz="2600" dirty="0"/>
              <a:t>（网络接口卡）</a:t>
            </a:r>
            <a:endParaRPr lang="en-US" altLang="zh-CN" sz="2600" dirty="0"/>
          </a:p>
          <a:p>
            <a:pPr>
              <a:lnSpc>
                <a:spcPct val="120000"/>
              </a:lnSpc>
              <a:spcBef>
                <a:spcPts val="1200"/>
              </a:spcBef>
            </a:pPr>
            <a:r>
              <a:rPr lang="zh-CN" altLang="en-US" sz="2600" dirty="0"/>
              <a:t>数据链路层进程的其他部分和网络层进程作为操作系统的一部分运行在</a:t>
            </a:r>
            <a:r>
              <a:rPr lang="en-US" altLang="zh-CN" sz="2600" dirty="0"/>
              <a:t>CPU</a:t>
            </a:r>
            <a:r>
              <a:rPr lang="zh-CN" altLang="en-US" sz="2600" dirty="0"/>
              <a:t>上，数据链路层进程的软件通常以设备驱动的形式存在</a:t>
            </a:r>
            <a:endParaRPr lang="en-US" altLang="zh-CN" sz="2600" dirty="0"/>
          </a:p>
          <a:p>
            <a:pPr>
              <a:lnSpc>
                <a:spcPct val="120000"/>
              </a:lnSpc>
            </a:pP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20141" y="1844409"/>
            <a:ext cx="6171859" cy="3454100"/>
          </a:xfrm>
          <a:prstGeom prst="rect">
            <a:avLst/>
          </a:prstGeom>
          <a:noFill/>
          <a:ln>
            <a:noFill/>
          </a:ln>
        </p:spPr>
      </p:pic>
      <p:sp>
        <p:nvSpPr>
          <p:cNvPr id="7" name="文本框 6"/>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8" name="Content Placeholder 2"/>
          <p:cNvSpPr txBox="1"/>
          <p:nvPr/>
        </p:nvSpPr>
        <p:spPr>
          <a:xfrm>
            <a:off x="838200" y="2204580"/>
            <a:ext cx="4890151" cy="3892871"/>
          </a:xfrm>
          <a:prstGeom prst="rect">
            <a:avLst/>
          </a:prstGeom>
        </p:spPr>
        <p:txBody>
          <a:bodyPr vert="horz" lIns="91440" tIns="45720" rIns="91440" bIns="45720" rtlCol="0">
            <a:norm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spcBef>
                <a:spcPts val="1200"/>
              </a:spcBef>
            </a:pPr>
            <a:endParaRPr lang="en-US" altLang="zh-CN"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pic>
        <p:nvPicPr>
          <p:cNvPr id="7" name="图片 6"/>
          <p:cNvPicPr>
            <a:picLocks noChangeAspect="1"/>
          </p:cNvPicPr>
          <p:nvPr/>
        </p:nvPicPr>
        <p:blipFill rotWithShape="1">
          <a:blip r:embed="rId1"/>
          <a:srcRect r="9936"/>
          <a:stretch>
            <a:fillRect/>
          </a:stretch>
        </p:blipFill>
        <p:spPr>
          <a:xfrm>
            <a:off x="1739516" y="400781"/>
            <a:ext cx="8712968" cy="4887600"/>
          </a:xfrm>
          <a:prstGeom prst="rect">
            <a:avLst/>
          </a:prstGeom>
        </p:spPr>
      </p:pic>
      <p:sp>
        <p:nvSpPr>
          <p:cNvPr id="9" name="文本框 8"/>
          <p:cNvSpPr txBox="1"/>
          <p:nvPr/>
        </p:nvSpPr>
        <p:spPr>
          <a:xfrm>
            <a:off x="4173038" y="5445225"/>
            <a:ext cx="3845925" cy="646331"/>
          </a:xfrm>
          <a:prstGeom prst="rect">
            <a:avLst/>
          </a:prstGeom>
          <a:noFill/>
        </p:spPr>
        <p:txBody>
          <a:bodyPr wrap="none" rtlCol="0">
            <a:spAutoFit/>
          </a:bodyPr>
          <a:lstStyle/>
          <a:p>
            <a:r>
              <a:rPr lang="en-US" altLang="zh-CN" sz="3600" b="1" u="sng" dirty="0">
                <a:solidFill>
                  <a:srgbClr val="FF0000"/>
                </a:solidFill>
                <a:latin typeface="Georgia" panose="02040502050405020303" pitchFamily="18" charset="0"/>
              </a:rPr>
              <a:t>3.3 </a:t>
            </a:r>
            <a:r>
              <a:rPr lang="zh-CN" altLang="en-US" sz="3600" b="1" u="sng" dirty="0">
                <a:solidFill>
                  <a:srgbClr val="FF0000"/>
                </a:solidFill>
                <a:latin typeface="Georgia" panose="02040502050405020303" pitchFamily="18" charset="0"/>
              </a:rPr>
              <a:t>停止等待协议</a:t>
            </a:r>
            <a:endParaRPr lang="en-US" sz="3600" u="sng" dirty="0"/>
          </a:p>
        </p:txBody>
      </p:sp>
    </p:spTree>
  </p:cSld>
  <p:clrMapOvr>
    <a:masterClrMapping/>
  </p:clrMapOvr>
  <p:transition spd="slow">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rotWithShape="1">
          <a:blip r:embed="rId1"/>
          <a:srcRect r="25315"/>
          <a:stretch>
            <a:fillRect/>
          </a:stretch>
        </p:blipFill>
        <p:spPr>
          <a:xfrm>
            <a:off x="2063552" y="260648"/>
            <a:ext cx="7571184" cy="5360534"/>
          </a:xfrm>
          <a:prstGeom prst="rect">
            <a:avLst/>
          </a:prstGeom>
        </p:spPr>
      </p:pic>
      <p:sp>
        <p:nvSpPr>
          <p:cNvPr id="6" name="文本框 5"/>
          <p:cNvSpPr txBox="1"/>
          <p:nvPr/>
        </p:nvSpPr>
        <p:spPr>
          <a:xfrm>
            <a:off x="3879695" y="5445225"/>
            <a:ext cx="3938899" cy="646331"/>
          </a:xfrm>
          <a:prstGeom prst="rect">
            <a:avLst/>
          </a:prstGeom>
          <a:noFill/>
        </p:spPr>
        <p:txBody>
          <a:bodyPr wrap="none" rtlCol="0">
            <a:spAutoFit/>
          </a:bodyPr>
          <a:lstStyle/>
          <a:p>
            <a:r>
              <a:rPr lang="en-US" altLang="zh-CN" sz="3600" b="1" dirty="0">
                <a:solidFill>
                  <a:srgbClr val="0000FF"/>
                </a:solidFill>
                <a:latin typeface="Georgia" panose="02040502050405020303" pitchFamily="18" charset="0"/>
              </a:rPr>
              <a:t> </a:t>
            </a:r>
            <a:r>
              <a:rPr lang="en-US" altLang="zh-CN" sz="3600" b="1" dirty="0">
                <a:solidFill>
                  <a:srgbClr val="FF0000"/>
                </a:solidFill>
                <a:latin typeface="Georgia" panose="02040502050405020303" pitchFamily="18" charset="0"/>
              </a:rPr>
              <a:t>3.4 </a:t>
            </a:r>
            <a:r>
              <a:rPr lang="zh-CN" altLang="en-US" sz="3600" b="1" dirty="0">
                <a:solidFill>
                  <a:srgbClr val="FF0000"/>
                </a:solidFill>
                <a:latin typeface="Georgia" panose="02040502050405020303" pitchFamily="18" charset="0"/>
              </a:rPr>
              <a:t>滑动窗口协议</a:t>
            </a:r>
            <a:endParaRPr lang="en-US" sz="3600" u="sng" dirty="0"/>
          </a:p>
        </p:txBody>
      </p:sp>
    </p:spTree>
  </p:cSld>
  <p:clrMapOvr>
    <a:masterClrMapping/>
  </p:clrMapOvr>
  <p:transition spd="slow">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3584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9F7509F-3AC9-4E40-8EC6-682B2FB55F7F}"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BD005F3F-333F-468C-B955-50829D9DBC10}" type="datetime1">
              <a:rPr lang="zh-CN" altLang="en-US"/>
            </a:fld>
            <a:endParaRPr lang="en-US" altLang="zh-CN"/>
          </a:p>
        </p:txBody>
      </p:sp>
      <p:sp>
        <p:nvSpPr>
          <p:cNvPr id="856066" name="Rectangle 2"/>
          <p:cNvSpPr>
            <a:spLocks noGrp="1" noChangeArrowheads="1"/>
          </p:cNvSpPr>
          <p:nvPr>
            <p:ph type="title"/>
          </p:nvPr>
        </p:nvSpPr>
        <p:spPr>
          <a:xfrm>
            <a:off x="1981200" y="533400"/>
            <a:ext cx="7715250" cy="534988"/>
          </a:xfrm>
        </p:spPr>
        <p:txBody>
          <a:bodyPr>
            <a:normAutofit fontScale="90000"/>
          </a:bodyPr>
          <a:lstStyle/>
          <a:p>
            <a:pPr algn="ctr" eaLnBrk="1" hangingPunct="1">
              <a:defRPr/>
            </a:pPr>
            <a:r>
              <a:rPr lang="zh-CN" altLang="en-US" b="1" dirty="0">
                <a:solidFill>
                  <a:srgbClr val="FF0000"/>
                </a:solidFill>
                <a:latin typeface="Georgia" panose="02040502050405020303" pitchFamily="18" charset="0"/>
              </a:rPr>
              <a:t>停止等待协议</a:t>
            </a:r>
            <a:endParaRPr lang="zh-CN" altLang="en-US" b="1" dirty="0">
              <a:solidFill>
                <a:srgbClr val="FF0000"/>
              </a:solidFill>
              <a:latin typeface="Georgia" panose="02040502050405020303" pitchFamily="18" charset="0"/>
            </a:endParaRPr>
          </a:p>
        </p:txBody>
      </p:sp>
      <p:sp>
        <p:nvSpPr>
          <p:cNvPr id="856067" name="Rectangle 3"/>
          <p:cNvSpPr>
            <a:spLocks noGrp="1" noChangeArrowheads="1"/>
          </p:cNvSpPr>
          <p:nvPr>
            <p:ph type="body" idx="1"/>
          </p:nvPr>
        </p:nvSpPr>
        <p:spPr>
          <a:xfrm>
            <a:off x="2362200" y="1981200"/>
            <a:ext cx="7772400" cy="3581400"/>
          </a:xfrm>
        </p:spPr>
        <p:txBody>
          <a:bodyPr/>
          <a:lstStyle/>
          <a:p>
            <a:pPr eaLnBrk="1" hangingPunct="1">
              <a:lnSpc>
                <a:spcPct val="120000"/>
              </a:lnSpc>
              <a:buFont typeface="Wingdings" panose="05000000000000000000" pitchFamily="2" charset="2"/>
              <a:buNone/>
              <a:defRPr/>
            </a:pPr>
            <a:r>
              <a:rPr lang="zh-CN" altLang="en-US"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一．无限制单向数据传送协议</a:t>
            </a:r>
            <a:r>
              <a:rPr lang="en-US" altLang="zh-CN"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a:t>
            </a:r>
            <a:r>
              <a:rPr lang="zh-CN" altLang="en-US"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完全理想化</a:t>
            </a:r>
            <a:r>
              <a:rPr lang="en-US" altLang="zh-CN"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a:t>
            </a:r>
            <a:endParaRPr lang="en-US" altLang="zh-CN"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en-US" altLang="zh-CN" sz="2400" b="1" dirty="0">
                <a:solidFill>
                  <a:srgbClr val="FF0000"/>
                </a:solidFill>
                <a:latin typeface="Verdana" panose="020B0604030504040204" pitchFamily="34" charset="0"/>
                <a:ea typeface="楷体_GB2312" pitchFamily="49" charset="-122"/>
              </a:rPr>
              <a:t>  </a:t>
            </a:r>
            <a:r>
              <a:rPr lang="zh-CN" altLang="en-US" sz="2400" b="1" dirty="0">
                <a:solidFill>
                  <a:srgbClr val="FF0000"/>
                </a:solidFill>
                <a:latin typeface="Verdana" panose="020B0604030504040204" pitchFamily="34" charset="0"/>
                <a:ea typeface="楷体_GB2312" pitchFamily="49" charset="-122"/>
              </a:rPr>
              <a:t>条件：</a:t>
            </a:r>
            <a:endParaRPr lang="zh-CN" altLang="en-US" sz="2400" b="1" dirty="0">
              <a:solidFill>
                <a:srgbClr val="FF0000"/>
              </a:solidFill>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．一个机器发数据，另一机器收数据；</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．网络层总是准备好分组传送；</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3</a:t>
            </a:r>
            <a:r>
              <a:rPr lang="zh-CN" altLang="en-US" sz="2400" dirty="0">
                <a:latin typeface="Verdana" panose="020B0604030504040204" pitchFamily="34" charset="0"/>
                <a:ea typeface="楷体_GB2312" pitchFamily="49" charset="-122"/>
              </a:rPr>
              <a:t>．通道无错；</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4</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DLL</a:t>
            </a:r>
            <a:r>
              <a:rPr lang="zh-CN" altLang="en-US" sz="2400" dirty="0">
                <a:latin typeface="Verdana" panose="020B0604030504040204" pitchFamily="34" charset="0"/>
                <a:ea typeface="楷体_GB2312" pitchFamily="49" charset="-122"/>
              </a:rPr>
              <a:t>层处理速度无穷大。</a:t>
            </a:r>
            <a:endParaRPr lang="zh-CN" altLang="en-US" sz="2400" dirty="0">
              <a:latin typeface="Verdana" panose="020B0604030504040204" pitchFamily="34" charset="0"/>
              <a:ea typeface="楷体_GB2312" pitchFamily="49" charset="-122"/>
            </a:endParaRP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68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BCB746B-20F3-4FE9-96D8-61E772AB56D9}"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29" name="日期占位符 3"/>
          <p:cNvSpPr>
            <a:spLocks noGrp="1"/>
          </p:cNvSpPr>
          <p:nvPr>
            <p:ph type="dt" sz="quarter" idx="12"/>
          </p:nvPr>
        </p:nvSpPr>
        <p:spPr/>
        <p:txBody>
          <a:bodyPr/>
          <a:lstStyle/>
          <a:p>
            <a:pPr>
              <a:defRPr/>
            </a:pPr>
            <a:fld id="{59BC05E7-3723-408E-8723-A2C256E9B6CA}" type="datetime1">
              <a:rPr lang="zh-CN" altLang="en-US"/>
            </a:fld>
            <a:endParaRPr lang="en-US" altLang="zh-CN"/>
          </a:p>
        </p:txBody>
      </p:sp>
      <p:cxnSp>
        <p:nvCxnSpPr>
          <p:cNvPr id="36869" name="AutoShape 2"/>
          <p:cNvCxnSpPr>
            <a:cxnSpLocks noChangeShapeType="1"/>
          </p:cNvCxnSpPr>
          <p:nvPr/>
        </p:nvCxnSpPr>
        <p:spPr bwMode="auto">
          <a:xfrm>
            <a:off x="3409950" y="2438400"/>
            <a:ext cx="0" cy="5334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6870" name="Text Box 3"/>
          <p:cNvSpPr txBox="1">
            <a:spLocks noChangeArrowheads="1"/>
          </p:cNvSpPr>
          <p:nvPr/>
        </p:nvSpPr>
        <p:spPr bwMode="auto">
          <a:xfrm>
            <a:off x="2249489" y="13160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楷体_GB2312" pitchFamily="49" charset="-122"/>
                <a:ea typeface="楷体_GB2312" pitchFamily="49" charset="-122"/>
              </a:rPr>
              <a:t>发：</a:t>
            </a:r>
            <a:endParaRPr kumimoji="1" lang="zh-CN" altLang="en-US" sz="2400">
              <a:solidFill>
                <a:srgbClr val="0000FF"/>
              </a:solidFill>
              <a:latin typeface="楷体_GB2312" pitchFamily="49" charset="-122"/>
              <a:ea typeface="楷体_GB2312" pitchFamily="49" charset="-122"/>
            </a:endParaRPr>
          </a:p>
        </p:txBody>
      </p:sp>
      <p:grpSp>
        <p:nvGrpSpPr>
          <p:cNvPr id="36871" name="Group 16"/>
          <p:cNvGrpSpPr/>
          <p:nvPr/>
        </p:nvGrpSpPr>
        <p:grpSpPr bwMode="auto">
          <a:xfrm>
            <a:off x="2112963" y="2743200"/>
            <a:ext cx="2590800" cy="2438400"/>
            <a:chOff x="371" y="1728"/>
            <a:chExt cx="1632" cy="1536"/>
          </a:xfrm>
        </p:grpSpPr>
        <p:sp>
          <p:nvSpPr>
            <p:cNvPr id="36886" name="AutoShape 17"/>
            <p:cNvSpPr>
              <a:spLocks noChangeArrowheads="1"/>
            </p:cNvSpPr>
            <p:nvPr/>
          </p:nvSpPr>
          <p:spPr bwMode="auto">
            <a:xfrm>
              <a:off x="371" y="2976"/>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送物理层按位发送</a:t>
              </a:r>
              <a:endParaRPr kumimoji="1" lang="zh-CN" altLang="en-US" sz="2000">
                <a:latin typeface="楷体_GB2312" pitchFamily="49" charset="-122"/>
                <a:ea typeface="楷体_GB2312" pitchFamily="49" charset="-122"/>
              </a:endParaRPr>
            </a:p>
          </p:txBody>
        </p:sp>
        <p:cxnSp>
          <p:nvCxnSpPr>
            <p:cNvPr id="36887" name="AutoShape 18"/>
            <p:cNvCxnSpPr>
              <a:cxnSpLocks noChangeShapeType="1"/>
              <a:stCxn id="36892" idx="2"/>
              <a:endCxn id="36891" idx="0"/>
            </p:cNvCxnSpPr>
            <p:nvPr/>
          </p:nvCxnSpPr>
          <p:spPr bwMode="auto">
            <a:xfrm>
              <a:off x="1187" y="2160"/>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6888" name="AutoShape 19"/>
            <p:cNvCxnSpPr>
              <a:cxnSpLocks noChangeShapeType="1"/>
              <a:stCxn id="36891" idx="2"/>
              <a:endCxn id="36886" idx="0"/>
            </p:cNvCxnSpPr>
            <p:nvPr/>
          </p:nvCxnSpPr>
          <p:spPr bwMode="auto">
            <a:xfrm>
              <a:off x="1187" y="2688"/>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6889" name="AutoShape 20"/>
            <p:cNvCxnSpPr>
              <a:cxnSpLocks noChangeShapeType="1"/>
            </p:cNvCxnSpPr>
            <p:nvPr/>
          </p:nvCxnSpPr>
          <p:spPr bwMode="auto">
            <a:xfrm rot="5400000" flipH="1" flipV="1">
              <a:off x="493" y="2567"/>
              <a:ext cx="1392" cy="1"/>
            </a:xfrm>
            <a:prstGeom prst="bentConnector5">
              <a:avLst>
                <a:gd name="adj1" fmla="val -10343"/>
                <a:gd name="adj2" fmla="val 96000032"/>
                <a:gd name="adj3" fmla="val 110343"/>
              </a:avLst>
            </a:prstGeom>
            <a:noFill/>
            <a:ln w="9525">
              <a:solidFill>
                <a:schemeClr val="tx1"/>
              </a:solidFill>
              <a:miter lim="800000"/>
              <a:headEnd type="triangle" w="med" len="med"/>
            </a:ln>
            <a:extLst>
              <a:ext uri="{909E8E84-426E-40DD-AFC4-6F175D3DCCD1}">
                <a14:hiddenFill xmlns:a14="http://schemas.microsoft.com/office/drawing/2010/main">
                  <a:noFill/>
                </a14:hiddenFill>
              </a:ext>
            </a:extLst>
          </p:spPr>
        </p:cxnSp>
        <p:grpSp>
          <p:nvGrpSpPr>
            <p:cNvPr id="36890" name="Group 21"/>
            <p:cNvGrpSpPr/>
            <p:nvPr/>
          </p:nvGrpSpPr>
          <p:grpSpPr bwMode="auto">
            <a:xfrm>
              <a:off x="371" y="1728"/>
              <a:ext cx="1632" cy="960"/>
              <a:chOff x="371" y="1728"/>
              <a:chExt cx="1632" cy="960"/>
            </a:xfrm>
          </p:grpSpPr>
          <p:sp>
            <p:nvSpPr>
              <p:cNvPr id="36891" name="AutoShape 22"/>
              <p:cNvSpPr>
                <a:spLocks noChangeArrowheads="1"/>
              </p:cNvSpPr>
              <p:nvPr/>
            </p:nvSpPr>
            <p:spPr bwMode="auto">
              <a:xfrm>
                <a:off x="659" y="240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加头成帧</a:t>
                </a:r>
                <a:endParaRPr kumimoji="1" lang="zh-CN" altLang="en-US" sz="2000">
                  <a:latin typeface="楷体_GB2312" pitchFamily="49" charset="-122"/>
                  <a:ea typeface="楷体_GB2312" pitchFamily="49" charset="-122"/>
                </a:endParaRPr>
              </a:p>
            </p:txBody>
          </p:sp>
          <p:sp>
            <p:nvSpPr>
              <p:cNvPr id="36892" name="AutoShape 23"/>
              <p:cNvSpPr>
                <a:spLocks noChangeArrowheads="1"/>
              </p:cNvSpPr>
              <p:nvPr/>
            </p:nvSpPr>
            <p:spPr bwMode="auto">
              <a:xfrm>
                <a:off x="371" y="1872"/>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endParaRPr kumimoji="1" lang="en-US" altLang="zh-CN" sz="2000">
                  <a:latin typeface="Verdana" panose="020B0604030504040204" pitchFamily="34" charset="0"/>
                  <a:ea typeface="楷体_GB2312" pitchFamily="49" charset="-122"/>
                </a:endParaRPr>
              </a:p>
            </p:txBody>
          </p:sp>
          <p:sp>
            <p:nvSpPr>
              <p:cNvPr id="36893" name="Line 24"/>
              <p:cNvSpPr>
                <a:spLocks noChangeShapeType="1"/>
              </p:cNvSpPr>
              <p:nvPr/>
            </p:nvSpPr>
            <p:spPr bwMode="auto">
              <a:xfrm flipH="1" flipV="1">
                <a:off x="1189" y="1728"/>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872" name="Group 1032"/>
          <p:cNvGrpSpPr/>
          <p:nvPr/>
        </p:nvGrpSpPr>
        <p:grpSpPr bwMode="auto">
          <a:xfrm>
            <a:off x="6075363" y="1368426"/>
            <a:ext cx="3810000" cy="4041775"/>
            <a:chOff x="2867" y="862"/>
            <a:chExt cx="2400" cy="2546"/>
          </a:xfrm>
        </p:grpSpPr>
        <p:sp>
          <p:nvSpPr>
            <p:cNvPr id="36875" name="AutoShape 5"/>
            <p:cNvSpPr>
              <a:spLocks noChangeArrowheads="1"/>
            </p:cNvSpPr>
            <p:nvPr/>
          </p:nvSpPr>
          <p:spPr bwMode="auto">
            <a:xfrm>
              <a:off x="3107" y="1632"/>
              <a:ext cx="1344" cy="624"/>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等到帧否？</a:t>
              </a:r>
              <a:endParaRPr kumimoji="1" lang="zh-CN" altLang="en-US" sz="2000">
                <a:latin typeface="楷体_GB2312" pitchFamily="49" charset="-122"/>
                <a:ea typeface="楷体_GB2312" pitchFamily="49" charset="-122"/>
              </a:endParaRPr>
            </a:p>
          </p:txBody>
        </p:sp>
        <p:sp>
          <p:nvSpPr>
            <p:cNvPr id="36876" name="AutoShape 6"/>
            <p:cNvSpPr>
              <a:spLocks noChangeArrowheads="1"/>
            </p:cNvSpPr>
            <p:nvPr/>
          </p:nvSpPr>
          <p:spPr bwMode="auto">
            <a:xfrm>
              <a:off x="4067" y="2496"/>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去头</a:t>
              </a:r>
              <a:endParaRPr kumimoji="1" lang="zh-CN" altLang="en-US" sz="2000">
                <a:latin typeface="楷体_GB2312" pitchFamily="49" charset="-122"/>
                <a:ea typeface="楷体_GB2312" pitchFamily="49" charset="-122"/>
              </a:endParaRPr>
            </a:p>
          </p:txBody>
        </p:sp>
        <p:sp>
          <p:nvSpPr>
            <p:cNvPr id="36877" name="AutoShape 7"/>
            <p:cNvSpPr>
              <a:spLocks noChangeArrowheads="1"/>
            </p:cNvSpPr>
            <p:nvPr/>
          </p:nvSpPr>
          <p:spPr bwMode="auto">
            <a:xfrm>
              <a:off x="3923" y="3120"/>
              <a:ext cx="1344"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分组交网络层</a:t>
              </a:r>
              <a:endParaRPr kumimoji="1" lang="zh-CN" altLang="en-US" sz="2000">
                <a:latin typeface="楷体_GB2312" pitchFamily="49" charset="-122"/>
                <a:ea typeface="楷体_GB2312" pitchFamily="49" charset="-122"/>
              </a:endParaRPr>
            </a:p>
          </p:txBody>
        </p:sp>
        <p:cxnSp>
          <p:nvCxnSpPr>
            <p:cNvPr id="36878" name="AutoShape 8"/>
            <p:cNvCxnSpPr>
              <a:cxnSpLocks noChangeShapeType="1"/>
              <a:stCxn id="36875" idx="3"/>
              <a:endCxn id="36876" idx="0"/>
            </p:cNvCxnSpPr>
            <p:nvPr/>
          </p:nvCxnSpPr>
          <p:spPr bwMode="auto">
            <a:xfrm>
              <a:off x="4451" y="1944"/>
              <a:ext cx="144" cy="552"/>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6879" name="AutoShape 9"/>
            <p:cNvCxnSpPr>
              <a:cxnSpLocks noChangeShapeType="1"/>
              <a:stCxn id="36877" idx="2"/>
            </p:cNvCxnSpPr>
            <p:nvPr/>
          </p:nvCxnSpPr>
          <p:spPr bwMode="auto">
            <a:xfrm rot="5400000" flipH="1">
              <a:off x="2815" y="1628"/>
              <a:ext cx="1928" cy="1632"/>
            </a:xfrm>
            <a:prstGeom prst="bentConnector3">
              <a:avLst>
                <a:gd name="adj1" fmla="val -7468"/>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6880" name="AutoShape 10"/>
            <p:cNvCxnSpPr>
              <a:cxnSpLocks noChangeShapeType="1"/>
              <a:endCxn id="36875" idx="0"/>
            </p:cNvCxnSpPr>
            <p:nvPr/>
          </p:nvCxnSpPr>
          <p:spPr bwMode="auto">
            <a:xfrm>
              <a:off x="3779" y="1152"/>
              <a:ext cx="0" cy="48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6881" name="AutoShape 11"/>
            <p:cNvCxnSpPr>
              <a:cxnSpLocks noChangeShapeType="1"/>
              <a:stCxn id="36875" idx="1"/>
            </p:cNvCxnSpPr>
            <p:nvPr/>
          </p:nvCxnSpPr>
          <p:spPr bwMode="auto">
            <a:xfrm flipH="1">
              <a:off x="2963" y="1944"/>
              <a:ext cx="144"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6882" name="AutoShape 12"/>
            <p:cNvCxnSpPr>
              <a:cxnSpLocks noChangeShapeType="1"/>
              <a:stCxn id="36876" idx="2"/>
              <a:endCxn id="36877" idx="0"/>
            </p:cNvCxnSpPr>
            <p:nvPr/>
          </p:nvCxnSpPr>
          <p:spPr bwMode="auto">
            <a:xfrm>
              <a:off x="4595" y="2784"/>
              <a:ext cx="0" cy="33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6883" name="Text Box 13"/>
            <p:cNvSpPr txBox="1">
              <a:spLocks noChangeArrowheads="1"/>
            </p:cNvSpPr>
            <p:nvPr/>
          </p:nvSpPr>
          <p:spPr bwMode="auto">
            <a:xfrm>
              <a:off x="2867" y="862"/>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solidFill>
                    <a:srgbClr val="0000FF"/>
                  </a:solidFill>
                  <a:latin typeface="楷体_GB2312" pitchFamily="49" charset="-122"/>
                  <a:ea typeface="楷体_GB2312" pitchFamily="49" charset="-122"/>
                </a:rPr>
                <a:t>收：</a:t>
              </a:r>
              <a:endParaRPr kumimoji="1" lang="zh-CN" altLang="en-US" sz="2000" b="1">
                <a:solidFill>
                  <a:srgbClr val="0000FF"/>
                </a:solidFill>
                <a:latin typeface="楷体_GB2312" pitchFamily="49" charset="-122"/>
                <a:ea typeface="楷体_GB2312" pitchFamily="49" charset="-122"/>
              </a:endParaRPr>
            </a:p>
          </p:txBody>
        </p:sp>
        <p:sp>
          <p:nvSpPr>
            <p:cNvPr id="36884" name="Text Box 14"/>
            <p:cNvSpPr txBox="1">
              <a:spLocks noChangeArrowheads="1"/>
            </p:cNvSpPr>
            <p:nvPr/>
          </p:nvSpPr>
          <p:spPr bwMode="auto">
            <a:xfrm>
              <a:off x="4403" y="1652"/>
              <a:ext cx="2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a:latin typeface="楷体_GB2312" pitchFamily="49" charset="-122"/>
                  <a:ea typeface="楷体_GB2312" pitchFamily="49" charset="-122"/>
                </a:rPr>
                <a:t>Y</a:t>
              </a:r>
              <a:endParaRPr kumimoji="1" lang="en-US" altLang="zh-CN" sz="2000" b="1">
                <a:latin typeface="楷体_GB2312" pitchFamily="49" charset="-122"/>
                <a:ea typeface="楷体_GB2312" pitchFamily="49" charset="-122"/>
              </a:endParaRPr>
            </a:p>
          </p:txBody>
        </p:sp>
        <p:sp>
          <p:nvSpPr>
            <p:cNvPr id="36885" name="Text Box 15"/>
            <p:cNvSpPr txBox="1">
              <a:spLocks noChangeArrowheads="1"/>
            </p:cNvSpPr>
            <p:nvPr/>
          </p:nvSpPr>
          <p:spPr bwMode="auto">
            <a:xfrm>
              <a:off x="2963" y="1988"/>
              <a:ext cx="2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a:latin typeface="楷体_GB2312" pitchFamily="49" charset="-122"/>
                  <a:ea typeface="楷体_GB2312" pitchFamily="49" charset="-122"/>
                </a:rPr>
                <a:t>N</a:t>
              </a:r>
              <a:endParaRPr kumimoji="1" lang="en-US" altLang="zh-CN" sz="2000" b="1">
                <a:latin typeface="楷体_GB2312" pitchFamily="49" charset="-122"/>
                <a:ea typeface="楷体_GB2312" pitchFamily="49" charset="-122"/>
              </a:endParaRPr>
            </a:p>
          </p:txBody>
        </p:sp>
      </p:grpSp>
      <p:sp>
        <p:nvSpPr>
          <p:cNvPr id="36873" name="Text Box 26"/>
          <p:cNvSpPr txBox="1">
            <a:spLocks noChangeArrowheads="1"/>
          </p:cNvSpPr>
          <p:nvPr/>
        </p:nvSpPr>
        <p:spPr bwMode="auto">
          <a:xfrm>
            <a:off x="2365648" y="749300"/>
            <a:ext cx="2362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1" dirty="0">
                <a:solidFill>
                  <a:srgbClr val="0000FF"/>
                </a:solidFill>
                <a:ea typeface="楷体_GB2312" pitchFamily="49" charset="-122"/>
              </a:rPr>
              <a:t>流程图：</a:t>
            </a:r>
            <a:endParaRPr lang="zh-CN" altLang="en-US" sz="2800" b="1" dirty="0">
              <a:solidFill>
                <a:srgbClr val="0000FF"/>
              </a:solidFill>
              <a:ea typeface="楷体_GB2312" pitchFamily="49" charset="-122"/>
            </a:endParaRPr>
          </a:p>
        </p:txBody>
      </p:sp>
      <p:cxnSp>
        <p:nvCxnSpPr>
          <p:cNvPr id="36874" name="直接箭头连接符 4"/>
          <p:cNvCxnSpPr>
            <a:cxnSpLocks noChangeShapeType="1"/>
          </p:cNvCxnSpPr>
          <p:nvPr/>
        </p:nvCxnSpPr>
        <p:spPr bwMode="auto">
          <a:xfrm>
            <a:off x="6227763" y="2349500"/>
            <a:ext cx="1295400" cy="0"/>
          </a:xfrm>
          <a:prstGeom prst="straightConnector1">
            <a:avLst/>
          </a:prstGeom>
          <a:noFill/>
          <a:ln w="9525" algn="ctr">
            <a:solidFill>
              <a:schemeClr val="tx1"/>
            </a:solidFill>
            <a:round/>
            <a:tailEnd type="triangle" w="med" len="me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cxn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3789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F6D2C76-5C69-4297-AA78-F1F3F1CE04E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6D664E4B-1493-4601-8367-D5A9C60C09A2}" type="datetime1">
              <a:rPr lang="zh-CN" altLang="en-US"/>
            </a:fld>
            <a:endParaRPr lang="en-US" altLang="zh-CN"/>
          </a:p>
        </p:txBody>
      </p:sp>
      <p:sp>
        <p:nvSpPr>
          <p:cNvPr id="858114" name="Rectangle 1026"/>
          <p:cNvSpPr>
            <a:spLocks noGrp="1" noChangeArrowheads="1"/>
          </p:cNvSpPr>
          <p:nvPr>
            <p:ph type="title"/>
          </p:nvPr>
        </p:nvSpPr>
        <p:spPr>
          <a:xfrm>
            <a:off x="2209800" y="1400177"/>
            <a:ext cx="6589712" cy="482600"/>
          </a:xfrm>
        </p:spPr>
        <p:txBody>
          <a:bodyPr>
            <a:normAutofit fontScale="90000"/>
          </a:bodyPr>
          <a:lstStyle/>
          <a:p>
            <a:pPr eaLnBrk="1" hangingPunct="1">
              <a:defRPr/>
            </a:pPr>
            <a:r>
              <a:rPr lang="zh-CN" altLang="en-US" sz="3200" dirty="0">
                <a:solidFill>
                  <a:srgbClr val="0000FF"/>
                </a:solidFill>
              </a:rPr>
              <a:t>二．单向停</a:t>
            </a:r>
            <a:r>
              <a:rPr lang="en-US" altLang="zh-CN" sz="3200" dirty="0">
                <a:solidFill>
                  <a:srgbClr val="0000FF"/>
                </a:solidFill>
              </a:rPr>
              <a:t>-</a:t>
            </a:r>
            <a:r>
              <a:rPr lang="zh-CN" altLang="en-US" sz="3200" dirty="0">
                <a:solidFill>
                  <a:srgbClr val="0000FF"/>
                </a:solidFill>
              </a:rPr>
              <a:t>等协议</a:t>
            </a:r>
            <a:endParaRPr lang="en-US" altLang="zh-CN" sz="2400" dirty="0">
              <a:solidFill>
                <a:srgbClr val="0000FF"/>
              </a:solidFill>
            </a:endParaRPr>
          </a:p>
        </p:txBody>
      </p:sp>
      <p:sp>
        <p:nvSpPr>
          <p:cNvPr id="37894" name="Rectangle 1027"/>
          <p:cNvSpPr>
            <a:spLocks noGrp="1" noChangeArrowheads="1"/>
          </p:cNvSpPr>
          <p:nvPr>
            <p:ph type="body" idx="1"/>
          </p:nvPr>
        </p:nvSpPr>
        <p:spPr>
          <a:xfrm>
            <a:off x="2971800" y="2057401"/>
            <a:ext cx="7010400" cy="3641725"/>
          </a:xfrm>
        </p:spPr>
        <p:txBody>
          <a:bodyPr/>
          <a:lstStyle/>
          <a:p>
            <a:pPr eaLnBrk="1" hangingPunct="1">
              <a:lnSpc>
                <a:spcPct val="120000"/>
              </a:lnSpc>
              <a:buFont typeface="Wingdings" panose="05000000000000000000" pitchFamily="2" charset="2"/>
              <a:buNone/>
            </a:pPr>
            <a:r>
              <a:rPr lang="zh-CN" altLang="en-US" sz="2400" b="1" dirty="0">
                <a:solidFill>
                  <a:srgbClr val="FF0000"/>
                </a:solidFill>
                <a:latin typeface="Verdana" panose="020B0604030504040204" pitchFamily="34" charset="0"/>
                <a:ea typeface="楷体_GB2312" pitchFamily="49" charset="-122"/>
              </a:rPr>
              <a:t>条件：</a:t>
            </a:r>
            <a:endParaRPr lang="zh-CN" altLang="en-US" sz="2400" b="1" dirty="0">
              <a:solidFill>
                <a:srgbClr val="FF0000"/>
              </a:solidFill>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．一个机器发数据，另一机器收数据</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．网络层总是准备好分组传送</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3</a:t>
            </a:r>
            <a:r>
              <a:rPr lang="zh-CN" altLang="en-US" sz="2400" dirty="0">
                <a:latin typeface="Verdana" panose="020B0604030504040204" pitchFamily="34" charset="0"/>
                <a:ea typeface="楷体_GB2312" pitchFamily="49" charset="-122"/>
              </a:rPr>
              <a:t>．通道无错</a:t>
            </a:r>
            <a:endParaRPr lang="zh-CN" altLang="en-US" sz="2400" dirty="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DLL</a:t>
            </a:r>
            <a:r>
              <a:rPr lang="zh-CN" altLang="en-US" sz="2400" dirty="0">
                <a:solidFill>
                  <a:srgbClr val="0000FF"/>
                </a:solidFill>
                <a:latin typeface="Verdana" panose="020B0604030504040204" pitchFamily="34" charset="0"/>
                <a:ea typeface="楷体_GB2312" pitchFamily="49" charset="-122"/>
              </a:rPr>
              <a:t>层处理速度有限</a:t>
            </a:r>
            <a:endParaRPr lang="zh-CN" altLang="en-US" sz="2400" dirty="0">
              <a:solidFill>
                <a:srgbClr val="0000FF"/>
              </a:solidFill>
              <a:latin typeface="Verdana" panose="020B0604030504040204" pitchFamily="34" charset="0"/>
              <a:ea typeface="楷体_GB2312" pitchFamily="49" charset="-122"/>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891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15AA6A-E7E6-4D57-87FD-BD12DA892997}"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32" name="日期占位符 3"/>
          <p:cNvSpPr>
            <a:spLocks noGrp="1"/>
          </p:cNvSpPr>
          <p:nvPr>
            <p:ph type="dt" sz="quarter" idx="12"/>
          </p:nvPr>
        </p:nvSpPr>
        <p:spPr/>
        <p:txBody>
          <a:bodyPr/>
          <a:lstStyle/>
          <a:p>
            <a:pPr>
              <a:defRPr/>
            </a:pPr>
            <a:fld id="{5CD742E9-ACC2-4697-BA05-16845DF5DC30}" type="datetime1">
              <a:rPr lang="zh-CN" altLang="en-US"/>
            </a:fld>
            <a:endParaRPr lang="en-US" altLang="zh-CN"/>
          </a:p>
        </p:txBody>
      </p:sp>
      <p:sp>
        <p:nvSpPr>
          <p:cNvPr id="38917" name="Text Box 16"/>
          <p:cNvSpPr txBox="1">
            <a:spLocks noChangeArrowheads="1"/>
          </p:cNvSpPr>
          <p:nvPr/>
        </p:nvSpPr>
        <p:spPr bwMode="auto">
          <a:xfrm>
            <a:off x="6329363" y="6492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endParaRPr kumimoji="1" lang="zh-CN" altLang="en-US" sz="2400">
              <a:solidFill>
                <a:srgbClr val="0000FF"/>
              </a:solidFill>
              <a:latin typeface="Verdana" panose="020B0604030504040204" pitchFamily="34" charset="0"/>
              <a:ea typeface="楷体_GB2312" pitchFamily="49" charset="-122"/>
            </a:endParaRPr>
          </a:p>
        </p:txBody>
      </p:sp>
      <p:sp>
        <p:nvSpPr>
          <p:cNvPr id="38918" name="Text Box 27"/>
          <p:cNvSpPr txBox="1">
            <a:spLocks noChangeArrowheads="1"/>
          </p:cNvSpPr>
          <p:nvPr/>
        </p:nvSpPr>
        <p:spPr bwMode="auto">
          <a:xfrm>
            <a:off x="2503488" y="6492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endParaRPr kumimoji="1" lang="zh-CN" altLang="en-US" sz="2400">
              <a:solidFill>
                <a:srgbClr val="0000FF"/>
              </a:solidFill>
              <a:latin typeface="Verdana" panose="020B0604030504040204" pitchFamily="34" charset="0"/>
              <a:ea typeface="楷体_GB2312" pitchFamily="49" charset="-122"/>
            </a:endParaRPr>
          </a:p>
        </p:txBody>
      </p:sp>
      <p:grpSp>
        <p:nvGrpSpPr>
          <p:cNvPr id="38919" name="Group 26"/>
          <p:cNvGrpSpPr/>
          <p:nvPr/>
        </p:nvGrpSpPr>
        <p:grpSpPr bwMode="auto">
          <a:xfrm>
            <a:off x="1905001" y="1196976"/>
            <a:ext cx="8234363" cy="4824413"/>
            <a:chOff x="240" y="754"/>
            <a:chExt cx="5187" cy="3039"/>
          </a:xfrm>
        </p:grpSpPr>
        <p:sp>
          <p:nvSpPr>
            <p:cNvPr id="38920" name="AutoShape 8"/>
            <p:cNvSpPr>
              <a:spLocks noChangeArrowheads="1"/>
            </p:cNvSpPr>
            <p:nvPr/>
          </p:nvSpPr>
          <p:spPr bwMode="auto">
            <a:xfrm>
              <a:off x="3267" y="1273"/>
              <a:ext cx="1344" cy="624"/>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endParaRPr kumimoji="1" lang="zh-CN" altLang="en-US" sz="2000">
                <a:latin typeface="Verdana" panose="020B0604030504040204" pitchFamily="34" charset="0"/>
                <a:ea typeface="楷体_GB2312" pitchFamily="49" charset="-122"/>
              </a:endParaRPr>
            </a:p>
          </p:txBody>
        </p:sp>
        <p:sp>
          <p:nvSpPr>
            <p:cNvPr id="38921" name="AutoShape 9"/>
            <p:cNvSpPr>
              <a:spLocks noChangeArrowheads="1"/>
            </p:cNvSpPr>
            <p:nvPr/>
          </p:nvSpPr>
          <p:spPr bwMode="auto">
            <a:xfrm>
              <a:off x="4227" y="2137"/>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a:t>
              </a:r>
              <a:endParaRPr kumimoji="1" lang="zh-CN" altLang="en-US" sz="2000">
                <a:latin typeface="Verdana" panose="020B0604030504040204" pitchFamily="34" charset="0"/>
                <a:ea typeface="楷体_GB2312" pitchFamily="49" charset="-122"/>
              </a:endParaRPr>
            </a:p>
          </p:txBody>
        </p:sp>
        <p:sp>
          <p:nvSpPr>
            <p:cNvPr id="38922" name="AutoShape 10"/>
            <p:cNvSpPr>
              <a:spLocks noChangeArrowheads="1"/>
            </p:cNvSpPr>
            <p:nvPr/>
          </p:nvSpPr>
          <p:spPr bwMode="auto">
            <a:xfrm>
              <a:off x="4083" y="2761"/>
              <a:ext cx="1344"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分组交网络层</a:t>
              </a:r>
              <a:endParaRPr kumimoji="1" lang="zh-CN" altLang="en-US" sz="2000">
                <a:latin typeface="Verdana" panose="020B0604030504040204" pitchFamily="34" charset="0"/>
                <a:ea typeface="楷体_GB2312" pitchFamily="49" charset="-122"/>
              </a:endParaRPr>
            </a:p>
          </p:txBody>
        </p:sp>
        <p:cxnSp>
          <p:nvCxnSpPr>
            <p:cNvPr id="38923" name="AutoShape 11"/>
            <p:cNvCxnSpPr>
              <a:cxnSpLocks noChangeShapeType="1"/>
              <a:stCxn id="38920" idx="3"/>
              <a:endCxn id="38921" idx="0"/>
            </p:cNvCxnSpPr>
            <p:nvPr/>
          </p:nvCxnSpPr>
          <p:spPr bwMode="auto">
            <a:xfrm>
              <a:off x="4611" y="1585"/>
              <a:ext cx="144" cy="552"/>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8924" name="AutoShape 12"/>
            <p:cNvCxnSpPr>
              <a:cxnSpLocks noChangeShapeType="1"/>
              <a:stCxn id="38928" idx="2"/>
              <a:endCxn id="38920" idx="0"/>
            </p:cNvCxnSpPr>
            <p:nvPr/>
          </p:nvCxnSpPr>
          <p:spPr bwMode="auto">
            <a:xfrm rot="16200000" flipV="1">
              <a:off x="3171" y="2041"/>
              <a:ext cx="2352" cy="816"/>
            </a:xfrm>
            <a:prstGeom prst="bentConnector5">
              <a:avLst>
                <a:gd name="adj1" fmla="val -6120"/>
                <a:gd name="adj2" fmla="val 200000"/>
                <a:gd name="adj3" fmla="val 10612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8925" name="AutoShape 13"/>
            <p:cNvCxnSpPr>
              <a:cxnSpLocks noChangeShapeType="1"/>
              <a:endCxn id="38920" idx="0"/>
            </p:cNvCxnSpPr>
            <p:nvPr/>
          </p:nvCxnSpPr>
          <p:spPr bwMode="auto">
            <a:xfrm>
              <a:off x="3939" y="793"/>
              <a:ext cx="0" cy="48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8926" name="AutoShape 14"/>
            <p:cNvCxnSpPr>
              <a:cxnSpLocks noChangeShapeType="1"/>
              <a:stCxn id="38920" idx="1"/>
            </p:cNvCxnSpPr>
            <p:nvPr/>
          </p:nvCxnSpPr>
          <p:spPr bwMode="auto">
            <a:xfrm flipH="1">
              <a:off x="3123" y="1585"/>
              <a:ext cx="144"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8927" name="AutoShape 15"/>
            <p:cNvCxnSpPr>
              <a:cxnSpLocks noChangeShapeType="1"/>
              <a:stCxn id="38921" idx="2"/>
              <a:endCxn id="38922" idx="0"/>
            </p:cNvCxnSpPr>
            <p:nvPr/>
          </p:nvCxnSpPr>
          <p:spPr bwMode="auto">
            <a:xfrm>
              <a:off x="4755" y="2425"/>
              <a:ext cx="0" cy="33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8928" name="AutoShape 17"/>
            <p:cNvSpPr>
              <a:spLocks noChangeArrowheads="1"/>
            </p:cNvSpPr>
            <p:nvPr/>
          </p:nvSpPr>
          <p:spPr bwMode="auto">
            <a:xfrm>
              <a:off x="4227" y="3337"/>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发确认帧</a:t>
              </a:r>
              <a:endParaRPr kumimoji="1" lang="zh-CN" altLang="en-US" sz="2000">
                <a:latin typeface="Verdana" panose="020B0604030504040204" pitchFamily="34" charset="0"/>
                <a:ea typeface="楷体_GB2312" pitchFamily="49" charset="-122"/>
              </a:endParaRPr>
            </a:p>
          </p:txBody>
        </p:sp>
        <p:cxnSp>
          <p:nvCxnSpPr>
            <p:cNvPr id="38929" name="AutoShape 18"/>
            <p:cNvCxnSpPr>
              <a:cxnSpLocks noChangeShapeType="1"/>
              <a:stCxn id="38922" idx="2"/>
              <a:endCxn id="38928" idx="0"/>
            </p:cNvCxnSpPr>
            <p:nvPr/>
          </p:nvCxnSpPr>
          <p:spPr bwMode="auto">
            <a:xfrm>
              <a:off x="4755" y="3049"/>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8930" name="Text Box 19"/>
            <p:cNvSpPr txBox="1">
              <a:spLocks noChangeArrowheads="1"/>
            </p:cNvSpPr>
            <p:nvPr/>
          </p:nvSpPr>
          <p:spPr bwMode="auto">
            <a:xfrm>
              <a:off x="4563" y="1251"/>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38931" name="Text Box 20"/>
            <p:cNvSpPr txBox="1">
              <a:spLocks noChangeArrowheads="1"/>
            </p:cNvSpPr>
            <p:nvPr/>
          </p:nvSpPr>
          <p:spPr bwMode="auto">
            <a:xfrm>
              <a:off x="3171" y="1683"/>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38932" name="AutoShape 21"/>
            <p:cNvSpPr>
              <a:spLocks noChangeArrowheads="1"/>
            </p:cNvSpPr>
            <p:nvPr/>
          </p:nvSpPr>
          <p:spPr bwMode="auto">
            <a:xfrm>
              <a:off x="975" y="1885"/>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endParaRPr kumimoji="1" lang="zh-CN" altLang="en-US" sz="2000">
                <a:latin typeface="Verdana" panose="020B0604030504040204" pitchFamily="34" charset="0"/>
                <a:ea typeface="楷体_GB2312" pitchFamily="49" charset="-122"/>
              </a:endParaRPr>
            </a:p>
          </p:txBody>
        </p:sp>
        <p:sp>
          <p:nvSpPr>
            <p:cNvPr id="38933" name="AutoShape 22"/>
            <p:cNvSpPr>
              <a:spLocks noChangeArrowheads="1"/>
            </p:cNvSpPr>
            <p:nvPr/>
          </p:nvSpPr>
          <p:spPr bwMode="auto">
            <a:xfrm>
              <a:off x="687" y="1357"/>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endParaRPr kumimoji="1" lang="en-US" altLang="zh-CN" sz="2000">
                <a:latin typeface="Verdana" panose="020B0604030504040204" pitchFamily="34" charset="0"/>
                <a:ea typeface="楷体_GB2312" pitchFamily="49" charset="-122"/>
              </a:endParaRPr>
            </a:p>
          </p:txBody>
        </p:sp>
        <p:sp>
          <p:nvSpPr>
            <p:cNvPr id="38934" name="AutoShape 23"/>
            <p:cNvSpPr>
              <a:spLocks noChangeArrowheads="1"/>
            </p:cNvSpPr>
            <p:nvPr/>
          </p:nvSpPr>
          <p:spPr bwMode="auto">
            <a:xfrm>
              <a:off x="687" y="2461"/>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endParaRPr kumimoji="1" lang="zh-CN" altLang="en-US" sz="2000">
                <a:latin typeface="Verdana" panose="020B0604030504040204" pitchFamily="34" charset="0"/>
                <a:ea typeface="楷体_GB2312" pitchFamily="49" charset="-122"/>
              </a:endParaRPr>
            </a:p>
          </p:txBody>
        </p:sp>
        <p:cxnSp>
          <p:nvCxnSpPr>
            <p:cNvPr id="38935" name="AutoShape 24"/>
            <p:cNvCxnSpPr>
              <a:cxnSpLocks noChangeShapeType="1"/>
              <a:stCxn id="38933" idx="2"/>
              <a:endCxn id="38932" idx="0"/>
            </p:cNvCxnSpPr>
            <p:nvPr/>
          </p:nvCxnSpPr>
          <p:spPr bwMode="auto">
            <a:xfrm>
              <a:off x="1503" y="1645"/>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8936" name="AutoShape 25"/>
            <p:cNvCxnSpPr>
              <a:cxnSpLocks noChangeShapeType="1"/>
              <a:stCxn id="38932" idx="2"/>
              <a:endCxn id="38934" idx="0"/>
            </p:cNvCxnSpPr>
            <p:nvPr/>
          </p:nvCxnSpPr>
          <p:spPr bwMode="auto">
            <a:xfrm>
              <a:off x="1503" y="2173"/>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8937" name="AutoShape 26"/>
            <p:cNvCxnSpPr>
              <a:cxnSpLocks noChangeShapeType="1"/>
            </p:cNvCxnSpPr>
            <p:nvPr/>
          </p:nvCxnSpPr>
          <p:spPr bwMode="auto">
            <a:xfrm>
              <a:off x="1519" y="754"/>
              <a:ext cx="1" cy="59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8938" name="AutoShape 28"/>
            <p:cNvSpPr>
              <a:spLocks noChangeArrowheads="1"/>
            </p:cNvSpPr>
            <p:nvPr/>
          </p:nvSpPr>
          <p:spPr bwMode="auto">
            <a:xfrm>
              <a:off x="687" y="3181"/>
              <a:ext cx="1632" cy="576"/>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等确认帧？</a:t>
              </a:r>
              <a:endParaRPr kumimoji="1" lang="zh-CN" altLang="en-US" sz="2000">
                <a:latin typeface="Verdana" panose="020B0604030504040204" pitchFamily="34" charset="0"/>
                <a:ea typeface="楷体_GB2312" pitchFamily="49" charset="-122"/>
              </a:endParaRPr>
            </a:p>
          </p:txBody>
        </p:sp>
        <p:cxnSp>
          <p:nvCxnSpPr>
            <p:cNvPr id="38939" name="AutoShape 29"/>
            <p:cNvCxnSpPr>
              <a:cxnSpLocks noChangeShapeType="1"/>
              <a:stCxn id="38934" idx="2"/>
              <a:endCxn id="38938" idx="0"/>
            </p:cNvCxnSpPr>
            <p:nvPr/>
          </p:nvCxnSpPr>
          <p:spPr bwMode="auto">
            <a:xfrm>
              <a:off x="1503" y="2749"/>
              <a:ext cx="0" cy="432"/>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8940" name="AutoShape 30"/>
            <p:cNvCxnSpPr>
              <a:cxnSpLocks noChangeShapeType="1"/>
              <a:stCxn id="38938" idx="1"/>
            </p:cNvCxnSpPr>
            <p:nvPr/>
          </p:nvCxnSpPr>
          <p:spPr bwMode="auto">
            <a:xfrm rot="10800000" flipH="1">
              <a:off x="687" y="2989"/>
              <a:ext cx="816" cy="480"/>
            </a:xfrm>
            <a:prstGeom prst="bentConnector3">
              <a:avLst>
                <a:gd name="adj1" fmla="val -17648"/>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8941" name="AutoShape 31"/>
            <p:cNvCxnSpPr>
              <a:cxnSpLocks noChangeShapeType="1"/>
            </p:cNvCxnSpPr>
            <p:nvPr/>
          </p:nvCxnSpPr>
          <p:spPr bwMode="auto">
            <a:xfrm flipH="1" flipV="1">
              <a:off x="1503" y="1117"/>
              <a:ext cx="816" cy="2352"/>
            </a:xfrm>
            <a:prstGeom prst="bentConnector4">
              <a:avLst>
                <a:gd name="adj1" fmla="val -17648"/>
                <a:gd name="adj2" fmla="val 9991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38942" name="Text Box 32"/>
            <p:cNvSpPr txBox="1">
              <a:spLocks noChangeArrowheads="1"/>
            </p:cNvSpPr>
            <p:nvPr/>
          </p:nvSpPr>
          <p:spPr bwMode="auto">
            <a:xfrm>
              <a:off x="240" y="3076"/>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38943" name="Text Box 33"/>
            <p:cNvSpPr txBox="1">
              <a:spLocks noChangeArrowheads="1"/>
            </p:cNvSpPr>
            <p:nvPr/>
          </p:nvSpPr>
          <p:spPr bwMode="auto">
            <a:xfrm>
              <a:off x="2223" y="3543"/>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38944" name="Line 34"/>
            <p:cNvSpPr>
              <a:spLocks noChangeShapeType="1"/>
            </p:cNvSpPr>
            <p:nvPr/>
          </p:nvSpPr>
          <p:spPr bwMode="auto">
            <a:xfrm>
              <a:off x="3575" y="1129"/>
              <a:ext cx="360" cy="1"/>
            </a:xfrm>
            <a:prstGeom prst="line">
              <a:avLst/>
            </a:prstGeom>
            <a:noFill/>
            <a:ln w="31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3993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81A667B-6D9C-4012-BCC3-37E7332A2535}"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5CB59269-C794-4D7E-A1AD-D05ED9AC97EC}" type="datetime1">
              <a:rPr lang="zh-CN" altLang="en-US"/>
            </a:fld>
            <a:endParaRPr lang="en-US" altLang="zh-CN"/>
          </a:p>
        </p:txBody>
      </p:sp>
      <p:sp>
        <p:nvSpPr>
          <p:cNvPr id="860162" name="Rectangle 2"/>
          <p:cNvSpPr>
            <a:spLocks noGrp="1" noChangeArrowheads="1"/>
          </p:cNvSpPr>
          <p:nvPr>
            <p:ph type="title"/>
          </p:nvPr>
        </p:nvSpPr>
        <p:spPr>
          <a:xfrm>
            <a:off x="2590800" y="1308100"/>
            <a:ext cx="7181850" cy="482600"/>
          </a:xfrm>
        </p:spPr>
        <p:txBody>
          <a:bodyPr>
            <a:normAutofit fontScale="90000"/>
          </a:bodyPr>
          <a:lstStyle/>
          <a:p>
            <a:pPr eaLnBrk="1" hangingPunct="1">
              <a:defRPr/>
            </a:pPr>
            <a:r>
              <a:rPr lang="zh-CN" altLang="en-US" sz="3200" dirty="0">
                <a:solidFill>
                  <a:srgbClr val="0000FF"/>
                </a:solidFill>
              </a:rPr>
              <a:t>三、有错，单向数据传送协议</a:t>
            </a:r>
            <a:endParaRPr lang="en-US" altLang="zh-CN" sz="2400" dirty="0">
              <a:solidFill>
                <a:srgbClr val="0000FF"/>
              </a:solidFill>
            </a:endParaRPr>
          </a:p>
        </p:txBody>
      </p:sp>
      <p:sp>
        <p:nvSpPr>
          <p:cNvPr id="39942" name="Rectangle 3"/>
          <p:cNvSpPr>
            <a:spLocks noGrp="1" noChangeArrowheads="1"/>
          </p:cNvSpPr>
          <p:nvPr>
            <p:ph type="body" idx="1"/>
          </p:nvPr>
        </p:nvSpPr>
        <p:spPr>
          <a:xfrm>
            <a:off x="2590800" y="1887685"/>
            <a:ext cx="7620000" cy="3295650"/>
          </a:xfrm>
        </p:spPr>
        <p:txBody>
          <a:bodyPr/>
          <a:lstStyle/>
          <a:p>
            <a:pPr eaLnBrk="1" hangingPunct="1">
              <a:buFont typeface="Wingdings" panose="05000000000000000000" pitchFamily="2" charset="2"/>
              <a:buNone/>
            </a:pPr>
            <a:r>
              <a:rPr lang="zh-CN" altLang="en-US" sz="2400" b="1" dirty="0">
                <a:solidFill>
                  <a:srgbClr val="FF0000"/>
                </a:solidFill>
                <a:latin typeface="Verdana" panose="020B0604030504040204" pitchFamily="34" charset="0"/>
                <a:ea typeface="楷体_GB2312" pitchFamily="49" charset="-122"/>
              </a:rPr>
              <a:t>条件：</a:t>
            </a:r>
            <a:endParaRPr lang="zh-CN" altLang="en-US" sz="2400" b="1" dirty="0">
              <a:solidFill>
                <a:srgbClr val="FF0000"/>
              </a:solidFill>
              <a:latin typeface="Verdana" panose="020B0604030504040204" pitchFamily="34" charset="0"/>
              <a:ea typeface="楷体_GB2312" pitchFamily="49" charset="-122"/>
            </a:endParaRPr>
          </a:p>
          <a:p>
            <a:pPr eaLnBrk="1" hangingPunct="1">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．一个机器发数据，另一机器收数据；</a:t>
            </a:r>
            <a:endParaRPr lang="zh-CN" altLang="en-US" sz="2400" dirty="0">
              <a:latin typeface="Verdana" panose="020B0604030504040204" pitchFamily="34" charset="0"/>
              <a:ea typeface="楷体_GB2312" pitchFamily="49" charset="-122"/>
            </a:endParaRPr>
          </a:p>
          <a:p>
            <a:pPr eaLnBrk="1" hangingPunct="1">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．网络层总是准备好分组传送；</a:t>
            </a:r>
            <a:endParaRPr lang="zh-CN" altLang="en-US" sz="2400" dirty="0">
              <a:latin typeface="Verdana" panose="020B0604030504040204" pitchFamily="34" charset="0"/>
              <a:ea typeface="楷体_GB2312" pitchFamily="49" charset="-122"/>
            </a:endParaRPr>
          </a:p>
          <a:p>
            <a:pPr eaLnBrk="1" hangingPunct="1">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3</a:t>
            </a:r>
            <a:r>
              <a:rPr lang="zh-CN" altLang="en-US" sz="2400" dirty="0">
                <a:solidFill>
                  <a:srgbClr val="0000FF"/>
                </a:solidFill>
                <a:latin typeface="Verdana" panose="020B0604030504040204" pitchFamily="34" charset="0"/>
                <a:ea typeface="楷体_GB2312" pitchFamily="49" charset="-122"/>
              </a:rPr>
              <a:t>．通道有错；</a:t>
            </a:r>
            <a:endParaRPr lang="zh-CN" altLang="en-US" sz="2400" dirty="0">
              <a:solidFill>
                <a:srgbClr val="0000FF"/>
              </a:solidFill>
              <a:latin typeface="Verdana" panose="020B0604030504040204" pitchFamily="34" charset="0"/>
              <a:ea typeface="楷体_GB2312" pitchFamily="49" charset="-122"/>
            </a:endParaRPr>
          </a:p>
          <a:p>
            <a:pPr eaLnBrk="1" hangingPunct="1">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DLL</a:t>
            </a:r>
            <a:r>
              <a:rPr lang="zh-CN" altLang="en-US" sz="2400" dirty="0">
                <a:solidFill>
                  <a:srgbClr val="0000FF"/>
                </a:solidFill>
                <a:latin typeface="Verdana" panose="020B0604030504040204" pitchFamily="34" charset="0"/>
                <a:ea typeface="楷体_GB2312" pitchFamily="49" charset="-122"/>
              </a:rPr>
              <a:t>层处理速度有限。</a:t>
            </a:r>
            <a:endParaRPr lang="zh-CN" altLang="en-US" sz="2400" dirty="0">
              <a:solidFill>
                <a:srgbClr val="0000FF"/>
              </a:solidFill>
              <a:latin typeface="Verdana" panose="020B0604030504040204" pitchFamily="34" charset="0"/>
              <a:ea typeface="楷体_GB2312" pitchFamily="49" charset="-122"/>
            </a:endParaRPr>
          </a:p>
          <a:p>
            <a:pPr eaLnBrk="1" hangingPunct="1">
              <a:buFont typeface="Wingdings" panose="05000000000000000000" pitchFamily="2" charset="2"/>
              <a:buNone/>
            </a:pPr>
            <a:endParaRPr lang="en-US" altLang="zh-CN" sz="2400" dirty="0">
              <a:solidFill>
                <a:srgbClr val="0000FF"/>
              </a:solidFill>
              <a:latin typeface="Verdana" panose="020B0604030504040204" pitchFamily="34" charset="0"/>
              <a:ea typeface="楷体_GB2312" pitchFamily="49" charset="-122"/>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rotWithShape="1">
          <a:blip r:embed="rId1"/>
          <a:srcRect r="9973" b="56613"/>
          <a:stretch>
            <a:fillRect/>
          </a:stretch>
        </p:blipFill>
        <p:spPr>
          <a:xfrm>
            <a:off x="1541562" y="213414"/>
            <a:ext cx="8676456" cy="1944216"/>
          </a:xfrm>
          <a:prstGeom prst="rect">
            <a:avLst/>
          </a:prstGeom>
        </p:spPr>
      </p:pic>
      <p:pic>
        <p:nvPicPr>
          <p:cNvPr id="7" name="图片 6"/>
          <p:cNvPicPr>
            <a:picLocks noChangeAspect="1"/>
          </p:cNvPicPr>
          <p:nvPr/>
        </p:nvPicPr>
        <p:blipFill>
          <a:blip r:embed="rId2"/>
          <a:stretch>
            <a:fillRect/>
          </a:stretch>
        </p:blipFill>
        <p:spPr>
          <a:xfrm>
            <a:off x="1541562" y="2402106"/>
            <a:ext cx="8808964" cy="4074895"/>
          </a:xfrm>
          <a:prstGeom prst="rect">
            <a:avLst/>
          </a:prstGeom>
        </p:spPr>
      </p:pic>
    </p:spTree>
  </p:cSld>
  <p:clrMapOvr>
    <a:masterClrMapping/>
  </p:clrMapOvr>
  <p:transition spd="slow">
    <p:pull dir="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096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8BBABC-F277-4126-8577-FB09D138ABF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38" name="日期占位符 3"/>
          <p:cNvSpPr>
            <a:spLocks noGrp="1"/>
          </p:cNvSpPr>
          <p:nvPr>
            <p:ph type="dt" sz="quarter" idx="12"/>
          </p:nvPr>
        </p:nvSpPr>
        <p:spPr/>
        <p:txBody>
          <a:bodyPr/>
          <a:lstStyle/>
          <a:p>
            <a:pPr>
              <a:defRPr/>
            </a:pPr>
            <a:fld id="{55713B94-6E17-4B5E-B597-C7F5865089A4}" type="datetime1">
              <a:rPr lang="zh-CN" altLang="en-US"/>
            </a:fld>
            <a:endParaRPr lang="en-US" altLang="zh-CN"/>
          </a:p>
        </p:txBody>
      </p:sp>
      <p:grpSp>
        <p:nvGrpSpPr>
          <p:cNvPr id="40965" name="Group 38"/>
          <p:cNvGrpSpPr/>
          <p:nvPr/>
        </p:nvGrpSpPr>
        <p:grpSpPr bwMode="auto">
          <a:xfrm>
            <a:off x="1981200" y="609600"/>
            <a:ext cx="8153400" cy="5410200"/>
            <a:chOff x="288" y="384"/>
            <a:chExt cx="5136" cy="3408"/>
          </a:xfrm>
        </p:grpSpPr>
        <p:sp>
          <p:nvSpPr>
            <p:cNvPr id="40966" name="Text Box 3"/>
            <p:cNvSpPr txBox="1">
              <a:spLocks noChangeArrowheads="1"/>
            </p:cNvSpPr>
            <p:nvPr/>
          </p:nvSpPr>
          <p:spPr bwMode="auto">
            <a:xfrm>
              <a:off x="288" y="38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endParaRPr kumimoji="1" lang="zh-CN" altLang="en-US" sz="2400">
                <a:solidFill>
                  <a:srgbClr val="0000FF"/>
                </a:solidFill>
                <a:latin typeface="Verdana" panose="020B0604030504040204" pitchFamily="34" charset="0"/>
                <a:ea typeface="楷体_GB2312" pitchFamily="49" charset="-122"/>
              </a:endParaRPr>
            </a:p>
          </p:txBody>
        </p:sp>
        <p:sp>
          <p:nvSpPr>
            <p:cNvPr id="40967" name="AutoShape 4"/>
            <p:cNvSpPr>
              <a:spLocks noChangeArrowheads="1"/>
            </p:cNvSpPr>
            <p:nvPr/>
          </p:nvSpPr>
          <p:spPr bwMode="auto">
            <a:xfrm>
              <a:off x="816" y="19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endParaRPr kumimoji="1" lang="zh-CN" altLang="en-US" sz="2000">
                <a:latin typeface="Verdana" panose="020B0604030504040204" pitchFamily="34" charset="0"/>
                <a:ea typeface="楷体_GB2312" pitchFamily="49" charset="-122"/>
              </a:endParaRPr>
            </a:p>
          </p:txBody>
        </p:sp>
        <p:sp>
          <p:nvSpPr>
            <p:cNvPr id="40968" name="AutoShape 5"/>
            <p:cNvSpPr>
              <a:spLocks noChangeArrowheads="1"/>
            </p:cNvSpPr>
            <p:nvPr/>
          </p:nvSpPr>
          <p:spPr bwMode="auto">
            <a:xfrm>
              <a:off x="528" y="1392"/>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endParaRPr kumimoji="1" lang="en-US" altLang="zh-CN" sz="2000">
                <a:latin typeface="Verdana" panose="020B0604030504040204" pitchFamily="34" charset="0"/>
                <a:ea typeface="楷体_GB2312" pitchFamily="49" charset="-122"/>
              </a:endParaRPr>
            </a:p>
          </p:txBody>
        </p:sp>
        <p:sp>
          <p:nvSpPr>
            <p:cNvPr id="40969" name="AutoShape 6"/>
            <p:cNvSpPr>
              <a:spLocks noChangeArrowheads="1"/>
            </p:cNvSpPr>
            <p:nvPr/>
          </p:nvSpPr>
          <p:spPr bwMode="auto">
            <a:xfrm>
              <a:off x="528" y="2496"/>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endParaRPr kumimoji="1" lang="zh-CN" altLang="en-US" sz="2000">
                <a:latin typeface="Verdana" panose="020B0604030504040204" pitchFamily="34" charset="0"/>
                <a:ea typeface="楷体_GB2312" pitchFamily="49" charset="-122"/>
              </a:endParaRPr>
            </a:p>
          </p:txBody>
        </p:sp>
        <p:cxnSp>
          <p:nvCxnSpPr>
            <p:cNvPr id="40970" name="AutoShape 7"/>
            <p:cNvCxnSpPr>
              <a:cxnSpLocks noChangeShapeType="1"/>
              <a:stCxn id="40968" idx="2"/>
              <a:endCxn id="40967" idx="0"/>
            </p:cNvCxnSpPr>
            <p:nvPr/>
          </p:nvCxnSpPr>
          <p:spPr bwMode="auto">
            <a:xfrm>
              <a:off x="1344" y="1680"/>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71" name="AutoShape 8"/>
            <p:cNvCxnSpPr>
              <a:cxnSpLocks noChangeShapeType="1"/>
              <a:stCxn id="40967" idx="2"/>
              <a:endCxn id="40969" idx="0"/>
            </p:cNvCxnSpPr>
            <p:nvPr/>
          </p:nvCxnSpPr>
          <p:spPr bwMode="auto">
            <a:xfrm>
              <a:off x="1344" y="2208"/>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72" name="AutoShape 9"/>
            <p:cNvCxnSpPr>
              <a:cxnSpLocks noChangeShapeType="1"/>
              <a:stCxn id="40977" idx="2"/>
              <a:endCxn id="40968" idx="0"/>
            </p:cNvCxnSpPr>
            <p:nvPr/>
          </p:nvCxnSpPr>
          <p:spPr bwMode="auto">
            <a:xfrm>
              <a:off x="1344" y="1008"/>
              <a:ext cx="0" cy="384"/>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3" name="AutoShape 10"/>
            <p:cNvSpPr>
              <a:spLocks noChangeArrowheads="1"/>
            </p:cNvSpPr>
            <p:nvPr/>
          </p:nvSpPr>
          <p:spPr bwMode="auto">
            <a:xfrm>
              <a:off x="3264" y="912"/>
              <a:ext cx="1488" cy="48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a:t>
              </a:r>
              <a:r>
                <a:rPr kumimoji="1" lang="en-US" altLang="zh-CN" sz="2000">
                  <a:latin typeface="Verdana" panose="020B0604030504040204" pitchFamily="34" charset="0"/>
                  <a:ea typeface="楷体_GB2312" pitchFamily="49" charset="-122"/>
                </a:rPr>
                <a:t>ACK</a:t>
              </a:r>
              <a:r>
                <a:rPr kumimoji="1" lang="zh-CN" altLang="en-US" sz="2000">
                  <a:latin typeface="Verdana" panose="020B0604030504040204" pitchFamily="34" charset="0"/>
                  <a:ea typeface="楷体_GB2312" pitchFamily="49" charset="-122"/>
                </a:rPr>
                <a:t>？</a:t>
              </a:r>
              <a:endParaRPr kumimoji="1" lang="zh-CN" altLang="en-US" sz="2000">
                <a:latin typeface="Verdana" panose="020B0604030504040204" pitchFamily="34" charset="0"/>
                <a:ea typeface="楷体_GB2312" pitchFamily="49" charset="-122"/>
              </a:endParaRPr>
            </a:p>
          </p:txBody>
        </p:sp>
        <p:cxnSp>
          <p:nvCxnSpPr>
            <p:cNvPr id="40974" name="AutoShape 11"/>
            <p:cNvCxnSpPr>
              <a:cxnSpLocks noChangeShapeType="1"/>
              <a:stCxn id="40969" idx="2"/>
              <a:endCxn id="40979" idx="0"/>
            </p:cNvCxnSpPr>
            <p:nvPr/>
          </p:nvCxnSpPr>
          <p:spPr bwMode="auto">
            <a:xfrm>
              <a:off x="1344" y="2784"/>
              <a:ext cx="0" cy="33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5" name="Text Box 12"/>
            <p:cNvSpPr txBox="1">
              <a:spLocks noChangeArrowheads="1"/>
            </p:cNvSpPr>
            <p:nvPr/>
          </p:nvSpPr>
          <p:spPr bwMode="auto">
            <a:xfrm>
              <a:off x="3024" y="1082"/>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0976" name="Text Box 13"/>
            <p:cNvSpPr txBox="1">
              <a:spLocks noChangeArrowheads="1"/>
            </p:cNvSpPr>
            <p:nvPr/>
          </p:nvSpPr>
          <p:spPr bwMode="auto">
            <a:xfrm>
              <a:off x="4800" y="122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0977" name="AutoShape 14"/>
            <p:cNvSpPr>
              <a:spLocks noChangeArrowheads="1"/>
            </p:cNvSpPr>
            <p:nvPr/>
          </p:nvSpPr>
          <p:spPr bwMode="auto">
            <a:xfrm>
              <a:off x="816" y="7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序号</a:t>
              </a:r>
              <a:r>
                <a:rPr kumimoji="1" lang="en-US" altLang="zh-CN" sz="2000">
                  <a:latin typeface="Verdana" panose="020B0604030504040204" pitchFamily="34" charset="0"/>
                  <a:ea typeface="楷体_GB2312" pitchFamily="49" charset="-122"/>
                </a:rPr>
                <a:t>= 0</a:t>
              </a:r>
              <a:endParaRPr kumimoji="1" lang="en-US" altLang="zh-CN" sz="2000">
                <a:latin typeface="Verdana" panose="020B0604030504040204" pitchFamily="34" charset="0"/>
                <a:ea typeface="楷体_GB2312" pitchFamily="49" charset="-122"/>
              </a:endParaRPr>
            </a:p>
          </p:txBody>
        </p:sp>
        <p:cxnSp>
          <p:nvCxnSpPr>
            <p:cNvPr id="40978" name="AutoShape 15"/>
            <p:cNvCxnSpPr>
              <a:cxnSpLocks noChangeShapeType="1"/>
              <a:endCxn id="40977" idx="0"/>
            </p:cNvCxnSpPr>
            <p:nvPr/>
          </p:nvCxnSpPr>
          <p:spPr bwMode="auto">
            <a:xfrm>
              <a:off x="1344" y="432"/>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9" name="AutoShape 16"/>
            <p:cNvSpPr>
              <a:spLocks noChangeArrowheads="1"/>
            </p:cNvSpPr>
            <p:nvPr/>
          </p:nvSpPr>
          <p:spPr bwMode="auto">
            <a:xfrm>
              <a:off x="816" y="31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启动计数器</a:t>
              </a:r>
              <a:endParaRPr kumimoji="1" lang="zh-CN" altLang="en-US" sz="2000">
                <a:latin typeface="Verdana" panose="020B0604030504040204" pitchFamily="34" charset="0"/>
                <a:ea typeface="楷体_GB2312" pitchFamily="49" charset="-122"/>
              </a:endParaRPr>
            </a:p>
          </p:txBody>
        </p:sp>
        <p:cxnSp>
          <p:nvCxnSpPr>
            <p:cNvPr id="40980" name="AutoShape 17"/>
            <p:cNvCxnSpPr>
              <a:cxnSpLocks noChangeShapeType="1"/>
              <a:stCxn id="40979" idx="2"/>
              <a:endCxn id="40973" idx="0"/>
            </p:cNvCxnSpPr>
            <p:nvPr/>
          </p:nvCxnSpPr>
          <p:spPr bwMode="auto">
            <a:xfrm rot="5400000" flipH="1" flipV="1">
              <a:off x="1428" y="828"/>
              <a:ext cx="2496" cy="2664"/>
            </a:xfrm>
            <a:prstGeom prst="bentConnector5">
              <a:avLst>
                <a:gd name="adj1" fmla="val -5769"/>
                <a:gd name="adj2" fmla="val 45944"/>
                <a:gd name="adj3" fmla="val 105769"/>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0981" name="AutoShape 18"/>
            <p:cNvSpPr>
              <a:spLocks noChangeArrowheads="1"/>
            </p:cNvSpPr>
            <p:nvPr/>
          </p:nvSpPr>
          <p:spPr bwMode="auto">
            <a:xfrm>
              <a:off x="2784" y="1392"/>
              <a:ext cx="960" cy="432"/>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超时？</a:t>
              </a:r>
              <a:endParaRPr kumimoji="1" lang="zh-CN" altLang="en-US" sz="2000">
                <a:latin typeface="Verdana" panose="020B0604030504040204" pitchFamily="34" charset="0"/>
                <a:ea typeface="楷体_GB2312" pitchFamily="49" charset="-122"/>
              </a:endParaRPr>
            </a:p>
          </p:txBody>
        </p:sp>
        <p:cxnSp>
          <p:nvCxnSpPr>
            <p:cNvPr id="40982" name="AutoShape 19"/>
            <p:cNvCxnSpPr>
              <a:cxnSpLocks noChangeShapeType="1"/>
              <a:stCxn id="40973" idx="1"/>
              <a:endCxn id="40981" idx="0"/>
            </p:cNvCxnSpPr>
            <p:nvPr/>
          </p:nvCxnSpPr>
          <p:spPr bwMode="auto">
            <a:xfrm>
              <a:off x="3264" y="1152"/>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83" name="AutoShape 20"/>
            <p:cNvCxnSpPr>
              <a:cxnSpLocks noChangeShapeType="1"/>
              <a:stCxn id="40981" idx="1"/>
            </p:cNvCxnSpPr>
            <p:nvPr/>
          </p:nvCxnSpPr>
          <p:spPr bwMode="auto">
            <a:xfrm flipH="1">
              <a:off x="2592" y="1608"/>
              <a:ext cx="192"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84" name="Text Box 21"/>
            <p:cNvSpPr txBox="1">
              <a:spLocks noChangeArrowheads="1"/>
            </p:cNvSpPr>
            <p:nvPr/>
          </p:nvSpPr>
          <p:spPr bwMode="auto">
            <a:xfrm>
              <a:off x="2592" y="1370"/>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0985" name="AutoShape 22"/>
            <p:cNvSpPr>
              <a:spLocks noChangeArrowheads="1"/>
            </p:cNvSpPr>
            <p:nvPr/>
          </p:nvSpPr>
          <p:spPr bwMode="auto">
            <a:xfrm>
              <a:off x="4320" y="1680"/>
              <a:ext cx="864" cy="24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endParaRPr kumimoji="1" lang="zh-CN" altLang="en-US" sz="2000">
                <a:latin typeface="Verdana" panose="020B0604030504040204" pitchFamily="34" charset="0"/>
                <a:ea typeface="楷体_GB2312" pitchFamily="49" charset="-122"/>
              </a:endParaRPr>
            </a:p>
          </p:txBody>
        </p:sp>
        <p:sp>
          <p:nvSpPr>
            <p:cNvPr id="40986" name="AutoShape 23"/>
            <p:cNvSpPr>
              <a:spLocks noChangeArrowheads="1"/>
            </p:cNvSpPr>
            <p:nvPr/>
          </p:nvSpPr>
          <p:spPr bwMode="auto">
            <a:xfrm>
              <a:off x="4080" y="2304"/>
              <a:ext cx="1344" cy="336"/>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从网络层取分组</a:t>
              </a:r>
              <a:endParaRPr kumimoji="1" lang="zh-CN" altLang="en-US" sz="2000">
                <a:latin typeface="Verdana" panose="020B0604030504040204" pitchFamily="34" charset="0"/>
                <a:ea typeface="楷体_GB2312" pitchFamily="49" charset="-122"/>
              </a:endParaRPr>
            </a:p>
          </p:txBody>
        </p:sp>
        <p:sp>
          <p:nvSpPr>
            <p:cNvPr id="40987" name="AutoShape 24"/>
            <p:cNvSpPr>
              <a:spLocks noChangeArrowheads="1"/>
            </p:cNvSpPr>
            <p:nvPr/>
          </p:nvSpPr>
          <p:spPr bwMode="auto">
            <a:xfrm>
              <a:off x="4224" y="2832"/>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序号</a:t>
              </a:r>
              <a:r>
                <a:rPr kumimoji="1" lang="zh-CN" altLang="en-US" sz="2000" dirty="0">
                  <a:solidFill>
                    <a:srgbClr val="FF0000"/>
                  </a:solidFill>
                  <a:latin typeface="Verdana" panose="020B0604030504040204" pitchFamily="34" charset="0"/>
                  <a:ea typeface="楷体_GB2312" pitchFamily="49" charset="-122"/>
                </a:rPr>
                <a:t>变反</a:t>
              </a:r>
              <a:endParaRPr kumimoji="1" lang="zh-CN" altLang="en-US" sz="2000" dirty="0">
                <a:solidFill>
                  <a:srgbClr val="FF0000"/>
                </a:solidFill>
                <a:latin typeface="Verdana" panose="020B0604030504040204" pitchFamily="34" charset="0"/>
                <a:ea typeface="楷体_GB2312" pitchFamily="49" charset="-122"/>
              </a:endParaRPr>
            </a:p>
          </p:txBody>
        </p:sp>
        <p:sp>
          <p:nvSpPr>
            <p:cNvPr id="40988" name="AutoShape 25"/>
            <p:cNvSpPr>
              <a:spLocks noChangeArrowheads="1"/>
            </p:cNvSpPr>
            <p:nvPr/>
          </p:nvSpPr>
          <p:spPr bwMode="auto">
            <a:xfrm>
              <a:off x="3312" y="1968"/>
              <a:ext cx="864" cy="24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endParaRPr kumimoji="1" lang="zh-CN" altLang="en-US" sz="2000">
                <a:latin typeface="Verdana" panose="020B0604030504040204" pitchFamily="34" charset="0"/>
                <a:ea typeface="楷体_GB2312" pitchFamily="49" charset="-122"/>
              </a:endParaRPr>
            </a:p>
          </p:txBody>
        </p:sp>
        <p:sp>
          <p:nvSpPr>
            <p:cNvPr id="40989" name="AutoShape 26"/>
            <p:cNvSpPr>
              <a:spLocks noChangeArrowheads="1"/>
            </p:cNvSpPr>
            <p:nvPr/>
          </p:nvSpPr>
          <p:spPr bwMode="auto">
            <a:xfrm>
              <a:off x="3264" y="3264"/>
              <a:ext cx="960" cy="52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从缓冲区</a:t>
              </a:r>
              <a:endParaRPr kumimoji="1" lang="zh-CN" altLang="en-US" sz="2000">
                <a:latin typeface="Verdana" panose="020B0604030504040204" pitchFamily="34" charset="0"/>
                <a:ea typeface="楷体_GB2312" pitchFamily="49" charset="-122"/>
              </a:endParaRPr>
            </a:p>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取原帧</a:t>
              </a:r>
              <a:endParaRPr kumimoji="1" lang="zh-CN" altLang="en-US" sz="2000">
                <a:latin typeface="Verdana" panose="020B0604030504040204" pitchFamily="34" charset="0"/>
                <a:ea typeface="楷体_GB2312" pitchFamily="49" charset="-122"/>
              </a:endParaRPr>
            </a:p>
          </p:txBody>
        </p:sp>
        <p:cxnSp>
          <p:nvCxnSpPr>
            <p:cNvPr id="40990" name="AutoShape 27"/>
            <p:cNvCxnSpPr>
              <a:cxnSpLocks noChangeShapeType="1"/>
              <a:stCxn id="40973" idx="3"/>
              <a:endCxn id="40985" idx="0"/>
            </p:cNvCxnSpPr>
            <p:nvPr/>
          </p:nvCxnSpPr>
          <p:spPr bwMode="auto">
            <a:xfrm>
              <a:off x="4752" y="1152"/>
              <a:ext cx="0" cy="52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1" name="AutoShape 28"/>
            <p:cNvCxnSpPr>
              <a:cxnSpLocks noChangeShapeType="1"/>
              <a:stCxn id="40985" idx="2"/>
              <a:endCxn id="40986" idx="0"/>
            </p:cNvCxnSpPr>
            <p:nvPr/>
          </p:nvCxnSpPr>
          <p:spPr bwMode="auto">
            <a:xfrm>
              <a:off x="4752" y="1920"/>
              <a:ext cx="0" cy="384"/>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2" name="AutoShape 29"/>
            <p:cNvCxnSpPr>
              <a:cxnSpLocks noChangeShapeType="1"/>
              <a:stCxn id="40986" idx="2"/>
            </p:cNvCxnSpPr>
            <p:nvPr/>
          </p:nvCxnSpPr>
          <p:spPr bwMode="auto">
            <a:xfrm>
              <a:off x="4752" y="2640"/>
              <a:ext cx="0" cy="192"/>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3" name="AutoShape 30"/>
            <p:cNvCxnSpPr>
              <a:cxnSpLocks noChangeShapeType="1"/>
              <a:stCxn id="40981" idx="3"/>
              <a:endCxn id="40988" idx="0"/>
            </p:cNvCxnSpPr>
            <p:nvPr/>
          </p:nvCxnSpPr>
          <p:spPr bwMode="auto">
            <a:xfrm>
              <a:off x="3744" y="1608"/>
              <a:ext cx="0" cy="36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4" name="AutoShape 31"/>
            <p:cNvCxnSpPr>
              <a:cxnSpLocks noChangeShapeType="1"/>
              <a:stCxn id="40988" idx="2"/>
              <a:endCxn id="40989" idx="0"/>
            </p:cNvCxnSpPr>
            <p:nvPr/>
          </p:nvCxnSpPr>
          <p:spPr bwMode="auto">
            <a:xfrm>
              <a:off x="3744" y="2208"/>
              <a:ext cx="0" cy="105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95" name="Text Box 32"/>
            <p:cNvSpPr txBox="1">
              <a:spLocks noChangeArrowheads="1"/>
            </p:cNvSpPr>
            <p:nvPr/>
          </p:nvSpPr>
          <p:spPr bwMode="auto">
            <a:xfrm>
              <a:off x="3792" y="161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cxnSp>
          <p:nvCxnSpPr>
            <p:cNvPr id="40996" name="AutoShape 33"/>
            <p:cNvCxnSpPr>
              <a:cxnSpLocks noChangeShapeType="1"/>
            </p:cNvCxnSpPr>
            <p:nvPr/>
          </p:nvCxnSpPr>
          <p:spPr bwMode="auto">
            <a:xfrm rot="16200000" flipV="1">
              <a:off x="1896" y="1944"/>
              <a:ext cx="1296" cy="2400"/>
            </a:xfrm>
            <a:prstGeom prst="bentConnector5">
              <a:avLst>
                <a:gd name="adj1" fmla="val -11111"/>
                <a:gd name="adj2" fmla="val 43000"/>
                <a:gd name="adj3" fmla="val 111111"/>
              </a:avLst>
            </a:prstGeom>
            <a:noFill/>
            <a:ln w="9525">
              <a:solidFill>
                <a:srgbClr val="0000FF"/>
              </a:solidFill>
              <a:miter lim="800000"/>
              <a:tailEnd type="triangle" w="med" len="med"/>
            </a:ln>
            <a:extLst>
              <a:ext uri="{909E8E84-426E-40DD-AFC4-6F175D3DCCD1}">
                <a14:hiddenFill xmlns:a14="http://schemas.microsoft.com/office/drawing/2010/main">
                  <a:noFill/>
                </a14:hiddenFill>
              </a:ext>
            </a:extLst>
          </p:spPr>
        </p:cxnSp>
        <p:cxnSp>
          <p:nvCxnSpPr>
            <p:cNvPr id="40997" name="AutoShape 34"/>
            <p:cNvCxnSpPr>
              <a:cxnSpLocks noChangeShapeType="1"/>
            </p:cNvCxnSpPr>
            <p:nvPr/>
          </p:nvCxnSpPr>
          <p:spPr bwMode="auto">
            <a:xfrm rot="10800000">
              <a:off x="1344" y="1776"/>
              <a:ext cx="3408" cy="1392"/>
            </a:xfrm>
            <a:prstGeom prst="bentConnector3">
              <a:avLst>
                <a:gd name="adj1" fmla="val 50000"/>
              </a:avLst>
            </a:prstGeom>
            <a:noFill/>
            <a:ln w="9525">
              <a:solidFill>
                <a:srgbClr val="FF00FF"/>
              </a:solidFill>
              <a:miter lim="800000"/>
              <a:tailEnd type="triangle" w="med" len="med"/>
            </a:ln>
            <a:extLst>
              <a:ext uri="{909E8E84-426E-40DD-AFC4-6F175D3DCCD1}">
                <a14:hiddenFill xmlns:a14="http://schemas.microsoft.com/office/drawing/2010/main">
                  <a:noFill/>
                </a14:hiddenFill>
              </a:ext>
            </a:extLst>
          </p:spPr>
        </p:cxnSp>
        <p:sp>
          <p:nvSpPr>
            <p:cNvPr id="40998" name="Line 36"/>
            <p:cNvSpPr>
              <a:spLocks noChangeShapeType="1"/>
            </p:cNvSpPr>
            <p:nvPr/>
          </p:nvSpPr>
          <p:spPr bwMode="auto">
            <a:xfrm flipV="1">
              <a:off x="4752" y="3120"/>
              <a:ext cx="0" cy="48"/>
            </a:xfrm>
            <a:prstGeom prst="line">
              <a:avLst/>
            </a:prstGeom>
            <a:noFill/>
            <a:ln w="9525">
              <a:solidFill>
                <a:srgbClr val="FF66FF"/>
              </a:solidFill>
              <a:rou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198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74C0912-74EC-4E36-B12C-D93722794E86}"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26" name="日期占位符 3"/>
          <p:cNvSpPr>
            <a:spLocks noGrp="1"/>
          </p:cNvSpPr>
          <p:nvPr>
            <p:ph type="dt" sz="quarter" idx="12"/>
          </p:nvPr>
        </p:nvSpPr>
        <p:spPr/>
        <p:txBody>
          <a:bodyPr/>
          <a:lstStyle/>
          <a:p>
            <a:pPr>
              <a:defRPr/>
            </a:pPr>
            <a:fld id="{8BA7E38E-057E-4CD7-8F07-473255029D43}" type="datetime1">
              <a:rPr lang="zh-CN" altLang="en-US"/>
            </a:fld>
            <a:endParaRPr lang="en-US" altLang="zh-CN"/>
          </a:p>
        </p:txBody>
      </p:sp>
      <p:sp>
        <p:nvSpPr>
          <p:cNvPr id="41989" name="AutoShape 3"/>
          <p:cNvSpPr>
            <a:spLocks noChangeArrowheads="1"/>
          </p:cNvSpPr>
          <p:nvPr/>
        </p:nvSpPr>
        <p:spPr bwMode="auto">
          <a:xfrm>
            <a:off x="4176713" y="914400"/>
            <a:ext cx="1833562"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希望序号</a:t>
            </a:r>
            <a:r>
              <a:rPr kumimoji="1" lang="en-US" altLang="zh-CN" sz="2000">
                <a:latin typeface="Verdana" panose="020B0604030504040204" pitchFamily="34" charset="0"/>
                <a:ea typeface="楷体_GB2312" pitchFamily="49" charset="-122"/>
              </a:rPr>
              <a:t>=0</a:t>
            </a:r>
            <a:endParaRPr kumimoji="1" lang="en-US" altLang="zh-CN" sz="2000">
              <a:latin typeface="Verdana" panose="020B0604030504040204" pitchFamily="34" charset="0"/>
              <a:ea typeface="楷体_GB2312" pitchFamily="49" charset="-122"/>
            </a:endParaRPr>
          </a:p>
        </p:txBody>
      </p:sp>
      <p:sp>
        <p:nvSpPr>
          <p:cNvPr id="41990" name="AutoShape 4"/>
          <p:cNvSpPr>
            <a:spLocks noChangeArrowheads="1"/>
          </p:cNvSpPr>
          <p:nvPr/>
        </p:nvSpPr>
        <p:spPr bwMode="auto">
          <a:xfrm>
            <a:off x="3335339" y="5867400"/>
            <a:ext cx="993775"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Verdana" panose="020B0604030504040204" pitchFamily="34" charset="0"/>
                <a:ea typeface="楷体_GB2312" pitchFamily="49" charset="-122"/>
              </a:rPr>
              <a:t>发</a:t>
            </a:r>
            <a:r>
              <a:rPr kumimoji="1" lang="en-US" altLang="zh-CN" sz="2000">
                <a:latin typeface="Verdana" panose="020B0604030504040204" pitchFamily="34" charset="0"/>
                <a:ea typeface="楷体_GB2312" pitchFamily="49" charset="-122"/>
              </a:rPr>
              <a:t>ACK</a:t>
            </a:r>
            <a:endParaRPr kumimoji="1" lang="en-US" altLang="zh-CN" sz="2000">
              <a:latin typeface="Verdana" panose="020B0604030504040204" pitchFamily="34" charset="0"/>
              <a:ea typeface="楷体_GB2312" pitchFamily="49" charset="-122"/>
            </a:endParaRPr>
          </a:p>
        </p:txBody>
      </p:sp>
      <p:cxnSp>
        <p:nvCxnSpPr>
          <p:cNvPr id="41991" name="AutoShape 5"/>
          <p:cNvCxnSpPr>
            <a:cxnSpLocks noChangeShapeType="1"/>
            <a:endCxn id="41989" idx="0"/>
          </p:cNvCxnSpPr>
          <p:nvPr/>
        </p:nvCxnSpPr>
        <p:spPr bwMode="auto">
          <a:xfrm>
            <a:off x="5094288" y="533400"/>
            <a:ext cx="0" cy="3810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1992" name="AutoShape 6"/>
          <p:cNvSpPr>
            <a:spLocks noChangeArrowheads="1"/>
          </p:cNvSpPr>
          <p:nvPr/>
        </p:nvSpPr>
        <p:spPr bwMode="auto">
          <a:xfrm>
            <a:off x="4024313" y="1752600"/>
            <a:ext cx="2138362" cy="990600"/>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endParaRPr kumimoji="1" lang="zh-CN" altLang="en-US" sz="2000">
              <a:latin typeface="Verdana" panose="020B0604030504040204" pitchFamily="34" charset="0"/>
              <a:ea typeface="楷体_GB2312" pitchFamily="49" charset="-122"/>
            </a:endParaRPr>
          </a:p>
        </p:txBody>
      </p:sp>
      <p:sp>
        <p:nvSpPr>
          <p:cNvPr id="41993" name="AutoShape 7"/>
          <p:cNvSpPr>
            <a:spLocks noChangeArrowheads="1"/>
          </p:cNvSpPr>
          <p:nvPr/>
        </p:nvSpPr>
        <p:spPr bwMode="auto">
          <a:xfrm>
            <a:off x="5404496" y="2819400"/>
            <a:ext cx="4441825"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从物理层取帧</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无错</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错丢弃</a:t>
            </a:r>
            <a:r>
              <a:rPr kumimoji="1" lang="en-US" altLang="zh-CN" sz="2000">
                <a:latin typeface="Verdana" panose="020B0604030504040204" pitchFamily="34" charset="0"/>
                <a:ea typeface="楷体_GB2312" pitchFamily="49" charset="-122"/>
              </a:rPr>
              <a:t>)</a:t>
            </a:r>
            <a:endParaRPr kumimoji="1" lang="en-US" altLang="zh-CN" sz="2000">
              <a:latin typeface="Verdana" panose="020B0604030504040204" pitchFamily="34" charset="0"/>
              <a:ea typeface="楷体_GB2312" pitchFamily="49" charset="-122"/>
            </a:endParaRPr>
          </a:p>
        </p:txBody>
      </p:sp>
      <p:sp>
        <p:nvSpPr>
          <p:cNvPr id="41994" name="AutoShape 8"/>
          <p:cNvSpPr>
            <a:spLocks noChangeArrowheads="1"/>
          </p:cNvSpPr>
          <p:nvPr/>
        </p:nvSpPr>
        <p:spPr bwMode="auto">
          <a:xfrm>
            <a:off x="7720584" y="4800600"/>
            <a:ext cx="3055937"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去头得</a:t>
            </a:r>
            <a:r>
              <a:rPr kumimoji="1" lang="en-US" altLang="zh-CN" sz="2000">
                <a:latin typeface="Verdana" panose="020B0604030504040204" pitchFamily="34" charset="0"/>
                <a:ea typeface="楷体_GB2312" pitchFamily="49" charset="-122"/>
              </a:rPr>
              <a:t>packet</a:t>
            </a:r>
            <a:r>
              <a:rPr kumimoji="1" lang="zh-CN" altLang="en-US" sz="2000">
                <a:latin typeface="Verdana" panose="020B0604030504040204" pitchFamily="34" charset="0"/>
                <a:ea typeface="楷体_GB2312" pitchFamily="49" charset="-122"/>
              </a:rPr>
              <a:t>送网络层</a:t>
            </a:r>
            <a:endParaRPr kumimoji="1" lang="zh-CN" altLang="en-US" sz="2000">
              <a:latin typeface="Verdana" panose="020B0604030504040204" pitchFamily="34" charset="0"/>
              <a:ea typeface="楷体_GB2312" pitchFamily="49" charset="-122"/>
            </a:endParaRPr>
          </a:p>
        </p:txBody>
      </p:sp>
      <p:cxnSp>
        <p:nvCxnSpPr>
          <p:cNvPr id="41995" name="AutoShape 9"/>
          <p:cNvCxnSpPr>
            <a:cxnSpLocks noChangeShapeType="1"/>
            <a:stCxn id="41992" idx="3"/>
            <a:endCxn id="41993" idx="0"/>
          </p:cNvCxnSpPr>
          <p:nvPr/>
        </p:nvCxnSpPr>
        <p:spPr bwMode="auto">
          <a:xfrm>
            <a:off x="6162676" y="2247900"/>
            <a:ext cx="1462733" cy="571500"/>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1996" name="AutoShape 10"/>
          <p:cNvCxnSpPr>
            <a:cxnSpLocks noChangeShapeType="1"/>
            <a:stCxn id="41989" idx="2"/>
          </p:cNvCxnSpPr>
          <p:nvPr/>
        </p:nvCxnSpPr>
        <p:spPr bwMode="auto">
          <a:xfrm>
            <a:off x="5094289" y="1371600"/>
            <a:ext cx="1587" cy="3810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1997" name="AutoShape 11"/>
          <p:cNvCxnSpPr>
            <a:cxnSpLocks noChangeShapeType="1"/>
            <a:stCxn id="41993" idx="2"/>
            <a:endCxn id="41999" idx="0"/>
          </p:cNvCxnSpPr>
          <p:nvPr/>
        </p:nvCxnSpPr>
        <p:spPr bwMode="auto">
          <a:xfrm>
            <a:off x="7625409" y="3276600"/>
            <a:ext cx="2753" cy="3048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1998" name="Text Box 12"/>
          <p:cNvSpPr txBox="1">
            <a:spLocks noChangeArrowheads="1"/>
          </p:cNvSpPr>
          <p:nvPr/>
        </p:nvSpPr>
        <p:spPr bwMode="auto">
          <a:xfrm>
            <a:off x="2495550" y="762000"/>
            <a:ext cx="79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endParaRPr kumimoji="1" lang="zh-CN" altLang="en-US" sz="2400">
              <a:solidFill>
                <a:srgbClr val="0000FF"/>
              </a:solidFill>
              <a:latin typeface="Verdana" panose="020B0604030504040204" pitchFamily="34" charset="0"/>
              <a:ea typeface="楷体_GB2312" pitchFamily="49" charset="-122"/>
            </a:endParaRPr>
          </a:p>
        </p:txBody>
      </p:sp>
      <p:sp>
        <p:nvSpPr>
          <p:cNvPr id="41999" name="AutoShape 13"/>
          <p:cNvSpPr>
            <a:spLocks noChangeArrowheads="1"/>
          </p:cNvSpPr>
          <p:nvPr/>
        </p:nvSpPr>
        <p:spPr bwMode="auto">
          <a:xfrm>
            <a:off x="6023992" y="3581400"/>
            <a:ext cx="3208338" cy="106680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帧序号</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希望序号？</a:t>
            </a:r>
            <a:endParaRPr kumimoji="1" lang="zh-CN" altLang="en-US" sz="2000">
              <a:latin typeface="Verdana" panose="020B0604030504040204" pitchFamily="34" charset="0"/>
              <a:ea typeface="楷体_GB2312" pitchFamily="49" charset="-122"/>
            </a:endParaRPr>
          </a:p>
        </p:txBody>
      </p:sp>
      <p:cxnSp>
        <p:nvCxnSpPr>
          <p:cNvPr id="42000" name="AutoShape 14"/>
          <p:cNvCxnSpPr>
            <a:cxnSpLocks noChangeShapeType="1"/>
          </p:cNvCxnSpPr>
          <p:nvPr/>
        </p:nvCxnSpPr>
        <p:spPr bwMode="auto">
          <a:xfrm rot="5400000">
            <a:off x="4933727" y="4914107"/>
            <a:ext cx="1981200" cy="382587"/>
          </a:xfrm>
          <a:prstGeom prst="bentConnector3">
            <a:avLst>
              <a:gd name="adj1" fmla="val -1046"/>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2001" name="Text Box 15"/>
          <p:cNvSpPr txBox="1">
            <a:spLocks noChangeArrowheads="1"/>
          </p:cNvSpPr>
          <p:nvPr/>
        </p:nvSpPr>
        <p:spPr bwMode="auto">
          <a:xfrm>
            <a:off x="5324252" y="3962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2002" name="Text Box 16"/>
          <p:cNvSpPr txBox="1">
            <a:spLocks noChangeArrowheads="1"/>
          </p:cNvSpPr>
          <p:nvPr/>
        </p:nvSpPr>
        <p:spPr bwMode="auto">
          <a:xfrm>
            <a:off x="9247759" y="4003676"/>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2003" name="AutoShape 17"/>
          <p:cNvSpPr>
            <a:spLocks noChangeArrowheads="1"/>
          </p:cNvSpPr>
          <p:nvPr/>
        </p:nvSpPr>
        <p:spPr bwMode="auto">
          <a:xfrm>
            <a:off x="8331771" y="5486400"/>
            <a:ext cx="1833563"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希望序号</a:t>
            </a:r>
            <a:r>
              <a:rPr kumimoji="1" lang="zh-CN" altLang="en-US" sz="2000" dirty="0">
                <a:solidFill>
                  <a:srgbClr val="FF0000"/>
                </a:solidFill>
                <a:latin typeface="Verdana" panose="020B0604030504040204" pitchFamily="34" charset="0"/>
                <a:ea typeface="楷体_GB2312" pitchFamily="49" charset="-122"/>
              </a:rPr>
              <a:t>变反</a:t>
            </a:r>
            <a:endParaRPr kumimoji="1" lang="zh-CN" altLang="en-US" sz="2000" dirty="0">
              <a:solidFill>
                <a:srgbClr val="FF0000"/>
              </a:solidFill>
              <a:latin typeface="Verdana" panose="020B0604030504040204" pitchFamily="34" charset="0"/>
              <a:ea typeface="楷体_GB2312" pitchFamily="49" charset="-122"/>
            </a:endParaRPr>
          </a:p>
        </p:txBody>
      </p:sp>
      <p:cxnSp>
        <p:nvCxnSpPr>
          <p:cNvPr id="42004" name="AutoShape 18"/>
          <p:cNvCxnSpPr>
            <a:cxnSpLocks noChangeShapeType="1"/>
            <a:stCxn id="41994" idx="2"/>
            <a:endCxn id="42003" idx="0"/>
          </p:cNvCxnSpPr>
          <p:nvPr/>
        </p:nvCxnSpPr>
        <p:spPr bwMode="auto">
          <a:xfrm>
            <a:off x="9247758" y="5257800"/>
            <a:ext cx="0" cy="2286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2005" name="Text Box 19"/>
          <p:cNvSpPr txBox="1">
            <a:spLocks noChangeArrowheads="1"/>
          </p:cNvSpPr>
          <p:nvPr/>
        </p:nvSpPr>
        <p:spPr bwMode="auto">
          <a:xfrm>
            <a:off x="6096001" y="1751014"/>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2006" name="Text Box 20"/>
          <p:cNvSpPr txBox="1">
            <a:spLocks noChangeArrowheads="1"/>
          </p:cNvSpPr>
          <p:nvPr/>
        </p:nvSpPr>
        <p:spPr bwMode="auto">
          <a:xfrm>
            <a:off x="3503613" y="2184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cxnSp>
        <p:nvCxnSpPr>
          <p:cNvPr id="42007" name="AutoShape 21"/>
          <p:cNvCxnSpPr>
            <a:cxnSpLocks noChangeShapeType="1"/>
            <a:stCxn id="41999" idx="3"/>
            <a:endCxn id="41994" idx="0"/>
          </p:cNvCxnSpPr>
          <p:nvPr/>
        </p:nvCxnSpPr>
        <p:spPr bwMode="auto">
          <a:xfrm>
            <a:off x="9232330" y="4114800"/>
            <a:ext cx="16222" cy="6858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2008" name="AutoShape 22"/>
          <p:cNvCxnSpPr>
            <a:cxnSpLocks noChangeShapeType="1"/>
            <a:stCxn id="42003" idx="2"/>
            <a:endCxn id="41990" idx="3"/>
          </p:cNvCxnSpPr>
          <p:nvPr/>
        </p:nvCxnSpPr>
        <p:spPr bwMode="auto">
          <a:xfrm rot="5400000">
            <a:off x="6712633" y="3560082"/>
            <a:ext cx="152400" cy="4919439"/>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2009" name="AutoShape 23"/>
          <p:cNvCxnSpPr>
            <a:cxnSpLocks noChangeShapeType="1"/>
            <a:stCxn id="41990" idx="1"/>
          </p:cNvCxnSpPr>
          <p:nvPr/>
        </p:nvCxnSpPr>
        <p:spPr bwMode="auto">
          <a:xfrm rot="10800000" flipH="1">
            <a:off x="3335338" y="1600200"/>
            <a:ext cx="1757362" cy="4495800"/>
          </a:xfrm>
          <a:prstGeom prst="bentConnector4">
            <a:avLst>
              <a:gd name="adj1" fmla="val -17755"/>
              <a:gd name="adj2" fmla="val 102856"/>
            </a:avLst>
          </a:prstGeom>
          <a:noFill/>
          <a:ln w="9525">
            <a:solidFill>
              <a:srgbClr val="0000FF"/>
            </a:solidFill>
            <a:miter lim="800000"/>
            <a:tailEnd type="triangle" w="med" len="med"/>
          </a:ln>
          <a:extLst>
            <a:ext uri="{909E8E84-426E-40DD-AFC4-6F175D3DCCD1}">
              <a14:hiddenFill xmlns:a14="http://schemas.microsoft.com/office/drawing/2010/main">
                <a:noFill/>
              </a14:hiddenFill>
            </a:ext>
          </a:extLst>
        </p:spPr>
      </p:cxnSp>
      <p:cxnSp>
        <p:nvCxnSpPr>
          <p:cNvPr id="42010" name="AutoShape 24"/>
          <p:cNvCxnSpPr>
            <a:cxnSpLocks noChangeShapeType="1"/>
            <a:stCxn id="41992" idx="1"/>
          </p:cNvCxnSpPr>
          <p:nvPr/>
        </p:nvCxnSpPr>
        <p:spPr bwMode="auto">
          <a:xfrm flipH="1">
            <a:off x="3030539" y="2247900"/>
            <a:ext cx="993775"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4301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C7B4E50-15ED-4238-8756-536E36E39940}"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4A51A892-F6EC-4157-8C86-94179BBA6993}" type="datetime1">
              <a:rPr lang="zh-CN" altLang="en-US"/>
            </a:fld>
            <a:endParaRPr lang="en-US" altLang="zh-CN"/>
          </a:p>
        </p:txBody>
      </p:sp>
      <p:sp>
        <p:nvSpPr>
          <p:cNvPr id="863234" name="Rectangle 2"/>
          <p:cNvSpPr>
            <a:spLocks noGrp="1" noChangeArrowheads="1"/>
          </p:cNvSpPr>
          <p:nvPr>
            <p:ph type="title"/>
          </p:nvPr>
        </p:nvSpPr>
        <p:spPr>
          <a:xfrm>
            <a:off x="2362200" y="836613"/>
            <a:ext cx="7715250" cy="449262"/>
          </a:xfrm>
        </p:spPr>
        <p:txBody>
          <a:bodyPr/>
          <a:lstStyle/>
          <a:p>
            <a:pPr eaLnBrk="1" hangingPunct="1">
              <a:defRPr/>
            </a:pPr>
            <a:r>
              <a:rPr lang="zh-CN" altLang="en-US" sz="2400" b="1">
                <a:solidFill>
                  <a:srgbClr val="0000FF"/>
                </a:solidFill>
              </a:rPr>
              <a:t>流程说明：</a:t>
            </a:r>
            <a:endParaRPr lang="zh-CN" altLang="en-US" sz="2400" b="1">
              <a:solidFill>
                <a:srgbClr val="0000FF"/>
              </a:solidFill>
            </a:endParaRPr>
          </a:p>
        </p:txBody>
      </p:sp>
      <p:sp>
        <p:nvSpPr>
          <p:cNvPr id="863235" name="Rectangle 3"/>
          <p:cNvSpPr>
            <a:spLocks noGrp="1" noChangeArrowheads="1"/>
          </p:cNvSpPr>
          <p:nvPr>
            <p:ph type="body" idx="1"/>
          </p:nvPr>
        </p:nvSpPr>
        <p:spPr>
          <a:xfrm>
            <a:off x="1811524" y="1479233"/>
            <a:ext cx="8568952" cy="4565650"/>
          </a:xfrm>
        </p:spPr>
        <p:txBody>
          <a:bodyPr/>
          <a:lstStyle/>
          <a:p>
            <a:pPr eaLnBrk="1" hangingPunct="1">
              <a:lnSpc>
                <a:spcPct val="120000"/>
              </a:lnSpc>
              <a:buSzPct val="90000"/>
              <a:buFont typeface="Wingdings" panose="05000000000000000000" pitchFamily="2" charset="2"/>
              <a:buChar char="§"/>
              <a:defRPr/>
            </a:pPr>
            <a:r>
              <a:rPr lang="zh-CN" altLang="en-US" sz="2400" b="1" dirty="0">
                <a:solidFill>
                  <a:srgbClr val="0000FF"/>
                </a:solidFill>
                <a:latin typeface="Verdana" panose="020B0604030504040204" pitchFamily="34" charset="0"/>
                <a:ea typeface="楷体_GB2312" pitchFamily="49" charset="-122"/>
              </a:rPr>
              <a:t>此图中没有表示出当收方又到一个错帧，向发方回应</a:t>
            </a:r>
            <a:r>
              <a:rPr lang="en-US" altLang="zh-CN" sz="2400" dirty="0">
                <a:solidFill>
                  <a:srgbClr val="0000FF"/>
                </a:solidFill>
                <a:latin typeface="Verdana" panose="020B0604030504040204" pitchFamily="34" charset="0"/>
                <a:ea typeface="楷体_GB2312" pitchFamily="49" charset="-122"/>
              </a:rPr>
              <a:t>NAK</a:t>
            </a:r>
            <a:r>
              <a:rPr lang="zh-CN" altLang="en-US" sz="2400" b="1" dirty="0">
                <a:solidFill>
                  <a:srgbClr val="0000FF"/>
                </a:solidFill>
                <a:latin typeface="Verdana" panose="020B0604030504040204" pitchFamily="34" charset="0"/>
                <a:ea typeface="楷体_GB2312" pitchFamily="49" charset="-122"/>
              </a:rPr>
              <a:t>帧，</a:t>
            </a:r>
            <a:endParaRPr lang="zh-CN" altLang="en-US" sz="2400" b="1" dirty="0">
              <a:solidFill>
                <a:srgbClr val="0000FF"/>
              </a:solidFill>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计数器为了解决死锁问题，重发时间选择重要，一般选为略大于“从发完数据帧到收到回答帧所需的平均时间”。</a:t>
            </a:r>
            <a:endParaRPr lang="zh-CN" altLang="en-US" sz="2400" dirty="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重复帧或</a:t>
            </a:r>
            <a:r>
              <a:rPr lang="zh-CN" altLang="en-US" sz="2400" dirty="0">
                <a:latin typeface="Verdana" panose="020B0604030504040204" pitchFamily="34" charset="0"/>
                <a:ea typeface="楷体_GB2312" pitchFamily="49" charset="-122"/>
              </a:rPr>
              <a:t>。应答帧丢失，造成收方收到两个相同的帧。</a:t>
            </a:r>
            <a:endParaRPr lang="zh-CN" altLang="en-US" sz="2400" dirty="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超时重传时间设置太短</a:t>
            </a:r>
            <a:endParaRPr lang="zh-CN" altLang="en-US" sz="2400" dirty="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None/>
              <a:defRPr/>
            </a:pPr>
            <a:r>
              <a:rPr lang="zh-CN" altLang="en-US" sz="2400" dirty="0">
                <a:solidFill>
                  <a:srgbClr val="0000FF"/>
                </a:solidFill>
                <a:effectLst>
                  <a:outerShdw blurRad="38100" dist="38100" dir="2700000" algn="tl">
                    <a:srgbClr val="C0C0C0"/>
                  </a:outerShdw>
                </a:effectLst>
                <a:latin typeface="Verdana" panose="020B0604030504040204" pitchFamily="34" charset="0"/>
                <a:ea typeface="楷体_GB2312" pitchFamily="49" charset="-122"/>
              </a:rPr>
              <a:t>     解决办法：</a:t>
            </a:r>
            <a:r>
              <a:rPr lang="zh-CN" altLang="en-US" sz="2400" dirty="0">
                <a:latin typeface="Verdana" panose="020B0604030504040204" pitchFamily="34" charset="0"/>
                <a:ea typeface="楷体_GB2312" pitchFamily="49" charset="-122"/>
              </a:rPr>
              <a:t>对发送的每一帧加序号。</a:t>
            </a:r>
            <a:endParaRPr lang="zh-CN" altLang="en-US" sz="2400" dirty="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400" dirty="0">
                <a:latin typeface="Verdana" panose="020B0604030504040204" pitchFamily="34" charset="0"/>
                <a:ea typeface="楷体_GB2312" pitchFamily="49" charset="-122"/>
              </a:rPr>
              <a:t>本协议只需</a:t>
            </a:r>
            <a:r>
              <a:rPr lang="zh-CN" altLang="en-US" sz="2400" dirty="0">
                <a:solidFill>
                  <a:srgbClr val="FF0000"/>
                </a:solidFill>
                <a:latin typeface="Verdana" panose="020B0604030504040204" pitchFamily="34" charset="0"/>
                <a:ea typeface="楷体_GB2312" pitchFamily="49" charset="-122"/>
              </a:rPr>
              <a:t>一位</a:t>
            </a:r>
            <a:r>
              <a:rPr lang="zh-CN" altLang="en-US" sz="2400" dirty="0">
                <a:latin typeface="Verdana" panose="020B0604030504040204" pitchFamily="34" charset="0"/>
                <a:ea typeface="楷体_GB2312" pitchFamily="49" charset="-122"/>
              </a:rPr>
              <a:t>做序号。</a:t>
            </a:r>
            <a:endParaRPr lang="zh-CN" altLang="en-US" sz="2400" dirty="0">
              <a:latin typeface="Verdana" panose="020B0604030504040204" pitchFamily="34" charset="0"/>
              <a:ea typeface="楷体_GB2312" pitchFamily="49" charset="-122"/>
            </a:endParaRP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403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FD1425F-1168-4825-B6F9-629C780B8213}"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14E3358A-27E3-4206-A902-549CF9555E5C}" type="datetime1">
              <a:rPr lang="zh-CN" altLang="en-US"/>
            </a:fld>
            <a:endParaRPr lang="en-US" altLang="zh-CN"/>
          </a:p>
        </p:txBody>
      </p:sp>
      <p:sp>
        <p:nvSpPr>
          <p:cNvPr id="924676" name="Rectangle 4"/>
          <p:cNvSpPr>
            <a:spLocks noChangeArrowheads="1"/>
          </p:cNvSpPr>
          <p:nvPr/>
        </p:nvSpPr>
        <p:spPr bwMode="auto">
          <a:xfrm>
            <a:off x="2279651" y="981076"/>
            <a:ext cx="7777163" cy="4308475"/>
          </a:xfrm>
          <a:prstGeom prst="rect">
            <a:avLst/>
          </a:prstGeom>
          <a:noFill/>
          <a:ln>
            <a:noFill/>
          </a:ln>
          <a:effectLst/>
        </p:spPr>
        <p:txBody>
          <a:bodyPr lIns="0" tIns="0" rIns="0" bIns="0" anchor="ctr">
            <a:spAutoFit/>
          </a:bodyPr>
          <a:lstStyle/>
          <a:p>
            <a:pPr indent="276225" eaLnBrk="1" hangingPunct="1">
              <a:lnSpc>
                <a:spcPct val="120000"/>
              </a:lnSpc>
              <a:spcBef>
                <a:spcPct val="20000"/>
              </a:spcBef>
              <a:defRPr/>
            </a:pPr>
            <a:r>
              <a:rPr lang="en-US" altLang="zh-CN" sz="2400">
                <a:latin typeface="Arial" panose="020B0604020202020204" pitchFamily="34" charset="0"/>
              </a:rPr>
              <a:t>     </a:t>
            </a:r>
            <a:r>
              <a:rPr lang="zh-CN" altLang="en-US" sz="2400">
                <a:solidFill>
                  <a:srgbClr val="0000FF"/>
                </a:solidFill>
                <a:latin typeface="Arial" panose="020B0604020202020204" pitchFamily="34" charset="0"/>
              </a:rPr>
              <a:t>假设</a:t>
            </a:r>
            <a:r>
              <a:rPr lang="en-US" altLang="zh-CN" sz="2400">
                <a:solidFill>
                  <a:srgbClr val="0000FF"/>
                </a:solidFill>
                <a:latin typeface="Arial" panose="020B0604020202020204" pitchFamily="34" charset="0"/>
              </a:rPr>
              <a:t>A</a:t>
            </a:r>
            <a:r>
              <a:rPr lang="zh-CN" altLang="en-US" sz="2400">
                <a:solidFill>
                  <a:srgbClr val="0000FF"/>
                </a:solidFill>
                <a:latin typeface="Arial" panose="020B0604020202020204" pitchFamily="34" charset="0"/>
              </a:rPr>
              <a:t>向</a:t>
            </a:r>
            <a:r>
              <a:rPr lang="en-US" altLang="zh-CN" sz="2400">
                <a:solidFill>
                  <a:srgbClr val="0000FF"/>
                </a:solidFill>
                <a:latin typeface="Arial" panose="020B0604020202020204" pitchFamily="34" charset="0"/>
              </a:rPr>
              <a:t>B</a:t>
            </a:r>
            <a:r>
              <a:rPr lang="zh-CN" altLang="en-US" sz="2400">
                <a:solidFill>
                  <a:srgbClr val="0000FF"/>
                </a:solidFill>
                <a:latin typeface="Arial" panose="020B0604020202020204" pitchFamily="34" charset="0"/>
              </a:rPr>
              <a:t>发数据：</a:t>
            </a:r>
            <a:endParaRPr lang="zh-CN" altLang="en-US" sz="2400">
              <a:solidFill>
                <a:srgbClr val="0000FF"/>
              </a:solidFill>
              <a:latin typeface="Arial" panose="020B0604020202020204" pitchFamily="34" charset="0"/>
            </a:endParaRPr>
          </a:p>
          <a:p>
            <a:pPr indent="276225" eaLnBrk="1" hangingPunct="1">
              <a:lnSpc>
                <a:spcPct val="120000"/>
              </a:lnSpc>
              <a:spcBef>
                <a:spcPct val="20000"/>
              </a:spcBef>
              <a:defRPr/>
            </a:pPr>
            <a:r>
              <a:rPr lang="zh-CN" altLang="en-US" sz="2400">
                <a:latin typeface="Arial" panose="020B0604020202020204" pitchFamily="34" charset="0"/>
              </a:rPr>
              <a:t>     </a:t>
            </a:r>
            <a:r>
              <a:rPr lang="en-US" altLang="zh-CN" sz="2400">
                <a:latin typeface="Arial" panose="020B0604020202020204" pitchFamily="34" charset="0"/>
              </a:rPr>
              <a:t>B</a:t>
            </a:r>
            <a:r>
              <a:rPr lang="zh-CN" altLang="en-US" sz="2400">
                <a:latin typeface="Arial" panose="020B0604020202020204" pitchFamily="34" charset="0"/>
              </a:rPr>
              <a:t>在收到错误序号的数据帧时，除应丢弃这个错误序号的数据帧外，</a:t>
            </a:r>
            <a:r>
              <a:rPr lang="zh-CN" altLang="en-US" sz="2400">
                <a:solidFill>
                  <a:srgbClr val="0000FF"/>
                </a:solidFill>
                <a:effectLst>
                  <a:outerShdw blurRad="38100" dist="38100" dir="2700000" algn="tl">
                    <a:srgbClr val="C0C0C0"/>
                  </a:outerShdw>
                </a:effectLst>
                <a:latin typeface="Arial" panose="020B0604020202020204" pitchFamily="34" charset="0"/>
              </a:rPr>
              <a:t>还必须重复发送</a:t>
            </a:r>
            <a:r>
              <a:rPr lang="zh-CN" altLang="en-US" sz="2400">
                <a:latin typeface="Arial" panose="020B0604020202020204" pitchFamily="34" charset="0"/>
              </a:rPr>
              <a:t>前面已经发送过的最后一个确认帧。</a:t>
            </a:r>
            <a:endParaRPr lang="zh-CN" altLang="en-US" sz="2400">
              <a:latin typeface="Arial" panose="020B0604020202020204" pitchFamily="34" charset="0"/>
            </a:endParaRPr>
          </a:p>
          <a:p>
            <a:pPr indent="276225" eaLnBrk="1" hangingPunct="1">
              <a:lnSpc>
                <a:spcPct val="120000"/>
              </a:lnSpc>
              <a:spcBef>
                <a:spcPct val="20000"/>
              </a:spcBef>
              <a:defRPr/>
            </a:pPr>
            <a:r>
              <a:rPr lang="zh-CN" altLang="en-US" sz="2400">
                <a:latin typeface="Arial" panose="020B0604020202020204" pitchFamily="34" charset="0"/>
              </a:rPr>
              <a:t>     由此可见，确认帧必须表明这样两个含义：</a:t>
            </a:r>
            <a:endParaRPr lang="zh-CN" altLang="en-US" sz="2400">
              <a:latin typeface="Arial" panose="020B0604020202020204" pitchFamily="34" charset="0"/>
            </a:endParaRPr>
          </a:p>
          <a:p>
            <a:pPr indent="276225" eaLnBrk="1" hangingPunct="1">
              <a:lnSpc>
                <a:spcPct val="120000"/>
              </a:lnSpc>
              <a:spcBef>
                <a:spcPct val="20000"/>
              </a:spcBef>
              <a:defRPr/>
            </a:pPr>
            <a:r>
              <a:rPr lang="zh-CN" altLang="en-US" sz="2400">
                <a:latin typeface="Arial" panose="020B0604020202020204" pitchFamily="34" charset="0"/>
              </a:rPr>
              <a:t> ①第</a:t>
            </a:r>
            <a:r>
              <a:rPr lang="en-US" altLang="zh-CN" sz="2400" i="1">
                <a:latin typeface="Arial" panose="020B0604020202020204" pitchFamily="34" charset="0"/>
              </a:rPr>
              <a:t>n</a:t>
            </a:r>
            <a:r>
              <a:rPr lang="en-US" altLang="zh-CN" sz="2400">
                <a:latin typeface="Arial" panose="020B0604020202020204" pitchFamily="34" charset="0"/>
              </a:rPr>
              <a:t> – 1</a:t>
            </a:r>
            <a:r>
              <a:rPr lang="zh-CN" altLang="en-US" sz="2400">
                <a:latin typeface="Arial" panose="020B0604020202020204" pitchFamily="34" charset="0"/>
              </a:rPr>
              <a:t>号帧和这以前的各帧都收到了。</a:t>
            </a:r>
            <a:endParaRPr lang="zh-CN" altLang="en-US" sz="2400">
              <a:latin typeface="Arial" panose="020B0604020202020204" pitchFamily="34" charset="0"/>
            </a:endParaRPr>
          </a:p>
          <a:p>
            <a:pPr indent="276225" eaLnBrk="1" hangingPunct="1">
              <a:lnSpc>
                <a:spcPct val="120000"/>
              </a:lnSpc>
              <a:spcBef>
                <a:spcPct val="20000"/>
              </a:spcBef>
              <a:defRPr/>
            </a:pPr>
            <a:r>
              <a:rPr lang="zh-CN" altLang="en-US" sz="2400">
                <a:latin typeface="Arial" panose="020B0604020202020204" pitchFamily="34" charset="0"/>
              </a:rPr>
              <a:t> ②我期望收到第</a:t>
            </a:r>
            <a:r>
              <a:rPr lang="en-US" altLang="zh-CN" sz="2400" i="1">
                <a:latin typeface="Arial" panose="020B0604020202020204" pitchFamily="34" charset="0"/>
              </a:rPr>
              <a:t>n</a:t>
            </a:r>
            <a:r>
              <a:rPr lang="zh-CN" altLang="en-US" sz="2400">
                <a:latin typeface="Arial" panose="020B0604020202020204" pitchFamily="34" charset="0"/>
              </a:rPr>
              <a:t>号帧。确认帧还可能包含这样的含义。</a:t>
            </a:r>
            <a:endParaRPr lang="zh-CN" altLang="en-US" sz="2400">
              <a:latin typeface="Arial" panose="020B0604020202020204" pitchFamily="34" charset="0"/>
            </a:endParaRPr>
          </a:p>
          <a:p>
            <a:pPr indent="276225" eaLnBrk="1" hangingPunct="1">
              <a:lnSpc>
                <a:spcPct val="120000"/>
              </a:lnSpc>
              <a:spcBef>
                <a:spcPct val="20000"/>
              </a:spcBef>
              <a:defRPr/>
            </a:pPr>
            <a:r>
              <a:rPr lang="zh-CN" altLang="en-US" sz="2400">
                <a:latin typeface="Arial" panose="020B0604020202020204" pitchFamily="34" charset="0"/>
              </a:rPr>
              <a:t>     当</a:t>
            </a:r>
            <a:r>
              <a:rPr lang="en-US" altLang="zh-CN" sz="2400">
                <a:latin typeface="Arial" panose="020B0604020202020204" pitchFamily="34" charset="0"/>
              </a:rPr>
              <a:t>A</a:t>
            </a:r>
            <a:r>
              <a:rPr lang="zh-CN" altLang="en-US" sz="2400">
                <a:latin typeface="Arial" panose="020B0604020202020204" pitchFamily="34" charset="0"/>
              </a:rPr>
              <a:t>和</a:t>
            </a:r>
            <a:r>
              <a:rPr lang="en-US" altLang="zh-CN" sz="2400">
                <a:latin typeface="Arial" panose="020B0604020202020204" pitchFamily="34" charset="0"/>
              </a:rPr>
              <a:t>B</a:t>
            </a:r>
            <a:r>
              <a:rPr lang="zh-CN" altLang="en-US" sz="2400">
                <a:latin typeface="Arial" panose="020B0604020202020204" pitchFamily="34" charset="0"/>
              </a:rPr>
              <a:t>都有数据帧向对方发送时，确认信息可以放在数据帧中</a:t>
            </a:r>
            <a:r>
              <a:rPr lang="zh-CN" altLang="en-US" sz="2400">
                <a:solidFill>
                  <a:srgbClr val="FF3300"/>
                </a:solidFill>
                <a:effectLst>
                  <a:outerShdw blurRad="38100" dist="38100" dir="2700000" algn="tl">
                    <a:srgbClr val="C0C0C0"/>
                  </a:outerShdw>
                </a:effectLst>
                <a:latin typeface="Arial" panose="020B0604020202020204" pitchFamily="34" charset="0"/>
              </a:rPr>
              <a:t>捎带</a:t>
            </a:r>
            <a:r>
              <a:rPr lang="zh-CN" altLang="en-US" sz="2400">
                <a:latin typeface="Arial" panose="020B0604020202020204" pitchFamily="34" charset="0"/>
              </a:rPr>
              <a:t>地发送给对方。 </a:t>
            </a:r>
            <a:endParaRPr lang="zh-CN" altLang="en-US" sz="2400">
              <a:latin typeface="Arial" panose="020B0604020202020204" pitchFamily="34" charset="0"/>
            </a:endParaRPr>
          </a:p>
        </p:txBody>
      </p:sp>
    </p:spTree>
  </p:cSld>
  <p:clrMapOvr>
    <a:masterClrMapping/>
  </p:clrMapOvr>
  <p:transition spd="slow">
    <p:pull dir="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pic>
        <p:nvPicPr>
          <p:cNvPr id="9" name="图片 8"/>
          <p:cNvPicPr>
            <a:picLocks noChangeAspect="1"/>
          </p:cNvPicPr>
          <p:nvPr/>
        </p:nvPicPr>
        <p:blipFill rotWithShape="1">
          <a:blip r:embed="rId1"/>
          <a:srcRect r="14357"/>
          <a:stretch>
            <a:fillRect/>
          </a:stretch>
        </p:blipFill>
        <p:spPr>
          <a:xfrm>
            <a:off x="814013" y="153268"/>
            <a:ext cx="10619237" cy="5865836"/>
          </a:xfrm>
          <a:prstGeom prst="rect">
            <a:avLst/>
          </a:prstGeom>
        </p:spPr>
      </p:pic>
    </p:spTree>
  </p:cSld>
  <p:clrMapOvr>
    <a:masterClrMapping/>
  </p:clrMapOvr>
  <p:transition spd="slow">
    <p:pull dir="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rotWithShape="1">
          <a:blip r:embed="rId1"/>
          <a:srcRect r="7609"/>
          <a:stretch>
            <a:fillRect/>
          </a:stretch>
        </p:blipFill>
        <p:spPr>
          <a:xfrm>
            <a:off x="913165" y="152400"/>
            <a:ext cx="10365670" cy="5400600"/>
          </a:xfrm>
          <a:prstGeom prst="rect">
            <a:avLst/>
          </a:prstGeom>
        </p:spPr>
      </p:pic>
    </p:spTree>
  </p:cSld>
  <p:clrMapOvr>
    <a:masterClrMapping/>
  </p:clrMapOvr>
  <p:transition spd="slow">
    <p:pull dir="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rotWithShape="1">
          <a:blip r:embed="rId1"/>
          <a:srcRect r="4434"/>
          <a:stretch>
            <a:fillRect/>
          </a:stretch>
        </p:blipFill>
        <p:spPr>
          <a:xfrm>
            <a:off x="1271464" y="260648"/>
            <a:ext cx="10073203" cy="5832648"/>
          </a:xfrm>
          <a:prstGeom prst="rect">
            <a:avLst/>
          </a:prstGeom>
        </p:spPr>
      </p:pic>
    </p:spTree>
  </p:cSld>
  <p:clrMapOvr>
    <a:masterClrMapping/>
  </p:clrMapOvr>
  <p:transition spd="slow">
    <p:pull dir="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rotWithShape="1">
          <a:blip r:embed="rId1"/>
          <a:srcRect t="10803"/>
          <a:stretch>
            <a:fillRect/>
          </a:stretch>
        </p:blipFill>
        <p:spPr>
          <a:xfrm>
            <a:off x="1841075" y="2172711"/>
            <a:ext cx="8509850" cy="3816424"/>
          </a:xfrm>
          <a:prstGeom prst="rect">
            <a:avLst/>
          </a:prstGeom>
        </p:spPr>
      </p:pic>
      <p:pic>
        <p:nvPicPr>
          <p:cNvPr id="6" name="图片 5"/>
          <p:cNvPicPr>
            <a:picLocks noChangeAspect="1"/>
          </p:cNvPicPr>
          <p:nvPr/>
        </p:nvPicPr>
        <p:blipFill rotWithShape="1">
          <a:blip r:embed="rId2"/>
          <a:srcRect l="11345" t="58931" r="55903" b="5711"/>
          <a:stretch>
            <a:fillRect/>
          </a:stretch>
        </p:blipFill>
        <p:spPr>
          <a:xfrm>
            <a:off x="2279576" y="562351"/>
            <a:ext cx="2952328" cy="1610361"/>
          </a:xfrm>
          <a:prstGeom prst="rect">
            <a:avLst/>
          </a:prstGeom>
        </p:spPr>
      </p:pic>
    </p:spTree>
  </p:cSld>
  <p:clrMapOvr>
    <a:masterClrMapping/>
  </p:clrMapOvr>
  <p:transition spd="slow">
    <p:pull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kumimoji="1" lang="zh-CN" altLang="en-US" dirty="0"/>
          </a:p>
        </p:txBody>
      </p:sp>
      <p:sp>
        <p:nvSpPr>
          <p:cNvPr id="3" name="内容占位符 2"/>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solidFill>
                  <a:srgbClr val="C00000"/>
                </a:solidFill>
              </a:rPr>
              <a:t>3.4 </a:t>
            </a:r>
            <a:r>
              <a:rPr kumimoji="1" lang="zh-CN" altLang="zh-CN" dirty="0">
                <a:solidFill>
                  <a:srgbClr val="C00000"/>
                </a:solidFill>
              </a:rPr>
              <a:t>滑动窗口协议</a:t>
            </a:r>
            <a:endParaRPr lang="zh-CN" altLang="en-US" sz="2400" dirty="0">
              <a:solidFill>
                <a:srgbClr val="C00000"/>
              </a:solidFill>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t>3.5 </a:t>
            </a:r>
            <a:r>
              <a:rPr kumimoji="1" lang="zh-CN" altLang="zh-CN" dirty="0"/>
              <a:t>数据链路协议实例</a:t>
            </a:r>
            <a:endParaRPr kumimoji="1" lang="zh-CN"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4608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DC67153-1410-4D8C-B305-7FD3E3EA63D1}"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31214D5B-4C82-41E1-A9DB-82FB3C0D44F4}" type="datetime1">
              <a:rPr lang="zh-CN" altLang="en-US"/>
            </a:fld>
            <a:endParaRPr lang="en-US" altLang="zh-CN"/>
          </a:p>
        </p:txBody>
      </p:sp>
      <p:sp>
        <p:nvSpPr>
          <p:cNvPr id="865282" name="Rectangle 2"/>
          <p:cNvSpPr>
            <a:spLocks noGrp="1" noChangeArrowheads="1"/>
          </p:cNvSpPr>
          <p:nvPr>
            <p:ph type="title"/>
          </p:nvPr>
        </p:nvSpPr>
        <p:spPr>
          <a:xfrm>
            <a:off x="1925782" y="472281"/>
            <a:ext cx="7715250" cy="588963"/>
          </a:xfrm>
        </p:spPr>
        <p:txBody>
          <a:bodyPr>
            <a:normAutofit fontScale="90000"/>
          </a:bodyPr>
          <a:lstStyle/>
          <a:p>
            <a:pPr algn="ctr" eaLnBrk="1" hangingPunct="1">
              <a:defRPr/>
            </a:pPr>
            <a:r>
              <a:rPr lang="zh-CN" altLang="en-US" b="1" dirty="0">
                <a:solidFill>
                  <a:srgbClr val="FF0000"/>
                </a:solidFill>
                <a:latin typeface="Georgia" panose="02040502050405020303" pitchFamily="18" charset="0"/>
              </a:rPr>
              <a:t>滑动窗口协议</a:t>
            </a:r>
            <a:endParaRPr lang="zh-CN" altLang="en-US" b="1" dirty="0">
              <a:solidFill>
                <a:srgbClr val="FF0000"/>
              </a:solidFill>
              <a:latin typeface="Georgia" panose="02040502050405020303" pitchFamily="18" charset="0"/>
            </a:endParaRPr>
          </a:p>
        </p:txBody>
      </p:sp>
      <p:sp>
        <p:nvSpPr>
          <p:cNvPr id="865283" name="Rectangle 3"/>
          <p:cNvSpPr>
            <a:spLocks noGrp="1" noChangeArrowheads="1"/>
          </p:cNvSpPr>
          <p:nvPr>
            <p:ph type="body" idx="1"/>
          </p:nvPr>
        </p:nvSpPr>
        <p:spPr>
          <a:xfrm>
            <a:off x="2286000" y="2057400"/>
            <a:ext cx="7772400" cy="2895600"/>
          </a:xfrm>
        </p:spPr>
        <p:txBody>
          <a:bodyPr/>
          <a:lstStyle/>
          <a:p>
            <a:pPr eaLnBrk="1" hangingPunct="1">
              <a:lnSpc>
                <a:spcPct val="115000"/>
              </a:lnSpc>
              <a:buFont typeface="Wingdings" panose="05000000000000000000" pitchFamily="2" charset="2"/>
              <a:buNone/>
              <a:defRPr/>
            </a:pPr>
            <a:r>
              <a:rPr lang="zh-CN" altLang="en-US" sz="2800" b="1" dirty="0">
                <a:solidFill>
                  <a:srgbClr val="FF0000"/>
                </a:solidFill>
                <a:effectLst>
                  <a:outerShdw blurRad="38100" dist="38100" dir="2700000" algn="tl">
                    <a:srgbClr val="C0C0C0"/>
                  </a:outerShdw>
                </a:effectLst>
                <a:latin typeface="Verdana" panose="020B0604030504040204" pitchFamily="34" charset="0"/>
                <a:ea typeface="楷体_GB2312" pitchFamily="49" charset="-122"/>
              </a:rPr>
              <a:t>一．条件：</a:t>
            </a:r>
            <a:endParaRPr lang="zh-CN" altLang="en-US" sz="2800" b="1" dirty="0">
              <a:solidFill>
                <a:srgbClr val="FF0000"/>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a:t>
            </a:r>
            <a:r>
              <a:rPr lang="zh-CN" altLang="en-US" sz="2400" b="1" dirty="0">
                <a:solidFill>
                  <a:srgbClr val="FF3300"/>
                </a:solidFill>
                <a:effectLst>
                  <a:outerShdw blurRad="38100" dist="38100" dir="2700000" algn="tl">
                    <a:srgbClr val="C0C0C0"/>
                  </a:outerShdw>
                </a:effectLst>
                <a:latin typeface="Verdana" panose="020B0604030504040204" pitchFamily="34" charset="0"/>
                <a:ea typeface="楷体_GB2312" pitchFamily="49" charset="-122"/>
              </a:rPr>
              <a:t>双向数据传送；</a:t>
            </a:r>
            <a:endParaRPr lang="zh-CN" altLang="en-US" sz="2400" b="1" dirty="0">
              <a:solidFill>
                <a:srgbClr val="FF3300"/>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defRPr/>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．网络层总是准备好分组发送；</a:t>
            </a:r>
            <a:endParaRPr lang="zh-CN" altLang="en-US" sz="2400" dirty="0">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defRPr/>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3</a:t>
            </a:r>
            <a:r>
              <a:rPr lang="zh-CN" altLang="en-US" sz="2400" dirty="0">
                <a:solidFill>
                  <a:srgbClr val="0000FF"/>
                </a:solidFill>
                <a:latin typeface="Verdana" panose="020B0604030504040204" pitchFamily="34" charset="0"/>
                <a:ea typeface="楷体_GB2312" pitchFamily="49" charset="-122"/>
              </a:rPr>
              <a:t>．有错通道；</a:t>
            </a:r>
            <a:endParaRPr lang="zh-CN" altLang="en-US" sz="2400" dirty="0">
              <a:solidFill>
                <a:srgbClr val="0000FF"/>
              </a:solidFill>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defRPr/>
            </a:pPr>
            <a:r>
              <a:rPr lang="zh-CN" altLang="en-US" sz="2400" dirty="0">
                <a:solidFill>
                  <a:schemeClr val="hlink"/>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DLL</a:t>
            </a:r>
            <a:r>
              <a:rPr lang="zh-CN" altLang="en-US" sz="2400" dirty="0">
                <a:solidFill>
                  <a:srgbClr val="0000FF"/>
                </a:solidFill>
                <a:latin typeface="Verdana" panose="020B0604030504040204" pitchFamily="34" charset="0"/>
                <a:ea typeface="楷体_GB2312" pitchFamily="49" charset="-122"/>
              </a:rPr>
              <a:t>层处理速度有限</a:t>
            </a:r>
            <a:r>
              <a:rPr lang="zh-CN" altLang="en-US" sz="2400" dirty="0">
                <a:latin typeface="Verdana" panose="020B0604030504040204" pitchFamily="34" charset="0"/>
                <a:ea typeface="楷体_GB2312" pitchFamily="49" charset="-122"/>
              </a:rPr>
              <a:t> 。        </a:t>
            </a:r>
            <a:endParaRPr lang="zh-CN" altLang="en-US" sz="2400" dirty="0">
              <a:latin typeface="Verdana" panose="020B0604030504040204" pitchFamily="34" charset="0"/>
              <a:ea typeface="楷体_GB2312" pitchFamily="49" charset="-122"/>
            </a:endParaRPr>
          </a:p>
        </p:txBody>
      </p:sp>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pic>
        <p:nvPicPr>
          <p:cNvPr id="7" name="图片 6"/>
          <p:cNvPicPr>
            <a:picLocks noChangeAspect="1"/>
          </p:cNvPicPr>
          <p:nvPr/>
        </p:nvPicPr>
        <p:blipFill rotWithShape="1">
          <a:blip r:embed="rId1"/>
          <a:srcRect r="11145"/>
          <a:stretch>
            <a:fillRect/>
          </a:stretch>
        </p:blipFill>
        <p:spPr>
          <a:xfrm>
            <a:off x="767408" y="0"/>
            <a:ext cx="10335618" cy="5918876"/>
          </a:xfrm>
          <a:prstGeom prst="rect">
            <a:avLst/>
          </a:prstGeom>
        </p:spPr>
      </p:pic>
    </p:spTree>
  </p:cSld>
  <p:clrMapOvr>
    <a:masterClrMapping/>
  </p:clrMapOvr>
  <p:transition spd="slow">
    <p:pull dir="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fld>
            <a:endParaRPr lang="en-US" altLang="zh-CN"/>
          </a:p>
        </p:txBody>
      </p:sp>
      <p:pic>
        <p:nvPicPr>
          <p:cNvPr id="7" name="图片 6"/>
          <p:cNvPicPr>
            <a:picLocks noChangeAspect="1"/>
          </p:cNvPicPr>
          <p:nvPr/>
        </p:nvPicPr>
        <p:blipFill>
          <a:blip r:embed="rId1"/>
          <a:stretch>
            <a:fillRect/>
          </a:stretch>
        </p:blipFill>
        <p:spPr>
          <a:xfrm>
            <a:off x="1271464" y="1268760"/>
            <a:ext cx="10112622" cy="4320479"/>
          </a:xfrm>
          <a:prstGeom prst="rect">
            <a:avLst/>
          </a:prstGeom>
        </p:spPr>
      </p:pic>
    </p:spTree>
  </p:cSld>
  <p:clrMapOvr>
    <a:masterClrMapping/>
  </p:clrMapOvr>
  <p:transition spd="slow">
    <p:pull dir="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4710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C883D96-4F6D-4B0E-915E-F2AB330BAF87}"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8B4918FA-7971-4BC2-A965-1C4CEEF4329B}" type="datetime1">
              <a:rPr lang="zh-CN" altLang="en-US"/>
            </a:fld>
            <a:endParaRPr lang="en-US" altLang="zh-CN"/>
          </a:p>
        </p:txBody>
      </p:sp>
      <p:sp>
        <p:nvSpPr>
          <p:cNvPr id="866306" name="Rectangle 2"/>
          <p:cNvSpPr>
            <a:spLocks noGrp="1" noChangeArrowheads="1"/>
          </p:cNvSpPr>
          <p:nvPr>
            <p:ph type="title"/>
          </p:nvPr>
        </p:nvSpPr>
        <p:spPr>
          <a:xfrm>
            <a:off x="2133600" y="728137"/>
            <a:ext cx="6699250" cy="482600"/>
          </a:xfrm>
        </p:spPr>
        <p:txBody>
          <a:bodyPr/>
          <a:lstStyle/>
          <a:p>
            <a:pPr eaLnBrk="1" hangingPunct="1">
              <a:defRPr/>
            </a:pPr>
            <a:r>
              <a:rPr lang="zh-CN" altLang="en-US" sz="2800" b="1">
                <a:solidFill>
                  <a:srgbClr val="0000FF"/>
                </a:solidFill>
              </a:rPr>
              <a:t>二、窗口 </a:t>
            </a:r>
            <a:r>
              <a:rPr lang="en-US" altLang="zh-CN" sz="2400">
                <a:solidFill>
                  <a:srgbClr val="0000FF"/>
                </a:solidFill>
              </a:rPr>
              <a:t>(</a:t>
            </a:r>
            <a:r>
              <a:rPr lang="zh-CN" altLang="en-US" sz="2400">
                <a:solidFill>
                  <a:srgbClr val="0000FF"/>
                </a:solidFill>
              </a:rPr>
              <a:t>任何一端均有两个窗口</a:t>
            </a:r>
            <a:r>
              <a:rPr lang="en-US" altLang="zh-CN" sz="2400">
                <a:solidFill>
                  <a:srgbClr val="0000FF"/>
                </a:solidFill>
              </a:rPr>
              <a:t>)</a:t>
            </a:r>
            <a:endParaRPr lang="en-US" altLang="zh-CN" sz="2400">
              <a:solidFill>
                <a:srgbClr val="0000FF"/>
              </a:solidFill>
            </a:endParaRPr>
          </a:p>
        </p:txBody>
      </p:sp>
      <p:sp>
        <p:nvSpPr>
          <p:cNvPr id="866307" name="Rectangle 3"/>
          <p:cNvSpPr>
            <a:spLocks noGrp="1" noChangeArrowheads="1"/>
          </p:cNvSpPr>
          <p:nvPr>
            <p:ph type="body" idx="1"/>
          </p:nvPr>
        </p:nvSpPr>
        <p:spPr>
          <a:xfrm>
            <a:off x="2208213" y="1628775"/>
            <a:ext cx="7543800" cy="4489450"/>
          </a:xfrm>
        </p:spPr>
        <p:txBody>
          <a:bodyPr/>
          <a:lstStyle/>
          <a:p>
            <a:pPr eaLnBrk="1" hangingPunct="1">
              <a:lnSpc>
                <a:spcPct val="120000"/>
              </a:lnSpc>
              <a:buFont typeface="Wingdings" panose="05000000000000000000" pitchFamily="2" charset="2"/>
              <a:buNone/>
              <a:defRPr/>
            </a:pPr>
            <a:r>
              <a:rPr lang="en-US" altLang="zh-CN" sz="2400">
                <a:solidFill>
                  <a:srgbClr val="0000FF"/>
                </a:solidFill>
                <a:latin typeface="Verdana" panose="020B0604030504040204" pitchFamily="34" charset="0"/>
                <a:ea typeface="楷体_GB2312" pitchFamily="49" charset="-122"/>
              </a:rPr>
              <a:t>1</a:t>
            </a:r>
            <a:r>
              <a:rPr lang="zh-CN" altLang="en-US" sz="2400">
                <a:solidFill>
                  <a:srgbClr val="0000FF"/>
                </a:solidFill>
                <a:latin typeface="Verdana" panose="020B0604030504040204" pitchFamily="34" charset="0"/>
                <a:ea typeface="楷体_GB2312" pitchFamily="49" charset="-122"/>
              </a:rPr>
              <a:t>．</a:t>
            </a:r>
            <a:r>
              <a:rPr lang="zh-CN" altLang="en-US" sz="2400" b="1">
                <a:solidFill>
                  <a:srgbClr val="0000FF"/>
                </a:solidFill>
                <a:latin typeface="Verdana" panose="020B0604030504040204" pitchFamily="34" charset="0"/>
                <a:ea typeface="楷体_GB2312" pitchFamily="49" charset="-122"/>
              </a:rPr>
              <a:t>发送窗口</a:t>
            </a:r>
            <a:r>
              <a:rPr lang="en-US" altLang="zh-CN" sz="2400">
                <a:solidFill>
                  <a:srgbClr val="0000FF"/>
                </a:solidFill>
                <a:latin typeface="Verdana" panose="020B0604030504040204" pitchFamily="34" charset="0"/>
                <a:ea typeface="楷体_GB2312" pitchFamily="49" charset="-122"/>
              </a:rPr>
              <a:t>(W</a:t>
            </a:r>
            <a:r>
              <a:rPr lang="en-US" altLang="zh-CN" sz="2400" baseline="-25000">
                <a:solidFill>
                  <a:srgbClr val="0000FF"/>
                </a:solidFill>
                <a:latin typeface="Verdana" panose="020B0604030504040204" pitchFamily="34" charset="0"/>
                <a:ea typeface="楷体_GB2312" pitchFamily="49" charset="-122"/>
              </a:rPr>
              <a:t>T</a:t>
            </a:r>
            <a:r>
              <a:rPr lang="en-US" altLang="zh-CN" sz="2400">
                <a:solidFill>
                  <a:srgbClr val="0000FF"/>
                </a:solidFill>
                <a:latin typeface="Verdana" panose="020B0604030504040204" pitchFamily="34" charset="0"/>
                <a:ea typeface="楷体_GB2312" pitchFamily="49" charset="-122"/>
              </a:rPr>
              <a:t>)</a:t>
            </a:r>
            <a:r>
              <a:rPr lang="zh-CN" altLang="en-US" sz="2400">
                <a:solidFill>
                  <a:srgbClr val="0000FF"/>
                </a:solidFill>
                <a:latin typeface="Verdana" panose="020B0604030504040204" pitchFamily="34" charset="0"/>
                <a:ea typeface="楷体_GB2312" pitchFamily="49" charset="-122"/>
              </a:rPr>
              <a:t>：</a:t>
            </a:r>
            <a:r>
              <a:rPr lang="zh-CN" altLang="en-US" sz="2400">
                <a:solidFill>
                  <a:schemeClr val="tx2"/>
                </a:solidFill>
                <a:latin typeface="Verdana" panose="020B0604030504040204" pitchFamily="34" charset="0"/>
                <a:ea typeface="楷体_GB2312" pitchFamily="49" charset="-122"/>
              </a:rPr>
              <a:t>存放已发出但未确认的</a:t>
            </a:r>
            <a:r>
              <a:rPr lang="zh-CN" altLang="en-US" sz="2400">
                <a:solidFill>
                  <a:srgbClr val="0000FF"/>
                </a:solidFill>
                <a:effectLst>
                  <a:outerShdw blurRad="38100" dist="38100" dir="2700000" algn="tl">
                    <a:srgbClr val="C0C0C0"/>
                  </a:outerShdw>
                </a:effectLst>
                <a:latin typeface="Verdana" panose="020B0604030504040204" pitchFamily="34" charset="0"/>
                <a:ea typeface="楷体_GB2312" pitchFamily="49" charset="-122"/>
              </a:rPr>
              <a:t>帧序号</a:t>
            </a:r>
            <a:endParaRPr lang="zh-CN" altLang="en-US" sz="2400">
              <a:solidFill>
                <a:srgbClr val="0000FF"/>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a:latin typeface="Verdana" panose="020B0604030504040204" pitchFamily="34" charset="0"/>
                <a:ea typeface="楷体_GB2312" pitchFamily="49" charset="-122"/>
              </a:rPr>
              <a:t>	</a:t>
            </a:r>
            <a:r>
              <a:rPr lang="en-US" altLang="zh-CN" sz="2400">
                <a:latin typeface="Verdana" panose="020B0604030504040204" pitchFamily="34" charset="0"/>
                <a:ea typeface="楷体_GB2312" pitchFamily="49" charset="-122"/>
              </a:rPr>
              <a:t>1) </a:t>
            </a:r>
            <a:r>
              <a:rPr lang="zh-CN" altLang="en-US" sz="2400">
                <a:latin typeface="Verdana" panose="020B0604030504040204" pitchFamily="34" charset="0"/>
                <a:ea typeface="楷体_GB2312" pitchFamily="49" charset="-122"/>
              </a:rPr>
              <a:t>发帧</a:t>
            </a:r>
            <a:r>
              <a:rPr lang="en-US" altLang="zh-CN" sz="2400">
                <a:latin typeface="Verdana" panose="020B0604030504040204" pitchFamily="34" charset="0"/>
                <a:ea typeface="楷体_GB2312" pitchFamily="49" charset="-122"/>
              </a:rPr>
              <a:t>(</a:t>
            </a:r>
            <a:r>
              <a:rPr lang="zh-CN" altLang="en-US" sz="2400">
                <a:latin typeface="Verdana" panose="020B0604030504040204" pitchFamily="34" charset="0"/>
                <a:ea typeface="楷体_GB2312" pitchFamily="49" charset="-122"/>
              </a:rPr>
              <a:t>帧存入缓冲区</a:t>
            </a:r>
            <a:r>
              <a:rPr lang="en-US" altLang="zh-CN" sz="2400">
                <a:latin typeface="Verdana" panose="020B0604030504040204" pitchFamily="34" charset="0"/>
                <a:ea typeface="楷体_GB2312" pitchFamily="49" charset="-122"/>
              </a:rPr>
              <a:t>)</a:t>
            </a:r>
            <a:r>
              <a:rPr lang="zh-CN" altLang="en-US" sz="2400">
                <a:latin typeface="Verdana" panose="020B0604030504040204" pitchFamily="34" charset="0"/>
                <a:ea typeface="楷体_GB2312" pitchFamily="49" charset="-122"/>
              </a:rPr>
              <a:t>，上界加</a:t>
            </a:r>
            <a:r>
              <a:rPr lang="en-US" altLang="zh-CN" sz="2400">
                <a:latin typeface="Verdana" panose="020B0604030504040204" pitchFamily="34" charset="0"/>
                <a:ea typeface="楷体_GB2312" pitchFamily="49" charset="-122"/>
              </a:rPr>
              <a:t>1</a:t>
            </a:r>
            <a:endParaRPr lang="en-US" altLang="zh-CN" sz="240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en-US" altLang="zh-CN" sz="2400">
                <a:latin typeface="Verdana" panose="020B0604030504040204" pitchFamily="34" charset="0"/>
                <a:ea typeface="楷体_GB2312" pitchFamily="49" charset="-122"/>
              </a:rPr>
              <a:t>	2) </a:t>
            </a:r>
            <a:r>
              <a:rPr lang="zh-CN" altLang="en-US" sz="2400">
                <a:latin typeface="Verdana" panose="020B0604030504040204" pitchFamily="34" charset="0"/>
                <a:ea typeface="楷体_GB2312" pitchFamily="49" charset="-122"/>
              </a:rPr>
              <a:t>收到窗口下界</a:t>
            </a:r>
            <a:r>
              <a:rPr lang="en-US" altLang="zh-CN" sz="2400">
                <a:latin typeface="Verdana" panose="020B0604030504040204" pitchFamily="34" charset="0"/>
                <a:ea typeface="楷体_GB2312" pitchFamily="49" charset="-122"/>
              </a:rPr>
              <a:t>ACK</a:t>
            </a:r>
            <a:r>
              <a:rPr lang="zh-CN" altLang="en-US" sz="2400">
                <a:latin typeface="Verdana" panose="020B0604030504040204" pitchFamily="34" charset="0"/>
                <a:ea typeface="楷体_GB2312" pitchFamily="49" charset="-122"/>
              </a:rPr>
              <a:t>信息，下界加</a:t>
            </a:r>
            <a:r>
              <a:rPr lang="en-US" altLang="zh-CN" sz="2400">
                <a:latin typeface="Verdana" panose="020B0604030504040204" pitchFamily="34" charset="0"/>
                <a:ea typeface="楷体_GB2312" pitchFamily="49" charset="-122"/>
              </a:rPr>
              <a:t>1</a:t>
            </a:r>
            <a:endParaRPr lang="en-US" altLang="zh-CN" sz="240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en-US" altLang="zh-CN" sz="2400">
                <a:latin typeface="Verdana" panose="020B0604030504040204" pitchFamily="34" charset="0"/>
                <a:ea typeface="楷体_GB2312" pitchFamily="49" charset="-122"/>
              </a:rPr>
              <a:t>	3) </a:t>
            </a:r>
            <a:r>
              <a:rPr lang="zh-CN" altLang="en-US" sz="2400">
                <a:latin typeface="Verdana" panose="020B0604030504040204" pitchFamily="34" charset="0"/>
                <a:ea typeface="楷体_GB2312" pitchFamily="49" charset="-122"/>
              </a:rPr>
              <a:t>收到窗口外的</a:t>
            </a:r>
            <a:r>
              <a:rPr lang="en-US" altLang="zh-CN" sz="2400">
                <a:latin typeface="Verdana" panose="020B0604030504040204" pitchFamily="34" charset="0"/>
                <a:ea typeface="楷体_GB2312" pitchFamily="49" charset="-122"/>
              </a:rPr>
              <a:t>ACK</a:t>
            </a:r>
            <a:r>
              <a:rPr lang="zh-CN" altLang="en-US" sz="2400">
                <a:latin typeface="Verdana" panose="020B0604030504040204" pitchFamily="34" charset="0"/>
                <a:ea typeface="楷体_GB2312" pitchFamily="49" charset="-122"/>
              </a:rPr>
              <a:t>信息，丢掉</a:t>
            </a:r>
            <a:endParaRPr lang="zh-CN" altLang="en-US" sz="240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en-US" altLang="zh-CN" sz="2400">
                <a:solidFill>
                  <a:srgbClr val="0000FF"/>
                </a:solidFill>
                <a:latin typeface="Verdana" panose="020B0604030504040204" pitchFamily="34" charset="0"/>
                <a:ea typeface="楷体_GB2312" pitchFamily="49" charset="-122"/>
              </a:rPr>
              <a:t>2</a:t>
            </a:r>
            <a:r>
              <a:rPr lang="zh-CN" altLang="en-US" sz="2400">
                <a:solidFill>
                  <a:srgbClr val="0000FF"/>
                </a:solidFill>
                <a:latin typeface="Verdana" panose="020B0604030504040204" pitchFamily="34" charset="0"/>
                <a:ea typeface="楷体_GB2312" pitchFamily="49" charset="-122"/>
              </a:rPr>
              <a:t>．</a:t>
            </a:r>
            <a:r>
              <a:rPr lang="zh-CN" altLang="en-US" sz="2400" b="1">
                <a:solidFill>
                  <a:srgbClr val="0000FF"/>
                </a:solidFill>
                <a:latin typeface="Verdana" panose="020B0604030504040204" pitchFamily="34" charset="0"/>
                <a:ea typeface="楷体_GB2312" pitchFamily="49" charset="-122"/>
              </a:rPr>
              <a:t>接收窗口</a:t>
            </a:r>
            <a:r>
              <a:rPr lang="en-US" altLang="zh-CN" sz="2400">
                <a:solidFill>
                  <a:srgbClr val="0000FF"/>
                </a:solidFill>
                <a:latin typeface="Verdana" panose="020B0604030504040204" pitchFamily="34" charset="0"/>
                <a:ea typeface="楷体_GB2312" pitchFamily="49" charset="-122"/>
              </a:rPr>
              <a:t>(W</a:t>
            </a:r>
            <a:r>
              <a:rPr lang="en-US" altLang="zh-CN" sz="2400" baseline="-25000">
                <a:solidFill>
                  <a:srgbClr val="0000FF"/>
                </a:solidFill>
                <a:latin typeface="Verdana" panose="020B0604030504040204" pitchFamily="34" charset="0"/>
                <a:ea typeface="楷体_GB2312" pitchFamily="49" charset="-122"/>
              </a:rPr>
              <a:t>R</a:t>
            </a:r>
            <a:r>
              <a:rPr lang="en-US" altLang="zh-CN" sz="2400">
                <a:solidFill>
                  <a:srgbClr val="0000FF"/>
                </a:solidFill>
                <a:latin typeface="Verdana" panose="020B0604030504040204" pitchFamily="34" charset="0"/>
                <a:ea typeface="楷体_GB2312" pitchFamily="49" charset="-122"/>
              </a:rPr>
              <a:t>)</a:t>
            </a:r>
            <a:r>
              <a:rPr lang="zh-CN" altLang="en-US" sz="2400">
                <a:solidFill>
                  <a:srgbClr val="0000FF"/>
                </a:solidFill>
                <a:latin typeface="Verdana" panose="020B0604030504040204" pitchFamily="34" charset="0"/>
                <a:ea typeface="楷体_GB2312" pitchFamily="49" charset="-122"/>
              </a:rPr>
              <a:t>：</a:t>
            </a:r>
            <a:r>
              <a:rPr lang="zh-CN" altLang="en-US" sz="2400">
                <a:solidFill>
                  <a:schemeClr val="tx2"/>
                </a:solidFill>
                <a:latin typeface="Verdana" panose="020B0604030504040204" pitchFamily="34" charset="0"/>
                <a:ea typeface="楷体_GB2312" pitchFamily="49" charset="-122"/>
              </a:rPr>
              <a:t>存放应接收的帧序号</a:t>
            </a:r>
            <a:endParaRPr lang="zh-CN" altLang="en-US" sz="2400">
              <a:solidFill>
                <a:schemeClr val="tx2"/>
              </a:solidFill>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a:latin typeface="Verdana" panose="020B0604030504040204" pitchFamily="34" charset="0"/>
                <a:ea typeface="楷体_GB2312" pitchFamily="49" charset="-122"/>
              </a:rPr>
              <a:t>	</a:t>
            </a:r>
            <a:r>
              <a:rPr lang="en-US" altLang="zh-CN" sz="2400">
                <a:latin typeface="Verdana" panose="020B0604030504040204" pitchFamily="34" charset="0"/>
                <a:ea typeface="楷体_GB2312" pitchFamily="49" charset="-122"/>
              </a:rPr>
              <a:t>1) </a:t>
            </a:r>
            <a:r>
              <a:rPr lang="zh-CN" altLang="en-US" sz="2400">
                <a:latin typeface="Verdana" panose="020B0604030504040204" pitchFamily="34" charset="0"/>
                <a:ea typeface="楷体_GB2312" pitchFamily="49" charset="-122"/>
              </a:rPr>
              <a:t>收到接收窗口外的序号帧，丢掉</a:t>
            </a:r>
            <a:endParaRPr lang="zh-CN" altLang="en-US" sz="2400">
              <a:latin typeface="Verdana" panose="020B0604030504040204" pitchFamily="34" charset="0"/>
              <a:ea typeface="楷体_GB2312" pitchFamily="49" charset="-122"/>
            </a:endParaRPr>
          </a:p>
          <a:p>
            <a:pPr eaLnBrk="1" hangingPunct="1">
              <a:lnSpc>
                <a:spcPct val="120000"/>
              </a:lnSpc>
              <a:buFont typeface="Wingdings" panose="05000000000000000000" pitchFamily="2" charset="2"/>
              <a:buNone/>
              <a:defRPr/>
            </a:pPr>
            <a:r>
              <a:rPr lang="zh-CN" altLang="en-US" sz="2400">
                <a:latin typeface="Verdana" panose="020B0604030504040204" pitchFamily="34" charset="0"/>
                <a:ea typeface="楷体_GB2312" pitchFamily="49" charset="-122"/>
              </a:rPr>
              <a:t>	</a:t>
            </a:r>
            <a:r>
              <a:rPr lang="en-US" altLang="zh-CN" sz="2400">
                <a:latin typeface="Verdana" panose="020B0604030504040204" pitchFamily="34" charset="0"/>
                <a:ea typeface="楷体_GB2312" pitchFamily="49" charset="-122"/>
              </a:rPr>
              <a:t>2) </a:t>
            </a:r>
            <a:r>
              <a:rPr lang="zh-CN" altLang="en-US" sz="2400">
                <a:latin typeface="Verdana" panose="020B0604030504040204" pitchFamily="34" charset="0"/>
                <a:ea typeface="楷体_GB2312" pitchFamily="49" charset="-122"/>
              </a:rPr>
              <a:t>收到接收窗口下界序号帧，接收窗口向前移一步</a:t>
            </a:r>
            <a:endParaRPr lang="zh-CN" altLang="en-US" sz="2400">
              <a:latin typeface="Verdana" panose="020B0604030504040204" pitchFamily="34" charset="0"/>
              <a:ea typeface="楷体_GB2312" pitchFamily="49" charset="-122"/>
            </a:endParaRP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813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E3C03C9-AE11-45F0-B892-DCC121E4858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8AA7EC10-F9C6-40AF-B1E3-FCA544F5D88B}" type="datetime1">
              <a:rPr lang="zh-CN" altLang="en-US"/>
            </a:fld>
            <a:endParaRPr lang="en-US" altLang="zh-CN"/>
          </a:p>
        </p:txBody>
      </p:sp>
      <p:graphicFrame>
        <p:nvGraphicFramePr>
          <p:cNvPr id="48133" name="Object 7"/>
          <p:cNvGraphicFramePr>
            <a:graphicFrameLocks noChangeAspect="1"/>
          </p:cNvGraphicFramePr>
          <p:nvPr/>
        </p:nvGraphicFramePr>
        <p:xfrm>
          <a:off x="2057400" y="609600"/>
          <a:ext cx="7848600" cy="5748338"/>
        </p:xfrm>
        <a:graphic>
          <a:graphicData uri="http://schemas.openxmlformats.org/presentationml/2006/ole">
            <mc:AlternateContent xmlns:mc="http://schemas.openxmlformats.org/markup-compatibility/2006">
              <mc:Choice xmlns:v="urn:schemas-microsoft-com:vml" Requires="v">
                <p:oleObj spid="_x0000_s0" name="位图图像" r:id="rId1" imgW="5838825" imgH="4276725" progId="Paint.Picture">
                  <p:embed/>
                </p:oleObj>
              </mc:Choice>
              <mc:Fallback>
                <p:oleObj name="位图图像" r:id="rId1" imgW="5838825" imgH="4276725" progId="Paint.Picture">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609600"/>
                        <a:ext cx="7848600" cy="574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oleObj>
              </mc:Fallback>
            </mc:AlternateContent>
          </a:graphicData>
        </a:graphic>
      </p:graphicFrame>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4915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2855D01-6481-42B0-9962-14EC9F9961F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E018741F-0C9A-4DA5-9522-877DA4A1F899}" type="datetime1">
              <a:rPr lang="zh-CN" altLang="en-US"/>
            </a:fld>
            <a:endParaRPr lang="en-US" altLang="zh-CN"/>
          </a:p>
        </p:txBody>
      </p:sp>
      <p:sp>
        <p:nvSpPr>
          <p:cNvPr id="868354" name="Rectangle 2"/>
          <p:cNvSpPr>
            <a:spLocks noGrp="1" noChangeArrowheads="1"/>
          </p:cNvSpPr>
          <p:nvPr>
            <p:ph type="title"/>
          </p:nvPr>
        </p:nvSpPr>
        <p:spPr>
          <a:xfrm>
            <a:off x="2209800" y="665164"/>
            <a:ext cx="5832475" cy="481013"/>
          </a:xfrm>
        </p:spPr>
        <p:txBody>
          <a:bodyPr/>
          <a:lstStyle/>
          <a:p>
            <a:pPr eaLnBrk="1" hangingPunct="1">
              <a:defRPr/>
            </a:pPr>
            <a:r>
              <a:rPr lang="zh-CN" altLang="en-US" sz="2800" b="1" dirty="0">
                <a:solidFill>
                  <a:srgbClr val="0000FF"/>
                </a:solidFill>
              </a:rPr>
              <a:t>三种滑动窗口协议</a:t>
            </a:r>
            <a:endParaRPr lang="zh-CN" altLang="en-US" sz="2800" b="1" dirty="0">
              <a:solidFill>
                <a:srgbClr val="0000FF"/>
              </a:solidFill>
            </a:endParaRPr>
          </a:p>
        </p:txBody>
      </p:sp>
      <p:sp>
        <p:nvSpPr>
          <p:cNvPr id="868355" name="Rectangle 3"/>
          <p:cNvSpPr>
            <a:spLocks noGrp="1" noChangeArrowheads="1"/>
          </p:cNvSpPr>
          <p:nvPr>
            <p:ph type="body" idx="1"/>
          </p:nvPr>
        </p:nvSpPr>
        <p:spPr>
          <a:xfrm>
            <a:off x="2438400" y="1841501"/>
            <a:ext cx="7772400" cy="3819525"/>
          </a:xfrm>
        </p:spPr>
        <p:txBody>
          <a:bodyPr/>
          <a:lstStyle/>
          <a:p>
            <a:pPr eaLnBrk="1" hangingPunct="1">
              <a:lnSpc>
                <a:spcPct val="120000"/>
              </a:lnSpc>
              <a:buFont typeface="Wingdings" panose="05000000000000000000" pitchFamily="2" charset="2"/>
              <a:buNone/>
              <a:defRPr/>
            </a:pPr>
            <a:r>
              <a:rPr lang="en-US" altLang="zh-CN" sz="2800">
                <a:solidFill>
                  <a:srgbClr val="0000FF"/>
                </a:solidFill>
                <a:effectLst>
                  <a:outerShdw blurRad="38100" dist="38100" dir="2700000" algn="tl">
                    <a:srgbClr val="C0C0C0"/>
                  </a:outerShdw>
                </a:effectLst>
                <a:latin typeface="Verdana" panose="020B0604030504040204" pitchFamily="34" charset="0"/>
                <a:ea typeface="楷体_GB2312" pitchFamily="49" charset="-122"/>
              </a:rPr>
              <a:t>1</a:t>
            </a:r>
            <a:r>
              <a:rPr lang="zh-CN" altLang="en-US" sz="2800">
                <a:solidFill>
                  <a:srgbClr val="0000FF"/>
                </a:solidFill>
                <a:effectLst>
                  <a:outerShdw blurRad="38100" dist="38100" dir="2700000" algn="tl">
                    <a:srgbClr val="C0C0C0"/>
                  </a:outerShdw>
                </a:effectLst>
                <a:latin typeface="Verdana" panose="020B0604030504040204" pitchFamily="34" charset="0"/>
                <a:ea typeface="楷体_GB2312" pitchFamily="49" charset="-122"/>
              </a:rPr>
              <a:t>、一位滑动窗口协议</a:t>
            </a:r>
            <a:r>
              <a:rPr lang="en-US" altLang="zh-CN" sz="2800">
                <a:solidFill>
                  <a:srgbClr val="0000FF"/>
                </a:solidFill>
                <a:effectLst>
                  <a:outerShdw blurRad="38100" dist="38100" dir="2700000" algn="tl">
                    <a:srgbClr val="C0C0C0"/>
                  </a:outerShdw>
                </a:effectLst>
                <a:latin typeface="Verdana" panose="020B0604030504040204" pitchFamily="34" charset="0"/>
                <a:ea typeface="楷体_GB2312" pitchFamily="49" charset="-122"/>
              </a:rPr>
              <a:t>(</a:t>
            </a:r>
            <a:r>
              <a:rPr lang="zh-CN" altLang="en-US" sz="2800">
                <a:solidFill>
                  <a:srgbClr val="0000FF"/>
                </a:solidFill>
                <a:effectLst>
                  <a:outerShdw blurRad="38100" dist="38100" dir="2700000" algn="tl">
                    <a:srgbClr val="C0C0C0"/>
                  </a:outerShdw>
                </a:effectLst>
                <a:latin typeface="Verdana" panose="020B0604030504040204" pitchFamily="34" charset="0"/>
                <a:ea typeface="楷体_GB2312" pitchFamily="49" charset="-122"/>
              </a:rPr>
              <a:t>停止等待协议</a:t>
            </a:r>
            <a:r>
              <a:rPr lang="en-US" altLang="zh-CN" sz="2800">
                <a:solidFill>
                  <a:srgbClr val="0000FF"/>
                </a:solidFill>
                <a:effectLst>
                  <a:outerShdw blurRad="38100" dist="38100" dir="2700000" algn="tl">
                    <a:srgbClr val="C0C0C0"/>
                  </a:outerShdw>
                </a:effectLst>
                <a:latin typeface="Verdana" panose="020B0604030504040204" pitchFamily="34" charset="0"/>
                <a:ea typeface="楷体_GB2312" pitchFamily="49" charset="-122"/>
              </a:rPr>
              <a:t>)</a:t>
            </a:r>
            <a:endParaRPr lang="en-US" altLang="zh-CN" sz="2800">
              <a:solidFill>
                <a:srgbClr val="0000FF"/>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defRPr/>
            </a:pPr>
            <a:endParaRPr lang="en-US" altLang="zh-CN" sz="2400">
              <a:solidFill>
                <a:schemeClr val="tx2"/>
              </a:solidFill>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800">
                <a:latin typeface="Verdana" panose="020B0604030504040204" pitchFamily="34" charset="0"/>
                <a:ea typeface="楷体_GB2312" pitchFamily="49" charset="-122"/>
              </a:rPr>
              <a:t>发送窗口</a:t>
            </a:r>
            <a:r>
              <a:rPr lang="en-US" altLang="zh-CN" sz="2800">
                <a:latin typeface="Verdana" panose="020B0604030504040204" pitchFamily="34" charset="0"/>
                <a:ea typeface="楷体_GB2312" pitchFamily="49" charset="-122"/>
              </a:rPr>
              <a:t>(W</a:t>
            </a:r>
            <a:r>
              <a:rPr lang="en-US" altLang="zh-CN" sz="2800" baseline="-25000">
                <a:latin typeface="Verdana" panose="020B0604030504040204" pitchFamily="34" charset="0"/>
                <a:ea typeface="楷体_GB2312" pitchFamily="49" charset="-122"/>
              </a:rPr>
              <a:t>T</a:t>
            </a:r>
            <a:r>
              <a:rPr lang="en-US" altLang="zh-CN" sz="2800">
                <a:latin typeface="Verdana" panose="020B0604030504040204" pitchFamily="34" charset="0"/>
                <a:ea typeface="楷体_GB2312" pitchFamily="49" charset="-122"/>
              </a:rPr>
              <a:t>)=1</a:t>
            </a:r>
            <a:r>
              <a:rPr lang="zh-CN" altLang="en-US" sz="2800">
                <a:latin typeface="Verdana" panose="020B0604030504040204" pitchFamily="34" charset="0"/>
                <a:ea typeface="楷体_GB2312" pitchFamily="49" charset="-122"/>
              </a:rPr>
              <a:t>，</a:t>
            </a:r>
            <a:endParaRPr lang="zh-CN" altLang="en-US" sz="280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800">
                <a:latin typeface="Verdana" panose="020B0604030504040204" pitchFamily="34" charset="0"/>
                <a:ea typeface="楷体_GB2312" pitchFamily="49" charset="-122"/>
              </a:rPr>
              <a:t>接收窗口</a:t>
            </a:r>
            <a:r>
              <a:rPr lang="en-US" altLang="zh-CN" sz="2800">
                <a:latin typeface="Verdana" panose="020B0604030504040204" pitchFamily="34" charset="0"/>
                <a:ea typeface="楷体_GB2312" pitchFamily="49" charset="-122"/>
              </a:rPr>
              <a:t>(W</a:t>
            </a:r>
            <a:r>
              <a:rPr lang="en-US" altLang="zh-CN" sz="2800" baseline="-25000">
                <a:latin typeface="Verdana" panose="020B0604030504040204" pitchFamily="34" charset="0"/>
                <a:ea typeface="楷体_GB2312" pitchFamily="49" charset="-122"/>
              </a:rPr>
              <a:t>R</a:t>
            </a:r>
            <a:r>
              <a:rPr lang="en-US" altLang="zh-CN" sz="2800">
                <a:latin typeface="Verdana" panose="020B0604030504040204" pitchFamily="34" charset="0"/>
                <a:ea typeface="楷体_GB2312" pitchFamily="49" charset="-122"/>
              </a:rPr>
              <a:t>)=1</a:t>
            </a:r>
            <a:r>
              <a:rPr lang="zh-CN" altLang="en-US" sz="2800">
                <a:latin typeface="Verdana" panose="020B0604030504040204" pitchFamily="34" charset="0"/>
                <a:ea typeface="楷体_GB2312" pitchFamily="49" charset="-122"/>
              </a:rPr>
              <a:t>，</a:t>
            </a:r>
            <a:endParaRPr lang="zh-CN" altLang="en-US" sz="280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None/>
              <a:defRPr/>
            </a:pPr>
            <a:endParaRPr lang="zh-CN" altLang="en-US" sz="2400">
              <a:latin typeface="Verdana" panose="020B0604030504040204" pitchFamily="34" charset="0"/>
              <a:ea typeface="楷体_GB2312" pitchFamily="49" charset="-122"/>
            </a:endParaRPr>
          </a:p>
          <a:p>
            <a:pPr eaLnBrk="1" hangingPunct="1">
              <a:lnSpc>
                <a:spcPct val="120000"/>
              </a:lnSpc>
              <a:buSzPct val="90000"/>
              <a:buFont typeface="Wingdings" panose="05000000000000000000" pitchFamily="2" charset="2"/>
              <a:buNone/>
              <a:defRPr/>
            </a:pPr>
            <a:r>
              <a:rPr lang="zh-CN" altLang="en-US" sz="2800">
                <a:latin typeface="Verdana" panose="020B0604030504040204" pitchFamily="34" charset="0"/>
                <a:ea typeface="楷体_GB2312" pitchFamily="49" charset="-122"/>
              </a:rPr>
              <a:t>  </a:t>
            </a:r>
            <a:r>
              <a:rPr lang="zh-CN" altLang="en-US" sz="2800">
                <a:solidFill>
                  <a:srgbClr val="FF3300"/>
                </a:solidFill>
                <a:effectLst>
                  <a:outerShdw blurRad="38100" dist="38100" dir="2700000" algn="tl">
                    <a:srgbClr val="C0C0C0"/>
                  </a:outerShdw>
                </a:effectLst>
                <a:latin typeface="Verdana" panose="020B0604030504040204" pitchFamily="34" charset="0"/>
                <a:ea typeface="楷体_GB2312" pitchFamily="49" charset="-122"/>
              </a:rPr>
              <a:t>双向数据传送</a:t>
            </a:r>
            <a:r>
              <a:rPr lang="en-US" altLang="zh-CN" sz="2800">
                <a:solidFill>
                  <a:srgbClr val="FF3300"/>
                </a:solidFill>
                <a:effectLst>
                  <a:outerShdw blurRad="38100" dist="38100" dir="2700000" algn="tl">
                    <a:srgbClr val="C0C0C0"/>
                  </a:outerShdw>
                </a:effectLst>
                <a:latin typeface="Verdana" panose="020B0604030504040204" pitchFamily="34" charset="0"/>
                <a:ea typeface="楷体_GB2312" pitchFamily="49" charset="-122"/>
              </a:rPr>
              <a:t>:</a:t>
            </a:r>
            <a:endParaRPr lang="en-US" altLang="zh-CN" sz="2800">
              <a:solidFill>
                <a:srgbClr val="FF3300"/>
              </a:solidFill>
              <a:effectLst>
                <a:outerShdw blurRad="38100" dist="38100" dir="2700000" algn="tl">
                  <a:srgbClr val="C0C0C0"/>
                </a:outerShdw>
              </a:effectLst>
              <a:latin typeface="Verdana" panose="020B0604030504040204" pitchFamily="34" charset="0"/>
              <a:ea typeface="楷体_GB2312" pitchFamily="49" charset="-122"/>
            </a:endParaRP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816357" y="1"/>
            <a:ext cx="7948356" cy="4294609"/>
          </a:xfrm>
          <a:prstGeom prst="rect">
            <a:avLst/>
          </a:prstGeom>
        </p:spPr>
      </p:pic>
      <p:pic>
        <p:nvPicPr>
          <p:cNvPr id="6" name="图片 5"/>
          <p:cNvPicPr>
            <a:picLocks noChangeAspect="1"/>
          </p:cNvPicPr>
          <p:nvPr/>
        </p:nvPicPr>
        <p:blipFill rotWithShape="1">
          <a:blip r:embed="rId2"/>
          <a:srcRect t="21212" b="17640"/>
          <a:stretch>
            <a:fillRect/>
          </a:stretch>
        </p:blipFill>
        <p:spPr>
          <a:xfrm>
            <a:off x="1524001" y="4286413"/>
            <a:ext cx="8777649" cy="2466813"/>
          </a:xfrm>
          <a:prstGeom prst="rect">
            <a:avLst/>
          </a:prstGeom>
        </p:spPr>
      </p:pic>
    </p:spTree>
  </p:cSld>
  <p:clrMapOvr>
    <a:masterClrMapping/>
  </p:clrMapOvr>
  <p:transition spd="slow">
    <p:pull dir="ru"/>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2016864" y="1124744"/>
            <a:ext cx="8158273" cy="4769758"/>
          </a:xfrm>
          <a:prstGeom prst="rect">
            <a:avLst/>
          </a:prstGeom>
        </p:spPr>
      </p:pic>
    </p:spTree>
  </p:cSld>
  <p:clrMapOvr>
    <a:masterClrMapping/>
  </p:clrMapOvr>
  <p:transition spd="slow">
    <p:pull dir="ru"/>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6" name="图片 5"/>
          <p:cNvPicPr>
            <a:picLocks noChangeAspect="1"/>
          </p:cNvPicPr>
          <p:nvPr/>
        </p:nvPicPr>
        <p:blipFill>
          <a:blip r:embed="rId1"/>
          <a:stretch>
            <a:fillRect/>
          </a:stretch>
        </p:blipFill>
        <p:spPr>
          <a:xfrm>
            <a:off x="1127448" y="152400"/>
            <a:ext cx="9505056" cy="6345250"/>
          </a:xfrm>
          <a:prstGeom prst="rect">
            <a:avLst/>
          </a:prstGeom>
        </p:spPr>
      </p:pic>
    </p:spTree>
  </p:cSld>
  <p:clrMapOvr>
    <a:masterClrMapping/>
  </p:clrMapOvr>
  <p:transition spd="slow">
    <p:pull dir="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096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8BBABC-F277-4126-8577-FB09D138ABF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38" name="日期占位符 3"/>
          <p:cNvSpPr>
            <a:spLocks noGrp="1"/>
          </p:cNvSpPr>
          <p:nvPr>
            <p:ph type="dt" sz="quarter" idx="12"/>
          </p:nvPr>
        </p:nvSpPr>
        <p:spPr/>
        <p:txBody>
          <a:bodyPr/>
          <a:lstStyle/>
          <a:p>
            <a:pPr>
              <a:defRPr/>
            </a:pPr>
            <a:fld id="{55713B94-6E17-4B5E-B597-C7F5865089A4}" type="datetime1">
              <a:rPr lang="zh-CN" altLang="en-US"/>
            </a:fld>
            <a:endParaRPr lang="en-US" altLang="zh-CN"/>
          </a:p>
        </p:txBody>
      </p:sp>
      <p:grpSp>
        <p:nvGrpSpPr>
          <p:cNvPr id="40965" name="Group 38"/>
          <p:cNvGrpSpPr/>
          <p:nvPr/>
        </p:nvGrpSpPr>
        <p:grpSpPr bwMode="auto">
          <a:xfrm>
            <a:off x="1981200" y="609600"/>
            <a:ext cx="8153400" cy="5410200"/>
            <a:chOff x="288" y="384"/>
            <a:chExt cx="5136" cy="3408"/>
          </a:xfrm>
        </p:grpSpPr>
        <p:sp>
          <p:nvSpPr>
            <p:cNvPr id="40966" name="Text Box 3"/>
            <p:cNvSpPr txBox="1">
              <a:spLocks noChangeArrowheads="1"/>
            </p:cNvSpPr>
            <p:nvPr/>
          </p:nvSpPr>
          <p:spPr bwMode="auto">
            <a:xfrm>
              <a:off x="288" y="38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endParaRPr kumimoji="1" lang="zh-CN" altLang="en-US" sz="2400">
                <a:solidFill>
                  <a:srgbClr val="0000FF"/>
                </a:solidFill>
                <a:latin typeface="Verdana" panose="020B0604030504040204" pitchFamily="34" charset="0"/>
                <a:ea typeface="楷体_GB2312" pitchFamily="49" charset="-122"/>
              </a:endParaRPr>
            </a:p>
          </p:txBody>
        </p:sp>
        <p:sp>
          <p:nvSpPr>
            <p:cNvPr id="40967" name="AutoShape 4"/>
            <p:cNvSpPr>
              <a:spLocks noChangeArrowheads="1"/>
            </p:cNvSpPr>
            <p:nvPr/>
          </p:nvSpPr>
          <p:spPr bwMode="auto">
            <a:xfrm>
              <a:off x="816" y="19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endParaRPr kumimoji="1" lang="zh-CN" altLang="en-US" sz="2000">
                <a:latin typeface="Verdana" panose="020B0604030504040204" pitchFamily="34" charset="0"/>
                <a:ea typeface="楷体_GB2312" pitchFamily="49" charset="-122"/>
              </a:endParaRPr>
            </a:p>
          </p:txBody>
        </p:sp>
        <p:sp>
          <p:nvSpPr>
            <p:cNvPr id="40968" name="AutoShape 5"/>
            <p:cNvSpPr>
              <a:spLocks noChangeArrowheads="1"/>
            </p:cNvSpPr>
            <p:nvPr/>
          </p:nvSpPr>
          <p:spPr bwMode="auto">
            <a:xfrm>
              <a:off x="528" y="1392"/>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endParaRPr kumimoji="1" lang="en-US" altLang="zh-CN" sz="2000">
                <a:latin typeface="Verdana" panose="020B0604030504040204" pitchFamily="34" charset="0"/>
                <a:ea typeface="楷体_GB2312" pitchFamily="49" charset="-122"/>
              </a:endParaRPr>
            </a:p>
          </p:txBody>
        </p:sp>
        <p:sp>
          <p:nvSpPr>
            <p:cNvPr id="40969" name="AutoShape 6"/>
            <p:cNvSpPr>
              <a:spLocks noChangeArrowheads="1"/>
            </p:cNvSpPr>
            <p:nvPr/>
          </p:nvSpPr>
          <p:spPr bwMode="auto">
            <a:xfrm>
              <a:off x="528" y="2496"/>
              <a:ext cx="1632"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endParaRPr kumimoji="1" lang="zh-CN" altLang="en-US" sz="2000">
                <a:latin typeface="Verdana" panose="020B0604030504040204" pitchFamily="34" charset="0"/>
                <a:ea typeface="楷体_GB2312" pitchFamily="49" charset="-122"/>
              </a:endParaRPr>
            </a:p>
          </p:txBody>
        </p:sp>
        <p:cxnSp>
          <p:nvCxnSpPr>
            <p:cNvPr id="40970" name="AutoShape 7"/>
            <p:cNvCxnSpPr>
              <a:cxnSpLocks noChangeShapeType="1"/>
              <a:stCxn id="40968" idx="2"/>
              <a:endCxn id="40967" idx="0"/>
            </p:cNvCxnSpPr>
            <p:nvPr/>
          </p:nvCxnSpPr>
          <p:spPr bwMode="auto">
            <a:xfrm>
              <a:off x="1344" y="1680"/>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71" name="AutoShape 8"/>
            <p:cNvCxnSpPr>
              <a:cxnSpLocks noChangeShapeType="1"/>
              <a:stCxn id="40967" idx="2"/>
              <a:endCxn id="40969" idx="0"/>
            </p:cNvCxnSpPr>
            <p:nvPr/>
          </p:nvCxnSpPr>
          <p:spPr bwMode="auto">
            <a:xfrm>
              <a:off x="1344" y="2208"/>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72" name="AutoShape 9"/>
            <p:cNvCxnSpPr>
              <a:cxnSpLocks noChangeShapeType="1"/>
              <a:stCxn id="40977" idx="2"/>
              <a:endCxn id="40968" idx="0"/>
            </p:cNvCxnSpPr>
            <p:nvPr/>
          </p:nvCxnSpPr>
          <p:spPr bwMode="auto">
            <a:xfrm>
              <a:off x="1344" y="1008"/>
              <a:ext cx="0" cy="384"/>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3" name="AutoShape 10"/>
            <p:cNvSpPr>
              <a:spLocks noChangeArrowheads="1"/>
            </p:cNvSpPr>
            <p:nvPr/>
          </p:nvSpPr>
          <p:spPr bwMode="auto">
            <a:xfrm>
              <a:off x="3264" y="912"/>
              <a:ext cx="1488" cy="48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a:t>
              </a:r>
              <a:r>
                <a:rPr kumimoji="1" lang="en-US" altLang="zh-CN" sz="2000">
                  <a:latin typeface="Verdana" panose="020B0604030504040204" pitchFamily="34" charset="0"/>
                  <a:ea typeface="楷体_GB2312" pitchFamily="49" charset="-122"/>
                </a:rPr>
                <a:t>ACK</a:t>
              </a:r>
              <a:r>
                <a:rPr kumimoji="1" lang="zh-CN" altLang="en-US" sz="2000">
                  <a:latin typeface="Verdana" panose="020B0604030504040204" pitchFamily="34" charset="0"/>
                  <a:ea typeface="楷体_GB2312" pitchFamily="49" charset="-122"/>
                </a:rPr>
                <a:t>？</a:t>
              </a:r>
              <a:endParaRPr kumimoji="1" lang="zh-CN" altLang="en-US" sz="2000">
                <a:latin typeface="Verdana" panose="020B0604030504040204" pitchFamily="34" charset="0"/>
                <a:ea typeface="楷体_GB2312" pitchFamily="49" charset="-122"/>
              </a:endParaRPr>
            </a:p>
          </p:txBody>
        </p:sp>
        <p:cxnSp>
          <p:nvCxnSpPr>
            <p:cNvPr id="40974" name="AutoShape 11"/>
            <p:cNvCxnSpPr>
              <a:cxnSpLocks noChangeShapeType="1"/>
              <a:stCxn id="40969" idx="2"/>
              <a:endCxn id="40979" idx="0"/>
            </p:cNvCxnSpPr>
            <p:nvPr/>
          </p:nvCxnSpPr>
          <p:spPr bwMode="auto">
            <a:xfrm>
              <a:off x="1344" y="2784"/>
              <a:ext cx="0" cy="33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5" name="Text Box 12"/>
            <p:cNvSpPr txBox="1">
              <a:spLocks noChangeArrowheads="1"/>
            </p:cNvSpPr>
            <p:nvPr/>
          </p:nvSpPr>
          <p:spPr bwMode="auto">
            <a:xfrm>
              <a:off x="3024" y="1082"/>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0976" name="Text Box 13"/>
            <p:cNvSpPr txBox="1">
              <a:spLocks noChangeArrowheads="1"/>
            </p:cNvSpPr>
            <p:nvPr/>
          </p:nvSpPr>
          <p:spPr bwMode="auto">
            <a:xfrm>
              <a:off x="4800" y="122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0977" name="AutoShape 14"/>
            <p:cNvSpPr>
              <a:spLocks noChangeArrowheads="1"/>
            </p:cNvSpPr>
            <p:nvPr/>
          </p:nvSpPr>
          <p:spPr bwMode="auto">
            <a:xfrm>
              <a:off x="816" y="7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序号</a:t>
              </a:r>
              <a:r>
                <a:rPr kumimoji="1" lang="en-US" altLang="zh-CN" sz="2000">
                  <a:latin typeface="Verdana" panose="020B0604030504040204" pitchFamily="34" charset="0"/>
                  <a:ea typeface="楷体_GB2312" pitchFamily="49" charset="-122"/>
                </a:rPr>
                <a:t>= 0</a:t>
              </a:r>
              <a:endParaRPr kumimoji="1" lang="en-US" altLang="zh-CN" sz="2000">
                <a:latin typeface="Verdana" panose="020B0604030504040204" pitchFamily="34" charset="0"/>
                <a:ea typeface="楷体_GB2312" pitchFamily="49" charset="-122"/>
              </a:endParaRPr>
            </a:p>
          </p:txBody>
        </p:sp>
        <p:cxnSp>
          <p:nvCxnSpPr>
            <p:cNvPr id="40978" name="AutoShape 15"/>
            <p:cNvCxnSpPr>
              <a:cxnSpLocks noChangeShapeType="1"/>
              <a:endCxn id="40977" idx="0"/>
            </p:cNvCxnSpPr>
            <p:nvPr/>
          </p:nvCxnSpPr>
          <p:spPr bwMode="auto">
            <a:xfrm>
              <a:off x="1344" y="432"/>
              <a:ext cx="0" cy="2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79" name="AutoShape 16"/>
            <p:cNvSpPr>
              <a:spLocks noChangeArrowheads="1"/>
            </p:cNvSpPr>
            <p:nvPr/>
          </p:nvSpPr>
          <p:spPr bwMode="auto">
            <a:xfrm>
              <a:off x="816" y="3120"/>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启动计数器</a:t>
              </a:r>
              <a:endParaRPr kumimoji="1" lang="zh-CN" altLang="en-US" sz="2000">
                <a:latin typeface="Verdana" panose="020B0604030504040204" pitchFamily="34" charset="0"/>
                <a:ea typeface="楷体_GB2312" pitchFamily="49" charset="-122"/>
              </a:endParaRPr>
            </a:p>
          </p:txBody>
        </p:sp>
        <p:cxnSp>
          <p:nvCxnSpPr>
            <p:cNvPr id="40980" name="AutoShape 17"/>
            <p:cNvCxnSpPr>
              <a:cxnSpLocks noChangeShapeType="1"/>
              <a:stCxn id="40979" idx="2"/>
              <a:endCxn id="40973" idx="0"/>
            </p:cNvCxnSpPr>
            <p:nvPr/>
          </p:nvCxnSpPr>
          <p:spPr bwMode="auto">
            <a:xfrm rot="5400000" flipH="1" flipV="1">
              <a:off x="1428" y="828"/>
              <a:ext cx="2496" cy="2664"/>
            </a:xfrm>
            <a:prstGeom prst="bentConnector5">
              <a:avLst>
                <a:gd name="adj1" fmla="val -5769"/>
                <a:gd name="adj2" fmla="val 45944"/>
                <a:gd name="adj3" fmla="val 105769"/>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0981" name="AutoShape 18"/>
            <p:cNvSpPr>
              <a:spLocks noChangeArrowheads="1"/>
            </p:cNvSpPr>
            <p:nvPr/>
          </p:nvSpPr>
          <p:spPr bwMode="auto">
            <a:xfrm>
              <a:off x="2784" y="1392"/>
              <a:ext cx="960" cy="432"/>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超时？</a:t>
              </a:r>
              <a:endParaRPr kumimoji="1" lang="zh-CN" altLang="en-US" sz="2000">
                <a:latin typeface="Verdana" panose="020B0604030504040204" pitchFamily="34" charset="0"/>
                <a:ea typeface="楷体_GB2312" pitchFamily="49" charset="-122"/>
              </a:endParaRPr>
            </a:p>
          </p:txBody>
        </p:sp>
        <p:cxnSp>
          <p:nvCxnSpPr>
            <p:cNvPr id="40982" name="AutoShape 19"/>
            <p:cNvCxnSpPr>
              <a:cxnSpLocks noChangeShapeType="1"/>
              <a:stCxn id="40973" idx="1"/>
              <a:endCxn id="40981" idx="0"/>
            </p:cNvCxnSpPr>
            <p:nvPr/>
          </p:nvCxnSpPr>
          <p:spPr bwMode="auto">
            <a:xfrm>
              <a:off x="3264" y="1152"/>
              <a:ext cx="0" cy="24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83" name="AutoShape 20"/>
            <p:cNvCxnSpPr>
              <a:cxnSpLocks noChangeShapeType="1"/>
              <a:stCxn id="40981" idx="1"/>
            </p:cNvCxnSpPr>
            <p:nvPr/>
          </p:nvCxnSpPr>
          <p:spPr bwMode="auto">
            <a:xfrm flipH="1">
              <a:off x="2592" y="1608"/>
              <a:ext cx="192"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84" name="Text Box 21"/>
            <p:cNvSpPr txBox="1">
              <a:spLocks noChangeArrowheads="1"/>
            </p:cNvSpPr>
            <p:nvPr/>
          </p:nvSpPr>
          <p:spPr bwMode="auto">
            <a:xfrm>
              <a:off x="2592" y="1370"/>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0985" name="AutoShape 22"/>
            <p:cNvSpPr>
              <a:spLocks noChangeArrowheads="1"/>
            </p:cNvSpPr>
            <p:nvPr/>
          </p:nvSpPr>
          <p:spPr bwMode="auto">
            <a:xfrm>
              <a:off x="4320" y="1680"/>
              <a:ext cx="864" cy="24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endParaRPr kumimoji="1" lang="zh-CN" altLang="en-US" sz="2000">
                <a:latin typeface="Verdana" panose="020B0604030504040204" pitchFamily="34" charset="0"/>
                <a:ea typeface="楷体_GB2312" pitchFamily="49" charset="-122"/>
              </a:endParaRPr>
            </a:p>
          </p:txBody>
        </p:sp>
        <p:sp>
          <p:nvSpPr>
            <p:cNvPr id="40986" name="AutoShape 23"/>
            <p:cNvSpPr>
              <a:spLocks noChangeArrowheads="1"/>
            </p:cNvSpPr>
            <p:nvPr/>
          </p:nvSpPr>
          <p:spPr bwMode="auto">
            <a:xfrm>
              <a:off x="4080" y="2304"/>
              <a:ext cx="1344" cy="336"/>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从网络层取分组</a:t>
              </a:r>
              <a:endParaRPr kumimoji="1" lang="zh-CN" altLang="en-US" sz="2000">
                <a:latin typeface="Verdana" panose="020B0604030504040204" pitchFamily="34" charset="0"/>
                <a:ea typeface="楷体_GB2312" pitchFamily="49" charset="-122"/>
              </a:endParaRPr>
            </a:p>
          </p:txBody>
        </p:sp>
        <p:sp>
          <p:nvSpPr>
            <p:cNvPr id="40987" name="AutoShape 24"/>
            <p:cNvSpPr>
              <a:spLocks noChangeArrowheads="1"/>
            </p:cNvSpPr>
            <p:nvPr/>
          </p:nvSpPr>
          <p:spPr bwMode="auto">
            <a:xfrm>
              <a:off x="4224" y="2832"/>
              <a:ext cx="1056" cy="28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序号</a:t>
              </a:r>
              <a:r>
                <a:rPr kumimoji="1" lang="zh-CN" altLang="en-US" sz="2000" dirty="0">
                  <a:solidFill>
                    <a:srgbClr val="FF0000"/>
                  </a:solidFill>
                  <a:latin typeface="Verdana" panose="020B0604030504040204" pitchFamily="34" charset="0"/>
                  <a:ea typeface="楷体_GB2312" pitchFamily="49" charset="-122"/>
                </a:rPr>
                <a:t>变反</a:t>
              </a:r>
              <a:endParaRPr kumimoji="1" lang="zh-CN" altLang="en-US" sz="2000" dirty="0">
                <a:solidFill>
                  <a:srgbClr val="FF0000"/>
                </a:solidFill>
                <a:latin typeface="Verdana" panose="020B0604030504040204" pitchFamily="34" charset="0"/>
                <a:ea typeface="楷体_GB2312" pitchFamily="49" charset="-122"/>
              </a:endParaRPr>
            </a:p>
          </p:txBody>
        </p:sp>
        <p:sp>
          <p:nvSpPr>
            <p:cNvPr id="40988" name="AutoShape 25"/>
            <p:cNvSpPr>
              <a:spLocks noChangeArrowheads="1"/>
            </p:cNvSpPr>
            <p:nvPr/>
          </p:nvSpPr>
          <p:spPr bwMode="auto">
            <a:xfrm>
              <a:off x="3312" y="1968"/>
              <a:ext cx="864" cy="24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endParaRPr kumimoji="1" lang="zh-CN" altLang="en-US" sz="2000">
                <a:latin typeface="Verdana" panose="020B0604030504040204" pitchFamily="34" charset="0"/>
                <a:ea typeface="楷体_GB2312" pitchFamily="49" charset="-122"/>
              </a:endParaRPr>
            </a:p>
          </p:txBody>
        </p:sp>
        <p:sp>
          <p:nvSpPr>
            <p:cNvPr id="40989" name="AutoShape 26"/>
            <p:cNvSpPr>
              <a:spLocks noChangeArrowheads="1"/>
            </p:cNvSpPr>
            <p:nvPr/>
          </p:nvSpPr>
          <p:spPr bwMode="auto">
            <a:xfrm>
              <a:off x="3264" y="3264"/>
              <a:ext cx="960" cy="528"/>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从缓冲区</a:t>
              </a:r>
              <a:endParaRPr kumimoji="1" lang="zh-CN" altLang="en-US" sz="2000">
                <a:latin typeface="Verdana" panose="020B0604030504040204" pitchFamily="34" charset="0"/>
                <a:ea typeface="楷体_GB2312" pitchFamily="49" charset="-122"/>
              </a:endParaRPr>
            </a:p>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取原帧</a:t>
              </a:r>
              <a:endParaRPr kumimoji="1" lang="zh-CN" altLang="en-US" sz="2000">
                <a:latin typeface="Verdana" panose="020B0604030504040204" pitchFamily="34" charset="0"/>
                <a:ea typeface="楷体_GB2312" pitchFamily="49" charset="-122"/>
              </a:endParaRPr>
            </a:p>
          </p:txBody>
        </p:sp>
        <p:cxnSp>
          <p:nvCxnSpPr>
            <p:cNvPr id="40990" name="AutoShape 27"/>
            <p:cNvCxnSpPr>
              <a:cxnSpLocks noChangeShapeType="1"/>
              <a:stCxn id="40973" idx="3"/>
              <a:endCxn id="40985" idx="0"/>
            </p:cNvCxnSpPr>
            <p:nvPr/>
          </p:nvCxnSpPr>
          <p:spPr bwMode="auto">
            <a:xfrm>
              <a:off x="4752" y="1152"/>
              <a:ext cx="0" cy="52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1" name="AutoShape 28"/>
            <p:cNvCxnSpPr>
              <a:cxnSpLocks noChangeShapeType="1"/>
              <a:stCxn id="40985" idx="2"/>
              <a:endCxn id="40986" idx="0"/>
            </p:cNvCxnSpPr>
            <p:nvPr/>
          </p:nvCxnSpPr>
          <p:spPr bwMode="auto">
            <a:xfrm>
              <a:off x="4752" y="1920"/>
              <a:ext cx="0" cy="384"/>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2" name="AutoShape 29"/>
            <p:cNvCxnSpPr>
              <a:cxnSpLocks noChangeShapeType="1"/>
              <a:stCxn id="40986" idx="2"/>
            </p:cNvCxnSpPr>
            <p:nvPr/>
          </p:nvCxnSpPr>
          <p:spPr bwMode="auto">
            <a:xfrm>
              <a:off x="4752" y="2640"/>
              <a:ext cx="0" cy="192"/>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3" name="AutoShape 30"/>
            <p:cNvCxnSpPr>
              <a:cxnSpLocks noChangeShapeType="1"/>
              <a:stCxn id="40981" idx="3"/>
              <a:endCxn id="40988" idx="0"/>
            </p:cNvCxnSpPr>
            <p:nvPr/>
          </p:nvCxnSpPr>
          <p:spPr bwMode="auto">
            <a:xfrm>
              <a:off x="3744" y="1608"/>
              <a:ext cx="0" cy="36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4" name="AutoShape 31"/>
            <p:cNvCxnSpPr>
              <a:cxnSpLocks noChangeShapeType="1"/>
              <a:stCxn id="40988" idx="2"/>
              <a:endCxn id="40989" idx="0"/>
            </p:cNvCxnSpPr>
            <p:nvPr/>
          </p:nvCxnSpPr>
          <p:spPr bwMode="auto">
            <a:xfrm>
              <a:off x="3744" y="2208"/>
              <a:ext cx="0" cy="1056"/>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0995" name="Text Box 32"/>
            <p:cNvSpPr txBox="1">
              <a:spLocks noChangeArrowheads="1"/>
            </p:cNvSpPr>
            <p:nvPr/>
          </p:nvSpPr>
          <p:spPr bwMode="auto">
            <a:xfrm>
              <a:off x="3792" y="161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cxnSp>
          <p:nvCxnSpPr>
            <p:cNvPr id="40996" name="AutoShape 33"/>
            <p:cNvCxnSpPr>
              <a:cxnSpLocks noChangeShapeType="1"/>
            </p:cNvCxnSpPr>
            <p:nvPr/>
          </p:nvCxnSpPr>
          <p:spPr bwMode="auto">
            <a:xfrm rot="16200000" flipV="1">
              <a:off x="1896" y="1944"/>
              <a:ext cx="1296" cy="2400"/>
            </a:xfrm>
            <a:prstGeom prst="bentConnector5">
              <a:avLst>
                <a:gd name="adj1" fmla="val -11111"/>
                <a:gd name="adj2" fmla="val 43000"/>
                <a:gd name="adj3" fmla="val 111111"/>
              </a:avLst>
            </a:prstGeom>
            <a:noFill/>
            <a:ln w="9525">
              <a:solidFill>
                <a:srgbClr val="0000FF"/>
              </a:solidFill>
              <a:miter lim="800000"/>
              <a:tailEnd type="triangle" w="med" len="med"/>
            </a:ln>
            <a:extLst>
              <a:ext uri="{909E8E84-426E-40DD-AFC4-6F175D3DCCD1}">
                <a14:hiddenFill xmlns:a14="http://schemas.microsoft.com/office/drawing/2010/main">
                  <a:noFill/>
                </a14:hiddenFill>
              </a:ext>
            </a:extLst>
          </p:spPr>
        </p:cxnSp>
        <p:cxnSp>
          <p:nvCxnSpPr>
            <p:cNvPr id="40997" name="AutoShape 34"/>
            <p:cNvCxnSpPr>
              <a:cxnSpLocks noChangeShapeType="1"/>
            </p:cNvCxnSpPr>
            <p:nvPr/>
          </p:nvCxnSpPr>
          <p:spPr bwMode="auto">
            <a:xfrm rot="10800000">
              <a:off x="1344" y="1776"/>
              <a:ext cx="3408" cy="1392"/>
            </a:xfrm>
            <a:prstGeom prst="bentConnector3">
              <a:avLst>
                <a:gd name="adj1" fmla="val 50000"/>
              </a:avLst>
            </a:prstGeom>
            <a:noFill/>
            <a:ln w="9525">
              <a:solidFill>
                <a:srgbClr val="FF00FF"/>
              </a:solidFill>
              <a:miter lim="800000"/>
              <a:tailEnd type="triangle" w="med" len="med"/>
            </a:ln>
            <a:extLst>
              <a:ext uri="{909E8E84-426E-40DD-AFC4-6F175D3DCCD1}">
                <a14:hiddenFill xmlns:a14="http://schemas.microsoft.com/office/drawing/2010/main">
                  <a:noFill/>
                </a14:hiddenFill>
              </a:ext>
            </a:extLst>
          </p:spPr>
        </p:cxnSp>
        <p:sp>
          <p:nvSpPr>
            <p:cNvPr id="40998" name="Line 36"/>
            <p:cNvSpPr>
              <a:spLocks noChangeShapeType="1"/>
            </p:cNvSpPr>
            <p:nvPr/>
          </p:nvSpPr>
          <p:spPr bwMode="auto">
            <a:xfrm flipV="1">
              <a:off x="4752" y="3120"/>
              <a:ext cx="0" cy="48"/>
            </a:xfrm>
            <a:prstGeom prst="line">
              <a:avLst/>
            </a:prstGeom>
            <a:noFill/>
            <a:ln w="9525">
              <a:solidFill>
                <a:srgbClr val="FF66FF"/>
              </a:solidFill>
              <a:rou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2" name="TextBox 1"/>
          <p:cNvSpPr txBox="1"/>
          <p:nvPr/>
        </p:nvSpPr>
        <p:spPr>
          <a:xfrm>
            <a:off x="5469467" y="287867"/>
            <a:ext cx="6502101" cy="461665"/>
          </a:xfrm>
          <a:prstGeom prst="rect">
            <a:avLst/>
          </a:prstGeom>
          <a:noFill/>
        </p:spPr>
        <p:txBody>
          <a:bodyPr wrap="none" rtlCol="0">
            <a:spAutoFit/>
          </a:bodyPr>
          <a:lstStyle/>
          <a:p>
            <a:r>
              <a:rPr lang="en-US" sz="2400" dirty="0">
                <a:highlight>
                  <a:srgbClr val="FFFF00"/>
                </a:highlight>
              </a:rPr>
              <a:t>停等协议可看作是发送和接收窗口均为</a:t>
            </a:r>
            <a:r>
              <a:rPr lang="en-US" altLang="zh-CN" sz="2400" dirty="0">
                <a:highlight>
                  <a:srgbClr val="FFFF00"/>
                </a:highlight>
              </a:rPr>
              <a:t>1</a:t>
            </a:r>
            <a:r>
              <a:rPr lang="en-US" sz="2400" dirty="0">
                <a:highlight>
                  <a:srgbClr val="FFFF00"/>
                </a:highlight>
              </a:rPr>
              <a:t>的滑窗</a:t>
            </a:r>
            <a:endParaRPr lang="en-US" sz="2400" dirty="0">
              <a:highlight>
                <a:srgbClr val="FFFF00"/>
              </a:highlight>
            </a:endParaRPr>
          </a:p>
        </p:txBody>
      </p:sp>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4198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74C0912-74EC-4E36-B12C-D93722794E86}"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26" name="日期占位符 3"/>
          <p:cNvSpPr>
            <a:spLocks noGrp="1"/>
          </p:cNvSpPr>
          <p:nvPr>
            <p:ph type="dt" sz="quarter" idx="12"/>
          </p:nvPr>
        </p:nvSpPr>
        <p:spPr/>
        <p:txBody>
          <a:bodyPr/>
          <a:lstStyle/>
          <a:p>
            <a:pPr>
              <a:defRPr/>
            </a:pPr>
            <a:fld id="{8BA7E38E-057E-4CD7-8F07-473255029D43}" type="datetime1">
              <a:rPr lang="zh-CN" altLang="en-US"/>
            </a:fld>
            <a:endParaRPr lang="en-US" altLang="zh-CN"/>
          </a:p>
        </p:txBody>
      </p:sp>
      <p:sp>
        <p:nvSpPr>
          <p:cNvPr id="41989" name="AutoShape 3"/>
          <p:cNvSpPr>
            <a:spLocks noChangeArrowheads="1"/>
          </p:cNvSpPr>
          <p:nvPr/>
        </p:nvSpPr>
        <p:spPr bwMode="auto">
          <a:xfrm>
            <a:off x="4176713" y="914400"/>
            <a:ext cx="1833562"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希望序号</a:t>
            </a:r>
            <a:r>
              <a:rPr kumimoji="1" lang="en-US" altLang="zh-CN" sz="2000">
                <a:latin typeface="Verdana" panose="020B0604030504040204" pitchFamily="34" charset="0"/>
                <a:ea typeface="楷体_GB2312" pitchFamily="49" charset="-122"/>
              </a:rPr>
              <a:t>=0</a:t>
            </a:r>
            <a:endParaRPr kumimoji="1" lang="en-US" altLang="zh-CN" sz="2000">
              <a:latin typeface="Verdana" panose="020B0604030504040204" pitchFamily="34" charset="0"/>
              <a:ea typeface="楷体_GB2312" pitchFamily="49" charset="-122"/>
            </a:endParaRPr>
          </a:p>
        </p:txBody>
      </p:sp>
      <p:sp>
        <p:nvSpPr>
          <p:cNvPr id="41990" name="AutoShape 4"/>
          <p:cNvSpPr>
            <a:spLocks noChangeArrowheads="1"/>
          </p:cNvSpPr>
          <p:nvPr/>
        </p:nvSpPr>
        <p:spPr bwMode="auto">
          <a:xfrm>
            <a:off x="3335339" y="5867400"/>
            <a:ext cx="993775"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Verdana" panose="020B0604030504040204" pitchFamily="34" charset="0"/>
                <a:ea typeface="楷体_GB2312" pitchFamily="49" charset="-122"/>
              </a:rPr>
              <a:t>发</a:t>
            </a:r>
            <a:r>
              <a:rPr kumimoji="1" lang="en-US" altLang="zh-CN" sz="2000">
                <a:latin typeface="Verdana" panose="020B0604030504040204" pitchFamily="34" charset="0"/>
                <a:ea typeface="楷体_GB2312" pitchFamily="49" charset="-122"/>
              </a:rPr>
              <a:t>ACK</a:t>
            </a:r>
            <a:endParaRPr kumimoji="1" lang="en-US" altLang="zh-CN" sz="2000">
              <a:latin typeface="Verdana" panose="020B0604030504040204" pitchFamily="34" charset="0"/>
              <a:ea typeface="楷体_GB2312" pitchFamily="49" charset="-122"/>
            </a:endParaRPr>
          </a:p>
        </p:txBody>
      </p:sp>
      <p:cxnSp>
        <p:nvCxnSpPr>
          <p:cNvPr id="41991" name="AutoShape 5"/>
          <p:cNvCxnSpPr>
            <a:cxnSpLocks noChangeShapeType="1"/>
            <a:endCxn id="41989" idx="0"/>
          </p:cNvCxnSpPr>
          <p:nvPr/>
        </p:nvCxnSpPr>
        <p:spPr bwMode="auto">
          <a:xfrm>
            <a:off x="5094288" y="533400"/>
            <a:ext cx="0" cy="3810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1992" name="AutoShape 6"/>
          <p:cNvSpPr>
            <a:spLocks noChangeArrowheads="1"/>
          </p:cNvSpPr>
          <p:nvPr/>
        </p:nvSpPr>
        <p:spPr bwMode="auto">
          <a:xfrm>
            <a:off x="4024313" y="1752600"/>
            <a:ext cx="2138362" cy="990600"/>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endParaRPr kumimoji="1" lang="zh-CN" altLang="en-US" sz="2000">
              <a:latin typeface="Verdana" panose="020B0604030504040204" pitchFamily="34" charset="0"/>
              <a:ea typeface="楷体_GB2312" pitchFamily="49" charset="-122"/>
            </a:endParaRPr>
          </a:p>
        </p:txBody>
      </p:sp>
      <p:sp>
        <p:nvSpPr>
          <p:cNvPr id="41993" name="AutoShape 7"/>
          <p:cNvSpPr>
            <a:spLocks noChangeArrowheads="1"/>
          </p:cNvSpPr>
          <p:nvPr/>
        </p:nvSpPr>
        <p:spPr bwMode="auto">
          <a:xfrm>
            <a:off x="5404496" y="2819400"/>
            <a:ext cx="4441825"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从物理层取帧</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无错</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错丢弃</a:t>
            </a:r>
            <a:r>
              <a:rPr kumimoji="1" lang="en-US" altLang="zh-CN" sz="2000">
                <a:latin typeface="Verdana" panose="020B0604030504040204" pitchFamily="34" charset="0"/>
                <a:ea typeface="楷体_GB2312" pitchFamily="49" charset="-122"/>
              </a:rPr>
              <a:t>)</a:t>
            </a:r>
            <a:endParaRPr kumimoji="1" lang="en-US" altLang="zh-CN" sz="2000">
              <a:latin typeface="Verdana" panose="020B0604030504040204" pitchFamily="34" charset="0"/>
              <a:ea typeface="楷体_GB2312" pitchFamily="49" charset="-122"/>
            </a:endParaRPr>
          </a:p>
        </p:txBody>
      </p:sp>
      <p:sp>
        <p:nvSpPr>
          <p:cNvPr id="41994" name="AutoShape 8"/>
          <p:cNvSpPr>
            <a:spLocks noChangeArrowheads="1"/>
          </p:cNvSpPr>
          <p:nvPr/>
        </p:nvSpPr>
        <p:spPr bwMode="auto">
          <a:xfrm>
            <a:off x="7720584" y="4800600"/>
            <a:ext cx="3055937"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去头得</a:t>
            </a:r>
            <a:r>
              <a:rPr kumimoji="1" lang="en-US" altLang="zh-CN" sz="2000">
                <a:latin typeface="Verdana" panose="020B0604030504040204" pitchFamily="34" charset="0"/>
                <a:ea typeface="楷体_GB2312" pitchFamily="49" charset="-122"/>
              </a:rPr>
              <a:t>packet</a:t>
            </a:r>
            <a:r>
              <a:rPr kumimoji="1" lang="zh-CN" altLang="en-US" sz="2000">
                <a:latin typeface="Verdana" panose="020B0604030504040204" pitchFamily="34" charset="0"/>
                <a:ea typeface="楷体_GB2312" pitchFamily="49" charset="-122"/>
              </a:rPr>
              <a:t>送网络层</a:t>
            </a:r>
            <a:endParaRPr kumimoji="1" lang="zh-CN" altLang="en-US" sz="2000">
              <a:latin typeface="Verdana" panose="020B0604030504040204" pitchFamily="34" charset="0"/>
              <a:ea typeface="楷体_GB2312" pitchFamily="49" charset="-122"/>
            </a:endParaRPr>
          </a:p>
        </p:txBody>
      </p:sp>
      <p:cxnSp>
        <p:nvCxnSpPr>
          <p:cNvPr id="41995" name="AutoShape 9"/>
          <p:cNvCxnSpPr>
            <a:cxnSpLocks noChangeShapeType="1"/>
            <a:stCxn id="41992" idx="3"/>
            <a:endCxn id="41993" idx="0"/>
          </p:cNvCxnSpPr>
          <p:nvPr/>
        </p:nvCxnSpPr>
        <p:spPr bwMode="auto">
          <a:xfrm>
            <a:off x="6162676" y="2247900"/>
            <a:ext cx="1462733" cy="571500"/>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1996" name="AutoShape 10"/>
          <p:cNvCxnSpPr>
            <a:cxnSpLocks noChangeShapeType="1"/>
            <a:stCxn id="41989" idx="2"/>
          </p:cNvCxnSpPr>
          <p:nvPr/>
        </p:nvCxnSpPr>
        <p:spPr bwMode="auto">
          <a:xfrm>
            <a:off x="5094289" y="1371600"/>
            <a:ext cx="1587" cy="3810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1997" name="AutoShape 11"/>
          <p:cNvCxnSpPr>
            <a:cxnSpLocks noChangeShapeType="1"/>
            <a:stCxn id="41993" idx="2"/>
            <a:endCxn id="41999" idx="0"/>
          </p:cNvCxnSpPr>
          <p:nvPr/>
        </p:nvCxnSpPr>
        <p:spPr bwMode="auto">
          <a:xfrm>
            <a:off x="7625409" y="3276600"/>
            <a:ext cx="2753" cy="3048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1998" name="Text Box 12"/>
          <p:cNvSpPr txBox="1">
            <a:spLocks noChangeArrowheads="1"/>
          </p:cNvSpPr>
          <p:nvPr/>
        </p:nvSpPr>
        <p:spPr bwMode="auto">
          <a:xfrm>
            <a:off x="2495550" y="762000"/>
            <a:ext cx="79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endParaRPr kumimoji="1" lang="zh-CN" altLang="en-US" sz="2400">
              <a:solidFill>
                <a:srgbClr val="0000FF"/>
              </a:solidFill>
              <a:latin typeface="Verdana" panose="020B0604030504040204" pitchFamily="34" charset="0"/>
              <a:ea typeface="楷体_GB2312" pitchFamily="49" charset="-122"/>
            </a:endParaRPr>
          </a:p>
        </p:txBody>
      </p:sp>
      <p:sp>
        <p:nvSpPr>
          <p:cNvPr id="41999" name="AutoShape 13"/>
          <p:cNvSpPr>
            <a:spLocks noChangeArrowheads="1"/>
          </p:cNvSpPr>
          <p:nvPr/>
        </p:nvSpPr>
        <p:spPr bwMode="auto">
          <a:xfrm>
            <a:off x="6023992" y="3581400"/>
            <a:ext cx="3208338" cy="106680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帧序号</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希望序号？</a:t>
            </a:r>
            <a:endParaRPr kumimoji="1" lang="zh-CN" altLang="en-US" sz="2000">
              <a:latin typeface="Verdana" panose="020B0604030504040204" pitchFamily="34" charset="0"/>
              <a:ea typeface="楷体_GB2312" pitchFamily="49" charset="-122"/>
            </a:endParaRPr>
          </a:p>
        </p:txBody>
      </p:sp>
      <p:cxnSp>
        <p:nvCxnSpPr>
          <p:cNvPr id="42000" name="AutoShape 14"/>
          <p:cNvCxnSpPr>
            <a:cxnSpLocks noChangeShapeType="1"/>
          </p:cNvCxnSpPr>
          <p:nvPr/>
        </p:nvCxnSpPr>
        <p:spPr bwMode="auto">
          <a:xfrm rot="5400000">
            <a:off x="4933727" y="4914107"/>
            <a:ext cx="1981200" cy="382587"/>
          </a:xfrm>
          <a:prstGeom prst="bentConnector3">
            <a:avLst>
              <a:gd name="adj1" fmla="val -1046"/>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2001" name="Text Box 15"/>
          <p:cNvSpPr txBox="1">
            <a:spLocks noChangeArrowheads="1"/>
          </p:cNvSpPr>
          <p:nvPr/>
        </p:nvSpPr>
        <p:spPr bwMode="auto">
          <a:xfrm>
            <a:off x="5324252" y="3962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sp>
        <p:nvSpPr>
          <p:cNvPr id="42002" name="Text Box 16"/>
          <p:cNvSpPr txBox="1">
            <a:spLocks noChangeArrowheads="1"/>
          </p:cNvSpPr>
          <p:nvPr/>
        </p:nvSpPr>
        <p:spPr bwMode="auto">
          <a:xfrm>
            <a:off x="9247759" y="4003676"/>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2003" name="AutoShape 17"/>
          <p:cNvSpPr>
            <a:spLocks noChangeArrowheads="1"/>
          </p:cNvSpPr>
          <p:nvPr/>
        </p:nvSpPr>
        <p:spPr bwMode="auto">
          <a:xfrm>
            <a:off x="8331771" y="5486400"/>
            <a:ext cx="1833563" cy="45720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希望序号</a:t>
            </a:r>
            <a:r>
              <a:rPr kumimoji="1" lang="zh-CN" altLang="en-US" sz="2000" dirty="0">
                <a:solidFill>
                  <a:srgbClr val="FF0000"/>
                </a:solidFill>
                <a:latin typeface="Verdana" panose="020B0604030504040204" pitchFamily="34" charset="0"/>
                <a:ea typeface="楷体_GB2312" pitchFamily="49" charset="-122"/>
              </a:rPr>
              <a:t>变反</a:t>
            </a:r>
            <a:endParaRPr kumimoji="1" lang="zh-CN" altLang="en-US" sz="2000" dirty="0">
              <a:solidFill>
                <a:srgbClr val="FF0000"/>
              </a:solidFill>
              <a:latin typeface="Verdana" panose="020B0604030504040204" pitchFamily="34" charset="0"/>
              <a:ea typeface="楷体_GB2312" pitchFamily="49" charset="-122"/>
            </a:endParaRPr>
          </a:p>
        </p:txBody>
      </p:sp>
      <p:cxnSp>
        <p:nvCxnSpPr>
          <p:cNvPr id="42004" name="AutoShape 18"/>
          <p:cNvCxnSpPr>
            <a:cxnSpLocks noChangeShapeType="1"/>
            <a:stCxn id="41994" idx="2"/>
            <a:endCxn id="42003" idx="0"/>
          </p:cNvCxnSpPr>
          <p:nvPr/>
        </p:nvCxnSpPr>
        <p:spPr bwMode="auto">
          <a:xfrm>
            <a:off x="9247758" y="5257800"/>
            <a:ext cx="0" cy="2286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2005" name="Text Box 19"/>
          <p:cNvSpPr txBox="1">
            <a:spLocks noChangeArrowheads="1"/>
          </p:cNvSpPr>
          <p:nvPr/>
        </p:nvSpPr>
        <p:spPr bwMode="auto">
          <a:xfrm>
            <a:off x="6096001" y="1751014"/>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endParaRPr kumimoji="1" lang="en-US" altLang="zh-CN" sz="2000">
              <a:latin typeface="Verdana" panose="020B0604030504040204" pitchFamily="34" charset="0"/>
              <a:ea typeface="楷体_GB2312" pitchFamily="49" charset="-122"/>
            </a:endParaRPr>
          </a:p>
        </p:txBody>
      </p:sp>
      <p:sp>
        <p:nvSpPr>
          <p:cNvPr id="42006" name="Text Box 20"/>
          <p:cNvSpPr txBox="1">
            <a:spLocks noChangeArrowheads="1"/>
          </p:cNvSpPr>
          <p:nvPr/>
        </p:nvSpPr>
        <p:spPr bwMode="auto">
          <a:xfrm>
            <a:off x="3503613" y="2184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endParaRPr kumimoji="1" lang="en-US" altLang="zh-CN" sz="2000">
              <a:latin typeface="Verdana" panose="020B0604030504040204" pitchFamily="34" charset="0"/>
              <a:ea typeface="楷体_GB2312" pitchFamily="49" charset="-122"/>
            </a:endParaRPr>
          </a:p>
        </p:txBody>
      </p:sp>
      <p:cxnSp>
        <p:nvCxnSpPr>
          <p:cNvPr id="42007" name="AutoShape 21"/>
          <p:cNvCxnSpPr>
            <a:cxnSpLocks noChangeShapeType="1"/>
            <a:stCxn id="41999" idx="3"/>
            <a:endCxn id="41994" idx="0"/>
          </p:cNvCxnSpPr>
          <p:nvPr/>
        </p:nvCxnSpPr>
        <p:spPr bwMode="auto">
          <a:xfrm>
            <a:off x="9232330" y="4114800"/>
            <a:ext cx="16222" cy="6858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42008" name="AutoShape 22"/>
          <p:cNvCxnSpPr>
            <a:cxnSpLocks noChangeShapeType="1"/>
            <a:stCxn id="42003" idx="2"/>
            <a:endCxn id="41990" idx="3"/>
          </p:cNvCxnSpPr>
          <p:nvPr/>
        </p:nvCxnSpPr>
        <p:spPr bwMode="auto">
          <a:xfrm rot="5400000">
            <a:off x="6712633" y="3560082"/>
            <a:ext cx="152400" cy="4919439"/>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2009" name="AutoShape 23"/>
          <p:cNvCxnSpPr>
            <a:cxnSpLocks noChangeShapeType="1"/>
            <a:stCxn id="41990" idx="1"/>
          </p:cNvCxnSpPr>
          <p:nvPr/>
        </p:nvCxnSpPr>
        <p:spPr bwMode="auto">
          <a:xfrm rot="10800000" flipH="1">
            <a:off x="3335338" y="1600200"/>
            <a:ext cx="1757362" cy="4495800"/>
          </a:xfrm>
          <a:prstGeom prst="bentConnector4">
            <a:avLst>
              <a:gd name="adj1" fmla="val -17755"/>
              <a:gd name="adj2" fmla="val 102856"/>
            </a:avLst>
          </a:prstGeom>
          <a:noFill/>
          <a:ln w="9525">
            <a:solidFill>
              <a:srgbClr val="0000FF"/>
            </a:solidFill>
            <a:miter lim="800000"/>
            <a:tailEnd type="triangle" w="med" len="med"/>
          </a:ln>
          <a:extLst>
            <a:ext uri="{909E8E84-426E-40DD-AFC4-6F175D3DCCD1}">
              <a14:hiddenFill xmlns:a14="http://schemas.microsoft.com/office/drawing/2010/main">
                <a:noFill/>
              </a14:hiddenFill>
            </a:ext>
          </a:extLst>
        </p:spPr>
      </p:cxnSp>
      <p:cxnSp>
        <p:nvCxnSpPr>
          <p:cNvPr id="42010" name="AutoShape 24"/>
          <p:cNvCxnSpPr>
            <a:cxnSpLocks noChangeShapeType="1"/>
            <a:stCxn id="41992" idx="1"/>
          </p:cNvCxnSpPr>
          <p:nvPr/>
        </p:nvCxnSpPr>
        <p:spPr bwMode="auto">
          <a:xfrm flipH="1">
            <a:off x="3030539" y="2247900"/>
            <a:ext cx="993775"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页脚占位符 3"/>
          <p:cNvSpPr>
            <a:spLocks noGrp="1"/>
          </p:cNvSpPr>
          <p:nvPr>
            <p:ph type="ftr" sz="quarter" idx="10"/>
          </p:nvPr>
        </p:nvSpPr>
        <p:spPr/>
        <p:txBody>
          <a:bodyPr/>
          <a:lstStyle/>
          <a:p>
            <a:pPr>
              <a:defRPr/>
            </a:pPr>
            <a:r>
              <a:rPr lang="en-US" altLang="zh-CN" dirty="0"/>
              <a:t>Computer Network</a:t>
            </a:r>
            <a:endParaRPr lang="en-US" altLang="zh-CN" dirty="0"/>
          </a:p>
        </p:txBody>
      </p:sp>
      <p:sp>
        <p:nvSpPr>
          <p:cNvPr id="512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A09CB71-6237-493F-BEC8-344350E9D5AE}"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54" name="日期占位符 5"/>
          <p:cNvSpPr>
            <a:spLocks noGrp="1"/>
          </p:cNvSpPr>
          <p:nvPr>
            <p:ph type="dt" sz="quarter" idx="12"/>
          </p:nvPr>
        </p:nvSpPr>
        <p:spPr/>
        <p:txBody>
          <a:bodyPr/>
          <a:lstStyle/>
          <a:p>
            <a:pPr>
              <a:defRPr/>
            </a:pPr>
            <a:fld id="{393FA3CF-1822-4540-9821-D44B1EA8D8EC}" type="datetime1">
              <a:rPr lang="zh-CN" altLang="en-US"/>
            </a:fld>
            <a:endParaRPr lang="en-US" altLang="zh-CN"/>
          </a:p>
        </p:txBody>
      </p:sp>
      <p:sp>
        <p:nvSpPr>
          <p:cNvPr id="870402" name="Rectangle 2"/>
          <p:cNvSpPr>
            <a:spLocks noGrp="1" noChangeArrowheads="1"/>
          </p:cNvSpPr>
          <p:nvPr>
            <p:ph type="title"/>
          </p:nvPr>
        </p:nvSpPr>
        <p:spPr>
          <a:xfrm>
            <a:off x="1981200" y="702735"/>
            <a:ext cx="8345488" cy="609600"/>
          </a:xfrm>
        </p:spPr>
        <p:txBody>
          <a:bodyPr/>
          <a:lstStyle/>
          <a:p>
            <a:pPr eaLnBrk="1" hangingPunct="1">
              <a:defRPr/>
            </a:pPr>
            <a:r>
              <a:rPr lang="en-US" altLang="zh-CN" sz="2800" dirty="0">
                <a:solidFill>
                  <a:srgbClr val="0000FF"/>
                </a:solidFill>
              </a:rPr>
              <a:t>2</a:t>
            </a:r>
            <a:r>
              <a:rPr lang="zh-CN" altLang="en-US" sz="2800" dirty="0">
                <a:solidFill>
                  <a:srgbClr val="0000FF"/>
                </a:solidFill>
              </a:rPr>
              <a:t>、连续</a:t>
            </a:r>
            <a:r>
              <a:rPr lang="en-US" altLang="zh-CN" sz="2800" dirty="0">
                <a:solidFill>
                  <a:srgbClr val="0000FF"/>
                </a:solidFill>
              </a:rPr>
              <a:t>ARQ</a:t>
            </a:r>
            <a:r>
              <a:rPr lang="zh-CN" altLang="en-US" sz="2800" dirty="0">
                <a:solidFill>
                  <a:srgbClr val="0000FF"/>
                </a:solidFill>
              </a:rPr>
              <a:t>协议</a:t>
            </a:r>
            <a:r>
              <a:rPr lang="en-US" altLang="zh-CN" sz="2800" dirty="0">
                <a:solidFill>
                  <a:srgbClr val="0000FF"/>
                </a:solidFill>
              </a:rPr>
              <a:t>(</a:t>
            </a:r>
            <a:r>
              <a:rPr lang="zh-CN" altLang="en-US" sz="2800" dirty="0">
                <a:solidFill>
                  <a:srgbClr val="0000FF"/>
                </a:solidFill>
              </a:rPr>
              <a:t>又称</a:t>
            </a:r>
            <a:r>
              <a:rPr lang="en-US" altLang="zh-CN" sz="2800" dirty="0">
                <a:solidFill>
                  <a:srgbClr val="0000FF"/>
                </a:solidFill>
              </a:rPr>
              <a:t>Go-Back-N)【</a:t>
            </a:r>
            <a:r>
              <a:rPr lang="zh-CN" altLang="en-US" sz="2800" dirty="0">
                <a:solidFill>
                  <a:srgbClr val="0000FF"/>
                </a:solidFill>
              </a:rPr>
              <a:t>协议</a:t>
            </a:r>
            <a:r>
              <a:rPr lang="en-US" altLang="zh-CN" sz="2800" dirty="0">
                <a:solidFill>
                  <a:srgbClr val="0000FF"/>
                </a:solidFill>
              </a:rPr>
              <a:t>5】</a:t>
            </a:r>
            <a:endParaRPr lang="en-US" altLang="zh-CN" sz="2800" dirty="0">
              <a:solidFill>
                <a:srgbClr val="0000FF"/>
              </a:solidFill>
            </a:endParaRPr>
          </a:p>
        </p:txBody>
      </p:sp>
      <p:sp>
        <p:nvSpPr>
          <p:cNvPr id="870403" name="Rectangle 3"/>
          <p:cNvSpPr>
            <a:spLocks noGrp="1" noChangeArrowheads="1"/>
          </p:cNvSpPr>
          <p:nvPr>
            <p:ph type="body" idx="1"/>
          </p:nvPr>
        </p:nvSpPr>
        <p:spPr>
          <a:xfrm>
            <a:off x="2354264" y="1379010"/>
            <a:ext cx="7483475" cy="1309688"/>
          </a:xfrm>
        </p:spPr>
        <p:txBody>
          <a:bodyPr>
            <a:normAutofit fontScale="92500" lnSpcReduction="20000"/>
          </a:bodyPr>
          <a:lstStyle/>
          <a:p>
            <a:pPr eaLnBrk="1" hangingPunct="1">
              <a:lnSpc>
                <a:spcPct val="90000"/>
              </a:lnSpc>
              <a:buSzPct val="90000"/>
              <a:buFont typeface="Wingdings" panose="05000000000000000000" pitchFamily="2" charset="2"/>
              <a:buChar char="§"/>
              <a:defRPr/>
            </a:pPr>
            <a:r>
              <a:rPr lang="en-US" altLang="zh-CN" sz="2400" dirty="0">
                <a:solidFill>
                  <a:srgbClr val="0000FF"/>
                </a:solidFill>
                <a:effectLst>
                  <a:outerShdw blurRad="38100" dist="38100" dir="2700000" algn="tl">
                    <a:srgbClr val="C0C0C0"/>
                  </a:outerShdw>
                </a:effectLst>
                <a:ea typeface="楷体_GB2312" pitchFamily="49" charset="-122"/>
              </a:rPr>
              <a:t>A</a:t>
            </a:r>
            <a:r>
              <a:rPr lang="en-US" altLang="zh-CN" sz="2400" dirty="0">
                <a:ea typeface="楷体_GB2312" pitchFamily="49" charset="-122"/>
              </a:rPr>
              <a:t>utomatic </a:t>
            </a:r>
            <a:r>
              <a:rPr lang="en-US" altLang="zh-CN" sz="2400" dirty="0">
                <a:solidFill>
                  <a:srgbClr val="0000FF"/>
                </a:solidFill>
                <a:effectLst>
                  <a:outerShdw blurRad="38100" dist="38100" dir="2700000" algn="tl">
                    <a:srgbClr val="C0C0C0"/>
                  </a:outerShdw>
                </a:effectLst>
                <a:ea typeface="楷体_GB2312" pitchFamily="49" charset="-122"/>
              </a:rPr>
              <a:t>R</a:t>
            </a:r>
            <a:r>
              <a:rPr lang="en-US" altLang="zh-CN" sz="2400" dirty="0">
                <a:ea typeface="楷体_GB2312" pitchFamily="49" charset="-122"/>
              </a:rPr>
              <a:t>epeat </a:t>
            </a:r>
            <a:r>
              <a:rPr lang="en-US" altLang="zh-CN" sz="2400" dirty="0" err="1">
                <a:ea typeface="楷体_GB2312" pitchFamily="49" charset="-122"/>
              </a:rPr>
              <a:t>re</a:t>
            </a:r>
            <a:r>
              <a:rPr lang="en-US" altLang="zh-CN" sz="2400" dirty="0" err="1">
                <a:solidFill>
                  <a:srgbClr val="0000FF"/>
                </a:solidFill>
                <a:effectLst>
                  <a:outerShdw blurRad="38100" dist="38100" dir="2700000" algn="tl">
                    <a:srgbClr val="C0C0C0"/>
                  </a:outerShdw>
                </a:effectLst>
                <a:ea typeface="楷体_GB2312" pitchFamily="49" charset="-122"/>
              </a:rPr>
              <a:t>Q</a:t>
            </a:r>
            <a:r>
              <a:rPr lang="en-US" altLang="zh-CN" sz="2400" dirty="0" err="1">
                <a:ea typeface="楷体_GB2312" pitchFamily="49" charset="-122"/>
              </a:rPr>
              <a:t>uest</a:t>
            </a:r>
            <a:endParaRPr lang="en-US" altLang="zh-CN" sz="2400" dirty="0">
              <a:ea typeface="楷体_GB2312" pitchFamily="49" charset="-122"/>
            </a:endParaRPr>
          </a:p>
          <a:p>
            <a:pPr eaLnBrk="1" hangingPunct="1">
              <a:lnSpc>
                <a:spcPct val="90000"/>
              </a:lnSpc>
              <a:buSzPct val="90000"/>
              <a:buFont typeface="Wingdings" panose="05000000000000000000" pitchFamily="2" charset="2"/>
              <a:buChar char="§"/>
              <a:defRPr/>
            </a:pPr>
            <a:r>
              <a:rPr lang="zh-CN" altLang="en-US" sz="2400" dirty="0">
                <a:latin typeface="Times New Roman" panose="02020603050405020304" pitchFamily="18" charset="0"/>
                <a:ea typeface="楷体_GB2312" pitchFamily="49" charset="-122"/>
              </a:rPr>
              <a:t>发送窗口</a:t>
            </a:r>
            <a:r>
              <a:rPr lang="en-US" altLang="zh-CN" sz="2400" dirty="0">
                <a:latin typeface="Times New Roman" panose="02020603050405020304" pitchFamily="18" charset="0"/>
                <a:ea typeface="楷体_GB2312" pitchFamily="49" charset="-122"/>
              </a:rPr>
              <a:t>≥ 1</a:t>
            </a:r>
            <a:r>
              <a:rPr lang="zh-CN" altLang="en-US" sz="2400" dirty="0">
                <a:latin typeface="Times New Roman" panose="02020603050405020304" pitchFamily="18" charset="0"/>
                <a:ea typeface="楷体_GB2312" pitchFamily="49" charset="-122"/>
              </a:rPr>
              <a:t>，接收窗口</a:t>
            </a:r>
            <a:r>
              <a:rPr lang="en-US" altLang="zh-CN" sz="2400" dirty="0">
                <a:latin typeface="Times New Roman" panose="02020603050405020304" pitchFamily="18" charset="0"/>
                <a:ea typeface="楷体_GB2312" pitchFamily="49" charset="-122"/>
              </a:rPr>
              <a:t>≥1     </a:t>
            </a:r>
            <a:r>
              <a:rPr lang="en-US" altLang="zh-CN" sz="2400" dirty="0">
                <a:solidFill>
                  <a:srgbClr val="0000FF"/>
                </a:solidFill>
                <a:latin typeface="Verdana" panose="020B0604030504040204" pitchFamily="34" charset="0"/>
                <a:ea typeface="楷体_GB2312" pitchFamily="49" charset="-122"/>
              </a:rPr>
              <a:t> </a:t>
            </a:r>
            <a:r>
              <a:rPr lang="en-US" altLang="zh-CN" sz="2400" dirty="0">
                <a:solidFill>
                  <a:srgbClr val="0000FF"/>
                </a:solidFill>
                <a:ea typeface="楷体_GB2312" pitchFamily="49" charset="-122"/>
              </a:rPr>
              <a:t>W</a:t>
            </a:r>
            <a:r>
              <a:rPr lang="en-US" altLang="zh-CN" sz="2400" baseline="-25000" dirty="0">
                <a:solidFill>
                  <a:srgbClr val="0000FF"/>
                </a:solidFill>
                <a:ea typeface="楷体_GB2312" pitchFamily="49" charset="-122"/>
              </a:rPr>
              <a:t>T</a:t>
            </a:r>
            <a:r>
              <a:rPr lang="en-US" altLang="zh-CN" sz="2400" dirty="0">
                <a:solidFill>
                  <a:srgbClr val="0000FF"/>
                </a:solidFill>
                <a:ea typeface="楷体_GB2312" pitchFamily="49" charset="-122"/>
              </a:rPr>
              <a:t>=2</a:t>
            </a:r>
            <a:r>
              <a:rPr lang="en-US" altLang="zh-CN" sz="2400" baseline="30000" dirty="0">
                <a:solidFill>
                  <a:srgbClr val="0000FF"/>
                </a:solidFill>
                <a:ea typeface="楷体_GB2312" pitchFamily="49" charset="-122"/>
              </a:rPr>
              <a:t>n </a:t>
            </a:r>
            <a:r>
              <a:rPr lang="en-US" altLang="zh-CN" sz="2400" dirty="0">
                <a:solidFill>
                  <a:srgbClr val="0000FF"/>
                </a:solidFill>
                <a:ea typeface="楷体_GB2312" pitchFamily="49" charset="-122"/>
              </a:rPr>
              <a:t>– 1</a:t>
            </a:r>
            <a:r>
              <a:rPr lang="zh-CN" altLang="en-US" sz="2400" dirty="0">
                <a:solidFill>
                  <a:srgbClr val="0000FF"/>
                </a:solidFill>
                <a:ea typeface="楷体_GB2312" pitchFamily="49" charset="-122"/>
              </a:rPr>
              <a:t>时，</a:t>
            </a:r>
            <a:r>
              <a:rPr lang="en-US" altLang="zh-CN" sz="2400" dirty="0">
                <a:solidFill>
                  <a:srgbClr val="0000FF"/>
                </a:solidFill>
                <a:latin typeface="Verdana" panose="020B0604030504040204" pitchFamily="34" charset="0"/>
                <a:ea typeface="楷体_GB2312" pitchFamily="49" charset="-122"/>
              </a:rPr>
              <a:t>W</a:t>
            </a:r>
            <a:r>
              <a:rPr lang="en-US" altLang="zh-CN" sz="2400" baseline="-25000" dirty="0">
                <a:solidFill>
                  <a:srgbClr val="0000FF"/>
                </a:solidFill>
                <a:latin typeface="Verdana" panose="020B0604030504040204" pitchFamily="34" charset="0"/>
                <a:ea typeface="楷体_GB2312" pitchFamily="49" charset="-122"/>
              </a:rPr>
              <a:t>R</a:t>
            </a:r>
            <a:r>
              <a:rPr lang="en-US" altLang="zh-CN" sz="2400" dirty="0">
                <a:solidFill>
                  <a:srgbClr val="0000FF"/>
                </a:solidFill>
                <a:latin typeface="Verdana" panose="020B0604030504040204" pitchFamily="34" charset="0"/>
                <a:ea typeface="楷体_GB2312" pitchFamily="49" charset="-122"/>
              </a:rPr>
              <a:t>=1</a:t>
            </a:r>
            <a:r>
              <a:rPr lang="en-US" altLang="zh-CN" sz="2400" dirty="0">
                <a:latin typeface="Times New Roman" panose="02020603050405020304" pitchFamily="18" charset="0"/>
                <a:ea typeface="楷体_GB2312" pitchFamily="49" charset="-122"/>
              </a:rPr>
              <a:t> </a:t>
            </a:r>
            <a:endParaRPr lang="en-US" altLang="zh-CN" sz="2400" dirty="0">
              <a:latin typeface="Times New Roman" panose="02020603050405020304" pitchFamily="18" charset="0"/>
              <a:ea typeface="楷体_GB2312" pitchFamily="49" charset="-122"/>
            </a:endParaRPr>
          </a:p>
          <a:p>
            <a:pPr eaLnBrk="1" hangingPunct="1">
              <a:lnSpc>
                <a:spcPct val="90000"/>
              </a:lnSpc>
              <a:buSzPct val="90000"/>
              <a:buFont typeface="Wingdings" panose="05000000000000000000" pitchFamily="2" charset="2"/>
              <a:buChar char="§"/>
              <a:defRPr/>
            </a:pPr>
            <a:r>
              <a:rPr lang="en-US" altLang="zh-CN" sz="2400" dirty="0">
                <a:latin typeface="Times New Roman" panose="02020603050405020304" pitchFamily="18" charset="0"/>
                <a:ea typeface="楷体_GB2312" pitchFamily="49" charset="-122"/>
              </a:rPr>
              <a:t> </a:t>
            </a:r>
            <a:r>
              <a:rPr lang="en-US" altLang="zh-CN" sz="2400" dirty="0">
                <a:solidFill>
                  <a:srgbClr val="FF3300"/>
                </a:solidFill>
                <a:ea typeface="楷体_GB2312" pitchFamily="49" charset="-122"/>
              </a:rPr>
              <a:t>W</a:t>
            </a:r>
            <a:r>
              <a:rPr lang="en-US" altLang="zh-CN" sz="2400" baseline="-25000" dirty="0">
                <a:solidFill>
                  <a:srgbClr val="FF3300"/>
                </a:solidFill>
                <a:ea typeface="楷体_GB2312" pitchFamily="49" charset="-122"/>
              </a:rPr>
              <a:t>T</a:t>
            </a:r>
            <a:r>
              <a:rPr lang="en-US" altLang="zh-CN" sz="2400" dirty="0">
                <a:solidFill>
                  <a:srgbClr val="FF3300"/>
                </a:solidFill>
                <a:ea typeface="楷体_GB2312" pitchFamily="49" charset="-122"/>
              </a:rPr>
              <a:t> +</a:t>
            </a:r>
            <a:r>
              <a:rPr lang="en-US" altLang="zh-CN" sz="2400" dirty="0">
                <a:solidFill>
                  <a:srgbClr val="FF3300"/>
                </a:solidFill>
                <a:latin typeface="Verdana" panose="020B0604030504040204" pitchFamily="34" charset="0"/>
                <a:ea typeface="楷体_GB2312" pitchFamily="49" charset="-122"/>
              </a:rPr>
              <a:t>W</a:t>
            </a:r>
            <a:r>
              <a:rPr lang="en-US" altLang="zh-CN" sz="2400" baseline="-25000" dirty="0">
                <a:solidFill>
                  <a:srgbClr val="FF3300"/>
                </a:solidFill>
                <a:latin typeface="Verdana" panose="020B0604030504040204" pitchFamily="34" charset="0"/>
                <a:ea typeface="楷体_GB2312" pitchFamily="49" charset="-122"/>
              </a:rPr>
              <a:t>R</a:t>
            </a:r>
            <a:r>
              <a:rPr lang="en-US" altLang="zh-CN" sz="2400" dirty="0">
                <a:solidFill>
                  <a:srgbClr val="FF3300"/>
                </a:solidFill>
                <a:ea typeface="楷体_GB2312" pitchFamily="49" charset="-122"/>
              </a:rPr>
              <a:t>≤ 2</a:t>
            </a:r>
            <a:r>
              <a:rPr lang="en-US" altLang="zh-CN" sz="2400" baseline="30000" dirty="0">
                <a:solidFill>
                  <a:srgbClr val="FF3300"/>
                </a:solidFill>
                <a:ea typeface="楷体_GB2312" pitchFamily="49" charset="-122"/>
              </a:rPr>
              <a:t>n </a:t>
            </a:r>
            <a:r>
              <a:rPr lang="zh-CN" altLang="en-US" sz="2400" dirty="0">
                <a:solidFill>
                  <a:srgbClr val="FF3300"/>
                </a:solidFill>
                <a:ea typeface="楷体_GB2312" pitchFamily="49" charset="-122"/>
              </a:rPr>
              <a:t>成立</a:t>
            </a:r>
            <a:r>
              <a:rPr lang="zh-CN" altLang="en-US" sz="2000" dirty="0">
                <a:solidFill>
                  <a:srgbClr val="FF66FF"/>
                </a:solidFill>
                <a:ea typeface="楷体_GB2312" pitchFamily="49" charset="-122"/>
              </a:rPr>
              <a:t>  </a:t>
            </a:r>
            <a:r>
              <a:rPr lang="en-US" altLang="zh-CN" sz="2000" dirty="0">
                <a:solidFill>
                  <a:srgbClr val="CC0099"/>
                </a:solidFill>
                <a:ea typeface="楷体_GB2312" pitchFamily="49" charset="-122"/>
              </a:rPr>
              <a:t>(</a:t>
            </a:r>
            <a:r>
              <a:rPr lang="zh-CN" altLang="en-US" sz="2000" dirty="0">
                <a:solidFill>
                  <a:srgbClr val="CC0099"/>
                </a:solidFill>
                <a:ea typeface="楷体_GB2312" pitchFamily="49" charset="-122"/>
              </a:rPr>
              <a:t>原因见教材后习题</a:t>
            </a:r>
            <a:r>
              <a:rPr lang="en-US" altLang="zh-CN" sz="2000" dirty="0">
                <a:solidFill>
                  <a:srgbClr val="CC0099"/>
                </a:solidFill>
                <a:ea typeface="楷体_GB2312" pitchFamily="49" charset="-122"/>
              </a:rPr>
              <a:t>)</a:t>
            </a:r>
            <a:endParaRPr lang="en-US" altLang="zh-CN" sz="2000" dirty="0">
              <a:solidFill>
                <a:srgbClr val="CC0099"/>
              </a:solidFill>
              <a:ea typeface="楷体_GB2312" pitchFamily="49" charset="-122"/>
            </a:endParaRPr>
          </a:p>
          <a:p>
            <a:pPr eaLnBrk="1" hangingPunct="1">
              <a:lnSpc>
                <a:spcPct val="90000"/>
              </a:lnSpc>
              <a:buSzPct val="90000"/>
              <a:buFont typeface="Wingdings" panose="05000000000000000000" pitchFamily="2" charset="2"/>
              <a:buChar char="§"/>
              <a:defRPr/>
            </a:pPr>
            <a:r>
              <a:rPr lang="zh-CN" altLang="en-US" sz="2000" dirty="0">
                <a:solidFill>
                  <a:srgbClr val="CC0099"/>
                </a:solidFill>
                <a:latin typeface="Verdana" panose="020B0604030504040204" pitchFamily="34" charset="0"/>
                <a:ea typeface="楷体_GB2312" pitchFamily="49" charset="-122"/>
              </a:rPr>
              <a:t>例：设</a:t>
            </a:r>
            <a:r>
              <a:rPr lang="en-US" altLang="zh-CN" sz="2000" dirty="0">
                <a:solidFill>
                  <a:srgbClr val="CC0099"/>
                </a:solidFill>
                <a:latin typeface="Verdana" panose="020B0604030504040204" pitchFamily="34" charset="0"/>
                <a:ea typeface="楷体_GB2312" pitchFamily="49" charset="-122"/>
              </a:rPr>
              <a:t>n=3</a:t>
            </a:r>
            <a:r>
              <a:rPr lang="zh-CN" altLang="en-US" sz="2000" dirty="0">
                <a:solidFill>
                  <a:srgbClr val="CC0099"/>
                </a:solidFill>
                <a:latin typeface="Verdana" panose="020B0604030504040204" pitchFamily="34" charset="0"/>
                <a:ea typeface="楷体_GB2312" pitchFamily="49" charset="-122"/>
              </a:rPr>
              <a:t>，</a:t>
            </a:r>
            <a:r>
              <a:rPr lang="en-US" altLang="zh-CN" sz="2000" dirty="0">
                <a:solidFill>
                  <a:srgbClr val="CC0099"/>
                </a:solidFill>
                <a:latin typeface="Verdana" panose="020B0604030504040204" pitchFamily="34" charset="0"/>
                <a:ea typeface="楷体_GB2312" pitchFamily="49" charset="-122"/>
              </a:rPr>
              <a:t>W</a:t>
            </a:r>
            <a:r>
              <a:rPr lang="en-US" altLang="zh-CN" sz="1100" dirty="0">
                <a:solidFill>
                  <a:srgbClr val="CC0099"/>
                </a:solidFill>
                <a:latin typeface="Verdana" panose="020B0604030504040204" pitchFamily="34" charset="0"/>
                <a:ea typeface="楷体_GB2312" pitchFamily="49" charset="-122"/>
              </a:rPr>
              <a:t>T</a:t>
            </a:r>
            <a:r>
              <a:rPr lang="en-US" altLang="zh-CN" sz="2000" dirty="0">
                <a:solidFill>
                  <a:srgbClr val="CC0099"/>
                </a:solidFill>
                <a:latin typeface="Verdana" panose="020B0604030504040204" pitchFamily="34" charset="0"/>
                <a:ea typeface="楷体_GB2312" pitchFamily="49" charset="-122"/>
              </a:rPr>
              <a:t>=7</a:t>
            </a:r>
            <a:r>
              <a:rPr lang="zh-CN" altLang="en-US" sz="2000" dirty="0">
                <a:solidFill>
                  <a:srgbClr val="CC0099"/>
                </a:solidFill>
                <a:latin typeface="Verdana" panose="020B0604030504040204" pitchFamily="34" charset="0"/>
                <a:ea typeface="楷体_GB2312" pitchFamily="49" charset="-122"/>
              </a:rPr>
              <a:t>，</a:t>
            </a:r>
            <a:r>
              <a:rPr lang="en-US" altLang="zh-CN" sz="2000" dirty="0">
                <a:solidFill>
                  <a:srgbClr val="CC0099"/>
                </a:solidFill>
                <a:latin typeface="Verdana" panose="020B0604030504040204" pitchFamily="34" charset="0"/>
                <a:ea typeface="楷体_GB2312" pitchFamily="49" charset="-122"/>
              </a:rPr>
              <a:t>W</a:t>
            </a:r>
            <a:r>
              <a:rPr lang="en-US" altLang="zh-CN" sz="1200" dirty="0">
                <a:solidFill>
                  <a:srgbClr val="CC0099"/>
                </a:solidFill>
                <a:latin typeface="Verdana" panose="020B0604030504040204" pitchFamily="34" charset="0"/>
                <a:ea typeface="楷体_GB2312" pitchFamily="49" charset="-122"/>
              </a:rPr>
              <a:t>R</a:t>
            </a:r>
            <a:r>
              <a:rPr lang="en-US" altLang="zh-CN" sz="2000" dirty="0">
                <a:solidFill>
                  <a:srgbClr val="CC0099"/>
                </a:solidFill>
                <a:latin typeface="Verdana" panose="020B0604030504040204" pitchFamily="34" charset="0"/>
                <a:ea typeface="楷体_GB2312" pitchFamily="49" charset="-122"/>
              </a:rPr>
              <a:t>=1</a:t>
            </a:r>
            <a:endParaRPr lang="en-US" altLang="zh-CN" sz="2000" dirty="0">
              <a:solidFill>
                <a:srgbClr val="CC0099"/>
              </a:solidFill>
              <a:latin typeface="Verdana" panose="020B0604030504040204" pitchFamily="34" charset="0"/>
              <a:ea typeface="楷体_GB2312" pitchFamily="49" charset="-122"/>
            </a:endParaRPr>
          </a:p>
        </p:txBody>
      </p:sp>
      <p:sp>
        <p:nvSpPr>
          <p:cNvPr id="51207" name="Rectangle 4"/>
          <p:cNvSpPr>
            <a:spLocks noChangeArrowheads="1"/>
          </p:cNvSpPr>
          <p:nvPr/>
        </p:nvSpPr>
        <p:spPr bwMode="auto">
          <a:xfrm>
            <a:off x="7688264" y="5279498"/>
            <a:ext cx="2511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缺点：浪费带宽</a:t>
            </a:r>
            <a:endParaRPr kumimoji="1" lang="zh-CN" altLang="en-US" sz="2400">
              <a:solidFill>
                <a:srgbClr val="0000FF"/>
              </a:solidFill>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优点：省存储器</a:t>
            </a:r>
            <a:endParaRPr kumimoji="1" lang="zh-CN" altLang="en-US" sz="2400">
              <a:solidFill>
                <a:srgbClr val="0000FF"/>
              </a:solidFill>
              <a:latin typeface="Times New Roman" panose="02020603050405020304" pitchFamily="18" charset="0"/>
              <a:ea typeface="楷体_GB2312" pitchFamily="49" charset="-122"/>
            </a:endParaRPr>
          </a:p>
        </p:txBody>
      </p:sp>
      <p:sp>
        <p:nvSpPr>
          <p:cNvPr id="51208" name="Text Box 5"/>
          <p:cNvSpPr txBox="1">
            <a:spLocks noChangeArrowheads="1"/>
          </p:cNvSpPr>
          <p:nvPr/>
        </p:nvSpPr>
        <p:spPr bwMode="auto">
          <a:xfrm>
            <a:off x="1905001" y="294428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发方：</a:t>
            </a:r>
            <a:endParaRPr kumimoji="1" lang="zh-CN" altLang="en-US" sz="2400">
              <a:solidFill>
                <a:srgbClr val="0000FF"/>
              </a:solidFill>
              <a:latin typeface="Times New Roman" panose="02020603050405020304" pitchFamily="18" charset="0"/>
              <a:ea typeface="楷体_GB2312" pitchFamily="49" charset="-122"/>
            </a:endParaRPr>
          </a:p>
        </p:txBody>
      </p:sp>
      <p:sp>
        <p:nvSpPr>
          <p:cNvPr id="51209" name="Text Box 6"/>
          <p:cNvSpPr txBox="1">
            <a:spLocks noChangeArrowheads="1"/>
          </p:cNvSpPr>
          <p:nvPr/>
        </p:nvSpPr>
        <p:spPr bwMode="auto">
          <a:xfrm>
            <a:off x="1920876" y="4447648"/>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收方：</a:t>
            </a:r>
            <a:endParaRPr kumimoji="1" lang="zh-CN" altLang="en-US" sz="2400">
              <a:solidFill>
                <a:srgbClr val="0000FF"/>
              </a:solidFill>
              <a:latin typeface="Times New Roman" panose="02020603050405020304" pitchFamily="18" charset="0"/>
              <a:ea typeface="楷体_GB2312" pitchFamily="49" charset="-122"/>
            </a:endParaRPr>
          </a:p>
        </p:txBody>
      </p:sp>
      <p:sp>
        <p:nvSpPr>
          <p:cNvPr id="51210" name="Text Box 7"/>
          <p:cNvSpPr txBox="1">
            <a:spLocks noChangeArrowheads="1"/>
          </p:cNvSpPr>
          <p:nvPr/>
        </p:nvSpPr>
        <p:spPr bwMode="auto">
          <a:xfrm>
            <a:off x="3140075" y="3020485"/>
            <a:ext cx="6916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a:t>
            </a:r>
            <a:r>
              <a:rPr kumimoji="1" lang="en-US" altLang="zh-CN" sz="2400" b="1">
                <a:solidFill>
                  <a:srgbClr val="FF0000"/>
                </a:solidFill>
                <a:latin typeface="Times New Roman" panose="02020603050405020304" pitchFamily="18" charset="0"/>
              </a:rPr>
              <a:t>2   3   4   5   6   7   0     </a:t>
            </a:r>
            <a:r>
              <a:rPr kumimoji="1" lang="en-US" altLang="zh-CN" sz="2400" b="1">
                <a:latin typeface="Times New Roman" panose="02020603050405020304" pitchFamily="18" charset="0"/>
              </a:rPr>
              <a:t>2   3   4   5   6   7   0   1</a:t>
            </a:r>
            <a:endParaRPr kumimoji="1" lang="en-US" altLang="zh-CN" sz="2400">
              <a:latin typeface="Times New Roman" panose="02020603050405020304" pitchFamily="18" charset="0"/>
            </a:endParaRPr>
          </a:p>
        </p:txBody>
      </p:sp>
      <p:sp>
        <p:nvSpPr>
          <p:cNvPr id="51211" name="Text Box 8"/>
          <p:cNvSpPr txBox="1">
            <a:spLocks noChangeArrowheads="1"/>
          </p:cNvSpPr>
          <p:nvPr/>
        </p:nvSpPr>
        <p:spPr bwMode="auto">
          <a:xfrm>
            <a:off x="3521076" y="4447648"/>
            <a:ext cx="6678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E  D  D  D  D  D  D     2   3   4   5   6   7   0  1</a:t>
            </a:r>
            <a:endParaRPr kumimoji="1" lang="en-US" altLang="zh-CN" sz="2400">
              <a:latin typeface="Times New Roman" panose="02020603050405020304" pitchFamily="18" charset="0"/>
            </a:endParaRPr>
          </a:p>
        </p:txBody>
      </p:sp>
      <p:sp>
        <p:nvSpPr>
          <p:cNvPr id="51212" name="Line 9"/>
          <p:cNvSpPr>
            <a:spLocks noChangeShapeType="1"/>
          </p:cNvSpPr>
          <p:nvPr/>
        </p:nvSpPr>
        <p:spPr bwMode="auto">
          <a:xfrm>
            <a:off x="3313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3" name="Line 10"/>
          <p:cNvSpPr>
            <a:spLocks noChangeShapeType="1"/>
          </p:cNvSpPr>
          <p:nvPr/>
        </p:nvSpPr>
        <p:spPr bwMode="auto">
          <a:xfrm>
            <a:off x="3694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4" name="Line 11"/>
          <p:cNvSpPr>
            <a:spLocks noChangeShapeType="1"/>
          </p:cNvSpPr>
          <p:nvPr/>
        </p:nvSpPr>
        <p:spPr bwMode="auto">
          <a:xfrm flipV="1">
            <a:off x="367347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5" name="Line 12"/>
          <p:cNvSpPr>
            <a:spLocks noChangeShapeType="1"/>
          </p:cNvSpPr>
          <p:nvPr/>
        </p:nvSpPr>
        <p:spPr bwMode="auto">
          <a:xfrm flipV="1">
            <a:off x="405447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6" name="Line 13"/>
          <p:cNvSpPr>
            <a:spLocks noChangeShapeType="1"/>
          </p:cNvSpPr>
          <p:nvPr/>
        </p:nvSpPr>
        <p:spPr bwMode="auto">
          <a:xfrm flipV="1">
            <a:off x="728662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7" name="Line 14"/>
          <p:cNvSpPr>
            <a:spLocks noChangeShapeType="1"/>
          </p:cNvSpPr>
          <p:nvPr/>
        </p:nvSpPr>
        <p:spPr bwMode="auto">
          <a:xfrm flipV="1">
            <a:off x="766762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8" name="Line 15"/>
          <p:cNvSpPr>
            <a:spLocks noChangeShapeType="1"/>
          </p:cNvSpPr>
          <p:nvPr/>
        </p:nvSpPr>
        <p:spPr bwMode="auto">
          <a:xfrm flipV="1">
            <a:off x="804862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9" name="Line 16"/>
          <p:cNvSpPr>
            <a:spLocks noChangeShapeType="1"/>
          </p:cNvSpPr>
          <p:nvPr/>
        </p:nvSpPr>
        <p:spPr bwMode="auto">
          <a:xfrm flipV="1">
            <a:off x="8429625" y="3380848"/>
            <a:ext cx="1143000" cy="114300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0" name="Text Box 17"/>
          <p:cNvSpPr txBox="1">
            <a:spLocks noChangeArrowheads="1"/>
          </p:cNvSpPr>
          <p:nvPr/>
        </p:nvSpPr>
        <p:spPr bwMode="auto">
          <a:xfrm rot="-2700000">
            <a:off x="3752851" y="35332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endParaRPr kumimoji="1" lang="en-US" altLang="zh-CN" sz="2400">
              <a:latin typeface="Times New Roman" panose="02020603050405020304" pitchFamily="18" charset="0"/>
            </a:endParaRPr>
          </a:p>
        </p:txBody>
      </p:sp>
      <p:sp>
        <p:nvSpPr>
          <p:cNvPr id="51221" name="Text Box 18"/>
          <p:cNvSpPr txBox="1">
            <a:spLocks noChangeArrowheads="1"/>
          </p:cNvSpPr>
          <p:nvPr/>
        </p:nvSpPr>
        <p:spPr bwMode="auto">
          <a:xfrm rot="-2700000">
            <a:off x="4054476" y="36856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ack1</a:t>
            </a:r>
            <a:endParaRPr kumimoji="1" lang="en-US" altLang="zh-CN" sz="2400">
              <a:latin typeface="Times New Roman" panose="02020603050405020304" pitchFamily="18" charset="0"/>
            </a:endParaRPr>
          </a:p>
        </p:txBody>
      </p:sp>
      <p:sp>
        <p:nvSpPr>
          <p:cNvPr id="51222" name="Text Box 19"/>
          <p:cNvSpPr txBox="1">
            <a:spLocks noChangeArrowheads="1"/>
          </p:cNvSpPr>
          <p:nvPr/>
        </p:nvSpPr>
        <p:spPr bwMode="auto">
          <a:xfrm rot="-2700000">
            <a:off x="7270751" y="36094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ack2</a:t>
            </a:r>
            <a:endParaRPr kumimoji="1" lang="en-US" altLang="zh-CN" sz="2400">
              <a:latin typeface="Times New Roman" panose="02020603050405020304" pitchFamily="18" charset="0"/>
            </a:endParaRPr>
          </a:p>
        </p:txBody>
      </p:sp>
      <p:sp>
        <p:nvSpPr>
          <p:cNvPr id="51223" name="Text Box 20"/>
          <p:cNvSpPr txBox="1">
            <a:spLocks noChangeArrowheads="1"/>
          </p:cNvSpPr>
          <p:nvPr/>
        </p:nvSpPr>
        <p:spPr bwMode="auto">
          <a:xfrm rot="-2700000">
            <a:off x="7667626" y="36856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ack3</a:t>
            </a:r>
            <a:endParaRPr kumimoji="1" lang="en-US" altLang="zh-CN" sz="2400">
              <a:latin typeface="Times New Roman" panose="02020603050405020304" pitchFamily="18" charset="0"/>
            </a:endParaRPr>
          </a:p>
        </p:txBody>
      </p:sp>
      <p:sp>
        <p:nvSpPr>
          <p:cNvPr id="51224" name="Text Box 21"/>
          <p:cNvSpPr txBox="1">
            <a:spLocks noChangeArrowheads="1"/>
          </p:cNvSpPr>
          <p:nvPr/>
        </p:nvSpPr>
        <p:spPr bwMode="auto">
          <a:xfrm rot="-2700000">
            <a:off x="7972426" y="37618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ack4</a:t>
            </a:r>
            <a:endParaRPr kumimoji="1" lang="en-US" altLang="zh-CN" sz="2400">
              <a:latin typeface="Times New Roman" panose="02020603050405020304" pitchFamily="18" charset="0"/>
            </a:endParaRPr>
          </a:p>
        </p:txBody>
      </p:sp>
      <p:sp>
        <p:nvSpPr>
          <p:cNvPr id="51225" name="Text Box 22"/>
          <p:cNvSpPr txBox="1">
            <a:spLocks noChangeArrowheads="1"/>
          </p:cNvSpPr>
          <p:nvPr/>
        </p:nvSpPr>
        <p:spPr bwMode="auto">
          <a:xfrm rot="-2700000">
            <a:off x="8353426" y="37618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ack5</a:t>
            </a:r>
            <a:endParaRPr kumimoji="1" lang="en-US" altLang="zh-CN" sz="2400">
              <a:latin typeface="Times New Roman" panose="02020603050405020304" pitchFamily="18" charset="0"/>
            </a:endParaRPr>
          </a:p>
        </p:txBody>
      </p:sp>
      <p:sp>
        <p:nvSpPr>
          <p:cNvPr id="51226" name="AutoShape 23"/>
          <p:cNvSpPr/>
          <p:nvPr/>
        </p:nvSpPr>
        <p:spPr bwMode="auto">
          <a:xfrm rot="-5400000">
            <a:off x="3768725" y="4733398"/>
            <a:ext cx="190500" cy="381000"/>
          </a:xfrm>
          <a:prstGeom prst="leftBrace">
            <a:avLst>
              <a:gd name="adj1" fmla="val 16667"/>
              <a:gd name="adj2" fmla="val 50000"/>
            </a:avLst>
          </a:prstGeom>
          <a:noFill/>
          <a:ln w="9525">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1227" name="AutoShape 24"/>
          <p:cNvSpPr/>
          <p:nvPr/>
        </p:nvSpPr>
        <p:spPr bwMode="auto">
          <a:xfrm rot="-5400000">
            <a:off x="5635625" y="3933298"/>
            <a:ext cx="190500" cy="1981200"/>
          </a:xfrm>
          <a:prstGeom prst="leftBrace">
            <a:avLst>
              <a:gd name="adj1" fmla="val 86667"/>
              <a:gd name="adj2" fmla="val 50000"/>
            </a:avLst>
          </a:prstGeom>
          <a:noFill/>
          <a:ln w="9525">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1228" name="Text Box 25"/>
          <p:cNvSpPr txBox="1">
            <a:spLocks noChangeArrowheads="1"/>
          </p:cNvSpPr>
          <p:nvPr/>
        </p:nvSpPr>
        <p:spPr bwMode="auto">
          <a:xfrm>
            <a:off x="3444875" y="5109636"/>
            <a:ext cx="438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到</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接</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a:t>
            </a:r>
            <a:endParaRPr kumimoji="1" lang="zh-CN" altLang="en-US" sz="2400">
              <a:latin typeface="Times New Roman" panose="02020603050405020304" pitchFamily="18" charset="0"/>
              <a:ea typeface="楷体_GB2312" pitchFamily="49" charset="-122"/>
            </a:endParaRPr>
          </a:p>
        </p:txBody>
      </p:sp>
      <p:sp>
        <p:nvSpPr>
          <p:cNvPr id="51229" name="Text Box 26"/>
          <p:cNvSpPr txBox="1">
            <a:spLocks noChangeArrowheads="1"/>
          </p:cNvSpPr>
          <p:nvPr/>
        </p:nvSpPr>
        <p:spPr bwMode="auto">
          <a:xfrm>
            <a:off x="3749675" y="4832351"/>
            <a:ext cx="4381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窗</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口</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下</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界</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endParaRPr kumimoji="1" lang="zh-CN" altLang="en-US" sz="2400">
              <a:latin typeface="Times New Roman" panose="02020603050405020304" pitchFamily="18" charset="0"/>
              <a:ea typeface="楷体_GB2312" pitchFamily="49" charset="-122"/>
            </a:endParaRPr>
          </a:p>
        </p:txBody>
      </p:sp>
      <p:sp>
        <p:nvSpPr>
          <p:cNvPr id="51230" name="Text Box 27"/>
          <p:cNvSpPr txBox="1">
            <a:spLocks noChangeArrowheads="1"/>
          </p:cNvSpPr>
          <p:nvPr/>
        </p:nvSpPr>
        <p:spPr bwMode="auto">
          <a:xfrm>
            <a:off x="4283076" y="4822826"/>
            <a:ext cx="696913"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错</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误</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丢</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弃</a:t>
            </a:r>
            <a:endParaRPr kumimoji="1" lang="zh-CN" altLang="en-US" sz="2400">
              <a:latin typeface="Times New Roman" panose="02020603050405020304" pitchFamily="18" charset="0"/>
              <a:ea typeface="楷体_GB2312" pitchFamily="49" charset="-122"/>
            </a:endParaRPr>
          </a:p>
        </p:txBody>
      </p:sp>
      <p:sp>
        <p:nvSpPr>
          <p:cNvPr id="51231" name="Text Box 28"/>
          <p:cNvSpPr txBox="1">
            <a:spLocks noChangeArrowheads="1"/>
          </p:cNvSpPr>
          <p:nvPr/>
        </p:nvSpPr>
        <p:spPr bwMode="auto">
          <a:xfrm>
            <a:off x="4892675" y="5001686"/>
            <a:ext cx="19954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收到接收窗口外</a:t>
            </a:r>
            <a:endParaRPr kumimoji="1" lang="zh-CN" altLang="en-US" sz="2000">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r>
              <a:rPr kumimoji="1" lang="en-US" altLang="zh-CN" sz="2000">
                <a:latin typeface="Times New Roman" panose="02020603050405020304" pitchFamily="18" charset="0"/>
                <a:ea typeface="楷体_GB2312" pitchFamily="49" charset="-122"/>
              </a:rPr>
              <a:t>, </a:t>
            </a:r>
            <a:r>
              <a:rPr kumimoji="1" lang="zh-CN" altLang="en-US" sz="2000">
                <a:latin typeface="Times New Roman" panose="02020603050405020304" pitchFamily="18" charset="0"/>
                <a:ea typeface="楷体_GB2312" pitchFamily="49" charset="-122"/>
              </a:rPr>
              <a:t>丢弃，</a:t>
            </a:r>
            <a:endParaRPr kumimoji="1" lang="en-US" altLang="zh-CN" sz="2400">
              <a:solidFill>
                <a:srgbClr val="FF3300"/>
              </a:solidFill>
              <a:latin typeface="Times New Roman" panose="02020603050405020304" pitchFamily="18" charset="0"/>
              <a:ea typeface="楷体_GB2312" pitchFamily="49" charset="-122"/>
            </a:endParaRPr>
          </a:p>
        </p:txBody>
      </p:sp>
      <p:sp>
        <p:nvSpPr>
          <p:cNvPr id="51232" name="Text Box 29"/>
          <p:cNvSpPr txBox="1">
            <a:spLocks noChangeArrowheads="1"/>
          </p:cNvSpPr>
          <p:nvPr/>
        </p:nvSpPr>
        <p:spPr bwMode="auto">
          <a:xfrm>
            <a:off x="6950075" y="4925486"/>
            <a:ext cx="4381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楷体_GB2312" pitchFamily="49" charset="-122"/>
                <a:ea typeface="楷体_GB2312" pitchFamily="49" charset="-122"/>
              </a:rPr>
              <a:t>重</a:t>
            </a:r>
            <a:endParaRPr kumimoji="1" lang="zh-CN" altLang="en-US" sz="2000">
              <a:latin typeface="楷体_GB2312" pitchFamily="49" charset="-122"/>
              <a:ea typeface="楷体_GB2312" pitchFamily="49" charset="-122"/>
            </a:endParaRPr>
          </a:p>
          <a:p>
            <a:pPr algn="ctr" eaLnBrk="1" hangingPunct="1">
              <a:spcBef>
                <a:spcPct val="0"/>
              </a:spcBef>
              <a:buClrTx/>
              <a:buSzTx/>
              <a:buFontTx/>
              <a:buNone/>
            </a:pPr>
            <a:r>
              <a:rPr kumimoji="1" lang="zh-CN" altLang="en-US" sz="2000">
                <a:latin typeface="楷体_GB2312" pitchFamily="49" charset="-122"/>
                <a:ea typeface="楷体_GB2312" pitchFamily="49" charset="-122"/>
              </a:rPr>
              <a:t>发</a:t>
            </a:r>
            <a:endParaRPr kumimoji="1" lang="zh-CN" altLang="en-US" sz="2000">
              <a:latin typeface="楷体_GB2312" pitchFamily="49" charset="-122"/>
              <a:ea typeface="楷体_GB2312" pitchFamily="49" charset="-122"/>
            </a:endParaRPr>
          </a:p>
          <a:p>
            <a:pPr algn="ctr" eaLnBrk="1" hangingPunct="1">
              <a:spcBef>
                <a:spcPct val="0"/>
              </a:spcBef>
              <a:buClrTx/>
              <a:buSzTx/>
              <a:buFontTx/>
              <a:buNone/>
            </a:pPr>
            <a:r>
              <a:rPr kumimoji="1" lang="en-US" altLang="zh-CN" sz="2000">
                <a:latin typeface="楷体_GB2312" pitchFamily="49" charset="-122"/>
                <a:ea typeface="楷体_GB2312" pitchFamily="49" charset="-122"/>
              </a:rPr>
              <a:t>2</a:t>
            </a:r>
            <a:endParaRPr kumimoji="1" lang="en-US" altLang="zh-CN" sz="2000">
              <a:latin typeface="楷体_GB2312" pitchFamily="49" charset="-122"/>
              <a:ea typeface="楷体_GB2312" pitchFamily="49" charset="-122"/>
            </a:endParaRPr>
          </a:p>
          <a:p>
            <a:pPr algn="ctr" eaLnBrk="1" hangingPunct="1">
              <a:spcBef>
                <a:spcPct val="0"/>
              </a:spcBef>
              <a:buClrTx/>
              <a:buSzTx/>
              <a:buFontTx/>
              <a:buNone/>
            </a:pPr>
            <a:r>
              <a:rPr kumimoji="1" lang="zh-CN" altLang="en-US" sz="2000">
                <a:latin typeface="楷体_GB2312" pitchFamily="49" charset="-122"/>
                <a:ea typeface="楷体_GB2312" pitchFamily="49" charset="-122"/>
              </a:rPr>
              <a:t>号</a:t>
            </a:r>
            <a:endParaRPr kumimoji="1" lang="zh-CN" altLang="en-US" sz="2000">
              <a:latin typeface="楷体_GB2312" pitchFamily="49" charset="-122"/>
              <a:ea typeface="楷体_GB2312" pitchFamily="49" charset="-122"/>
            </a:endParaRPr>
          </a:p>
          <a:p>
            <a:pPr algn="ctr"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sp>
        <p:nvSpPr>
          <p:cNvPr id="51233" name="Text Box 34"/>
          <p:cNvSpPr txBox="1">
            <a:spLocks noChangeArrowheads="1"/>
          </p:cNvSpPr>
          <p:nvPr/>
        </p:nvSpPr>
        <p:spPr bwMode="auto">
          <a:xfrm>
            <a:off x="6743700" y="2679173"/>
            <a:ext cx="203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800">
                <a:latin typeface="Times New Roman" panose="02020603050405020304" pitchFamily="18" charset="0"/>
              </a:rPr>
              <a:t>发送窗口清空重发</a:t>
            </a:r>
            <a:endParaRPr kumimoji="1" lang="en-US" altLang="zh-CN" sz="1800">
              <a:latin typeface="Times New Roman" panose="02020603050405020304" pitchFamily="18" charset="0"/>
            </a:endParaRPr>
          </a:p>
        </p:txBody>
      </p:sp>
      <p:sp>
        <p:nvSpPr>
          <p:cNvPr id="51234" name="Line 35"/>
          <p:cNvSpPr>
            <a:spLocks noChangeShapeType="1"/>
          </p:cNvSpPr>
          <p:nvPr/>
        </p:nvSpPr>
        <p:spPr bwMode="auto">
          <a:xfrm>
            <a:off x="4456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5" name="Line 36"/>
          <p:cNvSpPr>
            <a:spLocks noChangeShapeType="1"/>
          </p:cNvSpPr>
          <p:nvPr/>
        </p:nvSpPr>
        <p:spPr bwMode="auto">
          <a:xfrm>
            <a:off x="5218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6" name="Line 37"/>
          <p:cNvSpPr>
            <a:spLocks noChangeShapeType="1"/>
          </p:cNvSpPr>
          <p:nvPr/>
        </p:nvSpPr>
        <p:spPr bwMode="auto">
          <a:xfrm>
            <a:off x="4837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7" name="Line 38"/>
          <p:cNvSpPr>
            <a:spLocks noChangeShapeType="1"/>
          </p:cNvSpPr>
          <p:nvPr/>
        </p:nvSpPr>
        <p:spPr bwMode="auto">
          <a:xfrm>
            <a:off x="5638800" y="3461810"/>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8" name="Line 39"/>
          <p:cNvSpPr>
            <a:spLocks noChangeShapeType="1"/>
          </p:cNvSpPr>
          <p:nvPr/>
        </p:nvSpPr>
        <p:spPr bwMode="auto">
          <a:xfrm>
            <a:off x="5980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9" name="Line 40"/>
          <p:cNvSpPr>
            <a:spLocks noChangeShapeType="1"/>
          </p:cNvSpPr>
          <p:nvPr/>
        </p:nvSpPr>
        <p:spPr bwMode="auto">
          <a:xfrm>
            <a:off x="6362700"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0" name="Line 41"/>
          <p:cNvSpPr>
            <a:spLocks noChangeShapeType="1"/>
          </p:cNvSpPr>
          <p:nvPr/>
        </p:nvSpPr>
        <p:spPr bwMode="auto">
          <a:xfrm>
            <a:off x="4075113" y="34316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1" name="Line 42"/>
          <p:cNvSpPr>
            <a:spLocks noChangeShapeType="1"/>
          </p:cNvSpPr>
          <p:nvPr/>
        </p:nvSpPr>
        <p:spPr bwMode="auto">
          <a:xfrm>
            <a:off x="6910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2" name="Line 43"/>
          <p:cNvSpPr>
            <a:spLocks noChangeShapeType="1"/>
          </p:cNvSpPr>
          <p:nvPr/>
        </p:nvSpPr>
        <p:spPr bwMode="auto">
          <a:xfrm>
            <a:off x="7291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3" name="Line 44"/>
          <p:cNvSpPr>
            <a:spLocks noChangeShapeType="1"/>
          </p:cNvSpPr>
          <p:nvPr/>
        </p:nvSpPr>
        <p:spPr bwMode="auto">
          <a:xfrm>
            <a:off x="8053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4" name="Line 45"/>
          <p:cNvSpPr>
            <a:spLocks noChangeShapeType="1"/>
          </p:cNvSpPr>
          <p:nvPr/>
        </p:nvSpPr>
        <p:spPr bwMode="auto">
          <a:xfrm>
            <a:off x="8815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5" name="Line 46"/>
          <p:cNvSpPr>
            <a:spLocks noChangeShapeType="1"/>
          </p:cNvSpPr>
          <p:nvPr/>
        </p:nvSpPr>
        <p:spPr bwMode="auto">
          <a:xfrm>
            <a:off x="8434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6" name="Line 47"/>
          <p:cNvSpPr>
            <a:spLocks noChangeShapeType="1"/>
          </p:cNvSpPr>
          <p:nvPr/>
        </p:nvSpPr>
        <p:spPr bwMode="auto">
          <a:xfrm>
            <a:off x="9196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7" name="Line 48"/>
          <p:cNvSpPr>
            <a:spLocks noChangeShapeType="1"/>
          </p:cNvSpPr>
          <p:nvPr/>
        </p:nvSpPr>
        <p:spPr bwMode="auto">
          <a:xfrm>
            <a:off x="9556750"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8" name="Line 49"/>
          <p:cNvSpPr>
            <a:spLocks noChangeShapeType="1"/>
          </p:cNvSpPr>
          <p:nvPr/>
        </p:nvSpPr>
        <p:spPr bwMode="auto">
          <a:xfrm>
            <a:off x="7672388" y="3418948"/>
            <a:ext cx="381000" cy="1066800"/>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983744" y="152400"/>
            <a:ext cx="10598656" cy="4805374"/>
          </a:xfrm>
          <a:prstGeom prst="rect">
            <a:avLst/>
          </a:prstGeom>
        </p:spPr>
      </p:pic>
    </p:spTree>
  </p:cSld>
  <p:clrMapOvr>
    <a:masterClrMapping/>
  </p:clrMapOvr>
  <p:transition spd="slow">
    <p:pull dir="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651630" y="260648"/>
            <a:ext cx="8888740" cy="5675021"/>
          </a:xfrm>
          <a:prstGeom prst="rect">
            <a:avLst/>
          </a:prstGeom>
        </p:spPr>
      </p:pic>
    </p:spTree>
  </p:cSld>
  <p:clrMapOvr>
    <a:masterClrMapping/>
  </p:clrMapOvr>
  <p:transition spd="slow">
    <p:pull dir="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586532" y="260648"/>
            <a:ext cx="10469392" cy="5328592"/>
          </a:xfrm>
          <a:prstGeom prst="rect">
            <a:avLst/>
          </a:prstGeom>
        </p:spPr>
      </p:pic>
    </p:spTree>
  </p:cSld>
  <p:clrMapOvr>
    <a:masterClrMapping/>
  </p:clrMapOvr>
  <p:transition spd="slow">
    <p:pull dir="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343472" y="30832"/>
            <a:ext cx="9321666" cy="6010948"/>
          </a:xfrm>
          <a:prstGeom prst="rect">
            <a:avLst/>
          </a:prstGeom>
        </p:spPr>
      </p:pic>
    </p:spTree>
  </p:cSld>
  <p:clrMapOvr>
    <a:masterClrMapping/>
  </p:clrMapOvr>
  <p:transition spd="slow">
    <p:pull dir="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983432" y="152400"/>
            <a:ext cx="9684279" cy="5817535"/>
          </a:xfrm>
          <a:prstGeom prst="rect">
            <a:avLst/>
          </a:prstGeom>
        </p:spPr>
      </p:pic>
    </p:spTree>
  </p:cSld>
  <p:clrMapOvr>
    <a:masterClrMapping/>
  </p:clrMapOvr>
  <p:transition spd="slow">
    <p:pull dir="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a:t>Computer Network</a:t>
            </a:r>
            <a:endParaRPr lang="en-US" altLang="zh-CN"/>
          </a:p>
        </p:txBody>
      </p:sp>
      <p:sp>
        <p:nvSpPr>
          <p:cNvPr id="5222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DCF6055-8FAF-44F0-9480-91EB4738D728}"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48" name="日期占位符 5"/>
          <p:cNvSpPr>
            <a:spLocks noGrp="1"/>
          </p:cNvSpPr>
          <p:nvPr>
            <p:ph type="dt" sz="quarter" idx="12"/>
          </p:nvPr>
        </p:nvSpPr>
        <p:spPr/>
        <p:txBody>
          <a:bodyPr/>
          <a:lstStyle/>
          <a:p>
            <a:pPr>
              <a:defRPr/>
            </a:pPr>
            <a:fld id="{410EC9DA-6EB1-4531-95CF-F71F0B57E688}" type="datetime1">
              <a:rPr lang="zh-CN" altLang="en-US"/>
            </a:fld>
            <a:endParaRPr lang="en-US" altLang="zh-CN"/>
          </a:p>
        </p:txBody>
      </p:sp>
      <p:sp>
        <p:nvSpPr>
          <p:cNvPr id="871426" name="Rectangle 2"/>
          <p:cNvSpPr>
            <a:spLocks noGrp="1" noChangeArrowheads="1"/>
          </p:cNvSpPr>
          <p:nvPr>
            <p:ph type="title"/>
          </p:nvPr>
        </p:nvSpPr>
        <p:spPr>
          <a:xfrm>
            <a:off x="2209800" y="571500"/>
            <a:ext cx="7956550" cy="685800"/>
          </a:xfrm>
        </p:spPr>
        <p:txBody>
          <a:bodyPr/>
          <a:lstStyle/>
          <a:p>
            <a:pPr eaLnBrk="1" hangingPunct="1">
              <a:defRPr/>
            </a:pPr>
            <a:r>
              <a:rPr lang="en-US" altLang="zh-CN" sz="2800" dirty="0">
                <a:solidFill>
                  <a:srgbClr val="0000FF"/>
                </a:solidFill>
              </a:rPr>
              <a:t>3</a:t>
            </a:r>
            <a:r>
              <a:rPr lang="zh-CN" altLang="en-US" sz="2800" dirty="0">
                <a:solidFill>
                  <a:srgbClr val="0000FF"/>
                </a:solidFill>
              </a:rPr>
              <a:t>．选择重传</a:t>
            </a:r>
            <a:r>
              <a:rPr lang="en-US" altLang="zh-CN" sz="2800" dirty="0">
                <a:solidFill>
                  <a:srgbClr val="0000FF"/>
                </a:solidFill>
              </a:rPr>
              <a:t>ARQ</a:t>
            </a:r>
            <a:r>
              <a:rPr lang="zh-CN" altLang="en-US" sz="2800" dirty="0">
                <a:solidFill>
                  <a:srgbClr val="0000FF"/>
                </a:solidFill>
              </a:rPr>
              <a:t>协议</a:t>
            </a:r>
            <a:r>
              <a:rPr lang="en-US" altLang="zh-CN" sz="2800" dirty="0">
                <a:solidFill>
                  <a:srgbClr val="0000FF"/>
                </a:solidFill>
              </a:rPr>
              <a:t>(SR) 【</a:t>
            </a:r>
            <a:r>
              <a:rPr lang="zh-CN" altLang="en-US" sz="2800" dirty="0">
                <a:solidFill>
                  <a:srgbClr val="0000FF"/>
                </a:solidFill>
              </a:rPr>
              <a:t>协议</a:t>
            </a:r>
            <a:r>
              <a:rPr lang="en-US" altLang="zh-CN" sz="2800" dirty="0">
                <a:solidFill>
                  <a:srgbClr val="0000FF"/>
                </a:solidFill>
              </a:rPr>
              <a:t>6】</a:t>
            </a:r>
            <a:endParaRPr lang="en-US" altLang="zh-CN" sz="2800" dirty="0">
              <a:solidFill>
                <a:srgbClr val="0000FF"/>
              </a:solidFill>
            </a:endParaRPr>
          </a:p>
        </p:txBody>
      </p:sp>
      <p:sp>
        <p:nvSpPr>
          <p:cNvPr id="52230" name="Rectangle 3"/>
          <p:cNvSpPr>
            <a:spLocks noGrp="1" noChangeArrowheads="1"/>
          </p:cNvSpPr>
          <p:nvPr>
            <p:ph type="body" idx="1"/>
          </p:nvPr>
        </p:nvSpPr>
        <p:spPr>
          <a:xfrm>
            <a:off x="2208213" y="1268414"/>
            <a:ext cx="7854950" cy="1298575"/>
          </a:xfrm>
        </p:spPr>
        <p:txBody>
          <a:bodyPr/>
          <a:lstStyle/>
          <a:p>
            <a:pPr marL="177800" indent="-177800" eaLnBrk="1" hangingPunct="1">
              <a:lnSpc>
                <a:spcPct val="115000"/>
              </a:lnSpc>
              <a:buSzPct val="90000"/>
              <a:buFont typeface="Wingdings" panose="05000000000000000000" pitchFamily="2" charset="2"/>
              <a:buChar char="§"/>
            </a:pPr>
            <a:r>
              <a:rPr lang="zh-CN" altLang="en-US" sz="2000">
                <a:latin typeface="Verdana" panose="020B0604030504040204" pitchFamily="34" charset="0"/>
                <a:ea typeface="楷体_GB2312" pitchFamily="49" charset="-122"/>
              </a:rPr>
              <a:t>发送窗口</a:t>
            </a:r>
            <a:r>
              <a:rPr lang="en-US" altLang="zh-CN" sz="2000">
                <a:latin typeface="Verdana" panose="020B0604030504040204" pitchFamily="34" charset="0"/>
                <a:ea typeface="楷体_GB2312" pitchFamily="49" charset="-122"/>
              </a:rPr>
              <a:t>&gt;1</a:t>
            </a:r>
            <a:r>
              <a:rPr lang="zh-CN" altLang="en-US" sz="2000">
                <a:latin typeface="Verdana" panose="020B0604030504040204" pitchFamily="34" charset="0"/>
                <a:ea typeface="楷体_GB2312" pitchFamily="49" charset="-122"/>
              </a:rPr>
              <a:t>，接收窗口</a:t>
            </a:r>
            <a:r>
              <a:rPr lang="en-US" altLang="zh-CN" sz="2000">
                <a:latin typeface="Verdana" panose="020B0604030504040204" pitchFamily="34" charset="0"/>
                <a:ea typeface="楷体_GB2312" pitchFamily="49" charset="-122"/>
              </a:rPr>
              <a:t>&gt;1</a:t>
            </a:r>
            <a:r>
              <a:rPr lang="en-US" altLang="zh-CN" sz="2000" b="1">
                <a:latin typeface="Verdana" panose="020B0604030504040204" pitchFamily="34" charset="0"/>
                <a:ea typeface="楷体_GB2312" pitchFamily="49" charset="-122"/>
              </a:rPr>
              <a:t> </a:t>
            </a:r>
            <a:r>
              <a:rPr lang="zh-CN" altLang="en-US" sz="2000" b="1">
                <a:latin typeface="Verdana" panose="020B0604030504040204" pitchFamily="34" charset="0"/>
                <a:ea typeface="楷体_GB2312" pitchFamily="49" charset="-122"/>
              </a:rPr>
              <a:t>满足</a:t>
            </a:r>
            <a:r>
              <a:rPr lang="zh-CN" altLang="en-US" sz="2000" b="1">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 </a:t>
            </a:r>
            <a:r>
              <a:rPr lang="en-US" altLang="zh-CN" sz="2000">
                <a:solidFill>
                  <a:srgbClr val="0000FF"/>
                </a:solidFill>
                <a:ea typeface="楷体_GB2312" pitchFamily="49" charset="-122"/>
              </a:rPr>
              <a:t>W</a:t>
            </a:r>
            <a:r>
              <a:rPr lang="en-US" altLang="zh-CN" sz="1200">
                <a:solidFill>
                  <a:srgbClr val="0000FF"/>
                </a:solidFill>
                <a:ea typeface="楷体_GB2312" pitchFamily="49" charset="-122"/>
              </a:rPr>
              <a:t>T</a:t>
            </a:r>
            <a:r>
              <a:rPr lang="en-US" altLang="zh-CN" sz="2000">
                <a:solidFill>
                  <a:srgbClr val="FF3300"/>
                </a:solidFill>
                <a:ea typeface="楷体_GB2312" pitchFamily="49" charset="-122"/>
              </a:rPr>
              <a:t> ≤</a:t>
            </a:r>
            <a:r>
              <a:rPr lang="en-US" altLang="zh-CN" sz="2000">
                <a:solidFill>
                  <a:srgbClr val="0000FF"/>
                </a:solidFill>
                <a:ea typeface="楷体_GB2312" pitchFamily="49" charset="-122"/>
              </a:rPr>
              <a:t> 2</a:t>
            </a:r>
            <a:r>
              <a:rPr lang="en-US" altLang="zh-CN" sz="2000" baseline="30000">
                <a:solidFill>
                  <a:srgbClr val="0000FF"/>
                </a:solidFill>
                <a:ea typeface="楷体_GB2312" pitchFamily="49" charset="-122"/>
              </a:rPr>
              <a:t>n-1 </a:t>
            </a:r>
            <a:r>
              <a:rPr lang="en-US" altLang="zh-CN" sz="2000" b="1">
                <a:latin typeface="楷体_GB2312" pitchFamily="49" charset="-122"/>
                <a:ea typeface="楷体_GB2312" pitchFamily="49" charset="-122"/>
              </a:rPr>
              <a:t> </a:t>
            </a:r>
            <a:r>
              <a:rPr lang="en-US" altLang="zh-CN" sz="2000">
                <a:solidFill>
                  <a:srgbClr val="0000FF"/>
                </a:solidFill>
                <a:ea typeface="楷体_GB2312" pitchFamily="49" charset="-122"/>
              </a:rPr>
              <a:t>W</a:t>
            </a:r>
            <a:r>
              <a:rPr lang="en-US" altLang="zh-CN" sz="1200">
                <a:solidFill>
                  <a:srgbClr val="0000FF"/>
                </a:solidFill>
                <a:ea typeface="楷体_GB2312" pitchFamily="49" charset="-122"/>
              </a:rPr>
              <a:t>R</a:t>
            </a:r>
            <a:r>
              <a:rPr lang="en-US" altLang="zh-CN" sz="2000">
                <a:solidFill>
                  <a:srgbClr val="FF3300"/>
                </a:solidFill>
                <a:ea typeface="楷体_GB2312" pitchFamily="49" charset="-122"/>
              </a:rPr>
              <a:t> ≤ </a:t>
            </a:r>
            <a:r>
              <a:rPr lang="en-US" altLang="zh-CN" sz="2000">
                <a:solidFill>
                  <a:srgbClr val="0000FF"/>
                </a:solidFill>
                <a:ea typeface="楷体_GB2312" pitchFamily="49" charset="-122"/>
              </a:rPr>
              <a:t>2</a:t>
            </a:r>
            <a:r>
              <a:rPr lang="en-US" altLang="zh-CN" sz="2000" baseline="30000">
                <a:solidFill>
                  <a:srgbClr val="0000FF"/>
                </a:solidFill>
                <a:ea typeface="楷体_GB2312" pitchFamily="49" charset="-122"/>
              </a:rPr>
              <a:t>n-1</a:t>
            </a:r>
            <a:r>
              <a:rPr lang="en-US" altLang="zh-CN" sz="2000">
                <a:solidFill>
                  <a:srgbClr val="0000FF"/>
                </a:solidFill>
                <a:ea typeface="楷体_GB2312" pitchFamily="49" charset="-122"/>
              </a:rPr>
              <a:t> </a:t>
            </a:r>
            <a:r>
              <a:rPr lang="zh-CN" altLang="en-US" sz="2000">
                <a:solidFill>
                  <a:srgbClr val="0000FF"/>
                </a:solidFill>
                <a:ea typeface="楷体_GB2312" pitchFamily="49" charset="-122"/>
              </a:rPr>
              <a:t>；</a:t>
            </a:r>
            <a:r>
              <a:rPr lang="en-US" altLang="zh-CN" sz="2000">
                <a:solidFill>
                  <a:srgbClr val="0000FF"/>
                </a:solidFill>
                <a:ea typeface="楷体_GB2312" pitchFamily="49" charset="-122"/>
              </a:rPr>
              <a:t>2) W</a:t>
            </a:r>
            <a:r>
              <a:rPr lang="en-US" altLang="zh-CN" sz="2000" baseline="-25000">
                <a:solidFill>
                  <a:srgbClr val="0000FF"/>
                </a:solidFill>
                <a:ea typeface="楷体_GB2312" pitchFamily="49" charset="-122"/>
              </a:rPr>
              <a:t>T</a:t>
            </a:r>
            <a:r>
              <a:rPr lang="en-US" altLang="zh-CN" sz="2000">
                <a:solidFill>
                  <a:srgbClr val="0000FF"/>
                </a:solidFill>
                <a:ea typeface="楷体_GB2312" pitchFamily="49" charset="-122"/>
              </a:rPr>
              <a:t> +</a:t>
            </a:r>
            <a:r>
              <a:rPr lang="en-US" altLang="zh-CN" sz="2000">
                <a:solidFill>
                  <a:srgbClr val="0000FF"/>
                </a:solidFill>
                <a:latin typeface="Verdana" panose="020B0604030504040204" pitchFamily="34" charset="0"/>
                <a:ea typeface="楷体_GB2312" pitchFamily="49" charset="-122"/>
              </a:rPr>
              <a:t>W</a:t>
            </a:r>
            <a:r>
              <a:rPr lang="en-US" altLang="zh-CN" sz="2000" baseline="-25000">
                <a:solidFill>
                  <a:srgbClr val="0000FF"/>
                </a:solidFill>
                <a:latin typeface="Verdana" panose="020B0604030504040204" pitchFamily="34" charset="0"/>
                <a:ea typeface="楷体_GB2312" pitchFamily="49" charset="-122"/>
              </a:rPr>
              <a:t>R</a:t>
            </a:r>
            <a:r>
              <a:rPr lang="en-US" altLang="zh-CN" sz="2000">
                <a:solidFill>
                  <a:srgbClr val="FF3300"/>
                </a:solidFill>
                <a:ea typeface="楷体_GB2312" pitchFamily="49" charset="-122"/>
              </a:rPr>
              <a:t> ≤</a:t>
            </a:r>
            <a:r>
              <a:rPr lang="en-US" altLang="zh-CN" sz="2000">
                <a:solidFill>
                  <a:srgbClr val="0000FF"/>
                </a:solidFill>
                <a:ea typeface="楷体_GB2312" pitchFamily="49" charset="-122"/>
              </a:rPr>
              <a:t> 2</a:t>
            </a:r>
            <a:r>
              <a:rPr lang="en-US" altLang="zh-CN" sz="2000" baseline="30000">
                <a:solidFill>
                  <a:srgbClr val="0000FF"/>
                </a:solidFill>
                <a:ea typeface="楷体_GB2312" pitchFamily="49" charset="-122"/>
              </a:rPr>
              <a:t>n</a:t>
            </a:r>
            <a:r>
              <a:rPr lang="en-US" altLang="zh-CN" sz="2000" baseline="30000">
                <a:solidFill>
                  <a:srgbClr val="FF3300"/>
                </a:solidFill>
                <a:ea typeface="楷体_GB2312" pitchFamily="49" charset="-122"/>
              </a:rPr>
              <a:t> </a:t>
            </a:r>
            <a:r>
              <a:rPr lang="en-US" altLang="zh-CN" sz="2000">
                <a:solidFill>
                  <a:srgbClr val="0000FF"/>
                </a:solidFill>
                <a:ea typeface="楷体_GB2312" pitchFamily="49" charset="-122"/>
              </a:rPr>
              <a:t>, W</a:t>
            </a:r>
            <a:r>
              <a:rPr lang="en-US" altLang="zh-CN" sz="2000" baseline="-25000">
                <a:solidFill>
                  <a:srgbClr val="0000FF"/>
                </a:solidFill>
                <a:ea typeface="楷体_GB2312" pitchFamily="49" charset="-122"/>
              </a:rPr>
              <a:t>T</a:t>
            </a:r>
            <a:r>
              <a:rPr lang="en-US" altLang="zh-CN" sz="2000">
                <a:solidFill>
                  <a:srgbClr val="0000FF"/>
                </a:solidFill>
                <a:ea typeface="楷体_GB2312" pitchFamily="49" charset="-122"/>
              </a:rPr>
              <a:t> </a:t>
            </a:r>
            <a:r>
              <a:rPr lang="en-US" altLang="zh-CN" sz="2000">
                <a:solidFill>
                  <a:srgbClr val="FF3300"/>
                </a:solidFill>
                <a:ea typeface="楷体_GB2312" pitchFamily="49" charset="-122"/>
              </a:rPr>
              <a:t>≤ </a:t>
            </a:r>
            <a:r>
              <a:rPr lang="en-US" altLang="zh-CN" sz="2000">
                <a:solidFill>
                  <a:srgbClr val="0000FF"/>
                </a:solidFill>
                <a:latin typeface="Verdana" panose="020B0604030504040204" pitchFamily="34" charset="0"/>
                <a:ea typeface="楷体_GB2312" pitchFamily="49" charset="-122"/>
              </a:rPr>
              <a:t>W</a:t>
            </a:r>
            <a:r>
              <a:rPr lang="en-US" altLang="zh-CN" sz="2000" baseline="-25000">
                <a:solidFill>
                  <a:srgbClr val="0000FF"/>
                </a:solidFill>
                <a:latin typeface="Verdana" panose="020B0604030504040204" pitchFamily="34" charset="0"/>
                <a:ea typeface="楷体_GB2312" pitchFamily="49" charset="-122"/>
              </a:rPr>
              <a:t>R</a:t>
            </a:r>
            <a:r>
              <a:rPr lang="en-US" altLang="zh-CN" sz="2000">
                <a:solidFill>
                  <a:srgbClr val="0000FF"/>
                </a:solidFill>
                <a:ea typeface="楷体_GB2312" pitchFamily="49" charset="-122"/>
              </a:rPr>
              <a:t> </a:t>
            </a:r>
            <a:r>
              <a:rPr lang="zh-CN" altLang="en-US" sz="2000">
                <a:solidFill>
                  <a:srgbClr val="0000FF"/>
                </a:solidFill>
                <a:ea typeface="楷体_GB2312" pitchFamily="49" charset="-122"/>
              </a:rPr>
              <a:t>。</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T</a:t>
            </a:r>
            <a:r>
              <a:rPr lang="zh-CN" altLang="en-US" sz="2000">
                <a:solidFill>
                  <a:srgbClr val="FF3300"/>
                </a:solidFill>
                <a:ea typeface="楷体_GB2312" pitchFamily="49" charset="-122"/>
              </a:rPr>
              <a:t>最大时有</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T</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R</a:t>
            </a:r>
            <a:r>
              <a:rPr lang="en-US" altLang="zh-CN" sz="2000">
                <a:solidFill>
                  <a:srgbClr val="FF3300"/>
                </a:solidFill>
                <a:ea typeface="楷体_GB2312" pitchFamily="49" charset="-122"/>
              </a:rPr>
              <a:t>=(2</a:t>
            </a:r>
            <a:r>
              <a:rPr lang="en-US" altLang="zh-CN" sz="2000" baseline="30000">
                <a:solidFill>
                  <a:srgbClr val="FF3300"/>
                </a:solidFill>
                <a:ea typeface="楷体_GB2312" pitchFamily="49" charset="-122"/>
              </a:rPr>
              <a:t>n</a:t>
            </a:r>
            <a:r>
              <a:rPr lang="en-US" altLang="zh-CN" sz="2000">
                <a:solidFill>
                  <a:srgbClr val="FF3300"/>
                </a:solidFill>
                <a:ea typeface="楷体_GB2312" pitchFamily="49" charset="-122"/>
              </a:rPr>
              <a:t>)/2 </a:t>
            </a:r>
            <a:r>
              <a:rPr lang="en-US" altLang="zh-CN" sz="2000">
                <a:solidFill>
                  <a:srgbClr val="FF66FF"/>
                </a:solidFill>
                <a:ea typeface="楷体_GB2312" pitchFamily="49" charset="-122"/>
              </a:rPr>
              <a:t>(</a:t>
            </a:r>
            <a:r>
              <a:rPr lang="zh-CN" altLang="en-US" sz="2000">
                <a:solidFill>
                  <a:srgbClr val="FF66FF"/>
                </a:solidFill>
                <a:ea typeface="楷体_GB2312" pitchFamily="49" charset="-122"/>
              </a:rPr>
              <a:t>见习题</a:t>
            </a:r>
            <a:r>
              <a:rPr lang="en-US" altLang="zh-CN" sz="2000">
                <a:solidFill>
                  <a:srgbClr val="FF66FF"/>
                </a:solidFill>
                <a:ea typeface="楷体_GB2312" pitchFamily="49" charset="-122"/>
              </a:rPr>
              <a:t>)</a:t>
            </a:r>
            <a:endParaRPr lang="en-US" altLang="zh-CN" sz="2000">
              <a:solidFill>
                <a:srgbClr val="FF66FF"/>
              </a:solidFill>
              <a:ea typeface="楷体_GB2312" pitchFamily="49" charset="-122"/>
            </a:endParaRPr>
          </a:p>
          <a:p>
            <a:pPr marL="177800" indent="-177800" eaLnBrk="1" hangingPunct="1">
              <a:lnSpc>
                <a:spcPct val="115000"/>
              </a:lnSpc>
              <a:buSzPct val="90000"/>
              <a:buNone/>
            </a:pPr>
            <a:r>
              <a:rPr lang="zh-CN" altLang="en-US" sz="2000">
                <a:solidFill>
                  <a:srgbClr val="FF66FF"/>
                </a:solidFill>
                <a:ea typeface="楷体_GB2312" pitchFamily="49" charset="-122"/>
              </a:rPr>
              <a:t>例：</a:t>
            </a:r>
            <a:r>
              <a:rPr lang="zh-CN" altLang="en-US" sz="2000">
                <a:solidFill>
                  <a:srgbClr val="FF66FF"/>
                </a:solidFill>
                <a:latin typeface="Verdana" panose="020B0604030504040204" pitchFamily="34" charset="0"/>
                <a:ea typeface="楷体_GB2312" pitchFamily="49" charset="-122"/>
              </a:rPr>
              <a:t>设</a:t>
            </a:r>
            <a:r>
              <a:rPr lang="en-US" altLang="zh-CN" sz="2000">
                <a:solidFill>
                  <a:srgbClr val="FF66FF"/>
                </a:solidFill>
                <a:latin typeface="Verdana" panose="020B0604030504040204" pitchFamily="34" charset="0"/>
                <a:ea typeface="楷体_GB2312" pitchFamily="49" charset="-122"/>
              </a:rPr>
              <a:t>n=3</a:t>
            </a:r>
            <a:r>
              <a:rPr lang="zh-CN" altLang="en-US" sz="2000">
                <a:solidFill>
                  <a:srgbClr val="FF66FF"/>
                </a:solidFill>
                <a:latin typeface="Verdana" panose="020B0604030504040204" pitchFamily="34" charset="0"/>
                <a:ea typeface="楷体_GB2312" pitchFamily="49" charset="-122"/>
              </a:rPr>
              <a:t>，</a:t>
            </a:r>
            <a:r>
              <a:rPr lang="en-US" altLang="zh-CN" sz="2000">
                <a:solidFill>
                  <a:srgbClr val="FF66FF"/>
                </a:solidFill>
                <a:latin typeface="Verdana" panose="020B0604030504040204" pitchFamily="34" charset="0"/>
                <a:ea typeface="楷体_GB2312" pitchFamily="49" charset="-122"/>
              </a:rPr>
              <a:t>W</a:t>
            </a:r>
            <a:r>
              <a:rPr lang="en-US" altLang="zh-CN" sz="1100">
                <a:solidFill>
                  <a:srgbClr val="FF66FF"/>
                </a:solidFill>
                <a:latin typeface="Verdana" panose="020B0604030504040204" pitchFamily="34" charset="0"/>
                <a:ea typeface="楷体_GB2312" pitchFamily="49" charset="-122"/>
              </a:rPr>
              <a:t>T</a:t>
            </a:r>
            <a:r>
              <a:rPr lang="en-US" altLang="zh-CN" sz="2000">
                <a:solidFill>
                  <a:srgbClr val="FF66FF"/>
                </a:solidFill>
                <a:latin typeface="Verdana" panose="020B0604030504040204" pitchFamily="34" charset="0"/>
                <a:ea typeface="楷体_GB2312" pitchFamily="49" charset="-122"/>
              </a:rPr>
              <a:t>=4</a:t>
            </a:r>
            <a:r>
              <a:rPr lang="zh-CN" altLang="en-US" sz="2000">
                <a:solidFill>
                  <a:srgbClr val="FF66FF"/>
                </a:solidFill>
                <a:latin typeface="Verdana" panose="020B0604030504040204" pitchFamily="34" charset="0"/>
                <a:ea typeface="楷体_GB2312" pitchFamily="49" charset="-122"/>
              </a:rPr>
              <a:t>，</a:t>
            </a:r>
            <a:r>
              <a:rPr lang="en-US" altLang="zh-CN" sz="2000">
                <a:solidFill>
                  <a:srgbClr val="FF66FF"/>
                </a:solidFill>
                <a:latin typeface="Verdana" panose="020B0604030504040204" pitchFamily="34" charset="0"/>
                <a:ea typeface="楷体_GB2312" pitchFamily="49" charset="-122"/>
              </a:rPr>
              <a:t>W</a:t>
            </a:r>
            <a:r>
              <a:rPr lang="en-US" altLang="zh-CN" sz="1200">
                <a:solidFill>
                  <a:srgbClr val="FF66FF"/>
                </a:solidFill>
                <a:latin typeface="Verdana" panose="020B0604030504040204" pitchFamily="34" charset="0"/>
                <a:ea typeface="楷体_GB2312" pitchFamily="49" charset="-122"/>
              </a:rPr>
              <a:t>R</a:t>
            </a:r>
            <a:r>
              <a:rPr lang="en-US" altLang="zh-CN" sz="2000">
                <a:solidFill>
                  <a:srgbClr val="FF66FF"/>
                </a:solidFill>
                <a:latin typeface="Verdana" panose="020B0604030504040204" pitchFamily="34" charset="0"/>
                <a:ea typeface="楷体_GB2312" pitchFamily="49" charset="-122"/>
              </a:rPr>
              <a:t>=4</a:t>
            </a:r>
            <a:endParaRPr lang="en-US" altLang="zh-CN" sz="2000">
              <a:solidFill>
                <a:srgbClr val="FF66FF"/>
              </a:solidFill>
              <a:latin typeface="Verdana" panose="020B0604030504040204" pitchFamily="34" charset="0"/>
              <a:ea typeface="楷体_GB2312" pitchFamily="49" charset="-122"/>
            </a:endParaRPr>
          </a:p>
          <a:p>
            <a:pPr marL="177800" indent="-177800" eaLnBrk="1" hangingPunct="1">
              <a:lnSpc>
                <a:spcPct val="115000"/>
              </a:lnSpc>
              <a:buSzPct val="90000"/>
              <a:buNone/>
            </a:pPr>
            <a:endParaRPr lang="en-US" altLang="zh-CN" sz="2000">
              <a:solidFill>
                <a:srgbClr val="FF66FF"/>
              </a:solidFill>
              <a:ea typeface="楷体_GB2312" pitchFamily="49" charset="-122"/>
            </a:endParaRPr>
          </a:p>
        </p:txBody>
      </p:sp>
      <p:grpSp>
        <p:nvGrpSpPr>
          <p:cNvPr id="52231" name="Group 0"/>
          <p:cNvGrpSpPr/>
          <p:nvPr/>
        </p:nvGrpSpPr>
        <p:grpSpPr bwMode="auto">
          <a:xfrm>
            <a:off x="2011364" y="233363"/>
            <a:ext cx="8029575" cy="6150710"/>
            <a:chOff x="294" y="140"/>
            <a:chExt cx="5057" cy="3680"/>
          </a:xfrm>
        </p:grpSpPr>
        <p:sp>
          <p:nvSpPr>
            <p:cNvPr id="52241" name="Rectangle 4"/>
            <p:cNvSpPr>
              <a:spLocks noChangeArrowheads="1"/>
            </p:cNvSpPr>
            <p:nvPr/>
          </p:nvSpPr>
          <p:spPr bwMode="auto">
            <a:xfrm>
              <a:off x="3661" y="2977"/>
              <a:ext cx="169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缺点</a:t>
              </a:r>
              <a:r>
                <a:rPr kumimoji="1" lang="en-US" altLang="zh-CN" sz="2400">
                  <a:solidFill>
                    <a:srgbClr val="0000FF"/>
                  </a:solidFill>
                  <a:latin typeface="Times New Roman" panose="02020603050405020304" pitchFamily="18" charset="0"/>
                  <a:ea typeface="楷体_GB2312" pitchFamily="49" charset="-122"/>
                </a:rPr>
                <a:t>: </a:t>
              </a:r>
              <a:r>
                <a:rPr kumimoji="1" lang="zh-CN" altLang="en-US" sz="2400">
                  <a:solidFill>
                    <a:srgbClr val="0000FF"/>
                  </a:solidFill>
                  <a:latin typeface="Times New Roman" panose="02020603050405020304" pitchFamily="18" charset="0"/>
                  <a:ea typeface="楷体_GB2312" pitchFamily="49" charset="-122"/>
                </a:rPr>
                <a:t>较多存储器优点</a:t>
              </a:r>
              <a:r>
                <a:rPr kumimoji="1" lang="en-US" altLang="zh-CN" sz="2400">
                  <a:solidFill>
                    <a:srgbClr val="0000FF"/>
                  </a:solidFill>
                  <a:latin typeface="Times New Roman" panose="02020603050405020304" pitchFamily="18" charset="0"/>
                  <a:ea typeface="楷体_GB2312" pitchFamily="49" charset="-122"/>
                </a:rPr>
                <a:t>: </a:t>
              </a:r>
              <a:r>
                <a:rPr kumimoji="1" lang="zh-CN" altLang="en-US" sz="2400">
                  <a:solidFill>
                    <a:srgbClr val="0000FF"/>
                  </a:solidFill>
                  <a:latin typeface="Times New Roman" panose="02020603050405020304" pitchFamily="18" charset="0"/>
                  <a:ea typeface="楷体_GB2312" pitchFamily="49" charset="-122"/>
                </a:rPr>
                <a:t>节省带宽</a:t>
              </a:r>
              <a:endParaRPr kumimoji="1" lang="zh-CN" altLang="en-US" sz="2400">
                <a:solidFill>
                  <a:srgbClr val="0000FF"/>
                </a:solidFill>
                <a:latin typeface="Times New Roman" panose="02020603050405020304" pitchFamily="18" charset="0"/>
                <a:ea typeface="楷体_GB2312" pitchFamily="49" charset="-122"/>
              </a:endParaRPr>
            </a:p>
          </p:txBody>
        </p:sp>
        <p:sp>
          <p:nvSpPr>
            <p:cNvPr id="52242" name="Text Box 5"/>
            <p:cNvSpPr txBox="1">
              <a:spLocks noChangeArrowheads="1"/>
            </p:cNvSpPr>
            <p:nvPr/>
          </p:nvSpPr>
          <p:spPr bwMode="auto">
            <a:xfrm>
              <a:off x="294" y="1593"/>
              <a:ext cx="69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发方</a:t>
              </a:r>
              <a:r>
                <a:rPr kumimoji="1" lang="zh-CN" altLang="en-US" sz="2400" b="1">
                  <a:latin typeface="Times New Roman" panose="02020603050405020304" pitchFamily="18" charset="0"/>
                  <a:ea typeface="楷体_GB2312" pitchFamily="49" charset="-122"/>
                </a:rPr>
                <a:t>：</a:t>
              </a:r>
              <a:endParaRPr kumimoji="1" lang="zh-CN" altLang="en-US" sz="2400">
                <a:latin typeface="Times New Roman" panose="02020603050405020304" pitchFamily="18" charset="0"/>
                <a:ea typeface="楷体_GB2312" pitchFamily="49" charset="-122"/>
              </a:endParaRPr>
            </a:p>
          </p:txBody>
        </p:sp>
        <p:sp>
          <p:nvSpPr>
            <p:cNvPr id="52243" name="Text Box 6"/>
            <p:cNvSpPr txBox="1">
              <a:spLocks noChangeArrowheads="1"/>
            </p:cNvSpPr>
            <p:nvPr/>
          </p:nvSpPr>
          <p:spPr bwMode="auto">
            <a:xfrm>
              <a:off x="294" y="2483"/>
              <a:ext cx="69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收方</a:t>
              </a:r>
              <a:r>
                <a:rPr kumimoji="1" lang="zh-CN" altLang="en-US" sz="2400" b="1">
                  <a:latin typeface="Times New Roman" panose="02020603050405020304" pitchFamily="18" charset="0"/>
                  <a:ea typeface="楷体_GB2312" pitchFamily="49" charset="-122"/>
                </a:rPr>
                <a:t>：</a:t>
              </a:r>
              <a:endParaRPr kumimoji="1" lang="zh-CN" altLang="en-US" sz="2400">
                <a:latin typeface="Times New Roman" panose="02020603050405020304" pitchFamily="18" charset="0"/>
                <a:ea typeface="楷体_GB2312" pitchFamily="49" charset="-122"/>
              </a:endParaRPr>
            </a:p>
          </p:txBody>
        </p:sp>
        <p:sp>
          <p:nvSpPr>
            <p:cNvPr id="52244" name="Text Box 7"/>
            <p:cNvSpPr txBox="1">
              <a:spLocks noChangeArrowheads="1"/>
            </p:cNvSpPr>
            <p:nvPr/>
          </p:nvSpPr>
          <p:spPr bwMode="auto">
            <a:xfrm>
              <a:off x="982" y="1596"/>
              <a:ext cx="419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a:t>
              </a:r>
              <a:r>
                <a:rPr kumimoji="1" lang="en-US" altLang="zh-CN" sz="2400" b="1">
                  <a:solidFill>
                    <a:srgbClr val="FF0000"/>
                  </a:solidFill>
                  <a:latin typeface="Times New Roman" panose="02020603050405020304" pitchFamily="18" charset="0"/>
                </a:rPr>
                <a:t>2   3   4   5     </a:t>
              </a:r>
              <a:r>
                <a:rPr kumimoji="1" lang="en-US" altLang="zh-CN" sz="2400" b="1">
                  <a:solidFill>
                    <a:schemeClr val="tx2"/>
                  </a:solidFill>
                  <a:latin typeface="Times New Roman" panose="02020603050405020304" pitchFamily="18" charset="0"/>
                </a:rPr>
                <a:t>2</a:t>
              </a:r>
              <a:r>
                <a:rPr kumimoji="1" lang="en-US" altLang="zh-CN" sz="2400" b="1">
                  <a:solidFill>
                    <a:srgbClr val="FF0000"/>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6   7    0    1    2    3</a:t>
              </a:r>
              <a:endParaRPr kumimoji="1" lang="en-US" altLang="zh-CN" sz="2400">
                <a:solidFill>
                  <a:schemeClr val="tx2"/>
                </a:solidFill>
                <a:latin typeface="Times New Roman" panose="02020603050405020304" pitchFamily="18" charset="0"/>
              </a:endParaRPr>
            </a:p>
          </p:txBody>
        </p:sp>
        <p:sp>
          <p:nvSpPr>
            <p:cNvPr id="52245" name="Text Box 8"/>
            <p:cNvSpPr txBox="1">
              <a:spLocks noChangeArrowheads="1"/>
            </p:cNvSpPr>
            <p:nvPr/>
          </p:nvSpPr>
          <p:spPr bwMode="auto">
            <a:xfrm>
              <a:off x="1222" y="2495"/>
              <a:ext cx="410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E  </a:t>
              </a:r>
              <a:r>
                <a:rPr kumimoji="1" lang="en-US" altLang="zh-CN" sz="2400" b="1">
                  <a:solidFill>
                    <a:srgbClr val="FF0000"/>
                  </a:solidFill>
                  <a:latin typeface="Times New Roman" panose="02020603050405020304" pitchFamily="18" charset="0"/>
                </a:rPr>
                <a:t>3   4   5</a:t>
              </a:r>
              <a:r>
                <a:rPr kumimoji="1" lang="en-US" altLang="zh-CN" sz="2400" b="1">
                  <a:solidFill>
                    <a:srgbClr val="0000FF"/>
                  </a:solidFill>
                  <a:latin typeface="Times New Roman" panose="02020603050405020304" pitchFamily="18" charset="0"/>
                </a:rPr>
                <a:t>     2                  6   7    0    1   2 </a:t>
              </a:r>
              <a:endParaRPr kumimoji="1" lang="en-US" altLang="zh-CN" sz="2400">
                <a:latin typeface="Times New Roman" panose="02020603050405020304" pitchFamily="18" charset="0"/>
              </a:endParaRPr>
            </a:p>
          </p:txBody>
        </p:sp>
        <p:sp>
          <p:nvSpPr>
            <p:cNvPr id="52246" name="Line 9"/>
            <p:cNvSpPr>
              <a:spLocks noChangeShapeType="1"/>
            </p:cNvSpPr>
            <p:nvPr/>
          </p:nvSpPr>
          <p:spPr bwMode="auto">
            <a:xfrm>
              <a:off x="1078" y="1871"/>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7" name="Line 10"/>
            <p:cNvSpPr>
              <a:spLocks noChangeShapeType="1"/>
            </p:cNvSpPr>
            <p:nvPr/>
          </p:nvSpPr>
          <p:spPr bwMode="auto">
            <a:xfrm>
              <a:off x="1318" y="1871"/>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8" name="Line 11"/>
            <p:cNvSpPr>
              <a:spLocks noChangeShapeType="1"/>
            </p:cNvSpPr>
            <p:nvPr/>
          </p:nvSpPr>
          <p:spPr bwMode="auto">
            <a:xfrm flipV="1">
              <a:off x="1318" y="1815"/>
              <a:ext cx="684" cy="728"/>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9" name="Line 12"/>
            <p:cNvSpPr>
              <a:spLocks noChangeShapeType="1"/>
            </p:cNvSpPr>
            <p:nvPr/>
          </p:nvSpPr>
          <p:spPr bwMode="auto">
            <a:xfrm flipV="1">
              <a:off x="1558" y="1821"/>
              <a:ext cx="667" cy="722"/>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0" name="Line 13"/>
            <p:cNvSpPr>
              <a:spLocks noChangeShapeType="1"/>
            </p:cNvSpPr>
            <p:nvPr/>
          </p:nvSpPr>
          <p:spPr bwMode="auto">
            <a:xfrm flipV="1">
              <a:off x="2832" y="1782"/>
              <a:ext cx="703" cy="734"/>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1" name="Text Box 17"/>
            <p:cNvSpPr txBox="1">
              <a:spLocks noChangeArrowheads="1"/>
            </p:cNvSpPr>
            <p:nvPr/>
          </p:nvSpPr>
          <p:spPr bwMode="auto">
            <a:xfrm rot="18900000">
              <a:off x="1364" y="1924"/>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endParaRPr kumimoji="1" lang="en-US" altLang="zh-CN" sz="2400">
                <a:latin typeface="Times New Roman" panose="02020603050405020304" pitchFamily="18" charset="0"/>
              </a:endParaRPr>
            </a:p>
          </p:txBody>
        </p:sp>
        <p:sp>
          <p:nvSpPr>
            <p:cNvPr id="52252" name="Text Box 18"/>
            <p:cNvSpPr txBox="1">
              <a:spLocks noChangeArrowheads="1"/>
            </p:cNvSpPr>
            <p:nvPr/>
          </p:nvSpPr>
          <p:spPr bwMode="auto">
            <a:xfrm rot="18900000">
              <a:off x="1554" y="2020"/>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ack1</a:t>
              </a:r>
              <a:endParaRPr kumimoji="1" lang="en-US" altLang="zh-CN" sz="2400">
                <a:latin typeface="Times New Roman" panose="02020603050405020304" pitchFamily="18" charset="0"/>
              </a:endParaRPr>
            </a:p>
          </p:txBody>
        </p:sp>
        <p:sp>
          <p:nvSpPr>
            <p:cNvPr id="52253" name="Text Box 19"/>
            <p:cNvSpPr txBox="1">
              <a:spLocks noChangeArrowheads="1"/>
            </p:cNvSpPr>
            <p:nvPr/>
          </p:nvSpPr>
          <p:spPr bwMode="auto">
            <a:xfrm rot="-2700000">
              <a:off x="2939" y="2007"/>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ack5</a:t>
              </a:r>
              <a:endParaRPr kumimoji="1" lang="en-US" altLang="zh-CN" sz="2400">
                <a:latin typeface="Times New Roman" panose="02020603050405020304" pitchFamily="18" charset="0"/>
              </a:endParaRPr>
            </a:p>
          </p:txBody>
        </p:sp>
        <p:sp>
          <p:nvSpPr>
            <p:cNvPr id="52254" name="AutoShape 23"/>
            <p:cNvSpPr/>
            <p:nvPr/>
          </p:nvSpPr>
          <p:spPr bwMode="auto">
            <a:xfrm rot="-5400000">
              <a:off x="1379" y="2674"/>
              <a:ext cx="120" cy="241"/>
            </a:xfrm>
            <a:prstGeom prst="leftBrace">
              <a:avLst>
                <a:gd name="adj1" fmla="val 16736"/>
                <a:gd name="adj2" fmla="val 50000"/>
              </a:avLst>
            </a:prstGeom>
            <a:noFill/>
            <a:ln w="9525">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2255" name="AutoShape 24"/>
            <p:cNvSpPr/>
            <p:nvPr/>
          </p:nvSpPr>
          <p:spPr bwMode="auto">
            <a:xfrm rot="-5400000">
              <a:off x="2197" y="2527"/>
              <a:ext cx="121" cy="535"/>
            </a:xfrm>
            <a:prstGeom prst="leftBrace">
              <a:avLst>
                <a:gd name="adj1" fmla="val 87222"/>
                <a:gd name="adj2" fmla="val 50000"/>
              </a:avLst>
            </a:prstGeom>
            <a:noFill/>
            <a:ln w="9525">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2256" name="Text Box 25"/>
            <p:cNvSpPr txBox="1">
              <a:spLocks noChangeArrowheads="1"/>
            </p:cNvSpPr>
            <p:nvPr/>
          </p:nvSpPr>
          <p:spPr bwMode="auto">
            <a:xfrm>
              <a:off x="1174" y="2912"/>
              <a:ext cx="278"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收</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到</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接</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收</a:t>
              </a:r>
              <a:endParaRPr kumimoji="1" lang="zh-CN" altLang="en-US" sz="2400">
                <a:latin typeface="楷体_GB2312" pitchFamily="49" charset="-122"/>
                <a:ea typeface="楷体_GB2312" pitchFamily="49" charset="-122"/>
              </a:endParaRPr>
            </a:p>
          </p:txBody>
        </p:sp>
        <p:sp>
          <p:nvSpPr>
            <p:cNvPr id="52257" name="Text Box 26"/>
            <p:cNvSpPr txBox="1">
              <a:spLocks noChangeArrowheads="1"/>
            </p:cNvSpPr>
            <p:nvPr/>
          </p:nvSpPr>
          <p:spPr bwMode="auto">
            <a:xfrm>
              <a:off x="1366" y="2844"/>
              <a:ext cx="278"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窗</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口</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下</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界</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sp>
          <p:nvSpPr>
            <p:cNvPr id="52258" name="Text Box 27"/>
            <p:cNvSpPr txBox="1">
              <a:spLocks noChangeArrowheads="1"/>
            </p:cNvSpPr>
            <p:nvPr/>
          </p:nvSpPr>
          <p:spPr bwMode="auto">
            <a:xfrm>
              <a:off x="1702" y="2840"/>
              <a:ext cx="439"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错</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误</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丢</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弃</a:t>
              </a:r>
              <a:endParaRPr kumimoji="1" lang="zh-CN" altLang="en-US" sz="2400">
                <a:latin typeface="楷体_GB2312" pitchFamily="49" charset="-122"/>
                <a:ea typeface="楷体_GB2312" pitchFamily="49" charset="-122"/>
              </a:endParaRPr>
            </a:p>
          </p:txBody>
        </p:sp>
        <p:sp>
          <p:nvSpPr>
            <p:cNvPr id="52259" name="Text Box 28"/>
            <p:cNvSpPr txBox="1">
              <a:spLocks noChangeArrowheads="1"/>
            </p:cNvSpPr>
            <p:nvPr/>
          </p:nvSpPr>
          <p:spPr bwMode="auto">
            <a:xfrm>
              <a:off x="2086" y="2844"/>
              <a:ext cx="933"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收到接收窗口内非下界帧，存于</a:t>
              </a:r>
              <a:endParaRPr kumimoji="1" lang="zh-CN" altLang="en-US" sz="2000">
                <a:latin typeface="楷体_GB2312" pitchFamily="49" charset="-122"/>
                <a:ea typeface="楷体_GB2312" pitchFamily="49" charset="-122"/>
              </a:endParaRPr>
            </a:p>
            <a:p>
              <a:pPr eaLnBrk="1" hangingPunct="1">
                <a:spcBef>
                  <a:spcPct val="0"/>
                </a:spcBef>
                <a:buClrTx/>
                <a:buSzTx/>
                <a:buFontTx/>
                <a:buNone/>
              </a:pPr>
              <a:r>
                <a:rPr kumimoji="1" lang="zh-CN" altLang="en-US" sz="2000">
                  <a:latin typeface="楷体_GB2312" pitchFamily="49" charset="-122"/>
                  <a:ea typeface="楷体_GB2312" pitchFamily="49" charset="-122"/>
                </a:rPr>
                <a:t>数链层缓存</a:t>
              </a:r>
              <a:endParaRPr kumimoji="1" lang="zh-CN" altLang="en-US" sz="2400">
                <a:latin typeface="楷体_GB2312" pitchFamily="49" charset="-122"/>
                <a:ea typeface="楷体_GB2312" pitchFamily="49" charset="-122"/>
              </a:endParaRPr>
            </a:p>
          </p:txBody>
        </p:sp>
        <p:sp>
          <p:nvSpPr>
            <p:cNvPr id="52260" name="Text Box 29"/>
            <p:cNvSpPr txBox="1">
              <a:spLocks noChangeArrowheads="1"/>
            </p:cNvSpPr>
            <p:nvPr/>
          </p:nvSpPr>
          <p:spPr bwMode="auto">
            <a:xfrm>
              <a:off x="3052" y="2788"/>
              <a:ext cx="278"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kumimoji="1" lang="zh-CN" altLang="en-US" sz="2000">
                  <a:latin typeface="楷体_GB2312" pitchFamily="49" charset="-122"/>
                  <a:ea typeface="楷体_GB2312" pitchFamily="49" charset="-122"/>
                </a:rPr>
                <a:t>重</a:t>
              </a:r>
              <a:endParaRPr kumimoji="1" lang="zh-CN" altLang="en-US" sz="2000">
                <a:latin typeface="楷体_GB2312" pitchFamily="49" charset="-122"/>
                <a:ea typeface="楷体_GB2312" pitchFamily="49" charset="-122"/>
              </a:endParaRPr>
            </a:p>
            <a:p>
              <a:pPr algn="dist" eaLnBrk="1" hangingPunct="1">
                <a:spcBef>
                  <a:spcPct val="0"/>
                </a:spcBef>
                <a:buClrTx/>
                <a:buSzTx/>
                <a:buFontTx/>
                <a:buNone/>
              </a:pPr>
              <a:r>
                <a:rPr kumimoji="1" lang="zh-CN" altLang="en-US" sz="2000">
                  <a:latin typeface="楷体_GB2312" pitchFamily="49" charset="-122"/>
                  <a:ea typeface="楷体_GB2312" pitchFamily="49" charset="-122"/>
                </a:rPr>
                <a:t>发</a:t>
              </a:r>
              <a:endParaRPr kumimoji="1" lang="zh-CN" altLang="en-US" sz="2000">
                <a:latin typeface="楷体_GB2312" pitchFamily="49" charset="-122"/>
                <a:ea typeface="楷体_GB2312" pitchFamily="49" charset="-122"/>
              </a:endParaRPr>
            </a:p>
            <a:p>
              <a:pPr algn="dist" eaLnBrk="1" hangingPunct="1">
                <a:spcBef>
                  <a:spcPct val="0"/>
                </a:spcBef>
                <a:buClrTx/>
                <a:buSzTx/>
                <a:buFontTx/>
                <a:buNone/>
              </a:pPr>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2</a:t>
              </a:r>
              <a:endParaRPr kumimoji="1" lang="en-US" altLang="zh-CN" sz="2000">
                <a:latin typeface="楷体_GB2312" pitchFamily="49" charset="-122"/>
                <a:ea typeface="楷体_GB2312" pitchFamily="49" charset="-122"/>
              </a:endParaRPr>
            </a:p>
            <a:p>
              <a:pPr algn="dist" eaLnBrk="1" hangingPunct="1">
                <a:spcBef>
                  <a:spcPct val="0"/>
                </a:spcBef>
                <a:buClrTx/>
                <a:buSzTx/>
                <a:buFontTx/>
                <a:buNone/>
              </a:pPr>
              <a:r>
                <a:rPr kumimoji="1" lang="zh-CN" altLang="en-US" sz="2000">
                  <a:latin typeface="楷体_GB2312" pitchFamily="49" charset="-122"/>
                  <a:ea typeface="楷体_GB2312" pitchFamily="49" charset="-122"/>
                </a:rPr>
                <a:t>号</a:t>
              </a:r>
              <a:endParaRPr kumimoji="1" lang="zh-CN" altLang="en-US" sz="2000">
                <a:latin typeface="楷体_GB2312" pitchFamily="49" charset="-122"/>
                <a:ea typeface="楷体_GB2312" pitchFamily="49" charset="-122"/>
              </a:endParaRPr>
            </a:p>
            <a:p>
              <a:pPr algn="dist"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grpSp>
          <p:nvGrpSpPr>
            <p:cNvPr id="52261" name="Group 30"/>
            <p:cNvGrpSpPr/>
            <p:nvPr/>
          </p:nvGrpSpPr>
          <p:grpSpPr bwMode="auto">
            <a:xfrm>
              <a:off x="1558" y="1452"/>
              <a:ext cx="1497" cy="192"/>
              <a:chOff x="1632" y="1056"/>
              <a:chExt cx="1488" cy="192"/>
            </a:xfrm>
          </p:grpSpPr>
          <p:sp>
            <p:nvSpPr>
              <p:cNvPr id="52269" name="Line 31"/>
              <p:cNvSpPr>
                <a:spLocks noChangeShapeType="1"/>
              </p:cNvSpPr>
              <p:nvPr/>
            </p:nvSpPr>
            <p:spPr bwMode="auto">
              <a:xfrm>
                <a:off x="1632" y="1056"/>
                <a:ext cx="0" cy="192"/>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70" name="Line 32"/>
              <p:cNvSpPr>
                <a:spLocks noChangeShapeType="1"/>
              </p:cNvSpPr>
              <p:nvPr/>
            </p:nvSpPr>
            <p:spPr bwMode="auto">
              <a:xfrm>
                <a:off x="3120" y="1056"/>
                <a:ext cx="0" cy="192"/>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71" name="Line 33"/>
              <p:cNvSpPr>
                <a:spLocks noChangeShapeType="1"/>
              </p:cNvSpPr>
              <p:nvPr/>
            </p:nvSpPr>
            <p:spPr bwMode="auto">
              <a:xfrm>
                <a:off x="1632" y="1152"/>
                <a:ext cx="1488"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62" name="Text Box 34"/>
            <p:cNvSpPr txBox="1">
              <a:spLocks noChangeArrowheads="1"/>
            </p:cNvSpPr>
            <p:nvPr/>
          </p:nvSpPr>
          <p:spPr bwMode="auto">
            <a:xfrm>
              <a:off x="4350" y="140"/>
              <a:ext cx="26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Times New Roman" panose="02020603050405020304" pitchFamily="18" charset="0"/>
                </a:rPr>
                <a:t>T</a:t>
              </a:r>
              <a:r>
                <a:rPr kumimoji="1" lang="en-US" altLang="zh-CN" sz="2000" baseline="-25000">
                  <a:latin typeface="Times New Roman" panose="02020603050405020304" pitchFamily="18" charset="0"/>
                </a:rPr>
                <a:t>2</a:t>
              </a:r>
              <a:endParaRPr kumimoji="1" lang="en-US" altLang="zh-CN" sz="2400">
                <a:latin typeface="Times New Roman" panose="02020603050405020304" pitchFamily="18" charset="0"/>
              </a:endParaRPr>
            </a:p>
          </p:txBody>
        </p:sp>
        <p:sp>
          <p:nvSpPr>
            <p:cNvPr id="52263" name="Line 35"/>
            <p:cNvSpPr>
              <a:spLocks noChangeShapeType="1"/>
            </p:cNvSpPr>
            <p:nvPr/>
          </p:nvSpPr>
          <p:spPr bwMode="auto">
            <a:xfrm>
              <a:off x="1819" y="1855"/>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4" name="Line 36"/>
            <p:cNvSpPr>
              <a:spLocks noChangeShapeType="1"/>
            </p:cNvSpPr>
            <p:nvPr/>
          </p:nvSpPr>
          <p:spPr bwMode="auto">
            <a:xfrm>
              <a:off x="2059" y="1855"/>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5" name="Line 37"/>
            <p:cNvSpPr>
              <a:spLocks noChangeShapeType="1"/>
            </p:cNvSpPr>
            <p:nvPr/>
          </p:nvSpPr>
          <p:spPr bwMode="auto">
            <a:xfrm>
              <a:off x="2609" y="1839"/>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6" name="Line 42"/>
            <p:cNvSpPr>
              <a:spLocks noChangeShapeType="1"/>
            </p:cNvSpPr>
            <p:nvPr/>
          </p:nvSpPr>
          <p:spPr bwMode="auto">
            <a:xfrm>
              <a:off x="3549" y="1875"/>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7" name="Line 43"/>
            <p:cNvSpPr>
              <a:spLocks noChangeShapeType="1"/>
            </p:cNvSpPr>
            <p:nvPr/>
          </p:nvSpPr>
          <p:spPr bwMode="auto">
            <a:xfrm>
              <a:off x="2299" y="1855"/>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8" name="Line 44"/>
            <p:cNvSpPr>
              <a:spLocks noChangeShapeType="1"/>
            </p:cNvSpPr>
            <p:nvPr/>
          </p:nvSpPr>
          <p:spPr bwMode="auto">
            <a:xfrm>
              <a:off x="3820" y="1875"/>
              <a:ext cx="241" cy="67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32" name="Line 44"/>
          <p:cNvSpPr>
            <a:spLocks noChangeShapeType="1"/>
          </p:cNvSpPr>
          <p:nvPr/>
        </p:nvSpPr>
        <p:spPr bwMode="auto">
          <a:xfrm>
            <a:off x="8075614" y="3176588"/>
            <a:ext cx="382587" cy="112236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Line 44"/>
          <p:cNvSpPr>
            <a:spLocks noChangeShapeType="1"/>
          </p:cNvSpPr>
          <p:nvPr/>
        </p:nvSpPr>
        <p:spPr bwMode="auto">
          <a:xfrm>
            <a:off x="8480425" y="3173413"/>
            <a:ext cx="382588" cy="1122362"/>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Line 44"/>
          <p:cNvSpPr>
            <a:spLocks noChangeShapeType="1"/>
          </p:cNvSpPr>
          <p:nvPr/>
        </p:nvSpPr>
        <p:spPr bwMode="auto">
          <a:xfrm>
            <a:off x="8926514" y="3152776"/>
            <a:ext cx="382587" cy="1122363"/>
          </a:xfrm>
          <a:prstGeom prst="line">
            <a:avLst/>
          </a:prstGeom>
          <a:noFill/>
          <a:ln w="1905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Line 12"/>
          <p:cNvSpPr>
            <a:spLocks noChangeShapeType="1"/>
          </p:cNvSpPr>
          <p:nvPr/>
        </p:nvSpPr>
        <p:spPr bwMode="auto">
          <a:xfrm flipV="1">
            <a:off x="7543800" y="3033713"/>
            <a:ext cx="1085850" cy="1212850"/>
          </a:xfrm>
          <a:prstGeom prst="line">
            <a:avLst/>
          </a:prstGeom>
          <a:noFill/>
          <a:ln w="1905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6" name="Text Box 19"/>
          <p:cNvSpPr txBox="1">
            <a:spLocks noChangeArrowheads="1"/>
          </p:cNvSpPr>
          <p:nvPr/>
        </p:nvSpPr>
        <p:spPr bwMode="auto">
          <a:xfrm rot="-2700000">
            <a:off x="7491414" y="3332163"/>
            <a:ext cx="76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ack6</a:t>
            </a:r>
            <a:endParaRPr kumimoji="1" lang="en-US" altLang="zh-CN" sz="2400">
              <a:latin typeface="Times New Roman" panose="02020603050405020304" pitchFamily="18" charset="0"/>
            </a:endParaRPr>
          </a:p>
        </p:txBody>
      </p:sp>
      <p:pic>
        <p:nvPicPr>
          <p:cNvPr id="5223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016875" y="2997200"/>
            <a:ext cx="1182688"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8" name="Text Box 19"/>
          <p:cNvSpPr txBox="1">
            <a:spLocks noChangeArrowheads="1"/>
          </p:cNvSpPr>
          <p:nvPr/>
        </p:nvSpPr>
        <p:spPr bwMode="auto">
          <a:xfrm rot="-2700000">
            <a:off x="8035926" y="3375026"/>
            <a:ext cx="765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ack7</a:t>
            </a:r>
            <a:endParaRPr kumimoji="1" lang="en-US" altLang="zh-CN" sz="2400">
              <a:latin typeface="Times New Roman" panose="02020603050405020304" pitchFamily="18" charset="0"/>
            </a:endParaRPr>
          </a:p>
        </p:txBody>
      </p:sp>
      <p:pic>
        <p:nvPicPr>
          <p:cNvPr id="52239" name="图片 4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456614" y="3044826"/>
            <a:ext cx="1182687"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0" name="Text Box 19"/>
          <p:cNvSpPr txBox="1">
            <a:spLocks noChangeArrowheads="1"/>
          </p:cNvSpPr>
          <p:nvPr/>
        </p:nvSpPr>
        <p:spPr bwMode="auto">
          <a:xfrm rot="-2700000">
            <a:off x="8509001" y="3363914"/>
            <a:ext cx="765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endParaRPr kumimoji="1" lang="en-US" altLang="zh-CN" sz="2400">
              <a:latin typeface="Times New Roman" panose="02020603050405020304" pitchFamily="18" charset="0"/>
            </a:endParaRPr>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5325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ACB5952-F22F-477B-B06A-D25F614CB1A0}"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7" name="日期占位符 3"/>
          <p:cNvSpPr>
            <a:spLocks noGrp="1"/>
          </p:cNvSpPr>
          <p:nvPr>
            <p:ph type="dt" sz="quarter" idx="12"/>
          </p:nvPr>
        </p:nvSpPr>
        <p:spPr/>
        <p:txBody>
          <a:bodyPr/>
          <a:lstStyle/>
          <a:p>
            <a:pPr>
              <a:defRPr/>
            </a:pPr>
            <a:fld id="{54EB5B4D-51C4-439B-93D3-404DDF176FED}" type="datetime1">
              <a:rPr lang="zh-CN" altLang="en-US"/>
            </a:fld>
            <a:endParaRPr lang="en-US" altLang="zh-CN"/>
          </a:p>
        </p:txBody>
      </p:sp>
      <p:sp>
        <p:nvSpPr>
          <p:cNvPr id="951301" name="Rectangle 5"/>
          <p:cNvSpPr>
            <a:spLocks noChangeArrowheads="1"/>
          </p:cNvSpPr>
          <p:nvPr/>
        </p:nvSpPr>
        <p:spPr bwMode="auto">
          <a:xfrm>
            <a:off x="2279650" y="814389"/>
            <a:ext cx="7632700" cy="1387475"/>
          </a:xfrm>
          <a:prstGeom prst="rect">
            <a:avLst/>
          </a:prstGeom>
          <a:noFill/>
          <a:ln>
            <a:noFill/>
          </a:ln>
          <a:effectLst/>
        </p:spPr>
        <p:txBody>
          <a:bodyPr lIns="0" tIns="0" rIns="0" bIns="0" anchor="ctr">
            <a:spAutoFit/>
          </a:bodyPr>
          <a:lstStyle/>
          <a:p>
            <a:pPr eaLnBrk="1" hangingPunct="1">
              <a:lnSpc>
                <a:spcPct val="120000"/>
              </a:lnSpc>
              <a:spcBef>
                <a:spcPct val="20000"/>
              </a:spcBef>
              <a:tabLst>
                <a:tab pos="228600" algn="l"/>
              </a:tabLst>
              <a:defRPr/>
            </a:pPr>
            <a:r>
              <a:rPr lang="en-US" altLang="zh-CN" sz="2400">
                <a:solidFill>
                  <a:srgbClr val="0000FF"/>
                </a:solidFill>
                <a:effectLst>
                  <a:outerShdw blurRad="38100" dist="38100" dir="2700000" algn="tl">
                    <a:srgbClr val="C0C0C0"/>
                  </a:outerShdw>
                </a:effectLst>
                <a:latin typeface="Verdana" panose="020B0604030504040204" pitchFamily="34" charset="0"/>
                <a:cs typeface="Times New Roman" panose="02020603050405020304" pitchFamily="18" charset="0"/>
              </a:rPr>
              <a:t>ARQ</a:t>
            </a:r>
            <a:r>
              <a:rPr lang="zh-CN" altLang="en-US" sz="2400">
                <a:solidFill>
                  <a:srgbClr val="0000FF"/>
                </a:solidFill>
                <a:effectLst>
                  <a:outerShdw blurRad="38100" dist="38100" dir="2700000" algn="tl">
                    <a:srgbClr val="C0C0C0"/>
                  </a:outerShdw>
                </a:effectLst>
                <a:latin typeface="Verdana" panose="020B0604030504040204" pitchFamily="34" charset="0"/>
                <a:cs typeface="Times New Roman" panose="02020603050405020304" pitchFamily="18" charset="0"/>
              </a:rPr>
              <a:t>协议的主要功能：</a:t>
            </a:r>
            <a:endParaRPr lang="zh-CN" altLang="en-US" sz="2400">
              <a:solidFill>
                <a:srgbClr val="0000FF"/>
              </a:solidFill>
              <a:effectLst>
                <a:outerShdw blurRad="38100" dist="38100" dir="2700000" algn="tl">
                  <a:srgbClr val="C0C0C0"/>
                </a:outerShdw>
              </a:effectLst>
              <a:latin typeface="Verdana" panose="020B0604030504040204" pitchFamily="34" charset="0"/>
              <a:cs typeface="Times New Roman" panose="02020603050405020304" pitchFamily="18" charset="0"/>
            </a:endParaRPr>
          </a:p>
          <a:p>
            <a:pPr>
              <a:lnSpc>
                <a:spcPct val="120000"/>
              </a:lnSpc>
              <a:spcBef>
                <a:spcPct val="20000"/>
              </a:spcBef>
              <a:buFontTx/>
              <a:buAutoNum type="arabicPeriod"/>
              <a:tabLst>
                <a:tab pos="228600" algn="l"/>
              </a:tabLst>
              <a:defRPr/>
            </a:pPr>
            <a:r>
              <a:rPr lang="zh-CN" altLang="en-US" sz="2400">
                <a:latin typeface="Verdana" panose="020B0604030504040204" pitchFamily="34" charset="0"/>
                <a:cs typeface="Times New Roman" panose="02020603050405020304" pitchFamily="18" charset="0"/>
              </a:rPr>
              <a:t> 在不可靠的链路上</a:t>
            </a:r>
            <a:r>
              <a:rPr lang="zh-CN" altLang="en-US" sz="2400">
                <a:solidFill>
                  <a:srgbClr val="0000FF"/>
                </a:solidFill>
                <a:effectLst>
                  <a:outerShdw blurRad="38100" dist="38100" dir="2700000" algn="tl">
                    <a:srgbClr val="C0C0C0"/>
                  </a:outerShdw>
                </a:effectLst>
                <a:latin typeface="Verdana" panose="020B0604030504040204" pitchFamily="34" charset="0"/>
                <a:cs typeface="Times New Roman" panose="02020603050405020304" pitchFamily="18" charset="0"/>
              </a:rPr>
              <a:t>实现可靠交付</a:t>
            </a:r>
            <a:r>
              <a:rPr lang="en-US" altLang="zh-CN" sz="2400">
                <a:latin typeface="Verdana" panose="020B0604030504040204" pitchFamily="34" charset="0"/>
                <a:cs typeface="Times New Roman" panose="02020603050405020304" pitchFamily="18" charset="0"/>
              </a:rPr>
              <a:t>(</a:t>
            </a:r>
            <a:r>
              <a:rPr lang="zh-CN" altLang="en-US" sz="2400">
                <a:latin typeface="Verdana" panose="020B0604030504040204" pitchFamily="34" charset="0"/>
              </a:rPr>
              <a:t>无差错、无丢失、无重复、按顺序</a:t>
            </a:r>
            <a:r>
              <a:rPr lang="en-US" altLang="zh-CN" sz="2400">
                <a:latin typeface="Verdana" panose="020B0604030504040204" pitchFamily="34" charset="0"/>
              </a:rPr>
              <a:t>)</a:t>
            </a:r>
            <a:r>
              <a:rPr lang="zh-CN" altLang="en-US" sz="2400">
                <a:latin typeface="Verdana" panose="020B0604030504040204" pitchFamily="34" charset="0"/>
              </a:rPr>
              <a:t>。所有的重传对上面都是透明的</a:t>
            </a:r>
            <a:r>
              <a:rPr lang="en-US" altLang="zh-CN" sz="2400">
                <a:latin typeface="Verdana" panose="020B0604030504040204" pitchFamily="34" charset="0"/>
              </a:rPr>
              <a:t>.</a:t>
            </a:r>
            <a:endParaRPr lang="en-US" altLang="zh-CN" sz="2400">
              <a:latin typeface="Verdana" panose="020B0604030504040204" pitchFamily="34" charset="0"/>
            </a:endParaRPr>
          </a:p>
        </p:txBody>
      </p:sp>
      <p:graphicFrame>
        <p:nvGraphicFramePr>
          <p:cNvPr id="53254" name="Object 4"/>
          <p:cNvGraphicFramePr>
            <a:graphicFrameLocks noChangeAspect="1"/>
          </p:cNvGraphicFramePr>
          <p:nvPr/>
        </p:nvGraphicFramePr>
        <p:xfrm>
          <a:off x="2278708" y="2398714"/>
          <a:ext cx="7705725" cy="2200275"/>
        </p:xfrm>
        <a:graphic>
          <a:graphicData uri="http://schemas.openxmlformats.org/presentationml/2006/ole">
            <mc:AlternateContent xmlns:mc="http://schemas.openxmlformats.org/markup-compatibility/2006">
              <mc:Choice xmlns:v="urn:schemas-microsoft-com:vml" Requires="v">
                <p:oleObj spid="_x0000_s0" name="演示文稿" r:id="rId1" imgW="696595" imgH="523240" progId="PowerPoint.Show.8">
                  <p:embed/>
                </p:oleObj>
              </mc:Choice>
              <mc:Fallback>
                <p:oleObj name="演示文稿" r:id="rId1" imgW="696595" imgH="523240" progId="PowerPoint.Show.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t="2165" b="59833"/>
                      <a:stretch>
                        <a:fillRect/>
                      </a:stretch>
                    </p:blipFill>
                    <p:spPr bwMode="auto">
                      <a:xfrm>
                        <a:off x="2278708" y="2398714"/>
                        <a:ext cx="77057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6"/>
          <p:cNvSpPr>
            <a:spLocks noChangeArrowheads="1"/>
          </p:cNvSpPr>
          <p:nvPr/>
        </p:nvSpPr>
        <p:spPr bwMode="auto">
          <a:xfrm>
            <a:off x="2063750" y="4703764"/>
            <a:ext cx="7920038"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indent="228600">
              <a:spcBef>
                <a:spcPct val="20000"/>
              </a:spcBef>
              <a:buClr>
                <a:schemeClr val="bg2"/>
              </a:buClr>
              <a:buSzPct val="75000"/>
              <a:buFont typeface="Wingdings" panose="05000000000000000000" pitchFamily="2" charset="2"/>
              <a:buChar char="n"/>
              <a:tabLst>
                <a:tab pos="228600"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2286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2286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15000"/>
              </a:spcBef>
              <a:buClrTx/>
              <a:buSzTx/>
              <a:buFontTx/>
              <a:buNone/>
            </a:pPr>
            <a:r>
              <a:rPr lang="en-US" altLang="zh-CN" sz="2400">
                <a:latin typeface="Verdana" panose="020B0604030504040204" pitchFamily="34" charset="0"/>
                <a:ea typeface="楷体_GB2312" pitchFamily="49" charset="-122"/>
                <a:cs typeface="Times New Roman" panose="02020603050405020304" pitchFamily="18" charset="0"/>
              </a:rPr>
              <a:t>2. </a:t>
            </a:r>
            <a:r>
              <a:rPr lang="zh-CN" altLang="en-US" sz="2400" b="1">
                <a:solidFill>
                  <a:srgbClr val="0000FF"/>
                </a:solidFill>
                <a:latin typeface="Verdana" panose="020B0604030504040204" pitchFamily="34" charset="0"/>
                <a:ea typeface="楷体_GB2312" pitchFamily="49" charset="-122"/>
                <a:cs typeface="Times New Roman" panose="02020603050405020304" pitchFamily="18" charset="0"/>
              </a:rPr>
              <a:t>支持了流量控制</a:t>
            </a:r>
            <a:r>
              <a:rPr lang="zh-CN" altLang="en-US" sz="2400">
                <a:latin typeface="Verdana" panose="020B0604030504040204" pitchFamily="34" charset="0"/>
                <a:ea typeface="楷体_GB2312" pitchFamily="49" charset="-122"/>
                <a:cs typeface="Times New Roman" panose="02020603050405020304" pitchFamily="18" charset="0"/>
              </a:rPr>
              <a:t>。</a:t>
            </a:r>
            <a:endParaRPr lang="zh-CN" altLang="en-US" sz="2400">
              <a:latin typeface="Verdana" panose="020B0604030504040204" pitchFamily="34" charset="0"/>
              <a:ea typeface="楷体_GB2312" pitchFamily="49" charset="-122"/>
              <a:cs typeface="Times New Roman" panose="02020603050405020304" pitchFamily="18" charset="0"/>
            </a:endParaRPr>
          </a:p>
          <a:p>
            <a:pPr>
              <a:lnSpc>
                <a:spcPct val="115000"/>
              </a:lnSpc>
              <a:spcBef>
                <a:spcPct val="15000"/>
              </a:spcBef>
              <a:buClrTx/>
              <a:buSzTx/>
              <a:buFontTx/>
              <a:buNone/>
            </a:pPr>
            <a:r>
              <a:rPr lang="zh-CN" altLang="en-US" sz="2400">
                <a:latin typeface="Verdana" panose="020B0604030504040204" pitchFamily="34" charset="0"/>
                <a:ea typeface="楷体_GB2312" pitchFamily="49" charset="-122"/>
                <a:cs typeface="Times New Roman" panose="02020603050405020304" pitchFamily="18" charset="0"/>
              </a:rPr>
              <a:t> 当接收端来不及接收时，就可以通过暂时不发送确认帧来降低发送端发送数据帧的速率。</a:t>
            </a:r>
            <a:endParaRPr lang="zh-CN" altLang="en-US" sz="2400">
              <a:latin typeface="Verdana" panose="020B0604030504040204" pitchFamily="34" charset="0"/>
              <a:ea typeface="楷体_GB2312" pitchFamily="49" charset="-122"/>
              <a:cs typeface="Times New Roman" panose="02020603050405020304" pitchFamily="18" charset="0"/>
            </a:endParaRPr>
          </a:p>
        </p:txBody>
      </p:sp>
    </p:spTree>
  </p:cSld>
  <p:clrMapOvr>
    <a:masterClrMapping/>
  </p:clrMapOvr>
  <p:transition spd="slow">
    <p:pull dir="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6" name="图片 5"/>
          <p:cNvPicPr>
            <a:picLocks noChangeAspect="1"/>
          </p:cNvPicPr>
          <p:nvPr/>
        </p:nvPicPr>
        <p:blipFill>
          <a:blip r:embed="rId1"/>
          <a:stretch>
            <a:fillRect/>
          </a:stretch>
        </p:blipFill>
        <p:spPr>
          <a:xfrm>
            <a:off x="819554" y="476672"/>
            <a:ext cx="10552892" cy="5256584"/>
          </a:xfrm>
          <a:prstGeom prst="rect">
            <a:avLst/>
          </a:prstGeom>
        </p:spPr>
      </p:pic>
    </p:spTree>
  </p:cSld>
  <p:clrMapOvr>
    <a:masterClrMapping/>
  </p:clrMapOvr>
  <p:transition spd="slow">
    <p:pull dir="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767408" y="332656"/>
            <a:ext cx="10382244" cy="5328592"/>
          </a:xfrm>
          <a:prstGeom prst="rect">
            <a:avLst/>
          </a:prstGeom>
        </p:spPr>
      </p:pic>
    </p:spTree>
  </p:cSld>
  <p:clrMapOvr>
    <a:masterClrMapping/>
  </p:clrMapOvr>
  <p:transition spd="slow">
    <p:pull dir="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844012" y="1179840"/>
            <a:ext cx="8576957" cy="4697432"/>
          </a:xfrm>
          <a:prstGeom prst="rect">
            <a:avLst/>
          </a:prstGeom>
        </p:spPr>
      </p:pic>
    </p:spTree>
  </p:cSld>
  <p:clrMapOvr>
    <a:masterClrMapping/>
  </p:clrMapOvr>
  <p:transition spd="slow">
    <p:pull dir="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296442" y="440533"/>
            <a:ext cx="9599116" cy="5776092"/>
          </a:xfrm>
          <a:prstGeom prst="rect">
            <a:avLst/>
          </a:prstGeom>
        </p:spPr>
      </p:pic>
    </p:spTree>
  </p:cSld>
  <p:clrMapOvr>
    <a:masterClrMapping/>
  </p:clrMapOvr>
  <p:transition spd="slow">
    <p:pull dir="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811524" y="747008"/>
            <a:ext cx="8568952" cy="5363984"/>
          </a:xfrm>
          <a:prstGeom prst="rect">
            <a:avLst/>
          </a:prstGeom>
        </p:spPr>
      </p:pic>
    </p:spTree>
  </p:cSld>
  <p:clrMapOvr>
    <a:masterClrMapping/>
  </p:clrMapOvr>
  <p:transition spd="slow">
    <p:pull dir="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780946" y="802657"/>
            <a:ext cx="8630108" cy="5456012"/>
          </a:xfrm>
          <a:prstGeom prst="rect">
            <a:avLst/>
          </a:prstGeom>
        </p:spPr>
      </p:pic>
    </p:spTree>
  </p:cSld>
  <p:clrMapOvr>
    <a:masterClrMapping/>
  </p:clrMapOvr>
  <p:transition spd="slow">
    <p:pull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810787" y="692697"/>
            <a:ext cx="8570426" cy="5210057"/>
          </a:xfrm>
          <a:prstGeom prst="rect">
            <a:avLst/>
          </a:prstGeom>
        </p:spPr>
      </p:pic>
    </p:spTree>
  </p:cSld>
  <p:clrMapOvr>
    <a:masterClrMapping/>
  </p:clrMapOvr>
  <p:transition spd="slow">
    <p:pull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832774" y="404664"/>
            <a:ext cx="8526453" cy="4877320"/>
          </a:xfrm>
          <a:prstGeom prst="rect">
            <a:avLst/>
          </a:prstGeom>
        </p:spPr>
      </p:pic>
    </p:spTree>
  </p:cSld>
  <p:clrMapOvr>
    <a:masterClrMapping/>
  </p:clrMapOvr>
  <p:transition spd="slow">
    <p:pull dir="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213876" y="692696"/>
            <a:ext cx="10364084" cy="4057284"/>
          </a:xfrm>
          <a:prstGeom prst="rect">
            <a:avLst/>
          </a:prstGeom>
        </p:spPr>
      </p:pic>
    </p:spTree>
  </p:cSld>
  <p:clrMapOvr>
    <a:masterClrMapping/>
  </p:clrMapOvr>
  <p:transition spd="slow">
    <p:pull dir="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endParaRPr lang="en-US" altLang="zh-CN"/>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fld>
            <a:endParaRPr lang="en-US" altLang="zh-CN"/>
          </a:p>
        </p:txBody>
      </p:sp>
      <p:pic>
        <p:nvPicPr>
          <p:cNvPr id="5" name="图片 4"/>
          <p:cNvPicPr>
            <a:picLocks noChangeAspect="1"/>
          </p:cNvPicPr>
          <p:nvPr/>
        </p:nvPicPr>
        <p:blipFill>
          <a:blip r:embed="rId1"/>
          <a:stretch>
            <a:fillRect/>
          </a:stretch>
        </p:blipFill>
        <p:spPr>
          <a:xfrm>
            <a:off x="1261190" y="260648"/>
            <a:ext cx="9080010" cy="5544616"/>
          </a:xfrm>
          <a:prstGeom prst="rect">
            <a:avLst/>
          </a:prstGeom>
        </p:spPr>
      </p:pic>
    </p:spTree>
  </p:cSld>
  <p:clrMapOvr>
    <a:masterClrMapping/>
  </p:clrMapOvr>
  <p:transition spd="slow">
    <p:pull dir="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14746</Words>
  <Application>WPS 演示</Application>
  <PresentationFormat>Widescreen</PresentationFormat>
  <Paragraphs>2526</Paragraphs>
  <Slides>115</Slides>
  <Notes>30</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6</vt:i4>
      </vt:variant>
      <vt:variant>
        <vt:lpstr>幻灯片标题</vt:lpstr>
      </vt:variant>
      <vt:variant>
        <vt:i4>115</vt:i4>
      </vt:variant>
    </vt:vector>
  </HeadingPairs>
  <TitlesOfParts>
    <vt:vector size="145" baseType="lpstr">
      <vt:lpstr>Arial</vt:lpstr>
      <vt:lpstr>宋体</vt:lpstr>
      <vt:lpstr>Wingdings</vt:lpstr>
      <vt:lpstr>微软雅黑</vt:lpstr>
      <vt:lpstr>Arial Black</vt:lpstr>
      <vt:lpstr>Verdana</vt:lpstr>
      <vt:lpstr>楷体_GB2312</vt:lpstr>
      <vt:lpstr>新宋体</vt:lpstr>
      <vt:lpstr>Arial Unicode MS</vt:lpstr>
      <vt:lpstr>等线</vt:lpstr>
      <vt:lpstr>Arial Unicode MS</vt:lpstr>
      <vt:lpstr>Segoe UI</vt:lpstr>
      <vt:lpstr>Times New Roman</vt:lpstr>
      <vt:lpstr>楷体</vt:lpstr>
      <vt:lpstr>Times New Roman</vt:lpstr>
      <vt:lpstr>Calibri</vt:lpstr>
      <vt:lpstr>Calibri</vt:lpstr>
      <vt:lpstr>Symbol</vt:lpstr>
      <vt:lpstr>Tahoma</vt:lpstr>
      <vt:lpstr>MS PGothic</vt:lpstr>
      <vt:lpstr>黑体</vt:lpstr>
      <vt:lpstr>Courier New</vt:lpstr>
      <vt:lpstr>Georgia</vt:lpstr>
      <vt:lpstr>Office 主题​​</vt:lpstr>
      <vt:lpstr>Equation.DSMT4</vt:lpstr>
      <vt:lpstr>Equation.DSMT4</vt:lpstr>
      <vt:lpstr>Equation.DSMT4</vt:lpstr>
      <vt:lpstr>Equation.DSMT4</vt:lpstr>
      <vt:lpstr>Paint.Picture</vt:lpstr>
      <vt:lpstr>PowerPoint.Show.8</vt:lpstr>
      <vt:lpstr>第三章 数据据链路层基础</vt:lpstr>
      <vt:lpstr>本章目标</vt:lpstr>
      <vt:lpstr>PowerPoint 演示文稿</vt:lpstr>
      <vt:lpstr>PowerPoint 演示文稿</vt:lpstr>
      <vt:lpstr>PowerPoint 演示文稿</vt:lpstr>
      <vt:lpstr>PowerPoint 演示文稿</vt:lpstr>
      <vt:lpstr>本章内容</vt:lpstr>
      <vt:lpstr>数据链路层在协议栈中的位置</vt:lpstr>
      <vt:lpstr>数据链路层的功能</vt:lpstr>
      <vt:lpstr>数据链路层提供的服务</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差错控制</vt:lpstr>
      <vt:lpstr>流量控制</vt:lpstr>
      <vt:lpstr>本章内容</vt:lpstr>
      <vt:lpstr>差错原因</vt:lpstr>
      <vt:lpstr>差错的类型</vt:lpstr>
      <vt:lpstr>差错检测和纠正概述</vt:lpstr>
      <vt:lpstr>差错检测和纠正概述</vt:lpstr>
      <vt:lpstr>差错检测和纠正概述</vt:lpstr>
      <vt:lpstr>差错检测和纠正概述</vt:lpstr>
      <vt:lpstr>差错检测和纠正概述</vt:lpstr>
      <vt:lpstr>思考题</vt:lpstr>
      <vt:lpstr>思考题</vt:lpstr>
      <vt:lpstr>思考题</vt:lpstr>
      <vt:lpstr>思考题</vt:lpstr>
      <vt:lpstr>差错检测和纠正概述</vt:lpstr>
      <vt:lpstr>PowerPoint 演示文稿</vt:lpstr>
      <vt:lpstr>典型检错码</vt:lpstr>
      <vt:lpstr>典型检错码—奇偶校验</vt:lpstr>
      <vt:lpstr>典型检错码—校验和</vt:lpstr>
      <vt:lpstr>典型检错码—校验和</vt:lpstr>
      <vt:lpstr>典型检错码—循环冗余校验CRC</vt:lpstr>
      <vt:lpstr>检错码—循环冗余校验CRC</vt:lpstr>
      <vt:lpstr>检错码—循环冗余校验CRC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典型纠错码</vt:lpstr>
      <vt:lpstr>典型纠错码</vt:lpstr>
      <vt:lpstr>PowerPoint 演示文稿</vt:lpstr>
      <vt:lpstr>PowerPoint 演示文稿</vt:lpstr>
      <vt:lpstr>典型纠错码—海明码</vt:lpstr>
      <vt:lpstr>典型纠错码—海明码</vt:lpstr>
      <vt:lpstr>例：</vt:lpstr>
      <vt:lpstr>PowerPoint 演示文稿</vt:lpstr>
      <vt:lpstr>典型纠错码—海明码</vt:lpstr>
      <vt:lpstr>处理方式：</vt:lpstr>
      <vt:lpstr>例：若汉明码为1101101，判定是否有错，并错在何处？(写出原正确码)</vt:lpstr>
      <vt:lpstr>例：若汉明码为1101101，判定是否有错，并错在何处？(写出原正确码)</vt:lpstr>
      <vt:lpstr>海明码的应用</vt:lpstr>
      <vt:lpstr>用海明码纠正突发性错：</vt:lpstr>
      <vt:lpstr>例:</vt:lpstr>
      <vt:lpstr>典型纠错码—海明码（小结）</vt:lpstr>
      <vt:lpstr>本章内容</vt:lpstr>
      <vt:lpstr>物理层、数据链路层和网络层的实现</vt:lpstr>
      <vt:lpstr>PowerPoint 演示文稿</vt:lpstr>
      <vt:lpstr>PowerPoint 演示文稿</vt:lpstr>
      <vt:lpstr>停止等待协议</vt:lpstr>
      <vt:lpstr>PowerPoint 演示文稿</vt:lpstr>
      <vt:lpstr>二．单向停-等协议</vt:lpstr>
      <vt:lpstr>PowerPoint 演示文稿</vt:lpstr>
      <vt:lpstr>三、有错，单向数据传送协议</vt:lpstr>
      <vt:lpstr>PowerPoint 演示文稿</vt:lpstr>
      <vt:lpstr>PowerPoint 演示文稿</vt:lpstr>
      <vt:lpstr>PowerPoint 演示文稿</vt:lpstr>
      <vt:lpstr>流程说明：</vt:lpstr>
      <vt:lpstr>PowerPoint 演示文稿</vt:lpstr>
      <vt:lpstr>PowerPoint 演示文稿</vt:lpstr>
      <vt:lpstr>PowerPoint 演示文稿</vt:lpstr>
      <vt:lpstr>PowerPoint 演示文稿</vt:lpstr>
      <vt:lpstr>PowerPoint 演示文稿</vt:lpstr>
      <vt:lpstr>本章内容</vt:lpstr>
      <vt:lpstr>滑动窗口协议</vt:lpstr>
      <vt:lpstr>PowerPoint 演示文稿</vt:lpstr>
      <vt:lpstr>PowerPoint 演示文稿</vt:lpstr>
      <vt:lpstr>二、窗口 (任何一端均有两个窗口)</vt:lpstr>
      <vt:lpstr>PowerPoint 演示文稿</vt:lpstr>
      <vt:lpstr>三种滑动窗口协议</vt:lpstr>
      <vt:lpstr>PowerPoint 演示文稿</vt:lpstr>
      <vt:lpstr>PowerPoint 演示文稿</vt:lpstr>
      <vt:lpstr>PowerPoint 演示文稿</vt:lpstr>
      <vt:lpstr>PowerPoint 演示文稿</vt:lpstr>
      <vt:lpstr>PowerPoint 演示文稿</vt:lpstr>
      <vt:lpstr>2、连续ARQ协议(又称Go-Back-N)【协议5】</vt:lpstr>
      <vt:lpstr>PowerPoint 演示文稿</vt:lpstr>
      <vt:lpstr>PowerPoint 演示文稿</vt:lpstr>
      <vt:lpstr>PowerPoint 演示文稿</vt:lpstr>
      <vt:lpstr>PowerPoint 演示文稿</vt:lpstr>
      <vt:lpstr>PowerPoint 演示文稿</vt:lpstr>
      <vt:lpstr>3．选择重传ARQ协议(SR) 【协议6】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WPS_1702205245</cp:lastModifiedBy>
  <cp:revision>1397</cp:revision>
  <dcterms:created xsi:type="dcterms:W3CDTF">2021-01-06T05:35:00Z</dcterms:created>
  <dcterms:modified xsi:type="dcterms:W3CDTF">2025-09-29T05:28:49Z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8A437785BFA54D05A41740934A5AADFB_12</vt:lpwstr>
  </property>
  <property fmtid="{D5CDD505-2E9C-101B-9397-08002B2CF9AE}" pid="3" name="KSOProductBuildVer">
    <vt:lpwstr>2052-12.1.0.22529</vt:lpwstr>
  </property>
</Properties>
</file>