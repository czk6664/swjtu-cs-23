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9"/>
  </p:notesMasterIdLst>
  <p:handoutMasterIdLst>
    <p:handoutMasterId r:id="rId120"/>
  </p:handoutMasterIdLst>
  <p:sldIdLst>
    <p:sldId id="269" r:id="rId2"/>
    <p:sldId id="1514" r:id="rId3"/>
    <p:sldId id="279" r:id="rId4"/>
    <p:sldId id="1410" r:id="rId5"/>
    <p:sldId id="1411" r:id="rId6"/>
    <p:sldId id="1412" r:id="rId7"/>
    <p:sldId id="1413" r:id="rId8"/>
    <p:sldId id="1414" r:id="rId9"/>
    <p:sldId id="1415" r:id="rId10"/>
    <p:sldId id="259" r:id="rId11"/>
    <p:sldId id="1416" r:id="rId12"/>
    <p:sldId id="1417" r:id="rId13"/>
    <p:sldId id="1519" r:id="rId14"/>
    <p:sldId id="261" r:id="rId15"/>
    <p:sldId id="1053" r:id="rId16"/>
    <p:sldId id="317" r:id="rId17"/>
    <p:sldId id="309" r:id="rId18"/>
    <p:sldId id="1054" r:id="rId19"/>
    <p:sldId id="310" r:id="rId20"/>
    <p:sldId id="311" r:id="rId21"/>
    <p:sldId id="312" r:id="rId22"/>
    <p:sldId id="313" r:id="rId23"/>
    <p:sldId id="262" r:id="rId24"/>
    <p:sldId id="263" r:id="rId25"/>
    <p:sldId id="307" r:id="rId26"/>
    <p:sldId id="1546" r:id="rId27"/>
    <p:sldId id="264" r:id="rId28"/>
    <p:sldId id="1547" r:id="rId29"/>
    <p:sldId id="308" r:id="rId30"/>
    <p:sldId id="265" r:id="rId31"/>
    <p:sldId id="301" r:id="rId32"/>
    <p:sldId id="302" r:id="rId33"/>
    <p:sldId id="260" r:id="rId34"/>
    <p:sldId id="1548" r:id="rId35"/>
    <p:sldId id="300" r:id="rId36"/>
    <p:sldId id="327" r:id="rId37"/>
    <p:sldId id="326" r:id="rId38"/>
    <p:sldId id="299" r:id="rId39"/>
    <p:sldId id="329" r:id="rId40"/>
    <p:sldId id="1539" r:id="rId41"/>
    <p:sldId id="1540" r:id="rId42"/>
    <p:sldId id="1541" r:id="rId43"/>
    <p:sldId id="1542" r:id="rId44"/>
    <p:sldId id="1543" r:id="rId45"/>
    <p:sldId id="1402" r:id="rId46"/>
    <p:sldId id="1028" r:id="rId47"/>
    <p:sldId id="1029" r:id="rId48"/>
    <p:sldId id="1056" r:id="rId49"/>
    <p:sldId id="1523" r:id="rId50"/>
    <p:sldId id="763" r:id="rId51"/>
    <p:sldId id="765" r:id="rId52"/>
    <p:sldId id="1057" r:id="rId53"/>
    <p:sldId id="1030" r:id="rId54"/>
    <p:sldId id="1404" r:id="rId55"/>
    <p:sldId id="1520" r:id="rId56"/>
    <p:sldId id="304" r:id="rId57"/>
    <p:sldId id="1423" r:id="rId58"/>
    <p:sldId id="1425" r:id="rId59"/>
    <p:sldId id="1426" r:id="rId60"/>
    <p:sldId id="1427" r:id="rId61"/>
    <p:sldId id="1428" r:id="rId62"/>
    <p:sldId id="1429" r:id="rId63"/>
    <p:sldId id="1430" r:id="rId64"/>
    <p:sldId id="1431" r:id="rId65"/>
    <p:sldId id="1432" r:id="rId66"/>
    <p:sldId id="1433" r:id="rId67"/>
    <p:sldId id="1434" r:id="rId68"/>
    <p:sldId id="1435" r:id="rId69"/>
    <p:sldId id="1436" r:id="rId70"/>
    <p:sldId id="1437" r:id="rId71"/>
    <p:sldId id="1438" r:id="rId72"/>
    <p:sldId id="1424" r:id="rId73"/>
    <p:sldId id="1441" r:id="rId74"/>
    <p:sldId id="1442" r:id="rId75"/>
    <p:sldId id="1443" r:id="rId76"/>
    <p:sldId id="1444" r:id="rId77"/>
    <p:sldId id="1446" r:id="rId78"/>
    <p:sldId id="1447" r:id="rId79"/>
    <p:sldId id="1449" r:id="rId80"/>
    <p:sldId id="1450" r:id="rId81"/>
    <p:sldId id="1453" r:id="rId82"/>
    <p:sldId id="1454" r:id="rId83"/>
    <p:sldId id="1455" r:id="rId84"/>
    <p:sldId id="1456" r:id="rId85"/>
    <p:sldId id="1457" r:id="rId86"/>
    <p:sldId id="1521" r:id="rId87"/>
    <p:sldId id="1458" r:id="rId88"/>
    <p:sldId id="1460" r:id="rId89"/>
    <p:sldId id="1461" r:id="rId90"/>
    <p:sldId id="1462" r:id="rId91"/>
    <p:sldId id="1463" r:id="rId92"/>
    <p:sldId id="1466" r:id="rId93"/>
    <p:sldId id="1467" r:id="rId94"/>
    <p:sldId id="1478" r:id="rId95"/>
    <p:sldId id="1479" r:id="rId96"/>
    <p:sldId id="1482" r:id="rId97"/>
    <p:sldId id="1522" r:id="rId98"/>
    <p:sldId id="1485" r:id="rId99"/>
    <p:sldId id="1486" r:id="rId100"/>
    <p:sldId id="1487" r:id="rId101"/>
    <p:sldId id="1488" r:id="rId102"/>
    <p:sldId id="1489" r:id="rId103"/>
    <p:sldId id="1490" r:id="rId104"/>
    <p:sldId id="1491" r:id="rId105"/>
    <p:sldId id="1492" r:id="rId106"/>
    <p:sldId id="1544" r:id="rId107"/>
    <p:sldId id="1493" r:id="rId108"/>
    <p:sldId id="1494" r:id="rId109"/>
    <p:sldId id="1495" r:id="rId110"/>
    <p:sldId id="1496" r:id="rId111"/>
    <p:sldId id="324" r:id="rId112"/>
    <p:sldId id="333" r:id="rId113"/>
    <p:sldId id="325" r:id="rId114"/>
    <p:sldId id="296" r:id="rId115"/>
    <p:sldId id="297" r:id="rId116"/>
    <p:sldId id="334" r:id="rId117"/>
    <p:sldId id="1545" r:id="rId1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5F110940-1729-438E-A0C2-A953764DD24B}">
          <p14:sldIdLst>
            <p14:sldId id="269"/>
            <p14:sldId id="1514"/>
            <p14:sldId id="279"/>
            <p14:sldId id="1410"/>
            <p14:sldId id="1411"/>
            <p14:sldId id="1412"/>
            <p14:sldId id="1413"/>
            <p14:sldId id="1414"/>
            <p14:sldId id="1415"/>
            <p14:sldId id="259"/>
            <p14:sldId id="1416"/>
            <p14:sldId id="1417"/>
            <p14:sldId id="1519"/>
            <p14:sldId id="261"/>
            <p14:sldId id="1053"/>
            <p14:sldId id="317"/>
            <p14:sldId id="309"/>
            <p14:sldId id="1054"/>
            <p14:sldId id="310"/>
            <p14:sldId id="311"/>
            <p14:sldId id="312"/>
            <p14:sldId id="313"/>
            <p14:sldId id="262"/>
            <p14:sldId id="263"/>
            <p14:sldId id="307"/>
            <p14:sldId id="1546"/>
            <p14:sldId id="264"/>
            <p14:sldId id="1547"/>
            <p14:sldId id="308"/>
            <p14:sldId id="265"/>
            <p14:sldId id="301"/>
            <p14:sldId id="302"/>
            <p14:sldId id="260"/>
            <p14:sldId id="1548"/>
            <p14:sldId id="300"/>
            <p14:sldId id="327"/>
            <p14:sldId id="326"/>
            <p14:sldId id="299"/>
            <p14:sldId id="329"/>
            <p14:sldId id="1539"/>
            <p14:sldId id="1540"/>
            <p14:sldId id="1541"/>
            <p14:sldId id="1542"/>
            <p14:sldId id="1543"/>
            <p14:sldId id="1402"/>
            <p14:sldId id="1028"/>
            <p14:sldId id="1029"/>
            <p14:sldId id="1056"/>
            <p14:sldId id="1523"/>
            <p14:sldId id="763"/>
            <p14:sldId id="765"/>
            <p14:sldId id="1057"/>
            <p14:sldId id="1030"/>
            <p14:sldId id="1404"/>
            <p14:sldId id="1520"/>
            <p14:sldId id="304"/>
            <p14:sldId id="1423"/>
            <p14:sldId id="1425"/>
            <p14:sldId id="1426"/>
            <p14:sldId id="1427"/>
            <p14:sldId id="1428"/>
            <p14:sldId id="1429"/>
            <p14:sldId id="1430"/>
            <p14:sldId id="1431"/>
            <p14:sldId id="1432"/>
            <p14:sldId id="1433"/>
            <p14:sldId id="1434"/>
            <p14:sldId id="1435"/>
            <p14:sldId id="1436"/>
            <p14:sldId id="1437"/>
            <p14:sldId id="1438"/>
            <p14:sldId id="1424"/>
            <p14:sldId id="1441"/>
            <p14:sldId id="1442"/>
            <p14:sldId id="1443"/>
            <p14:sldId id="1444"/>
            <p14:sldId id="1446"/>
            <p14:sldId id="1447"/>
            <p14:sldId id="1449"/>
            <p14:sldId id="1450"/>
            <p14:sldId id="1453"/>
            <p14:sldId id="1454"/>
            <p14:sldId id="1455"/>
            <p14:sldId id="1456"/>
            <p14:sldId id="1457"/>
            <p14:sldId id="1521"/>
            <p14:sldId id="1458"/>
            <p14:sldId id="1460"/>
            <p14:sldId id="1461"/>
            <p14:sldId id="1462"/>
            <p14:sldId id="1463"/>
            <p14:sldId id="1466"/>
            <p14:sldId id="1467"/>
            <p14:sldId id="1478"/>
            <p14:sldId id="1479"/>
            <p14:sldId id="1482"/>
            <p14:sldId id="1522"/>
            <p14:sldId id="1485"/>
            <p14:sldId id="1486"/>
            <p14:sldId id="1487"/>
            <p14:sldId id="1488"/>
            <p14:sldId id="1489"/>
            <p14:sldId id="1490"/>
            <p14:sldId id="1491"/>
            <p14:sldId id="1492"/>
            <p14:sldId id="1544"/>
            <p14:sldId id="1493"/>
            <p14:sldId id="1494"/>
            <p14:sldId id="1495"/>
            <p14:sldId id="1496"/>
            <p14:sldId id="324"/>
            <p14:sldId id="333"/>
            <p14:sldId id="325"/>
            <p14:sldId id="296"/>
            <p14:sldId id="297"/>
            <p14:sldId id="334"/>
            <p14:sldId id="1545"/>
          </p14:sldIdLst>
        </p14:section>
        <p14:section name="默认节" id="{29A64290-3EBE-499D-964C-D7306BE752AD}">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307E"/>
    <a:srgbClr val="FAF4FF"/>
    <a:srgbClr val="B348FF"/>
    <a:srgbClr val="E7D1E7"/>
    <a:srgbClr val="F4D0FF"/>
    <a:srgbClr val="D9A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244" autoAdjust="0"/>
    <p:restoredTop sz="85625" autoAdjust="0"/>
  </p:normalViewPr>
  <p:slideViewPr>
    <p:cSldViewPr snapToGrid="0" snapToObjects="1">
      <p:cViewPr varScale="1">
        <p:scale>
          <a:sx n="95" d="100"/>
          <a:sy n="95" d="100"/>
        </p:scale>
        <p:origin x="372" y="96"/>
      </p:cViewPr>
      <p:guideLst/>
    </p:cSldViewPr>
  </p:slideViewPr>
  <p:outlineViewPr>
    <p:cViewPr>
      <p:scale>
        <a:sx n="33" d="100"/>
        <a:sy n="33" d="100"/>
      </p:scale>
      <p:origin x="0" y="-54584"/>
    </p:cViewPr>
  </p:outlineViewPr>
  <p:notesTextViewPr>
    <p:cViewPr>
      <p:scale>
        <a:sx n="1" d="1"/>
        <a:sy n="1" d="1"/>
      </p:scale>
      <p:origin x="0" y="0"/>
    </p:cViewPr>
  </p:notesTextViewPr>
  <p:sorterViewPr>
    <p:cViewPr>
      <p:scale>
        <a:sx n="110" d="100"/>
        <a:sy n="110" d="100"/>
      </p:scale>
      <p:origin x="0" y="0"/>
    </p:cViewPr>
  </p:sorterViewPr>
  <p:notesViewPr>
    <p:cSldViewPr snapToGrid="0" snapToObjects="1">
      <p:cViewPr varScale="1">
        <p:scale>
          <a:sx n="87" d="100"/>
          <a:sy n="87" d="100"/>
        </p:scale>
        <p:origin x="2696" y="2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2463A1C-2800-AC40-A2B9-E7ACCAE9BEB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54B797D5-9159-6D4F-AC2A-2E64EA2FA5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3ACB44-B558-CB41-A8AA-FF9BB3BC7B7C}" type="datetimeFigureOut">
              <a:rPr kumimoji="1" lang="zh-CN" altLang="en-US" smtClean="0"/>
              <a:t>2024/9/27</a:t>
            </a:fld>
            <a:endParaRPr kumimoji="1" lang="zh-CN" altLang="en-US"/>
          </a:p>
        </p:txBody>
      </p:sp>
      <p:sp>
        <p:nvSpPr>
          <p:cNvPr id="4" name="页脚占位符 3">
            <a:extLst>
              <a:ext uri="{FF2B5EF4-FFF2-40B4-BE49-F238E27FC236}">
                <a16:creationId xmlns:a16="http://schemas.microsoft.com/office/drawing/2014/main" id="{61B849EA-B2D3-A249-9735-12FDFCE106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E967DD9-1E2F-8A4B-AE20-E0D724F4E3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69D672-5196-084C-885A-9C55CB94CE91}" type="slidenum">
              <a:rPr kumimoji="1" lang="zh-CN" altLang="en-US" smtClean="0"/>
              <a:t>‹#›</a:t>
            </a:fld>
            <a:endParaRPr kumimoji="1" lang="zh-CN" altLang="en-US"/>
          </a:p>
        </p:txBody>
      </p:sp>
    </p:spTree>
    <p:extLst>
      <p:ext uri="{BB962C8B-B14F-4D97-AF65-F5344CB8AC3E}">
        <p14:creationId xmlns:p14="http://schemas.microsoft.com/office/powerpoint/2010/main" val="16038371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2024/9/27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baike.baidu.com/item/%E6%8F%92%E5%A4%B4/10343171" TargetMode="External"/><Relationship Id="rId13" Type="http://schemas.openxmlformats.org/officeDocument/2006/relationships/hyperlink" Target="https://baike.baidu.com/item/%E7%BE%8E%E5%9B%BD%E7%94%B5%E5%AD%90%E5%B7%A5%E4%B8%9A%E5%8D%8F%E4%BC%9A/3931871" TargetMode="External"/><Relationship Id="rId3" Type="http://schemas.openxmlformats.org/officeDocument/2006/relationships/hyperlink" Target="https://baike.baidu.com/item/%E5%8F%8C%E7%BB%9E%E7%BA%BF/487416" TargetMode="External"/><Relationship Id="rId7" Type="http://schemas.openxmlformats.org/officeDocument/2006/relationships/hyperlink" Target="https://baike.baidu.com/item/%E4%BF%A1%E6%81%AF%E6%8F%92%E5%BA%A7/5902530" TargetMode="External"/><Relationship Id="rId12" Type="http://schemas.openxmlformats.org/officeDocument/2006/relationships/hyperlink" Target="https://baike.baidu.com/item/%E8%AE%A1%E7%AE%97%E6%9C%BA%E7%BD%91%E7%BB%9C/18763"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baike.baidu.com/item/%E5%B8%83%E7%BA%BF%E7%B3%BB%E7%BB%9F/1024733" TargetMode="External"/><Relationship Id="rId11" Type="http://schemas.openxmlformats.org/officeDocument/2006/relationships/hyperlink" Target="https://baike.baidu.com/item/%E7%94%B5%E4%BF%A1%E7%BD%91%E7%BB%9C/5122869" TargetMode="External"/><Relationship Id="rId5" Type="http://schemas.openxmlformats.org/officeDocument/2006/relationships/hyperlink" Target="https://baike.baidu.com/item/%E5%B1%8F%E8%94%BD%E5%8F%8C%E7%BB%9E%E7%BA%BF/8634072" TargetMode="External"/><Relationship Id="rId10" Type="http://schemas.openxmlformats.org/officeDocument/2006/relationships/hyperlink" Target="https://baike.baidu.com/item/FCC/2146" TargetMode="External"/><Relationship Id="rId4" Type="http://schemas.openxmlformats.org/officeDocument/2006/relationships/hyperlink" Target="https://baike.baidu.com/item/%E4%BB%A5%E5%A4%AA%E7%BD%91/99684" TargetMode="External"/><Relationship Id="rId9" Type="http://schemas.openxmlformats.org/officeDocument/2006/relationships/hyperlink" Target="https://baike.baidu.com/item/%E6%8F%92%E5%BA%A7/5342096" TargetMode="External"/><Relationship Id="rId14" Type="http://schemas.openxmlformats.org/officeDocument/2006/relationships/hyperlink" Target="https://baike.baidu.com/item/%E9%80%9A%E4%BF%A1%E6%8E%A5%E5%8F%A3"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aike.baidu.com/item/%E4%BC%A0%E8%BE%93%E4%BB%8B%E8%B4%A8"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baike.baidu.com/item/%E5%8D%8A%E5%8F%8C%E5%B7%A5%E4%BC%A0%E8%BE%93"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baike.baidu.com/item/%E6%AD%A3%E4%BA%A4%E7%9B%B8%E7%A7%BB%E9%94%AE%E6%8E%A7/4009349"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baike.baidu.com/item/%E6%95%B0%E5%AD%97%E8%B0%83%E5%88%B6/7771412"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choseal.net.cn/news/169.html"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DTE</a:t>
            </a:r>
            <a:r>
              <a:rPr lang="zh-CN" altLang="en-US" dirty="0"/>
              <a:t>： </a:t>
            </a:r>
            <a:endParaRPr lang="en-US" altLang="zh-CN" dirty="0"/>
          </a:p>
          <a:p>
            <a:r>
              <a:rPr lang="en-US" altLang="zh-CN" dirty="0"/>
              <a:t>DCE</a:t>
            </a:r>
            <a:r>
              <a:rPr lang="zh-CN" altLang="en-US" dirty="0"/>
              <a:t>： </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5</a:t>
            </a:fld>
            <a:endParaRPr kumimoji="1" lang="zh-CN" altLang="en-US"/>
          </a:p>
        </p:txBody>
      </p:sp>
    </p:spTree>
    <p:extLst>
      <p:ext uri="{BB962C8B-B14F-4D97-AF65-F5344CB8AC3E}">
        <p14:creationId xmlns:p14="http://schemas.microsoft.com/office/powerpoint/2010/main" val="2239342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图中分别是</a:t>
            </a:r>
            <a:r>
              <a:rPr lang="en-US" altLang="zh-CN" dirty="0"/>
              <a:t>RJ-45</a:t>
            </a:r>
            <a:r>
              <a:rPr lang="zh-CN" altLang="en-US" dirty="0"/>
              <a:t>接口，</a:t>
            </a:r>
            <a:r>
              <a:rPr lang="en-US" altLang="zh-CN" dirty="0"/>
              <a:t>RS-232-C</a:t>
            </a:r>
            <a:r>
              <a:rPr lang="zh-CN" altLang="en-US" dirty="0"/>
              <a:t>接口，光纤接口，</a:t>
            </a:r>
            <a:r>
              <a:rPr lang="en-US" altLang="zh-CN" dirty="0"/>
              <a:t>USB</a:t>
            </a:r>
            <a:r>
              <a:rPr lang="zh-CN" altLang="en-US" dirty="0"/>
              <a:t>接口，接口</a:t>
            </a:r>
            <a:r>
              <a:rPr lang="zh-CN" altLang="en-US" dirty="0">
                <a:solidFill>
                  <a:srgbClr val="FF0000"/>
                </a:solidFill>
              </a:rPr>
              <a:t>固定和锁定装置，可以</a:t>
            </a:r>
            <a:r>
              <a:rPr lang="en-US" altLang="zh-CN" dirty="0"/>
              <a:t>RS-232-C</a:t>
            </a:r>
            <a:r>
              <a:rPr lang="zh-CN" altLang="en-US" dirty="0"/>
              <a:t>接口为例说明</a:t>
            </a:r>
            <a:r>
              <a:rPr lang="zh-CN" altLang="en-US" dirty="0">
                <a:solidFill>
                  <a:srgbClr val="FF0000"/>
                </a:solidFill>
              </a:rPr>
              <a:t>引线数目和排列（</a:t>
            </a:r>
            <a:r>
              <a:rPr lang="en-US" altLang="zh-CN" dirty="0">
                <a:solidFill>
                  <a:srgbClr val="FF0000"/>
                </a:solidFill>
              </a:rPr>
              <a:t>2</a:t>
            </a:r>
            <a:r>
              <a:rPr lang="zh-CN" altLang="en-US" dirty="0">
                <a:solidFill>
                  <a:srgbClr val="FF0000"/>
                </a:solidFill>
              </a:rPr>
              <a:t>排，</a:t>
            </a:r>
            <a:r>
              <a:rPr lang="en-US" altLang="zh-CN" dirty="0">
                <a:solidFill>
                  <a:srgbClr val="FF0000"/>
                </a:solidFill>
              </a:rPr>
              <a:t>5+4</a:t>
            </a:r>
            <a:r>
              <a:rPr lang="zh-CN" altLang="en-US" dirty="0">
                <a:solidFill>
                  <a:srgbClr val="FF0000"/>
                </a:solidFill>
              </a:rPr>
              <a:t>）。</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6</a:t>
            </a:fld>
            <a:endParaRPr kumimoji="1" lang="zh-CN" altLang="en-US"/>
          </a:p>
        </p:txBody>
      </p:sp>
    </p:spTree>
    <p:extLst>
      <p:ext uri="{BB962C8B-B14F-4D97-AF65-F5344CB8AC3E}">
        <p14:creationId xmlns:p14="http://schemas.microsoft.com/office/powerpoint/2010/main" val="4230004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latin typeface="+mn-lt"/>
                <a:ea typeface="+mn-ea"/>
                <a:cs typeface="+mn-cs"/>
              </a:rPr>
              <a:t>ITU-T</a:t>
            </a:r>
            <a:r>
              <a:rPr lang="zh-CN" altLang="en-US" sz="1200" b="0" i="0" kern="1200" dirty="0">
                <a:solidFill>
                  <a:schemeClr val="tx1"/>
                </a:solidFill>
                <a:latin typeface="+mn-lt"/>
                <a:ea typeface="+mn-ea"/>
                <a:cs typeface="+mn-cs"/>
              </a:rPr>
              <a:t>是国际电信联盟电信标准分局。</a:t>
            </a:r>
            <a:r>
              <a:rPr lang="en-US" altLang="zh-CN" dirty="0"/>
              <a:t>ITU-T</a:t>
            </a:r>
            <a:r>
              <a:rPr lang="zh-CN" altLang="en-US" dirty="0"/>
              <a:t>的各种建议的分类由一个首字母来代表，称为系列，每个系列的建议除了分类字母以外还有一个编号，比如说</a:t>
            </a:r>
            <a:r>
              <a:rPr lang="en-US" altLang="zh-CN" dirty="0"/>
              <a:t>V.28</a:t>
            </a:r>
            <a:r>
              <a:rPr lang="zh-CN" altLang="en-US" dirty="0"/>
              <a:t>，</a:t>
            </a:r>
            <a:r>
              <a:rPr lang="en-US" altLang="zh-CN" dirty="0"/>
              <a:t>X.26</a:t>
            </a:r>
            <a:r>
              <a:rPr lang="zh-CN" altLang="en-US" dirty="0"/>
              <a:t>等。</a:t>
            </a:r>
            <a:endParaRPr lang="zh-CN" altLang="en-US" sz="1200" b="0" i="0" kern="120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a:t>
            </a:fld>
            <a:endParaRPr kumimoji="1" lang="zh-CN" altLang="en-US"/>
          </a:p>
        </p:txBody>
      </p:sp>
    </p:spTree>
    <p:extLst>
      <p:ext uri="{BB962C8B-B14F-4D97-AF65-F5344CB8AC3E}">
        <p14:creationId xmlns:p14="http://schemas.microsoft.com/office/powerpoint/2010/main" val="1412410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latin typeface="+mn-lt"/>
                <a:ea typeface="+mn-ea"/>
                <a:cs typeface="+mn-cs"/>
              </a:rPr>
              <a:t>10BASE-T</a:t>
            </a:r>
            <a:r>
              <a:rPr lang="zh-CN" altLang="en-US" sz="1200" b="0" i="0" kern="1200" dirty="0">
                <a:solidFill>
                  <a:schemeClr val="tx1"/>
                </a:solidFill>
                <a:latin typeface="+mn-lt"/>
                <a:ea typeface="+mn-ea"/>
                <a:cs typeface="+mn-cs"/>
              </a:rPr>
              <a:t>：是</a:t>
            </a:r>
            <a:r>
              <a:rPr lang="zh-CN" altLang="en-US" sz="1200" b="0" i="0" u="none" strike="noStrike" kern="1200" dirty="0">
                <a:solidFill>
                  <a:schemeClr val="tx1"/>
                </a:solidFill>
                <a:latin typeface="+mn-lt"/>
                <a:ea typeface="+mn-ea"/>
                <a:cs typeface="+mn-cs"/>
                <a:hlinkClick r:id="rId3"/>
              </a:rPr>
              <a:t>双绞线</a:t>
            </a:r>
            <a:r>
              <a:rPr lang="zh-CN" altLang="en-US" sz="1200" b="0" i="0" u="none" strike="noStrike" kern="1200" dirty="0">
                <a:solidFill>
                  <a:schemeClr val="tx1"/>
                </a:solidFill>
                <a:latin typeface="+mn-lt"/>
                <a:ea typeface="+mn-ea"/>
                <a:cs typeface="+mn-cs"/>
                <a:hlinkClick r:id="rId4"/>
              </a:rPr>
              <a:t>以太网</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1990</a:t>
            </a:r>
            <a:r>
              <a:rPr lang="zh-CN" altLang="en-US" sz="1200" b="0" i="0" kern="1200" dirty="0">
                <a:solidFill>
                  <a:schemeClr val="tx1"/>
                </a:solidFill>
                <a:latin typeface="+mn-lt"/>
                <a:ea typeface="+mn-ea"/>
                <a:cs typeface="+mn-cs"/>
              </a:rPr>
              <a:t>年由</a:t>
            </a:r>
            <a:r>
              <a:rPr lang="en-US" altLang="zh-CN" sz="1200" b="0" i="0" kern="1200" dirty="0">
                <a:solidFill>
                  <a:schemeClr val="tx1"/>
                </a:solidFill>
                <a:latin typeface="+mn-lt"/>
                <a:ea typeface="+mn-ea"/>
                <a:cs typeface="+mn-cs"/>
              </a:rPr>
              <a:t>IEEE</a:t>
            </a:r>
            <a:r>
              <a:rPr lang="zh-CN" altLang="en-US" sz="1200" b="0" i="0" kern="1200" dirty="0">
                <a:solidFill>
                  <a:schemeClr val="tx1"/>
                </a:solidFill>
                <a:latin typeface="+mn-lt"/>
                <a:ea typeface="+mn-ea"/>
                <a:cs typeface="+mn-cs"/>
              </a:rPr>
              <a:t>新认可的，编号为</a:t>
            </a:r>
            <a:r>
              <a:rPr lang="en-US" altLang="zh-CN" sz="1200" b="0" i="0" kern="1200" dirty="0">
                <a:solidFill>
                  <a:schemeClr val="tx1"/>
                </a:solidFill>
                <a:latin typeface="+mn-lt"/>
                <a:ea typeface="+mn-ea"/>
                <a:cs typeface="+mn-cs"/>
              </a:rPr>
              <a:t>IEEE802.3i</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T</a:t>
            </a:r>
            <a:r>
              <a:rPr lang="zh-CN" altLang="en-US" sz="1200" b="0" i="0" kern="1200" dirty="0">
                <a:solidFill>
                  <a:schemeClr val="tx1"/>
                </a:solidFill>
                <a:latin typeface="+mn-lt"/>
                <a:ea typeface="+mn-ea"/>
                <a:cs typeface="+mn-cs"/>
              </a:rPr>
              <a:t>表示采用双绞线，现</a:t>
            </a:r>
            <a:r>
              <a:rPr lang="en-US" altLang="zh-CN" sz="1200" b="0" i="0" kern="1200" dirty="0">
                <a:solidFill>
                  <a:schemeClr val="tx1"/>
                </a:solidFill>
                <a:latin typeface="+mn-lt"/>
                <a:ea typeface="+mn-ea"/>
                <a:cs typeface="+mn-cs"/>
              </a:rPr>
              <a:t>10BASE</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T </a:t>
            </a:r>
            <a:r>
              <a:rPr lang="zh-CN" altLang="en-US" sz="1200" b="0" i="0" kern="1200" dirty="0">
                <a:solidFill>
                  <a:schemeClr val="tx1"/>
                </a:solidFill>
                <a:latin typeface="+mn-lt"/>
                <a:ea typeface="+mn-ea"/>
                <a:cs typeface="+mn-cs"/>
              </a:rPr>
              <a:t>采用的是非</a:t>
            </a:r>
            <a:r>
              <a:rPr lang="zh-CN" altLang="en-US" sz="1200" b="0" i="0" u="none" strike="noStrike" kern="1200" dirty="0">
                <a:solidFill>
                  <a:schemeClr val="tx1"/>
                </a:solidFill>
                <a:latin typeface="+mn-lt"/>
                <a:ea typeface="+mn-ea"/>
                <a:cs typeface="+mn-cs"/>
                <a:hlinkClick r:id="rId5"/>
              </a:rPr>
              <a:t>屏蔽双绞线</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UTP</a:t>
            </a:r>
            <a:r>
              <a:rPr lang="zh-CN" altLang="en-US" sz="1200" b="0" i="0" kern="1200" dirty="0">
                <a:solidFill>
                  <a:schemeClr val="tx1"/>
                </a:solidFill>
                <a:latin typeface="+mn-lt"/>
                <a:ea typeface="+mn-ea"/>
                <a:cs typeface="+mn-cs"/>
              </a:rPr>
              <a:t>）。</a:t>
            </a:r>
            <a:endParaRPr lang="en-US" altLang="zh-CN" sz="1200" b="0" i="0" kern="1200" dirty="0">
              <a:solidFill>
                <a:schemeClr val="tx1"/>
              </a:solidFill>
              <a:latin typeface="+mn-lt"/>
              <a:ea typeface="+mn-ea"/>
              <a:cs typeface="+mn-cs"/>
            </a:endParaRPr>
          </a:p>
          <a:p>
            <a:r>
              <a:rPr lang="en-US" altLang="zh-CN" sz="1200" b="0" i="0" kern="1200" dirty="0">
                <a:solidFill>
                  <a:schemeClr val="tx1"/>
                </a:solidFill>
                <a:latin typeface="+mn-lt"/>
                <a:ea typeface="+mn-ea"/>
                <a:cs typeface="+mn-cs"/>
              </a:rPr>
              <a:t>RJ-45</a:t>
            </a:r>
            <a:r>
              <a:rPr lang="zh-CN" altLang="en-US" sz="1200" b="0" i="0" kern="1200" dirty="0">
                <a:solidFill>
                  <a:schemeClr val="tx1"/>
                </a:solidFill>
                <a:latin typeface="+mn-lt"/>
                <a:ea typeface="+mn-ea"/>
                <a:cs typeface="+mn-cs"/>
              </a:rPr>
              <a:t>：是</a:t>
            </a:r>
            <a:r>
              <a:rPr lang="zh-CN" altLang="en-US" sz="1200" b="0" i="0" u="none" strike="noStrike" kern="1200" dirty="0">
                <a:solidFill>
                  <a:schemeClr val="tx1"/>
                </a:solidFill>
                <a:latin typeface="+mn-lt"/>
                <a:ea typeface="+mn-ea"/>
                <a:cs typeface="+mn-cs"/>
                <a:hlinkClick r:id="rId6"/>
              </a:rPr>
              <a:t>布线系统</a:t>
            </a:r>
            <a:r>
              <a:rPr lang="zh-CN" altLang="en-US" sz="1200" b="0" i="0" kern="1200" dirty="0">
                <a:solidFill>
                  <a:schemeClr val="tx1"/>
                </a:solidFill>
                <a:latin typeface="+mn-lt"/>
                <a:ea typeface="+mn-ea"/>
                <a:cs typeface="+mn-cs"/>
              </a:rPr>
              <a:t>中</a:t>
            </a:r>
            <a:r>
              <a:rPr lang="zh-CN" altLang="en-US" sz="1200" b="0" i="0" u="none" strike="noStrike" kern="1200" dirty="0">
                <a:solidFill>
                  <a:schemeClr val="tx1"/>
                </a:solidFill>
                <a:latin typeface="+mn-lt"/>
                <a:ea typeface="+mn-ea"/>
                <a:cs typeface="+mn-cs"/>
                <a:hlinkClick r:id="rId7"/>
              </a:rPr>
              <a:t>信息插座</a:t>
            </a:r>
            <a:r>
              <a:rPr lang="zh-CN" altLang="en-US" sz="1200" b="0" i="0" kern="1200" dirty="0">
                <a:solidFill>
                  <a:schemeClr val="tx1"/>
                </a:solidFill>
                <a:latin typeface="+mn-lt"/>
                <a:ea typeface="+mn-ea"/>
                <a:cs typeface="+mn-cs"/>
              </a:rPr>
              <a:t>（即通信引出端）连接器的一种，连接器由</a:t>
            </a:r>
            <a:r>
              <a:rPr lang="zh-CN" altLang="en-US" sz="1200" b="0" i="0" u="none" strike="noStrike" kern="1200" dirty="0">
                <a:solidFill>
                  <a:schemeClr val="tx1"/>
                </a:solidFill>
                <a:latin typeface="+mn-lt"/>
                <a:ea typeface="+mn-ea"/>
                <a:cs typeface="+mn-cs"/>
                <a:hlinkClick r:id="rId8"/>
              </a:rPr>
              <a:t>插头</a:t>
            </a:r>
            <a:r>
              <a:rPr lang="zh-CN" altLang="en-US" sz="1200" b="0" i="0" kern="1200" dirty="0">
                <a:solidFill>
                  <a:schemeClr val="tx1"/>
                </a:solidFill>
                <a:latin typeface="+mn-lt"/>
                <a:ea typeface="+mn-ea"/>
                <a:cs typeface="+mn-cs"/>
              </a:rPr>
              <a:t>（接头、水晶头）和</a:t>
            </a:r>
            <a:r>
              <a:rPr lang="zh-CN" altLang="en-US" sz="1200" b="0" i="0" u="none" strike="noStrike" kern="1200" dirty="0">
                <a:solidFill>
                  <a:schemeClr val="tx1"/>
                </a:solidFill>
                <a:latin typeface="+mn-lt"/>
                <a:ea typeface="+mn-ea"/>
                <a:cs typeface="+mn-cs"/>
                <a:hlinkClick r:id="rId9"/>
              </a:rPr>
              <a:t>插座</a:t>
            </a:r>
            <a:r>
              <a:rPr lang="zh-CN" altLang="en-US" sz="1200" b="0" i="0" kern="1200" dirty="0">
                <a:solidFill>
                  <a:schemeClr val="tx1"/>
                </a:solidFill>
                <a:latin typeface="+mn-lt"/>
                <a:ea typeface="+mn-ea"/>
                <a:cs typeface="+mn-cs"/>
              </a:rPr>
              <a:t>（模块）组成，插头有</a:t>
            </a:r>
            <a:r>
              <a:rPr lang="en-US" altLang="zh-CN" sz="1200" b="0" i="0" kern="1200" dirty="0">
                <a:solidFill>
                  <a:schemeClr val="tx1"/>
                </a:solidFill>
                <a:latin typeface="+mn-lt"/>
                <a:ea typeface="+mn-ea"/>
                <a:cs typeface="+mn-cs"/>
              </a:rPr>
              <a:t>8</a:t>
            </a:r>
            <a:r>
              <a:rPr lang="zh-CN" altLang="en-US" sz="1200" b="0" i="0" kern="1200" dirty="0">
                <a:solidFill>
                  <a:schemeClr val="tx1"/>
                </a:solidFill>
                <a:latin typeface="+mn-lt"/>
                <a:ea typeface="+mn-ea"/>
                <a:cs typeface="+mn-cs"/>
              </a:rPr>
              <a:t>个凹槽和</a:t>
            </a:r>
            <a:r>
              <a:rPr lang="en-US" altLang="zh-CN" sz="1200" b="0" i="0" kern="1200" dirty="0">
                <a:solidFill>
                  <a:schemeClr val="tx1"/>
                </a:solidFill>
                <a:latin typeface="+mn-lt"/>
                <a:ea typeface="+mn-ea"/>
                <a:cs typeface="+mn-cs"/>
              </a:rPr>
              <a:t>8</a:t>
            </a:r>
            <a:r>
              <a:rPr lang="zh-CN" altLang="en-US" sz="1200" b="0" i="0" kern="1200" dirty="0">
                <a:solidFill>
                  <a:schemeClr val="tx1"/>
                </a:solidFill>
                <a:latin typeface="+mn-lt"/>
                <a:ea typeface="+mn-ea"/>
                <a:cs typeface="+mn-cs"/>
              </a:rPr>
              <a:t>个触点。</a:t>
            </a:r>
            <a:r>
              <a:rPr lang="en-US" altLang="zh-CN" sz="1200" b="0" i="0" kern="1200" dirty="0">
                <a:solidFill>
                  <a:schemeClr val="tx1"/>
                </a:solidFill>
                <a:latin typeface="+mn-lt"/>
                <a:ea typeface="+mn-ea"/>
                <a:cs typeface="+mn-cs"/>
              </a:rPr>
              <a:t>RJ</a:t>
            </a:r>
            <a:r>
              <a:rPr lang="zh-CN" altLang="en-US" sz="1200" b="0" i="0" kern="1200" dirty="0">
                <a:solidFill>
                  <a:schemeClr val="tx1"/>
                </a:solidFill>
                <a:latin typeface="+mn-lt"/>
                <a:ea typeface="+mn-ea"/>
                <a:cs typeface="+mn-cs"/>
              </a:rPr>
              <a:t>是</a:t>
            </a:r>
            <a:r>
              <a:rPr lang="en-US" altLang="zh-CN" sz="1200" b="0" i="0" kern="1200" dirty="0">
                <a:solidFill>
                  <a:schemeClr val="tx1"/>
                </a:solidFill>
                <a:latin typeface="+mn-lt"/>
                <a:ea typeface="+mn-ea"/>
                <a:cs typeface="+mn-cs"/>
              </a:rPr>
              <a:t>Registered Jack</a:t>
            </a:r>
            <a:r>
              <a:rPr lang="zh-CN" altLang="en-US" sz="1200" b="0" i="0" kern="1200" dirty="0">
                <a:solidFill>
                  <a:schemeClr val="tx1"/>
                </a:solidFill>
                <a:latin typeface="+mn-lt"/>
                <a:ea typeface="+mn-ea"/>
                <a:cs typeface="+mn-cs"/>
              </a:rPr>
              <a:t>的缩写，意思是“注册的插座”。在</a:t>
            </a:r>
            <a:r>
              <a:rPr lang="en-US" altLang="zh-CN" sz="1200" b="0" i="0" u="none" strike="noStrike" kern="1200" dirty="0">
                <a:solidFill>
                  <a:schemeClr val="tx1"/>
                </a:solidFill>
                <a:latin typeface="+mn-lt"/>
                <a:ea typeface="+mn-ea"/>
                <a:cs typeface="+mn-cs"/>
                <a:hlinkClick r:id="rId10"/>
              </a:rPr>
              <a:t>FCC</a:t>
            </a:r>
            <a:r>
              <a:rPr lang="zh-CN" altLang="en-US" sz="1200" b="0" i="0" kern="1200" dirty="0">
                <a:solidFill>
                  <a:schemeClr val="tx1"/>
                </a:solidFill>
                <a:latin typeface="+mn-lt"/>
                <a:ea typeface="+mn-ea"/>
                <a:cs typeface="+mn-cs"/>
              </a:rPr>
              <a:t>（美国联邦通信委员会标准和规章）中</a:t>
            </a:r>
            <a:r>
              <a:rPr lang="en-US" altLang="zh-CN" sz="1200" b="0" i="0" kern="1200" dirty="0">
                <a:solidFill>
                  <a:schemeClr val="tx1"/>
                </a:solidFill>
                <a:latin typeface="+mn-lt"/>
                <a:ea typeface="+mn-ea"/>
                <a:cs typeface="+mn-cs"/>
              </a:rPr>
              <a:t>RJ</a:t>
            </a:r>
            <a:r>
              <a:rPr lang="zh-CN" altLang="en-US" sz="1200" b="0" i="0" kern="1200" dirty="0">
                <a:solidFill>
                  <a:schemeClr val="tx1"/>
                </a:solidFill>
                <a:latin typeface="+mn-lt"/>
                <a:ea typeface="+mn-ea"/>
                <a:cs typeface="+mn-cs"/>
              </a:rPr>
              <a:t>是描述公用</a:t>
            </a:r>
            <a:r>
              <a:rPr lang="zh-CN" altLang="en-US" sz="1200" b="0" i="0" u="none" strike="noStrike" kern="1200" dirty="0">
                <a:solidFill>
                  <a:schemeClr val="tx1"/>
                </a:solidFill>
                <a:latin typeface="+mn-lt"/>
                <a:ea typeface="+mn-ea"/>
                <a:cs typeface="+mn-cs"/>
                <a:hlinkClick r:id="rId11"/>
              </a:rPr>
              <a:t>电信网络</a:t>
            </a:r>
            <a:r>
              <a:rPr lang="zh-CN" altLang="en-US" sz="1200" b="0" i="0" kern="1200" dirty="0">
                <a:solidFill>
                  <a:schemeClr val="tx1"/>
                </a:solidFill>
                <a:latin typeface="+mn-lt"/>
                <a:ea typeface="+mn-ea"/>
                <a:cs typeface="+mn-cs"/>
              </a:rPr>
              <a:t>的接口，</a:t>
            </a:r>
            <a:r>
              <a:rPr lang="zh-CN" altLang="en-US" sz="1200" b="0" i="0" u="none" strike="noStrike" kern="1200" dirty="0">
                <a:solidFill>
                  <a:schemeClr val="tx1"/>
                </a:solidFill>
                <a:latin typeface="+mn-lt"/>
                <a:ea typeface="+mn-ea"/>
                <a:cs typeface="+mn-cs"/>
                <a:hlinkClick r:id="rId12"/>
              </a:rPr>
              <a:t>计算机网络</a:t>
            </a:r>
            <a:r>
              <a:rPr lang="zh-CN" altLang="en-US" sz="1200" b="0" i="0" kern="1200" dirty="0">
                <a:solidFill>
                  <a:schemeClr val="tx1"/>
                </a:solidFill>
                <a:latin typeface="+mn-lt"/>
                <a:ea typeface="+mn-ea"/>
                <a:cs typeface="+mn-cs"/>
              </a:rPr>
              <a:t>的</a:t>
            </a:r>
            <a:r>
              <a:rPr lang="en-US" altLang="zh-CN" sz="1200" b="0" i="0" kern="1200" dirty="0">
                <a:solidFill>
                  <a:schemeClr val="tx1"/>
                </a:solidFill>
                <a:latin typeface="+mn-lt"/>
                <a:ea typeface="+mn-ea"/>
                <a:cs typeface="+mn-cs"/>
              </a:rPr>
              <a:t>RJ-45</a:t>
            </a:r>
            <a:r>
              <a:rPr lang="zh-CN" altLang="en-US" sz="1200" b="0" i="0" kern="1200" dirty="0">
                <a:solidFill>
                  <a:schemeClr val="tx1"/>
                </a:solidFill>
                <a:latin typeface="+mn-lt"/>
                <a:ea typeface="+mn-ea"/>
                <a:cs typeface="+mn-cs"/>
              </a:rPr>
              <a:t>是标准</a:t>
            </a:r>
            <a:r>
              <a:rPr lang="en-US" altLang="zh-CN" sz="1200" b="0" i="0" kern="1200" dirty="0">
                <a:solidFill>
                  <a:schemeClr val="tx1"/>
                </a:solidFill>
                <a:latin typeface="+mn-lt"/>
                <a:ea typeface="+mn-ea"/>
                <a:cs typeface="+mn-cs"/>
              </a:rPr>
              <a:t>8</a:t>
            </a:r>
            <a:r>
              <a:rPr lang="zh-CN" altLang="en-US" sz="1200" b="0" i="0" kern="1200" dirty="0">
                <a:solidFill>
                  <a:schemeClr val="tx1"/>
                </a:solidFill>
                <a:latin typeface="+mn-lt"/>
                <a:ea typeface="+mn-ea"/>
                <a:cs typeface="+mn-cs"/>
              </a:rPr>
              <a:t>位模块化接口的俗称。</a:t>
            </a:r>
            <a:endParaRPr lang="en-US" altLang="zh-CN" sz="1200" b="0" i="0" kern="1200" dirty="0">
              <a:solidFill>
                <a:schemeClr val="tx1"/>
              </a:solidFill>
              <a:latin typeface="+mn-lt"/>
              <a:ea typeface="+mn-ea"/>
              <a:cs typeface="+mn-cs"/>
            </a:endParaRPr>
          </a:p>
          <a:p>
            <a:r>
              <a:rPr lang="en-US" altLang="zh-CN" sz="1200" b="0" i="0" kern="1200" dirty="0">
                <a:solidFill>
                  <a:schemeClr val="tx1"/>
                </a:solidFill>
                <a:latin typeface="+mn-lt"/>
                <a:ea typeface="+mn-ea"/>
                <a:cs typeface="+mn-cs"/>
              </a:rPr>
              <a:t>RS-232-C</a:t>
            </a:r>
            <a:r>
              <a:rPr lang="zh-CN" altLang="en-US" sz="1200" b="0" i="0" kern="1200" dirty="0">
                <a:solidFill>
                  <a:schemeClr val="tx1"/>
                </a:solidFill>
                <a:latin typeface="+mn-lt"/>
                <a:ea typeface="+mn-ea"/>
                <a:cs typeface="+mn-cs"/>
              </a:rPr>
              <a:t>：全称是</a:t>
            </a:r>
            <a:r>
              <a:rPr lang="en-US" altLang="zh-CN" sz="1200" b="0" i="0" kern="1200" dirty="0">
                <a:solidFill>
                  <a:schemeClr val="tx1"/>
                </a:solidFill>
                <a:latin typeface="+mn-lt"/>
                <a:ea typeface="+mn-ea"/>
                <a:cs typeface="+mn-cs"/>
              </a:rPr>
              <a:t>EIA-RS-232-C</a:t>
            </a:r>
            <a:r>
              <a:rPr lang="zh-CN" altLang="en-US" sz="1200" b="0" i="0" kern="1200" dirty="0">
                <a:solidFill>
                  <a:schemeClr val="tx1"/>
                </a:solidFill>
                <a:latin typeface="+mn-lt"/>
                <a:ea typeface="+mn-ea"/>
                <a:cs typeface="+mn-cs"/>
              </a:rPr>
              <a:t>标准，其中</a:t>
            </a:r>
            <a:r>
              <a:rPr lang="en-US" altLang="zh-CN" sz="1200" b="0" i="0" kern="1200" dirty="0">
                <a:solidFill>
                  <a:schemeClr val="tx1"/>
                </a:solidFill>
                <a:latin typeface="+mn-lt"/>
                <a:ea typeface="+mn-ea"/>
                <a:cs typeface="+mn-cs"/>
              </a:rPr>
              <a:t>EIA(Electronic Industry Association</a:t>
            </a:r>
            <a:r>
              <a:rPr lang="zh-CN" altLang="en-US" sz="1200" b="0" i="0" kern="1200" dirty="0">
                <a:solidFill>
                  <a:schemeClr val="tx1"/>
                </a:solidFill>
                <a:latin typeface="+mn-lt"/>
                <a:ea typeface="+mn-ea"/>
                <a:cs typeface="+mn-cs"/>
              </a:rPr>
              <a:t>）代表</a:t>
            </a:r>
            <a:r>
              <a:rPr lang="zh-CN" altLang="en-US" sz="1200" b="0" i="0" u="none" strike="noStrike" kern="1200" dirty="0">
                <a:solidFill>
                  <a:schemeClr val="tx1"/>
                </a:solidFill>
                <a:latin typeface="+mn-lt"/>
                <a:ea typeface="+mn-ea"/>
                <a:cs typeface="+mn-cs"/>
                <a:hlinkClick r:id="rId13"/>
              </a:rPr>
              <a:t>美国电子工业协会</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RS</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recommended standard</a:t>
            </a:r>
            <a:r>
              <a:rPr lang="zh-CN" altLang="en-US" sz="1200" b="0" i="0" kern="1200" dirty="0">
                <a:solidFill>
                  <a:schemeClr val="tx1"/>
                </a:solidFill>
                <a:latin typeface="+mn-lt"/>
                <a:ea typeface="+mn-ea"/>
                <a:cs typeface="+mn-cs"/>
              </a:rPr>
              <a:t>）代表推荐标准，</a:t>
            </a:r>
            <a:r>
              <a:rPr lang="en-US" altLang="zh-CN" sz="1200" b="0" i="0" kern="1200" dirty="0">
                <a:solidFill>
                  <a:schemeClr val="tx1"/>
                </a:solidFill>
                <a:latin typeface="+mn-lt"/>
                <a:ea typeface="+mn-ea"/>
                <a:cs typeface="+mn-cs"/>
              </a:rPr>
              <a:t>232</a:t>
            </a:r>
            <a:r>
              <a:rPr lang="zh-CN" altLang="en-US" sz="1200" b="0" i="0" kern="1200" dirty="0">
                <a:solidFill>
                  <a:schemeClr val="tx1"/>
                </a:solidFill>
                <a:latin typeface="+mn-lt"/>
                <a:ea typeface="+mn-ea"/>
                <a:cs typeface="+mn-cs"/>
              </a:rPr>
              <a:t>是标识号，</a:t>
            </a:r>
            <a:r>
              <a:rPr lang="en-US" altLang="zh-CN" sz="1200" b="0" i="0" kern="1200" dirty="0">
                <a:solidFill>
                  <a:schemeClr val="tx1"/>
                </a:solidFill>
                <a:latin typeface="+mn-lt"/>
                <a:ea typeface="+mn-ea"/>
                <a:cs typeface="+mn-cs"/>
              </a:rPr>
              <a:t>C</a:t>
            </a:r>
            <a:r>
              <a:rPr lang="zh-CN" altLang="en-US" sz="1200" b="0" i="0" kern="1200" dirty="0">
                <a:solidFill>
                  <a:schemeClr val="tx1"/>
                </a:solidFill>
                <a:latin typeface="+mn-lt"/>
                <a:ea typeface="+mn-ea"/>
                <a:cs typeface="+mn-cs"/>
              </a:rPr>
              <a:t>代表</a:t>
            </a:r>
            <a:r>
              <a:rPr lang="en-US" altLang="zh-CN" sz="1200" b="0" i="0" kern="1200" dirty="0">
                <a:solidFill>
                  <a:schemeClr val="tx1"/>
                </a:solidFill>
                <a:latin typeface="+mn-lt"/>
                <a:ea typeface="+mn-ea"/>
                <a:cs typeface="+mn-cs"/>
              </a:rPr>
              <a:t>RS-232</a:t>
            </a:r>
            <a:r>
              <a:rPr lang="zh-CN" altLang="en-US" sz="1200" b="0" i="0" kern="1200" dirty="0">
                <a:solidFill>
                  <a:schemeClr val="tx1"/>
                </a:solidFill>
                <a:latin typeface="+mn-lt"/>
                <a:ea typeface="+mn-ea"/>
                <a:cs typeface="+mn-cs"/>
              </a:rPr>
              <a:t>的最新一次修改（</a:t>
            </a:r>
            <a:r>
              <a:rPr lang="en-US" altLang="zh-CN" sz="1200" b="0" i="0" kern="1200" dirty="0">
                <a:solidFill>
                  <a:schemeClr val="tx1"/>
                </a:solidFill>
                <a:latin typeface="+mn-lt"/>
                <a:ea typeface="+mn-ea"/>
                <a:cs typeface="+mn-cs"/>
              </a:rPr>
              <a:t>1969</a:t>
            </a:r>
            <a:r>
              <a:rPr lang="zh-CN" altLang="en-US" sz="1200" b="0" i="0" kern="1200" dirty="0">
                <a:solidFill>
                  <a:schemeClr val="tx1"/>
                </a:solidFill>
                <a:latin typeface="+mn-lt"/>
                <a:ea typeface="+mn-ea"/>
                <a:cs typeface="+mn-cs"/>
              </a:rPr>
              <a:t>）。</a:t>
            </a:r>
            <a:endParaRPr lang="en-US" altLang="zh-CN" sz="1200" b="0" i="0" kern="1200" dirty="0">
              <a:solidFill>
                <a:schemeClr val="tx1"/>
              </a:solidFill>
              <a:latin typeface="+mn-lt"/>
              <a:ea typeface="+mn-ea"/>
              <a:cs typeface="+mn-cs"/>
            </a:endParaRPr>
          </a:p>
          <a:p>
            <a:r>
              <a:rPr lang="en-US" altLang="zh-CN" sz="1200" dirty="0">
                <a:latin typeface="Microsoft YaHei" panose="020B0503020204020204" pitchFamily="34" charset="-122"/>
                <a:ea typeface="Microsoft YaHei" panose="020B0503020204020204" pitchFamily="34" charset="-122"/>
              </a:rPr>
              <a:t>DB-9</a:t>
            </a:r>
            <a:r>
              <a:rPr lang="zh-CN" altLang="en-US" sz="1200" dirty="0">
                <a:latin typeface="Microsoft YaHei" panose="020B0503020204020204" pitchFamily="34" charset="-122"/>
                <a:ea typeface="Microsoft YaHei" panose="020B0503020204020204" pitchFamily="34" charset="-122"/>
              </a:rPr>
              <a:t>：</a:t>
            </a:r>
            <a:r>
              <a:rPr lang="zh-CN" altLang="en-US" sz="1200" b="0" i="0" kern="1200" dirty="0">
                <a:solidFill>
                  <a:schemeClr val="tx1"/>
                </a:solidFill>
                <a:latin typeface="+mn-lt"/>
                <a:ea typeface="+mn-ea"/>
                <a:cs typeface="+mn-cs"/>
              </a:rPr>
              <a:t>串行</a:t>
            </a:r>
            <a:r>
              <a:rPr lang="zh-CN" altLang="en-US" sz="1200" b="0" i="0" u="none" strike="noStrike" kern="1200" dirty="0">
                <a:solidFill>
                  <a:schemeClr val="tx1"/>
                </a:solidFill>
                <a:latin typeface="+mn-lt"/>
                <a:ea typeface="+mn-ea"/>
                <a:cs typeface="+mn-cs"/>
                <a:hlinkClick r:id="rId14"/>
              </a:rPr>
              <a:t>通信接口</a:t>
            </a:r>
            <a:r>
              <a:rPr lang="en-US" altLang="zh-CN" sz="1200" b="0" i="0" kern="1200" dirty="0">
                <a:solidFill>
                  <a:schemeClr val="tx1"/>
                </a:solidFill>
                <a:latin typeface="+mn-lt"/>
                <a:ea typeface="+mn-ea"/>
                <a:cs typeface="+mn-cs"/>
              </a:rPr>
              <a:t>RS-232-C 9</a:t>
            </a:r>
            <a:r>
              <a:rPr lang="zh-CN" altLang="en-US" sz="1200" b="0" i="0" kern="1200" dirty="0">
                <a:solidFill>
                  <a:schemeClr val="tx1"/>
                </a:solidFill>
                <a:latin typeface="+mn-lt"/>
                <a:ea typeface="+mn-ea"/>
                <a:cs typeface="+mn-cs"/>
              </a:rPr>
              <a:t>针。</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8</a:t>
            </a:fld>
            <a:endParaRPr kumimoji="1" lang="zh-CN" altLang="en-US"/>
          </a:p>
        </p:txBody>
      </p:sp>
    </p:spTree>
    <p:extLst>
      <p:ext uri="{BB962C8B-B14F-4D97-AF65-F5344CB8AC3E}">
        <p14:creationId xmlns:p14="http://schemas.microsoft.com/office/powerpoint/2010/main" val="1468844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803275" indent="-307975">
              <a:spcBef>
                <a:spcPct val="30000"/>
              </a:spcBef>
              <a:defRPr sz="1200">
                <a:solidFill>
                  <a:schemeClr val="tx1"/>
                </a:solidFill>
                <a:latin typeface="Arial" panose="020B0604020202020204" pitchFamily="34" charset="0"/>
                <a:ea typeface="宋体" panose="02010600030101010101" pitchFamily="2" charset="-122"/>
              </a:defRPr>
            </a:lvl2pPr>
            <a:lvl3pPr marL="1236663" indent="-246063">
              <a:spcBef>
                <a:spcPct val="30000"/>
              </a:spcBef>
              <a:defRPr sz="1200">
                <a:solidFill>
                  <a:schemeClr val="tx1"/>
                </a:solidFill>
                <a:latin typeface="Arial" panose="020B0604020202020204" pitchFamily="34" charset="0"/>
                <a:ea typeface="宋体" panose="02010600030101010101" pitchFamily="2" charset="-122"/>
              </a:defRPr>
            </a:lvl3pPr>
            <a:lvl4pPr marL="1731963" indent="-246063">
              <a:spcBef>
                <a:spcPct val="30000"/>
              </a:spcBef>
              <a:defRPr sz="1200">
                <a:solidFill>
                  <a:schemeClr val="tx1"/>
                </a:solidFill>
                <a:latin typeface="Arial" panose="020B0604020202020204" pitchFamily="34" charset="0"/>
                <a:ea typeface="宋体" panose="02010600030101010101" pitchFamily="2" charset="-122"/>
              </a:defRPr>
            </a:lvl4pPr>
            <a:lvl5pPr marL="2227263" indent="-246063">
              <a:spcBef>
                <a:spcPct val="30000"/>
              </a:spcBef>
              <a:defRPr sz="1200">
                <a:solidFill>
                  <a:schemeClr val="tx1"/>
                </a:solidFill>
                <a:latin typeface="Arial" panose="020B0604020202020204" pitchFamily="34" charset="0"/>
                <a:ea typeface="宋体" panose="02010600030101010101" pitchFamily="2" charset="-122"/>
              </a:defRPr>
            </a:lvl5pPr>
            <a:lvl6pPr marL="2684463" indent="-24606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141663" indent="-24606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98863" indent="-24606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4056063" indent="-24606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B49D437-7C9C-4522-8368-E4C120FCD778}" type="slidenum">
              <a:rPr lang="en-US" altLang="zh-CN" sz="1300" smtClean="0"/>
              <a:pPr>
                <a:spcBef>
                  <a:spcPct val="0"/>
                </a:spcBef>
              </a:pPr>
              <a:t>10</a:t>
            </a:fld>
            <a:endParaRPr lang="en-US" altLang="zh-CN" sz="1300"/>
          </a:p>
        </p:txBody>
      </p:sp>
      <p:sp>
        <p:nvSpPr>
          <p:cNvPr id="10243" name="Rectangle 2"/>
          <p:cNvSpPr>
            <a:spLocks noGrp="1" noRot="1" noChangeAspect="1" noChangeArrowheads="1" noTextEdit="1"/>
          </p:cNvSpPr>
          <p:nvPr>
            <p:ph type="sldImg"/>
          </p:nvPr>
        </p:nvSpPr>
        <p:spPr>
          <a:solidFill>
            <a:srgbClr val="FFFFFF"/>
          </a:solidFill>
          <a:ln/>
        </p:spPr>
      </p:sp>
      <p:sp>
        <p:nvSpPr>
          <p:cNvPr id="10244" name="Rectangle 3"/>
          <p:cNvSpPr>
            <a:spLocks noGrp="1" noChangeArrowheads="1"/>
          </p:cNvSpPr>
          <p:nvPr>
            <p:ph type="body" idx="1"/>
          </p:nvPr>
        </p:nvSpPr>
        <p:spPr>
          <a:xfrm>
            <a:off x="946573" y="4860171"/>
            <a:ext cx="5209329" cy="4604623"/>
          </a:xfrm>
          <a:solidFill>
            <a:srgbClr val="FFFFFF"/>
          </a:solidFill>
          <a:ln>
            <a:solidFill>
              <a:srgbClr val="000000"/>
            </a:solidFill>
            <a:miter lim="800000"/>
            <a:headEnd/>
            <a:tailEnd/>
          </a:ln>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063401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加图 罗列</a:t>
            </a:r>
            <a:endParaRPr lang="en-US" altLang="zh-CN" dirty="0"/>
          </a:p>
          <a:p>
            <a:r>
              <a:rPr lang="zh-CN" altLang="en-US" dirty="0"/>
              <a:t>缩写含义：</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11</a:t>
            </a:fld>
            <a:endParaRPr kumimoji="1" lang="zh-CN" altLang="en-US"/>
          </a:p>
        </p:txBody>
      </p:sp>
    </p:spTree>
    <p:extLst>
      <p:ext uri="{BB962C8B-B14F-4D97-AF65-F5344CB8AC3E}">
        <p14:creationId xmlns:p14="http://schemas.microsoft.com/office/powerpoint/2010/main" val="3208866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IEEE 802.3</a:t>
            </a:r>
            <a:r>
              <a:rPr lang="zh-CN" altLang="en-US" dirty="0"/>
              <a:t>：</a:t>
            </a:r>
            <a:r>
              <a:rPr lang="en-US" altLang="zh-CN" dirty="0"/>
              <a:t>10M</a:t>
            </a:r>
            <a:r>
              <a:rPr lang="zh-CN" altLang="en-US" dirty="0"/>
              <a:t>以太网标准；</a:t>
            </a:r>
          </a:p>
          <a:p>
            <a:r>
              <a:rPr lang="en-US" altLang="zh-CN" dirty="0"/>
              <a:t>IEEE 802.3u</a:t>
            </a:r>
            <a:r>
              <a:rPr lang="zh-CN" altLang="en-US" dirty="0"/>
              <a:t>：</a:t>
            </a:r>
            <a:r>
              <a:rPr lang="en-US" altLang="zh-CN" dirty="0"/>
              <a:t>100M</a:t>
            </a:r>
            <a:r>
              <a:rPr lang="zh-CN" altLang="en-US" dirty="0"/>
              <a:t>的快速以太网标准；</a:t>
            </a:r>
          </a:p>
          <a:p>
            <a:r>
              <a:rPr lang="en-US" altLang="zh-CN" dirty="0"/>
              <a:t>IEEE 802.3ab</a:t>
            </a:r>
            <a:r>
              <a:rPr lang="zh-CN" altLang="en-US" dirty="0"/>
              <a:t>和</a:t>
            </a:r>
            <a:r>
              <a:rPr lang="en-US" altLang="zh-CN" dirty="0"/>
              <a:t>IEEE 802</a:t>
            </a:r>
            <a:r>
              <a:rPr lang="zh-CN" altLang="en-US" dirty="0"/>
              <a:t>．</a:t>
            </a:r>
            <a:r>
              <a:rPr lang="en-US" altLang="zh-CN" dirty="0"/>
              <a:t>3z</a:t>
            </a:r>
            <a:r>
              <a:rPr lang="zh-CN" altLang="en-US" dirty="0"/>
              <a:t>：</a:t>
            </a:r>
            <a:r>
              <a:rPr lang="en-US" altLang="zh-CN" dirty="0"/>
              <a:t>1G</a:t>
            </a:r>
            <a:r>
              <a:rPr lang="zh-CN" altLang="en-US" dirty="0"/>
              <a:t>比特以太网标准；</a:t>
            </a:r>
          </a:p>
          <a:p>
            <a:r>
              <a:rPr lang="en-US" altLang="zh-CN" dirty="0"/>
              <a:t>IEEE 802.3ae</a:t>
            </a:r>
            <a:r>
              <a:rPr lang="zh-CN" altLang="en-US" dirty="0"/>
              <a:t>：</a:t>
            </a:r>
            <a:r>
              <a:rPr lang="en-US" altLang="zh-CN" dirty="0"/>
              <a:t>10G</a:t>
            </a:r>
            <a:r>
              <a:rPr lang="zh-CN" altLang="en-US" dirty="0"/>
              <a:t>比特以太网标准。</a:t>
            </a:r>
          </a:p>
          <a:p>
            <a:r>
              <a:rPr lang="en-US" altLang="zh-CN" dirty="0"/>
              <a:t>IEEE 802.3</a:t>
            </a:r>
            <a:r>
              <a:rPr lang="zh-CN" altLang="en-US" dirty="0"/>
              <a:t>系列通信标准仅描述了</a:t>
            </a:r>
            <a:r>
              <a:rPr lang="en-US" altLang="zh-CN" dirty="0" err="1"/>
              <a:t>OSl</a:t>
            </a:r>
            <a:r>
              <a:rPr lang="zh-CN" altLang="en-US" dirty="0"/>
              <a:t>分层模型中的最低两层协议（物理层和数据链路层）由于低层都采用</a:t>
            </a:r>
            <a:r>
              <a:rPr lang="en-US" altLang="zh-CN" dirty="0"/>
              <a:t>802</a:t>
            </a:r>
            <a:r>
              <a:rPr lang="zh-CN" altLang="en-US" dirty="0"/>
              <a:t>协议标准，所以他们都是可以互通的</a:t>
            </a:r>
            <a:endParaRPr lang="en-US" altLang="zh-CN" dirty="0"/>
          </a:p>
          <a:p>
            <a:r>
              <a:rPr lang="en-US" altLang="zh-CN" b="0" i="0" dirty="0">
                <a:solidFill>
                  <a:srgbClr val="333333"/>
                </a:solidFill>
                <a:effectLst/>
                <a:latin typeface="Arial" panose="020B0604020202020204" pitchFamily="34" charset="0"/>
              </a:rPr>
              <a:t>IEEE802.3z </a:t>
            </a:r>
            <a:r>
              <a:rPr lang="zh-CN" altLang="en-US" b="0" i="0" dirty="0">
                <a:solidFill>
                  <a:srgbClr val="333333"/>
                </a:solidFill>
                <a:effectLst/>
                <a:latin typeface="Arial" panose="020B0604020202020204" pitchFamily="34" charset="0"/>
              </a:rPr>
              <a:t>光纤介质千兆以太网标准规范</a:t>
            </a:r>
            <a:endParaRPr lang="en-US" altLang="zh-CN" b="0" i="0" dirty="0">
              <a:solidFill>
                <a:srgbClr val="333333"/>
              </a:solidFill>
              <a:effectLst/>
              <a:latin typeface="Arial" panose="020B0604020202020204" pitchFamily="34" charset="0"/>
            </a:endParaRPr>
          </a:p>
          <a:p>
            <a:r>
              <a:rPr lang="en-US" altLang="zh-CN" b="0" i="0" dirty="0">
                <a:solidFill>
                  <a:srgbClr val="F73131"/>
                </a:solidFill>
                <a:effectLst/>
                <a:latin typeface="Arial" panose="020B0604020202020204" pitchFamily="34" charset="0"/>
              </a:rPr>
              <a:t>802.15.4</a:t>
            </a:r>
            <a:r>
              <a:rPr lang="zh-CN" altLang="en-US" b="0" i="0" dirty="0">
                <a:solidFill>
                  <a:srgbClr val="333333"/>
                </a:solidFill>
                <a:effectLst/>
                <a:latin typeface="Arial" panose="020B0604020202020204" pitchFamily="34" charset="0"/>
              </a:rPr>
              <a:t>一般指</a:t>
            </a:r>
            <a:r>
              <a:rPr lang="en-US" altLang="zh-CN" b="0" i="0" dirty="0">
                <a:solidFill>
                  <a:srgbClr val="333333"/>
                </a:solidFill>
                <a:effectLst/>
                <a:latin typeface="Arial" panose="020B0604020202020204" pitchFamily="34" charset="0"/>
              </a:rPr>
              <a:t>IEEE </a:t>
            </a:r>
            <a:r>
              <a:rPr lang="en-US" altLang="zh-CN" b="0" i="0" dirty="0">
                <a:solidFill>
                  <a:srgbClr val="F73131"/>
                </a:solidFill>
                <a:effectLst/>
                <a:latin typeface="Arial" panose="020B0604020202020204" pitchFamily="34" charset="0"/>
              </a:rPr>
              <a:t>802.15.4</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IEEE </a:t>
            </a:r>
            <a:r>
              <a:rPr lang="en-US" altLang="zh-CN" b="0" i="0" dirty="0">
                <a:solidFill>
                  <a:srgbClr val="F73131"/>
                </a:solidFill>
                <a:effectLst/>
                <a:latin typeface="Arial" panose="020B0604020202020204" pitchFamily="34" charset="0"/>
              </a:rPr>
              <a:t>802.15.4</a:t>
            </a:r>
            <a:r>
              <a:rPr lang="zh-CN" altLang="en-US" b="0" i="0" dirty="0">
                <a:solidFill>
                  <a:srgbClr val="333333"/>
                </a:solidFill>
                <a:effectLst/>
                <a:latin typeface="Arial" panose="020B0604020202020204" pitchFamily="34" charset="0"/>
              </a:rPr>
              <a:t>是一种技术标准，它定义了低速率无线个域网 （</a:t>
            </a:r>
            <a:r>
              <a:rPr lang="en-US" altLang="zh-CN" b="0" i="0" dirty="0">
                <a:solidFill>
                  <a:srgbClr val="333333"/>
                </a:solidFill>
                <a:effectLst/>
                <a:latin typeface="Arial" panose="020B0604020202020204" pitchFamily="34" charset="0"/>
              </a:rPr>
              <a:t>LR-WPAN</a:t>
            </a:r>
            <a:r>
              <a:rPr lang="zh-CN" altLang="en-US" b="0" i="0" dirty="0">
                <a:solidFill>
                  <a:srgbClr val="333333"/>
                </a:solidFill>
                <a:effectLst/>
                <a:latin typeface="Arial" panose="020B0604020202020204" pitchFamily="34" charset="0"/>
              </a:rPr>
              <a:t>）的协议</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100 Base FX</a:t>
            </a:r>
            <a:r>
              <a:rPr lang="zh-CN" altLang="en-US" b="0" i="0" dirty="0">
                <a:solidFill>
                  <a:srgbClr val="333333"/>
                </a:solidFill>
                <a:effectLst/>
                <a:latin typeface="arial" panose="020B0604020202020204" pitchFamily="34" charset="0"/>
              </a:rPr>
              <a:t>使用光纤作为</a:t>
            </a:r>
            <a:r>
              <a:rPr lang="zh-CN" altLang="en-US" b="0" i="0" u="none" strike="noStrike" dirty="0">
                <a:solidFill>
                  <a:srgbClr val="136EC2"/>
                </a:solidFill>
                <a:effectLst/>
                <a:latin typeface="arial" panose="020B0604020202020204" pitchFamily="34" charset="0"/>
                <a:hlinkClick r:id="rId3"/>
              </a:rPr>
              <a:t>传输介质</a:t>
            </a:r>
            <a:endParaRPr lang="en-US" altLang="zh-CN" b="0" i="0" u="none" strike="noStrike" dirty="0">
              <a:solidFill>
                <a:srgbClr val="136EC2"/>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100 Base-T4</a:t>
            </a:r>
            <a:r>
              <a:rPr lang="zh-CN" altLang="en-US" b="0" i="0" dirty="0">
                <a:solidFill>
                  <a:srgbClr val="333333"/>
                </a:solidFill>
                <a:effectLst/>
                <a:latin typeface="arial" panose="020B0604020202020204" pitchFamily="34" charset="0"/>
              </a:rPr>
              <a:t>是一个</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对线系统，但是它采用</a:t>
            </a:r>
            <a:r>
              <a:rPr lang="zh-CN" altLang="en-US" b="0" i="0" u="none" strike="noStrike" dirty="0">
                <a:solidFill>
                  <a:srgbClr val="136EC2"/>
                </a:solidFill>
                <a:effectLst/>
                <a:latin typeface="arial" panose="020B0604020202020204" pitchFamily="34" charset="0"/>
                <a:hlinkClick r:id="rId4"/>
              </a:rPr>
              <a:t>半双工传输</a:t>
            </a:r>
            <a:r>
              <a:rPr lang="zh-CN" altLang="en-US" b="0" i="0" dirty="0">
                <a:solidFill>
                  <a:srgbClr val="333333"/>
                </a:solidFill>
                <a:effectLst/>
                <a:latin typeface="arial" panose="020B0604020202020204" pitchFamily="34" charset="0"/>
              </a:rPr>
              <a:t>模式，传输媒体采用</a:t>
            </a:r>
            <a:r>
              <a:rPr lang="en-US" altLang="zh-CN" b="0" i="0" dirty="0">
                <a:solidFill>
                  <a:srgbClr val="333333"/>
                </a:solidFill>
                <a:effectLst/>
                <a:latin typeface="arial" panose="020B0604020202020204" pitchFamily="34" charset="0"/>
              </a:rPr>
              <a:t>3</a:t>
            </a:r>
            <a:r>
              <a:rPr lang="zh-CN" altLang="en-US" b="0" i="0" dirty="0">
                <a:solidFill>
                  <a:srgbClr val="333333"/>
                </a:solidFill>
                <a:effectLst/>
                <a:latin typeface="arial" panose="020B0604020202020204" pitchFamily="34" charset="0"/>
              </a:rPr>
              <a:t>类、</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类、</a:t>
            </a:r>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类无屏蔽双绞线</a:t>
            </a:r>
            <a:r>
              <a:rPr lang="en-US" altLang="zh-CN" b="0" i="0" dirty="0">
                <a:solidFill>
                  <a:srgbClr val="333333"/>
                </a:solidFill>
                <a:effectLst/>
                <a:latin typeface="arial" panose="020B0604020202020204" pitchFamily="34" charset="0"/>
              </a:rPr>
              <a:t>UTP</a:t>
            </a:r>
            <a:r>
              <a:rPr lang="zh-CN" altLang="en-US" b="0" i="0" dirty="0">
                <a:solidFill>
                  <a:srgbClr val="333333"/>
                </a:solidFill>
                <a:effectLst/>
                <a:latin typeface="arial" panose="020B0604020202020204" pitchFamily="34" charset="0"/>
              </a:rPr>
              <a:t>的</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对线路进行</a:t>
            </a:r>
            <a:r>
              <a:rPr lang="en-US" altLang="zh-CN" b="0" i="0" dirty="0">
                <a:solidFill>
                  <a:srgbClr val="333333"/>
                </a:solidFill>
                <a:effectLst/>
                <a:latin typeface="arial" panose="020B0604020202020204" pitchFamily="34" charset="0"/>
              </a:rPr>
              <a:t>100Mbps</a:t>
            </a:r>
            <a:r>
              <a:rPr lang="zh-CN" altLang="en-US" b="0" i="0" dirty="0">
                <a:solidFill>
                  <a:srgbClr val="333333"/>
                </a:solidFill>
                <a:effectLst/>
                <a:latin typeface="arial" panose="020B0604020202020204" pitchFamily="34" charset="0"/>
              </a:rPr>
              <a:t>的数据传输</a:t>
            </a:r>
            <a:endParaRPr lang="en-US" altLang="zh-CN" b="0" i="0" dirty="0">
              <a:solidFill>
                <a:srgbClr val="333333"/>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100Base-TX</a:t>
            </a:r>
            <a:r>
              <a:rPr lang="zh-CN" altLang="en-US" b="0" i="0" dirty="0">
                <a:solidFill>
                  <a:srgbClr val="333333"/>
                </a:solidFill>
                <a:effectLst/>
                <a:latin typeface="arial" panose="020B0604020202020204" pitchFamily="34" charset="0"/>
              </a:rPr>
              <a:t>使用的</a:t>
            </a:r>
            <a:r>
              <a:rPr lang="zh-CN" altLang="en-US" b="0" i="0" u="none" strike="noStrike" dirty="0">
                <a:solidFill>
                  <a:srgbClr val="136EC2"/>
                </a:solidFill>
                <a:effectLst/>
                <a:latin typeface="arial" panose="020B0604020202020204" pitchFamily="34" charset="0"/>
                <a:hlinkClick r:id="rId3"/>
              </a:rPr>
              <a:t>传输介质</a:t>
            </a:r>
            <a:r>
              <a:rPr lang="zh-CN" altLang="en-US" b="0" i="0" dirty="0">
                <a:solidFill>
                  <a:srgbClr val="333333"/>
                </a:solidFill>
                <a:effectLst/>
                <a:latin typeface="arial" panose="020B0604020202020204" pitchFamily="34" charset="0"/>
              </a:rPr>
              <a:t>与</a:t>
            </a:r>
            <a:r>
              <a:rPr lang="en-US" altLang="zh-CN" b="0" i="0" dirty="0">
                <a:solidFill>
                  <a:srgbClr val="333333"/>
                </a:solidFill>
                <a:effectLst/>
                <a:latin typeface="arial" panose="020B0604020202020204" pitchFamily="34" charset="0"/>
              </a:rPr>
              <a:t>10Base-T</a:t>
            </a:r>
            <a:r>
              <a:rPr lang="zh-CN" altLang="en-US" b="0" i="0" dirty="0">
                <a:solidFill>
                  <a:srgbClr val="333333"/>
                </a:solidFill>
                <a:effectLst/>
                <a:latin typeface="arial" panose="020B0604020202020204" pitchFamily="34" charset="0"/>
              </a:rPr>
              <a:t>一样都是双绞线。但是由于传输信号的频率较高，需要使用较高的质量的双绞线，</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2259551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rPr>
              <a:t>没有调制过的信号传输为基带传输调制过的信号传输叫频带传输前者传输距离短，后者长。</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数字信号编码是要解决数字数据的数字信号表示问题，即通过对数字信号进行编码来表示数据。数字信号编码的工作一般由硬件完成，常用的编码方法有以下三种：不归零码、曼彻斯特编码、差分曼彻斯特编码。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不归零码，数字信号可以直接采用基带传输，基带传输是在线路中直接传送数字信号的电脉冲，是一种最简单的传输方式，近距离通信的局域网都采用基带传输。</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曼彻斯特编码</a:t>
            </a:r>
            <a:r>
              <a:rPr lang="en-US" altLang="zh-CN" dirty="0"/>
              <a:t>(Manchester)</a:t>
            </a:r>
            <a:r>
              <a:rPr lang="zh-CN" altLang="en-US" dirty="0"/>
              <a:t>又称裂相码、同步码、相位编码，是一种用电平跳变来表示</a:t>
            </a:r>
            <a:r>
              <a:rPr lang="en-US" altLang="zh-CN" dirty="0"/>
              <a:t>1</a:t>
            </a:r>
            <a:r>
              <a:rPr lang="zh-CN" altLang="en-US" dirty="0"/>
              <a:t>或</a:t>
            </a:r>
            <a:r>
              <a:rPr lang="en-US" altLang="zh-CN" dirty="0"/>
              <a:t>0</a:t>
            </a:r>
            <a:r>
              <a:rPr lang="zh-CN" altLang="en-US" dirty="0"/>
              <a:t>的编码方法，其变化规则很简单，即每个码元均用两个不同相位的电平信号表示，也就是一个周期的方波，但</a:t>
            </a:r>
            <a:r>
              <a:rPr lang="en-US" altLang="zh-CN" dirty="0"/>
              <a:t>0</a:t>
            </a:r>
            <a:r>
              <a:rPr lang="zh-CN" altLang="en-US" dirty="0"/>
              <a:t>码和</a:t>
            </a:r>
            <a:r>
              <a:rPr lang="en-US" altLang="zh-CN" dirty="0"/>
              <a:t>1</a:t>
            </a:r>
            <a:r>
              <a:rPr lang="zh-CN" altLang="en-US" dirty="0"/>
              <a:t>码的相位正好相反。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由于曼彻斯特码在每个时钟位都必须有一次变化，因此，其编码的效率仅可达到</a:t>
            </a:r>
            <a:r>
              <a:rPr lang="en-US" altLang="zh-CN" dirty="0"/>
              <a:t>50%</a:t>
            </a:r>
            <a:r>
              <a:rPr lang="zh-CN" altLang="en-US" dirty="0"/>
              <a:t>左右差分曼彻斯特编码是一种使用中位转变来计时的编码方案。数据通过在数据位开始处加一转变来表示。令牌环局域网就利用差分曼彻斯特编码方案。差分曼彻斯特编码在 每个时钟周期的中间都有一次电平跳变，这个跳变做同步之用。 在每个时钟周期的起始处：跳变则说明该比特是</a:t>
            </a:r>
            <a:r>
              <a:rPr lang="en-US" altLang="zh-CN" dirty="0"/>
              <a:t>0</a:t>
            </a:r>
            <a:r>
              <a:rPr lang="zh-CN" altLang="en-US" dirty="0"/>
              <a:t>，不跳变则说明该比特是</a:t>
            </a:r>
            <a:r>
              <a:rPr lang="en-US" altLang="zh-CN" dirty="0"/>
              <a:t>1</a:t>
            </a:r>
            <a:r>
              <a:rPr lang="zh-CN" altLang="en-US" dirty="0"/>
              <a:t>。差分曼彻斯特编码的优点为：收发双方可以根据编码自带的时钟信号来保持同步，无需专门传递同步信号的线路，因此成本低；缺点为：实现技术复杂。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4266049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数字调制是指用数字数据调制模拟信号，主要有三种形式：移幅键控法</a:t>
            </a:r>
            <a:r>
              <a:rPr lang="en-US" altLang="zh-CN" dirty="0"/>
              <a:t>ASK</a:t>
            </a:r>
            <a:r>
              <a:rPr lang="zh-CN" altLang="en-US" dirty="0"/>
              <a:t>、移频键控法</a:t>
            </a:r>
            <a:r>
              <a:rPr lang="en-US" altLang="zh-CN" dirty="0"/>
              <a:t>FSK</a:t>
            </a:r>
            <a:r>
              <a:rPr lang="zh-CN" altLang="en-US" dirty="0"/>
              <a:t>、移相键控法</a:t>
            </a:r>
            <a:r>
              <a:rPr lang="en-US" altLang="zh-CN" dirty="0"/>
              <a:t>PSK</a:t>
            </a:r>
            <a:r>
              <a:rPr lang="zh-CN" altLang="en-US" dirty="0"/>
              <a: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幅度键控（</a:t>
            </a:r>
            <a:r>
              <a:rPr lang="en-US" altLang="zh-CN" b="1" dirty="0"/>
              <a:t>ASK</a:t>
            </a:r>
            <a:r>
              <a:rPr lang="zh-CN" alt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即按载波的幅度受到数字数据的调制而取不同的值，例如对应二进制</a:t>
            </a:r>
            <a:r>
              <a:rPr lang="en-US" altLang="zh-CN" dirty="0"/>
              <a:t>0</a:t>
            </a:r>
            <a:r>
              <a:rPr lang="zh-CN" altLang="en-US" dirty="0"/>
              <a:t>，载波振幅为</a:t>
            </a:r>
            <a:r>
              <a:rPr lang="en-US" altLang="zh-CN" dirty="0"/>
              <a:t>0</a:t>
            </a:r>
            <a:r>
              <a:rPr lang="zh-CN" altLang="en-US" dirty="0"/>
              <a:t>；对应二进制</a:t>
            </a:r>
            <a:r>
              <a:rPr lang="en-US" altLang="zh-CN" dirty="0"/>
              <a:t>1</a:t>
            </a:r>
            <a:r>
              <a:rPr lang="zh-CN" altLang="en-US" dirty="0"/>
              <a:t>，载波振幅为</a:t>
            </a:r>
            <a:r>
              <a:rPr lang="en-US" altLang="zh-CN" dirty="0"/>
              <a:t>1</a:t>
            </a:r>
            <a:r>
              <a:rPr lang="zh-CN" altLang="en-US" dirty="0"/>
              <a:t>。调幅技术实现起来简单，但容易受增益变化的影响，是一种低效的调制技术</a:t>
            </a:r>
            <a:r>
              <a:rPr lang="en-US" altLang="zh-CN" dirty="0"/>
              <a:t>.</a:t>
            </a:r>
          </a:p>
          <a:p>
            <a:r>
              <a:rPr lang="zh-CN" altLang="en-US" b="1" dirty="0"/>
              <a:t>频移键控（</a:t>
            </a:r>
            <a:r>
              <a:rPr lang="en-US" altLang="zh-CN" b="1" dirty="0"/>
              <a:t>FSK</a:t>
            </a:r>
            <a:r>
              <a:rPr lang="zh-CN" altLang="en-US" b="1" dirty="0"/>
              <a:t>）：</a:t>
            </a:r>
          </a:p>
          <a:p>
            <a:r>
              <a:rPr lang="zh-CN" altLang="en-US" dirty="0"/>
              <a:t>即按数字数据的值（</a:t>
            </a:r>
            <a:r>
              <a:rPr lang="en-US" altLang="zh-CN" dirty="0"/>
              <a:t>0</a:t>
            </a:r>
            <a:r>
              <a:rPr lang="zh-CN" altLang="en-US" dirty="0"/>
              <a:t>或</a:t>
            </a:r>
            <a:r>
              <a:rPr lang="en-US" altLang="zh-CN" dirty="0"/>
              <a:t>1</a:t>
            </a:r>
            <a:r>
              <a:rPr lang="zh-CN" altLang="en-US" dirty="0"/>
              <a:t>）调制载波的频率。例如对应二进制</a:t>
            </a:r>
            <a:r>
              <a:rPr lang="en-US" altLang="zh-CN" dirty="0"/>
              <a:t>0</a:t>
            </a:r>
            <a:r>
              <a:rPr lang="zh-CN" altLang="en-US" dirty="0"/>
              <a:t>的载波频率为</a:t>
            </a:r>
            <a:r>
              <a:rPr lang="en-US" altLang="zh-CN" dirty="0"/>
              <a:t>F1</a:t>
            </a:r>
            <a:r>
              <a:rPr lang="zh-CN" altLang="en-US" dirty="0"/>
              <a:t>，而对应二进制</a:t>
            </a:r>
            <a:r>
              <a:rPr lang="en-US" altLang="zh-CN" dirty="0"/>
              <a:t>1</a:t>
            </a:r>
            <a:r>
              <a:rPr lang="zh-CN" altLang="en-US" dirty="0"/>
              <a:t>的载波频率为</a:t>
            </a:r>
            <a:r>
              <a:rPr lang="en-US" altLang="zh-CN" dirty="0"/>
              <a:t>F2</a:t>
            </a:r>
            <a:r>
              <a:rPr lang="zh-CN" altLang="en-US" dirty="0"/>
              <a:t>。该技术抗干扰性能好，但占用带宽较大。</a:t>
            </a:r>
            <a:endParaRPr lang="en-US" altLang="zh-CN" dirty="0"/>
          </a:p>
          <a:p>
            <a:r>
              <a:rPr lang="zh-CN" altLang="en-US" b="1" dirty="0"/>
              <a:t>相移键控（</a:t>
            </a:r>
            <a:r>
              <a:rPr lang="en-US" altLang="zh-CN" b="1" dirty="0"/>
              <a:t>PSK</a:t>
            </a:r>
            <a:r>
              <a:rPr lang="zh-CN" altLang="en-US" b="1" dirty="0"/>
              <a:t>）：</a:t>
            </a:r>
          </a:p>
          <a:p>
            <a:r>
              <a:rPr lang="zh-CN" altLang="en-US" dirty="0"/>
              <a:t>即按数字数据的值调制载波相位。例如用</a:t>
            </a:r>
            <a:r>
              <a:rPr lang="en-US" altLang="zh-CN" dirty="0"/>
              <a:t>180</a:t>
            </a:r>
            <a:r>
              <a:rPr lang="zh-CN" altLang="en-US" dirty="0"/>
              <a:t>相移表示</a:t>
            </a:r>
            <a:r>
              <a:rPr lang="en-US" altLang="zh-CN" dirty="0"/>
              <a:t>1</a:t>
            </a:r>
            <a:r>
              <a:rPr lang="zh-CN" altLang="en-US" dirty="0"/>
              <a:t>，用</a:t>
            </a:r>
            <a:r>
              <a:rPr lang="en-US" altLang="zh-CN" dirty="0"/>
              <a:t>0</a:t>
            </a:r>
            <a:r>
              <a:rPr lang="zh-CN" altLang="en-US" dirty="0"/>
              <a:t>相移表示</a:t>
            </a:r>
            <a:r>
              <a:rPr lang="en-US" altLang="zh-CN" dirty="0"/>
              <a:t>0</a:t>
            </a:r>
            <a:r>
              <a:rPr lang="zh-CN" altLang="en-US" dirty="0"/>
              <a:t>。这种调制技术抗干扰性能最好，且相位的变化也可以作为定时信息来同步发送机和接收机的时钟，并对传输速率起到加倍的作用 </a:t>
            </a:r>
            <a:endParaRPr lang="en-US" altLang="zh-CN" dirty="0"/>
          </a:p>
          <a:p>
            <a:endParaRPr lang="en-US" altLang="zh-CN" dirty="0"/>
          </a:p>
          <a:p>
            <a:r>
              <a:rPr lang="zh-CN" altLang="en-US" dirty="0"/>
              <a:t>无线电波的调制方式总的来说有三种：调幅（</a:t>
            </a:r>
            <a:r>
              <a:rPr lang="en-US" altLang="zh-CN" dirty="0"/>
              <a:t>AM</a:t>
            </a:r>
            <a:r>
              <a:rPr lang="zh-CN" altLang="en-US" dirty="0"/>
              <a:t>）、调频（</a:t>
            </a:r>
            <a:r>
              <a:rPr lang="en-US" altLang="zh-CN" dirty="0"/>
              <a:t>FM</a:t>
            </a:r>
            <a:r>
              <a:rPr lang="zh-CN" altLang="en-US" dirty="0"/>
              <a:t>）、调相（</a:t>
            </a:r>
            <a:r>
              <a:rPr lang="en-US" altLang="zh-CN" dirty="0"/>
              <a:t>PM</a:t>
            </a:r>
            <a:r>
              <a:rPr lang="zh-CN" altLang="en-US" dirty="0"/>
              <a:t>）。</a:t>
            </a:r>
            <a:br>
              <a:rPr lang="zh-CN" altLang="en-US" dirty="0"/>
            </a:br>
            <a:r>
              <a:rPr lang="zh-CN" altLang="en-US" dirty="0"/>
              <a:t>    调幅（</a:t>
            </a:r>
            <a:r>
              <a:rPr lang="en-US" altLang="zh-CN" dirty="0"/>
              <a:t>AM</a:t>
            </a:r>
            <a:r>
              <a:rPr lang="zh-CN" altLang="en-US" dirty="0"/>
              <a:t>）：就是用信号的变化来改变无线电波震荡的幅度，也就是让电波</a:t>
            </a:r>
            <a:r>
              <a:rPr lang="en-US" altLang="zh-CN" dirty="0"/>
              <a:t>l</a:t>
            </a:r>
            <a:r>
              <a:rPr lang="zh-CN" altLang="en-US" dirty="0"/>
              <a:t>震荡幅度随信号变化而变化。常见的就是中波、短波广播，还有航空频段。一般的收音机就是调幅接收机。由于其易受杂波干扰，所以，信号保真度差。但优点是设备简单，适用频段广泛</a:t>
            </a:r>
            <a:r>
              <a:rPr lang="en-US" altLang="zh-CN" dirty="0"/>
              <a:t>---</a:t>
            </a:r>
            <a:r>
              <a:rPr lang="zh-CN" altLang="en-US" dirty="0"/>
              <a:t>所有频段均可，所以被广泛使用。</a:t>
            </a:r>
            <a:br>
              <a:rPr lang="zh-CN" altLang="en-US" dirty="0"/>
            </a:br>
            <a:r>
              <a:rPr lang="zh-CN" altLang="en-US" dirty="0"/>
              <a:t>    调频（</a:t>
            </a:r>
            <a:r>
              <a:rPr lang="en-US" altLang="zh-CN" dirty="0"/>
              <a:t>FM</a:t>
            </a:r>
            <a:r>
              <a:rPr lang="zh-CN" altLang="en-US" dirty="0"/>
              <a:t>）：就是用信号的变化来改变无线电波震荡的频率度，也就是让电波震荡频率随信号变化而变化。常见的就是电视、</a:t>
            </a:r>
            <a:r>
              <a:rPr lang="en-US" altLang="zh-CN" dirty="0"/>
              <a:t>20M</a:t>
            </a:r>
            <a:r>
              <a:rPr lang="zh-CN" altLang="en-US" dirty="0"/>
              <a:t>以上的无线电通讯，如我们的</a:t>
            </a:r>
            <a:r>
              <a:rPr lang="en-US" altLang="zh-CN" dirty="0"/>
              <a:t>U</a:t>
            </a:r>
            <a:r>
              <a:rPr lang="zh-CN" altLang="en-US" dirty="0"/>
              <a:t>、</a:t>
            </a:r>
            <a:r>
              <a:rPr lang="en-US" altLang="zh-CN" dirty="0"/>
              <a:t>V</a:t>
            </a:r>
            <a:r>
              <a:rPr lang="zh-CN" altLang="en-US" dirty="0"/>
              <a:t>段对讲机、车台、手机。其优点是不易受一般杂波干扰，可以实现信号的高保真。缺点是需要一定的带宽，减少了频段电台容量；过低的无线电频率（如长波、中波）不能使用或效果不佳。</a:t>
            </a:r>
            <a:br>
              <a:rPr lang="zh-CN" altLang="en-US" dirty="0"/>
            </a:br>
            <a:r>
              <a:rPr lang="zh-CN" altLang="en-US" dirty="0"/>
              <a:t>    调相（</a:t>
            </a:r>
            <a:r>
              <a:rPr lang="en-US" altLang="zh-CN" dirty="0"/>
              <a:t>PM</a:t>
            </a:r>
            <a:r>
              <a:rPr lang="zh-CN" altLang="en-US" dirty="0"/>
              <a:t>）：就是用信号的变化来改变无线电波震荡的相位角，也就是让电波震荡的相位角随信号变化而变化。其优点也是抗干扰能力强。缺点是其调相和解调电路十分复杂。所以，除了十分特殊的场合使用外，一般不被采用。</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2497747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3600" dirty="0">
                <a:solidFill>
                  <a:srgbClr val="FF0000"/>
                </a:solidFill>
                <a:latin typeface="黑体" panose="02010609060101010101" pitchFamily="49" charset="-122"/>
                <a:ea typeface="黑体" panose="02010609060101010101" pitchFamily="49" charset="-122"/>
              </a:rPr>
              <a:t>数据通信</a:t>
            </a:r>
            <a:r>
              <a:rPr lang="zh-CN" altLang="en-US" sz="3600" dirty="0">
                <a:latin typeface="黑体" panose="02010609060101010101" pitchFamily="49" charset="-122"/>
                <a:ea typeface="黑体" panose="02010609060101010101" pitchFamily="49" charset="-122"/>
              </a:rPr>
              <a:t>  指由源点产生的数据流，按照一定的通信协议，在信道中传送到终点的过程。主要是</a:t>
            </a:r>
            <a:r>
              <a:rPr lang="zh-CN" altLang="en-US" sz="3600" dirty="0">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人</a:t>
            </a:r>
            <a:r>
              <a:rPr lang="en-US" altLang="zh-CN" sz="3600" dirty="0">
                <a:latin typeface="黑体" panose="02010609060101010101" pitchFamily="49" charset="-122"/>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机</a:t>
            </a:r>
            <a:r>
              <a:rPr lang="zh-CN" altLang="en-US" sz="3600" dirty="0">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或</a:t>
            </a:r>
            <a:r>
              <a:rPr lang="zh-CN" altLang="en-US" sz="3600" dirty="0">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机</a:t>
            </a:r>
            <a:r>
              <a:rPr lang="en-US" altLang="zh-CN" sz="3600" dirty="0">
                <a:latin typeface="黑体" panose="02010609060101010101" pitchFamily="49" charset="-122"/>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机</a:t>
            </a:r>
            <a:r>
              <a:rPr lang="zh-CN" altLang="en-US" sz="3600" dirty="0">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通信。</a:t>
            </a:r>
          </a:p>
          <a:p>
            <a:pPr eaLnBrk="1" hangingPunct="1"/>
            <a:r>
              <a:rPr lang="zh-CN" altLang="en-US" sz="3600" dirty="0">
                <a:latin typeface="黑体" panose="02010609060101010101" pitchFamily="49" charset="-122"/>
                <a:ea typeface="黑体" panose="02010609060101010101" pitchFamily="49" charset="-122"/>
              </a:rPr>
              <a:t>数据通信以数据传输</a:t>
            </a:r>
            <a:r>
              <a:rPr lang="zh-CN" altLang="zh-CN" sz="3600" dirty="0">
                <a:latin typeface="黑体" panose="02010609060101010101" pitchFamily="49" charset="-122"/>
                <a:ea typeface="黑体" panose="02010609060101010101" pitchFamily="49" charset="-122"/>
              </a:rPr>
              <a:t>为基础</a:t>
            </a:r>
            <a:r>
              <a:rPr lang="zh-CN" altLang="en-US" sz="3600" dirty="0">
                <a:latin typeface="黑体" panose="02010609060101010101" pitchFamily="49" charset="-122"/>
                <a:ea typeface="黑体" panose="02010609060101010101" pitchFamily="49" charset="-122"/>
              </a:rPr>
              <a:t>，包括数据传输和数据交换，以及传输前后的数据处理。</a:t>
            </a:r>
            <a:endParaRPr lang="en-US" altLang="zh-CN" sz="3600" dirty="0">
              <a:latin typeface="黑体" panose="02010609060101010101" pitchFamily="49" charset="-122"/>
              <a:ea typeface="黑体" panose="02010609060101010101" pitchFamily="49" charset="-122"/>
            </a:endParaRPr>
          </a:p>
          <a:p>
            <a:pPr eaLnBrk="1" hangingPunct="1"/>
            <a:r>
              <a:rPr lang="zh-CN" altLang="en-US" sz="3600" dirty="0">
                <a:latin typeface="黑体" panose="02010609060101010101" pitchFamily="49" charset="-122"/>
                <a:ea typeface="黑体" panose="02010609060101010101" pitchFamily="49" charset="-122"/>
              </a:rPr>
              <a:t>数据通信离不开计算机，因此常把数据通信与计算机通信这两名词混用。</a:t>
            </a:r>
            <a:endParaRPr lang="en-US" altLang="zh-CN" sz="3600" dirty="0">
              <a:latin typeface="黑体" panose="02010609060101010101" pitchFamily="49" charset="-122"/>
              <a:ea typeface="黑体" panose="02010609060101010101" pitchFamily="49" charset="-122"/>
            </a:endParaRPr>
          </a:p>
          <a:p>
            <a:pPr eaLnBrk="1" hangingPunct="1">
              <a:lnSpc>
                <a:spcPts val="3000"/>
              </a:lnSpc>
            </a:pPr>
            <a:endParaRPr lang="en-US" altLang="zh-CN" sz="1400" dirty="0">
              <a:solidFill>
                <a:srgbClr val="0339D3"/>
              </a:solidFill>
              <a:ea typeface="黑体" panose="02010609060101010101" pitchFamily="49" charset="-122"/>
            </a:endParaRPr>
          </a:p>
          <a:p>
            <a:pPr eaLnBrk="1" hangingPunct="1">
              <a:lnSpc>
                <a:spcPts val="3000"/>
              </a:lnSpc>
            </a:pPr>
            <a:endParaRPr lang="en-US" altLang="zh-CN" sz="1400" dirty="0">
              <a:solidFill>
                <a:srgbClr val="0339D3"/>
              </a:solidFill>
              <a:ea typeface="黑体" panose="02010609060101010101" pitchFamily="49" charset="-122"/>
            </a:endParaRPr>
          </a:p>
          <a:p>
            <a:pPr eaLnBrk="1" hangingPunct="1">
              <a:lnSpc>
                <a:spcPts val="3000"/>
              </a:lnSpc>
            </a:pPr>
            <a:r>
              <a:rPr lang="zh-CN" altLang="en-US" sz="1400" dirty="0">
                <a:solidFill>
                  <a:srgbClr val="0339D3"/>
                </a:solidFill>
                <a:ea typeface="黑体" panose="02010609060101010101" pitchFamily="49" charset="-122"/>
              </a:rPr>
              <a:t>源系统</a:t>
            </a:r>
          </a:p>
          <a:p>
            <a:pPr eaLnBrk="1" hangingPunct="1">
              <a:lnSpc>
                <a:spcPts val="3000"/>
              </a:lnSpc>
              <a:buFont typeface="Wingdings" panose="05000000000000000000" pitchFamily="2" charset="2"/>
              <a:buNone/>
            </a:pPr>
            <a:r>
              <a:rPr lang="zh-CN" altLang="en-US" sz="1200" dirty="0">
                <a:solidFill>
                  <a:srgbClr val="FF0000"/>
                </a:solidFill>
                <a:ea typeface="黑体" panose="02010609060101010101" pitchFamily="49" charset="-122"/>
              </a:rPr>
              <a:t>     源点</a:t>
            </a:r>
            <a:r>
              <a:rPr lang="zh-CN" altLang="en-US" sz="1200" dirty="0">
                <a:ea typeface="黑体" panose="02010609060101010101" pitchFamily="49" charset="-122"/>
              </a:rPr>
              <a:t>　它是生成数据的设备。如计算机输出的数字比特流。</a:t>
            </a:r>
          </a:p>
          <a:p>
            <a:pPr eaLnBrk="1" hangingPunct="1">
              <a:lnSpc>
                <a:spcPts val="3000"/>
              </a:lnSpc>
              <a:buFont typeface="Wingdings" panose="05000000000000000000" pitchFamily="2" charset="2"/>
              <a:buNone/>
            </a:pPr>
            <a:r>
              <a:rPr lang="zh-CN" altLang="en-US" sz="1200" dirty="0">
                <a:solidFill>
                  <a:srgbClr val="FF0000"/>
                </a:solidFill>
                <a:ea typeface="黑体" panose="02010609060101010101" pitchFamily="49" charset="-122"/>
              </a:rPr>
              <a:t>     发送器</a:t>
            </a:r>
            <a:r>
              <a:rPr lang="zh-CN" altLang="en-US" sz="1200" dirty="0">
                <a:ea typeface="黑体" panose="02010609060101010101" pitchFamily="49" charset="-122"/>
              </a:rPr>
              <a:t>　通常源点生成的数据要通过发送器编码后才能够成为在传输系统中进行传输的电磁信号。典型的发送器是调制器，它将计算机输出的数字比特流转换成可在电话网上传输的模拟信号。</a:t>
            </a:r>
          </a:p>
          <a:p>
            <a:pPr eaLnBrk="1" hangingPunct="1">
              <a:lnSpc>
                <a:spcPts val="3000"/>
              </a:lnSpc>
            </a:pPr>
            <a:r>
              <a:rPr lang="zh-CN" altLang="en-US" sz="1400" dirty="0">
                <a:solidFill>
                  <a:srgbClr val="0339D3"/>
                </a:solidFill>
                <a:ea typeface="黑体" panose="02010609060101010101" pitchFamily="49" charset="-122"/>
              </a:rPr>
              <a:t>传输系统   </a:t>
            </a:r>
            <a:r>
              <a:rPr lang="zh-CN" altLang="en-US" sz="1400" dirty="0">
                <a:ea typeface="黑体" panose="02010609060101010101" pitchFamily="49" charset="-122"/>
              </a:rPr>
              <a:t>传输线或网络系统。</a:t>
            </a:r>
          </a:p>
          <a:p>
            <a:pPr eaLnBrk="1" hangingPunct="1">
              <a:lnSpc>
                <a:spcPts val="3000"/>
              </a:lnSpc>
            </a:pPr>
            <a:r>
              <a:rPr lang="zh-CN" altLang="en-US" sz="1400" dirty="0">
                <a:solidFill>
                  <a:srgbClr val="0339D3"/>
                </a:solidFill>
                <a:ea typeface="黑体" panose="02010609060101010101" pitchFamily="49" charset="-122"/>
              </a:rPr>
              <a:t>目的系统</a:t>
            </a:r>
          </a:p>
          <a:p>
            <a:pPr eaLnBrk="1" hangingPunct="1">
              <a:lnSpc>
                <a:spcPts val="3000"/>
              </a:lnSpc>
              <a:buFont typeface="Wingdings" panose="05000000000000000000" pitchFamily="2" charset="2"/>
              <a:buNone/>
            </a:pPr>
            <a:r>
              <a:rPr lang="zh-CN" altLang="en-US" sz="1200" dirty="0">
                <a:solidFill>
                  <a:srgbClr val="FF0000"/>
                </a:solidFill>
                <a:ea typeface="黑体" panose="02010609060101010101" pitchFamily="49" charset="-122"/>
              </a:rPr>
              <a:t>     接收器</a:t>
            </a:r>
            <a:r>
              <a:rPr lang="zh-CN" altLang="en-US" sz="1200" dirty="0">
                <a:ea typeface="黑体" panose="02010609060101010101" pitchFamily="49" charset="-122"/>
              </a:rPr>
              <a:t>　接收来自传输系统的信号，并将其转换成终点可处理的信息。典型的接收器是解调器，它把来自传输线路上的模拟信号进行解调，还原出发送端产生的数字比特流。</a:t>
            </a:r>
            <a:r>
              <a:rPr lang="zh-CN" altLang="en-US" sz="1200" dirty="0"/>
              <a:t> </a:t>
            </a:r>
            <a:endParaRPr lang="zh-CN" altLang="en-US" sz="1200" dirty="0">
              <a:ea typeface="黑体" panose="02010609060101010101" pitchFamily="49" charset="-122"/>
            </a:endParaRPr>
          </a:p>
          <a:p>
            <a:pPr eaLnBrk="1" hangingPunct="1">
              <a:lnSpc>
                <a:spcPts val="3000"/>
              </a:lnSpc>
              <a:buFont typeface="Wingdings" panose="05000000000000000000" pitchFamily="2" charset="2"/>
              <a:buNone/>
            </a:pPr>
            <a:r>
              <a:rPr lang="zh-CN" altLang="en-US" sz="1200" dirty="0">
                <a:solidFill>
                  <a:srgbClr val="FF0000"/>
                </a:solidFill>
                <a:ea typeface="黑体" panose="02010609060101010101" pitchFamily="49" charset="-122"/>
              </a:rPr>
              <a:t>     终点</a:t>
            </a:r>
            <a:r>
              <a:rPr lang="zh-CN" altLang="en-US" sz="1200" dirty="0">
                <a:ea typeface="黑体" panose="02010609060101010101" pitchFamily="49" charset="-122"/>
              </a:rPr>
              <a:t>　获取来自接收器数据的设备。</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1894283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dirty="0">
                <a:solidFill>
                  <a:schemeClr val="tx1"/>
                </a:solidFill>
                <a:latin typeface="Verdana" pitchFamily="34" charset="0"/>
              </a:rPr>
              <a:t>一个周期</a:t>
            </a:r>
            <a:r>
              <a:rPr lang="en-US" altLang="zh-CN" sz="1200" b="0" dirty="0">
                <a:solidFill>
                  <a:schemeClr val="tx1"/>
                </a:solidFill>
                <a:latin typeface="Verdana" pitchFamily="34" charset="0"/>
              </a:rPr>
              <a:t>T, </a:t>
            </a:r>
            <a:r>
              <a:rPr lang="zh-CN" altLang="en-US" sz="1200" b="0" dirty="0">
                <a:solidFill>
                  <a:schemeClr val="tx1"/>
                </a:solidFill>
                <a:latin typeface="Verdana" pitchFamily="34" charset="0"/>
              </a:rPr>
              <a:t>分前后</a:t>
            </a:r>
            <a:r>
              <a:rPr lang="en-US" altLang="zh-CN" sz="1200" b="0" dirty="0">
                <a:solidFill>
                  <a:schemeClr val="tx1"/>
                </a:solidFill>
                <a:latin typeface="Verdana" pitchFamily="34" charset="0"/>
              </a:rPr>
              <a:t>T/2</a:t>
            </a:r>
            <a:r>
              <a:rPr lang="zh-CN" altLang="en-US" sz="1200" b="0" dirty="0">
                <a:solidFill>
                  <a:schemeClr val="tx1"/>
                </a:solidFill>
                <a:latin typeface="Verdana" pitchFamily="34" charset="0"/>
              </a:rPr>
              <a:t>。前半个码元的电平与上个码元的后半个码元一样为</a:t>
            </a:r>
            <a:r>
              <a:rPr lang="en-US" altLang="zh-CN" sz="1200" b="0" dirty="0">
                <a:solidFill>
                  <a:schemeClr val="tx1"/>
                </a:solidFill>
                <a:latin typeface="Verdana" pitchFamily="34" charset="0"/>
              </a:rPr>
              <a:t>1(</a:t>
            </a:r>
            <a:r>
              <a:rPr lang="zh-CN" altLang="en-US" sz="1200" b="0" dirty="0">
                <a:solidFill>
                  <a:schemeClr val="bg2">
                    <a:lumMod val="60000"/>
                    <a:lumOff val="40000"/>
                  </a:schemeClr>
                </a:solidFill>
                <a:latin typeface="Verdana" pitchFamily="34" charset="0"/>
              </a:rPr>
              <a:t>无跳变</a:t>
            </a:r>
            <a:r>
              <a:rPr lang="en-US" altLang="zh-CN" sz="1200" b="0" dirty="0">
                <a:solidFill>
                  <a:schemeClr val="tx1"/>
                </a:solidFill>
                <a:latin typeface="Verdana" pitchFamily="34" charset="0"/>
              </a:rPr>
              <a:t>)</a:t>
            </a:r>
            <a:r>
              <a:rPr lang="zh-CN" altLang="en-US" sz="1200" b="0" dirty="0">
                <a:solidFill>
                  <a:schemeClr val="tx1"/>
                </a:solidFill>
                <a:latin typeface="Verdana" pitchFamily="34" charset="0"/>
              </a:rPr>
              <a:t>，反之为</a:t>
            </a:r>
            <a:r>
              <a:rPr lang="en-US" altLang="zh-CN" sz="1200" b="0" dirty="0">
                <a:solidFill>
                  <a:schemeClr val="tx1"/>
                </a:solidFill>
                <a:latin typeface="Verdana" pitchFamily="34" charset="0"/>
              </a:rPr>
              <a:t>0(</a:t>
            </a:r>
            <a:r>
              <a:rPr lang="zh-CN" altLang="en-US" sz="1200" b="0" dirty="0">
                <a:solidFill>
                  <a:schemeClr val="bg2">
                    <a:lumMod val="60000"/>
                    <a:lumOff val="40000"/>
                  </a:schemeClr>
                </a:solidFill>
                <a:latin typeface="Verdana" pitchFamily="34" charset="0"/>
              </a:rPr>
              <a:t>有跳变</a:t>
            </a:r>
            <a:r>
              <a:rPr lang="en-US" altLang="zh-CN" sz="1200" b="0" dirty="0">
                <a:solidFill>
                  <a:schemeClr val="tx1"/>
                </a:solidFill>
                <a:latin typeface="Verdana" pitchFamily="34" charset="0"/>
              </a:rPr>
              <a:t>)</a:t>
            </a:r>
            <a:r>
              <a:rPr lang="zh-CN" altLang="en-US" sz="1200" b="0" dirty="0">
                <a:solidFill>
                  <a:schemeClr val="tx1"/>
                </a:solidFill>
                <a:latin typeface="Verdana" pitchFamily="34" charset="0"/>
              </a:rPr>
              <a:t>。</a:t>
            </a:r>
            <a:endParaRPr lang="en-CN" dirty="0"/>
          </a:p>
        </p:txBody>
      </p:sp>
      <p:sp>
        <p:nvSpPr>
          <p:cNvPr id="4" name="Slide Number Placeholder 3"/>
          <p:cNvSpPr>
            <a:spLocks noGrp="1"/>
          </p:cNvSpPr>
          <p:nvPr>
            <p:ph type="sldNum" sz="quarter" idx="5"/>
          </p:nvPr>
        </p:nvSpPr>
        <p:spPr/>
        <p:txBody>
          <a:bodyPr/>
          <a:lstStyle/>
          <a:p>
            <a:pPr>
              <a:defRPr/>
            </a:pPr>
            <a:fld id="{A14602FF-F482-40EF-90C4-5590824B7F8C}" type="slidenum">
              <a:rPr lang="en-US" altLang="zh-CN" smtClean="0"/>
              <a:pPr>
                <a:defRPr/>
              </a:pPr>
              <a:t>39</a:t>
            </a:fld>
            <a:endParaRPr lang="en-US" altLang="zh-CN"/>
          </a:p>
        </p:txBody>
      </p:sp>
    </p:spTree>
    <p:extLst>
      <p:ext uri="{BB962C8B-B14F-4D97-AF65-F5344CB8AC3E}">
        <p14:creationId xmlns:p14="http://schemas.microsoft.com/office/powerpoint/2010/main" val="1150233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BPSK (Binary Phase Shift Keying)-------</a:t>
            </a:r>
            <a:r>
              <a:rPr lang="zh-CN" altLang="en-US" dirty="0"/>
              <a:t>二进制相移键控。是把模拟信号转换成数据值的转换方式之一，利用偏离相位的复数波浪组合来表现信息键控移相方式。</a:t>
            </a:r>
            <a:r>
              <a:rPr lang="en-US" altLang="zh-CN" dirty="0"/>
              <a:t>BPSK</a:t>
            </a:r>
            <a:r>
              <a:rPr lang="zh-CN" altLang="en-US" dirty="0"/>
              <a:t>使用了基准的正弦波和相位反转的波浪，使一方为</a:t>
            </a:r>
            <a:r>
              <a:rPr lang="en-US" altLang="zh-CN" dirty="0"/>
              <a:t>0</a:t>
            </a:r>
            <a:r>
              <a:rPr lang="zh-CN" altLang="en-US" dirty="0"/>
              <a:t>，另一方为</a:t>
            </a:r>
            <a:r>
              <a:rPr lang="en-US" altLang="zh-CN" dirty="0"/>
              <a:t>1</a:t>
            </a:r>
            <a:r>
              <a:rPr lang="zh-CN" altLang="en-US" dirty="0"/>
              <a:t>，从而可以同时传送接受</a:t>
            </a:r>
            <a:r>
              <a:rPr lang="en-US" altLang="zh-CN" dirty="0"/>
              <a:t>2</a:t>
            </a:r>
            <a:r>
              <a:rPr lang="zh-CN" altLang="en-US" dirty="0"/>
              <a:t>值</a:t>
            </a:r>
            <a:r>
              <a:rPr lang="en-US" altLang="zh-CN" dirty="0"/>
              <a:t>(1</a:t>
            </a:r>
            <a:r>
              <a:rPr lang="zh-CN" altLang="en-US" dirty="0"/>
              <a:t>比特</a:t>
            </a:r>
            <a:r>
              <a:rPr lang="en-US" altLang="zh-CN" dirty="0"/>
              <a:t>)</a:t>
            </a:r>
            <a:r>
              <a:rPr lang="zh-CN" altLang="en-US" dirty="0"/>
              <a:t>的信息。</a:t>
            </a:r>
            <a:endParaRPr lang="en-US" altLang="zh-CN" dirty="0"/>
          </a:p>
          <a:p>
            <a:endParaRPr lang="en-US" altLang="zh-CN" dirty="0"/>
          </a:p>
          <a:p>
            <a:pPr algn="l"/>
            <a:r>
              <a:rPr lang="zh-CN" altLang="en-US" b="0" i="0" u="none" strike="noStrike" dirty="0">
                <a:solidFill>
                  <a:srgbClr val="136EC2"/>
                </a:solidFill>
                <a:effectLst/>
                <a:latin typeface="arial" panose="020B0604020202020204" pitchFamily="34" charset="0"/>
                <a:hlinkClick r:id="rId3"/>
              </a:rPr>
              <a:t>正交相移键控</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Quadrature Phase Shift Keying</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QPSK</a:t>
            </a:r>
            <a:r>
              <a:rPr lang="zh-CN" altLang="en-US" b="0" i="0" dirty="0">
                <a:solidFill>
                  <a:srgbClr val="333333"/>
                </a:solidFill>
                <a:effectLst/>
                <a:latin typeface="arial" panose="020B0604020202020204" pitchFamily="34" charset="0"/>
              </a:rPr>
              <a:t>）是一种</a:t>
            </a:r>
            <a:r>
              <a:rPr lang="zh-CN" altLang="en-US" b="0" i="0" u="none" strike="noStrike" dirty="0">
                <a:solidFill>
                  <a:srgbClr val="136EC2"/>
                </a:solidFill>
                <a:effectLst/>
                <a:latin typeface="arial" panose="020B0604020202020204" pitchFamily="34" charset="0"/>
                <a:hlinkClick r:id="rId4"/>
              </a:rPr>
              <a:t>数字调制</a:t>
            </a:r>
            <a:r>
              <a:rPr lang="zh-CN" altLang="en-US" b="0" i="0" dirty="0">
                <a:solidFill>
                  <a:srgbClr val="333333"/>
                </a:solidFill>
                <a:effectLst/>
                <a:latin typeface="arial" panose="020B0604020202020204" pitchFamily="34" charset="0"/>
              </a:rPr>
              <a:t>方式。它分为绝对相移和相对相移两种。由于绝对相移方式存在相位模糊问题，所以在实际中主要采用相对移相方式</a:t>
            </a:r>
            <a:r>
              <a:rPr lang="en-US" altLang="zh-CN" b="0" i="0" dirty="0">
                <a:solidFill>
                  <a:srgbClr val="333333"/>
                </a:solidFill>
                <a:effectLst/>
                <a:latin typeface="arial" panose="020B0604020202020204" pitchFamily="34" charset="0"/>
              </a:rPr>
              <a:t>DQPSK</a:t>
            </a:r>
            <a:r>
              <a:rPr lang="zh-CN" altLang="en-US" b="0" i="0" dirty="0">
                <a:solidFill>
                  <a:srgbClr val="333333"/>
                </a:solidFill>
                <a:effectLst/>
                <a:latin typeface="arial" panose="020B0604020202020204" pitchFamily="34" charset="0"/>
              </a:rPr>
              <a:t>。</a:t>
            </a:r>
          </a:p>
          <a:p>
            <a:pPr algn="l"/>
            <a:r>
              <a:rPr lang="en-US" altLang="zh-CN" b="0" i="0" dirty="0">
                <a:solidFill>
                  <a:srgbClr val="333333"/>
                </a:solidFill>
                <a:effectLst/>
                <a:latin typeface="arial" panose="020B0604020202020204" pitchFamily="34" charset="0"/>
              </a:rPr>
              <a:t>QPSK</a:t>
            </a:r>
            <a:r>
              <a:rPr lang="zh-CN" altLang="en-US" b="0" i="0" dirty="0">
                <a:solidFill>
                  <a:srgbClr val="333333"/>
                </a:solidFill>
                <a:effectLst/>
                <a:latin typeface="arial" panose="020B0604020202020204" pitchFamily="34" charset="0"/>
              </a:rPr>
              <a:t>是一种四进制相位调制，具有良好的抗噪特性和频带利用率，广泛应用 于卫星链路、数字集群等通信业务。</a:t>
            </a:r>
            <a:endParaRPr lang="en-US" altLang="zh-CN" b="0" i="0" dirty="0">
              <a:solidFill>
                <a:srgbClr val="333333"/>
              </a:solidFill>
              <a:effectLst/>
              <a:latin typeface="arial" panose="020B0604020202020204" pitchFamily="34" charset="0"/>
            </a:endParaRPr>
          </a:p>
          <a:p>
            <a:pPr algn="l"/>
            <a:endParaRPr lang="en-US" altLang="zh-CN" b="0" i="0" dirty="0">
              <a:solidFill>
                <a:srgbClr val="333333"/>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extLst>
      <p:ext uri="{BB962C8B-B14F-4D97-AF65-F5344CB8AC3E}">
        <p14:creationId xmlns:p14="http://schemas.microsoft.com/office/powerpoint/2010/main" val="4202540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zh-CN" altLang="en-US" sz="1200" dirty="0">
                <a:latin typeface="黑体" pitchFamily="49" charset="-122"/>
                <a:ea typeface="黑体" pitchFamily="49" charset="-122"/>
              </a:rPr>
              <a:t>传输损伤的成因：</a:t>
            </a:r>
            <a:endParaRPr lang="en-US" altLang="zh-CN" sz="1200" dirty="0">
              <a:latin typeface="黑体" pitchFamily="49" charset="-122"/>
              <a:ea typeface="黑体" pitchFamily="49" charset="-122"/>
            </a:endParaRPr>
          </a:p>
          <a:p>
            <a:pPr>
              <a:buFont typeface="Wingdings" panose="05000000000000000000" pitchFamily="2" charset="2"/>
              <a:buNone/>
              <a:defRPr/>
            </a:pPr>
            <a:r>
              <a:rPr lang="en-US" altLang="zh-CN" sz="1200" dirty="0">
                <a:latin typeface="+mn-ea"/>
              </a:rPr>
              <a:t>  </a:t>
            </a:r>
            <a:r>
              <a:rPr lang="zh-CN" altLang="zh-CN" sz="1200" dirty="0">
                <a:latin typeface="+mn-ea"/>
              </a:rPr>
              <a:t>⑴</a:t>
            </a:r>
            <a:r>
              <a:rPr lang="en-US" altLang="zh-CN" sz="1200" dirty="0">
                <a:latin typeface="+mn-ea"/>
              </a:rPr>
              <a:t> </a:t>
            </a:r>
            <a:r>
              <a:rPr lang="zh-CN" altLang="zh-CN" sz="1200" dirty="0">
                <a:latin typeface="黑体" pitchFamily="49" charset="-122"/>
                <a:ea typeface="黑体" pitchFamily="49" charset="-122"/>
              </a:rPr>
              <a:t>源于外界环境干扰</a:t>
            </a:r>
            <a:r>
              <a:rPr lang="en-US" altLang="zh-CN" sz="1200" dirty="0">
                <a:ea typeface="黑体" pitchFamily="49" charset="-122"/>
              </a:rPr>
              <a:t>(</a:t>
            </a:r>
            <a:r>
              <a:rPr lang="zh-CN" altLang="en-US" sz="1200" dirty="0">
                <a:ea typeface="黑体" pitchFamily="49" charset="-122"/>
              </a:rPr>
              <a:t>温、湿度，电气和机械突发干扰</a:t>
            </a:r>
            <a:r>
              <a:rPr lang="en-US" altLang="zh-CN" sz="1200" dirty="0">
                <a:ea typeface="黑体" pitchFamily="49" charset="-122"/>
              </a:rPr>
              <a:t>)</a:t>
            </a:r>
            <a:r>
              <a:rPr lang="zh-CN" altLang="zh-CN" sz="1200" dirty="0">
                <a:ea typeface="黑体" pitchFamily="49" charset="-122"/>
              </a:rPr>
              <a:t>和设备内部的技术缺陷</a:t>
            </a:r>
            <a:r>
              <a:rPr lang="en-US" altLang="zh-CN" sz="1200" dirty="0">
                <a:ea typeface="黑体" pitchFamily="49" charset="-122"/>
              </a:rPr>
              <a:t>(</a:t>
            </a:r>
            <a:r>
              <a:rPr lang="zh-CN" altLang="en-US" sz="1200" dirty="0">
                <a:ea typeface="黑体" pitchFamily="49" charset="-122"/>
              </a:rPr>
              <a:t>时钟提取、复接等，设备反常和调节不佳等</a:t>
            </a:r>
            <a:r>
              <a:rPr lang="en-US" altLang="zh-CN" sz="1200" dirty="0">
                <a:ea typeface="黑体" pitchFamily="49" charset="-122"/>
              </a:rPr>
              <a:t>)</a:t>
            </a:r>
            <a:r>
              <a:rPr lang="zh-CN" altLang="zh-CN" sz="1200" dirty="0">
                <a:latin typeface="黑体" pitchFamily="49" charset="-122"/>
                <a:ea typeface="黑体" pitchFamily="49" charset="-122"/>
              </a:rPr>
              <a:t>。</a:t>
            </a:r>
            <a:endParaRPr lang="en-US" altLang="zh-CN" sz="1200" dirty="0">
              <a:latin typeface="黑体" pitchFamily="49" charset="-122"/>
              <a:ea typeface="黑体" pitchFamily="49" charset="-122"/>
            </a:endParaRPr>
          </a:p>
          <a:p>
            <a:pPr>
              <a:buFont typeface="Wingdings" panose="05000000000000000000" pitchFamily="2" charset="2"/>
              <a:buNone/>
              <a:defRPr/>
            </a:pPr>
            <a:r>
              <a:rPr lang="zh-CN" altLang="en-US" sz="1200" dirty="0">
                <a:latin typeface="宋体"/>
              </a:rPr>
              <a:t>  ⑵ </a:t>
            </a:r>
            <a:r>
              <a:rPr lang="zh-CN" altLang="zh-CN" sz="1200" dirty="0">
                <a:ea typeface="黑体" pitchFamily="49" charset="-122"/>
              </a:rPr>
              <a:t>来自传输损伤之间的相互影响或转化。</a:t>
            </a:r>
            <a:endParaRPr lang="zh-CN" altLang="en-US" sz="1200" dirty="0">
              <a:ea typeface="黑体"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46</a:t>
            </a:fld>
            <a:endParaRPr kumimoji="1" lang="zh-CN" altLang="en-US"/>
          </a:p>
        </p:txBody>
      </p:sp>
    </p:spTree>
    <p:extLst>
      <p:ext uri="{BB962C8B-B14F-4D97-AF65-F5344CB8AC3E}">
        <p14:creationId xmlns:p14="http://schemas.microsoft.com/office/powerpoint/2010/main" val="697811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3937357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51</a:t>
            </a:fld>
            <a:endParaRPr kumimoji="1" lang="zh-CN" altLang="en-US"/>
          </a:p>
        </p:txBody>
      </p:sp>
    </p:spTree>
    <p:extLst>
      <p:ext uri="{BB962C8B-B14F-4D97-AF65-F5344CB8AC3E}">
        <p14:creationId xmlns:p14="http://schemas.microsoft.com/office/powerpoint/2010/main" val="2773003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数字调制是指用数字数据调制模拟信号，主要有三种形式：移幅键控法</a:t>
            </a:r>
            <a:r>
              <a:rPr lang="en-US" altLang="zh-CN" dirty="0"/>
              <a:t>ASK</a:t>
            </a:r>
            <a:r>
              <a:rPr lang="zh-CN" altLang="en-US" dirty="0"/>
              <a:t>、移频键控法</a:t>
            </a:r>
            <a:r>
              <a:rPr lang="en-US" altLang="zh-CN" dirty="0"/>
              <a:t>FSK</a:t>
            </a:r>
            <a:r>
              <a:rPr lang="zh-CN" altLang="en-US" dirty="0"/>
              <a:t>、移相键控法</a:t>
            </a:r>
            <a:r>
              <a:rPr lang="en-US" altLang="zh-CN" dirty="0"/>
              <a:t>PSK</a:t>
            </a:r>
            <a:r>
              <a:rPr lang="zh-CN" altLang="en-US" dirty="0"/>
              <a: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幅度键控（</a:t>
            </a:r>
            <a:r>
              <a:rPr lang="en-US" altLang="zh-CN" b="1" dirty="0"/>
              <a:t>ASK</a:t>
            </a:r>
            <a:r>
              <a:rPr lang="zh-CN" alt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即按载波的幅度受到数字数据的调制而取不同的值，例如对应二进制</a:t>
            </a:r>
            <a:r>
              <a:rPr lang="en-US" altLang="zh-CN" dirty="0"/>
              <a:t>0</a:t>
            </a:r>
            <a:r>
              <a:rPr lang="zh-CN" altLang="en-US" dirty="0"/>
              <a:t>，载波振幅为</a:t>
            </a:r>
            <a:r>
              <a:rPr lang="en-US" altLang="zh-CN" dirty="0"/>
              <a:t>0</a:t>
            </a:r>
            <a:r>
              <a:rPr lang="zh-CN" altLang="en-US" dirty="0"/>
              <a:t>；对应二进制</a:t>
            </a:r>
            <a:r>
              <a:rPr lang="en-US" altLang="zh-CN" dirty="0"/>
              <a:t>1</a:t>
            </a:r>
            <a:r>
              <a:rPr lang="zh-CN" altLang="en-US" dirty="0"/>
              <a:t>，载波振幅为</a:t>
            </a:r>
            <a:r>
              <a:rPr lang="en-US" altLang="zh-CN" dirty="0"/>
              <a:t>1</a:t>
            </a:r>
            <a:r>
              <a:rPr lang="zh-CN" altLang="en-US" dirty="0"/>
              <a:t>。调幅技术实现起来简单，但容易受增益变化的影响，是一种低效的调制技术</a:t>
            </a:r>
            <a:r>
              <a:rPr lang="en-US" altLang="zh-CN" dirty="0"/>
              <a:t>.</a:t>
            </a:r>
          </a:p>
          <a:p>
            <a:r>
              <a:rPr lang="zh-CN" altLang="en-US" b="1" dirty="0"/>
              <a:t>频移键控（</a:t>
            </a:r>
            <a:r>
              <a:rPr lang="en-US" altLang="zh-CN" b="1" dirty="0"/>
              <a:t>FSK</a:t>
            </a:r>
            <a:r>
              <a:rPr lang="zh-CN" altLang="en-US" b="1" dirty="0"/>
              <a:t>）：</a:t>
            </a:r>
          </a:p>
          <a:p>
            <a:r>
              <a:rPr lang="zh-CN" altLang="en-US" dirty="0"/>
              <a:t>即按数字数据的值（</a:t>
            </a:r>
            <a:r>
              <a:rPr lang="en-US" altLang="zh-CN" dirty="0"/>
              <a:t>0</a:t>
            </a:r>
            <a:r>
              <a:rPr lang="zh-CN" altLang="en-US" dirty="0"/>
              <a:t>或</a:t>
            </a:r>
            <a:r>
              <a:rPr lang="en-US" altLang="zh-CN" dirty="0"/>
              <a:t>1</a:t>
            </a:r>
            <a:r>
              <a:rPr lang="zh-CN" altLang="en-US" dirty="0"/>
              <a:t>）调制载波的频率。例如对应二进制</a:t>
            </a:r>
            <a:r>
              <a:rPr lang="en-US" altLang="zh-CN" dirty="0"/>
              <a:t>0</a:t>
            </a:r>
            <a:r>
              <a:rPr lang="zh-CN" altLang="en-US" dirty="0"/>
              <a:t>的载波频率为</a:t>
            </a:r>
            <a:r>
              <a:rPr lang="en-US" altLang="zh-CN" dirty="0"/>
              <a:t>F1</a:t>
            </a:r>
            <a:r>
              <a:rPr lang="zh-CN" altLang="en-US" dirty="0"/>
              <a:t>，而对应二进制</a:t>
            </a:r>
            <a:r>
              <a:rPr lang="en-US" altLang="zh-CN" dirty="0"/>
              <a:t>1</a:t>
            </a:r>
            <a:r>
              <a:rPr lang="zh-CN" altLang="en-US" dirty="0"/>
              <a:t>的载波频率为</a:t>
            </a:r>
            <a:r>
              <a:rPr lang="en-US" altLang="zh-CN" dirty="0"/>
              <a:t>F2</a:t>
            </a:r>
            <a:r>
              <a:rPr lang="zh-CN" altLang="en-US" dirty="0"/>
              <a:t>。该技术抗干扰性能好，但占用带宽较大。</a:t>
            </a:r>
            <a:endParaRPr lang="en-US" altLang="zh-CN" dirty="0"/>
          </a:p>
          <a:p>
            <a:r>
              <a:rPr lang="zh-CN" altLang="en-US" b="1" dirty="0"/>
              <a:t>相移键控（</a:t>
            </a:r>
            <a:r>
              <a:rPr lang="en-US" altLang="zh-CN" b="1" dirty="0"/>
              <a:t>PSK</a:t>
            </a:r>
            <a:r>
              <a:rPr lang="zh-CN" altLang="en-US" b="1" dirty="0"/>
              <a:t>）：</a:t>
            </a:r>
          </a:p>
          <a:p>
            <a:r>
              <a:rPr lang="zh-CN" altLang="en-US" dirty="0"/>
              <a:t>即按数字数据的值调制载波相位。例如用</a:t>
            </a:r>
            <a:r>
              <a:rPr lang="en-US" altLang="zh-CN" dirty="0"/>
              <a:t>180</a:t>
            </a:r>
            <a:r>
              <a:rPr lang="zh-CN" altLang="en-US" dirty="0"/>
              <a:t>相移表示</a:t>
            </a:r>
            <a:r>
              <a:rPr lang="en-US" altLang="zh-CN" dirty="0"/>
              <a:t>1</a:t>
            </a:r>
            <a:r>
              <a:rPr lang="zh-CN" altLang="en-US" dirty="0"/>
              <a:t>，用</a:t>
            </a:r>
            <a:r>
              <a:rPr lang="en-US" altLang="zh-CN" dirty="0"/>
              <a:t>0</a:t>
            </a:r>
            <a:r>
              <a:rPr lang="zh-CN" altLang="en-US" dirty="0"/>
              <a:t>相移表示</a:t>
            </a:r>
            <a:r>
              <a:rPr lang="en-US" altLang="zh-CN" dirty="0"/>
              <a:t>0</a:t>
            </a:r>
            <a:r>
              <a:rPr lang="zh-CN" altLang="en-US" dirty="0"/>
              <a:t>。这种调制技术抗干扰性能最好，且相位的变化也可以作为定时信息来同步发送机和接收机的时钟，并对传输速率起到加倍的作用 </a:t>
            </a:r>
            <a:endParaRPr lang="en-US" altLang="zh-CN" dirty="0"/>
          </a:p>
          <a:p>
            <a:endParaRPr lang="en-US" altLang="zh-CN" dirty="0"/>
          </a:p>
          <a:p>
            <a:r>
              <a:rPr lang="zh-CN" altLang="en-US" dirty="0"/>
              <a:t>无线电波的调制方式总的来说有三种：调幅（</a:t>
            </a:r>
            <a:r>
              <a:rPr lang="en-US" altLang="zh-CN" dirty="0"/>
              <a:t>AM</a:t>
            </a:r>
            <a:r>
              <a:rPr lang="zh-CN" altLang="en-US" dirty="0"/>
              <a:t>）、调频（</a:t>
            </a:r>
            <a:r>
              <a:rPr lang="en-US" altLang="zh-CN" dirty="0"/>
              <a:t>FM</a:t>
            </a:r>
            <a:r>
              <a:rPr lang="zh-CN" altLang="en-US" dirty="0"/>
              <a:t>）、调相（</a:t>
            </a:r>
            <a:r>
              <a:rPr lang="en-US" altLang="zh-CN" dirty="0"/>
              <a:t>PM</a:t>
            </a:r>
            <a:r>
              <a:rPr lang="zh-CN" altLang="en-US" dirty="0"/>
              <a:t>）。</a:t>
            </a:r>
            <a:br>
              <a:rPr lang="zh-CN" altLang="en-US" dirty="0"/>
            </a:br>
            <a:r>
              <a:rPr lang="zh-CN" altLang="en-US" dirty="0"/>
              <a:t>    调幅（</a:t>
            </a:r>
            <a:r>
              <a:rPr lang="en-US" altLang="zh-CN" dirty="0"/>
              <a:t>AM</a:t>
            </a:r>
            <a:r>
              <a:rPr lang="zh-CN" altLang="en-US" dirty="0"/>
              <a:t>）：就是用信号的变化来改变无线电波震荡的幅度，也就是让电波</a:t>
            </a:r>
            <a:r>
              <a:rPr lang="en-US" altLang="zh-CN" dirty="0"/>
              <a:t>l</a:t>
            </a:r>
            <a:r>
              <a:rPr lang="zh-CN" altLang="en-US" dirty="0"/>
              <a:t>震荡幅度随信号变化而变化。常见的就是中波、短波广播，还有航空频段。一般的收音机就是调幅接收机。由于其易受杂波干扰，所以，信号保真度差。但优点是设备简单，适用频段广泛</a:t>
            </a:r>
            <a:r>
              <a:rPr lang="en-US" altLang="zh-CN" dirty="0"/>
              <a:t>---</a:t>
            </a:r>
            <a:r>
              <a:rPr lang="zh-CN" altLang="en-US" dirty="0"/>
              <a:t>所有频段均可，所以被广泛使用。</a:t>
            </a:r>
            <a:br>
              <a:rPr lang="zh-CN" altLang="en-US" dirty="0"/>
            </a:br>
            <a:r>
              <a:rPr lang="zh-CN" altLang="en-US" dirty="0"/>
              <a:t>    调频（</a:t>
            </a:r>
            <a:r>
              <a:rPr lang="en-US" altLang="zh-CN" dirty="0"/>
              <a:t>FM</a:t>
            </a:r>
            <a:r>
              <a:rPr lang="zh-CN" altLang="en-US" dirty="0"/>
              <a:t>）：就是用信号的变化来改变无线电波震荡的频率度，也就是让电波震荡频率随信号变化而变化。常见的就是电视、</a:t>
            </a:r>
            <a:r>
              <a:rPr lang="en-US" altLang="zh-CN" dirty="0"/>
              <a:t>20M</a:t>
            </a:r>
            <a:r>
              <a:rPr lang="zh-CN" altLang="en-US" dirty="0"/>
              <a:t>以上的无线电通讯，如我们的</a:t>
            </a:r>
            <a:r>
              <a:rPr lang="en-US" altLang="zh-CN" dirty="0"/>
              <a:t>U</a:t>
            </a:r>
            <a:r>
              <a:rPr lang="zh-CN" altLang="en-US" dirty="0"/>
              <a:t>、</a:t>
            </a:r>
            <a:r>
              <a:rPr lang="en-US" altLang="zh-CN" dirty="0"/>
              <a:t>V</a:t>
            </a:r>
            <a:r>
              <a:rPr lang="zh-CN" altLang="en-US" dirty="0"/>
              <a:t>段对讲机、车台、手机。其优点是不易受一般杂波干扰，可以实现信号的高保真。缺点是需要一定的带宽，减少了频段电台容量；过低的无线电频率（如长波、中波）不能使用或效果不佳。</a:t>
            </a:r>
            <a:br>
              <a:rPr lang="zh-CN" altLang="en-US" dirty="0"/>
            </a:br>
            <a:r>
              <a:rPr lang="zh-CN" altLang="en-US" dirty="0"/>
              <a:t>    调相（</a:t>
            </a:r>
            <a:r>
              <a:rPr lang="en-US" altLang="zh-CN" dirty="0"/>
              <a:t>PM</a:t>
            </a:r>
            <a:r>
              <a:rPr lang="zh-CN" altLang="en-US" dirty="0"/>
              <a:t>）：就是用信号的变化来改变无线电波震荡的相位角，也就是让电波震荡的相位角随信号变化而变化。其优点也是抗干扰能力强。缺点是其调相和解调电路十分复杂。所以，除了十分特殊的场合使用外，一般不被采用。</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1113548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57</a:t>
            </a:fld>
            <a:endParaRPr kumimoji="1" lang="zh-CN" altLang="en-US"/>
          </a:p>
        </p:txBody>
      </p:sp>
    </p:spTree>
    <p:extLst>
      <p:ext uri="{BB962C8B-B14F-4D97-AF65-F5344CB8AC3E}">
        <p14:creationId xmlns:p14="http://schemas.microsoft.com/office/powerpoint/2010/main" val="740103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超</a:t>
            </a:r>
            <a:r>
              <a:rPr lang="en-US" altLang="zh-CN" dirty="0"/>
              <a:t>5</a:t>
            </a:r>
            <a:r>
              <a:rPr lang="zh-CN" altLang="en-US" dirty="0"/>
              <a:t>类屏蔽双绞线剖面示意图</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58</a:t>
            </a:fld>
            <a:endParaRPr kumimoji="1" lang="zh-CN" altLang="en-US"/>
          </a:p>
        </p:txBody>
      </p:sp>
    </p:spTree>
    <p:extLst>
      <p:ext uri="{BB962C8B-B14F-4D97-AF65-F5344CB8AC3E}">
        <p14:creationId xmlns:p14="http://schemas.microsoft.com/office/powerpoint/2010/main" val="2597351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rPr>
              <a:t>UTP</a:t>
            </a:r>
            <a:r>
              <a:rPr lang="zh-CN" altLang="en-US" dirty="0">
                <a:effectLst/>
              </a:rPr>
              <a:t>即是指非屏蔽双绞线，这类网线在市面上非常普遍，也是家庭装修中使用频率最高的线材。</a:t>
            </a:r>
            <a:r>
              <a:rPr lang="en-US" altLang="zh-CN" dirty="0">
                <a:effectLst/>
              </a:rPr>
              <a:t>UTP</a:t>
            </a:r>
            <a:r>
              <a:rPr lang="zh-CN" altLang="en-US" dirty="0">
                <a:effectLst/>
              </a:rPr>
              <a:t>线主要用于传输带宽在</a:t>
            </a:r>
            <a:r>
              <a:rPr lang="en-US" altLang="zh-CN" dirty="0">
                <a:effectLst/>
              </a:rPr>
              <a:t>250MHz</a:t>
            </a:r>
            <a:r>
              <a:rPr lang="zh-CN" altLang="en-US" dirty="0">
                <a:effectLst/>
              </a:rPr>
              <a:t>以下，没有特殊性能要求的普通网络系统中，最高仅能支持六类布线系统标准，这类线安装施工都较为方便，价格也比较实惠。</a:t>
            </a:r>
            <a:endParaRPr lang="en-US" altLang="zh-CN" dirty="0">
              <a:effectLst/>
            </a:endParaRPr>
          </a:p>
          <a:p>
            <a:endParaRPr lang="en-US" altLang="zh-CN" dirty="0">
              <a:effectLst/>
            </a:endParaRPr>
          </a:p>
          <a:p>
            <a:r>
              <a:rPr lang="en-US" altLang="zh-CN" i="0" dirty="0"/>
              <a:t>FTP</a:t>
            </a:r>
            <a:r>
              <a:rPr lang="zh-CN" altLang="en-US" dirty="0"/>
              <a:t>即是指铝箔屏蔽的</a:t>
            </a:r>
            <a:r>
              <a:rPr lang="zh-CN" altLang="en-US" i="1" dirty="0"/>
              <a:t>双绞线</a:t>
            </a:r>
            <a:r>
              <a:rPr lang="en-US" altLang="zh-CN" dirty="0"/>
              <a:t>,</a:t>
            </a:r>
            <a:r>
              <a:rPr lang="zh-CN" altLang="en-US" dirty="0"/>
              <a:t>这种线缆支持带宽能力强</a:t>
            </a:r>
            <a:r>
              <a:rPr lang="en-US" altLang="zh-CN" dirty="0"/>
              <a:t>,</a:t>
            </a:r>
            <a:r>
              <a:rPr lang="zh-CN" altLang="en-US" dirty="0"/>
              <a:t>且具备一定的抗干扰能力</a:t>
            </a:r>
            <a:r>
              <a:rPr lang="en-US" altLang="zh-CN" dirty="0"/>
              <a:t>,</a:t>
            </a:r>
            <a:r>
              <a:rPr lang="zh-CN" altLang="en-US" dirty="0"/>
              <a:t>能够减小信号衰减。此外</a:t>
            </a:r>
            <a:r>
              <a:rPr lang="en-US" altLang="zh-CN" dirty="0"/>
              <a:t>,</a:t>
            </a:r>
            <a:r>
              <a:rPr lang="zh-CN" altLang="en-US" dirty="0"/>
              <a:t>其最明显的特性是采用可回收低烟无卤材料</a:t>
            </a:r>
            <a:r>
              <a:rPr lang="en-US" altLang="zh-CN" dirty="0"/>
              <a:t>,</a:t>
            </a:r>
            <a:r>
              <a:rPr lang="zh-CN" altLang="en-US" dirty="0"/>
              <a:t>环保性强。</a:t>
            </a:r>
            <a:endParaRPr lang="zh-CN" altLang="en-US" dirty="0">
              <a:effectLst/>
            </a:endParaRPr>
          </a:p>
          <a:p>
            <a:endParaRPr lang="en-US" altLang="zh-CN" dirty="0">
              <a:effectLst/>
              <a:hlinkClick r:id="rId3"/>
            </a:endParaRPr>
          </a:p>
          <a:p>
            <a:endParaRPr lang="zh-CN" altLang="en-US" dirty="0">
              <a:effectLst/>
            </a:endParaRPr>
          </a:p>
          <a:p>
            <a:r>
              <a:rPr lang="en-US" altLang="zh-CN" dirty="0">
                <a:effectLst/>
              </a:rPr>
              <a:t>SFTP</a:t>
            </a:r>
            <a:r>
              <a:rPr lang="zh-CN" altLang="en-US" dirty="0">
                <a:effectLst/>
              </a:rPr>
              <a:t>即是指双屏蔽双绞线，该线缆在</a:t>
            </a:r>
            <a:r>
              <a:rPr lang="en-US" altLang="zh-CN" dirty="0">
                <a:effectLst/>
              </a:rPr>
              <a:t>STP</a:t>
            </a:r>
            <a:r>
              <a:rPr lang="zh-CN" altLang="en-US" dirty="0">
                <a:effectLst/>
              </a:rPr>
              <a:t>的铝箔层基础上增设了编织网，通常采用铝镁丝或镀锌铜材质，外层采用</a:t>
            </a:r>
            <a:r>
              <a:rPr lang="en-US" altLang="zh-CN" dirty="0">
                <a:effectLst/>
              </a:rPr>
              <a:t>PVC</a:t>
            </a:r>
            <a:r>
              <a:rPr lang="zh-CN" altLang="en-US" dirty="0">
                <a:effectLst/>
              </a:rPr>
              <a:t>材料。</a:t>
            </a:r>
            <a:r>
              <a:rPr lang="en-US" altLang="zh-CN" dirty="0">
                <a:effectLst/>
              </a:rPr>
              <a:t>SFTP</a:t>
            </a:r>
            <a:r>
              <a:rPr lang="zh-CN" altLang="en-US" dirty="0">
                <a:effectLst/>
              </a:rPr>
              <a:t>相较</a:t>
            </a:r>
            <a:r>
              <a:rPr lang="en-US" altLang="zh-CN" dirty="0">
                <a:effectLst/>
              </a:rPr>
              <a:t>STP</a:t>
            </a:r>
            <a:r>
              <a:rPr lang="zh-CN" altLang="en-US" dirty="0">
                <a:effectLst/>
              </a:rPr>
              <a:t>的不同处主要是，有两层屏蔽层以及屏蔽层之间多了绝缘隔离结构。</a:t>
            </a:r>
            <a:r>
              <a:rPr lang="en-US" altLang="zh-CN" dirty="0">
                <a:effectLst/>
              </a:rPr>
              <a:t>SFTP</a:t>
            </a:r>
            <a:r>
              <a:rPr lang="zh-CN" altLang="en-US" dirty="0">
                <a:effectLst/>
              </a:rPr>
              <a:t>的特性是屏蔽环境磁场、信号的干扰能力更强，内部信号衰减程度更低。更为复杂的结构使其柔软性比</a:t>
            </a:r>
            <a:r>
              <a:rPr lang="en-US" altLang="zh-CN" dirty="0">
                <a:effectLst/>
              </a:rPr>
              <a:t>STP</a:t>
            </a:r>
            <a:r>
              <a:rPr lang="zh-CN" altLang="en-US" dirty="0">
                <a:effectLst/>
              </a:rPr>
              <a:t>稍差，价格也更贵。</a:t>
            </a:r>
            <a:r>
              <a:rPr lang="en-US" altLang="zh-CN" dirty="0">
                <a:effectLst/>
              </a:rPr>
              <a:t>SFTP</a:t>
            </a:r>
            <a:r>
              <a:rPr lang="zh-CN" altLang="en-US" dirty="0">
                <a:effectLst/>
              </a:rPr>
              <a:t>主要适用于特殊环境的专业布线工程中。</a:t>
            </a:r>
            <a:endParaRPr lang="en-US" altLang="zh-CN" dirty="0">
              <a:effectLst/>
            </a:endParaRPr>
          </a:p>
          <a:p>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hlinkClick r:id="rId3"/>
              </a:rPr>
              <a:t>STP</a:t>
            </a:r>
            <a:r>
              <a:rPr lang="zh-CN" altLang="en-US" dirty="0">
                <a:effectLst/>
                <a:hlinkClick r:id="rId3"/>
              </a:rPr>
              <a:t>是指独立屏蔽双绞线</a:t>
            </a:r>
            <a:r>
              <a:rPr lang="zh-CN" altLang="en-US" dirty="0">
                <a:effectLst/>
              </a:rPr>
              <a:t>，该双绞线导芯外有一层铝箔层，且每对线都有单独铝箔屏蔽层，起到减少信号衰减的作用。此外，标准的七类</a:t>
            </a:r>
            <a:r>
              <a:rPr lang="en-US" altLang="zh-CN" dirty="0">
                <a:effectLst/>
              </a:rPr>
              <a:t>STP</a:t>
            </a:r>
            <a:r>
              <a:rPr lang="zh-CN" altLang="en-US" dirty="0">
                <a:effectLst/>
              </a:rPr>
              <a:t>线缆中每四对线合并后，外部还包裹着一层金属编织网屏蔽。秋叶原七类</a:t>
            </a:r>
            <a:r>
              <a:rPr lang="en-US" altLang="zh-CN" dirty="0">
                <a:effectLst/>
              </a:rPr>
              <a:t>STP</a:t>
            </a:r>
            <a:r>
              <a:rPr lang="zh-CN" altLang="en-US" dirty="0">
                <a:effectLst/>
              </a:rPr>
              <a:t>网线主要适用于高速网络或高保密要求的场所传输，可支持未来多类型应用，有助于多媒体信息共同传输及布线平台的统一。</a:t>
            </a:r>
            <a:endParaRPr lang="en-US" altLang="zh-CN" dirty="0">
              <a:effectLst/>
            </a:endParaRPr>
          </a:p>
          <a:p>
            <a:endParaRPr lang="en-US" altLang="zh-CN" dirty="0">
              <a:effectLst/>
            </a:endParaRPr>
          </a:p>
          <a:p>
            <a:endParaRPr lang="en-US" altLang="zh-CN" dirty="0">
              <a:effectLst/>
              <a:hlinkClick r:id="rId3"/>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59</a:t>
            </a:fld>
            <a:endParaRPr kumimoji="1" lang="zh-CN" altLang="en-US"/>
          </a:p>
        </p:txBody>
      </p:sp>
    </p:spTree>
    <p:extLst>
      <p:ext uri="{BB962C8B-B14F-4D97-AF65-F5344CB8AC3E}">
        <p14:creationId xmlns:p14="http://schemas.microsoft.com/office/powerpoint/2010/main" val="1093904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61</a:t>
            </a:fld>
            <a:endParaRPr kumimoji="1" lang="zh-CN" altLang="en-US"/>
          </a:p>
        </p:txBody>
      </p:sp>
    </p:spTree>
    <p:extLst>
      <p:ext uri="{BB962C8B-B14F-4D97-AF65-F5344CB8AC3E}">
        <p14:creationId xmlns:p14="http://schemas.microsoft.com/office/powerpoint/2010/main" val="3011969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87</a:t>
            </a:fld>
            <a:endParaRPr kumimoji="1" lang="zh-CN" altLang="en-US"/>
          </a:p>
        </p:txBody>
      </p:sp>
    </p:spTree>
    <p:extLst>
      <p:ext uri="{BB962C8B-B14F-4D97-AF65-F5344CB8AC3E}">
        <p14:creationId xmlns:p14="http://schemas.microsoft.com/office/powerpoint/2010/main" val="2235104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solidFill>
                  <a:srgbClr val="000000"/>
                </a:solidFill>
                <a:ea typeface="宋体" panose="02010600030101010101" pitchFamily="2" charset="-122"/>
              </a:rPr>
              <a:t>无线通信方法一般有无线电波、微波、蓝牙及红外线等</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88</a:t>
            </a:fld>
            <a:endParaRPr kumimoji="1" lang="zh-CN" altLang="en-US"/>
          </a:p>
        </p:txBody>
      </p:sp>
    </p:spTree>
    <p:extLst>
      <p:ext uri="{BB962C8B-B14F-4D97-AF65-F5344CB8AC3E}">
        <p14:creationId xmlns:p14="http://schemas.microsoft.com/office/powerpoint/2010/main" val="31116422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地球静止轨道是地球同步轨道的一个特例</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92</a:t>
            </a:fld>
            <a:endParaRPr kumimoji="1" lang="zh-CN" altLang="en-US"/>
          </a:p>
        </p:txBody>
      </p:sp>
    </p:spTree>
    <p:extLst>
      <p:ext uri="{BB962C8B-B14F-4D97-AF65-F5344CB8AC3E}">
        <p14:creationId xmlns:p14="http://schemas.microsoft.com/office/powerpoint/2010/main" val="1497919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如图所示：图</a:t>
            </a:r>
            <a:r>
              <a:rPr lang="en-US" altLang="zh-CN" dirty="0"/>
              <a:t>a</a:t>
            </a:r>
            <a:r>
              <a:rPr lang="zh-CN" altLang="en-US" dirty="0"/>
              <a:t>是独占信道的通信方式，节点</a:t>
            </a:r>
            <a:r>
              <a:rPr lang="en-US" altLang="zh-CN" dirty="0"/>
              <a:t>S1</a:t>
            </a:r>
            <a:r>
              <a:rPr lang="zh-CN" altLang="en-US" dirty="0"/>
              <a:t>和</a:t>
            </a:r>
            <a:r>
              <a:rPr lang="en-US" altLang="zh-CN" dirty="0"/>
              <a:t>R1</a:t>
            </a:r>
            <a:r>
              <a:rPr lang="zh-CN" altLang="en-US" dirty="0"/>
              <a:t>通信过程中，单独占用一条物理信道，</a:t>
            </a:r>
            <a:r>
              <a:rPr lang="en-US" altLang="zh-CN" dirty="0"/>
              <a:t>S2</a:t>
            </a:r>
            <a:r>
              <a:rPr lang="zh-CN" altLang="en-US" dirty="0"/>
              <a:t>和</a:t>
            </a:r>
            <a:r>
              <a:rPr lang="en-US" altLang="zh-CN" dirty="0"/>
              <a:t>R2</a:t>
            </a:r>
            <a:r>
              <a:rPr lang="zh-CN" altLang="en-US" dirty="0"/>
              <a:t>之间，</a:t>
            </a:r>
            <a:r>
              <a:rPr lang="en-US" altLang="zh-CN" dirty="0"/>
              <a:t>S3</a:t>
            </a:r>
            <a:r>
              <a:rPr lang="zh-CN" altLang="en-US" dirty="0"/>
              <a:t>和</a:t>
            </a:r>
            <a:r>
              <a:rPr lang="en-US" altLang="zh-CN" dirty="0"/>
              <a:t>R3</a:t>
            </a:r>
            <a:r>
              <a:rPr lang="zh-CN" altLang="en-US" dirty="0"/>
              <a:t>之间的通信也是这样。这种通信方式，信道利用率是比较低的，因为</a:t>
            </a:r>
            <a:r>
              <a:rPr lang="en-US" altLang="zh-CN" dirty="0"/>
              <a:t>S1-R1</a:t>
            </a:r>
            <a:r>
              <a:rPr lang="zh-CN" altLang="en-US" dirty="0"/>
              <a:t>信道空闲的时候，没法分享给其他的通信，同样，如果</a:t>
            </a:r>
            <a:r>
              <a:rPr lang="en-US" altLang="zh-CN" dirty="0"/>
              <a:t>S1</a:t>
            </a:r>
            <a:r>
              <a:rPr lang="zh-CN" altLang="en-US" dirty="0"/>
              <a:t>和</a:t>
            </a:r>
            <a:r>
              <a:rPr lang="en-US" altLang="zh-CN" dirty="0"/>
              <a:t>R1</a:t>
            </a:r>
            <a:r>
              <a:rPr lang="zh-CN" altLang="en-US" dirty="0"/>
              <a:t>之间的通信业务繁忙的时候，也无法利用</a:t>
            </a:r>
            <a:r>
              <a:rPr lang="en-US" altLang="zh-CN" dirty="0"/>
              <a:t>S2-R2</a:t>
            </a:r>
            <a:r>
              <a:rPr lang="zh-CN" altLang="en-US" dirty="0"/>
              <a:t>或</a:t>
            </a:r>
            <a:r>
              <a:rPr lang="en-US" altLang="zh-CN" dirty="0"/>
              <a:t>S3-R3</a:t>
            </a:r>
            <a:r>
              <a:rPr lang="zh-CN" altLang="en-US" dirty="0"/>
              <a:t>信道。图</a:t>
            </a:r>
            <a:r>
              <a:rPr lang="en-US" altLang="zh-CN" dirty="0"/>
              <a:t>b</a:t>
            </a:r>
            <a:r>
              <a:rPr lang="zh-CN" altLang="en-US" dirty="0"/>
              <a:t>采用共享信道的方式进行通信。</a:t>
            </a:r>
            <a:r>
              <a:rPr lang="en-US" altLang="zh-CN" dirty="0"/>
              <a:t>S1-R1</a:t>
            </a:r>
            <a:r>
              <a:rPr lang="zh-CN" altLang="en-US" dirty="0"/>
              <a:t>，</a:t>
            </a:r>
            <a:r>
              <a:rPr lang="en-US" altLang="zh-CN" dirty="0"/>
              <a:t>S2-R2</a:t>
            </a:r>
            <a:r>
              <a:rPr lang="zh-CN" altLang="en-US" dirty="0"/>
              <a:t>和</a:t>
            </a:r>
            <a:r>
              <a:rPr lang="en-US" altLang="zh-CN" dirty="0"/>
              <a:t>S3-R3</a:t>
            </a:r>
            <a:r>
              <a:rPr lang="zh-CN" altLang="en-US" dirty="0"/>
              <a:t>之间的通信工用一条大的信道。在信道的入口处，</a:t>
            </a:r>
            <a:r>
              <a:rPr lang="en-US" altLang="zh-CN" dirty="0"/>
              <a:t>S1</a:t>
            </a:r>
            <a:r>
              <a:rPr lang="zh-CN" altLang="en-US" dirty="0"/>
              <a:t>，</a:t>
            </a:r>
            <a:r>
              <a:rPr lang="en-US" altLang="zh-CN" dirty="0"/>
              <a:t>S2</a:t>
            </a:r>
            <a:r>
              <a:rPr lang="zh-CN" altLang="en-US" dirty="0"/>
              <a:t>和</a:t>
            </a:r>
            <a:r>
              <a:rPr lang="en-US" altLang="zh-CN" dirty="0"/>
              <a:t>S3</a:t>
            </a:r>
            <a:r>
              <a:rPr lang="zh-CN" altLang="en-US" dirty="0"/>
              <a:t>按照一定的策略把业务复用到共享信道上。到了信道的出口进行解复用，分发给</a:t>
            </a:r>
            <a:r>
              <a:rPr lang="en-US" altLang="zh-CN" dirty="0"/>
              <a:t>R1</a:t>
            </a:r>
            <a:r>
              <a:rPr lang="zh-CN" altLang="en-US" dirty="0"/>
              <a:t>，</a:t>
            </a:r>
            <a:r>
              <a:rPr lang="en-US" altLang="zh-CN" dirty="0"/>
              <a:t>R2</a:t>
            </a:r>
            <a:r>
              <a:rPr lang="zh-CN" altLang="en-US" dirty="0"/>
              <a:t>和</a:t>
            </a:r>
            <a:r>
              <a:rPr lang="en-US" altLang="zh-CN" dirty="0"/>
              <a:t>R3</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98</a:t>
            </a:fld>
            <a:endParaRPr kumimoji="1" lang="zh-CN" altLang="en-US"/>
          </a:p>
        </p:txBody>
      </p:sp>
    </p:spTree>
    <p:extLst>
      <p:ext uri="{BB962C8B-B14F-4D97-AF65-F5344CB8AC3E}">
        <p14:creationId xmlns:p14="http://schemas.microsoft.com/office/powerpoint/2010/main" val="2215693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右上图是频分复用的示意图。整个带宽被分成了</a:t>
            </a:r>
            <a:r>
              <a:rPr lang="en-US" altLang="zh-CN" dirty="0"/>
              <a:t>n</a:t>
            </a:r>
            <a:r>
              <a:rPr lang="zh-CN" altLang="en-US" dirty="0"/>
              <a:t>个频带，可以分配给不同的用户。这些用户可以同时进行通信。频分复用在无线通信中有着广泛的应用。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右下图是</a:t>
            </a:r>
            <a:r>
              <a:rPr lang="zh-CN" altLang="en-US" sz="1200" dirty="0">
                <a:latin typeface="微软雅黑" pitchFamily="34" charset="-122"/>
                <a:ea typeface="微软雅黑" pitchFamily="34" charset="-122"/>
              </a:rPr>
              <a:t>三个信道频分复用到一个信道上面的例子，信道</a:t>
            </a:r>
            <a:r>
              <a:rPr lang="en-US" altLang="zh-CN" sz="1200" dirty="0">
                <a:latin typeface="微软雅黑" pitchFamily="34" charset="-122"/>
                <a:ea typeface="微软雅黑" pitchFamily="34" charset="-122"/>
              </a:rPr>
              <a:t>1~3</a:t>
            </a:r>
            <a:r>
              <a:rPr lang="zh-CN" altLang="en-US" sz="1200" dirty="0">
                <a:latin typeface="微软雅黑" pitchFamily="34" charset="-122"/>
                <a:ea typeface="微软雅黑" pitchFamily="34" charset="-122"/>
              </a:rPr>
              <a:t>的占用的频带都是从</a:t>
            </a:r>
            <a:r>
              <a:rPr lang="en-US" altLang="zh-CN" sz="1200" dirty="0">
                <a:latin typeface="微软雅黑" pitchFamily="34" charset="-122"/>
                <a:ea typeface="微软雅黑" pitchFamily="34" charset="-122"/>
              </a:rPr>
              <a:t>300~3100Hz,</a:t>
            </a:r>
            <a:r>
              <a:rPr lang="zh-CN" altLang="en-US" sz="1200" dirty="0">
                <a:latin typeface="微软雅黑" pitchFamily="34" charset="-122"/>
                <a:ea typeface="微软雅黑" pitchFamily="34" charset="-122"/>
              </a:rPr>
              <a:t>频宽是</a:t>
            </a:r>
            <a:r>
              <a:rPr lang="en-US" altLang="zh-CN" sz="1200" dirty="0">
                <a:latin typeface="微软雅黑" pitchFamily="34" charset="-122"/>
                <a:ea typeface="微软雅黑" pitchFamily="34" charset="-122"/>
              </a:rPr>
              <a:t>2.8kHz</a:t>
            </a:r>
            <a:r>
              <a:rPr lang="zh-CN" altLang="en-US" sz="1200" dirty="0">
                <a:latin typeface="微软雅黑" pitchFamily="34" charset="-122"/>
                <a:ea typeface="微软雅黑" pitchFamily="34" charset="-122"/>
              </a:rPr>
              <a:t>。经过重新调制后，信道</a:t>
            </a:r>
            <a:r>
              <a:rPr lang="en-US" altLang="zh-CN" sz="1200" dirty="0">
                <a:latin typeface="微软雅黑" pitchFamily="34" charset="-122"/>
                <a:ea typeface="微软雅黑" pitchFamily="34" charset="-122"/>
              </a:rPr>
              <a:t>1~3</a:t>
            </a:r>
            <a:r>
              <a:rPr lang="zh-CN" altLang="en-US" sz="1200" dirty="0">
                <a:latin typeface="微软雅黑" pitchFamily="34" charset="-122"/>
                <a:ea typeface="微软雅黑" pitchFamily="34" charset="-122"/>
              </a:rPr>
              <a:t>占用了从</a:t>
            </a:r>
            <a:r>
              <a:rPr lang="en-US" altLang="zh-CN" sz="1200" dirty="0">
                <a:latin typeface="微软雅黑" pitchFamily="34" charset="-122"/>
                <a:ea typeface="微软雅黑" pitchFamily="34" charset="-122"/>
              </a:rPr>
              <a:t>60kHz~72kHz</a:t>
            </a:r>
            <a:r>
              <a:rPr lang="zh-CN" altLang="en-US" sz="1200" dirty="0">
                <a:latin typeface="微软雅黑" pitchFamily="34" charset="-122"/>
                <a:ea typeface="微软雅黑" pitchFamily="34" charset="-122"/>
              </a:rPr>
              <a:t>范围内不同的频带上。这样，就可以在一个大的信道上同时传输三路信号。</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99</a:t>
            </a:fld>
            <a:endParaRPr kumimoji="1" lang="zh-CN" altLang="en-US"/>
          </a:p>
        </p:txBody>
      </p:sp>
    </p:spTree>
    <p:extLst>
      <p:ext uri="{BB962C8B-B14F-4D97-AF65-F5344CB8AC3E}">
        <p14:creationId xmlns:p14="http://schemas.microsoft.com/office/powerpoint/2010/main" val="3862768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100</a:t>
            </a:fld>
            <a:endParaRPr kumimoji="1" lang="zh-CN" altLang="en-US"/>
          </a:p>
        </p:txBody>
      </p:sp>
    </p:spTree>
    <p:extLst>
      <p:ext uri="{BB962C8B-B14F-4D97-AF65-F5344CB8AC3E}">
        <p14:creationId xmlns:p14="http://schemas.microsoft.com/office/powerpoint/2010/main" val="25906273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在图上可以看到，在</a:t>
            </a:r>
            <a:r>
              <a:rPr lang="en-US" altLang="zh-CN" dirty="0"/>
              <a:t>1</a:t>
            </a:r>
            <a:r>
              <a:rPr lang="zh-CN" altLang="en-US" dirty="0"/>
              <a:t>号</a:t>
            </a:r>
            <a:r>
              <a:rPr lang="en-US" altLang="zh-CN" dirty="0"/>
              <a:t>TDM</a:t>
            </a:r>
            <a:r>
              <a:rPr lang="zh-CN" altLang="en-US" dirty="0"/>
              <a:t>时帧上，用户</a:t>
            </a:r>
            <a:r>
              <a:rPr lang="en-US" altLang="zh-CN" dirty="0"/>
              <a:t>C</a:t>
            </a:r>
            <a:r>
              <a:rPr lang="zh-CN" altLang="en-US" dirty="0"/>
              <a:t>和</a:t>
            </a:r>
            <a:r>
              <a:rPr lang="en-US" altLang="zh-CN" dirty="0"/>
              <a:t>D</a:t>
            </a:r>
            <a:r>
              <a:rPr lang="zh-CN" altLang="en-US" dirty="0"/>
              <a:t>的时隙是空闲的，在</a:t>
            </a:r>
            <a:r>
              <a:rPr lang="en-US" altLang="zh-CN" dirty="0"/>
              <a:t>2</a:t>
            </a:r>
            <a:r>
              <a:rPr lang="zh-CN" altLang="en-US" dirty="0"/>
              <a:t>号时帧上，用户</a:t>
            </a:r>
            <a:r>
              <a:rPr lang="en-US" altLang="zh-CN" dirty="0"/>
              <a:t>A</a:t>
            </a:r>
            <a:r>
              <a:rPr lang="zh-CN" altLang="en-US" dirty="0"/>
              <a:t>和</a:t>
            </a:r>
            <a:r>
              <a:rPr lang="en-US" altLang="zh-CN" dirty="0"/>
              <a:t>D</a:t>
            </a:r>
            <a:r>
              <a:rPr lang="zh-CN" altLang="en-US" dirty="0"/>
              <a:t>的时隙时空闲的。这些空闲的信道造成线路资源的浪费。</a:t>
            </a:r>
            <a:endParaRPr lang="en-US" altLang="zh-CN" dirty="0"/>
          </a:p>
          <a:p>
            <a:r>
              <a:rPr lang="zh-CN" altLang="en-US" dirty="0"/>
              <a:t>另外，时分复用还有一个问题，就是传输时延比较大。用户有数据要发送的时候，需要等到自己的时隙才可以发送数据，特别是用户数量较多的时候，需要等待的数据会很长。</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101</a:t>
            </a:fld>
            <a:endParaRPr kumimoji="1" lang="zh-CN" altLang="en-US"/>
          </a:p>
        </p:txBody>
      </p:sp>
    </p:spTree>
    <p:extLst>
      <p:ext uri="{BB962C8B-B14F-4D97-AF65-F5344CB8AC3E}">
        <p14:creationId xmlns:p14="http://schemas.microsoft.com/office/powerpoint/2010/main" val="17360366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由于固定分配时隙方式的时分复用会带来的信道利用率和时延方面的问题，因此可以考虑不在去固定分配时隙，</a:t>
            </a:r>
            <a:r>
              <a:rPr lang="zh-CN" altLang="en-US" sz="1200" dirty="0">
                <a:latin typeface="微软雅黑" pitchFamily="34" charset="-122"/>
                <a:ea typeface="微软雅黑" pitchFamily="34" charset="-122"/>
              </a:rPr>
              <a:t>而是</a:t>
            </a:r>
            <a:r>
              <a:rPr lang="zh-CN" altLang="en-US" sz="1200" dirty="0">
                <a:solidFill>
                  <a:srgbClr val="C00000"/>
                </a:solidFill>
                <a:latin typeface="微软雅黑" pitchFamily="34" charset="-122"/>
                <a:ea typeface="微软雅黑" pitchFamily="34" charset="-122"/>
              </a:rPr>
              <a:t>按需动态地</a:t>
            </a:r>
            <a:r>
              <a:rPr lang="zh-CN" altLang="en-US" sz="1200" dirty="0">
                <a:latin typeface="微软雅黑" pitchFamily="34" charset="-122"/>
                <a:ea typeface="微软雅黑" pitchFamily="34" charset="-122"/>
              </a:rPr>
              <a:t>分配时隙。这就是统计时分复用。</a:t>
            </a:r>
            <a:r>
              <a:rPr lang="zh-CN" altLang="en-US" sz="1200" dirty="0">
                <a:solidFill>
                  <a:srgbClr val="333333"/>
                </a:solidFill>
                <a:latin typeface="微软雅黑" panose="020B0503020204020204" pitchFamily="34" charset="-122"/>
                <a:ea typeface="微软雅黑" panose="020B0503020204020204" pitchFamily="34" charset="-122"/>
              </a:rPr>
              <a:t>指的是动态地</a:t>
            </a:r>
            <a:r>
              <a:rPr lang="zh-CN" altLang="en-US" sz="1200" dirty="0">
                <a:solidFill>
                  <a:srgbClr val="C00000"/>
                </a:solidFill>
                <a:latin typeface="微软雅黑" panose="020B0503020204020204" pitchFamily="34" charset="-122"/>
                <a:ea typeface="微软雅黑" panose="020B0503020204020204" pitchFamily="34" charset="-122"/>
              </a:rPr>
              <a:t>按需分配共用信道</a:t>
            </a:r>
            <a:r>
              <a:rPr lang="zh-CN" altLang="en-US" sz="1200" dirty="0">
                <a:solidFill>
                  <a:srgbClr val="333333"/>
                </a:solidFill>
                <a:latin typeface="微软雅黑" panose="020B0503020204020204" pitchFamily="34" charset="-122"/>
                <a:ea typeface="微软雅黑" panose="020B0503020204020204" pitchFamily="34" charset="-122"/>
              </a:rPr>
              <a:t>的时隙，只将需要传送数据的终端接入共用信道，以提高信道利用率的多路复用技术。从这个图可以清楚的看到，按需动态分配时隙后，每个时帧的长度可以根据需要动态调整，理论上可以把信道利用率提升到</a:t>
            </a:r>
            <a:r>
              <a:rPr lang="en-US" altLang="zh-CN" sz="1200" dirty="0">
                <a:solidFill>
                  <a:srgbClr val="333333"/>
                </a:solidFill>
                <a:latin typeface="微软雅黑" panose="020B0503020204020204" pitchFamily="34" charset="-122"/>
                <a:ea typeface="微软雅黑" panose="020B0503020204020204" pitchFamily="34" charset="-122"/>
              </a:rPr>
              <a:t>100%</a:t>
            </a:r>
            <a:r>
              <a:rPr lang="zh-CN" altLang="en-US" sz="1200" dirty="0">
                <a:solidFill>
                  <a:srgbClr val="333333"/>
                </a:solidFill>
                <a:latin typeface="微软雅黑" panose="020B0503020204020204" pitchFamily="34" charset="-122"/>
                <a:ea typeface="微软雅黑" panose="020B0503020204020204" pitchFamily="34" charset="-122"/>
              </a:rPr>
              <a:t>，而且传输时延会明显降低。</a:t>
            </a:r>
            <a:endParaRPr lang="en-US" altLang="zh-CN" sz="1200" dirty="0">
              <a:solidFill>
                <a:srgbClr val="333333"/>
              </a:solidFill>
              <a:latin typeface="微软雅黑" panose="020B0503020204020204" pitchFamily="34" charset="-122"/>
              <a:ea typeface="微软雅黑" panose="020B0503020204020204" pitchFamily="34" charset="-122"/>
            </a:endParaRPr>
          </a:p>
          <a:p>
            <a:r>
              <a:rPr lang="zh-CN" altLang="en-US" sz="1200" dirty="0">
                <a:solidFill>
                  <a:srgbClr val="333333"/>
                </a:solidFill>
                <a:latin typeface="微软雅黑" panose="020B0503020204020204" pitchFamily="34" charset="-122"/>
                <a:ea typeface="微软雅黑" panose="020B0503020204020204" pitchFamily="34" charset="-122"/>
              </a:rPr>
              <a:t>当然，需要注意的是，</a:t>
            </a:r>
            <a:r>
              <a:rPr lang="en-US" altLang="zh-CN" sz="1200" dirty="0">
                <a:solidFill>
                  <a:srgbClr val="333333"/>
                </a:solidFill>
                <a:latin typeface="微软雅黑" panose="020B0503020204020204" pitchFamily="34" charset="-122"/>
                <a:ea typeface="微软雅黑" panose="020B0503020204020204" pitchFamily="34" charset="-122"/>
              </a:rPr>
              <a:t>STDM</a:t>
            </a:r>
            <a:r>
              <a:rPr lang="zh-CN" altLang="en-US" sz="1200" dirty="0">
                <a:solidFill>
                  <a:srgbClr val="333333"/>
                </a:solidFill>
                <a:latin typeface="微软雅黑" panose="020B0503020204020204" pitchFamily="34" charset="-122"/>
                <a:ea typeface="微软雅黑" panose="020B0503020204020204" pitchFamily="34" charset="-122"/>
              </a:rPr>
              <a:t>的技术复杂性较高，特别是多用户共享无线信道时，需要复杂的机制来避免不用用户之间的时隙冲突问题。</a:t>
            </a:r>
            <a:endParaRPr lang="en-US" altLang="zh-CN" sz="1200" dirty="0">
              <a:solidFill>
                <a:srgbClr val="333333"/>
              </a:solidFill>
              <a:latin typeface="微软雅黑" panose="020B0503020204020204" pitchFamily="34" charset="-122"/>
              <a:ea typeface="微软雅黑" panose="020B0503020204020204" pitchFamily="34" charset="-122"/>
            </a:endParaRPr>
          </a:p>
          <a:p>
            <a:endParaRPr lang="en-US" altLang="zh-CN" sz="1200" dirty="0">
              <a:solidFill>
                <a:srgbClr val="333333"/>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102</a:t>
            </a:fld>
            <a:endParaRPr kumimoji="1" lang="zh-CN" altLang="en-US"/>
          </a:p>
        </p:txBody>
      </p:sp>
    </p:spTree>
    <p:extLst>
      <p:ext uri="{BB962C8B-B14F-4D97-AF65-F5344CB8AC3E}">
        <p14:creationId xmlns:p14="http://schemas.microsoft.com/office/powerpoint/2010/main" val="37860013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光波分复用一般应用波长复用器和分用器分别置于光纤两端，实现不同光波的耦合与分离。在发送端，通过复用器把不同波长的光耦合在一起，传输过程中，光信号会逐渐减弱，需要通过光放大器，比如</a:t>
            </a:r>
            <a:r>
              <a:rPr lang="en-US" altLang="zh-CN" dirty="0"/>
              <a:t>EDFA</a:t>
            </a:r>
            <a:r>
              <a:rPr lang="zh-CN" altLang="en-US" dirty="0"/>
              <a:t>，对光信号进行放大。在接收端，通过分用器，对光信号进行进行分离。</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103</a:t>
            </a:fld>
            <a:endParaRPr kumimoji="1" lang="zh-CN" altLang="en-US"/>
          </a:p>
        </p:txBody>
      </p:sp>
    </p:spTree>
    <p:extLst>
      <p:ext uri="{BB962C8B-B14F-4D97-AF65-F5344CB8AC3E}">
        <p14:creationId xmlns:p14="http://schemas.microsoft.com/office/powerpoint/2010/main" val="26521375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105</a:t>
            </a:fld>
            <a:endParaRPr kumimoji="1" lang="zh-CN" altLang="en-US"/>
          </a:p>
        </p:txBody>
      </p:sp>
    </p:spTree>
    <p:extLst>
      <p:ext uri="{BB962C8B-B14F-4D97-AF65-F5344CB8AC3E}">
        <p14:creationId xmlns:p14="http://schemas.microsoft.com/office/powerpoint/2010/main" val="31871916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如图所示，假设</a:t>
            </a:r>
            <a:r>
              <a:rPr lang="en-US" altLang="zh-CN" dirty="0"/>
              <a:t>S</a:t>
            </a:r>
            <a:r>
              <a:rPr lang="zh-CN" altLang="en-US" dirty="0"/>
              <a:t>站和</a:t>
            </a:r>
            <a:r>
              <a:rPr lang="en-US" altLang="zh-CN" dirty="0"/>
              <a:t>T</a:t>
            </a:r>
            <a:r>
              <a:rPr lang="zh-CN" altLang="en-US" dirty="0"/>
              <a:t>站都要发送</a:t>
            </a:r>
            <a:r>
              <a:rPr lang="en-US" altLang="zh-CN" dirty="0"/>
              <a:t>110</a:t>
            </a:r>
            <a:r>
              <a:rPr lang="zh-CN" altLang="en-US" dirty="0"/>
              <a:t>三个比特，分别使用自己的码片进行编码后，把信号发送出去。在接收端，收到的是</a:t>
            </a:r>
            <a:r>
              <a:rPr lang="en-US" altLang="zh-CN" dirty="0"/>
              <a:t>S</a:t>
            </a:r>
            <a:r>
              <a:rPr lang="zh-CN" altLang="en-US" dirty="0"/>
              <a:t>和</a:t>
            </a:r>
            <a:r>
              <a:rPr lang="en-US" altLang="zh-CN" dirty="0"/>
              <a:t>T</a:t>
            </a:r>
            <a:r>
              <a:rPr lang="zh-CN" altLang="en-US" dirty="0"/>
              <a:t>发送信号的叠加。</a:t>
            </a:r>
            <a:endParaRPr lang="en-US" altLang="zh-CN" dirty="0"/>
          </a:p>
          <a:p>
            <a:r>
              <a:rPr lang="zh-CN" altLang="en-US" dirty="0"/>
              <a:t>接收端使用</a:t>
            </a:r>
            <a:r>
              <a:rPr lang="en-US" altLang="zh-CN" dirty="0"/>
              <a:t>S</a:t>
            </a:r>
            <a:r>
              <a:rPr lang="zh-CN" altLang="en-US" dirty="0"/>
              <a:t>站码片对收到信号的各个分量进行规格化内积，对</a:t>
            </a:r>
            <a:r>
              <a:rPr lang="en-US" altLang="zh-CN" dirty="0"/>
              <a:t>S</a:t>
            </a:r>
            <a:r>
              <a:rPr lang="zh-CN" altLang="en-US" dirty="0"/>
              <a:t>站发送的信号解码得到</a:t>
            </a:r>
            <a:r>
              <a:rPr lang="en-US" altLang="zh-CN" dirty="0"/>
              <a:t>110</a:t>
            </a:r>
            <a:r>
              <a:rPr lang="zh-CN" altLang="en-US" dirty="0"/>
              <a:t>，而对</a:t>
            </a:r>
            <a:r>
              <a:rPr lang="en-US" altLang="zh-CN" dirty="0"/>
              <a:t>T</a:t>
            </a:r>
            <a:r>
              <a:rPr lang="zh-CN" altLang="en-US" dirty="0"/>
              <a:t>站发送的信号解码得到的是噪声信号。</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107</a:t>
            </a:fld>
            <a:endParaRPr kumimoji="1" lang="zh-CN" altLang="en-US"/>
          </a:p>
        </p:txBody>
      </p:sp>
    </p:spTree>
    <p:extLst>
      <p:ext uri="{BB962C8B-B14F-4D97-AF65-F5344CB8AC3E}">
        <p14:creationId xmlns:p14="http://schemas.microsoft.com/office/powerpoint/2010/main" val="1725537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t>2024/9/27</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sp>
        <p:nvSpPr>
          <p:cNvPr id="9" name="文本框 8">
            <a:extLst>
              <a:ext uri="{FF2B5EF4-FFF2-40B4-BE49-F238E27FC236}">
                <a16:creationId xmlns:a16="http://schemas.microsoft.com/office/drawing/2014/main" id="{56DF02C2-66E0-594F-914D-47F0EC7AA666}"/>
              </a:ext>
            </a:extLst>
          </p:cNvPr>
          <p:cNvSpPr txBox="1"/>
          <p:nvPr userDrawn="1"/>
        </p:nvSpPr>
        <p:spPr>
          <a:xfrm>
            <a:off x="9569811" y="90612"/>
            <a:ext cx="2297425" cy="369332"/>
          </a:xfrm>
          <a:prstGeom prst="rect">
            <a:avLst/>
          </a:prstGeom>
          <a:noFill/>
        </p:spPr>
        <p:txBody>
          <a:bodyPr wrap="none" rtlCol="0">
            <a:spAutoFit/>
          </a:bodyPr>
          <a:lstStyle/>
          <a:p>
            <a:pPr algn="r"/>
            <a:r>
              <a:rPr lang="zh-CN" altLang="en-US" sz="1800" spc="600" dirty="0">
                <a:solidFill>
                  <a:srgbClr val="5B307E"/>
                </a:solidFill>
                <a:latin typeface="微软雅黑" panose="020B0503020204020204" pitchFamily="34" charset="-122"/>
                <a:ea typeface="微软雅黑" panose="020B0503020204020204" pitchFamily="34" charset="-122"/>
              </a:rPr>
              <a:t>众筹</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网络</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分享</a:t>
            </a:r>
          </a:p>
        </p:txBody>
      </p:sp>
    </p:spTree>
    <p:extLst>
      <p:ext uri="{BB962C8B-B14F-4D97-AF65-F5344CB8AC3E}">
        <p14:creationId xmlns:p14="http://schemas.microsoft.com/office/powerpoint/2010/main" val="849744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55195"/>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a:lnSpc>
                <a:spcPct val="100000"/>
              </a:lnSpc>
              <a:spcBef>
                <a:spcPts val="600"/>
              </a:spcBef>
              <a:buFont typeface="Wingdings"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t>2024/9/27</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AB0058AB-B1F1-354B-AC17-D97CF5C61CCA}"/>
              </a:ext>
            </a:extLst>
          </p:cNvPr>
          <p:cNvGrpSpPr/>
          <p:nvPr userDrawn="1"/>
        </p:nvGrpSpPr>
        <p:grpSpPr>
          <a:xfrm>
            <a:off x="9849450" y="844221"/>
            <a:ext cx="1961485" cy="208345"/>
            <a:chOff x="1368170" y="1165302"/>
            <a:chExt cx="4139947" cy="439737"/>
          </a:xfrm>
        </p:grpSpPr>
        <p:grpSp>
          <p:nvGrpSpPr>
            <p:cNvPr id="42" name="组合 41">
              <a:extLst>
                <a:ext uri="{FF2B5EF4-FFF2-40B4-BE49-F238E27FC236}">
                  <a16:creationId xmlns:a16="http://schemas.microsoft.com/office/drawing/2014/main" id="{AAF2B681-E82A-B44D-9C2D-B50F21D83567}"/>
                </a:ext>
              </a:extLst>
            </p:cNvPr>
            <p:cNvGrpSpPr/>
            <p:nvPr/>
          </p:nvGrpSpPr>
          <p:grpSpPr>
            <a:xfrm>
              <a:off x="1368170" y="1165302"/>
              <a:ext cx="550582" cy="439737"/>
              <a:chOff x="1368170" y="664579"/>
              <a:chExt cx="550582" cy="439737"/>
            </a:xfrm>
          </p:grpSpPr>
          <p:sp>
            <p:nvSpPr>
              <p:cNvPr id="53" name="Freeform 1">
                <a:extLst>
                  <a:ext uri="{FF2B5EF4-FFF2-40B4-BE49-F238E27FC236}">
                    <a16:creationId xmlns:a16="http://schemas.microsoft.com/office/drawing/2014/main" id="{0961A78E-DF61-2349-8E10-2E9861DBEA9A}"/>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Freeform 2">
                <a:extLst>
                  <a:ext uri="{FF2B5EF4-FFF2-40B4-BE49-F238E27FC236}">
                    <a16:creationId xmlns:a16="http://schemas.microsoft.com/office/drawing/2014/main" id="{1B3EB2F6-21CF-A24E-9B62-5D7928C20B20}"/>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Freeform 3">
                <a:extLst>
                  <a:ext uri="{FF2B5EF4-FFF2-40B4-BE49-F238E27FC236}">
                    <a16:creationId xmlns:a16="http://schemas.microsoft.com/office/drawing/2014/main" id="{81A1399D-3A4A-4346-8C84-7B455211A803}"/>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6" name="Freeform 4">
                <a:extLst>
                  <a:ext uri="{FF2B5EF4-FFF2-40B4-BE49-F238E27FC236}">
                    <a16:creationId xmlns:a16="http://schemas.microsoft.com/office/drawing/2014/main" id="{E9BBE6CF-9D5F-7A45-BADF-582C03D33AE6}"/>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 name="Freeform 5">
                <a:extLst>
                  <a:ext uri="{FF2B5EF4-FFF2-40B4-BE49-F238E27FC236}">
                    <a16:creationId xmlns:a16="http://schemas.microsoft.com/office/drawing/2014/main" id="{4AA75148-84CF-0844-9DC3-A5A612E4F4BE}"/>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Freeform 6">
                <a:extLst>
                  <a:ext uri="{FF2B5EF4-FFF2-40B4-BE49-F238E27FC236}">
                    <a16:creationId xmlns:a16="http://schemas.microsoft.com/office/drawing/2014/main" id="{AB607A71-F482-B646-9976-486F89F11276}"/>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Freeform 7">
                <a:extLst>
                  <a:ext uri="{FF2B5EF4-FFF2-40B4-BE49-F238E27FC236}">
                    <a16:creationId xmlns:a16="http://schemas.microsoft.com/office/drawing/2014/main" id="{6DA5CE31-3E42-6346-B29B-FE9FF265D7AD}"/>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Freeform 8">
                <a:extLst>
                  <a:ext uri="{FF2B5EF4-FFF2-40B4-BE49-F238E27FC236}">
                    <a16:creationId xmlns:a16="http://schemas.microsoft.com/office/drawing/2014/main" id="{CF0A24C0-A91E-F641-90F0-BC83EC452429}"/>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Freeform 9">
                <a:extLst>
                  <a:ext uri="{FF2B5EF4-FFF2-40B4-BE49-F238E27FC236}">
                    <a16:creationId xmlns:a16="http://schemas.microsoft.com/office/drawing/2014/main" id="{310AF166-F554-F74D-AB72-E414E499E277}"/>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Freeform 10">
                <a:extLst>
                  <a:ext uri="{FF2B5EF4-FFF2-40B4-BE49-F238E27FC236}">
                    <a16:creationId xmlns:a16="http://schemas.microsoft.com/office/drawing/2014/main" id="{8D3BD77D-1A93-E64A-9C17-6A3B016DF2E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Freeform 11">
                <a:extLst>
                  <a:ext uri="{FF2B5EF4-FFF2-40B4-BE49-F238E27FC236}">
                    <a16:creationId xmlns:a16="http://schemas.microsoft.com/office/drawing/2014/main" id="{0D54B55E-B871-E543-9108-B4A5765745E5}"/>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 name="组合 42">
              <a:extLst>
                <a:ext uri="{FF2B5EF4-FFF2-40B4-BE49-F238E27FC236}">
                  <a16:creationId xmlns:a16="http://schemas.microsoft.com/office/drawing/2014/main" id="{30A711A7-A169-8A41-85E2-EA40E3A3BB5F}"/>
                </a:ext>
              </a:extLst>
            </p:cNvPr>
            <p:cNvGrpSpPr/>
            <p:nvPr/>
          </p:nvGrpSpPr>
          <p:grpSpPr>
            <a:xfrm>
              <a:off x="2028870" y="1197389"/>
              <a:ext cx="3479247" cy="365353"/>
              <a:chOff x="2028870" y="696666"/>
              <a:chExt cx="3479247" cy="365353"/>
            </a:xfrm>
            <a:solidFill>
              <a:schemeClr val="bg1">
                <a:lumMod val="50000"/>
              </a:schemeClr>
            </a:solidFill>
          </p:grpSpPr>
          <p:sp>
            <p:nvSpPr>
              <p:cNvPr id="44" name="Freeform 12">
                <a:extLst>
                  <a:ext uri="{FF2B5EF4-FFF2-40B4-BE49-F238E27FC236}">
                    <a16:creationId xmlns:a16="http://schemas.microsoft.com/office/drawing/2014/main" id="{7E68957D-5A1D-C948-A5BC-A3888C640FE3}"/>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13">
                <a:extLst>
                  <a:ext uri="{FF2B5EF4-FFF2-40B4-BE49-F238E27FC236}">
                    <a16:creationId xmlns:a16="http://schemas.microsoft.com/office/drawing/2014/main" id="{01D55A2B-04CF-B043-87D1-43B606D23BFB}"/>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14">
                <a:extLst>
                  <a:ext uri="{FF2B5EF4-FFF2-40B4-BE49-F238E27FC236}">
                    <a16:creationId xmlns:a16="http://schemas.microsoft.com/office/drawing/2014/main" id="{FF056158-A321-8F40-B663-2CF3304CA5ED}"/>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15">
                <a:extLst>
                  <a:ext uri="{FF2B5EF4-FFF2-40B4-BE49-F238E27FC236}">
                    <a16:creationId xmlns:a16="http://schemas.microsoft.com/office/drawing/2014/main" id="{9C184C5C-D7DA-A74D-B56E-C97972D2E6C1}"/>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16">
                <a:extLst>
                  <a:ext uri="{FF2B5EF4-FFF2-40B4-BE49-F238E27FC236}">
                    <a16:creationId xmlns:a16="http://schemas.microsoft.com/office/drawing/2014/main" id="{177BD5B8-6ED6-AF44-A4E9-AC0F5ADBB26A}"/>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17">
                <a:extLst>
                  <a:ext uri="{FF2B5EF4-FFF2-40B4-BE49-F238E27FC236}">
                    <a16:creationId xmlns:a16="http://schemas.microsoft.com/office/drawing/2014/main" id="{659E8A2F-BD45-A141-8653-9A26A575F667}"/>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8">
                <a:extLst>
                  <a:ext uri="{FF2B5EF4-FFF2-40B4-BE49-F238E27FC236}">
                    <a16:creationId xmlns:a16="http://schemas.microsoft.com/office/drawing/2014/main" id="{74855C05-5F16-C049-9443-A35BB82DE2CF}"/>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9">
                <a:extLst>
                  <a:ext uri="{FF2B5EF4-FFF2-40B4-BE49-F238E27FC236}">
                    <a16:creationId xmlns:a16="http://schemas.microsoft.com/office/drawing/2014/main" id="{F26716A7-ED33-4E4F-BADB-2E2D22363495}"/>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20">
                <a:extLst>
                  <a:ext uri="{FF2B5EF4-FFF2-40B4-BE49-F238E27FC236}">
                    <a16:creationId xmlns:a16="http://schemas.microsoft.com/office/drawing/2014/main" id="{A25A530F-4DF9-E348-A512-A3FC76E2497C}"/>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27644" y="644181"/>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7" name="Picture 6">
            <a:extLst>
              <a:ext uri="{FF2B5EF4-FFF2-40B4-BE49-F238E27FC236}">
                <a16:creationId xmlns:a16="http://schemas.microsoft.com/office/drawing/2014/main" id="{3E1BA2D6-96CF-67DC-AF4A-D334B8487AA0}"/>
              </a:ext>
            </a:extLst>
          </p:cNvPr>
          <p:cNvPicPr>
            <a:picLocks noChangeAspect="1"/>
          </p:cNvPicPr>
          <p:nvPr userDrawn="1"/>
        </p:nvPicPr>
        <p:blipFill>
          <a:blip r:embed="rId2"/>
          <a:stretch>
            <a:fillRect/>
          </a:stretch>
        </p:blipFill>
        <p:spPr>
          <a:xfrm>
            <a:off x="10201492" y="360786"/>
            <a:ext cx="1372094" cy="423211"/>
          </a:xfrm>
          <a:prstGeom prst="rect">
            <a:avLst/>
          </a:prstGeom>
        </p:spPr>
      </p:pic>
    </p:spTree>
    <p:extLst>
      <p:ext uri="{BB962C8B-B14F-4D97-AF65-F5344CB8AC3E}">
        <p14:creationId xmlns:p14="http://schemas.microsoft.com/office/powerpoint/2010/main" val="32402532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t>2024/9/27</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t>2024/9/27</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636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F75304E3-D2BA-6B43-A9CA-868095E37E2C}"/>
              </a:ext>
            </a:extLst>
          </p:cNvPr>
          <p:cNvGrpSpPr/>
          <p:nvPr userDrawn="1"/>
        </p:nvGrpSpPr>
        <p:grpSpPr>
          <a:xfrm>
            <a:off x="9849450" y="844221"/>
            <a:ext cx="1961485" cy="208345"/>
            <a:chOff x="1368170" y="1165302"/>
            <a:chExt cx="4139947" cy="439737"/>
          </a:xfrm>
        </p:grpSpPr>
        <p:grpSp>
          <p:nvGrpSpPr>
            <p:cNvPr id="11" name="组合 10">
              <a:extLst>
                <a:ext uri="{FF2B5EF4-FFF2-40B4-BE49-F238E27FC236}">
                  <a16:creationId xmlns:a16="http://schemas.microsoft.com/office/drawing/2014/main" id="{C6BD9614-F72F-8A43-9314-4D110B22A613}"/>
                </a:ext>
              </a:extLst>
            </p:cNvPr>
            <p:cNvGrpSpPr/>
            <p:nvPr/>
          </p:nvGrpSpPr>
          <p:grpSpPr>
            <a:xfrm>
              <a:off x="1368170" y="1165302"/>
              <a:ext cx="550582" cy="439737"/>
              <a:chOff x="1368170" y="664579"/>
              <a:chExt cx="550582" cy="439737"/>
            </a:xfrm>
          </p:grpSpPr>
          <p:sp>
            <p:nvSpPr>
              <p:cNvPr id="22" name="Freeform 1">
                <a:extLst>
                  <a:ext uri="{FF2B5EF4-FFF2-40B4-BE49-F238E27FC236}">
                    <a16:creationId xmlns:a16="http://schemas.microsoft.com/office/drawing/2014/main" id="{17E3AC1A-2BCC-CA46-AC9B-ECC6AD4DD9B6}"/>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
                <a:extLst>
                  <a:ext uri="{FF2B5EF4-FFF2-40B4-BE49-F238E27FC236}">
                    <a16:creationId xmlns:a16="http://schemas.microsoft.com/office/drawing/2014/main" id="{8FC97171-0F8A-6B4A-BC04-4A83196EEE71}"/>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Freeform 3">
                <a:extLst>
                  <a:ext uri="{FF2B5EF4-FFF2-40B4-BE49-F238E27FC236}">
                    <a16:creationId xmlns:a16="http://schemas.microsoft.com/office/drawing/2014/main" id="{2486AB9B-C9E8-E94F-B7E8-57CD9649846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4">
                <a:extLst>
                  <a:ext uri="{FF2B5EF4-FFF2-40B4-BE49-F238E27FC236}">
                    <a16:creationId xmlns:a16="http://schemas.microsoft.com/office/drawing/2014/main" id="{18A408D8-23CF-864B-9403-912ED0D24EDB}"/>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5">
                <a:extLst>
                  <a:ext uri="{FF2B5EF4-FFF2-40B4-BE49-F238E27FC236}">
                    <a16:creationId xmlns:a16="http://schemas.microsoft.com/office/drawing/2014/main" id="{77D66A57-5273-854B-AD7C-A91B6BFF4D68}"/>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6">
                <a:extLst>
                  <a:ext uri="{FF2B5EF4-FFF2-40B4-BE49-F238E27FC236}">
                    <a16:creationId xmlns:a16="http://schemas.microsoft.com/office/drawing/2014/main" id="{9AD37317-D84E-444B-88EB-8CF2CC57CC4B}"/>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7">
                <a:extLst>
                  <a:ext uri="{FF2B5EF4-FFF2-40B4-BE49-F238E27FC236}">
                    <a16:creationId xmlns:a16="http://schemas.microsoft.com/office/drawing/2014/main" id="{069D0FB6-7378-5344-B149-1899961AC549}"/>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8">
                <a:extLst>
                  <a:ext uri="{FF2B5EF4-FFF2-40B4-BE49-F238E27FC236}">
                    <a16:creationId xmlns:a16="http://schemas.microsoft.com/office/drawing/2014/main" id="{3084061A-A4AC-BE42-8E46-F3BEBCC64BF5}"/>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9">
                <a:extLst>
                  <a:ext uri="{FF2B5EF4-FFF2-40B4-BE49-F238E27FC236}">
                    <a16:creationId xmlns:a16="http://schemas.microsoft.com/office/drawing/2014/main" id="{F3560C95-0398-8848-953C-C870AD870704}"/>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10">
                <a:extLst>
                  <a:ext uri="{FF2B5EF4-FFF2-40B4-BE49-F238E27FC236}">
                    <a16:creationId xmlns:a16="http://schemas.microsoft.com/office/drawing/2014/main" id="{FC10BBCE-A81E-674D-90E5-1E60F8B244E1}"/>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11">
                <a:extLst>
                  <a:ext uri="{FF2B5EF4-FFF2-40B4-BE49-F238E27FC236}">
                    <a16:creationId xmlns:a16="http://schemas.microsoft.com/office/drawing/2014/main" id="{7825D298-25D2-B645-9DE4-6B4AC2DAF41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 name="组合 11">
              <a:extLst>
                <a:ext uri="{FF2B5EF4-FFF2-40B4-BE49-F238E27FC236}">
                  <a16:creationId xmlns:a16="http://schemas.microsoft.com/office/drawing/2014/main" id="{1AB322FF-E82E-B849-A67E-8885F84F1B80}"/>
                </a:ext>
              </a:extLst>
            </p:cNvPr>
            <p:cNvGrpSpPr/>
            <p:nvPr/>
          </p:nvGrpSpPr>
          <p:grpSpPr>
            <a:xfrm>
              <a:off x="2028870" y="1197389"/>
              <a:ext cx="3479247" cy="365353"/>
              <a:chOff x="2028870" y="696666"/>
              <a:chExt cx="3479247" cy="365353"/>
            </a:xfrm>
            <a:solidFill>
              <a:schemeClr val="bg1">
                <a:lumMod val="50000"/>
              </a:schemeClr>
            </a:solidFill>
          </p:grpSpPr>
          <p:sp>
            <p:nvSpPr>
              <p:cNvPr id="13" name="Freeform 12">
                <a:extLst>
                  <a:ext uri="{FF2B5EF4-FFF2-40B4-BE49-F238E27FC236}">
                    <a16:creationId xmlns:a16="http://schemas.microsoft.com/office/drawing/2014/main" id="{939245C7-932E-A84A-81EC-0A53746F9A2E}"/>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Freeform 13">
                <a:extLst>
                  <a:ext uri="{FF2B5EF4-FFF2-40B4-BE49-F238E27FC236}">
                    <a16:creationId xmlns:a16="http://schemas.microsoft.com/office/drawing/2014/main" id="{09FAD7D1-6766-4344-BAA4-F13F7EAB76F7}"/>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Freeform 14">
                <a:extLst>
                  <a:ext uri="{FF2B5EF4-FFF2-40B4-BE49-F238E27FC236}">
                    <a16:creationId xmlns:a16="http://schemas.microsoft.com/office/drawing/2014/main" id="{A3F469B6-43A0-3142-B44A-FCAEEFFB11A0}"/>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5">
                <a:extLst>
                  <a:ext uri="{FF2B5EF4-FFF2-40B4-BE49-F238E27FC236}">
                    <a16:creationId xmlns:a16="http://schemas.microsoft.com/office/drawing/2014/main" id="{939FDE59-FDA2-7D42-A573-9D861EDB611C}"/>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6">
                <a:extLst>
                  <a:ext uri="{FF2B5EF4-FFF2-40B4-BE49-F238E27FC236}">
                    <a16:creationId xmlns:a16="http://schemas.microsoft.com/office/drawing/2014/main" id="{CC481843-8BD3-B44C-9129-7DD52746EE9B}"/>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7">
                <a:extLst>
                  <a:ext uri="{FF2B5EF4-FFF2-40B4-BE49-F238E27FC236}">
                    <a16:creationId xmlns:a16="http://schemas.microsoft.com/office/drawing/2014/main" id="{1BF5661B-2AA7-7048-834E-17B9B91BE076}"/>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8">
                <a:extLst>
                  <a:ext uri="{FF2B5EF4-FFF2-40B4-BE49-F238E27FC236}">
                    <a16:creationId xmlns:a16="http://schemas.microsoft.com/office/drawing/2014/main" id="{520B1655-B78A-3F4A-ADE4-43A6AB333698}"/>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9">
                <a:extLst>
                  <a:ext uri="{FF2B5EF4-FFF2-40B4-BE49-F238E27FC236}">
                    <a16:creationId xmlns:a16="http://schemas.microsoft.com/office/drawing/2014/main" id="{DA1AB818-CE52-9C47-874D-1AE276BE9F50}"/>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20">
                <a:extLst>
                  <a:ext uri="{FF2B5EF4-FFF2-40B4-BE49-F238E27FC236}">
                    <a16:creationId xmlns:a16="http://schemas.microsoft.com/office/drawing/2014/main" id="{3CBC2DBE-EEEF-564D-8484-7063829C5E70}"/>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729525"/>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34" name="Picture 33">
            <a:extLst>
              <a:ext uri="{FF2B5EF4-FFF2-40B4-BE49-F238E27FC236}">
                <a16:creationId xmlns:a16="http://schemas.microsoft.com/office/drawing/2014/main" id="{CED69AD9-B122-F872-1C3E-B432F32F28B1}"/>
              </a:ext>
            </a:extLst>
          </p:cNvPr>
          <p:cNvPicPr>
            <a:picLocks noChangeAspect="1"/>
          </p:cNvPicPr>
          <p:nvPr userDrawn="1"/>
        </p:nvPicPr>
        <p:blipFill>
          <a:blip r:embed="rId2"/>
          <a:stretch>
            <a:fillRect/>
          </a:stretch>
        </p:blipFill>
        <p:spPr>
          <a:xfrm>
            <a:off x="10201492" y="360786"/>
            <a:ext cx="1372094" cy="423211"/>
          </a:xfrm>
          <a:prstGeom prst="rect">
            <a:avLst/>
          </a:prstGeom>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t>2024/9/27</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4F0ACF62-A174-B042-8DB8-C53C3544E64E}"/>
              </a:ext>
            </a:extLst>
          </p:cNvPr>
          <p:cNvGrpSpPr/>
          <p:nvPr userDrawn="1"/>
        </p:nvGrpSpPr>
        <p:grpSpPr>
          <a:xfrm>
            <a:off x="9849450" y="844221"/>
            <a:ext cx="1961485" cy="208345"/>
            <a:chOff x="1368170" y="1165302"/>
            <a:chExt cx="4139947" cy="439737"/>
          </a:xfrm>
        </p:grpSpPr>
        <p:grpSp>
          <p:nvGrpSpPr>
            <p:cNvPr id="13" name="组合 12">
              <a:extLst>
                <a:ext uri="{FF2B5EF4-FFF2-40B4-BE49-F238E27FC236}">
                  <a16:creationId xmlns:a16="http://schemas.microsoft.com/office/drawing/2014/main" id="{55F43CD0-928E-8C48-BA84-2461A00B51BF}"/>
                </a:ext>
              </a:extLst>
            </p:cNvPr>
            <p:cNvGrpSpPr/>
            <p:nvPr/>
          </p:nvGrpSpPr>
          <p:grpSpPr>
            <a:xfrm>
              <a:off x="1368170" y="1165302"/>
              <a:ext cx="550582" cy="439737"/>
              <a:chOff x="1368170" y="664579"/>
              <a:chExt cx="550582" cy="439737"/>
            </a:xfrm>
          </p:grpSpPr>
          <p:sp>
            <p:nvSpPr>
              <p:cNvPr id="24" name="Freeform 1">
                <a:extLst>
                  <a:ext uri="{FF2B5EF4-FFF2-40B4-BE49-F238E27FC236}">
                    <a16:creationId xmlns:a16="http://schemas.microsoft.com/office/drawing/2014/main" id="{A71C3E21-5577-FF43-AF55-EB68F1E9E333}"/>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2">
                <a:extLst>
                  <a:ext uri="{FF2B5EF4-FFF2-40B4-BE49-F238E27FC236}">
                    <a16:creationId xmlns:a16="http://schemas.microsoft.com/office/drawing/2014/main" id="{4E023B9C-C051-EC4D-B128-585E35516408}"/>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3">
                <a:extLst>
                  <a:ext uri="{FF2B5EF4-FFF2-40B4-BE49-F238E27FC236}">
                    <a16:creationId xmlns:a16="http://schemas.microsoft.com/office/drawing/2014/main" id="{A96BECFD-148E-114F-A81C-239DCDA21535}"/>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4">
                <a:extLst>
                  <a:ext uri="{FF2B5EF4-FFF2-40B4-BE49-F238E27FC236}">
                    <a16:creationId xmlns:a16="http://schemas.microsoft.com/office/drawing/2014/main" id="{BE08FD99-D6A9-1A48-B3C7-5DF30AE02C7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5">
                <a:extLst>
                  <a:ext uri="{FF2B5EF4-FFF2-40B4-BE49-F238E27FC236}">
                    <a16:creationId xmlns:a16="http://schemas.microsoft.com/office/drawing/2014/main" id="{102AE785-E76F-D64A-9D2A-F382B66C71AD}"/>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6">
                <a:extLst>
                  <a:ext uri="{FF2B5EF4-FFF2-40B4-BE49-F238E27FC236}">
                    <a16:creationId xmlns:a16="http://schemas.microsoft.com/office/drawing/2014/main" id="{84358720-89B3-A64A-9B8C-48D27F5F1036}"/>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7">
                <a:extLst>
                  <a:ext uri="{FF2B5EF4-FFF2-40B4-BE49-F238E27FC236}">
                    <a16:creationId xmlns:a16="http://schemas.microsoft.com/office/drawing/2014/main" id="{B83B2B82-7F46-174A-BEE0-30C2FA53C79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8">
                <a:extLst>
                  <a:ext uri="{FF2B5EF4-FFF2-40B4-BE49-F238E27FC236}">
                    <a16:creationId xmlns:a16="http://schemas.microsoft.com/office/drawing/2014/main" id="{8C09104A-EBDA-D845-AA39-8757358A97BC}"/>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9">
                <a:extLst>
                  <a:ext uri="{FF2B5EF4-FFF2-40B4-BE49-F238E27FC236}">
                    <a16:creationId xmlns:a16="http://schemas.microsoft.com/office/drawing/2014/main" id="{081EDB8B-17F9-4B49-9ABB-7087B3625653}"/>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Freeform 10">
                <a:extLst>
                  <a:ext uri="{FF2B5EF4-FFF2-40B4-BE49-F238E27FC236}">
                    <a16:creationId xmlns:a16="http://schemas.microsoft.com/office/drawing/2014/main" id="{65C81ECF-1FAD-5D46-8BA6-B1184C567F64}"/>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Freeform 11">
                <a:extLst>
                  <a:ext uri="{FF2B5EF4-FFF2-40B4-BE49-F238E27FC236}">
                    <a16:creationId xmlns:a16="http://schemas.microsoft.com/office/drawing/2014/main" id="{F68D00D7-EBD9-574B-A827-73227AB29BB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4" name="组合 13">
              <a:extLst>
                <a:ext uri="{FF2B5EF4-FFF2-40B4-BE49-F238E27FC236}">
                  <a16:creationId xmlns:a16="http://schemas.microsoft.com/office/drawing/2014/main" id="{43698819-AB0C-9844-B519-966DF3F2F9CD}"/>
                </a:ext>
              </a:extLst>
            </p:cNvPr>
            <p:cNvGrpSpPr/>
            <p:nvPr/>
          </p:nvGrpSpPr>
          <p:grpSpPr>
            <a:xfrm>
              <a:off x="2028870" y="1197389"/>
              <a:ext cx="3479247" cy="365353"/>
              <a:chOff x="2028870" y="696666"/>
              <a:chExt cx="3479247" cy="365353"/>
            </a:xfrm>
            <a:solidFill>
              <a:schemeClr val="bg1">
                <a:lumMod val="50000"/>
              </a:schemeClr>
            </a:solidFill>
          </p:grpSpPr>
          <p:sp>
            <p:nvSpPr>
              <p:cNvPr id="15" name="Freeform 12">
                <a:extLst>
                  <a:ext uri="{FF2B5EF4-FFF2-40B4-BE49-F238E27FC236}">
                    <a16:creationId xmlns:a16="http://schemas.microsoft.com/office/drawing/2014/main" id="{A2ADFCE2-7117-4C4F-BB07-0CA44AB2F4C1}"/>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3">
                <a:extLst>
                  <a:ext uri="{FF2B5EF4-FFF2-40B4-BE49-F238E27FC236}">
                    <a16:creationId xmlns:a16="http://schemas.microsoft.com/office/drawing/2014/main" id="{27913D76-3F78-1640-8ABA-FD508552679A}"/>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4">
                <a:extLst>
                  <a:ext uri="{FF2B5EF4-FFF2-40B4-BE49-F238E27FC236}">
                    <a16:creationId xmlns:a16="http://schemas.microsoft.com/office/drawing/2014/main" id="{0251013D-C418-594D-8185-01EB2188AA1D}"/>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5">
                <a:extLst>
                  <a:ext uri="{FF2B5EF4-FFF2-40B4-BE49-F238E27FC236}">
                    <a16:creationId xmlns:a16="http://schemas.microsoft.com/office/drawing/2014/main" id="{85DA3DCB-B0ED-4F4A-B3A2-B512686F3295}"/>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6">
                <a:extLst>
                  <a:ext uri="{FF2B5EF4-FFF2-40B4-BE49-F238E27FC236}">
                    <a16:creationId xmlns:a16="http://schemas.microsoft.com/office/drawing/2014/main" id="{DF7B682E-6BBC-E346-9744-0008EBF2BCAF}"/>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7">
                <a:extLst>
                  <a:ext uri="{FF2B5EF4-FFF2-40B4-BE49-F238E27FC236}">
                    <a16:creationId xmlns:a16="http://schemas.microsoft.com/office/drawing/2014/main" id="{89ADDB60-01BA-DC49-8DE8-7909E412BF28}"/>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18">
                <a:extLst>
                  <a:ext uri="{FF2B5EF4-FFF2-40B4-BE49-F238E27FC236}">
                    <a16:creationId xmlns:a16="http://schemas.microsoft.com/office/drawing/2014/main" id="{BADAC444-7B1E-8B4F-95E1-B15009384CAD}"/>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Freeform 19">
                <a:extLst>
                  <a:ext uri="{FF2B5EF4-FFF2-40B4-BE49-F238E27FC236}">
                    <a16:creationId xmlns:a16="http://schemas.microsoft.com/office/drawing/2014/main" id="{DDEA1A75-7DDB-484D-B55F-83057427529B}"/>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0">
                <a:extLst>
                  <a:ext uri="{FF2B5EF4-FFF2-40B4-BE49-F238E27FC236}">
                    <a16:creationId xmlns:a16="http://schemas.microsoft.com/office/drawing/2014/main" id="{8BD7A1DA-D6BC-B540-8868-87444FFA8923}"/>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5" name="直线连接符 34">
            <a:extLst>
              <a:ext uri="{FF2B5EF4-FFF2-40B4-BE49-F238E27FC236}">
                <a16:creationId xmlns:a16="http://schemas.microsoft.com/office/drawing/2014/main" id="{E5DF8D13-70E0-AF46-8631-B0F3419D3CFD}"/>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36" name="Picture 35">
            <a:extLst>
              <a:ext uri="{FF2B5EF4-FFF2-40B4-BE49-F238E27FC236}">
                <a16:creationId xmlns:a16="http://schemas.microsoft.com/office/drawing/2014/main" id="{140A0461-94B9-9DA3-69C7-6D304B483032}"/>
              </a:ext>
            </a:extLst>
          </p:cNvPr>
          <p:cNvPicPr>
            <a:picLocks noChangeAspect="1"/>
          </p:cNvPicPr>
          <p:nvPr userDrawn="1"/>
        </p:nvPicPr>
        <p:blipFill>
          <a:blip r:embed="rId2"/>
          <a:stretch>
            <a:fillRect/>
          </a:stretch>
        </p:blipFill>
        <p:spPr>
          <a:xfrm>
            <a:off x="10201492" y="360786"/>
            <a:ext cx="1372094" cy="423211"/>
          </a:xfrm>
          <a:prstGeom prst="rect">
            <a:avLst/>
          </a:prstGeom>
        </p:spPr>
      </p:pic>
    </p:spTree>
    <p:extLst>
      <p:ext uri="{BB962C8B-B14F-4D97-AF65-F5344CB8AC3E}">
        <p14:creationId xmlns:p14="http://schemas.microsoft.com/office/powerpoint/2010/main" val="2029946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r>
              <a:rPr lang="en-US" altLang="zh-CN"/>
              <a:t>Computer Network</a:t>
            </a:r>
          </a:p>
        </p:txBody>
      </p:sp>
      <p:sp>
        <p:nvSpPr>
          <p:cNvPr id="3" name="Rectangle 3"/>
          <p:cNvSpPr>
            <a:spLocks noGrp="1" noChangeArrowheads="1"/>
          </p:cNvSpPr>
          <p:nvPr>
            <p:ph type="sldNum" sz="quarter" idx="11"/>
          </p:nvPr>
        </p:nvSpPr>
        <p:spPr>
          <a:ln/>
        </p:spPr>
        <p:txBody>
          <a:bodyPr/>
          <a:lstStyle>
            <a:lvl1pPr>
              <a:defRPr/>
            </a:lvl1pPr>
          </a:lstStyle>
          <a:p>
            <a:pPr>
              <a:defRPr/>
            </a:pPr>
            <a:fld id="{7216A855-119B-49D4-872D-EE13C10F3137}"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fld id="{0A21BEF3-27F4-4A1F-9DA7-272622B19532}" type="datetime1">
              <a:rPr lang="zh-CN" altLang="en-US"/>
              <a:pPr>
                <a:defRPr/>
              </a:pPr>
              <a:t>2024/9/27</a:t>
            </a:fld>
            <a:endParaRPr lang="en-US" altLang="zh-CN"/>
          </a:p>
        </p:txBody>
      </p:sp>
    </p:spTree>
    <p:extLst>
      <p:ext uri="{BB962C8B-B14F-4D97-AF65-F5344CB8AC3E}">
        <p14:creationId xmlns:p14="http://schemas.microsoft.com/office/powerpoint/2010/main" val="3431767399"/>
      </p:ext>
    </p:extLst>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t>2024/9/27</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5.gif"/></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3.bin"/><Relationship Id="rId1" Type="http://schemas.openxmlformats.org/officeDocument/2006/relationships/slideLayout" Target="../slideLayouts/slideLayout6.xml"/><Relationship Id="rId6" Type="http://schemas.openxmlformats.org/officeDocument/2006/relationships/oleObject" Target="../embeddings/oleObject5.bin"/><Relationship Id="rId5" Type="http://schemas.openxmlformats.org/officeDocument/2006/relationships/image" Target="../media/image33.wmf"/><Relationship Id="rId4" Type="http://schemas.openxmlformats.org/officeDocument/2006/relationships/oleObject" Target="../embeddings/oleObject4.bin"/><Relationship Id="rId9" Type="http://schemas.openxmlformats.org/officeDocument/2006/relationships/image" Target="../media/image35.wmf"/></Relationships>
</file>

<file path=ppt/slides/_rels/slide3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7.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42.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44.png"/><Relationship Id="rId4" Type="http://schemas.openxmlformats.org/officeDocument/2006/relationships/image" Target="../media/image41.wmf"/><Relationship Id="rId9" Type="http://schemas.openxmlformats.org/officeDocument/2006/relationships/oleObject" Target="../embeddings/oleObject10.bin"/></Relationships>
</file>

<file path=ppt/slides/_rels/slide40.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emf"/><Relationship Id="rId7" Type="http://schemas.openxmlformats.org/officeDocument/2006/relationships/oleObject" Target="../embeddings/oleObject17.bin"/><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49.emf"/><Relationship Id="rId4" Type="http://schemas.openxmlformats.org/officeDocument/2006/relationships/oleObject" Target="../embeddings/oleObject15.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4.wmf"/><Relationship Id="rId5" Type="http://schemas.openxmlformats.org/officeDocument/2006/relationships/oleObject" Target="../embeddings/oleObject19.bin"/><Relationship Id="rId4" Type="http://schemas.openxmlformats.org/officeDocument/2006/relationships/image" Target="../media/image53.wmf"/><Relationship Id="rId9" Type="http://schemas.openxmlformats.org/officeDocument/2006/relationships/image" Target="../media/image5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8.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0.wmf"/><Relationship Id="rId5" Type="http://schemas.openxmlformats.org/officeDocument/2006/relationships/oleObject" Target="../embeddings/oleObject24.bin"/><Relationship Id="rId4" Type="http://schemas.openxmlformats.org/officeDocument/2006/relationships/image" Target="../media/image59.wmf"/></Relationships>
</file>

<file path=ppt/slides/_rels/slide53.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62.wmf"/><Relationship Id="rId4" Type="http://schemas.openxmlformats.org/officeDocument/2006/relationships/oleObject" Target="../embeddings/oleObject26.bin"/></Relationships>
</file>

<file path=ppt/slides/_rels/slide5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oleObject" Target="../embeddings/oleObject27.bin"/><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6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1.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6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jpg"/></Relationships>
</file>

<file path=ppt/slides/_rels/slide6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jp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64.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image" Target="../media/image94.jpg"/><Relationship Id="rId1" Type="http://schemas.openxmlformats.org/officeDocument/2006/relationships/slideLayout" Target="../slideLayouts/slideLayout2.xml"/><Relationship Id="rId6" Type="http://schemas.openxmlformats.org/officeDocument/2006/relationships/image" Target="../media/image98.jpg"/><Relationship Id="rId5" Type="http://schemas.openxmlformats.org/officeDocument/2006/relationships/image" Target="../media/image97.jpg"/><Relationship Id="rId4" Type="http://schemas.openxmlformats.org/officeDocument/2006/relationships/image" Target="../media/image96.png"/></Relationships>
</file>

<file path=ppt/slides/_rels/slide6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jpeg"/></Relationships>
</file>

<file path=ppt/slides/_rels/slide6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07.png"/></Relationships>
</file>

<file path=ppt/slides/_rels/slide6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14.jpg"/></Relationships>
</file>

<file path=ppt/slides/_rels/slide7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jpg"/></Relationships>
</file>

<file path=ppt/slides/_rels/slide78.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7.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jpg"/><Relationship Id="rId1" Type="http://schemas.openxmlformats.org/officeDocument/2006/relationships/slideLayout" Target="../slideLayouts/slideLayout2.xml"/><Relationship Id="rId5" Type="http://schemas.openxmlformats.org/officeDocument/2006/relationships/image" Target="../media/image131.png"/><Relationship Id="rId4" Type="http://schemas.openxmlformats.org/officeDocument/2006/relationships/image" Target="../media/image130.png"/></Relationships>
</file>

<file path=ppt/slides/_rels/slide83.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 Id="rId4" Type="http://schemas.openxmlformats.org/officeDocument/2006/relationships/image" Target="../media/image13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41.jpeg"/><Relationship Id="rId4" Type="http://schemas.openxmlformats.org/officeDocument/2006/relationships/image" Target="../media/image140.jpeg"/></Relationships>
</file>

<file path=ppt/slides/_rels/slide8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oleObject" Target="../embeddings/oleObject28.bin"/><Relationship Id="rId1" Type="http://schemas.openxmlformats.org/officeDocument/2006/relationships/slideLayout" Target="../slideLayouts/slideLayout2.xml"/><Relationship Id="rId5" Type="http://schemas.openxmlformats.org/officeDocument/2006/relationships/image" Target="../media/image144.emf"/><Relationship Id="rId4" Type="http://schemas.openxmlformats.org/officeDocument/2006/relationships/oleObject" Target="../embeddings/oleObject29.bin"/></Relationships>
</file>

<file path=ppt/slides/_rels/slide9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2.xml"/><Relationship Id="rId4" Type="http://schemas.openxmlformats.org/officeDocument/2006/relationships/image" Target="../media/image147.jpg"/></Relationships>
</file>

<file path=ppt/slides/_rels/slide91.xml.rels><?xml version="1.0" encoding="UTF-8" standalone="yes"?>
<Relationships xmlns="http://schemas.openxmlformats.org/package/2006/relationships"><Relationship Id="rId2" Type="http://schemas.openxmlformats.org/officeDocument/2006/relationships/image" Target="../media/image148.gi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notesSlide" Target="../notesSlides/notesSlide23.xml"/></Relationships>
</file>

<file path=ppt/slides/_rels/slide93.xml.rels><?xml version="1.0" encoding="UTF-8" standalone="yes"?>
<Relationships xmlns="http://schemas.openxmlformats.org/package/2006/relationships"><Relationship Id="rId2" Type="http://schemas.openxmlformats.org/officeDocument/2006/relationships/image" Target="../media/image151.jp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54.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56.e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57.emf"/></Relationships>
</file>

<file path=ppt/slides/_rels/slide106.xml.rels><?xml version="1.0" encoding="UTF-8" standalone="yes"?>
<Relationships xmlns="http://schemas.openxmlformats.org/package/2006/relationships"><Relationship Id="rId2" Type="http://schemas.openxmlformats.org/officeDocument/2006/relationships/image" Target="../media/image156.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59.jp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image" Target="../media/image161.jpeg"/><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hyperlink" Target="../&#21160;&#30011;SWF/&#20013;&#32487;&#22120;.swf"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第二章 物理层</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dirty="0"/>
              <a:t>授课</a:t>
            </a:r>
            <a:r>
              <a:rPr kumimoji="1" lang="zh-CN" altLang="en-US" sz="3200"/>
              <a:t>教师：邢焕来</a:t>
            </a:r>
            <a:endParaRPr kumimoji="1" lang="en-US" altLang="zh-CN" sz="3200" dirty="0"/>
          </a:p>
        </p:txBody>
      </p:sp>
      <p:sp>
        <p:nvSpPr>
          <p:cNvPr id="6" name="TextBox 5">
            <a:extLst>
              <a:ext uri="{FF2B5EF4-FFF2-40B4-BE49-F238E27FC236}">
                <a16:creationId xmlns:a16="http://schemas.microsoft.com/office/drawing/2014/main" id="{57F5C1B8-0DC0-59F4-1FDD-532DA4BC1018}"/>
              </a:ext>
            </a:extLst>
          </p:cNvPr>
          <p:cNvSpPr txBox="1"/>
          <p:nvPr/>
        </p:nvSpPr>
        <p:spPr>
          <a:xfrm>
            <a:off x="2914651" y="6177069"/>
            <a:ext cx="6867525" cy="369332"/>
          </a:xfrm>
          <a:prstGeom prst="rect">
            <a:avLst/>
          </a:prstGeom>
          <a:noFill/>
        </p:spPr>
        <p:txBody>
          <a:bodyPr wrap="square">
            <a:spAutoFit/>
          </a:bodyPr>
          <a:lstStyle/>
          <a:p>
            <a:r>
              <a:rPr kumimoji="1" lang="zh-CN" altLang="en-US" dirty="0"/>
              <a:t>主要内容来自：计算机网络教案社区，版权归原作者所有，有增改</a:t>
            </a:r>
            <a:endParaRPr lang="en-CN" dirty="0"/>
          </a:p>
        </p:txBody>
      </p:sp>
    </p:spTree>
    <p:extLst>
      <p:ext uri="{BB962C8B-B14F-4D97-AF65-F5344CB8AC3E}">
        <p14:creationId xmlns:p14="http://schemas.microsoft.com/office/powerpoint/2010/main" val="690700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本章目标</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38200" y="1769655"/>
            <a:ext cx="10515600" cy="4031537"/>
          </a:xfrm>
        </p:spPr>
        <p:txBody>
          <a:bodyPr>
            <a:normAutofit lnSpcReduction="10000"/>
          </a:bodyPr>
          <a:lstStyle/>
          <a:p>
            <a:r>
              <a:rPr lang="zh-CN" altLang="en-US" dirty="0"/>
              <a:t>理解物理层基本概念、功能和基本特性</a:t>
            </a:r>
            <a:endParaRPr lang="en-US" altLang="zh-CN" dirty="0"/>
          </a:p>
          <a:p>
            <a:r>
              <a:rPr lang="zh-CN" altLang="en-US" dirty="0"/>
              <a:t>掌握数据通信的基本术语、不同传输方式的特点和传输性能的刻画与度量</a:t>
            </a:r>
            <a:endParaRPr lang="en-US" altLang="zh-CN" dirty="0"/>
          </a:p>
          <a:p>
            <a:r>
              <a:rPr lang="zh-CN" altLang="en-US" dirty="0"/>
              <a:t>理解不同传输介质的特点</a:t>
            </a:r>
            <a:endParaRPr lang="en-US" altLang="zh-CN" dirty="0"/>
          </a:p>
          <a:p>
            <a:r>
              <a:rPr lang="zh-CN" altLang="en-US" dirty="0"/>
              <a:t>理解无线与卫星通信的特点和属性</a:t>
            </a:r>
            <a:endParaRPr lang="en-US" altLang="zh-CN" dirty="0"/>
          </a:p>
          <a:p>
            <a:r>
              <a:rPr lang="zh-CN" altLang="en-US" dirty="0"/>
              <a:t>掌握不同多路复用技术的基本原理和特点</a:t>
            </a:r>
            <a:endParaRPr lang="en-US" altLang="zh-CN" dirty="0"/>
          </a:p>
          <a:p>
            <a:endParaRPr lang="en-US" altLang="zh-CN" dirty="0">
              <a:highlight>
                <a:srgbClr val="FFFF00"/>
              </a:highlight>
            </a:endParaRPr>
          </a:p>
          <a:p>
            <a:r>
              <a:rPr lang="zh-CN" altLang="en-US" dirty="0">
                <a:highlight>
                  <a:srgbClr val="FFFF00"/>
                </a:highlight>
              </a:rPr>
              <a:t>奈氏准则、香农公式、曼切斯特编码（会画图）、</a:t>
            </a:r>
            <a:r>
              <a:rPr lang="en-US" altLang="zh-CN" dirty="0">
                <a:highlight>
                  <a:srgbClr val="FFFF00"/>
                </a:highlight>
              </a:rPr>
              <a:t>CDMA</a:t>
            </a:r>
            <a:r>
              <a:rPr lang="zh-CN" altLang="en-US" dirty="0">
                <a:highlight>
                  <a:srgbClr val="FFFF00"/>
                </a:highlight>
              </a:rPr>
              <a:t>的验算计算</a:t>
            </a:r>
            <a:endParaRPr lang="en-US" altLang="zh-CN" dirty="0">
              <a:highlight>
                <a:srgbClr val="FFFF00"/>
              </a:highlight>
            </a:endParaRPr>
          </a:p>
          <a:p>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1917949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906440" y="1438783"/>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t>2.2 </a:t>
            </a:r>
            <a:r>
              <a:rPr lang="zh-CN" altLang="en-US" dirty="0"/>
              <a:t>数据通信基础</a:t>
            </a:r>
            <a:endParaRPr lang="en-US" altLang="zh-CN" dirty="0"/>
          </a:p>
          <a:p>
            <a:pPr marL="0" indent="0">
              <a:lnSpc>
                <a:spcPct val="160000"/>
              </a:lnSpc>
              <a:buNone/>
            </a:pPr>
            <a:r>
              <a:rPr lang="en-US" altLang="zh-CN" dirty="0"/>
              <a:t>2.3 </a:t>
            </a:r>
            <a:r>
              <a:rPr lang="zh-CN" altLang="en-US" dirty="0"/>
              <a:t>传输介质</a:t>
            </a:r>
            <a:endParaRPr lang="en-US" altLang="zh-CN" dirty="0"/>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t>2.5 </a:t>
            </a:r>
            <a:r>
              <a:rPr lang="zh-CN" altLang="en-US" dirty="0"/>
              <a:t>多路复用技术</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6096000" y="1411486"/>
            <a:ext cx="3814781" cy="1676313"/>
          </a:xfrm>
          <a:prstGeom prst="wedgeRectCallout">
            <a:avLst>
              <a:gd name="adj1" fmla="val -89991"/>
              <a:gd name="adj2" fmla="val -2145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物理层功能</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物理层特性</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物理层标准及示例</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38003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78">
            <a:extLst>
              <a:ext uri="{FF2B5EF4-FFF2-40B4-BE49-F238E27FC236}">
                <a16:creationId xmlns:a16="http://schemas.microsoft.com/office/drawing/2014/main" id="{6CE837A9-9AA7-4A06-9926-6B1979571EB4}"/>
              </a:ext>
            </a:extLst>
          </p:cNvPr>
          <p:cNvSpPr/>
          <p:nvPr/>
        </p:nvSpPr>
        <p:spPr>
          <a:xfrm>
            <a:off x="9980255" y="1489769"/>
            <a:ext cx="1976935" cy="4324176"/>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 name="标题 1"/>
          <p:cNvSpPr>
            <a:spLocks noGrp="1"/>
          </p:cNvSpPr>
          <p:nvPr>
            <p:ph type="title"/>
          </p:nvPr>
        </p:nvSpPr>
        <p:spPr/>
        <p:txBody>
          <a:bodyPr/>
          <a:lstStyle/>
          <a:p>
            <a:r>
              <a:rPr kumimoji="1" lang="zh-CN" altLang="en-US" dirty="0"/>
              <a:t>物理层功能</a:t>
            </a:r>
            <a:endParaRPr lang="zh-CN" altLang="en-US" dirty="0"/>
          </a:p>
        </p:txBody>
      </p:sp>
      <p:sp>
        <p:nvSpPr>
          <p:cNvPr id="3" name="内容占位符 2"/>
          <p:cNvSpPr>
            <a:spLocks noGrp="1"/>
          </p:cNvSpPr>
          <p:nvPr>
            <p:ph idx="1"/>
          </p:nvPr>
        </p:nvSpPr>
        <p:spPr>
          <a:xfrm>
            <a:off x="487017" y="1354365"/>
            <a:ext cx="11360426" cy="5347242"/>
          </a:xfrm>
        </p:spPr>
        <p:txBody>
          <a:bodyPr/>
          <a:lstStyle/>
          <a:p>
            <a:pPr>
              <a:lnSpc>
                <a:spcPts val="3700"/>
              </a:lnSpc>
            </a:pPr>
            <a:r>
              <a:rPr lang="zh-CN" altLang="en-US" b="1" dirty="0">
                <a:solidFill>
                  <a:srgbClr val="5B307E"/>
                </a:solidFill>
              </a:rPr>
              <a:t>位置</a:t>
            </a:r>
            <a:r>
              <a:rPr lang="zh-CN" altLang="en-US" dirty="0">
                <a:solidFill>
                  <a:srgbClr val="5B307E"/>
                </a:solidFill>
              </a:rPr>
              <a:t>：</a:t>
            </a:r>
            <a:r>
              <a:rPr lang="zh-CN" altLang="en-US" dirty="0"/>
              <a:t>物理层是网络体系结构中的最低层</a:t>
            </a:r>
            <a:endParaRPr lang="en-US" altLang="zh-CN" dirty="0"/>
          </a:p>
          <a:p>
            <a:pPr lvl="1">
              <a:lnSpc>
                <a:spcPts val="3700"/>
              </a:lnSpc>
            </a:pPr>
            <a:r>
              <a:rPr lang="zh-CN" altLang="en-US" dirty="0"/>
              <a:t>是连接计算机的具体物理设备吗？</a:t>
            </a:r>
            <a:r>
              <a:rPr lang="en-US" altLang="zh-CN" dirty="0">
                <a:solidFill>
                  <a:srgbClr val="C00000"/>
                </a:solidFill>
              </a:rPr>
              <a:t>×</a:t>
            </a:r>
            <a:r>
              <a:rPr lang="zh-CN" altLang="en-US" dirty="0">
                <a:solidFill>
                  <a:srgbClr val="C00000"/>
                </a:solidFill>
              </a:rPr>
              <a:t>不是</a:t>
            </a:r>
            <a:endParaRPr lang="en-US" altLang="zh-CN" dirty="0">
              <a:solidFill>
                <a:srgbClr val="C00000"/>
              </a:solidFill>
            </a:endParaRPr>
          </a:p>
          <a:p>
            <a:pPr lvl="1">
              <a:lnSpc>
                <a:spcPts val="3700"/>
              </a:lnSpc>
            </a:pPr>
            <a:r>
              <a:rPr lang="zh-CN" altLang="en-US" dirty="0"/>
              <a:t>是负责信号传输的具体物理媒体吗？</a:t>
            </a:r>
            <a:r>
              <a:rPr lang="en-US" altLang="zh-CN" dirty="0">
                <a:solidFill>
                  <a:srgbClr val="C00000"/>
                </a:solidFill>
              </a:rPr>
              <a:t>×</a:t>
            </a:r>
            <a:r>
              <a:rPr lang="zh-CN" altLang="en-US" dirty="0">
                <a:solidFill>
                  <a:srgbClr val="C00000"/>
                </a:solidFill>
              </a:rPr>
              <a:t>不是</a:t>
            </a:r>
            <a:endParaRPr lang="en-US" altLang="zh-CN" dirty="0">
              <a:solidFill>
                <a:srgbClr val="C00000"/>
              </a:solidFill>
            </a:endParaRPr>
          </a:p>
          <a:p>
            <a:pPr>
              <a:lnSpc>
                <a:spcPts val="3700"/>
              </a:lnSpc>
            </a:pPr>
            <a:r>
              <a:rPr lang="zh-CN" altLang="en-US" b="1" dirty="0">
                <a:solidFill>
                  <a:srgbClr val="5B307E"/>
                </a:solidFill>
              </a:rPr>
              <a:t>功能</a:t>
            </a:r>
            <a:r>
              <a:rPr lang="zh-CN" altLang="en-US" dirty="0">
                <a:solidFill>
                  <a:srgbClr val="5B307E"/>
                </a:solidFill>
              </a:rPr>
              <a:t>：</a:t>
            </a:r>
            <a:r>
              <a:rPr lang="zh-CN" altLang="en-US" dirty="0"/>
              <a:t>如何在连接各计算机的传输媒体上</a:t>
            </a:r>
            <a:r>
              <a:rPr lang="zh-CN" altLang="en-US" dirty="0">
                <a:solidFill>
                  <a:srgbClr val="C00000"/>
                </a:solidFill>
              </a:rPr>
              <a:t>传输数据比特流</a:t>
            </a:r>
            <a:endParaRPr lang="en-US" altLang="zh-CN" dirty="0">
              <a:solidFill>
                <a:srgbClr val="C00000"/>
              </a:solidFill>
            </a:endParaRPr>
          </a:p>
          <a:p>
            <a:pPr lvl="1">
              <a:lnSpc>
                <a:spcPts val="3700"/>
              </a:lnSpc>
            </a:pPr>
            <a:r>
              <a:rPr lang="zh-CN" altLang="en-US" dirty="0"/>
              <a:t>数据链路层将数据比特流传送给物理层</a:t>
            </a:r>
            <a:endParaRPr lang="en-US" altLang="zh-CN" dirty="0"/>
          </a:p>
          <a:p>
            <a:pPr lvl="1">
              <a:lnSpc>
                <a:spcPts val="3700"/>
              </a:lnSpc>
            </a:pPr>
            <a:r>
              <a:rPr lang="zh-CN" altLang="en-US" dirty="0"/>
              <a:t>物理层将比特流按照传输媒体的需要进行编码</a:t>
            </a:r>
            <a:endParaRPr lang="en-US" altLang="zh-CN" dirty="0"/>
          </a:p>
          <a:p>
            <a:pPr lvl="1">
              <a:lnSpc>
                <a:spcPts val="3700"/>
              </a:lnSpc>
            </a:pPr>
            <a:r>
              <a:rPr lang="zh-CN" altLang="en-US" dirty="0"/>
              <a:t>然后将信号通过传输媒体传输到下一个节点的物理层</a:t>
            </a:r>
          </a:p>
          <a:p>
            <a:pPr>
              <a:lnSpc>
                <a:spcPts val="3700"/>
              </a:lnSpc>
            </a:pPr>
            <a:r>
              <a:rPr lang="zh-CN" altLang="en-US" b="1" dirty="0">
                <a:solidFill>
                  <a:srgbClr val="5B307E"/>
                </a:solidFill>
              </a:rPr>
              <a:t>作用</a:t>
            </a:r>
            <a:r>
              <a:rPr lang="zh-CN" altLang="en-US" dirty="0"/>
              <a:t>：尽可能地</a:t>
            </a:r>
            <a:r>
              <a:rPr lang="zh-CN" altLang="en-US" dirty="0">
                <a:solidFill>
                  <a:srgbClr val="C00000"/>
                </a:solidFill>
              </a:rPr>
              <a:t>屏蔽掉不同传输媒体和通信手段的差异</a:t>
            </a:r>
            <a:endParaRPr lang="en-US" altLang="zh-CN" dirty="0">
              <a:solidFill>
                <a:srgbClr val="C00000"/>
              </a:solidFill>
            </a:endParaRPr>
          </a:p>
          <a:p>
            <a:pPr lvl="1">
              <a:lnSpc>
                <a:spcPts val="3700"/>
              </a:lnSpc>
            </a:pPr>
            <a:r>
              <a:rPr lang="zh-CN" altLang="en-US" dirty="0"/>
              <a:t>为数据链路层提供一个统一的数据传输服务</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a:t>
            </a:fld>
            <a:endParaRPr kumimoji="1" lang="zh-CN" altLang="en-US" dirty="0"/>
          </a:p>
        </p:txBody>
      </p:sp>
      <p:sp>
        <p:nvSpPr>
          <p:cNvPr id="10" name="文本框 9">
            <a:extLst>
              <a:ext uri="{FF2B5EF4-FFF2-40B4-BE49-F238E27FC236}">
                <a16:creationId xmlns:a16="http://schemas.microsoft.com/office/drawing/2014/main" id="{F29DFACD-FE59-465E-A26E-6943C6DD7801}"/>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028" name="Picture 4"/>
          <p:cNvPicPr>
            <a:picLocks noChangeAspect="1" noChangeArrowheads="1"/>
          </p:cNvPicPr>
          <p:nvPr/>
        </p:nvPicPr>
        <p:blipFill>
          <a:blip r:embed="rId2"/>
          <a:srcRect/>
          <a:stretch>
            <a:fillRect/>
          </a:stretch>
        </p:blipFill>
        <p:spPr bwMode="auto">
          <a:xfrm>
            <a:off x="10075793" y="1558009"/>
            <a:ext cx="1771650" cy="4162425"/>
          </a:xfrm>
          <a:prstGeom prst="rect">
            <a:avLst/>
          </a:prstGeom>
          <a:noFill/>
          <a:ln w="9525">
            <a:noFill/>
            <a:miter lim="800000"/>
            <a:headEnd/>
            <a:tailEnd/>
          </a:ln>
        </p:spPr>
      </p:pic>
      <p:sp>
        <p:nvSpPr>
          <p:cNvPr id="11" name="TextBox 10"/>
          <p:cNvSpPr txBox="1"/>
          <p:nvPr/>
        </p:nvSpPr>
        <p:spPr>
          <a:xfrm>
            <a:off x="9980256" y="5938802"/>
            <a:ext cx="2116207" cy="400110"/>
          </a:xfrm>
          <a:prstGeom prst="rect">
            <a:avLst/>
          </a:prstGeom>
          <a:noFill/>
        </p:spPr>
        <p:txBody>
          <a:bodyPr wrap="square" rtlCol="0">
            <a:spAutoFit/>
          </a:bodyPr>
          <a:lstStyle/>
          <a:p>
            <a:r>
              <a:rPr lang="en-US" altLang="zh-CN" sz="2000" dirty="0">
                <a:latin typeface="Microsoft YaHei" panose="020B0503020204020204" pitchFamily="34" charset="-122"/>
                <a:ea typeface="Microsoft YaHei" panose="020B0503020204020204" pitchFamily="34" charset="-122"/>
              </a:rPr>
              <a:t>TCP/IP 5</a:t>
            </a:r>
            <a:r>
              <a:rPr lang="zh-CN" altLang="en-US" sz="2000" dirty="0">
                <a:latin typeface="Microsoft YaHei" panose="020B0503020204020204" pitchFamily="34" charset="-122"/>
                <a:ea typeface="Microsoft YaHei" panose="020B0503020204020204" pitchFamily="34" charset="-122"/>
              </a:rPr>
              <a:t>层模型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物理层接口特性</a:t>
            </a:r>
            <a:endParaRPr lang="zh-CN" altLang="en-US" dirty="0"/>
          </a:p>
        </p:txBody>
      </p:sp>
      <p:sp>
        <p:nvSpPr>
          <p:cNvPr id="3" name="内容占位符 2"/>
          <p:cNvSpPr>
            <a:spLocks noGrp="1"/>
          </p:cNvSpPr>
          <p:nvPr>
            <p:ph idx="1"/>
          </p:nvPr>
        </p:nvSpPr>
        <p:spPr>
          <a:xfrm>
            <a:off x="625825" y="1341783"/>
            <a:ext cx="10515600" cy="5151091"/>
          </a:xfrm>
        </p:spPr>
        <p:txBody>
          <a:bodyPr>
            <a:normAutofit/>
          </a:bodyPr>
          <a:lstStyle/>
          <a:p>
            <a:pPr>
              <a:lnSpc>
                <a:spcPts val="3000"/>
              </a:lnSpc>
            </a:pPr>
            <a:r>
              <a:rPr lang="zh-CN" altLang="en-US" b="1" dirty="0">
                <a:solidFill>
                  <a:srgbClr val="5B307E"/>
                </a:solidFill>
              </a:rPr>
              <a:t>数据终端设备</a:t>
            </a:r>
            <a:r>
              <a:rPr lang="en-US" altLang="zh-CN" b="1" dirty="0">
                <a:solidFill>
                  <a:srgbClr val="5B307E"/>
                </a:solidFill>
              </a:rPr>
              <a:t>(DTE)</a:t>
            </a:r>
          </a:p>
          <a:p>
            <a:pPr lvl="1">
              <a:lnSpc>
                <a:spcPts val="3000"/>
              </a:lnSpc>
            </a:pPr>
            <a:r>
              <a:rPr lang="zh-CN" altLang="en-US" dirty="0"/>
              <a:t>一种具有一定的数据处理和转发能力的设备</a:t>
            </a:r>
            <a:endParaRPr lang="en-US" altLang="zh-CN" dirty="0"/>
          </a:p>
          <a:p>
            <a:pPr lvl="1">
              <a:lnSpc>
                <a:spcPts val="3000"/>
              </a:lnSpc>
            </a:pPr>
            <a:r>
              <a:rPr lang="zh-CN" altLang="en-US" dirty="0"/>
              <a:t>可以是数据的源点或终点</a:t>
            </a:r>
            <a:endParaRPr lang="en-US" altLang="zh-CN" dirty="0"/>
          </a:p>
          <a:p>
            <a:pPr>
              <a:lnSpc>
                <a:spcPts val="3000"/>
              </a:lnSpc>
            </a:pPr>
            <a:r>
              <a:rPr lang="zh-CN" altLang="en-US" b="1" dirty="0">
                <a:solidFill>
                  <a:srgbClr val="5B307E"/>
                </a:solidFill>
              </a:rPr>
              <a:t>数据电路终结设备</a:t>
            </a:r>
            <a:r>
              <a:rPr lang="en-US" altLang="zh-CN" b="1" dirty="0">
                <a:solidFill>
                  <a:srgbClr val="5B307E"/>
                </a:solidFill>
              </a:rPr>
              <a:t>(DCE)</a:t>
            </a:r>
          </a:p>
          <a:p>
            <a:pPr lvl="1">
              <a:lnSpc>
                <a:spcPts val="3000"/>
              </a:lnSpc>
            </a:pPr>
            <a:r>
              <a:rPr lang="zh-CN" altLang="en-US" dirty="0"/>
              <a:t>在</a:t>
            </a:r>
            <a:r>
              <a:rPr lang="en-US" altLang="zh-CN" dirty="0"/>
              <a:t>DTE</a:t>
            </a:r>
            <a:r>
              <a:rPr lang="zh-CN" altLang="en-US" dirty="0"/>
              <a:t>和传输线路之间提供信号</a:t>
            </a:r>
            <a:endParaRPr lang="en-US" altLang="zh-CN" dirty="0"/>
          </a:p>
          <a:p>
            <a:pPr lvl="1">
              <a:lnSpc>
                <a:spcPts val="3000"/>
              </a:lnSpc>
              <a:buNone/>
            </a:pPr>
            <a:r>
              <a:rPr lang="en-US" altLang="zh-CN" dirty="0"/>
              <a:t>   </a:t>
            </a:r>
            <a:r>
              <a:rPr lang="zh-CN" altLang="en-US" dirty="0"/>
              <a:t>变换和编码的功能</a:t>
            </a:r>
            <a:endParaRPr lang="en-US" altLang="zh-CN" dirty="0"/>
          </a:p>
          <a:p>
            <a:pPr lvl="1">
              <a:lnSpc>
                <a:spcPts val="3000"/>
              </a:lnSpc>
            </a:pPr>
            <a:r>
              <a:rPr lang="zh-CN" altLang="en-US" dirty="0"/>
              <a:t>负责建立、保持和释放数据链路</a:t>
            </a:r>
            <a:endParaRPr lang="en-US" altLang="zh-CN" dirty="0"/>
          </a:p>
          <a:p>
            <a:pPr>
              <a:lnSpc>
                <a:spcPts val="3000"/>
              </a:lnSpc>
            </a:pPr>
            <a:r>
              <a:rPr lang="zh-CN" altLang="en-US" dirty="0"/>
              <a:t>标准化的</a:t>
            </a:r>
            <a:r>
              <a:rPr lang="en-US" altLang="zh-CN" dirty="0"/>
              <a:t>DTE/DCE</a:t>
            </a:r>
            <a:r>
              <a:rPr lang="zh-CN" altLang="en-US" dirty="0"/>
              <a:t>接口具有</a:t>
            </a:r>
            <a:endParaRPr lang="en-US" altLang="zh-CN" dirty="0"/>
          </a:p>
          <a:p>
            <a:pPr lvl="1">
              <a:lnSpc>
                <a:spcPts val="3000"/>
              </a:lnSpc>
            </a:pPr>
            <a:r>
              <a:rPr lang="zh-CN" altLang="en-US" dirty="0">
                <a:solidFill>
                  <a:srgbClr val="C00000"/>
                </a:solidFill>
              </a:rPr>
              <a:t>机械特性、电气特性</a:t>
            </a:r>
            <a:endParaRPr lang="en-US" altLang="zh-CN" dirty="0">
              <a:solidFill>
                <a:srgbClr val="C00000"/>
              </a:solidFill>
            </a:endParaRPr>
          </a:p>
          <a:p>
            <a:pPr lvl="1">
              <a:lnSpc>
                <a:spcPts val="3000"/>
              </a:lnSpc>
            </a:pPr>
            <a:r>
              <a:rPr lang="zh-CN" altLang="en-US" dirty="0">
                <a:solidFill>
                  <a:srgbClr val="C00000"/>
                </a:solidFill>
              </a:rPr>
              <a:t>功能特性、过程特性</a:t>
            </a:r>
          </a:p>
          <a:p>
            <a:pPr marL="228600" lvl="1">
              <a:lnSpc>
                <a:spcPts val="3000"/>
              </a:lnSpc>
              <a:buFont typeface="Wingdings" pitchFamily="2" charset="2"/>
              <a:buChar char="Ø"/>
            </a:pPr>
            <a:r>
              <a:rPr lang="zh-CN" altLang="en-US" sz="2800" dirty="0"/>
              <a:t>物理层协议是</a:t>
            </a:r>
            <a:r>
              <a:rPr lang="en-US" altLang="zh-CN" sz="2800" dirty="0"/>
              <a:t>DTE</a:t>
            </a:r>
            <a:r>
              <a:rPr lang="zh-CN" altLang="en-US" sz="2800" dirty="0"/>
              <a:t>和</a:t>
            </a:r>
            <a:r>
              <a:rPr lang="en-US" altLang="zh-CN" sz="2800" dirty="0"/>
              <a:t>DCE</a:t>
            </a:r>
            <a:r>
              <a:rPr lang="zh-CN" altLang="en-US" sz="2800" dirty="0"/>
              <a:t>间的约定，规定了两者之间的接口特性</a:t>
            </a:r>
            <a:endParaRPr lang="en-US" altLang="zh-CN" sz="2800" dirty="0"/>
          </a:p>
          <a:p>
            <a:pPr marL="457200" lvl="1" indent="0">
              <a:lnSpc>
                <a:spcPts val="2600"/>
              </a:lnSpc>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a:t>
            </a:fld>
            <a:endParaRPr kumimoji="1" lang="zh-CN" altLang="en-US" dirty="0"/>
          </a:p>
        </p:txBody>
      </p:sp>
      <p:sp>
        <p:nvSpPr>
          <p:cNvPr id="11" name="TextBox 10"/>
          <p:cNvSpPr txBox="1"/>
          <p:nvPr/>
        </p:nvSpPr>
        <p:spPr>
          <a:xfrm>
            <a:off x="7193896" y="5537304"/>
            <a:ext cx="3138985" cy="400110"/>
          </a:xfrm>
          <a:prstGeom prst="rect">
            <a:avLst/>
          </a:prstGeom>
          <a:noFill/>
        </p:spPr>
        <p:txBody>
          <a:bodyPr wrap="square" rtlCol="0">
            <a:spAutoFit/>
          </a:bodyPr>
          <a:lstStyle/>
          <a:p>
            <a:pPr algn="ctr"/>
            <a:r>
              <a:rPr lang="zh-CN" altLang="en-US" sz="2000" dirty="0">
                <a:latin typeface="Microsoft YaHei" panose="020B0503020204020204" pitchFamily="34" charset="-122"/>
                <a:ea typeface="Microsoft YaHei" panose="020B0503020204020204" pitchFamily="34" charset="-122"/>
              </a:rPr>
              <a:t>数据通信系统组成</a:t>
            </a:r>
          </a:p>
        </p:txBody>
      </p:sp>
      <p:sp>
        <p:nvSpPr>
          <p:cNvPr id="21" name="内容占位符 2">
            <a:extLst>
              <a:ext uri="{FF2B5EF4-FFF2-40B4-BE49-F238E27FC236}">
                <a16:creationId xmlns:a16="http://schemas.microsoft.com/office/drawing/2014/main" id="{3F5A464D-D780-4732-84F8-BDE172C77869}"/>
              </a:ext>
            </a:extLst>
          </p:cNvPr>
          <p:cNvSpPr txBox="1">
            <a:spLocks/>
          </p:cNvSpPr>
          <p:nvPr/>
        </p:nvSpPr>
        <p:spPr>
          <a:xfrm>
            <a:off x="257329" y="5934661"/>
            <a:ext cx="10515600" cy="52423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000"/>
              </a:lnSpc>
            </a:pPr>
            <a:endParaRPr lang="en-US" altLang="zh-CN" dirty="0"/>
          </a:p>
        </p:txBody>
      </p:sp>
      <p:sp>
        <p:nvSpPr>
          <p:cNvPr id="22" name="文本框 21">
            <a:extLst>
              <a:ext uri="{FF2B5EF4-FFF2-40B4-BE49-F238E27FC236}">
                <a16:creationId xmlns:a16="http://schemas.microsoft.com/office/drawing/2014/main" id="{C6551BD8-7396-44CC-8026-F89D577EFBDE}"/>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4B496181-32B4-634D-8DF0-55E24906CFE7}"/>
              </a:ext>
            </a:extLst>
          </p:cNvPr>
          <p:cNvGrpSpPr/>
          <p:nvPr/>
        </p:nvGrpSpPr>
        <p:grpSpPr>
          <a:xfrm>
            <a:off x="5601300" y="2210937"/>
            <a:ext cx="6354142" cy="3370855"/>
            <a:chOff x="5273748" y="2727756"/>
            <a:chExt cx="6988767" cy="3057096"/>
          </a:xfrm>
        </p:grpSpPr>
        <p:grpSp>
          <p:nvGrpSpPr>
            <p:cNvPr id="5" name="组合 4">
              <a:extLst>
                <a:ext uri="{FF2B5EF4-FFF2-40B4-BE49-F238E27FC236}">
                  <a16:creationId xmlns:a16="http://schemas.microsoft.com/office/drawing/2014/main" id="{563A02BB-1428-4E61-8284-F5B352AD0436}"/>
                </a:ext>
              </a:extLst>
            </p:cNvPr>
            <p:cNvGrpSpPr/>
            <p:nvPr/>
          </p:nvGrpSpPr>
          <p:grpSpPr>
            <a:xfrm>
              <a:off x="5337705" y="2727756"/>
              <a:ext cx="6924810" cy="3057096"/>
              <a:chOff x="5401523" y="2825089"/>
              <a:chExt cx="6797035" cy="3057096"/>
            </a:xfrm>
          </p:grpSpPr>
          <p:sp>
            <p:nvSpPr>
              <p:cNvPr id="10" name="矩形: 圆角 78">
                <a:extLst>
                  <a:ext uri="{FF2B5EF4-FFF2-40B4-BE49-F238E27FC236}">
                    <a16:creationId xmlns:a16="http://schemas.microsoft.com/office/drawing/2014/main" id="{6CE837A9-9AA7-4A06-9926-6B1979571EB4}"/>
                  </a:ext>
                </a:extLst>
              </p:cNvPr>
              <p:cNvSpPr/>
              <p:nvPr/>
            </p:nvSpPr>
            <p:spPr>
              <a:xfrm>
                <a:off x="5436587" y="2825089"/>
                <a:ext cx="6675508" cy="3057096"/>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pic>
            <p:nvPicPr>
              <p:cNvPr id="1027" name="Picture 3"/>
              <p:cNvPicPr>
                <a:picLocks noChangeAspect="1" noChangeArrowheads="1"/>
              </p:cNvPicPr>
              <p:nvPr/>
            </p:nvPicPr>
            <p:blipFill>
              <a:blip r:embed="rId3"/>
              <a:srcRect/>
              <a:stretch>
                <a:fillRect/>
              </a:stretch>
            </p:blipFill>
            <p:spPr bwMode="auto">
              <a:xfrm>
                <a:off x="5576887" y="3271824"/>
                <a:ext cx="6067425" cy="2305050"/>
              </a:xfrm>
              <a:prstGeom prst="rect">
                <a:avLst/>
              </a:prstGeom>
              <a:noFill/>
              <a:ln w="9525">
                <a:noFill/>
                <a:miter lim="800000"/>
                <a:headEnd/>
                <a:tailEnd/>
              </a:ln>
            </p:spPr>
          </p:pic>
          <p:sp>
            <p:nvSpPr>
              <p:cNvPr id="13" name="TextBox 12"/>
              <p:cNvSpPr txBox="1"/>
              <p:nvPr/>
            </p:nvSpPr>
            <p:spPr>
              <a:xfrm>
                <a:off x="10959977" y="2932856"/>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用户环境</a:t>
                </a:r>
              </a:p>
            </p:txBody>
          </p:sp>
          <p:sp>
            <p:nvSpPr>
              <p:cNvPr id="14" name="TextBox 13"/>
              <p:cNvSpPr txBox="1"/>
              <p:nvPr/>
            </p:nvSpPr>
            <p:spPr>
              <a:xfrm>
                <a:off x="5401523" y="5392208"/>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用户设施</a:t>
                </a:r>
              </a:p>
            </p:txBody>
          </p:sp>
          <p:sp>
            <p:nvSpPr>
              <p:cNvPr id="15" name="TextBox 14"/>
              <p:cNvSpPr txBox="1"/>
              <p:nvPr/>
            </p:nvSpPr>
            <p:spPr>
              <a:xfrm>
                <a:off x="10740112" y="5392208"/>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用户设施</a:t>
                </a:r>
              </a:p>
            </p:txBody>
          </p:sp>
          <p:sp>
            <p:nvSpPr>
              <p:cNvPr id="16" name="TextBox 15"/>
              <p:cNvSpPr txBox="1"/>
              <p:nvPr/>
            </p:nvSpPr>
            <p:spPr>
              <a:xfrm>
                <a:off x="7991309" y="4768366"/>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通信设施</a:t>
                </a:r>
              </a:p>
            </p:txBody>
          </p:sp>
          <p:sp>
            <p:nvSpPr>
              <p:cNvPr id="17" name="TextBox 16"/>
              <p:cNvSpPr txBox="1"/>
              <p:nvPr/>
            </p:nvSpPr>
            <p:spPr>
              <a:xfrm>
                <a:off x="8078991" y="5150224"/>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通信环境</a:t>
                </a:r>
              </a:p>
            </p:txBody>
          </p:sp>
          <p:sp>
            <p:nvSpPr>
              <p:cNvPr id="18" name="TextBox 17"/>
              <p:cNvSpPr txBox="1"/>
              <p:nvPr/>
            </p:nvSpPr>
            <p:spPr>
              <a:xfrm>
                <a:off x="6308801" y="2932856"/>
                <a:ext cx="1770190"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信号线和控制线</a:t>
                </a:r>
              </a:p>
            </p:txBody>
          </p:sp>
          <p:sp>
            <p:nvSpPr>
              <p:cNvPr id="19" name="TextBox 18"/>
              <p:cNvSpPr txBox="1"/>
              <p:nvPr/>
            </p:nvSpPr>
            <p:spPr>
              <a:xfrm>
                <a:off x="9330098" y="2932856"/>
                <a:ext cx="1770190"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信号线和控制线</a:t>
                </a:r>
              </a:p>
            </p:txBody>
          </p:sp>
          <p:sp>
            <p:nvSpPr>
              <p:cNvPr id="20" name="TextBox 19"/>
              <p:cNvSpPr txBox="1"/>
              <p:nvPr/>
            </p:nvSpPr>
            <p:spPr>
              <a:xfrm>
                <a:off x="7758130" y="3870191"/>
                <a:ext cx="1770190"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串行比特传输</a:t>
                </a:r>
              </a:p>
            </p:txBody>
          </p:sp>
        </p:grpSp>
        <p:sp>
          <p:nvSpPr>
            <p:cNvPr id="12" name="TextBox 11"/>
            <p:cNvSpPr txBox="1"/>
            <p:nvPr/>
          </p:nvSpPr>
          <p:spPr>
            <a:xfrm>
              <a:off x="5273748" y="2891912"/>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用户环境</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78">
            <a:extLst>
              <a:ext uri="{FF2B5EF4-FFF2-40B4-BE49-F238E27FC236}">
                <a16:creationId xmlns:a16="http://schemas.microsoft.com/office/drawing/2014/main" id="{6CE837A9-9AA7-4A06-9926-6B1979571EB4}"/>
              </a:ext>
            </a:extLst>
          </p:cNvPr>
          <p:cNvSpPr/>
          <p:nvPr/>
        </p:nvSpPr>
        <p:spPr>
          <a:xfrm>
            <a:off x="765413" y="2474996"/>
            <a:ext cx="9468776" cy="3922342"/>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 name="标题 1"/>
          <p:cNvSpPr>
            <a:spLocks noGrp="1"/>
          </p:cNvSpPr>
          <p:nvPr>
            <p:ph type="title"/>
          </p:nvPr>
        </p:nvSpPr>
        <p:spPr/>
        <p:txBody>
          <a:bodyPr/>
          <a:lstStyle/>
          <a:p>
            <a:r>
              <a:rPr lang="zh-CN" altLang="en-US" dirty="0"/>
              <a:t>物理层机械特性</a:t>
            </a:r>
          </a:p>
        </p:txBody>
      </p:sp>
      <p:sp>
        <p:nvSpPr>
          <p:cNvPr id="3" name="内容占位符 2"/>
          <p:cNvSpPr>
            <a:spLocks noGrp="1"/>
          </p:cNvSpPr>
          <p:nvPr>
            <p:ph idx="1"/>
          </p:nvPr>
        </p:nvSpPr>
        <p:spPr>
          <a:xfrm>
            <a:off x="549965" y="1415222"/>
            <a:ext cx="10515600" cy="4982116"/>
          </a:xfrm>
        </p:spPr>
        <p:txBody>
          <a:bodyPr>
            <a:normAutofit/>
          </a:bodyPr>
          <a:lstStyle/>
          <a:p>
            <a:r>
              <a:rPr lang="zh-CN" altLang="en-US" dirty="0"/>
              <a:t>涉及接口的物理结构，通常采用接线器来实现机械上的连接</a:t>
            </a:r>
            <a:endParaRPr lang="en-US" altLang="zh-CN" dirty="0"/>
          </a:p>
          <a:p>
            <a:r>
              <a:rPr lang="zh-CN" altLang="en-US" dirty="0"/>
              <a:t>定义接线器的</a:t>
            </a:r>
            <a:r>
              <a:rPr lang="zh-CN" altLang="en-US" dirty="0">
                <a:solidFill>
                  <a:srgbClr val="C00000"/>
                </a:solidFill>
              </a:rPr>
              <a:t>形状和尺寸、引线数目和排列、固定和锁定装置</a:t>
            </a:r>
            <a:r>
              <a:rPr lang="zh-CN" altLang="en-US" dirty="0"/>
              <a:t>等</a:t>
            </a:r>
            <a:endParaRPr lang="en-US" altLang="zh-CN" dirty="0"/>
          </a:p>
          <a:p>
            <a:pPr>
              <a:buNone/>
            </a:pPr>
            <a:endParaRPr lang="zh-CN" altLang="en-US" dirty="0"/>
          </a:p>
        </p:txBody>
      </p:sp>
      <p:sp>
        <p:nvSpPr>
          <p:cNvPr id="4" name="灯片编号占位符 3"/>
          <p:cNvSpPr>
            <a:spLocks noGrp="1"/>
          </p:cNvSpPr>
          <p:nvPr>
            <p:ph type="sldNum" sz="quarter" idx="12"/>
          </p:nvPr>
        </p:nvSpPr>
        <p:spPr>
          <a:xfrm>
            <a:off x="8610600" y="6232780"/>
            <a:ext cx="2743200" cy="365125"/>
          </a:xfrm>
        </p:spPr>
        <p:txBody>
          <a:bodyPr/>
          <a:lstStyle/>
          <a:p>
            <a:fld id="{8D4D1E41-7A09-AB4A-A4E1-09765ADA2698}" type="slidenum">
              <a:rPr kumimoji="1" lang="zh-CN" altLang="en-US" smtClean="0"/>
              <a:pPr/>
              <a:t>6</a:t>
            </a:fld>
            <a:endParaRPr kumimoji="1" lang="zh-CN" altLang="en-US" dirty="0"/>
          </a:p>
        </p:txBody>
      </p:sp>
      <p:grpSp>
        <p:nvGrpSpPr>
          <p:cNvPr id="5" name="组合 4">
            <a:extLst>
              <a:ext uri="{FF2B5EF4-FFF2-40B4-BE49-F238E27FC236}">
                <a16:creationId xmlns:a16="http://schemas.microsoft.com/office/drawing/2014/main" id="{2F4F5477-0D5B-4A4F-A827-2A7A65375F7F}"/>
              </a:ext>
            </a:extLst>
          </p:cNvPr>
          <p:cNvGrpSpPr/>
          <p:nvPr/>
        </p:nvGrpSpPr>
        <p:grpSpPr>
          <a:xfrm>
            <a:off x="887104" y="2640298"/>
            <a:ext cx="9209061" cy="3592964"/>
            <a:chOff x="974679" y="2525230"/>
            <a:chExt cx="9121486" cy="3708032"/>
          </a:xfrm>
        </p:grpSpPr>
        <p:pic>
          <p:nvPicPr>
            <p:cNvPr id="3075" name="Picture 3"/>
            <p:cNvPicPr>
              <a:picLocks noChangeAspect="1" noChangeArrowheads="1"/>
            </p:cNvPicPr>
            <p:nvPr/>
          </p:nvPicPr>
          <p:blipFill>
            <a:blip r:embed="rId3"/>
            <a:srcRect/>
            <a:stretch>
              <a:fillRect/>
            </a:stretch>
          </p:blipFill>
          <p:spPr bwMode="auto">
            <a:xfrm>
              <a:off x="974680" y="2525230"/>
              <a:ext cx="2887636" cy="1800000"/>
            </a:xfrm>
            <a:prstGeom prst="rect">
              <a:avLst/>
            </a:prstGeom>
            <a:noFill/>
            <a:ln w="9525">
              <a:noFill/>
              <a:miter lim="800000"/>
              <a:headEnd/>
              <a:tailEnd/>
            </a:ln>
          </p:spPr>
        </p:pic>
        <p:pic>
          <p:nvPicPr>
            <p:cNvPr id="3076" name="Picture 4"/>
            <p:cNvPicPr>
              <a:picLocks noChangeArrowheads="1"/>
            </p:cNvPicPr>
            <p:nvPr/>
          </p:nvPicPr>
          <p:blipFill>
            <a:blip r:embed="rId4"/>
            <a:srcRect/>
            <a:stretch>
              <a:fillRect/>
            </a:stretch>
          </p:blipFill>
          <p:spPr bwMode="auto">
            <a:xfrm>
              <a:off x="7702165" y="4433262"/>
              <a:ext cx="2394000" cy="1800000"/>
            </a:xfrm>
            <a:prstGeom prst="rect">
              <a:avLst/>
            </a:prstGeom>
            <a:noFill/>
            <a:ln w="9525">
              <a:noFill/>
              <a:miter lim="800000"/>
              <a:headEnd/>
              <a:tailEnd/>
            </a:ln>
            <a:effectLst/>
          </p:spPr>
        </p:pic>
        <p:pic>
          <p:nvPicPr>
            <p:cNvPr id="3077" name="Picture 5"/>
            <p:cNvPicPr>
              <a:picLocks noChangeArrowheads="1"/>
            </p:cNvPicPr>
            <p:nvPr/>
          </p:nvPicPr>
          <p:blipFill>
            <a:blip r:embed="rId5"/>
            <a:srcRect/>
            <a:stretch>
              <a:fillRect/>
            </a:stretch>
          </p:blipFill>
          <p:spPr bwMode="auto">
            <a:xfrm>
              <a:off x="3998797" y="2525230"/>
              <a:ext cx="2826000" cy="1800000"/>
            </a:xfrm>
            <a:prstGeom prst="rect">
              <a:avLst/>
            </a:prstGeom>
            <a:noFill/>
            <a:ln w="9525">
              <a:noFill/>
              <a:miter lim="800000"/>
              <a:headEnd/>
              <a:tailEnd/>
            </a:ln>
          </p:spPr>
        </p:pic>
        <p:pic>
          <p:nvPicPr>
            <p:cNvPr id="3078" name="Picture 6"/>
            <p:cNvPicPr>
              <a:picLocks noChangeAspect="1" noChangeArrowheads="1"/>
            </p:cNvPicPr>
            <p:nvPr/>
          </p:nvPicPr>
          <p:blipFill>
            <a:blip r:embed="rId6"/>
            <a:srcRect/>
            <a:stretch>
              <a:fillRect/>
            </a:stretch>
          </p:blipFill>
          <p:spPr bwMode="auto">
            <a:xfrm>
              <a:off x="974679" y="4433262"/>
              <a:ext cx="6618301" cy="1800000"/>
            </a:xfrm>
            <a:prstGeom prst="rect">
              <a:avLst/>
            </a:prstGeom>
            <a:noFill/>
            <a:ln w="9525">
              <a:noFill/>
              <a:miter lim="800000"/>
              <a:headEnd/>
              <a:tailEnd/>
            </a:ln>
          </p:spPr>
        </p:pic>
        <p:pic>
          <p:nvPicPr>
            <p:cNvPr id="3079" name="Picture 7"/>
            <p:cNvPicPr>
              <a:picLocks noChangeArrowheads="1"/>
            </p:cNvPicPr>
            <p:nvPr/>
          </p:nvPicPr>
          <p:blipFill>
            <a:blip r:embed="rId7"/>
            <a:srcRect/>
            <a:stretch>
              <a:fillRect/>
            </a:stretch>
          </p:blipFill>
          <p:spPr bwMode="auto">
            <a:xfrm>
              <a:off x="6946165" y="2525230"/>
              <a:ext cx="3150000" cy="1800000"/>
            </a:xfrm>
            <a:prstGeom prst="rect">
              <a:avLst/>
            </a:prstGeom>
            <a:noFill/>
            <a:ln w="9525">
              <a:noFill/>
              <a:miter lim="800000"/>
              <a:headEnd/>
              <a:tailEnd/>
            </a:ln>
          </p:spPr>
        </p:pic>
      </p:grpSp>
      <p:sp>
        <p:nvSpPr>
          <p:cNvPr id="15" name="TextBox 14"/>
          <p:cNvSpPr txBox="1"/>
          <p:nvPr/>
        </p:nvSpPr>
        <p:spPr>
          <a:xfrm>
            <a:off x="10522424" y="2640298"/>
            <a:ext cx="492443" cy="3369863"/>
          </a:xfrm>
          <a:prstGeom prst="rect">
            <a:avLst/>
          </a:prstGeom>
          <a:noFill/>
        </p:spPr>
        <p:txBody>
          <a:bodyPr vert="eaVert" wrap="square" rtlCol="0">
            <a:spAutoFit/>
          </a:bodyPr>
          <a:lstStyle/>
          <a:p>
            <a:pPr algn="ctr"/>
            <a:r>
              <a:rPr lang="zh-CN" altLang="en-US" sz="2000" dirty="0">
                <a:latin typeface="Microsoft YaHei" panose="020B0503020204020204" pitchFamily="34" charset="-122"/>
                <a:ea typeface="Microsoft YaHei" panose="020B0503020204020204" pitchFamily="34" charset="-122"/>
              </a:rPr>
              <a:t>各种类型物理接口</a:t>
            </a:r>
          </a:p>
        </p:txBody>
      </p:sp>
      <p:sp>
        <p:nvSpPr>
          <p:cNvPr id="17" name="文本框 16">
            <a:extLst>
              <a:ext uri="{FF2B5EF4-FFF2-40B4-BE49-F238E27FC236}">
                <a16:creationId xmlns:a16="http://schemas.microsoft.com/office/drawing/2014/main" id="{9C40DDBD-BAC2-4D40-8FEB-5D6110D630DC}"/>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物理层电气特性</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a:t>
            </a:fld>
            <a:endParaRPr kumimoji="1" lang="zh-CN" altLang="en-US" dirty="0"/>
          </a:p>
        </p:txBody>
      </p:sp>
      <p:sp>
        <p:nvSpPr>
          <p:cNvPr id="5" name="内容占位符 2"/>
          <p:cNvSpPr>
            <a:spLocks noGrp="1"/>
          </p:cNvSpPr>
          <p:nvPr>
            <p:ph idx="1"/>
          </p:nvPr>
        </p:nvSpPr>
        <p:spPr>
          <a:xfrm>
            <a:off x="565050" y="1510758"/>
            <a:ext cx="11416748" cy="4586694"/>
          </a:xfrm>
        </p:spPr>
        <p:txBody>
          <a:bodyPr>
            <a:normAutofit/>
          </a:bodyPr>
          <a:lstStyle/>
          <a:p>
            <a:pPr>
              <a:lnSpc>
                <a:spcPts val="3800"/>
              </a:lnSpc>
            </a:pPr>
            <a:r>
              <a:rPr lang="zh-CN" altLang="en-US" dirty="0"/>
              <a:t>规定了</a:t>
            </a:r>
            <a:r>
              <a:rPr lang="en-US" altLang="zh-CN" dirty="0"/>
              <a:t>DTE/DCE</a:t>
            </a:r>
            <a:r>
              <a:rPr lang="zh-CN" altLang="en-US" dirty="0"/>
              <a:t>之间</a:t>
            </a:r>
            <a:r>
              <a:rPr lang="zh-CN" altLang="en-US" dirty="0">
                <a:solidFill>
                  <a:srgbClr val="C00000"/>
                </a:solidFill>
              </a:rPr>
              <a:t>多条信号线的电气连接及有关电路特性</a:t>
            </a:r>
            <a:endParaRPr lang="en-US" altLang="zh-CN" dirty="0">
              <a:solidFill>
                <a:srgbClr val="C00000"/>
              </a:solidFill>
            </a:endParaRPr>
          </a:p>
          <a:p>
            <a:pPr lvl="1">
              <a:lnSpc>
                <a:spcPts val="3800"/>
              </a:lnSpc>
            </a:pPr>
            <a:r>
              <a:rPr lang="zh-CN" altLang="en-US" dirty="0"/>
              <a:t>发送器和接收器的</a:t>
            </a:r>
            <a:r>
              <a:rPr lang="zh-CN" altLang="en-US" b="1" dirty="0">
                <a:solidFill>
                  <a:srgbClr val="5B307E"/>
                </a:solidFill>
              </a:rPr>
              <a:t>电路特性</a:t>
            </a:r>
            <a:r>
              <a:rPr lang="zh-CN" altLang="en-US" dirty="0"/>
              <a:t>、</a:t>
            </a:r>
            <a:r>
              <a:rPr lang="zh-CN" altLang="en-US" b="1" dirty="0">
                <a:solidFill>
                  <a:srgbClr val="5B307E"/>
                </a:solidFill>
              </a:rPr>
              <a:t>负载要求</a:t>
            </a:r>
            <a:r>
              <a:rPr lang="zh-CN" altLang="en-US" dirty="0"/>
              <a:t>、</a:t>
            </a:r>
            <a:r>
              <a:rPr lang="zh-CN" altLang="en-US" b="1" dirty="0">
                <a:solidFill>
                  <a:srgbClr val="5B307E"/>
                </a:solidFill>
              </a:rPr>
              <a:t>传输速率</a:t>
            </a:r>
            <a:r>
              <a:rPr lang="zh-CN" altLang="en-US" dirty="0"/>
              <a:t>和</a:t>
            </a:r>
            <a:r>
              <a:rPr lang="zh-CN" altLang="en-US" b="1" dirty="0">
                <a:solidFill>
                  <a:srgbClr val="5B307E"/>
                </a:solidFill>
              </a:rPr>
              <a:t>连接距离</a:t>
            </a:r>
            <a:r>
              <a:rPr lang="zh-CN" altLang="en-US" dirty="0"/>
              <a:t>等</a:t>
            </a:r>
            <a:endParaRPr lang="en-US" altLang="zh-CN" dirty="0"/>
          </a:p>
          <a:p>
            <a:pPr lvl="1">
              <a:lnSpc>
                <a:spcPts val="3800"/>
              </a:lnSpc>
            </a:pPr>
            <a:r>
              <a:rPr lang="zh-CN" altLang="en-US" dirty="0"/>
              <a:t>如</a:t>
            </a:r>
            <a:r>
              <a:rPr lang="zh-CN" altLang="en-US" dirty="0">
                <a:solidFill>
                  <a:srgbClr val="C00000"/>
                </a:solidFill>
              </a:rPr>
              <a:t>发送信号电平、发送器和接收器的输出阻抗、平衡特性</a:t>
            </a:r>
            <a:r>
              <a:rPr lang="zh-CN" altLang="en-US" dirty="0"/>
              <a:t>等</a:t>
            </a:r>
            <a:endParaRPr lang="en-US" altLang="zh-CN" dirty="0"/>
          </a:p>
          <a:p>
            <a:pPr>
              <a:lnSpc>
                <a:spcPts val="3800"/>
              </a:lnSpc>
            </a:pPr>
            <a:r>
              <a:rPr lang="zh-CN" altLang="en-US" dirty="0"/>
              <a:t>电气特性举例</a:t>
            </a:r>
            <a:endParaRPr lang="en-US" altLang="zh-CN" dirty="0"/>
          </a:p>
          <a:p>
            <a:pPr lvl="1">
              <a:lnSpc>
                <a:spcPts val="3800"/>
              </a:lnSpc>
            </a:pPr>
            <a:r>
              <a:rPr lang="zh-CN" altLang="en-US" dirty="0"/>
              <a:t>普通电话交换网接口</a:t>
            </a:r>
            <a:endParaRPr lang="en-US" altLang="zh-CN" dirty="0"/>
          </a:p>
          <a:p>
            <a:pPr marL="457200" lvl="1" indent="0">
              <a:lnSpc>
                <a:spcPts val="3800"/>
              </a:lnSpc>
              <a:buNone/>
            </a:pPr>
            <a:r>
              <a:rPr lang="zh-CN" altLang="en-US" dirty="0"/>
              <a:t>   电气特性的主要规定</a:t>
            </a:r>
            <a:endParaRPr lang="en-US" altLang="zh-CN" dirty="0"/>
          </a:p>
          <a:p>
            <a:pPr lvl="1">
              <a:lnSpc>
                <a:spcPts val="3800"/>
              </a:lnSpc>
            </a:pPr>
            <a:r>
              <a:rPr lang="en-US" altLang="zh-CN" dirty="0"/>
              <a:t>ITU-T V/X</a:t>
            </a:r>
            <a:r>
              <a:rPr lang="zh-CN" altLang="en-US" dirty="0"/>
              <a:t>系列有关</a:t>
            </a:r>
            <a:endParaRPr lang="en-US" altLang="zh-CN" dirty="0"/>
          </a:p>
          <a:p>
            <a:pPr marL="457200" lvl="1" indent="0">
              <a:lnSpc>
                <a:spcPts val="3800"/>
              </a:lnSpc>
              <a:buNone/>
            </a:pPr>
            <a:r>
              <a:rPr lang="en-US" altLang="zh-CN" dirty="0"/>
              <a:t>   </a:t>
            </a:r>
            <a:r>
              <a:rPr lang="zh-CN" altLang="en-US" dirty="0"/>
              <a:t>建议的某些电气特性</a:t>
            </a:r>
          </a:p>
          <a:p>
            <a:endParaRPr lang="zh-CN" altLang="en-US" dirty="0"/>
          </a:p>
          <a:p>
            <a:endParaRPr lang="zh-CN" altLang="en-US" dirty="0"/>
          </a:p>
        </p:txBody>
      </p:sp>
      <p:graphicFrame>
        <p:nvGraphicFramePr>
          <p:cNvPr id="7" name="表格 6"/>
          <p:cNvGraphicFramePr>
            <a:graphicFrameLocks noGrp="1"/>
          </p:cNvGraphicFramePr>
          <p:nvPr/>
        </p:nvGraphicFramePr>
        <p:xfrm>
          <a:off x="4544160" y="3258114"/>
          <a:ext cx="7260214" cy="1584960"/>
        </p:xfrm>
        <a:graphic>
          <a:graphicData uri="http://schemas.openxmlformats.org/drawingml/2006/table">
            <a:tbl>
              <a:tblPr bandRow="1">
                <a:tableStyleId>{5C22544A-7EE6-4342-B048-85BDC9FD1C3A}</a:tableStyleId>
              </a:tblPr>
              <a:tblGrid>
                <a:gridCol w="1459437">
                  <a:extLst>
                    <a:ext uri="{9D8B030D-6E8A-4147-A177-3AD203B41FA5}">
                      <a16:colId xmlns:a16="http://schemas.microsoft.com/office/drawing/2014/main" val="20000"/>
                    </a:ext>
                  </a:extLst>
                </a:gridCol>
                <a:gridCol w="5800777">
                  <a:extLst>
                    <a:ext uri="{9D8B030D-6E8A-4147-A177-3AD203B41FA5}">
                      <a16:colId xmlns:a16="http://schemas.microsoft.com/office/drawing/2014/main" val="20001"/>
                    </a:ext>
                  </a:extLst>
                </a:gridCol>
              </a:tblGrid>
              <a:tr h="370840">
                <a:tc>
                  <a:txBody>
                    <a:bodyPr/>
                    <a:lstStyle/>
                    <a:p>
                      <a:r>
                        <a:rPr lang="zh-CN" altLang="en-US" sz="2000" b="1" dirty="0"/>
                        <a:t>发送电平</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≦0dBm</a:t>
                      </a:r>
                      <a:endParaRPr lang="zh-CN" altLang="en-US" sz="20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0"/>
                  </a:ext>
                </a:extLst>
              </a:tr>
              <a:tr h="370840">
                <a:tc>
                  <a:txBody>
                    <a:bodyPr/>
                    <a:lstStyle/>
                    <a:p>
                      <a:r>
                        <a:rPr lang="zh-CN" altLang="en-US" sz="2000" b="1" dirty="0"/>
                        <a:t>接收电平</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-5</a:t>
                      </a:r>
                      <a:r>
                        <a:rPr lang="zh-CN" altLang="en-US" sz="2000" b="1" dirty="0"/>
                        <a:t>～</a:t>
                      </a:r>
                      <a:r>
                        <a:rPr lang="en-US" altLang="zh-CN" sz="2000" b="1" dirty="0"/>
                        <a:t>-35dBm</a:t>
                      </a:r>
                      <a:r>
                        <a:rPr lang="zh-CN" altLang="en-US" sz="2000" b="1" dirty="0"/>
                        <a:t>，视各种</a:t>
                      </a:r>
                      <a:r>
                        <a:rPr lang="en-US" altLang="zh-CN" sz="2000" b="1" dirty="0"/>
                        <a:t>Modem</a:t>
                      </a:r>
                      <a:r>
                        <a:rPr lang="zh-CN" altLang="en-US" sz="2000" b="1" dirty="0"/>
                        <a:t>而定</a:t>
                      </a:r>
                      <a:endParaRPr lang="zh-CN" altLang="en-US" sz="20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1"/>
                  </a:ext>
                </a:extLst>
              </a:tr>
              <a:tr h="370840">
                <a:tc>
                  <a:txBody>
                    <a:bodyPr/>
                    <a:lstStyle/>
                    <a:p>
                      <a:r>
                        <a:rPr lang="zh-CN" altLang="en-US" sz="2000" b="1" dirty="0"/>
                        <a:t>阻    抗</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600</a:t>
                      </a:r>
                      <a:r>
                        <a:rPr lang="el-GR" altLang="zh-CN" sz="2000" b="1" dirty="0"/>
                        <a:t>Ω</a:t>
                      </a:r>
                      <a:endParaRPr lang="zh-CN" altLang="en-US" sz="20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2"/>
                  </a:ext>
                </a:extLst>
              </a:tr>
              <a:tr h="370840">
                <a:tc>
                  <a:txBody>
                    <a:bodyPr/>
                    <a:lstStyle/>
                    <a:p>
                      <a:r>
                        <a:rPr lang="zh-CN" altLang="en-US" sz="2000" b="1" dirty="0"/>
                        <a:t>平衡特性</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r>
                        <a:rPr lang="zh-CN" altLang="en-US" sz="2000" b="1" dirty="0"/>
                        <a:t>平衡输入</a:t>
                      </a:r>
                      <a:r>
                        <a:rPr lang="en-US" altLang="zh-CN" sz="2000" b="1" dirty="0"/>
                        <a:t>/</a:t>
                      </a:r>
                      <a:r>
                        <a:rPr lang="zh-CN" altLang="en-US" sz="2000" b="1" dirty="0"/>
                        <a:t>输出</a:t>
                      </a:r>
                      <a:endParaRPr lang="zh-CN" altLang="en-US" sz="20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3"/>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336952458"/>
              </p:ext>
            </p:extLst>
          </p:nvPr>
        </p:nvGraphicFramePr>
        <p:xfrm>
          <a:off x="4544160" y="4953952"/>
          <a:ext cx="7260214" cy="1584960"/>
        </p:xfrm>
        <a:graphic>
          <a:graphicData uri="http://schemas.openxmlformats.org/drawingml/2006/table">
            <a:tbl>
              <a:tblPr firstRow="1" bandRow="1">
                <a:tableStyleId>{21E4AEA4-8DFA-4A89-87EB-49C32662AFE0}</a:tableStyleId>
              </a:tblPr>
              <a:tblGrid>
                <a:gridCol w="1459436">
                  <a:extLst>
                    <a:ext uri="{9D8B030D-6E8A-4147-A177-3AD203B41FA5}">
                      <a16:colId xmlns:a16="http://schemas.microsoft.com/office/drawing/2014/main" val="20000"/>
                    </a:ext>
                  </a:extLst>
                </a:gridCol>
                <a:gridCol w="1928815">
                  <a:extLst>
                    <a:ext uri="{9D8B030D-6E8A-4147-A177-3AD203B41FA5}">
                      <a16:colId xmlns:a16="http://schemas.microsoft.com/office/drawing/2014/main" val="20001"/>
                    </a:ext>
                  </a:extLst>
                </a:gridCol>
                <a:gridCol w="2056909">
                  <a:extLst>
                    <a:ext uri="{9D8B030D-6E8A-4147-A177-3AD203B41FA5}">
                      <a16:colId xmlns:a16="http://schemas.microsoft.com/office/drawing/2014/main" val="20002"/>
                    </a:ext>
                  </a:extLst>
                </a:gridCol>
                <a:gridCol w="1815054">
                  <a:extLst>
                    <a:ext uri="{9D8B030D-6E8A-4147-A177-3AD203B41FA5}">
                      <a16:colId xmlns:a16="http://schemas.microsoft.com/office/drawing/2014/main" val="20003"/>
                    </a:ext>
                  </a:extLst>
                </a:gridCol>
              </a:tblGrid>
              <a:tr h="350600">
                <a:tc>
                  <a:txBody>
                    <a:bodyPr/>
                    <a:lstStyle/>
                    <a:p>
                      <a:r>
                        <a:rPr lang="en-US" altLang="zh-CN" sz="2000" b="1" dirty="0"/>
                        <a:t>ITU-T</a:t>
                      </a:r>
                      <a:r>
                        <a:rPr lang="zh-CN" altLang="en-US" sz="2000" b="1" dirty="0"/>
                        <a:t>建议</a:t>
                      </a:r>
                    </a:p>
                  </a:txBody>
                  <a:tcPr/>
                </a:tc>
                <a:tc>
                  <a:txBody>
                    <a:bodyPr/>
                    <a:lstStyle/>
                    <a:p>
                      <a:r>
                        <a:rPr lang="en-US" altLang="zh-CN" sz="2000" b="1" dirty="0"/>
                        <a:t>1</a:t>
                      </a:r>
                      <a:r>
                        <a:rPr lang="zh-CN" altLang="en-US" sz="2000" b="1" dirty="0"/>
                        <a:t>信号电平</a:t>
                      </a:r>
                    </a:p>
                  </a:txBody>
                  <a:tcPr/>
                </a:tc>
                <a:tc>
                  <a:txBody>
                    <a:bodyPr/>
                    <a:lstStyle/>
                    <a:p>
                      <a:r>
                        <a:rPr lang="en-US" altLang="zh-CN" sz="2000" b="1" dirty="0"/>
                        <a:t>0</a:t>
                      </a:r>
                      <a:r>
                        <a:rPr lang="zh-CN" altLang="en-US" sz="2000" b="1" dirty="0"/>
                        <a:t>信号电平</a:t>
                      </a:r>
                    </a:p>
                  </a:txBody>
                  <a:tcPr/>
                </a:tc>
                <a:tc>
                  <a:txBody>
                    <a:bodyPr/>
                    <a:lstStyle/>
                    <a:p>
                      <a:r>
                        <a:rPr lang="zh-CN" altLang="en-US" sz="2000" b="1" dirty="0"/>
                        <a:t>速率范围</a:t>
                      </a:r>
                    </a:p>
                  </a:txBody>
                  <a:tcPr/>
                </a:tc>
                <a:extLst>
                  <a:ext uri="{0D108BD9-81ED-4DB2-BD59-A6C34878D82A}">
                    <a16:rowId xmlns:a16="http://schemas.microsoft.com/office/drawing/2014/main" val="10000"/>
                  </a:ext>
                </a:extLst>
              </a:tr>
              <a:tr h="350600">
                <a:tc>
                  <a:txBody>
                    <a:bodyPr/>
                    <a:lstStyle/>
                    <a:p>
                      <a:r>
                        <a:rPr lang="en-US" altLang="zh-CN" sz="2000" b="1" dirty="0"/>
                        <a:t>V.28</a:t>
                      </a:r>
                      <a:endParaRPr lang="zh-CN" altLang="en-US" sz="2000" b="1" dirty="0"/>
                    </a:p>
                  </a:txBody>
                  <a:tcPr/>
                </a:tc>
                <a:tc>
                  <a:txBody>
                    <a:bodyPr/>
                    <a:lstStyle/>
                    <a:p>
                      <a:r>
                        <a:rPr lang="en-US" altLang="zh-CN" sz="2000" b="1" dirty="0"/>
                        <a:t>-5</a:t>
                      </a:r>
                      <a:r>
                        <a:rPr lang="zh-CN" altLang="en-US" sz="2000" b="1" dirty="0"/>
                        <a:t>～</a:t>
                      </a:r>
                      <a:r>
                        <a:rPr lang="en-US" altLang="zh-CN" sz="2000" b="1" dirty="0"/>
                        <a:t>-15V(</a:t>
                      </a:r>
                      <a:r>
                        <a:rPr lang="zh-CN" altLang="en-US" sz="2000" b="1" dirty="0"/>
                        <a:t>对地</a:t>
                      </a:r>
                      <a:r>
                        <a:rPr lang="en-US" altLang="zh-CN" sz="2000" b="1" dirty="0"/>
                        <a:t>)</a:t>
                      </a:r>
                      <a:endParaRPr lang="zh-CN" altLang="en-US" sz="2000" b="1" dirty="0"/>
                    </a:p>
                  </a:txBody>
                  <a:tcPr/>
                </a:tc>
                <a:tc>
                  <a:txBody>
                    <a:bodyPr/>
                    <a:lstStyle/>
                    <a:p>
                      <a:r>
                        <a:rPr lang="en-US" altLang="zh-CN" sz="2000" b="1" dirty="0"/>
                        <a:t>+5</a:t>
                      </a:r>
                      <a:r>
                        <a:rPr lang="zh-CN" altLang="en-US" sz="2000" b="1" dirty="0"/>
                        <a:t>～</a:t>
                      </a:r>
                      <a:r>
                        <a:rPr lang="en-US" altLang="zh-CN" sz="2000" b="1" dirty="0"/>
                        <a:t>+15V(</a:t>
                      </a:r>
                      <a:r>
                        <a:rPr lang="zh-CN" altLang="en-US" sz="2000" b="1" dirty="0"/>
                        <a:t>对地</a:t>
                      </a:r>
                      <a:r>
                        <a:rPr lang="en-US" altLang="zh-CN" sz="2000" b="1" dirty="0"/>
                        <a:t>)</a:t>
                      </a:r>
                      <a:endParaRPr lang="zh-CN" altLang="en-US" sz="2000" b="1" dirty="0"/>
                    </a:p>
                  </a:txBody>
                  <a:tcPr/>
                </a:tc>
                <a:tc>
                  <a:txBody>
                    <a:bodyPr/>
                    <a:lstStyle/>
                    <a:p>
                      <a:r>
                        <a:rPr lang="en-US" altLang="zh-CN" sz="2000" b="1" dirty="0"/>
                        <a:t>≦20 kb/s</a:t>
                      </a:r>
                      <a:endParaRPr lang="zh-CN" altLang="en-US" sz="2000" b="1" dirty="0"/>
                    </a:p>
                  </a:txBody>
                  <a:tcPr/>
                </a:tc>
                <a:extLst>
                  <a:ext uri="{0D108BD9-81ED-4DB2-BD59-A6C34878D82A}">
                    <a16:rowId xmlns:a16="http://schemas.microsoft.com/office/drawing/2014/main" val="10001"/>
                  </a:ext>
                </a:extLst>
              </a:tr>
              <a:tr h="350600">
                <a:tc>
                  <a:txBody>
                    <a:bodyPr/>
                    <a:lstStyle/>
                    <a:p>
                      <a:r>
                        <a:rPr lang="en-US" altLang="zh-CN" sz="2000" b="1" dirty="0"/>
                        <a:t>V.10/X.26</a:t>
                      </a:r>
                      <a:endParaRPr lang="zh-CN" altLang="en-US" sz="2000" b="1" dirty="0"/>
                    </a:p>
                  </a:txBody>
                  <a:tcPr/>
                </a:tc>
                <a:tc>
                  <a:txBody>
                    <a:bodyPr/>
                    <a:lstStyle/>
                    <a:p>
                      <a:r>
                        <a:rPr lang="en-US" altLang="zh-CN" sz="2000" b="1" dirty="0"/>
                        <a:t>-4</a:t>
                      </a:r>
                      <a:r>
                        <a:rPr lang="zh-CN" altLang="en-US" sz="2000" b="1" dirty="0"/>
                        <a:t>～</a:t>
                      </a:r>
                      <a:r>
                        <a:rPr lang="en-US" altLang="zh-CN" sz="2000" b="1" dirty="0"/>
                        <a:t>-6V(</a:t>
                      </a:r>
                      <a:r>
                        <a:rPr lang="zh-CN" altLang="en-US" sz="2000" b="1" dirty="0"/>
                        <a:t>对地</a:t>
                      </a:r>
                      <a:r>
                        <a:rPr lang="en-US" altLang="zh-CN" sz="2000" b="1" dirty="0"/>
                        <a:t>)</a:t>
                      </a:r>
                      <a:endParaRPr lang="zh-CN" altLang="en-US" sz="2000" b="1" dirty="0"/>
                    </a:p>
                  </a:txBody>
                  <a:tcPr/>
                </a:tc>
                <a:tc>
                  <a:txBody>
                    <a:bodyPr/>
                    <a:lstStyle/>
                    <a:p>
                      <a:r>
                        <a:rPr lang="en-US" altLang="zh-CN" sz="2000" b="1" dirty="0"/>
                        <a:t>+4</a:t>
                      </a:r>
                      <a:r>
                        <a:rPr lang="zh-CN" altLang="en-US" sz="2000" b="1" dirty="0"/>
                        <a:t>～</a:t>
                      </a:r>
                      <a:r>
                        <a:rPr lang="en-US" altLang="zh-CN" sz="2000" b="1" dirty="0"/>
                        <a:t>+6V(</a:t>
                      </a:r>
                      <a:r>
                        <a:rPr lang="zh-CN" altLang="en-US" sz="2000" b="1" dirty="0"/>
                        <a:t>对地</a:t>
                      </a:r>
                      <a:r>
                        <a:rPr lang="en-US" altLang="zh-CN" sz="2000" b="1" dirty="0"/>
                        <a:t>)</a:t>
                      </a:r>
                      <a:endParaRPr lang="zh-CN" alt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≦300 kb/s</a:t>
                      </a:r>
                      <a:endParaRPr lang="zh-CN" altLang="en-US" sz="2000" b="1" dirty="0"/>
                    </a:p>
                  </a:txBody>
                  <a:tcPr/>
                </a:tc>
                <a:extLst>
                  <a:ext uri="{0D108BD9-81ED-4DB2-BD59-A6C34878D82A}">
                    <a16:rowId xmlns:a16="http://schemas.microsoft.com/office/drawing/2014/main" val="10002"/>
                  </a:ext>
                </a:extLst>
              </a:tr>
              <a:tr h="350600">
                <a:tc>
                  <a:txBody>
                    <a:bodyPr/>
                    <a:lstStyle/>
                    <a:p>
                      <a:r>
                        <a:rPr lang="en-US" altLang="zh-CN" sz="2000" b="1" dirty="0"/>
                        <a:t>V.11/X.27</a:t>
                      </a:r>
                      <a:endParaRPr lang="zh-CN" altLang="en-US" sz="2000" b="1" dirty="0"/>
                    </a:p>
                  </a:txBody>
                  <a:tcPr/>
                </a:tc>
                <a:tc>
                  <a:txBody>
                    <a:bodyPr/>
                    <a:lstStyle/>
                    <a:p>
                      <a:r>
                        <a:rPr lang="en-US" altLang="zh-CN" sz="2000" b="1" dirty="0"/>
                        <a:t>-2</a:t>
                      </a:r>
                      <a:r>
                        <a:rPr lang="zh-CN" altLang="en-US" sz="2000" b="1" dirty="0"/>
                        <a:t>～</a:t>
                      </a:r>
                      <a:r>
                        <a:rPr lang="en-US" altLang="zh-CN" sz="2000" b="1" dirty="0"/>
                        <a:t>-6V(</a:t>
                      </a:r>
                      <a:r>
                        <a:rPr lang="zh-CN" altLang="en-US" sz="2000" b="1" dirty="0"/>
                        <a:t>差动</a:t>
                      </a:r>
                      <a:r>
                        <a:rPr lang="en-US" altLang="zh-CN" sz="2000" b="1" dirty="0"/>
                        <a:t>)</a:t>
                      </a:r>
                      <a:endParaRPr lang="zh-CN" altLang="en-US" sz="2000" b="1" dirty="0"/>
                    </a:p>
                  </a:txBody>
                  <a:tcPr/>
                </a:tc>
                <a:tc>
                  <a:txBody>
                    <a:bodyPr/>
                    <a:lstStyle/>
                    <a:p>
                      <a:r>
                        <a:rPr lang="en-US" altLang="zh-CN" sz="2000" b="1" dirty="0"/>
                        <a:t>+2</a:t>
                      </a:r>
                      <a:r>
                        <a:rPr lang="zh-CN" altLang="en-US" sz="2000" b="1" dirty="0"/>
                        <a:t>～</a:t>
                      </a:r>
                      <a:r>
                        <a:rPr lang="en-US" altLang="zh-CN" sz="2000" b="1" dirty="0"/>
                        <a:t>+6V(</a:t>
                      </a:r>
                      <a:r>
                        <a:rPr lang="zh-CN" altLang="en-US" sz="2000" b="1" dirty="0"/>
                        <a:t>差动</a:t>
                      </a:r>
                      <a:r>
                        <a:rPr lang="en-US" altLang="zh-CN" sz="2000" b="1" dirty="0"/>
                        <a:t>)</a:t>
                      </a:r>
                      <a:endParaRPr lang="zh-CN" alt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≦10 Mb/s</a:t>
                      </a:r>
                      <a:endParaRPr lang="zh-CN" altLang="en-US" sz="2000" b="1" dirty="0"/>
                    </a:p>
                  </a:txBody>
                  <a:tcPr/>
                </a:tc>
                <a:extLst>
                  <a:ext uri="{0D108BD9-81ED-4DB2-BD59-A6C34878D82A}">
                    <a16:rowId xmlns:a16="http://schemas.microsoft.com/office/drawing/2014/main" val="10003"/>
                  </a:ext>
                </a:extLst>
              </a:tr>
            </a:tbl>
          </a:graphicData>
        </a:graphic>
      </p:graphicFrame>
      <p:sp>
        <p:nvSpPr>
          <p:cNvPr id="9" name="文本框 8">
            <a:extLst>
              <a:ext uri="{FF2B5EF4-FFF2-40B4-BE49-F238E27FC236}">
                <a16:creationId xmlns:a16="http://schemas.microsoft.com/office/drawing/2014/main" id="{7C180F3B-17FF-479A-B693-6F8ADF7D462C}"/>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78">
            <a:extLst>
              <a:ext uri="{FF2B5EF4-FFF2-40B4-BE49-F238E27FC236}">
                <a16:creationId xmlns:a16="http://schemas.microsoft.com/office/drawing/2014/main" id="{6CE837A9-9AA7-4A06-9926-6B1979571EB4}"/>
              </a:ext>
            </a:extLst>
          </p:cNvPr>
          <p:cNvSpPr/>
          <p:nvPr/>
        </p:nvSpPr>
        <p:spPr>
          <a:xfrm>
            <a:off x="6239873" y="2116258"/>
            <a:ext cx="5667205" cy="4040037"/>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8" name="矩形: 圆角 78">
            <a:extLst>
              <a:ext uri="{FF2B5EF4-FFF2-40B4-BE49-F238E27FC236}">
                <a16:creationId xmlns:a16="http://schemas.microsoft.com/office/drawing/2014/main" id="{6CE837A9-9AA7-4A06-9926-6B1979571EB4}"/>
              </a:ext>
            </a:extLst>
          </p:cNvPr>
          <p:cNvSpPr/>
          <p:nvPr/>
        </p:nvSpPr>
        <p:spPr>
          <a:xfrm>
            <a:off x="286603" y="2116258"/>
            <a:ext cx="5865850" cy="4040037"/>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 name="标题 1"/>
          <p:cNvSpPr>
            <a:spLocks noGrp="1"/>
          </p:cNvSpPr>
          <p:nvPr>
            <p:ph type="title"/>
          </p:nvPr>
        </p:nvSpPr>
        <p:spPr/>
        <p:txBody>
          <a:bodyPr/>
          <a:lstStyle/>
          <a:p>
            <a:r>
              <a:rPr lang="zh-CN" altLang="en-US" dirty="0"/>
              <a:t>物理层功能特性</a:t>
            </a:r>
          </a:p>
        </p:txBody>
      </p:sp>
      <p:sp>
        <p:nvSpPr>
          <p:cNvPr id="5" name="内容占位符 2"/>
          <p:cNvSpPr>
            <a:spLocks noGrp="1"/>
          </p:cNvSpPr>
          <p:nvPr>
            <p:ph idx="1"/>
          </p:nvPr>
        </p:nvSpPr>
        <p:spPr>
          <a:xfrm>
            <a:off x="400878" y="1520708"/>
            <a:ext cx="11506200" cy="595550"/>
          </a:xfrm>
        </p:spPr>
        <p:txBody>
          <a:bodyPr>
            <a:normAutofit/>
          </a:bodyPr>
          <a:lstStyle/>
          <a:p>
            <a:r>
              <a:rPr lang="zh-CN" altLang="en-US" dirty="0"/>
              <a:t>描述</a:t>
            </a:r>
            <a:r>
              <a:rPr lang="zh-CN" altLang="en-US" dirty="0">
                <a:solidFill>
                  <a:srgbClr val="C00000"/>
                </a:solidFill>
              </a:rPr>
              <a:t>接口执行的功能</a:t>
            </a:r>
            <a:r>
              <a:rPr lang="zh-CN" altLang="en-US" dirty="0"/>
              <a:t>，定义</a:t>
            </a:r>
            <a:r>
              <a:rPr lang="zh-CN" altLang="en-US" dirty="0">
                <a:solidFill>
                  <a:srgbClr val="C00000"/>
                </a:solidFill>
              </a:rPr>
              <a:t>接线器的每一引脚</a:t>
            </a:r>
            <a:r>
              <a:rPr lang="en-US" altLang="zh-CN" dirty="0">
                <a:solidFill>
                  <a:srgbClr val="C00000"/>
                </a:solidFill>
              </a:rPr>
              <a:t>(</a:t>
            </a:r>
            <a:r>
              <a:rPr lang="zh-CN" altLang="en-US" dirty="0">
                <a:solidFill>
                  <a:srgbClr val="C00000"/>
                </a:solidFill>
              </a:rPr>
              <a:t>针，</a:t>
            </a:r>
            <a:r>
              <a:rPr lang="en-US" altLang="zh-CN" dirty="0">
                <a:solidFill>
                  <a:srgbClr val="C00000"/>
                </a:solidFill>
              </a:rPr>
              <a:t>Pin)</a:t>
            </a:r>
            <a:r>
              <a:rPr lang="zh-CN" altLang="en-US" dirty="0">
                <a:solidFill>
                  <a:srgbClr val="C00000"/>
                </a:solidFill>
              </a:rPr>
              <a:t>的作用</a:t>
            </a: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a:t>
            </a:fld>
            <a:endParaRPr kumimoji="1" lang="zh-CN" altLang="en-US" dirty="0"/>
          </a:p>
        </p:txBody>
      </p:sp>
      <p:graphicFrame>
        <p:nvGraphicFramePr>
          <p:cNvPr id="12" name="表格 11"/>
          <p:cNvGraphicFramePr>
            <a:graphicFrameLocks noGrp="1"/>
          </p:cNvGraphicFramePr>
          <p:nvPr>
            <p:extLst>
              <p:ext uri="{D42A27DB-BD31-4B8C-83A1-F6EECF244321}">
                <p14:modId xmlns:p14="http://schemas.microsoft.com/office/powerpoint/2010/main" val="4022913268"/>
              </p:ext>
            </p:extLst>
          </p:nvPr>
        </p:nvGraphicFramePr>
        <p:xfrm>
          <a:off x="2093660" y="2259925"/>
          <a:ext cx="4046161" cy="3752703"/>
        </p:xfrm>
        <a:graphic>
          <a:graphicData uri="http://schemas.openxmlformats.org/drawingml/2006/table">
            <a:tbl>
              <a:tblPr firstRow="1" bandRow="1">
                <a:tableStyleId>{5C22544A-7EE6-4342-B048-85BDC9FD1C3A}</a:tableStyleId>
              </a:tblPr>
              <a:tblGrid>
                <a:gridCol w="688289">
                  <a:extLst>
                    <a:ext uri="{9D8B030D-6E8A-4147-A177-3AD203B41FA5}">
                      <a16:colId xmlns:a16="http://schemas.microsoft.com/office/drawing/2014/main" val="20000"/>
                    </a:ext>
                  </a:extLst>
                </a:gridCol>
                <a:gridCol w="3357872">
                  <a:extLst>
                    <a:ext uri="{9D8B030D-6E8A-4147-A177-3AD203B41FA5}">
                      <a16:colId xmlns:a16="http://schemas.microsoft.com/office/drawing/2014/main" val="20001"/>
                    </a:ext>
                  </a:extLst>
                </a:gridCol>
              </a:tblGrid>
              <a:tr h="375367">
                <a:tc>
                  <a:txBody>
                    <a:bodyPr/>
                    <a:lstStyle/>
                    <a:p>
                      <a:pPr algn="ctr"/>
                      <a:r>
                        <a:rPr lang="zh-CN" altLang="en-US" sz="1800" kern="1200" dirty="0">
                          <a:solidFill>
                            <a:schemeClr val="tx1"/>
                          </a:solidFill>
                          <a:latin typeface="方正姚体" pitchFamily="2" charset="-122"/>
                          <a:ea typeface="方正姚体" pitchFamily="2" charset="-122"/>
                          <a:cs typeface="+mn-cs"/>
                        </a:rPr>
                        <a:t>引脚</a:t>
                      </a:r>
                    </a:p>
                  </a:txBody>
                  <a:tcPr/>
                </a:tc>
                <a:tc>
                  <a:txBody>
                    <a:bodyPr/>
                    <a:lstStyle/>
                    <a:p>
                      <a:pPr algn="ctr"/>
                      <a:r>
                        <a:rPr lang="zh-CN" altLang="en-US" sz="1800" kern="1200" dirty="0">
                          <a:solidFill>
                            <a:schemeClr val="tx1"/>
                          </a:solidFill>
                          <a:latin typeface="方正姚体" pitchFamily="2" charset="-122"/>
                          <a:ea typeface="方正姚体" pitchFamily="2" charset="-122"/>
                          <a:cs typeface="+mn-cs"/>
                        </a:rPr>
                        <a:t>信号</a:t>
                      </a:r>
                    </a:p>
                  </a:txBody>
                  <a:tcPr/>
                </a:tc>
                <a:extLst>
                  <a:ext uri="{0D108BD9-81ED-4DB2-BD59-A6C34878D82A}">
                    <a16:rowId xmlns:a16="http://schemas.microsoft.com/office/drawing/2014/main" val="10000"/>
                  </a:ext>
                </a:extLst>
              </a:tr>
              <a:tr h="500167">
                <a:tc>
                  <a:txBody>
                    <a:bodyPr/>
                    <a:lstStyle/>
                    <a:p>
                      <a:pPr algn="ctr"/>
                      <a:r>
                        <a:rPr lang="en-US" altLang="zh-CN" sz="1800" kern="1200" dirty="0">
                          <a:solidFill>
                            <a:schemeClr val="tx1"/>
                          </a:solidFill>
                          <a:latin typeface="方正姚体" pitchFamily="2" charset="-122"/>
                          <a:ea typeface="方正姚体" pitchFamily="2" charset="-122"/>
                          <a:cs typeface="+mn-cs"/>
                        </a:rPr>
                        <a:t>1</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TD+(</a:t>
                      </a:r>
                      <a:r>
                        <a:rPr lang="zh-CN" altLang="en-US" sz="1800" kern="1200" dirty="0">
                          <a:solidFill>
                            <a:schemeClr val="tx1"/>
                          </a:solidFill>
                          <a:latin typeface="方正姚体" pitchFamily="2" charset="-122"/>
                          <a:ea typeface="方正姚体" pitchFamily="2" charset="-122"/>
                          <a:cs typeface="+mn-cs"/>
                        </a:rPr>
                        <a:t>发送数据，正向差分信号</a:t>
                      </a:r>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extLst>
                  <a:ext uri="{0D108BD9-81ED-4DB2-BD59-A6C34878D82A}">
                    <a16:rowId xmlns:a16="http://schemas.microsoft.com/office/drawing/2014/main" val="10001"/>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2</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tx1"/>
                          </a:solidFill>
                          <a:latin typeface="方正姚体" pitchFamily="2" charset="-122"/>
                          <a:ea typeface="方正姚体" pitchFamily="2" charset="-122"/>
                          <a:cs typeface="+mn-cs"/>
                        </a:rPr>
                        <a:t>TD-(</a:t>
                      </a:r>
                      <a:r>
                        <a:rPr lang="zh-CN" altLang="en-US" sz="1800" kern="1200" dirty="0">
                          <a:solidFill>
                            <a:schemeClr val="tx1"/>
                          </a:solidFill>
                          <a:latin typeface="方正姚体" pitchFamily="2" charset="-122"/>
                          <a:ea typeface="方正姚体" pitchFamily="2" charset="-122"/>
                          <a:cs typeface="+mn-cs"/>
                        </a:rPr>
                        <a:t>发送数据，负向差分信号</a:t>
                      </a:r>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extLst>
                  <a:ext uri="{0D108BD9-81ED-4DB2-BD59-A6C34878D82A}">
                    <a16:rowId xmlns:a16="http://schemas.microsoft.com/office/drawing/2014/main" val="10002"/>
                  </a:ext>
                </a:extLst>
              </a:tr>
              <a:tr h="500167">
                <a:tc>
                  <a:txBody>
                    <a:bodyPr/>
                    <a:lstStyle/>
                    <a:p>
                      <a:pPr algn="ctr"/>
                      <a:r>
                        <a:rPr lang="en-US" altLang="zh-CN" sz="1800" kern="1200" dirty="0">
                          <a:solidFill>
                            <a:schemeClr val="tx1"/>
                          </a:solidFill>
                          <a:latin typeface="方正姚体" pitchFamily="2" charset="-122"/>
                          <a:ea typeface="方正姚体" pitchFamily="2" charset="-122"/>
                          <a:cs typeface="+mn-cs"/>
                        </a:rPr>
                        <a:t>3</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tx1"/>
                          </a:solidFill>
                          <a:latin typeface="方正姚体" pitchFamily="2" charset="-122"/>
                          <a:ea typeface="方正姚体" pitchFamily="2" charset="-122"/>
                          <a:cs typeface="+mn-cs"/>
                        </a:rPr>
                        <a:t>RD+(</a:t>
                      </a:r>
                      <a:r>
                        <a:rPr lang="zh-CN" altLang="en-US" sz="1800" kern="1200" dirty="0">
                          <a:solidFill>
                            <a:schemeClr val="tx1"/>
                          </a:solidFill>
                          <a:latin typeface="方正姚体" pitchFamily="2" charset="-122"/>
                          <a:ea typeface="方正姚体" pitchFamily="2" charset="-122"/>
                          <a:cs typeface="+mn-cs"/>
                        </a:rPr>
                        <a:t>接收数据，正向差分信号</a:t>
                      </a:r>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extLst>
                  <a:ext uri="{0D108BD9-81ED-4DB2-BD59-A6C34878D82A}">
                    <a16:rowId xmlns:a16="http://schemas.microsoft.com/office/drawing/2014/main" val="10003"/>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4</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未使用</a:t>
                      </a:r>
                    </a:p>
                  </a:txBody>
                  <a:tcPr/>
                </a:tc>
                <a:extLst>
                  <a:ext uri="{0D108BD9-81ED-4DB2-BD59-A6C34878D82A}">
                    <a16:rowId xmlns:a16="http://schemas.microsoft.com/office/drawing/2014/main" val="10004"/>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5</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latin typeface="方正姚体" pitchFamily="2" charset="-122"/>
                          <a:ea typeface="方正姚体" pitchFamily="2" charset="-122"/>
                          <a:cs typeface="+mn-cs"/>
                        </a:rPr>
                        <a:t>未使用</a:t>
                      </a:r>
                    </a:p>
                  </a:txBody>
                  <a:tcPr/>
                </a:tc>
                <a:extLst>
                  <a:ext uri="{0D108BD9-81ED-4DB2-BD59-A6C34878D82A}">
                    <a16:rowId xmlns:a16="http://schemas.microsoft.com/office/drawing/2014/main" val="10005"/>
                  </a:ext>
                </a:extLst>
              </a:tr>
              <a:tr h="500167">
                <a:tc>
                  <a:txBody>
                    <a:bodyPr/>
                    <a:lstStyle/>
                    <a:p>
                      <a:pPr algn="ctr"/>
                      <a:r>
                        <a:rPr lang="en-US" altLang="zh-CN" sz="1800" kern="1200" dirty="0">
                          <a:solidFill>
                            <a:schemeClr val="tx1"/>
                          </a:solidFill>
                          <a:latin typeface="方正姚体" pitchFamily="2" charset="-122"/>
                          <a:ea typeface="方正姚体" pitchFamily="2" charset="-122"/>
                          <a:cs typeface="+mn-cs"/>
                        </a:rPr>
                        <a:t>6</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tx1"/>
                          </a:solidFill>
                          <a:latin typeface="方正姚体" pitchFamily="2" charset="-122"/>
                          <a:ea typeface="方正姚体" pitchFamily="2" charset="-122"/>
                          <a:cs typeface="+mn-cs"/>
                        </a:rPr>
                        <a:t>RD-(</a:t>
                      </a:r>
                      <a:r>
                        <a:rPr lang="zh-CN" altLang="en-US" sz="1800" kern="1200" dirty="0">
                          <a:solidFill>
                            <a:schemeClr val="tx1"/>
                          </a:solidFill>
                          <a:latin typeface="方正姚体" pitchFamily="2" charset="-122"/>
                          <a:ea typeface="方正姚体" pitchFamily="2" charset="-122"/>
                          <a:cs typeface="+mn-cs"/>
                        </a:rPr>
                        <a:t>接收数据，负向差分信号</a:t>
                      </a:r>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extLst>
                  <a:ext uri="{0D108BD9-81ED-4DB2-BD59-A6C34878D82A}">
                    <a16:rowId xmlns:a16="http://schemas.microsoft.com/office/drawing/2014/main" val="10006"/>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7</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latin typeface="方正姚体" pitchFamily="2" charset="-122"/>
                          <a:ea typeface="方正姚体" pitchFamily="2" charset="-122"/>
                          <a:cs typeface="+mn-cs"/>
                        </a:rPr>
                        <a:t>未使用</a:t>
                      </a:r>
                    </a:p>
                  </a:txBody>
                  <a:tcPr/>
                </a:tc>
                <a:extLst>
                  <a:ext uri="{0D108BD9-81ED-4DB2-BD59-A6C34878D82A}">
                    <a16:rowId xmlns:a16="http://schemas.microsoft.com/office/drawing/2014/main" val="10007"/>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8</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latin typeface="方正姚体" pitchFamily="2" charset="-122"/>
                          <a:ea typeface="方正姚体" pitchFamily="2" charset="-122"/>
                          <a:cs typeface="+mn-cs"/>
                        </a:rPr>
                        <a:t>未使用</a:t>
                      </a:r>
                    </a:p>
                  </a:txBody>
                  <a:tcPr/>
                </a:tc>
                <a:extLst>
                  <a:ext uri="{0D108BD9-81ED-4DB2-BD59-A6C34878D82A}">
                    <a16:rowId xmlns:a16="http://schemas.microsoft.com/office/drawing/2014/main" val="10008"/>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38040660"/>
              </p:ext>
            </p:extLst>
          </p:nvPr>
        </p:nvGraphicFramePr>
        <p:xfrm>
          <a:off x="6448781" y="2317385"/>
          <a:ext cx="4005405" cy="3752700"/>
        </p:xfrm>
        <a:graphic>
          <a:graphicData uri="http://schemas.openxmlformats.org/drawingml/2006/table">
            <a:tbl>
              <a:tblPr firstRow="1" bandRow="1">
                <a:tableStyleId>{21E4AEA4-8DFA-4A89-87EB-49C32662AFE0}</a:tableStyleId>
              </a:tblPr>
              <a:tblGrid>
                <a:gridCol w="695659">
                  <a:extLst>
                    <a:ext uri="{9D8B030D-6E8A-4147-A177-3AD203B41FA5}">
                      <a16:colId xmlns:a16="http://schemas.microsoft.com/office/drawing/2014/main" val="20000"/>
                    </a:ext>
                  </a:extLst>
                </a:gridCol>
                <a:gridCol w="719509">
                  <a:extLst>
                    <a:ext uri="{9D8B030D-6E8A-4147-A177-3AD203B41FA5}">
                      <a16:colId xmlns:a16="http://schemas.microsoft.com/office/drawing/2014/main" val="20001"/>
                    </a:ext>
                  </a:extLst>
                </a:gridCol>
                <a:gridCol w="705121">
                  <a:extLst>
                    <a:ext uri="{9D8B030D-6E8A-4147-A177-3AD203B41FA5}">
                      <a16:colId xmlns:a16="http://schemas.microsoft.com/office/drawing/2014/main" val="20002"/>
                    </a:ext>
                  </a:extLst>
                </a:gridCol>
                <a:gridCol w="1885116">
                  <a:extLst>
                    <a:ext uri="{9D8B030D-6E8A-4147-A177-3AD203B41FA5}">
                      <a16:colId xmlns:a16="http://schemas.microsoft.com/office/drawing/2014/main" val="20003"/>
                    </a:ext>
                  </a:extLst>
                </a:gridCol>
              </a:tblGrid>
              <a:tr h="375270">
                <a:tc>
                  <a:txBody>
                    <a:bodyPr/>
                    <a:lstStyle/>
                    <a:p>
                      <a:pPr algn="ctr"/>
                      <a:r>
                        <a:rPr lang="zh-CN" altLang="en-US" sz="1800" kern="1200" dirty="0">
                          <a:solidFill>
                            <a:schemeClr val="tx1"/>
                          </a:solidFill>
                          <a:latin typeface="方正姚体" pitchFamily="2" charset="-122"/>
                          <a:ea typeface="方正姚体" pitchFamily="2" charset="-122"/>
                          <a:cs typeface="+mn-cs"/>
                        </a:rPr>
                        <a:t>针脚</a:t>
                      </a:r>
                    </a:p>
                  </a:txBody>
                  <a:tcPr/>
                </a:tc>
                <a:tc>
                  <a:txBody>
                    <a:bodyPr/>
                    <a:lstStyle/>
                    <a:p>
                      <a:pPr algn="ctr"/>
                      <a:r>
                        <a:rPr lang="zh-CN" altLang="en-US" sz="1800" kern="1200" dirty="0">
                          <a:solidFill>
                            <a:schemeClr val="tx1"/>
                          </a:solidFill>
                          <a:latin typeface="方正姚体" pitchFamily="2" charset="-122"/>
                          <a:ea typeface="方正姚体" pitchFamily="2" charset="-122"/>
                          <a:cs typeface="+mn-cs"/>
                        </a:rPr>
                        <a:t>符号</a:t>
                      </a:r>
                    </a:p>
                  </a:txBody>
                  <a:tcPr/>
                </a:tc>
                <a:tc>
                  <a:txBody>
                    <a:bodyPr/>
                    <a:lstStyle/>
                    <a:p>
                      <a:pPr algn="ctr"/>
                      <a:r>
                        <a:rPr lang="zh-CN" altLang="en-US" sz="1800" kern="1200" dirty="0">
                          <a:solidFill>
                            <a:schemeClr val="tx1"/>
                          </a:solidFill>
                          <a:latin typeface="方正姚体" pitchFamily="2" charset="-122"/>
                          <a:ea typeface="方正姚体" pitchFamily="2" charset="-122"/>
                          <a:cs typeface="+mn-cs"/>
                        </a:rPr>
                        <a:t>方向</a:t>
                      </a:r>
                    </a:p>
                  </a:txBody>
                  <a:tcPr/>
                </a:tc>
                <a:tc>
                  <a:txBody>
                    <a:bodyPr/>
                    <a:lstStyle/>
                    <a:p>
                      <a:pPr algn="ctr"/>
                      <a:r>
                        <a:rPr lang="zh-CN" altLang="en-US" sz="1800" kern="1200" dirty="0">
                          <a:solidFill>
                            <a:schemeClr val="tx1"/>
                          </a:solidFill>
                          <a:latin typeface="方正姚体" pitchFamily="2" charset="-122"/>
                          <a:ea typeface="方正姚体" pitchFamily="2" charset="-122"/>
                          <a:cs typeface="+mn-cs"/>
                        </a:rPr>
                        <a:t>说明</a:t>
                      </a:r>
                    </a:p>
                  </a:txBody>
                  <a:tcPr/>
                </a:tc>
                <a:extLst>
                  <a:ext uri="{0D108BD9-81ED-4DB2-BD59-A6C34878D82A}">
                    <a16:rowId xmlns:a16="http://schemas.microsoft.com/office/drawing/2014/main" val="10000"/>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1</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DCD</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数据载波检测</a:t>
                      </a:r>
                    </a:p>
                  </a:txBody>
                  <a:tcPr/>
                </a:tc>
                <a:extLst>
                  <a:ext uri="{0D108BD9-81ED-4DB2-BD59-A6C34878D82A}">
                    <a16:rowId xmlns:a16="http://schemas.microsoft.com/office/drawing/2014/main" val="10001"/>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2</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RXD</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接收数据</a:t>
                      </a:r>
                    </a:p>
                  </a:txBody>
                  <a:tcPr/>
                </a:tc>
                <a:extLst>
                  <a:ext uri="{0D108BD9-81ED-4DB2-BD59-A6C34878D82A}">
                    <a16:rowId xmlns:a16="http://schemas.microsoft.com/office/drawing/2014/main" val="10002"/>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3</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TXD</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输出</a:t>
                      </a:r>
                    </a:p>
                  </a:txBody>
                  <a:tcPr/>
                </a:tc>
                <a:tc>
                  <a:txBody>
                    <a:bodyPr/>
                    <a:lstStyle/>
                    <a:p>
                      <a:r>
                        <a:rPr lang="zh-CN" altLang="en-US" sz="1800" kern="1200" dirty="0">
                          <a:solidFill>
                            <a:schemeClr val="tx1"/>
                          </a:solidFill>
                          <a:latin typeface="方正姚体" pitchFamily="2" charset="-122"/>
                          <a:ea typeface="方正姚体" pitchFamily="2" charset="-122"/>
                          <a:cs typeface="+mn-cs"/>
                        </a:rPr>
                        <a:t>发送数据</a:t>
                      </a:r>
                    </a:p>
                  </a:txBody>
                  <a:tcPr/>
                </a:tc>
                <a:extLst>
                  <a:ext uri="{0D108BD9-81ED-4DB2-BD59-A6C34878D82A}">
                    <a16:rowId xmlns:a16="http://schemas.microsoft.com/office/drawing/2014/main" val="10003"/>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4</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DTR</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输出</a:t>
                      </a:r>
                    </a:p>
                  </a:txBody>
                  <a:tcPr/>
                </a:tc>
                <a:tc>
                  <a:txBody>
                    <a:bodyPr/>
                    <a:lstStyle/>
                    <a:p>
                      <a:r>
                        <a:rPr lang="zh-CN" altLang="en-US" sz="1800" kern="1200" dirty="0">
                          <a:solidFill>
                            <a:schemeClr val="tx1"/>
                          </a:solidFill>
                          <a:latin typeface="方正姚体" pitchFamily="2" charset="-122"/>
                          <a:ea typeface="方正姚体" pitchFamily="2" charset="-122"/>
                          <a:cs typeface="+mn-cs"/>
                        </a:rPr>
                        <a:t>数据终端准备好</a:t>
                      </a:r>
                    </a:p>
                  </a:txBody>
                  <a:tcPr/>
                </a:tc>
                <a:extLst>
                  <a:ext uri="{0D108BD9-81ED-4DB2-BD59-A6C34878D82A}">
                    <a16:rowId xmlns:a16="http://schemas.microsoft.com/office/drawing/2014/main" val="10004"/>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5</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GND</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信号地</a:t>
                      </a:r>
                    </a:p>
                  </a:txBody>
                  <a:tcPr/>
                </a:tc>
                <a:extLst>
                  <a:ext uri="{0D108BD9-81ED-4DB2-BD59-A6C34878D82A}">
                    <a16:rowId xmlns:a16="http://schemas.microsoft.com/office/drawing/2014/main" val="10005"/>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6</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DSR</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数据装置准备好</a:t>
                      </a:r>
                    </a:p>
                  </a:txBody>
                  <a:tcPr/>
                </a:tc>
                <a:extLst>
                  <a:ext uri="{0D108BD9-81ED-4DB2-BD59-A6C34878D82A}">
                    <a16:rowId xmlns:a16="http://schemas.microsoft.com/office/drawing/2014/main" val="10006"/>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7</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RTS</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输出</a:t>
                      </a:r>
                    </a:p>
                  </a:txBody>
                  <a:tcPr/>
                </a:tc>
                <a:tc>
                  <a:txBody>
                    <a:bodyPr/>
                    <a:lstStyle/>
                    <a:p>
                      <a:r>
                        <a:rPr lang="zh-CN" altLang="en-US" sz="1800" kern="1200" dirty="0">
                          <a:solidFill>
                            <a:schemeClr val="tx1"/>
                          </a:solidFill>
                          <a:latin typeface="方正姚体" pitchFamily="2" charset="-122"/>
                          <a:ea typeface="方正姚体" pitchFamily="2" charset="-122"/>
                          <a:cs typeface="+mn-cs"/>
                        </a:rPr>
                        <a:t>请求发送</a:t>
                      </a:r>
                    </a:p>
                  </a:txBody>
                  <a:tcPr/>
                </a:tc>
                <a:extLst>
                  <a:ext uri="{0D108BD9-81ED-4DB2-BD59-A6C34878D82A}">
                    <a16:rowId xmlns:a16="http://schemas.microsoft.com/office/drawing/2014/main" val="10007"/>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8</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CTS</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允许发送</a:t>
                      </a:r>
                    </a:p>
                  </a:txBody>
                  <a:tcPr/>
                </a:tc>
                <a:extLst>
                  <a:ext uri="{0D108BD9-81ED-4DB2-BD59-A6C34878D82A}">
                    <a16:rowId xmlns:a16="http://schemas.microsoft.com/office/drawing/2014/main" val="10008"/>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9</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RI</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振铃指示</a:t>
                      </a:r>
                    </a:p>
                  </a:txBody>
                  <a:tcPr/>
                </a:tc>
                <a:extLst>
                  <a:ext uri="{0D108BD9-81ED-4DB2-BD59-A6C34878D82A}">
                    <a16:rowId xmlns:a16="http://schemas.microsoft.com/office/drawing/2014/main" val="10009"/>
                  </a:ext>
                </a:extLst>
              </a:tr>
            </a:tbl>
          </a:graphicData>
        </a:graphic>
      </p:graphicFrame>
      <p:pic>
        <p:nvPicPr>
          <p:cNvPr id="4099" name="Picture 3"/>
          <p:cNvPicPr>
            <a:picLocks noChangeAspect="1" noChangeArrowheads="1"/>
          </p:cNvPicPr>
          <p:nvPr/>
        </p:nvPicPr>
        <p:blipFill>
          <a:blip r:embed="rId3"/>
          <a:srcRect/>
          <a:stretch>
            <a:fillRect/>
          </a:stretch>
        </p:blipFill>
        <p:spPr bwMode="auto">
          <a:xfrm>
            <a:off x="467272" y="2376744"/>
            <a:ext cx="1620000" cy="1803345"/>
          </a:xfrm>
          <a:prstGeom prst="rect">
            <a:avLst/>
          </a:prstGeom>
          <a:noFill/>
          <a:ln w="9525">
            <a:noFill/>
            <a:miter lim="800000"/>
            <a:headEnd/>
            <a:tailEnd/>
          </a:ln>
        </p:spPr>
      </p:pic>
      <p:pic>
        <p:nvPicPr>
          <p:cNvPr id="4100" name="Picture 4"/>
          <p:cNvPicPr>
            <a:picLocks noChangeAspect="1" noChangeArrowheads="1"/>
          </p:cNvPicPr>
          <p:nvPr/>
        </p:nvPicPr>
        <p:blipFill>
          <a:blip r:embed="rId4"/>
          <a:srcRect/>
          <a:stretch>
            <a:fillRect/>
          </a:stretch>
        </p:blipFill>
        <p:spPr bwMode="auto">
          <a:xfrm>
            <a:off x="450087" y="4605206"/>
            <a:ext cx="1620000" cy="1129437"/>
          </a:xfrm>
          <a:prstGeom prst="rect">
            <a:avLst/>
          </a:prstGeom>
          <a:noFill/>
          <a:ln w="9525">
            <a:noFill/>
            <a:miter lim="800000"/>
            <a:headEnd/>
            <a:tailEnd/>
          </a:ln>
        </p:spPr>
      </p:pic>
      <p:pic>
        <p:nvPicPr>
          <p:cNvPr id="4101" name="Picture 5"/>
          <p:cNvPicPr>
            <a:picLocks noChangeAspect="1" noChangeArrowheads="1"/>
          </p:cNvPicPr>
          <p:nvPr/>
        </p:nvPicPr>
        <p:blipFill>
          <a:blip r:embed="rId5"/>
          <a:srcRect/>
          <a:stretch>
            <a:fillRect/>
          </a:stretch>
        </p:blipFill>
        <p:spPr bwMode="auto">
          <a:xfrm>
            <a:off x="10537323" y="2344671"/>
            <a:ext cx="1282335" cy="1711291"/>
          </a:xfrm>
          <a:prstGeom prst="rect">
            <a:avLst/>
          </a:prstGeom>
          <a:noFill/>
          <a:ln w="9525">
            <a:noFill/>
            <a:miter lim="800000"/>
            <a:headEnd/>
            <a:tailEnd/>
          </a:ln>
        </p:spPr>
      </p:pic>
      <p:pic>
        <p:nvPicPr>
          <p:cNvPr id="4102" name="Picture 6"/>
          <p:cNvPicPr>
            <a:picLocks noChangeAspect="1" noChangeArrowheads="1"/>
          </p:cNvPicPr>
          <p:nvPr/>
        </p:nvPicPr>
        <p:blipFill>
          <a:blip r:embed="rId6"/>
          <a:srcRect/>
          <a:stretch>
            <a:fillRect/>
          </a:stretch>
        </p:blipFill>
        <p:spPr bwMode="auto">
          <a:xfrm>
            <a:off x="10617014" y="4185392"/>
            <a:ext cx="1282336" cy="1636093"/>
          </a:xfrm>
          <a:prstGeom prst="rect">
            <a:avLst/>
          </a:prstGeom>
          <a:noFill/>
          <a:ln w="9525">
            <a:noFill/>
            <a:miter lim="800000"/>
            <a:headEnd/>
            <a:tailEnd/>
          </a:ln>
        </p:spPr>
      </p:pic>
      <p:sp>
        <p:nvSpPr>
          <p:cNvPr id="20" name="TextBox 19"/>
          <p:cNvSpPr txBox="1"/>
          <p:nvPr/>
        </p:nvSpPr>
        <p:spPr>
          <a:xfrm>
            <a:off x="6946710" y="6156295"/>
            <a:ext cx="3862317" cy="400110"/>
          </a:xfrm>
          <a:prstGeom prst="rect">
            <a:avLst/>
          </a:prstGeom>
          <a:noFill/>
        </p:spPr>
        <p:txBody>
          <a:bodyPr wrap="square" rtlCol="0">
            <a:spAutoFit/>
          </a:bodyPr>
          <a:lstStyle/>
          <a:p>
            <a:pPr algn="ctr"/>
            <a:r>
              <a:rPr lang="en-US" altLang="zh-CN" sz="2000" dirty="0">
                <a:latin typeface="Microsoft YaHei" panose="020B0503020204020204" pitchFamily="34" charset="-122"/>
                <a:ea typeface="Microsoft YaHei" panose="020B0503020204020204" pitchFamily="34" charset="-122"/>
              </a:rPr>
              <a:t>RS-232-C DB-9</a:t>
            </a:r>
            <a:r>
              <a:rPr lang="zh-CN" altLang="en-US" sz="2000" dirty="0">
                <a:latin typeface="Microsoft YaHei" panose="020B0503020204020204" pitchFamily="34" charset="-122"/>
                <a:ea typeface="Microsoft YaHei" panose="020B0503020204020204" pitchFamily="34" charset="-122"/>
              </a:rPr>
              <a:t>接口功能特性</a:t>
            </a:r>
          </a:p>
        </p:txBody>
      </p:sp>
      <p:sp>
        <p:nvSpPr>
          <p:cNvPr id="21" name="TextBox 20"/>
          <p:cNvSpPr txBox="1"/>
          <p:nvPr/>
        </p:nvSpPr>
        <p:spPr>
          <a:xfrm>
            <a:off x="1307509" y="6156295"/>
            <a:ext cx="3892288" cy="400110"/>
          </a:xfrm>
          <a:prstGeom prst="rect">
            <a:avLst/>
          </a:prstGeom>
          <a:noFill/>
        </p:spPr>
        <p:txBody>
          <a:bodyPr wrap="square" rtlCol="0">
            <a:spAutoFit/>
          </a:bodyPr>
          <a:lstStyle/>
          <a:p>
            <a:pPr algn="ctr"/>
            <a:r>
              <a:rPr lang="en-US" altLang="zh-CN" sz="2000" dirty="0">
                <a:latin typeface="Microsoft YaHei" panose="020B0503020204020204" pitchFamily="34" charset="-122"/>
                <a:ea typeface="Microsoft YaHei" panose="020B0503020204020204" pitchFamily="34" charset="-122"/>
              </a:rPr>
              <a:t>10BASE-T RJ-45 </a:t>
            </a:r>
            <a:r>
              <a:rPr lang="zh-CN" altLang="en-US" sz="2000" dirty="0">
                <a:latin typeface="Microsoft YaHei" panose="020B0503020204020204" pitchFamily="34" charset="-122"/>
                <a:ea typeface="Microsoft YaHei" panose="020B0503020204020204" pitchFamily="34" charset="-122"/>
              </a:rPr>
              <a:t>接口功能特性</a:t>
            </a:r>
          </a:p>
        </p:txBody>
      </p:sp>
      <p:sp>
        <p:nvSpPr>
          <p:cNvPr id="17" name="文本框 16">
            <a:extLst>
              <a:ext uri="{FF2B5EF4-FFF2-40B4-BE49-F238E27FC236}">
                <a16:creationId xmlns:a16="http://schemas.microsoft.com/office/drawing/2014/main" id="{A17627DD-B1F3-4525-8006-CC44432C9B89}"/>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圆角 78">
            <a:extLst>
              <a:ext uri="{FF2B5EF4-FFF2-40B4-BE49-F238E27FC236}">
                <a16:creationId xmlns:a16="http://schemas.microsoft.com/office/drawing/2014/main" id="{6CE837A9-9AA7-4A06-9926-6B1979571EB4}"/>
              </a:ext>
            </a:extLst>
          </p:cNvPr>
          <p:cNvSpPr/>
          <p:nvPr/>
        </p:nvSpPr>
        <p:spPr>
          <a:xfrm>
            <a:off x="1133062" y="1902225"/>
            <a:ext cx="9513922" cy="4450841"/>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lstStyle/>
          <a:p>
            <a:r>
              <a:rPr lang="zh-CN" altLang="en-US" dirty="0"/>
              <a:t>物理层过程特性 </a:t>
            </a:r>
          </a:p>
        </p:txBody>
      </p:sp>
      <p:sp>
        <p:nvSpPr>
          <p:cNvPr id="4" name="灯片编号占位符 3"/>
          <p:cNvSpPr>
            <a:spLocks noGrp="1"/>
          </p:cNvSpPr>
          <p:nvPr>
            <p:ph type="sldNum" sz="quarter" idx="12"/>
          </p:nvPr>
        </p:nvSpPr>
        <p:spPr>
          <a:xfrm>
            <a:off x="8610600" y="6195709"/>
            <a:ext cx="2743200" cy="365125"/>
          </a:xfrm>
        </p:spPr>
        <p:txBody>
          <a:bodyPr/>
          <a:lstStyle/>
          <a:p>
            <a:fld id="{8D4D1E41-7A09-AB4A-A4E1-09765ADA2698}" type="slidenum">
              <a:rPr kumimoji="1" lang="zh-CN" altLang="en-US" smtClean="0"/>
              <a:pPr/>
              <a:t>9</a:t>
            </a:fld>
            <a:endParaRPr kumimoji="1" lang="zh-CN" altLang="en-US" dirty="0"/>
          </a:p>
        </p:txBody>
      </p:sp>
      <p:sp>
        <p:nvSpPr>
          <p:cNvPr id="5" name="内容占位符 2"/>
          <p:cNvSpPr>
            <a:spLocks noGrp="1"/>
          </p:cNvSpPr>
          <p:nvPr>
            <p:ph idx="1"/>
          </p:nvPr>
        </p:nvSpPr>
        <p:spPr>
          <a:xfrm>
            <a:off x="765758" y="1381210"/>
            <a:ext cx="10515600" cy="530984"/>
          </a:xfrm>
        </p:spPr>
        <p:txBody>
          <a:bodyPr/>
          <a:lstStyle/>
          <a:p>
            <a:r>
              <a:rPr lang="zh-CN" altLang="en-US" dirty="0"/>
              <a:t>指明</a:t>
            </a:r>
            <a:r>
              <a:rPr lang="zh-CN" altLang="en-US" dirty="0">
                <a:solidFill>
                  <a:srgbClr val="C00000"/>
                </a:solidFill>
              </a:rPr>
              <a:t>对于不同功能的各种可能事件的出现顺序</a:t>
            </a:r>
            <a:endParaRPr lang="en-US" altLang="zh-CN" dirty="0">
              <a:solidFill>
                <a:srgbClr val="C00000"/>
              </a:solidFill>
            </a:endParaRPr>
          </a:p>
          <a:p>
            <a:pPr marL="0" indent="0">
              <a:buNone/>
            </a:pPr>
            <a:endParaRPr lang="zh-CN" altLang="en-US" dirty="0"/>
          </a:p>
          <a:p>
            <a:endParaRPr lang="zh-CN" altLang="en-US" dirty="0"/>
          </a:p>
        </p:txBody>
      </p:sp>
      <p:grpSp>
        <p:nvGrpSpPr>
          <p:cNvPr id="99" name="组合 98"/>
          <p:cNvGrpSpPr/>
          <p:nvPr/>
        </p:nvGrpSpPr>
        <p:grpSpPr>
          <a:xfrm>
            <a:off x="1445034" y="1997007"/>
            <a:ext cx="9201949" cy="4356060"/>
            <a:chOff x="1508551" y="2142673"/>
            <a:chExt cx="9201949" cy="4356060"/>
          </a:xfrm>
        </p:grpSpPr>
        <p:grpSp>
          <p:nvGrpSpPr>
            <p:cNvPr id="87" name="组合 86"/>
            <p:cNvGrpSpPr/>
            <p:nvPr/>
          </p:nvGrpSpPr>
          <p:grpSpPr>
            <a:xfrm>
              <a:off x="1508551" y="2818356"/>
              <a:ext cx="8762792" cy="3680377"/>
              <a:chOff x="2022117" y="2693096"/>
              <a:chExt cx="8762792" cy="3680377"/>
            </a:xfrm>
          </p:grpSpPr>
          <p:pic>
            <p:nvPicPr>
              <p:cNvPr id="1030" name="Picture 6"/>
              <p:cNvPicPr>
                <a:picLocks noChangeAspect="1" noChangeArrowheads="1"/>
              </p:cNvPicPr>
              <p:nvPr/>
            </p:nvPicPr>
            <p:blipFill>
              <a:blip r:embed="rId2"/>
              <a:srcRect/>
              <a:stretch>
                <a:fillRect/>
              </a:stretch>
            </p:blipFill>
            <p:spPr bwMode="auto">
              <a:xfrm>
                <a:off x="3106453" y="4838031"/>
                <a:ext cx="7515617" cy="1206000"/>
              </a:xfrm>
              <a:prstGeom prst="rect">
                <a:avLst/>
              </a:prstGeom>
              <a:noFill/>
              <a:ln w="9525">
                <a:noFill/>
                <a:miter lim="800000"/>
                <a:headEnd/>
                <a:tailEnd/>
              </a:ln>
              <a:effectLst/>
            </p:spPr>
          </p:pic>
          <p:pic>
            <p:nvPicPr>
              <p:cNvPr id="1029" name="Picture 5"/>
              <p:cNvPicPr>
                <a:picLocks noChangeArrowheads="1"/>
              </p:cNvPicPr>
              <p:nvPr/>
            </p:nvPicPr>
            <p:blipFill>
              <a:blip r:embed="rId3"/>
              <a:srcRect/>
              <a:stretch>
                <a:fillRect/>
              </a:stretch>
            </p:blipFill>
            <p:spPr bwMode="auto">
              <a:xfrm>
                <a:off x="3106454" y="4443609"/>
                <a:ext cx="7515617" cy="4320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3106455" y="2755726"/>
                <a:ext cx="7515616" cy="1715004"/>
              </a:xfrm>
              <a:prstGeom prst="rect">
                <a:avLst/>
              </a:prstGeom>
              <a:noFill/>
              <a:ln w="9525">
                <a:noFill/>
                <a:miter lim="800000"/>
                <a:headEnd/>
                <a:tailEnd/>
              </a:ln>
              <a:effectLst/>
            </p:spPr>
          </p:pic>
          <p:cxnSp>
            <p:nvCxnSpPr>
              <p:cNvPr id="8" name="直接连接符 7"/>
              <p:cNvCxnSpPr/>
              <p:nvPr/>
            </p:nvCxnSpPr>
            <p:spPr>
              <a:xfrm>
                <a:off x="4910203" y="2768251"/>
                <a:ext cx="0" cy="32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104340" y="2768252"/>
                <a:ext cx="0" cy="32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3281819" y="2693096"/>
                <a:ext cx="1620000" cy="369332"/>
                <a:chOff x="3281819" y="2655518"/>
                <a:chExt cx="1620000" cy="369332"/>
              </a:xfrm>
            </p:grpSpPr>
            <p:cxnSp>
              <p:nvCxnSpPr>
                <p:cNvPr id="11" name="直接箭头连接符 10"/>
                <p:cNvCxnSpPr/>
                <p:nvPr/>
              </p:nvCxnSpPr>
              <p:spPr>
                <a:xfrm flipV="1">
                  <a:off x="3281819" y="3006247"/>
                  <a:ext cx="16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281819" y="2655518"/>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启呼</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摘机</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grpSp>
            <p:nvGrpSpPr>
              <p:cNvPr id="33" name="组合 32"/>
              <p:cNvGrpSpPr/>
              <p:nvPr/>
            </p:nvGrpSpPr>
            <p:grpSpPr>
              <a:xfrm>
                <a:off x="8116866" y="3583167"/>
                <a:ext cx="1620000" cy="369332"/>
                <a:chOff x="9070931" y="3708427"/>
                <a:chExt cx="1620000" cy="369332"/>
              </a:xfrm>
            </p:grpSpPr>
            <p:cxnSp>
              <p:nvCxnSpPr>
                <p:cNvPr id="14" name="直接箭头连接符 13"/>
                <p:cNvCxnSpPr/>
                <p:nvPr/>
              </p:nvCxnSpPr>
              <p:spPr>
                <a:xfrm flipV="1">
                  <a:off x="9070931" y="4059156"/>
                  <a:ext cx="1620000"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9070931" y="3708427"/>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振铃信号</a:t>
                  </a:r>
                </a:p>
              </p:txBody>
            </p:sp>
          </p:grpSp>
          <p:cxnSp>
            <p:nvCxnSpPr>
              <p:cNvPr id="17" name="直接箭头连接符 16"/>
              <p:cNvCxnSpPr/>
              <p:nvPr/>
            </p:nvCxnSpPr>
            <p:spPr>
              <a:xfrm flipV="1">
                <a:off x="3290203" y="3359064"/>
                <a:ext cx="16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277677" y="3020861"/>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拨号信号</a:t>
                </a:r>
              </a:p>
            </p:txBody>
          </p:sp>
          <p:grpSp>
            <p:nvGrpSpPr>
              <p:cNvPr id="29" name="组合 28"/>
              <p:cNvGrpSpPr/>
              <p:nvPr/>
            </p:nvGrpSpPr>
            <p:grpSpPr>
              <a:xfrm>
                <a:off x="4897677" y="3132953"/>
                <a:ext cx="3194137" cy="369332"/>
                <a:chOff x="4897677" y="3308317"/>
                <a:chExt cx="3194137" cy="369332"/>
              </a:xfrm>
            </p:grpSpPr>
            <p:cxnSp>
              <p:nvCxnSpPr>
                <p:cNvPr id="21" name="直接箭头连接符 20"/>
                <p:cNvCxnSpPr/>
                <p:nvPr/>
              </p:nvCxnSpPr>
              <p:spPr>
                <a:xfrm>
                  <a:off x="4897677" y="3659046"/>
                  <a:ext cx="31941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098093" y="330831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占用信号</a:t>
                  </a:r>
                </a:p>
              </p:txBody>
            </p:sp>
          </p:grpSp>
          <p:grpSp>
            <p:nvGrpSpPr>
              <p:cNvPr id="35" name="组合 34"/>
              <p:cNvGrpSpPr/>
              <p:nvPr/>
            </p:nvGrpSpPr>
            <p:grpSpPr>
              <a:xfrm>
                <a:off x="8104340" y="3908483"/>
                <a:ext cx="1620000" cy="369332"/>
                <a:chOff x="9880931" y="1641632"/>
                <a:chExt cx="1620000" cy="369332"/>
              </a:xfrm>
            </p:grpSpPr>
            <p:cxnSp>
              <p:nvCxnSpPr>
                <p:cNvPr id="23" name="直接箭头连接符 22"/>
                <p:cNvCxnSpPr/>
                <p:nvPr/>
              </p:nvCxnSpPr>
              <p:spPr>
                <a:xfrm flipV="1">
                  <a:off x="9880931" y="1992361"/>
                  <a:ext cx="1620000"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9880931" y="1641632"/>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应答</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摘机</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grpSp>
            <p:nvGrpSpPr>
              <p:cNvPr id="61" name="组合 60"/>
              <p:cNvGrpSpPr/>
              <p:nvPr/>
            </p:nvGrpSpPr>
            <p:grpSpPr>
              <a:xfrm>
                <a:off x="4897677" y="5263742"/>
                <a:ext cx="3194137" cy="369332"/>
                <a:chOff x="5450909" y="2405359"/>
                <a:chExt cx="3194137" cy="369332"/>
              </a:xfrm>
            </p:grpSpPr>
            <p:cxnSp>
              <p:nvCxnSpPr>
                <p:cNvPr id="27" name="直接箭头连接符 26"/>
                <p:cNvCxnSpPr/>
                <p:nvPr/>
              </p:nvCxnSpPr>
              <p:spPr>
                <a:xfrm>
                  <a:off x="5450909" y="2756088"/>
                  <a:ext cx="31941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651325" y="2405359"/>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前向拆线信号</a:t>
                  </a:r>
                </a:p>
              </p:txBody>
            </p:sp>
          </p:grpSp>
          <p:grpSp>
            <p:nvGrpSpPr>
              <p:cNvPr id="30" name="组合 29"/>
              <p:cNvGrpSpPr/>
              <p:nvPr/>
            </p:nvGrpSpPr>
            <p:grpSpPr>
              <a:xfrm>
                <a:off x="4899765" y="3457907"/>
                <a:ext cx="3194137" cy="369332"/>
                <a:chOff x="4897677" y="3308317"/>
                <a:chExt cx="3194137" cy="369332"/>
              </a:xfrm>
            </p:grpSpPr>
            <p:cxnSp>
              <p:nvCxnSpPr>
                <p:cNvPr id="31" name="直接箭头连接符 30"/>
                <p:cNvCxnSpPr/>
                <p:nvPr/>
              </p:nvCxnSpPr>
              <p:spPr>
                <a:xfrm>
                  <a:off x="4897677" y="3659046"/>
                  <a:ext cx="31941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098093" y="330831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选择信号</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路由信号</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grpSp>
            <p:nvGrpSpPr>
              <p:cNvPr id="36" name="组合 35"/>
              <p:cNvGrpSpPr/>
              <p:nvPr/>
            </p:nvGrpSpPr>
            <p:grpSpPr>
              <a:xfrm>
                <a:off x="3277677" y="3582806"/>
                <a:ext cx="1620000" cy="369332"/>
                <a:chOff x="9880931" y="1641632"/>
                <a:chExt cx="1620000" cy="369332"/>
              </a:xfrm>
            </p:grpSpPr>
            <p:cxnSp>
              <p:nvCxnSpPr>
                <p:cNvPr id="37" name="直接箭头连接符 36"/>
                <p:cNvCxnSpPr/>
                <p:nvPr/>
              </p:nvCxnSpPr>
              <p:spPr>
                <a:xfrm flipV="1">
                  <a:off x="9880931" y="1992361"/>
                  <a:ext cx="1620000"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9880931" y="1641632"/>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回铃音信号</a:t>
                  </a:r>
                </a:p>
              </p:txBody>
            </p:sp>
          </p:grpSp>
          <p:grpSp>
            <p:nvGrpSpPr>
              <p:cNvPr id="39" name="组合 38"/>
              <p:cNvGrpSpPr/>
              <p:nvPr/>
            </p:nvGrpSpPr>
            <p:grpSpPr>
              <a:xfrm>
                <a:off x="8091814" y="4824969"/>
                <a:ext cx="1620000" cy="369332"/>
                <a:chOff x="9880931" y="1641632"/>
                <a:chExt cx="1620000" cy="369332"/>
              </a:xfrm>
            </p:grpSpPr>
            <p:cxnSp>
              <p:nvCxnSpPr>
                <p:cNvPr id="40" name="直接箭头连接符 39"/>
                <p:cNvCxnSpPr/>
                <p:nvPr/>
              </p:nvCxnSpPr>
              <p:spPr>
                <a:xfrm flipV="1">
                  <a:off x="9880931" y="1992361"/>
                  <a:ext cx="1620000"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9880931" y="1641632"/>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复原</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挂机</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cxnSp>
            <p:nvCxnSpPr>
              <p:cNvPr id="42" name="直接箭头连接符 41"/>
              <p:cNvCxnSpPr/>
              <p:nvPr/>
            </p:nvCxnSpPr>
            <p:spPr>
              <a:xfrm>
                <a:off x="4901819" y="3933896"/>
                <a:ext cx="3194137"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48" name="组合 47"/>
              <p:cNvGrpSpPr/>
              <p:nvPr/>
            </p:nvGrpSpPr>
            <p:grpSpPr>
              <a:xfrm>
                <a:off x="4910203" y="4034105"/>
                <a:ext cx="3194137" cy="369332"/>
                <a:chOff x="8372606" y="1841687"/>
                <a:chExt cx="3194137" cy="369332"/>
              </a:xfrm>
            </p:grpSpPr>
            <p:cxnSp>
              <p:nvCxnSpPr>
                <p:cNvPr id="43" name="直接箭头连接符 42"/>
                <p:cNvCxnSpPr/>
                <p:nvPr/>
              </p:nvCxnSpPr>
              <p:spPr>
                <a:xfrm>
                  <a:off x="8372606" y="2192416"/>
                  <a:ext cx="3194137"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8573022" y="184168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应答信号</a:t>
                  </a:r>
                </a:p>
              </p:txBody>
            </p:sp>
          </p:grpSp>
          <p:grpSp>
            <p:nvGrpSpPr>
              <p:cNvPr id="57" name="组合 56"/>
              <p:cNvGrpSpPr/>
              <p:nvPr/>
            </p:nvGrpSpPr>
            <p:grpSpPr>
              <a:xfrm>
                <a:off x="4897677" y="4950591"/>
                <a:ext cx="3194137" cy="369332"/>
                <a:chOff x="296483" y="3283627"/>
                <a:chExt cx="3194137" cy="369332"/>
              </a:xfrm>
            </p:grpSpPr>
            <p:cxnSp>
              <p:nvCxnSpPr>
                <p:cNvPr id="45" name="直接箭头连接符 44"/>
                <p:cNvCxnSpPr/>
                <p:nvPr/>
              </p:nvCxnSpPr>
              <p:spPr>
                <a:xfrm>
                  <a:off x="296483" y="3634356"/>
                  <a:ext cx="319413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96899" y="328362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反向挂机信号</a:t>
                  </a:r>
                </a:p>
              </p:txBody>
            </p:sp>
          </p:grpSp>
          <p:grpSp>
            <p:nvGrpSpPr>
              <p:cNvPr id="49" name="组合 48"/>
              <p:cNvGrpSpPr/>
              <p:nvPr/>
            </p:nvGrpSpPr>
            <p:grpSpPr>
              <a:xfrm>
                <a:off x="4912291" y="4424499"/>
                <a:ext cx="3194137" cy="369332"/>
                <a:chOff x="8372606" y="1841687"/>
                <a:chExt cx="3194137" cy="369332"/>
              </a:xfrm>
            </p:grpSpPr>
            <p:cxnSp>
              <p:nvCxnSpPr>
                <p:cNvPr id="50" name="直接箭头连接符 49"/>
                <p:cNvCxnSpPr/>
                <p:nvPr/>
              </p:nvCxnSpPr>
              <p:spPr>
                <a:xfrm>
                  <a:off x="8372606" y="2192416"/>
                  <a:ext cx="3194137"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8573022" y="184168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通话</a:t>
                  </a:r>
                </a:p>
              </p:txBody>
            </p:sp>
          </p:grpSp>
          <p:cxnSp>
            <p:nvCxnSpPr>
              <p:cNvPr id="55" name="直接箭头连接符 54"/>
              <p:cNvCxnSpPr/>
              <p:nvPr/>
            </p:nvCxnSpPr>
            <p:spPr>
              <a:xfrm flipV="1">
                <a:off x="3277677" y="4775228"/>
                <a:ext cx="1620000"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8104340" y="4775228"/>
                <a:ext cx="1620000"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4912291" y="5566453"/>
                <a:ext cx="3194137" cy="369332"/>
                <a:chOff x="296483" y="3283627"/>
                <a:chExt cx="3194137" cy="369332"/>
              </a:xfrm>
            </p:grpSpPr>
            <p:cxnSp>
              <p:nvCxnSpPr>
                <p:cNvPr id="64" name="直接箭头连接符 63"/>
                <p:cNvCxnSpPr/>
                <p:nvPr/>
              </p:nvCxnSpPr>
              <p:spPr>
                <a:xfrm>
                  <a:off x="296483" y="3634356"/>
                  <a:ext cx="319413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496899" y="328362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拆线证实信号</a:t>
                  </a:r>
                </a:p>
              </p:txBody>
            </p:sp>
          </p:grpSp>
          <p:grpSp>
            <p:nvGrpSpPr>
              <p:cNvPr id="66" name="组合 65"/>
              <p:cNvGrpSpPr/>
              <p:nvPr/>
            </p:nvGrpSpPr>
            <p:grpSpPr>
              <a:xfrm>
                <a:off x="3265151" y="5063687"/>
                <a:ext cx="1620000" cy="369332"/>
                <a:chOff x="3281819" y="2655518"/>
                <a:chExt cx="1620000" cy="369332"/>
              </a:xfrm>
            </p:grpSpPr>
            <p:cxnSp>
              <p:nvCxnSpPr>
                <p:cNvPr id="67" name="直接箭头连接符 66"/>
                <p:cNvCxnSpPr/>
                <p:nvPr/>
              </p:nvCxnSpPr>
              <p:spPr>
                <a:xfrm flipV="1">
                  <a:off x="3281819" y="3006247"/>
                  <a:ext cx="16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3281819" y="2655518"/>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复原</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挂机</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sp>
            <p:nvSpPr>
              <p:cNvPr id="76" name="TextBox 75"/>
              <p:cNvSpPr txBox="1"/>
              <p:nvPr/>
            </p:nvSpPr>
            <p:spPr>
              <a:xfrm>
                <a:off x="8004131" y="3020580"/>
                <a:ext cx="2780778" cy="369332"/>
              </a:xfrm>
              <a:prstGeom prst="rect">
                <a:avLst/>
              </a:prstGeom>
              <a:noFill/>
            </p:spPr>
            <p:txBody>
              <a:bodyPr wrap="square" rtlCol="0">
                <a:spAutoFit/>
              </a:bodyPr>
              <a:lstStyle/>
              <a:p>
                <a:pPr algn="ctr"/>
                <a:r>
                  <a:rPr lang="zh-CN" altLang="en-US" dirty="0">
                    <a:solidFill>
                      <a:srgbClr val="FF0000"/>
                    </a:solidFill>
                    <a:latin typeface="Microsoft YaHei" panose="020B0503020204020204" pitchFamily="34" charset="-122"/>
                    <a:ea typeface="Microsoft YaHei" panose="020B0503020204020204" pitchFamily="34" charset="-122"/>
                  </a:rPr>
                  <a:t>功能：建立通信通道</a:t>
                </a:r>
              </a:p>
            </p:txBody>
          </p:sp>
          <p:sp>
            <p:nvSpPr>
              <p:cNvPr id="77" name="TextBox 76"/>
              <p:cNvSpPr txBox="1"/>
              <p:nvPr/>
            </p:nvSpPr>
            <p:spPr>
              <a:xfrm>
                <a:off x="9124166" y="4409886"/>
                <a:ext cx="1535482" cy="369332"/>
              </a:xfrm>
              <a:prstGeom prst="rect">
                <a:avLst/>
              </a:prstGeom>
              <a:noFill/>
            </p:spPr>
            <p:txBody>
              <a:bodyPr wrap="square" rtlCol="0">
                <a:spAutoFit/>
              </a:bodyPr>
              <a:lstStyle/>
              <a:p>
                <a:pPr algn="ctr"/>
                <a:r>
                  <a:rPr lang="zh-CN" altLang="en-US" dirty="0">
                    <a:solidFill>
                      <a:srgbClr val="FF0000"/>
                    </a:solidFill>
                    <a:latin typeface="Microsoft YaHei" panose="020B0503020204020204" pitchFamily="34" charset="-122"/>
                    <a:ea typeface="Microsoft YaHei" panose="020B0503020204020204" pitchFamily="34" charset="-122"/>
                  </a:rPr>
                  <a:t>功能：传输</a:t>
                </a:r>
              </a:p>
            </p:txBody>
          </p:sp>
          <p:sp>
            <p:nvSpPr>
              <p:cNvPr id="78" name="TextBox 77"/>
              <p:cNvSpPr txBox="1"/>
              <p:nvPr/>
            </p:nvSpPr>
            <p:spPr>
              <a:xfrm>
                <a:off x="8095955" y="5363950"/>
                <a:ext cx="2613797" cy="369332"/>
              </a:xfrm>
              <a:prstGeom prst="rect">
                <a:avLst/>
              </a:prstGeom>
              <a:noFill/>
            </p:spPr>
            <p:txBody>
              <a:bodyPr wrap="square" rtlCol="0">
                <a:spAutoFit/>
              </a:bodyPr>
              <a:lstStyle/>
              <a:p>
                <a:pPr algn="ctr"/>
                <a:r>
                  <a:rPr lang="zh-CN" altLang="en-US" dirty="0">
                    <a:solidFill>
                      <a:srgbClr val="FF0000"/>
                    </a:solidFill>
                    <a:latin typeface="Microsoft YaHei" panose="020B0503020204020204" pitchFamily="34" charset="-122"/>
                    <a:ea typeface="Microsoft YaHei" panose="020B0503020204020204" pitchFamily="34" charset="-122"/>
                  </a:rPr>
                  <a:t>功能：撤销通信通道</a:t>
                </a:r>
              </a:p>
            </p:txBody>
          </p:sp>
          <p:pic>
            <p:nvPicPr>
              <p:cNvPr id="1036" name="Picture 12"/>
              <p:cNvPicPr>
                <a:picLocks noChangeArrowheads="1"/>
              </p:cNvPicPr>
              <p:nvPr/>
            </p:nvPicPr>
            <p:blipFill>
              <a:blip r:embed="rId5"/>
              <a:srcRect/>
              <a:stretch>
                <a:fillRect/>
              </a:stretch>
            </p:blipFill>
            <p:spPr bwMode="auto">
              <a:xfrm>
                <a:off x="2893512" y="2768252"/>
                <a:ext cx="108000" cy="1656247"/>
              </a:xfrm>
              <a:prstGeom prst="rect">
                <a:avLst/>
              </a:prstGeom>
              <a:noFill/>
              <a:ln w="9525">
                <a:noFill/>
                <a:miter lim="800000"/>
                <a:headEnd/>
                <a:tailEnd/>
              </a:ln>
              <a:effectLst/>
            </p:spPr>
          </p:pic>
          <p:pic>
            <p:nvPicPr>
              <p:cNvPr id="81" name="Picture 12"/>
              <p:cNvPicPr>
                <a:picLocks noChangeArrowheads="1"/>
              </p:cNvPicPr>
              <p:nvPr/>
            </p:nvPicPr>
            <p:blipFill>
              <a:blip r:embed="rId5"/>
              <a:srcRect/>
              <a:stretch>
                <a:fillRect/>
              </a:stretch>
            </p:blipFill>
            <p:spPr bwMode="auto">
              <a:xfrm>
                <a:off x="2887457" y="4850557"/>
                <a:ext cx="108000" cy="1157695"/>
              </a:xfrm>
              <a:prstGeom prst="rect">
                <a:avLst/>
              </a:prstGeom>
              <a:noFill/>
              <a:ln w="9525">
                <a:noFill/>
                <a:miter lim="800000"/>
                <a:headEnd/>
                <a:tailEnd/>
              </a:ln>
              <a:effectLst/>
            </p:spPr>
          </p:pic>
          <p:sp>
            <p:nvSpPr>
              <p:cNvPr id="82" name="TextBox 81"/>
              <p:cNvSpPr txBox="1"/>
              <p:nvPr/>
            </p:nvSpPr>
            <p:spPr>
              <a:xfrm>
                <a:off x="2022117" y="2935773"/>
                <a:ext cx="865340" cy="1200329"/>
              </a:xfrm>
              <a:prstGeom prst="rect">
                <a:avLst/>
              </a:prstGeom>
              <a:noFill/>
            </p:spPr>
            <p:txBody>
              <a:bodyPr wrap="square" rtlCol="0">
                <a:spAutoFit/>
              </a:bodyPr>
              <a:lstStyle/>
              <a:p>
                <a:pPr algn="ctr"/>
                <a:r>
                  <a:rPr lang="zh-CN" altLang="en-US" dirty="0">
                    <a:solidFill>
                      <a:schemeClr val="accent1"/>
                    </a:solidFill>
                    <a:latin typeface="Microsoft YaHei" panose="020B0503020204020204" pitchFamily="34" charset="-122"/>
                    <a:ea typeface="Microsoft YaHei" panose="020B0503020204020204" pitchFamily="34" charset="-122"/>
                  </a:rPr>
                  <a:t>拨号连接事件序列</a:t>
                </a:r>
              </a:p>
            </p:txBody>
          </p:sp>
          <p:sp>
            <p:nvSpPr>
              <p:cNvPr id="83" name="TextBox 82"/>
              <p:cNvSpPr txBox="1"/>
              <p:nvPr/>
            </p:nvSpPr>
            <p:spPr>
              <a:xfrm>
                <a:off x="2022117" y="4755858"/>
                <a:ext cx="865340" cy="1200329"/>
              </a:xfrm>
              <a:prstGeom prst="rect">
                <a:avLst/>
              </a:prstGeom>
              <a:noFill/>
            </p:spPr>
            <p:txBody>
              <a:bodyPr wrap="square" rtlCol="0">
                <a:spAutoFit/>
              </a:bodyPr>
              <a:lstStyle/>
              <a:p>
                <a:pPr algn="ctr"/>
                <a:r>
                  <a:rPr lang="zh-CN" altLang="en-US" dirty="0">
                    <a:solidFill>
                      <a:schemeClr val="accent1"/>
                    </a:solidFill>
                    <a:latin typeface="Microsoft YaHei" panose="020B0503020204020204" pitchFamily="34" charset="-122"/>
                    <a:ea typeface="Microsoft YaHei" panose="020B0503020204020204" pitchFamily="34" charset="-122"/>
                  </a:rPr>
                  <a:t>挂机拆线事件序列</a:t>
                </a:r>
              </a:p>
            </p:txBody>
          </p:sp>
          <p:sp>
            <p:nvSpPr>
              <p:cNvPr id="84" name="TextBox 83"/>
              <p:cNvSpPr txBox="1"/>
              <p:nvPr/>
            </p:nvSpPr>
            <p:spPr>
              <a:xfrm>
                <a:off x="3001512" y="6004141"/>
                <a:ext cx="1991638" cy="369332"/>
              </a:xfrm>
              <a:prstGeom prst="rect">
                <a:avLst/>
              </a:prstGeom>
              <a:noFill/>
            </p:spPr>
            <p:txBody>
              <a:bodyPr wrap="square" rtlCol="0">
                <a:spAutoFit/>
              </a:bodyPr>
              <a:lstStyle/>
              <a:p>
                <a:pPr algn="ctr"/>
                <a:r>
                  <a:rPr lang="zh-CN" altLang="en-US" dirty="0">
                    <a:solidFill>
                      <a:srgbClr val="00B050"/>
                    </a:solidFill>
                    <a:latin typeface="Microsoft YaHei" panose="020B0503020204020204" pitchFamily="34" charset="-122"/>
                    <a:ea typeface="Microsoft YaHei" panose="020B0503020204020204" pitchFamily="34" charset="-122"/>
                  </a:rPr>
                  <a:t>用户线信号</a:t>
                </a:r>
              </a:p>
            </p:txBody>
          </p:sp>
          <p:sp>
            <p:nvSpPr>
              <p:cNvPr id="85" name="TextBox 84"/>
              <p:cNvSpPr txBox="1"/>
              <p:nvPr/>
            </p:nvSpPr>
            <p:spPr>
              <a:xfrm>
                <a:off x="5458701" y="5993927"/>
                <a:ext cx="1991638" cy="369332"/>
              </a:xfrm>
              <a:prstGeom prst="rect">
                <a:avLst/>
              </a:prstGeom>
              <a:noFill/>
            </p:spPr>
            <p:txBody>
              <a:bodyPr wrap="square" rtlCol="0">
                <a:spAutoFit/>
              </a:bodyPr>
              <a:lstStyle/>
              <a:p>
                <a:pPr algn="ctr"/>
                <a:r>
                  <a:rPr lang="zh-CN" altLang="en-US" dirty="0">
                    <a:solidFill>
                      <a:srgbClr val="00B050"/>
                    </a:solidFill>
                    <a:latin typeface="Microsoft YaHei" panose="020B0503020204020204" pitchFamily="34" charset="-122"/>
                    <a:ea typeface="Microsoft YaHei" panose="020B0503020204020204" pitchFamily="34" charset="-122"/>
                  </a:rPr>
                  <a:t>局间信号</a:t>
                </a:r>
              </a:p>
            </p:txBody>
          </p:sp>
          <p:sp>
            <p:nvSpPr>
              <p:cNvPr id="86" name="TextBox 85"/>
              <p:cNvSpPr txBox="1"/>
              <p:nvPr/>
            </p:nvSpPr>
            <p:spPr>
              <a:xfrm>
                <a:off x="8364739" y="5983200"/>
                <a:ext cx="1991638" cy="369332"/>
              </a:xfrm>
              <a:prstGeom prst="rect">
                <a:avLst/>
              </a:prstGeom>
              <a:noFill/>
            </p:spPr>
            <p:txBody>
              <a:bodyPr wrap="square" rtlCol="0">
                <a:spAutoFit/>
              </a:bodyPr>
              <a:lstStyle/>
              <a:p>
                <a:pPr algn="ctr"/>
                <a:r>
                  <a:rPr lang="zh-CN" altLang="en-US" dirty="0">
                    <a:solidFill>
                      <a:srgbClr val="00B050"/>
                    </a:solidFill>
                    <a:latin typeface="Microsoft YaHei" panose="020B0503020204020204" pitchFamily="34" charset="-122"/>
                    <a:ea typeface="Microsoft YaHei" panose="020B0503020204020204" pitchFamily="34" charset="-122"/>
                  </a:rPr>
                  <a:t>用户线信号</a:t>
                </a:r>
              </a:p>
            </p:txBody>
          </p:sp>
        </p:grpSp>
        <p:pic>
          <p:nvPicPr>
            <p:cNvPr id="1037" name="Picture 13"/>
            <p:cNvPicPr>
              <a:picLocks noChangeArrowheads="1"/>
            </p:cNvPicPr>
            <p:nvPr/>
          </p:nvPicPr>
          <p:blipFill>
            <a:blip r:embed="rId6"/>
            <a:srcRect/>
            <a:stretch>
              <a:fillRect/>
            </a:stretch>
          </p:blipFill>
          <p:spPr bwMode="auto">
            <a:xfrm>
              <a:off x="2410922" y="2293189"/>
              <a:ext cx="731429" cy="345397"/>
            </a:xfrm>
            <a:prstGeom prst="rect">
              <a:avLst/>
            </a:prstGeom>
            <a:noFill/>
            <a:ln w="9525">
              <a:noFill/>
              <a:miter lim="800000"/>
              <a:headEnd/>
              <a:tailEnd/>
            </a:ln>
          </p:spPr>
        </p:pic>
        <p:pic>
          <p:nvPicPr>
            <p:cNvPr id="89" name="Picture 13"/>
            <p:cNvPicPr>
              <a:picLocks noChangeArrowheads="1"/>
            </p:cNvPicPr>
            <p:nvPr/>
          </p:nvPicPr>
          <p:blipFill>
            <a:blip r:embed="rId6"/>
            <a:srcRect/>
            <a:stretch>
              <a:fillRect/>
            </a:stretch>
          </p:blipFill>
          <p:spPr bwMode="auto">
            <a:xfrm>
              <a:off x="9098856" y="2280663"/>
              <a:ext cx="731429" cy="345397"/>
            </a:xfrm>
            <a:prstGeom prst="rect">
              <a:avLst/>
            </a:prstGeom>
            <a:noFill/>
            <a:ln w="9525">
              <a:noFill/>
              <a:miter lim="800000"/>
              <a:headEnd/>
              <a:tailEnd/>
            </a:ln>
          </p:spPr>
        </p:pic>
        <p:cxnSp>
          <p:nvCxnSpPr>
            <p:cNvPr id="92" name="直接箭头连接符 91"/>
            <p:cNvCxnSpPr/>
            <p:nvPr/>
          </p:nvCxnSpPr>
          <p:spPr>
            <a:xfrm>
              <a:off x="2950850" y="2492679"/>
              <a:ext cx="6272450"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4384111" y="2258775"/>
              <a:ext cx="1014607" cy="369332"/>
            </a:xfrm>
            <a:prstGeom prst="rect">
              <a:avLst/>
            </a:prstGeom>
            <a:solidFill>
              <a:schemeClr val="accent5">
                <a:lumMod val="20000"/>
                <a:lumOff val="80000"/>
              </a:schemeClr>
            </a:solidFill>
            <a:ln w="25400">
              <a:solidFill>
                <a:schemeClr val="tx1"/>
              </a:solidFill>
            </a:ln>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交换机</a:t>
              </a:r>
            </a:p>
          </p:txBody>
        </p:sp>
        <p:sp>
          <p:nvSpPr>
            <p:cNvPr id="91" name="TextBox 90"/>
            <p:cNvSpPr txBox="1"/>
            <p:nvPr/>
          </p:nvSpPr>
          <p:spPr>
            <a:xfrm>
              <a:off x="6910193" y="2255611"/>
              <a:ext cx="1014607" cy="369332"/>
            </a:xfrm>
            <a:prstGeom prst="rect">
              <a:avLst/>
            </a:prstGeom>
            <a:solidFill>
              <a:schemeClr val="accent5">
                <a:lumMod val="20000"/>
                <a:lumOff val="80000"/>
              </a:schemeClr>
            </a:solidFill>
            <a:ln w="25400">
              <a:solidFill>
                <a:schemeClr val="tx1"/>
              </a:solidFill>
            </a:ln>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交换机</a:t>
              </a:r>
            </a:p>
          </p:txBody>
        </p:sp>
        <p:sp>
          <p:nvSpPr>
            <p:cNvPr id="94" name="TextBox 93"/>
            <p:cNvSpPr txBox="1"/>
            <p:nvPr/>
          </p:nvSpPr>
          <p:spPr>
            <a:xfrm>
              <a:off x="3164351" y="2142673"/>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用户线</a:t>
              </a:r>
            </a:p>
          </p:txBody>
        </p:sp>
        <p:sp>
          <p:nvSpPr>
            <p:cNvPr id="95" name="TextBox 94"/>
            <p:cNvSpPr txBox="1"/>
            <p:nvPr/>
          </p:nvSpPr>
          <p:spPr>
            <a:xfrm>
              <a:off x="7931828" y="2142673"/>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用户线</a:t>
              </a:r>
            </a:p>
          </p:txBody>
        </p:sp>
        <p:sp>
          <p:nvSpPr>
            <p:cNvPr id="96" name="TextBox 95"/>
            <p:cNvSpPr txBox="1"/>
            <p:nvPr/>
          </p:nvSpPr>
          <p:spPr>
            <a:xfrm>
              <a:off x="5583962" y="2157648"/>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中继线</a:t>
              </a:r>
            </a:p>
          </p:txBody>
        </p:sp>
        <p:sp>
          <p:nvSpPr>
            <p:cNvPr id="97" name="TextBox 96"/>
            <p:cNvSpPr txBox="1"/>
            <p:nvPr/>
          </p:nvSpPr>
          <p:spPr>
            <a:xfrm>
              <a:off x="1508551" y="2263528"/>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主叫</a:t>
              </a:r>
            </a:p>
          </p:txBody>
        </p:sp>
        <p:sp>
          <p:nvSpPr>
            <p:cNvPr id="98" name="TextBox 97"/>
            <p:cNvSpPr txBox="1"/>
            <p:nvPr/>
          </p:nvSpPr>
          <p:spPr>
            <a:xfrm>
              <a:off x="9578424" y="2243085"/>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被叫</a:t>
              </a:r>
            </a:p>
          </p:txBody>
        </p:sp>
      </p:grpSp>
      <p:sp>
        <p:nvSpPr>
          <p:cNvPr id="88" name="TextBox 87"/>
          <p:cNvSpPr txBox="1"/>
          <p:nvPr/>
        </p:nvSpPr>
        <p:spPr>
          <a:xfrm>
            <a:off x="10861378" y="2381314"/>
            <a:ext cx="492443" cy="3369863"/>
          </a:xfrm>
          <a:prstGeom prst="rect">
            <a:avLst/>
          </a:prstGeom>
          <a:noFill/>
        </p:spPr>
        <p:txBody>
          <a:bodyPr vert="eaVert" wrap="square" rtlCol="0">
            <a:spAutoFit/>
          </a:bodyPr>
          <a:lstStyle/>
          <a:p>
            <a:pPr algn="ctr"/>
            <a:r>
              <a:rPr lang="zh-CN" altLang="en-US" sz="2000" dirty="0">
                <a:latin typeface="Microsoft YaHei" panose="020B0503020204020204" pitchFamily="34" charset="-122"/>
                <a:ea typeface="Microsoft YaHei" panose="020B0503020204020204" pitchFamily="34" charset="-122"/>
              </a:rPr>
              <a:t>过程特性示例：电话通信</a:t>
            </a:r>
          </a:p>
        </p:txBody>
      </p:sp>
      <p:sp>
        <p:nvSpPr>
          <p:cNvPr id="100" name="文本框 99">
            <a:extLst>
              <a:ext uri="{FF2B5EF4-FFF2-40B4-BE49-F238E27FC236}">
                <a16:creationId xmlns:a16="http://schemas.microsoft.com/office/drawing/2014/main" id="{40E15655-9660-482D-901F-39BC6F13B7EE}"/>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9219"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153720C-5A2E-40CF-AAEF-52EC8502B88E}" type="slidenum">
              <a:rPr lang="en-US" altLang="zh-CN" sz="1200">
                <a:latin typeface="Arial Black" panose="020B0A04020102020204" pitchFamily="34" charset="0"/>
              </a:rPr>
              <a:pPr>
                <a:spcBef>
                  <a:spcPct val="0"/>
                </a:spcBef>
                <a:buClrTx/>
                <a:buSzTx/>
                <a:buFontTx/>
                <a:buNone/>
              </a:pPr>
              <a:t>10</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0BD40AF8-6A63-40E5-8B80-FC570024D069}" type="datetime1">
              <a:rPr lang="zh-CN" altLang="en-US"/>
              <a:pPr>
                <a:defRPr/>
              </a:pPr>
              <a:t>2024/9/27</a:t>
            </a:fld>
            <a:endParaRPr lang="en-US" altLang="zh-CN"/>
          </a:p>
        </p:txBody>
      </p:sp>
      <p:sp>
        <p:nvSpPr>
          <p:cNvPr id="831491" name="Rectangle 3"/>
          <p:cNvSpPr>
            <a:spLocks noGrp="1" noChangeArrowheads="1"/>
          </p:cNvSpPr>
          <p:nvPr>
            <p:ph type="body" idx="1"/>
          </p:nvPr>
        </p:nvSpPr>
        <p:spPr>
          <a:xfrm>
            <a:off x="2295525" y="1514475"/>
            <a:ext cx="7772400" cy="4800600"/>
          </a:xfrm>
        </p:spPr>
        <p:txBody>
          <a:bodyPr/>
          <a:lstStyle/>
          <a:p>
            <a:pPr eaLnBrk="1" hangingPunct="1">
              <a:lnSpc>
                <a:spcPct val="110000"/>
              </a:lnSpc>
              <a:spcBef>
                <a:spcPct val="15000"/>
              </a:spcBef>
              <a:buFont typeface="Wingdings" panose="05000000000000000000" pitchFamily="2" charset="2"/>
              <a:buNone/>
              <a:defRPr/>
            </a:pPr>
            <a:r>
              <a:rPr lang="en-US" altLang="zh-CN" dirty="0">
                <a:solidFill>
                  <a:schemeClr val="tx2"/>
                </a:solidFill>
                <a:effectLst>
                  <a:outerShdw blurRad="38100" dist="38100" dir="2700000" algn="tl">
                    <a:srgbClr val="C0C0C0"/>
                  </a:outerShdw>
                </a:effectLst>
                <a:latin typeface="楷体_GB2312" pitchFamily="49" charset="-122"/>
                <a:ea typeface="楷体_GB2312" pitchFamily="49" charset="-122"/>
              </a:rPr>
              <a:t>	</a:t>
            </a:r>
            <a:r>
              <a:rPr lang="zh-CN" altLang="en-US" b="1" u="sng" dirty="0">
                <a:solidFill>
                  <a:srgbClr val="0000FF"/>
                </a:solidFill>
                <a:effectLst>
                  <a:outerShdw blurRad="38100" dist="38100" dir="2700000" algn="tl">
                    <a:srgbClr val="C0C0C0"/>
                  </a:outerShdw>
                </a:effectLst>
                <a:latin typeface="楷体_GB2312" pitchFamily="49" charset="-122"/>
                <a:ea typeface="楷体_GB2312" pitchFamily="49" charset="-122"/>
              </a:rPr>
              <a:t>物理层的四大功能</a:t>
            </a:r>
          </a:p>
          <a:p>
            <a:pPr eaLnBrk="1" hangingPunct="1">
              <a:lnSpc>
                <a:spcPct val="110000"/>
              </a:lnSpc>
              <a:spcBef>
                <a:spcPct val="15000"/>
              </a:spcBef>
              <a:buSzPct val="90000"/>
              <a:buFont typeface="Wingdings" panose="05000000000000000000" pitchFamily="2" charset="2"/>
              <a:buChar char="§"/>
              <a:defRPr/>
            </a:pPr>
            <a:r>
              <a:rPr lang="zh-CN" altLang="en-US" sz="2400" b="1" dirty="0">
                <a:solidFill>
                  <a:srgbClr val="0000FF"/>
                </a:solidFill>
                <a:latin typeface="楷体_GB2312" pitchFamily="49" charset="-122"/>
                <a:ea typeface="楷体_GB2312" pitchFamily="49" charset="-122"/>
              </a:rPr>
              <a:t>机械特性</a:t>
            </a:r>
          </a:p>
          <a:p>
            <a:pPr eaLnBrk="1" hangingPunct="1">
              <a:lnSpc>
                <a:spcPct val="110000"/>
              </a:lnSpc>
              <a:spcBef>
                <a:spcPct val="15000"/>
              </a:spcBef>
              <a:buFont typeface="Wingdings" panose="05000000000000000000" pitchFamily="2" charset="2"/>
              <a:buNone/>
              <a:defRPr/>
            </a:pPr>
            <a:r>
              <a:rPr lang="zh-CN" altLang="en-US" sz="2400" dirty="0">
                <a:latin typeface="楷体_GB2312" pitchFamily="49" charset="-122"/>
                <a:ea typeface="楷体_GB2312" pitchFamily="49" charset="-122"/>
              </a:rPr>
              <a:t>	   指明接口所用接线器的形状和尺寸、引线数目和排列、固定和锁定装置等等。  </a:t>
            </a:r>
          </a:p>
          <a:p>
            <a:pPr eaLnBrk="1" hangingPunct="1">
              <a:lnSpc>
                <a:spcPct val="110000"/>
              </a:lnSpc>
              <a:spcBef>
                <a:spcPct val="15000"/>
              </a:spcBef>
              <a:buSzPct val="90000"/>
              <a:buFont typeface="Wingdings" panose="05000000000000000000" pitchFamily="2" charset="2"/>
              <a:buChar char="§"/>
              <a:defRPr/>
            </a:pPr>
            <a:r>
              <a:rPr lang="zh-CN" altLang="en-US" sz="2400" b="1" dirty="0">
                <a:solidFill>
                  <a:srgbClr val="0000FF"/>
                </a:solidFill>
                <a:latin typeface="楷体_GB2312" pitchFamily="49" charset="-122"/>
                <a:ea typeface="楷体_GB2312" pitchFamily="49" charset="-122"/>
              </a:rPr>
              <a:t>电气特性</a:t>
            </a:r>
          </a:p>
          <a:p>
            <a:pPr eaLnBrk="1" hangingPunct="1">
              <a:lnSpc>
                <a:spcPct val="110000"/>
              </a:lnSpc>
              <a:spcBef>
                <a:spcPct val="15000"/>
              </a:spcBef>
              <a:buFont typeface="Wingdings" panose="05000000000000000000" pitchFamily="2" charset="2"/>
              <a:buNone/>
              <a:defRPr/>
            </a:pPr>
            <a:r>
              <a:rPr lang="zh-CN" altLang="en-US" sz="2400" dirty="0">
                <a:latin typeface="楷体_GB2312" pitchFamily="49" charset="-122"/>
                <a:ea typeface="楷体_GB2312" pitchFamily="49" charset="-122"/>
              </a:rPr>
              <a:t>	   指明电压范围</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传输的波形或编码。</a:t>
            </a:r>
          </a:p>
          <a:p>
            <a:pPr eaLnBrk="1" hangingPunct="1">
              <a:lnSpc>
                <a:spcPct val="110000"/>
              </a:lnSpc>
              <a:spcBef>
                <a:spcPct val="15000"/>
              </a:spcBef>
              <a:buSzPct val="90000"/>
              <a:buFont typeface="Wingdings" panose="05000000000000000000" pitchFamily="2" charset="2"/>
              <a:buChar char="§"/>
              <a:defRPr/>
            </a:pPr>
            <a:r>
              <a:rPr lang="zh-CN" altLang="en-US" sz="2400" b="1" dirty="0">
                <a:solidFill>
                  <a:srgbClr val="0000FF"/>
                </a:solidFill>
                <a:latin typeface="楷体_GB2312" pitchFamily="49" charset="-122"/>
                <a:ea typeface="楷体_GB2312" pitchFamily="49" charset="-122"/>
              </a:rPr>
              <a:t>功能特性</a:t>
            </a:r>
          </a:p>
          <a:p>
            <a:pPr eaLnBrk="1" hangingPunct="1">
              <a:lnSpc>
                <a:spcPct val="110000"/>
              </a:lnSpc>
              <a:spcBef>
                <a:spcPct val="15000"/>
              </a:spcBef>
              <a:buFont typeface="Wingdings" panose="05000000000000000000" pitchFamily="2" charset="2"/>
              <a:buNone/>
              <a:defRPr/>
            </a:pPr>
            <a:r>
              <a:rPr lang="zh-CN" altLang="en-US" sz="2400" dirty="0">
                <a:latin typeface="楷体_GB2312" pitchFamily="49" charset="-122"/>
                <a:ea typeface="楷体_GB2312" pitchFamily="49" charset="-122"/>
              </a:rPr>
              <a:t>	   指明某一电平的电压表明何种意义。</a:t>
            </a:r>
          </a:p>
          <a:p>
            <a:pPr eaLnBrk="1" hangingPunct="1">
              <a:lnSpc>
                <a:spcPct val="110000"/>
              </a:lnSpc>
              <a:spcBef>
                <a:spcPct val="15000"/>
              </a:spcBef>
              <a:buSzPct val="90000"/>
              <a:buFont typeface="Wingdings" panose="05000000000000000000" pitchFamily="2" charset="2"/>
              <a:buChar char="§"/>
              <a:defRPr/>
            </a:pPr>
            <a:r>
              <a:rPr lang="zh-CN" altLang="en-US" sz="2400" b="1" dirty="0">
                <a:solidFill>
                  <a:srgbClr val="0000FF"/>
                </a:solidFill>
                <a:latin typeface="楷体_GB2312" pitchFamily="49" charset="-122"/>
                <a:ea typeface="楷体_GB2312" pitchFamily="49" charset="-122"/>
              </a:rPr>
              <a:t>规程特性</a:t>
            </a:r>
          </a:p>
          <a:p>
            <a:pPr eaLnBrk="1" hangingPunct="1">
              <a:lnSpc>
                <a:spcPct val="110000"/>
              </a:lnSpc>
              <a:spcBef>
                <a:spcPct val="15000"/>
              </a:spcBef>
              <a:buFont typeface="Wingdings" panose="05000000000000000000" pitchFamily="2" charset="2"/>
              <a:buNone/>
              <a:defRPr/>
            </a:pPr>
            <a:r>
              <a:rPr lang="zh-CN" altLang="en-US" sz="2400" dirty="0">
                <a:latin typeface="楷体_GB2312" pitchFamily="49" charset="-122"/>
                <a:ea typeface="楷体_GB2312" pitchFamily="49" charset="-122"/>
              </a:rPr>
              <a:t>	   各种事件的出现顺序。</a:t>
            </a:r>
          </a:p>
        </p:txBody>
      </p:sp>
    </p:spTree>
    <p:extLst>
      <p:ext uri="{BB962C8B-B14F-4D97-AF65-F5344CB8AC3E}">
        <p14:creationId xmlns:p14="http://schemas.microsoft.com/office/powerpoint/2010/main" val="1857645256"/>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5">
            <a:extLst>
              <a:ext uri="{FF2B5EF4-FFF2-40B4-BE49-F238E27FC236}">
                <a16:creationId xmlns:a16="http://schemas.microsoft.com/office/drawing/2014/main" id="{4C1D9AFC-8F47-4577-9F8B-81A3F399183B}"/>
              </a:ext>
            </a:extLst>
          </p:cNvPr>
          <p:cNvSpPr/>
          <p:nvPr/>
        </p:nvSpPr>
        <p:spPr>
          <a:xfrm>
            <a:off x="3698544" y="4879027"/>
            <a:ext cx="7416000" cy="1654792"/>
          </a:xfrm>
          <a:prstGeom prst="roundRect">
            <a:avLst>
              <a:gd name="adj" fmla="val 8422"/>
            </a:avLst>
          </a:prstGeom>
          <a:no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normAutofit/>
          </a:bodyPr>
          <a:lstStyle/>
          <a:p>
            <a:r>
              <a:rPr kumimoji="1" lang="zh-CN" altLang="en-US" dirty="0"/>
              <a:t>物理层常用标准</a:t>
            </a:r>
            <a:endParaRPr lang="zh-CN" altLang="en-US" dirty="0"/>
          </a:p>
        </p:txBody>
      </p:sp>
      <p:sp>
        <p:nvSpPr>
          <p:cNvPr id="3" name="内容占位符 2"/>
          <p:cNvSpPr>
            <a:spLocks noGrp="1"/>
          </p:cNvSpPr>
          <p:nvPr>
            <p:ph idx="1"/>
          </p:nvPr>
        </p:nvSpPr>
        <p:spPr>
          <a:xfrm>
            <a:off x="614149" y="1510757"/>
            <a:ext cx="10909795" cy="5210717"/>
          </a:xfrm>
        </p:spPr>
        <p:txBody>
          <a:bodyPr>
            <a:normAutofit/>
          </a:bodyPr>
          <a:lstStyle/>
          <a:p>
            <a:r>
              <a:rPr lang="zh-CN" altLang="en-US" dirty="0">
                <a:solidFill>
                  <a:srgbClr val="C00000"/>
                </a:solidFill>
              </a:rPr>
              <a:t>点对点通信线路</a:t>
            </a:r>
            <a:r>
              <a:rPr lang="zh-CN" altLang="en-US" dirty="0"/>
              <a:t>用于直接连接两个结点</a:t>
            </a:r>
            <a:endParaRPr lang="en-US" altLang="zh-CN" dirty="0"/>
          </a:p>
          <a:p>
            <a:r>
              <a:rPr lang="zh-CN" altLang="en-US" dirty="0"/>
              <a:t>点对点通信线路的物理层标准</a:t>
            </a:r>
            <a:endParaRPr lang="en-US" altLang="zh-CN" dirty="0"/>
          </a:p>
          <a:p>
            <a:pPr lvl="1"/>
            <a:r>
              <a:rPr lang="en-US" altLang="zh-CN" b="1" dirty="0">
                <a:solidFill>
                  <a:srgbClr val="5B307E"/>
                </a:solidFill>
              </a:rPr>
              <a:t>EIA RS-232-C</a:t>
            </a:r>
            <a:r>
              <a:rPr lang="zh-CN" altLang="en-US" b="1" dirty="0">
                <a:solidFill>
                  <a:srgbClr val="5B307E"/>
                </a:solidFill>
              </a:rPr>
              <a:t>标准</a:t>
            </a:r>
            <a:endParaRPr lang="en-US" altLang="zh-CN" b="1" dirty="0">
              <a:solidFill>
                <a:srgbClr val="5B307E"/>
              </a:solidFill>
            </a:endParaRPr>
          </a:p>
          <a:p>
            <a:pPr lvl="2"/>
            <a:r>
              <a:rPr lang="zh-CN" altLang="en-US" dirty="0"/>
              <a:t>美国电子工业协会</a:t>
            </a:r>
            <a:r>
              <a:rPr lang="en-US" altLang="zh-CN" dirty="0"/>
              <a:t>(EIA)</a:t>
            </a:r>
            <a:r>
              <a:rPr lang="zh-CN" altLang="en-US" dirty="0"/>
              <a:t>于</a:t>
            </a:r>
            <a:r>
              <a:rPr lang="en-US" altLang="zh-CN" dirty="0"/>
              <a:t>1969</a:t>
            </a:r>
            <a:r>
              <a:rPr lang="zh-CN" altLang="en-US" dirty="0"/>
              <a:t>年颁布</a:t>
            </a:r>
            <a:endParaRPr lang="en-US" altLang="zh-CN" dirty="0"/>
          </a:p>
          <a:p>
            <a:pPr lvl="2"/>
            <a:r>
              <a:rPr lang="zh-CN" altLang="en-US" dirty="0"/>
              <a:t>串行、低速、模拟传输设备与计算机之间的物理接口标准</a:t>
            </a:r>
            <a:endParaRPr lang="en-US" altLang="zh-CN" dirty="0"/>
          </a:p>
          <a:p>
            <a:pPr lvl="2"/>
            <a:r>
              <a:rPr lang="zh-CN" altLang="en-US" dirty="0"/>
              <a:t>规定了计算机串行通信接口卡与调制解调器之间物理接口</a:t>
            </a:r>
            <a:endParaRPr lang="en-US" altLang="zh-CN" dirty="0"/>
          </a:p>
          <a:p>
            <a:pPr lvl="2">
              <a:buNone/>
            </a:pPr>
            <a:r>
              <a:rPr lang="en-US" altLang="zh-CN" dirty="0"/>
              <a:t>   </a:t>
            </a:r>
            <a:r>
              <a:rPr lang="zh-CN" altLang="en-US" dirty="0"/>
              <a:t>的机械、电气、功能和过程的具体参数与工作流程</a:t>
            </a:r>
            <a:endParaRPr lang="en-US" altLang="zh-CN" dirty="0"/>
          </a:p>
          <a:p>
            <a:pPr lvl="2"/>
            <a:r>
              <a:rPr lang="zh-CN" altLang="en-US" dirty="0"/>
              <a:t>目前很多低速的数据通信设备仍然采用该标准</a:t>
            </a:r>
            <a:endParaRPr lang="en-US" altLang="zh-CN" dirty="0"/>
          </a:p>
          <a:p>
            <a:pPr lvl="1"/>
            <a:r>
              <a:rPr lang="en-US" altLang="zh-CN" b="1" dirty="0">
                <a:solidFill>
                  <a:srgbClr val="5B307E"/>
                </a:solidFill>
              </a:rPr>
              <a:t>EIA RS-449</a:t>
            </a:r>
            <a:r>
              <a:rPr lang="zh-CN" altLang="en-US" b="1" dirty="0">
                <a:solidFill>
                  <a:srgbClr val="5B307E"/>
                </a:solidFill>
              </a:rPr>
              <a:t>标准</a:t>
            </a:r>
            <a:endParaRPr lang="en-US" altLang="zh-CN" b="1" dirty="0">
              <a:solidFill>
                <a:srgbClr val="5B307E"/>
              </a:solidFill>
            </a:endParaRPr>
          </a:p>
          <a:p>
            <a:pPr lvl="2"/>
            <a:r>
              <a:rPr lang="zh-CN" altLang="en-US" dirty="0"/>
              <a:t>想取代</a:t>
            </a:r>
            <a:r>
              <a:rPr lang="en-US" altLang="zh-CN" dirty="0"/>
              <a:t>RS-232</a:t>
            </a:r>
          </a:p>
          <a:p>
            <a:pPr lvl="2">
              <a:buNone/>
            </a:pPr>
            <a:r>
              <a:rPr lang="en-US" altLang="zh-CN" dirty="0"/>
              <a:t>  -C</a:t>
            </a:r>
            <a:r>
              <a:rPr lang="zh-CN" altLang="en-US" dirty="0"/>
              <a:t>而开发的，但</a:t>
            </a:r>
            <a:endParaRPr lang="en-US" altLang="zh-CN" dirty="0"/>
          </a:p>
          <a:p>
            <a:pPr lvl="2">
              <a:buNone/>
            </a:pPr>
            <a:r>
              <a:rPr lang="en-US" altLang="zh-CN" dirty="0"/>
              <a:t>  </a:t>
            </a:r>
            <a:r>
              <a:rPr lang="zh-CN" altLang="en-US" dirty="0"/>
              <a:t>未被广泛使用</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a:t>
            </a:fld>
            <a:endParaRPr kumimoji="1" lang="zh-CN" altLang="en-US" dirty="0"/>
          </a:p>
        </p:txBody>
      </p:sp>
      <p:pic>
        <p:nvPicPr>
          <p:cNvPr id="1028" name="Picture 4" descr="Electronic Industries Alliance"/>
          <p:cNvPicPr>
            <a:picLocks noChangeAspect="1" noChangeArrowheads="1"/>
          </p:cNvPicPr>
          <p:nvPr/>
        </p:nvPicPr>
        <p:blipFill>
          <a:blip r:embed="rId3"/>
          <a:srcRect/>
          <a:stretch>
            <a:fillRect/>
          </a:stretch>
        </p:blipFill>
        <p:spPr bwMode="auto">
          <a:xfrm>
            <a:off x="8283048" y="1312452"/>
            <a:ext cx="3286125" cy="1343026"/>
          </a:xfrm>
          <a:prstGeom prst="rect">
            <a:avLst/>
          </a:prstGeom>
          <a:noFill/>
        </p:spPr>
      </p:pic>
      <p:sp>
        <p:nvSpPr>
          <p:cNvPr id="8" name="TextBox 7"/>
          <p:cNvSpPr txBox="1"/>
          <p:nvPr/>
        </p:nvSpPr>
        <p:spPr>
          <a:xfrm>
            <a:off x="8283047" y="2738517"/>
            <a:ext cx="3294804" cy="2031325"/>
          </a:xfrm>
          <a:prstGeom prst="rect">
            <a:avLst/>
          </a:prstGeom>
          <a:noFill/>
        </p:spPr>
        <p:txBody>
          <a:bodyPr wrap="square" rtlCol="0">
            <a:spAutoFit/>
          </a:bodyPr>
          <a:lstStyle/>
          <a:p>
            <a:r>
              <a:rPr lang="zh-CN" altLang="en-US" dirty="0">
                <a:solidFill>
                  <a:srgbClr val="C00000"/>
                </a:solidFill>
                <a:latin typeface="微软雅黑" pitchFamily="34" charset="-122"/>
                <a:ea typeface="微软雅黑" pitchFamily="34" charset="-122"/>
              </a:rPr>
              <a:t>美国电子工业协会</a:t>
            </a:r>
            <a:r>
              <a:rPr lang="en-US" altLang="zh-CN" dirty="0">
                <a:solidFill>
                  <a:srgbClr val="C00000"/>
                </a:solidFill>
                <a:latin typeface="微软雅黑" pitchFamily="34" charset="-122"/>
                <a:ea typeface="微软雅黑" pitchFamily="34" charset="-122"/>
              </a:rPr>
              <a:t>(EIA)</a:t>
            </a:r>
            <a:r>
              <a:rPr lang="zh-CN" altLang="en-US" dirty="0">
                <a:solidFill>
                  <a:srgbClr val="C00000"/>
                </a:solidFill>
                <a:latin typeface="微软雅黑" pitchFamily="34" charset="-122"/>
                <a:ea typeface="微软雅黑" pitchFamily="34" charset="-122"/>
              </a:rPr>
              <a:t>创建于</a:t>
            </a:r>
            <a:r>
              <a:rPr lang="en-US" altLang="zh-CN" dirty="0">
                <a:solidFill>
                  <a:srgbClr val="C00000"/>
                </a:solidFill>
                <a:latin typeface="微软雅黑" pitchFamily="34" charset="-122"/>
                <a:ea typeface="微软雅黑" pitchFamily="34" charset="-122"/>
              </a:rPr>
              <a:t>1924</a:t>
            </a:r>
            <a:r>
              <a:rPr lang="zh-CN" altLang="en-US" dirty="0">
                <a:solidFill>
                  <a:srgbClr val="C00000"/>
                </a:solidFill>
                <a:latin typeface="微软雅黑" pitchFamily="34" charset="-122"/>
                <a:ea typeface="微软雅黑" pitchFamily="34" charset="-122"/>
              </a:rPr>
              <a:t>年，它广泛代表了设计生产电子元件、部件、通信系统和设备的制造商以及工业界、政府和用户的利益，在提高美国制造商的竞争力方面起到了重要的作用。</a:t>
            </a:r>
          </a:p>
        </p:txBody>
      </p:sp>
      <p:sp>
        <p:nvSpPr>
          <p:cNvPr id="10" name="TextBox 9"/>
          <p:cNvSpPr txBox="1"/>
          <p:nvPr/>
        </p:nvSpPr>
        <p:spPr>
          <a:xfrm>
            <a:off x="5363570" y="6470416"/>
            <a:ext cx="4493301" cy="400110"/>
          </a:xfrm>
          <a:prstGeom prst="rect">
            <a:avLst/>
          </a:prstGeom>
          <a:noFill/>
        </p:spPr>
        <p:txBody>
          <a:bodyPr wrap="square" rtlCol="0">
            <a:spAutoFit/>
          </a:bodyPr>
          <a:lstStyle/>
          <a:p>
            <a:pPr algn="ctr"/>
            <a:r>
              <a:rPr lang="zh-CN" altLang="en-US" sz="2000" dirty="0">
                <a:latin typeface="微软雅黑" pitchFamily="34" charset="-122"/>
                <a:ea typeface="微软雅黑" pitchFamily="34" charset="-122"/>
              </a:rPr>
              <a:t>点对点通信线路和</a:t>
            </a:r>
            <a:r>
              <a:rPr lang="en-US" altLang="zh-CN" sz="2000" dirty="0">
                <a:latin typeface="微软雅黑" pitchFamily="34" charset="-122"/>
                <a:ea typeface="微软雅黑" pitchFamily="34" charset="-122"/>
              </a:rPr>
              <a:t>RS-232-C</a:t>
            </a:r>
            <a:r>
              <a:rPr lang="zh-CN" altLang="en-US" sz="2000" dirty="0">
                <a:latin typeface="微软雅黑" pitchFamily="34" charset="-122"/>
                <a:ea typeface="微软雅黑" pitchFamily="34" charset="-122"/>
              </a:rPr>
              <a:t>标准</a:t>
            </a:r>
          </a:p>
        </p:txBody>
      </p:sp>
      <p:pic>
        <p:nvPicPr>
          <p:cNvPr id="2050" name="Picture 2"/>
          <p:cNvPicPr>
            <a:picLocks noChangeAspect="1" noChangeArrowheads="1"/>
          </p:cNvPicPr>
          <p:nvPr/>
        </p:nvPicPr>
        <p:blipFill>
          <a:blip r:embed="rId4"/>
          <a:srcRect/>
          <a:stretch>
            <a:fillRect/>
          </a:stretch>
        </p:blipFill>
        <p:spPr bwMode="auto">
          <a:xfrm>
            <a:off x="3782078" y="4912090"/>
            <a:ext cx="7277100" cy="1571625"/>
          </a:xfrm>
          <a:prstGeom prst="rect">
            <a:avLst/>
          </a:prstGeom>
          <a:noFill/>
          <a:ln w="9525">
            <a:noFill/>
            <a:miter lim="800000"/>
            <a:headEnd/>
            <a:tailEnd/>
          </a:ln>
        </p:spPr>
      </p:pic>
      <p:sp>
        <p:nvSpPr>
          <p:cNvPr id="12" name="Rectangle 29"/>
          <p:cNvSpPr>
            <a:spLocks noChangeArrowheads="1"/>
          </p:cNvSpPr>
          <p:nvPr/>
        </p:nvSpPr>
        <p:spPr bwMode="auto">
          <a:xfrm>
            <a:off x="6711799" y="5874424"/>
            <a:ext cx="1336905"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zh-CN" altLang="en-US" dirty="0">
                <a:solidFill>
                  <a:srgbClr val="0070C0"/>
                </a:solidFill>
                <a:latin typeface="Microsoft YaHei" panose="020B0503020204020204" pitchFamily="34" charset="-122"/>
                <a:ea typeface="Microsoft YaHei" panose="020B0503020204020204" pitchFamily="34" charset="-122"/>
              </a:rPr>
              <a:t>公用电话网</a:t>
            </a:r>
          </a:p>
        </p:txBody>
      </p:sp>
      <p:sp>
        <p:nvSpPr>
          <p:cNvPr id="13" name="Rectangle 29"/>
          <p:cNvSpPr>
            <a:spLocks noChangeArrowheads="1"/>
          </p:cNvSpPr>
          <p:nvPr/>
        </p:nvSpPr>
        <p:spPr bwMode="auto">
          <a:xfrm>
            <a:off x="6624117" y="4836934"/>
            <a:ext cx="1567738"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zh-CN" altLang="en-US" dirty="0">
                <a:solidFill>
                  <a:srgbClr val="0070C0"/>
                </a:solidFill>
                <a:latin typeface="Microsoft YaHei" panose="020B0503020204020204" pitchFamily="34" charset="-122"/>
                <a:ea typeface="Microsoft YaHei" panose="020B0503020204020204" pitchFamily="34" charset="-122"/>
              </a:rPr>
              <a:t>通信传输线路</a:t>
            </a:r>
          </a:p>
        </p:txBody>
      </p:sp>
      <p:sp>
        <p:nvSpPr>
          <p:cNvPr id="14" name="Rectangle 29"/>
          <p:cNvSpPr>
            <a:spLocks noChangeArrowheads="1"/>
          </p:cNvSpPr>
          <p:nvPr/>
        </p:nvSpPr>
        <p:spPr bwMode="auto">
          <a:xfrm>
            <a:off x="3819656" y="5020317"/>
            <a:ext cx="868893"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dirty="0">
                <a:solidFill>
                  <a:srgbClr val="0070C0"/>
                </a:solidFill>
                <a:latin typeface="Microsoft YaHei" panose="020B0503020204020204" pitchFamily="34" charset="-122"/>
                <a:ea typeface="Microsoft YaHei" panose="020B0503020204020204" pitchFamily="34" charset="-122"/>
              </a:rPr>
              <a:t>DTE-A</a:t>
            </a:r>
            <a:endParaRPr lang="zh-CN" altLang="en-US" dirty="0">
              <a:solidFill>
                <a:srgbClr val="0070C0"/>
              </a:solidFill>
              <a:latin typeface="Microsoft YaHei" panose="020B0503020204020204" pitchFamily="34" charset="-122"/>
              <a:ea typeface="Microsoft YaHei" panose="020B0503020204020204" pitchFamily="34" charset="-122"/>
            </a:endParaRPr>
          </a:p>
        </p:txBody>
      </p:sp>
      <p:sp>
        <p:nvSpPr>
          <p:cNvPr id="15" name="Rectangle 29"/>
          <p:cNvSpPr>
            <a:spLocks noChangeArrowheads="1"/>
          </p:cNvSpPr>
          <p:nvPr/>
        </p:nvSpPr>
        <p:spPr bwMode="auto">
          <a:xfrm>
            <a:off x="5537809" y="5020317"/>
            <a:ext cx="900889"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dirty="0">
                <a:solidFill>
                  <a:srgbClr val="0070C0"/>
                </a:solidFill>
                <a:latin typeface="Microsoft YaHei" panose="020B0503020204020204" pitchFamily="34" charset="-122"/>
                <a:ea typeface="Microsoft YaHei" panose="020B0503020204020204" pitchFamily="34" charset="-122"/>
              </a:rPr>
              <a:t>DCE-A</a:t>
            </a:r>
            <a:endParaRPr lang="zh-CN" altLang="en-US" dirty="0">
              <a:solidFill>
                <a:srgbClr val="0070C0"/>
              </a:solidFill>
              <a:latin typeface="Microsoft YaHei" panose="020B0503020204020204" pitchFamily="34" charset="-122"/>
              <a:ea typeface="Microsoft YaHei" panose="020B0503020204020204" pitchFamily="34" charset="-122"/>
            </a:endParaRPr>
          </a:p>
        </p:txBody>
      </p:sp>
      <p:sp>
        <p:nvSpPr>
          <p:cNvPr id="16" name="Rectangle 29"/>
          <p:cNvSpPr>
            <a:spLocks noChangeArrowheads="1"/>
          </p:cNvSpPr>
          <p:nvPr/>
        </p:nvSpPr>
        <p:spPr bwMode="auto">
          <a:xfrm>
            <a:off x="8295574" y="5020317"/>
            <a:ext cx="900889"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dirty="0">
                <a:solidFill>
                  <a:srgbClr val="0070C0"/>
                </a:solidFill>
                <a:latin typeface="Microsoft YaHei" panose="020B0503020204020204" pitchFamily="34" charset="-122"/>
                <a:ea typeface="Microsoft YaHei" panose="020B0503020204020204" pitchFamily="34" charset="-122"/>
              </a:rPr>
              <a:t>DCE-B</a:t>
            </a:r>
            <a:endParaRPr lang="zh-CN" altLang="en-US" dirty="0">
              <a:solidFill>
                <a:srgbClr val="0070C0"/>
              </a:solidFill>
              <a:latin typeface="Microsoft YaHei" panose="020B0503020204020204" pitchFamily="34" charset="-122"/>
              <a:ea typeface="Microsoft YaHei" panose="020B0503020204020204" pitchFamily="34" charset="-122"/>
            </a:endParaRPr>
          </a:p>
        </p:txBody>
      </p:sp>
      <p:sp>
        <p:nvSpPr>
          <p:cNvPr id="17" name="Rectangle 29"/>
          <p:cNvSpPr>
            <a:spLocks noChangeArrowheads="1"/>
          </p:cNvSpPr>
          <p:nvPr/>
        </p:nvSpPr>
        <p:spPr bwMode="auto">
          <a:xfrm>
            <a:off x="10059705" y="5020317"/>
            <a:ext cx="868893"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dirty="0">
                <a:solidFill>
                  <a:srgbClr val="0070C0"/>
                </a:solidFill>
                <a:latin typeface="Microsoft YaHei" panose="020B0503020204020204" pitchFamily="34" charset="-122"/>
                <a:ea typeface="Microsoft YaHei" panose="020B0503020204020204" pitchFamily="34" charset="-122"/>
              </a:rPr>
              <a:t>DTE-B</a:t>
            </a:r>
            <a:endParaRPr lang="zh-CN" altLang="en-US" dirty="0">
              <a:solidFill>
                <a:srgbClr val="0070C0"/>
              </a:solidFill>
              <a:latin typeface="Microsoft YaHei" panose="020B0503020204020204" pitchFamily="34" charset="-122"/>
              <a:ea typeface="Microsoft YaHei" panose="020B0503020204020204" pitchFamily="34" charset="-122"/>
            </a:endParaRPr>
          </a:p>
        </p:txBody>
      </p:sp>
      <p:sp>
        <p:nvSpPr>
          <p:cNvPr id="18" name="Rectangle 29"/>
          <p:cNvSpPr>
            <a:spLocks noChangeArrowheads="1"/>
          </p:cNvSpPr>
          <p:nvPr/>
        </p:nvSpPr>
        <p:spPr bwMode="auto">
          <a:xfrm>
            <a:off x="4650971" y="4866501"/>
            <a:ext cx="884859" cy="335989"/>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sz="1600" dirty="0">
                <a:solidFill>
                  <a:srgbClr val="0070C0"/>
                </a:solidFill>
                <a:latin typeface="Microsoft YaHei" panose="020B0503020204020204" pitchFamily="34" charset="-122"/>
                <a:ea typeface="Microsoft YaHei" panose="020B0503020204020204" pitchFamily="34" charset="-122"/>
              </a:rPr>
              <a:t>RS-232</a:t>
            </a:r>
            <a:endParaRPr lang="zh-CN" altLang="en-US" sz="1600" dirty="0">
              <a:solidFill>
                <a:srgbClr val="0070C0"/>
              </a:solidFill>
              <a:latin typeface="Microsoft YaHei" panose="020B0503020204020204" pitchFamily="34" charset="-122"/>
              <a:ea typeface="Microsoft YaHei" panose="020B0503020204020204" pitchFamily="34" charset="-122"/>
            </a:endParaRPr>
          </a:p>
        </p:txBody>
      </p:sp>
      <p:sp>
        <p:nvSpPr>
          <p:cNvPr id="19" name="Rectangle 29"/>
          <p:cNvSpPr>
            <a:spLocks noChangeArrowheads="1"/>
          </p:cNvSpPr>
          <p:nvPr/>
        </p:nvSpPr>
        <p:spPr bwMode="auto">
          <a:xfrm>
            <a:off x="9161046" y="4866501"/>
            <a:ext cx="884859" cy="335989"/>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sz="1600" dirty="0">
                <a:solidFill>
                  <a:srgbClr val="0070C0"/>
                </a:solidFill>
                <a:latin typeface="Microsoft YaHei" panose="020B0503020204020204" pitchFamily="34" charset="-122"/>
                <a:ea typeface="Microsoft YaHei" panose="020B0503020204020204" pitchFamily="34" charset="-122"/>
              </a:rPr>
              <a:t>RS-232</a:t>
            </a:r>
            <a:endParaRPr lang="zh-CN" altLang="en-US" sz="1600" dirty="0">
              <a:solidFill>
                <a:srgbClr val="0070C0"/>
              </a:solidFill>
              <a:latin typeface="Microsoft YaHei" panose="020B0503020204020204" pitchFamily="34" charset="-122"/>
              <a:ea typeface="Microsoft YaHei" panose="020B0503020204020204" pitchFamily="34" charset="-122"/>
            </a:endParaRPr>
          </a:p>
        </p:txBody>
      </p:sp>
      <p:sp>
        <p:nvSpPr>
          <p:cNvPr id="20" name="文本框 19">
            <a:extLst>
              <a:ext uri="{FF2B5EF4-FFF2-40B4-BE49-F238E27FC236}">
                <a16:creationId xmlns:a16="http://schemas.microsoft.com/office/drawing/2014/main" id="{B1979C7D-2A4F-4EA4-98C2-263065D6372F}"/>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78">
            <a:extLst>
              <a:ext uri="{FF2B5EF4-FFF2-40B4-BE49-F238E27FC236}">
                <a16:creationId xmlns:a16="http://schemas.microsoft.com/office/drawing/2014/main" id="{6CE837A9-9AA7-4A06-9926-6B1979571EB4}"/>
              </a:ext>
            </a:extLst>
          </p:cNvPr>
          <p:cNvSpPr/>
          <p:nvPr/>
        </p:nvSpPr>
        <p:spPr>
          <a:xfrm>
            <a:off x="354892" y="4543866"/>
            <a:ext cx="2736897" cy="1891551"/>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8" name="矩形: 圆角 78">
            <a:extLst>
              <a:ext uri="{FF2B5EF4-FFF2-40B4-BE49-F238E27FC236}">
                <a16:creationId xmlns:a16="http://schemas.microsoft.com/office/drawing/2014/main" id="{6CE837A9-9AA7-4A06-9926-6B1979571EB4}"/>
              </a:ext>
            </a:extLst>
          </p:cNvPr>
          <p:cNvSpPr/>
          <p:nvPr/>
        </p:nvSpPr>
        <p:spPr>
          <a:xfrm>
            <a:off x="3256934" y="3204332"/>
            <a:ext cx="4963335" cy="2753811"/>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pic>
        <p:nvPicPr>
          <p:cNvPr id="2055" name="Picture 7"/>
          <p:cNvPicPr>
            <a:picLocks noChangeAspect="1" noChangeArrowheads="1"/>
          </p:cNvPicPr>
          <p:nvPr/>
        </p:nvPicPr>
        <p:blipFill>
          <a:blip r:embed="rId3"/>
          <a:srcRect/>
          <a:stretch>
            <a:fillRect/>
          </a:stretch>
        </p:blipFill>
        <p:spPr bwMode="auto">
          <a:xfrm>
            <a:off x="3382264" y="3280715"/>
            <a:ext cx="4744695" cy="2451895"/>
          </a:xfrm>
          <a:prstGeom prst="rect">
            <a:avLst/>
          </a:prstGeom>
          <a:noFill/>
          <a:ln w="9525">
            <a:noFill/>
            <a:miter lim="800000"/>
            <a:headEnd/>
            <a:tailEnd/>
          </a:ln>
        </p:spPr>
      </p:pic>
      <p:sp>
        <p:nvSpPr>
          <p:cNvPr id="2" name="标题 1"/>
          <p:cNvSpPr>
            <a:spLocks noGrp="1"/>
          </p:cNvSpPr>
          <p:nvPr>
            <p:ph type="title"/>
          </p:nvPr>
        </p:nvSpPr>
        <p:spPr/>
        <p:txBody>
          <a:bodyPr/>
          <a:lstStyle/>
          <a:p>
            <a:r>
              <a:rPr kumimoji="1" lang="zh-CN" altLang="en-US" dirty="0"/>
              <a:t>物理层常用标准</a:t>
            </a:r>
            <a:endParaRPr lang="zh-CN" altLang="en-US" dirty="0"/>
          </a:p>
        </p:txBody>
      </p:sp>
      <p:sp>
        <p:nvSpPr>
          <p:cNvPr id="3" name="内容占位符 2"/>
          <p:cNvSpPr>
            <a:spLocks noGrp="1"/>
          </p:cNvSpPr>
          <p:nvPr>
            <p:ph idx="1"/>
          </p:nvPr>
        </p:nvSpPr>
        <p:spPr>
          <a:xfrm>
            <a:off x="558544" y="1292625"/>
            <a:ext cx="10515600" cy="3334197"/>
          </a:xfrm>
        </p:spPr>
        <p:txBody>
          <a:bodyPr/>
          <a:lstStyle/>
          <a:p>
            <a:r>
              <a:rPr lang="zh-CN" altLang="en-US" dirty="0">
                <a:solidFill>
                  <a:srgbClr val="C00000"/>
                </a:solidFill>
              </a:rPr>
              <a:t>广播通信线路</a:t>
            </a:r>
            <a:r>
              <a:rPr lang="zh-CN" altLang="en-US" dirty="0"/>
              <a:t>：一条公共通信线路连接多个结点</a:t>
            </a:r>
            <a:endParaRPr lang="en-US" altLang="zh-CN" dirty="0"/>
          </a:p>
          <a:p>
            <a:r>
              <a:rPr lang="zh-CN" altLang="en-US" dirty="0"/>
              <a:t>广播通信线路的物理层标准</a:t>
            </a:r>
            <a:endParaRPr lang="en-US" altLang="zh-CN" dirty="0"/>
          </a:p>
          <a:p>
            <a:pPr lvl="1"/>
            <a:r>
              <a:rPr lang="zh-CN" altLang="en-US" dirty="0"/>
              <a:t>传统以太网</a:t>
            </a:r>
            <a:r>
              <a:rPr lang="en-US" altLang="zh-CN" dirty="0"/>
              <a:t>IEEE 802.3</a:t>
            </a:r>
            <a:r>
              <a:rPr lang="zh-CN" altLang="en-US" dirty="0"/>
              <a:t>：</a:t>
            </a:r>
            <a:r>
              <a:rPr lang="en-US" altLang="zh-CN" b="1" dirty="0">
                <a:solidFill>
                  <a:srgbClr val="5B307E"/>
                </a:solidFill>
              </a:rPr>
              <a:t>10BASE-T</a:t>
            </a:r>
            <a:r>
              <a:rPr lang="zh-CN" altLang="en-US" dirty="0"/>
              <a:t>等</a:t>
            </a:r>
            <a:endParaRPr lang="en-US" altLang="zh-CN" dirty="0"/>
          </a:p>
          <a:p>
            <a:pPr lvl="1"/>
            <a:r>
              <a:rPr lang="zh-CN" altLang="en-US" dirty="0"/>
              <a:t>快速以太网</a:t>
            </a:r>
            <a:endParaRPr lang="en-US" altLang="zh-CN" dirty="0"/>
          </a:p>
          <a:p>
            <a:pPr lvl="1"/>
            <a:r>
              <a:rPr lang="zh-CN" altLang="en-US" dirty="0"/>
              <a:t>千兆以太网</a:t>
            </a:r>
            <a:endParaRPr lang="en-US" altLang="zh-CN" dirty="0"/>
          </a:p>
          <a:p>
            <a:pPr lvl="1"/>
            <a:r>
              <a:rPr lang="zh-CN" altLang="en-US" dirty="0"/>
              <a:t>万兆以太网</a:t>
            </a:r>
            <a:endParaRPr lang="en-US" altLang="zh-CN" dirty="0"/>
          </a:p>
          <a:p>
            <a:pPr lvl="1"/>
            <a:r>
              <a:rPr lang="zh-CN" altLang="en-US" dirty="0"/>
              <a:t>无线局域网</a:t>
            </a:r>
            <a:endParaRPr lang="en-US" altLang="zh-CN" dirty="0"/>
          </a:p>
          <a:p>
            <a:pPr>
              <a:buNone/>
            </a:pPr>
            <a:endParaRPr lang="en-US" altLang="zh-CN" dirty="0"/>
          </a:p>
        </p:txBody>
      </p:sp>
      <p:sp>
        <p:nvSpPr>
          <p:cNvPr id="4" name="灯片编号占位符 3"/>
          <p:cNvSpPr>
            <a:spLocks noGrp="1"/>
          </p:cNvSpPr>
          <p:nvPr>
            <p:ph type="sldNum" sz="quarter" idx="12"/>
          </p:nvPr>
        </p:nvSpPr>
        <p:spPr>
          <a:xfrm>
            <a:off x="8610600" y="6208066"/>
            <a:ext cx="2743200" cy="365125"/>
          </a:xfrm>
        </p:spPr>
        <p:txBody>
          <a:bodyPr/>
          <a:lstStyle/>
          <a:p>
            <a:fld id="{8D4D1E41-7A09-AB4A-A4E1-09765ADA2698}" type="slidenum">
              <a:rPr kumimoji="1" lang="zh-CN" altLang="en-US" smtClean="0"/>
              <a:pPr/>
              <a:t>12</a:t>
            </a:fld>
            <a:endParaRPr kumimoji="1" lang="zh-CN" altLang="en-US" dirty="0"/>
          </a:p>
        </p:txBody>
      </p:sp>
      <p:grpSp>
        <p:nvGrpSpPr>
          <p:cNvPr id="10" name="Group 5"/>
          <p:cNvGrpSpPr>
            <a:grpSpLocks/>
          </p:cNvGrpSpPr>
          <p:nvPr/>
        </p:nvGrpSpPr>
        <p:grpSpPr bwMode="auto">
          <a:xfrm>
            <a:off x="340651" y="4696672"/>
            <a:ext cx="2751138" cy="1741488"/>
            <a:chOff x="1603" y="2636"/>
            <a:chExt cx="1733" cy="1097"/>
          </a:xfrm>
        </p:grpSpPr>
        <p:sp>
          <p:nvSpPr>
            <p:cNvPr id="11" name="Rectangle 6"/>
            <p:cNvSpPr>
              <a:spLocks noChangeArrowheads="1"/>
            </p:cNvSpPr>
            <p:nvPr/>
          </p:nvSpPr>
          <p:spPr bwMode="auto">
            <a:xfrm>
              <a:off x="1603" y="3051"/>
              <a:ext cx="756" cy="446"/>
            </a:xfrm>
            <a:prstGeom prst="rect">
              <a:avLst/>
            </a:prstGeom>
            <a:noFill/>
            <a:ln w="9525">
              <a:noFill/>
              <a:miter lim="800000"/>
              <a:headEnd/>
              <a:tailEnd/>
            </a:ln>
            <a:effectLst/>
          </p:spPr>
          <p:txBody>
            <a:bodyPr wrap="square" lIns="92075" tIns="46038" rIns="92075" bIns="46038">
              <a:spAutoFit/>
            </a:bodyPr>
            <a:lstStyle/>
            <a:p>
              <a:pPr defTabSz="762000" eaLnBrk="0" hangingPunct="0"/>
              <a:r>
                <a:rPr kumimoji="1" lang="zh-CN" altLang="en-US" sz="2000" dirty="0">
                  <a:solidFill>
                    <a:srgbClr val="00B0F0"/>
                  </a:solidFill>
                  <a:latin typeface="微软雅黑" pitchFamily="34" charset="-122"/>
                  <a:ea typeface="微软雅黑" pitchFamily="34" charset="-122"/>
                </a:rPr>
                <a:t>数据率</a:t>
              </a:r>
              <a:r>
                <a:rPr kumimoji="1" lang="en-US" altLang="zh-CN" sz="2000" dirty="0">
                  <a:solidFill>
                    <a:srgbClr val="00B0F0"/>
                  </a:solidFill>
                  <a:latin typeface="微软雅黑" pitchFamily="34" charset="-122"/>
                  <a:ea typeface="微软雅黑" pitchFamily="34" charset="-122"/>
                </a:rPr>
                <a:t>(Mbps)</a:t>
              </a:r>
            </a:p>
          </p:txBody>
        </p:sp>
        <p:sp>
          <p:nvSpPr>
            <p:cNvPr id="12" name="Rectangle 7"/>
            <p:cNvSpPr>
              <a:spLocks noChangeArrowheads="1"/>
            </p:cNvSpPr>
            <p:nvPr/>
          </p:nvSpPr>
          <p:spPr bwMode="auto">
            <a:xfrm>
              <a:off x="2142" y="3481"/>
              <a:ext cx="767" cy="252"/>
            </a:xfrm>
            <a:prstGeom prst="rect">
              <a:avLst/>
            </a:prstGeom>
            <a:noFill/>
            <a:ln w="9525">
              <a:noFill/>
              <a:miter lim="800000"/>
              <a:headEnd/>
              <a:tailEnd/>
            </a:ln>
            <a:effectLst/>
          </p:spPr>
          <p:txBody>
            <a:bodyPr wrap="none" lIns="92075" tIns="46038" rIns="92075" bIns="46038">
              <a:spAutoFit/>
            </a:bodyPr>
            <a:lstStyle/>
            <a:p>
              <a:pPr defTabSz="762000" eaLnBrk="0" hangingPunct="0"/>
              <a:r>
                <a:rPr kumimoji="1" lang="zh-CN" altLang="en-US" sz="2000" dirty="0">
                  <a:solidFill>
                    <a:srgbClr val="00B0F0"/>
                  </a:solidFill>
                  <a:latin typeface="微软雅黑" pitchFamily="34" charset="-122"/>
                  <a:ea typeface="微软雅黑" pitchFamily="34" charset="-122"/>
                </a:rPr>
                <a:t>基带传输</a:t>
              </a:r>
            </a:p>
          </p:txBody>
        </p:sp>
        <p:sp>
          <p:nvSpPr>
            <p:cNvPr id="13" name="Rectangle 8"/>
            <p:cNvSpPr>
              <a:spLocks noChangeArrowheads="1"/>
            </p:cNvSpPr>
            <p:nvPr/>
          </p:nvSpPr>
          <p:spPr bwMode="auto">
            <a:xfrm>
              <a:off x="2731" y="3135"/>
              <a:ext cx="605" cy="252"/>
            </a:xfrm>
            <a:prstGeom prst="rect">
              <a:avLst/>
            </a:prstGeom>
            <a:noFill/>
            <a:ln w="9525">
              <a:noFill/>
              <a:miter lim="800000"/>
              <a:headEnd/>
              <a:tailEnd/>
            </a:ln>
            <a:effectLst/>
          </p:spPr>
          <p:txBody>
            <a:bodyPr wrap="square" lIns="92075" tIns="46038" rIns="92075" bIns="46038">
              <a:spAutoFit/>
            </a:bodyPr>
            <a:lstStyle/>
            <a:p>
              <a:pPr defTabSz="762000" eaLnBrk="0" hangingPunct="0"/>
              <a:r>
                <a:rPr kumimoji="1" lang="zh-CN" altLang="en-US" sz="2000" dirty="0">
                  <a:solidFill>
                    <a:srgbClr val="00B0F0"/>
                  </a:solidFill>
                  <a:latin typeface="微软雅黑" pitchFamily="34" charset="-122"/>
                  <a:ea typeface="微软雅黑" pitchFamily="34" charset="-122"/>
                </a:rPr>
                <a:t>双绞线</a:t>
              </a:r>
            </a:p>
          </p:txBody>
        </p:sp>
        <p:sp>
          <p:nvSpPr>
            <p:cNvPr id="14" name="Rectangle 9"/>
            <p:cNvSpPr>
              <a:spLocks noChangeArrowheads="1"/>
            </p:cNvSpPr>
            <p:nvPr/>
          </p:nvSpPr>
          <p:spPr bwMode="auto">
            <a:xfrm>
              <a:off x="2142" y="2636"/>
              <a:ext cx="846" cy="252"/>
            </a:xfrm>
            <a:prstGeom prst="rect">
              <a:avLst/>
            </a:prstGeom>
            <a:solidFill>
              <a:schemeClr val="bg1"/>
            </a:solidFill>
            <a:ln w="25399">
              <a:solidFill>
                <a:srgbClr val="0070C0"/>
              </a:solidFill>
              <a:miter lim="800000"/>
              <a:headEnd/>
              <a:tailEnd/>
            </a:ln>
            <a:effectLst/>
          </p:spPr>
          <p:txBody>
            <a:bodyPr wrap="none" lIns="92075" tIns="46038" rIns="92075" bIns="46038">
              <a:spAutoFit/>
            </a:bodyPr>
            <a:lstStyle/>
            <a:p>
              <a:pPr defTabSz="762000" eaLnBrk="0" hangingPunct="0"/>
              <a:r>
                <a:rPr lang="zh-CN" altLang="en-US" sz="2000" dirty="0">
                  <a:solidFill>
                    <a:srgbClr val="C00000"/>
                  </a:solidFill>
                  <a:latin typeface="微软雅黑" pitchFamily="34" charset="-122"/>
                  <a:ea typeface="微软雅黑" pitchFamily="34" charset="-122"/>
                </a:rPr>
                <a:t>10</a:t>
              </a:r>
              <a:r>
                <a:rPr lang="en-US" altLang="zh-CN" sz="2000" dirty="0">
                  <a:solidFill>
                    <a:srgbClr val="C00000"/>
                  </a:solidFill>
                  <a:latin typeface="微软雅黑" pitchFamily="34" charset="-122"/>
                  <a:ea typeface="微软雅黑" pitchFamily="34" charset="-122"/>
                </a:rPr>
                <a:t>Base-T</a:t>
              </a:r>
            </a:p>
          </p:txBody>
        </p:sp>
        <p:sp>
          <p:nvSpPr>
            <p:cNvPr id="15" name="Line 10"/>
            <p:cNvSpPr>
              <a:spLocks noChangeShapeType="1"/>
            </p:cNvSpPr>
            <p:nvPr/>
          </p:nvSpPr>
          <p:spPr bwMode="auto">
            <a:xfrm flipH="1">
              <a:off x="1878" y="2841"/>
              <a:ext cx="355" cy="225"/>
            </a:xfrm>
            <a:prstGeom prst="line">
              <a:avLst/>
            </a:prstGeom>
            <a:noFill/>
            <a:ln w="25399">
              <a:solidFill>
                <a:srgbClr val="FF9900"/>
              </a:solidFill>
              <a:round/>
              <a:headEnd type="none" w="sm" len="sm"/>
              <a:tailEnd type="stealth" w="med" len="med"/>
            </a:ln>
            <a:effectLst/>
          </p:spPr>
          <p:txBody>
            <a:bodyPr wrap="none" anchor="ctr"/>
            <a:lstStyle/>
            <a:p>
              <a:endParaRPr lang="zh-CN" altLang="en-US"/>
            </a:p>
          </p:txBody>
        </p:sp>
        <p:sp>
          <p:nvSpPr>
            <p:cNvPr id="16" name="Line 11"/>
            <p:cNvSpPr>
              <a:spLocks noChangeShapeType="1"/>
            </p:cNvSpPr>
            <p:nvPr/>
          </p:nvSpPr>
          <p:spPr bwMode="auto">
            <a:xfrm flipH="1">
              <a:off x="2511" y="2836"/>
              <a:ext cx="0" cy="643"/>
            </a:xfrm>
            <a:prstGeom prst="line">
              <a:avLst/>
            </a:prstGeom>
            <a:noFill/>
            <a:ln w="25399">
              <a:solidFill>
                <a:srgbClr val="FF9900"/>
              </a:solidFill>
              <a:round/>
              <a:headEnd type="none" w="sm" len="sm"/>
              <a:tailEnd type="stealth" w="med" len="med"/>
            </a:ln>
            <a:effectLst/>
          </p:spPr>
          <p:txBody>
            <a:bodyPr wrap="none" anchor="ctr"/>
            <a:lstStyle/>
            <a:p>
              <a:endParaRPr lang="zh-CN" altLang="en-US"/>
            </a:p>
          </p:txBody>
        </p:sp>
        <p:sp>
          <p:nvSpPr>
            <p:cNvPr id="17" name="Line 12"/>
            <p:cNvSpPr>
              <a:spLocks noChangeShapeType="1"/>
            </p:cNvSpPr>
            <p:nvPr/>
          </p:nvSpPr>
          <p:spPr bwMode="auto">
            <a:xfrm>
              <a:off x="2838" y="2828"/>
              <a:ext cx="195" cy="238"/>
            </a:xfrm>
            <a:prstGeom prst="line">
              <a:avLst/>
            </a:prstGeom>
            <a:noFill/>
            <a:ln w="25399">
              <a:solidFill>
                <a:srgbClr val="FF9900"/>
              </a:solidFill>
              <a:round/>
              <a:headEnd type="none" w="sm" len="sm"/>
              <a:tailEnd type="stealth" w="med" len="med"/>
            </a:ln>
            <a:effectLst/>
          </p:spPr>
          <p:txBody>
            <a:bodyPr wrap="none" anchor="ctr"/>
            <a:lstStyle/>
            <a:p>
              <a:endParaRPr lang="zh-CN" altLang="en-US"/>
            </a:p>
          </p:txBody>
        </p:sp>
      </p:grpSp>
      <p:sp>
        <p:nvSpPr>
          <p:cNvPr id="19" name="TextBox 18"/>
          <p:cNvSpPr txBox="1"/>
          <p:nvPr/>
        </p:nvSpPr>
        <p:spPr>
          <a:xfrm>
            <a:off x="3604544" y="6043729"/>
            <a:ext cx="4493301" cy="400110"/>
          </a:xfrm>
          <a:prstGeom prst="rect">
            <a:avLst/>
          </a:prstGeom>
          <a:noFill/>
        </p:spPr>
        <p:txBody>
          <a:bodyPr wrap="square" rtlCol="0">
            <a:spAutoFit/>
          </a:bodyPr>
          <a:lstStyle/>
          <a:p>
            <a:pPr algn="ctr"/>
            <a:r>
              <a:rPr lang="zh-CN" altLang="en-US" sz="2000" dirty="0">
                <a:latin typeface="微软雅黑" pitchFamily="34" charset="-122"/>
                <a:ea typeface="微软雅黑" pitchFamily="34" charset="-122"/>
              </a:rPr>
              <a:t>广播通信线路</a:t>
            </a: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以太网</a:t>
            </a:r>
            <a:r>
              <a:rPr lang="en-US" altLang="zh-CN" sz="2000" dirty="0">
                <a:latin typeface="微软雅黑" pitchFamily="34" charset="-122"/>
                <a:ea typeface="微软雅黑" pitchFamily="34" charset="-122"/>
              </a:rPr>
              <a:t>)</a:t>
            </a:r>
            <a:endParaRPr lang="zh-CN" altLang="en-US" sz="2000" dirty="0">
              <a:latin typeface="微软雅黑" pitchFamily="34" charset="-122"/>
              <a:ea typeface="微软雅黑" pitchFamily="34" charset="-122"/>
            </a:endParaRPr>
          </a:p>
        </p:txBody>
      </p:sp>
      <p:sp>
        <p:nvSpPr>
          <p:cNvPr id="23" name="文本框 22">
            <a:extLst>
              <a:ext uri="{FF2B5EF4-FFF2-40B4-BE49-F238E27FC236}">
                <a16:creationId xmlns:a16="http://schemas.microsoft.com/office/drawing/2014/main" id="{E9F2C351-1D90-45DB-8CDE-70433321AA03}"/>
              </a:ext>
            </a:extLst>
          </p:cNvPr>
          <p:cNvSpPr txBox="1"/>
          <p:nvPr/>
        </p:nvSpPr>
        <p:spPr>
          <a:xfrm>
            <a:off x="8252289" y="1735873"/>
            <a:ext cx="3877509" cy="4299062"/>
          </a:xfrm>
          <a:prstGeom prst="rect">
            <a:avLst/>
          </a:prstGeom>
          <a:solidFill>
            <a:schemeClr val="accent6">
              <a:lumMod val="40000"/>
              <a:lumOff val="60000"/>
            </a:schemeClr>
          </a:solidFill>
        </p:spPr>
        <p:txBody>
          <a:bodyPr wrap="square">
            <a:spAutoFit/>
          </a:bodyPr>
          <a:lstStyle/>
          <a:p>
            <a:pPr>
              <a:lnSpc>
                <a:spcPts val="3700"/>
              </a:lnSpc>
            </a:pPr>
            <a:r>
              <a:rPr lang="zh-CN" altLang="en-US" sz="2200" dirty="0">
                <a:solidFill>
                  <a:srgbClr val="C00000"/>
                </a:solidFill>
                <a:latin typeface="微软雅黑" panose="020B0503020204020204" pitchFamily="34" charset="-122"/>
                <a:ea typeface="微软雅黑" panose="020B0503020204020204" pitchFamily="34" charset="-122"/>
              </a:rPr>
              <a:t>广播通信线路</a:t>
            </a:r>
            <a:r>
              <a:rPr lang="zh-CN" altLang="en-US" sz="2200" dirty="0">
                <a:latin typeface="微软雅黑" panose="020B0503020204020204" pitchFamily="34" charset="-122"/>
                <a:ea typeface="微软雅黑" panose="020B0503020204020204" pitchFamily="34" charset="-122"/>
              </a:rPr>
              <a:t>的物理层标准</a:t>
            </a:r>
            <a:endParaRPr lang="en-US" altLang="zh-CN" sz="2200" dirty="0">
              <a:latin typeface="微软雅黑" panose="020B0503020204020204" pitchFamily="34" charset="-122"/>
              <a:ea typeface="微软雅黑" panose="020B0503020204020204" pitchFamily="34" charset="-122"/>
            </a:endParaRPr>
          </a:p>
          <a:p>
            <a:pPr marL="0" lvl="1">
              <a:lnSpc>
                <a:spcPts val="3700"/>
              </a:lnSpc>
            </a:pPr>
            <a:r>
              <a:rPr lang="en-US" altLang="zh-CN" b="1" spc="-100" dirty="0">
                <a:latin typeface="微软雅黑" panose="020B0503020204020204" pitchFamily="34" charset="-122"/>
                <a:ea typeface="微软雅黑" panose="020B0503020204020204" pitchFamily="34" charset="-122"/>
              </a:rPr>
              <a:t>802.3</a:t>
            </a:r>
            <a:r>
              <a:rPr lang="zh-CN" altLang="en-US" b="1"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10BASE-2</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10BASE-5</a:t>
            </a:r>
            <a:r>
              <a:rPr lang="zh-CN" altLang="en-US" spc="-100" dirty="0">
                <a:latin typeface="微软雅黑" panose="020B0503020204020204" pitchFamily="34" charset="-122"/>
                <a:ea typeface="微软雅黑" panose="020B0503020204020204" pitchFamily="34" charset="-122"/>
              </a:rPr>
              <a:t>，</a:t>
            </a:r>
            <a:endParaRPr lang="en-US" altLang="zh-CN" spc="-100" dirty="0">
              <a:latin typeface="微软雅黑" panose="020B0503020204020204" pitchFamily="34" charset="-122"/>
              <a:ea typeface="微软雅黑" panose="020B0503020204020204" pitchFamily="34" charset="-122"/>
            </a:endParaRPr>
          </a:p>
          <a:p>
            <a:pPr marL="0" lvl="1">
              <a:lnSpc>
                <a:spcPts val="3700"/>
              </a:lnSpc>
            </a:pPr>
            <a:r>
              <a:rPr lang="en-US" altLang="zh-CN" spc="-100" dirty="0">
                <a:latin typeface="微软雅黑" panose="020B0503020204020204" pitchFamily="34" charset="-122"/>
                <a:ea typeface="微软雅黑" panose="020B0503020204020204" pitchFamily="34" charset="-122"/>
              </a:rPr>
              <a:t>            10BASE-T</a:t>
            </a:r>
          </a:p>
          <a:p>
            <a:pPr marL="0" lvl="1">
              <a:lnSpc>
                <a:spcPts val="3700"/>
              </a:lnSpc>
            </a:pPr>
            <a:r>
              <a:rPr lang="en-US" altLang="zh-CN" b="1" spc="-100" dirty="0">
                <a:latin typeface="微软雅黑" panose="020B0503020204020204" pitchFamily="34" charset="-122"/>
                <a:ea typeface="微软雅黑" panose="020B0503020204020204" pitchFamily="34" charset="-122"/>
              </a:rPr>
              <a:t>802.3u</a:t>
            </a:r>
            <a:r>
              <a:rPr lang="zh-CN" altLang="en-US" b="1"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100BASE-T</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100BASE-TX</a:t>
            </a:r>
            <a:r>
              <a:rPr lang="zh-CN" altLang="en-US" spc="-100" dirty="0">
                <a:latin typeface="微软雅黑" panose="020B0503020204020204" pitchFamily="34" charset="-122"/>
                <a:ea typeface="微软雅黑" panose="020B0503020204020204" pitchFamily="34" charset="-122"/>
              </a:rPr>
              <a:t>，</a:t>
            </a:r>
            <a:endParaRPr lang="en-US" altLang="zh-CN" spc="-100" dirty="0">
              <a:latin typeface="微软雅黑" panose="020B0503020204020204" pitchFamily="34" charset="-122"/>
              <a:ea typeface="微软雅黑" panose="020B0503020204020204" pitchFamily="34" charset="-122"/>
            </a:endParaRPr>
          </a:p>
          <a:p>
            <a:pPr marL="0" lvl="1">
              <a:lnSpc>
                <a:spcPts val="3700"/>
              </a:lnSpc>
            </a:pPr>
            <a:r>
              <a:rPr lang="en-US" altLang="zh-CN" spc="-100" dirty="0">
                <a:latin typeface="微软雅黑" panose="020B0503020204020204" pitchFamily="34" charset="-122"/>
                <a:ea typeface="微软雅黑" panose="020B0503020204020204" pitchFamily="34" charset="-122"/>
              </a:rPr>
              <a:t>             100BASE-T4</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100BASE-FX</a:t>
            </a:r>
          </a:p>
          <a:p>
            <a:pPr marL="0" lvl="1">
              <a:lnSpc>
                <a:spcPts val="3700"/>
              </a:lnSpc>
            </a:pPr>
            <a:r>
              <a:rPr lang="en-US" altLang="zh-CN" b="1" spc="-100" dirty="0">
                <a:latin typeface="微软雅黑" panose="020B0503020204020204" pitchFamily="34" charset="-122"/>
                <a:ea typeface="微软雅黑" panose="020B0503020204020204" pitchFamily="34" charset="-122"/>
              </a:rPr>
              <a:t>802.3z</a:t>
            </a:r>
            <a:r>
              <a:rPr lang="zh-CN" altLang="en-US" b="1"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1000BASE-T</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1000BASE-CX</a:t>
            </a:r>
            <a:r>
              <a:rPr lang="zh-CN" altLang="en-US" spc="-100" dirty="0">
                <a:latin typeface="微软雅黑" panose="020B0503020204020204" pitchFamily="34" charset="-122"/>
                <a:ea typeface="微软雅黑" panose="020B0503020204020204" pitchFamily="34" charset="-122"/>
              </a:rPr>
              <a:t>，</a:t>
            </a:r>
            <a:endParaRPr lang="en-US" altLang="zh-CN" spc="-100" dirty="0">
              <a:latin typeface="微软雅黑" panose="020B0503020204020204" pitchFamily="34" charset="-122"/>
              <a:ea typeface="微软雅黑" panose="020B0503020204020204" pitchFamily="34" charset="-122"/>
            </a:endParaRPr>
          </a:p>
          <a:p>
            <a:pPr marL="0" lvl="1">
              <a:lnSpc>
                <a:spcPts val="3700"/>
              </a:lnSpc>
            </a:pPr>
            <a:r>
              <a:rPr lang="en-US" altLang="zh-CN" spc="-100" dirty="0">
                <a:latin typeface="微软雅黑" panose="020B0503020204020204" pitchFamily="34" charset="-122"/>
                <a:ea typeface="微软雅黑" panose="020B0503020204020204" pitchFamily="34" charset="-122"/>
              </a:rPr>
              <a:t>              1000BASE-LX</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1000BASE-SX</a:t>
            </a:r>
          </a:p>
          <a:p>
            <a:pPr marL="0" lvl="1">
              <a:lnSpc>
                <a:spcPts val="3700"/>
              </a:lnSpc>
            </a:pPr>
            <a:r>
              <a:rPr lang="en-US" altLang="zh-CN" b="1" spc="-100" dirty="0">
                <a:latin typeface="微软雅黑" panose="020B0503020204020204" pitchFamily="34" charset="-122"/>
                <a:ea typeface="微软雅黑" panose="020B0503020204020204" pitchFamily="34" charset="-122"/>
              </a:rPr>
              <a:t>802.3ae</a:t>
            </a:r>
            <a:r>
              <a:rPr lang="zh-CN" altLang="en-US" b="1"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LAN PHY</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WAN PHY</a:t>
            </a:r>
          </a:p>
          <a:p>
            <a:pPr marL="0" lvl="1">
              <a:lnSpc>
                <a:spcPts val="3700"/>
              </a:lnSpc>
            </a:pPr>
            <a:r>
              <a:rPr lang="en-US" altLang="zh-CN" b="1" spc="-100" dirty="0">
                <a:latin typeface="微软雅黑" panose="020B0503020204020204" pitchFamily="34" charset="-122"/>
                <a:ea typeface="微软雅黑" panose="020B0503020204020204" pitchFamily="34" charset="-122"/>
              </a:rPr>
              <a:t>802.15.4</a:t>
            </a:r>
            <a:r>
              <a:rPr lang="zh-CN" altLang="en-US" b="1" spc="-100" dirty="0">
                <a:latin typeface="微软雅黑" panose="020B0503020204020204" pitchFamily="34" charset="-122"/>
                <a:ea typeface="微软雅黑" panose="020B0503020204020204" pitchFamily="34" charset="-122"/>
              </a:rPr>
              <a:t>：</a:t>
            </a:r>
            <a:r>
              <a:rPr lang="zh-CN" altLang="en-US" spc="-100" dirty="0">
                <a:latin typeface="微软雅黑" panose="020B0503020204020204" pitchFamily="34" charset="-122"/>
                <a:ea typeface="微软雅黑" panose="020B0503020204020204" pitchFamily="34" charset="-122"/>
              </a:rPr>
              <a:t>无线个人区域网</a:t>
            </a:r>
            <a:r>
              <a:rPr lang="en-US" altLang="zh-CN" spc="-100" dirty="0">
                <a:latin typeface="微软雅黑" panose="020B0503020204020204" pitchFamily="34" charset="-122"/>
                <a:ea typeface="微软雅黑" panose="020B0503020204020204" pitchFamily="34" charset="-122"/>
              </a:rPr>
              <a:t>WPAN</a:t>
            </a:r>
          </a:p>
        </p:txBody>
      </p:sp>
      <p:sp>
        <p:nvSpPr>
          <p:cNvPr id="25" name="文本框 24">
            <a:extLst>
              <a:ext uri="{FF2B5EF4-FFF2-40B4-BE49-F238E27FC236}">
                <a16:creationId xmlns:a16="http://schemas.microsoft.com/office/drawing/2014/main" id="{26A44F4C-F360-4101-BE63-E744E50FEE90}"/>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92792" y="1466079"/>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solidFill>
                  <a:srgbClr val="C00000"/>
                </a:solidFill>
              </a:rPr>
              <a:t>2.2 </a:t>
            </a:r>
            <a:r>
              <a:rPr lang="zh-CN" altLang="en-US" dirty="0">
                <a:solidFill>
                  <a:srgbClr val="C00000"/>
                </a:solidFill>
              </a:rPr>
              <a:t>数据通信基础</a:t>
            </a:r>
            <a:endParaRPr lang="en-US" altLang="zh-CN" dirty="0">
              <a:solidFill>
                <a:srgbClr val="C00000"/>
              </a:solidFill>
            </a:endParaRPr>
          </a:p>
          <a:p>
            <a:pPr marL="0" indent="0">
              <a:lnSpc>
                <a:spcPct val="160000"/>
              </a:lnSpc>
              <a:buNone/>
            </a:pPr>
            <a:r>
              <a:rPr lang="en-US" altLang="zh-CN" dirty="0"/>
              <a:t>2.3 </a:t>
            </a:r>
            <a:r>
              <a:rPr lang="zh-CN" altLang="en-US" dirty="0"/>
              <a:t>传输介质</a:t>
            </a:r>
            <a:endParaRPr lang="en-US" altLang="zh-CN" dirty="0"/>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t>2.5 </a:t>
            </a:r>
            <a:r>
              <a:rPr lang="zh-CN" altLang="en-US" dirty="0"/>
              <a:t>多路复用技术</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5891284" y="1975090"/>
            <a:ext cx="3814781" cy="2340877"/>
          </a:xfrm>
          <a:prstGeom prst="wedgeRectCallout">
            <a:avLst>
              <a:gd name="adj1" fmla="val -91436"/>
              <a:gd name="adj2" fmla="val -2077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数据通信基础理论</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基本概念与术语</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传输方式</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性能度量</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36191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dirty="0"/>
              <a:t>Computer Network</a:t>
            </a:r>
          </a:p>
        </p:txBody>
      </p:sp>
      <p:sp>
        <p:nvSpPr>
          <p:cNvPr id="12291"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D694225-0C57-4E8A-9DC9-E42D40B06849}" type="slidenum">
              <a:rPr lang="en-US" altLang="zh-CN" sz="1200">
                <a:latin typeface="Arial Black" panose="020B0A04020102020204" pitchFamily="34" charset="0"/>
              </a:rPr>
              <a:pPr>
                <a:spcBef>
                  <a:spcPct val="0"/>
                </a:spcBef>
                <a:buClrTx/>
                <a:buSzTx/>
                <a:buFontTx/>
                <a:buNone/>
              </a:pPr>
              <a:t>14</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2C8AD363-BBCC-44D8-90DF-B3AE0F3DFE10}" type="datetime1">
              <a:rPr lang="zh-CN" altLang="en-US"/>
              <a:pPr>
                <a:defRPr/>
              </a:pPr>
              <a:t>2024/9/27</a:t>
            </a:fld>
            <a:endParaRPr lang="en-US" altLang="zh-CN"/>
          </a:p>
        </p:txBody>
      </p:sp>
      <p:sp>
        <p:nvSpPr>
          <p:cNvPr id="834562" name="Rectangle 2"/>
          <p:cNvSpPr>
            <a:spLocks noGrp="1" noChangeArrowheads="1"/>
          </p:cNvSpPr>
          <p:nvPr>
            <p:ph type="title"/>
          </p:nvPr>
        </p:nvSpPr>
        <p:spPr>
          <a:xfrm>
            <a:off x="1981200" y="762000"/>
            <a:ext cx="7715250" cy="534988"/>
          </a:xfrm>
        </p:spPr>
        <p:txBody>
          <a:bodyPr>
            <a:normAutofit fontScale="90000"/>
          </a:bodyPr>
          <a:lstStyle/>
          <a:p>
            <a:pPr algn="ctr" eaLnBrk="1" hangingPunct="1">
              <a:defRPr/>
            </a:pPr>
            <a:r>
              <a:rPr lang="en-US" altLang="zh-CN" b="1" dirty="0">
                <a:solidFill>
                  <a:srgbClr val="FF3300"/>
                </a:solidFill>
                <a:latin typeface="楷体_GB2312" pitchFamily="49" charset="-122"/>
              </a:rPr>
              <a:t>  </a:t>
            </a:r>
            <a:r>
              <a:rPr lang="en-US" altLang="zh-CN" b="1" dirty="0">
                <a:solidFill>
                  <a:srgbClr val="FF3300"/>
                </a:solidFill>
                <a:latin typeface="Georgia" panose="02040502050405020303" pitchFamily="18" charset="0"/>
              </a:rPr>
              <a:t>2.2 </a:t>
            </a:r>
            <a:r>
              <a:rPr lang="zh-CN" altLang="en-US" b="1" dirty="0">
                <a:solidFill>
                  <a:srgbClr val="FF3300"/>
                </a:solidFill>
                <a:latin typeface="楷体_GB2312" pitchFamily="49" charset="-122"/>
              </a:rPr>
              <a:t>数据通讯基础</a:t>
            </a:r>
          </a:p>
        </p:txBody>
      </p:sp>
      <p:sp>
        <p:nvSpPr>
          <p:cNvPr id="834563" name="Rectangle 3"/>
          <p:cNvSpPr>
            <a:spLocks noGrp="1" noChangeArrowheads="1"/>
          </p:cNvSpPr>
          <p:nvPr>
            <p:ph type="body" idx="1"/>
          </p:nvPr>
        </p:nvSpPr>
        <p:spPr>
          <a:xfrm>
            <a:off x="2135188" y="1412875"/>
            <a:ext cx="8062912" cy="4800600"/>
          </a:xfrm>
        </p:spPr>
        <p:txBody>
          <a:bodyPr/>
          <a:lstStyle/>
          <a:p>
            <a:pPr eaLnBrk="1" hangingPunct="1">
              <a:lnSpc>
                <a:spcPct val="120000"/>
              </a:lnSpc>
              <a:buFont typeface="Wingdings" panose="05000000000000000000" pitchFamily="2" charset="2"/>
              <a:buNone/>
              <a:defRPr/>
            </a:pPr>
            <a:r>
              <a:rPr lang="zh-CN" altLang="en-US" b="1" dirty="0">
                <a:solidFill>
                  <a:srgbClr val="0000FF"/>
                </a:solidFill>
                <a:effectLst>
                  <a:outerShdw blurRad="38100" dist="38100" dir="2700000" algn="tl">
                    <a:srgbClr val="C0C0C0"/>
                  </a:outerShdw>
                </a:effectLst>
                <a:latin typeface="Verdana" pitchFamily="34" charset="0"/>
                <a:ea typeface="楷体_GB2312" pitchFamily="49" charset="-122"/>
              </a:rPr>
              <a:t>一、基本概念</a:t>
            </a:r>
          </a:p>
          <a:p>
            <a:pPr eaLnBrk="1" hangingPunct="1">
              <a:lnSpc>
                <a:spcPct val="120000"/>
              </a:lnSpc>
              <a:buFont typeface="Wingdings" panose="05000000000000000000" pitchFamily="2" charset="2"/>
              <a:buNone/>
              <a:defRPr/>
            </a:pP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1. </a:t>
            </a:r>
            <a:r>
              <a:rPr lang="zh-CN" altLang="en-US" sz="2400" b="1" dirty="0">
                <a:solidFill>
                  <a:srgbClr val="0000FF"/>
                </a:solidFill>
                <a:effectLst>
                  <a:outerShdw blurRad="38100" dist="38100" dir="2700000" algn="tl">
                    <a:srgbClr val="C0C0C0"/>
                  </a:outerShdw>
                </a:effectLst>
                <a:latin typeface="Verdana" pitchFamily="34" charset="0"/>
                <a:ea typeface="楷体_GB2312" pitchFamily="49" charset="-122"/>
              </a:rPr>
              <a:t>信号分类</a:t>
            </a:r>
            <a:r>
              <a:rPr lang="zh-CN" altLang="en-US" sz="2400" b="1" dirty="0">
                <a:latin typeface="Verdana" pitchFamily="34" charset="0"/>
                <a:ea typeface="楷体_GB2312" pitchFamily="49" charset="-122"/>
              </a:rPr>
              <a:t> </a:t>
            </a:r>
          </a:p>
          <a:p>
            <a:pPr eaLnBrk="1" hangingPunct="1">
              <a:lnSpc>
                <a:spcPct val="120000"/>
              </a:lnSpc>
              <a:buSzPct val="90000"/>
              <a:buFont typeface="Wingdings" panose="05000000000000000000" pitchFamily="2" charset="2"/>
              <a:buChar char="§"/>
              <a:defRPr/>
            </a:pP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基带</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(baseband)</a:t>
            </a: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信号</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将数字</a:t>
            </a:r>
            <a:r>
              <a:rPr lang="en-US" altLang="zh-CN" sz="2400" dirty="0">
                <a:latin typeface="Verdana" pitchFamily="34" charset="0"/>
                <a:ea typeface="楷体_GB2312" pitchFamily="49" charset="-122"/>
              </a:rPr>
              <a:t>1</a:t>
            </a:r>
            <a:r>
              <a:rPr lang="zh-CN" altLang="en-US" sz="2400" dirty="0">
                <a:latin typeface="Verdana" pitchFamily="34" charset="0"/>
                <a:ea typeface="楷体_GB2312" pitchFamily="49" charset="-122"/>
              </a:rPr>
              <a:t>或</a:t>
            </a:r>
            <a:r>
              <a:rPr lang="en-US" altLang="zh-CN" sz="2400" dirty="0">
                <a:latin typeface="Verdana" pitchFamily="34" charset="0"/>
                <a:ea typeface="楷体_GB2312" pitchFamily="49" charset="-122"/>
              </a:rPr>
              <a:t>0</a:t>
            </a:r>
            <a:r>
              <a:rPr lang="zh-CN" altLang="en-US" sz="2400" dirty="0">
                <a:latin typeface="Verdana" pitchFamily="34" charset="0"/>
                <a:ea typeface="楷体_GB2312" pitchFamily="49" charset="-122"/>
              </a:rPr>
              <a:t>直接用不同信号表示，送到线路传输。</a:t>
            </a:r>
          </a:p>
          <a:p>
            <a:pPr eaLnBrk="1" hangingPunct="1">
              <a:lnSpc>
                <a:spcPct val="120000"/>
              </a:lnSpc>
              <a:buSzPct val="90000"/>
              <a:buFont typeface="Wingdings" panose="05000000000000000000" pitchFamily="2" charset="2"/>
              <a:buChar char="§"/>
              <a:defRPr/>
            </a:pP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宽带</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(broadband)</a:t>
            </a:r>
            <a:r>
              <a:rPr lang="zh-CN" altLang="en-US" sz="2400" dirty="0">
                <a:solidFill>
                  <a:srgbClr val="0000FF"/>
                </a:solidFill>
                <a:effectLst>
                  <a:outerShdw blurRad="38100" dist="38100" dir="2700000" algn="tl">
                    <a:srgbClr val="C0C0C0"/>
                  </a:outerShdw>
                </a:effectLst>
                <a:latin typeface="Verdana" pitchFamily="34" charset="0"/>
                <a:ea typeface="楷体_GB2312" pitchFamily="49" charset="-122"/>
              </a:rPr>
              <a:t>信号</a:t>
            </a:r>
          </a:p>
          <a:p>
            <a:pPr eaLnBrk="1" hangingPunct="1">
              <a:lnSpc>
                <a:spcPct val="120000"/>
              </a:lnSpc>
              <a:buFont typeface="Wingdings" panose="05000000000000000000" pitchFamily="2" charset="2"/>
              <a:buNone/>
              <a:defRPr/>
            </a:pPr>
            <a:r>
              <a:rPr lang="zh-CN" altLang="en-US" sz="2400" dirty="0">
                <a:latin typeface="Verdana" pitchFamily="34" charset="0"/>
                <a:ea typeface="楷体_GB2312" pitchFamily="49" charset="-122"/>
              </a:rPr>
              <a:t>	 将基带信号进行调制后形成的多路复用模拟信号。</a:t>
            </a:r>
          </a:p>
          <a:p>
            <a:pPr eaLnBrk="1" hangingPunct="1">
              <a:lnSpc>
                <a:spcPct val="120000"/>
              </a:lnSpc>
              <a:buFont typeface="Wingdings" panose="05000000000000000000" pitchFamily="2" charset="2"/>
              <a:buNone/>
              <a:defRPr/>
            </a:pP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2. </a:t>
            </a:r>
            <a:r>
              <a:rPr lang="zh-CN" altLang="en-US" sz="2400" b="1" dirty="0">
                <a:solidFill>
                  <a:srgbClr val="0000FF"/>
                </a:solidFill>
                <a:effectLst>
                  <a:outerShdw blurRad="38100" dist="38100" dir="2700000" algn="tl">
                    <a:srgbClr val="C0C0C0"/>
                  </a:outerShdw>
                </a:effectLst>
                <a:latin typeface="Verdana" pitchFamily="34" charset="0"/>
                <a:ea typeface="楷体_GB2312" pitchFamily="49" charset="-122"/>
              </a:rPr>
              <a:t>宽带的概念</a:t>
            </a:r>
          </a:p>
          <a:p>
            <a:pPr eaLnBrk="1" hangingPunct="1">
              <a:lnSpc>
                <a:spcPct val="120000"/>
              </a:lnSpc>
              <a:buFont typeface="Wingdings" panose="05000000000000000000" pitchFamily="2" charset="2"/>
              <a:buNone/>
              <a:defRPr/>
            </a:pPr>
            <a:r>
              <a:rPr lang="zh-CN" altLang="en-US" sz="2400" b="1" dirty="0">
                <a:solidFill>
                  <a:srgbClr val="0000FF"/>
                </a:solidFill>
                <a:effectLst>
                  <a:outerShdw blurRad="38100" dist="38100" dir="2700000" algn="tl">
                    <a:srgbClr val="C0C0C0"/>
                  </a:outerShdw>
                </a:effectLst>
                <a:latin typeface="Verdana" pitchFamily="34" charset="0"/>
                <a:ea typeface="楷体_GB2312" pitchFamily="49" charset="-122"/>
              </a:rPr>
              <a:t>    （网络接入服务）</a:t>
            </a:r>
            <a:br>
              <a:rPr lang="en-US" altLang="zh-CN" sz="2400" b="1" dirty="0">
                <a:solidFill>
                  <a:srgbClr val="0000FF"/>
                </a:solidFill>
                <a:effectLst>
                  <a:outerShdw blurRad="38100" dist="38100" dir="2700000" algn="tl">
                    <a:srgbClr val="C0C0C0"/>
                  </a:outerShdw>
                </a:effectLst>
                <a:latin typeface="Verdana" pitchFamily="34" charset="0"/>
                <a:ea typeface="楷体_GB2312" pitchFamily="49" charset="-122"/>
              </a:rPr>
            </a:br>
            <a:r>
              <a:rPr lang="zh-CN" altLang="en-US" sz="2000" b="1" dirty="0">
                <a:effectLst>
                  <a:outerShdw blurRad="38100" dist="38100" dir="2700000" algn="tl">
                    <a:srgbClr val="C0C0C0"/>
                  </a:outerShdw>
                </a:effectLst>
                <a:latin typeface="Verdana" pitchFamily="34" charset="0"/>
                <a:ea typeface="楷体_GB2312" pitchFamily="49" charset="-122"/>
              </a:rPr>
              <a:t>都宽，不宽不好意思！</a:t>
            </a:r>
            <a:endParaRPr lang="en-US" altLang="zh-CN" sz="2400" b="1" dirty="0">
              <a:effectLst>
                <a:outerShdw blurRad="38100" dist="38100" dir="2700000" algn="tl">
                  <a:srgbClr val="C0C0C0"/>
                </a:outerShdw>
              </a:effectLst>
              <a:latin typeface="Verdana" pitchFamily="34" charset="0"/>
              <a:ea typeface="楷体_GB2312" pitchFamily="49" charset="-122"/>
            </a:endParaRPr>
          </a:p>
        </p:txBody>
      </p:sp>
      <p:pic>
        <p:nvPicPr>
          <p:cNvPr id="3" name="图片 2"/>
          <p:cNvPicPr>
            <a:picLocks noChangeAspect="1"/>
          </p:cNvPicPr>
          <p:nvPr/>
        </p:nvPicPr>
        <p:blipFill>
          <a:blip r:embed="rId2"/>
          <a:stretch>
            <a:fillRect/>
          </a:stretch>
        </p:blipFill>
        <p:spPr>
          <a:xfrm>
            <a:off x="8915772" y="5432797"/>
            <a:ext cx="780678" cy="780678"/>
          </a:xfrm>
          <a:prstGeom prst="rect">
            <a:avLst/>
          </a:prstGeom>
        </p:spPr>
      </p:pic>
      <p:pic>
        <p:nvPicPr>
          <p:cNvPr id="5" name="图片 4"/>
          <p:cNvPicPr>
            <a:picLocks noChangeAspect="1"/>
          </p:cNvPicPr>
          <p:nvPr/>
        </p:nvPicPr>
        <p:blipFill>
          <a:blip r:embed="rId3"/>
          <a:stretch>
            <a:fillRect/>
          </a:stretch>
        </p:blipFill>
        <p:spPr>
          <a:xfrm>
            <a:off x="7998461" y="4612608"/>
            <a:ext cx="952808" cy="762246"/>
          </a:xfrm>
          <a:prstGeom prst="rect">
            <a:avLst/>
          </a:prstGeom>
        </p:spPr>
      </p:pic>
      <p:pic>
        <p:nvPicPr>
          <p:cNvPr id="7" name="图片 6"/>
          <p:cNvPicPr>
            <a:picLocks noChangeAspect="1"/>
          </p:cNvPicPr>
          <p:nvPr/>
        </p:nvPicPr>
        <p:blipFill>
          <a:blip r:embed="rId4"/>
          <a:stretch>
            <a:fillRect/>
          </a:stretch>
        </p:blipFill>
        <p:spPr>
          <a:xfrm>
            <a:off x="5951985" y="4933243"/>
            <a:ext cx="1969603" cy="1431009"/>
          </a:xfrm>
          <a:prstGeom prst="rect">
            <a:avLst/>
          </a:prstGeom>
        </p:spPr>
      </p:pic>
    </p:spTree>
    <p:extLst>
      <p:ext uri="{BB962C8B-B14F-4D97-AF65-F5344CB8AC3E}">
        <p14:creationId xmlns:p14="http://schemas.microsoft.com/office/powerpoint/2010/main" val="1555800592"/>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D474E51D-3FDC-4942-AB30-8573049B788D}"/>
              </a:ext>
            </a:extLst>
          </p:cNvPr>
          <p:cNvSpPr txBox="1">
            <a:spLocks noChangeArrowheads="1"/>
          </p:cNvSpPr>
          <p:nvPr/>
        </p:nvSpPr>
        <p:spPr>
          <a:xfrm>
            <a:off x="483692" y="1407089"/>
            <a:ext cx="10683071" cy="494546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None/>
            </a:pPr>
            <a:r>
              <a:rPr lang="zh-CN" altLang="en-US" dirty="0">
                <a:solidFill>
                  <a:srgbClr val="5B307E"/>
                </a:solidFill>
                <a:latin typeface="微软雅黑" panose="020B0503020204020204" pitchFamily="34" charset="-122"/>
                <a:ea typeface="微软雅黑" panose="020B0503020204020204" pitchFamily="34" charset="-122"/>
              </a:rPr>
              <a:t>基带传输和频带传输</a:t>
            </a:r>
            <a:endParaRPr lang="en-US" altLang="zh-CN" dirty="0">
              <a:solidFill>
                <a:srgbClr val="5B307E"/>
              </a:solidFill>
              <a:latin typeface="微软雅黑" panose="020B0503020204020204" pitchFamily="34" charset="-122"/>
              <a:ea typeface="微软雅黑" panose="020B0503020204020204" pitchFamily="34" charset="-122"/>
            </a:endParaRPr>
          </a:p>
          <a:p>
            <a:pPr algn="just">
              <a:lnSpc>
                <a:spcPct val="110000"/>
              </a:lnSpc>
              <a:buFont typeface="Wingdings" pitchFamily="2" charset="2"/>
              <a:buNone/>
            </a:pPr>
            <a:r>
              <a:rPr lang="zh-CN" altLang="en-US" sz="2400" dirty="0">
                <a:latin typeface="微软雅黑" panose="020B0503020204020204" pitchFamily="34" charset="-122"/>
                <a:ea typeface="微软雅黑" panose="020B0503020204020204" pitchFamily="34" charset="-122"/>
              </a:rPr>
              <a:t>按照传输系统在传输数据信号过程中是否搬其频谱，传输方式可分两类：</a:t>
            </a:r>
            <a:endParaRPr lang="en-US" altLang="zh-CN" sz="2400" dirty="0">
              <a:latin typeface="微软雅黑" panose="020B0503020204020204" pitchFamily="34" charset="-122"/>
              <a:ea typeface="微软雅黑" panose="020B0503020204020204" pitchFamily="34" charset="-122"/>
            </a:endParaRPr>
          </a:p>
          <a:p>
            <a:pPr algn="just">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基带传输  </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lgn="just">
              <a:lnSpc>
                <a:spcPct val="110000"/>
              </a:lnSpc>
            </a:pPr>
            <a:r>
              <a:rPr lang="zh-CN" altLang="en-US" sz="2000" dirty="0">
                <a:latin typeface="微软雅黑" panose="020B0503020204020204" pitchFamily="34" charset="-122"/>
                <a:ea typeface="微软雅黑" panose="020B0503020204020204" pitchFamily="34" charset="-122"/>
              </a:rPr>
              <a:t>指未对载波调制的待传信号称为基带信号，它所占的频带称为基带。基带传输，指一种不搬移基带信号频谱的传输方式</a:t>
            </a:r>
            <a:endParaRPr lang="en-US" altLang="zh-CN" sz="2000" dirty="0">
              <a:latin typeface="微软雅黑" panose="020B0503020204020204" pitchFamily="34" charset="-122"/>
              <a:ea typeface="微软雅黑" panose="020B0503020204020204" pitchFamily="34" charset="-122"/>
            </a:endParaRPr>
          </a:p>
          <a:p>
            <a:pPr lvl="1">
              <a:lnSpc>
                <a:spcPct val="110000"/>
              </a:lnSpc>
              <a:spcBef>
                <a:spcPct val="0"/>
              </a:spcBef>
            </a:pPr>
            <a:r>
              <a:rPr lang="zh-CN" altLang="en-US" sz="2000" dirty="0"/>
              <a:t>基带传输是一种最简单最基本的传输方式，一般用低电平表示“</a:t>
            </a:r>
            <a:r>
              <a:rPr lang="en-US" altLang="zh-CN" sz="2000" dirty="0"/>
              <a:t>0”</a:t>
            </a:r>
            <a:r>
              <a:rPr lang="zh-CN" altLang="en-US" sz="2000" dirty="0"/>
              <a:t>，高电平表示“</a:t>
            </a:r>
            <a:r>
              <a:rPr lang="en-US" altLang="zh-CN" sz="2000" dirty="0"/>
              <a:t>1”</a:t>
            </a:r>
            <a:endParaRPr lang="zh-CN" altLang="en-US" sz="2000" dirty="0"/>
          </a:p>
          <a:p>
            <a:pPr lvl="1">
              <a:lnSpc>
                <a:spcPct val="110000"/>
              </a:lnSpc>
              <a:spcBef>
                <a:spcPct val="0"/>
              </a:spcBef>
            </a:pPr>
            <a:r>
              <a:rPr lang="zh-CN" altLang="en-US" sz="2000" dirty="0"/>
              <a:t>适用范围：低速和高速的各种情况</a:t>
            </a:r>
          </a:p>
          <a:p>
            <a:pPr lvl="1">
              <a:lnSpc>
                <a:spcPct val="110000"/>
              </a:lnSpc>
              <a:spcBef>
                <a:spcPct val="0"/>
              </a:spcBef>
            </a:pPr>
            <a:r>
              <a:rPr lang="zh-CN" altLang="en-US" sz="2000" dirty="0"/>
              <a:t>限制：因基带信号所带的频率成分很宽，所以对传输线有一定的要求</a:t>
            </a:r>
            <a:endParaRPr lang="en-US" altLang="zh-CN" sz="2000" dirty="0">
              <a:latin typeface="微软雅黑" panose="020B0503020204020204" pitchFamily="34" charset="-122"/>
              <a:ea typeface="微软雅黑" panose="020B0503020204020204" pitchFamily="34" charset="-122"/>
            </a:endParaRPr>
          </a:p>
          <a:p>
            <a:pPr algn="just">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频带传输  </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lgn="just">
              <a:lnSpc>
                <a:spcPct val="110000"/>
              </a:lnSpc>
            </a:pPr>
            <a:r>
              <a:rPr lang="zh-CN" altLang="en-US" sz="2000" dirty="0">
                <a:latin typeface="微软雅黑" panose="020B0503020204020204" pitchFamily="34" charset="-122"/>
                <a:ea typeface="微软雅黑" panose="020B0503020204020204" pitchFamily="34" charset="-122"/>
              </a:rPr>
              <a:t>指利用调制解调器搬移信号频谱的传输体制</a:t>
            </a:r>
            <a:endParaRPr lang="en-US" altLang="zh-CN" sz="2000" dirty="0">
              <a:latin typeface="微软雅黑" panose="020B0503020204020204" pitchFamily="34" charset="-122"/>
              <a:ea typeface="微软雅黑" panose="020B0503020204020204" pitchFamily="34" charset="-122"/>
            </a:endParaRPr>
          </a:p>
          <a:p>
            <a:pPr lvl="1" algn="just">
              <a:lnSpc>
                <a:spcPct val="110000"/>
              </a:lnSpc>
            </a:pPr>
            <a:r>
              <a:rPr lang="zh-CN" altLang="en-US" sz="2000" dirty="0">
                <a:latin typeface="微软雅黑" panose="020B0503020204020204" pitchFamily="34" charset="-122"/>
                <a:ea typeface="微软雅黑" panose="020B0503020204020204" pitchFamily="34" charset="-122"/>
              </a:rPr>
              <a:t>搬移频谱的目的是为了适应信道的频率特性</a:t>
            </a:r>
          </a:p>
        </p:txBody>
      </p:sp>
      <p:sp>
        <p:nvSpPr>
          <p:cNvPr id="10" name="内容占位符 2">
            <a:extLst>
              <a:ext uri="{FF2B5EF4-FFF2-40B4-BE49-F238E27FC236}">
                <a16:creationId xmlns:a16="http://schemas.microsoft.com/office/drawing/2014/main" id="{E4FC70D7-B4EC-42FB-9224-FF2FF3F68272}"/>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传输方式</a:t>
            </a:r>
          </a:p>
        </p:txBody>
      </p:sp>
      <p:sp>
        <p:nvSpPr>
          <p:cNvPr id="12" name="灯片编号占位符 3">
            <a:extLst>
              <a:ext uri="{FF2B5EF4-FFF2-40B4-BE49-F238E27FC236}">
                <a16:creationId xmlns:a16="http://schemas.microsoft.com/office/drawing/2014/main" id="{D25E98AC-3014-46B8-A8C9-A1195AF77671}"/>
              </a:ext>
            </a:extLst>
          </p:cNvPr>
          <p:cNvSpPr>
            <a:spLocks noGrp="1"/>
          </p:cNvSpPr>
          <p:nvPr>
            <p:ph type="sldNum" sz="quarter" idx="12"/>
          </p:nvPr>
        </p:nvSpPr>
        <p:spPr>
          <a:xfrm>
            <a:off x="9006053" y="6487615"/>
            <a:ext cx="2743200" cy="365125"/>
          </a:xfrm>
        </p:spPr>
        <p:txBody>
          <a:bodyPr/>
          <a:lstStyle/>
          <a:p>
            <a:fld id="{8D4D1E41-7A09-AB4A-A4E1-09765ADA2698}" type="slidenum">
              <a:rPr kumimoji="1" lang="zh-CN" altLang="en-US" smtClean="0"/>
              <a:t>15</a:t>
            </a:fld>
            <a:endParaRPr kumimoji="1" lang="zh-CN" altLang="en-US" dirty="0"/>
          </a:p>
        </p:txBody>
      </p:sp>
      <p:sp>
        <p:nvSpPr>
          <p:cNvPr id="28" name="文本框 27">
            <a:extLst>
              <a:ext uri="{FF2B5EF4-FFF2-40B4-BE49-F238E27FC236}">
                <a16:creationId xmlns:a16="http://schemas.microsoft.com/office/drawing/2014/main" id="{73F53939-F205-4A70-944D-1C34C873D785}"/>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8496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13315"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6BAA24F-9517-429B-98DF-E1EA5B33FBCD}" type="slidenum">
              <a:rPr lang="en-US" altLang="zh-CN" sz="1200">
                <a:latin typeface="Arial Black" panose="020B0A04020102020204" pitchFamily="34" charset="0"/>
              </a:rPr>
              <a:pPr>
                <a:spcBef>
                  <a:spcPct val="0"/>
                </a:spcBef>
                <a:buClrTx/>
                <a:buSzTx/>
                <a:buFontTx/>
                <a:buNone/>
              </a:pPr>
              <a:t>16</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0B4A0B59-C356-4C33-998D-E5F1AAED99DB}" type="datetime1">
              <a:rPr lang="zh-CN" altLang="en-US"/>
              <a:pPr>
                <a:defRPr/>
              </a:pPr>
              <a:t>2024/9/27</a:t>
            </a:fld>
            <a:endParaRPr lang="en-US" altLang="zh-CN" dirty="0"/>
          </a:p>
        </p:txBody>
      </p:sp>
      <p:sp>
        <p:nvSpPr>
          <p:cNvPr id="908292" name="Rectangle 4"/>
          <p:cNvSpPr>
            <a:spLocks noChangeArrowheads="1"/>
          </p:cNvSpPr>
          <p:nvPr/>
        </p:nvSpPr>
        <p:spPr bwMode="auto">
          <a:xfrm>
            <a:off x="1618937" y="765176"/>
            <a:ext cx="9039069" cy="397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20000"/>
              </a:lnSpc>
              <a:spcBef>
                <a:spcPct val="20000"/>
              </a:spcBef>
              <a:buClr>
                <a:schemeClr val="bg2"/>
              </a:buClr>
              <a:buSzPct val="75000"/>
              <a:defRPr/>
            </a:pPr>
            <a:r>
              <a:rPr lang="en-US" altLang="zh-CN" sz="2400" dirty="0">
                <a:solidFill>
                  <a:srgbClr val="0000FF"/>
                </a:solidFill>
                <a:effectLst>
                  <a:outerShdw blurRad="38100" dist="38100" dir="2700000" algn="tl">
                    <a:srgbClr val="C0C0C0"/>
                  </a:outerShdw>
                </a:effectLst>
                <a:latin typeface="Arial" charset="0"/>
              </a:rPr>
              <a:t>3. </a:t>
            </a:r>
            <a:r>
              <a:rPr lang="zh-CN" altLang="en-US" sz="2400" dirty="0">
                <a:solidFill>
                  <a:srgbClr val="0000FF"/>
                </a:solidFill>
                <a:effectLst>
                  <a:outerShdw blurRad="38100" dist="38100" dir="2700000" algn="tl">
                    <a:srgbClr val="C0C0C0"/>
                  </a:outerShdw>
                </a:effectLst>
                <a:latin typeface="Arial" charset="0"/>
              </a:rPr>
              <a:t>信道分类：信号传输方向和时间的关系，可分：</a:t>
            </a:r>
          </a:p>
          <a:p>
            <a:pPr marL="342900" indent="-342900">
              <a:lnSpc>
                <a:spcPct val="120000"/>
              </a:lnSpc>
              <a:spcBef>
                <a:spcPct val="20000"/>
              </a:spcBef>
              <a:buClr>
                <a:schemeClr val="bg2"/>
              </a:buClr>
              <a:buSzPct val="75000"/>
              <a:defRPr/>
            </a:pPr>
            <a:r>
              <a:rPr lang="zh-CN" altLang="en-US" sz="2400" dirty="0">
                <a:solidFill>
                  <a:srgbClr val="0000FF"/>
                </a:solidFill>
                <a:latin typeface="Arial" charset="0"/>
              </a:rPr>
              <a:t>    单工：</a:t>
            </a:r>
            <a:r>
              <a:rPr lang="zh-CN" altLang="en-US" sz="2400" dirty="0">
                <a:latin typeface="Arial" charset="0"/>
              </a:rPr>
              <a:t>单向通信。</a:t>
            </a:r>
          </a:p>
          <a:p>
            <a:pPr marL="342900" indent="-342900">
              <a:lnSpc>
                <a:spcPct val="120000"/>
              </a:lnSpc>
              <a:spcBef>
                <a:spcPct val="20000"/>
              </a:spcBef>
              <a:buClr>
                <a:schemeClr val="bg2"/>
              </a:buClr>
              <a:buSzPct val="75000"/>
              <a:defRPr/>
            </a:pPr>
            <a:r>
              <a:rPr lang="zh-CN" altLang="en-US" sz="2400" dirty="0">
                <a:solidFill>
                  <a:srgbClr val="0000FF"/>
                </a:solidFill>
                <a:latin typeface="Arial" charset="0"/>
              </a:rPr>
              <a:t>    半双工：</a:t>
            </a:r>
            <a:r>
              <a:rPr lang="zh-CN" altLang="en-US" sz="2400" dirty="0">
                <a:latin typeface="Arial" charset="0"/>
              </a:rPr>
              <a:t>双向交替通信。</a:t>
            </a:r>
          </a:p>
          <a:p>
            <a:pPr marL="342900" indent="-342900">
              <a:lnSpc>
                <a:spcPct val="120000"/>
              </a:lnSpc>
              <a:spcBef>
                <a:spcPct val="20000"/>
              </a:spcBef>
              <a:buClr>
                <a:schemeClr val="bg2"/>
              </a:buClr>
              <a:buSzPct val="75000"/>
              <a:defRPr/>
            </a:pPr>
            <a:r>
              <a:rPr lang="zh-CN" altLang="en-US" sz="2400" dirty="0">
                <a:solidFill>
                  <a:srgbClr val="0000FF"/>
                </a:solidFill>
                <a:latin typeface="Arial" charset="0"/>
              </a:rPr>
              <a:t>    全双工：</a:t>
            </a:r>
            <a:r>
              <a:rPr lang="zh-CN" altLang="en-US" sz="2400" dirty="0">
                <a:latin typeface="Arial" charset="0"/>
              </a:rPr>
              <a:t>双向同时通信。 </a:t>
            </a:r>
            <a:endParaRPr lang="en-US" altLang="zh-CN" sz="2400" dirty="0">
              <a:latin typeface="Arial" charset="0"/>
            </a:endParaRPr>
          </a:p>
          <a:p>
            <a:pPr eaLnBrk="1" hangingPunct="1">
              <a:lnSpc>
                <a:spcPct val="120000"/>
              </a:lnSpc>
              <a:spcBef>
                <a:spcPct val="20000"/>
              </a:spcBef>
              <a:buClr>
                <a:schemeClr val="bg2"/>
              </a:buClr>
              <a:buSzPct val="75000"/>
              <a:buFont typeface="Wingdings" panose="05000000000000000000" pitchFamily="2" charset="2"/>
              <a:buNone/>
              <a:defRPr/>
            </a:pPr>
            <a:r>
              <a:rPr lang="zh-CN" altLang="en-US" sz="2400" dirty="0">
                <a:latin typeface="Arial" charset="0"/>
              </a:rPr>
              <a:t>    </a:t>
            </a:r>
            <a:r>
              <a:rPr lang="zh-CN" altLang="en-US" sz="2400" dirty="0">
                <a:solidFill>
                  <a:srgbClr val="FF0000"/>
                </a:solidFill>
                <a:effectLst>
                  <a:outerShdw blurRad="38100" dist="38100" dir="2700000" algn="tl">
                    <a:srgbClr val="000000">
                      <a:alpha val="43137"/>
                    </a:srgbClr>
                  </a:outerShdw>
                </a:effectLst>
                <a:latin typeface="Arial" charset="0"/>
              </a:rPr>
              <a:t>*</a:t>
            </a:r>
            <a:r>
              <a:rPr lang="zh-CN" altLang="en-US" sz="2400" dirty="0">
                <a:latin typeface="Arial" charset="0"/>
              </a:rPr>
              <a:t> 传统局域网中的两台计算机在实现通信时，同一时刻只能在同一方向上传送数据，这是因为大多数局域网中使用的基带网络都只支持单个信号。换句话说，</a:t>
            </a:r>
            <a:r>
              <a:rPr lang="zh-CN" altLang="en-US" sz="2400" dirty="0">
                <a:solidFill>
                  <a:srgbClr val="FF0000"/>
                </a:solidFill>
                <a:latin typeface="Arial" charset="0"/>
              </a:rPr>
              <a:t>基带网络采用的是半双工工作模式。</a:t>
            </a:r>
            <a:endParaRPr lang="en-US" altLang="zh-CN" sz="2400" dirty="0">
              <a:solidFill>
                <a:srgbClr val="FF0000"/>
              </a:solidFill>
              <a:latin typeface="Arial" charset="0"/>
            </a:endParaRPr>
          </a:p>
          <a:p>
            <a:pPr eaLnBrk="1" hangingPunct="1">
              <a:lnSpc>
                <a:spcPct val="120000"/>
              </a:lnSpc>
              <a:spcBef>
                <a:spcPct val="20000"/>
              </a:spcBef>
              <a:buClr>
                <a:schemeClr val="bg2"/>
              </a:buClr>
              <a:buSzPct val="75000"/>
              <a:buFont typeface="Wingdings" panose="05000000000000000000" pitchFamily="2" charset="2"/>
              <a:buNone/>
              <a:defRPr/>
            </a:pPr>
            <a:r>
              <a:rPr lang="zh-CN" altLang="en-US" sz="2400" dirty="0">
                <a:latin typeface="Arial" charset="0"/>
              </a:rPr>
              <a:t>    </a:t>
            </a:r>
            <a:r>
              <a:rPr lang="zh-CN" altLang="en-US" sz="2400" dirty="0">
                <a:solidFill>
                  <a:srgbClr val="FF0000"/>
                </a:solidFill>
                <a:effectLst>
                  <a:outerShdw blurRad="38100" dist="38100" dir="2700000" algn="tl">
                    <a:srgbClr val="000000">
                      <a:alpha val="43137"/>
                    </a:srgbClr>
                  </a:outerShdw>
                </a:effectLst>
                <a:latin typeface="Arial" charset="0"/>
              </a:rPr>
              <a:t>* </a:t>
            </a:r>
            <a:r>
              <a:rPr lang="zh-CN" altLang="en-US" sz="2400" dirty="0">
                <a:latin typeface="Arial" charset="0"/>
              </a:rPr>
              <a:t>全双工在现有网络基础上双倍提高了通信吞吐量，是发展方向。</a:t>
            </a:r>
          </a:p>
        </p:txBody>
      </p:sp>
    </p:spTree>
    <p:extLst>
      <p:ext uri="{BB962C8B-B14F-4D97-AF65-F5344CB8AC3E}">
        <p14:creationId xmlns:p14="http://schemas.microsoft.com/office/powerpoint/2010/main" val="3807492465"/>
      </p:ext>
    </p:extLst>
  </p:cSld>
  <p:clrMapOvr>
    <a:masterClrMapping/>
  </p:clrMapOvr>
  <p:transition spd="slow">
    <p:pull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14339"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9C28AA9-1D49-4CF9-B955-83478425191A}" type="slidenum">
              <a:rPr lang="en-US" altLang="zh-CN" sz="1200">
                <a:latin typeface="Arial Black" panose="020B0A04020102020204" pitchFamily="34" charset="0"/>
              </a:rPr>
              <a:pPr>
                <a:spcBef>
                  <a:spcPct val="0"/>
                </a:spcBef>
                <a:buClrTx/>
                <a:buSzTx/>
                <a:buFontTx/>
                <a:buNone/>
              </a:pPr>
              <a:t>17</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BB391FD2-8D00-4CD0-91E1-7954BDAFE5CE}" type="datetime1">
              <a:rPr lang="zh-CN" altLang="en-US"/>
              <a:pPr>
                <a:defRPr/>
              </a:pPr>
              <a:t>2024/9/27</a:t>
            </a:fld>
            <a:endParaRPr lang="en-US" altLang="zh-CN"/>
          </a:p>
        </p:txBody>
      </p:sp>
      <p:sp>
        <p:nvSpPr>
          <p:cNvPr id="900100" name="Text Box 4"/>
          <p:cNvSpPr txBox="1">
            <a:spLocks noChangeArrowheads="1"/>
          </p:cNvSpPr>
          <p:nvPr/>
        </p:nvSpPr>
        <p:spPr bwMode="auto">
          <a:xfrm>
            <a:off x="2351089" y="836614"/>
            <a:ext cx="7559675" cy="52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lnSpc>
                <a:spcPct val="120000"/>
              </a:lnSpc>
              <a:spcBef>
                <a:spcPct val="20000"/>
              </a:spcBef>
              <a:buSzPct val="50000"/>
              <a:buFont typeface="Wingdings" panose="05000000000000000000" pitchFamily="2" charset="2"/>
              <a:buNone/>
              <a:defRPr/>
            </a:pPr>
            <a:r>
              <a:rPr lang="en-US" altLang="zh-CN" sz="2400" dirty="0">
                <a:solidFill>
                  <a:srgbClr val="0000FF"/>
                </a:solidFill>
                <a:effectLst>
                  <a:outerShdw blurRad="38100" dist="38100" dir="2700000" algn="tl">
                    <a:srgbClr val="C0C0C0"/>
                  </a:outerShdw>
                </a:effectLst>
                <a:latin typeface="Verdana" pitchFamily="34" charset="0"/>
              </a:rPr>
              <a:t>4</a:t>
            </a:r>
            <a:r>
              <a:rPr lang="en-US" altLang="zh-CN" sz="2400" dirty="0">
                <a:solidFill>
                  <a:srgbClr val="0000FF"/>
                </a:solidFill>
                <a:latin typeface="Verdana" pitchFamily="34" charset="0"/>
              </a:rPr>
              <a:t>. </a:t>
            </a:r>
            <a:r>
              <a:rPr lang="zh-CN" altLang="en-US" sz="2400" dirty="0">
                <a:solidFill>
                  <a:srgbClr val="0000FF"/>
                </a:solidFill>
                <a:effectLst>
                  <a:outerShdw blurRad="38100" dist="38100" dir="2700000" algn="tl">
                    <a:srgbClr val="C0C0C0"/>
                  </a:outerShdw>
                </a:effectLst>
                <a:latin typeface="Verdana" pitchFamily="34" charset="0"/>
              </a:rPr>
              <a:t>同步</a:t>
            </a:r>
            <a:r>
              <a:rPr lang="en-US" altLang="zh-CN" sz="2400" dirty="0">
                <a:solidFill>
                  <a:srgbClr val="0000FF"/>
                </a:solidFill>
                <a:effectLst>
                  <a:outerShdw blurRad="38100" dist="38100" dir="2700000" algn="tl">
                    <a:srgbClr val="C0C0C0"/>
                  </a:outerShdw>
                </a:effectLst>
                <a:latin typeface="Verdana" pitchFamily="34" charset="0"/>
              </a:rPr>
              <a:t>(Synchronous)</a:t>
            </a:r>
            <a:r>
              <a:rPr lang="zh-CN" altLang="en-US" sz="2400" dirty="0">
                <a:solidFill>
                  <a:srgbClr val="0000FF"/>
                </a:solidFill>
                <a:effectLst>
                  <a:outerShdw blurRad="38100" dist="38100" dir="2700000" algn="tl">
                    <a:srgbClr val="C0C0C0"/>
                  </a:outerShdw>
                </a:effectLst>
                <a:latin typeface="Verdana" pitchFamily="34" charset="0"/>
              </a:rPr>
              <a:t>通信和</a:t>
            </a:r>
          </a:p>
          <a:p>
            <a:pPr eaLnBrk="1" hangingPunct="1">
              <a:lnSpc>
                <a:spcPct val="120000"/>
              </a:lnSpc>
              <a:spcBef>
                <a:spcPct val="20000"/>
              </a:spcBef>
              <a:buSzPct val="50000"/>
              <a:buFont typeface="Wingdings" panose="05000000000000000000" pitchFamily="2" charset="2"/>
              <a:buNone/>
              <a:defRPr/>
            </a:pPr>
            <a:r>
              <a:rPr lang="zh-CN" altLang="en-US" sz="2400" dirty="0">
                <a:solidFill>
                  <a:srgbClr val="0000FF"/>
                </a:solidFill>
                <a:effectLst>
                  <a:outerShdw blurRad="38100" dist="38100" dir="2700000" algn="tl">
                    <a:srgbClr val="C0C0C0"/>
                  </a:outerShdw>
                </a:effectLst>
                <a:latin typeface="Verdana" pitchFamily="34" charset="0"/>
              </a:rPr>
              <a:t>                            异步</a:t>
            </a:r>
            <a:r>
              <a:rPr lang="en-US" altLang="zh-CN" sz="2400" dirty="0">
                <a:solidFill>
                  <a:srgbClr val="0000FF"/>
                </a:solidFill>
                <a:effectLst>
                  <a:outerShdw blurRad="38100" dist="38100" dir="2700000" algn="tl">
                    <a:srgbClr val="C0C0C0"/>
                  </a:outerShdw>
                </a:effectLst>
                <a:latin typeface="Verdana" pitchFamily="34" charset="0"/>
              </a:rPr>
              <a:t>(Asynchronous)</a:t>
            </a:r>
            <a:r>
              <a:rPr lang="zh-CN" altLang="en-US" sz="2400" dirty="0">
                <a:solidFill>
                  <a:srgbClr val="0000FF"/>
                </a:solidFill>
                <a:effectLst>
                  <a:outerShdw blurRad="38100" dist="38100" dir="2700000" algn="tl">
                    <a:srgbClr val="C0C0C0"/>
                  </a:outerShdw>
                </a:effectLst>
                <a:latin typeface="Verdana" pitchFamily="34" charset="0"/>
              </a:rPr>
              <a:t>通信</a:t>
            </a:r>
          </a:p>
          <a:p>
            <a:pPr eaLnBrk="1" hangingPunct="1">
              <a:lnSpc>
                <a:spcPct val="120000"/>
              </a:lnSpc>
              <a:spcBef>
                <a:spcPct val="20000"/>
              </a:spcBef>
              <a:defRPr/>
            </a:pPr>
            <a:r>
              <a:rPr lang="zh-CN" altLang="en-US" sz="2400" dirty="0">
                <a:latin typeface="Verdana" pitchFamily="34" charset="0"/>
              </a:rPr>
              <a:t>    在计算机网络中，“同步”的意思很广泛，它没有一个简单的定义。在很多地方都用到“</a:t>
            </a:r>
            <a:r>
              <a:rPr lang="zh-CN" altLang="en-US" sz="2400" dirty="0">
                <a:solidFill>
                  <a:schemeClr val="hlink"/>
                </a:solidFill>
                <a:effectLst>
                  <a:outerShdw blurRad="38100" dist="38100" dir="2700000" algn="tl">
                    <a:srgbClr val="C0C0C0"/>
                  </a:outerShdw>
                </a:effectLst>
                <a:latin typeface="Verdana" pitchFamily="34" charset="0"/>
              </a:rPr>
              <a:t>同步</a:t>
            </a:r>
            <a:r>
              <a:rPr lang="zh-CN" altLang="en-US" sz="2400" dirty="0">
                <a:latin typeface="Verdana" pitchFamily="34" charset="0"/>
              </a:rPr>
              <a:t>”的概念。</a:t>
            </a:r>
          </a:p>
          <a:p>
            <a:pPr eaLnBrk="1" hangingPunct="1">
              <a:lnSpc>
                <a:spcPct val="120000"/>
              </a:lnSpc>
              <a:spcBef>
                <a:spcPct val="20000"/>
              </a:spcBef>
              <a:defRPr/>
            </a:pPr>
            <a:r>
              <a:rPr lang="zh-CN" altLang="en-US" sz="2400" dirty="0">
                <a:latin typeface="Verdana" pitchFamily="34" charset="0"/>
              </a:rPr>
              <a:t>    如在协议定义中，协议的三个要素之一就是“同步”。在网络通信编程中常提到的“同步”，则主要指某函数的执行方式，即函数调用者需等待函数执行完成后才能进到下一步（也叫做阻塞调用）。</a:t>
            </a:r>
          </a:p>
          <a:p>
            <a:pPr eaLnBrk="1" hangingPunct="1">
              <a:lnSpc>
                <a:spcPct val="120000"/>
              </a:lnSpc>
              <a:spcBef>
                <a:spcPct val="20000"/>
              </a:spcBef>
              <a:defRPr/>
            </a:pPr>
            <a:r>
              <a:rPr lang="zh-CN" altLang="en-US" sz="2400" dirty="0">
                <a:latin typeface="Verdana" pitchFamily="34" charset="0"/>
              </a:rPr>
              <a:t>    </a:t>
            </a:r>
            <a:r>
              <a:rPr lang="zh-CN" altLang="en-US" sz="2400" dirty="0">
                <a:latin typeface="Arial" charset="0"/>
              </a:rPr>
              <a:t>数据通信中的</a:t>
            </a:r>
            <a:r>
              <a:rPr lang="zh-CN" altLang="en-US" sz="2400" dirty="0">
                <a:solidFill>
                  <a:schemeClr val="hlink"/>
                </a:solidFill>
                <a:effectLst>
                  <a:outerShdw blurRad="38100" dist="38100" dir="2700000" algn="tl">
                    <a:srgbClr val="C0C0C0"/>
                  </a:outerShdw>
                </a:effectLst>
                <a:latin typeface="Arial" charset="0"/>
              </a:rPr>
              <a:t>同步通信</a:t>
            </a:r>
            <a:r>
              <a:rPr lang="zh-CN" altLang="en-US" sz="2400" dirty="0">
                <a:latin typeface="Arial" charset="0"/>
              </a:rPr>
              <a:t>与</a:t>
            </a:r>
            <a:r>
              <a:rPr lang="zh-CN" altLang="en-US" sz="2400" dirty="0">
                <a:solidFill>
                  <a:schemeClr val="hlink"/>
                </a:solidFill>
                <a:effectLst>
                  <a:outerShdw blurRad="38100" dist="38100" dir="2700000" algn="tl">
                    <a:srgbClr val="C0C0C0"/>
                  </a:outerShdw>
                </a:effectLst>
                <a:latin typeface="Arial" charset="0"/>
              </a:rPr>
              <a:t>异步通信</a:t>
            </a:r>
            <a:r>
              <a:rPr lang="zh-CN" altLang="en-US" sz="2400" dirty="0">
                <a:effectLst>
                  <a:outerShdw blurRad="38100" dist="38100" dir="2700000" algn="tl">
                    <a:srgbClr val="C0C0C0"/>
                  </a:outerShdw>
                </a:effectLst>
                <a:latin typeface="Arial" charset="0"/>
              </a:rPr>
              <a:t>的目的：</a:t>
            </a:r>
            <a:r>
              <a:rPr lang="zh-CN" altLang="en-US" sz="2400" dirty="0">
                <a:solidFill>
                  <a:srgbClr val="FF0000"/>
                </a:solidFill>
                <a:effectLst>
                  <a:outerShdw blurRad="38100" dist="38100" dir="2700000" algn="tl">
                    <a:srgbClr val="C0C0C0"/>
                  </a:outerShdw>
                </a:effectLst>
                <a:latin typeface="Arial" charset="0"/>
              </a:rPr>
              <a:t>都是为了同步</a:t>
            </a:r>
            <a:r>
              <a:rPr lang="en-US" altLang="zh-CN" sz="2400" dirty="0">
                <a:solidFill>
                  <a:srgbClr val="FF0000"/>
                </a:solidFill>
                <a:effectLst>
                  <a:outerShdw blurRad="38100" dist="38100" dir="2700000" algn="tl">
                    <a:srgbClr val="C0C0C0"/>
                  </a:outerShdw>
                </a:effectLst>
                <a:latin typeface="Arial" charset="0"/>
              </a:rPr>
              <a:t>(</a:t>
            </a:r>
            <a:r>
              <a:rPr lang="zh-CN" altLang="en-US" sz="2400" dirty="0">
                <a:solidFill>
                  <a:srgbClr val="FF0000"/>
                </a:solidFill>
                <a:effectLst>
                  <a:outerShdw blurRad="38100" dist="38100" dir="2700000" algn="tl">
                    <a:srgbClr val="C0C0C0"/>
                  </a:outerShdw>
                </a:effectLst>
                <a:latin typeface="Arial" charset="0"/>
              </a:rPr>
              <a:t>收发双方步调协调一致</a:t>
            </a:r>
            <a:r>
              <a:rPr lang="en-US" altLang="zh-CN" sz="2400" dirty="0">
                <a:solidFill>
                  <a:srgbClr val="FF0000"/>
                </a:solidFill>
                <a:effectLst>
                  <a:outerShdw blurRad="38100" dist="38100" dir="2700000" algn="tl">
                    <a:srgbClr val="C0C0C0"/>
                  </a:outerShdw>
                </a:effectLst>
                <a:latin typeface="Arial" charset="0"/>
              </a:rPr>
              <a:t>)</a:t>
            </a:r>
            <a:r>
              <a:rPr lang="zh-CN" altLang="en-US" sz="2400" dirty="0">
                <a:solidFill>
                  <a:srgbClr val="FF0000"/>
                </a:solidFill>
                <a:effectLst>
                  <a:outerShdw blurRad="38100" dist="38100" dir="2700000" algn="tl">
                    <a:srgbClr val="C0C0C0"/>
                  </a:outerShdw>
                </a:effectLst>
                <a:latin typeface="Arial" charset="0"/>
              </a:rPr>
              <a:t>，数据传输不出现差错；</a:t>
            </a:r>
          </a:p>
          <a:p>
            <a:pPr eaLnBrk="1" hangingPunct="1">
              <a:lnSpc>
                <a:spcPct val="120000"/>
              </a:lnSpc>
              <a:spcBef>
                <a:spcPct val="20000"/>
              </a:spcBef>
              <a:defRPr/>
            </a:pPr>
            <a:r>
              <a:rPr lang="zh-CN" altLang="en-US" sz="2400" dirty="0">
                <a:effectLst>
                  <a:outerShdw blurRad="38100" dist="38100" dir="2700000" algn="tl">
                    <a:srgbClr val="C0C0C0"/>
                  </a:outerShdw>
                </a:effectLst>
                <a:latin typeface="Arial" charset="0"/>
              </a:rPr>
              <a:t>     </a:t>
            </a:r>
            <a:r>
              <a:rPr lang="zh-CN" altLang="en-US" sz="2400" dirty="0">
                <a:solidFill>
                  <a:srgbClr val="0000FF"/>
                </a:solidFill>
                <a:effectLst>
                  <a:outerShdw blurRad="38100" dist="38100" dir="2700000" algn="tl">
                    <a:srgbClr val="C0C0C0"/>
                  </a:outerShdw>
                </a:effectLst>
                <a:latin typeface="Arial" charset="0"/>
              </a:rPr>
              <a:t>但实现方式</a:t>
            </a:r>
            <a:r>
              <a:rPr lang="zh-CN" altLang="en-US" sz="2400" dirty="0">
                <a:latin typeface="Arial" charset="0"/>
              </a:rPr>
              <a:t>有很大区别。</a:t>
            </a:r>
            <a:endParaRPr lang="zh-CN" altLang="en-US" sz="2400" dirty="0">
              <a:latin typeface="Verdana" pitchFamily="34" charset="0"/>
            </a:endParaRPr>
          </a:p>
        </p:txBody>
      </p:sp>
      <p:sp>
        <p:nvSpPr>
          <p:cNvPr id="2" name="矩形 1"/>
          <p:cNvSpPr/>
          <p:nvPr/>
        </p:nvSpPr>
        <p:spPr bwMode="auto">
          <a:xfrm>
            <a:off x="2278497" y="4581129"/>
            <a:ext cx="7704856" cy="166409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91440" tIns="45720" rIns="91440" bIns="45720" numCol="1" rtlCol="0" anchor="t" anchorCtr="0" compatLnSpc="1">
            <a:prstTxWarp prst="textNoShape">
              <a:avLst/>
            </a:prstTxWarp>
          </a:bodyPr>
          <a:lstStyle/>
          <a:p>
            <a:pPr marL="342900" indent="-342900" algn="ctr" fontAlgn="base">
              <a:lnSpc>
                <a:spcPct val="90000"/>
              </a:lnSpc>
              <a:spcBef>
                <a:spcPct val="20000"/>
              </a:spcBef>
              <a:spcAft>
                <a:spcPct val="0"/>
              </a:spcAft>
              <a:buClr>
                <a:schemeClr val="bg2"/>
              </a:buClr>
              <a:buSzPct val="75000"/>
            </a:pPr>
            <a:endParaRPr lang="en-US" sz="5000" b="1">
              <a:solidFill>
                <a:srgbClr val="FF3300"/>
              </a:solidFill>
              <a:effectLst>
                <a:outerShdw blurRad="38100" dist="38100" dir="2700000" algn="tl">
                  <a:srgbClr val="000000">
                    <a:alpha val="43137"/>
                  </a:srgbClr>
                </a:outerShdw>
              </a:effectLst>
              <a:latin typeface="Arial" charset="0"/>
              <a:ea typeface="楷体_GB2312" pitchFamily="49" charset="-122"/>
            </a:endParaRPr>
          </a:p>
        </p:txBody>
      </p:sp>
      <p:sp>
        <p:nvSpPr>
          <p:cNvPr id="7" name="矩形 6"/>
          <p:cNvSpPr/>
          <p:nvPr/>
        </p:nvSpPr>
        <p:spPr bwMode="auto">
          <a:xfrm>
            <a:off x="2278497" y="1856231"/>
            <a:ext cx="7704856" cy="265289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91440" tIns="45720" rIns="91440" bIns="45720" numCol="1" rtlCol="0" anchor="t" anchorCtr="0" compatLnSpc="1">
            <a:prstTxWarp prst="textNoShape">
              <a:avLst/>
            </a:prstTxWarp>
          </a:bodyPr>
          <a:lstStyle/>
          <a:p>
            <a:pPr marL="342900" indent="-342900" algn="ctr" fontAlgn="base">
              <a:lnSpc>
                <a:spcPct val="90000"/>
              </a:lnSpc>
              <a:spcBef>
                <a:spcPct val="20000"/>
              </a:spcBef>
              <a:spcAft>
                <a:spcPct val="0"/>
              </a:spcAft>
              <a:buClr>
                <a:schemeClr val="bg2"/>
              </a:buClr>
              <a:buSzPct val="75000"/>
            </a:pPr>
            <a:endParaRPr lang="en-US" sz="5000" b="1">
              <a:solidFill>
                <a:srgbClr val="FF3300"/>
              </a:solidFill>
              <a:effectLst>
                <a:outerShdw blurRad="38100" dist="38100" dir="2700000" algn="tl">
                  <a:srgbClr val="000000">
                    <a:alpha val="43137"/>
                  </a:srgbClr>
                </a:outerShdw>
              </a:effectLst>
              <a:latin typeface="Arial" charset="0"/>
              <a:ea typeface="楷体_GB2312" pitchFamily="49" charset="-122"/>
            </a:endParaRPr>
          </a:p>
        </p:txBody>
      </p:sp>
    </p:spTree>
    <p:extLst>
      <p:ext uri="{BB962C8B-B14F-4D97-AF65-F5344CB8AC3E}">
        <p14:creationId xmlns:p14="http://schemas.microsoft.com/office/powerpoint/2010/main" val="2332493001"/>
      </p:ext>
    </p:extLst>
  </p:cSld>
  <p:clrMapOvr>
    <a:masterClrMapping/>
  </p:clrMapOvr>
  <p:transition spd="slow">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3D3222D7-AEEA-4CEF-82BC-9EA73B4AE921}"/>
              </a:ext>
            </a:extLst>
          </p:cNvPr>
          <p:cNvSpPr txBox="1">
            <a:spLocks noChangeArrowheads="1"/>
          </p:cNvSpPr>
          <p:nvPr/>
        </p:nvSpPr>
        <p:spPr>
          <a:xfrm>
            <a:off x="547905" y="1935738"/>
            <a:ext cx="7451727" cy="421022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ct val="0"/>
              </a:spcBef>
              <a:buFont typeface="Wingdings" pitchFamily="2" charset="2"/>
              <a:buNone/>
            </a:pPr>
            <a:r>
              <a:rPr lang="zh-CN" altLang="en-US" sz="2400" dirty="0">
                <a:latin typeface="微软雅黑" panose="020B0503020204020204" pitchFamily="34" charset="-122"/>
                <a:ea typeface="微软雅黑" panose="020B0503020204020204" pitchFamily="34" charset="-122"/>
              </a:rPr>
              <a:t>按照发</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收两端实现同步的方法，传输方式可分为两类：</a:t>
            </a:r>
            <a:endParaRPr lang="en-US" altLang="zh-CN" sz="2400" dirty="0">
              <a:latin typeface="微软雅黑" panose="020B0503020204020204" pitchFamily="34" charset="-122"/>
              <a:ea typeface="微软雅黑" panose="020B0503020204020204" pitchFamily="34" charset="-122"/>
            </a:endParaRPr>
          </a:p>
          <a:p>
            <a:pPr>
              <a:lnSpc>
                <a:spcPct val="110000"/>
              </a:lnSpc>
              <a:spcBef>
                <a:spcPct val="0"/>
              </a:spcBef>
            </a:pPr>
            <a:r>
              <a:rPr lang="zh-CN" altLang="en-US" sz="2400" dirty="0">
                <a:solidFill>
                  <a:srgbClr val="C00000"/>
                </a:solidFill>
                <a:latin typeface="微软雅黑" panose="020B0503020204020204" pitchFamily="34" charset="-122"/>
                <a:ea typeface="微软雅黑" panose="020B0503020204020204" pitchFamily="34" charset="-122"/>
              </a:rPr>
              <a:t>异步传输   </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lnSpc>
                <a:spcPct val="110000"/>
              </a:lnSpc>
              <a:spcBef>
                <a:spcPct val="0"/>
              </a:spcBef>
            </a:pPr>
            <a:r>
              <a:rPr lang="zh-CN" altLang="en-US" sz="2000" dirty="0">
                <a:latin typeface="微软雅黑" panose="020B0503020204020204" pitchFamily="34" charset="-122"/>
                <a:ea typeface="微软雅黑" panose="020B0503020204020204" pitchFamily="34" charset="-122"/>
              </a:rPr>
              <a:t>被</a:t>
            </a:r>
            <a:r>
              <a:rPr lang="zh-CN" altLang="zh-CN" sz="2000" dirty="0">
                <a:latin typeface="微软雅黑" panose="020B0503020204020204" pitchFamily="34" charset="-122"/>
                <a:ea typeface="微软雅黑" panose="020B0503020204020204" pitchFamily="34" charset="-122"/>
              </a:rPr>
              <a:t>传送的每一个字符一般都附加有</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个起始位和</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个停止位，起始位与停止位的极性不同</a:t>
            </a:r>
            <a:r>
              <a:rPr lang="zh-CN" altLang="en-US" sz="2000" dirty="0">
                <a:latin typeface="微软雅黑" panose="020B0503020204020204" pitchFamily="34" charset="-122"/>
                <a:ea typeface="微软雅黑" panose="020B0503020204020204" pitchFamily="34" charset="-122"/>
              </a:rPr>
              <a:t>，为了保证正确接收，</a:t>
            </a:r>
            <a:r>
              <a:rPr lang="zh-CN" altLang="zh-CN" sz="2000" dirty="0">
                <a:latin typeface="微软雅黑" panose="020B0503020204020204" pitchFamily="34" charset="-122"/>
                <a:ea typeface="微软雅黑" panose="020B0503020204020204" pitchFamily="34" charset="-122"/>
              </a:rPr>
              <a:t>利用一个频率为传输比特率的</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16)</a:t>
            </a:r>
            <a:r>
              <a:rPr lang="zh-CN" altLang="zh-CN" sz="2000" dirty="0">
                <a:latin typeface="微软雅黑" panose="020B0503020204020204" pitchFamily="34" charset="-122"/>
                <a:ea typeface="微软雅黑" panose="020B0503020204020204" pitchFamily="34" charset="-122"/>
              </a:rPr>
              <a:t>倍的时钟，在每一个比特周期的中心</a:t>
            </a:r>
            <a:r>
              <a:rPr lang="zh-CN" altLang="en-US" sz="2000" dirty="0">
                <a:latin typeface="微软雅黑" panose="020B0503020204020204" pitchFamily="34" charset="-122"/>
                <a:ea typeface="微软雅黑" panose="020B0503020204020204" pitchFamily="34" charset="-122"/>
              </a:rPr>
              <a:t>采</a:t>
            </a:r>
            <a:r>
              <a:rPr lang="zh-CN" altLang="zh-CN" sz="2000" dirty="0">
                <a:latin typeface="微软雅黑" panose="020B0503020204020204" pitchFamily="34" charset="-122"/>
                <a:ea typeface="微软雅黑" panose="020B0503020204020204" pitchFamily="34" charset="-122"/>
              </a:rPr>
              <a:t>样</a:t>
            </a:r>
            <a:endParaRPr lang="en-US" altLang="zh-CN" sz="2000" dirty="0">
              <a:latin typeface="黑体" panose="02010609060101010101" pitchFamily="49" charset="-122"/>
              <a:ea typeface="黑体" panose="02010609060101010101" pitchFamily="49" charset="-122"/>
            </a:endParaRPr>
          </a:p>
          <a:p>
            <a:r>
              <a:rPr lang="zh-CN" altLang="en-US" sz="2400" dirty="0">
                <a:solidFill>
                  <a:srgbClr val="C00000"/>
                </a:solidFill>
                <a:latin typeface="微软雅黑" panose="020B0503020204020204" pitchFamily="34" charset="-122"/>
                <a:ea typeface="微软雅黑" panose="020B0503020204020204" pitchFamily="34" charset="-122"/>
              </a:rPr>
              <a:t>同步传输    </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r>
              <a:rPr lang="zh-CN" altLang="zh-CN" sz="2000" dirty="0">
                <a:latin typeface="微软雅黑" panose="020B0503020204020204" pitchFamily="34" charset="-122"/>
                <a:ea typeface="微软雅黑" panose="020B0503020204020204" pitchFamily="34" charset="-122"/>
              </a:rPr>
              <a:t>每一个字符</a:t>
            </a:r>
            <a:r>
              <a:rPr lang="zh-CN" altLang="en-US" sz="2000" dirty="0">
                <a:latin typeface="微软雅黑" panose="020B0503020204020204" pitchFamily="34" charset="-122"/>
                <a:ea typeface="微软雅黑" panose="020B0503020204020204" pitchFamily="34" charset="-122"/>
              </a:rPr>
              <a:t>使用起止位</a:t>
            </a:r>
            <a:r>
              <a:rPr lang="zh-CN" altLang="zh-CN" sz="2000" dirty="0">
                <a:latin typeface="微软雅黑" panose="020B0503020204020204" pitchFamily="34" charset="-122"/>
                <a:ea typeface="微软雅黑" panose="020B0503020204020204" pitchFamily="34" charset="-122"/>
              </a:rPr>
              <a:t>按位</a:t>
            </a:r>
            <a:r>
              <a:rPr lang="zh-CN" altLang="en-US" sz="2000" dirty="0">
                <a:latin typeface="微软雅黑" panose="020B0503020204020204" pitchFamily="34" charset="-122"/>
                <a:ea typeface="微软雅黑" panose="020B0503020204020204" pitchFamily="34" charset="-122"/>
              </a:rPr>
              <a:t>进行</a:t>
            </a:r>
            <a:r>
              <a:rPr lang="zh-CN" altLang="zh-CN" sz="2000" dirty="0">
                <a:latin typeface="微软雅黑" panose="020B0503020204020204" pitchFamily="34" charset="-122"/>
                <a:ea typeface="微软雅黑" panose="020B0503020204020204" pitchFamily="34" charset="-122"/>
              </a:rPr>
              <a:t>传送，</a:t>
            </a:r>
            <a:r>
              <a:rPr lang="zh-CN" altLang="en-US" sz="2000" dirty="0">
                <a:latin typeface="微软雅黑" panose="020B0503020204020204" pitchFamily="34" charset="-122"/>
                <a:ea typeface="微软雅黑" panose="020B0503020204020204" pitchFamily="34" charset="-122"/>
              </a:rPr>
              <a:t>数据块以帧作为整体传输，并做到</a:t>
            </a:r>
            <a:r>
              <a:rPr lang="zh-CN"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①</a:t>
            </a:r>
            <a:r>
              <a:rPr lang="zh-CN" altLang="en-US" sz="2000" dirty="0">
                <a:latin typeface="微软雅黑" panose="020B0503020204020204" pitchFamily="34" charset="-122"/>
                <a:ea typeface="微软雅黑" panose="020B0503020204020204" pitchFamily="34" charset="-122"/>
              </a:rPr>
              <a:t>发</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收之间的位同步</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②每一</a:t>
            </a:r>
            <a:r>
              <a:rPr lang="zh-CN" altLang="en-US" sz="2000" dirty="0">
                <a:latin typeface="微软雅黑" panose="020B0503020204020204" pitchFamily="34" charset="-122"/>
                <a:ea typeface="微软雅黑" panose="020B0503020204020204" pitchFamily="34" charset="-122"/>
              </a:rPr>
              <a:t>帧建立同步标志，建立帧同步</a:t>
            </a:r>
            <a:endParaRPr lang="zh-CN" altLang="en-US" sz="2000" dirty="0">
              <a:solidFill>
                <a:srgbClr val="FF0000"/>
              </a:solidFill>
              <a:latin typeface="微软雅黑" panose="020B0503020204020204" pitchFamily="34" charset="-122"/>
              <a:ea typeface="微软雅黑" panose="020B0503020204020204" pitchFamily="34" charset="-122"/>
            </a:endParaRPr>
          </a:p>
          <a:p>
            <a:pPr lvl="1">
              <a:lnSpc>
                <a:spcPct val="110000"/>
              </a:lnSpc>
              <a:spcBef>
                <a:spcPct val="0"/>
              </a:spcBef>
            </a:pPr>
            <a:endParaRPr lang="zh-CN" altLang="en-US" sz="2000" dirty="0">
              <a:latin typeface="黑体" panose="02010609060101010101" pitchFamily="49" charset="-122"/>
              <a:ea typeface="黑体" panose="02010609060101010101" pitchFamily="49" charset="-122"/>
            </a:endParaRPr>
          </a:p>
        </p:txBody>
      </p:sp>
      <p:sp>
        <p:nvSpPr>
          <p:cNvPr id="37" name="Rectangle 84">
            <a:extLst>
              <a:ext uri="{FF2B5EF4-FFF2-40B4-BE49-F238E27FC236}">
                <a16:creationId xmlns:a16="http://schemas.microsoft.com/office/drawing/2014/main" id="{B575698D-A093-406A-B300-5DF3FF465675}"/>
              </a:ext>
            </a:extLst>
          </p:cNvPr>
          <p:cNvSpPr>
            <a:spLocks noChangeArrowheads="1"/>
          </p:cNvSpPr>
          <p:nvPr/>
        </p:nvSpPr>
        <p:spPr bwMode="auto">
          <a:xfrm>
            <a:off x="518075" y="6074944"/>
            <a:ext cx="11774833"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eaLnBrk="1" hangingPunct="1">
              <a:buNone/>
            </a:pPr>
            <a:r>
              <a:rPr lang="zh-CN" altLang="en-US" sz="2400" dirty="0">
                <a:ea typeface="黑体" panose="02010609060101010101" pitchFamily="49" charset="-122"/>
              </a:rPr>
              <a:t>区别：异步传输的发送器的接收器的时钟是不同步的，而同步传输两者的时钟是同步的</a:t>
            </a:r>
          </a:p>
        </p:txBody>
      </p:sp>
      <p:pic>
        <p:nvPicPr>
          <p:cNvPr id="5" name="图片 4">
            <a:extLst>
              <a:ext uri="{FF2B5EF4-FFF2-40B4-BE49-F238E27FC236}">
                <a16:creationId xmlns:a16="http://schemas.microsoft.com/office/drawing/2014/main" id="{DFEEA501-0A9D-4839-90B9-EF1C05D00426}"/>
              </a:ext>
            </a:extLst>
          </p:cNvPr>
          <p:cNvPicPr>
            <a:picLocks noChangeAspect="1"/>
          </p:cNvPicPr>
          <p:nvPr/>
        </p:nvPicPr>
        <p:blipFill>
          <a:blip r:embed="rId3">
            <a:duotone>
              <a:schemeClr val="accent6">
                <a:shade val="45000"/>
                <a:satMod val="135000"/>
              </a:schemeClr>
              <a:prstClr val="white"/>
            </a:duotone>
          </a:blip>
          <a:stretch>
            <a:fillRect/>
          </a:stretch>
        </p:blipFill>
        <p:spPr>
          <a:xfrm>
            <a:off x="8179589" y="4828940"/>
            <a:ext cx="3774670" cy="1047749"/>
          </a:xfrm>
          <a:prstGeom prst="rect">
            <a:avLst/>
          </a:prstGeom>
        </p:spPr>
      </p:pic>
      <p:sp>
        <p:nvSpPr>
          <p:cNvPr id="12" name="内容占位符 2">
            <a:extLst>
              <a:ext uri="{FF2B5EF4-FFF2-40B4-BE49-F238E27FC236}">
                <a16:creationId xmlns:a16="http://schemas.microsoft.com/office/drawing/2014/main" id="{8625276F-8AEA-4718-BA84-7C243FFFED4E}"/>
              </a:ext>
            </a:extLst>
          </p:cNvPr>
          <p:cNvSpPr>
            <a:spLocks noGrp="1"/>
          </p:cNvSpPr>
          <p:nvPr>
            <p:ph idx="1"/>
          </p:nvPr>
        </p:nvSpPr>
        <p:spPr>
          <a:xfrm>
            <a:off x="531177" y="1308835"/>
            <a:ext cx="10515600" cy="879086"/>
          </a:xfrm>
        </p:spPr>
        <p:txBody>
          <a:bodyPr>
            <a:normAutofit/>
          </a:bodyPr>
          <a:lstStyle/>
          <a:p>
            <a:pPr>
              <a:spcBef>
                <a:spcPct val="0"/>
              </a:spcBef>
              <a:buFont typeface="Wingdings" pitchFamily="2" charset="2"/>
              <a:buNone/>
            </a:pPr>
            <a:r>
              <a:rPr lang="zh-CN" altLang="en-US" dirty="0">
                <a:solidFill>
                  <a:srgbClr val="5B307E"/>
                </a:solidFill>
                <a:latin typeface="微软雅黑" panose="020B0503020204020204" pitchFamily="34" charset="-122"/>
                <a:ea typeface="微软雅黑" panose="020B0503020204020204" pitchFamily="34" charset="-122"/>
              </a:rPr>
              <a:t>异步传输和同步传输</a:t>
            </a:r>
          </a:p>
        </p:txBody>
      </p:sp>
      <p:sp>
        <p:nvSpPr>
          <p:cNvPr id="14" name="内容占位符 2">
            <a:extLst>
              <a:ext uri="{FF2B5EF4-FFF2-40B4-BE49-F238E27FC236}">
                <a16:creationId xmlns:a16="http://schemas.microsoft.com/office/drawing/2014/main" id="{BC1835C4-2E84-4D34-B14E-60C0E39B24EA}"/>
              </a:ext>
            </a:extLst>
          </p:cNvPr>
          <p:cNvSpPr txBox="1">
            <a:spLocks/>
          </p:cNvSpPr>
          <p:nvPr/>
        </p:nvSpPr>
        <p:spPr>
          <a:xfrm>
            <a:off x="1159106" y="337030"/>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传输方式</a:t>
            </a:r>
          </a:p>
        </p:txBody>
      </p:sp>
      <p:pic>
        <p:nvPicPr>
          <p:cNvPr id="1026" name="Picture 2">
            <a:extLst>
              <a:ext uri="{FF2B5EF4-FFF2-40B4-BE49-F238E27FC236}">
                <a16:creationId xmlns:a16="http://schemas.microsoft.com/office/drawing/2014/main" id="{F35CCBB0-77C2-47F1-89E3-8FA3174BAB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9589" y="2163453"/>
            <a:ext cx="3895099" cy="2200275"/>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24201B46-A3B5-4FE6-91EB-EA920ABA2192}"/>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03198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15363"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D54D4CD-A426-4D77-BDC1-2341CAE28EBD}" type="slidenum">
              <a:rPr lang="en-US" altLang="zh-CN" sz="1200">
                <a:latin typeface="Arial Black" panose="020B0A04020102020204" pitchFamily="34" charset="0"/>
              </a:rPr>
              <a:pPr>
                <a:spcBef>
                  <a:spcPct val="0"/>
                </a:spcBef>
                <a:buClrTx/>
                <a:buSzTx/>
                <a:buFontTx/>
                <a:buNone/>
              </a:pPr>
              <a:t>19</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3F250607-93EA-4947-A507-FB39702CE78B}" type="datetime1">
              <a:rPr lang="zh-CN" altLang="en-US"/>
              <a:pPr>
                <a:defRPr/>
              </a:pPr>
              <a:t>2024/9/27</a:t>
            </a:fld>
            <a:endParaRPr lang="en-US" altLang="zh-CN"/>
          </a:p>
        </p:txBody>
      </p:sp>
      <p:sp>
        <p:nvSpPr>
          <p:cNvPr id="901124" name="Rectangle 4"/>
          <p:cNvSpPr>
            <a:spLocks noChangeArrowheads="1"/>
          </p:cNvSpPr>
          <p:nvPr/>
        </p:nvSpPr>
        <p:spPr bwMode="auto">
          <a:xfrm>
            <a:off x="2243931" y="1124745"/>
            <a:ext cx="7704138" cy="52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lnSpc>
                <a:spcPct val="120000"/>
              </a:lnSpc>
              <a:spcBef>
                <a:spcPct val="20000"/>
              </a:spcBef>
              <a:buSzPct val="50000"/>
              <a:buFont typeface="Wingdings" panose="05000000000000000000" pitchFamily="2" charset="2"/>
              <a:buNone/>
              <a:defRPr/>
            </a:pPr>
            <a:r>
              <a:rPr lang="en-US" altLang="zh-CN" sz="2400" dirty="0">
                <a:solidFill>
                  <a:srgbClr val="0000FF"/>
                </a:solidFill>
                <a:effectLst>
                  <a:outerShdw blurRad="38100" dist="38100" dir="2700000" algn="tl">
                    <a:srgbClr val="C0C0C0"/>
                  </a:outerShdw>
                </a:effectLst>
                <a:latin typeface="Verdana" pitchFamily="34" charset="0"/>
              </a:rPr>
              <a:t>1) </a:t>
            </a:r>
            <a:r>
              <a:rPr lang="zh-CN" altLang="en-US" sz="2400" dirty="0">
                <a:solidFill>
                  <a:srgbClr val="0000FF"/>
                </a:solidFill>
                <a:effectLst>
                  <a:outerShdw blurRad="38100" dist="38100" dir="2700000" algn="tl">
                    <a:srgbClr val="C0C0C0"/>
                  </a:outerShdw>
                </a:effectLst>
                <a:latin typeface="Verdana" pitchFamily="34" charset="0"/>
              </a:rPr>
              <a:t>异步通信</a:t>
            </a:r>
          </a:p>
          <a:p>
            <a:pPr eaLnBrk="1" hangingPunct="1">
              <a:lnSpc>
                <a:spcPct val="120000"/>
              </a:lnSpc>
              <a:spcBef>
                <a:spcPct val="20000"/>
              </a:spcBef>
              <a:buSzPct val="50000"/>
              <a:buFont typeface="Wingdings" panose="05000000000000000000" pitchFamily="2" charset="2"/>
              <a:buNone/>
              <a:defRPr/>
            </a:pPr>
            <a:r>
              <a:rPr lang="zh-CN" altLang="en-US" sz="2400" dirty="0">
                <a:solidFill>
                  <a:srgbClr val="0000FF"/>
                </a:solidFill>
                <a:effectLst>
                  <a:outerShdw blurRad="38100" dist="38100" dir="2700000" algn="tl">
                    <a:srgbClr val="C0C0C0"/>
                  </a:outerShdw>
                </a:effectLst>
                <a:latin typeface="Verdana" pitchFamily="34" charset="0"/>
              </a:rPr>
              <a:t>    </a:t>
            </a:r>
            <a:r>
              <a:rPr lang="zh-CN" altLang="en-US" sz="2400" dirty="0">
                <a:effectLst>
                  <a:outerShdw blurRad="38100" dist="38100" dir="2700000" algn="tl">
                    <a:srgbClr val="C0C0C0"/>
                  </a:outerShdw>
                </a:effectLst>
                <a:latin typeface="Verdana" pitchFamily="34" charset="0"/>
              </a:rPr>
              <a:t>* </a:t>
            </a:r>
            <a:r>
              <a:rPr lang="zh-CN" altLang="en-US" sz="2400" u="sng" dirty="0">
                <a:solidFill>
                  <a:srgbClr val="FF0066"/>
                </a:solidFill>
                <a:effectLst>
                  <a:outerShdw blurRad="38100" dist="38100" dir="2700000" algn="tl">
                    <a:srgbClr val="C0C0C0"/>
                  </a:outerShdw>
                </a:effectLst>
                <a:latin typeface="Verdana" pitchFamily="34" charset="0"/>
              </a:rPr>
              <a:t>字符为单位</a:t>
            </a:r>
          </a:p>
          <a:p>
            <a:pPr eaLnBrk="1" hangingPunct="1">
              <a:lnSpc>
                <a:spcPct val="120000"/>
              </a:lnSpc>
              <a:spcBef>
                <a:spcPct val="20000"/>
              </a:spcBef>
              <a:buSzPct val="50000"/>
              <a:buFont typeface="Wingdings" panose="05000000000000000000" pitchFamily="2" charset="2"/>
              <a:buNone/>
              <a:defRPr/>
            </a:pPr>
            <a:r>
              <a:rPr lang="zh-CN" altLang="en-US" sz="2400" dirty="0">
                <a:solidFill>
                  <a:srgbClr val="0000FF"/>
                </a:solidFill>
                <a:effectLst>
                  <a:outerShdw blurRad="38100" dist="38100" dir="2700000" algn="tl">
                    <a:srgbClr val="C0C0C0"/>
                  </a:outerShdw>
                </a:effectLst>
                <a:latin typeface="Verdana" pitchFamily="34" charset="0"/>
              </a:rPr>
              <a:t>    异步通信</a:t>
            </a:r>
            <a:r>
              <a:rPr lang="zh-CN" altLang="en-US" sz="2400" dirty="0">
                <a:latin typeface="Verdana" pitchFamily="34" charset="0"/>
              </a:rPr>
              <a:t>是一种很常用的通信方式。异步通信在发送字符时，所发送的</a:t>
            </a:r>
            <a:r>
              <a:rPr lang="zh-CN" altLang="en-US" sz="2400" dirty="0">
                <a:solidFill>
                  <a:srgbClr val="0000FF"/>
                </a:solidFill>
                <a:latin typeface="Verdana" pitchFamily="34" charset="0"/>
              </a:rPr>
              <a:t>字符之间的空闲时间间隔可以是任意的</a:t>
            </a:r>
            <a:r>
              <a:rPr lang="zh-CN" altLang="en-US" sz="2400" dirty="0">
                <a:latin typeface="Verdana" pitchFamily="34" charset="0"/>
              </a:rPr>
              <a:t>。当然接收端必须时刻做好接收的准备。</a:t>
            </a:r>
            <a:r>
              <a:rPr lang="zh-CN" altLang="en-US" sz="2400" dirty="0">
                <a:solidFill>
                  <a:srgbClr val="0000FF"/>
                </a:solidFill>
                <a:effectLst>
                  <a:outerShdw blurRad="38100" dist="38100" dir="2700000" algn="tl">
                    <a:srgbClr val="C0C0C0"/>
                  </a:outerShdw>
                </a:effectLst>
                <a:latin typeface="Verdana" pitchFamily="34" charset="0"/>
              </a:rPr>
              <a:t>发送端可以在任意时刻开始发送字符</a:t>
            </a:r>
            <a:r>
              <a:rPr lang="zh-CN" altLang="en-US" sz="2400" dirty="0">
                <a:latin typeface="Verdana" pitchFamily="34" charset="0"/>
              </a:rPr>
              <a:t>，</a:t>
            </a:r>
            <a:r>
              <a:rPr lang="zh-CN" altLang="en-US" sz="2400" dirty="0">
                <a:solidFill>
                  <a:srgbClr val="0000FF"/>
                </a:solidFill>
                <a:effectLst>
                  <a:outerShdw blurRad="38100" dist="38100" dir="2700000" algn="tl">
                    <a:srgbClr val="C0C0C0"/>
                  </a:outerShdw>
                </a:effectLst>
                <a:latin typeface="Verdana" pitchFamily="34" charset="0"/>
              </a:rPr>
              <a:t>因此必须在每一个字符的开始和结束的地方加上标志，即加上开始位和停止位，以便使接收端能够正确地将每一个字符接收下来</a:t>
            </a:r>
            <a:r>
              <a:rPr lang="zh-CN" altLang="en-US" sz="2400" dirty="0">
                <a:latin typeface="Verdana" pitchFamily="34" charset="0"/>
              </a:rPr>
              <a:t>。     </a:t>
            </a:r>
          </a:p>
          <a:p>
            <a:pPr eaLnBrk="1" hangingPunct="1">
              <a:lnSpc>
                <a:spcPct val="120000"/>
              </a:lnSpc>
              <a:spcBef>
                <a:spcPct val="20000"/>
              </a:spcBef>
              <a:buSzPct val="50000"/>
              <a:buFont typeface="Wingdings" panose="05000000000000000000" pitchFamily="2" charset="2"/>
              <a:buNone/>
              <a:defRPr/>
            </a:pPr>
            <a:r>
              <a:rPr lang="zh-CN" altLang="en-US" sz="2400" dirty="0">
                <a:latin typeface="Verdana" pitchFamily="34" charset="0"/>
              </a:rPr>
              <a:t>    异步通信的好处是通信设备简单、便宜，但传输效率较低</a:t>
            </a:r>
            <a:r>
              <a:rPr lang="en-US" altLang="zh-CN" sz="2400" dirty="0">
                <a:latin typeface="Verdana" pitchFamily="34" charset="0"/>
              </a:rPr>
              <a:t>(</a:t>
            </a:r>
            <a:r>
              <a:rPr lang="zh-CN" altLang="en-US" sz="2400" dirty="0">
                <a:latin typeface="Verdana" pitchFamily="34" charset="0"/>
              </a:rPr>
              <a:t>因为开始位和停止位的开销所占比例较大</a:t>
            </a:r>
            <a:r>
              <a:rPr lang="en-US" altLang="zh-CN" sz="2400" dirty="0">
                <a:latin typeface="Verdana" pitchFamily="34" charset="0"/>
              </a:rPr>
              <a:t>)</a:t>
            </a:r>
            <a:r>
              <a:rPr lang="zh-CN" altLang="en-US" sz="2400" dirty="0">
                <a:latin typeface="Verdana" pitchFamily="34" charset="0"/>
              </a:rPr>
              <a:t>。 </a:t>
            </a:r>
          </a:p>
          <a:p>
            <a:pPr eaLnBrk="1" hangingPunct="1">
              <a:lnSpc>
                <a:spcPct val="120000"/>
              </a:lnSpc>
              <a:spcBef>
                <a:spcPct val="20000"/>
              </a:spcBef>
              <a:defRPr/>
            </a:pPr>
            <a:r>
              <a:rPr lang="zh-CN" altLang="en-US" sz="2400" dirty="0">
                <a:latin typeface="Verdana" pitchFamily="34" charset="0"/>
              </a:rPr>
              <a:t> </a:t>
            </a:r>
          </a:p>
        </p:txBody>
      </p:sp>
      <p:pic>
        <p:nvPicPr>
          <p:cNvPr id="2" name="图片 1"/>
          <p:cNvPicPr>
            <a:picLocks noChangeAspect="1"/>
          </p:cNvPicPr>
          <p:nvPr/>
        </p:nvPicPr>
        <p:blipFill>
          <a:blip r:embed="rId2"/>
          <a:stretch>
            <a:fillRect/>
          </a:stretch>
        </p:blipFill>
        <p:spPr>
          <a:xfrm>
            <a:off x="4799856" y="548680"/>
            <a:ext cx="4817234" cy="1500450"/>
          </a:xfrm>
          <a:prstGeom prst="rect">
            <a:avLst/>
          </a:prstGeom>
        </p:spPr>
      </p:pic>
      <p:cxnSp>
        <p:nvCxnSpPr>
          <p:cNvPr id="6" name="直接箭头连接符 5"/>
          <p:cNvCxnSpPr/>
          <p:nvPr/>
        </p:nvCxnSpPr>
        <p:spPr bwMode="auto">
          <a:xfrm>
            <a:off x="4727848" y="749952"/>
            <a:ext cx="367680" cy="288032"/>
          </a:xfrm>
          <a:prstGeom prst="straightConnector1">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p:nvPr/>
        </p:nvCxnSpPr>
        <p:spPr bwMode="auto">
          <a:xfrm flipH="1">
            <a:off x="8839944" y="692696"/>
            <a:ext cx="304056" cy="283496"/>
          </a:xfrm>
          <a:prstGeom prst="straightConnector1">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文本框 3"/>
          <p:cNvSpPr txBox="1"/>
          <p:nvPr/>
        </p:nvSpPr>
        <p:spPr>
          <a:xfrm>
            <a:off x="2302335" y="5713429"/>
            <a:ext cx="7587333" cy="707886"/>
          </a:xfrm>
          <a:prstGeom prst="rect">
            <a:avLst/>
          </a:prstGeom>
          <a:noFill/>
        </p:spPr>
        <p:txBody>
          <a:bodyPr wrap="none" rtlCol="0">
            <a:spAutoFit/>
          </a:bodyPr>
          <a:lstStyle/>
          <a:p>
            <a:r>
              <a:rPr lang="zh-CN" altLang="en-US" sz="4000" dirty="0"/>
              <a:t>即、如何理解</a:t>
            </a:r>
            <a:r>
              <a:rPr lang="en-US" altLang="zh-CN" sz="4000" dirty="0"/>
              <a:t>0/1</a:t>
            </a:r>
            <a:r>
              <a:rPr lang="zh-CN" altLang="en-US" sz="4000" dirty="0"/>
              <a:t>比特流的含义！</a:t>
            </a:r>
            <a:endParaRPr lang="en-US" sz="4000" dirty="0"/>
          </a:p>
        </p:txBody>
      </p:sp>
    </p:spTree>
    <p:extLst>
      <p:ext uri="{BB962C8B-B14F-4D97-AF65-F5344CB8AC3E}">
        <p14:creationId xmlns:p14="http://schemas.microsoft.com/office/powerpoint/2010/main" val="3683342488"/>
      </p:ext>
    </p:extLst>
  </p:cSld>
  <p:clrMapOvr>
    <a:masterClrMapping/>
  </p:clrMapOvr>
  <p:transition spd="slow">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16387"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D116057-221B-40AE-B3BC-6F2239912176}" type="slidenum">
              <a:rPr lang="en-US" altLang="zh-CN" sz="1200">
                <a:latin typeface="Arial Black" panose="020B0A04020102020204" pitchFamily="34" charset="0"/>
              </a:rPr>
              <a:pPr>
                <a:spcBef>
                  <a:spcPct val="0"/>
                </a:spcBef>
                <a:buClrTx/>
                <a:buSzTx/>
                <a:buFontTx/>
                <a:buNone/>
              </a:pPr>
              <a:t>20</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C45ABE58-18FB-4F19-AEFF-B300D8B7F648}" type="datetime1">
              <a:rPr lang="zh-CN" altLang="en-US"/>
              <a:pPr>
                <a:defRPr/>
              </a:pPr>
              <a:t>2024/9/27</a:t>
            </a:fld>
            <a:endParaRPr lang="en-US" altLang="zh-CN"/>
          </a:p>
        </p:txBody>
      </p:sp>
      <p:sp>
        <p:nvSpPr>
          <p:cNvPr id="902148" name="Rectangle 4"/>
          <p:cNvSpPr>
            <a:spLocks noChangeArrowheads="1"/>
          </p:cNvSpPr>
          <p:nvPr/>
        </p:nvSpPr>
        <p:spPr bwMode="auto">
          <a:xfrm>
            <a:off x="2208214" y="843257"/>
            <a:ext cx="7775575" cy="52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nchor="ctr">
            <a:spAutoFit/>
          </a:bodyPr>
          <a:lstStyle/>
          <a:p>
            <a:pPr eaLnBrk="1" hangingPunct="1">
              <a:lnSpc>
                <a:spcPct val="120000"/>
              </a:lnSpc>
              <a:spcBef>
                <a:spcPct val="20000"/>
              </a:spcBef>
              <a:defRPr/>
            </a:pPr>
            <a:r>
              <a:rPr lang="en-US" altLang="zh-CN" sz="2400" dirty="0">
                <a:latin typeface="Verdana" pitchFamily="34" charset="0"/>
              </a:rPr>
              <a:t>   </a:t>
            </a:r>
            <a:r>
              <a:rPr lang="en-US" altLang="zh-CN" sz="2400" dirty="0">
                <a:effectLst>
                  <a:outerShdw blurRad="38100" dist="38100" dir="2700000" algn="tl">
                    <a:srgbClr val="C0C0C0"/>
                  </a:outerShdw>
                </a:effectLst>
                <a:latin typeface="Verdana" pitchFamily="34" charset="0"/>
              </a:rPr>
              <a:t>*</a:t>
            </a:r>
            <a:r>
              <a:rPr lang="zh-CN" altLang="en-US" sz="2400" u="sng" dirty="0">
                <a:effectLst>
                  <a:outerShdw blurRad="38100" dist="38100" dir="2700000" algn="tl">
                    <a:srgbClr val="C0C0C0"/>
                  </a:outerShdw>
                </a:effectLst>
                <a:latin typeface="Verdana" pitchFamily="34" charset="0"/>
              </a:rPr>
              <a:t>帧为单位</a:t>
            </a:r>
            <a:r>
              <a:rPr lang="en-US" altLang="zh-CN" sz="2400" u="sng" dirty="0">
                <a:latin typeface="Verdana" pitchFamily="34" charset="0"/>
              </a:rPr>
              <a:t> </a:t>
            </a:r>
          </a:p>
          <a:p>
            <a:pPr eaLnBrk="1" hangingPunct="1">
              <a:lnSpc>
                <a:spcPct val="120000"/>
              </a:lnSpc>
              <a:spcBef>
                <a:spcPct val="20000"/>
              </a:spcBef>
              <a:defRPr/>
            </a:pPr>
            <a:r>
              <a:rPr lang="en-US" altLang="zh-CN" sz="2400" dirty="0">
                <a:solidFill>
                  <a:srgbClr val="0000FF"/>
                </a:solidFill>
                <a:effectLst>
                  <a:outerShdw blurRad="38100" dist="38100" dir="2700000" algn="tl">
                    <a:srgbClr val="C0C0C0"/>
                  </a:outerShdw>
                </a:effectLst>
                <a:latin typeface="Verdana" pitchFamily="34" charset="0"/>
              </a:rPr>
              <a:t>     </a:t>
            </a:r>
            <a:r>
              <a:rPr lang="zh-CN" altLang="en-US" sz="2400" dirty="0">
                <a:solidFill>
                  <a:srgbClr val="0000FF"/>
                </a:solidFill>
                <a:effectLst>
                  <a:outerShdw blurRad="38100" dist="38100" dir="2700000" algn="tl">
                    <a:srgbClr val="C0C0C0"/>
                  </a:outerShdw>
                </a:effectLst>
                <a:latin typeface="Verdana" pitchFamily="34" charset="0"/>
              </a:rPr>
              <a:t>异步通信</a:t>
            </a:r>
            <a:r>
              <a:rPr lang="zh-CN" altLang="en-US" sz="2400" dirty="0">
                <a:latin typeface="Verdana" pitchFamily="34" charset="0"/>
              </a:rPr>
              <a:t>也可以帧作为发送单位。接收端随时准备接收帧。这时帧首部必须设有一些特殊的</a:t>
            </a:r>
            <a:r>
              <a:rPr lang="zh-CN" altLang="en-US" sz="2400" dirty="0">
                <a:solidFill>
                  <a:srgbClr val="0000FF"/>
                </a:solidFill>
                <a:effectLst>
                  <a:outerShdw blurRad="38100" dist="38100" dir="2700000" algn="tl">
                    <a:srgbClr val="C0C0C0"/>
                  </a:outerShdw>
                </a:effectLst>
                <a:latin typeface="Verdana" pitchFamily="34" charset="0"/>
              </a:rPr>
              <a:t>比特组合</a:t>
            </a:r>
            <a:r>
              <a:rPr lang="zh-CN" altLang="en-US" sz="2400" dirty="0">
                <a:latin typeface="Verdana" pitchFamily="34" charset="0"/>
              </a:rPr>
              <a:t>，使得接收端能够找出一帧的开始，称为</a:t>
            </a:r>
            <a:r>
              <a:rPr lang="zh-CN" altLang="en-US" sz="2400" dirty="0">
                <a:solidFill>
                  <a:srgbClr val="0000FF"/>
                </a:solidFill>
                <a:effectLst>
                  <a:outerShdw blurRad="38100" dist="38100" dir="2700000" algn="tl">
                    <a:srgbClr val="C0C0C0"/>
                  </a:outerShdw>
                </a:effectLst>
                <a:latin typeface="Verdana" pitchFamily="34" charset="0"/>
              </a:rPr>
              <a:t>帧定界</a:t>
            </a:r>
            <a:r>
              <a:rPr lang="zh-CN" altLang="en-US" sz="2400" dirty="0">
                <a:latin typeface="Verdana" pitchFamily="34" charset="0"/>
              </a:rPr>
              <a:t>。   </a:t>
            </a:r>
          </a:p>
          <a:p>
            <a:pPr eaLnBrk="1" hangingPunct="1">
              <a:lnSpc>
                <a:spcPct val="120000"/>
              </a:lnSpc>
              <a:spcBef>
                <a:spcPct val="20000"/>
              </a:spcBef>
              <a:defRPr/>
            </a:pPr>
            <a:r>
              <a:rPr lang="zh-CN" altLang="en-US" sz="2400" dirty="0">
                <a:solidFill>
                  <a:srgbClr val="0000FF"/>
                </a:solidFill>
                <a:latin typeface="Verdana" pitchFamily="34" charset="0"/>
              </a:rPr>
              <a:t>     </a:t>
            </a:r>
            <a:r>
              <a:rPr lang="zh-CN" altLang="en-US" sz="2400" dirty="0">
                <a:solidFill>
                  <a:srgbClr val="0000FF"/>
                </a:solidFill>
                <a:effectLst>
                  <a:outerShdw blurRad="38100" dist="38100" dir="2700000" algn="tl">
                    <a:srgbClr val="C0C0C0"/>
                  </a:outerShdw>
                </a:effectLst>
                <a:latin typeface="Verdana" pitchFamily="34" charset="0"/>
              </a:rPr>
              <a:t>帧定界</a:t>
            </a:r>
            <a:r>
              <a:rPr lang="zh-CN" altLang="en-US" sz="2400" dirty="0">
                <a:latin typeface="Verdana" pitchFamily="34" charset="0"/>
              </a:rPr>
              <a:t>还包含确定帧的结束位置。有两种方法：在帧的尾部设有某种特殊的比特组合来标志帧的结束，或者在帧首部中设有帧长度的字段。</a:t>
            </a:r>
          </a:p>
          <a:p>
            <a:pPr eaLnBrk="1" hangingPunct="1">
              <a:lnSpc>
                <a:spcPct val="120000"/>
              </a:lnSpc>
              <a:spcBef>
                <a:spcPct val="20000"/>
              </a:spcBef>
              <a:defRPr/>
            </a:pPr>
            <a:r>
              <a:rPr lang="zh-CN" altLang="en-US" sz="2400" dirty="0">
                <a:latin typeface="Verdana" pitchFamily="34" charset="0"/>
              </a:rPr>
              <a:t>     </a:t>
            </a:r>
            <a:r>
              <a:rPr lang="zh-CN" altLang="en-US" sz="2400" dirty="0">
                <a:solidFill>
                  <a:srgbClr val="0000FF"/>
                </a:solidFill>
                <a:effectLst>
                  <a:outerShdw blurRad="38100" dist="38100" dir="2700000" algn="tl">
                    <a:srgbClr val="C0C0C0"/>
                  </a:outerShdw>
                </a:effectLst>
                <a:latin typeface="Verdana" pitchFamily="34" charset="0"/>
              </a:rPr>
              <a:t>注意：</a:t>
            </a:r>
            <a:r>
              <a:rPr lang="zh-CN" altLang="en-US" sz="2000" dirty="0">
                <a:latin typeface="Verdana" pitchFamily="34" charset="0"/>
              </a:rPr>
              <a:t>在</a:t>
            </a:r>
            <a:r>
              <a:rPr lang="zh-CN" altLang="en-US" sz="2000" dirty="0">
                <a:solidFill>
                  <a:srgbClr val="0000FF"/>
                </a:solidFill>
                <a:effectLst>
                  <a:outerShdw blurRad="38100" dist="38100" dir="2700000" algn="tl">
                    <a:srgbClr val="C0C0C0"/>
                  </a:outerShdw>
                </a:effectLst>
                <a:latin typeface="Verdana" pitchFamily="34" charset="0"/>
              </a:rPr>
              <a:t>异步发送帧</a:t>
            </a:r>
            <a:r>
              <a:rPr lang="zh-CN" altLang="en-US" sz="2000" dirty="0">
                <a:latin typeface="Verdana" pitchFamily="34" charset="0"/>
              </a:rPr>
              <a:t>时，并不是说发送端对帧中的每一个字符都必须加上开始位和停止位后再发送出去，而是说</a:t>
            </a:r>
            <a:r>
              <a:rPr lang="zh-CN" altLang="en-US" sz="2000" dirty="0">
                <a:solidFill>
                  <a:srgbClr val="0000FF"/>
                </a:solidFill>
                <a:effectLst>
                  <a:outerShdw blurRad="38100" dist="38100" dir="2700000" algn="tl">
                    <a:srgbClr val="C0C0C0"/>
                  </a:outerShdw>
                </a:effectLst>
                <a:latin typeface="Verdana" pitchFamily="34" charset="0"/>
              </a:rPr>
              <a:t>发送端可以在任意时间发送一个帧，而帧与帧之间的时间间隔也可以是任意的</a:t>
            </a:r>
            <a:r>
              <a:rPr lang="zh-CN" altLang="en-US" sz="2000" dirty="0">
                <a:latin typeface="Verdana" pitchFamily="34" charset="0"/>
              </a:rPr>
              <a:t>。一帧中的所有比特是连续发送的。发送端不需要在发送一帧之前和接收端进行协调</a:t>
            </a:r>
            <a:r>
              <a:rPr lang="en-US" altLang="zh-CN" sz="2000" dirty="0">
                <a:latin typeface="Verdana" pitchFamily="34" charset="0"/>
              </a:rPr>
              <a:t>(</a:t>
            </a:r>
            <a:r>
              <a:rPr lang="zh-CN" altLang="en-US" sz="2000" dirty="0">
                <a:latin typeface="Verdana" pitchFamily="34" charset="0"/>
              </a:rPr>
              <a:t>即不需要先进行比特同步</a:t>
            </a:r>
            <a:r>
              <a:rPr lang="en-US" altLang="zh-CN" sz="2000" dirty="0">
                <a:latin typeface="Verdana" pitchFamily="34" charset="0"/>
              </a:rPr>
              <a:t>)</a:t>
            </a:r>
            <a:r>
              <a:rPr lang="zh-CN" altLang="en-US" sz="2000" dirty="0">
                <a:latin typeface="Verdana" pitchFamily="34" charset="0"/>
              </a:rPr>
              <a:t>。</a:t>
            </a:r>
          </a:p>
        </p:txBody>
      </p:sp>
    </p:spTree>
    <p:extLst>
      <p:ext uri="{BB962C8B-B14F-4D97-AF65-F5344CB8AC3E}">
        <p14:creationId xmlns:p14="http://schemas.microsoft.com/office/powerpoint/2010/main" val="42986250"/>
      </p:ext>
    </p:extLst>
  </p:cSld>
  <p:clrMapOvr>
    <a:masterClrMapping/>
  </p:clrMapOvr>
  <p:transition spd="slow">
    <p:pull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1"/>
          <p:cNvSpPr>
            <a:spLocks noGrp="1"/>
          </p:cNvSpPr>
          <p:nvPr>
            <p:ph type="ftr" sz="quarter" idx="10"/>
          </p:nvPr>
        </p:nvSpPr>
        <p:spPr/>
        <p:txBody>
          <a:bodyPr/>
          <a:lstStyle/>
          <a:p>
            <a:pPr>
              <a:defRPr/>
            </a:pPr>
            <a:r>
              <a:rPr lang="en-US" altLang="zh-CN"/>
              <a:t>Computer Network</a:t>
            </a:r>
          </a:p>
        </p:txBody>
      </p:sp>
      <p:sp>
        <p:nvSpPr>
          <p:cNvPr id="17411"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8A302B3-46B8-4F84-B631-23AB52D90EBB}" type="slidenum">
              <a:rPr lang="en-US" altLang="zh-CN" sz="1200">
                <a:latin typeface="Arial Black" panose="020B0A04020102020204" pitchFamily="34" charset="0"/>
              </a:rPr>
              <a:pPr>
                <a:spcBef>
                  <a:spcPct val="0"/>
                </a:spcBef>
                <a:buClrTx/>
                <a:buSzTx/>
                <a:buFontTx/>
                <a:buNone/>
              </a:pPr>
              <a:t>21</a:t>
            </a:fld>
            <a:endParaRPr lang="en-US" altLang="zh-CN" sz="1200">
              <a:latin typeface="Arial Black" panose="020B0A04020102020204" pitchFamily="34" charset="0"/>
            </a:endParaRPr>
          </a:p>
        </p:txBody>
      </p:sp>
      <p:sp>
        <p:nvSpPr>
          <p:cNvPr id="8" name="日期占位符 3"/>
          <p:cNvSpPr>
            <a:spLocks noGrp="1"/>
          </p:cNvSpPr>
          <p:nvPr>
            <p:ph type="dt" sz="quarter" idx="12"/>
          </p:nvPr>
        </p:nvSpPr>
        <p:spPr/>
        <p:txBody>
          <a:bodyPr/>
          <a:lstStyle/>
          <a:p>
            <a:pPr>
              <a:defRPr/>
            </a:pPr>
            <a:fld id="{269BF972-9852-4075-B090-62C84AB6B93A}" type="datetime1">
              <a:rPr lang="zh-CN" altLang="en-US"/>
              <a:pPr>
                <a:defRPr/>
              </a:pPr>
              <a:t>2024/9/27</a:t>
            </a:fld>
            <a:endParaRPr lang="en-US" altLang="zh-CN"/>
          </a:p>
        </p:txBody>
      </p:sp>
      <p:sp>
        <p:nvSpPr>
          <p:cNvPr id="903173" name="Rectangle 5"/>
          <p:cNvSpPr>
            <a:spLocks noChangeArrowheads="1"/>
          </p:cNvSpPr>
          <p:nvPr/>
        </p:nvSpPr>
        <p:spPr bwMode="auto">
          <a:xfrm>
            <a:off x="6095968" y="2361377"/>
            <a:ext cx="65" cy="24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0" tIns="0" rIns="0" bIns="0" anchor="ctr">
            <a:spAutoFit/>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aphicFrame>
        <p:nvGraphicFramePr>
          <p:cNvPr id="17414" name="Object 4"/>
          <p:cNvGraphicFramePr>
            <a:graphicFrameLocks noChangeAspect="1"/>
          </p:cNvGraphicFramePr>
          <p:nvPr/>
        </p:nvGraphicFramePr>
        <p:xfrm>
          <a:off x="1847851" y="1412876"/>
          <a:ext cx="8316913" cy="3865563"/>
        </p:xfrm>
        <a:graphic>
          <a:graphicData uri="http://schemas.openxmlformats.org/presentationml/2006/ole">
            <mc:AlternateContent xmlns:mc="http://schemas.openxmlformats.org/markup-compatibility/2006">
              <mc:Choice xmlns:v="urn:schemas-microsoft-com:vml" Requires="v">
                <p:oleObj name="演示文稿" r:id="rId2" imgW="701048" imgH="525609" progId="PowerPoint.Show.8">
                  <p:embed/>
                </p:oleObj>
              </mc:Choice>
              <mc:Fallback>
                <p:oleObj name="演示文稿" r:id="rId2" imgW="701048" imgH="525609" progId="PowerPoint.Show.8">
                  <p:embed/>
                  <p:pic>
                    <p:nvPicPr>
                      <p:cNvPr id="17414" name="Object 4"/>
                      <p:cNvPicPr>
                        <a:picLocks noChangeAspect="1" noChangeArrowheads="1"/>
                      </p:cNvPicPr>
                      <p:nvPr/>
                    </p:nvPicPr>
                    <p:blipFill>
                      <a:blip r:embed="rId3">
                        <a:extLst>
                          <a:ext uri="{28A0092B-C50C-407E-A947-70E740481C1C}">
                            <a14:useLocalDpi xmlns:a14="http://schemas.microsoft.com/office/drawing/2010/main" val="0"/>
                          </a:ext>
                        </a:extLst>
                      </a:blip>
                      <a:srcRect l="2681" t="3951" r="8588" b="41042"/>
                      <a:stretch>
                        <a:fillRect/>
                      </a:stretch>
                    </p:blipFill>
                    <p:spPr bwMode="auto">
                      <a:xfrm>
                        <a:off x="1847851" y="1412876"/>
                        <a:ext cx="8316913"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Text Box 6"/>
          <p:cNvSpPr txBox="1">
            <a:spLocks noChangeArrowheads="1"/>
          </p:cNvSpPr>
          <p:nvPr/>
        </p:nvSpPr>
        <p:spPr bwMode="auto">
          <a:xfrm>
            <a:off x="2640014" y="836613"/>
            <a:ext cx="25923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solidFill>
                  <a:srgbClr val="0000FF"/>
                </a:solidFill>
                <a:ea typeface="楷体_GB2312" pitchFamily="49" charset="-122"/>
              </a:rPr>
              <a:t>异步通信示例：</a:t>
            </a:r>
          </a:p>
        </p:txBody>
      </p:sp>
      <p:sp>
        <p:nvSpPr>
          <p:cNvPr id="903243" name="Text Box 75"/>
          <p:cNvSpPr txBox="1">
            <a:spLocks noChangeArrowheads="1"/>
          </p:cNvSpPr>
          <p:nvPr/>
        </p:nvSpPr>
        <p:spPr bwMode="auto">
          <a:xfrm>
            <a:off x="2424113" y="5516563"/>
            <a:ext cx="67691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algn="ctr" eaLnBrk="1" hangingPunct="1">
              <a:spcBef>
                <a:spcPct val="50000"/>
              </a:spcBef>
              <a:defRPr/>
            </a:pPr>
            <a:r>
              <a:rPr lang="zh-CN" altLang="en-US" sz="2400" dirty="0">
                <a:effectLst>
                  <a:outerShdw blurRad="38100" dist="38100" dir="2700000" algn="tl">
                    <a:srgbClr val="C0C0C0"/>
                  </a:outerShdw>
                </a:effectLst>
                <a:latin typeface="Arial" charset="0"/>
              </a:rPr>
              <a:t>要点：</a:t>
            </a:r>
            <a:r>
              <a:rPr lang="zh-CN" altLang="en-US" sz="2400" dirty="0">
                <a:solidFill>
                  <a:srgbClr val="0000FF"/>
                </a:solidFill>
                <a:latin typeface="Arial" charset="0"/>
              </a:rPr>
              <a:t>字符或帧发送时间任意，时间间隔任意。</a:t>
            </a:r>
          </a:p>
        </p:txBody>
      </p:sp>
    </p:spTree>
    <p:extLst>
      <p:ext uri="{BB962C8B-B14F-4D97-AF65-F5344CB8AC3E}">
        <p14:creationId xmlns:p14="http://schemas.microsoft.com/office/powerpoint/2010/main" val="707414314"/>
      </p:ext>
    </p:extLst>
  </p:cSld>
  <p:clrMapOvr>
    <a:masterClrMapping/>
  </p:clrMapOvr>
  <p:transition spd="slow">
    <p:pull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18435"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4DB5021-3BD6-408A-9701-09CCF42C9A73}" type="slidenum">
              <a:rPr lang="en-US" altLang="zh-CN" sz="1200">
                <a:latin typeface="Arial Black" panose="020B0A04020102020204" pitchFamily="34" charset="0"/>
              </a:rPr>
              <a:pPr>
                <a:spcBef>
                  <a:spcPct val="0"/>
                </a:spcBef>
                <a:buClrTx/>
                <a:buSzTx/>
                <a:buFontTx/>
                <a:buNone/>
              </a:pPr>
              <a:t>22</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3780A965-98D0-4C72-9495-88B53BD09E82}" type="datetime1">
              <a:rPr lang="zh-CN" altLang="en-US"/>
              <a:pPr>
                <a:defRPr/>
              </a:pPr>
              <a:t>2024/9/27</a:t>
            </a:fld>
            <a:endParaRPr lang="en-US" altLang="zh-CN"/>
          </a:p>
        </p:txBody>
      </p:sp>
      <p:sp>
        <p:nvSpPr>
          <p:cNvPr id="904196" name="Rectangle 4"/>
          <p:cNvSpPr>
            <a:spLocks noChangeArrowheads="1"/>
          </p:cNvSpPr>
          <p:nvPr/>
        </p:nvSpPr>
        <p:spPr bwMode="auto">
          <a:xfrm>
            <a:off x="2208214" y="844551"/>
            <a:ext cx="7775575" cy="517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nchor="ctr">
            <a:spAutoFit/>
          </a:bodyPr>
          <a:lstStyle/>
          <a:p>
            <a:pPr eaLnBrk="1" hangingPunct="1">
              <a:lnSpc>
                <a:spcPct val="120000"/>
              </a:lnSpc>
              <a:spcBef>
                <a:spcPct val="20000"/>
              </a:spcBef>
              <a:defRPr/>
            </a:pPr>
            <a:r>
              <a:rPr lang="en-US" altLang="zh-CN" sz="2400" dirty="0">
                <a:solidFill>
                  <a:srgbClr val="0000FF"/>
                </a:solidFill>
                <a:effectLst>
                  <a:outerShdw blurRad="38100" dist="38100" dir="2700000" algn="tl">
                    <a:srgbClr val="C0C0C0"/>
                  </a:outerShdw>
                </a:effectLst>
                <a:latin typeface="Verdana" pitchFamily="34" charset="0"/>
              </a:rPr>
              <a:t>2) </a:t>
            </a:r>
            <a:r>
              <a:rPr lang="zh-CN" altLang="en-US" sz="2400" dirty="0">
                <a:solidFill>
                  <a:srgbClr val="0000FF"/>
                </a:solidFill>
                <a:effectLst>
                  <a:outerShdw blurRad="38100" dist="38100" dir="2700000" algn="tl">
                    <a:srgbClr val="C0C0C0"/>
                  </a:outerShdw>
                </a:effectLst>
                <a:latin typeface="Verdana" pitchFamily="34" charset="0"/>
              </a:rPr>
              <a:t>同步通信  </a:t>
            </a:r>
          </a:p>
          <a:p>
            <a:pPr eaLnBrk="1" hangingPunct="1">
              <a:lnSpc>
                <a:spcPct val="120000"/>
              </a:lnSpc>
              <a:spcBef>
                <a:spcPct val="20000"/>
              </a:spcBef>
              <a:defRPr/>
            </a:pPr>
            <a:r>
              <a:rPr lang="zh-CN" altLang="en-US" sz="2400" dirty="0">
                <a:solidFill>
                  <a:srgbClr val="0000FF"/>
                </a:solidFill>
                <a:effectLst>
                  <a:outerShdw blurRad="38100" dist="38100" dir="2700000" algn="tl">
                    <a:srgbClr val="C0C0C0"/>
                  </a:outerShdw>
                </a:effectLst>
                <a:latin typeface="Verdana" pitchFamily="34" charset="0"/>
              </a:rPr>
              <a:t>    指</a:t>
            </a:r>
            <a:r>
              <a:rPr lang="zh-CN" altLang="en-US" sz="2400" dirty="0">
                <a:latin typeface="Verdana" pitchFamily="34" charset="0"/>
              </a:rPr>
              <a:t>通信</a:t>
            </a:r>
            <a:r>
              <a:rPr lang="zh-CN" altLang="en-US" sz="2400" u="sng" dirty="0">
                <a:solidFill>
                  <a:schemeClr val="hlink"/>
                </a:solidFill>
                <a:effectLst>
                  <a:outerShdw blurRad="38100" dist="38100" dir="2700000" algn="tl">
                    <a:srgbClr val="C0C0C0"/>
                  </a:outerShdw>
                </a:effectLst>
                <a:latin typeface="Verdana" pitchFamily="34" charset="0"/>
              </a:rPr>
              <a:t>双方必须先建立同步</a:t>
            </a:r>
            <a:r>
              <a:rPr lang="zh-CN" altLang="en-US" sz="2400" dirty="0">
                <a:latin typeface="Verdana" pitchFamily="34" charset="0"/>
              </a:rPr>
              <a:t>，</a:t>
            </a:r>
            <a:r>
              <a:rPr lang="zh-CN" altLang="en-US" sz="2400" dirty="0">
                <a:solidFill>
                  <a:srgbClr val="0000FF"/>
                </a:solidFill>
                <a:effectLst>
                  <a:outerShdw blurRad="38100" dist="38100" dir="2700000" algn="tl">
                    <a:srgbClr val="C0C0C0"/>
                  </a:outerShdw>
                </a:effectLst>
                <a:latin typeface="Verdana" pitchFamily="34" charset="0"/>
              </a:rPr>
              <a:t>即双方时钟要调整到同一频率</a:t>
            </a:r>
            <a:r>
              <a:rPr lang="zh-CN" altLang="en-US" sz="2400" dirty="0">
                <a:latin typeface="Verdana" pitchFamily="34" charset="0"/>
              </a:rPr>
              <a:t>，收发双方</a:t>
            </a:r>
            <a:r>
              <a:rPr lang="zh-CN" altLang="en-US" sz="2400" dirty="0">
                <a:effectLst>
                  <a:outerShdw blurRad="38100" dist="38100" dir="2700000" algn="tl">
                    <a:srgbClr val="C0C0C0"/>
                  </a:outerShdw>
                </a:effectLst>
                <a:latin typeface="Verdana" pitchFamily="34" charset="0"/>
              </a:rPr>
              <a:t>不停地</a:t>
            </a:r>
            <a:r>
              <a:rPr lang="zh-CN" altLang="en-US" sz="2400" dirty="0">
                <a:latin typeface="Verdana" pitchFamily="34" charset="0"/>
              </a:rPr>
              <a:t>发送和接收连续的同步</a:t>
            </a:r>
            <a:r>
              <a:rPr lang="zh-CN" altLang="en-US" sz="2400" u="sng" dirty="0">
                <a:solidFill>
                  <a:srgbClr val="FF0000"/>
                </a:solidFill>
                <a:effectLst>
                  <a:outerShdw blurRad="38100" dist="38100" dir="2700000" algn="tl">
                    <a:srgbClr val="000000">
                      <a:alpha val="43137"/>
                    </a:srgbClr>
                  </a:outerShdw>
                </a:effectLst>
                <a:latin typeface="Verdana" pitchFamily="34" charset="0"/>
              </a:rPr>
              <a:t>比特</a:t>
            </a:r>
            <a:r>
              <a:rPr lang="zh-CN" altLang="en-US" sz="2400" dirty="0">
                <a:latin typeface="Verdana" pitchFamily="34" charset="0"/>
              </a:rPr>
              <a:t>流。</a:t>
            </a:r>
          </a:p>
          <a:p>
            <a:pPr eaLnBrk="1" hangingPunct="1">
              <a:lnSpc>
                <a:spcPct val="120000"/>
              </a:lnSpc>
              <a:spcBef>
                <a:spcPct val="20000"/>
              </a:spcBef>
              <a:defRPr/>
            </a:pPr>
            <a:r>
              <a:rPr lang="zh-CN" altLang="en-US" sz="2400" dirty="0">
                <a:latin typeface="Verdana" pitchFamily="34" charset="0"/>
              </a:rPr>
              <a:t>    有两种不同的同步方式。一是使用</a:t>
            </a:r>
            <a:r>
              <a:rPr lang="zh-CN" altLang="en-US" sz="2400" dirty="0">
                <a:effectLst>
                  <a:outerShdw blurRad="38100" dist="38100" dir="2700000" algn="tl">
                    <a:srgbClr val="C0C0C0"/>
                  </a:outerShdw>
                </a:effectLst>
                <a:latin typeface="Verdana" pitchFamily="34" charset="0"/>
              </a:rPr>
              <a:t>全网同步</a:t>
            </a:r>
            <a:r>
              <a:rPr lang="zh-CN" altLang="en-US" sz="2400" dirty="0">
                <a:latin typeface="Verdana" pitchFamily="34" charset="0"/>
              </a:rPr>
              <a:t>，用一个非常精确的主时钟对全网所有结点上的时钟进行同步。另一种是使用</a:t>
            </a:r>
            <a:r>
              <a:rPr lang="zh-CN" altLang="en-US" sz="2400" dirty="0">
                <a:effectLst>
                  <a:outerShdw blurRad="38100" dist="38100" dir="2700000" algn="tl">
                    <a:srgbClr val="C0C0C0"/>
                  </a:outerShdw>
                </a:effectLst>
                <a:latin typeface="Verdana" pitchFamily="34" charset="0"/>
              </a:rPr>
              <a:t>准同步</a:t>
            </a:r>
            <a:r>
              <a:rPr lang="zh-CN" altLang="en-US" sz="2400" dirty="0">
                <a:latin typeface="Verdana" pitchFamily="34" charset="0"/>
              </a:rPr>
              <a:t>，各结点时钟之间允许有微小误差，然后采用其他措施实现同步传输。</a:t>
            </a:r>
          </a:p>
          <a:p>
            <a:pPr eaLnBrk="1" hangingPunct="1">
              <a:lnSpc>
                <a:spcPct val="120000"/>
              </a:lnSpc>
              <a:spcBef>
                <a:spcPct val="20000"/>
              </a:spcBef>
              <a:defRPr/>
            </a:pPr>
            <a:r>
              <a:rPr lang="zh-CN" altLang="en-US" sz="2400" dirty="0">
                <a:latin typeface="Verdana" pitchFamily="34" charset="0"/>
              </a:rPr>
              <a:t>    </a:t>
            </a:r>
            <a:r>
              <a:rPr lang="zh-CN" altLang="en-US" sz="2400" dirty="0">
                <a:solidFill>
                  <a:srgbClr val="0000FF"/>
                </a:solidFill>
                <a:effectLst>
                  <a:outerShdw blurRad="38100" dist="38100" dir="2700000" algn="tl">
                    <a:srgbClr val="C0C0C0"/>
                  </a:outerShdw>
                </a:effectLst>
                <a:latin typeface="Verdana" pitchFamily="34" charset="0"/>
              </a:rPr>
              <a:t>同步通信中也有帧同步的概念</a:t>
            </a:r>
            <a:r>
              <a:rPr lang="en-US" altLang="zh-CN" sz="2400" dirty="0">
                <a:solidFill>
                  <a:srgbClr val="0000FF"/>
                </a:solidFill>
                <a:effectLst>
                  <a:outerShdw blurRad="38100" dist="38100" dir="2700000" algn="tl">
                    <a:srgbClr val="C0C0C0"/>
                  </a:outerShdw>
                </a:effectLst>
                <a:latin typeface="Verdana" pitchFamily="34" charset="0"/>
              </a:rPr>
              <a:t>(</a:t>
            </a:r>
            <a:r>
              <a:rPr lang="zh-CN" altLang="en-US" sz="2400" dirty="0">
                <a:solidFill>
                  <a:srgbClr val="0000FF"/>
                </a:solidFill>
                <a:effectLst>
                  <a:outerShdw blurRad="38100" dist="38100" dir="2700000" algn="tl">
                    <a:srgbClr val="C0C0C0"/>
                  </a:outerShdw>
                </a:effectLst>
                <a:latin typeface="Verdana" pitchFamily="34" charset="0"/>
              </a:rPr>
              <a:t>如</a:t>
            </a:r>
            <a:r>
              <a:rPr lang="en-US" altLang="zh-CN" sz="2400" dirty="0">
                <a:solidFill>
                  <a:srgbClr val="0000FF"/>
                </a:solidFill>
                <a:effectLst>
                  <a:outerShdw blurRad="38100" dist="38100" dir="2700000" algn="tl">
                    <a:srgbClr val="C0C0C0"/>
                  </a:outerShdw>
                </a:effectLst>
                <a:latin typeface="Verdana" pitchFamily="34" charset="0"/>
              </a:rPr>
              <a:t>PCM)</a:t>
            </a:r>
            <a:r>
              <a:rPr lang="zh-CN" altLang="en-US" sz="2400" dirty="0">
                <a:solidFill>
                  <a:srgbClr val="0000FF"/>
                </a:solidFill>
                <a:effectLst>
                  <a:outerShdw blurRad="38100" dist="38100" dir="2700000" algn="tl">
                    <a:srgbClr val="C0C0C0"/>
                  </a:outerShdw>
                </a:effectLst>
                <a:latin typeface="Verdana" pitchFamily="34" charset="0"/>
              </a:rPr>
              <a:t>，其实现方式与异步通信中帧同步的概念不同。</a:t>
            </a:r>
          </a:p>
          <a:p>
            <a:pPr eaLnBrk="1" hangingPunct="1">
              <a:lnSpc>
                <a:spcPct val="120000"/>
              </a:lnSpc>
              <a:spcBef>
                <a:spcPct val="20000"/>
              </a:spcBef>
              <a:defRPr/>
            </a:pPr>
            <a:r>
              <a:rPr lang="zh-CN" altLang="en-US" sz="2400" dirty="0">
                <a:solidFill>
                  <a:srgbClr val="0000FF"/>
                </a:solidFill>
                <a:effectLst>
                  <a:outerShdw blurRad="38100" dist="38100" dir="2700000" algn="tl">
                    <a:srgbClr val="C0C0C0"/>
                  </a:outerShdw>
                </a:effectLst>
                <a:latin typeface="Verdana" pitchFamily="34" charset="0"/>
              </a:rPr>
              <a:t>    </a:t>
            </a:r>
            <a:r>
              <a:rPr lang="zh-CN" altLang="en-US" sz="2400" dirty="0">
                <a:solidFill>
                  <a:srgbClr val="CC00FF"/>
                </a:solidFill>
                <a:effectLst>
                  <a:outerShdw blurRad="38100" dist="38100" dir="2700000" algn="tl">
                    <a:srgbClr val="C0C0C0"/>
                  </a:outerShdw>
                </a:effectLst>
                <a:latin typeface="Verdana" pitchFamily="34" charset="0"/>
              </a:rPr>
              <a:t>两种通信方式的共同之处在于：使接受方能正确接受发送方发出的数据</a:t>
            </a:r>
            <a:r>
              <a:rPr lang="en-US" altLang="zh-CN" sz="2400" dirty="0">
                <a:solidFill>
                  <a:srgbClr val="CC00FF"/>
                </a:solidFill>
                <a:effectLst>
                  <a:outerShdw blurRad="38100" dist="38100" dir="2700000" algn="tl">
                    <a:srgbClr val="C0C0C0"/>
                  </a:outerShdw>
                </a:effectLst>
                <a:latin typeface="Verdana" pitchFamily="34" charset="0"/>
              </a:rPr>
              <a:t>(</a:t>
            </a:r>
            <a:r>
              <a:rPr lang="zh-CN" altLang="en-US" sz="2400" dirty="0">
                <a:solidFill>
                  <a:srgbClr val="CC00FF"/>
                </a:solidFill>
                <a:effectLst>
                  <a:outerShdw blurRad="38100" dist="38100" dir="2700000" algn="tl">
                    <a:srgbClr val="C0C0C0"/>
                  </a:outerShdw>
                </a:effectLst>
                <a:latin typeface="Verdana" pitchFamily="34" charset="0"/>
              </a:rPr>
              <a:t>以字符或帧为单位进行处理</a:t>
            </a:r>
            <a:r>
              <a:rPr lang="en-US" altLang="zh-CN" sz="2400" dirty="0">
                <a:solidFill>
                  <a:srgbClr val="CC00FF"/>
                </a:solidFill>
                <a:effectLst>
                  <a:outerShdw blurRad="38100" dist="38100" dir="2700000" algn="tl">
                    <a:srgbClr val="C0C0C0"/>
                  </a:outerShdw>
                </a:effectLst>
                <a:latin typeface="Verdana" pitchFamily="34" charset="0"/>
              </a:rPr>
              <a:t>)</a:t>
            </a:r>
            <a:r>
              <a:rPr lang="zh-CN" altLang="en-US" sz="2400" dirty="0">
                <a:solidFill>
                  <a:srgbClr val="CC00FF"/>
                </a:solidFill>
                <a:effectLst>
                  <a:outerShdw blurRad="38100" dist="38100" dir="2700000" algn="tl">
                    <a:srgbClr val="C0C0C0"/>
                  </a:outerShdw>
                </a:effectLst>
                <a:latin typeface="Verdana" pitchFamily="34" charset="0"/>
              </a:rPr>
              <a:t>。</a:t>
            </a:r>
          </a:p>
        </p:txBody>
      </p:sp>
    </p:spTree>
    <p:extLst>
      <p:ext uri="{BB962C8B-B14F-4D97-AF65-F5344CB8AC3E}">
        <p14:creationId xmlns:p14="http://schemas.microsoft.com/office/powerpoint/2010/main" val="2363816517"/>
      </p:ext>
    </p:extLst>
  </p:cSld>
  <p:clrMapOvr>
    <a:masterClrMapping/>
  </p:clrMapOvr>
  <p:transition spd="slow">
    <p:pull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19459"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02D954D-6045-46C4-AB7E-27704986E49E}" type="slidenum">
              <a:rPr lang="en-US" altLang="zh-CN" sz="1200">
                <a:latin typeface="Arial Black" panose="020B0A04020102020204" pitchFamily="34" charset="0"/>
              </a:rPr>
              <a:pPr>
                <a:spcBef>
                  <a:spcPct val="0"/>
                </a:spcBef>
                <a:buClrTx/>
                <a:buSzTx/>
                <a:buFontTx/>
                <a:buNone/>
              </a:pPr>
              <a:t>23</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4CA8B7B3-EE13-4A99-A990-6CB74D851C48}" type="datetime1">
              <a:rPr lang="zh-CN" altLang="en-US"/>
              <a:pPr>
                <a:defRPr/>
              </a:pPr>
              <a:t>2024/9/27</a:t>
            </a:fld>
            <a:endParaRPr lang="en-US" altLang="zh-CN"/>
          </a:p>
        </p:txBody>
      </p:sp>
      <p:sp>
        <p:nvSpPr>
          <p:cNvPr id="835586" name="Rectangle 2"/>
          <p:cNvSpPr>
            <a:spLocks noGrp="1" noChangeArrowheads="1"/>
          </p:cNvSpPr>
          <p:nvPr>
            <p:ph type="title"/>
          </p:nvPr>
        </p:nvSpPr>
        <p:spPr>
          <a:xfrm>
            <a:off x="2209800" y="609600"/>
            <a:ext cx="7772400" cy="647700"/>
          </a:xfrm>
        </p:spPr>
        <p:txBody>
          <a:bodyPr/>
          <a:lstStyle/>
          <a:p>
            <a:pPr eaLnBrk="1" hangingPunct="1">
              <a:defRPr/>
            </a:pPr>
            <a:r>
              <a:rPr lang="zh-CN" altLang="en-US" sz="3200" b="1">
                <a:solidFill>
                  <a:srgbClr val="0000FF"/>
                </a:solidFill>
                <a:latin typeface="楷体_GB2312" pitchFamily="49" charset="-122"/>
              </a:rPr>
              <a:t>二、信道最大传输率</a:t>
            </a:r>
          </a:p>
        </p:txBody>
      </p:sp>
      <p:sp>
        <p:nvSpPr>
          <p:cNvPr id="835587" name="Rectangle 3"/>
          <p:cNvSpPr>
            <a:spLocks noGrp="1" noChangeArrowheads="1"/>
          </p:cNvSpPr>
          <p:nvPr>
            <p:ph type="body" idx="1"/>
          </p:nvPr>
        </p:nvSpPr>
        <p:spPr>
          <a:xfrm>
            <a:off x="1633928" y="1413024"/>
            <a:ext cx="9278911" cy="5040312"/>
          </a:xfrm>
        </p:spPr>
        <p:txBody>
          <a:bodyPr/>
          <a:lstStyle/>
          <a:p>
            <a:pPr marL="0" indent="0">
              <a:lnSpc>
                <a:spcPct val="120000"/>
              </a:lnSpc>
              <a:spcBef>
                <a:spcPts val="1200"/>
              </a:spcBef>
              <a:buNone/>
              <a:defRPr/>
            </a:pPr>
            <a:r>
              <a:rPr lang="en-US" altLang="zh-CN" u="sng" dirty="0">
                <a:solidFill>
                  <a:srgbClr val="0000FF"/>
                </a:solidFill>
                <a:latin typeface="Verdana" pitchFamily="34" charset="0"/>
                <a:ea typeface="楷体_GB2312" pitchFamily="49" charset="-122"/>
              </a:rPr>
              <a:t>1</a:t>
            </a:r>
            <a:r>
              <a:rPr lang="zh-CN" altLang="en-US" u="sng" dirty="0">
                <a:solidFill>
                  <a:srgbClr val="0000FF"/>
                </a:solidFill>
                <a:latin typeface="Verdana" pitchFamily="34" charset="0"/>
                <a:ea typeface="楷体_GB2312" pitchFamily="49" charset="-122"/>
              </a:rPr>
              <a:t>、</a:t>
            </a:r>
            <a:r>
              <a:rPr lang="zh-CN" altLang="en-US" b="1" u="sng" dirty="0">
                <a:solidFill>
                  <a:srgbClr val="0000FF"/>
                </a:solidFill>
                <a:latin typeface="Verdana" pitchFamily="34" charset="0"/>
                <a:ea typeface="楷体_GB2312" pitchFamily="49" charset="-122"/>
              </a:rPr>
              <a:t>奈奎斯特定理</a:t>
            </a:r>
          </a:p>
          <a:p>
            <a:pPr marL="0" indent="0">
              <a:lnSpc>
                <a:spcPct val="120000"/>
              </a:lnSpc>
              <a:spcBef>
                <a:spcPct val="15000"/>
              </a:spcBef>
              <a:buNone/>
              <a:defRPr/>
            </a:pPr>
            <a:r>
              <a:rPr lang="zh-CN" altLang="en-US" sz="2400" b="1" dirty="0">
                <a:solidFill>
                  <a:schemeClr val="tx2"/>
                </a:solidFill>
                <a:latin typeface="Verdana" pitchFamily="34" charset="0"/>
                <a:ea typeface="楷体_GB2312" pitchFamily="49" charset="-122"/>
              </a:rPr>
              <a:t>  </a:t>
            </a:r>
            <a:r>
              <a:rPr lang="zh-CN" altLang="en-US" sz="2400" b="1" dirty="0">
                <a:solidFill>
                  <a:srgbClr val="FF3300"/>
                </a:solidFill>
                <a:effectLst>
                  <a:outerShdw blurRad="38100" dist="38100" dir="2700000" algn="tl">
                    <a:srgbClr val="C0C0C0"/>
                  </a:outerShdw>
                </a:effectLst>
                <a:latin typeface="Verdana" pitchFamily="34" charset="0"/>
                <a:ea typeface="楷体_GB2312" pitchFamily="49" charset="-122"/>
              </a:rPr>
              <a:t>采样定理</a:t>
            </a:r>
          </a:p>
          <a:p>
            <a:pPr marL="0" indent="0">
              <a:lnSpc>
                <a:spcPct val="120000"/>
              </a:lnSpc>
              <a:spcBef>
                <a:spcPct val="15000"/>
              </a:spcBef>
              <a:buNone/>
              <a:defRPr/>
            </a:pPr>
            <a:r>
              <a:rPr lang="zh-CN" altLang="en-US" sz="2000" dirty="0">
                <a:latin typeface="Verdana" pitchFamily="34" charset="0"/>
                <a:ea typeface="楷体_GB2312" pitchFamily="49" charset="-122"/>
              </a:rPr>
              <a:t>       </a:t>
            </a:r>
            <a:r>
              <a:rPr lang="zh-CN" altLang="en-US" sz="2400" dirty="0">
                <a:latin typeface="Verdana" pitchFamily="34" charset="0"/>
                <a:ea typeface="楷体_GB2312" pitchFamily="49" charset="-122"/>
              </a:rPr>
              <a:t>模拟信号经</a:t>
            </a:r>
            <a:r>
              <a:rPr lang="en-US" altLang="zh-CN" sz="2400" dirty="0">
                <a:latin typeface="Verdana" pitchFamily="34" charset="0"/>
                <a:ea typeface="楷体_GB2312" pitchFamily="49" charset="-122"/>
              </a:rPr>
              <a:t>F</a:t>
            </a:r>
            <a:r>
              <a:rPr lang="zh-CN" altLang="en-US" sz="2400" dirty="0">
                <a:latin typeface="Verdana" pitchFamily="34" charset="0"/>
                <a:ea typeface="楷体_GB2312" pitchFamily="49" charset="-122"/>
              </a:rPr>
              <a:t>频率采样成为离散信号，能够通过数字信道传送无失真恢复，则要求</a:t>
            </a:r>
            <a:r>
              <a:rPr lang="en-US" altLang="zh-CN" sz="2400" dirty="0">
                <a:latin typeface="Verdana" pitchFamily="34" charset="0"/>
                <a:ea typeface="楷体_GB2312" pitchFamily="49" charset="-122"/>
              </a:rPr>
              <a:t>F≥2f</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f</a:t>
            </a:r>
            <a:r>
              <a:rPr lang="zh-CN" altLang="en-US" sz="2400" dirty="0">
                <a:latin typeface="Verdana" pitchFamily="34" charset="0"/>
                <a:ea typeface="楷体_GB2312" pitchFamily="49" charset="-122"/>
              </a:rPr>
              <a:t>是模拟信号的最高频率。</a:t>
            </a:r>
          </a:p>
          <a:p>
            <a:pPr marL="0" indent="0">
              <a:lnSpc>
                <a:spcPct val="120000"/>
              </a:lnSpc>
              <a:spcBef>
                <a:spcPct val="15000"/>
              </a:spcBef>
              <a:buNone/>
              <a:defRPr/>
            </a:pPr>
            <a:r>
              <a:rPr lang="zh-CN" altLang="en-US" sz="2400" b="1" dirty="0">
                <a:solidFill>
                  <a:srgbClr val="0000FF"/>
                </a:solidFill>
                <a:latin typeface="Verdana" pitchFamily="34" charset="0"/>
                <a:ea typeface="楷体_GB2312" pitchFamily="49" charset="-122"/>
              </a:rPr>
              <a:t>      奈氏公式</a:t>
            </a:r>
            <a:r>
              <a:rPr lang="en-US" altLang="zh-CN" sz="2400" dirty="0">
                <a:solidFill>
                  <a:srgbClr val="0000FF"/>
                </a:solidFill>
                <a:latin typeface="Verdana" pitchFamily="34" charset="0"/>
                <a:ea typeface="楷体_GB2312" pitchFamily="49" charset="-122"/>
              </a:rPr>
              <a:t>(</a:t>
            </a:r>
            <a:r>
              <a:rPr lang="zh-CN" altLang="en-US" sz="2400" dirty="0">
                <a:solidFill>
                  <a:srgbClr val="FF3300"/>
                </a:solidFill>
                <a:latin typeface="Verdana" pitchFamily="34" charset="0"/>
                <a:ea typeface="楷体_GB2312" pitchFamily="49" charset="-122"/>
              </a:rPr>
              <a:t>理想信道</a:t>
            </a:r>
            <a:r>
              <a:rPr lang="en-US" altLang="zh-CN" sz="2400" dirty="0">
                <a:solidFill>
                  <a:srgbClr val="0000FF"/>
                </a:solidFill>
                <a:latin typeface="Verdana" pitchFamily="34" charset="0"/>
                <a:ea typeface="楷体_GB2312" pitchFamily="49" charset="-122"/>
              </a:rPr>
              <a:t>)</a:t>
            </a:r>
            <a:r>
              <a:rPr lang="zh-CN" altLang="en-US" sz="2400" b="1" dirty="0">
                <a:solidFill>
                  <a:srgbClr val="0000FF"/>
                </a:solidFill>
                <a:latin typeface="Verdana" pitchFamily="34" charset="0"/>
                <a:ea typeface="楷体_GB2312" pitchFamily="49" charset="-122"/>
              </a:rPr>
              <a:t>：</a:t>
            </a:r>
            <a:r>
              <a:rPr lang="zh-CN" altLang="en-US" sz="2400" b="1" dirty="0">
                <a:effectLst>
                  <a:outerShdw blurRad="38100" dist="38100" dir="2700000" algn="tl">
                    <a:srgbClr val="C0C0C0"/>
                  </a:outerShdw>
                </a:effectLst>
                <a:latin typeface="Verdana" pitchFamily="34" charset="0"/>
                <a:ea typeface="楷体_GB2312" pitchFamily="49" charset="-122"/>
              </a:rPr>
              <a:t> </a:t>
            </a:r>
            <a:r>
              <a:rPr lang="en-US" altLang="zh-CN" sz="2400" dirty="0">
                <a:solidFill>
                  <a:schemeClr val="hlink"/>
                </a:solidFill>
                <a:effectLst>
                  <a:outerShdw blurRad="38100" dist="38100" dir="2700000" algn="tl">
                    <a:srgbClr val="C0C0C0"/>
                  </a:outerShdw>
                </a:effectLst>
                <a:latin typeface="Verdana" pitchFamily="34" charset="0"/>
                <a:ea typeface="楷体_GB2312" pitchFamily="49" charset="-122"/>
              </a:rPr>
              <a:t>C = 2Hlog</a:t>
            </a:r>
            <a:r>
              <a:rPr lang="en-US" altLang="zh-CN" sz="2400" baseline="-25000" dirty="0">
                <a:solidFill>
                  <a:schemeClr val="hlink"/>
                </a:solidFill>
                <a:effectLst>
                  <a:outerShdw blurRad="38100" dist="38100" dir="2700000" algn="tl">
                    <a:srgbClr val="C0C0C0"/>
                  </a:outerShdw>
                </a:effectLst>
                <a:latin typeface="Verdana" pitchFamily="34" charset="0"/>
                <a:ea typeface="楷体_GB2312" pitchFamily="49" charset="-122"/>
              </a:rPr>
              <a:t>2</a:t>
            </a:r>
            <a:r>
              <a:rPr lang="en-US" altLang="zh-CN" sz="2400" dirty="0">
                <a:solidFill>
                  <a:schemeClr val="hlink"/>
                </a:solidFill>
                <a:effectLst>
                  <a:outerShdw blurRad="38100" dist="38100" dir="2700000" algn="tl">
                    <a:srgbClr val="C0C0C0"/>
                  </a:outerShdw>
                </a:effectLst>
                <a:latin typeface="Verdana" pitchFamily="34" charset="0"/>
                <a:ea typeface="楷体_GB2312" pitchFamily="49" charset="-122"/>
              </a:rPr>
              <a:t>L</a:t>
            </a:r>
          </a:p>
          <a:p>
            <a:pPr marL="0" indent="0">
              <a:lnSpc>
                <a:spcPct val="120000"/>
              </a:lnSpc>
              <a:spcBef>
                <a:spcPct val="15000"/>
              </a:spcBef>
              <a:buNone/>
              <a:defRPr/>
            </a:pPr>
            <a:r>
              <a:rPr lang="en-US" altLang="zh-CN" sz="2400" dirty="0">
                <a:latin typeface="Verdana" pitchFamily="34" charset="0"/>
                <a:ea typeface="楷体_GB2312" pitchFamily="49" charset="-122"/>
              </a:rPr>
              <a:t>	H</a:t>
            </a:r>
            <a:r>
              <a:rPr lang="zh-CN" altLang="en-US" sz="2400" dirty="0">
                <a:latin typeface="Verdana" pitchFamily="34" charset="0"/>
                <a:ea typeface="楷体_GB2312" pitchFamily="49" charset="-122"/>
              </a:rPr>
              <a:t>：低通信道的带宽</a:t>
            </a:r>
            <a:r>
              <a:rPr lang="en-US" altLang="zh-CN" sz="2400" dirty="0">
                <a:latin typeface="Verdana" pitchFamily="34" charset="0"/>
                <a:ea typeface="楷体_GB2312" pitchFamily="49" charset="-122"/>
              </a:rPr>
              <a:t>(Hz)</a:t>
            </a:r>
          </a:p>
          <a:p>
            <a:pPr marL="0" indent="0">
              <a:lnSpc>
                <a:spcPct val="120000"/>
              </a:lnSpc>
              <a:spcBef>
                <a:spcPct val="15000"/>
              </a:spcBef>
              <a:buNone/>
              <a:defRPr/>
            </a:pPr>
            <a:r>
              <a:rPr lang="en-US" altLang="zh-CN" sz="2400" dirty="0">
                <a:latin typeface="Verdana" pitchFamily="34" charset="0"/>
                <a:ea typeface="楷体_GB2312" pitchFamily="49" charset="-122"/>
              </a:rPr>
              <a:t>	L</a:t>
            </a:r>
            <a:r>
              <a:rPr lang="zh-CN" altLang="en-US" sz="2400" dirty="0">
                <a:latin typeface="Verdana" pitchFamily="34" charset="0"/>
                <a:ea typeface="楷体_GB2312" pitchFamily="49" charset="-122"/>
              </a:rPr>
              <a:t>：某给定时刻数字信号可能取的</a:t>
            </a:r>
            <a:r>
              <a:rPr lang="zh-CN" altLang="en-US" sz="2400" dirty="0">
                <a:solidFill>
                  <a:schemeClr val="hlink"/>
                </a:solidFill>
                <a:latin typeface="Verdana" pitchFamily="34" charset="0"/>
                <a:ea typeface="楷体_GB2312" pitchFamily="49" charset="-122"/>
              </a:rPr>
              <a:t>离散值个数</a:t>
            </a:r>
            <a:r>
              <a:rPr lang="en-US" altLang="zh-CN" sz="2400" dirty="0">
                <a:solidFill>
                  <a:schemeClr val="hlink"/>
                </a:solidFill>
                <a:latin typeface="Verdana" pitchFamily="34" charset="0"/>
                <a:ea typeface="楷体_GB2312" pitchFamily="49" charset="-122"/>
              </a:rPr>
              <a:t>(</a:t>
            </a:r>
            <a:r>
              <a:rPr lang="zh-CN" altLang="en-US" sz="2400" dirty="0">
                <a:solidFill>
                  <a:schemeClr val="hlink"/>
                </a:solidFill>
                <a:latin typeface="Verdana" pitchFamily="34" charset="0"/>
                <a:ea typeface="楷体_GB2312" pitchFamily="49" charset="-122"/>
              </a:rPr>
              <a:t>码元波形状态</a:t>
            </a:r>
            <a:r>
              <a:rPr lang="en-US" altLang="zh-CN" sz="2400" dirty="0">
                <a:solidFill>
                  <a:schemeClr val="hlink"/>
                </a:solidFill>
                <a:latin typeface="Verdana" pitchFamily="34" charset="0"/>
                <a:ea typeface="楷体_GB2312" pitchFamily="49" charset="-122"/>
              </a:rPr>
              <a:t>)</a:t>
            </a:r>
          </a:p>
          <a:p>
            <a:pPr marL="0" indent="0">
              <a:lnSpc>
                <a:spcPct val="120000"/>
              </a:lnSpc>
              <a:spcBef>
                <a:spcPct val="15000"/>
              </a:spcBef>
              <a:buNone/>
              <a:defRPr/>
            </a:pPr>
            <a:r>
              <a:rPr lang="en-US" altLang="zh-CN" sz="2400" dirty="0">
                <a:latin typeface="Verdana" pitchFamily="34" charset="0"/>
                <a:ea typeface="楷体_GB2312" pitchFamily="49" charset="-122"/>
              </a:rPr>
              <a:t>	C</a:t>
            </a:r>
            <a:r>
              <a:rPr lang="zh-CN" altLang="en-US" sz="2400" dirty="0">
                <a:latin typeface="Verdana" pitchFamily="34" charset="0"/>
                <a:ea typeface="楷体_GB2312" pitchFamily="49" charset="-122"/>
              </a:rPr>
              <a:t>：该信道的最大数据传输率信息传输速率</a:t>
            </a:r>
            <a:r>
              <a:rPr lang="en-US" altLang="zh-CN" sz="2400" dirty="0">
                <a:latin typeface="Verdana" pitchFamily="34" charset="0"/>
                <a:ea typeface="楷体_GB2312" pitchFamily="49" charset="-122"/>
              </a:rPr>
              <a:t>(b/s)</a:t>
            </a:r>
            <a:r>
              <a:rPr lang="en-US" altLang="zh-CN" sz="2400" dirty="0"/>
              <a:t> </a:t>
            </a:r>
          </a:p>
        </p:txBody>
      </p:sp>
      <p:pic>
        <p:nvPicPr>
          <p:cNvPr id="2" name="图片 1"/>
          <p:cNvPicPr>
            <a:picLocks noChangeAspect="1"/>
          </p:cNvPicPr>
          <p:nvPr/>
        </p:nvPicPr>
        <p:blipFill>
          <a:blip r:embed="rId2"/>
          <a:stretch>
            <a:fillRect/>
          </a:stretch>
        </p:blipFill>
        <p:spPr>
          <a:xfrm>
            <a:off x="7543801" y="476673"/>
            <a:ext cx="1862359" cy="1955801"/>
          </a:xfrm>
          <a:prstGeom prst="rect">
            <a:avLst/>
          </a:prstGeom>
        </p:spPr>
      </p:pic>
    </p:spTree>
    <p:extLst>
      <p:ext uri="{BB962C8B-B14F-4D97-AF65-F5344CB8AC3E}">
        <p14:creationId xmlns:p14="http://schemas.microsoft.com/office/powerpoint/2010/main" val="3443691361"/>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20483"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213DE2A-173B-48B3-B972-8FF37DA3B1AA}" type="slidenum">
              <a:rPr lang="en-US" altLang="zh-CN" sz="1200">
                <a:latin typeface="Arial Black" panose="020B0A04020102020204" pitchFamily="34" charset="0"/>
              </a:rPr>
              <a:pPr>
                <a:spcBef>
                  <a:spcPct val="0"/>
                </a:spcBef>
                <a:buClrTx/>
                <a:buSzTx/>
                <a:buFontTx/>
                <a:buNone/>
              </a:pPr>
              <a:t>24</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E1405730-2A07-47B0-8EA3-08A276460AB5}" type="datetime1">
              <a:rPr lang="zh-CN" altLang="en-US"/>
              <a:pPr>
                <a:defRPr/>
              </a:pPr>
              <a:t>2024/9/27</a:t>
            </a:fld>
            <a:endParaRPr lang="en-US" altLang="zh-CN"/>
          </a:p>
        </p:txBody>
      </p:sp>
      <p:sp>
        <p:nvSpPr>
          <p:cNvPr id="836610" name="Rectangle 2"/>
          <p:cNvSpPr>
            <a:spLocks noGrp="1" noChangeArrowheads="1"/>
          </p:cNvSpPr>
          <p:nvPr>
            <p:ph type="body" idx="4294967295"/>
          </p:nvPr>
        </p:nvSpPr>
        <p:spPr>
          <a:xfrm>
            <a:off x="2286000" y="1066801"/>
            <a:ext cx="7677150" cy="4233863"/>
          </a:xfrm>
        </p:spPr>
        <p:txBody>
          <a:bodyPr>
            <a:normAutofit fontScale="92500" lnSpcReduction="10000"/>
          </a:bodyPr>
          <a:lstStyle/>
          <a:p>
            <a:pPr marL="0" indent="476250">
              <a:lnSpc>
                <a:spcPct val="120000"/>
              </a:lnSpc>
              <a:buNone/>
              <a:defRPr/>
            </a:pPr>
            <a:r>
              <a:rPr lang="zh-CN" altLang="en-US" sz="2400" dirty="0">
                <a:latin typeface="Verdana" pitchFamily="34" charset="0"/>
                <a:ea typeface="楷体_GB2312" pitchFamily="49" charset="-122"/>
              </a:rPr>
              <a:t>奈氏准则是在理想条件下推导出的。在实际条件下，最高码元传输速率要比理想条件下得出的数值还要小些。电信技术人员的任务就是要在实际条件下，寻找出较好的</a:t>
            </a:r>
            <a:r>
              <a:rPr lang="zh-CN" altLang="en-US" sz="2400" dirty="0">
                <a:solidFill>
                  <a:schemeClr val="hlink"/>
                </a:solidFill>
                <a:effectLst>
                  <a:outerShdw blurRad="38100" dist="38100" dir="2700000" algn="tl">
                    <a:srgbClr val="C0C0C0"/>
                  </a:outerShdw>
                </a:effectLst>
                <a:latin typeface="Verdana" pitchFamily="34" charset="0"/>
                <a:ea typeface="楷体_GB2312" pitchFamily="49" charset="-122"/>
              </a:rPr>
              <a:t>传输码元</a:t>
            </a:r>
            <a:r>
              <a:rPr lang="zh-CN" altLang="en-US" sz="2400" dirty="0">
                <a:latin typeface="Verdana" pitchFamily="34" charset="0"/>
                <a:ea typeface="楷体_GB2312" pitchFamily="49" charset="-122"/>
              </a:rPr>
              <a:t>波形，将比特转换为较为合适的传输信号。</a:t>
            </a:r>
            <a:endParaRPr lang="zh-CN" altLang="en-US" sz="2400" dirty="0">
              <a:solidFill>
                <a:srgbClr val="0000FF"/>
              </a:solidFill>
              <a:latin typeface="Verdana" pitchFamily="34" charset="0"/>
              <a:ea typeface="楷体_GB2312" pitchFamily="49" charset="-122"/>
            </a:endParaRPr>
          </a:p>
          <a:p>
            <a:pPr marL="0" indent="476250">
              <a:lnSpc>
                <a:spcPct val="120000"/>
              </a:lnSpc>
              <a:buNone/>
              <a:defRPr/>
            </a:pPr>
            <a:r>
              <a:rPr lang="zh-CN" altLang="en-US" sz="2400" dirty="0">
                <a:solidFill>
                  <a:srgbClr val="0000FF"/>
                </a:solidFill>
                <a:latin typeface="Verdana" pitchFamily="34" charset="0"/>
                <a:ea typeface="楷体_GB2312" pitchFamily="49" charset="-122"/>
              </a:rPr>
              <a:t>奈氏准则并没有对</a:t>
            </a:r>
            <a:r>
              <a:rPr lang="zh-CN" altLang="en-US" sz="2400" dirty="0">
                <a:solidFill>
                  <a:schemeClr val="hlink"/>
                </a:solidFill>
                <a:latin typeface="Verdana" pitchFamily="34" charset="0"/>
                <a:ea typeface="楷体_GB2312" pitchFamily="49" charset="-122"/>
              </a:rPr>
              <a:t>信息传输速率</a:t>
            </a:r>
            <a:r>
              <a:rPr lang="en-US" altLang="zh-CN" sz="2400" dirty="0">
                <a:solidFill>
                  <a:schemeClr val="hlink"/>
                </a:solidFill>
                <a:latin typeface="Verdana" pitchFamily="34" charset="0"/>
                <a:ea typeface="楷体_GB2312" pitchFamily="49" charset="-122"/>
              </a:rPr>
              <a:t>(bps)</a:t>
            </a:r>
            <a:r>
              <a:rPr lang="zh-CN" altLang="en-US" sz="2400" dirty="0">
                <a:solidFill>
                  <a:srgbClr val="0000FF"/>
                </a:solidFill>
                <a:latin typeface="Verdana" pitchFamily="34" charset="0"/>
                <a:ea typeface="楷体_GB2312" pitchFamily="49" charset="-122"/>
              </a:rPr>
              <a:t>给出限制。要提高信息传输速率就必须使每一个传输的码元能够代表多个比特的信息，这就需要有很好的</a:t>
            </a:r>
            <a:r>
              <a:rPr lang="zh-CN" altLang="en-US" sz="2400" b="1" dirty="0">
                <a:solidFill>
                  <a:srgbClr val="FF0000"/>
                </a:solidFill>
                <a:latin typeface="Verdana" pitchFamily="34" charset="0"/>
                <a:ea typeface="楷体_GB2312" pitchFamily="49" charset="-122"/>
              </a:rPr>
              <a:t>编码技术</a:t>
            </a:r>
            <a:r>
              <a:rPr lang="zh-CN" altLang="en-US" sz="2400" dirty="0">
                <a:solidFill>
                  <a:srgbClr val="0000FF"/>
                </a:solidFill>
                <a:latin typeface="Verdana" pitchFamily="34" charset="0"/>
                <a:ea typeface="楷体_GB2312" pitchFamily="49" charset="-122"/>
              </a:rPr>
              <a:t>。</a:t>
            </a:r>
            <a:endParaRPr lang="en-US" altLang="zh-CN" sz="2400" dirty="0">
              <a:solidFill>
                <a:srgbClr val="0000FF"/>
              </a:solidFill>
              <a:latin typeface="Verdana" pitchFamily="34" charset="0"/>
              <a:ea typeface="楷体_GB2312" pitchFamily="49" charset="-122"/>
            </a:endParaRPr>
          </a:p>
          <a:p>
            <a:pPr marL="0" indent="476250">
              <a:lnSpc>
                <a:spcPct val="120000"/>
              </a:lnSpc>
              <a:buNone/>
              <a:defRPr/>
            </a:pPr>
            <a:endParaRPr lang="en-US" altLang="zh-CN" sz="2400" dirty="0">
              <a:solidFill>
                <a:srgbClr val="0000FF"/>
              </a:solidFill>
              <a:latin typeface="Verdana" pitchFamily="34" charset="0"/>
              <a:ea typeface="楷体_GB2312" pitchFamily="49" charset="-122"/>
            </a:endParaRPr>
          </a:p>
          <a:p>
            <a:pPr marL="0" indent="476250">
              <a:lnSpc>
                <a:spcPct val="120000"/>
              </a:lnSpc>
              <a:buNone/>
              <a:defRPr/>
            </a:pPr>
            <a:endParaRPr lang="en-US" altLang="zh-CN" sz="2400" dirty="0">
              <a:solidFill>
                <a:srgbClr val="0000FF"/>
              </a:solidFill>
              <a:latin typeface="Verdana" pitchFamily="34" charset="0"/>
              <a:ea typeface="楷体_GB2312" pitchFamily="49" charset="-122"/>
            </a:endParaRPr>
          </a:p>
          <a:p>
            <a:pPr marL="0" indent="476250">
              <a:lnSpc>
                <a:spcPct val="120000"/>
              </a:lnSpc>
              <a:buNone/>
              <a:defRPr/>
            </a:pPr>
            <a:r>
              <a:rPr lang="zh-CN" altLang="en-US" sz="2400" dirty="0">
                <a:solidFill>
                  <a:srgbClr val="0000FF"/>
                </a:solidFill>
                <a:latin typeface="Verdana" pitchFamily="34" charset="0"/>
                <a:ea typeface="楷体_GB2312" pitchFamily="49" charset="-122"/>
              </a:rPr>
              <a:t>     信源编码 </a:t>
            </a:r>
            <a:r>
              <a:rPr lang="en-US" altLang="zh-CN" sz="2400" dirty="0">
                <a:solidFill>
                  <a:srgbClr val="0000FF"/>
                </a:solidFill>
                <a:latin typeface="Verdana" pitchFamily="34" charset="0"/>
                <a:ea typeface="楷体_GB2312" pitchFamily="49" charset="-122"/>
              </a:rPr>
              <a:t>vs </a:t>
            </a:r>
            <a:r>
              <a:rPr lang="zh-CN" altLang="en-US" sz="2400" dirty="0">
                <a:solidFill>
                  <a:srgbClr val="0000FF"/>
                </a:solidFill>
                <a:latin typeface="Verdana" pitchFamily="34" charset="0"/>
                <a:ea typeface="楷体_GB2312" pitchFamily="49" charset="-122"/>
              </a:rPr>
              <a:t>信道编码 </a:t>
            </a:r>
          </a:p>
          <a:p>
            <a:pPr marL="0" indent="476250">
              <a:lnSpc>
                <a:spcPct val="120000"/>
              </a:lnSpc>
              <a:buNone/>
              <a:defRPr/>
            </a:pPr>
            <a:endParaRPr lang="en-US" altLang="zh-CN" sz="2400" dirty="0">
              <a:solidFill>
                <a:srgbClr val="0000FF"/>
              </a:solidFill>
              <a:latin typeface="Verdana" pitchFamily="34" charset="0"/>
              <a:ea typeface="楷体_GB2312" pitchFamily="49" charset="-122"/>
            </a:endParaRPr>
          </a:p>
        </p:txBody>
      </p:sp>
    </p:spTree>
    <p:extLst>
      <p:ext uri="{BB962C8B-B14F-4D97-AF65-F5344CB8AC3E}">
        <p14:creationId xmlns:p14="http://schemas.microsoft.com/office/powerpoint/2010/main" val="3282592800"/>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21507"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B6360E5-C6E0-46C0-A161-648663DEFE78}" type="slidenum">
              <a:rPr lang="en-US" altLang="zh-CN" sz="1200">
                <a:latin typeface="Arial Black" panose="020B0A04020102020204" pitchFamily="34" charset="0"/>
              </a:rPr>
              <a:pPr>
                <a:spcBef>
                  <a:spcPct val="0"/>
                </a:spcBef>
                <a:buClrTx/>
                <a:buSzTx/>
                <a:buFontTx/>
                <a:buNone/>
              </a:pPr>
              <a:t>25</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65A195D5-78BB-4C19-9DCA-C4019FDA1E2A}" type="datetime1">
              <a:rPr lang="zh-CN" altLang="en-US"/>
              <a:pPr>
                <a:defRPr/>
              </a:pPr>
              <a:t>2024/9/27</a:t>
            </a:fld>
            <a:endParaRPr lang="en-US" altLang="zh-CN"/>
          </a:p>
        </p:txBody>
      </p:sp>
      <p:sp>
        <p:nvSpPr>
          <p:cNvPr id="882692" name="Rectangle 4"/>
          <p:cNvSpPr>
            <a:spLocks noChangeArrowheads="1"/>
          </p:cNvSpPr>
          <p:nvPr/>
        </p:nvSpPr>
        <p:spPr bwMode="auto">
          <a:xfrm>
            <a:off x="2640014" y="1341439"/>
            <a:ext cx="7056437" cy="855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lnSpc>
                <a:spcPct val="120000"/>
              </a:lnSpc>
              <a:spcBef>
                <a:spcPct val="50000"/>
              </a:spcBef>
              <a:defRPr/>
            </a:pPr>
            <a:r>
              <a:rPr lang="en-US" altLang="zh-CN" sz="2400" dirty="0">
                <a:solidFill>
                  <a:srgbClr val="FF0000"/>
                </a:solidFill>
                <a:effectLst>
                  <a:outerShdw blurRad="38100" dist="38100" dir="2700000" algn="tl">
                    <a:srgbClr val="000000">
                      <a:alpha val="43137"/>
                    </a:srgbClr>
                  </a:outerShdw>
                </a:effectLst>
                <a:latin typeface="Arial" charset="0"/>
              </a:rPr>
              <a:t>    </a:t>
            </a:r>
            <a:r>
              <a:rPr lang="zh-CN" altLang="en-US" sz="2400" dirty="0">
                <a:solidFill>
                  <a:srgbClr val="FF0000"/>
                </a:solidFill>
                <a:effectLst>
                  <a:outerShdw blurRad="38100" dist="38100" dir="2700000" algn="tl">
                    <a:srgbClr val="000000">
                      <a:alpha val="43137"/>
                    </a:srgbClr>
                  </a:outerShdw>
                </a:effectLst>
                <a:latin typeface="Arial" charset="0"/>
              </a:rPr>
              <a:t>例：</a:t>
            </a:r>
            <a:r>
              <a:rPr lang="zh-CN" altLang="en-US" sz="2400" dirty="0">
                <a:latin typeface="Arial" charset="0"/>
              </a:rPr>
              <a:t>若某低通信道带宽为</a:t>
            </a:r>
            <a:r>
              <a:rPr lang="en-US" altLang="zh-CN" sz="2400" dirty="0">
                <a:latin typeface="Arial" charset="0"/>
              </a:rPr>
              <a:t>4KHz</a:t>
            </a:r>
            <a:r>
              <a:rPr lang="zh-CN" altLang="en-US" sz="2400" dirty="0">
                <a:latin typeface="Arial" charset="0"/>
              </a:rPr>
              <a:t>，任何时刻数字信号可取</a:t>
            </a:r>
            <a:r>
              <a:rPr lang="en-US" altLang="zh-CN" sz="2400" dirty="0">
                <a:latin typeface="Arial" charset="0"/>
              </a:rPr>
              <a:t>0</a:t>
            </a:r>
            <a:r>
              <a:rPr lang="zh-CN" altLang="en-US" sz="2400" dirty="0">
                <a:latin typeface="Arial" charset="0"/>
              </a:rPr>
              <a:t>，</a:t>
            </a:r>
            <a:r>
              <a:rPr lang="en-US" altLang="zh-CN" sz="2400" dirty="0">
                <a:latin typeface="Arial" charset="0"/>
              </a:rPr>
              <a:t>1</a:t>
            </a:r>
            <a:r>
              <a:rPr lang="zh-CN" altLang="en-US" sz="2400" dirty="0">
                <a:latin typeface="Arial" charset="0"/>
              </a:rPr>
              <a:t>，</a:t>
            </a:r>
            <a:r>
              <a:rPr lang="en-US" altLang="zh-CN" sz="2400" dirty="0">
                <a:latin typeface="Arial" charset="0"/>
              </a:rPr>
              <a:t>2</a:t>
            </a:r>
            <a:r>
              <a:rPr lang="zh-CN" altLang="en-US" sz="2400" dirty="0">
                <a:latin typeface="Arial" charset="0"/>
              </a:rPr>
              <a:t>和</a:t>
            </a:r>
            <a:r>
              <a:rPr lang="en-US" altLang="zh-CN" sz="2400" dirty="0">
                <a:latin typeface="Arial" charset="0"/>
              </a:rPr>
              <a:t>3</a:t>
            </a:r>
            <a:r>
              <a:rPr lang="zh-CN" altLang="en-US" sz="2400" dirty="0">
                <a:latin typeface="Arial" charset="0"/>
              </a:rPr>
              <a:t>四种电平值之一，求最大传输率。</a:t>
            </a:r>
          </a:p>
        </p:txBody>
      </p:sp>
    </p:spTree>
    <p:extLst>
      <p:ext uri="{BB962C8B-B14F-4D97-AF65-F5344CB8AC3E}">
        <p14:creationId xmlns:p14="http://schemas.microsoft.com/office/powerpoint/2010/main" val="2075324614"/>
      </p:ext>
    </p:extLst>
  </p:cSld>
  <p:clrMapOvr>
    <a:masterClrMapping/>
  </p:clrMapOvr>
  <p:transition spd="slow">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21507"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B6360E5-C6E0-46C0-A161-648663DEFE78}" type="slidenum">
              <a:rPr lang="en-US" altLang="zh-CN" sz="1200">
                <a:latin typeface="Arial Black" panose="020B0A04020102020204" pitchFamily="34" charset="0"/>
              </a:rPr>
              <a:pPr>
                <a:spcBef>
                  <a:spcPct val="0"/>
                </a:spcBef>
                <a:buClrTx/>
                <a:buSzTx/>
                <a:buFontTx/>
                <a:buNone/>
              </a:pPr>
              <a:t>26</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65A195D5-78BB-4C19-9DCA-C4019FDA1E2A}" type="datetime1">
              <a:rPr lang="zh-CN" altLang="en-US"/>
              <a:pPr>
                <a:defRPr/>
              </a:pPr>
              <a:t>2024/9/27</a:t>
            </a:fld>
            <a:endParaRPr lang="en-US" altLang="zh-CN"/>
          </a:p>
        </p:txBody>
      </p:sp>
      <p:sp>
        <p:nvSpPr>
          <p:cNvPr id="882692" name="Rectangle 4"/>
          <p:cNvSpPr>
            <a:spLocks noChangeArrowheads="1"/>
          </p:cNvSpPr>
          <p:nvPr/>
        </p:nvSpPr>
        <p:spPr bwMode="auto">
          <a:xfrm>
            <a:off x="2640014" y="1341439"/>
            <a:ext cx="7056437" cy="273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lnSpc>
                <a:spcPct val="120000"/>
              </a:lnSpc>
              <a:spcBef>
                <a:spcPct val="50000"/>
              </a:spcBef>
              <a:defRPr/>
            </a:pPr>
            <a:r>
              <a:rPr lang="en-US" altLang="zh-CN" sz="2400" dirty="0">
                <a:solidFill>
                  <a:srgbClr val="FF0000"/>
                </a:solidFill>
                <a:effectLst>
                  <a:outerShdw blurRad="38100" dist="38100" dir="2700000" algn="tl">
                    <a:srgbClr val="000000">
                      <a:alpha val="43137"/>
                    </a:srgbClr>
                  </a:outerShdw>
                </a:effectLst>
                <a:latin typeface="Arial" charset="0"/>
              </a:rPr>
              <a:t>    </a:t>
            </a:r>
            <a:r>
              <a:rPr lang="zh-CN" altLang="en-US" sz="2400" dirty="0">
                <a:solidFill>
                  <a:srgbClr val="FF0000"/>
                </a:solidFill>
                <a:effectLst>
                  <a:outerShdw blurRad="38100" dist="38100" dir="2700000" algn="tl">
                    <a:srgbClr val="000000">
                      <a:alpha val="43137"/>
                    </a:srgbClr>
                  </a:outerShdw>
                </a:effectLst>
                <a:latin typeface="Arial" charset="0"/>
              </a:rPr>
              <a:t>例：</a:t>
            </a:r>
            <a:r>
              <a:rPr lang="zh-CN" altLang="en-US" sz="2400" dirty="0">
                <a:latin typeface="Arial" charset="0"/>
              </a:rPr>
              <a:t>若某低通信道带宽为</a:t>
            </a:r>
            <a:r>
              <a:rPr lang="en-US" altLang="zh-CN" sz="2400" dirty="0">
                <a:latin typeface="Arial" charset="0"/>
              </a:rPr>
              <a:t>4KHz</a:t>
            </a:r>
            <a:r>
              <a:rPr lang="zh-CN" altLang="en-US" sz="2400" dirty="0">
                <a:latin typeface="Arial" charset="0"/>
              </a:rPr>
              <a:t>，任何时刻数字信号可取</a:t>
            </a:r>
            <a:r>
              <a:rPr lang="en-US" altLang="zh-CN" sz="2400" dirty="0">
                <a:latin typeface="Arial" charset="0"/>
              </a:rPr>
              <a:t>0</a:t>
            </a:r>
            <a:r>
              <a:rPr lang="zh-CN" altLang="en-US" sz="2400" dirty="0">
                <a:latin typeface="Arial" charset="0"/>
              </a:rPr>
              <a:t>，</a:t>
            </a:r>
            <a:r>
              <a:rPr lang="en-US" altLang="zh-CN" sz="2400" dirty="0">
                <a:latin typeface="Arial" charset="0"/>
              </a:rPr>
              <a:t>1</a:t>
            </a:r>
            <a:r>
              <a:rPr lang="zh-CN" altLang="en-US" sz="2400" dirty="0">
                <a:latin typeface="Arial" charset="0"/>
              </a:rPr>
              <a:t>，</a:t>
            </a:r>
            <a:r>
              <a:rPr lang="en-US" altLang="zh-CN" sz="2400" dirty="0">
                <a:latin typeface="Arial" charset="0"/>
              </a:rPr>
              <a:t>2</a:t>
            </a:r>
            <a:r>
              <a:rPr lang="zh-CN" altLang="en-US" sz="2400" dirty="0">
                <a:latin typeface="Arial" charset="0"/>
              </a:rPr>
              <a:t>和</a:t>
            </a:r>
            <a:r>
              <a:rPr lang="en-US" altLang="zh-CN" sz="2400" dirty="0">
                <a:latin typeface="Arial" charset="0"/>
              </a:rPr>
              <a:t>3</a:t>
            </a:r>
            <a:r>
              <a:rPr lang="zh-CN" altLang="en-US" sz="2400" dirty="0">
                <a:latin typeface="Arial" charset="0"/>
              </a:rPr>
              <a:t>四种电平值之一，求最大传输率。</a:t>
            </a:r>
          </a:p>
          <a:p>
            <a:pPr eaLnBrk="1" hangingPunct="1">
              <a:lnSpc>
                <a:spcPct val="120000"/>
              </a:lnSpc>
              <a:spcBef>
                <a:spcPct val="50000"/>
              </a:spcBef>
              <a:defRPr/>
            </a:pPr>
            <a:r>
              <a:rPr lang="zh-CN" altLang="en-US" sz="2400" dirty="0">
                <a:solidFill>
                  <a:schemeClr val="hlink"/>
                </a:solidFill>
                <a:effectLst>
                  <a:outerShdw blurRad="38100" dist="38100" dir="2700000" algn="tl">
                    <a:srgbClr val="C0C0C0"/>
                  </a:outerShdw>
                </a:effectLst>
                <a:latin typeface="Arial" charset="0"/>
              </a:rPr>
              <a:t>解</a:t>
            </a:r>
            <a:r>
              <a:rPr lang="zh-CN" altLang="en-US" sz="2400" dirty="0">
                <a:latin typeface="Arial" charset="0"/>
              </a:rPr>
              <a:t>： </a:t>
            </a:r>
            <a:r>
              <a:rPr lang="en-US" altLang="zh-CN" sz="2400" dirty="0">
                <a:latin typeface="Arial" charset="0"/>
              </a:rPr>
              <a:t>C = 2Hlog</a:t>
            </a:r>
            <a:r>
              <a:rPr lang="en-US" altLang="zh-CN" sz="2400" baseline="-25000" dirty="0">
                <a:latin typeface="Arial" charset="0"/>
              </a:rPr>
              <a:t>2</a:t>
            </a:r>
            <a:r>
              <a:rPr lang="en-US" altLang="zh-CN" sz="2400" dirty="0">
                <a:latin typeface="Arial" charset="0"/>
              </a:rPr>
              <a:t>L </a:t>
            </a:r>
          </a:p>
          <a:p>
            <a:pPr eaLnBrk="1" hangingPunct="1">
              <a:lnSpc>
                <a:spcPct val="120000"/>
              </a:lnSpc>
              <a:spcBef>
                <a:spcPct val="50000"/>
              </a:spcBef>
              <a:defRPr/>
            </a:pPr>
            <a:r>
              <a:rPr lang="en-US" altLang="zh-CN" sz="2400" dirty="0">
                <a:latin typeface="Arial" charset="0"/>
              </a:rPr>
              <a:t>            </a:t>
            </a:r>
            <a:r>
              <a:rPr lang="zh-CN" altLang="en-US" sz="2400" dirty="0">
                <a:latin typeface="Arial" charset="0"/>
              </a:rPr>
              <a:t>＝ </a:t>
            </a:r>
            <a:r>
              <a:rPr lang="en-US" altLang="zh-CN" sz="2400" dirty="0">
                <a:latin typeface="Arial" charset="0"/>
              </a:rPr>
              <a:t>2×4kHz×log</a:t>
            </a:r>
            <a:r>
              <a:rPr lang="en-US" altLang="zh-CN" sz="2400" baseline="-25000" dirty="0">
                <a:latin typeface="Arial" charset="0"/>
              </a:rPr>
              <a:t>2</a:t>
            </a:r>
            <a:r>
              <a:rPr lang="en-US" altLang="zh-CN" sz="2400" dirty="0">
                <a:latin typeface="Arial" charset="0"/>
              </a:rPr>
              <a:t>4</a:t>
            </a:r>
          </a:p>
          <a:p>
            <a:pPr eaLnBrk="1" hangingPunct="1">
              <a:lnSpc>
                <a:spcPct val="120000"/>
              </a:lnSpc>
              <a:spcBef>
                <a:spcPct val="50000"/>
              </a:spcBef>
              <a:defRPr/>
            </a:pPr>
            <a:r>
              <a:rPr lang="en-US" altLang="zh-CN" sz="2400" dirty="0">
                <a:latin typeface="Arial" charset="0"/>
              </a:rPr>
              <a:t>            </a:t>
            </a:r>
            <a:r>
              <a:rPr lang="zh-CN" altLang="en-US" sz="2400" dirty="0">
                <a:latin typeface="Arial" charset="0"/>
              </a:rPr>
              <a:t>＝ </a:t>
            </a:r>
            <a:r>
              <a:rPr lang="en-US" altLang="zh-CN" sz="2400" dirty="0">
                <a:latin typeface="Arial" charset="0"/>
              </a:rPr>
              <a:t>16kb/s</a:t>
            </a:r>
          </a:p>
        </p:txBody>
      </p:sp>
    </p:spTree>
    <p:extLst>
      <p:ext uri="{BB962C8B-B14F-4D97-AF65-F5344CB8AC3E}">
        <p14:creationId xmlns:p14="http://schemas.microsoft.com/office/powerpoint/2010/main" val="1848339765"/>
      </p:ext>
    </p:extLst>
  </p:cSld>
  <p:clrMapOvr>
    <a:masterClrMapping/>
  </p:clrMapOvr>
  <p:transition spd="slow">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22531"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1890793-DA84-408C-9DF5-898344B79945}" type="slidenum">
              <a:rPr lang="en-US" altLang="zh-CN" sz="1200">
                <a:latin typeface="Arial Black" panose="020B0A04020102020204" pitchFamily="34" charset="0"/>
              </a:rPr>
              <a:pPr>
                <a:spcBef>
                  <a:spcPct val="0"/>
                </a:spcBef>
                <a:buClrTx/>
                <a:buSzTx/>
                <a:buFontTx/>
                <a:buNone/>
              </a:pPr>
              <a:t>27</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0567080E-794A-4DFE-9B87-85D36D5CAFBB}" type="datetime1">
              <a:rPr lang="zh-CN" altLang="en-US"/>
              <a:pPr>
                <a:defRPr/>
              </a:pPr>
              <a:t>2024/9/27</a:t>
            </a:fld>
            <a:endParaRPr lang="en-US" altLang="zh-CN"/>
          </a:p>
        </p:txBody>
      </p:sp>
      <p:sp>
        <p:nvSpPr>
          <p:cNvPr id="22533" name="Rectangle 2"/>
          <p:cNvSpPr>
            <a:spLocks noGrp="1" noChangeArrowheads="1"/>
          </p:cNvSpPr>
          <p:nvPr>
            <p:ph type="title"/>
          </p:nvPr>
        </p:nvSpPr>
        <p:spPr>
          <a:xfrm>
            <a:off x="2133600" y="609600"/>
            <a:ext cx="7772400" cy="647700"/>
          </a:xfrm>
        </p:spPr>
        <p:txBody>
          <a:bodyPr/>
          <a:lstStyle/>
          <a:p>
            <a:pPr eaLnBrk="1" hangingPunct="1"/>
            <a:r>
              <a:rPr lang="en-US" altLang="zh-CN" sz="2800" u="sng">
                <a:solidFill>
                  <a:srgbClr val="0000FF"/>
                </a:solidFill>
              </a:rPr>
              <a:t>2. Shannon</a:t>
            </a:r>
            <a:r>
              <a:rPr lang="zh-CN" altLang="en-US" sz="2800" b="1" u="sng">
                <a:solidFill>
                  <a:srgbClr val="0000FF"/>
                </a:solidFill>
              </a:rPr>
              <a:t>定理</a:t>
            </a:r>
          </a:p>
        </p:txBody>
      </p:sp>
      <p:sp>
        <p:nvSpPr>
          <p:cNvPr id="837635" name="Rectangle 3"/>
          <p:cNvSpPr>
            <a:spLocks noGrp="1" noChangeArrowheads="1"/>
          </p:cNvSpPr>
          <p:nvPr>
            <p:ph type="body" idx="1"/>
          </p:nvPr>
        </p:nvSpPr>
        <p:spPr>
          <a:xfrm>
            <a:off x="2147888" y="1314450"/>
            <a:ext cx="8001000" cy="4933950"/>
          </a:xfrm>
        </p:spPr>
        <p:txBody>
          <a:bodyPr/>
          <a:lstStyle/>
          <a:p>
            <a:pPr eaLnBrk="1" hangingPunct="1">
              <a:lnSpc>
                <a:spcPct val="115000"/>
              </a:lnSpc>
              <a:spcBef>
                <a:spcPct val="15000"/>
              </a:spcBef>
              <a:buFont typeface="Wingdings" panose="05000000000000000000" pitchFamily="2" charset="2"/>
              <a:buNone/>
              <a:defRPr/>
            </a:pPr>
            <a:r>
              <a:rPr lang="en-US" altLang="zh-CN" sz="2400" dirty="0">
                <a:latin typeface="Verdana" pitchFamily="34" charset="0"/>
                <a:ea typeface="楷体_GB2312" pitchFamily="49" charset="-122"/>
              </a:rPr>
              <a:t>   </a:t>
            </a:r>
            <a:r>
              <a:rPr lang="zh-CN" altLang="en-US" sz="2400" dirty="0">
                <a:latin typeface="Verdana" pitchFamily="34" charset="0"/>
                <a:ea typeface="楷体_GB2312" pitchFamily="49" charset="-122"/>
              </a:rPr>
              <a:t>有噪声信道的</a:t>
            </a:r>
            <a:r>
              <a:rPr lang="zh-CN" altLang="en-US" sz="2400" b="1" dirty="0">
                <a:solidFill>
                  <a:srgbClr val="0000FF"/>
                </a:solidFill>
                <a:effectLst>
                  <a:outerShdw blurRad="38100" dist="38100" dir="2700000" algn="tl">
                    <a:srgbClr val="C0C0C0"/>
                  </a:outerShdw>
                </a:effectLst>
                <a:latin typeface="Verdana" pitchFamily="34" charset="0"/>
                <a:ea typeface="楷体_GB2312" pitchFamily="49" charset="-122"/>
              </a:rPr>
              <a:t>最大数据传输率</a:t>
            </a:r>
            <a:r>
              <a:rPr lang="zh-CN" altLang="en-US" sz="2400" dirty="0">
                <a:latin typeface="Verdana" pitchFamily="34" charset="0"/>
                <a:ea typeface="楷体_GB2312" pitchFamily="49" charset="-122"/>
              </a:rPr>
              <a:t>为：</a:t>
            </a:r>
            <a:endParaRPr lang="en-US" altLang="zh-CN" sz="2400" dirty="0">
              <a:latin typeface="Verdana" pitchFamily="34" charset="0"/>
              <a:ea typeface="楷体_GB2312" pitchFamily="49" charset="-122"/>
            </a:endParaRPr>
          </a:p>
          <a:p>
            <a:pPr eaLnBrk="1" hangingPunct="1">
              <a:lnSpc>
                <a:spcPct val="115000"/>
              </a:lnSpc>
              <a:spcBef>
                <a:spcPct val="15000"/>
              </a:spcBef>
              <a:buFont typeface="Wingdings" panose="05000000000000000000" pitchFamily="2" charset="2"/>
              <a:buNone/>
              <a:defRPr/>
            </a:pPr>
            <a:r>
              <a:rPr lang="en-US" altLang="zh-CN" sz="2400" dirty="0">
                <a:solidFill>
                  <a:schemeClr val="hlink"/>
                </a:solidFill>
                <a:effectLst>
                  <a:outerShdw blurRad="38100" dist="38100" dir="2700000" algn="tl">
                    <a:srgbClr val="C0C0C0"/>
                  </a:outerShdw>
                </a:effectLst>
                <a:latin typeface="Verdana" pitchFamily="34" charset="0"/>
                <a:ea typeface="楷体_GB2312" pitchFamily="49" charset="-122"/>
              </a:rPr>
              <a:t>           </a:t>
            </a:r>
            <a:r>
              <a:rPr lang="en-US" altLang="zh-CN" dirty="0">
                <a:solidFill>
                  <a:schemeClr val="hlink"/>
                </a:solidFill>
                <a:effectLst>
                  <a:outerShdw blurRad="38100" dist="38100" dir="2700000" algn="tl">
                    <a:srgbClr val="C0C0C0"/>
                  </a:outerShdw>
                </a:effectLst>
                <a:latin typeface="Verdana" pitchFamily="34" charset="0"/>
                <a:ea typeface="楷体_GB2312" pitchFamily="49" charset="-122"/>
              </a:rPr>
              <a:t>C=Hlog</a:t>
            </a:r>
            <a:r>
              <a:rPr lang="en-US" altLang="zh-CN" baseline="-25000" dirty="0">
                <a:solidFill>
                  <a:schemeClr val="hlink"/>
                </a:solidFill>
                <a:effectLst>
                  <a:outerShdw blurRad="38100" dist="38100" dir="2700000" algn="tl">
                    <a:srgbClr val="C0C0C0"/>
                  </a:outerShdw>
                </a:effectLst>
                <a:latin typeface="Verdana" pitchFamily="34" charset="0"/>
                <a:ea typeface="楷体_GB2312" pitchFamily="49" charset="-122"/>
              </a:rPr>
              <a:t>2</a:t>
            </a:r>
            <a:r>
              <a:rPr lang="en-US" altLang="zh-CN" dirty="0">
                <a:solidFill>
                  <a:schemeClr val="hlink"/>
                </a:solidFill>
                <a:effectLst>
                  <a:outerShdw blurRad="38100" dist="38100" dir="2700000" algn="tl">
                    <a:srgbClr val="C0C0C0"/>
                  </a:outerShdw>
                </a:effectLst>
                <a:latin typeface="Verdana" pitchFamily="34" charset="0"/>
                <a:ea typeface="楷体_GB2312" pitchFamily="49" charset="-122"/>
              </a:rPr>
              <a:t>(1+S/N)</a:t>
            </a:r>
          </a:p>
          <a:p>
            <a:pPr eaLnBrk="1" hangingPunct="1">
              <a:lnSpc>
                <a:spcPct val="115000"/>
              </a:lnSpc>
              <a:spcBef>
                <a:spcPct val="15000"/>
              </a:spcBef>
              <a:buClr>
                <a:schemeClr val="tx1"/>
              </a:buClr>
              <a:buFont typeface="Wingdings" panose="05000000000000000000" pitchFamily="2" charset="2"/>
              <a:buChar char="Ø"/>
              <a:defRPr/>
            </a:pPr>
            <a:r>
              <a:rPr lang="en-US" altLang="zh-CN" sz="2400" dirty="0">
                <a:latin typeface="Verdana" pitchFamily="34" charset="0"/>
                <a:ea typeface="楷体_GB2312" pitchFamily="49" charset="-122"/>
              </a:rPr>
              <a:t>H</a:t>
            </a:r>
            <a:r>
              <a:rPr lang="zh-CN" altLang="en-US" sz="2400" dirty="0">
                <a:latin typeface="Verdana" pitchFamily="34" charset="0"/>
                <a:ea typeface="楷体_GB2312" pitchFamily="49" charset="-122"/>
              </a:rPr>
              <a:t>：为带宽</a:t>
            </a:r>
          </a:p>
          <a:p>
            <a:pPr eaLnBrk="1" hangingPunct="1">
              <a:lnSpc>
                <a:spcPct val="115000"/>
              </a:lnSpc>
              <a:spcBef>
                <a:spcPct val="15000"/>
              </a:spcBef>
              <a:buClr>
                <a:schemeClr val="tx1"/>
              </a:buClr>
              <a:buFont typeface="Wingdings" panose="05000000000000000000" pitchFamily="2" charset="2"/>
              <a:buChar char="Ø"/>
              <a:defRPr/>
            </a:pPr>
            <a:r>
              <a:rPr lang="en-US" altLang="zh-CN" sz="2400" dirty="0">
                <a:latin typeface="Verdana" pitchFamily="34" charset="0"/>
                <a:ea typeface="楷体_GB2312" pitchFamily="49" charset="-122"/>
              </a:rPr>
              <a:t>S/N</a:t>
            </a:r>
            <a:r>
              <a:rPr lang="zh-CN" altLang="en-US" sz="2400" dirty="0">
                <a:latin typeface="Verdana" pitchFamily="34" charset="0"/>
                <a:ea typeface="楷体_GB2312" pitchFamily="49" charset="-122"/>
              </a:rPr>
              <a:t>：为信道噪声比。</a:t>
            </a:r>
          </a:p>
          <a:p>
            <a:pPr eaLnBrk="1" hangingPunct="1">
              <a:lnSpc>
                <a:spcPct val="115000"/>
              </a:lnSpc>
              <a:spcBef>
                <a:spcPct val="15000"/>
              </a:spcBef>
              <a:buClr>
                <a:schemeClr val="tx1"/>
              </a:buClr>
              <a:buFont typeface="Wingdings" panose="05000000000000000000" pitchFamily="2" charset="2"/>
              <a:buChar char="Ø"/>
              <a:defRPr/>
            </a:pPr>
            <a:r>
              <a:rPr lang="zh-CN" altLang="en-US" sz="2400" dirty="0">
                <a:latin typeface="Verdana" pitchFamily="34" charset="0"/>
                <a:ea typeface="楷体_GB2312" pitchFamily="49" charset="-122"/>
              </a:rPr>
              <a:t>信道噪声比常用</a:t>
            </a:r>
            <a:r>
              <a:rPr lang="zh-CN" altLang="en-US" sz="2400" dirty="0">
                <a:solidFill>
                  <a:srgbClr val="FF0000"/>
                </a:solidFill>
                <a:latin typeface="Verdana" pitchFamily="34" charset="0"/>
                <a:ea typeface="楷体_GB2312" pitchFamily="49" charset="-122"/>
              </a:rPr>
              <a:t>分贝</a:t>
            </a:r>
            <a:r>
              <a:rPr lang="zh-CN" altLang="en-US" sz="2400" dirty="0">
                <a:latin typeface="Verdana" pitchFamily="34" charset="0"/>
                <a:ea typeface="楷体_GB2312" pitchFamily="49" charset="-122"/>
              </a:rPr>
              <a:t>为计量单位，分贝数</a:t>
            </a:r>
            <a:r>
              <a:rPr lang="en-US" altLang="zh-CN" sz="2400" dirty="0">
                <a:latin typeface="Verdana" pitchFamily="34" charset="0"/>
                <a:ea typeface="楷体_GB2312" pitchFamily="49" charset="-122"/>
              </a:rPr>
              <a:t>=10 log</a:t>
            </a:r>
            <a:r>
              <a:rPr lang="en-US" altLang="zh-CN" sz="2400" baseline="-25000" dirty="0">
                <a:latin typeface="Verdana" pitchFamily="34" charset="0"/>
                <a:ea typeface="楷体_GB2312" pitchFamily="49" charset="-122"/>
              </a:rPr>
              <a:t>10</a:t>
            </a:r>
            <a:r>
              <a:rPr lang="en-US" altLang="zh-CN" sz="2400" dirty="0">
                <a:latin typeface="Verdana" pitchFamily="34" charset="0"/>
                <a:ea typeface="楷体_GB2312" pitchFamily="49" charset="-122"/>
              </a:rPr>
              <a:t>s/n</a:t>
            </a:r>
            <a:r>
              <a:rPr lang="zh-CN" altLang="en-US" sz="2400" dirty="0">
                <a:latin typeface="Verdana" pitchFamily="34" charset="0"/>
                <a:ea typeface="楷体_GB2312" pitchFamily="49" charset="-122"/>
              </a:rPr>
              <a:t>。如</a:t>
            </a:r>
            <a:r>
              <a:rPr lang="en-US" altLang="zh-CN" sz="2400" dirty="0">
                <a:latin typeface="Verdana" pitchFamily="34" charset="0"/>
                <a:ea typeface="楷体_GB2312" pitchFamily="49" charset="-122"/>
              </a:rPr>
              <a:t>30db</a:t>
            </a:r>
            <a:r>
              <a:rPr lang="zh-CN" altLang="en-US" sz="2400" dirty="0">
                <a:latin typeface="Verdana" pitchFamily="34" charset="0"/>
                <a:ea typeface="楷体_GB2312" pitchFamily="49" charset="-122"/>
              </a:rPr>
              <a:t>对应于</a:t>
            </a:r>
            <a:r>
              <a:rPr lang="en-US" altLang="zh-CN" sz="2400" dirty="0">
                <a:latin typeface="Verdana" pitchFamily="34" charset="0"/>
                <a:ea typeface="楷体_GB2312" pitchFamily="49" charset="-122"/>
              </a:rPr>
              <a:t>1000</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1</a:t>
            </a:r>
            <a:r>
              <a:rPr lang="zh-CN" altLang="en-US" sz="2400" dirty="0">
                <a:latin typeface="Verdana" pitchFamily="34" charset="0"/>
                <a:ea typeface="楷体_GB2312" pitchFamily="49" charset="-122"/>
              </a:rPr>
              <a:t>的信噪比</a:t>
            </a:r>
            <a:r>
              <a:rPr lang="en-US" altLang="zh-CN" sz="2400" dirty="0">
                <a:latin typeface="Verdana" pitchFamily="34" charset="0"/>
                <a:ea typeface="楷体_GB2312" pitchFamily="49" charset="-122"/>
              </a:rPr>
              <a:t>.</a:t>
            </a:r>
          </a:p>
          <a:p>
            <a:pPr eaLnBrk="1" hangingPunct="1">
              <a:lnSpc>
                <a:spcPct val="115000"/>
              </a:lnSpc>
              <a:spcBef>
                <a:spcPct val="15000"/>
              </a:spcBef>
              <a:buClr>
                <a:schemeClr val="tx1"/>
              </a:buClr>
              <a:buFont typeface="Wingdings" panose="05000000000000000000" pitchFamily="2" charset="2"/>
              <a:buNone/>
              <a:defRPr/>
            </a:pPr>
            <a:r>
              <a:rPr lang="zh-CN" altLang="en-US" sz="2400" b="1" dirty="0">
                <a:solidFill>
                  <a:srgbClr val="FF0000"/>
                </a:solidFill>
                <a:effectLst>
                  <a:outerShdw blurRad="38100" dist="38100" dir="2700000" algn="tl">
                    <a:srgbClr val="000000">
                      <a:alpha val="43137"/>
                    </a:srgbClr>
                  </a:outerShdw>
                </a:effectLst>
                <a:latin typeface="Verdana" pitchFamily="34" charset="0"/>
                <a:ea typeface="楷体_GB2312" pitchFamily="49" charset="-122"/>
              </a:rPr>
              <a:t>例：</a:t>
            </a:r>
            <a:r>
              <a:rPr lang="zh-CN" altLang="en-US" sz="2400" dirty="0">
                <a:latin typeface="Verdana" pitchFamily="34" charset="0"/>
                <a:ea typeface="楷体_GB2312" pitchFamily="49" charset="-122"/>
              </a:rPr>
              <a:t>求信噪比为</a:t>
            </a:r>
            <a:r>
              <a:rPr lang="en-US" altLang="zh-CN" sz="2400" dirty="0">
                <a:latin typeface="Verdana" pitchFamily="34" charset="0"/>
                <a:ea typeface="楷体_GB2312" pitchFamily="49" charset="-122"/>
              </a:rPr>
              <a:t>30db</a:t>
            </a:r>
            <a:r>
              <a:rPr lang="zh-CN" altLang="en-US" sz="2400" dirty="0">
                <a:latin typeface="Verdana" pitchFamily="34" charset="0"/>
                <a:ea typeface="楷体_GB2312" pitchFamily="49" charset="-122"/>
              </a:rPr>
              <a:t>，带宽为</a:t>
            </a:r>
            <a:r>
              <a:rPr lang="en-US" altLang="zh-CN" sz="2400" dirty="0">
                <a:latin typeface="Verdana" pitchFamily="34" charset="0"/>
                <a:ea typeface="楷体_GB2312" pitchFamily="49" charset="-122"/>
              </a:rPr>
              <a:t>3000Hz</a:t>
            </a:r>
            <a:r>
              <a:rPr lang="zh-CN" altLang="en-US" sz="2400" dirty="0">
                <a:latin typeface="Verdana" pitchFamily="34" charset="0"/>
                <a:ea typeface="楷体_GB2312" pitchFamily="49" charset="-122"/>
              </a:rPr>
              <a:t>的信道最大的数据传输率。</a:t>
            </a:r>
          </a:p>
        </p:txBody>
      </p:sp>
      <p:pic>
        <p:nvPicPr>
          <p:cNvPr id="2" name="图片 1"/>
          <p:cNvPicPr>
            <a:picLocks noChangeAspect="1"/>
          </p:cNvPicPr>
          <p:nvPr/>
        </p:nvPicPr>
        <p:blipFill>
          <a:blip r:embed="rId2"/>
          <a:stretch>
            <a:fillRect/>
          </a:stretch>
        </p:blipFill>
        <p:spPr>
          <a:xfrm>
            <a:off x="7248128" y="609600"/>
            <a:ext cx="2232248" cy="2232248"/>
          </a:xfrm>
          <a:prstGeom prst="rect">
            <a:avLst/>
          </a:prstGeom>
        </p:spPr>
      </p:pic>
    </p:spTree>
    <p:extLst>
      <p:ext uri="{BB962C8B-B14F-4D97-AF65-F5344CB8AC3E}">
        <p14:creationId xmlns:p14="http://schemas.microsoft.com/office/powerpoint/2010/main" val="932896176"/>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22531"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1890793-DA84-408C-9DF5-898344B79945}" type="slidenum">
              <a:rPr lang="en-US" altLang="zh-CN" sz="1200">
                <a:latin typeface="Arial Black" panose="020B0A04020102020204" pitchFamily="34" charset="0"/>
              </a:rPr>
              <a:pPr>
                <a:spcBef>
                  <a:spcPct val="0"/>
                </a:spcBef>
                <a:buClrTx/>
                <a:buSzTx/>
                <a:buFontTx/>
                <a:buNone/>
              </a:pPr>
              <a:t>28</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0567080E-794A-4DFE-9B87-85D36D5CAFBB}" type="datetime1">
              <a:rPr lang="zh-CN" altLang="en-US"/>
              <a:pPr>
                <a:defRPr/>
              </a:pPr>
              <a:t>2024/9/27</a:t>
            </a:fld>
            <a:endParaRPr lang="en-US" altLang="zh-CN"/>
          </a:p>
        </p:txBody>
      </p:sp>
      <p:sp>
        <p:nvSpPr>
          <p:cNvPr id="22533" name="Rectangle 2"/>
          <p:cNvSpPr>
            <a:spLocks noGrp="1" noChangeArrowheads="1"/>
          </p:cNvSpPr>
          <p:nvPr>
            <p:ph type="title"/>
          </p:nvPr>
        </p:nvSpPr>
        <p:spPr>
          <a:xfrm>
            <a:off x="2133600" y="609600"/>
            <a:ext cx="7772400" cy="647700"/>
          </a:xfrm>
        </p:spPr>
        <p:txBody>
          <a:bodyPr/>
          <a:lstStyle/>
          <a:p>
            <a:pPr eaLnBrk="1" hangingPunct="1"/>
            <a:r>
              <a:rPr lang="en-US" altLang="zh-CN" sz="2800" u="sng">
                <a:solidFill>
                  <a:srgbClr val="0000FF"/>
                </a:solidFill>
              </a:rPr>
              <a:t>2. Shannon</a:t>
            </a:r>
            <a:r>
              <a:rPr lang="zh-CN" altLang="en-US" sz="2800" b="1" u="sng">
                <a:solidFill>
                  <a:srgbClr val="0000FF"/>
                </a:solidFill>
              </a:rPr>
              <a:t>定理</a:t>
            </a:r>
          </a:p>
        </p:txBody>
      </p:sp>
      <p:sp>
        <p:nvSpPr>
          <p:cNvPr id="837635" name="Rectangle 3"/>
          <p:cNvSpPr>
            <a:spLocks noGrp="1" noChangeArrowheads="1"/>
          </p:cNvSpPr>
          <p:nvPr>
            <p:ph type="body" idx="1"/>
          </p:nvPr>
        </p:nvSpPr>
        <p:spPr>
          <a:xfrm>
            <a:off x="2147888" y="1314450"/>
            <a:ext cx="8001000" cy="4933950"/>
          </a:xfrm>
        </p:spPr>
        <p:txBody>
          <a:bodyPr/>
          <a:lstStyle/>
          <a:p>
            <a:pPr eaLnBrk="1" hangingPunct="1">
              <a:lnSpc>
                <a:spcPct val="115000"/>
              </a:lnSpc>
              <a:spcBef>
                <a:spcPct val="15000"/>
              </a:spcBef>
              <a:buFont typeface="Wingdings" panose="05000000000000000000" pitchFamily="2" charset="2"/>
              <a:buNone/>
              <a:defRPr/>
            </a:pPr>
            <a:r>
              <a:rPr lang="en-US" altLang="zh-CN" sz="2400" dirty="0">
                <a:latin typeface="Verdana" pitchFamily="34" charset="0"/>
                <a:ea typeface="楷体_GB2312" pitchFamily="49" charset="-122"/>
              </a:rPr>
              <a:t>   </a:t>
            </a:r>
            <a:r>
              <a:rPr lang="zh-CN" altLang="en-US" sz="2400" dirty="0">
                <a:latin typeface="Verdana" pitchFamily="34" charset="0"/>
                <a:ea typeface="楷体_GB2312" pitchFamily="49" charset="-122"/>
              </a:rPr>
              <a:t>有噪声信道的</a:t>
            </a:r>
            <a:r>
              <a:rPr lang="zh-CN" altLang="en-US" sz="2400" b="1" dirty="0">
                <a:solidFill>
                  <a:srgbClr val="0000FF"/>
                </a:solidFill>
                <a:effectLst>
                  <a:outerShdw blurRad="38100" dist="38100" dir="2700000" algn="tl">
                    <a:srgbClr val="C0C0C0"/>
                  </a:outerShdw>
                </a:effectLst>
                <a:latin typeface="Verdana" pitchFamily="34" charset="0"/>
                <a:ea typeface="楷体_GB2312" pitchFamily="49" charset="-122"/>
              </a:rPr>
              <a:t>最大数据传输率</a:t>
            </a:r>
            <a:r>
              <a:rPr lang="zh-CN" altLang="en-US" sz="2400" dirty="0">
                <a:latin typeface="Verdana" pitchFamily="34" charset="0"/>
                <a:ea typeface="楷体_GB2312" pitchFamily="49" charset="-122"/>
              </a:rPr>
              <a:t>为：</a:t>
            </a:r>
            <a:endParaRPr lang="en-US" altLang="zh-CN" sz="2400" dirty="0">
              <a:latin typeface="Verdana" pitchFamily="34" charset="0"/>
              <a:ea typeface="楷体_GB2312" pitchFamily="49" charset="-122"/>
            </a:endParaRPr>
          </a:p>
          <a:p>
            <a:pPr eaLnBrk="1" hangingPunct="1">
              <a:lnSpc>
                <a:spcPct val="115000"/>
              </a:lnSpc>
              <a:spcBef>
                <a:spcPct val="15000"/>
              </a:spcBef>
              <a:buFont typeface="Wingdings" panose="05000000000000000000" pitchFamily="2" charset="2"/>
              <a:buNone/>
              <a:defRPr/>
            </a:pPr>
            <a:r>
              <a:rPr lang="en-US" altLang="zh-CN" sz="2400" dirty="0">
                <a:solidFill>
                  <a:schemeClr val="hlink"/>
                </a:solidFill>
                <a:effectLst>
                  <a:outerShdw blurRad="38100" dist="38100" dir="2700000" algn="tl">
                    <a:srgbClr val="C0C0C0"/>
                  </a:outerShdw>
                </a:effectLst>
                <a:latin typeface="Verdana" pitchFamily="34" charset="0"/>
                <a:ea typeface="楷体_GB2312" pitchFamily="49" charset="-122"/>
              </a:rPr>
              <a:t>           </a:t>
            </a:r>
            <a:r>
              <a:rPr lang="en-US" altLang="zh-CN" dirty="0">
                <a:solidFill>
                  <a:schemeClr val="hlink"/>
                </a:solidFill>
                <a:effectLst>
                  <a:outerShdw blurRad="38100" dist="38100" dir="2700000" algn="tl">
                    <a:srgbClr val="C0C0C0"/>
                  </a:outerShdw>
                </a:effectLst>
                <a:latin typeface="Verdana" pitchFamily="34" charset="0"/>
                <a:ea typeface="楷体_GB2312" pitchFamily="49" charset="-122"/>
              </a:rPr>
              <a:t>C=Hlog</a:t>
            </a:r>
            <a:r>
              <a:rPr lang="en-US" altLang="zh-CN" baseline="-25000" dirty="0">
                <a:solidFill>
                  <a:schemeClr val="hlink"/>
                </a:solidFill>
                <a:effectLst>
                  <a:outerShdw blurRad="38100" dist="38100" dir="2700000" algn="tl">
                    <a:srgbClr val="C0C0C0"/>
                  </a:outerShdw>
                </a:effectLst>
                <a:latin typeface="Verdana" pitchFamily="34" charset="0"/>
                <a:ea typeface="楷体_GB2312" pitchFamily="49" charset="-122"/>
              </a:rPr>
              <a:t>2</a:t>
            </a:r>
            <a:r>
              <a:rPr lang="en-US" altLang="zh-CN" dirty="0">
                <a:solidFill>
                  <a:schemeClr val="hlink"/>
                </a:solidFill>
                <a:effectLst>
                  <a:outerShdw blurRad="38100" dist="38100" dir="2700000" algn="tl">
                    <a:srgbClr val="C0C0C0"/>
                  </a:outerShdw>
                </a:effectLst>
                <a:latin typeface="Verdana" pitchFamily="34" charset="0"/>
                <a:ea typeface="楷体_GB2312" pitchFamily="49" charset="-122"/>
              </a:rPr>
              <a:t>(1+S/N)</a:t>
            </a:r>
          </a:p>
          <a:p>
            <a:pPr eaLnBrk="1" hangingPunct="1">
              <a:lnSpc>
                <a:spcPct val="115000"/>
              </a:lnSpc>
              <a:spcBef>
                <a:spcPct val="15000"/>
              </a:spcBef>
              <a:buClr>
                <a:schemeClr val="tx1"/>
              </a:buClr>
              <a:buFont typeface="Wingdings" panose="05000000000000000000" pitchFamily="2" charset="2"/>
              <a:buChar char="Ø"/>
              <a:defRPr/>
            </a:pPr>
            <a:r>
              <a:rPr lang="en-US" altLang="zh-CN" sz="2400" dirty="0">
                <a:latin typeface="Verdana" pitchFamily="34" charset="0"/>
                <a:ea typeface="楷体_GB2312" pitchFamily="49" charset="-122"/>
              </a:rPr>
              <a:t>H</a:t>
            </a:r>
            <a:r>
              <a:rPr lang="zh-CN" altLang="en-US" sz="2400" dirty="0">
                <a:latin typeface="Verdana" pitchFamily="34" charset="0"/>
                <a:ea typeface="楷体_GB2312" pitchFamily="49" charset="-122"/>
              </a:rPr>
              <a:t>：为带宽</a:t>
            </a:r>
          </a:p>
          <a:p>
            <a:pPr eaLnBrk="1" hangingPunct="1">
              <a:lnSpc>
                <a:spcPct val="115000"/>
              </a:lnSpc>
              <a:spcBef>
                <a:spcPct val="15000"/>
              </a:spcBef>
              <a:buClr>
                <a:schemeClr val="tx1"/>
              </a:buClr>
              <a:buFont typeface="Wingdings" panose="05000000000000000000" pitchFamily="2" charset="2"/>
              <a:buChar char="Ø"/>
              <a:defRPr/>
            </a:pPr>
            <a:r>
              <a:rPr lang="en-US" altLang="zh-CN" sz="2400" dirty="0">
                <a:latin typeface="Verdana" pitchFamily="34" charset="0"/>
                <a:ea typeface="楷体_GB2312" pitchFamily="49" charset="-122"/>
              </a:rPr>
              <a:t>S/N</a:t>
            </a:r>
            <a:r>
              <a:rPr lang="zh-CN" altLang="en-US" sz="2400" dirty="0">
                <a:latin typeface="Verdana" pitchFamily="34" charset="0"/>
                <a:ea typeface="楷体_GB2312" pitchFamily="49" charset="-122"/>
              </a:rPr>
              <a:t>：为信道噪声比。</a:t>
            </a:r>
          </a:p>
          <a:p>
            <a:pPr eaLnBrk="1" hangingPunct="1">
              <a:lnSpc>
                <a:spcPct val="115000"/>
              </a:lnSpc>
              <a:spcBef>
                <a:spcPct val="15000"/>
              </a:spcBef>
              <a:buClr>
                <a:schemeClr val="tx1"/>
              </a:buClr>
              <a:buFont typeface="Wingdings" panose="05000000000000000000" pitchFamily="2" charset="2"/>
              <a:buChar char="Ø"/>
              <a:defRPr/>
            </a:pPr>
            <a:r>
              <a:rPr lang="zh-CN" altLang="en-US" sz="2400" dirty="0">
                <a:latin typeface="Verdana" pitchFamily="34" charset="0"/>
                <a:ea typeface="楷体_GB2312" pitchFamily="49" charset="-122"/>
              </a:rPr>
              <a:t>信道噪声比常用</a:t>
            </a:r>
            <a:r>
              <a:rPr lang="zh-CN" altLang="en-US" sz="2400" dirty="0">
                <a:solidFill>
                  <a:srgbClr val="FF0000"/>
                </a:solidFill>
                <a:latin typeface="Verdana" pitchFamily="34" charset="0"/>
                <a:ea typeface="楷体_GB2312" pitchFamily="49" charset="-122"/>
              </a:rPr>
              <a:t>分贝</a:t>
            </a:r>
            <a:r>
              <a:rPr lang="zh-CN" altLang="en-US" sz="2400" dirty="0">
                <a:latin typeface="Verdana" pitchFamily="34" charset="0"/>
                <a:ea typeface="楷体_GB2312" pitchFamily="49" charset="-122"/>
              </a:rPr>
              <a:t>为计量单位，分贝数</a:t>
            </a:r>
            <a:r>
              <a:rPr lang="en-US" altLang="zh-CN" sz="2400" dirty="0">
                <a:latin typeface="Verdana" pitchFamily="34" charset="0"/>
                <a:ea typeface="楷体_GB2312" pitchFamily="49" charset="-122"/>
              </a:rPr>
              <a:t>=10 log</a:t>
            </a:r>
            <a:r>
              <a:rPr lang="en-US" altLang="zh-CN" sz="2400" baseline="-25000" dirty="0">
                <a:latin typeface="Verdana" pitchFamily="34" charset="0"/>
                <a:ea typeface="楷体_GB2312" pitchFamily="49" charset="-122"/>
              </a:rPr>
              <a:t>10</a:t>
            </a:r>
            <a:r>
              <a:rPr lang="en-US" altLang="zh-CN" sz="2400" dirty="0">
                <a:latin typeface="Verdana" pitchFamily="34" charset="0"/>
                <a:ea typeface="楷体_GB2312" pitchFamily="49" charset="-122"/>
              </a:rPr>
              <a:t>s/n</a:t>
            </a:r>
            <a:r>
              <a:rPr lang="zh-CN" altLang="en-US" sz="2400" dirty="0">
                <a:latin typeface="Verdana" pitchFamily="34" charset="0"/>
                <a:ea typeface="楷体_GB2312" pitchFamily="49" charset="-122"/>
              </a:rPr>
              <a:t>。如</a:t>
            </a:r>
            <a:r>
              <a:rPr lang="en-US" altLang="zh-CN" sz="2400" dirty="0">
                <a:latin typeface="Verdana" pitchFamily="34" charset="0"/>
                <a:ea typeface="楷体_GB2312" pitchFamily="49" charset="-122"/>
              </a:rPr>
              <a:t>30db</a:t>
            </a:r>
            <a:r>
              <a:rPr lang="zh-CN" altLang="en-US" sz="2400" dirty="0">
                <a:latin typeface="Verdana" pitchFamily="34" charset="0"/>
                <a:ea typeface="楷体_GB2312" pitchFamily="49" charset="-122"/>
              </a:rPr>
              <a:t>对应于</a:t>
            </a:r>
            <a:r>
              <a:rPr lang="en-US" altLang="zh-CN" sz="2400" dirty="0">
                <a:latin typeface="Verdana" pitchFamily="34" charset="0"/>
                <a:ea typeface="楷体_GB2312" pitchFamily="49" charset="-122"/>
              </a:rPr>
              <a:t>1000</a:t>
            </a:r>
            <a:r>
              <a:rPr lang="zh-CN" altLang="en-US" sz="2400" dirty="0">
                <a:latin typeface="Verdana" pitchFamily="34" charset="0"/>
                <a:ea typeface="楷体_GB2312" pitchFamily="49" charset="-122"/>
              </a:rPr>
              <a:t>：</a:t>
            </a:r>
            <a:r>
              <a:rPr lang="en-US" altLang="zh-CN" sz="2400" dirty="0">
                <a:latin typeface="Verdana" pitchFamily="34" charset="0"/>
                <a:ea typeface="楷体_GB2312" pitchFamily="49" charset="-122"/>
              </a:rPr>
              <a:t>1</a:t>
            </a:r>
            <a:r>
              <a:rPr lang="zh-CN" altLang="en-US" sz="2400" dirty="0">
                <a:latin typeface="Verdana" pitchFamily="34" charset="0"/>
                <a:ea typeface="楷体_GB2312" pitchFamily="49" charset="-122"/>
              </a:rPr>
              <a:t>的信噪比</a:t>
            </a:r>
            <a:r>
              <a:rPr lang="en-US" altLang="zh-CN" sz="2400" dirty="0">
                <a:latin typeface="Verdana" pitchFamily="34" charset="0"/>
                <a:ea typeface="楷体_GB2312" pitchFamily="49" charset="-122"/>
              </a:rPr>
              <a:t>.</a:t>
            </a:r>
          </a:p>
          <a:p>
            <a:pPr eaLnBrk="1" hangingPunct="1">
              <a:lnSpc>
                <a:spcPct val="115000"/>
              </a:lnSpc>
              <a:spcBef>
                <a:spcPct val="15000"/>
              </a:spcBef>
              <a:buClr>
                <a:schemeClr val="tx1"/>
              </a:buClr>
              <a:buFont typeface="Wingdings" panose="05000000000000000000" pitchFamily="2" charset="2"/>
              <a:buNone/>
              <a:defRPr/>
            </a:pPr>
            <a:r>
              <a:rPr lang="zh-CN" altLang="en-US" sz="2400" b="1" dirty="0">
                <a:solidFill>
                  <a:srgbClr val="FF0000"/>
                </a:solidFill>
                <a:effectLst>
                  <a:outerShdw blurRad="38100" dist="38100" dir="2700000" algn="tl">
                    <a:srgbClr val="000000">
                      <a:alpha val="43137"/>
                    </a:srgbClr>
                  </a:outerShdw>
                </a:effectLst>
                <a:latin typeface="Verdana" pitchFamily="34" charset="0"/>
                <a:ea typeface="楷体_GB2312" pitchFamily="49" charset="-122"/>
              </a:rPr>
              <a:t>例：</a:t>
            </a:r>
            <a:r>
              <a:rPr lang="zh-CN" altLang="en-US" sz="2400" dirty="0">
                <a:latin typeface="Verdana" pitchFamily="34" charset="0"/>
                <a:ea typeface="楷体_GB2312" pitchFamily="49" charset="-122"/>
              </a:rPr>
              <a:t>求信噪比为</a:t>
            </a:r>
            <a:r>
              <a:rPr lang="en-US" altLang="zh-CN" sz="2400" dirty="0">
                <a:latin typeface="Verdana" pitchFamily="34" charset="0"/>
                <a:ea typeface="楷体_GB2312" pitchFamily="49" charset="-122"/>
              </a:rPr>
              <a:t>30db</a:t>
            </a:r>
            <a:r>
              <a:rPr lang="zh-CN" altLang="en-US" sz="2400" dirty="0">
                <a:latin typeface="Verdana" pitchFamily="34" charset="0"/>
                <a:ea typeface="楷体_GB2312" pitchFamily="49" charset="-122"/>
              </a:rPr>
              <a:t>，带宽为</a:t>
            </a:r>
            <a:r>
              <a:rPr lang="en-US" altLang="zh-CN" sz="2400" dirty="0">
                <a:latin typeface="Verdana" pitchFamily="34" charset="0"/>
                <a:ea typeface="楷体_GB2312" pitchFamily="49" charset="-122"/>
              </a:rPr>
              <a:t>3000Hz</a:t>
            </a:r>
            <a:r>
              <a:rPr lang="zh-CN" altLang="en-US" sz="2400" dirty="0">
                <a:latin typeface="Verdana" pitchFamily="34" charset="0"/>
                <a:ea typeface="楷体_GB2312" pitchFamily="49" charset="-122"/>
              </a:rPr>
              <a:t>的信道最大的数据传输率。</a:t>
            </a:r>
          </a:p>
          <a:p>
            <a:pPr eaLnBrk="1" hangingPunct="1">
              <a:lnSpc>
                <a:spcPct val="115000"/>
              </a:lnSpc>
              <a:spcBef>
                <a:spcPct val="15000"/>
              </a:spcBef>
              <a:buFont typeface="Wingdings" panose="05000000000000000000" pitchFamily="2" charset="2"/>
              <a:buNone/>
              <a:defRPr/>
            </a:pPr>
            <a:r>
              <a:rPr lang="zh-CN" altLang="en-US" sz="2400" dirty="0">
                <a:latin typeface="Verdana" pitchFamily="34" charset="0"/>
                <a:ea typeface="楷体_GB2312" pitchFamily="49" charset="-122"/>
              </a:rPr>
              <a:t>解： </a:t>
            </a:r>
            <a:r>
              <a:rPr lang="en-US" altLang="zh-CN" sz="2400" dirty="0">
                <a:latin typeface="Verdana" pitchFamily="34" charset="0"/>
                <a:ea typeface="楷体_GB2312" pitchFamily="49" charset="-122"/>
              </a:rPr>
              <a:t>C = Hlog</a:t>
            </a:r>
            <a:r>
              <a:rPr lang="en-US" altLang="zh-CN" sz="2400" baseline="-25000" dirty="0">
                <a:latin typeface="Verdana" pitchFamily="34" charset="0"/>
                <a:ea typeface="楷体_GB2312" pitchFamily="49" charset="-122"/>
              </a:rPr>
              <a:t>2</a:t>
            </a:r>
            <a:r>
              <a:rPr lang="en-US" altLang="zh-CN" sz="2400" dirty="0">
                <a:latin typeface="Verdana" pitchFamily="34" charset="0"/>
                <a:ea typeface="楷体_GB2312" pitchFamily="49" charset="-122"/>
              </a:rPr>
              <a:t>(1+S/N)</a:t>
            </a:r>
          </a:p>
          <a:p>
            <a:pPr eaLnBrk="1" hangingPunct="1">
              <a:lnSpc>
                <a:spcPct val="115000"/>
              </a:lnSpc>
              <a:spcBef>
                <a:spcPct val="15000"/>
              </a:spcBef>
              <a:buFont typeface="Wingdings" panose="05000000000000000000" pitchFamily="2" charset="2"/>
              <a:buNone/>
              <a:defRPr/>
            </a:pPr>
            <a:r>
              <a:rPr lang="en-US" altLang="zh-CN" sz="2400" dirty="0">
                <a:latin typeface="Verdana" pitchFamily="34" charset="0"/>
                <a:ea typeface="楷体_GB2312" pitchFamily="49" charset="-122"/>
              </a:rPr>
              <a:t>            = 3000Hz×log</a:t>
            </a:r>
            <a:r>
              <a:rPr lang="en-US" altLang="zh-CN" sz="2400" baseline="-25000" dirty="0">
                <a:latin typeface="Verdana" pitchFamily="34" charset="0"/>
                <a:ea typeface="楷体_GB2312" pitchFamily="49" charset="-122"/>
              </a:rPr>
              <a:t>2</a:t>
            </a:r>
            <a:r>
              <a:rPr lang="en-US" altLang="zh-CN" sz="2400" dirty="0">
                <a:latin typeface="Verdana" pitchFamily="34" charset="0"/>
                <a:ea typeface="楷体_GB2312" pitchFamily="49" charset="-122"/>
              </a:rPr>
              <a:t>(1+1000)≈30Kbps</a:t>
            </a:r>
          </a:p>
        </p:txBody>
      </p:sp>
      <p:pic>
        <p:nvPicPr>
          <p:cNvPr id="2" name="图片 1"/>
          <p:cNvPicPr>
            <a:picLocks noChangeAspect="1"/>
          </p:cNvPicPr>
          <p:nvPr/>
        </p:nvPicPr>
        <p:blipFill>
          <a:blip r:embed="rId2"/>
          <a:stretch>
            <a:fillRect/>
          </a:stretch>
        </p:blipFill>
        <p:spPr>
          <a:xfrm>
            <a:off x="7248128" y="609600"/>
            <a:ext cx="2232248" cy="2232248"/>
          </a:xfrm>
          <a:prstGeom prst="rect">
            <a:avLst/>
          </a:prstGeom>
        </p:spPr>
      </p:pic>
    </p:spTree>
    <p:extLst>
      <p:ext uri="{BB962C8B-B14F-4D97-AF65-F5344CB8AC3E}">
        <p14:creationId xmlns:p14="http://schemas.microsoft.com/office/powerpoint/2010/main" val="3831077871"/>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1"/>
          <p:cNvSpPr>
            <a:spLocks noGrp="1"/>
          </p:cNvSpPr>
          <p:nvPr>
            <p:ph type="ftr" sz="quarter" idx="10"/>
          </p:nvPr>
        </p:nvSpPr>
        <p:spPr/>
        <p:txBody>
          <a:bodyPr/>
          <a:lstStyle/>
          <a:p>
            <a:pPr>
              <a:defRPr/>
            </a:pPr>
            <a:r>
              <a:rPr lang="en-US" altLang="zh-CN"/>
              <a:t>Computer Network</a:t>
            </a:r>
          </a:p>
        </p:txBody>
      </p:sp>
      <p:sp>
        <p:nvSpPr>
          <p:cNvPr id="23555"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FF543B2-B37D-4019-AE05-A2D484FE12C7}" type="slidenum">
              <a:rPr lang="en-US" altLang="zh-CN" sz="1200">
                <a:latin typeface="Arial Black" panose="020B0A04020102020204" pitchFamily="34" charset="0"/>
              </a:rPr>
              <a:pPr>
                <a:spcBef>
                  <a:spcPct val="0"/>
                </a:spcBef>
                <a:buClrTx/>
                <a:buSzTx/>
                <a:buFontTx/>
                <a:buNone/>
              </a:pPr>
              <a:t>29</a:t>
            </a:fld>
            <a:endParaRPr lang="en-US" altLang="zh-CN" sz="1200">
              <a:latin typeface="Arial Black" panose="020B0A04020102020204" pitchFamily="34" charset="0"/>
            </a:endParaRPr>
          </a:p>
        </p:txBody>
      </p:sp>
      <p:sp>
        <p:nvSpPr>
          <p:cNvPr id="5" name="日期占位符 3"/>
          <p:cNvSpPr>
            <a:spLocks noGrp="1"/>
          </p:cNvSpPr>
          <p:nvPr>
            <p:ph type="dt" sz="quarter" idx="12"/>
          </p:nvPr>
        </p:nvSpPr>
        <p:spPr/>
        <p:txBody>
          <a:bodyPr/>
          <a:lstStyle/>
          <a:p>
            <a:pPr>
              <a:defRPr/>
            </a:pPr>
            <a:fld id="{8C1343E6-3375-4A0F-A52C-8EDD03B5CA7E}" type="datetime1">
              <a:rPr lang="zh-CN" altLang="en-US"/>
              <a:pPr>
                <a:defRPr/>
              </a:pPr>
              <a:t>2024/9/27</a:t>
            </a:fld>
            <a:endParaRPr lang="en-US" altLang="zh-CN"/>
          </a:p>
        </p:txBody>
      </p:sp>
      <p:sp>
        <p:nvSpPr>
          <p:cNvPr id="883716" name="Rectangle 4"/>
          <p:cNvSpPr>
            <a:spLocks noChangeArrowheads="1"/>
          </p:cNvSpPr>
          <p:nvPr/>
        </p:nvSpPr>
        <p:spPr bwMode="auto">
          <a:xfrm>
            <a:off x="2351089" y="1320405"/>
            <a:ext cx="748982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nchor="ctr">
            <a:spAutoFit/>
          </a:bodyPr>
          <a:lstStyle/>
          <a:p>
            <a:pPr eaLnBrk="1" hangingPunct="1">
              <a:lnSpc>
                <a:spcPct val="120000"/>
              </a:lnSpc>
              <a:spcBef>
                <a:spcPct val="20000"/>
              </a:spcBef>
              <a:defRPr/>
            </a:pPr>
            <a:r>
              <a:rPr lang="en-US" altLang="zh-CN" sz="2400" dirty="0">
                <a:solidFill>
                  <a:schemeClr val="hlink"/>
                </a:solidFill>
                <a:effectLst>
                  <a:outerShdw blurRad="38100" dist="38100" dir="2700000" algn="tl">
                    <a:srgbClr val="C0C0C0"/>
                  </a:outerShdw>
                </a:effectLst>
                <a:latin typeface="Verdana" pitchFamily="34" charset="0"/>
              </a:rPr>
              <a:t>    </a:t>
            </a:r>
            <a:r>
              <a:rPr lang="zh-CN" altLang="en-US" sz="2400" dirty="0">
                <a:solidFill>
                  <a:schemeClr val="hlink"/>
                </a:solidFill>
                <a:effectLst>
                  <a:outerShdw blurRad="38100" dist="38100" dir="2700000" algn="tl">
                    <a:srgbClr val="C0C0C0"/>
                  </a:outerShdw>
                </a:effectLst>
                <a:latin typeface="Verdana" pitchFamily="34" charset="0"/>
              </a:rPr>
              <a:t>香农公式给出了信息传输速率的极限，</a:t>
            </a:r>
            <a:r>
              <a:rPr lang="zh-CN" altLang="en-US" sz="2400" dirty="0">
                <a:latin typeface="Verdana" pitchFamily="34" charset="0"/>
              </a:rPr>
              <a:t>即对于一定的传输带宽</a:t>
            </a:r>
            <a:r>
              <a:rPr lang="en-US" altLang="zh-CN" sz="2400" dirty="0">
                <a:latin typeface="Verdana" pitchFamily="34" charset="0"/>
              </a:rPr>
              <a:t>(</a:t>
            </a:r>
            <a:r>
              <a:rPr lang="zh-CN" altLang="en-US" sz="2400" dirty="0">
                <a:latin typeface="Verdana" pitchFamily="34" charset="0"/>
              </a:rPr>
              <a:t>以赫兹为单位</a:t>
            </a:r>
            <a:r>
              <a:rPr lang="en-US" altLang="zh-CN" sz="2400" dirty="0">
                <a:latin typeface="Verdana" pitchFamily="34" charset="0"/>
              </a:rPr>
              <a:t>)</a:t>
            </a:r>
            <a:r>
              <a:rPr lang="zh-CN" altLang="en-US" sz="2400" dirty="0">
                <a:latin typeface="Verdana" pitchFamily="34" charset="0"/>
              </a:rPr>
              <a:t>和一定的信噪比，信息传输速率的上限就确定了。这个极限是不能够突破的。</a:t>
            </a:r>
          </a:p>
          <a:p>
            <a:pPr eaLnBrk="1" hangingPunct="1">
              <a:lnSpc>
                <a:spcPct val="120000"/>
              </a:lnSpc>
              <a:spcBef>
                <a:spcPct val="20000"/>
              </a:spcBef>
              <a:defRPr/>
            </a:pPr>
            <a:r>
              <a:rPr lang="zh-CN" altLang="en-US" sz="2400" dirty="0">
                <a:latin typeface="Verdana" pitchFamily="34" charset="0"/>
              </a:rPr>
              <a:t>    要想提高信息的传输速率，或者必须设法</a:t>
            </a:r>
            <a:r>
              <a:rPr lang="zh-CN" altLang="en-US" sz="2400" dirty="0">
                <a:solidFill>
                  <a:schemeClr val="hlink"/>
                </a:solidFill>
                <a:effectLst>
                  <a:outerShdw blurRad="38100" dist="38100" dir="2700000" algn="tl">
                    <a:srgbClr val="C0C0C0"/>
                  </a:outerShdw>
                </a:effectLst>
                <a:latin typeface="Verdana" pitchFamily="34" charset="0"/>
              </a:rPr>
              <a:t>提高传输线路的带宽</a:t>
            </a:r>
            <a:r>
              <a:rPr lang="zh-CN" altLang="en-US" sz="2400" dirty="0">
                <a:latin typeface="Verdana" pitchFamily="34" charset="0"/>
              </a:rPr>
              <a:t>，或者必须设法提高所传信号的</a:t>
            </a:r>
            <a:r>
              <a:rPr lang="zh-CN" altLang="en-US" sz="2400" dirty="0">
                <a:solidFill>
                  <a:schemeClr val="hlink"/>
                </a:solidFill>
                <a:effectLst>
                  <a:outerShdw blurRad="38100" dist="38100" dir="2700000" algn="tl">
                    <a:srgbClr val="C0C0C0"/>
                  </a:outerShdw>
                </a:effectLst>
                <a:latin typeface="Verdana" pitchFamily="34" charset="0"/>
              </a:rPr>
              <a:t>信噪比（比如加大功率）</a:t>
            </a:r>
            <a:r>
              <a:rPr lang="zh-CN" altLang="en-US" sz="2400" dirty="0">
                <a:latin typeface="Verdana" pitchFamily="34" charset="0"/>
              </a:rPr>
              <a:t>，此外没有其他任何办法。</a:t>
            </a:r>
          </a:p>
          <a:p>
            <a:pPr eaLnBrk="1" hangingPunct="1">
              <a:lnSpc>
                <a:spcPct val="120000"/>
              </a:lnSpc>
              <a:spcBef>
                <a:spcPct val="20000"/>
              </a:spcBef>
              <a:defRPr/>
            </a:pPr>
            <a:r>
              <a:rPr lang="zh-CN" altLang="en-US" sz="2400" dirty="0">
                <a:latin typeface="Verdana" pitchFamily="34" charset="0"/>
              </a:rPr>
              <a:t>    至少到现在为止，还没有听说有谁能够突破香农公式给出的信息传输速率的极限。</a:t>
            </a:r>
          </a:p>
        </p:txBody>
      </p:sp>
    </p:spTree>
    <p:extLst>
      <p:ext uri="{BB962C8B-B14F-4D97-AF65-F5344CB8AC3E}">
        <p14:creationId xmlns:p14="http://schemas.microsoft.com/office/powerpoint/2010/main" val="4162900160"/>
      </p:ext>
    </p:extLst>
  </p:cSld>
  <p:clrMapOvr>
    <a:masterClrMapping/>
  </p:clrMapOvr>
  <p:transition spd="slow">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Computer Network</a:t>
            </a:r>
          </a:p>
        </p:txBody>
      </p:sp>
      <p:sp>
        <p:nvSpPr>
          <p:cNvPr id="24579"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EA54E65-FF14-43C0-BEEA-FBF9DD6F9187}" type="slidenum">
              <a:rPr lang="en-US" altLang="zh-CN" sz="1200">
                <a:latin typeface="Arial Black" panose="020B0A04020102020204" pitchFamily="34" charset="0"/>
              </a:rPr>
              <a:pPr>
                <a:spcBef>
                  <a:spcPct val="0"/>
                </a:spcBef>
                <a:buClrTx/>
                <a:buSzTx/>
                <a:buFontTx/>
                <a:buNone/>
              </a:pPr>
              <a:t>30</a:t>
            </a:fld>
            <a:endParaRPr lang="en-US" altLang="zh-CN" sz="1200">
              <a:latin typeface="Arial Black" panose="020B0A04020102020204" pitchFamily="34" charset="0"/>
            </a:endParaRPr>
          </a:p>
        </p:txBody>
      </p:sp>
      <p:sp>
        <p:nvSpPr>
          <p:cNvPr id="7" name="日期占位符 5"/>
          <p:cNvSpPr>
            <a:spLocks noGrp="1"/>
          </p:cNvSpPr>
          <p:nvPr>
            <p:ph type="dt" sz="quarter" idx="12"/>
          </p:nvPr>
        </p:nvSpPr>
        <p:spPr/>
        <p:txBody>
          <a:bodyPr/>
          <a:lstStyle/>
          <a:p>
            <a:pPr>
              <a:defRPr/>
            </a:pPr>
            <a:fld id="{C55C8E5C-DF9D-4B6F-BB2D-FBC4FCBA64D6}" type="datetime1">
              <a:rPr lang="zh-CN" altLang="en-US"/>
              <a:pPr>
                <a:defRPr/>
              </a:pPr>
              <a:t>2024/9/27</a:t>
            </a:fld>
            <a:endParaRPr lang="en-US" altLang="zh-CN"/>
          </a:p>
        </p:txBody>
      </p:sp>
      <p:sp>
        <p:nvSpPr>
          <p:cNvPr id="24581" name="Rectangle 2"/>
          <p:cNvSpPr>
            <a:spLocks noGrp="1" noChangeArrowheads="1"/>
          </p:cNvSpPr>
          <p:nvPr>
            <p:ph type="title"/>
          </p:nvPr>
        </p:nvSpPr>
        <p:spPr>
          <a:xfrm>
            <a:off x="2057400" y="685800"/>
            <a:ext cx="7791450" cy="457200"/>
          </a:xfrm>
        </p:spPr>
        <p:txBody>
          <a:bodyPr>
            <a:normAutofit fontScale="90000"/>
          </a:bodyPr>
          <a:lstStyle/>
          <a:p>
            <a:pPr eaLnBrk="1" hangingPunct="1"/>
            <a:r>
              <a:rPr lang="en-US" altLang="zh-CN" sz="2800" u="sng">
                <a:solidFill>
                  <a:srgbClr val="0000FF"/>
                </a:solidFill>
              </a:rPr>
              <a:t>3</a:t>
            </a:r>
            <a:r>
              <a:rPr lang="zh-CN" altLang="en-US" sz="2800" u="sng">
                <a:solidFill>
                  <a:srgbClr val="0000FF"/>
                </a:solidFill>
              </a:rPr>
              <a:t>、</a:t>
            </a:r>
            <a:r>
              <a:rPr lang="zh-CN" altLang="en-US" sz="2800" b="1" u="sng">
                <a:solidFill>
                  <a:srgbClr val="0000FF"/>
                </a:solidFill>
              </a:rPr>
              <a:t>比特率与波特率的关系</a:t>
            </a:r>
          </a:p>
        </p:txBody>
      </p:sp>
      <p:sp>
        <p:nvSpPr>
          <p:cNvPr id="838659" name="Rectangle 3"/>
          <p:cNvSpPr>
            <a:spLocks noGrp="1" noChangeArrowheads="1"/>
          </p:cNvSpPr>
          <p:nvPr>
            <p:ph type="body" idx="1"/>
          </p:nvPr>
        </p:nvSpPr>
        <p:spPr>
          <a:xfrm>
            <a:off x="2135188" y="1287760"/>
            <a:ext cx="7848600" cy="3581400"/>
          </a:xfrm>
        </p:spPr>
        <p:txBody>
          <a:bodyPr/>
          <a:lstStyle/>
          <a:p>
            <a:pPr eaLnBrk="1" hangingPunct="1">
              <a:lnSpc>
                <a:spcPct val="120000"/>
              </a:lnSpc>
              <a:spcBef>
                <a:spcPct val="15000"/>
              </a:spcBef>
              <a:buClr>
                <a:schemeClr val="tx1"/>
              </a:buClr>
              <a:buFont typeface="Wingdings" panose="05000000000000000000" pitchFamily="2" charset="2"/>
              <a:buChar char="Ø"/>
              <a:defRPr/>
            </a:pPr>
            <a:r>
              <a:rPr lang="zh-CN" altLang="en-US" sz="2200" b="1" dirty="0">
                <a:solidFill>
                  <a:srgbClr val="0000FF"/>
                </a:solidFill>
                <a:latin typeface="Verdana" pitchFamily="34" charset="0"/>
                <a:ea typeface="楷体_GB2312" pitchFamily="49" charset="-122"/>
              </a:rPr>
              <a:t>波特率</a:t>
            </a:r>
            <a:r>
              <a:rPr lang="en-US" altLang="zh-CN" sz="2200" dirty="0">
                <a:solidFill>
                  <a:srgbClr val="0000FF"/>
                </a:solidFill>
                <a:latin typeface="Verdana" pitchFamily="34" charset="0"/>
                <a:ea typeface="楷体_GB2312" pitchFamily="49" charset="-122"/>
              </a:rPr>
              <a:t>B</a:t>
            </a:r>
            <a:r>
              <a:rPr lang="zh-CN" altLang="en-US" sz="2200" dirty="0">
                <a:latin typeface="Verdana" pitchFamily="34" charset="0"/>
                <a:ea typeface="楷体_GB2312" pitchFamily="49" charset="-122"/>
              </a:rPr>
              <a:t>：每秒信号调制次数</a:t>
            </a:r>
            <a:r>
              <a:rPr lang="en-US" altLang="zh-CN" sz="2200" dirty="0">
                <a:latin typeface="Verdana" pitchFamily="34" charset="0"/>
                <a:ea typeface="楷体_GB2312" pitchFamily="49" charset="-122"/>
              </a:rPr>
              <a:t>(</a:t>
            </a:r>
            <a:r>
              <a:rPr lang="zh-CN" altLang="en-US" sz="2200" dirty="0">
                <a:latin typeface="Verdana" pitchFamily="34" charset="0"/>
                <a:ea typeface="楷体_GB2312" pitchFamily="49" charset="-122"/>
              </a:rPr>
              <a:t>次</a:t>
            </a:r>
            <a:r>
              <a:rPr lang="en-US" altLang="zh-CN" sz="2200" dirty="0">
                <a:latin typeface="Verdana" pitchFamily="34" charset="0"/>
                <a:ea typeface="楷体_GB2312" pitchFamily="49" charset="-122"/>
              </a:rPr>
              <a:t>/</a:t>
            </a:r>
            <a:r>
              <a:rPr lang="zh-CN" altLang="en-US" sz="2200" dirty="0">
                <a:latin typeface="Verdana" pitchFamily="34" charset="0"/>
                <a:ea typeface="楷体_GB2312" pitchFamily="49" charset="-122"/>
              </a:rPr>
              <a:t>秒</a:t>
            </a:r>
            <a:r>
              <a:rPr lang="en-US" altLang="zh-CN" sz="2200" dirty="0">
                <a:latin typeface="Verdana" pitchFamily="34" charset="0"/>
                <a:ea typeface="楷体_GB2312" pitchFamily="49" charset="-122"/>
              </a:rPr>
              <a:t>)</a:t>
            </a:r>
            <a:r>
              <a:rPr lang="zh-CN" altLang="en-US" sz="2200" dirty="0">
                <a:latin typeface="Verdana" pitchFamily="34" charset="0"/>
                <a:ea typeface="楷体_GB2312" pitchFamily="49" charset="-122"/>
              </a:rPr>
              <a:t>，或称码元率</a:t>
            </a:r>
            <a:r>
              <a:rPr lang="en-US" altLang="zh-CN" sz="2200" dirty="0">
                <a:latin typeface="Verdana" pitchFamily="34" charset="0"/>
                <a:ea typeface="楷体_GB2312" pitchFamily="49" charset="-122"/>
              </a:rPr>
              <a:t>/</a:t>
            </a:r>
            <a:r>
              <a:rPr lang="zh-CN" altLang="en-US" sz="2200" dirty="0">
                <a:solidFill>
                  <a:srgbClr val="000000"/>
                </a:solidFill>
                <a:latin typeface="Verdana" pitchFamily="34" charset="0"/>
                <a:ea typeface="楷体_GB2312" pitchFamily="49" charset="-122"/>
              </a:rPr>
              <a:t>线路</a:t>
            </a:r>
            <a:r>
              <a:rPr lang="zh-CN" altLang="en-US" sz="2200" dirty="0">
                <a:solidFill>
                  <a:srgbClr val="FF0000"/>
                </a:solidFill>
                <a:latin typeface="Verdana" pitchFamily="34" charset="0"/>
                <a:ea typeface="楷体_GB2312" pitchFamily="49" charset="-122"/>
              </a:rPr>
              <a:t>信号</a:t>
            </a:r>
            <a:r>
              <a:rPr lang="zh-CN" altLang="en-US" sz="2200" dirty="0">
                <a:solidFill>
                  <a:srgbClr val="000000"/>
                </a:solidFill>
                <a:latin typeface="Verdana" pitchFamily="34" charset="0"/>
                <a:ea typeface="楷体_GB2312" pitchFamily="49" charset="-122"/>
              </a:rPr>
              <a:t>速率</a:t>
            </a:r>
            <a:r>
              <a:rPr lang="en-US" altLang="zh-CN" sz="2200" dirty="0">
                <a:solidFill>
                  <a:srgbClr val="000000"/>
                </a:solidFill>
                <a:latin typeface="Verdana" pitchFamily="34" charset="0"/>
                <a:ea typeface="楷体_GB2312" pitchFamily="49" charset="-122"/>
              </a:rPr>
              <a:t>/</a:t>
            </a:r>
            <a:r>
              <a:rPr lang="zh-CN" altLang="en-US" sz="2200" dirty="0">
                <a:solidFill>
                  <a:srgbClr val="FF0000"/>
                </a:solidFill>
                <a:latin typeface="Verdana" pitchFamily="34" charset="0"/>
                <a:ea typeface="楷体_GB2312" pitchFamily="49" charset="-122"/>
              </a:rPr>
              <a:t>调制</a:t>
            </a:r>
            <a:r>
              <a:rPr lang="zh-CN" altLang="en-US" sz="2200" dirty="0">
                <a:solidFill>
                  <a:srgbClr val="000000"/>
                </a:solidFill>
                <a:latin typeface="Verdana" pitchFamily="34" charset="0"/>
                <a:ea typeface="楷体_GB2312" pitchFamily="49" charset="-122"/>
              </a:rPr>
              <a:t>速率</a:t>
            </a:r>
            <a:r>
              <a:rPr lang="en-US" altLang="zh-CN" sz="2200" dirty="0">
                <a:solidFill>
                  <a:srgbClr val="000000"/>
                </a:solidFill>
                <a:latin typeface="Verdana" pitchFamily="34" charset="0"/>
                <a:ea typeface="楷体_GB2312" pitchFamily="49" charset="-122"/>
              </a:rPr>
              <a:t>/</a:t>
            </a:r>
            <a:r>
              <a:rPr lang="zh-CN" altLang="en-US" sz="2200" dirty="0">
                <a:solidFill>
                  <a:schemeClr val="hlink"/>
                </a:solidFill>
                <a:latin typeface="Verdana" pitchFamily="34" charset="0"/>
                <a:ea typeface="楷体_GB2312" pitchFamily="49" charset="-122"/>
              </a:rPr>
              <a:t>符号</a:t>
            </a:r>
            <a:r>
              <a:rPr lang="zh-CN" altLang="en-US" sz="2200" dirty="0">
                <a:solidFill>
                  <a:srgbClr val="000000"/>
                </a:solidFill>
                <a:latin typeface="Verdana" pitchFamily="34" charset="0"/>
                <a:ea typeface="楷体_GB2312" pitchFamily="49" charset="-122"/>
              </a:rPr>
              <a:t>速率。以波形每秒的调制数来衡量。</a:t>
            </a:r>
            <a:r>
              <a:rPr lang="zh-CN" altLang="en-US" sz="2200" dirty="0">
                <a:solidFill>
                  <a:srgbClr val="008080"/>
                </a:solidFill>
                <a:latin typeface="Verdana" pitchFamily="34" charset="0"/>
                <a:ea typeface="楷体_GB2312" pitchFamily="49" charset="-122"/>
              </a:rPr>
              <a:t> </a:t>
            </a:r>
          </a:p>
          <a:p>
            <a:pPr eaLnBrk="1" hangingPunct="1">
              <a:lnSpc>
                <a:spcPct val="120000"/>
              </a:lnSpc>
              <a:spcBef>
                <a:spcPct val="15000"/>
              </a:spcBef>
              <a:buClr>
                <a:schemeClr val="tx1"/>
              </a:buClr>
              <a:buFont typeface="Wingdings" panose="05000000000000000000" pitchFamily="2" charset="2"/>
              <a:buNone/>
              <a:defRPr/>
            </a:pPr>
            <a:r>
              <a:rPr lang="zh-CN" altLang="en-US" sz="2200" dirty="0">
                <a:latin typeface="Verdana" pitchFamily="34" charset="0"/>
                <a:ea typeface="楷体_GB2312" pitchFamily="49" charset="-122"/>
              </a:rPr>
              <a:t>        为了提高信息传输率，必须设法使每个码元</a:t>
            </a:r>
            <a:r>
              <a:rPr lang="en-US" altLang="zh-CN" sz="2200" dirty="0">
                <a:latin typeface="Verdana" pitchFamily="34" charset="0"/>
                <a:ea typeface="楷体_GB2312" pitchFamily="49" charset="-122"/>
              </a:rPr>
              <a:t>(</a:t>
            </a:r>
            <a:r>
              <a:rPr lang="zh-CN" altLang="en-US" sz="2200" dirty="0">
                <a:latin typeface="Verdana" pitchFamily="34" charset="0"/>
                <a:ea typeface="楷体_GB2312" pitchFamily="49" charset="-122"/>
              </a:rPr>
              <a:t>波形</a:t>
            </a:r>
            <a:r>
              <a:rPr lang="en-US" altLang="zh-CN" sz="2200" dirty="0">
                <a:latin typeface="Verdana" pitchFamily="34" charset="0"/>
                <a:ea typeface="楷体_GB2312" pitchFamily="49" charset="-122"/>
              </a:rPr>
              <a:t>)</a:t>
            </a:r>
            <a:r>
              <a:rPr lang="zh-CN" altLang="en-US" sz="2200" dirty="0">
                <a:latin typeface="Verdana" pitchFamily="34" charset="0"/>
                <a:ea typeface="楷体_GB2312" pitchFamily="49" charset="-122"/>
              </a:rPr>
              <a:t>能携带更多比特的信息，称</a:t>
            </a:r>
            <a:r>
              <a:rPr lang="zh-CN" altLang="en-US" sz="2200" b="1" dirty="0">
                <a:solidFill>
                  <a:srgbClr val="0000FF"/>
                </a:solidFill>
                <a:latin typeface="Verdana" pitchFamily="34" charset="0"/>
                <a:ea typeface="楷体_GB2312" pitchFamily="49" charset="-122"/>
              </a:rPr>
              <a:t>多元制</a:t>
            </a:r>
            <a:r>
              <a:rPr lang="zh-CN" altLang="en-US" sz="2200" dirty="0">
                <a:solidFill>
                  <a:srgbClr val="0000FF"/>
                </a:solidFill>
                <a:latin typeface="Verdana" pitchFamily="34" charset="0"/>
                <a:ea typeface="楷体_GB2312" pitchFamily="49" charset="-122"/>
              </a:rPr>
              <a:t>。</a:t>
            </a:r>
          </a:p>
          <a:p>
            <a:pPr eaLnBrk="1" hangingPunct="1">
              <a:lnSpc>
                <a:spcPct val="120000"/>
              </a:lnSpc>
              <a:spcBef>
                <a:spcPct val="15000"/>
              </a:spcBef>
              <a:buClr>
                <a:schemeClr val="tx1"/>
              </a:buClr>
              <a:buFont typeface="Wingdings" panose="05000000000000000000" pitchFamily="2" charset="2"/>
              <a:buChar char="Ø"/>
              <a:defRPr/>
            </a:pPr>
            <a:r>
              <a:rPr lang="zh-CN" altLang="en-US" sz="2200" b="1" dirty="0">
                <a:solidFill>
                  <a:srgbClr val="0000FF"/>
                </a:solidFill>
                <a:latin typeface="Verdana" pitchFamily="34" charset="0"/>
                <a:ea typeface="楷体_GB2312" pitchFamily="49" charset="-122"/>
              </a:rPr>
              <a:t>比特率</a:t>
            </a:r>
            <a:r>
              <a:rPr lang="en-US" altLang="zh-CN" sz="2200" dirty="0">
                <a:solidFill>
                  <a:srgbClr val="0000FF"/>
                </a:solidFill>
                <a:latin typeface="Verdana" pitchFamily="34" charset="0"/>
                <a:ea typeface="楷体_GB2312" pitchFamily="49" charset="-122"/>
              </a:rPr>
              <a:t>C</a:t>
            </a:r>
            <a:r>
              <a:rPr lang="zh-CN" altLang="en-US" sz="2200" dirty="0">
                <a:latin typeface="Verdana" pitchFamily="34" charset="0"/>
                <a:ea typeface="楷体_GB2312" pitchFamily="49" charset="-122"/>
              </a:rPr>
              <a:t>：每秒传送的位数  </a:t>
            </a:r>
            <a:r>
              <a:rPr lang="en-US" altLang="zh-CN" sz="2200" dirty="0">
                <a:latin typeface="Verdana" pitchFamily="34" charset="0"/>
                <a:ea typeface="楷体_GB2312" pitchFamily="49" charset="-122"/>
              </a:rPr>
              <a:t>(bit/s</a:t>
            </a:r>
            <a:r>
              <a:rPr lang="zh-CN" altLang="en-US" sz="2200" dirty="0">
                <a:latin typeface="Verdana" pitchFamily="34" charset="0"/>
                <a:ea typeface="楷体_GB2312" pitchFamily="49" charset="-122"/>
              </a:rPr>
              <a:t>，</a:t>
            </a:r>
            <a:r>
              <a:rPr lang="en-US" altLang="zh-CN" sz="2200" dirty="0">
                <a:latin typeface="Verdana" pitchFamily="34" charset="0"/>
                <a:ea typeface="楷体_GB2312" pitchFamily="49" charset="-122"/>
              </a:rPr>
              <a:t>bps)</a:t>
            </a:r>
          </a:p>
          <a:p>
            <a:pPr eaLnBrk="1" hangingPunct="1">
              <a:lnSpc>
                <a:spcPct val="120000"/>
              </a:lnSpc>
              <a:spcBef>
                <a:spcPct val="15000"/>
              </a:spcBef>
              <a:spcAft>
                <a:spcPct val="20000"/>
              </a:spcAft>
              <a:buClr>
                <a:schemeClr val="tx1"/>
              </a:buClr>
              <a:buFont typeface="Wingdings" panose="05000000000000000000" pitchFamily="2" charset="2"/>
              <a:buNone/>
              <a:defRPr/>
            </a:pPr>
            <a:r>
              <a:rPr lang="en-US" altLang="zh-CN" sz="2200" b="1" dirty="0">
                <a:solidFill>
                  <a:srgbClr val="0000FF"/>
                </a:solidFill>
                <a:latin typeface="Verdana" pitchFamily="34" charset="0"/>
                <a:ea typeface="楷体_GB2312" pitchFamily="49" charset="-122"/>
              </a:rPr>
              <a:t>      </a:t>
            </a:r>
            <a:r>
              <a:rPr lang="zh-CN" altLang="en-US" sz="2200" b="1" dirty="0">
                <a:solidFill>
                  <a:srgbClr val="0000FF"/>
                </a:solidFill>
                <a:latin typeface="Verdana" pitchFamily="34" charset="0"/>
                <a:ea typeface="楷体_GB2312" pitchFamily="49" charset="-122"/>
              </a:rPr>
              <a:t>二者关系</a:t>
            </a:r>
            <a:r>
              <a:rPr lang="zh-CN" altLang="en-US" sz="2200" dirty="0">
                <a:latin typeface="Verdana" pitchFamily="34" charset="0"/>
                <a:ea typeface="楷体_GB2312" pitchFamily="49" charset="-122"/>
              </a:rPr>
              <a:t>： </a:t>
            </a:r>
            <a:r>
              <a:rPr lang="en-US" altLang="zh-CN" sz="2200" dirty="0">
                <a:solidFill>
                  <a:schemeClr val="hlink"/>
                </a:solidFill>
                <a:effectLst>
                  <a:outerShdw blurRad="38100" dist="38100" dir="2700000" algn="tl">
                    <a:srgbClr val="C0C0C0"/>
                  </a:outerShdw>
                </a:effectLst>
                <a:latin typeface="Verdana" pitchFamily="34" charset="0"/>
                <a:ea typeface="楷体_GB2312" pitchFamily="49" charset="-122"/>
              </a:rPr>
              <a:t>C=Blog</a:t>
            </a:r>
            <a:r>
              <a:rPr lang="en-US" altLang="zh-CN" sz="2200" baseline="-25000" dirty="0">
                <a:solidFill>
                  <a:schemeClr val="hlink"/>
                </a:solidFill>
                <a:effectLst>
                  <a:outerShdw blurRad="38100" dist="38100" dir="2700000" algn="tl">
                    <a:srgbClr val="C0C0C0"/>
                  </a:outerShdw>
                </a:effectLst>
                <a:latin typeface="Verdana" pitchFamily="34" charset="0"/>
                <a:ea typeface="楷体_GB2312" pitchFamily="49" charset="-122"/>
              </a:rPr>
              <a:t>2</a:t>
            </a:r>
            <a:r>
              <a:rPr lang="en-US" altLang="zh-CN" sz="2200" dirty="0">
                <a:solidFill>
                  <a:schemeClr val="hlink"/>
                </a:solidFill>
                <a:effectLst>
                  <a:outerShdw blurRad="38100" dist="38100" dir="2700000" algn="tl">
                    <a:srgbClr val="C0C0C0"/>
                  </a:outerShdw>
                </a:effectLst>
                <a:latin typeface="Verdana" pitchFamily="34" charset="0"/>
                <a:ea typeface="楷体_GB2312" pitchFamily="49" charset="-122"/>
              </a:rPr>
              <a:t>L</a:t>
            </a:r>
          </a:p>
          <a:p>
            <a:pPr eaLnBrk="1" hangingPunct="1">
              <a:lnSpc>
                <a:spcPct val="120000"/>
              </a:lnSpc>
              <a:spcBef>
                <a:spcPct val="15000"/>
              </a:spcBef>
              <a:buClr>
                <a:schemeClr val="tx1"/>
              </a:buClr>
              <a:buFont typeface="Wingdings" panose="05000000000000000000" pitchFamily="2" charset="2"/>
              <a:buNone/>
              <a:defRPr/>
            </a:pPr>
            <a:r>
              <a:rPr lang="zh-CN" altLang="en-US" sz="2200" b="1" dirty="0">
                <a:solidFill>
                  <a:schemeClr val="hlink"/>
                </a:solidFill>
                <a:effectLst>
                  <a:outerShdw blurRad="38100" dist="38100" dir="2700000" algn="tl">
                    <a:srgbClr val="C0C0C0"/>
                  </a:outerShdw>
                </a:effectLst>
                <a:latin typeface="Verdana" pitchFamily="34" charset="0"/>
                <a:ea typeface="楷体_GB2312" pitchFamily="49" charset="-122"/>
              </a:rPr>
              <a:t>例</a:t>
            </a:r>
            <a:r>
              <a:rPr lang="en-US" altLang="zh-CN" sz="2200" dirty="0">
                <a:solidFill>
                  <a:schemeClr val="hlink"/>
                </a:solidFill>
                <a:effectLst>
                  <a:outerShdw blurRad="38100" dist="38100" dir="2700000" algn="tl">
                    <a:srgbClr val="C0C0C0"/>
                  </a:outerShdw>
                </a:effectLst>
                <a:latin typeface="Verdana" pitchFamily="34" charset="0"/>
                <a:ea typeface="楷体_GB2312" pitchFamily="49" charset="-122"/>
              </a:rPr>
              <a:t>1</a:t>
            </a:r>
            <a:r>
              <a:rPr lang="zh-CN" altLang="en-US" sz="2200" b="1" dirty="0">
                <a:solidFill>
                  <a:schemeClr val="hlink"/>
                </a:solidFill>
                <a:latin typeface="Verdana" pitchFamily="34" charset="0"/>
                <a:ea typeface="楷体_GB2312" pitchFamily="49" charset="-122"/>
              </a:rPr>
              <a:t>：</a:t>
            </a:r>
            <a:r>
              <a:rPr lang="zh-CN" altLang="en-US" sz="2200" dirty="0">
                <a:latin typeface="Verdana" pitchFamily="34" charset="0"/>
                <a:ea typeface="楷体_GB2312" pitchFamily="49" charset="-122"/>
              </a:rPr>
              <a:t>开关键控：每个符号传送一个逻辑比特。</a:t>
            </a:r>
            <a:r>
              <a:rPr lang="en-US" altLang="zh-CN" sz="2200" dirty="0">
                <a:latin typeface="Verdana" pitchFamily="34" charset="0"/>
                <a:ea typeface="楷体_GB2312" pitchFamily="49" charset="-122"/>
              </a:rPr>
              <a:t>B=C</a:t>
            </a:r>
          </a:p>
        </p:txBody>
      </p:sp>
      <p:graphicFrame>
        <p:nvGraphicFramePr>
          <p:cNvPr id="24583" name="Object 5"/>
          <p:cNvGraphicFramePr>
            <a:graphicFrameLocks noChangeAspect="1"/>
          </p:cNvGraphicFramePr>
          <p:nvPr/>
        </p:nvGraphicFramePr>
        <p:xfrm>
          <a:off x="3719736" y="4437112"/>
          <a:ext cx="5030854" cy="1944216"/>
        </p:xfrm>
        <a:graphic>
          <a:graphicData uri="http://schemas.openxmlformats.org/presentationml/2006/ole">
            <mc:AlternateContent xmlns:mc="http://schemas.openxmlformats.org/markup-compatibility/2006">
              <mc:Choice xmlns:v="urn:schemas-microsoft-com:vml" Requires="v">
                <p:oleObj name="位图图像" r:id="rId2" imgW="2809524" imgH="1085714" progId="Paint.Picture">
                  <p:embed/>
                </p:oleObj>
              </mc:Choice>
              <mc:Fallback>
                <p:oleObj name="位图图像" r:id="rId2" imgW="2809524" imgH="1085714" progId="Paint.Picture">
                  <p:embed/>
                  <p:pic>
                    <p:nvPicPr>
                      <p:cNvPr id="2458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736" y="4437112"/>
                        <a:ext cx="5030854" cy="194421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73443237"/>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Computer Network</a:t>
            </a:r>
          </a:p>
        </p:txBody>
      </p:sp>
      <p:sp>
        <p:nvSpPr>
          <p:cNvPr id="25603"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C399CB8-58EB-49FE-9B54-90478A83B9FC}" type="slidenum">
              <a:rPr lang="en-US" altLang="zh-CN" sz="1200">
                <a:latin typeface="Arial Black" panose="020B0A04020102020204" pitchFamily="34" charset="0"/>
              </a:rPr>
              <a:pPr>
                <a:spcBef>
                  <a:spcPct val="0"/>
                </a:spcBef>
                <a:buClrTx/>
                <a:buSzTx/>
                <a:buFontTx/>
                <a:buNone/>
              </a:pPr>
              <a:t>31</a:t>
            </a:fld>
            <a:endParaRPr lang="en-US" altLang="zh-CN" sz="1200">
              <a:latin typeface="Arial Black" panose="020B0A04020102020204" pitchFamily="34" charset="0"/>
            </a:endParaRPr>
          </a:p>
        </p:txBody>
      </p:sp>
      <p:sp>
        <p:nvSpPr>
          <p:cNvPr id="7" name="日期占位符 3"/>
          <p:cNvSpPr>
            <a:spLocks noGrp="1"/>
          </p:cNvSpPr>
          <p:nvPr>
            <p:ph type="dt" sz="quarter" idx="12"/>
          </p:nvPr>
        </p:nvSpPr>
        <p:spPr/>
        <p:txBody>
          <a:bodyPr/>
          <a:lstStyle/>
          <a:p>
            <a:pPr>
              <a:defRPr/>
            </a:pPr>
            <a:fld id="{8F0941D7-277E-4A0F-8E79-FF70C1EABBC7}" type="datetime1">
              <a:rPr lang="zh-CN" altLang="en-US"/>
              <a:pPr>
                <a:defRPr/>
              </a:pPr>
              <a:t>2024/9/27</a:t>
            </a:fld>
            <a:endParaRPr lang="en-US" altLang="zh-CN"/>
          </a:p>
        </p:txBody>
      </p:sp>
      <p:sp>
        <p:nvSpPr>
          <p:cNvPr id="876548" name="Rectangle 4"/>
          <p:cNvSpPr>
            <a:spLocks noChangeArrowheads="1"/>
          </p:cNvSpPr>
          <p:nvPr/>
        </p:nvSpPr>
        <p:spPr bwMode="auto">
          <a:xfrm>
            <a:off x="2286001" y="838201"/>
            <a:ext cx="7554913" cy="126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lnSpc>
                <a:spcPct val="115000"/>
              </a:lnSpc>
              <a:spcBef>
                <a:spcPct val="20000"/>
              </a:spcBef>
              <a:buClr>
                <a:schemeClr val="tx1"/>
              </a:buClr>
              <a:buSzPct val="75000"/>
              <a:buFont typeface="Wingdings" panose="05000000000000000000" pitchFamily="2" charset="2"/>
              <a:buNone/>
              <a:defRPr/>
            </a:pPr>
            <a:r>
              <a:rPr lang="en-US" altLang="zh-CN" sz="2400" dirty="0">
                <a:latin typeface="Verdana" pitchFamily="34" charset="0"/>
              </a:rPr>
              <a:t> </a:t>
            </a:r>
            <a:r>
              <a:rPr lang="zh-CN" altLang="en-US" sz="2400" dirty="0">
                <a:solidFill>
                  <a:schemeClr val="hlink"/>
                </a:solidFill>
                <a:effectLst>
                  <a:outerShdw blurRad="38100" dist="38100" dir="2700000" algn="tl">
                    <a:srgbClr val="C0C0C0"/>
                  </a:outerShdw>
                </a:effectLst>
                <a:latin typeface="Verdana" pitchFamily="34" charset="0"/>
              </a:rPr>
              <a:t>例</a:t>
            </a:r>
            <a:r>
              <a:rPr lang="en-US" altLang="zh-CN" sz="2400" dirty="0">
                <a:solidFill>
                  <a:schemeClr val="hlink"/>
                </a:solidFill>
                <a:effectLst>
                  <a:outerShdw blurRad="38100" dist="38100" dir="2700000" algn="tl">
                    <a:srgbClr val="C0C0C0"/>
                  </a:outerShdw>
                </a:effectLst>
                <a:latin typeface="Verdana" pitchFamily="34" charset="0"/>
              </a:rPr>
              <a:t>2</a:t>
            </a:r>
            <a:r>
              <a:rPr lang="zh-CN" altLang="en-US" sz="2400" dirty="0">
                <a:solidFill>
                  <a:schemeClr val="hlink"/>
                </a:solidFill>
                <a:latin typeface="Verdana" pitchFamily="34" charset="0"/>
              </a:rPr>
              <a:t>：</a:t>
            </a:r>
            <a:r>
              <a:rPr lang="en-US" altLang="zh-CN" sz="2400" dirty="0">
                <a:latin typeface="Verdana" pitchFamily="34" charset="0"/>
              </a:rPr>
              <a:t>2B1Q(</a:t>
            </a:r>
            <a:r>
              <a:rPr lang="zh-CN" altLang="en-US" sz="2400" dirty="0">
                <a:latin typeface="Verdana" pitchFamily="34" charset="0"/>
              </a:rPr>
              <a:t>二比特一组四电平码</a:t>
            </a:r>
            <a:r>
              <a:rPr lang="en-US" altLang="zh-CN" sz="2400" dirty="0">
                <a:latin typeface="Verdana" pitchFamily="34" charset="0"/>
              </a:rPr>
              <a:t>)</a:t>
            </a:r>
            <a:r>
              <a:rPr lang="zh-CN" altLang="en-US" sz="2400" dirty="0">
                <a:latin typeface="Verdana" pitchFamily="34" charset="0"/>
              </a:rPr>
              <a:t>，四级振幅用于二位编码，使每个符号</a:t>
            </a:r>
            <a:r>
              <a:rPr lang="en-US" altLang="zh-CN" sz="2400" dirty="0">
                <a:latin typeface="Verdana" pitchFamily="34" charset="0"/>
              </a:rPr>
              <a:t>(</a:t>
            </a:r>
            <a:r>
              <a:rPr lang="zh-CN" altLang="en-US" sz="2400" dirty="0">
                <a:latin typeface="Verdana" pitchFamily="34" charset="0"/>
              </a:rPr>
              <a:t>码元</a:t>
            </a:r>
            <a:r>
              <a:rPr lang="en-US" altLang="zh-CN" sz="2400" dirty="0">
                <a:latin typeface="Verdana" pitchFamily="34" charset="0"/>
              </a:rPr>
              <a:t>)</a:t>
            </a:r>
            <a:r>
              <a:rPr lang="zh-CN" altLang="en-US" sz="2400" dirty="0">
                <a:latin typeface="Verdana" pitchFamily="34" charset="0"/>
              </a:rPr>
              <a:t>传更多的比特。下例中</a:t>
            </a:r>
            <a:r>
              <a:rPr lang="en-US" altLang="zh-CN" sz="2400" dirty="0">
                <a:latin typeface="Verdana" pitchFamily="34" charset="0"/>
              </a:rPr>
              <a:t>6</a:t>
            </a:r>
            <a:r>
              <a:rPr lang="zh-CN" altLang="en-US" sz="2400" dirty="0">
                <a:latin typeface="Verdana" pitchFamily="34" charset="0"/>
              </a:rPr>
              <a:t>个符号传</a:t>
            </a:r>
            <a:r>
              <a:rPr lang="en-US" altLang="zh-CN" sz="2400" dirty="0">
                <a:latin typeface="Verdana" pitchFamily="34" charset="0"/>
              </a:rPr>
              <a:t>12bits</a:t>
            </a:r>
            <a:r>
              <a:rPr lang="zh-CN" altLang="en-US" sz="2400" dirty="0">
                <a:latin typeface="Verdana" pitchFamily="34" charset="0"/>
              </a:rPr>
              <a:t>，</a:t>
            </a:r>
            <a:r>
              <a:rPr lang="en-US" altLang="zh-CN" sz="2400" dirty="0">
                <a:latin typeface="Verdana" pitchFamily="34" charset="0"/>
              </a:rPr>
              <a:t>11 </a:t>
            </a:r>
            <a:r>
              <a:rPr lang="en-US" altLang="zh-CN" sz="2400" dirty="0">
                <a:solidFill>
                  <a:srgbClr val="FF0000"/>
                </a:solidFill>
                <a:latin typeface="Verdana" pitchFamily="34" charset="0"/>
              </a:rPr>
              <a:t>01</a:t>
            </a:r>
            <a:r>
              <a:rPr lang="en-US" altLang="zh-CN" sz="2400" dirty="0">
                <a:latin typeface="Verdana" pitchFamily="34" charset="0"/>
              </a:rPr>
              <a:t> 10 </a:t>
            </a:r>
            <a:r>
              <a:rPr lang="en-US" altLang="zh-CN" sz="2400" dirty="0">
                <a:solidFill>
                  <a:srgbClr val="FF0000"/>
                </a:solidFill>
                <a:latin typeface="Verdana" pitchFamily="34" charset="0"/>
              </a:rPr>
              <a:t>00</a:t>
            </a:r>
            <a:r>
              <a:rPr lang="en-US" altLang="zh-CN" sz="2400" dirty="0">
                <a:latin typeface="Verdana" pitchFamily="34" charset="0"/>
              </a:rPr>
              <a:t> 11 </a:t>
            </a:r>
            <a:r>
              <a:rPr lang="en-US" altLang="zh-CN" sz="2400" dirty="0">
                <a:solidFill>
                  <a:srgbClr val="FF0000"/>
                </a:solidFill>
                <a:latin typeface="Verdana" pitchFamily="34" charset="0"/>
              </a:rPr>
              <a:t>01</a:t>
            </a:r>
            <a:r>
              <a:rPr lang="zh-CN" altLang="en-US" sz="2400" dirty="0">
                <a:latin typeface="Verdana" pitchFamily="34" charset="0"/>
              </a:rPr>
              <a:t>。</a:t>
            </a:r>
            <a:endParaRPr lang="zh-CN" altLang="en-US" sz="2400" dirty="0">
              <a:solidFill>
                <a:srgbClr val="0000FF"/>
              </a:solidFill>
              <a:effectLst>
                <a:outerShdw blurRad="38100" dist="38100" dir="2700000" algn="tl">
                  <a:srgbClr val="C0C0C0"/>
                </a:outerShdw>
              </a:effectLst>
              <a:latin typeface="Verdana" pitchFamily="34" charset="0"/>
            </a:endParaRPr>
          </a:p>
        </p:txBody>
      </p:sp>
      <p:sp>
        <p:nvSpPr>
          <p:cNvPr id="876550" name="Rectangle 6"/>
          <p:cNvSpPr>
            <a:spLocks noChangeArrowheads="1"/>
          </p:cNvSpPr>
          <p:nvPr/>
        </p:nvSpPr>
        <p:spPr bwMode="auto">
          <a:xfrm>
            <a:off x="2514600" y="5638800"/>
            <a:ext cx="5410200" cy="38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lnSpc>
                <a:spcPct val="110000"/>
              </a:lnSpc>
              <a:spcBef>
                <a:spcPct val="20000"/>
              </a:spcBef>
              <a:buClr>
                <a:schemeClr val="tx1"/>
              </a:buClr>
              <a:buSzPct val="75000"/>
              <a:buFont typeface="Wingdings" panose="05000000000000000000" pitchFamily="2" charset="2"/>
              <a:buNone/>
              <a:defRPr/>
            </a:pPr>
            <a:r>
              <a:rPr lang="zh-CN" altLang="en-US" sz="2400">
                <a:solidFill>
                  <a:srgbClr val="0000FF"/>
                </a:solidFill>
                <a:effectLst>
                  <a:outerShdw blurRad="38100" dist="38100" dir="2700000" algn="tl">
                    <a:srgbClr val="C0C0C0"/>
                  </a:outerShdw>
                </a:effectLst>
                <a:latin typeface="Verdana" pitchFamily="34" charset="0"/>
              </a:rPr>
              <a:t>可以看出：</a:t>
            </a:r>
            <a:r>
              <a:rPr lang="en-US" altLang="zh-CN" sz="2400">
                <a:solidFill>
                  <a:srgbClr val="0000FF"/>
                </a:solidFill>
                <a:effectLst>
                  <a:outerShdw blurRad="38100" dist="38100" dir="2700000" algn="tl">
                    <a:srgbClr val="C0C0C0"/>
                  </a:outerShdw>
                </a:effectLst>
                <a:latin typeface="Verdana" pitchFamily="34" charset="0"/>
              </a:rPr>
              <a:t>C= Blog</a:t>
            </a:r>
            <a:r>
              <a:rPr lang="en-US" altLang="zh-CN" sz="2400" baseline="-25000">
                <a:solidFill>
                  <a:srgbClr val="0000FF"/>
                </a:solidFill>
                <a:effectLst>
                  <a:outerShdw blurRad="38100" dist="38100" dir="2700000" algn="tl">
                    <a:srgbClr val="C0C0C0"/>
                  </a:outerShdw>
                </a:effectLst>
                <a:latin typeface="Verdana" pitchFamily="34" charset="0"/>
              </a:rPr>
              <a:t>2</a:t>
            </a:r>
            <a:r>
              <a:rPr lang="en-US" altLang="zh-CN" sz="2400">
                <a:solidFill>
                  <a:srgbClr val="0000FF"/>
                </a:solidFill>
                <a:effectLst>
                  <a:outerShdw blurRad="38100" dist="38100" dir="2700000" algn="tl">
                    <a:srgbClr val="C0C0C0"/>
                  </a:outerShdw>
                </a:effectLst>
                <a:latin typeface="Verdana" pitchFamily="34" charset="0"/>
              </a:rPr>
              <a:t>4=2B</a:t>
            </a:r>
          </a:p>
        </p:txBody>
      </p:sp>
      <p:pic>
        <p:nvPicPr>
          <p:cNvPr id="2560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151" y="2349501"/>
            <a:ext cx="4837113" cy="308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2738981"/>
      </p:ext>
    </p:extLst>
  </p:cSld>
  <p:clrMapOvr>
    <a:masterClrMapping/>
  </p:clrMapOvr>
  <p:transition spd="slow">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1"/>
          <p:cNvSpPr>
            <a:spLocks noGrp="1"/>
          </p:cNvSpPr>
          <p:nvPr>
            <p:ph type="ftr" sz="quarter" idx="10"/>
          </p:nvPr>
        </p:nvSpPr>
        <p:spPr/>
        <p:txBody>
          <a:bodyPr/>
          <a:lstStyle/>
          <a:p>
            <a:pPr>
              <a:defRPr/>
            </a:pPr>
            <a:r>
              <a:rPr lang="en-US" altLang="zh-CN"/>
              <a:t>Computer Network</a:t>
            </a:r>
          </a:p>
        </p:txBody>
      </p:sp>
      <p:sp>
        <p:nvSpPr>
          <p:cNvPr id="26627"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B846398-A0F6-4B89-B63D-A4A836B7824D}" type="slidenum">
              <a:rPr lang="en-US" altLang="zh-CN" sz="1200">
                <a:latin typeface="Arial Black" panose="020B0A04020102020204" pitchFamily="34" charset="0"/>
              </a:rPr>
              <a:pPr>
                <a:spcBef>
                  <a:spcPct val="0"/>
                </a:spcBef>
                <a:buClrTx/>
                <a:buSzTx/>
                <a:buFontTx/>
                <a:buNone/>
              </a:pPr>
              <a:t>32</a:t>
            </a:fld>
            <a:endParaRPr lang="en-US" altLang="zh-CN" sz="1200">
              <a:latin typeface="Arial Black" panose="020B0A04020102020204" pitchFamily="34" charset="0"/>
            </a:endParaRPr>
          </a:p>
        </p:txBody>
      </p:sp>
      <p:sp>
        <p:nvSpPr>
          <p:cNvPr id="9" name="日期占位符 3"/>
          <p:cNvSpPr>
            <a:spLocks noGrp="1"/>
          </p:cNvSpPr>
          <p:nvPr>
            <p:ph type="dt" sz="quarter" idx="12"/>
          </p:nvPr>
        </p:nvSpPr>
        <p:spPr/>
        <p:txBody>
          <a:bodyPr/>
          <a:lstStyle/>
          <a:p>
            <a:pPr>
              <a:defRPr/>
            </a:pPr>
            <a:fld id="{6D019ED6-ADDF-4BDB-861C-6511E7718063}" type="datetime1">
              <a:rPr lang="zh-CN" altLang="en-US"/>
              <a:pPr>
                <a:defRPr/>
              </a:pPr>
              <a:t>2024/9/27</a:t>
            </a:fld>
            <a:endParaRPr lang="en-US" altLang="zh-CN"/>
          </a:p>
        </p:txBody>
      </p:sp>
      <p:sp>
        <p:nvSpPr>
          <p:cNvPr id="877570" name="Rectangle 2"/>
          <p:cNvSpPr>
            <a:spLocks noChangeArrowheads="1"/>
          </p:cNvSpPr>
          <p:nvPr/>
        </p:nvSpPr>
        <p:spPr bwMode="auto">
          <a:xfrm>
            <a:off x="2063552" y="762000"/>
            <a:ext cx="7766248" cy="5650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lIns="0" tIns="0" rIns="0" bIns="0">
            <a:spAutoFit/>
          </a:bodyPr>
          <a:lstStyle/>
          <a:p>
            <a:pPr eaLnBrk="1" hangingPunct="1">
              <a:lnSpc>
                <a:spcPct val="110000"/>
              </a:lnSpc>
              <a:spcBef>
                <a:spcPct val="20000"/>
              </a:spcBef>
              <a:buClr>
                <a:schemeClr val="tx1"/>
              </a:buClr>
              <a:buSzPct val="75000"/>
              <a:buFont typeface="Wingdings" panose="05000000000000000000" pitchFamily="2" charset="2"/>
              <a:buNone/>
              <a:defRPr/>
            </a:pPr>
            <a:r>
              <a:rPr lang="en-US" altLang="zh-CN" sz="2400" dirty="0">
                <a:latin typeface="Times New Roman" pitchFamily="18" charset="0"/>
              </a:rPr>
              <a:t> </a:t>
            </a:r>
            <a:r>
              <a:rPr lang="zh-CN" altLang="en-US" sz="2400" dirty="0">
                <a:solidFill>
                  <a:schemeClr val="hlink"/>
                </a:solidFill>
                <a:latin typeface="Verdana" pitchFamily="34" charset="0"/>
              </a:rPr>
              <a:t>例</a:t>
            </a:r>
            <a:r>
              <a:rPr lang="en-US" altLang="zh-CN" sz="2400" dirty="0">
                <a:solidFill>
                  <a:schemeClr val="hlink"/>
                </a:solidFill>
                <a:latin typeface="Verdana" pitchFamily="34" charset="0"/>
              </a:rPr>
              <a:t>3</a:t>
            </a:r>
            <a:r>
              <a:rPr lang="zh-CN" altLang="en-US" sz="2400" dirty="0">
                <a:solidFill>
                  <a:schemeClr val="hlink"/>
                </a:solidFill>
                <a:latin typeface="Verdana" pitchFamily="34" charset="0"/>
              </a:rPr>
              <a:t>：</a:t>
            </a:r>
            <a:r>
              <a:rPr lang="zh-CN" altLang="en-US" sz="2400" dirty="0">
                <a:latin typeface="Times New Roman" pitchFamily="18" charset="0"/>
              </a:rPr>
              <a:t>同理：采用</a:t>
            </a:r>
            <a:r>
              <a:rPr lang="en-US" altLang="zh-CN" sz="2400" dirty="0">
                <a:latin typeface="Times New Roman" pitchFamily="18" charset="0"/>
              </a:rPr>
              <a:t>16</a:t>
            </a:r>
            <a:r>
              <a:rPr lang="zh-CN" altLang="en-US" sz="2400" dirty="0">
                <a:latin typeface="Times New Roman" pitchFamily="18" charset="0"/>
              </a:rPr>
              <a:t>元制</a:t>
            </a:r>
            <a:r>
              <a:rPr lang="en-US" altLang="zh-CN" sz="2400" dirty="0">
                <a:latin typeface="Times New Roman" pitchFamily="18" charset="0"/>
              </a:rPr>
              <a:t>(</a:t>
            </a:r>
            <a:r>
              <a:rPr lang="zh-CN" altLang="en-US" sz="2400" dirty="0">
                <a:latin typeface="Times New Roman" pitchFamily="18" charset="0"/>
              </a:rPr>
              <a:t>有</a:t>
            </a:r>
            <a:r>
              <a:rPr lang="en-US" altLang="zh-CN" sz="2400" dirty="0">
                <a:latin typeface="Times New Roman" pitchFamily="18" charset="0"/>
              </a:rPr>
              <a:t>16</a:t>
            </a:r>
            <a:r>
              <a:rPr lang="zh-CN" altLang="en-US" sz="2400" dirty="0">
                <a:latin typeface="Times New Roman" pitchFamily="18" charset="0"/>
              </a:rPr>
              <a:t>种信号</a:t>
            </a:r>
            <a:r>
              <a:rPr lang="en-US" altLang="zh-CN" sz="2400" dirty="0">
                <a:latin typeface="Times New Roman" pitchFamily="18" charset="0"/>
              </a:rPr>
              <a:t>)</a:t>
            </a:r>
            <a:r>
              <a:rPr lang="zh-CN" altLang="en-US" sz="2400" dirty="0">
                <a:latin typeface="Times New Roman" pitchFamily="18" charset="0"/>
              </a:rPr>
              <a:t>，一个码元</a:t>
            </a:r>
            <a:r>
              <a:rPr lang="en-US" altLang="zh-CN" sz="2400" dirty="0">
                <a:latin typeface="Times New Roman" pitchFamily="18" charset="0"/>
              </a:rPr>
              <a:t>(</a:t>
            </a:r>
            <a:r>
              <a:rPr lang="zh-CN" altLang="en-US" sz="2400" dirty="0">
                <a:latin typeface="Times New Roman" pitchFamily="18" charset="0"/>
              </a:rPr>
              <a:t>信号</a:t>
            </a:r>
            <a:r>
              <a:rPr lang="en-US" altLang="zh-CN" sz="2400" dirty="0">
                <a:latin typeface="Times New Roman" pitchFamily="18" charset="0"/>
              </a:rPr>
              <a:t>)</a:t>
            </a:r>
            <a:r>
              <a:rPr lang="zh-CN" altLang="en-US" sz="2400" dirty="0">
                <a:latin typeface="Times New Roman" pitchFamily="18" charset="0"/>
              </a:rPr>
              <a:t>携带</a:t>
            </a:r>
            <a:r>
              <a:rPr lang="en-US" altLang="zh-CN" sz="2400" dirty="0">
                <a:latin typeface="Times New Roman" pitchFamily="18" charset="0"/>
              </a:rPr>
              <a:t>4bit</a:t>
            </a:r>
            <a:r>
              <a:rPr lang="zh-CN" altLang="en-US" sz="2400" dirty="0">
                <a:latin typeface="Times New Roman" pitchFamily="18" charset="0"/>
              </a:rPr>
              <a:t>信息。</a:t>
            </a:r>
            <a:r>
              <a:rPr lang="en-US" altLang="zh-CN" sz="2400" dirty="0">
                <a:solidFill>
                  <a:srgbClr val="0000FF"/>
                </a:solidFill>
                <a:effectLst>
                  <a:outerShdw blurRad="38100" dist="38100" dir="2700000" algn="tl">
                    <a:srgbClr val="C0C0C0"/>
                  </a:outerShdw>
                </a:effectLst>
                <a:latin typeface="Times New Roman" pitchFamily="18" charset="0"/>
              </a:rPr>
              <a:t>C= Blog</a:t>
            </a:r>
            <a:r>
              <a:rPr lang="en-US" altLang="zh-CN" sz="2400" baseline="-25000" dirty="0">
                <a:solidFill>
                  <a:srgbClr val="0000FF"/>
                </a:solidFill>
                <a:effectLst>
                  <a:outerShdw blurRad="38100" dist="38100" dir="2700000" algn="tl">
                    <a:srgbClr val="C0C0C0"/>
                  </a:outerShdw>
                </a:effectLst>
                <a:latin typeface="Times New Roman" pitchFamily="18" charset="0"/>
              </a:rPr>
              <a:t>2</a:t>
            </a:r>
            <a:r>
              <a:rPr lang="en-US" altLang="zh-CN" sz="2400" dirty="0">
                <a:solidFill>
                  <a:srgbClr val="0000FF"/>
                </a:solidFill>
                <a:effectLst>
                  <a:outerShdw blurRad="38100" dist="38100" dir="2700000" algn="tl">
                    <a:srgbClr val="C0C0C0"/>
                  </a:outerShdw>
                </a:effectLst>
                <a:latin typeface="Times New Roman" pitchFamily="18" charset="0"/>
              </a:rPr>
              <a:t>16=4B</a:t>
            </a:r>
          </a:p>
          <a:p>
            <a:pPr eaLnBrk="1" hangingPunct="1">
              <a:lnSpc>
                <a:spcPct val="110000"/>
              </a:lnSpc>
              <a:spcBef>
                <a:spcPct val="20000"/>
              </a:spcBef>
              <a:buClr>
                <a:schemeClr val="tx1"/>
              </a:buClr>
              <a:buSzPct val="75000"/>
              <a:buFont typeface="Wingdings" panose="05000000000000000000" pitchFamily="2" charset="2"/>
              <a:buNone/>
              <a:defRPr/>
            </a:pPr>
            <a:r>
              <a:rPr lang="en-US" altLang="zh-CN" sz="2400" dirty="0">
                <a:latin typeface="Times New Roman" pitchFamily="18" charset="0"/>
              </a:rPr>
              <a:t>      </a:t>
            </a:r>
            <a:r>
              <a:rPr lang="zh-CN" altLang="en-US" sz="2400" dirty="0">
                <a:latin typeface="Times New Roman" pitchFamily="18" charset="0"/>
              </a:rPr>
              <a:t>可以想象：要使每个符号传输</a:t>
            </a:r>
            <a:r>
              <a:rPr lang="en-US" altLang="zh-CN" sz="2400" dirty="0">
                <a:latin typeface="Times New Roman" pitchFamily="18" charset="0"/>
              </a:rPr>
              <a:t>k</a:t>
            </a:r>
            <a:r>
              <a:rPr lang="zh-CN" altLang="en-US" sz="2400" dirty="0">
                <a:latin typeface="Times New Roman" pitchFamily="18" charset="0"/>
              </a:rPr>
              <a:t>位比特，就需要      级电平，在提高数据传输速率的同时，也增加了接收机判别电平的难度。 </a:t>
            </a:r>
          </a:p>
          <a:p>
            <a:pPr eaLnBrk="1" hangingPunct="1">
              <a:lnSpc>
                <a:spcPct val="110000"/>
              </a:lnSpc>
              <a:spcBef>
                <a:spcPct val="20000"/>
              </a:spcBef>
              <a:buClr>
                <a:schemeClr val="tx1"/>
              </a:buClr>
              <a:buSzPct val="75000"/>
              <a:buFont typeface="Wingdings" panose="05000000000000000000" pitchFamily="2" charset="2"/>
              <a:buNone/>
              <a:defRPr/>
            </a:pPr>
            <a:r>
              <a:rPr lang="en-US" altLang="zh-CN" sz="2400" dirty="0">
                <a:effectLst>
                  <a:outerShdw blurRad="38100" dist="38100" dir="2700000" algn="tl">
                    <a:srgbClr val="C0C0C0"/>
                  </a:outerShdw>
                </a:effectLst>
                <a:latin typeface="Times New Roman" pitchFamily="18" charset="0"/>
                <a:ea typeface="宋体" pitchFamily="2" charset="-122"/>
                <a:cs typeface="Times New Roman" pitchFamily="18" charset="0"/>
              </a:rPr>
              <a:t>? </a:t>
            </a:r>
            <a:r>
              <a:rPr lang="zh-CN" altLang="en-US" sz="2400" dirty="0">
                <a:effectLst>
                  <a:outerShdw blurRad="38100" dist="38100" dir="2700000" algn="tl">
                    <a:srgbClr val="C0C0C0"/>
                  </a:outerShdw>
                </a:effectLst>
                <a:latin typeface="Times New Roman" pitchFamily="18" charset="0"/>
              </a:rPr>
              <a:t>问题</a:t>
            </a:r>
            <a:r>
              <a:rPr lang="zh-CN" altLang="en-US" sz="2400" dirty="0">
                <a:solidFill>
                  <a:srgbClr val="0000FF"/>
                </a:solidFill>
                <a:effectLst>
                  <a:outerShdw blurRad="38100" dist="38100" dir="2700000" algn="tl">
                    <a:srgbClr val="C0C0C0"/>
                  </a:outerShdw>
                </a:effectLst>
                <a:latin typeface="Times New Roman" pitchFamily="18" charset="0"/>
              </a:rPr>
              <a:t>：下述编码是否满足公式： </a:t>
            </a:r>
            <a:r>
              <a:rPr lang="en-US" altLang="zh-CN" sz="2400" dirty="0">
                <a:solidFill>
                  <a:schemeClr val="hlink"/>
                </a:solidFill>
                <a:effectLst>
                  <a:outerShdw blurRad="38100" dist="38100" dir="2700000" algn="tl">
                    <a:srgbClr val="C0C0C0"/>
                  </a:outerShdw>
                </a:effectLst>
                <a:latin typeface="Times New Roman" pitchFamily="18" charset="0"/>
              </a:rPr>
              <a:t>C=Blog</a:t>
            </a:r>
            <a:r>
              <a:rPr lang="en-US" altLang="zh-CN" sz="2400" baseline="-25000" dirty="0">
                <a:solidFill>
                  <a:schemeClr val="hlink"/>
                </a:solidFill>
                <a:effectLst>
                  <a:outerShdw blurRad="38100" dist="38100" dir="2700000" algn="tl">
                    <a:srgbClr val="C0C0C0"/>
                  </a:outerShdw>
                </a:effectLst>
                <a:latin typeface="Times New Roman" pitchFamily="18" charset="0"/>
              </a:rPr>
              <a:t>2</a:t>
            </a:r>
            <a:r>
              <a:rPr lang="en-US" altLang="zh-CN" sz="2400" dirty="0">
                <a:solidFill>
                  <a:schemeClr val="hlink"/>
                </a:solidFill>
                <a:effectLst>
                  <a:outerShdw blurRad="38100" dist="38100" dir="2700000" algn="tl">
                    <a:srgbClr val="C0C0C0"/>
                  </a:outerShdw>
                </a:effectLst>
                <a:latin typeface="Times New Roman" pitchFamily="18" charset="0"/>
              </a:rPr>
              <a:t>L </a:t>
            </a:r>
            <a:r>
              <a:rPr lang="zh-CN" altLang="en-US" sz="2400" dirty="0">
                <a:solidFill>
                  <a:schemeClr val="hlink"/>
                </a:solidFill>
                <a:effectLst>
                  <a:outerShdw blurRad="38100" dist="38100" dir="2700000" algn="tl">
                    <a:srgbClr val="C0C0C0"/>
                  </a:outerShdw>
                </a:effectLst>
                <a:latin typeface="Times New Roman" pitchFamily="18" charset="0"/>
              </a:rPr>
              <a:t>？？</a:t>
            </a:r>
            <a:endParaRPr lang="zh-CN" altLang="en-US" sz="2400" dirty="0">
              <a:solidFill>
                <a:srgbClr val="0000FF"/>
              </a:solidFill>
              <a:effectLst>
                <a:outerShdw blurRad="38100" dist="38100" dir="2700000" algn="tl">
                  <a:srgbClr val="C0C0C0"/>
                </a:outerShdw>
              </a:effectLst>
              <a:latin typeface="Times New Roman" pitchFamily="18" charset="0"/>
            </a:endParaRPr>
          </a:p>
          <a:p>
            <a:pPr eaLnBrk="1" hangingPunct="1">
              <a:lnSpc>
                <a:spcPct val="110000"/>
              </a:lnSpc>
              <a:spcBef>
                <a:spcPct val="20000"/>
              </a:spcBef>
              <a:buClr>
                <a:schemeClr val="tx1"/>
              </a:buClr>
              <a:buSzPct val="75000"/>
              <a:buFont typeface="Wingdings" panose="05000000000000000000" pitchFamily="2" charset="2"/>
              <a:buNone/>
              <a:defRPr/>
            </a:pPr>
            <a:r>
              <a:rPr lang="zh-CN" altLang="en-US" sz="2400" dirty="0">
                <a:solidFill>
                  <a:srgbClr val="0000FF"/>
                </a:solidFill>
                <a:latin typeface="Times New Roman" pitchFamily="18" charset="0"/>
              </a:rPr>
              <a:t>     为了提高网络传输速率，还有更高的编码：如局域网采用的</a:t>
            </a:r>
            <a:r>
              <a:rPr lang="en-US" altLang="zh-CN" sz="2400" dirty="0" err="1">
                <a:solidFill>
                  <a:srgbClr val="0000FF"/>
                </a:solidFill>
                <a:latin typeface="Times New Roman" pitchFamily="18" charset="0"/>
              </a:rPr>
              <a:t>nBmB</a:t>
            </a:r>
            <a:r>
              <a:rPr lang="en-US" altLang="zh-CN" sz="2400" dirty="0">
                <a:solidFill>
                  <a:srgbClr val="0000FF"/>
                </a:solidFill>
                <a:latin typeface="Times New Roman" pitchFamily="18" charset="0"/>
              </a:rPr>
              <a:t>: </a:t>
            </a:r>
            <a:r>
              <a:rPr lang="zh-CN" altLang="en-US" sz="2400" dirty="0">
                <a:solidFill>
                  <a:srgbClr val="0000FF"/>
                </a:solidFill>
                <a:latin typeface="Times New Roman" pitchFamily="18" charset="0"/>
              </a:rPr>
              <a:t>它是把原始信息流中</a:t>
            </a:r>
            <a:r>
              <a:rPr lang="en-US" altLang="zh-CN" sz="2400" dirty="0">
                <a:solidFill>
                  <a:srgbClr val="0000FF"/>
                </a:solidFill>
                <a:latin typeface="Times New Roman" pitchFamily="18" charset="0"/>
              </a:rPr>
              <a:t>n</a:t>
            </a:r>
            <a:r>
              <a:rPr lang="zh-CN" altLang="en-US" sz="2400" dirty="0">
                <a:solidFill>
                  <a:srgbClr val="0000FF"/>
                </a:solidFill>
                <a:latin typeface="Times New Roman" pitchFamily="18" charset="0"/>
              </a:rPr>
              <a:t>位比特的二进制码作为一组，变为</a:t>
            </a:r>
            <a:r>
              <a:rPr lang="en-US" altLang="zh-CN" sz="2400" dirty="0">
                <a:solidFill>
                  <a:srgbClr val="0000FF"/>
                </a:solidFill>
                <a:latin typeface="Times New Roman" pitchFamily="18" charset="0"/>
              </a:rPr>
              <a:t>m</a:t>
            </a:r>
            <a:r>
              <a:rPr lang="zh-CN" altLang="en-US" sz="2400" dirty="0">
                <a:solidFill>
                  <a:srgbClr val="0000FF"/>
                </a:solidFill>
                <a:latin typeface="Times New Roman" pitchFamily="18" charset="0"/>
              </a:rPr>
              <a:t>比特的二进制新码组。其中</a:t>
            </a:r>
            <a:r>
              <a:rPr lang="en-US" altLang="zh-CN" sz="2400" dirty="0">
                <a:solidFill>
                  <a:srgbClr val="0000FF"/>
                </a:solidFill>
                <a:latin typeface="Times New Roman" pitchFamily="18" charset="0"/>
              </a:rPr>
              <a:t>m&gt;n</a:t>
            </a:r>
            <a:r>
              <a:rPr lang="zh-CN" altLang="en-US" sz="2400" dirty="0">
                <a:solidFill>
                  <a:srgbClr val="0000FF"/>
                </a:solidFill>
                <a:latin typeface="Times New Roman" pitchFamily="18" charset="0"/>
              </a:rPr>
              <a:t>，由于新码组中有                 种多余的组合，可在       种组合中选择      个有利于传输的代码。</a:t>
            </a:r>
          </a:p>
          <a:p>
            <a:pPr eaLnBrk="1" hangingPunct="1">
              <a:lnSpc>
                <a:spcPct val="110000"/>
              </a:lnSpc>
              <a:spcBef>
                <a:spcPct val="20000"/>
              </a:spcBef>
              <a:buClr>
                <a:schemeClr val="tx1"/>
              </a:buClr>
              <a:buSzPct val="75000"/>
              <a:buFont typeface="Wingdings" panose="05000000000000000000" pitchFamily="2" charset="2"/>
              <a:buNone/>
              <a:defRPr/>
            </a:pPr>
            <a:endParaRPr lang="en-US" altLang="zh-CN" sz="2400" dirty="0">
              <a:solidFill>
                <a:srgbClr val="0000FF"/>
              </a:solidFill>
              <a:latin typeface="Times New Roman" pitchFamily="18" charset="0"/>
            </a:endParaRPr>
          </a:p>
          <a:p>
            <a:pPr eaLnBrk="1" hangingPunct="1">
              <a:lnSpc>
                <a:spcPct val="110000"/>
              </a:lnSpc>
              <a:spcBef>
                <a:spcPct val="20000"/>
              </a:spcBef>
              <a:buClr>
                <a:schemeClr val="tx1"/>
              </a:buClr>
              <a:buSzPct val="75000"/>
              <a:buFont typeface="Wingdings" panose="05000000000000000000" pitchFamily="2" charset="2"/>
              <a:buNone/>
              <a:defRPr/>
            </a:pPr>
            <a:r>
              <a:rPr lang="zh-CN" altLang="en-US" sz="2400" dirty="0">
                <a:solidFill>
                  <a:srgbClr val="0000FF"/>
                </a:solidFill>
                <a:latin typeface="Times New Roman" pitchFamily="18" charset="0"/>
              </a:rPr>
              <a:t>如百兆以太网采用</a:t>
            </a:r>
            <a:r>
              <a:rPr lang="en-US" altLang="zh-CN" sz="2400" dirty="0">
                <a:solidFill>
                  <a:srgbClr val="0000FF"/>
                </a:solidFill>
                <a:latin typeface="Times New Roman" pitchFamily="18" charset="0"/>
              </a:rPr>
              <a:t>5B6B</a:t>
            </a:r>
            <a:r>
              <a:rPr lang="zh-CN" altLang="en-US" sz="2400" dirty="0">
                <a:solidFill>
                  <a:srgbClr val="0000FF"/>
                </a:solidFill>
                <a:latin typeface="Times New Roman" pitchFamily="18" charset="0"/>
              </a:rPr>
              <a:t>编码，千兆以太网采用</a:t>
            </a:r>
            <a:r>
              <a:rPr lang="en-US" altLang="zh-CN" sz="2400" dirty="0">
                <a:solidFill>
                  <a:srgbClr val="0000FF"/>
                </a:solidFill>
                <a:latin typeface="Times New Roman" pitchFamily="18" charset="0"/>
              </a:rPr>
              <a:t>8B10B</a:t>
            </a:r>
            <a:r>
              <a:rPr lang="zh-CN" altLang="en-US" sz="2400" dirty="0">
                <a:solidFill>
                  <a:srgbClr val="0000FF"/>
                </a:solidFill>
                <a:latin typeface="Times New Roman" pitchFamily="18" charset="0"/>
              </a:rPr>
              <a:t>编码。      </a:t>
            </a:r>
          </a:p>
        </p:txBody>
      </p:sp>
      <p:graphicFrame>
        <p:nvGraphicFramePr>
          <p:cNvPr id="26630" name="Object 3"/>
          <p:cNvGraphicFramePr>
            <a:graphicFrameLocks noChangeAspect="1"/>
          </p:cNvGraphicFramePr>
          <p:nvPr/>
        </p:nvGraphicFramePr>
        <p:xfrm>
          <a:off x="3097213" y="4591051"/>
          <a:ext cx="1066800" cy="409575"/>
        </p:xfrm>
        <a:graphic>
          <a:graphicData uri="http://schemas.openxmlformats.org/presentationml/2006/ole">
            <mc:AlternateContent xmlns:mc="http://schemas.openxmlformats.org/markup-compatibility/2006">
              <mc:Choice xmlns:v="urn:schemas-microsoft-com:vml" Requires="v">
                <p:oleObj name="Equation" r:id="rId2" imgW="495085" imgH="190417" progId="Equation.3">
                  <p:embed/>
                </p:oleObj>
              </mc:Choice>
              <mc:Fallback>
                <p:oleObj name="Equation" r:id="rId2" imgW="495085" imgH="190417" progId="Equation.3">
                  <p:embed/>
                  <p:pic>
                    <p:nvPicPr>
                      <p:cNvPr id="2663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213" y="4591051"/>
                        <a:ext cx="10668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1" name="Object 4"/>
          <p:cNvGraphicFramePr>
            <a:graphicFrameLocks noChangeAspect="1"/>
          </p:cNvGraphicFramePr>
          <p:nvPr/>
        </p:nvGraphicFramePr>
        <p:xfrm>
          <a:off x="7086600" y="4552951"/>
          <a:ext cx="457200" cy="428625"/>
        </p:xfrm>
        <a:graphic>
          <a:graphicData uri="http://schemas.openxmlformats.org/presentationml/2006/ole">
            <mc:AlternateContent xmlns:mc="http://schemas.openxmlformats.org/markup-compatibility/2006">
              <mc:Choice xmlns:v="urn:schemas-microsoft-com:vml" Requires="v">
                <p:oleObj name="Equation" r:id="rId4" imgW="203112" imgH="190417" progId="Equation.3">
                  <p:embed/>
                </p:oleObj>
              </mc:Choice>
              <mc:Fallback>
                <p:oleObj name="Equation" r:id="rId4" imgW="203112" imgH="190417" progId="Equation.3">
                  <p:embed/>
                  <p:pic>
                    <p:nvPicPr>
                      <p:cNvPr id="2663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4552951"/>
                        <a:ext cx="45720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2" name="Object 5"/>
          <p:cNvGraphicFramePr>
            <a:graphicFrameLocks noChangeAspect="1"/>
          </p:cNvGraphicFramePr>
          <p:nvPr/>
        </p:nvGraphicFramePr>
        <p:xfrm>
          <a:off x="9410700" y="4552951"/>
          <a:ext cx="457200" cy="392113"/>
        </p:xfrm>
        <a:graphic>
          <a:graphicData uri="http://schemas.openxmlformats.org/presentationml/2006/ole">
            <mc:AlternateContent xmlns:mc="http://schemas.openxmlformats.org/markup-compatibility/2006">
              <mc:Choice xmlns:v="urn:schemas-microsoft-com:vml" Requires="v">
                <p:oleObj name="Equation" r:id="rId6" imgW="177646" imgH="190335" progId="Equation.3">
                  <p:embed/>
                </p:oleObj>
              </mc:Choice>
              <mc:Fallback>
                <p:oleObj name="Equation" r:id="rId6" imgW="177646" imgH="190335" progId="Equation.3">
                  <p:embed/>
                  <p:pic>
                    <p:nvPicPr>
                      <p:cNvPr id="26632"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10700" y="4552951"/>
                        <a:ext cx="4572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3" name="Object 6"/>
          <p:cNvGraphicFramePr>
            <a:graphicFrameLocks noChangeAspect="1"/>
          </p:cNvGraphicFramePr>
          <p:nvPr/>
        </p:nvGraphicFramePr>
        <p:xfrm>
          <a:off x="8832304" y="1628800"/>
          <a:ext cx="381000" cy="381000"/>
        </p:xfrm>
        <a:graphic>
          <a:graphicData uri="http://schemas.openxmlformats.org/presentationml/2006/ole">
            <mc:AlternateContent xmlns:mc="http://schemas.openxmlformats.org/markup-compatibility/2006">
              <mc:Choice xmlns:v="urn:schemas-microsoft-com:vml" Requires="v">
                <p:oleObj name="Microsoft 公式 3.0" r:id="rId8" imgW="190417" imgH="190417" progId="Equation.3">
                  <p:embed/>
                </p:oleObj>
              </mc:Choice>
              <mc:Fallback>
                <p:oleObj name="Microsoft 公式 3.0" r:id="rId8" imgW="190417" imgH="190417" progId="Equation.3">
                  <p:embed/>
                  <p:pic>
                    <p:nvPicPr>
                      <p:cNvPr id="26633"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32304" y="1628800"/>
                        <a:ext cx="381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4434043"/>
      </p:ext>
    </p:extLst>
  </p:cSld>
  <p:clrMapOvr>
    <a:masterClrMapping/>
  </p:clrMapOvr>
  <p:transition spd="slow">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a:extLst>
              <a:ext uri="{FF2B5EF4-FFF2-40B4-BE49-F238E27FC236}">
                <a16:creationId xmlns:a16="http://schemas.microsoft.com/office/drawing/2014/main" id="{401AF77E-2062-443C-B113-5D12AEE920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B6D559CA-73CE-4FCD-AE0B-48BB9E13D7D6}" type="slidenum">
              <a:rPr lang="en-US" altLang="zh-CN" sz="1800"/>
              <a:pPr>
                <a:spcBef>
                  <a:spcPct val="0"/>
                </a:spcBef>
                <a:buClrTx/>
                <a:buFontTx/>
                <a:buNone/>
              </a:pPr>
              <a:t>33</a:t>
            </a:fld>
            <a:endParaRPr lang="en-US" altLang="zh-CN" sz="1800"/>
          </a:p>
        </p:txBody>
      </p:sp>
      <p:sp>
        <p:nvSpPr>
          <p:cNvPr id="11267" name="Rectangle 2">
            <a:extLst>
              <a:ext uri="{FF2B5EF4-FFF2-40B4-BE49-F238E27FC236}">
                <a16:creationId xmlns:a16="http://schemas.microsoft.com/office/drawing/2014/main" id="{D9344601-8A88-4960-9B51-3F761CE7AE7A}"/>
              </a:ext>
            </a:extLst>
          </p:cNvPr>
          <p:cNvSpPr>
            <a:spLocks noGrp="1" noChangeArrowheads="1"/>
          </p:cNvSpPr>
          <p:nvPr>
            <p:ph type="title"/>
          </p:nvPr>
        </p:nvSpPr>
        <p:spPr>
          <a:xfrm>
            <a:off x="1284289" y="350398"/>
            <a:ext cx="7467600" cy="812800"/>
          </a:xfrm>
        </p:spPr>
        <p:txBody>
          <a:bodyPr vert="horz" lIns="91440" tIns="45720" rIns="91440" bIns="45720" rtlCol="0">
            <a:normAutofit/>
          </a:bodyPr>
          <a:lstStyle/>
          <a:p>
            <a:pPr>
              <a:lnSpc>
                <a:spcPct val="130000"/>
              </a:lnSpc>
              <a:spcBef>
                <a:spcPts val="600"/>
              </a:spcBef>
              <a:buFont typeface="Wingdings" pitchFamily="2" charset="2"/>
            </a:pPr>
            <a:r>
              <a:rPr lang="zh-CN" altLang="en-US" sz="4000" b="1" dirty="0">
                <a:solidFill>
                  <a:srgbClr val="0000FF"/>
                </a:solidFill>
                <a:latin typeface="楷体_GB2312" pitchFamily="49" charset="-122"/>
              </a:rPr>
              <a:t>三、数据调制与编码 </a:t>
            </a:r>
            <a:endParaRPr kumimoji="1" lang="zh-CN" altLang="en-US" dirty="0">
              <a:cs typeface="+mn-cs"/>
            </a:endParaRPr>
          </a:p>
        </p:txBody>
      </p:sp>
      <p:grpSp>
        <p:nvGrpSpPr>
          <p:cNvPr id="11268" name="Group 217">
            <a:extLst>
              <a:ext uri="{FF2B5EF4-FFF2-40B4-BE49-F238E27FC236}">
                <a16:creationId xmlns:a16="http://schemas.microsoft.com/office/drawing/2014/main" id="{8B362F66-9044-4400-942A-8485A5FD9187}"/>
              </a:ext>
            </a:extLst>
          </p:cNvPr>
          <p:cNvGrpSpPr>
            <a:grpSpLocks/>
          </p:cNvGrpSpPr>
          <p:nvPr/>
        </p:nvGrpSpPr>
        <p:grpSpPr bwMode="auto">
          <a:xfrm>
            <a:off x="931915" y="1335254"/>
            <a:ext cx="9144000" cy="5299075"/>
            <a:chOff x="0" y="730"/>
            <a:chExt cx="5760" cy="3338"/>
          </a:xfrm>
        </p:grpSpPr>
        <p:sp>
          <p:nvSpPr>
            <p:cNvPr id="11269" name="Line 137">
              <a:extLst>
                <a:ext uri="{FF2B5EF4-FFF2-40B4-BE49-F238E27FC236}">
                  <a16:creationId xmlns:a16="http://schemas.microsoft.com/office/drawing/2014/main" id="{9A13214A-53ED-4A4D-A211-B9DF35A152EB}"/>
                </a:ext>
              </a:extLst>
            </p:cNvPr>
            <p:cNvSpPr>
              <a:spLocks noChangeShapeType="1"/>
            </p:cNvSpPr>
            <p:nvPr/>
          </p:nvSpPr>
          <p:spPr bwMode="auto">
            <a:xfrm>
              <a:off x="1616" y="1538"/>
              <a:ext cx="219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0" name="Line 138">
              <a:extLst>
                <a:ext uri="{FF2B5EF4-FFF2-40B4-BE49-F238E27FC236}">
                  <a16:creationId xmlns:a16="http://schemas.microsoft.com/office/drawing/2014/main" id="{B4A6B6A5-684C-4CAC-9127-12E0DA5E3CC6}"/>
                </a:ext>
              </a:extLst>
            </p:cNvPr>
            <p:cNvSpPr>
              <a:spLocks noChangeShapeType="1"/>
            </p:cNvSpPr>
            <p:nvPr/>
          </p:nvSpPr>
          <p:spPr bwMode="auto">
            <a:xfrm>
              <a:off x="857" y="1538"/>
              <a:ext cx="534" cy="2"/>
            </a:xfrm>
            <a:prstGeom prst="line">
              <a:avLst/>
            </a:prstGeom>
            <a:noFill/>
            <a:ln w="76200" cmpd="tri">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1" name="Rectangle 139">
              <a:extLst>
                <a:ext uri="{FF2B5EF4-FFF2-40B4-BE49-F238E27FC236}">
                  <a16:creationId xmlns:a16="http://schemas.microsoft.com/office/drawing/2014/main" id="{9782B54B-E4EC-426F-A50F-65DACC7335EC}"/>
                </a:ext>
              </a:extLst>
            </p:cNvPr>
            <p:cNvSpPr>
              <a:spLocks noChangeArrowheads="1"/>
            </p:cNvSpPr>
            <p:nvPr/>
          </p:nvSpPr>
          <p:spPr bwMode="auto">
            <a:xfrm>
              <a:off x="1069" y="1675"/>
              <a:ext cx="85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调制解调器</a:t>
              </a:r>
            </a:p>
          </p:txBody>
        </p:sp>
        <p:sp>
          <p:nvSpPr>
            <p:cNvPr id="11272" name="Line 140">
              <a:extLst>
                <a:ext uri="{FF2B5EF4-FFF2-40B4-BE49-F238E27FC236}">
                  <a16:creationId xmlns:a16="http://schemas.microsoft.com/office/drawing/2014/main" id="{04647CB6-54D0-4904-AA11-1C46DE44C6B8}"/>
                </a:ext>
              </a:extLst>
            </p:cNvPr>
            <p:cNvSpPr>
              <a:spLocks noChangeShapeType="1"/>
            </p:cNvSpPr>
            <p:nvPr/>
          </p:nvSpPr>
          <p:spPr bwMode="auto">
            <a:xfrm>
              <a:off x="4165" y="1538"/>
              <a:ext cx="581" cy="0"/>
            </a:xfrm>
            <a:prstGeom prst="line">
              <a:avLst/>
            </a:prstGeom>
            <a:noFill/>
            <a:ln w="76200" cmpd="tri">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273" name="Group 141">
              <a:extLst>
                <a:ext uri="{FF2B5EF4-FFF2-40B4-BE49-F238E27FC236}">
                  <a16:creationId xmlns:a16="http://schemas.microsoft.com/office/drawing/2014/main" id="{7F9B2EDF-B319-441C-A5C7-785E2E90A8B7}"/>
                </a:ext>
              </a:extLst>
            </p:cNvPr>
            <p:cNvGrpSpPr>
              <a:grpSpLocks/>
            </p:cNvGrpSpPr>
            <p:nvPr/>
          </p:nvGrpSpPr>
          <p:grpSpPr bwMode="auto">
            <a:xfrm>
              <a:off x="2293" y="1203"/>
              <a:ext cx="997" cy="636"/>
              <a:chOff x="385" y="2795"/>
              <a:chExt cx="1769" cy="816"/>
            </a:xfrm>
          </p:grpSpPr>
          <p:sp>
            <p:nvSpPr>
              <p:cNvPr id="11344" name="Oval 142">
                <a:extLst>
                  <a:ext uri="{FF2B5EF4-FFF2-40B4-BE49-F238E27FC236}">
                    <a16:creationId xmlns:a16="http://schemas.microsoft.com/office/drawing/2014/main" id="{DFACEC61-ACD8-4361-9BDC-5B166D8D7153}"/>
                  </a:ext>
                </a:extLst>
              </p:cNvPr>
              <p:cNvSpPr>
                <a:spLocks noChangeArrowheads="1"/>
              </p:cNvSpPr>
              <p:nvPr/>
            </p:nvSpPr>
            <p:spPr bwMode="auto">
              <a:xfrm>
                <a:off x="1590" y="3061"/>
                <a:ext cx="554" cy="24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5" name="Oval 143">
                <a:extLst>
                  <a:ext uri="{FF2B5EF4-FFF2-40B4-BE49-F238E27FC236}">
                    <a16:creationId xmlns:a16="http://schemas.microsoft.com/office/drawing/2014/main" id="{E524B511-244C-407A-BF94-21730DB962E8}"/>
                  </a:ext>
                </a:extLst>
              </p:cNvPr>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6" name="Oval 144">
                <a:extLst>
                  <a:ext uri="{FF2B5EF4-FFF2-40B4-BE49-F238E27FC236}">
                    <a16:creationId xmlns:a16="http://schemas.microsoft.com/office/drawing/2014/main" id="{AB539036-39A9-4E12-8281-1BB2304EFF80}"/>
                  </a:ext>
                </a:extLst>
              </p:cNvPr>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7" name="Oval 145">
                <a:extLst>
                  <a:ext uri="{FF2B5EF4-FFF2-40B4-BE49-F238E27FC236}">
                    <a16:creationId xmlns:a16="http://schemas.microsoft.com/office/drawing/2014/main" id="{C195A3BF-7A03-4A0F-84DF-7B0EBD00F095}"/>
                  </a:ext>
                </a:extLst>
              </p:cNvPr>
              <p:cNvSpPr>
                <a:spLocks noChangeArrowheads="1"/>
              </p:cNvSpPr>
              <p:nvPr/>
            </p:nvSpPr>
            <p:spPr bwMode="auto">
              <a:xfrm>
                <a:off x="385" y="3084"/>
                <a:ext cx="383" cy="25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8" name="Oval 146">
                <a:extLst>
                  <a:ext uri="{FF2B5EF4-FFF2-40B4-BE49-F238E27FC236}">
                    <a16:creationId xmlns:a16="http://schemas.microsoft.com/office/drawing/2014/main" id="{C813C997-E523-4903-A199-4B564F39072C}"/>
                  </a:ext>
                </a:extLst>
              </p:cNvPr>
              <p:cNvSpPr>
                <a:spLocks noChangeArrowheads="1"/>
              </p:cNvSpPr>
              <p:nvPr/>
            </p:nvSpPr>
            <p:spPr bwMode="auto">
              <a:xfrm>
                <a:off x="566" y="2884"/>
                <a:ext cx="577" cy="322"/>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9" name="Oval 147">
                <a:extLst>
                  <a:ext uri="{FF2B5EF4-FFF2-40B4-BE49-F238E27FC236}">
                    <a16:creationId xmlns:a16="http://schemas.microsoft.com/office/drawing/2014/main" id="{07655C0C-A5ED-4E79-A3C5-C937A265AAA3}"/>
                  </a:ext>
                </a:extLst>
              </p:cNvPr>
              <p:cNvSpPr>
                <a:spLocks noChangeArrowheads="1"/>
              </p:cNvSpPr>
              <p:nvPr/>
            </p:nvSpPr>
            <p:spPr bwMode="auto">
              <a:xfrm>
                <a:off x="992" y="2795"/>
                <a:ext cx="758"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0" name="Oval 148">
                <a:extLst>
                  <a:ext uri="{FF2B5EF4-FFF2-40B4-BE49-F238E27FC236}">
                    <a16:creationId xmlns:a16="http://schemas.microsoft.com/office/drawing/2014/main" id="{2FDD157C-B063-4772-804D-988FEBE11947}"/>
                  </a:ext>
                </a:extLst>
              </p:cNvPr>
              <p:cNvSpPr>
                <a:spLocks noChangeArrowheads="1"/>
              </p:cNvSpPr>
              <p:nvPr/>
            </p:nvSpPr>
            <p:spPr bwMode="auto">
              <a:xfrm>
                <a:off x="1505"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1" name="Oval 149">
                <a:extLst>
                  <a:ext uri="{FF2B5EF4-FFF2-40B4-BE49-F238E27FC236}">
                    <a16:creationId xmlns:a16="http://schemas.microsoft.com/office/drawing/2014/main" id="{9910D26E-71D6-4A97-9F18-754D5F4446F3}"/>
                  </a:ext>
                </a:extLst>
              </p:cNvPr>
              <p:cNvSpPr>
                <a:spLocks noChangeArrowheads="1"/>
              </p:cNvSpPr>
              <p:nvPr/>
            </p:nvSpPr>
            <p:spPr bwMode="auto">
              <a:xfrm>
                <a:off x="704" y="2987"/>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2" name="Oval 150">
                <a:extLst>
                  <a:ext uri="{FF2B5EF4-FFF2-40B4-BE49-F238E27FC236}">
                    <a16:creationId xmlns:a16="http://schemas.microsoft.com/office/drawing/2014/main" id="{FD127E3B-1759-4D1B-AC8A-0BE10625630F}"/>
                  </a:ext>
                </a:extLst>
              </p:cNvPr>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3" name="Oval 151">
                <a:extLst>
                  <a:ext uri="{FF2B5EF4-FFF2-40B4-BE49-F238E27FC236}">
                    <a16:creationId xmlns:a16="http://schemas.microsoft.com/office/drawing/2014/main" id="{1BBD0C20-73A2-4B40-B1BE-8A0DC9EE68EB}"/>
                  </a:ext>
                </a:extLst>
              </p:cNvPr>
              <p:cNvSpPr>
                <a:spLocks noChangeArrowheads="1"/>
              </p:cNvSpPr>
              <p:nvPr/>
            </p:nvSpPr>
            <p:spPr bwMode="auto">
              <a:xfrm>
                <a:off x="1004" y="2810"/>
                <a:ext cx="756" cy="322"/>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4" name="Oval 152">
                <a:extLst>
                  <a:ext uri="{FF2B5EF4-FFF2-40B4-BE49-F238E27FC236}">
                    <a16:creationId xmlns:a16="http://schemas.microsoft.com/office/drawing/2014/main" id="{EE403F38-4A93-43F0-8F81-0359DA92BF8A}"/>
                  </a:ext>
                </a:extLst>
              </p:cNvPr>
              <p:cNvSpPr>
                <a:spLocks noChangeArrowheads="1"/>
              </p:cNvSpPr>
              <p:nvPr/>
            </p:nvSpPr>
            <p:spPr bwMode="auto">
              <a:xfrm>
                <a:off x="577" y="2899"/>
                <a:ext cx="575" cy="31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5" name="Oval 153">
                <a:extLst>
                  <a:ext uri="{FF2B5EF4-FFF2-40B4-BE49-F238E27FC236}">
                    <a16:creationId xmlns:a16="http://schemas.microsoft.com/office/drawing/2014/main" id="{338064EC-445D-43E0-854C-AE968C20210D}"/>
                  </a:ext>
                </a:extLst>
              </p:cNvPr>
              <p:cNvSpPr>
                <a:spLocks noChangeArrowheads="1"/>
              </p:cNvSpPr>
              <p:nvPr/>
            </p:nvSpPr>
            <p:spPr bwMode="auto">
              <a:xfrm>
                <a:off x="396" y="3100"/>
                <a:ext cx="383" cy="254"/>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6" name="Oval 154">
                <a:extLst>
                  <a:ext uri="{FF2B5EF4-FFF2-40B4-BE49-F238E27FC236}">
                    <a16:creationId xmlns:a16="http://schemas.microsoft.com/office/drawing/2014/main" id="{6E71504D-9BD0-4086-B5FF-C96391FD203D}"/>
                  </a:ext>
                </a:extLst>
              </p:cNvPr>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7" name="Oval 155">
                <a:extLst>
                  <a:ext uri="{FF2B5EF4-FFF2-40B4-BE49-F238E27FC236}">
                    <a16:creationId xmlns:a16="http://schemas.microsoft.com/office/drawing/2014/main" id="{BEA32EB9-CBAB-4362-918C-0E17209D62AD}"/>
                  </a:ext>
                </a:extLst>
              </p:cNvPr>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8" name="Oval 156">
                <a:extLst>
                  <a:ext uri="{FF2B5EF4-FFF2-40B4-BE49-F238E27FC236}">
                    <a16:creationId xmlns:a16="http://schemas.microsoft.com/office/drawing/2014/main" id="{566D81E6-C5E4-4C92-8ADB-406D4BC1E4BE}"/>
                  </a:ext>
                </a:extLst>
              </p:cNvPr>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9" name="Oval 157">
                <a:extLst>
                  <a:ext uri="{FF2B5EF4-FFF2-40B4-BE49-F238E27FC236}">
                    <a16:creationId xmlns:a16="http://schemas.microsoft.com/office/drawing/2014/main" id="{B1D1C370-0873-41C5-BA81-E6C1EFEB3579}"/>
                  </a:ext>
                </a:extLst>
              </p:cNvPr>
              <p:cNvSpPr>
                <a:spLocks noChangeArrowheads="1"/>
              </p:cNvSpPr>
              <p:nvPr/>
            </p:nvSpPr>
            <p:spPr bwMode="auto">
              <a:xfrm>
                <a:off x="513" y="3218"/>
                <a:ext cx="586" cy="281"/>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60" name="Freeform 158">
                <a:extLst>
                  <a:ext uri="{FF2B5EF4-FFF2-40B4-BE49-F238E27FC236}">
                    <a16:creationId xmlns:a16="http://schemas.microsoft.com/office/drawing/2014/main" id="{E5B20685-6B08-4280-9D5B-75FD9F0BC922}"/>
                  </a:ext>
                </a:extLst>
              </p:cNvPr>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52 w 1447"/>
                  <a:gd name="T21" fmla="*/ 1 h 1128"/>
                  <a:gd name="T22" fmla="*/ 340 w 1447"/>
                  <a:gd name="T23" fmla="*/ 1 h 1128"/>
                  <a:gd name="T24" fmla="*/ 380 w 1447"/>
                  <a:gd name="T25" fmla="*/ 1 h 1128"/>
                  <a:gd name="T26" fmla="*/ 404 w 1447"/>
                  <a:gd name="T27" fmla="*/ 1 h 1128"/>
                  <a:gd name="T28" fmla="*/ 476 w 1447"/>
                  <a:gd name="T29" fmla="*/ 1 h 1128"/>
                  <a:gd name="T30" fmla="*/ 569 w 1447"/>
                  <a:gd name="T31" fmla="*/ 0 h 1128"/>
                  <a:gd name="T32" fmla="*/ 915 w 1447"/>
                  <a:gd name="T33" fmla="*/ 1 h 1128"/>
                  <a:gd name="T34" fmla="*/ 1212 w 1447"/>
                  <a:gd name="T35" fmla="*/ 1 h 1128"/>
                  <a:gd name="T36" fmla="*/ 1236 w 1447"/>
                  <a:gd name="T37" fmla="*/ 1 h 1128"/>
                  <a:gd name="T38" fmla="*/ 1260 w 1447"/>
                  <a:gd name="T39" fmla="*/ 1 h 1128"/>
                  <a:gd name="T40" fmla="*/ 1417 w 1447"/>
                  <a:gd name="T41" fmla="*/ 1 h 1128"/>
                  <a:gd name="T42" fmla="*/ 1504 w 1447"/>
                  <a:gd name="T43" fmla="*/ 1 h 1128"/>
                  <a:gd name="T44" fmla="*/ 1552 w 1447"/>
                  <a:gd name="T45" fmla="*/ 1 h 1128"/>
                  <a:gd name="T46" fmla="*/ 1568 w 1447"/>
                  <a:gd name="T47" fmla="*/ 1 h 1128"/>
                  <a:gd name="T48" fmla="*/ 1600 w 1447"/>
                  <a:gd name="T49" fmla="*/ 1 h 1128"/>
                  <a:gd name="T50" fmla="*/ 1624 w 1447"/>
                  <a:gd name="T51" fmla="*/ 1 h 1128"/>
                  <a:gd name="T52" fmla="*/ 1643 w 1447"/>
                  <a:gd name="T53" fmla="*/ 1 h 1128"/>
                  <a:gd name="T54" fmla="*/ 1643 w 1447"/>
                  <a:gd name="T55" fmla="*/ 1 h 1128"/>
                  <a:gd name="T56" fmla="*/ 1624 w 1447"/>
                  <a:gd name="T57" fmla="*/ 1 h 1128"/>
                  <a:gd name="T58" fmla="*/ 1576 w 1447"/>
                  <a:gd name="T59" fmla="*/ 1 h 1128"/>
                  <a:gd name="T60" fmla="*/ 1560 w 1447"/>
                  <a:gd name="T61" fmla="*/ 1 h 1128"/>
                  <a:gd name="T62" fmla="*/ 1512 w 1447"/>
                  <a:gd name="T63" fmla="*/ 1 h 1128"/>
                  <a:gd name="T64" fmla="*/ 1407 w 1447"/>
                  <a:gd name="T65" fmla="*/ 1 h 1128"/>
                  <a:gd name="T66" fmla="*/ 1343 w 1447"/>
                  <a:gd name="T67" fmla="*/ 1 h 1128"/>
                  <a:gd name="T68" fmla="*/ 1268 w 1447"/>
                  <a:gd name="T69" fmla="*/ 1 h 1128"/>
                  <a:gd name="T70" fmla="*/ 492 w 1447"/>
                  <a:gd name="T71" fmla="*/ 1 h 1128"/>
                  <a:gd name="T72" fmla="*/ 412 w 1447"/>
                  <a:gd name="T73" fmla="*/ 1 h 1128"/>
                  <a:gd name="T74" fmla="*/ 356 w 1447"/>
                  <a:gd name="T75" fmla="*/ 1 h 1128"/>
                  <a:gd name="T76" fmla="*/ 292 w 1447"/>
                  <a:gd name="T77" fmla="*/ 1 h 1128"/>
                  <a:gd name="T78" fmla="*/ 252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a:lstStyle/>
              <a:p>
                <a:endParaRPr lang="zh-CN" altLang="en-US"/>
              </a:p>
            </p:txBody>
          </p:sp>
        </p:grpSp>
        <p:sp>
          <p:nvSpPr>
            <p:cNvPr id="11274" name="Rectangle 159">
              <a:extLst>
                <a:ext uri="{FF2B5EF4-FFF2-40B4-BE49-F238E27FC236}">
                  <a16:creationId xmlns:a16="http://schemas.microsoft.com/office/drawing/2014/main" id="{2EFD63D8-8967-4F0D-913F-D03452B0FFF9}"/>
                </a:ext>
              </a:extLst>
            </p:cNvPr>
            <p:cNvSpPr>
              <a:spLocks noChangeArrowheads="1"/>
            </p:cNvSpPr>
            <p:nvPr/>
          </p:nvSpPr>
          <p:spPr bwMode="auto">
            <a:xfrm>
              <a:off x="434" y="1721"/>
              <a:ext cx="54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1800">
                  <a:solidFill>
                    <a:srgbClr val="333399"/>
                  </a:solidFill>
                  <a:latin typeface="Arial" panose="020B0604020202020204" pitchFamily="34" charset="0"/>
                  <a:ea typeface="黑体" panose="02010609060101010101" pitchFamily="49" charset="-122"/>
                </a:rPr>
                <a:t>PC </a:t>
              </a:r>
              <a:r>
                <a:rPr lang="zh-CN" altLang="en-US" sz="1800">
                  <a:solidFill>
                    <a:srgbClr val="333399"/>
                  </a:solidFill>
                  <a:latin typeface="Arial" panose="020B0604020202020204" pitchFamily="34" charset="0"/>
                  <a:ea typeface="黑体" panose="02010609060101010101" pitchFamily="49" charset="-122"/>
                </a:rPr>
                <a:t>机</a:t>
              </a:r>
            </a:p>
          </p:txBody>
        </p:sp>
        <p:sp>
          <p:nvSpPr>
            <p:cNvPr id="11275" name="Rectangle 160">
              <a:extLst>
                <a:ext uri="{FF2B5EF4-FFF2-40B4-BE49-F238E27FC236}">
                  <a16:creationId xmlns:a16="http://schemas.microsoft.com/office/drawing/2014/main" id="{D4A9F7F8-2E7D-403F-AA9B-2F51E912E916}"/>
                </a:ext>
              </a:extLst>
            </p:cNvPr>
            <p:cNvSpPr>
              <a:spLocks noChangeArrowheads="1"/>
            </p:cNvSpPr>
            <p:nvPr/>
          </p:nvSpPr>
          <p:spPr bwMode="auto">
            <a:xfrm>
              <a:off x="2404" y="1428"/>
              <a:ext cx="8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公用电话网</a:t>
              </a:r>
            </a:p>
          </p:txBody>
        </p:sp>
        <p:pic>
          <p:nvPicPr>
            <p:cNvPr id="11276" name="Picture 161">
              <a:extLst>
                <a:ext uri="{FF2B5EF4-FFF2-40B4-BE49-F238E27FC236}">
                  <a16:creationId xmlns:a16="http://schemas.microsoft.com/office/drawing/2014/main" id="{C56CDDBD-D848-4B65-825D-ED44D4575C0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 y="1388"/>
              <a:ext cx="537"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7" name="Picture 162">
              <a:extLst>
                <a:ext uri="{FF2B5EF4-FFF2-40B4-BE49-F238E27FC236}">
                  <a16:creationId xmlns:a16="http://schemas.microsoft.com/office/drawing/2014/main" id="{FC23D480-9700-411B-9052-613E053D28E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 y="1296"/>
              <a:ext cx="4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1278" name="Rectangle 163">
              <a:extLst>
                <a:ext uri="{FF2B5EF4-FFF2-40B4-BE49-F238E27FC236}">
                  <a16:creationId xmlns:a16="http://schemas.microsoft.com/office/drawing/2014/main" id="{A8D4460F-3FDC-4511-BDD3-607E91BF3B15}"/>
                </a:ext>
              </a:extLst>
            </p:cNvPr>
            <p:cNvSpPr>
              <a:spLocks noChangeArrowheads="1"/>
            </p:cNvSpPr>
            <p:nvPr/>
          </p:nvSpPr>
          <p:spPr bwMode="auto">
            <a:xfrm>
              <a:off x="3584" y="1693"/>
              <a:ext cx="84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调制解调器</a:t>
              </a:r>
            </a:p>
          </p:txBody>
        </p:sp>
        <p:grpSp>
          <p:nvGrpSpPr>
            <p:cNvPr id="11279" name="Group 164">
              <a:extLst>
                <a:ext uri="{FF2B5EF4-FFF2-40B4-BE49-F238E27FC236}">
                  <a16:creationId xmlns:a16="http://schemas.microsoft.com/office/drawing/2014/main" id="{F0DEB093-EC0F-4D4B-9E74-98794BDF0704}"/>
                </a:ext>
              </a:extLst>
            </p:cNvPr>
            <p:cNvGrpSpPr>
              <a:grpSpLocks/>
            </p:cNvGrpSpPr>
            <p:nvPr/>
          </p:nvGrpSpPr>
          <p:grpSpPr bwMode="auto">
            <a:xfrm>
              <a:off x="1751" y="1265"/>
              <a:ext cx="411" cy="214"/>
              <a:chOff x="2315" y="3965"/>
              <a:chExt cx="496" cy="254"/>
            </a:xfrm>
          </p:grpSpPr>
          <p:sp>
            <p:nvSpPr>
              <p:cNvPr id="11340" name="Freeform 165">
                <a:extLst>
                  <a:ext uri="{FF2B5EF4-FFF2-40B4-BE49-F238E27FC236}">
                    <a16:creationId xmlns:a16="http://schemas.microsoft.com/office/drawing/2014/main" id="{4E285CA1-059E-449C-ABC9-A7AC82851C1E}"/>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2"/>
                  <a:gd name="T115" fmla="*/ 0 h 535"/>
                  <a:gd name="T116" fmla="*/ 552 w 552"/>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41" name="Freeform 166">
                <a:extLst>
                  <a:ext uri="{FF2B5EF4-FFF2-40B4-BE49-F238E27FC236}">
                    <a16:creationId xmlns:a16="http://schemas.microsoft.com/office/drawing/2014/main" id="{C13D1270-D5C3-47BB-83C1-A79D5D68223F}"/>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42" name="Freeform 167">
                <a:extLst>
                  <a:ext uri="{FF2B5EF4-FFF2-40B4-BE49-F238E27FC236}">
                    <a16:creationId xmlns:a16="http://schemas.microsoft.com/office/drawing/2014/main" id="{EB19A6A0-C411-4804-84B3-BC79F68146C9}"/>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1"/>
                  <a:gd name="T115" fmla="*/ 0 h 535"/>
                  <a:gd name="T116" fmla="*/ 551 w 551"/>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43" name="Freeform 168">
                <a:extLst>
                  <a:ext uri="{FF2B5EF4-FFF2-40B4-BE49-F238E27FC236}">
                    <a16:creationId xmlns:a16="http://schemas.microsoft.com/office/drawing/2014/main" id="{722A0E64-2505-4AF6-8F4B-561FABF14AD5}"/>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280" name="Freeform 169">
              <a:extLst>
                <a:ext uri="{FF2B5EF4-FFF2-40B4-BE49-F238E27FC236}">
                  <a16:creationId xmlns:a16="http://schemas.microsoft.com/office/drawing/2014/main" id="{DD4B09C1-A38E-4FBD-8712-BBFC82878C7F}"/>
                </a:ext>
              </a:extLst>
            </p:cNvPr>
            <p:cNvSpPr>
              <a:spLocks/>
            </p:cNvSpPr>
            <p:nvPr/>
          </p:nvSpPr>
          <p:spPr bwMode="auto">
            <a:xfrm>
              <a:off x="926" y="1329"/>
              <a:ext cx="467" cy="104"/>
            </a:xfrm>
            <a:custGeom>
              <a:avLst/>
              <a:gdLst>
                <a:gd name="T0" fmla="*/ 0 w 672"/>
                <a:gd name="T1" fmla="*/ 0 h 288"/>
                <a:gd name="T2" fmla="*/ 1 w 672"/>
                <a:gd name="T3" fmla="*/ 0 h 288"/>
                <a:gd name="T4" fmla="*/ 1 w 672"/>
                <a:gd name="T5" fmla="*/ 0 h 288"/>
                <a:gd name="T6" fmla="*/ 1 w 672"/>
                <a:gd name="T7" fmla="*/ 0 h 288"/>
                <a:gd name="T8" fmla="*/ 1 w 672"/>
                <a:gd name="T9" fmla="*/ 0 h 288"/>
                <a:gd name="T10" fmla="*/ 1 w 672"/>
                <a:gd name="T11" fmla="*/ 0 h 288"/>
                <a:gd name="T12" fmla="*/ 1 w 672"/>
                <a:gd name="T13" fmla="*/ 0 h 288"/>
                <a:gd name="T14" fmla="*/ 1 w 672"/>
                <a:gd name="T15" fmla="*/ 0 h 288"/>
                <a:gd name="T16" fmla="*/ 1 w 672"/>
                <a:gd name="T17" fmla="*/ 0 h 288"/>
                <a:gd name="T18" fmla="*/ 1 w 672"/>
                <a:gd name="T19" fmla="*/ 0 h 288"/>
                <a:gd name="T20" fmla="*/ 1 w 672"/>
                <a:gd name="T21" fmla="*/ 0 h 288"/>
                <a:gd name="T22" fmla="*/ 1 w 672"/>
                <a:gd name="T23" fmla="*/ 0 h 288"/>
                <a:gd name="T24" fmla="*/ 1 w 672"/>
                <a:gd name="T25" fmla="*/ 0 h 288"/>
                <a:gd name="T26" fmla="*/ 1 w 672"/>
                <a:gd name="T27" fmla="*/ 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2"/>
                <a:gd name="T43" fmla="*/ 0 h 288"/>
                <a:gd name="T44" fmla="*/ 672 w 672"/>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1" name="Rectangle 170">
              <a:extLst>
                <a:ext uri="{FF2B5EF4-FFF2-40B4-BE49-F238E27FC236}">
                  <a16:creationId xmlns:a16="http://schemas.microsoft.com/office/drawing/2014/main" id="{BB096655-4ACF-4925-B8A9-42C6233A0773}"/>
                </a:ext>
              </a:extLst>
            </p:cNvPr>
            <p:cNvSpPr>
              <a:spLocks noChangeArrowheads="1"/>
            </p:cNvSpPr>
            <p:nvPr/>
          </p:nvSpPr>
          <p:spPr bwMode="auto">
            <a:xfrm>
              <a:off x="751" y="1022"/>
              <a:ext cx="9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数字比特流</a:t>
              </a:r>
            </a:p>
          </p:txBody>
        </p:sp>
        <p:sp>
          <p:nvSpPr>
            <p:cNvPr id="11282" name="Rectangle 171">
              <a:extLst>
                <a:ext uri="{FF2B5EF4-FFF2-40B4-BE49-F238E27FC236}">
                  <a16:creationId xmlns:a16="http://schemas.microsoft.com/office/drawing/2014/main" id="{ED02856F-871A-4FA3-8902-5216890B02E0}"/>
                </a:ext>
              </a:extLst>
            </p:cNvPr>
            <p:cNvSpPr>
              <a:spLocks noChangeArrowheads="1"/>
            </p:cNvSpPr>
            <p:nvPr/>
          </p:nvSpPr>
          <p:spPr bwMode="auto">
            <a:xfrm>
              <a:off x="4075" y="1022"/>
              <a:ext cx="895"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数字比特流</a:t>
              </a:r>
            </a:p>
          </p:txBody>
        </p:sp>
        <p:sp>
          <p:nvSpPr>
            <p:cNvPr id="11283" name="Rectangle 172">
              <a:extLst>
                <a:ext uri="{FF2B5EF4-FFF2-40B4-BE49-F238E27FC236}">
                  <a16:creationId xmlns:a16="http://schemas.microsoft.com/office/drawing/2014/main" id="{1BDE61CC-287C-4CB2-8847-F0502A90B2C3}"/>
                </a:ext>
              </a:extLst>
            </p:cNvPr>
            <p:cNvSpPr>
              <a:spLocks noChangeArrowheads="1"/>
            </p:cNvSpPr>
            <p:nvPr/>
          </p:nvSpPr>
          <p:spPr bwMode="auto">
            <a:xfrm>
              <a:off x="1658" y="1022"/>
              <a:ext cx="75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模拟信号</a:t>
              </a:r>
            </a:p>
          </p:txBody>
        </p:sp>
        <p:sp>
          <p:nvSpPr>
            <p:cNvPr id="11284" name="Rectangle 173">
              <a:extLst>
                <a:ext uri="{FF2B5EF4-FFF2-40B4-BE49-F238E27FC236}">
                  <a16:creationId xmlns:a16="http://schemas.microsoft.com/office/drawing/2014/main" id="{20935C88-168E-46FB-AD79-F586C2F559DA}"/>
                </a:ext>
              </a:extLst>
            </p:cNvPr>
            <p:cNvSpPr>
              <a:spLocks noChangeArrowheads="1"/>
            </p:cNvSpPr>
            <p:nvPr/>
          </p:nvSpPr>
          <p:spPr bwMode="auto">
            <a:xfrm>
              <a:off x="3294" y="1022"/>
              <a:ext cx="76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模拟信号 </a:t>
              </a:r>
            </a:p>
          </p:txBody>
        </p:sp>
        <p:sp>
          <p:nvSpPr>
            <p:cNvPr id="11285" name="Rectangle 174">
              <a:extLst>
                <a:ext uri="{FF2B5EF4-FFF2-40B4-BE49-F238E27FC236}">
                  <a16:creationId xmlns:a16="http://schemas.microsoft.com/office/drawing/2014/main" id="{FC3F7CFA-A280-4A57-B388-23DAF12B9BC0}"/>
                </a:ext>
              </a:extLst>
            </p:cNvPr>
            <p:cNvSpPr>
              <a:spLocks noChangeArrowheads="1"/>
            </p:cNvSpPr>
            <p:nvPr/>
          </p:nvSpPr>
          <p:spPr bwMode="auto">
            <a:xfrm>
              <a:off x="187" y="1326"/>
              <a:ext cx="44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正文</a:t>
              </a:r>
            </a:p>
          </p:txBody>
        </p:sp>
        <p:sp>
          <p:nvSpPr>
            <p:cNvPr id="11286" name="Rectangle 175">
              <a:extLst>
                <a:ext uri="{FF2B5EF4-FFF2-40B4-BE49-F238E27FC236}">
                  <a16:creationId xmlns:a16="http://schemas.microsoft.com/office/drawing/2014/main" id="{B61AF4FB-362E-44C8-96CF-EC3ABA0BED11}"/>
                </a:ext>
              </a:extLst>
            </p:cNvPr>
            <p:cNvSpPr>
              <a:spLocks noChangeArrowheads="1"/>
            </p:cNvSpPr>
            <p:nvPr/>
          </p:nvSpPr>
          <p:spPr bwMode="auto">
            <a:xfrm>
              <a:off x="5059" y="1352"/>
              <a:ext cx="44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正文</a:t>
              </a:r>
            </a:p>
          </p:txBody>
        </p:sp>
        <p:sp>
          <p:nvSpPr>
            <p:cNvPr id="11287" name="Freeform 176">
              <a:extLst>
                <a:ext uri="{FF2B5EF4-FFF2-40B4-BE49-F238E27FC236}">
                  <a16:creationId xmlns:a16="http://schemas.microsoft.com/office/drawing/2014/main" id="{7CA7264A-4B2C-40A6-BEE6-A06769525C74}"/>
                </a:ext>
              </a:extLst>
            </p:cNvPr>
            <p:cNvSpPr>
              <a:spLocks/>
            </p:cNvSpPr>
            <p:nvPr/>
          </p:nvSpPr>
          <p:spPr bwMode="auto">
            <a:xfrm>
              <a:off x="4189" y="1342"/>
              <a:ext cx="468" cy="104"/>
            </a:xfrm>
            <a:custGeom>
              <a:avLst/>
              <a:gdLst>
                <a:gd name="T0" fmla="*/ 0 w 672"/>
                <a:gd name="T1" fmla="*/ 0 h 288"/>
                <a:gd name="T2" fmla="*/ 1 w 672"/>
                <a:gd name="T3" fmla="*/ 0 h 288"/>
                <a:gd name="T4" fmla="*/ 1 w 672"/>
                <a:gd name="T5" fmla="*/ 0 h 288"/>
                <a:gd name="T6" fmla="*/ 1 w 672"/>
                <a:gd name="T7" fmla="*/ 0 h 288"/>
                <a:gd name="T8" fmla="*/ 1 w 672"/>
                <a:gd name="T9" fmla="*/ 0 h 288"/>
                <a:gd name="T10" fmla="*/ 1 w 672"/>
                <a:gd name="T11" fmla="*/ 0 h 288"/>
                <a:gd name="T12" fmla="*/ 1 w 672"/>
                <a:gd name="T13" fmla="*/ 0 h 288"/>
                <a:gd name="T14" fmla="*/ 1 w 672"/>
                <a:gd name="T15" fmla="*/ 0 h 288"/>
                <a:gd name="T16" fmla="*/ 1 w 672"/>
                <a:gd name="T17" fmla="*/ 0 h 288"/>
                <a:gd name="T18" fmla="*/ 1 w 672"/>
                <a:gd name="T19" fmla="*/ 0 h 288"/>
                <a:gd name="T20" fmla="*/ 1 w 672"/>
                <a:gd name="T21" fmla="*/ 0 h 288"/>
                <a:gd name="T22" fmla="*/ 1 w 672"/>
                <a:gd name="T23" fmla="*/ 0 h 288"/>
                <a:gd name="T24" fmla="*/ 1 w 672"/>
                <a:gd name="T25" fmla="*/ 0 h 288"/>
                <a:gd name="T26" fmla="*/ 1 w 672"/>
                <a:gd name="T27" fmla="*/ 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2"/>
                <a:gd name="T43" fmla="*/ 0 h 288"/>
                <a:gd name="T44" fmla="*/ 672 w 672"/>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288" name="Group 177">
              <a:extLst>
                <a:ext uri="{FF2B5EF4-FFF2-40B4-BE49-F238E27FC236}">
                  <a16:creationId xmlns:a16="http://schemas.microsoft.com/office/drawing/2014/main" id="{E03B41A4-4754-4E1D-88F8-22D7FE3B71AA}"/>
                </a:ext>
              </a:extLst>
            </p:cNvPr>
            <p:cNvGrpSpPr>
              <a:grpSpLocks/>
            </p:cNvGrpSpPr>
            <p:nvPr/>
          </p:nvGrpSpPr>
          <p:grpSpPr bwMode="auto">
            <a:xfrm>
              <a:off x="3396" y="1265"/>
              <a:ext cx="412" cy="214"/>
              <a:chOff x="2315" y="3965"/>
              <a:chExt cx="496" cy="254"/>
            </a:xfrm>
          </p:grpSpPr>
          <p:sp>
            <p:nvSpPr>
              <p:cNvPr id="11336" name="Freeform 178">
                <a:extLst>
                  <a:ext uri="{FF2B5EF4-FFF2-40B4-BE49-F238E27FC236}">
                    <a16:creationId xmlns:a16="http://schemas.microsoft.com/office/drawing/2014/main" id="{B78CB5D1-2A57-43C1-B3E2-62B736591988}"/>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2"/>
                  <a:gd name="T115" fmla="*/ 0 h 535"/>
                  <a:gd name="T116" fmla="*/ 552 w 552"/>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37" name="Freeform 179">
                <a:extLst>
                  <a:ext uri="{FF2B5EF4-FFF2-40B4-BE49-F238E27FC236}">
                    <a16:creationId xmlns:a16="http://schemas.microsoft.com/office/drawing/2014/main" id="{8B2CA6F7-EDE7-4FC0-B770-AACCE0D3278F}"/>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38" name="Freeform 180">
                <a:extLst>
                  <a:ext uri="{FF2B5EF4-FFF2-40B4-BE49-F238E27FC236}">
                    <a16:creationId xmlns:a16="http://schemas.microsoft.com/office/drawing/2014/main" id="{C9B619D1-7066-4576-9DF7-231E3F16EA6F}"/>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1"/>
                  <a:gd name="T115" fmla="*/ 0 h 535"/>
                  <a:gd name="T116" fmla="*/ 551 w 551"/>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39" name="Freeform 181">
                <a:extLst>
                  <a:ext uri="{FF2B5EF4-FFF2-40B4-BE49-F238E27FC236}">
                    <a16:creationId xmlns:a16="http://schemas.microsoft.com/office/drawing/2014/main" id="{612E3580-92A3-4FFF-B2FC-41E4B6FF795D}"/>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289" name="Line 183">
              <a:extLst>
                <a:ext uri="{FF2B5EF4-FFF2-40B4-BE49-F238E27FC236}">
                  <a16:creationId xmlns:a16="http://schemas.microsoft.com/office/drawing/2014/main" id="{6047020E-2BC8-4F25-B686-81634B31BCA2}"/>
                </a:ext>
              </a:extLst>
            </p:cNvPr>
            <p:cNvSpPr>
              <a:spLocks noChangeShapeType="1"/>
            </p:cNvSpPr>
            <p:nvPr/>
          </p:nvSpPr>
          <p:spPr bwMode="auto">
            <a:xfrm>
              <a:off x="249" y="890"/>
              <a:ext cx="5213" cy="5"/>
            </a:xfrm>
            <a:prstGeom prst="line">
              <a:avLst/>
            </a:prstGeom>
            <a:noFill/>
            <a:ln w="28575">
              <a:solidFill>
                <a:schemeClr val="accent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1290" name="Group 187">
              <a:extLst>
                <a:ext uri="{FF2B5EF4-FFF2-40B4-BE49-F238E27FC236}">
                  <a16:creationId xmlns:a16="http://schemas.microsoft.com/office/drawing/2014/main" id="{B3BD995E-608C-4FC2-AD4F-0B7067B1ECEF}"/>
                </a:ext>
              </a:extLst>
            </p:cNvPr>
            <p:cNvGrpSpPr>
              <a:grpSpLocks/>
            </p:cNvGrpSpPr>
            <p:nvPr/>
          </p:nvGrpSpPr>
          <p:grpSpPr bwMode="auto">
            <a:xfrm>
              <a:off x="276" y="3318"/>
              <a:ext cx="1788" cy="237"/>
              <a:chOff x="273" y="2523"/>
              <a:chExt cx="1788" cy="237"/>
            </a:xfrm>
          </p:grpSpPr>
          <p:sp>
            <p:nvSpPr>
              <p:cNvPr id="11334" name="Line 188">
                <a:extLst>
                  <a:ext uri="{FF2B5EF4-FFF2-40B4-BE49-F238E27FC236}">
                    <a16:creationId xmlns:a16="http://schemas.microsoft.com/office/drawing/2014/main" id="{BBD6852F-D755-4A43-AD12-6E97AC06AAF8}"/>
                  </a:ext>
                </a:extLst>
              </p:cNvPr>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335" name="Rectangle 189">
                <a:extLst>
                  <a:ext uri="{FF2B5EF4-FFF2-40B4-BE49-F238E27FC236}">
                    <a16:creationId xmlns:a16="http://schemas.microsoft.com/office/drawing/2014/main" id="{E95D3C23-8E31-490A-877E-7DBA33C0395D}"/>
                  </a:ext>
                </a:extLst>
              </p:cNvPr>
              <p:cNvSpPr>
                <a:spLocks noChangeArrowheads="1"/>
              </p:cNvSpPr>
              <p:nvPr/>
            </p:nvSpPr>
            <p:spPr bwMode="auto">
              <a:xfrm>
                <a:off x="854" y="2523"/>
                <a:ext cx="620" cy="237"/>
              </a:xfrm>
              <a:prstGeom prst="rect">
                <a:avLst/>
              </a:prstGeom>
              <a:solidFill>
                <a:srgbClr val="FFFF66"/>
              </a:solidFill>
              <a:ln w="12700">
                <a:solidFill>
                  <a:srgbClr val="333399"/>
                </a:solidFill>
                <a:miter lim="800000"/>
                <a:headEnd/>
                <a:tailEnd/>
              </a:ln>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源系统</a:t>
                </a:r>
              </a:p>
            </p:txBody>
          </p:sp>
        </p:grpSp>
        <p:grpSp>
          <p:nvGrpSpPr>
            <p:cNvPr id="11291" name="Group 190">
              <a:extLst>
                <a:ext uri="{FF2B5EF4-FFF2-40B4-BE49-F238E27FC236}">
                  <a16:creationId xmlns:a16="http://schemas.microsoft.com/office/drawing/2014/main" id="{B19266E2-80B9-498C-B310-DAAA5C6A3A3E}"/>
                </a:ext>
              </a:extLst>
            </p:cNvPr>
            <p:cNvGrpSpPr>
              <a:grpSpLocks/>
            </p:cNvGrpSpPr>
            <p:nvPr/>
          </p:nvGrpSpPr>
          <p:grpSpPr bwMode="auto">
            <a:xfrm>
              <a:off x="3494" y="3332"/>
              <a:ext cx="1789" cy="237"/>
              <a:chOff x="3491" y="2533"/>
              <a:chExt cx="1789" cy="237"/>
            </a:xfrm>
          </p:grpSpPr>
          <p:sp>
            <p:nvSpPr>
              <p:cNvPr id="11332" name="Line 191">
                <a:extLst>
                  <a:ext uri="{FF2B5EF4-FFF2-40B4-BE49-F238E27FC236}">
                    <a16:creationId xmlns:a16="http://schemas.microsoft.com/office/drawing/2014/main" id="{41AB380D-8069-47C6-A606-7C81C927CE06}"/>
                  </a:ext>
                </a:extLst>
              </p:cNvPr>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333" name="Rectangle 192">
                <a:extLst>
                  <a:ext uri="{FF2B5EF4-FFF2-40B4-BE49-F238E27FC236}">
                    <a16:creationId xmlns:a16="http://schemas.microsoft.com/office/drawing/2014/main" id="{2C855AA4-EA91-4EAA-AC83-3E5548454977}"/>
                  </a:ext>
                </a:extLst>
              </p:cNvPr>
              <p:cNvSpPr>
                <a:spLocks noChangeArrowheads="1"/>
              </p:cNvSpPr>
              <p:nvPr/>
            </p:nvSpPr>
            <p:spPr bwMode="auto">
              <a:xfrm>
                <a:off x="4028" y="2533"/>
                <a:ext cx="712" cy="237"/>
              </a:xfrm>
              <a:prstGeom prst="rect">
                <a:avLst/>
              </a:prstGeom>
              <a:solidFill>
                <a:srgbClr val="FFCCFF"/>
              </a:solidFill>
              <a:ln w="12700">
                <a:solidFill>
                  <a:srgbClr val="333399"/>
                </a:solidFill>
                <a:miter lim="800000"/>
                <a:headEnd/>
                <a:tailEnd/>
              </a:ln>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目的系统</a:t>
                </a:r>
              </a:p>
            </p:txBody>
          </p:sp>
        </p:grpSp>
        <p:sp>
          <p:nvSpPr>
            <p:cNvPr id="11292" name="Line 194">
              <a:extLst>
                <a:ext uri="{FF2B5EF4-FFF2-40B4-BE49-F238E27FC236}">
                  <a16:creationId xmlns:a16="http://schemas.microsoft.com/office/drawing/2014/main" id="{B9A3A224-8DCA-4ACB-B9FF-9055ED51E15B}"/>
                </a:ext>
              </a:extLst>
            </p:cNvPr>
            <p:cNvSpPr>
              <a:spLocks noChangeShapeType="1"/>
            </p:cNvSpPr>
            <p:nvPr/>
          </p:nvSpPr>
          <p:spPr bwMode="auto">
            <a:xfrm>
              <a:off x="2064" y="3459"/>
              <a:ext cx="1430"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293" name="Rectangle 195">
              <a:extLst>
                <a:ext uri="{FF2B5EF4-FFF2-40B4-BE49-F238E27FC236}">
                  <a16:creationId xmlns:a16="http://schemas.microsoft.com/office/drawing/2014/main" id="{A70961E3-45CB-4B62-94C2-5109786BCA29}"/>
                </a:ext>
              </a:extLst>
            </p:cNvPr>
            <p:cNvSpPr>
              <a:spLocks noChangeArrowheads="1"/>
            </p:cNvSpPr>
            <p:nvPr/>
          </p:nvSpPr>
          <p:spPr bwMode="auto">
            <a:xfrm>
              <a:off x="2421" y="3332"/>
              <a:ext cx="734" cy="237"/>
            </a:xfrm>
            <a:prstGeom prst="rect">
              <a:avLst/>
            </a:prstGeom>
            <a:solidFill>
              <a:srgbClr val="CCFFFF"/>
            </a:solidFill>
            <a:ln w="12700">
              <a:solidFill>
                <a:srgbClr val="333399"/>
              </a:solidFill>
              <a:miter lim="800000"/>
              <a:headEnd/>
              <a:tailEnd/>
            </a:ln>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传输系统</a:t>
              </a:r>
            </a:p>
          </p:txBody>
        </p:sp>
        <p:sp>
          <p:nvSpPr>
            <p:cNvPr id="11294" name="Line 196">
              <a:extLst>
                <a:ext uri="{FF2B5EF4-FFF2-40B4-BE49-F238E27FC236}">
                  <a16:creationId xmlns:a16="http://schemas.microsoft.com/office/drawing/2014/main" id="{01113DD5-85B7-4834-A986-97C102020A69}"/>
                </a:ext>
              </a:extLst>
            </p:cNvPr>
            <p:cNvSpPr>
              <a:spLocks noChangeShapeType="1"/>
            </p:cNvSpPr>
            <p:nvPr/>
          </p:nvSpPr>
          <p:spPr bwMode="auto">
            <a:xfrm>
              <a:off x="3483" y="1960"/>
              <a:ext cx="6" cy="1653"/>
            </a:xfrm>
            <a:prstGeom prst="line">
              <a:avLst/>
            </a:prstGeom>
            <a:noFill/>
            <a:ln w="19050">
              <a:solidFill>
                <a:srgbClr val="333399"/>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pic>
          <p:nvPicPr>
            <p:cNvPr id="11295" name="Picture 197">
              <a:extLst>
                <a:ext uri="{FF2B5EF4-FFF2-40B4-BE49-F238E27FC236}">
                  <a16:creationId xmlns:a16="http://schemas.microsoft.com/office/drawing/2014/main" id="{F5B24AAE-E21E-4C8A-B6A2-B218FBC9FA6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8" y="1420"/>
              <a:ext cx="53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96" name="Picture 198">
              <a:extLst>
                <a:ext uri="{FF2B5EF4-FFF2-40B4-BE49-F238E27FC236}">
                  <a16:creationId xmlns:a16="http://schemas.microsoft.com/office/drawing/2014/main" id="{7A1EB6C9-F62B-463D-B865-5FAC9FF9874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7" y="1296"/>
              <a:ext cx="447"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1297" name="Rectangle 202">
              <a:extLst>
                <a:ext uri="{FF2B5EF4-FFF2-40B4-BE49-F238E27FC236}">
                  <a16:creationId xmlns:a16="http://schemas.microsoft.com/office/drawing/2014/main" id="{A9565DB2-B2AF-40AB-B3BD-BD2BC9F4B66D}"/>
                </a:ext>
              </a:extLst>
            </p:cNvPr>
            <p:cNvSpPr>
              <a:spLocks noChangeArrowheads="1"/>
            </p:cNvSpPr>
            <p:nvPr/>
          </p:nvSpPr>
          <p:spPr bwMode="auto">
            <a:xfrm>
              <a:off x="4637" y="1719"/>
              <a:ext cx="5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1800">
                  <a:solidFill>
                    <a:srgbClr val="333399"/>
                  </a:solidFill>
                  <a:latin typeface="Arial" panose="020B0604020202020204" pitchFamily="34" charset="0"/>
                  <a:ea typeface="黑体" panose="02010609060101010101" pitchFamily="49" charset="-122"/>
                </a:rPr>
                <a:t>PC </a:t>
              </a:r>
              <a:r>
                <a:rPr lang="zh-CN" altLang="en-US" sz="1800">
                  <a:solidFill>
                    <a:srgbClr val="333399"/>
                  </a:solidFill>
                  <a:latin typeface="Arial" panose="020B0604020202020204" pitchFamily="34" charset="0"/>
                  <a:ea typeface="黑体" panose="02010609060101010101" pitchFamily="49" charset="-122"/>
                </a:rPr>
                <a:t>机</a:t>
              </a:r>
            </a:p>
          </p:txBody>
        </p:sp>
        <p:sp>
          <p:nvSpPr>
            <p:cNvPr id="11298" name="Text Box 203">
              <a:extLst>
                <a:ext uri="{FF2B5EF4-FFF2-40B4-BE49-F238E27FC236}">
                  <a16:creationId xmlns:a16="http://schemas.microsoft.com/office/drawing/2014/main" id="{482EB6B1-5A22-42EA-9792-B8D616722048}"/>
                </a:ext>
              </a:extLst>
            </p:cNvPr>
            <p:cNvSpPr txBox="1">
              <a:spLocks noChangeArrowheads="1"/>
            </p:cNvSpPr>
            <p:nvPr/>
          </p:nvSpPr>
          <p:spPr bwMode="auto">
            <a:xfrm>
              <a:off x="1845" y="3743"/>
              <a:ext cx="196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solidFill>
                    <a:srgbClr val="0339D3"/>
                  </a:solidFill>
                  <a:ea typeface="黑体" panose="02010609060101010101" pitchFamily="49" charset="-122"/>
                </a:rPr>
                <a:t>数据通信系统模型</a:t>
              </a:r>
            </a:p>
          </p:txBody>
        </p:sp>
        <p:sp>
          <p:nvSpPr>
            <p:cNvPr id="11299" name="Rectangle 209">
              <a:extLst>
                <a:ext uri="{FF2B5EF4-FFF2-40B4-BE49-F238E27FC236}">
                  <a16:creationId xmlns:a16="http://schemas.microsoft.com/office/drawing/2014/main" id="{472F32D9-B6C7-4FDC-827B-E23DAE374FF4}"/>
                </a:ext>
              </a:extLst>
            </p:cNvPr>
            <p:cNvSpPr>
              <a:spLocks noChangeArrowheads="1"/>
            </p:cNvSpPr>
            <p:nvPr/>
          </p:nvSpPr>
          <p:spPr bwMode="auto">
            <a:xfrm>
              <a:off x="5168" y="2435"/>
              <a:ext cx="59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输出</a:t>
              </a:r>
            </a:p>
            <a:p>
              <a:pPr>
                <a:spcBef>
                  <a:spcPct val="0"/>
                </a:spcBef>
                <a:buClrTx/>
                <a:buFontTx/>
                <a:buNone/>
              </a:pPr>
              <a:r>
                <a:rPr lang="zh-CN" altLang="en-US" sz="1800">
                  <a:solidFill>
                    <a:srgbClr val="333399"/>
                  </a:solidFill>
                  <a:ea typeface="黑体" panose="02010609060101010101" pitchFamily="49" charset="-122"/>
                </a:rPr>
                <a:t>信息</a:t>
              </a:r>
              <a:r>
                <a:rPr lang="en-US" altLang="zh-CN" sz="1800" b="1" i="1">
                  <a:solidFill>
                    <a:srgbClr val="333399"/>
                  </a:solidFill>
                  <a:ea typeface="黑体" panose="02010609060101010101" pitchFamily="49" charset="-122"/>
                </a:rPr>
                <a:t>m’</a:t>
              </a:r>
              <a:endParaRPr lang="en-US" altLang="zh-CN" sz="1800">
                <a:solidFill>
                  <a:srgbClr val="333399"/>
                </a:solidFill>
                <a:ea typeface="黑体" panose="02010609060101010101" pitchFamily="49" charset="-122"/>
              </a:endParaRPr>
            </a:p>
          </p:txBody>
        </p:sp>
        <p:grpSp>
          <p:nvGrpSpPr>
            <p:cNvPr id="11300" name="Group 212">
              <a:extLst>
                <a:ext uri="{FF2B5EF4-FFF2-40B4-BE49-F238E27FC236}">
                  <a16:creationId xmlns:a16="http://schemas.microsoft.com/office/drawing/2014/main" id="{34CED9B1-FAB7-41DE-A099-7C61514589BB}"/>
                </a:ext>
              </a:extLst>
            </p:cNvPr>
            <p:cNvGrpSpPr>
              <a:grpSpLocks/>
            </p:cNvGrpSpPr>
            <p:nvPr/>
          </p:nvGrpSpPr>
          <p:grpSpPr bwMode="auto">
            <a:xfrm>
              <a:off x="0" y="2160"/>
              <a:ext cx="5479" cy="960"/>
              <a:chOff x="68" y="2425"/>
              <a:chExt cx="5479" cy="960"/>
            </a:xfrm>
          </p:grpSpPr>
          <p:sp>
            <p:nvSpPr>
              <p:cNvPr id="11303" name="Line 211">
                <a:extLst>
                  <a:ext uri="{FF2B5EF4-FFF2-40B4-BE49-F238E27FC236}">
                    <a16:creationId xmlns:a16="http://schemas.microsoft.com/office/drawing/2014/main" id="{EC91F55F-C8A4-4501-87E1-961FC18B057D}"/>
                  </a:ext>
                </a:extLst>
              </p:cNvPr>
              <p:cNvSpPr>
                <a:spLocks noChangeShapeType="1"/>
              </p:cNvSpPr>
              <p:nvPr/>
            </p:nvSpPr>
            <p:spPr bwMode="auto">
              <a:xfrm rot="16200000" flipV="1">
                <a:off x="2643" y="3043"/>
                <a:ext cx="33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1304" name="Group 107">
                <a:extLst>
                  <a:ext uri="{FF2B5EF4-FFF2-40B4-BE49-F238E27FC236}">
                    <a16:creationId xmlns:a16="http://schemas.microsoft.com/office/drawing/2014/main" id="{F526D9E5-406E-4053-80E5-24B25A450ED8}"/>
                  </a:ext>
                </a:extLst>
              </p:cNvPr>
              <p:cNvGrpSpPr>
                <a:grpSpLocks/>
              </p:cNvGrpSpPr>
              <p:nvPr/>
            </p:nvGrpSpPr>
            <p:grpSpPr bwMode="auto">
              <a:xfrm>
                <a:off x="2507" y="2425"/>
                <a:ext cx="646" cy="458"/>
                <a:chOff x="2463" y="2931"/>
                <a:chExt cx="646" cy="458"/>
              </a:xfrm>
            </p:grpSpPr>
            <p:sp>
              <p:nvSpPr>
                <p:cNvPr id="11330" name="AutoShape 108">
                  <a:extLst>
                    <a:ext uri="{FF2B5EF4-FFF2-40B4-BE49-F238E27FC236}">
                      <a16:creationId xmlns:a16="http://schemas.microsoft.com/office/drawing/2014/main" id="{C9077411-501D-4B0E-8115-E4E4C471FE90}"/>
                    </a:ext>
                  </a:extLst>
                </p:cNvPr>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31" name="Rectangle 109">
                  <a:extLst>
                    <a:ext uri="{FF2B5EF4-FFF2-40B4-BE49-F238E27FC236}">
                      <a16:creationId xmlns:a16="http://schemas.microsoft.com/office/drawing/2014/main" id="{B7EBF363-3CD5-4FE0-95B7-3C72ECD66C35}"/>
                    </a:ext>
                  </a:extLst>
                </p:cNvPr>
                <p:cNvSpPr>
                  <a:spLocks noChangeArrowheads="1"/>
                </p:cNvSpPr>
                <p:nvPr/>
              </p:nvSpPr>
              <p:spPr bwMode="auto">
                <a:xfrm>
                  <a:off x="2546" y="2985"/>
                  <a:ext cx="50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传输</a:t>
                  </a:r>
                </a:p>
                <a:p>
                  <a:pPr>
                    <a:spcBef>
                      <a:spcPct val="0"/>
                    </a:spcBef>
                    <a:buClrTx/>
                    <a:buFontTx/>
                    <a:buNone/>
                  </a:pPr>
                  <a:r>
                    <a:rPr lang="zh-CN" altLang="en-US" sz="1800">
                      <a:solidFill>
                        <a:srgbClr val="333399"/>
                      </a:solidFill>
                      <a:ea typeface="黑体" panose="02010609060101010101" pitchFamily="49" charset="-122"/>
                    </a:rPr>
                    <a:t>系统</a:t>
                  </a:r>
                </a:p>
              </p:txBody>
            </p:sp>
          </p:grpSp>
          <p:sp>
            <p:nvSpPr>
              <p:cNvPr id="11305" name="Rectangle 111">
                <a:extLst>
                  <a:ext uri="{FF2B5EF4-FFF2-40B4-BE49-F238E27FC236}">
                    <a16:creationId xmlns:a16="http://schemas.microsoft.com/office/drawing/2014/main" id="{5E783B55-3A16-4D60-98D3-014A5595F28A}"/>
                  </a:ext>
                </a:extLst>
              </p:cNvPr>
              <p:cNvSpPr>
                <a:spLocks noChangeArrowheads="1"/>
              </p:cNvSpPr>
              <p:nvPr/>
            </p:nvSpPr>
            <p:spPr bwMode="auto">
              <a:xfrm>
                <a:off x="68" y="2704"/>
                <a:ext cx="544"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输入信息</a:t>
                </a:r>
                <a:r>
                  <a:rPr lang="en-US" altLang="zh-CN" sz="1800" b="1" i="1">
                    <a:solidFill>
                      <a:srgbClr val="333399"/>
                    </a:solidFill>
                    <a:ea typeface="黑体" panose="02010609060101010101" pitchFamily="49" charset="-122"/>
                  </a:rPr>
                  <a:t>m</a:t>
                </a:r>
                <a:endParaRPr lang="en-US" altLang="zh-CN" sz="1800">
                  <a:solidFill>
                    <a:srgbClr val="333399"/>
                  </a:solidFill>
                  <a:ea typeface="黑体" panose="02010609060101010101" pitchFamily="49" charset="-122"/>
                </a:endParaRPr>
              </a:p>
            </p:txBody>
          </p:sp>
          <p:sp>
            <p:nvSpPr>
              <p:cNvPr id="11306" name="Line 112">
                <a:extLst>
                  <a:ext uri="{FF2B5EF4-FFF2-40B4-BE49-F238E27FC236}">
                    <a16:creationId xmlns:a16="http://schemas.microsoft.com/office/drawing/2014/main" id="{A0925846-6243-4814-9727-5272947DA2BE}"/>
                  </a:ext>
                </a:extLst>
              </p:cNvPr>
              <p:cNvSpPr>
                <a:spLocks noChangeShapeType="1"/>
              </p:cNvSpPr>
              <p:nvPr/>
            </p:nvSpPr>
            <p:spPr bwMode="auto">
              <a:xfrm>
                <a:off x="138" y="2667"/>
                <a:ext cx="313"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07" name="Line 115">
                <a:extLst>
                  <a:ext uri="{FF2B5EF4-FFF2-40B4-BE49-F238E27FC236}">
                    <a16:creationId xmlns:a16="http://schemas.microsoft.com/office/drawing/2014/main" id="{0C05F1C8-5670-4410-93AF-0A7A67506A01}"/>
                  </a:ext>
                </a:extLst>
              </p:cNvPr>
              <p:cNvSpPr>
                <a:spLocks noChangeShapeType="1"/>
              </p:cNvSpPr>
              <p:nvPr/>
            </p:nvSpPr>
            <p:spPr bwMode="auto">
              <a:xfrm>
                <a:off x="954" y="2654"/>
                <a:ext cx="34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08" name="Rectangle 117">
                <a:extLst>
                  <a:ext uri="{FF2B5EF4-FFF2-40B4-BE49-F238E27FC236}">
                    <a16:creationId xmlns:a16="http://schemas.microsoft.com/office/drawing/2014/main" id="{7D4F6B07-F34E-4E17-AB95-86D6D6D67E30}"/>
                  </a:ext>
                </a:extLst>
              </p:cNvPr>
              <p:cNvSpPr>
                <a:spLocks noChangeArrowheads="1"/>
              </p:cNvSpPr>
              <p:nvPr/>
            </p:nvSpPr>
            <p:spPr bwMode="auto">
              <a:xfrm>
                <a:off x="1882" y="2704"/>
                <a:ext cx="73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发送的</a:t>
                </a:r>
              </a:p>
              <a:p>
                <a:pPr>
                  <a:spcBef>
                    <a:spcPct val="0"/>
                  </a:spcBef>
                  <a:buClrTx/>
                  <a:buFontTx/>
                  <a:buNone/>
                </a:pPr>
                <a:r>
                  <a:rPr lang="zh-CN" altLang="en-US" sz="1800">
                    <a:solidFill>
                      <a:srgbClr val="333399"/>
                    </a:solidFill>
                    <a:ea typeface="黑体" panose="02010609060101010101" pitchFamily="49" charset="-122"/>
                  </a:rPr>
                  <a:t>信号</a:t>
                </a:r>
                <a:r>
                  <a:rPr lang="en-US" altLang="zh-CN" sz="1800" b="1" i="1">
                    <a:solidFill>
                      <a:srgbClr val="333399"/>
                    </a:solidFill>
                    <a:ea typeface="黑体" panose="02010609060101010101" pitchFamily="49" charset="-122"/>
                  </a:rPr>
                  <a:t>S</a:t>
                </a:r>
                <a:r>
                  <a:rPr lang="en-US" altLang="zh-CN" sz="1800" b="1">
                    <a:solidFill>
                      <a:srgbClr val="333399"/>
                    </a:solidFill>
                    <a:ea typeface="黑体" panose="02010609060101010101" pitchFamily="49" charset="-122"/>
                  </a:rPr>
                  <a:t>(</a:t>
                </a:r>
                <a:r>
                  <a:rPr lang="en-US" altLang="zh-CN" sz="1800" b="1" i="1">
                    <a:solidFill>
                      <a:srgbClr val="333399"/>
                    </a:solidFill>
                    <a:ea typeface="黑体" panose="02010609060101010101" pitchFamily="49" charset="-122"/>
                  </a:rPr>
                  <a:t>t</a:t>
                </a:r>
                <a:r>
                  <a:rPr lang="en-US" altLang="zh-CN" sz="1800" b="1">
                    <a:solidFill>
                      <a:srgbClr val="333399"/>
                    </a:solidFill>
                    <a:ea typeface="黑体" panose="02010609060101010101" pitchFamily="49" charset="-122"/>
                  </a:rPr>
                  <a:t>)</a:t>
                </a:r>
              </a:p>
            </p:txBody>
          </p:sp>
          <p:sp>
            <p:nvSpPr>
              <p:cNvPr id="11309" name="Line 118">
                <a:extLst>
                  <a:ext uri="{FF2B5EF4-FFF2-40B4-BE49-F238E27FC236}">
                    <a16:creationId xmlns:a16="http://schemas.microsoft.com/office/drawing/2014/main" id="{C167156D-51BA-4669-87DB-1117E336CF12}"/>
                  </a:ext>
                </a:extLst>
              </p:cNvPr>
              <p:cNvSpPr>
                <a:spLocks noChangeShapeType="1"/>
              </p:cNvSpPr>
              <p:nvPr/>
            </p:nvSpPr>
            <p:spPr bwMode="auto">
              <a:xfrm flipV="1">
                <a:off x="1833" y="2657"/>
                <a:ext cx="682" cy="2"/>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10" name="Line 121">
                <a:extLst>
                  <a:ext uri="{FF2B5EF4-FFF2-40B4-BE49-F238E27FC236}">
                    <a16:creationId xmlns:a16="http://schemas.microsoft.com/office/drawing/2014/main" id="{0FC7CDB2-26CC-4CBC-B6BA-E1CFAB064F98}"/>
                  </a:ext>
                </a:extLst>
              </p:cNvPr>
              <p:cNvSpPr>
                <a:spLocks noChangeShapeType="1"/>
              </p:cNvSpPr>
              <p:nvPr/>
            </p:nvSpPr>
            <p:spPr bwMode="auto">
              <a:xfrm>
                <a:off x="3135" y="2654"/>
                <a:ext cx="714"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11" name="Line 124">
                <a:extLst>
                  <a:ext uri="{FF2B5EF4-FFF2-40B4-BE49-F238E27FC236}">
                    <a16:creationId xmlns:a16="http://schemas.microsoft.com/office/drawing/2014/main" id="{3CAADA70-CA2F-4BA3-AA97-E766B38F5DF5}"/>
                  </a:ext>
                </a:extLst>
              </p:cNvPr>
              <p:cNvSpPr>
                <a:spLocks noChangeShapeType="1"/>
              </p:cNvSpPr>
              <p:nvPr/>
            </p:nvSpPr>
            <p:spPr bwMode="auto">
              <a:xfrm>
                <a:off x="4362" y="2654"/>
                <a:ext cx="33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1312" name="Group 125">
                <a:extLst>
                  <a:ext uri="{FF2B5EF4-FFF2-40B4-BE49-F238E27FC236}">
                    <a16:creationId xmlns:a16="http://schemas.microsoft.com/office/drawing/2014/main" id="{97A909CE-553C-4F75-B70E-93245F7A0A39}"/>
                  </a:ext>
                </a:extLst>
              </p:cNvPr>
              <p:cNvGrpSpPr>
                <a:grpSpLocks/>
              </p:cNvGrpSpPr>
              <p:nvPr/>
            </p:nvGrpSpPr>
            <p:grpSpPr bwMode="auto">
              <a:xfrm>
                <a:off x="451" y="2425"/>
                <a:ext cx="536" cy="458"/>
                <a:chOff x="407" y="2931"/>
                <a:chExt cx="536" cy="458"/>
              </a:xfrm>
            </p:grpSpPr>
            <p:sp>
              <p:nvSpPr>
                <p:cNvPr id="11328" name="AutoShape 126">
                  <a:extLst>
                    <a:ext uri="{FF2B5EF4-FFF2-40B4-BE49-F238E27FC236}">
                      <a16:creationId xmlns:a16="http://schemas.microsoft.com/office/drawing/2014/main" id="{C1BF537D-4022-4FD6-871F-F2D19A7D26DD}"/>
                    </a:ext>
                  </a:extLst>
                </p:cNvPr>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29" name="Rectangle 127">
                  <a:extLst>
                    <a:ext uri="{FF2B5EF4-FFF2-40B4-BE49-F238E27FC236}">
                      <a16:creationId xmlns:a16="http://schemas.microsoft.com/office/drawing/2014/main" id="{AE700B35-761F-4AC5-A619-9B3D27247F55}"/>
                    </a:ext>
                  </a:extLst>
                </p:cNvPr>
                <p:cNvSpPr>
                  <a:spLocks noChangeArrowheads="1"/>
                </p:cNvSpPr>
                <p:nvPr/>
              </p:nvSpPr>
              <p:spPr bwMode="auto">
                <a:xfrm>
                  <a:off x="449" y="3059"/>
                  <a:ext cx="44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源点</a:t>
                  </a:r>
                </a:p>
              </p:txBody>
            </p:sp>
          </p:grpSp>
          <p:grpSp>
            <p:nvGrpSpPr>
              <p:cNvPr id="11313" name="Group 131">
                <a:extLst>
                  <a:ext uri="{FF2B5EF4-FFF2-40B4-BE49-F238E27FC236}">
                    <a16:creationId xmlns:a16="http://schemas.microsoft.com/office/drawing/2014/main" id="{DD205E40-5993-40EB-8F95-8758BB8A5B60}"/>
                  </a:ext>
                </a:extLst>
              </p:cNvPr>
              <p:cNvGrpSpPr>
                <a:grpSpLocks/>
              </p:cNvGrpSpPr>
              <p:nvPr/>
            </p:nvGrpSpPr>
            <p:grpSpPr bwMode="auto">
              <a:xfrm>
                <a:off x="1272" y="2425"/>
                <a:ext cx="581" cy="458"/>
                <a:chOff x="1228" y="2931"/>
                <a:chExt cx="581" cy="458"/>
              </a:xfrm>
            </p:grpSpPr>
            <p:sp>
              <p:nvSpPr>
                <p:cNvPr id="11326" name="AutoShape 132">
                  <a:extLst>
                    <a:ext uri="{FF2B5EF4-FFF2-40B4-BE49-F238E27FC236}">
                      <a16:creationId xmlns:a16="http://schemas.microsoft.com/office/drawing/2014/main" id="{6407972D-9FDE-46E2-86D9-365998CD824C}"/>
                    </a:ext>
                  </a:extLst>
                </p:cNvPr>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27" name="Rectangle 133">
                  <a:extLst>
                    <a:ext uri="{FF2B5EF4-FFF2-40B4-BE49-F238E27FC236}">
                      <a16:creationId xmlns:a16="http://schemas.microsoft.com/office/drawing/2014/main" id="{5069BFEF-5812-4BF1-9480-50178C800CB1}"/>
                    </a:ext>
                  </a:extLst>
                </p:cNvPr>
                <p:cNvSpPr>
                  <a:spLocks noChangeArrowheads="1"/>
                </p:cNvSpPr>
                <p:nvPr/>
              </p:nvSpPr>
              <p:spPr bwMode="auto">
                <a:xfrm>
                  <a:off x="1228" y="3068"/>
                  <a:ext cx="5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发送器</a:t>
                  </a:r>
                </a:p>
              </p:txBody>
            </p:sp>
          </p:grpSp>
          <p:grpSp>
            <p:nvGrpSpPr>
              <p:cNvPr id="11314" name="Group 134">
                <a:extLst>
                  <a:ext uri="{FF2B5EF4-FFF2-40B4-BE49-F238E27FC236}">
                    <a16:creationId xmlns:a16="http://schemas.microsoft.com/office/drawing/2014/main" id="{5CDC6308-0CE5-4596-B3CF-8674CEB510DB}"/>
                  </a:ext>
                </a:extLst>
              </p:cNvPr>
              <p:cNvGrpSpPr>
                <a:grpSpLocks/>
              </p:cNvGrpSpPr>
              <p:nvPr/>
            </p:nvGrpSpPr>
            <p:grpSpPr bwMode="auto">
              <a:xfrm>
                <a:off x="3822" y="2425"/>
                <a:ext cx="581" cy="458"/>
                <a:chOff x="3778" y="2931"/>
                <a:chExt cx="581" cy="458"/>
              </a:xfrm>
            </p:grpSpPr>
            <p:sp>
              <p:nvSpPr>
                <p:cNvPr id="11324" name="AutoShape 135">
                  <a:extLst>
                    <a:ext uri="{FF2B5EF4-FFF2-40B4-BE49-F238E27FC236}">
                      <a16:creationId xmlns:a16="http://schemas.microsoft.com/office/drawing/2014/main" id="{8AD17A98-D91C-4563-958E-12E84B819F95}"/>
                    </a:ext>
                  </a:extLst>
                </p:cNvPr>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25" name="Rectangle 136">
                  <a:extLst>
                    <a:ext uri="{FF2B5EF4-FFF2-40B4-BE49-F238E27FC236}">
                      <a16:creationId xmlns:a16="http://schemas.microsoft.com/office/drawing/2014/main" id="{7C374167-3C31-4F51-B994-6568B1A47C96}"/>
                    </a:ext>
                  </a:extLst>
                </p:cNvPr>
                <p:cNvSpPr>
                  <a:spLocks noChangeArrowheads="1"/>
                </p:cNvSpPr>
                <p:nvPr/>
              </p:nvSpPr>
              <p:spPr bwMode="auto">
                <a:xfrm>
                  <a:off x="3778" y="3059"/>
                  <a:ext cx="5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接收器</a:t>
                  </a:r>
                </a:p>
              </p:txBody>
            </p:sp>
          </p:grpSp>
          <p:sp>
            <p:nvSpPr>
              <p:cNvPr id="11315" name="Line 201">
                <a:extLst>
                  <a:ext uri="{FF2B5EF4-FFF2-40B4-BE49-F238E27FC236}">
                    <a16:creationId xmlns:a16="http://schemas.microsoft.com/office/drawing/2014/main" id="{24C8704F-1741-40F8-92FB-826AE454EDAB}"/>
                  </a:ext>
                </a:extLst>
              </p:cNvPr>
              <p:cNvSpPr>
                <a:spLocks noChangeShapeType="1"/>
              </p:cNvSpPr>
              <p:nvPr/>
            </p:nvSpPr>
            <p:spPr bwMode="auto">
              <a:xfrm>
                <a:off x="5212" y="2654"/>
                <a:ext cx="335"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16" name="AutoShape 205">
                <a:extLst>
                  <a:ext uri="{FF2B5EF4-FFF2-40B4-BE49-F238E27FC236}">
                    <a16:creationId xmlns:a16="http://schemas.microsoft.com/office/drawing/2014/main" id="{211EF922-269C-4176-8A26-C032E122D9C2}"/>
                  </a:ext>
                </a:extLst>
              </p:cNvPr>
              <p:cNvSpPr>
                <a:spLocks noChangeArrowheads="1"/>
              </p:cNvSpPr>
              <p:nvPr/>
            </p:nvSpPr>
            <p:spPr bwMode="auto">
              <a:xfrm>
                <a:off x="2517" y="3104"/>
                <a:ext cx="646" cy="281"/>
              </a:xfrm>
              <a:prstGeom prst="cube">
                <a:avLst>
                  <a:gd name="adj" fmla="val 13069"/>
                </a:avLst>
              </a:prstGeom>
              <a:solidFill>
                <a:srgbClr val="DDDDDD"/>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17" name="Rectangle 206">
                <a:extLst>
                  <a:ext uri="{FF2B5EF4-FFF2-40B4-BE49-F238E27FC236}">
                    <a16:creationId xmlns:a16="http://schemas.microsoft.com/office/drawing/2014/main" id="{4454199F-7098-42B7-AAEB-2DB021A51C63}"/>
                  </a:ext>
                </a:extLst>
              </p:cNvPr>
              <p:cNvSpPr>
                <a:spLocks noChangeArrowheads="1"/>
              </p:cNvSpPr>
              <p:nvPr/>
            </p:nvSpPr>
            <p:spPr bwMode="auto">
              <a:xfrm>
                <a:off x="2623" y="3150"/>
                <a:ext cx="42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噪声</a:t>
                </a:r>
              </a:p>
            </p:txBody>
          </p:sp>
          <p:sp>
            <p:nvSpPr>
              <p:cNvPr id="11318" name="Rectangle 207">
                <a:extLst>
                  <a:ext uri="{FF2B5EF4-FFF2-40B4-BE49-F238E27FC236}">
                    <a16:creationId xmlns:a16="http://schemas.microsoft.com/office/drawing/2014/main" id="{AD6FFEC6-BC7E-42AD-985F-701501B517EB}"/>
                  </a:ext>
                </a:extLst>
              </p:cNvPr>
              <p:cNvSpPr>
                <a:spLocks noChangeArrowheads="1"/>
              </p:cNvSpPr>
              <p:nvPr/>
            </p:nvSpPr>
            <p:spPr bwMode="auto">
              <a:xfrm>
                <a:off x="943" y="2704"/>
                <a:ext cx="69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输入</a:t>
                </a:r>
              </a:p>
              <a:p>
                <a:pPr>
                  <a:spcBef>
                    <a:spcPct val="0"/>
                  </a:spcBef>
                  <a:buClrTx/>
                  <a:buFontTx/>
                  <a:buNone/>
                </a:pPr>
                <a:r>
                  <a:rPr lang="zh-CN" altLang="en-US" sz="1800">
                    <a:solidFill>
                      <a:srgbClr val="333399"/>
                    </a:solidFill>
                    <a:ea typeface="黑体" panose="02010609060101010101" pitchFamily="49" charset="-122"/>
                  </a:rPr>
                  <a:t>数据</a:t>
                </a:r>
                <a:r>
                  <a:rPr lang="en-US" altLang="zh-CN" sz="1800" b="1" i="1">
                    <a:solidFill>
                      <a:srgbClr val="333399"/>
                    </a:solidFill>
                    <a:ea typeface="黑体" panose="02010609060101010101" pitchFamily="49" charset="-122"/>
                  </a:rPr>
                  <a:t>d</a:t>
                </a:r>
                <a:r>
                  <a:rPr lang="en-US" altLang="zh-CN" sz="1800" b="1">
                    <a:solidFill>
                      <a:srgbClr val="333399"/>
                    </a:solidFill>
                    <a:ea typeface="黑体" panose="02010609060101010101" pitchFamily="49" charset="-122"/>
                  </a:rPr>
                  <a:t>(</a:t>
                </a:r>
                <a:r>
                  <a:rPr lang="en-US" altLang="zh-CN" sz="1800" b="1" i="1">
                    <a:solidFill>
                      <a:srgbClr val="333399"/>
                    </a:solidFill>
                    <a:ea typeface="黑体" panose="02010609060101010101" pitchFamily="49" charset="-122"/>
                  </a:rPr>
                  <a:t>t</a:t>
                </a:r>
                <a:r>
                  <a:rPr lang="en-US" altLang="zh-CN" sz="1800" b="1">
                    <a:solidFill>
                      <a:srgbClr val="333399"/>
                    </a:solidFill>
                    <a:ea typeface="黑体" panose="02010609060101010101" pitchFamily="49" charset="-122"/>
                  </a:rPr>
                  <a:t>)</a:t>
                </a:r>
              </a:p>
            </p:txBody>
          </p:sp>
          <p:sp>
            <p:nvSpPr>
              <p:cNvPr id="11319" name="Rectangle 208">
                <a:extLst>
                  <a:ext uri="{FF2B5EF4-FFF2-40B4-BE49-F238E27FC236}">
                    <a16:creationId xmlns:a16="http://schemas.microsoft.com/office/drawing/2014/main" id="{7775164C-7973-48DF-A71F-E4CB130F8B6A}"/>
                  </a:ext>
                </a:extLst>
              </p:cNvPr>
              <p:cNvSpPr>
                <a:spLocks noChangeArrowheads="1"/>
              </p:cNvSpPr>
              <p:nvPr/>
            </p:nvSpPr>
            <p:spPr bwMode="auto">
              <a:xfrm>
                <a:off x="3192" y="2691"/>
                <a:ext cx="73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接收的</a:t>
                </a:r>
              </a:p>
              <a:p>
                <a:pPr>
                  <a:spcBef>
                    <a:spcPct val="0"/>
                  </a:spcBef>
                  <a:buClrTx/>
                  <a:buFontTx/>
                  <a:buNone/>
                </a:pPr>
                <a:r>
                  <a:rPr lang="zh-CN" altLang="en-US" sz="1800">
                    <a:solidFill>
                      <a:srgbClr val="333399"/>
                    </a:solidFill>
                    <a:ea typeface="黑体" panose="02010609060101010101" pitchFamily="49" charset="-122"/>
                  </a:rPr>
                  <a:t>信号</a:t>
                </a:r>
                <a:r>
                  <a:rPr lang="en-US" altLang="zh-CN" sz="1800" b="1" i="1">
                    <a:solidFill>
                      <a:srgbClr val="333399"/>
                    </a:solidFill>
                    <a:ea typeface="黑体" panose="02010609060101010101" pitchFamily="49" charset="-122"/>
                  </a:rPr>
                  <a:t>r</a:t>
                </a:r>
                <a:r>
                  <a:rPr lang="en-US" altLang="zh-CN" sz="1800" b="1">
                    <a:solidFill>
                      <a:srgbClr val="333399"/>
                    </a:solidFill>
                    <a:ea typeface="黑体" panose="02010609060101010101" pitchFamily="49" charset="-122"/>
                  </a:rPr>
                  <a:t>(</a:t>
                </a:r>
                <a:r>
                  <a:rPr lang="en-US" altLang="zh-CN" sz="1800" b="1" i="1">
                    <a:solidFill>
                      <a:srgbClr val="333399"/>
                    </a:solidFill>
                    <a:ea typeface="黑体" panose="02010609060101010101" pitchFamily="49" charset="-122"/>
                  </a:rPr>
                  <a:t>t</a:t>
                </a:r>
                <a:r>
                  <a:rPr lang="en-US" altLang="zh-CN" sz="1800" b="1">
                    <a:solidFill>
                      <a:srgbClr val="333399"/>
                    </a:solidFill>
                    <a:ea typeface="黑体" panose="02010609060101010101" pitchFamily="49" charset="-122"/>
                  </a:rPr>
                  <a:t>)</a:t>
                </a:r>
              </a:p>
            </p:txBody>
          </p:sp>
          <p:sp>
            <p:nvSpPr>
              <p:cNvPr id="11320" name="Rectangle 210">
                <a:extLst>
                  <a:ext uri="{FF2B5EF4-FFF2-40B4-BE49-F238E27FC236}">
                    <a16:creationId xmlns:a16="http://schemas.microsoft.com/office/drawing/2014/main" id="{84138280-09EA-43CD-B67C-4C2706FC1787}"/>
                  </a:ext>
                </a:extLst>
              </p:cNvPr>
              <p:cNvSpPr>
                <a:spLocks noChangeArrowheads="1"/>
              </p:cNvSpPr>
              <p:nvPr/>
            </p:nvSpPr>
            <p:spPr bwMode="auto">
              <a:xfrm>
                <a:off x="4340" y="2704"/>
                <a:ext cx="69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输出</a:t>
                </a:r>
              </a:p>
              <a:p>
                <a:pPr>
                  <a:spcBef>
                    <a:spcPct val="0"/>
                  </a:spcBef>
                  <a:buClrTx/>
                  <a:buFontTx/>
                  <a:buNone/>
                </a:pPr>
                <a:r>
                  <a:rPr lang="zh-CN" altLang="en-US" sz="1800">
                    <a:solidFill>
                      <a:srgbClr val="333399"/>
                    </a:solidFill>
                    <a:ea typeface="黑体" panose="02010609060101010101" pitchFamily="49" charset="-122"/>
                  </a:rPr>
                  <a:t>数据</a:t>
                </a:r>
                <a:r>
                  <a:rPr lang="en-US" altLang="zh-CN" sz="1800" b="1" i="1">
                    <a:solidFill>
                      <a:srgbClr val="333399"/>
                    </a:solidFill>
                    <a:ea typeface="黑体" panose="02010609060101010101" pitchFamily="49" charset="-122"/>
                  </a:rPr>
                  <a:t>d’</a:t>
                </a:r>
                <a:r>
                  <a:rPr lang="en-US" altLang="zh-CN" sz="1800" b="1">
                    <a:solidFill>
                      <a:srgbClr val="333399"/>
                    </a:solidFill>
                    <a:ea typeface="黑体" panose="02010609060101010101" pitchFamily="49" charset="-122"/>
                  </a:rPr>
                  <a:t>(</a:t>
                </a:r>
                <a:r>
                  <a:rPr lang="en-US" altLang="zh-CN" sz="1800" b="1" i="1">
                    <a:solidFill>
                      <a:srgbClr val="333399"/>
                    </a:solidFill>
                    <a:ea typeface="黑体" panose="02010609060101010101" pitchFamily="49" charset="-122"/>
                  </a:rPr>
                  <a:t>t</a:t>
                </a:r>
                <a:r>
                  <a:rPr lang="en-US" altLang="zh-CN" sz="1800" b="1">
                    <a:solidFill>
                      <a:srgbClr val="333399"/>
                    </a:solidFill>
                    <a:ea typeface="黑体" panose="02010609060101010101" pitchFamily="49" charset="-122"/>
                  </a:rPr>
                  <a:t>)</a:t>
                </a:r>
              </a:p>
            </p:txBody>
          </p:sp>
          <p:grpSp>
            <p:nvGrpSpPr>
              <p:cNvPr id="11321" name="Group 128">
                <a:extLst>
                  <a:ext uri="{FF2B5EF4-FFF2-40B4-BE49-F238E27FC236}">
                    <a16:creationId xmlns:a16="http://schemas.microsoft.com/office/drawing/2014/main" id="{8BF3D557-4F41-4042-8770-0CCDCB5A9DD1}"/>
                  </a:ext>
                </a:extLst>
              </p:cNvPr>
              <p:cNvGrpSpPr>
                <a:grpSpLocks/>
              </p:cNvGrpSpPr>
              <p:nvPr/>
            </p:nvGrpSpPr>
            <p:grpSpPr bwMode="auto">
              <a:xfrm>
                <a:off x="4698" y="2425"/>
                <a:ext cx="536" cy="458"/>
                <a:chOff x="4654" y="2931"/>
                <a:chExt cx="536" cy="458"/>
              </a:xfrm>
            </p:grpSpPr>
            <p:sp>
              <p:nvSpPr>
                <p:cNvPr id="11322" name="AutoShape 129">
                  <a:extLst>
                    <a:ext uri="{FF2B5EF4-FFF2-40B4-BE49-F238E27FC236}">
                      <a16:creationId xmlns:a16="http://schemas.microsoft.com/office/drawing/2014/main" id="{DBB3FA42-A0F4-47C2-A454-09470A81324F}"/>
                    </a:ext>
                  </a:extLst>
                </p:cNvPr>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23" name="Rectangle 130">
                  <a:extLst>
                    <a:ext uri="{FF2B5EF4-FFF2-40B4-BE49-F238E27FC236}">
                      <a16:creationId xmlns:a16="http://schemas.microsoft.com/office/drawing/2014/main" id="{B1077976-613C-4443-919D-A90BB15FE7D3}"/>
                    </a:ext>
                  </a:extLst>
                </p:cNvPr>
                <p:cNvSpPr>
                  <a:spLocks noChangeArrowheads="1"/>
                </p:cNvSpPr>
                <p:nvPr/>
              </p:nvSpPr>
              <p:spPr bwMode="auto">
                <a:xfrm>
                  <a:off x="4699" y="3068"/>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终点</a:t>
                  </a:r>
                </a:p>
              </p:txBody>
            </p:sp>
          </p:grpSp>
        </p:grpSp>
        <p:sp>
          <p:nvSpPr>
            <p:cNvPr id="11301" name="Line 213">
              <a:extLst>
                <a:ext uri="{FF2B5EF4-FFF2-40B4-BE49-F238E27FC236}">
                  <a16:creationId xmlns:a16="http://schemas.microsoft.com/office/drawing/2014/main" id="{70812A4B-9CE8-4674-8BCC-31F7A530EB33}"/>
                </a:ext>
              </a:extLst>
            </p:cNvPr>
            <p:cNvSpPr>
              <a:spLocks noChangeShapeType="1"/>
            </p:cNvSpPr>
            <p:nvPr/>
          </p:nvSpPr>
          <p:spPr bwMode="auto">
            <a:xfrm>
              <a:off x="2068" y="1966"/>
              <a:ext cx="6" cy="1653"/>
            </a:xfrm>
            <a:prstGeom prst="line">
              <a:avLst/>
            </a:prstGeom>
            <a:noFill/>
            <a:ln w="19050">
              <a:solidFill>
                <a:srgbClr val="333399"/>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1302" name="Text Box 216">
              <a:extLst>
                <a:ext uri="{FF2B5EF4-FFF2-40B4-BE49-F238E27FC236}">
                  <a16:creationId xmlns:a16="http://schemas.microsoft.com/office/drawing/2014/main" id="{6C14C3DD-CACB-4F10-B069-7B5D426EF13B}"/>
                </a:ext>
              </a:extLst>
            </p:cNvPr>
            <p:cNvSpPr txBox="1">
              <a:spLocks noChangeArrowheads="1"/>
            </p:cNvSpPr>
            <p:nvPr/>
          </p:nvSpPr>
          <p:spPr bwMode="auto">
            <a:xfrm>
              <a:off x="2381" y="730"/>
              <a:ext cx="907"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a:solidFill>
                    <a:schemeClr val="accent2"/>
                  </a:solidFill>
                  <a:ea typeface="黑体" panose="02010609060101010101" pitchFamily="49" charset="-122"/>
                </a:rPr>
                <a:t>通信系统</a:t>
              </a:r>
            </a:p>
          </p:txBody>
        </p:sp>
      </p:grpSp>
      <p:sp>
        <p:nvSpPr>
          <p:cNvPr id="98" name="文本框 97">
            <a:extLst>
              <a:ext uri="{FF2B5EF4-FFF2-40B4-BE49-F238E27FC236}">
                <a16:creationId xmlns:a16="http://schemas.microsoft.com/office/drawing/2014/main" id="{03372A6C-5F84-4780-BDF6-7C322B899B6C}"/>
              </a:ext>
            </a:extLst>
          </p:cNvPr>
          <p:cNvSpPr txBox="1"/>
          <p:nvPr/>
        </p:nvSpPr>
        <p:spPr>
          <a:xfrm>
            <a:off x="10215615" y="2551225"/>
            <a:ext cx="1862087" cy="1938992"/>
          </a:xfrm>
          <a:prstGeom prst="rect">
            <a:avLst/>
          </a:prstGeom>
          <a:solidFill>
            <a:schemeClr val="accent6">
              <a:lumMod val="40000"/>
              <a:lumOff val="60000"/>
            </a:schemeClr>
          </a:solidFill>
        </p:spPr>
        <p:txBody>
          <a:bodyPr wrap="square">
            <a:spAutoFit/>
          </a:bodyPr>
          <a:lstStyle/>
          <a:p>
            <a:pPr eaLnBrk="1" hangingPunct="1"/>
            <a:r>
              <a:rPr lang="zh-CN" altLang="en-US" sz="2000" dirty="0">
                <a:latin typeface="微软雅黑" panose="020B0503020204020204" pitchFamily="34" charset="-122"/>
                <a:ea typeface="微软雅黑" panose="020B0503020204020204" pitchFamily="34" charset="-122"/>
              </a:rPr>
              <a:t>数据通信离不开计算机，因此常把数据通信与计算机通信这两名词混用。</a:t>
            </a:r>
            <a:endParaRPr lang="en-US" altLang="zh-CN" sz="2000" dirty="0">
              <a:latin typeface="微软雅黑" panose="020B0503020204020204" pitchFamily="34" charset="-122"/>
              <a:ea typeface="微软雅黑" panose="020B0503020204020204" pitchFamily="34" charset="-122"/>
            </a:endParaRPr>
          </a:p>
        </p:txBody>
      </p:sp>
      <p:sp>
        <p:nvSpPr>
          <p:cNvPr id="99" name="文本框 98">
            <a:extLst>
              <a:ext uri="{FF2B5EF4-FFF2-40B4-BE49-F238E27FC236}">
                <a16:creationId xmlns:a16="http://schemas.microsoft.com/office/drawing/2014/main" id="{4CAED6F2-A754-4103-B915-742B041DDA1E}"/>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55000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a:t>
            </a:r>
          </a:p>
        </p:txBody>
      </p:sp>
      <p:sp>
        <p:nvSpPr>
          <p:cNvPr id="27651"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B53DC7C-EEFB-44AB-8178-15A92CC09CC5}" type="slidenum">
              <a:rPr lang="en-US" altLang="zh-CN" sz="1200">
                <a:latin typeface="Arial Black" panose="020B0A04020102020204" pitchFamily="34" charset="0"/>
              </a:rPr>
              <a:pPr>
                <a:spcBef>
                  <a:spcPct val="0"/>
                </a:spcBef>
                <a:buClrTx/>
                <a:buSzTx/>
                <a:buFontTx/>
                <a:buNone/>
              </a:pPr>
              <a:t>34</a:t>
            </a:fld>
            <a:endParaRPr lang="en-US" altLang="zh-CN" sz="1200">
              <a:latin typeface="Arial Black" panose="020B0A04020102020204" pitchFamily="34" charset="0"/>
            </a:endParaRPr>
          </a:p>
        </p:txBody>
      </p:sp>
      <p:sp>
        <p:nvSpPr>
          <p:cNvPr id="6" name="日期占位符 5"/>
          <p:cNvSpPr>
            <a:spLocks noGrp="1"/>
          </p:cNvSpPr>
          <p:nvPr>
            <p:ph type="dt" sz="quarter" idx="12"/>
          </p:nvPr>
        </p:nvSpPr>
        <p:spPr/>
        <p:txBody>
          <a:bodyPr/>
          <a:lstStyle/>
          <a:p>
            <a:pPr>
              <a:defRPr/>
            </a:pPr>
            <a:fld id="{BBA3D568-603F-4D8A-BB3F-9772396AA7F0}" type="datetime1">
              <a:rPr lang="zh-CN" altLang="en-US"/>
              <a:pPr>
                <a:defRPr/>
              </a:pPr>
              <a:t>2024/9/27</a:t>
            </a:fld>
            <a:endParaRPr lang="en-US" altLang="zh-CN"/>
          </a:p>
        </p:txBody>
      </p:sp>
      <p:sp>
        <p:nvSpPr>
          <p:cNvPr id="839682" name="Rectangle 2"/>
          <p:cNvSpPr>
            <a:spLocks noGrp="1" noChangeArrowheads="1"/>
          </p:cNvSpPr>
          <p:nvPr>
            <p:ph type="title"/>
          </p:nvPr>
        </p:nvSpPr>
        <p:spPr>
          <a:xfrm>
            <a:off x="2209800" y="609600"/>
            <a:ext cx="7772400" cy="609600"/>
          </a:xfrm>
        </p:spPr>
        <p:txBody>
          <a:bodyPr/>
          <a:lstStyle/>
          <a:p>
            <a:pPr eaLnBrk="1" hangingPunct="1">
              <a:defRPr/>
            </a:pPr>
            <a:r>
              <a:rPr lang="zh-CN" altLang="en-US" sz="3200" b="1" dirty="0">
                <a:solidFill>
                  <a:srgbClr val="0000FF"/>
                </a:solidFill>
                <a:latin typeface="楷体_GB2312" pitchFamily="49" charset="-122"/>
              </a:rPr>
              <a:t>三、数据调制与编码 </a:t>
            </a:r>
          </a:p>
        </p:txBody>
      </p:sp>
      <p:sp>
        <p:nvSpPr>
          <p:cNvPr id="27654" name="Rectangle 3"/>
          <p:cNvSpPr>
            <a:spLocks noGrp="1" noChangeArrowheads="1"/>
          </p:cNvSpPr>
          <p:nvPr>
            <p:ph type="body" idx="1"/>
          </p:nvPr>
        </p:nvSpPr>
        <p:spPr>
          <a:xfrm>
            <a:off x="2286000" y="1295400"/>
            <a:ext cx="8896662" cy="4953000"/>
          </a:xfrm>
        </p:spPr>
        <p:txBody>
          <a:bodyPr/>
          <a:lstStyle/>
          <a:p>
            <a:pPr marL="0" indent="285750">
              <a:lnSpc>
                <a:spcPct val="120000"/>
              </a:lnSpc>
              <a:buNone/>
            </a:pPr>
            <a:r>
              <a:rPr lang="en-US" altLang="zh-CN" u="sng" dirty="0">
                <a:solidFill>
                  <a:srgbClr val="0000FF"/>
                </a:solidFill>
                <a:latin typeface="Verdana" panose="020B0604030504040204" pitchFamily="34" charset="0"/>
                <a:ea typeface="楷体_GB2312" pitchFamily="49" charset="-122"/>
              </a:rPr>
              <a:t>1</a:t>
            </a:r>
            <a:r>
              <a:rPr lang="zh-CN" altLang="en-US" u="sng" dirty="0">
                <a:solidFill>
                  <a:srgbClr val="0000FF"/>
                </a:solidFill>
                <a:latin typeface="Verdana" panose="020B0604030504040204" pitchFamily="34" charset="0"/>
                <a:ea typeface="楷体_GB2312" pitchFamily="49" charset="-122"/>
              </a:rPr>
              <a:t>、</a:t>
            </a:r>
            <a:r>
              <a:rPr lang="zh-CN" altLang="en-US" b="1" u="sng" dirty="0">
                <a:solidFill>
                  <a:srgbClr val="0000FF"/>
                </a:solidFill>
                <a:latin typeface="Verdana" panose="020B0604030504040204" pitchFamily="34" charset="0"/>
                <a:ea typeface="楷体_GB2312" pitchFamily="49" charset="-122"/>
              </a:rPr>
              <a:t>分类</a:t>
            </a:r>
          </a:p>
          <a:p>
            <a:pPr marL="0" indent="285750">
              <a:lnSpc>
                <a:spcPct val="120000"/>
              </a:lnSpc>
              <a:buNone/>
            </a:pPr>
            <a:r>
              <a:rPr lang="zh-CN" altLang="en-US" sz="2400" dirty="0">
                <a:latin typeface="Verdana" panose="020B0604030504040204" pitchFamily="34" charset="0"/>
                <a:ea typeface="楷体_GB2312" pitchFamily="49" charset="-122"/>
              </a:rPr>
              <a:t>  网络中</a:t>
            </a:r>
            <a:r>
              <a:rPr lang="zh-CN" altLang="en-US" sz="2400" b="1" dirty="0">
                <a:solidFill>
                  <a:srgbClr val="FF3300"/>
                </a:solidFill>
                <a:latin typeface="Verdana" panose="020B0604030504040204" pitchFamily="34" charset="0"/>
                <a:ea typeface="楷体_GB2312" pitchFamily="49" charset="-122"/>
              </a:rPr>
              <a:t>待传输的数据</a:t>
            </a:r>
            <a:r>
              <a:rPr lang="zh-CN" altLang="en-US" sz="2400" dirty="0">
                <a:latin typeface="Verdana" panose="020B0604030504040204" pitchFamily="34" charset="0"/>
                <a:ea typeface="楷体_GB2312" pitchFamily="49" charset="-122"/>
              </a:rPr>
              <a:t>来源有模拟和数据之分；</a:t>
            </a:r>
            <a:br>
              <a:rPr lang="en-US" altLang="zh-CN" sz="2400" dirty="0">
                <a:latin typeface="Verdana" panose="020B0604030504040204" pitchFamily="34" charset="0"/>
                <a:ea typeface="楷体_GB2312" pitchFamily="49" charset="-122"/>
              </a:rPr>
            </a:br>
            <a:r>
              <a:rPr lang="en-US" altLang="zh-CN" sz="2400" dirty="0">
                <a:latin typeface="Verdana" panose="020B0604030504040204" pitchFamily="34" charset="0"/>
                <a:ea typeface="楷体_GB2312" pitchFamily="49" charset="-122"/>
              </a:rPr>
              <a:t>     </a:t>
            </a:r>
            <a:r>
              <a:rPr lang="zh-CN" altLang="en-US" sz="2400" b="1" dirty="0">
                <a:solidFill>
                  <a:srgbClr val="FF3300"/>
                </a:solidFill>
                <a:latin typeface="Verdana" panose="020B0604030504040204" pitchFamily="34" charset="0"/>
                <a:ea typeface="楷体_GB2312" pitchFamily="49" charset="-122"/>
              </a:rPr>
              <a:t>传输信道</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介质</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有模拟</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电话线、</a:t>
            </a:r>
            <a:r>
              <a:rPr lang="en-US" altLang="zh-CN" sz="2400" dirty="0">
                <a:latin typeface="Verdana" panose="020B0604030504040204" pitchFamily="34" charset="0"/>
                <a:ea typeface="楷体_GB2312" pitchFamily="49" charset="-122"/>
              </a:rPr>
              <a:t>TV Cable</a:t>
            </a:r>
            <a:r>
              <a:rPr lang="zh-CN" altLang="en-US" sz="2400" dirty="0">
                <a:latin typeface="Verdana" panose="020B0604030504040204" pitchFamily="34" charset="0"/>
                <a:ea typeface="楷体_GB2312" pitchFamily="49" charset="-122"/>
              </a:rPr>
              <a:t>、无线</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和数字信道</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同轴电缆、双绞线、光纤</a:t>
            </a:r>
            <a:r>
              <a:rPr lang="en-US" altLang="zh-CN" sz="2400" dirty="0">
                <a:latin typeface="Verdana" panose="020B0604030504040204" pitchFamily="34" charset="0"/>
                <a:ea typeface="楷体_GB2312" pitchFamily="49" charset="-122"/>
              </a:rPr>
              <a:t>)</a:t>
            </a:r>
            <a:r>
              <a:rPr lang="zh-CN" altLang="en-US" sz="2400" dirty="0">
                <a:latin typeface="Verdana" panose="020B0604030504040204" pitchFamily="34" charset="0"/>
                <a:ea typeface="楷体_GB2312" pitchFamily="49" charset="-122"/>
              </a:rPr>
              <a:t>。</a:t>
            </a:r>
            <a:br>
              <a:rPr lang="zh-CN" altLang="en-US" sz="2400" dirty="0">
                <a:latin typeface="Verdana" panose="020B0604030504040204" pitchFamily="34" charset="0"/>
                <a:ea typeface="楷体_GB2312" pitchFamily="49" charset="-122"/>
              </a:rPr>
            </a:br>
            <a:r>
              <a:rPr lang="zh-CN" altLang="en-US" sz="2400" dirty="0">
                <a:latin typeface="Verdana" panose="020B0604030504040204" pitchFamily="34" charset="0"/>
                <a:ea typeface="楷体_GB2312" pitchFamily="49" charset="-122"/>
              </a:rPr>
              <a:t>  </a:t>
            </a:r>
            <a:r>
              <a:rPr lang="en-US" altLang="zh-CN" sz="2400" dirty="0">
                <a:latin typeface="Verdana" panose="020B0604030504040204" pitchFamily="34" charset="0"/>
                <a:ea typeface="楷体_GB2312" pitchFamily="49" charset="-122"/>
              </a:rPr>
              <a:t>1</a:t>
            </a:r>
            <a:r>
              <a:rPr lang="zh-CN" altLang="en-US" sz="2400" dirty="0">
                <a:latin typeface="Verdana" panose="020B0604030504040204" pitchFamily="34" charset="0"/>
                <a:ea typeface="楷体_GB2312" pitchFamily="49" charset="-122"/>
              </a:rPr>
              <a:t>）模拟数据的模拟信号</a:t>
            </a:r>
            <a:r>
              <a:rPr lang="zh-CN" altLang="en-US" sz="2400" dirty="0">
                <a:solidFill>
                  <a:srgbClr val="CC00FF"/>
                </a:solidFill>
                <a:latin typeface="Verdana" panose="020B0604030504040204" pitchFamily="34" charset="0"/>
                <a:ea typeface="楷体_GB2312" pitchFamily="49" charset="-122"/>
              </a:rPr>
              <a:t>调制</a:t>
            </a:r>
            <a:r>
              <a:rPr lang="zh-CN" altLang="en-US" sz="2400" dirty="0">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a:t>
            </a:r>
            <a:r>
              <a:rPr lang="zh-CN" altLang="en-US" sz="2400" dirty="0">
                <a:solidFill>
                  <a:srgbClr val="0000FF"/>
                </a:solidFill>
                <a:latin typeface="Verdana" panose="020B0604030504040204" pitchFamily="34" charset="0"/>
                <a:ea typeface="楷体_GB2312" pitchFamily="49" charset="-122"/>
              </a:rPr>
              <a:t>频分复用</a:t>
            </a:r>
            <a:r>
              <a:rPr lang="en-US" altLang="zh-CN" sz="2400" dirty="0">
                <a:solidFill>
                  <a:srgbClr val="0000FF"/>
                </a:solidFill>
                <a:latin typeface="Verdana" panose="020B0604030504040204" pitchFamily="34" charset="0"/>
                <a:ea typeface="楷体_GB2312" pitchFamily="49" charset="-122"/>
              </a:rPr>
              <a:t>)</a:t>
            </a:r>
            <a:br>
              <a:rPr lang="en-US" altLang="zh-CN" sz="2400" dirty="0">
                <a:latin typeface="Verdana" panose="020B0604030504040204" pitchFamily="34" charset="0"/>
                <a:ea typeface="楷体_GB2312" pitchFamily="49" charset="-122"/>
              </a:rPr>
            </a:br>
            <a:r>
              <a:rPr lang="en-US" altLang="zh-CN" sz="2400" dirty="0">
                <a:solidFill>
                  <a:srgbClr val="0000FF"/>
                </a:solidFill>
                <a:latin typeface="Verdana" panose="020B0604030504040204" pitchFamily="34" charset="0"/>
                <a:ea typeface="楷体_GB2312" pitchFamily="49" charset="-122"/>
              </a:rPr>
              <a:t>  2</a:t>
            </a:r>
            <a:r>
              <a:rPr lang="zh-CN" altLang="en-US" sz="2400" dirty="0">
                <a:solidFill>
                  <a:srgbClr val="0000FF"/>
                </a:solidFill>
                <a:latin typeface="Verdana" panose="020B0604030504040204" pitchFamily="34" charset="0"/>
                <a:ea typeface="楷体_GB2312" pitchFamily="49" charset="-122"/>
              </a:rPr>
              <a:t>）数字数据的模拟信号</a:t>
            </a:r>
            <a:r>
              <a:rPr lang="zh-CN" altLang="en-US" sz="2400" dirty="0">
                <a:solidFill>
                  <a:srgbClr val="CC00FF"/>
                </a:solidFill>
                <a:latin typeface="Verdana" panose="020B0604030504040204" pitchFamily="34" charset="0"/>
                <a:ea typeface="楷体_GB2312" pitchFamily="49" charset="-122"/>
              </a:rPr>
              <a:t>调制</a:t>
            </a: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(Modem</a:t>
            </a:r>
            <a:r>
              <a:rPr lang="zh-CN" altLang="en-US" sz="2400" dirty="0">
                <a:solidFill>
                  <a:srgbClr val="0000FF"/>
                </a:solidFill>
                <a:latin typeface="Verdana" panose="020B0604030504040204" pitchFamily="34" charset="0"/>
                <a:ea typeface="楷体_GB2312" pitchFamily="49" charset="-122"/>
              </a:rPr>
              <a:t>，</a:t>
            </a:r>
            <a:r>
              <a:rPr lang="en-US" altLang="zh-CN" sz="2400" dirty="0">
                <a:solidFill>
                  <a:srgbClr val="0000FF"/>
                </a:solidFill>
                <a:latin typeface="Verdana" panose="020B0604030504040204" pitchFamily="34" charset="0"/>
                <a:ea typeface="楷体_GB2312" pitchFamily="49" charset="-122"/>
              </a:rPr>
              <a:t>Cable modem)</a:t>
            </a:r>
            <a:br>
              <a:rPr lang="en-US" altLang="zh-CN" sz="2400" dirty="0">
                <a:solidFill>
                  <a:srgbClr val="0000FF"/>
                </a:solidFill>
                <a:latin typeface="Verdana" panose="020B0604030504040204" pitchFamily="34" charset="0"/>
                <a:ea typeface="楷体_GB2312" pitchFamily="49" charset="-122"/>
              </a:rPr>
            </a:br>
            <a:r>
              <a:rPr lang="en-US" altLang="zh-CN" sz="2400" dirty="0">
                <a:solidFill>
                  <a:srgbClr val="0000FF"/>
                </a:solidFill>
                <a:latin typeface="Verdana" panose="020B0604030504040204" pitchFamily="34" charset="0"/>
                <a:ea typeface="楷体_GB2312" pitchFamily="49" charset="-122"/>
              </a:rPr>
              <a:t>  </a:t>
            </a:r>
            <a:r>
              <a:rPr lang="en-US" altLang="zh-CN" sz="2400" dirty="0">
                <a:solidFill>
                  <a:srgbClr val="FF3300"/>
                </a:solidFill>
                <a:latin typeface="Verdana" panose="020B0604030504040204" pitchFamily="34" charset="0"/>
                <a:ea typeface="楷体_GB2312" pitchFamily="49" charset="-122"/>
              </a:rPr>
              <a:t>3</a:t>
            </a:r>
            <a:r>
              <a:rPr lang="zh-CN" altLang="en-US" sz="2400" dirty="0">
                <a:solidFill>
                  <a:srgbClr val="FF3300"/>
                </a:solidFill>
                <a:latin typeface="Verdana" panose="020B0604030504040204" pitchFamily="34" charset="0"/>
                <a:ea typeface="楷体_GB2312" pitchFamily="49" charset="-122"/>
              </a:rPr>
              <a:t>）数字数据的数字信号</a:t>
            </a:r>
            <a:r>
              <a:rPr lang="zh-CN" altLang="en-US" sz="2400" dirty="0">
                <a:solidFill>
                  <a:srgbClr val="6600FF"/>
                </a:solidFill>
                <a:latin typeface="Verdana" panose="020B0604030504040204" pitchFamily="34" charset="0"/>
                <a:ea typeface="楷体_GB2312" pitchFamily="49" charset="-122"/>
              </a:rPr>
              <a:t>编码</a:t>
            </a:r>
            <a:r>
              <a:rPr lang="zh-CN" altLang="en-US" sz="2400" dirty="0">
                <a:solidFill>
                  <a:srgbClr val="FF3300"/>
                </a:solidFill>
                <a:latin typeface="Verdana" panose="020B0604030504040204" pitchFamily="34" charset="0"/>
                <a:ea typeface="楷体_GB2312" pitchFamily="49" charset="-122"/>
              </a:rPr>
              <a:t> </a:t>
            </a:r>
            <a:r>
              <a:rPr lang="en-US" altLang="zh-CN" sz="2400" dirty="0">
                <a:solidFill>
                  <a:srgbClr val="FF3300"/>
                </a:solidFill>
                <a:latin typeface="Verdana" panose="020B0604030504040204" pitchFamily="34" charset="0"/>
                <a:ea typeface="楷体_GB2312" pitchFamily="49" charset="-122"/>
              </a:rPr>
              <a:t>(</a:t>
            </a:r>
            <a:r>
              <a:rPr lang="zh-CN" altLang="en-US" sz="2400" dirty="0">
                <a:solidFill>
                  <a:srgbClr val="FF3300"/>
                </a:solidFill>
                <a:latin typeface="Verdana" panose="020B0604030504040204" pitchFamily="34" charset="0"/>
                <a:ea typeface="楷体_GB2312" pitchFamily="49" charset="-122"/>
              </a:rPr>
              <a:t>曼彻斯特编码，</a:t>
            </a:r>
            <a:r>
              <a:rPr lang="en-US" altLang="zh-CN" sz="2400" dirty="0">
                <a:solidFill>
                  <a:srgbClr val="FF3300"/>
                </a:solidFill>
                <a:latin typeface="Verdana" panose="020B0604030504040204" pitchFamily="34" charset="0"/>
                <a:ea typeface="楷体_GB2312" pitchFamily="49" charset="-122"/>
              </a:rPr>
              <a:t>)</a:t>
            </a:r>
            <a:br>
              <a:rPr lang="en-US" altLang="zh-CN" sz="2400" dirty="0">
                <a:solidFill>
                  <a:srgbClr val="FF3300"/>
                </a:solidFill>
                <a:latin typeface="Verdana" panose="020B0604030504040204" pitchFamily="34" charset="0"/>
                <a:ea typeface="楷体_GB2312" pitchFamily="49" charset="-122"/>
              </a:rPr>
            </a:br>
            <a:r>
              <a:rPr lang="en-US" altLang="zh-CN" sz="2400" dirty="0">
                <a:solidFill>
                  <a:srgbClr val="0000FF"/>
                </a:solidFill>
                <a:latin typeface="Verdana" panose="020B0604030504040204" pitchFamily="34" charset="0"/>
                <a:ea typeface="楷体_GB2312" pitchFamily="49" charset="-122"/>
              </a:rPr>
              <a:t>  4</a:t>
            </a:r>
            <a:r>
              <a:rPr lang="zh-CN" altLang="en-US" sz="2400" dirty="0">
                <a:solidFill>
                  <a:srgbClr val="0000FF"/>
                </a:solidFill>
                <a:latin typeface="Verdana" panose="020B0604030504040204" pitchFamily="34" charset="0"/>
                <a:ea typeface="楷体_GB2312" pitchFamily="49" charset="-122"/>
              </a:rPr>
              <a:t>）模拟数据的数字信号</a:t>
            </a:r>
            <a:r>
              <a:rPr lang="zh-CN" altLang="en-US" sz="2400" dirty="0">
                <a:solidFill>
                  <a:srgbClr val="6600FF"/>
                </a:solidFill>
                <a:latin typeface="Verdana" panose="020B0604030504040204" pitchFamily="34" charset="0"/>
                <a:ea typeface="楷体_GB2312" pitchFamily="49" charset="-122"/>
              </a:rPr>
              <a:t>编码</a:t>
            </a:r>
            <a:r>
              <a:rPr lang="zh-CN" altLang="en-US" sz="2400" dirty="0">
                <a:solidFill>
                  <a:srgbClr val="0000FF"/>
                </a:solidFill>
                <a:latin typeface="Verdana" panose="020B0604030504040204" pitchFamily="34" charset="0"/>
                <a:ea typeface="楷体_GB2312" pitchFamily="49" charset="-122"/>
              </a:rPr>
              <a:t> </a:t>
            </a:r>
            <a:r>
              <a:rPr lang="en-US" altLang="zh-CN" sz="2400" dirty="0">
                <a:solidFill>
                  <a:srgbClr val="0000FF"/>
                </a:solidFill>
                <a:latin typeface="Verdana" panose="020B0604030504040204" pitchFamily="34" charset="0"/>
                <a:ea typeface="楷体_GB2312" pitchFamily="49" charset="-122"/>
              </a:rPr>
              <a:t>(PCM)</a:t>
            </a:r>
          </a:p>
          <a:p>
            <a:pPr marL="0" indent="285750">
              <a:lnSpc>
                <a:spcPct val="120000"/>
              </a:lnSpc>
              <a:buNone/>
            </a:pPr>
            <a:r>
              <a:rPr lang="en-US" altLang="zh-CN" sz="2400" dirty="0">
                <a:latin typeface="Verdana" panose="020B0604030504040204" pitchFamily="34" charset="0"/>
                <a:ea typeface="楷体_GB2312" pitchFamily="49" charset="-122"/>
              </a:rPr>
              <a:t> </a:t>
            </a:r>
            <a:r>
              <a:rPr lang="zh-CN" altLang="en-US" sz="2400" dirty="0">
                <a:latin typeface="Verdana" panose="020B0604030504040204" pitchFamily="34" charset="0"/>
                <a:ea typeface="楷体_GB2312" pitchFamily="49" charset="-122"/>
              </a:rPr>
              <a:t>在同一系统中，根据需要上述调制与编码方式可混用。</a:t>
            </a:r>
          </a:p>
        </p:txBody>
      </p:sp>
    </p:spTree>
    <p:extLst>
      <p:ext uri="{BB962C8B-B14F-4D97-AF65-F5344CB8AC3E}">
        <p14:creationId xmlns:p14="http://schemas.microsoft.com/office/powerpoint/2010/main" val="372882533"/>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1"/>
          <p:cNvSpPr>
            <a:spLocks noGrp="1"/>
          </p:cNvSpPr>
          <p:nvPr>
            <p:ph type="ftr" sz="quarter" idx="10"/>
          </p:nvPr>
        </p:nvSpPr>
        <p:spPr/>
        <p:txBody>
          <a:bodyPr/>
          <a:lstStyle/>
          <a:p>
            <a:pPr>
              <a:defRPr/>
            </a:pPr>
            <a:r>
              <a:rPr lang="en-US" altLang="zh-CN" dirty="0"/>
              <a:t>Computer Network</a:t>
            </a:r>
          </a:p>
        </p:txBody>
      </p:sp>
      <p:sp>
        <p:nvSpPr>
          <p:cNvPr id="28675"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47B17FF-EC61-4D85-9CC3-530D1C322A08}" type="slidenum">
              <a:rPr lang="en-US" altLang="zh-CN" sz="1200">
                <a:latin typeface="Arial Black" panose="020B0A04020102020204" pitchFamily="34" charset="0"/>
              </a:rPr>
              <a:pPr>
                <a:spcBef>
                  <a:spcPct val="0"/>
                </a:spcBef>
                <a:buClrTx/>
                <a:buSzTx/>
                <a:buFontTx/>
                <a:buNone/>
              </a:pPr>
              <a:t>35</a:t>
            </a:fld>
            <a:endParaRPr lang="en-US" altLang="zh-CN" sz="1200">
              <a:latin typeface="Arial Black" panose="020B0A04020102020204" pitchFamily="34" charset="0"/>
            </a:endParaRPr>
          </a:p>
        </p:txBody>
      </p:sp>
      <p:sp>
        <p:nvSpPr>
          <p:cNvPr id="6" name="日期占位符 3"/>
          <p:cNvSpPr>
            <a:spLocks noGrp="1"/>
          </p:cNvSpPr>
          <p:nvPr>
            <p:ph type="dt" sz="quarter" idx="12"/>
          </p:nvPr>
        </p:nvSpPr>
        <p:spPr/>
        <p:txBody>
          <a:bodyPr/>
          <a:lstStyle/>
          <a:p>
            <a:pPr>
              <a:defRPr/>
            </a:pPr>
            <a:fld id="{3A45697D-1EC4-45D4-BB81-A170FF4A91A8}" type="datetime1">
              <a:rPr lang="zh-CN" altLang="en-US"/>
              <a:pPr>
                <a:defRPr/>
              </a:pPr>
              <a:t>2024/9/27</a:t>
            </a:fld>
            <a:endParaRPr lang="en-US" altLang="zh-CN"/>
          </a:p>
        </p:txBody>
      </p:sp>
      <p:sp>
        <p:nvSpPr>
          <p:cNvPr id="875522" name="Rectangle 2"/>
          <p:cNvSpPr>
            <a:spLocks noChangeArrowheads="1"/>
          </p:cNvSpPr>
          <p:nvPr/>
        </p:nvSpPr>
        <p:spPr bwMode="auto">
          <a:xfrm>
            <a:off x="2208214" y="713362"/>
            <a:ext cx="7920037" cy="5546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lnSpc>
                <a:spcPct val="110000"/>
              </a:lnSpc>
              <a:spcBef>
                <a:spcPct val="20000"/>
              </a:spcBef>
              <a:buClr>
                <a:schemeClr val="bg2"/>
              </a:buClr>
              <a:buSzPct val="75000"/>
              <a:buFont typeface="Wingdings" panose="05000000000000000000" pitchFamily="2" charset="2"/>
              <a:buNone/>
              <a:defRPr/>
            </a:pPr>
            <a:r>
              <a:rPr lang="en-US" altLang="zh-CN" sz="2800" u="sng" dirty="0">
                <a:solidFill>
                  <a:srgbClr val="0000FF"/>
                </a:solidFill>
                <a:effectLst>
                  <a:outerShdw blurRad="38100" dist="38100" dir="2700000" algn="tl">
                    <a:srgbClr val="C0C0C0"/>
                  </a:outerShdw>
                </a:effectLst>
                <a:latin typeface="Verdana" pitchFamily="34" charset="0"/>
              </a:rPr>
              <a:t>2</a:t>
            </a:r>
            <a:r>
              <a:rPr lang="zh-CN" altLang="en-US" sz="2800" u="sng" dirty="0">
                <a:solidFill>
                  <a:srgbClr val="0000FF"/>
                </a:solidFill>
                <a:effectLst>
                  <a:outerShdw blurRad="38100" dist="38100" dir="2700000" algn="tl">
                    <a:srgbClr val="C0C0C0"/>
                  </a:outerShdw>
                </a:effectLst>
                <a:latin typeface="Verdana" pitchFamily="34" charset="0"/>
              </a:rPr>
              <a:t>、数字数据的数字信号编码</a:t>
            </a:r>
            <a:r>
              <a:rPr lang="zh-CN" altLang="en-US" sz="2800" u="sng" dirty="0">
                <a:solidFill>
                  <a:srgbClr val="0000FF"/>
                </a:solidFill>
                <a:effectLst>
                  <a:outerShdw blurRad="38100" dist="38100" dir="2700000" algn="tl">
                    <a:srgbClr val="C0C0C0"/>
                  </a:outerShdw>
                </a:effectLst>
                <a:latin typeface="Verdana" pitchFamily="34" charset="0"/>
                <a:sym typeface="Wingdings" pitchFamily="2" charset="2"/>
              </a:rPr>
              <a:t> </a:t>
            </a:r>
          </a:p>
          <a:p>
            <a:pPr eaLnBrk="1" hangingPunct="1">
              <a:lnSpc>
                <a:spcPct val="110000"/>
              </a:lnSpc>
              <a:spcBef>
                <a:spcPct val="20000"/>
              </a:spcBef>
              <a:buClr>
                <a:schemeClr val="bg2"/>
              </a:buClr>
              <a:buSzPct val="75000"/>
              <a:buFont typeface="Wingdings" panose="05000000000000000000" pitchFamily="2" charset="2"/>
              <a:buNone/>
              <a:defRPr/>
            </a:pPr>
            <a:r>
              <a:rPr lang="zh-CN" altLang="en-US" sz="2400" dirty="0">
                <a:solidFill>
                  <a:srgbClr val="0000FF"/>
                </a:solidFill>
                <a:latin typeface="Verdana" pitchFamily="34" charset="0"/>
                <a:sym typeface="Wingdings" pitchFamily="2" charset="2"/>
              </a:rPr>
              <a:t>  </a:t>
            </a:r>
            <a:r>
              <a:rPr lang="en-US" altLang="zh-CN" sz="2400" dirty="0">
                <a:solidFill>
                  <a:srgbClr val="0000FF"/>
                </a:solidFill>
                <a:latin typeface="Verdana" pitchFamily="34" charset="0"/>
                <a:sym typeface="Wingdings" pitchFamily="2" charset="2"/>
              </a:rPr>
              <a:t>1)</a:t>
            </a:r>
            <a:r>
              <a:rPr lang="zh-CN" altLang="en-US" sz="2400" dirty="0">
                <a:solidFill>
                  <a:srgbClr val="0000FF"/>
                </a:solidFill>
                <a:latin typeface="Verdana" pitchFamily="34" charset="0"/>
                <a:sym typeface="Wingdings" pitchFamily="2" charset="2"/>
              </a:rPr>
              <a:t>要求：</a:t>
            </a:r>
            <a:r>
              <a:rPr lang="zh-CN" altLang="en-US" sz="2400" dirty="0">
                <a:latin typeface="Verdana" pitchFamily="34" charset="0"/>
                <a:sym typeface="Wingdings" pitchFamily="2" charset="2"/>
              </a:rPr>
              <a:t>使数字信号：包含</a:t>
            </a:r>
            <a:r>
              <a:rPr lang="zh-CN" altLang="en-US" sz="2400" dirty="0">
                <a:effectLst>
                  <a:outerShdw blurRad="38100" dist="38100" dir="2700000" algn="tl">
                    <a:srgbClr val="C0C0C0"/>
                  </a:outerShdw>
                </a:effectLst>
                <a:latin typeface="Verdana" pitchFamily="34" charset="0"/>
                <a:sym typeface="Wingdings" pitchFamily="2" charset="2"/>
              </a:rPr>
              <a:t>比特</a:t>
            </a:r>
            <a:r>
              <a:rPr lang="en-US" altLang="zh-CN" sz="2400" dirty="0">
                <a:effectLst>
                  <a:outerShdw blurRad="38100" dist="38100" dir="2700000" algn="tl">
                    <a:srgbClr val="C0C0C0"/>
                  </a:outerShdw>
                </a:effectLst>
                <a:latin typeface="Verdana" pitchFamily="34" charset="0"/>
                <a:sym typeface="Wingdings" pitchFamily="2" charset="2"/>
              </a:rPr>
              <a:t>(</a:t>
            </a:r>
            <a:r>
              <a:rPr lang="zh-CN" altLang="en-US" sz="2400" dirty="0">
                <a:effectLst>
                  <a:outerShdw blurRad="38100" dist="38100" dir="2700000" algn="tl">
                    <a:srgbClr val="C0C0C0"/>
                  </a:outerShdw>
                </a:effectLst>
                <a:latin typeface="Verdana" pitchFamily="34" charset="0"/>
                <a:sym typeface="Wingdings" pitchFamily="2" charset="2"/>
              </a:rPr>
              <a:t>位</a:t>
            </a:r>
            <a:r>
              <a:rPr lang="en-US" altLang="zh-CN" sz="2400" dirty="0">
                <a:effectLst>
                  <a:outerShdw blurRad="38100" dist="38100" dir="2700000" algn="tl">
                    <a:srgbClr val="C0C0C0"/>
                  </a:outerShdw>
                </a:effectLst>
                <a:latin typeface="Verdana" pitchFamily="34" charset="0"/>
                <a:sym typeface="Wingdings" pitchFamily="2" charset="2"/>
              </a:rPr>
              <a:t>)</a:t>
            </a:r>
            <a:r>
              <a:rPr lang="zh-CN" altLang="en-US" sz="2400" dirty="0">
                <a:effectLst>
                  <a:outerShdw blurRad="38100" dist="38100" dir="2700000" algn="tl">
                    <a:srgbClr val="C0C0C0"/>
                  </a:outerShdw>
                </a:effectLst>
                <a:latin typeface="Verdana" pitchFamily="34" charset="0"/>
                <a:sym typeface="Wingdings" pitchFamily="2" charset="2"/>
              </a:rPr>
              <a:t>同步</a:t>
            </a:r>
            <a:r>
              <a:rPr lang="zh-CN" altLang="en-US" sz="2400" dirty="0">
                <a:latin typeface="Verdana" pitchFamily="34" charset="0"/>
                <a:sym typeface="Wingdings" pitchFamily="2" charset="2"/>
              </a:rPr>
              <a:t>信息；减少直流分量；编、解码方法简单；编码效率高。</a:t>
            </a:r>
          </a:p>
          <a:p>
            <a:pPr eaLnBrk="1" hangingPunct="1">
              <a:lnSpc>
                <a:spcPct val="110000"/>
              </a:lnSpc>
              <a:spcBef>
                <a:spcPct val="20000"/>
              </a:spcBef>
              <a:buClr>
                <a:schemeClr val="bg2"/>
              </a:buClr>
              <a:buSzPct val="75000"/>
              <a:buFont typeface="Wingdings" panose="05000000000000000000" pitchFamily="2" charset="2"/>
              <a:buNone/>
              <a:defRPr/>
            </a:pPr>
            <a:r>
              <a:rPr lang="zh-CN" altLang="en-US" sz="2400" dirty="0">
                <a:latin typeface="Verdana" pitchFamily="34" charset="0"/>
                <a:sym typeface="Wingdings" pitchFamily="2" charset="2"/>
              </a:rPr>
              <a:t>  </a:t>
            </a:r>
            <a:r>
              <a:rPr lang="en-US" altLang="zh-CN" sz="2400" dirty="0">
                <a:solidFill>
                  <a:srgbClr val="0000FF"/>
                </a:solidFill>
                <a:latin typeface="Verdana" pitchFamily="34" charset="0"/>
                <a:sym typeface="Wingdings" pitchFamily="2" charset="2"/>
              </a:rPr>
              <a:t>2)</a:t>
            </a:r>
            <a:r>
              <a:rPr lang="zh-CN" altLang="en-US" sz="2400" dirty="0">
                <a:solidFill>
                  <a:srgbClr val="0000FF"/>
                </a:solidFill>
                <a:latin typeface="Verdana" pitchFamily="34" charset="0"/>
                <a:sym typeface="Wingdings" pitchFamily="2" charset="2"/>
              </a:rPr>
              <a:t>方法：双极性，单极性</a:t>
            </a:r>
          </a:p>
          <a:p>
            <a:pPr eaLnBrk="1" hangingPunct="1">
              <a:lnSpc>
                <a:spcPct val="110000"/>
              </a:lnSpc>
              <a:spcBef>
                <a:spcPct val="20000"/>
              </a:spcBef>
              <a:buClr>
                <a:schemeClr val="bg2"/>
              </a:buClr>
              <a:buSzPct val="75000"/>
              <a:buFont typeface="Wingdings" panose="05000000000000000000" pitchFamily="2" charset="2"/>
              <a:buNone/>
              <a:defRPr/>
            </a:pPr>
            <a:r>
              <a:rPr lang="zh-CN" altLang="en-US" sz="2400" dirty="0">
                <a:solidFill>
                  <a:srgbClr val="0000FF"/>
                </a:solidFill>
                <a:latin typeface="Verdana" pitchFamily="34" charset="0"/>
                <a:sym typeface="Wingdings" pitchFamily="2" charset="2"/>
              </a:rPr>
              <a:t>              归零</a:t>
            </a:r>
            <a:r>
              <a:rPr lang="en-US" altLang="zh-CN" sz="2400" dirty="0">
                <a:solidFill>
                  <a:srgbClr val="0000FF"/>
                </a:solidFill>
                <a:latin typeface="Verdana" pitchFamily="34" charset="0"/>
                <a:sym typeface="Wingdings" pitchFamily="2" charset="2"/>
              </a:rPr>
              <a:t>RZ</a:t>
            </a:r>
            <a:r>
              <a:rPr lang="zh-CN" altLang="en-US" sz="2400" dirty="0">
                <a:solidFill>
                  <a:srgbClr val="0000FF"/>
                </a:solidFill>
                <a:latin typeface="Verdana" pitchFamily="34" charset="0"/>
                <a:sym typeface="Wingdings" pitchFamily="2" charset="2"/>
              </a:rPr>
              <a:t>，不归零</a:t>
            </a:r>
            <a:r>
              <a:rPr lang="en-US" altLang="zh-CN" sz="2400" dirty="0">
                <a:latin typeface="Verdana" pitchFamily="34" charset="0"/>
                <a:sym typeface="Wingdings" pitchFamily="2" charset="2"/>
              </a:rPr>
              <a:t>NRZ</a:t>
            </a:r>
            <a:endParaRPr lang="zh-CN" altLang="en-US" sz="2400" dirty="0">
              <a:latin typeface="Verdana" pitchFamily="34" charset="0"/>
            </a:endParaRPr>
          </a:p>
          <a:p>
            <a:pPr>
              <a:lnSpc>
                <a:spcPct val="110000"/>
              </a:lnSpc>
              <a:buClr>
                <a:schemeClr val="bg2"/>
              </a:buClr>
              <a:buSzPct val="75000"/>
              <a:defRPr/>
            </a:pPr>
            <a:r>
              <a:rPr lang="zh-CN" altLang="en-US" sz="2400" dirty="0">
                <a:solidFill>
                  <a:srgbClr val="C00000"/>
                </a:solidFill>
                <a:effectLst>
                  <a:outerShdw blurRad="38100" dist="38100" dir="2700000" algn="tl">
                    <a:srgbClr val="000000">
                      <a:alpha val="43137"/>
                    </a:srgbClr>
                  </a:outerShdw>
                </a:effectLst>
                <a:latin typeface="Verdana" pitchFamily="34" charset="0"/>
              </a:rPr>
              <a:t>自同步编码：</a:t>
            </a:r>
            <a:endParaRPr lang="en-US" altLang="zh-CN" sz="2400" dirty="0">
              <a:solidFill>
                <a:srgbClr val="C00000"/>
              </a:solidFill>
              <a:effectLst>
                <a:outerShdw blurRad="38100" dist="38100" dir="2700000" algn="tl">
                  <a:srgbClr val="000000">
                    <a:alpha val="43137"/>
                  </a:srgbClr>
                </a:outerShdw>
              </a:effectLst>
              <a:latin typeface="Verdana" pitchFamily="34" charset="0"/>
            </a:endParaRPr>
          </a:p>
          <a:p>
            <a:pPr>
              <a:lnSpc>
                <a:spcPct val="110000"/>
              </a:lnSpc>
              <a:spcBef>
                <a:spcPts val="600"/>
              </a:spcBef>
              <a:buClr>
                <a:schemeClr val="bg2"/>
              </a:buClr>
              <a:buSzPct val="75000"/>
              <a:defRPr/>
            </a:pPr>
            <a:r>
              <a:rPr lang="zh-CN" altLang="en-US" sz="2000" dirty="0">
                <a:solidFill>
                  <a:srgbClr val="0000FF"/>
                </a:solidFill>
                <a:latin typeface="Verdana" pitchFamily="34" charset="0"/>
              </a:rPr>
              <a:t>* </a:t>
            </a:r>
            <a:r>
              <a:rPr lang="en-US" altLang="zh-CN" sz="2000" dirty="0">
                <a:solidFill>
                  <a:srgbClr val="C00000"/>
                </a:solidFill>
                <a:effectLst>
                  <a:outerShdw blurRad="38100" dist="38100" dir="2700000" algn="tl">
                    <a:srgbClr val="000000">
                      <a:alpha val="43137"/>
                    </a:srgbClr>
                  </a:outerShdw>
                </a:effectLst>
                <a:latin typeface="Verdana" pitchFamily="34" charset="0"/>
              </a:rPr>
              <a:t>RZ</a:t>
            </a:r>
            <a:r>
              <a:rPr lang="zh-CN" altLang="en-US" sz="2000" dirty="0">
                <a:solidFill>
                  <a:srgbClr val="C00000"/>
                </a:solidFill>
                <a:effectLst>
                  <a:outerShdw blurRad="38100" dist="38100" dir="2700000" algn="tl">
                    <a:srgbClr val="000000">
                      <a:alpha val="43137"/>
                    </a:srgbClr>
                  </a:outerShdw>
                </a:effectLst>
                <a:latin typeface="Verdana" pitchFamily="34" charset="0"/>
              </a:rPr>
              <a:t>，</a:t>
            </a:r>
            <a:endParaRPr lang="en-US" altLang="zh-CN" sz="2000" dirty="0">
              <a:solidFill>
                <a:srgbClr val="C00000"/>
              </a:solidFill>
              <a:effectLst>
                <a:outerShdw blurRad="38100" dist="38100" dir="2700000" algn="tl">
                  <a:srgbClr val="000000">
                    <a:alpha val="43137"/>
                  </a:srgbClr>
                </a:outerShdw>
              </a:effectLst>
              <a:latin typeface="Verdana" pitchFamily="34" charset="0"/>
            </a:endParaRPr>
          </a:p>
          <a:p>
            <a:pPr>
              <a:lnSpc>
                <a:spcPct val="110000"/>
              </a:lnSpc>
              <a:spcBef>
                <a:spcPts val="600"/>
              </a:spcBef>
              <a:buClr>
                <a:schemeClr val="bg2"/>
              </a:buClr>
              <a:buSzPct val="75000"/>
              <a:defRPr/>
            </a:pPr>
            <a:r>
              <a:rPr lang="zh-CN" altLang="en-US" sz="2000" dirty="0">
                <a:solidFill>
                  <a:srgbClr val="0000FF"/>
                </a:solidFill>
                <a:latin typeface="Verdana" pitchFamily="34" charset="0"/>
              </a:rPr>
              <a:t>* </a:t>
            </a:r>
            <a:r>
              <a:rPr lang="en-US" altLang="zh-CN" sz="2000" dirty="0">
                <a:solidFill>
                  <a:srgbClr val="C00000"/>
                </a:solidFill>
                <a:effectLst>
                  <a:outerShdw blurRad="38100" dist="38100" dir="2700000" algn="tl">
                    <a:srgbClr val="000000">
                      <a:alpha val="43137"/>
                    </a:srgbClr>
                  </a:outerShdw>
                </a:effectLst>
                <a:latin typeface="Verdana" pitchFamily="34" charset="0"/>
              </a:rPr>
              <a:t>NRZI(</a:t>
            </a:r>
            <a:r>
              <a:rPr lang="zh-CN" altLang="en-US" sz="2000" dirty="0">
                <a:solidFill>
                  <a:srgbClr val="C00000"/>
                </a:solidFill>
                <a:effectLst>
                  <a:outerShdw blurRad="38100" dist="38100" dir="2700000" algn="tl">
                    <a:srgbClr val="000000">
                      <a:alpha val="43137"/>
                    </a:srgbClr>
                  </a:outerShdw>
                </a:effectLst>
                <a:latin typeface="Verdana" pitchFamily="34" charset="0"/>
              </a:rPr>
              <a:t>反向</a:t>
            </a:r>
            <a:r>
              <a:rPr lang="en-US" altLang="zh-CN" sz="2000" dirty="0">
                <a:solidFill>
                  <a:srgbClr val="C00000"/>
                </a:solidFill>
                <a:effectLst>
                  <a:outerShdw blurRad="38100" dist="38100" dir="2700000" algn="tl">
                    <a:srgbClr val="000000">
                      <a:alpha val="43137"/>
                    </a:srgbClr>
                  </a:outerShdw>
                </a:effectLst>
                <a:latin typeface="Verdana" pitchFamily="34" charset="0"/>
              </a:rPr>
              <a:t>NRZ)</a:t>
            </a:r>
          </a:p>
          <a:p>
            <a:pPr>
              <a:lnSpc>
                <a:spcPct val="110000"/>
              </a:lnSpc>
              <a:spcBef>
                <a:spcPts val="600"/>
              </a:spcBef>
              <a:buClr>
                <a:schemeClr val="bg2"/>
              </a:buClr>
              <a:buSzPct val="75000"/>
              <a:defRPr/>
            </a:pPr>
            <a:r>
              <a:rPr lang="zh-CN" altLang="en-US" sz="2000" dirty="0">
                <a:solidFill>
                  <a:srgbClr val="0000FF"/>
                </a:solidFill>
                <a:latin typeface="Verdana" pitchFamily="34" charset="0"/>
              </a:rPr>
              <a:t>* </a:t>
            </a:r>
            <a:r>
              <a:rPr lang="zh-CN" altLang="en-US" sz="2000" dirty="0">
                <a:solidFill>
                  <a:schemeClr val="hlink"/>
                </a:solidFill>
                <a:effectLst>
                  <a:outerShdw blurRad="38100" dist="38100" dir="2700000" algn="tl">
                    <a:srgbClr val="C0C0C0"/>
                  </a:outerShdw>
                </a:effectLst>
                <a:latin typeface="Verdana" pitchFamily="34" charset="0"/>
              </a:rPr>
              <a:t>曼彻斯特编码：</a:t>
            </a:r>
          </a:p>
          <a:p>
            <a:pPr>
              <a:lnSpc>
                <a:spcPct val="110000"/>
              </a:lnSpc>
              <a:spcBef>
                <a:spcPts val="600"/>
              </a:spcBef>
              <a:buClr>
                <a:schemeClr val="bg2"/>
              </a:buClr>
              <a:buSzPct val="75000"/>
              <a:defRPr/>
            </a:pPr>
            <a:r>
              <a:rPr lang="zh-CN" altLang="en-US" sz="2000" dirty="0">
                <a:latin typeface="Verdana" pitchFamily="34" charset="0"/>
              </a:rPr>
              <a:t>   一个周期</a:t>
            </a:r>
            <a:r>
              <a:rPr lang="en-US" altLang="zh-CN" sz="2000" dirty="0">
                <a:latin typeface="Verdana" pitchFamily="34" charset="0"/>
              </a:rPr>
              <a:t>T, </a:t>
            </a:r>
            <a:r>
              <a:rPr lang="zh-CN" altLang="en-US" sz="2000" dirty="0">
                <a:latin typeface="Verdana" pitchFamily="34" charset="0"/>
              </a:rPr>
              <a:t>分前后</a:t>
            </a:r>
            <a:r>
              <a:rPr lang="en-US" altLang="zh-CN" sz="2000" dirty="0">
                <a:latin typeface="Verdana" pitchFamily="34" charset="0"/>
              </a:rPr>
              <a:t>T/2</a:t>
            </a:r>
            <a:r>
              <a:rPr lang="zh-CN" altLang="en-US" sz="2000" dirty="0">
                <a:latin typeface="Verdana" pitchFamily="34" charset="0"/>
              </a:rPr>
              <a:t>。前高后低为</a:t>
            </a:r>
            <a:r>
              <a:rPr lang="en-US" altLang="zh-CN" sz="2000" dirty="0">
                <a:latin typeface="Verdana" pitchFamily="34" charset="0"/>
              </a:rPr>
              <a:t>1</a:t>
            </a:r>
            <a:r>
              <a:rPr lang="zh-CN" altLang="en-US" sz="2000" dirty="0">
                <a:latin typeface="Verdana" pitchFamily="34" charset="0"/>
              </a:rPr>
              <a:t>，前低后高为</a:t>
            </a:r>
            <a:r>
              <a:rPr lang="en-US" altLang="zh-CN" sz="2000" dirty="0">
                <a:latin typeface="Verdana" pitchFamily="34" charset="0"/>
              </a:rPr>
              <a:t>0</a:t>
            </a:r>
            <a:r>
              <a:rPr lang="zh-CN" altLang="en-US" sz="2000" dirty="0">
                <a:latin typeface="Verdana" pitchFamily="34" charset="0"/>
              </a:rPr>
              <a:t>。</a:t>
            </a:r>
          </a:p>
          <a:p>
            <a:pPr>
              <a:lnSpc>
                <a:spcPct val="110000"/>
              </a:lnSpc>
              <a:spcBef>
                <a:spcPts val="600"/>
              </a:spcBef>
              <a:buClr>
                <a:schemeClr val="bg2"/>
              </a:buClr>
              <a:buSzPct val="75000"/>
              <a:defRPr/>
            </a:pPr>
            <a:r>
              <a:rPr lang="zh-CN" altLang="en-US" sz="2000" dirty="0">
                <a:solidFill>
                  <a:srgbClr val="0000FF"/>
                </a:solidFill>
                <a:latin typeface="Verdana" pitchFamily="34" charset="0"/>
              </a:rPr>
              <a:t>* </a:t>
            </a:r>
            <a:r>
              <a:rPr lang="zh-CN" altLang="en-US" sz="2000" dirty="0">
                <a:solidFill>
                  <a:schemeClr val="hlink"/>
                </a:solidFill>
                <a:effectLst>
                  <a:outerShdw blurRad="38100" dist="38100" dir="2700000" algn="tl">
                    <a:srgbClr val="C0C0C0"/>
                  </a:outerShdw>
                </a:effectLst>
                <a:latin typeface="Verdana" pitchFamily="34" charset="0"/>
              </a:rPr>
              <a:t>差分曼彻斯特编码：</a:t>
            </a:r>
          </a:p>
          <a:p>
            <a:pPr>
              <a:lnSpc>
                <a:spcPct val="110000"/>
              </a:lnSpc>
              <a:spcBef>
                <a:spcPts val="600"/>
              </a:spcBef>
              <a:buClr>
                <a:schemeClr val="bg2"/>
              </a:buClr>
              <a:buSzPct val="75000"/>
              <a:defRPr/>
            </a:pPr>
            <a:r>
              <a:rPr lang="zh-CN" altLang="en-US" sz="2000" dirty="0">
                <a:latin typeface="Verdana" pitchFamily="34" charset="0"/>
              </a:rPr>
              <a:t>   一个周期</a:t>
            </a:r>
            <a:r>
              <a:rPr lang="en-US" altLang="zh-CN" sz="2000" dirty="0">
                <a:latin typeface="Verdana" pitchFamily="34" charset="0"/>
              </a:rPr>
              <a:t>T, </a:t>
            </a:r>
            <a:r>
              <a:rPr lang="zh-CN" altLang="en-US" sz="2000" dirty="0">
                <a:latin typeface="Verdana" pitchFamily="34" charset="0"/>
              </a:rPr>
              <a:t>分前后</a:t>
            </a:r>
            <a:r>
              <a:rPr lang="en-US" altLang="zh-CN" sz="2000" dirty="0">
                <a:latin typeface="Verdana" pitchFamily="34" charset="0"/>
              </a:rPr>
              <a:t>T/2</a:t>
            </a:r>
            <a:r>
              <a:rPr lang="zh-CN" altLang="en-US" sz="2000" dirty="0">
                <a:latin typeface="Verdana" pitchFamily="34" charset="0"/>
              </a:rPr>
              <a:t>。前半个码元的电平与上个码元的后半个码元一样为</a:t>
            </a:r>
            <a:r>
              <a:rPr lang="en-US" altLang="zh-CN" sz="2000" dirty="0">
                <a:latin typeface="Verdana" pitchFamily="34" charset="0"/>
              </a:rPr>
              <a:t>1(</a:t>
            </a:r>
            <a:r>
              <a:rPr lang="zh-CN" altLang="en-US" sz="2000" dirty="0">
                <a:solidFill>
                  <a:srgbClr val="FF0000"/>
                </a:solidFill>
                <a:latin typeface="Verdana" pitchFamily="34" charset="0"/>
              </a:rPr>
              <a:t>无跳变</a:t>
            </a:r>
            <a:r>
              <a:rPr lang="en-US" altLang="zh-CN" sz="2000" dirty="0">
                <a:latin typeface="Verdana" pitchFamily="34" charset="0"/>
              </a:rPr>
              <a:t>)</a:t>
            </a:r>
            <a:r>
              <a:rPr lang="zh-CN" altLang="en-US" sz="2000" dirty="0">
                <a:latin typeface="Verdana" pitchFamily="34" charset="0"/>
              </a:rPr>
              <a:t>，反之为</a:t>
            </a:r>
            <a:r>
              <a:rPr lang="en-US" altLang="zh-CN" sz="2000" dirty="0">
                <a:latin typeface="Verdana" pitchFamily="34" charset="0"/>
              </a:rPr>
              <a:t>0(</a:t>
            </a:r>
            <a:r>
              <a:rPr lang="zh-CN" altLang="en-US" sz="2000" dirty="0">
                <a:solidFill>
                  <a:srgbClr val="FF0000"/>
                </a:solidFill>
                <a:latin typeface="Verdana" pitchFamily="34" charset="0"/>
              </a:rPr>
              <a:t>有跳变</a:t>
            </a:r>
            <a:r>
              <a:rPr lang="en-US" altLang="zh-CN" sz="2000" dirty="0">
                <a:latin typeface="Verdana" pitchFamily="34" charset="0"/>
              </a:rPr>
              <a:t>)</a:t>
            </a:r>
            <a:r>
              <a:rPr lang="zh-CN" altLang="en-US" sz="2000" dirty="0">
                <a:latin typeface="Verdana" pitchFamily="34" charset="0"/>
              </a:rPr>
              <a:t>。</a:t>
            </a:r>
            <a:endParaRPr lang="zh-CN" altLang="en-US" sz="2000" dirty="0">
              <a:latin typeface="Verdana" pitchFamily="34" charset="0"/>
              <a:sym typeface="Wingdings" pitchFamily="2" charset="2"/>
            </a:endParaRPr>
          </a:p>
        </p:txBody>
      </p:sp>
      <p:sp>
        <p:nvSpPr>
          <p:cNvPr id="28678" name="Text Box 4"/>
          <p:cNvSpPr txBox="1">
            <a:spLocks noChangeArrowheads="1"/>
          </p:cNvSpPr>
          <p:nvPr/>
        </p:nvSpPr>
        <p:spPr bwMode="auto">
          <a:xfrm>
            <a:off x="6816080" y="2162814"/>
            <a:ext cx="1872208"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4800" dirty="0">
                <a:latin typeface="Verdana" panose="020B0604030504040204" pitchFamily="34" charset="0"/>
                <a:ea typeface="楷体_GB2312" pitchFamily="49" charset="-122"/>
                <a:sym typeface="Symbol" panose="05050102010706020507" pitchFamily="18" charset="2"/>
              </a:rPr>
              <a:t></a:t>
            </a:r>
            <a:r>
              <a:rPr lang="zh-CN" altLang="en-US" sz="2400" dirty="0">
                <a:latin typeface="Verdana" panose="020B0604030504040204" pitchFamily="34" charset="0"/>
                <a:ea typeface="楷体_GB2312" pitchFamily="49" charset="-122"/>
                <a:sym typeface="Symbol" panose="05050102010706020507" pitchFamily="18" charset="2"/>
              </a:rPr>
              <a:t>四种组合</a:t>
            </a:r>
            <a:endParaRPr lang="zh-CN" altLang="en-US" sz="2400" dirty="0">
              <a:latin typeface="Verdana" panose="020B0604030504040204" pitchFamily="34" charset="0"/>
              <a:ea typeface="楷体_GB2312" pitchFamily="49" charset="-122"/>
            </a:endParaRPr>
          </a:p>
        </p:txBody>
      </p:sp>
      <p:pic>
        <p:nvPicPr>
          <p:cNvPr id="2" name="图片 1"/>
          <p:cNvPicPr>
            <a:picLocks noChangeAspect="1"/>
          </p:cNvPicPr>
          <p:nvPr/>
        </p:nvPicPr>
        <p:blipFill>
          <a:blip r:embed="rId2"/>
          <a:stretch>
            <a:fillRect/>
          </a:stretch>
        </p:blipFill>
        <p:spPr>
          <a:xfrm>
            <a:off x="5375920" y="3070488"/>
            <a:ext cx="3895019" cy="1582648"/>
          </a:xfrm>
          <a:prstGeom prst="rect">
            <a:avLst/>
          </a:prstGeom>
        </p:spPr>
      </p:pic>
    </p:spTree>
    <p:extLst>
      <p:ext uri="{BB962C8B-B14F-4D97-AF65-F5344CB8AC3E}">
        <p14:creationId xmlns:p14="http://schemas.microsoft.com/office/powerpoint/2010/main" val="1403107500"/>
      </p:ext>
    </p:extLst>
  </p:cSld>
  <p:clrMapOvr>
    <a:masterClrMapping/>
  </p:clrMapOvr>
  <p:transition spd="slow">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00FF"/>
                </a:solidFill>
                <a:latin typeface="Verdana" pitchFamily="34" charset="0"/>
                <a:sym typeface="Wingdings" pitchFamily="2" charset="2"/>
              </a:rPr>
              <a:t>极性，单极性</a:t>
            </a:r>
            <a:endParaRPr lang="en-US" dirty="0"/>
          </a:p>
        </p:txBody>
      </p:sp>
      <p:sp>
        <p:nvSpPr>
          <p:cNvPr id="4" name="页脚占位符 3"/>
          <p:cNvSpPr>
            <a:spLocks noGrp="1"/>
          </p:cNvSpPr>
          <p:nvPr>
            <p:ph type="ftr" sz="quarter" idx="10"/>
          </p:nvPr>
        </p:nvSpPr>
        <p:spPr/>
        <p:txBody>
          <a:bodyPr/>
          <a:lstStyle/>
          <a:p>
            <a:pPr>
              <a:defRPr/>
            </a:pPr>
            <a:r>
              <a:rPr lang="en-US" altLang="zh-CN"/>
              <a:t>Computer Network</a:t>
            </a:r>
          </a:p>
        </p:txBody>
      </p:sp>
      <p:sp>
        <p:nvSpPr>
          <p:cNvPr id="5" name="灯片编号占位符 4"/>
          <p:cNvSpPr>
            <a:spLocks noGrp="1"/>
          </p:cNvSpPr>
          <p:nvPr>
            <p:ph type="sldNum" sz="quarter" idx="11"/>
          </p:nvPr>
        </p:nvSpPr>
        <p:spPr/>
        <p:txBody>
          <a:bodyPr/>
          <a:lstStyle/>
          <a:p>
            <a:pPr>
              <a:defRPr/>
            </a:pPr>
            <a:fld id="{E7872B99-39A0-4C31-B109-B5DD2E3E7F4D}" type="slidenum">
              <a:rPr lang="en-US" altLang="zh-CN" smtClean="0"/>
              <a:pPr>
                <a:defRPr/>
              </a:pPr>
              <a:t>36</a:t>
            </a:fld>
            <a:endParaRPr lang="en-US" altLang="zh-CN"/>
          </a:p>
        </p:txBody>
      </p:sp>
      <p:sp>
        <p:nvSpPr>
          <p:cNvPr id="6" name="日期占位符 5"/>
          <p:cNvSpPr>
            <a:spLocks noGrp="1"/>
          </p:cNvSpPr>
          <p:nvPr>
            <p:ph type="dt" sz="half" idx="12"/>
          </p:nvPr>
        </p:nvSpPr>
        <p:spPr/>
        <p:txBody>
          <a:bodyPr/>
          <a:lstStyle/>
          <a:p>
            <a:pPr>
              <a:defRPr/>
            </a:pPr>
            <a:fld id="{463C5C25-2E6E-49EB-80D0-7A2EB3145E01}" type="datetime1">
              <a:rPr lang="zh-CN" altLang="en-US" smtClean="0"/>
              <a:pPr>
                <a:defRPr/>
              </a:pPr>
              <a:t>2024/9/27</a:t>
            </a:fld>
            <a:endParaRPr lang="en-US" altLang="zh-CN"/>
          </a:p>
        </p:txBody>
      </p:sp>
      <p:pic>
        <p:nvPicPr>
          <p:cNvPr id="70658" name="Picture 2" descr="在这里插入图片描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1333500"/>
            <a:ext cx="6838950" cy="2095501"/>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838200" y="3427415"/>
            <a:ext cx="10515600" cy="2862322"/>
          </a:xfrm>
          <a:prstGeom prst="rect">
            <a:avLst/>
          </a:prstGeom>
        </p:spPr>
        <p:txBody>
          <a:bodyPr wrap="square">
            <a:spAutoFit/>
          </a:bodyPr>
          <a:lstStyle/>
          <a:p>
            <a:pPr marL="285750" indent="-285750">
              <a:buFont typeface="Arial" panose="020B0604020202020204" pitchFamily="34" charset="0"/>
              <a:buChar char="•"/>
            </a:pPr>
            <a:r>
              <a:rPr lang="zh-CN" altLang="en-US" dirty="0"/>
              <a:t>双极信号（</a:t>
            </a:r>
            <a:r>
              <a:rPr lang="en-US" altLang="zh-CN" dirty="0"/>
              <a:t>bipolar signal</a:t>
            </a:r>
            <a:r>
              <a:rPr lang="zh-CN" altLang="en-US" dirty="0"/>
              <a:t>） 是一个三电压级的信号，通常在正电压和负电压之间摇摆。双极信号可以是 </a:t>
            </a:r>
            <a:r>
              <a:rPr lang="en-US" altLang="zh-CN" dirty="0"/>
              <a:t>RZ </a:t>
            </a:r>
            <a:r>
              <a:rPr lang="zh-CN" altLang="en-US" dirty="0"/>
              <a:t>或 </a:t>
            </a:r>
            <a:r>
              <a:rPr lang="en-US" altLang="zh-CN" dirty="0"/>
              <a:t>NRZ</a:t>
            </a:r>
            <a:r>
              <a:rPr lang="zh-CN" altLang="en-US" dirty="0"/>
              <a:t>。在数字双极信号中，正电压和负电压交替出现。这导致输电线路上的零直流分量。  </a:t>
            </a:r>
            <a:endParaRPr lang="en-US" altLang="zh-CN" dirty="0"/>
          </a:p>
          <a:p>
            <a:pPr marL="285750" indent="-285750">
              <a:buFont typeface="Arial" panose="020B0604020202020204" pitchFamily="34" charset="0"/>
              <a:buChar char="•"/>
            </a:pPr>
            <a:r>
              <a:rPr lang="zh-CN" altLang="en-US" dirty="0"/>
              <a:t>单极信号（</a:t>
            </a:r>
            <a:r>
              <a:rPr lang="en-US" altLang="zh-CN" dirty="0"/>
              <a:t>unipolar signal</a:t>
            </a:r>
            <a:r>
              <a:rPr lang="zh-CN" altLang="en-US" dirty="0"/>
              <a:t>） 是一种两级信号，通常在零级和正级之间波动。单极信号被认为是一种开关信号，可以应用于电信号或光学信号。在电力传输中，假设统计上有相同数量的</a:t>
            </a:r>
            <a:r>
              <a:rPr lang="en-US" altLang="zh-CN" dirty="0"/>
              <a:t>1</a:t>
            </a:r>
            <a:r>
              <a:rPr lang="zh-CN" altLang="en-US" dirty="0"/>
              <a:t>和</a:t>
            </a:r>
            <a:r>
              <a:rPr lang="en-US" altLang="zh-CN" dirty="0"/>
              <a:t>0</a:t>
            </a:r>
            <a:r>
              <a:rPr lang="zh-CN" altLang="en-US" dirty="0"/>
              <a:t>，那么直流分量可能达到峰值正电压的一半。对于长距离传输，这种直流分量是不可取的。在</a:t>
            </a:r>
            <a:r>
              <a:rPr lang="zh-CN" altLang="en-US" dirty="0">
                <a:solidFill>
                  <a:srgbClr val="FF0000"/>
                </a:solidFill>
              </a:rPr>
              <a:t>光学传输中</a:t>
            </a:r>
            <a:r>
              <a:rPr lang="zh-CN" altLang="en-US" dirty="0"/>
              <a:t>，单极信号也称为开关键控。  </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还有一类是多级信号。在这种情况下，可以使用几个电压电平</a:t>
            </a:r>
            <a:r>
              <a:rPr lang="en-US" altLang="zh-CN" dirty="0"/>
              <a:t>(</a:t>
            </a:r>
            <a:r>
              <a:rPr lang="zh-CN" altLang="en-US" dirty="0"/>
              <a:t>例如，</a:t>
            </a:r>
            <a:r>
              <a:rPr lang="en-US" altLang="zh-CN" dirty="0"/>
              <a:t>8)</a:t>
            </a:r>
            <a:r>
              <a:rPr lang="zh-CN" altLang="en-US" dirty="0"/>
              <a:t>，每个电平对应</a:t>
            </a:r>
            <a:r>
              <a:rPr lang="en-US" altLang="zh-CN" dirty="0"/>
              <a:t>8</a:t>
            </a:r>
            <a:r>
              <a:rPr lang="zh-CN" altLang="en-US" dirty="0"/>
              <a:t>个代码中的一个。尽管多级信号由于其固有的编码压缩特性而具有很大的吸引力，但它们并不用于通信网络的传输。在光传输中，不存在多电平信号。</a:t>
            </a:r>
          </a:p>
        </p:txBody>
      </p:sp>
    </p:spTree>
    <p:extLst>
      <p:ext uri="{BB962C8B-B14F-4D97-AF65-F5344CB8AC3E}">
        <p14:creationId xmlns:p14="http://schemas.microsoft.com/office/powerpoint/2010/main" val="22600748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latin typeface="+mn-ea"/>
              </a:rPr>
              <a:t>归零编码</a:t>
            </a:r>
            <a:r>
              <a:rPr lang="en-US" altLang="zh-CN" dirty="0">
                <a:latin typeface="+mn-ea"/>
              </a:rPr>
              <a:t>(RZ)</a:t>
            </a:r>
            <a:r>
              <a:rPr lang="zh-CN" altLang="en-US" dirty="0">
                <a:latin typeface="+mn-ea"/>
              </a:rPr>
              <a:t>和不归零编码</a:t>
            </a:r>
            <a:r>
              <a:rPr lang="en-US" altLang="zh-CN" dirty="0">
                <a:latin typeface="+mn-ea"/>
              </a:rPr>
              <a:t>(NRZ)</a:t>
            </a:r>
            <a:endParaRPr lang="en-US" dirty="0"/>
          </a:p>
        </p:txBody>
      </p:sp>
      <p:sp>
        <p:nvSpPr>
          <p:cNvPr id="9" name="内容占位符 8"/>
          <p:cNvSpPr>
            <a:spLocks noGrp="1"/>
          </p:cNvSpPr>
          <p:nvPr>
            <p:ph idx="1"/>
          </p:nvPr>
        </p:nvSpPr>
        <p:spPr/>
        <p:txBody>
          <a:bodyPr/>
          <a:lstStyle/>
          <a:p>
            <a:r>
              <a:rPr lang="zh-CN" altLang="en-US" sz="1800" dirty="0"/>
              <a:t>无论是归零编码（</a:t>
            </a:r>
            <a:r>
              <a:rPr lang="en-US" altLang="zh-CN" sz="1800" dirty="0"/>
              <a:t>return-to-zero</a:t>
            </a:r>
            <a:r>
              <a:rPr lang="zh-CN" altLang="en-US" sz="1800" dirty="0"/>
              <a:t>，</a:t>
            </a:r>
            <a:r>
              <a:rPr lang="en-US" altLang="zh-CN" sz="1800" dirty="0"/>
              <a:t>RZ</a:t>
            </a:r>
            <a:r>
              <a:rPr lang="zh-CN" altLang="en-US" sz="1800" dirty="0"/>
              <a:t>）还是不归零编码（</a:t>
            </a:r>
            <a:r>
              <a:rPr lang="en-US" altLang="zh-CN" sz="1800" dirty="0"/>
              <a:t>non-return to zero, NRZ</a:t>
            </a:r>
            <a:r>
              <a:rPr lang="zh-CN" altLang="en-US" sz="1800" dirty="0"/>
              <a:t>），信号都是在正 </a:t>
            </a:r>
            <a:r>
              <a:rPr lang="en-US" altLang="zh-CN" sz="1800" dirty="0"/>
              <a:t>(+V) </a:t>
            </a:r>
            <a:r>
              <a:rPr lang="zh-CN" altLang="en-US" sz="1800" dirty="0"/>
              <a:t>和负 </a:t>
            </a:r>
            <a:r>
              <a:rPr lang="en-US" altLang="zh-CN" sz="1800" dirty="0"/>
              <a:t>(- V) </a:t>
            </a:r>
            <a:r>
              <a:rPr lang="zh-CN" altLang="en-US" sz="1800" dirty="0"/>
              <a:t>电压之间交替。逻辑</a:t>
            </a:r>
            <a:r>
              <a:rPr lang="en-US" altLang="zh-CN" sz="1800" dirty="0"/>
              <a:t>1 </a:t>
            </a:r>
            <a:r>
              <a:rPr lang="zh-CN" altLang="en-US" sz="1800" dirty="0"/>
              <a:t>表示正电压下的信号，逻辑 </a:t>
            </a:r>
            <a:r>
              <a:rPr lang="en-US" altLang="zh-CN" sz="1800" dirty="0"/>
              <a:t>0 </a:t>
            </a:r>
            <a:r>
              <a:rPr lang="zh-CN" altLang="en-US" sz="1800" dirty="0"/>
              <a:t>表示负电压下的信号。</a:t>
            </a:r>
          </a:p>
          <a:p>
            <a:r>
              <a:rPr lang="zh-CN" altLang="en-US" sz="1800" dirty="0"/>
              <a:t>在 </a:t>
            </a:r>
            <a:r>
              <a:rPr lang="en-US" altLang="zh-CN" sz="1800" dirty="0"/>
              <a:t>NRZ </a:t>
            </a:r>
            <a:r>
              <a:rPr lang="zh-CN" altLang="en-US" sz="1800" dirty="0"/>
              <a:t>方法中，从逻辑 </a:t>
            </a:r>
            <a:r>
              <a:rPr lang="en-US" altLang="zh-CN" sz="1800" dirty="0"/>
              <a:t>0 </a:t>
            </a:r>
            <a:r>
              <a:rPr lang="zh-CN" altLang="en-US" sz="1800" dirty="0"/>
              <a:t>到逻辑 </a:t>
            </a:r>
            <a:r>
              <a:rPr lang="en-US" altLang="zh-CN" sz="1800" dirty="0"/>
              <a:t>1 </a:t>
            </a:r>
            <a:r>
              <a:rPr lang="zh-CN" altLang="en-US" sz="1800" dirty="0"/>
              <a:t>的转换（反之亦然），直接跨越零电压电平，而在 </a:t>
            </a:r>
            <a:r>
              <a:rPr lang="en-US" altLang="zh-CN" sz="1800" dirty="0"/>
              <a:t>RZ </a:t>
            </a:r>
            <a:r>
              <a:rPr lang="zh-CN" altLang="en-US" sz="1800" dirty="0"/>
              <a:t>方法中，转换暂时停留在零电压电平上。如下图所示：</a:t>
            </a:r>
          </a:p>
          <a:p>
            <a:endParaRPr lang="en-US" sz="1800" dirty="0"/>
          </a:p>
        </p:txBody>
      </p:sp>
      <p:sp>
        <p:nvSpPr>
          <p:cNvPr id="2" name="页脚占位符 1"/>
          <p:cNvSpPr>
            <a:spLocks noGrp="1"/>
          </p:cNvSpPr>
          <p:nvPr>
            <p:ph type="ftr" sz="quarter" idx="10"/>
          </p:nvPr>
        </p:nvSpPr>
        <p:spPr/>
        <p:txBody>
          <a:bodyPr/>
          <a:lstStyle/>
          <a:p>
            <a:pPr>
              <a:defRPr/>
            </a:pPr>
            <a:r>
              <a:rPr lang="en-US" altLang="zh-CN" dirty="0"/>
              <a:t>Computer Network</a:t>
            </a:r>
          </a:p>
        </p:txBody>
      </p:sp>
      <p:sp>
        <p:nvSpPr>
          <p:cNvPr id="3" name="灯片编号占位符 2"/>
          <p:cNvSpPr>
            <a:spLocks noGrp="1"/>
          </p:cNvSpPr>
          <p:nvPr>
            <p:ph type="sldNum" sz="quarter" idx="11"/>
          </p:nvPr>
        </p:nvSpPr>
        <p:spPr/>
        <p:txBody>
          <a:bodyPr/>
          <a:lstStyle/>
          <a:p>
            <a:pPr>
              <a:defRPr/>
            </a:pPr>
            <a:fld id="{7216A855-119B-49D4-872D-EE13C10F3137}" type="slidenum">
              <a:rPr lang="en-US" altLang="zh-CN" smtClean="0"/>
              <a:pPr>
                <a:defRPr/>
              </a:pPr>
              <a:t>37</a:t>
            </a:fld>
            <a:endParaRPr lang="en-US" altLang="zh-CN"/>
          </a:p>
        </p:txBody>
      </p:sp>
      <p:sp>
        <p:nvSpPr>
          <p:cNvPr id="4" name="日期占位符 3"/>
          <p:cNvSpPr>
            <a:spLocks noGrp="1"/>
          </p:cNvSpPr>
          <p:nvPr>
            <p:ph type="dt" sz="half" idx="12"/>
          </p:nvPr>
        </p:nvSpPr>
        <p:spPr/>
        <p:txBody>
          <a:bodyPr/>
          <a:lstStyle/>
          <a:p>
            <a:pPr>
              <a:defRPr/>
            </a:pPr>
            <a:fld id="{0A21BEF3-27F4-4A1F-9DA7-272622B19532}" type="datetime1">
              <a:rPr lang="zh-CN" altLang="en-US" smtClean="0"/>
              <a:pPr>
                <a:defRPr/>
              </a:pPr>
              <a:t>2024/9/27</a:t>
            </a:fld>
            <a:endParaRPr lang="en-US" altLang="zh-CN"/>
          </a:p>
        </p:txBody>
      </p:sp>
      <p:sp>
        <p:nvSpPr>
          <p:cNvPr id="6" name="文本框 5"/>
          <p:cNvSpPr txBox="1"/>
          <p:nvPr/>
        </p:nvSpPr>
        <p:spPr>
          <a:xfrm>
            <a:off x="1981200" y="5684343"/>
            <a:ext cx="8280920" cy="769441"/>
          </a:xfrm>
          <a:prstGeom prst="rect">
            <a:avLst/>
          </a:prstGeom>
          <a:noFill/>
        </p:spPr>
        <p:txBody>
          <a:bodyPr wrap="square" rtlCol="0">
            <a:spAutoFit/>
          </a:bodyPr>
          <a:lstStyle/>
          <a:p>
            <a:endParaRPr lang="zh-CN" altLang="en-US" sz="1100" dirty="0">
              <a:latin typeface="+mn-ea"/>
            </a:endParaRPr>
          </a:p>
          <a:p>
            <a:r>
              <a:rPr lang="en-US" altLang="zh-CN" sz="1100" dirty="0">
                <a:latin typeface="+mn-ea"/>
              </a:rPr>
              <a:t>————————————————</a:t>
            </a:r>
          </a:p>
          <a:p>
            <a:r>
              <a:rPr lang="zh-CN" altLang="en-US" sz="1100" dirty="0">
                <a:latin typeface="+mn-ea"/>
              </a:rPr>
              <a:t>版权声明：本文为</a:t>
            </a:r>
            <a:r>
              <a:rPr lang="en-US" altLang="zh-CN" sz="1100" dirty="0">
                <a:latin typeface="+mn-ea"/>
              </a:rPr>
              <a:t>CSDN</a:t>
            </a:r>
            <a:r>
              <a:rPr lang="zh-CN" altLang="en-US" sz="1100" dirty="0">
                <a:latin typeface="+mn-ea"/>
              </a:rPr>
              <a:t>博主「</a:t>
            </a:r>
            <a:r>
              <a:rPr lang="en-US" altLang="zh-CN" sz="1100" dirty="0" err="1">
                <a:latin typeface="+mn-ea"/>
              </a:rPr>
              <a:t>ZC·Shou</a:t>
            </a:r>
            <a:r>
              <a:rPr lang="zh-CN" altLang="en-US" sz="1100" dirty="0">
                <a:latin typeface="+mn-ea"/>
              </a:rPr>
              <a:t>」的原创文章，遵循</a:t>
            </a:r>
            <a:r>
              <a:rPr lang="en-US" altLang="zh-CN" sz="1100" dirty="0">
                <a:latin typeface="+mn-ea"/>
              </a:rPr>
              <a:t>CC 4.0 BY-SA</a:t>
            </a:r>
            <a:r>
              <a:rPr lang="zh-CN" altLang="en-US" sz="1100" dirty="0">
                <a:latin typeface="+mn-ea"/>
              </a:rPr>
              <a:t>版权协议，转载请附上原文出处链接及本声明。</a:t>
            </a:r>
          </a:p>
          <a:p>
            <a:r>
              <a:rPr lang="zh-CN" altLang="en-US" sz="1100" dirty="0">
                <a:latin typeface="+mn-ea"/>
              </a:rPr>
              <a:t>原文链接：</a:t>
            </a:r>
            <a:r>
              <a:rPr lang="en-US" altLang="zh-CN" sz="1100" dirty="0">
                <a:latin typeface="+mn-ea"/>
              </a:rPr>
              <a:t>https://blog.csdn.net/ZCShouCSDN/article/details/91129839</a:t>
            </a:r>
            <a:endParaRPr lang="en-US" sz="1100" dirty="0">
              <a:latin typeface="+mn-ea"/>
            </a:endParaRPr>
          </a:p>
        </p:txBody>
      </p:sp>
      <p:pic>
        <p:nvPicPr>
          <p:cNvPr id="69634" name="Picture 2" descr="https://img-blog.csdnimg.cn/20190615082200239.png?x-oss-process=image/watermark,type_ZmFuZ3poZW5naGVpdGk,shadow_10,text_aHR0cHM6Ly9ibG9nLmNzZG4ubmV0L1pDU2hvdUNTRE4=,size_16,color_FFFFFF,t_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9718" y="3068960"/>
            <a:ext cx="6222578" cy="3534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51283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页脚占位符 1"/>
          <p:cNvSpPr>
            <a:spLocks noGrp="1"/>
          </p:cNvSpPr>
          <p:nvPr>
            <p:ph type="ftr" sz="quarter" idx="10"/>
          </p:nvPr>
        </p:nvSpPr>
        <p:spPr/>
        <p:txBody>
          <a:bodyPr/>
          <a:lstStyle/>
          <a:p>
            <a:pPr>
              <a:defRPr/>
            </a:pPr>
            <a:r>
              <a:rPr lang="en-US" altLang="zh-CN"/>
              <a:t>Computer Network</a:t>
            </a:r>
          </a:p>
        </p:txBody>
      </p:sp>
      <p:sp>
        <p:nvSpPr>
          <p:cNvPr id="29699"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1AE4CD4-7DC7-4B1D-899E-D61BCB23A8CD}" type="slidenum">
              <a:rPr lang="en-US" altLang="zh-CN" sz="1200">
                <a:latin typeface="Arial Black" panose="020B0A04020102020204" pitchFamily="34" charset="0"/>
              </a:rPr>
              <a:pPr>
                <a:spcBef>
                  <a:spcPct val="0"/>
                </a:spcBef>
                <a:buClrTx/>
                <a:buSzTx/>
                <a:buFontTx/>
                <a:buNone/>
              </a:pPr>
              <a:t>38</a:t>
            </a:fld>
            <a:endParaRPr lang="en-US" altLang="zh-CN" sz="1200">
              <a:latin typeface="Arial Black" panose="020B0A04020102020204" pitchFamily="34" charset="0"/>
            </a:endParaRPr>
          </a:p>
        </p:txBody>
      </p:sp>
      <p:sp>
        <p:nvSpPr>
          <p:cNvPr id="44" name="日期占位符 3"/>
          <p:cNvSpPr>
            <a:spLocks noGrp="1"/>
          </p:cNvSpPr>
          <p:nvPr>
            <p:ph type="dt" sz="quarter" idx="12"/>
          </p:nvPr>
        </p:nvSpPr>
        <p:spPr/>
        <p:txBody>
          <a:bodyPr/>
          <a:lstStyle/>
          <a:p>
            <a:pPr>
              <a:defRPr/>
            </a:pPr>
            <a:fld id="{FBD1AB9B-0999-4C5C-AF98-97F1E5A4E357}" type="datetime1">
              <a:rPr lang="zh-CN" altLang="en-US"/>
              <a:pPr>
                <a:defRPr/>
              </a:pPr>
              <a:t>2024/9/27</a:t>
            </a:fld>
            <a:endParaRPr lang="en-US" altLang="zh-CN"/>
          </a:p>
        </p:txBody>
      </p:sp>
      <p:sp>
        <p:nvSpPr>
          <p:cNvPr id="26630" name="Rectangle 2094"/>
          <p:cNvSpPr>
            <a:spLocks noChangeArrowheads="1"/>
          </p:cNvSpPr>
          <p:nvPr/>
        </p:nvSpPr>
        <p:spPr bwMode="auto">
          <a:xfrm>
            <a:off x="2286000" y="762000"/>
            <a:ext cx="64023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spcBef>
                <a:spcPct val="50000"/>
              </a:spcBef>
              <a:defRPr/>
            </a:pPr>
            <a:r>
              <a:rPr lang="en-US" altLang="zh-CN" sz="2400" dirty="0">
                <a:solidFill>
                  <a:srgbClr val="0000FF"/>
                </a:solidFill>
                <a:latin typeface="Verdana" pitchFamily="34" charset="0"/>
              </a:rPr>
              <a:t>3)</a:t>
            </a:r>
            <a:r>
              <a:rPr lang="zh-CN" altLang="en-US" sz="2400" dirty="0">
                <a:solidFill>
                  <a:srgbClr val="0000FF"/>
                </a:solidFill>
                <a:latin typeface="Verdana" pitchFamily="34" charset="0"/>
              </a:rPr>
              <a:t>曼彻斯特编码、差分曼彻斯特编码：</a:t>
            </a:r>
            <a:r>
              <a:rPr lang="zh-CN" altLang="en-US" sz="2400" dirty="0">
                <a:solidFill>
                  <a:srgbClr val="FF0000"/>
                </a:solidFill>
                <a:effectLst>
                  <a:outerShdw blurRad="38100" dist="38100" dir="2700000" algn="tl">
                    <a:srgbClr val="000000">
                      <a:alpha val="43137"/>
                    </a:srgbClr>
                  </a:outerShdw>
                </a:effectLst>
                <a:latin typeface="Verdana" pitchFamily="34" charset="0"/>
              </a:rPr>
              <a:t>例：</a:t>
            </a:r>
          </a:p>
        </p:txBody>
      </p:sp>
      <p:sp>
        <p:nvSpPr>
          <p:cNvPr id="3" name="矩形 2"/>
          <p:cNvSpPr/>
          <p:nvPr/>
        </p:nvSpPr>
        <p:spPr>
          <a:xfrm>
            <a:off x="1981200" y="1340768"/>
            <a:ext cx="7715200" cy="707886"/>
          </a:xfrm>
          <a:prstGeom prst="rect">
            <a:avLst/>
          </a:prstGeom>
        </p:spPr>
        <p:txBody>
          <a:bodyPr wrap="square">
            <a:spAutoFit/>
          </a:bodyPr>
          <a:lstStyle/>
          <a:p>
            <a:r>
              <a:rPr lang="zh-CN" altLang="en-US" sz="2000" dirty="0"/>
              <a:t>又称自同步码、相位编码（</a:t>
            </a:r>
            <a:r>
              <a:rPr lang="en-US" altLang="zh-CN" sz="2000" dirty="0"/>
              <a:t>phase encoding</a:t>
            </a:r>
            <a:r>
              <a:rPr lang="zh-CN" altLang="en-US" sz="2000" dirty="0"/>
              <a:t>，</a:t>
            </a:r>
            <a:r>
              <a:rPr lang="en-US" altLang="zh-CN" sz="2000" dirty="0"/>
              <a:t>PE</a:t>
            </a:r>
            <a:r>
              <a:rPr lang="zh-CN" altLang="en-US" sz="2000" dirty="0"/>
              <a:t>），能够用信号的变化来保持发送设备和接收设备之间的同步。</a:t>
            </a:r>
            <a:endParaRPr lang="en-US" altLang="zh-CN" sz="2000" dirty="0"/>
          </a:p>
        </p:txBody>
      </p:sp>
      <p:sp>
        <p:nvSpPr>
          <p:cNvPr id="4" name="矩形 3"/>
          <p:cNvSpPr/>
          <p:nvPr/>
        </p:nvSpPr>
        <p:spPr>
          <a:xfrm>
            <a:off x="2043844" y="5013177"/>
            <a:ext cx="8382000" cy="1015663"/>
          </a:xfrm>
          <a:prstGeom prst="rect">
            <a:avLst/>
          </a:prstGeom>
        </p:spPr>
        <p:txBody>
          <a:bodyPr wrap="square">
            <a:spAutoFit/>
          </a:bodyPr>
          <a:lstStyle/>
          <a:p>
            <a:r>
              <a:rPr lang="zh-CN" altLang="en-US" sz="2000" dirty="0">
                <a:solidFill>
                  <a:srgbClr val="121212"/>
                </a:solidFill>
                <a:latin typeface="-apple-system"/>
              </a:rPr>
              <a:t>差分曼彻斯特编码与曼彻斯特编码比较， 差分曼彻斯特编码只关注每个时间间隔开始是否有跳变。所以在有噪音干扰，或者高低电平接反了的情况下，差分曼彻斯特编码也能够正常工作。</a:t>
            </a:r>
            <a:endParaRPr lang="en-US" sz="2000" dirty="0"/>
          </a:p>
        </p:txBody>
      </p:sp>
      <p:sp>
        <p:nvSpPr>
          <p:cNvPr id="5" name="矩形 4"/>
          <p:cNvSpPr/>
          <p:nvPr/>
        </p:nvSpPr>
        <p:spPr>
          <a:xfrm>
            <a:off x="2043844" y="2570128"/>
            <a:ext cx="8223064" cy="1938992"/>
          </a:xfrm>
          <a:prstGeom prst="rect">
            <a:avLst/>
          </a:prstGeom>
        </p:spPr>
        <p:txBody>
          <a:bodyPr wrap="square">
            <a:spAutoFit/>
          </a:bodyPr>
          <a:lstStyle/>
          <a:p>
            <a:r>
              <a:rPr lang="zh-CN" altLang="en-US" sz="2000" dirty="0">
                <a:solidFill>
                  <a:srgbClr val="0000FF"/>
                </a:solidFill>
                <a:latin typeface="+mn-ea"/>
              </a:rPr>
              <a:t>两者的相同点：</a:t>
            </a:r>
          </a:p>
          <a:p>
            <a:r>
              <a:rPr lang="zh-CN" altLang="en-US" sz="2000" dirty="0">
                <a:solidFill>
                  <a:srgbClr val="0000FF"/>
                </a:solidFill>
                <a:latin typeface="+mn-ea"/>
              </a:rPr>
              <a:t>中间（夹在两条虚线）有一次跳变。</a:t>
            </a:r>
          </a:p>
          <a:p>
            <a:r>
              <a:rPr lang="zh-CN" altLang="en-US" sz="2000" dirty="0">
                <a:solidFill>
                  <a:srgbClr val="0000FF"/>
                </a:solidFill>
                <a:latin typeface="+mn-ea"/>
              </a:rPr>
              <a:t>两者的不同点：</a:t>
            </a:r>
            <a:endParaRPr lang="en-US" altLang="zh-CN" sz="2000" dirty="0">
              <a:solidFill>
                <a:srgbClr val="0000FF"/>
              </a:solidFill>
              <a:latin typeface="+mn-ea"/>
            </a:endParaRPr>
          </a:p>
          <a:p>
            <a:pPr marL="457200" indent="-457200">
              <a:buFont typeface="+mj-lt"/>
              <a:buAutoNum type="arabicPeriod"/>
            </a:pPr>
            <a:r>
              <a:rPr lang="zh-CN" altLang="en-US" sz="2000" dirty="0">
                <a:solidFill>
                  <a:srgbClr val="0000FF"/>
                </a:solidFill>
                <a:latin typeface="+mn-ea"/>
              </a:rPr>
              <a:t>曼彻斯特码： 从低到高（趋势）表示 </a:t>
            </a:r>
            <a:r>
              <a:rPr lang="en-US" altLang="zh-CN" sz="2000" dirty="0">
                <a:solidFill>
                  <a:srgbClr val="0000FF"/>
                </a:solidFill>
                <a:latin typeface="+mn-ea"/>
              </a:rPr>
              <a:t>1 </a:t>
            </a:r>
            <a:r>
              <a:rPr lang="zh-CN" altLang="en-US" sz="2000" dirty="0">
                <a:solidFill>
                  <a:srgbClr val="0000FF"/>
                </a:solidFill>
                <a:latin typeface="+mn-ea"/>
              </a:rPr>
              <a:t>或者 </a:t>
            </a:r>
            <a:r>
              <a:rPr lang="en-US" altLang="zh-CN" sz="2000" dirty="0">
                <a:solidFill>
                  <a:srgbClr val="0000FF"/>
                </a:solidFill>
                <a:latin typeface="+mn-ea"/>
              </a:rPr>
              <a:t>0</a:t>
            </a:r>
            <a:r>
              <a:rPr lang="zh-CN" altLang="en-US" sz="2000" dirty="0">
                <a:solidFill>
                  <a:srgbClr val="0000FF"/>
                </a:solidFill>
                <a:latin typeface="+mn-ea"/>
              </a:rPr>
              <a:t>；</a:t>
            </a:r>
          </a:p>
          <a:p>
            <a:pPr marL="457200" indent="-457200">
              <a:buFont typeface="+mj-lt"/>
              <a:buAutoNum type="arabicPeriod"/>
            </a:pPr>
            <a:r>
              <a:rPr lang="zh-CN" altLang="en-US" sz="2000" dirty="0">
                <a:solidFill>
                  <a:srgbClr val="0000FF"/>
                </a:solidFill>
                <a:latin typeface="+mn-ea"/>
              </a:rPr>
              <a:t>差分曼彻斯特码：在每个时钟周期的起始处有跳变表示 </a:t>
            </a:r>
            <a:r>
              <a:rPr lang="en-US" altLang="zh-CN" sz="2000" dirty="0">
                <a:solidFill>
                  <a:srgbClr val="0000FF"/>
                </a:solidFill>
                <a:latin typeface="+mn-ea"/>
              </a:rPr>
              <a:t>0</a:t>
            </a:r>
            <a:r>
              <a:rPr lang="zh-CN" altLang="en-US" sz="2000" dirty="0">
                <a:solidFill>
                  <a:srgbClr val="0000FF"/>
                </a:solidFill>
                <a:latin typeface="+mn-ea"/>
              </a:rPr>
              <a:t>；无跳变则表示</a:t>
            </a:r>
            <a:r>
              <a:rPr lang="en-US" altLang="zh-CN" sz="2000" dirty="0">
                <a:solidFill>
                  <a:srgbClr val="0000FF"/>
                </a:solidFill>
                <a:latin typeface="+mn-ea"/>
              </a:rPr>
              <a:t>1</a:t>
            </a:r>
            <a:r>
              <a:rPr lang="zh-CN" altLang="en-US" sz="2000" dirty="0">
                <a:solidFill>
                  <a:srgbClr val="0000FF"/>
                </a:solidFill>
                <a:latin typeface="+mn-ea"/>
              </a:rPr>
              <a:t>。或者说遇到 </a:t>
            </a:r>
            <a:r>
              <a:rPr lang="en-US" altLang="zh-CN" sz="2000" dirty="0">
                <a:solidFill>
                  <a:srgbClr val="0000FF"/>
                </a:solidFill>
                <a:latin typeface="+mn-ea"/>
              </a:rPr>
              <a:t>0 </a:t>
            </a:r>
            <a:r>
              <a:rPr lang="zh-CN" altLang="en-US" sz="2000" dirty="0">
                <a:solidFill>
                  <a:srgbClr val="0000FF"/>
                </a:solidFill>
                <a:latin typeface="+mn-ea"/>
              </a:rPr>
              <a:t>的时候，在起始处发生跳变</a:t>
            </a:r>
          </a:p>
        </p:txBody>
      </p:sp>
    </p:spTree>
    <p:extLst>
      <p:ext uri="{BB962C8B-B14F-4D97-AF65-F5344CB8AC3E}">
        <p14:creationId xmlns:p14="http://schemas.microsoft.com/office/powerpoint/2010/main" val="407276382"/>
      </p:ext>
    </p:extLst>
  </p:cSld>
  <p:clrMapOvr>
    <a:masterClrMapping/>
  </p:clrMapOvr>
  <p:transition spd="slow">
    <p:pull dir="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页脚占位符 1"/>
          <p:cNvSpPr>
            <a:spLocks noGrp="1"/>
          </p:cNvSpPr>
          <p:nvPr>
            <p:ph type="ftr" sz="quarter" idx="10"/>
          </p:nvPr>
        </p:nvSpPr>
        <p:spPr/>
        <p:txBody>
          <a:bodyPr/>
          <a:lstStyle/>
          <a:p>
            <a:pPr>
              <a:defRPr/>
            </a:pPr>
            <a:r>
              <a:rPr lang="en-US" altLang="zh-CN"/>
              <a:t>Computer Network</a:t>
            </a:r>
          </a:p>
        </p:txBody>
      </p:sp>
      <p:sp>
        <p:nvSpPr>
          <p:cNvPr id="29699"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1AE4CD4-7DC7-4B1D-899E-D61BCB23A8CD}" type="slidenum">
              <a:rPr lang="en-US" altLang="zh-CN" sz="1200">
                <a:latin typeface="Arial Black" panose="020B0A04020102020204" pitchFamily="34" charset="0"/>
              </a:rPr>
              <a:pPr>
                <a:spcBef>
                  <a:spcPct val="0"/>
                </a:spcBef>
                <a:buClrTx/>
                <a:buSzTx/>
                <a:buFontTx/>
                <a:buNone/>
              </a:pPr>
              <a:t>39</a:t>
            </a:fld>
            <a:endParaRPr lang="en-US" altLang="zh-CN" sz="1200">
              <a:latin typeface="Arial Black" panose="020B0A04020102020204" pitchFamily="34" charset="0"/>
            </a:endParaRPr>
          </a:p>
        </p:txBody>
      </p:sp>
      <p:sp>
        <p:nvSpPr>
          <p:cNvPr id="44" name="日期占位符 3"/>
          <p:cNvSpPr>
            <a:spLocks noGrp="1"/>
          </p:cNvSpPr>
          <p:nvPr>
            <p:ph type="dt" sz="quarter" idx="12"/>
          </p:nvPr>
        </p:nvSpPr>
        <p:spPr/>
        <p:txBody>
          <a:bodyPr/>
          <a:lstStyle/>
          <a:p>
            <a:pPr>
              <a:defRPr/>
            </a:pPr>
            <a:fld id="{FBD1AB9B-0999-4C5C-AF98-97F1E5A4E357}" type="datetime1">
              <a:rPr lang="zh-CN" altLang="en-US"/>
              <a:pPr>
                <a:defRPr/>
              </a:pPr>
              <a:t>2024/9/27</a:t>
            </a:fld>
            <a:endParaRPr lang="en-US" altLang="zh-CN"/>
          </a:p>
        </p:txBody>
      </p:sp>
      <p:grpSp>
        <p:nvGrpSpPr>
          <p:cNvPr id="29701" name="Group 2093"/>
          <p:cNvGrpSpPr>
            <a:grpSpLocks/>
          </p:cNvGrpSpPr>
          <p:nvPr/>
        </p:nvGrpSpPr>
        <p:grpSpPr bwMode="auto">
          <a:xfrm>
            <a:off x="2362200" y="1371600"/>
            <a:ext cx="7315200" cy="4281488"/>
            <a:chOff x="528" y="624"/>
            <a:chExt cx="4608" cy="2697"/>
          </a:xfrm>
        </p:grpSpPr>
        <p:sp>
          <p:nvSpPr>
            <p:cNvPr id="874501" name="Rectangle 2053" descr="点式菱形"/>
            <p:cNvSpPr>
              <a:spLocks noChangeArrowheads="1"/>
            </p:cNvSpPr>
            <p:nvPr/>
          </p:nvSpPr>
          <p:spPr bwMode="auto">
            <a:xfrm>
              <a:off x="528" y="816"/>
              <a:ext cx="4608" cy="2505"/>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aphicFrame>
          <p:nvGraphicFramePr>
            <p:cNvPr id="29709" name="Object 2057" descr="点式菱形"/>
            <p:cNvGraphicFramePr>
              <a:graphicFrameLocks noChangeAspect="1"/>
            </p:cNvGraphicFramePr>
            <p:nvPr/>
          </p:nvGraphicFramePr>
          <p:xfrm>
            <a:off x="1536" y="1440"/>
            <a:ext cx="3549" cy="490"/>
          </p:xfrm>
          <a:graphic>
            <a:graphicData uri="http://schemas.openxmlformats.org/presentationml/2006/ole">
              <mc:AlternateContent xmlns:mc="http://schemas.openxmlformats.org/markup-compatibility/2006">
                <mc:Choice xmlns:v="urn:schemas-microsoft-com:vml" Requires="v">
                  <p:oleObj name="文档" r:id="rId3" imgW="5632704" imgH="775716" progId="Word.Document.8">
                    <p:embed/>
                  </p:oleObj>
                </mc:Choice>
                <mc:Fallback>
                  <p:oleObj name="文档" r:id="rId3" imgW="5632704" imgH="775716" progId="Word.Document.8">
                    <p:embed/>
                    <p:pic>
                      <p:nvPicPr>
                        <p:cNvPr id="29709" name="Object 2057" descr="点式菱形"/>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1440"/>
                          <a:ext cx="3549" cy="4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0" name="Object 2058" descr="点式菱形"/>
            <p:cNvGraphicFramePr>
              <a:graphicFrameLocks noChangeAspect="1"/>
            </p:cNvGraphicFramePr>
            <p:nvPr/>
          </p:nvGraphicFramePr>
          <p:xfrm>
            <a:off x="1536" y="2016"/>
            <a:ext cx="3549" cy="490"/>
          </p:xfrm>
          <a:graphic>
            <a:graphicData uri="http://schemas.openxmlformats.org/presentationml/2006/ole">
              <mc:AlternateContent xmlns:mc="http://schemas.openxmlformats.org/markup-compatibility/2006">
                <mc:Choice xmlns:v="urn:schemas-microsoft-com:vml" Requires="v">
                  <p:oleObj name="文档" r:id="rId5" imgW="5632704" imgH="775716" progId="Word.Document.8">
                    <p:embed/>
                  </p:oleObj>
                </mc:Choice>
                <mc:Fallback>
                  <p:oleObj name="文档" r:id="rId5" imgW="5632704" imgH="775716" progId="Word.Document.8">
                    <p:embed/>
                    <p:pic>
                      <p:nvPicPr>
                        <p:cNvPr id="29710" name="Object 2058" descr="点式菱形"/>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 y="2016"/>
                          <a:ext cx="3549" cy="4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1" name="Object 2059" descr="点式菱形"/>
            <p:cNvGraphicFramePr>
              <a:graphicFrameLocks noChangeAspect="1"/>
            </p:cNvGraphicFramePr>
            <p:nvPr/>
          </p:nvGraphicFramePr>
          <p:xfrm>
            <a:off x="1536" y="2598"/>
            <a:ext cx="3549" cy="490"/>
          </p:xfrm>
          <a:graphic>
            <a:graphicData uri="http://schemas.openxmlformats.org/presentationml/2006/ole">
              <mc:AlternateContent xmlns:mc="http://schemas.openxmlformats.org/markup-compatibility/2006">
                <mc:Choice xmlns:v="urn:schemas-microsoft-com:vml" Requires="v">
                  <p:oleObj name="文档" r:id="rId7" imgW="5632704" imgH="775716" progId="Word.Document.8">
                    <p:embed/>
                  </p:oleObj>
                </mc:Choice>
                <mc:Fallback>
                  <p:oleObj name="文档" r:id="rId7" imgW="5632704" imgH="775716" progId="Word.Document.8">
                    <p:embed/>
                    <p:pic>
                      <p:nvPicPr>
                        <p:cNvPr id="29711" name="Object 2059" descr="点式菱形"/>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6" y="2598"/>
                          <a:ext cx="3549" cy="4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9712" name="Group 2060" descr="点式菱形"/>
            <p:cNvGrpSpPr>
              <a:grpSpLocks/>
            </p:cNvGrpSpPr>
            <p:nvPr/>
          </p:nvGrpSpPr>
          <p:grpSpPr bwMode="auto">
            <a:xfrm>
              <a:off x="1584" y="1104"/>
              <a:ext cx="3254" cy="291"/>
              <a:chOff x="1152" y="1523"/>
              <a:chExt cx="3254" cy="290"/>
            </a:xfrm>
          </p:grpSpPr>
          <p:sp>
            <p:nvSpPr>
              <p:cNvPr id="29731" name="Text Box 2061" descr="点式菱形"/>
              <p:cNvSpPr txBox="1">
                <a:spLocks noChangeArrowheads="1"/>
              </p:cNvSpPr>
              <p:nvPr/>
            </p:nvSpPr>
            <p:spPr bwMode="auto">
              <a:xfrm>
                <a:off x="1152"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1</a:t>
                </a:r>
              </a:p>
            </p:txBody>
          </p:sp>
          <p:sp>
            <p:nvSpPr>
              <p:cNvPr id="29732" name="Text Box 2062" descr="点式菱形"/>
              <p:cNvSpPr txBox="1">
                <a:spLocks noChangeArrowheads="1"/>
              </p:cNvSpPr>
              <p:nvPr/>
            </p:nvSpPr>
            <p:spPr bwMode="auto">
              <a:xfrm>
                <a:off x="1488"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0</a:t>
                </a:r>
              </a:p>
            </p:txBody>
          </p:sp>
          <p:sp>
            <p:nvSpPr>
              <p:cNvPr id="29733" name="Text Box 2063" descr="点式菱形"/>
              <p:cNvSpPr txBox="1">
                <a:spLocks noChangeArrowheads="1"/>
              </p:cNvSpPr>
              <p:nvPr/>
            </p:nvSpPr>
            <p:spPr bwMode="auto">
              <a:xfrm>
                <a:off x="1824"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0</a:t>
                </a:r>
              </a:p>
            </p:txBody>
          </p:sp>
          <p:sp>
            <p:nvSpPr>
              <p:cNvPr id="29734" name="Text Box 2064" descr="点式菱形"/>
              <p:cNvSpPr txBox="1">
                <a:spLocks noChangeArrowheads="1"/>
              </p:cNvSpPr>
              <p:nvPr/>
            </p:nvSpPr>
            <p:spPr bwMode="auto">
              <a:xfrm>
                <a:off x="2160"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0</a:t>
                </a:r>
              </a:p>
            </p:txBody>
          </p:sp>
          <p:sp>
            <p:nvSpPr>
              <p:cNvPr id="29735" name="Text Box 2065" descr="点式菱形"/>
              <p:cNvSpPr txBox="1">
                <a:spLocks noChangeArrowheads="1"/>
              </p:cNvSpPr>
              <p:nvPr/>
            </p:nvSpPr>
            <p:spPr bwMode="auto">
              <a:xfrm>
                <a:off x="2496"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1</a:t>
                </a:r>
              </a:p>
            </p:txBody>
          </p:sp>
          <p:sp>
            <p:nvSpPr>
              <p:cNvPr id="29736" name="Text Box 2066" descr="点式菱形"/>
              <p:cNvSpPr txBox="1">
                <a:spLocks noChangeArrowheads="1"/>
              </p:cNvSpPr>
              <p:nvPr/>
            </p:nvSpPr>
            <p:spPr bwMode="auto">
              <a:xfrm>
                <a:off x="2880"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0</a:t>
                </a:r>
              </a:p>
            </p:txBody>
          </p:sp>
          <p:sp>
            <p:nvSpPr>
              <p:cNvPr id="29737" name="Text Box 2067" descr="点式菱形"/>
              <p:cNvSpPr txBox="1">
                <a:spLocks noChangeArrowheads="1"/>
              </p:cNvSpPr>
              <p:nvPr/>
            </p:nvSpPr>
            <p:spPr bwMode="auto">
              <a:xfrm>
                <a:off x="3216"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0</a:t>
                </a:r>
              </a:p>
            </p:txBody>
          </p:sp>
          <p:sp>
            <p:nvSpPr>
              <p:cNvPr id="29738" name="Text Box 2068" descr="点式菱形"/>
              <p:cNvSpPr txBox="1">
                <a:spLocks noChangeArrowheads="1"/>
              </p:cNvSpPr>
              <p:nvPr/>
            </p:nvSpPr>
            <p:spPr bwMode="auto">
              <a:xfrm>
                <a:off x="3504"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1</a:t>
                </a:r>
              </a:p>
            </p:txBody>
          </p:sp>
          <p:sp>
            <p:nvSpPr>
              <p:cNvPr id="29739" name="Text Box 2069" descr="点式菱形"/>
              <p:cNvSpPr txBox="1">
                <a:spLocks noChangeArrowheads="1"/>
              </p:cNvSpPr>
              <p:nvPr/>
            </p:nvSpPr>
            <p:spPr bwMode="auto">
              <a:xfrm>
                <a:off x="3840"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1</a:t>
                </a:r>
              </a:p>
            </p:txBody>
          </p:sp>
          <p:sp>
            <p:nvSpPr>
              <p:cNvPr id="29740" name="Text Box 2070" descr="点式菱形"/>
              <p:cNvSpPr txBox="1">
                <a:spLocks noChangeArrowheads="1"/>
              </p:cNvSpPr>
              <p:nvPr/>
            </p:nvSpPr>
            <p:spPr bwMode="auto">
              <a:xfrm>
                <a:off x="4176" y="1523"/>
                <a:ext cx="230" cy="290"/>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solidFill>
                      <a:srgbClr val="FF0000"/>
                    </a:solidFill>
                    <a:latin typeface="楷体_GB2312" pitchFamily="49" charset="-122"/>
                    <a:ea typeface="楷体_GB2312" pitchFamily="49" charset="-122"/>
                  </a:rPr>
                  <a:t>1</a:t>
                </a:r>
              </a:p>
            </p:txBody>
          </p:sp>
        </p:grpSp>
        <p:sp>
          <p:nvSpPr>
            <p:cNvPr id="29713" name="Text Box 2071" descr="点式菱形"/>
            <p:cNvSpPr txBox="1">
              <a:spLocks noChangeArrowheads="1"/>
            </p:cNvSpPr>
            <p:nvPr/>
          </p:nvSpPr>
          <p:spPr bwMode="auto">
            <a:xfrm>
              <a:off x="642" y="1379"/>
              <a:ext cx="760" cy="442"/>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FF0000"/>
                  </a:solidFill>
                  <a:latin typeface="楷体_GB2312" pitchFamily="49" charset="-122"/>
                  <a:ea typeface="楷体_GB2312" pitchFamily="49" charset="-122"/>
                </a:rPr>
                <a:t>基带</a:t>
              </a:r>
            </a:p>
            <a:p>
              <a:pPr algn="ctr" eaLnBrk="1" hangingPunct="1">
                <a:spcBef>
                  <a:spcPct val="0"/>
                </a:spcBef>
                <a:buClrTx/>
                <a:buSzTx/>
                <a:buFontTx/>
                <a:buNone/>
              </a:pPr>
              <a:r>
                <a:rPr kumimoji="1" lang="zh-CN" altLang="en-US" sz="2000" dirty="0">
                  <a:solidFill>
                    <a:srgbClr val="FF0000"/>
                  </a:solidFill>
                  <a:latin typeface="楷体_GB2312" pitchFamily="49" charset="-122"/>
                  <a:ea typeface="楷体_GB2312" pitchFamily="49" charset="-122"/>
                </a:rPr>
                <a:t>数字信号</a:t>
              </a:r>
              <a:endParaRPr kumimoji="1" lang="zh-CN" altLang="en-US" sz="2400" dirty="0">
                <a:solidFill>
                  <a:srgbClr val="FF0000"/>
                </a:solidFill>
                <a:latin typeface="楷体_GB2312" pitchFamily="49" charset="-122"/>
                <a:ea typeface="楷体_GB2312" pitchFamily="49" charset="-122"/>
              </a:endParaRPr>
            </a:p>
          </p:txBody>
        </p:sp>
        <p:sp>
          <p:nvSpPr>
            <p:cNvPr id="29714" name="Text Box 2072" descr="点式菱形"/>
            <p:cNvSpPr txBox="1">
              <a:spLocks noChangeArrowheads="1"/>
            </p:cNvSpPr>
            <p:nvPr/>
          </p:nvSpPr>
          <p:spPr bwMode="auto">
            <a:xfrm>
              <a:off x="623" y="1924"/>
              <a:ext cx="763" cy="446"/>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FF0000"/>
                  </a:solidFill>
                  <a:latin typeface="楷体_GB2312" pitchFamily="49" charset="-122"/>
                  <a:ea typeface="楷体_GB2312" pitchFamily="49" charset="-122"/>
                </a:rPr>
                <a:t>曼彻斯特</a:t>
              </a:r>
            </a:p>
            <a:p>
              <a:pPr algn="ctr" eaLnBrk="1" hangingPunct="1">
                <a:spcBef>
                  <a:spcPct val="0"/>
                </a:spcBef>
                <a:buClrTx/>
                <a:buSzTx/>
                <a:buFontTx/>
                <a:buNone/>
              </a:pPr>
              <a:r>
                <a:rPr kumimoji="1" lang="zh-CN" altLang="en-US" sz="2000" dirty="0">
                  <a:solidFill>
                    <a:srgbClr val="FF0000"/>
                  </a:solidFill>
                  <a:latin typeface="楷体_GB2312" pitchFamily="49" charset="-122"/>
                  <a:ea typeface="楷体_GB2312" pitchFamily="49" charset="-122"/>
                </a:rPr>
                <a:t>编码信号</a:t>
              </a:r>
              <a:endParaRPr kumimoji="1" lang="zh-CN" altLang="en-US" sz="2400" dirty="0">
                <a:solidFill>
                  <a:srgbClr val="FF0000"/>
                </a:solidFill>
                <a:latin typeface="楷体_GB2312" pitchFamily="49" charset="-122"/>
                <a:ea typeface="楷体_GB2312" pitchFamily="49" charset="-122"/>
              </a:endParaRPr>
            </a:p>
          </p:txBody>
        </p:sp>
        <p:sp>
          <p:nvSpPr>
            <p:cNvPr id="29715" name="Text Box 2073" descr="点式菱形"/>
            <p:cNvSpPr txBox="1">
              <a:spLocks noChangeArrowheads="1"/>
            </p:cNvSpPr>
            <p:nvPr/>
          </p:nvSpPr>
          <p:spPr bwMode="auto">
            <a:xfrm>
              <a:off x="642" y="2502"/>
              <a:ext cx="760" cy="634"/>
            </a:xfrm>
            <a:prstGeom prst="rect">
              <a:avLst/>
            </a:prstGeom>
            <a:pattFill prst="dotDmnd">
              <a:fgClr>
                <a:schemeClr val="accent1"/>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000" dirty="0">
                  <a:solidFill>
                    <a:srgbClr val="FF0000"/>
                  </a:solidFill>
                  <a:latin typeface="楷体_GB2312" pitchFamily="49" charset="-122"/>
                  <a:ea typeface="楷体_GB2312" pitchFamily="49" charset="-122"/>
                </a:rPr>
                <a:t>差分</a:t>
              </a:r>
            </a:p>
            <a:p>
              <a:pPr algn="ctr" eaLnBrk="1" hangingPunct="1">
                <a:spcBef>
                  <a:spcPct val="0"/>
                </a:spcBef>
                <a:buClrTx/>
                <a:buSzTx/>
                <a:buFontTx/>
                <a:buNone/>
              </a:pPr>
              <a:r>
                <a:rPr kumimoji="1" lang="zh-CN" altLang="en-US" sz="2000" dirty="0">
                  <a:solidFill>
                    <a:srgbClr val="FF0000"/>
                  </a:solidFill>
                  <a:latin typeface="楷体_GB2312" pitchFamily="49" charset="-122"/>
                  <a:ea typeface="楷体_GB2312" pitchFamily="49" charset="-122"/>
                </a:rPr>
                <a:t>曼彻斯特</a:t>
              </a:r>
            </a:p>
            <a:p>
              <a:pPr algn="ctr" eaLnBrk="1" hangingPunct="1">
                <a:spcBef>
                  <a:spcPct val="0"/>
                </a:spcBef>
                <a:buClrTx/>
                <a:buSzTx/>
                <a:buFontTx/>
                <a:buNone/>
              </a:pPr>
              <a:r>
                <a:rPr kumimoji="1" lang="zh-CN" altLang="en-US" sz="2000" dirty="0">
                  <a:solidFill>
                    <a:srgbClr val="FF0000"/>
                  </a:solidFill>
                  <a:latin typeface="楷体_GB2312" pitchFamily="49" charset="-122"/>
                  <a:ea typeface="楷体_GB2312" pitchFamily="49" charset="-122"/>
                </a:rPr>
                <a:t>编码信号</a:t>
              </a:r>
              <a:endParaRPr kumimoji="1" lang="zh-CN" altLang="en-US" sz="2400" dirty="0">
                <a:solidFill>
                  <a:srgbClr val="FF0000"/>
                </a:solidFill>
                <a:latin typeface="楷体_GB2312" pitchFamily="49" charset="-122"/>
                <a:ea typeface="楷体_GB2312" pitchFamily="49" charset="-122"/>
              </a:endParaRPr>
            </a:p>
          </p:txBody>
        </p:sp>
        <p:sp>
          <p:nvSpPr>
            <p:cNvPr id="874532" name="Line 2084" descr="点式菱形"/>
            <p:cNvSpPr>
              <a:spLocks noChangeShapeType="1"/>
            </p:cNvSpPr>
            <p:nvPr/>
          </p:nvSpPr>
          <p:spPr bwMode="auto">
            <a:xfrm flipH="1">
              <a:off x="1344" y="2601"/>
              <a:ext cx="192" cy="0"/>
            </a:xfrm>
            <a:prstGeom prst="line">
              <a:avLst/>
            </a:prstGeom>
            <a:no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pSp>
          <p:nvGrpSpPr>
            <p:cNvPr id="29717" name="Group 2087" descr="点式菱形"/>
            <p:cNvGrpSpPr>
              <a:grpSpLocks/>
            </p:cNvGrpSpPr>
            <p:nvPr/>
          </p:nvGrpSpPr>
          <p:grpSpPr bwMode="auto">
            <a:xfrm>
              <a:off x="1536" y="624"/>
              <a:ext cx="3072" cy="2544"/>
              <a:chOff x="1536" y="624"/>
              <a:chExt cx="3072" cy="2544"/>
            </a:xfrm>
          </p:grpSpPr>
          <p:grpSp>
            <p:nvGrpSpPr>
              <p:cNvPr id="29720" name="Group 2074" descr="点式菱形"/>
              <p:cNvGrpSpPr>
                <a:grpSpLocks/>
              </p:cNvGrpSpPr>
              <p:nvPr/>
            </p:nvGrpSpPr>
            <p:grpSpPr bwMode="auto">
              <a:xfrm>
                <a:off x="1872" y="624"/>
                <a:ext cx="2736" cy="2544"/>
                <a:chOff x="1872" y="1536"/>
                <a:chExt cx="2736" cy="1968"/>
              </a:xfrm>
            </p:grpSpPr>
            <p:sp>
              <p:nvSpPr>
                <p:cNvPr id="874523" name="Line 2075" descr="点式菱形"/>
                <p:cNvSpPr>
                  <a:spLocks noChangeShapeType="1"/>
                </p:cNvSpPr>
                <p:nvPr/>
              </p:nvSpPr>
              <p:spPr bwMode="auto">
                <a:xfrm>
                  <a:off x="1872"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4524" name="Line 2076" descr="点式菱形"/>
                <p:cNvSpPr>
                  <a:spLocks noChangeShapeType="1"/>
                </p:cNvSpPr>
                <p:nvPr/>
              </p:nvSpPr>
              <p:spPr bwMode="auto">
                <a:xfrm>
                  <a:off x="2214"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4525" name="Line 2077" descr="点式菱形"/>
                <p:cNvSpPr>
                  <a:spLocks noChangeShapeType="1"/>
                </p:cNvSpPr>
                <p:nvPr/>
              </p:nvSpPr>
              <p:spPr bwMode="auto">
                <a:xfrm>
                  <a:off x="2556"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4526" name="Line 2078" descr="点式菱形"/>
                <p:cNvSpPr>
                  <a:spLocks noChangeShapeType="1"/>
                </p:cNvSpPr>
                <p:nvPr/>
              </p:nvSpPr>
              <p:spPr bwMode="auto">
                <a:xfrm>
                  <a:off x="2898"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4527" name="Line 2079" descr="点式菱形"/>
                <p:cNvSpPr>
                  <a:spLocks noChangeShapeType="1"/>
                </p:cNvSpPr>
                <p:nvPr/>
              </p:nvSpPr>
              <p:spPr bwMode="auto">
                <a:xfrm>
                  <a:off x="3240"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4528" name="Line 2080" descr="点式菱形"/>
                <p:cNvSpPr>
                  <a:spLocks noChangeShapeType="1"/>
                </p:cNvSpPr>
                <p:nvPr/>
              </p:nvSpPr>
              <p:spPr bwMode="auto">
                <a:xfrm>
                  <a:off x="3582"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4529" name="Line 2081" descr="点式菱形"/>
                <p:cNvSpPr>
                  <a:spLocks noChangeShapeType="1"/>
                </p:cNvSpPr>
                <p:nvPr/>
              </p:nvSpPr>
              <p:spPr bwMode="auto">
                <a:xfrm>
                  <a:off x="3924"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4530" name="Line 2082" descr="点式菱形"/>
                <p:cNvSpPr>
                  <a:spLocks noChangeShapeType="1"/>
                </p:cNvSpPr>
                <p:nvPr/>
              </p:nvSpPr>
              <p:spPr bwMode="auto">
                <a:xfrm>
                  <a:off x="4266"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4531" name="Line 2083" descr="点式菱形"/>
                <p:cNvSpPr>
                  <a:spLocks noChangeShapeType="1"/>
                </p:cNvSpPr>
                <p:nvPr/>
              </p:nvSpPr>
              <p:spPr bwMode="auto">
                <a:xfrm>
                  <a:off x="4608" y="1536"/>
                  <a:ext cx="0" cy="1968"/>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pSp>
          <p:sp>
            <p:nvSpPr>
              <p:cNvPr id="874533" name="Line 2085" descr="点式菱形"/>
              <p:cNvSpPr>
                <a:spLocks noChangeShapeType="1"/>
              </p:cNvSpPr>
              <p:nvPr/>
            </p:nvSpPr>
            <p:spPr bwMode="auto">
              <a:xfrm>
                <a:off x="1536" y="624"/>
                <a:ext cx="0" cy="2544"/>
              </a:xfrm>
              <a:prstGeom prst="line">
                <a:avLst/>
              </a:prstGeom>
              <a:noFill/>
              <a:ln w="9525">
                <a:solidFill>
                  <a:srgbClr val="FF33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dirty="0">
                  <a:effectLst>
                    <a:outerShdw blurRad="38100" dist="38100" dir="2700000" algn="tl">
                      <a:srgbClr val="000000">
                        <a:alpha val="43137"/>
                      </a:srgbClr>
                    </a:outerShdw>
                  </a:effectLst>
                  <a:latin typeface="Arial" charset="0"/>
                </a:endParaRPr>
              </a:p>
            </p:txBody>
          </p:sp>
        </p:grpSp>
        <p:graphicFrame>
          <p:nvGraphicFramePr>
            <p:cNvPr id="29718" name="Object 2090" descr="点式菱形"/>
            <p:cNvGraphicFramePr>
              <a:graphicFrameLocks noChangeAspect="1"/>
            </p:cNvGraphicFramePr>
            <p:nvPr/>
          </p:nvGraphicFramePr>
          <p:xfrm>
            <a:off x="1431" y="672"/>
            <a:ext cx="3312" cy="372"/>
          </p:xfrm>
          <a:graphic>
            <a:graphicData uri="http://schemas.openxmlformats.org/presentationml/2006/ole">
              <mc:AlternateContent xmlns:mc="http://schemas.openxmlformats.org/markup-compatibility/2006">
                <mc:Choice xmlns:v="urn:schemas-microsoft-com:vml" Requires="v">
                  <p:oleObj name="位图图像" r:id="rId9" imgW="4334480" imgH="590476" progId="Paint.Picture">
                    <p:embed/>
                  </p:oleObj>
                </mc:Choice>
                <mc:Fallback>
                  <p:oleObj name="位图图像" r:id="rId9" imgW="4334480" imgH="590476" progId="Paint.Picture">
                    <p:embed/>
                    <p:pic>
                      <p:nvPicPr>
                        <p:cNvPr id="29718" name="Object 2090" descr="点式菱形"/>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1" y="672"/>
                          <a:ext cx="3312" cy="372"/>
                        </a:xfrm>
                        <a:prstGeom prst="rect">
                          <a:avLst/>
                        </a:prstGeom>
                        <a:pattFill prst="dotDmnd">
                          <a:fgClr>
                            <a:schemeClr val="accent1"/>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oleObj>
                </mc:Fallback>
              </mc:AlternateContent>
            </a:graphicData>
          </a:graphic>
        </p:graphicFrame>
        <p:sp>
          <p:nvSpPr>
            <p:cNvPr id="29719" name="Text Box 2092" descr="点式菱形"/>
            <p:cNvSpPr txBox="1">
              <a:spLocks noChangeArrowheads="1"/>
            </p:cNvSpPr>
            <p:nvPr/>
          </p:nvSpPr>
          <p:spPr bwMode="auto">
            <a:xfrm>
              <a:off x="720" y="768"/>
              <a:ext cx="672" cy="192"/>
            </a:xfrm>
            <a:prstGeom prst="rect">
              <a:avLst/>
            </a:prstGeom>
            <a:pattFill prst="dotDmnd">
              <a:fgClr>
                <a:schemeClr val="accent1"/>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000" dirty="0">
                  <a:solidFill>
                    <a:srgbClr val="FF0000"/>
                  </a:solidFill>
                  <a:ea typeface="楷体_GB2312" pitchFamily="49" charset="-122"/>
                </a:rPr>
                <a:t>时钟信号</a:t>
              </a:r>
            </a:p>
          </p:txBody>
        </p:sp>
      </p:grpSp>
      <p:sp>
        <p:nvSpPr>
          <p:cNvPr id="26630" name="Rectangle 2094"/>
          <p:cNvSpPr>
            <a:spLocks noChangeArrowheads="1"/>
          </p:cNvSpPr>
          <p:nvPr/>
        </p:nvSpPr>
        <p:spPr bwMode="auto">
          <a:xfrm>
            <a:off x="2286000" y="762000"/>
            <a:ext cx="64023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eaLnBrk="1" hangingPunct="1">
              <a:spcBef>
                <a:spcPct val="50000"/>
              </a:spcBef>
              <a:defRPr/>
            </a:pPr>
            <a:r>
              <a:rPr lang="en-US" altLang="zh-CN" sz="2400" dirty="0">
                <a:solidFill>
                  <a:srgbClr val="0000FF"/>
                </a:solidFill>
                <a:latin typeface="Verdana" pitchFamily="34" charset="0"/>
              </a:rPr>
              <a:t>3)</a:t>
            </a:r>
            <a:r>
              <a:rPr lang="zh-CN" altLang="en-US" sz="2400" dirty="0">
                <a:solidFill>
                  <a:srgbClr val="0000FF"/>
                </a:solidFill>
                <a:latin typeface="Verdana" pitchFamily="34" charset="0"/>
              </a:rPr>
              <a:t>曼彻斯特编码、差分曼彻斯特编码：</a:t>
            </a:r>
            <a:r>
              <a:rPr lang="zh-CN" altLang="en-US" sz="2400" dirty="0">
                <a:solidFill>
                  <a:srgbClr val="FF0000"/>
                </a:solidFill>
                <a:effectLst>
                  <a:outerShdw blurRad="38100" dist="38100" dir="2700000" algn="tl">
                    <a:srgbClr val="000000">
                      <a:alpha val="43137"/>
                    </a:srgbClr>
                  </a:outerShdw>
                </a:effectLst>
                <a:latin typeface="Verdana" pitchFamily="34" charset="0"/>
              </a:rPr>
              <a:t>例：</a:t>
            </a:r>
          </a:p>
        </p:txBody>
      </p:sp>
      <p:sp>
        <p:nvSpPr>
          <p:cNvPr id="29703" name="Rectangle 2095"/>
          <p:cNvSpPr>
            <a:spLocks noChangeArrowheads="1"/>
          </p:cNvSpPr>
          <p:nvPr/>
        </p:nvSpPr>
        <p:spPr bwMode="auto">
          <a:xfrm>
            <a:off x="2362200" y="5715000"/>
            <a:ext cx="66865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en-US" altLang="zh-CN" sz="2400" dirty="0">
                <a:solidFill>
                  <a:srgbClr val="0000FF"/>
                </a:solidFill>
                <a:latin typeface="Verdana" panose="020B0604030504040204" pitchFamily="34" charset="0"/>
                <a:ea typeface="楷体_GB2312" pitchFamily="49" charset="-122"/>
              </a:rPr>
              <a:t>4)</a:t>
            </a:r>
            <a:r>
              <a:rPr lang="zh-CN" altLang="en-US" sz="2400" dirty="0">
                <a:solidFill>
                  <a:srgbClr val="0000FF"/>
                </a:solidFill>
                <a:latin typeface="Verdana" panose="020B0604030504040204" pitchFamily="34" charset="0"/>
                <a:ea typeface="楷体_GB2312" pitchFamily="49" charset="-122"/>
              </a:rPr>
              <a:t>特点： </a:t>
            </a:r>
            <a:r>
              <a:rPr lang="en-US" altLang="zh-CN" sz="2400" dirty="0">
                <a:latin typeface="Verdana" panose="020B0604030504040204" pitchFamily="34" charset="0"/>
                <a:ea typeface="楷体_GB2312" pitchFamily="49" charset="-122"/>
              </a:rPr>
              <a:t>C=A    B </a:t>
            </a:r>
            <a:r>
              <a:rPr lang="zh-CN" altLang="en-US" sz="2400" dirty="0">
                <a:latin typeface="Verdana" panose="020B0604030504040204" pitchFamily="34" charset="0"/>
                <a:ea typeface="楷体_GB2312" pitchFamily="49" charset="-122"/>
              </a:rPr>
              <a:t>；编码效率为</a:t>
            </a:r>
            <a:r>
              <a:rPr lang="en-US" altLang="zh-CN" sz="2400" dirty="0">
                <a:latin typeface="Verdana" panose="020B0604030504040204" pitchFamily="34" charset="0"/>
                <a:ea typeface="楷体_GB2312" pitchFamily="49" charset="-122"/>
              </a:rPr>
              <a:t>50%</a:t>
            </a:r>
          </a:p>
        </p:txBody>
      </p:sp>
      <p:sp>
        <p:nvSpPr>
          <p:cNvPr id="29704" name="Text Box 2096"/>
          <p:cNvSpPr txBox="1">
            <a:spLocks noChangeArrowheads="1"/>
          </p:cNvSpPr>
          <p:nvPr/>
        </p:nvSpPr>
        <p:spPr bwMode="auto">
          <a:xfrm>
            <a:off x="2133600" y="1600200"/>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sz="2000">
                <a:solidFill>
                  <a:srgbClr val="FF3300"/>
                </a:solidFill>
                <a:ea typeface="楷体_GB2312" pitchFamily="49" charset="-122"/>
              </a:rPr>
              <a:t>A</a:t>
            </a:r>
          </a:p>
        </p:txBody>
      </p:sp>
      <p:sp>
        <p:nvSpPr>
          <p:cNvPr id="29705" name="Text Box 2097"/>
          <p:cNvSpPr txBox="1">
            <a:spLocks noChangeArrowheads="1"/>
          </p:cNvSpPr>
          <p:nvPr/>
        </p:nvSpPr>
        <p:spPr bwMode="auto">
          <a:xfrm>
            <a:off x="2209800" y="28194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sz="2000">
                <a:solidFill>
                  <a:srgbClr val="FF3300"/>
                </a:solidFill>
                <a:ea typeface="楷体_GB2312" pitchFamily="49" charset="-122"/>
              </a:rPr>
              <a:t>B</a:t>
            </a:r>
          </a:p>
        </p:txBody>
      </p:sp>
      <p:sp>
        <p:nvSpPr>
          <p:cNvPr id="29706" name="Text Box 2098"/>
          <p:cNvSpPr txBox="1">
            <a:spLocks noChangeArrowheads="1"/>
          </p:cNvSpPr>
          <p:nvPr/>
        </p:nvSpPr>
        <p:spPr bwMode="auto">
          <a:xfrm>
            <a:off x="2209800" y="36576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sz="2000">
                <a:solidFill>
                  <a:srgbClr val="FF3300"/>
                </a:solidFill>
                <a:ea typeface="楷体_GB2312" pitchFamily="49" charset="-122"/>
              </a:rPr>
              <a:t>C</a:t>
            </a:r>
          </a:p>
        </p:txBody>
      </p:sp>
      <p:graphicFrame>
        <p:nvGraphicFramePr>
          <p:cNvPr id="29707" name="Object 2099"/>
          <p:cNvGraphicFramePr>
            <a:graphicFrameLocks noChangeAspect="1"/>
          </p:cNvGraphicFramePr>
          <p:nvPr/>
        </p:nvGraphicFramePr>
        <p:xfrm>
          <a:off x="4440238" y="5805488"/>
          <a:ext cx="304800" cy="258762"/>
        </p:xfrm>
        <a:graphic>
          <a:graphicData uri="http://schemas.openxmlformats.org/presentationml/2006/ole">
            <mc:AlternateContent xmlns:mc="http://schemas.openxmlformats.org/markup-compatibility/2006">
              <mc:Choice xmlns:v="urn:schemas-microsoft-com:vml" Requires="v">
                <p:oleObj name="位图图像" r:id="rId11" imgW="190426" imgH="161990" progId="Paint.Picture">
                  <p:embed/>
                </p:oleObj>
              </mc:Choice>
              <mc:Fallback>
                <p:oleObj name="位图图像" r:id="rId11" imgW="190426" imgH="161990" progId="Paint.Picture">
                  <p:embed/>
                  <p:pic>
                    <p:nvPicPr>
                      <p:cNvPr id="29707" name="Object 209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40238" y="5805488"/>
                        <a:ext cx="304800"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oleObj>
              </mc:Fallback>
            </mc:AlternateContent>
          </a:graphicData>
        </a:graphic>
      </p:graphicFrame>
      <p:sp>
        <p:nvSpPr>
          <p:cNvPr id="2" name="椭圆 1"/>
          <p:cNvSpPr/>
          <p:nvPr/>
        </p:nvSpPr>
        <p:spPr bwMode="auto">
          <a:xfrm>
            <a:off x="3575720" y="4293096"/>
            <a:ext cx="539080" cy="504056"/>
          </a:xfrm>
          <a:prstGeom prst="ellipse">
            <a:avLst/>
          </a:prstGeom>
          <a:noFill/>
          <a:ln w="9525"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342900" indent="-342900" algn="ctr" fontAlgn="base">
              <a:lnSpc>
                <a:spcPct val="90000"/>
              </a:lnSpc>
              <a:spcBef>
                <a:spcPct val="20000"/>
              </a:spcBef>
              <a:spcAft>
                <a:spcPct val="0"/>
              </a:spcAft>
              <a:buClr>
                <a:schemeClr val="bg2"/>
              </a:buClr>
              <a:buSzPct val="75000"/>
            </a:pPr>
            <a:endParaRPr lang="en-US" sz="5000" b="1">
              <a:solidFill>
                <a:srgbClr val="FF3300"/>
              </a:solidFill>
              <a:effectLst>
                <a:outerShdw blurRad="38100" dist="38100" dir="2700000" algn="tl">
                  <a:srgbClr val="000000">
                    <a:alpha val="43137"/>
                  </a:srgbClr>
                </a:outerShdw>
              </a:effectLst>
              <a:latin typeface="Arial" charset="0"/>
              <a:ea typeface="楷体_GB2312" pitchFamily="49" charset="-122"/>
            </a:endParaRPr>
          </a:p>
        </p:txBody>
      </p:sp>
      <p:sp>
        <p:nvSpPr>
          <p:cNvPr id="4" name="TextBox 3">
            <a:extLst>
              <a:ext uri="{FF2B5EF4-FFF2-40B4-BE49-F238E27FC236}">
                <a16:creationId xmlns:a16="http://schemas.microsoft.com/office/drawing/2014/main" id="{D256A443-38CF-5B1E-4149-8D348C5426DB}"/>
              </a:ext>
            </a:extLst>
          </p:cNvPr>
          <p:cNvSpPr txBox="1"/>
          <p:nvPr/>
        </p:nvSpPr>
        <p:spPr>
          <a:xfrm>
            <a:off x="3628698" y="6198157"/>
            <a:ext cx="6083301" cy="646331"/>
          </a:xfrm>
          <a:prstGeom prst="rect">
            <a:avLst/>
          </a:prstGeom>
          <a:noFill/>
        </p:spPr>
        <p:txBody>
          <a:bodyPr wrap="square">
            <a:spAutoFit/>
          </a:bodyPr>
          <a:lstStyle/>
          <a:p>
            <a:r>
              <a:rPr lang="zh-CN" altLang="en-US" dirty="0">
                <a:highlight>
                  <a:srgbClr val="FFFF00"/>
                </a:highlight>
                <a:latin typeface="Verdana" pitchFamily="34" charset="0"/>
              </a:rPr>
              <a:t>一个周期</a:t>
            </a:r>
            <a:r>
              <a:rPr lang="en-US" altLang="zh-CN" dirty="0">
                <a:highlight>
                  <a:srgbClr val="FFFF00"/>
                </a:highlight>
                <a:latin typeface="Verdana" pitchFamily="34" charset="0"/>
              </a:rPr>
              <a:t>T, </a:t>
            </a:r>
            <a:r>
              <a:rPr lang="zh-CN" altLang="en-US" dirty="0">
                <a:highlight>
                  <a:srgbClr val="FFFF00"/>
                </a:highlight>
                <a:latin typeface="Verdana" pitchFamily="34" charset="0"/>
              </a:rPr>
              <a:t>分前后</a:t>
            </a:r>
            <a:r>
              <a:rPr lang="en-US" altLang="zh-CN" dirty="0">
                <a:highlight>
                  <a:srgbClr val="FFFF00"/>
                </a:highlight>
                <a:latin typeface="Verdana" pitchFamily="34" charset="0"/>
              </a:rPr>
              <a:t>T/2</a:t>
            </a:r>
            <a:r>
              <a:rPr lang="zh-CN" altLang="en-US" dirty="0">
                <a:highlight>
                  <a:srgbClr val="FFFF00"/>
                </a:highlight>
                <a:latin typeface="Verdana" pitchFamily="34" charset="0"/>
              </a:rPr>
              <a:t>。前半个码元的电平与上个码元的后半个码元一样为</a:t>
            </a:r>
            <a:r>
              <a:rPr lang="en-US" altLang="zh-CN" dirty="0">
                <a:highlight>
                  <a:srgbClr val="FFFF00"/>
                </a:highlight>
                <a:latin typeface="Verdana" pitchFamily="34" charset="0"/>
              </a:rPr>
              <a:t>1(</a:t>
            </a:r>
            <a:r>
              <a:rPr lang="zh-CN" altLang="en-US" dirty="0">
                <a:solidFill>
                  <a:srgbClr val="FF0000"/>
                </a:solidFill>
                <a:highlight>
                  <a:srgbClr val="FFFF00"/>
                </a:highlight>
                <a:latin typeface="Verdana" pitchFamily="34" charset="0"/>
              </a:rPr>
              <a:t>无跳变</a:t>
            </a:r>
            <a:r>
              <a:rPr lang="en-US" altLang="zh-CN" dirty="0">
                <a:highlight>
                  <a:srgbClr val="FFFF00"/>
                </a:highlight>
                <a:latin typeface="Verdana" pitchFamily="34" charset="0"/>
              </a:rPr>
              <a:t>)</a:t>
            </a:r>
            <a:r>
              <a:rPr lang="zh-CN" altLang="en-US" dirty="0">
                <a:highlight>
                  <a:srgbClr val="FFFF00"/>
                </a:highlight>
                <a:latin typeface="Verdana" pitchFamily="34" charset="0"/>
              </a:rPr>
              <a:t>，反之为</a:t>
            </a:r>
            <a:r>
              <a:rPr lang="en-US" altLang="zh-CN" dirty="0">
                <a:highlight>
                  <a:srgbClr val="FFFF00"/>
                </a:highlight>
                <a:latin typeface="Verdana" pitchFamily="34" charset="0"/>
              </a:rPr>
              <a:t>0(</a:t>
            </a:r>
            <a:r>
              <a:rPr lang="zh-CN" altLang="en-US" dirty="0">
                <a:solidFill>
                  <a:srgbClr val="FF0000"/>
                </a:solidFill>
                <a:highlight>
                  <a:srgbClr val="FFFF00"/>
                </a:highlight>
                <a:latin typeface="Verdana" pitchFamily="34" charset="0"/>
              </a:rPr>
              <a:t>有跳变</a:t>
            </a:r>
            <a:r>
              <a:rPr lang="en-US" altLang="zh-CN" dirty="0">
                <a:highlight>
                  <a:srgbClr val="FFFF00"/>
                </a:highlight>
                <a:latin typeface="Verdana" pitchFamily="34" charset="0"/>
              </a:rPr>
              <a:t>)</a:t>
            </a:r>
            <a:r>
              <a:rPr lang="zh-CN" altLang="en-US" dirty="0">
                <a:highlight>
                  <a:srgbClr val="FFFF00"/>
                </a:highlight>
                <a:latin typeface="Verdana" pitchFamily="34" charset="0"/>
              </a:rPr>
              <a:t>。</a:t>
            </a:r>
            <a:endParaRPr lang="en-CN" dirty="0">
              <a:highlight>
                <a:srgbClr val="FFFF00"/>
              </a:highlight>
            </a:endParaRPr>
          </a:p>
        </p:txBody>
      </p:sp>
    </p:spTree>
    <p:extLst>
      <p:ext uri="{BB962C8B-B14F-4D97-AF65-F5344CB8AC3E}">
        <p14:creationId xmlns:p14="http://schemas.microsoft.com/office/powerpoint/2010/main" val="3730795487"/>
      </p:ext>
    </p:extLst>
  </p:cSld>
  <p:clrMapOvr>
    <a:masterClrMapping/>
  </p:clrMapOvr>
  <p:transition spd="slow">
    <p:pull dir="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68313D-882F-2842-BDDB-A84A98BEAA87}"/>
              </a:ext>
            </a:extLst>
          </p:cNvPr>
          <p:cNvSpPr>
            <a:spLocks noGrp="1"/>
          </p:cNvSpPr>
          <p:nvPr>
            <p:ph type="title"/>
          </p:nvPr>
        </p:nvSpPr>
        <p:spPr/>
        <p:txBody>
          <a:bodyPr>
            <a:normAutofit/>
          </a:bodyPr>
          <a:lstStyle/>
          <a:p>
            <a:r>
              <a:rPr kumimoji="1" lang="zh-CN" altLang="en-US" dirty="0"/>
              <a:t>数据编码技术</a:t>
            </a:r>
          </a:p>
        </p:txBody>
      </p:sp>
      <p:sp>
        <p:nvSpPr>
          <p:cNvPr id="3" name="内容占位符 2">
            <a:extLst>
              <a:ext uri="{FF2B5EF4-FFF2-40B4-BE49-F238E27FC236}">
                <a16:creationId xmlns:a16="http://schemas.microsoft.com/office/drawing/2014/main" id="{B87DC579-9336-6B4E-9436-FB9AB7CD2822}"/>
              </a:ext>
            </a:extLst>
          </p:cNvPr>
          <p:cNvSpPr>
            <a:spLocks noGrp="1"/>
          </p:cNvSpPr>
          <p:nvPr>
            <p:ph idx="1"/>
          </p:nvPr>
        </p:nvSpPr>
        <p:spPr>
          <a:xfrm>
            <a:off x="838200" y="1510758"/>
            <a:ext cx="10515600" cy="3969291"/>
          </a:xfrm>
        </p:spPr>
        <p:txBody>
          <a:bodyPr>
            <a:normAutofit lnSpcReduction="10000"/>
          </a:bodyPr>
          <a:lstStyle/>
          <a:p>
            <a:pPr>
              <a:lnSpc>
                <a:spcPct val="110000"/>
              </a:lnSpc>
            </a:pPr>
            <a:r>
              <a:rPr lang="zh-CN" altLang="en-US" dirty="0"/>
              <a:t>研究数据在信号传输过程中如何进行编码</a:t>
            </a:r>
            <a:r>
              <a:rPr lang="en-US" altLang="zh-CN" dirty="0"/>
              <a:t>(</a:t>
            </a:r>
            <a:r>
              <a:rPr lang="zh-CN" altLang="en-US" dirty="0"/>
              <a:t>变换</a:t>
            </a:r>
            <a:r>
              <a:rPr lang="en-US" altLang="zh-CN" dirty="0"/>
              <a:t>)</a:t>
            </a:r>
          </a:p>
          <a:p>
            <a:pPr>
              <a:lnSpc>
                <a:spcPct val="110000"/>
              </a:lnSpc>
            </a:pPr>
            <a:r>
              <a:rPr lang="zh-CN" altLang="en-US" dirty="0"/>
              <a:t>常用的几种编码方式</a:t>
            </a:r>
          </a:p>
          <a:p>
            <a:pPr lvl="1">
              <a:lnSpc>
                <a:spcPct val="110000"/>
              </a:lnSpc>
            </a:pPr>
            <a:r>
              <a:rPr lang="zh-CN" altLang="en-US" dirty="0"/>
              <a:t>不归零制码（</a:t>
            </a:r>
            <a:r>
              <a:rPr lang="en-US" altLang="zh-CN" dirty="0"/>
              <a:t>NRZ</a:t>
            </a:r>
            <a:r>
              <a:rPr lang="zh-CN" altLang="en-US" dirty="0"/>
              <a:t>：</a:t>
            </a:r>
            <a:r>
              <a:rPr lang="en-US" altLang="zh-CN" dirty="0"/>
              <a:t>Non-Return to Zero</a:t>
            </a:r>
            <a:r>
              <a:rPr lang="zh-CN" altLang="en-US" dirty="0"/>
              <a:t>）</a:t>
            </a:r>
          </a:p>
          <a:p>
            <a:pPr lvl="2">
              <a:lnSpc>
                <a:spcPct val="110000"/>
              </a:lnSpc>
            </a:pPr>
            <a:r>
              <a:rPr lang="zh-CN" altLang="en-US" dirty="0">
                <a:solidFill>
                  <a:srgbClr val="C00000"/>
                </a:solidFill>
                <a:latin typeface="Arial" panose="020B0604020202020204" pitchFamily="34" charset="0"/>
              </a:rPr>
              <a:t>原理：用两种不同的电平分别表示二进制信息“</a:t>
            </a:r>
            <a:r>
              <a:rPr lang="en-US" altLang="zh-CN" dirty="0">
                <a:solidFill>
                  <a:srgbClr val="C00000"/>
                </a:solidFill>
                <a:latin typeface="Arial" panose="020B0604020202020204" pitchFamily="34" charset="0"/>
              </a:rPr>
              <a:t>0”</a:t>
            </a:r>
            <a:r>
              <a:rPr lang="zh-CN" altLang="en-US" dirty="0">
                <a:solidFill>
                  <a:srgbClr val="C00000"/>
                </a:solidFill>
                <a:latin typeface="Arial" panose="020B0604020202020204" pitchFamily="34" charset="0"/>
              </a:rPr>
              <a:t>和“</a:t>
            </a:r>
            <a:r>
              <a:rPr lang="en-US" altLang="zh-CN" dirty="0">
                <a:solidFill>
                  <a:srgbClr val="C00000"/>
                </a:solidFill>
                <a:latin typeface="Arial" panose="020B0604020202020204" pitchFamily="34" charset="0"/>
              </a:rPr>
              <a:t>1”</a:t>
            </a:r>
            <a:r>
              <a:rPr lang="zh-CN" altLang="en-US" dirty="0">
                <a:solidFill>
                  <a:srgbClr val="C00000"/>
                </a:solidFill>
                <a:latin typeface="Arial" panose="020B0604020202020204" pitchFamily="34" charset="0"/>
              </a:rPr>
              <a:t>，低电平表示“</a:t>
            </a:r>
            <a:r>
              <a:rPr lang="en-US" altLang="zh-CN" dirty="0">
                <a:solidFill>
                  <a:srgbClr val="C00000"/>
                </a:solidFill>
                <a:latin typeface="Arial" panose="020B0604020202020204" pitchFamily="34" charset="0"/>
              </a:rPr>
              <a:t>0”</a:t>
            </a:r>
            <a:r>
              <a:rPr lang="zh-CN" altLang="en-US" dirty="0">
                <a:solidFill>
                  <a:srgbClr val="C00000"/>
                </a:solidFill>
                <a:latin typeface="Arial" panose="020B0604020202020204" pitchFamily="34" charset="0"/>
              </a:rPr>
              <a:t>，高电平表示“</a:t>
            </a:r>
            <a:r>
              <a:rPr lang="en-US" altLang="zh-CN" dirty="0">
                <a:solidFill>
                  <a:srgbClr val="C00000"/>
                </a:solidFill>
                <a:latin typeface="Arial" panose="020B0604020202020204" pitchFamily="34" charset="0"/>
              </a:rPr>
              <a:t>1”</a:t>
            </a:r>
            <a:endParaRPr lang="zh-CN" altLang="en-US" dirty="0">
              <a:solidFill>
                <a:srgbClr val="C00000"/>
              </a:solidFill>
              <a:latin typeface="Arial" panose="020B0604020202020204" pitchFamily="34" charset="0"/>
            </a:endParaRPr>
          </a:p>
          <a:p>
            <a:pPr lvl="2">
              <a:lnSpc>
                <a:spcPct val="110000"/>
              </a:lnSpc>
            </a:pPr>
            <a:r>
              <a:rPr lang="zh-CN" altLang="en-US" dirty="0">
                <a:solidFill>
                  <a:srgbClr val="C00000"/>
                </a:solidFill>
                <a:latin typeface="Arial" panose="020B0604020202020204" pitchFamily="34" charset="0"/>
              </a:rPr>
              <a:t>缺点：</a:t>
            </a:r>
          </a:p>
          <a:p>
            <a:pPr marL="1728788" lvl="3" indent="-282575">
              <a:lnSpc>
                <a:spcPct val="110000"/>
              </a:lnSpc>
            </a:pPr>
            <a:r>
              <a:rPr lang="zh-CN" altLang="en-US" dirty="0">
                <a:latin typeface="Arial" panose="020B0604020202020204" pitchFamily="34" charset="0"/>
              </a:rPr>
              <a:t>难以分辨一位的结束和另一位的开始</a:t>
            </a:r>
          </a:p>
          <a:p>
            <a:pPr marL="1728788" lvl="3" indent="-282575">
              <a:lnSpc>
                <a:spcPct val="110000"/>
              </a:lnSpc>
            </a:pPr>
            <a:r>
              <a:rPr lang="zh-CN" altLang="en-US" dirty="0">
                <a:latin typeface="Arial" panose="020B0604020202020204" pitchFamily="34" charset="0"/>
              </a:rPr>
              <a:t>发送方和接收方必须有时钟同步</a:t>
            </a:r>
          </a:p>
          <a:p>
            <a:pPr marL="1728788" lvl="3" indent="-282575">
              <a:lnSpc>
                <a:spcPct val="110000"/>
              </a:lnSpc>
            </a:pPr>
            <a:r>
              <a:rPr lang="zh-CN" altLang="en-US" dirty="0">
                <a:latin typeface="Arial" panose="020B0604020202020204" pitchFamily="34" charset="0"/>
              </a:rPr>
              <a:t>若信号中“</a:t>
            </a:r>
            <a:r>
              <a:rPr lang="en-US" altLang="zh-CN" dirty="0">
                <a:latin typeface="Arial" panose="020B0604020202020204" pitchFamily="34" charset="0"/>
              </a:rPr>
              <a:t>0”</a:t>
            </a:r>
            <a:r>
              <a:rPr lang="zh-CN" altLang="en-US" dirty="0">
                <a:latin typeface="Arial" panose="020B0604020202020204" pitchFamily="34" charset="0"/>
              </a:rPr>
              <a:t>或“</a:t>
            </a:r>
            <a:r>
              <a:rPr lang="en-US" altLang="zh-CN" dirty="0">
                <a:latin typeface="Arial" panose="020B0604020202020204" pitchFamily="34" charset="0"/>
              </a:rPr>
              <a:t>1”</a:t>
            </a:r>
            <a:r>
              <a:rPr lang="zh-CN" altLang="en-US" dirty="0">
                <a:latin typeface="Arial" panose="020B0604020202020204" pitchFamily="34" charset="0"/>
              </a:rPr>
              <a:t>连续出现，信号直流分量将累加</a:t>
            </a:r>
          </a:p>
          <a:p>
            <a:pPr lvl="2">
              <a:lnSpc>
                <a:spcPct val="110000"/>
              </a:lnSpc>
            </a:pPr>
            <a:r>
              <a:rPr lang="zh-CN" altLang="en-US" dirty="0">
                <a:solidFill>
                  <a:srgbClr val="C00000"/>
                </a:solidFill>
                <a:latin typeface="Arial" panose="020B0604020202020204" pitchFamily="34" charset="0"/>
              </a:rPr>
              <a:t>结论：容易产生传播错误</a:t>
            </a:r>
          </a:p>
          <a:p>
            <a:endParaRPr kumimoji="1" lang="zh-CN" altLang="en-US" dirty="0"/>
          </a:p>
        </p:txBody>
      </p:sp>
      <p:sp>
        <p:nvSpPr>
          <p:cNvPr id="4" name="灯片编号占位符 3">
            <a:extLst>
              <a:ext uri="{FF2B5EF4-FFF2-40B4-BE49-F238E27FC236}">
                <a16:creationId xmlns:a16="http://schemas.microsoft.com/office/drawing/2014/main" id="{59B5D582-DC75-B442-A3B2-A7B20A293CB2}"/>
              </a:ext>
            </a:extLst>
          </p:cNvPr>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graphicFrame>
        <p:nvGraphicFramePr>
          <p:cNvPr id="5" name="Object 142">
            <a:extLst>
              <a:ext uri="{FF2B5EF4-FFF2-40B4-BE49-F238E27FC236}">
                <a16:creationId xmlns:a16="http://schemas.microsoft.com/office/drawing/2014/main" id="{2B42CA34-40B6-8E4A-BF3D-1B63AFE97E2E}"/>
              </a:ext>
            </a:extLst>
          </p:cNvPr>
          <p:cNvGraphicFramePr>
            <a:graphicFrameLocks noChangeAspect="1"/>
          </p:cNvGraphicFramePr>
          <p:nvPr>
            <p:extLst>
              <p:ext uri="{D42A27DB-BD31-4B8C-83A1-F6EECF244321}">
                <p14:modId xmlns:p14="http://schemas.microsoft.com/office/powerpoint/2010/main" val="4254271453"/>
              </p:ext>
            </p:extLst>
          </p:nvPr>
        </p:nvGraphicFramePr>
        <p:xfrm>
          <a:off x="1787235" y="5662612"/>
          <a:ext cx="6303817" cy="1058863"/>
        </p:xfrm>
        <a:graphic>
          <a:graphicData uri="http://schemas.openxmlformats.org/presentationml/2006/ole">
            <mc:AlternateContent xmlns:mc="http://schemas.openxmlformats.org/markup-compatibility/2006">
              <mc:Choice xmlns:v="urn:schemas-microsoft-com:vml" Requires="v">
                <p:oleObj name="图片" r:id="rId2" imgW="28155900" imgH="7975600" progId="Word.Picture.8">
                  <p:embed/>
                </p:oleObj>
              </mc:Choice>
              <mc:Fallback>
                <p:oleObj name="图片" r:id="rId2" imgW="28155900" imgH="7975600" progId="Word.Picture.8">
                  <p:embed/>
                  <p:pic>
                    <p:nvPicPr>
                      <p:cNvPr id="37893" name="Object 142">
                        <a:extLst>
                          <a:ext uri="{FF2B5EF4-FFF2-40B4-BE49-F238E27FC236}">
                            <a16:creationId xmlns:a16="http://schemas.microsoft.com/office/drawing/2014/main" id="{E420728C-E63C-4A4D-877F-CCCDFCC37F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235" y="5662612"/>
                        <a:ext cx="6303817" cy="105886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469717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43F0A2-124C-0145-93F2-1DCF7A338553}"/>
              </a:ext>
            </a:extLst>
          </p:cNvPr>
          <p:cNvSpPr>
            <a:spLocks noGrp="1"/>
          </p:cNvSpPr>
          <p:nvPr>
            <p:ph type="title"/>
          </p:nvPr>
        </p:nvSpPr>
        <p:spPr/>
        <p:txBody>
          <a:bodyPr/>
          <a:lstStyle/>
          <a:p>
            <a:r>
              <a:rPr kumimoji="1" lang="zh-CN" altLang="en-US" dirty="0"/>
              <a:t>数据编码技术</a:t>
            </a:r>
          </a:p>
        </p:txBody>
      </p:sp>
      <p:sp>
        <p:nvSpPr>
          <p:cNvPr id="3" name="内容占位符 2">
            <a:extLst>
              <a:ext uri="{FF2B5EF4-FFF2-40B4-BE49-F238E27FC236}">
                <a16:creationId xmlns:a16="http://schemas.microsoft.com/office/drawing/2014/main" id="{C8FC6372-3B68-3744-AB8D-E35505AA790F}"/>
              </a:ext>
            </a:extLst>
          </p:cNvPr>
          <p:cNvSpPr>
            <a:spLocks noGrp="1"/>
          </p:cNvSpPr>
          <p:nvPr>
            <p:ph idx="1"/>
          </p:nvPr>
        </p:nvSpPr>
        <p:spPr>
          <a:xfrm>
            <a:off x="838200" y="1510758"/>
            <a:ext cx="10515600" cy="4586694"/>
          </a:xfrm>
        </p:spPr>
        <p:txBody>
          <a:bodyPr/>
          <a:lstStyle/>
          <a:p>
            <a:pPr>
              <a:lnSpc>
                <a:spcPct val="110000"/>
              </a:lnSpc>
            </a:pPr>
            <a:r>
              <a:rPr lang="zh-CN" altLang="en-US" sz="2400" dirty="0"/>
              <a:t>曼彻斯特码（</a:t>
            </a:r>
            <a:r>
              <a:rPr lang="en-US" altLang="zh-CN" sz="2400" dirty="0"/>
              <a:t>Manchester</a:t>
            </a:r>
            <a:r>
              <a:rPr lang="zh-CN" altLang="en-US" sz="2400" dirty="0"/>
              <a:t>），也称相位编码</a:t>
            </a:r>
          </a:p>
          <a:p>
            <a:pPr lvl="1">
              <a:lnSpc>
                <a:spcPct val="110000"/>
              </a:lnSpc>
            </a:pPr>
            <a:r>
              <a:rPr lang="zh-CN" altLang="en-US" sz="2000" dirty="0">
                <a:solidFill>
                  <a:srgbClr val="C00000"/>
                </a:solidFill>
                <a:latin typeface="Arial" panose="020B0604020202020204" pitchFamily="34" charset="0"/>
              </a:rPr>
              <a:t>原理：每一位中间都有一个跳变，从低跳到高表示“</a:t>
            </a:r>
            <a:r>
              <a:rPr lang="en-US" altLang="zh-CN" sz="2000" dirty="0">
                <a:solidFill>
                  <a:srgbClr val="C00000"/>
                </a:solidFill>
                <a:latin typeface="Arial" panose="020B0604020202020204" pitchFamily="34" charset="0"/>
              </a:rPr>
              <a:t>0”</a:t>
            </a:r>
            <a:r>
              <a:rPr lang="zh-CN" altLang="en-US" sz="2000" dirty="0">
                <a:solidFill>
                  <a:srgbClr val="C00000"/>
                </a:solidFill>
                <a:latin typeface="Arial" panose="020B0604020202020204" pitchFamily="34" charset="0"/>
              </a:rPr>
              <a:t>，从高跳到低表示“</a:t>
            </a:r>
            <a:r>
              <a:rPr lang="en-US" altLang="zh-CN" sz="2000" dirty="0">
                <a:solidFill>
                  <a:srgbClr val="C00000"/>
                </a:solidFill>
                <a:latin typeface="Arial" panose="020B0604020202020204" pitchFamily="34" charset="0"/>
              </a:rPr>
              <a:t>1”</a:t>
            </a:r>
            <a:endParaRPr lang="zh-CN" altLang="en-US" sz="2000" dirty="0">
              <a:solidFill>
                <a:srgbClr val="C00000"/>
              </a:solidFill>
              <a:latin typeface="Arial" panose="020B0604020202020204" pitchFamily="34" charset="0"/>
            </a:endParaRPr>
          </a:p>
          <a:p>
            <a:pPr lvl="1">
              <a:lnSpc>
                <a:spcPct val="110000"/>
              </a:lnSpc>
            </a:pPr>
            <a:r>
              <a:rPr lang="zh-CN" altLang="en-US" sz="2000" dirty="0">
                <a:solidFill>
                  <a:srgbClr val="C00000"/>
                </a:solidFill>
                <a:latin typeface="Arial" panose="020B0604020202020204" pitchFamily="34" charset="0"/>
              </a:rPr>
              <a:t>优点：克服了</a:t>
            </a:r>
            <a:r>
              <a:rPr lang="en-US" altLang="zh-CN" sz="2000" dirty="0">
                <a:solidFill>
                  <a:srgbClr val="C00000"/>
                </a:solidFill>
                <a:latin typeface="Arial" panose="020B0604020202020204" pitchFamily="34" charset="0"/>
              </a:rPr>
              <a:t>NRZ</a:t>
            </a:r>
            <a:r>
              <a:rPr lang="zh-CN" altLang="en-US" sz="2000" dirty="0">
                <a:solidFill>
                  <a:srgbClr val="C00000"/>
                </a:solidFill>
                <a:latin typeface="Arial" panose="020B0604020202020204" pitchFamily="34" charset="0"/>
              </a:rPr>
              <a:t>码的不足。每位中间的跳变即可作为数据，又可作为时钟，能够自同步</a:t>
            </a:r>
            <a:endParaRPr lang="zh-CN" altLang="en-US" sz="2000" dirty="0">
              <a:solidFill>
                <a:srgbClr val="C00000"/>
              </a:solidFill>
            </a:endParaRPr>
          </a:p>
          <a:p>
            <a:pPr>
              <a:lnSpc>
                <a:spcPct val="110000"/>
              </a:lnSpc>
            </a:pPr>
            <a:r>
              <a:rPr lang="zh-CN" altLang="en-US" sz="2400" dirty="0"/>
              <a:t>差分曼彻斯特码（</a:t>
            </a:r>
            <a:r>
              <a:rPr lang="en-US" altLang="zh-CN" sz="2400" dirty="0"/>
              <a:t>Differential Manchester</a:t>
            </a:r>
            <a:r>
              <a:rPr lang="zh-CN" altLang="en-US" sz="2400" dirty="0"/>
              <a:t>）</a:t>
            </a:r>
          </a:p>
          <a:p>
            <a:pPr lvl="1">
              <a:lnSpc>
                <a:spcPct val="110000"/>
              </a:lnSpc>
            </a:pPr>
            <a:r>
              <a:rPr lang="zh-CN" altLang="en-US" sz="2000" dirty="0">
                <a:solidFill>
                  <a:srgbClr val="C00000"/>
                </a:solidFill>
                <a:latin typeface="Arial" panose="020B0604020202020204" pitchFamily="34" charset="0"/>
              </a:rPr>
              <a:t>原理：每一位中间都有一个跳变，每位开始时有跳变表示“</a:t>
            </a:r>
            <a:r>
              <a:rPr lang="en-US" altLang="zh-CN" sz="2000" dirty="0">
                <a:solidFill>
                  <a:srgbClr val="C00000"/>
                </a:solidFill>
                <a:latin typeface="Arial" panose="020B0604020202020204" pitchFamily="34" charset="0"/>
              </a:rPr>
              <a:t>0”</a:t>
            </a:r>
            <a:r>
              <a:rPr lang="zh-CN" altLang="en-US" sz="2000" dirty="0">
                <a:solidFill>
                  <a:srgbClr val="C00000"/>
                </a:solidFill>
                <a:latin typeface="Arial" panose="020B0604020202020204" pitchFamily="34" charset="0"/>
              </a:rPr>
              <a:t>，无跳变表示“</a:t>
            </a:r>
            <a:r>
              <a:rPr lang="en-US" altLang="zh-CN" sz="2000" dirty="0">
                <a:solidFill>
                  <a:srgbClr val="C00000"/>
                </a:solidFill>
                <a:latin typeface="Arial" panose="020B0604020202020204" pitchFamily="34" charset="0"/>
              </a:rPr>
              <a:t>1”</a:t>
            </a:r>
            <a:r>
              <a:rPr lang="zh-CN" altLang="en-US" sz="2000" dirty="0">
                <a:solidFill>
                  <a:srgbClr val="C00000"/>
                </a:solidFill>
                <a:latin typeface="Arial" panose="020B0604020202020204" pitchFamily="34" charset="0"/>
              </a:rPr>
              <a:t>。位中间跳变表示时钟，位前跳变表示数据</a:t>
            </a:r>
          </a:p>
          <a:p>
            <a:pPr lvl="1">
              <a:lnSpc>
                <a:spcPct val="110000"/>
              </a:lnSpc>
            </a:pPr>
            <a:r>
              <a:rPr lang="zh-CN" altLang="en-US" sz="2000" dirty="0">
                <a:solidFill>
                  <a:srgbClr val="C00000"/>
                </a:solidFill>
                <a:latin typeface="Arial" panose="020B0604020202020204" pitchFamily="34" charset="0"/>
              </a:rPr>
              <a:t>优点：时钟、数据分离，便于提取</a:t>
            </a:r>
          </a:p>
          <a:p>
            <a:endParaRPr kumimoji="1" lang="zh-CN" altLang="en-US" dirty="0"/>
          </a:p>
        </p:txBody>
      </p:sp>
      <p:sp>
        <p:nvSpPr>
          <p:cNvPr id="4" name="灯片编号占位符 3">
            <a:extLst>
              <a:ext uri="{FF2B5EF4-FFF2-40B4-BE49-F238E27FC236}">
                <a16:creationId xmlns:a16="http://schemas.microsoft.com/office/drawing/2014/main" id="{B50E178B-4E5D-454D-8C7C-B10E43734DD1}"/>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graphicFrame>
        <p:nvGraphicFramePr>
          <p:cNvPr id="5" name="Object 142">
            <a:extLst>
              <a:ext uri="{FF2B5EF4-FFF2-40B4-BE49-F238E27FC236}">
                <a16:creationId xmlns:a16="http://schemas.microsoft.com/office/drawing/2014/main" id="{714DFAEE-FAA8-B841-8101-72E42596F597}"/>
              </a:ext>
            </a:extLst>
          </p:cNvPr>
          <p:cNvGraphicFramePr>
            <a:graphicFrameLocks noChangeAspect="1"/>
          </p:cNvGraphicFramePr>
          <p:nvPr>
            <p:extLst>
              <p:ext uri="{D42A27DB-BD31-4B8C-83A1-F6EECF244321}">
                <p14:modId xmlns:p14="http://schemas.microsoft.com/office/powerpoint/2010/main" val="1045080253"/>
              </p:ext>
            </p:extLst>
          </p:nvPr>
        </p:nvGraphicFramePr>
        <p:xfrm>
          <a:off x="2061730" y="4934240"/>
          <a:ext cx="6978361" cy="1787235"/>
        </p:xfrm>
        <a:graphic>
          <a:graphicData uri="http://schemas.openxmlformats.org/presentationml/2006/ole">
            <mc:AlternateContent xmlns:mc="http://schemas.openxmlformats.org/markup-compatibility/2006">
              <mc:Choice xmlns:v="urn:schemas-microsoft-com:vml" Requires="v">
                <p:oleObj name="图片" r:id="rId2" imgW="28155900" imgH="23990300" progId="Word.Picture.8">
                  <p:embed/>
                </p:oleObj>
              </mc:Choice>
              <mc:Fallback>
                <p:oleObj name="图片" r:id="rId2" imgW="28155900" imgH="23990300" progId="Word.Picture.8">
                  <p:embed/>
                  <p:pic>
                    <p:nvPicPr>
                      <p:cNvPr id="38917" name="Object 142">
                        <a:extLst>
                          <a:ext uri="{FF2B5EF4-FFF2-40B4-BE49-F238E27FC236}">
                            <a16:creationId xmlns:a16="http://schemas.microsoft.com/office/drawing/2014/main" id="{4B9C0DFF-9CBD-4443-9D8F-33ED1FE83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1730" y="4934240"/>
                        <a:ext cx="6978361" cy="178723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231954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DDFF61-59F5-9F49-BFD2-ED0687F5F243}"/>
              </a:ext>
            </a:extLst>
          </p:cNvPr>
          <p:cNvSpPr>
            <a:spLocks noGrp="1"/>
          </p:cNvSpPr>
          <p:nvPr>
            <p:ph type="title"/>
          </p:nvPr>
        </p:nvSpPr>
        <p:spPr/>
        <p:txBody>
          <a:bodyPr/>
          <a:lstStyle/>
          <a:p>
            <a:r>
              <a:rPr kumimoji="1" lang="zh-CN" altLang="en-US" dirty="0"/>
              <a:t>数据编码技术</a:t>
            </a:r>
          </a:p>
        </p:txBody>
      </p:sp>
      <p:sp>
        <p:nvSpPr>
          <p:cNvPr id="3" name="内容占位符 2">
            <a:extLst>
              <a:ext uri="{FF2B5EF4-FFF2-40B4-BE49-F238E27FC236}">
                <a16:creationId xmlns:a16="http://schemas.microsoft.com/office/drawing/2014/main" id="{60754099-EC74-3748-A18C-7394E915D49A}"/>
              </a:ext>
            </a:extLst>
          </p:cNvPr>
          <p:cNvSpPr>
            <a:spLocks noGrp="1"/>
          </p:cNvSpPr>
          <p:nvPr>
            <p:ph idx="1"/>
          </p:nvPr>
        </p:nvSpPr>
        <p:spPr>
          <a:xfrm>
            <a:off x="824345" y="1745673"/>
            <a:ext cx="3484418" cy="4586694"/>
          </a:xfrm>
        </p:spPr>
        <p:txBody>
          <a:bodyPr>
            <a:normAutofit/>
          </a:bodyPr>
          <a:lstStyle/>
          <a:p>
            <a:r>
              <a:rPr lang="zh-CN" altLang="en-US" sz="2400" dirty="0"/>
              <a:t>逢“</a:t>
            </a:r>
            <a:r>
              <a:rPr lang="en-US" altLang="zh-CN" sz="2400" dirty="0"/>
              <a:t>1”</a:t>
            </a:r>
            <a:r>
              <a:rPr lang="zh-CN" altLang="en-US" sz="2400" dirty="0"/>
              <a:t>变化的</a:t>
            </a:r>
            <a:r>
              <a:rPr lang="en-US" altLang="zh-CN" sz="2400" dirty="0"/>
              <a:t>NRZ</a:t>
            </a:r>
            <a:r>
              <a:rPr lang="zh-CN" altLang="en-US" sz="2400" dirty="0"/>
              <a:t>码</a:t>
            </a:r>
          </a:p>
          <a:p>
            <a:pPr lvl="1"/>
            <a:r>
              <a:rPr lang="zh-CN" altLang="en-US" dirty="0"/>
              <a:t>原理：在每位开始时，逢“</a:t>
            </a:r>
            <a:r>
              <a:rPr lang="en-US" altLang="zh-CN" dirty="0"/>
              <a:t>1”</a:t>
            </a:r>
            <a:r>
              <a:rPr lang="zh-CN" altLang="en-US" dirty="0"/>
              <a:t>电平跳变，逢“</a:t>
            </a:r>
            <a:r>
              <a:rPr lang="en-US" altLang="zh-CN" dirty="0"/>
              <a:t>0”</a:t>
            </a:r>
            <a:r>
              <a:rPr lang="zh-CN" altLang="en-US" dirty="0"/>
              <a:t>电平不跳变</a:t>
            </a:r>
          </a:p>
          <a:p>
            <a:r>
              <a:rPr lang="zh-CN" altLang="en-US" sz="2400" dirty="0"/>
              <a:t>逢“</a:t>
            </a:r>
            <a:r>
              <a:rPr lang="en-US" altLang="zh-CN" sz="2400" dirty="0"/>
              <a:t>0”</a:t>
            </a:r>
            <a:r>
              <a:rPr lang="zh-CN" altLang="en-US" sz="2400" dirty="0"/>
              <a:t>变化的</a:t>
            </a:r>
            <a:r>
              <a:rPr lang="en-US" altLang="zh-CN" sz="2400" dirty="0"/>
              <a:t>NRZ</a:t>
            </a:r>
            <a:r>
              <a:rPr lang="zh-CN" altLang="en-US" sz="2400" dirty="0"/>
              <a:t>码</a:t>
            </a:r>
          </a:p>
          <a:p>
            <a:pPr lvl="1">
              <a:buSzPct val="75000"/>
            </a:pPr>
            <a:r>
              <a:rPr lang="zh-CN" altLang="en-US" dirty="0"/>
              <a:t>原理：在每位开始时，逢“</a:t>
            </a:r>
            <a:r>
              <a:rPr lang="en-US" altLang="zh-CN" dirty="0"/>
              <a:t>0”</a:t>
            </a:r>
            <a:r>
              <a:rPr lang="zh-CN" altLang="en-US" dirty="0"/>
              <a:t>电平跳变，逢“</a:t>
            </a:r>
            <a:r>
              <a:rPr lang="en-US" altLang="zh-CN" dirty="0"/>
              <a:t>1”</a:t>
            </a:r>
            <a:r>
              <a:rPr lang="zh-CN" altLang="en-US" dirty="0"/>
              <a:t>电平不跳变</a:t>
            </a:r>
          </a:p>
          <a:p>
            <a:endParaRPr kumimoji="1" lang="zh-CN" altLang="en-US" dirty="0"/>
          </a:p>
        </p:txBody>
      </p:sp>
      <p:sp>
        <p:nvSpPr>
          <p:cNvPr id="4" name="灯片编号占位符 3">
            <a:extLst>
              <a:ext uri="{FF2B5EF4-FFF2-40B4-BE49-F238E27FC236}">
                <a16:creationId xmlns:a16="http://schemas.microsoft.com/office/drawing/2014/main" id="{D409DB9A-4230-B443-903B-E892B81818B3}"/>
              </a:ext>
            </a:extLst>
          </p:cNvPr>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grpSp>
        <p:nvGrpSpPr>
          <p:cNvPr id="5" name="组合 4">
            <a:extLst>
              <a:ext uri="{FF2B5EF4-FFF2-40B4-BE49-F238E27FC236}">
                <a16:creationId xmlns:a16="http://schemas.microsoft.com/office/drawing/2014/main" id="{1DAFBB3E-5C7B-784D-9B43-B14BC25E9B76}"/>
              </a:ext>
            </a:extLst>
          </p:cNvPr>
          <p:cNvGrpSpPr/>
          <p:nvPr/>
        </p:nvGrpSpPr>
        <p:grpSpPr>
          <a:xfrm>
            <a:off x="4308763" y="1713922"/>
            <a:ext cx="7731122" cy="4824990"/>
            <a:chOff x="1260475" y="549275"/>
            <a:chExt cx="7777163" cy="6021388"/>
          </a:xfrm>
        </p:grpSpPr>
        <p:graphicFrame>
          <p:nvGraphicFramePr>
            <p:cNvPr id="6" name="Object 142">
              <a:extLst>
                <a:ext uri="{FF2B5EF4-FFF2-40B4-BE49-F238E27FC236}">
                  <a16:creationId xmlns:a16="http://schemas.microsoft.com/office/drawing/2014/main" id="{4D4CC646-0A20-DA49-9E26-8606A2EFA2ED}"/>
                </a:ext>
              </a:extLst>
            </p:cNvPr>
            <p:cNvGraphicFramePr>
              <a:graphicFrameLocks noChangeAspect="1"/>
            </p:cNvGraphicFramePr>
            <p:nvPr>
              <p:extLst>
                <p:ext uri="{D42A27DB-BD31-4B8C-83A1-F6EECF244321}">
                  <p14:modId xmlns:p14="http://schemas.microsoft.com/office/powerpoint/2010/main" val="604206380"/>
                </p:ext>
              </p:extLst>
            </p:nvPr>
          </p:nvGraphicFramePr>
          <p:xfrm>
            <a:off x="1260475" y="549275"/>
            <a:ext cx="4800600" cy="6021388"/>
          </p:xfrm>
          <a:graphic>
            <a:graphicData uri="http://schemas.openxmlformats.org/presentationml/2006/ole">
              <mc:AlternateContent xmlns:mc="http://schemas.openxmlformats.org/markup-compatibility/2006">
                <mc:Choice xmlns:v="urn:schemas-microsoft-com:vml" Requires="v">
                  <p:oleObj name="Picture" r:id="rId2" imgW="28155900" imgH="45339000" progId="Word.Picture.8">
                    <p:embed/>
                  </p:oleObj>
                </mc:Choice>
                <mc:Fallback>
                  <p:oleObj name="Picture" r:id="rId2" imgW="28155900" imgH="45339000" progId="Word.Picture.8">
                    <p:embed/>
                    <p:pic>
                      <p:nvPicPr>
                        <p:cNvPr id="6" name="Object 142">
                          <a:extLst>
                            <a:ext uri="{FF2B5EF4-FFF2-40B4-BE49-F238E27FC236}">
                              <a16:creationId xmlns:a16="http://schemas.microsoft.com/office/drawing/2014/main" id="{B4E6428D-4A12-2743-8F05-81D6774899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0475" y="549275"/>
                          <a:ext cx="4800600" cy="6021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 name="Text Box 143">
              <a:extLst>
                <a:ext uri="{FF2B5EF4-FFF2-40B4-BE49-F238E27FC236}">
                  <a16:creationId xmlns:a16="http://schemas.microsoft.com/office/drawing/2014/main" id="{7E7BE820-DF9E-B649-AFB7-B0102F2F2E56}"/>
                </a:ext>
              </a:extLst>
            </p:cNvPr>
            <p:cNvSpPr txBox="1">
              <a:spLocks noChangeArrowheads="1"/>
            </p:cNvSpPr>
            <p:nvPr/>
          </p:nvSpPr>
          <p:spPr bwMode="auto">
            <a:xfrm>
              <a:off x="6597650" y="915988"/>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0">
                  <a:latin typeface="Arial" panose="020B0604020202020204" pitchFamily="34" charset="0"/>
                </a:rPr>
                <a:t>NRZ</a:t>
              </a:r>
            </a:p>
          </p:txBody>
        </p:sp>
        <p:sp>
          <p:nvSpPr>
            <p:cNvPr id="8" name="Text Box 144">
              <a:extLst>
                <a:ext uri="{FF2B5EF4-FFF2-40B4-BE49-F238E27FC236}">
                  <a16:creationId xmlns:a16="http://schemas.microsoft.com/office/drawing/2014/main" id="{4D7AEC62-5EFC-A64A-AF31-FDEB5B8B424E}"/>
                </a:ext>
              </a:extLst>
            </p:cNvPr>
            <p:cNvSpPr txBox="1">
              <a:spLocks noChangeArrowheads="1"/>
            </p:cNvSpPr>
            <p:nvPr/>
          </p:nvSpPr>
          <p:spPr bwMode="auto">
            <a:xfrm>
              <a:off x="6597650" y="1677988"/>
              <a:ext cx="160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b="0">
                  <a:latin typeface="Arial" panose="020B0604020202020204" pitchFamily="34" charset="0"/>
                </a:rPr>
                <a:t>曼彻斯特</a:t>
              </a:r>
            </a:p>
          </p:txBody>
        </p:sp>
        <p:sp>
          <p:nvSpPr>
            <p:cNvPr id="9" name="Text Box 145">
              <a:extLst>
                <a:ext uri="{FF2B5EF4-FFF2-40B4-BE49-F238E27FC236}">
                  <a16:creationId xmlns:a16="http://schemas.microsoft.com/office/drawing/2014/main" id="{D9B5DE3F-F418-8246-BBBB-32C9055430ED}"/>
                </a:ext>
              </a:extLst>
            </p:cNvPr>
            <p:cNvSpPr txBox="1">
              <a:spLocks noChangeArrowheads="1"/>
            </p:cNvSpPr>
            <p:nvPr/>
          </p:nvSpPr>
          <p:spPr bwMode="auto">
            <a:xfrm>
              <a:off x="6597650" y="2744788"/>
              <a:ext cx="213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b="0">
                  <a:latin typeface="Arial" panose="020B0604020202020204" pitchFamily="34" charset="0"/>
                </a:rPr>
                <a:t>差分曼彻斯特</a:t>
              </a:r>
            </a:p>
          </p:txBody>
        </p:sp>
        <p:sp>
          <p:nvSpPr>
            <p:cNvPr id="10" name="Text Box 146">
              <a:extLst>
                <a:ext uri="{FF2B5EF4-FFF2-40B4-BE49-F238E27FC236}">
                  <a16:creationId xmlns:a16="http://schemas.microsoft.com/office/drawing/2014/main" id="{AABAAFD4-A00F-674A-B868-B8E27CF3C13D}"/>
                </a:ext>
              </a:extLst>
            </p:cNvPr>
            <p:cNvSpPr txBox="1">
              <a:spLocks noChangeArrowheads="1"/>
            </p:cNvSpPr>
            <p:nvPr/>
          </p:nvSpPr>
          <p:spPr bwMode="auto">
            <a:xfrm>
              <a:off x="6597650" y="4114800"/>
              <a:ext cx="2439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b="0">
                  <a:latin typeface="Arial" panose="020B0604020202020204" pitchFamily="34" charset="0"/>
                </a:rPr>
                <a:t>逢“</a:t>
              </a:r>
              <a:r>
                <a:rPr lang="en-US" altLang="zh-CN" sz="2400" b="0">
                  <a:latin typeface="Arial" panose="020B0604020202020204" pitchFamily="34" charset="0"/>
                </a:rPr>
                <a:t>1”</a:t>
              </a:r>
              <a:r>
                <a:rPr lang="zh-CN" altLang="en-US" sz="2400" b="0">
                  <a:latin typeface="Arial" panose="020B0604020202020204" pitchFamily="34" charset="0"/>
                </a:rPr>
                <a:t>变化</a:t>
              </a:r>
              <a:r>
                <a:rPr lang="en-US" altLang="zh-CN" sz="2400" b="0">
                  <a:latin typeface="Arial" panose="020B0604020202020204" pitchFamily="34" charset="0"/>
                </a:rPr>
                <a:t>NRZ</a:t>
              </a:r>
            </a:p>
          </p:txBody>
        </p:sp>
        <p:sp>
          <p:nvSpPr>
            <p:cNvPr id="11" name="Text Box 147">
              <a:extLst>
                <a:ext uri="{FF2B5EF4-FFF2-40B4-BE49-F238E27FC236}">
                  <a16:creationId xmlns:a16="http://schemas.microsoft.com/office/drawing/2014/main" id="{6601E9B0-8852-EF4C-817F-95C52D1ECF65}"/>
                </a:ext>
              </a:extLst>
            </p:cNvPr>
            <p:cNvSpPr txBox="1">
              <a:spLocks noChangeArrowheads="1"/>
            </p:cNvSpPr>
            <p:nvPr/>
          </p:nvSpPr>
          <p:spPr bwMode="auto">
            <a:xfrm>
              <a:off x="6597650" y="5562600"/>
              <a:ext cx="2439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b="0">
                  <a:latin typeface="Arial" panose="020B0604020202020204" pitchFamily="34" charset="0"/>
                </a:rPr>
                <a:t>逢“</a:t>
              </a:r>
              <a:r>
                <a:rPr lang="en-US" altLang="zh-CN" sz="2400" b="0">
                  <a:latin typeface="Arial" panose="020B0604020202020204" pitchFamily="34" charset="0"/>
                </a:rPr>
                <a:t>0”</a:t>
              </a:r>
              <a:r>
                <a:rPr lang="zh-CN" altLang="en-US" sz="2400" b="0">
                  <a:latin typeface="Arial" panose="020B0604020202020204" pitchFamily="34" charset="0"/>
                </a:rPr>
                <a:t>变化</a:t>
              </a:r>
              <a:r>
                <a:rPr lang="en-US" altLang="zh-CN" sz="2400" b="0">
                  <a:latin typeface="Arial" panose="020B0604020202020204" pitchFamily="34" charset="0"/>
                </a:rPr>
                <a:t>NRZ</a:t>
              </a:r>
            </a:p>
          </p:txBody>
        </p:sp>
        <p:graphicFrame>
          <p:nvGraphicFramePr>
            <p:cNvPr id="12" name="Object 148">
              <a:extLst>
                <a:ext uri="{FF2B5EF4-FFF2-40B4-BE49-F238E27FC236}">
                  <a16:creationId xmlns:a16="http://schemas.microsoft.com/office/drawing/2014/main" id="{27D53027-64C4-D842-9FE5-4183D37D3304}"/>
                </a:ext>
              </a:extLst>
            </p:cNvPr>
            <p:cNvGraphicFramePr>
              <a:graphicFrameLocks noChangeAspect="1"/>
            </p:cNvGraphicFramePr>
            <p:nvPr>
              <p:extLst>
                <p:ext uri="{D42A27DB-BD31-4B8C-83A1-F6EECF244321}">
                  <p14:modId xmlns:p14="http://schemas.microsoft.com/office/powerpoint/2010/main" val="2361450267"/>
                </p:ext>
              </p:extLst>
            </p:nvPr>
          </p:nvGraphicFramePr>
          <p:xfrm>
            <a:off x="6062663" y="2514600"/>
            <a:ext cx="292100" cy="966788"/>
          </p:xfrm>
          <a:graphic>
            <a:graphicData uri="http://schemas.openxmlformats.org/presentationml/2006/ole">
              <mc:AlternateContent xmlns:mc="http://schemas.openxmlformats.org/markup-compatibility/2006">
                <mc:Choice xmlns:v="urn:schemas-microsoft-com:vml" Requires="v">
                  <p:oleObj name="公式" r:id="rId4" imgW="6731000" imgH="22237700" progId="Equation.3">
                    <p:embed/>
                  </p:oleObj>
                </mc:Choice>
                <mc:Fallback>
                  <p:oleObj name="公式" r:id="rId4" imgW="6731000" imgH="22237700" progId="Equation.3">
                    <p:embed/>
                    <p:pic>
                      <p:nvPicPr>
                        <p:cNvPr id="12" name="Object 148">
                          <a:extLst>
                            <a:ext uri="{FF2B5EF4-FFF2-40B4-BE49-F238E27FC236}">
                              <a16:creationId xmlns:a16="http://schemas.microsoft.com/office/drawing/2014/main" id="{F537B742-0D27-8F4D-9695-2A6596B07F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2663" y="2514600"/>
                          <a:ext cx="292100"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49">
              <a:extLst>
                <a:ext uri="{FF2B5EF4-FFF2-40B4-BE49-F238E27FC236}">
                  <a16:creationId xmlns:a16="http://schemas.microsoft.com/office/drawing/2014/main" id="{F5C27D7E-F416-0646-8B64-7D07230C0E99}"/>
                </a:ext>
              </a:extLst>
            </p:cNvPr>
            <p:cNvGraphicFramePr>
              <a:graphicFrameLocks noChangeAspect="1"/>
            </p:cNvGraphicFramePr>
            <p:nvPr>
              <p:extLst>
                <p:ext uri="{D42A27DB-BD31-4B8C-83A1-F6EECF244321}">
                  <p14:modId xmlns:p14="http://schemas.microsoft.com/office/powerpoint/2010/main" val="652397720"/>
                </p:ext>
              </p:extLst>
            </p:nvPr>
          </p:nvGraphicFramePr>
          <p:xfrm>
            <a:off x="6062663" y="5335588"/>
            <a:ext cx="292100" cy="963612"/>
          </p:xfrm>
          <a:graphic>
            <a:graphicData uri="http://schemas.openxmlformats.org/presentationml/2006/ole">
              <mc:AlternateContent xmlns:mc="http://schemas.openxmlformats.org/markup-compatibility/2006">
                <mc:Choice xmlns:v="urn:schemas-microsoft-com:vml" Requires="v">
                  <p:oleObj name="公式" r:id="rId6" imgW="6731000" imgH="22237700" progId="Equation.3">
                    <p:embed/>
                  </p:oleObj>
                </mc:Choice>
                <mc:Fallback>
                  <p:oleObj name="公式" r:id="rId6" imgW="6731000" imgH="22237700" progId="Equation.3">
                    <p:embed/>
                    <p:pic>
                      <p:nvPicPr>
                        <p:cNvPr id="13" name="Object 149">
                          <a:extLst>
                            <a:ext uri="{FF2B5EF4-FFF2-40B4-BE49-F238E27FC236}">
                              <a16:creationId xmlns:a16="http://schemas.microsoft.com/office/drawing/2014/main" id="{FDF7E94D-FA95-FE4A-9DFB-7EA437E04F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2663" y="5335588"/>
                          <a:ext cx="292100"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50">
              <a:extLst>
                <a:ext uri="{FF2B5EF4-FFF2-40B4-BE49-F238E27FC236}">
                  <a16:creationId xmlns:a16="http://schemas.microsoft.com/office/drawing/2014/main" id="{5183B3B3-9113-E14F-871E-42B57E377883}"/>
                </a:ext>
              </a:extLst>
            </p:cNvPr>
            <p:cNvGraphicFramePr>
              <a:graphicFrameLocks noChangeAspect="1"/>
            </p:cNvGraphicFramePr>
            <p:nvPr>
              <p:extLst>
                <p:ext uri="{D42A27DB-BD31-4B8C-83A1-F6EECF244321}">
                  <p14:modId xmlns:p14="http://schemas.microsoft.com/office/powerpoint/2010/main" val="4096616307"/>
                </p:ext>
              </p:extLst>
            </p:nvPr>
          </p:nvGraphicFramePr>
          <p:xfrm>
            <a:off x="6062663" y="3887788"/>
            <a:ext cx="292100" cy="963612"/>
          </p:xfrm>
          <a:graphic>
            <a:graphicData uri="http://schemas.openxmlformats.org/presentationml/2006/ole">
              <mc:AlternateContent xmlns:mc="http://schemas.openxmlformats.org/markup-compatibility/2006">
                <mc:Choice xmlns:v="urn:schemas-microsoft-com:vml" Requires="v">
                  <p:oleObj name="公式" r:id="rId7" imgW="6731000" imgH="22237700" progId="Equation.3">
                    <p:embed/>
                  </p:oleObj>
                </mc:Choice>
                <mc:Fallback>
                  <p:oleObj name="公式" r:id="rId7" imgW="6731000" imgH="22237700" progId="Equation.3">
                    <p:embed/>
                    <p:pic>
                      <p:nvPicPr>
                        <p:cNvPr id="14" name="Object 150">
                          <a:extLst>
                            <a:ext uri="{FF2B5EF4-FFF2-40B4-BE49-F238E27FC236}">
                              <a16:creationId xmlns:a16="http://schemas.microsoft.com/office/drawing/2014/main" id="{0DE07410-FFD9-3D44-8AAF-862296A3B4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2663" y="3887788"/>
                          <a:ext cx="292100"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698744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442086-65EE-284A-ACBE-C3765C279676}"/>
              </a:ext>
            </a:extLst>
          </p:cNvPr>
          <p:cNvSpPr>
            <a:spLocks noGrp="1"/>
          </p:cNvSpPr>
          <p:nvPr>
            <p:ph type="title"/>
          </p:nvPr>
        </p:nvSpPr>
        <p:spPr/>
        <p:txBody>
          <a:bodyPr/>
          <a:lstStyle/>
          <a:p>
            <a:r>
              <a:rPr kumimoji="1" lang="zh-CN" altLang="en-US" dirty="0"/>
              <a:t>频带传输</a:t>
            </a:r>
          </a:p>
        </p:txBody>
      </p:sp>
      <p:sp>
        <p:nvSpPr>
          <p:cNvPr id="3" name="内容占位符 2">
            <a:extLst>
              <a:ext uri="{FF2B5EF4-FFF2-40B4-BE49-F238E27FC236}">
                <a16:creationId xmlns:a16="http://schemas.microsoft.com/office/drawing/2014/main" id="{D6234387-2F82-BC40-AB98-3E19836E1139}"/>
              </a:ext>
            </a:extLst>
          </p:cNvPr>
          <p:cNvSpPr>
            <a:spLocks noGrp="1"/>
          </p:cNvSpPr>
          <p:nvPr>
            <p:ph idx="1"/>
          </p:nvPr>
        </p:nvSpPr>
        <p:spPr/>
        <p:txBody>
          <a:bodyPr/>
          <a:lstStyle/>
          <a:p>
            <a:pPr>
              <a:lnSpc>
                <a:spcPct val="120000"/>
              </a:lnSpc>
            </a:pPr>
            <a:r>
              <a:rPr lang="zh-CN" altLang="en-US" dirty="0"/>
              <a:t>数字数据的模拟传输，也称频带传输</a:t>
            </a:r>
          </a:p>
          <a:p>
            <a:pPr lvl="1">
              <a:lnSpc>
                <a:spcPct val="120000"/>
              </a:lnSpc>
            </a:pPr>
            <a:r>
              <a:rPr lang="zh-CN" altLang="en-US" dirty="0"/>
              <a:t>指在一定频率范围内的线路上，进行载波传输。用基带信号对载波进行调制，使其变为适合于线路传送的信号</a:t>
            </a:r>
          </a:p>
          <a:p>
            <a:pPr lvl="1">
              <a:lnSpc>
                <a:spcPct val="120000"/>
              </a:lnSpc>
            </a:pPr>
            <a:r>
              <a:rPr lang="zh-CN" altLang="en-US" dirty="0"/>
              <a:t>调制（</a:t>
            </a:r>
            <a:r>
              <a:rPr lang="en-US" altLang="zh-CN" dirty="0"/>
              <a:t>Modulation</a:t>
            </a:r>
            <a:r>
              <a:rPr lang="zh-CN" altLang="en-US" dirty="0"/>
              <a:t>）：用基带脉冲对载波信号的某些参量进行控制，使这些参量随基带脉冲变化</a:t>
            </a:r>
          </a:p>
          <a:p>
            <a:pPr lvl="1">
              <a:lnSpc>
                <a:spcPct val="120000"/>
              </a:lnSpc>
            </a:pPr>
            <a:r>
              <a:rPr lang="zh-CN" altLang="en-US" dirty="0"/>
              <a:t>解调（</a:t>
            </a:r>
            <a:r>
              <a:rPr lang="en-US" altLang="zh-CN" dirty="0"/>
              <a:t>Demodulation</a:t>
            </a:r>
            <a:r>
              <a:rPr lang="zh-CN" altLang="en-US" dirty="0"/>
              <a:t>）：调制的反变换</a:t>
            </a:r>
          </a:p>
          <a:p>
            <a:pPr lvl="1">
              <a:lnSpc>
                <a:spcPct val="120000"/>
              </a:lnSpc>
            </a:pPr>
            <a:r>
              <a:rPr lang="zh-CN" altLang="en-US" dirty="0"/>
              <a:t>调制解调器</a:t>
            </a:r>
            <a:r>
              <a:rPr lang="en-US" altLang="zh-CN" dirty="0"/>
              <a:t>MODEM</a:t>
            </a:r>
            <a:r>
              <a:rPr lang="zh-CN" altLang="en-US" dirty="0"/>
              <a:t>（</a:t>
            </a:r>
            <a:r>
              <a:rPr lang="en-US" altLang="zh-CN" dirty="0"/>
              <a:t>modulation-demodulation)	</a:t>
            </a:r>
          </a:p>
          <a:p>
            <a:endParaRPr kumimoji="1" lang="zh-CN" altLang="en-US" dirty="0"/>
          </a:p>
        </p:txBody>
      </p:sp>
      <p:sp>
        <p:nvSpPr>
          <p:cNvPr id="4" name="灯片编号占位符 3">
            <a:extLst>
              <a:ext uri="{FF2B5EF4-FFF2-40B4-BE49-F238E27FC236}">
                <a16:creationId xmlns:a16="http://schemas.microsoft.com/office/drawing/2014/main" id="{5628CFD5-CC44-C74C-A972-E437C81358B0}"/>
              </a:ext>
            </a:extLst>
          </p:cNvPr>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Tree>
    <p:extLst>
      <p:ext uri="{BB962C8B-B14F-4D97-AF65-F5344CB8AC3E}">
        <p14:creationId xmlns:p14="http://schemas.microsoft.com/office/powerpoint/2010/main" val="1084298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A645B3-E96D-B542-B23B-EAA7BAF7FEAC}"/>
              </a:ext>
            </a:extLst>
          </p:cNvPr>
          <p:cNvSpPr>
            <a:spLocks noGrp="1"/>
          </p:cNvSpPr>
          <p:nvPr>
            <p:ph type="title"/>
          </p:nvPr>
        </p:nvSpPr>
        <p:spPr/>
        <p:txBody>
          <a:bodyPr/>
          <a:lstStyle/>
          <a:p>
            <a:r>
              <a:rPr kumimoji="1" lang="zh-CN" altLang="en-US" dirty="0"/>
              <a:t>频带传输</a:t>
            </a:r>
          </a:p>
        </p:txBody>
      </p:sp>
      <p:sp>
        <p:nvSpPr>
          <p:cNvPr id="3" name="内容占位符 2">
            <a:extLst>
              <a:ext uri="{FF2B5EF4-FFF2-40B4-BE49-F238E27FC236}">
                <a16:creationId xmlns:a16="http://schemas.microsoft.com/office/drawing/2014/main" id="{B837B97E-8539-D848-8A55-9139580A5552}"/>
              </a:ext>
            </a:extLst>
          </p:cNvPr>
          <p:cNvSpPr>
            <a:spLocks noGrp="1"/>
          </p:cNvSpPr>
          <p:nvPr>
            <p:ph idx="1"/>
          </p:nvPr>
        </p:nvSpPr>
        <p:spPr>
          <a:xfrm>
            <a:off x="838200" y="1256193"/>
            <a:ext cx="10515600" cy="4845592"/>
          </a:xfrm>
        </p:spPr>
        <p:txBody>
          <a:bodyPr/>
          <a:lstStyle/>
          <a:p>
            <a:pPr>
              <a:spcBef>
                <a:spcPts val="0"/>
              </a:spcBef>
            </a:pPr>
            <a:r>
              <a:rPr lang="zh-CN" altLang="zh-CN" dirty="0">
                <a:sym typeface="Symbol" pitchFamily="2" charset="2"/>
              </a:rPr>
              <a:t>三种调制技术</a:t>
            </a:r>
            <a:r>
              <a:rPr lang="zh-CN" altLang="en-US" dirty="0">
                <a:sym typeface="Symbol" pitchFamily="2" charset="2"/>
              </a:rPr>
              <a:t>：</a:t>
            </a:r>
            <a:r>
              <a:rPr lang="zh-CN" altLang="en-US" dirty="0"/>
              <a:t>载波 </a:t>
            </a:r>
            <a:r>
              <a:rPr lang="en-US" altLang="zh-CN" dirty="0" err="1"/>
              <a:t>Asin</a:t>
            </a:r>
            <a:r>
              <a:rPr lang="en-US" altLang="zh-CN" dirty="0"/>
              <a:t>(</a:t>
            </a:r>
            <a:r>
              <a:rPr lang="en-US" altLang="zh-CN" dirty="0">
                <a:sym typeface="Symbol" pitchFamily="2" charset="2"/>
              </a:rPr>
              <a:t>t + )</a:t>
            </a:r>
            <a:r>
              <a:rPr lang="zh-CN" altLang="zh-CN" dirty="0">
                <a:sym typeface="Symbol" pitchFamily="2" charset="2"/>
              </a:rPr>
              <a:t>的三个特性幅度、频率、相位</a:t>
            </a:r>
          </a:p>
          <a:p>
            <a:pPr lvl="1">
              <a:spcBef>
                <a:spcPts val="0"/>
              </a:spcBef>
            </a:pPr>
            <a:r>
              <a:rPr lang="zh-CN" altLang="en-US" dirty="0"/>
              <a:t>幅移键控法（调幅） </a:t>
            </a:r>
            <a:r>
              <a:rPr lang="en-US" altLang="zh-CN" dirty="0"/>
              <a:t>Amplitude-shift keying (ASK)</a:t>
            </a:r>
          </a:p>
          <a:p>
            <a:pPr lvl="2">
              <a:spcBef>
                <a:spcPts val="0"/>
              </a:spcBef>
            </a:pPr>
            <a:r>
              <a:rPr lang="zh-CN" altLang="en-US" dirty="0">
                <a:solidFill>
                  <a:srgbClr val="C00000"/>
                </a:solidFill>
                <a:latin typeface="Arial" panose="020B0604020202020204" pitchFamily="34" charset="0"/>
              </a:rPr>
              <a:t>幅移就是把频率、相位作为常量，而把振幅作为变量</a:t>
            </a:r>
            <a:endParaRPr lang="zh-CN" altLang="en-US" dirty="0">
              <a:latin typeface="Arial" panose="020B0604020202020204" pitchFamily="34" charset="0"/>
            </a:endParaRPr>
          </a:p>
          <a:p>
            <a:pPr lvl="1">
              <a:spcBef>
                <a:spcPts val="0"/>
              </a:spcBef>
            </a:pPr>
            <a:r>
              <a:rPr lang="zh-CN" altLang="en-US" dirty="0"/>
              <a:t>频移键控法 （调频）</a:t>
            </a:r>
            <a:r>
              <a:rPr lang="en-US" altLang="zh-CN" dirty="0"/>
              <a:t>Frequency-shift keying (FSK)</a:t>
            </a:r>
          </a:p>
          <a:p>
            <a:pPr lvl="2">
              <a:spcBef>
                <a:spcPts val="0"/>
              </a:spcBef>
            </a:pPr>
            <a:r>
              <a:rPr lang="zh-CN" altLang="en-US" dirty="0">
                <a:solidFill>
                  <a:srgbClr val="C00000"/>
                </a:solidFill>
                <a:latin typeface="Arial" panose="020B0604020202020204" pitchFamily="34" charset="0"/>
              </a:rPr>
              <a:t>频移就是把振幅、相位作为常量，而把频率作为变量</a:t>
            </a:r>
            <a:endParaRPr lang="zh-CN" altLang="en-US" sz="2800" dirty="0">
              <a:solidFill>
                <a:srgbClr val="C00000"/>
              </a:solidFill>
            </a:endParaRPr>
          </a:p>
          <a:p>
            <a:pPr lvl="1">
              <a:spcBef>
                <a:spcPts val="0"/>
              </a:spcBef>
            </a:pPr>
            <a:r>
              <a:rPr lang="zh-CN" altLang="en-US" dirty="0"/>
              <a:t>相移键控法（调相） </a:t>
            </a:r>
            <a:r>
              <a:rPr lang="en-US" altLang="zh-CN" dirty="0"/>
              <a:t>Phase-shift keying (PSK) </a:t>
            </a:r>
          </a:p>
          <a:p>
            <a:pPr lvl="2">
              <a:spcBef>
                <a:spcPts val="0"/>
              </a:spcBef>
            </a:pPr>
            <a:r>
              <a:rPr lang="zh-CN" altLang="en-US" dirty="0">
                <a:solidFill>
                  <a:srgbClr val="C00000"/>
                </a:solidFill>
                <a:latin typeface="Arial" panose="020B0604020202020204" pitchFamily="34" charset="0"/>
              </a:rPr>
              <a:t>相移就是把振幅、频率作为常量，而把相位作为变量</a:t>
            </a:r>
            <a:endParaRPr lang="zh-CN" altLang="en-US" sz="2800" dirty="0">
              <a:solidFill>
                <a:srgbClr val="C00000"/>
              </a:solidFill>
            </a:endParaRPr>
          </a:p>
          <a:p>
            <a:pPr>
              <a:spcBef>
                <a:spcPts val="0"/>
              </a:spcBef>
            </a:pPr>
            <a:endParaRPr kumimoji="1" lang="zh-CN" altLang="en-US" dirty="0"/>
          </a:p>
        </p:txBody>
      </p:sp>
      <p:sp>
        <p:nvSpPr>
          <p:cNvPr id="4" name="灯片编号占位符 3">
            <a:extLst>
              <a:ext uri="{FF2B5EF4-FFF2-40B4-BE49-F238E27FC236}">
                <a16:creationId xmlns:a16="http://schemas.microsoft.com/office/drawing/2014/main" id="{96C2CFF9-0FC3-8342-AAB7-6C7335C28289}"/>
              </a:ext>
            </a:extLst>
          </p:cNvPr>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pic>
        <p:nvPicPr>
          <p:cNvPr id="5" name="图片 4">
            <a:extLst>
              <a:ext uri="{FF2B5EF4-FFF2-40B4-BE49-F238E27FC236}">
                <a16:creationId xmlns:a16="http://schemas.microsoft.com/office/drawing/2014/main" id="{3F9B995B-8336-B744-A746-C90DE45C9552}"/>
              </a:ext>
            </a:extLst>
          </p:cNvPr>
          <p:cNvPicPr>
            <a:picLocks noChangeAspect="1"/>
          </p:cNvPicPr>
          <p:nvPr/>
        </p:nvPicPr>
        <p:blipFill>
          <a:blip r:embed="rId2">
            <a:duotone>
              <a:prstClr val="black"/>
              <a:schemeClr val="accent4">
                <a:tint val="45000"/>
                <a:satMod val="400000"/>
              </a:scheme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519292" y="3850425"/>
            <a:ext cx="7797243" cy="2868802"/>
          </a:xfrm>
          <a:prstGeom prst="rect">
            <a:avLst/>
          </a:prstGeom>
        </p:spPr>
      </p:pic>
      <p:sp>
        <p:nvSpPr>
          <p:cNvPr id="6" name="矩形 5">
            <a:extLst>
              <a:ext uri="{FF2B5EF4-FFF2-40B4-BE49-F238E27FC236}">
                <a16:creationId xmlns:a16="http://schemas.microsoft.com/office/drawing/2014/main" id="{E2DE6E31-D71F-0C43-B1D9-9529A017B63F}"/>
              </a:ext>
            </a:extLst>
          </p:cNvPr>
          <p:cNvSpPr/>
          <p:nvPr/>
        </p:nvSpPr>
        <p:spPr>
          <a:xfrm>
            <a:off x="9753600" y="4825409"/>
            <a:ext cx="2112924" cy="707886"/>
          </a:xfrm>
          <a:prstGeom prst="rect">
            <a:avLst/>
          </a:prstGeom>
        </p:spPr>
        <p:txBody>
          <a:bodyPr wrap="square">
            <a:spAutoFit/>
          </a:bodyPr>
          <a:lstStyle/>
          <a:p>
            <a:r>
              <a:rPr lang="zh-CN" altLang="en-US" sz="2000" dirty="0">
                <a:solidFill>
                  <a:srgbClr val="C00000"/>
                </a:solidFill>
                <a:latin typeface="Microsoft YaHei" panose="020B0503020204020204" pitchFamily="34" charset="-122"/>
                <a:ea typeface="Microsoft YaHei" panose="020B0503020204020204" pitchFamily="34" charset="-122"/>
              </a:rPr>
              <a:t>不仅仅是</a:t>
            </a:r>
            <a:r>
              <a:rPr lang="en-US" altLang="zh-CN" sz="2000" dirty="0">
                <a:solidFill>
                  <a:srgbClr val="C00000"/>
                </a:solidFill>
                <a:latin typeface="Microsoft YaHei" panose="020B0503020204020204" pitchFamily="34" charset="-122"/>
                <a:ea typeface="Microsoft YaHei" panose="020B0503020204020204" pitchFamily="34" charset="-122"/>
              </a:rPr>
              <a:t>180</a:t>
            </a:r>
            <a:r>
              <a:rPr lang="zh-CN" altLang="en-US" sz="2000" dirty="0">
                <a:solidFill>
                  <a:srgbClr val="C00000"/>
                </a:solidFill>
                <a:latin typeface="Microsoft YaHei" panose="020B0503020204020204" pitchFamily="34" charset="-122"/>
                <a:ea typeface="Microsoft YaHei" panose="020B0503020204020204" pitchFamily="34" charset="-122"/>
              </a:rPr>
              <a:t>度，更多的相位变化</a:t>
            </a:r>
            <a:endParaRPr lang="zh-CN" altLang="en-US"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4879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559C8CF-066C-4900-A6BC-7BED4BB39803}"/>
              </a:ext>
            </a:extLst>
          </p:cNvPr>
          <p:cNvSpPr>
            <a:spLocks noGrp="1"/>
          </p:cNvSpPr>
          <p:nvPr>
            <p:ph type="sldNum" sz="quarter" idx="12"/>
          </p:nvPr>
        </p:nvSpPr>
        <p:spPr>
          <a:xfrm>
            <a:off x="8915400" y="6356350"/>
            <a:ext cx="2743200" cy="365125"/>
          </a:xfrm>
        </p:spPr>
        <p:txBody>
          <a:bodyPr/>
          <a:lstStyle/>
          <a:p>
            <a:fld id="{8D4D1E41-7A09-AB4A-A4E1-09765ADA2698}" type="slidenum">
              <a:rPr kumimoji="1" lang="zh-CN" altLang="en-US" smtClean="0"/>
              <a:t>45</a:t>
            </a:fld>
            <a:endParaRPr kumimoji="1" lang="zh-CN" altLang="en-US" dirty="0"/>
          </a:p>
        </p:txBody>
      </p:sp>
      <p:sp>
        <p:nvSpPr>
          <p:cNvPr id="7" name="内容占位符 2">
            <a:extLst>
              <a:ext uri="{FF2B5EF4-FFF2-40B4-BE49-F238E27FC236}">
                <a16:creationId xmlns:a16="http://schemas.microsoft.com/office/drawing/2014/main" id="{46C6774F-6B00-482C-B401-3120B80CA764}"/>
              </a:ext>
            </a:extLst>
          </p:cNvPr>
          <p:cNvSpPr>
            <a:spLocks noGrp="1"/>
          </p:cNvSpPr>
          <p:nvPr>
            <p:ph idx="1"/>
          </p:nvPr>
        </p:nvSpPr>
        <p:spPr>
          <a:xfrm>
            <a:off x="789008" y="1241945"/>
            <a:ext cx="10406851" cy="879086"/>
          </a:xfrm>
        </p:spPr>
        <p:txBody>
          <a:bodyPr vert="horz" lIns="91440" tIns="45720" rIns="91440" bIns="45720" rtlCol="0">
            <a:normAutofit/>
          </a:bodyPr>
          <a:lstStyle/>
          <a:p>
            <a:pPr marL="0" indent="0">
              <a:lnSpc>
                <a:spcPct val="130000"/>
              </a:lnSpc>
              <a:buNone/>
            </a:pPr>
            <a:r>
              <a:rPr lang="zh-CN" altLang="en-US" dirty="0">
                <a:latin typeface="微软雅黑" panose="020B0503020204020204" pitchFamily="34" charset="-122"/>
                <a:ea typeface="微软雅黑" panose="020B0503020204020204" pitchFamily="34" charset="-122"/>
              </a:rPr>
              <a:t>常见不同进制调制方式举例</a:t>
            </a:r>
          </a:p>
        </p:txBody>
      </p:sp>
      <p:grpSp>
        <p:nvGrpSpPr>
          <p:cNvPr id="11" name="组合 10">
            <a:extLst>
              <a:ext uri="{FF2B5EF4-FFF2-40B4-BE49-F238E27FC236}">
                <a16:creationId xmlns:a16="http://schemas.microsoft.com/office/drawing/2014/main" id="{90A03B3A-C53E-441E-9E47-0B1B87346E04}"/>
              </a:ext>
            </a:extLst>
          </p:cNvPr>
          <p:cNvGrpSpPr/>
          <p:nvPr/>
        </p:nvGrpSpPr>
        <p:grpSpPr>
          <a:xfrm>
            <a:off x="814087" y="1862270"/>
            <a:ext cx="10653561" cy="3418298"/>
            <a:chOff x="725318" y="2384385"/>
            <a:chExt cx="10653561" cy="3418298"/>
          </a:xfrm>
        </p:grpSpPr>
        <p:pic>
          <p:nvPicPr>
            <p:cNvPr id="12290" name="Picture 2" descr="See the source image">
              <a:extLst>
                <a:ext uri="{FF2B5EF4-FFF2-40B4-BE49-F238E27FC236}">
                  <a16:creationId xmlns:a16="http://schemas.microsoft.com/office/drawing/2014/main" id="{9056D16A-5E88-44F4-B07F-D7AC0864A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318" y="2384385"/>
              <a:ext cx="10628482" cy="3374543"/>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圆角 4">
              <a:extLst>
                <a:ext uri="{FF2B5EF4-FFF2-40B4-BE49-F238E27FC236}">
                  <a16:creationId xmlns:a16="http://schemas.microsoft.com/office/drawing/2014/main" id="{124FE4CC-C9C2-4B8E-AC36-D970AAB9CA5C}"/>
                </a:ext>
              </a:extLst>
            </p:cNvPr>
            <p:cNvSpPr/>
            <p:nvPr/>
          </p:nvSpPr>
          <p:spPr>
            <a:xfrm>
              <a:off x="725318" y="2423026"/>
              <a:ext cx="3267948" cy="3374543"/>
            </a:xfrm>
            <a:prstGeom prst="roundRect">
              <a:avLst>
                <a:gd name="adj" fmla="val 9707"/>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55EBEB2A-4E7D-45D2-91D2-445578C44B99}"/>
                </a:ext>
              </a:extLst>
            </p:cNvPr>
            <p:cNvSpPr/>
            <p:nvPr/>
          </p:nvSpPr>
          <p:spPr>
            <a:xfrm>
              <a:off x="4405585" y="2423026"/>
              <a:ext cx="3267948" cy="3374543"/>
            </a:xfrm>
            <a:prstGeom prst="roundRect">
              <a:avLst>
                <a:gd name="adj" fmla="val 9707"/>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EF599AA7-6B7A-43C5-B691-098B5B7B37D3}"/>
                </a:ext>
              </a:extLst>
            </p:cNvPr>
            <p:cNvSpPr/>
            <p:nvPr/>
          </p:nvSpPr>
          <p:spPr>
            <a:xfrm>
              <a:off x="8110931" y="2428140"/>
              <a:ext cx="3267948" cy="3374543"/>
            </a:xfrm>
            <a:prstGeom prst="roundRect">
              <a:avLst>
                <a:gd name="adj" fmla="val 9707"/>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a:extLst>
              <a:ext uri="{FF2B5EF4-FFF2-40B4-BE49-F238E27FC236}">
                <a16:creationId xmlns:a16="http://schemas.microsoft.com/office/drawing/2014/main" id="{CDA21B7A-E5A2-4F07-B7CE-D2FAC903A491}"/>
              </a:ext>
            </a:extLst>
          </p:cNvPr>
          <p:cNvSpPr txBox="1"/>
          <p:nvPr/>
        </p:nvSpPr>
        <p:spPr>
          <a:xfrm>
            <a:off x="813622" y="5275454"/>
            <a:ext cx="3551497" cy="1323439"/>
          </a:xfrm>
          <a:prstGeom prst="rect">
            <a:avLst/>
          </a:prstGeom>
          <a:noFill/>
        </p:spPr>
        <p:txBody>
          <a:bodyPr wrap="square">
            <a:spAutoFit/>
          </a:bodyPr>
          <a:lstStyle/>
          <a:p>
            <a:r>
              <a:rPr lang="en-US" altLang="zh-CN" sz="2000" dirty="0">
                <a:latin typeface="微软雅黑" panose="020B0503020204020204" pitchFamily="34" charset="-122"/>
                <a:ea typeface="微软雅黑" panose="020B0503020204020204" pitchFamily="34" charset="-122"/>
              </a:rPr>
              <a:t>BPSK</a:t>
            </a:r>
            <a:r>
              <a:rPr lang="zh-CN" altLang="en-US" sz="2000" dirty="0">
                <a:latin typeface="微软雅黑" panose="020B0503020204020204" pitchFamily="34" charset="-122"/>
                <a:ea typeface="微软雅黑" panose="020B0503020204020204" pitchFamily="34" charset="-122"/>
              </a:rPr>
              <a:t>使用了基准的正弦波和</a:t>
            </a:r>
            <a:r>
              <a:rPr lang="zh-CN" altLang="en-US" sz="2000" dirty="0">
                <a:solidFill>
                  <a:srgbClr val="C00000"/>
                </a:solidFill>
                <a:latin typeface="微软雅黑" panose="020B0503020204020204" pitchFamily="34" charset="-122"/>
                <a:ea typeface="微软雅黑" panose="020B0503020204020204" pitchFamily="34" charset="-122"/>
              </a:rPr>
              <a:t>相位反转</a:t>
            </a:r>
            <a:r>
              <a:rPr lang="zh-CN" altLang="en-US" sz="2000" dirty="0">
                <a:latin typeface="微软雅黑" panose="020B0503020204020204" pitchFamily="34" charset="-122"/>
                <a:ea typeface="微软雅黑" panose="020B0503020204020204" pitchFamily="34" charset="-122"/>
              </a:rPr>
              <a:t>的波浪，使一方为</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，另一方为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，从而可以同时传送接受</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值</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比特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的信息</a:t>
            </a:r>
            <a:endParaRPr lang="en-US" altLang="zh-CN" sz="20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1581BD77-94C3-4A12-8BA1-AA32F8833C1D}"/>
              </a:ext>
            </a:extLst>
          </p:cNvPr>
          <p:cNvSpPr txBox="1"/>
          <p:nvPr/>
        </p:nvSpPr>
        <p:spPr>
          <a:xfrm>
            <a:off x="4465191" y="5297324"/>
            <a:ext cx="3515810" cy="1323439"/>
          </a:xfrm>
          <a:prstGeom prst="rect">
            <a:avLst/>
          </a:prstGeom>
          <a:noFill/>
        </p:spPr>
        <p:txBody>
          <a:bodyPr wrap="square">
            <a:spAutoFit/>
          </a:bodyPr>
          <a:lstStyle/>
          <a:p>
            <a:r>
              <a:rPr lang="en-US" altLang="zh-CN" sz="2000" dirty="0">
                <a:solidFill>
                  <a:srgbClr val="333333"/>
                </a:solidFill>
                <a:latin typeface="微软雅黑" panose="020B0503020204020204" pitchFamily="34" charset="-122"/>
                <a:ea typeface="微软雅黑" panose="020B0503020204020204" pitchFamily="34" charset="-122"/>
              </a:rPr>
              <a:t>QPSK</a:t>
            </a:r>
            <a:r>
              <a:rPr lang="zh-CN" altLang="en-US" sz="2000" dirty="0">
                <a:solidFill>
                  <a:srgbClr val="333333"/>
                </a:solidFill>
                <a:latin typeface="微软雅黑" panose="020B0503020204020204" pitchFamily="34" charset="-122"/>
                <a:ea typeface="微软雅黑" panose="020B0503020204020204" pitchFamily="34" charset="-122"/>
              </a:rPr>
              <a:t>是一种四进制相位调，制采用</a:t>
            </a:r>
            <a:r>
              <a:rPr lang="zh-CN" altLang="en-US" sz="2000" i="0" dirty="0">
                <a:solidFill>
                  <a:srgbClr val="C00000"/>
                </a:solidFill>
                <a:effectLst/>
                <a:latin typeface="微软雅黑" panose="020B0503020204020204" pitchFamily="34" charset="-122"/>
                <a:ea typeface="微软雅黑" panose="020B0503020204020204" pitchFamily="34" charset="-122"/>
              </a:rPr>
              <a:t>移相</a:t>
            </a:r>
            <a:r>
              <a:rPr lang="zh-CN" altLang="en-US" sz="2000" i="0" dirty="0">
                <a:solidFill>
                  <a:srgbClr val="333333"/>
                </a:solidFill>
                <a:effectLst/>
                <a:latin typeface="微软雅黑" panose="020B0503020204020204" pitchFamily="34" charset="-122"/>
                <a:ea typeface="微软雅黑" panose="020B0503020204020204" pitchFamily="34" charset="-122"/>
              </a:rPr>
              <a:t>方式</a:t>
            </a:r>
            <a:r>
              <a:rPr lang="en-US" altLang="zh-CN" sz="2000" i="0" dirty="0">
                <a:solidFill>
                  <a:srgbClr val="333333"/>
                </a:solidFill>
                <a:effectLst/>
                <a:latin typeface="微软雅黑" panose="020B0503020204020204" pitchFamily="34" charset="-122"/>
                <a:ea typeface="微软雅黑" panose="020B0503020204020204" pitchFamily="34" charset="-122"/>
              </a:rPr>
              <a:t>QPSK</a:t>
            </a:r>
            <a:r>
              <a:rPr lang="zh-CN" altLang="en-US" sz="2000" i="0" dirty="0">
                <a:solidFill>
                  <a:srgbClr val="333333"/>
                </a:solidFill>
                <a:effectLst/>
                <a:latin typeface="微软雅黑" panose="020B0503020204020204" pitchFamily="34" charset="-122"/>
                <a:ea typeface="微软雅黑" panose="020B0503020204020204" pitchFamily="34" charset="-122"/>
              </a:rPr>
              <a:t>，每个点</a:t>
            </a:r>
            <a:r>
              <a:rPr lang="en-US" altLang="zh-CN" sz="2000" i="0" dirty="0">
                <a:solidFill>
                  <a:srgbClr val="333333"/>
                </a:solidFill>
                <a:effectLst/>
                <a:latin typeface="微软雅黑" panose="020B0503020204020204" pitchFamily="34" charset="-122"/>
                <a:ea typeface="微软雅黑" panose="020B0503020204020204" pitchFamily="34" charset="-122"/>
              </a:rPr>
              <a:t>2</a:t>
            </a:r>
            <a:r>
              <a:rPr lang="zh-CN" altLang="en-US" sz="2000" i="0" dirty="0">
                <a:solidFill>
                  <a:srgbClr val="333333"/>
                </a:solidFill>
                <a:effectLst/>
                <a:latin typeface="微软雅黑" panose="020B0503020204020204" pitchFamily="34" charset="-122"/>
                <a:ea typeface="微软雅黑" panose="020B0503020204020204" pitchFamily="34" charset="-122"/>
              </a:rPr>
              <a:t>比特信息，具有良好的抗噪特性和频带利用率通信业务</a:t>
            </a:r>
            <a:endParaRPr lang="zh-CN" altLang="en-US" sz="20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16DD9746-A344-43E5-AF10-F69AAA8EAF13}"/>
              </a:ext>
            </a:extLst>
          </p:cNvPr>
          <p:cNvSpPr txBox="1"/>
          <p:nvPr/>
        </p:nvSpPr>
        <p:spPr>
          <a:xfrm>
            <a:off x="8081073" y="5358878"/>
            <a:ext cx="3626472" cy="1200329"/>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QAM</a:t>
            </a:r>
            <a:r>
              <a:rPr lang="zh-CN" altLang="en-US" dirty="0">
                <a:latin typeface="微软雅黑" panose="020B0503020204020204" pitchFamily="34" charset="-122"/>
                <a:ea typeface="微软雅黑" panose="020B0503020204020204" pitchFamily="34" charset="-122"/>
              </a:rPr>
              <a:t>全称正交幅度调制是是一种数字调制方式，产生的方法有正交</a:t>
            </a:r>
            <a:r>
              <a:rPr lang="zh-CN" altLang="en-US" dirty="0">
                <a:solidFill>
                  <a:srgbClr val="C00000"/>
                </a:solidFill>
                <a:latin typeface="微软雅黑" panose="020B0503020204020204" pitchFamily="34" charset="-122"/>
                <a:ea typeface="微软雅黑" panose="020B0503020204020204" pitchFamily="34" charset="-122"/>
              </a:rPr>
              <a:t>调幅</a:t>
            </a:r>
            <a:r>
              <a:rPr lang="zh-CN" altLang="en-US" dirty="0">
                <a:latin typeface="微软雅黑" panose="020B0503020204020204" pitchFamily="34" charset="-122"/>
                <a:ea typeface="微软雅黑" panose="020B0503020204020204" pitchFamily="34" charset="-122"/>
              </a:rPr>
              <a:t>法和复合</a:t>
            </a:r>
            <a:r>
              <a:rPr lang="zh-CN" altLang="en-US" dirty="0">
                <a:solidFill>
                  <a:srgbClr val="C00000"/>
                </a:solidFill>
                <a:latin typeface="微软雅黑" panose="020B0503020204020204" pitchFamily="34" charset="-122"/>
                <a:ea typeface="微软雅黑" panose="020B0503020204020204" pitchFamily="34" charset="-122"/>
              </a:rPr>
              <a:t>相移</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16QAM</a:t>
            </a:r>
            <a:r>
              <a:rPr lang="zh-CN" altLang="en-US" dirty="0">
                <a:latin typeface="微软雅黑" panose="020B0503020204020204" pitchFamily="34" charset="-122"/>
                <a:ea typeface="微软雅黑" panose="020B0503020204020204" pitchFamily="34" charset="-122"/>
              </a:rPr>
              <a:t>是指包含</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种符号的</a:t>
            </a:r>
            <a:r>
              <a:rPr lang="en-US" altLang="zh-CN" dirty="0">
                <a:latin typeface="微软雅黑" panose="020B0503020204020204" pitchFamily="34" charset="-122"/>
                <a:ea typeface="微软雅黑" panose="020B0503020204020204" pitchFamily="34" charset="-122"/>
              </a:rPr>
              <a:t>QAM</a:t>
            </a:r>
            <a:r>
              <a:rPr lang="zh-CN" altLang="en-US" dirty="0">
                <a:latin typeface="微软雅黑" panose="020B0503020204020204" pitchFamily="34" charset="-122"/>
                <a:ea typeface="微软雅黑" panose="020B0503020204020204" pitchFamily="34" charset="-122"/>
              </a:rPr>
              <a:t>调制方式</a:t>
            </a:r>
          </a:p>
        </p:txBody>
      </p:sp>
      <p:sp>
        <p:nvSpPr>
          <p:cNvPr id="16" name="标题 1">
            <a:extLst>
              <a:ext uri="{FF2B5EF4-FFF2-40B4-BE49-F238E27FC236}">
                <a16:creationId xmlns:a16="http://schemas.microsoft.com/office/drawing/2014/main" id="{BAE59820-68A1-4520-81DE-40C31EBC7CD3}"/>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频带传输</a:t>
            </a:r>
            <a:endParaRPr kumimoji="1" lang="en-US" altLang="zh-CN" dirty="0">
              <a:cs typeface="+mn-cs"/>
            </a:endParaRPr>
          </a:p>
        </p:txBody>
      </p:sp>
      <p:sp>
        <p:nvSpPr>
          <p:cNvPr id="18" name="文本框 17">
            <a:extLst>
              <a:ext uri="{FF2B5EF4-FFF2-40B4-BE49-F238E27FC236}">
                <a16:creationId xmlns:a16="http://schemas.microsoft.com/office/drawing/2014/main" id="{D57BF5DB-670C-491D-B040-6CDC5631AC27}"/>
              </a:ext>
            </a:extLst>
          </p:cNvPr>
          <p:cNvSpPr txBox="1"/>
          <p:nvPr/>
        </p:nvSpPr>
        <p:spPr>
          <a:xfrm>
            <a:off x="0" y="6497157"/>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646087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pPr marL="0" indent="0">
              <a:buNone/>
            </a:pPr>
            <a:r>
              <a:rPr lang="zh-CN" altLang="en-US" dirty="0"/>
              <a:t>传输损伤</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7" name="内容占位符 2">
            <a:extLst>
              <a:ext uri="{FF2B5EF4-FFF2-40B4-BE49-F238E27FC236}">
                <a16:creationId xmlns:a16="http://schemas.microsoft.com/office/drawing/2014/main" id="{E5384FC9-422B-4A24-AE39-4454E16C7810}"/>
              </a:ext>
            </a:extLst>
          </p:cNvPr>
          <p:cNvSpPr>
            <a:spLocks noGrp="1"/>
          </p:cNvSpPr>
          <p:nvPr>
            <p:ph idx="1"/>
          </p:nvPr>
        </p:nvSpPr>
        <p:spPr>
          <a:xfrm>
            <a:off x="354656" y="1257860"/>
            <a:ext cx="6578407" cy="5402016"/>
          </a:xfrm>
        </p:spPr>
        <p:txBody>
          <a:bodyPr>
            <a:noAutofit/>
          </a:bodyPr>
          <a:lstStyle/>
          <a:p>
            <a:r>
              <a:rPr lang="zh-CN" altLang="zh-CN" sz="2400" dirty="0">
                <a:latin typeface="微软雅黑" panose="020B0503020204020204" pitchFamily="34" charset="-122"/>
                <a:ea typeface="微软雅黑" panose="020B0503020204020204" pitchFamily="34" charset="-122"/>
              </a:rPr>
              <a:t>数据信号在数据通信系统的端到端连接的每个环节都可能受到伤害，</a:t>
            </a:r>
            <a:r>
              <a:rPr lang="en-US" altLang="zh-CN" sz="2400" dirty="0">
                <a:latin typeface="微软雅黑" panose="020B0503020204020204" pitchFamily="34" charset="-122"/>
                <a:ea typeface="微软雅黑" panose="020B0503020204020204" pitchFamily="34" charset="-122"/>
              </a:rPr>
              <a:t>ITU</a:t>
            </a:r>
            <a:r>
              <a:rPr lang="zh-CN" altLang="en-US" sz="2400" dirty="0">
                <a:latin typeface="微软雅黑" panose="020B0503020204020204" pitchFamily="34" charset="-122"/>
                <a:ea typeface="微软雅黑" panose="020B0503020204020204" pitchFamily="34" charset="-122"/>
              </a:rPr>
              <a:t>称之为传输损</a:t>
            </a:r>
            <a:r>
              <a:rPr lang="zh-CN" altLang="zh-CN" sz="2400" dirty="0">
                <a:latin typeface="微软雅黑" panose="020B0503020204020204" pitchFamily="34" charset="-122"/>
                <a:ea typeface="微软雅黑" panose="020B0503020204020204" pitchFamily="34" charset="-122"/>
              </a:rPr>
              <a:t>伤</a:t>
            </a:r>
            <a:r>
              <a:rPr lang="zh-CN" altLang="en-US" sz="2400" dirty="0">
                <a:latin typeface="微软雅黑" panose="020B0503020204020204" pitchFamily="34" charset="-122"/>
                <a:ea typeface="微软雅黑" panose="020B0503020204020204" pitchFamily="34" charset="-122"/>
              </a:rPr>
              <a:t>。并推荐用误码、抖动、漂移、滑动和时延来表示</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solidFill>
                  <a:srgbClr val="C00000"/>
                </a:solidFill>
                <a:latin typeface="微软雅黑" panose="020B0503020204020204" pitchFamily="34" charset="-122"/>
                <a:ea typeface="微软雅黑" panose="020B0503020204020204" pitchFamily="34" charset="-122"/>
              </a:rPr>
              <a:t>误</a:t>
            </a:r>
            <a:r>
              <a:rPr lang="zh-CN" altLang="zh-CN" sz="2000" dirty="0">
                <a:solidFill>
                  <a:srgbClr val="C00000"/>
                </a:solidFill>
                <a:latin typeface="微软雅黑" panose="020B0503020204020204" pitchFamily="34" charset="-122"/>
                <a:ea typeface="微软雅黑" panose="020B0503020204020204" pitchFamily="34" charset="-122"/>
              </a:rPr>
              <a:t>码</a:t>
            </a:r>
            <a:r>
              <a:rPr lang="en-US" altLang="zh-CN" sz="2000" dirty="0">
                <a:latin typeface="微软雅黑" panose="020B0503020204020204" pitchFamily="34" charset="-122"/>
                <a:ea typeface="微软雅黑" panose="020B0503020204020204" pitchFamily="34" charset="-122"/>
              </a:rPr>
              <a:t>(Error)</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指信号在传输过程中码元发生的差错，即接收与发送数字信号的单个数字之间的差异</a:t>
            </a:r>
            <a:endParaRPr lang="en-US" altLang="zh-CN" sz="2000" dirty="0">
              <a:latin typeface="微软雅黑" panose="020B0503020204020204" pitchFamily="34" charset="-122"/>
              <a:ea typeface="微软雅黑" panose="020B0503020204020204" pitchFamily="34" charset="-122"/>
            </a:endParaRPr>
          </a:p>
          <a:p>
            <a:pPr lvl="1"/>
            <a:r>
              <a:rPr lang="zh-CN" altLang="zh-CN" sz="2000" dirty="0">
                <a:solidFill>
                  <a:srgbClr val="C00000"/>
                </a:solidFill>
                <a:latin typeface="微软雅黑" panose="020B0503020204020204" pitchFamily="34" charset="-122"/>
                <a:ea typeface="微软雅黑" panose="020B0503020204020204" pitchFamily="34" charset="-122"/>
              </a:rPr>
              <a:t>抖动</a:t>
            </a:r>
            <a:r>
              <a:rPr lang="en-US" altLang="zh-CN" sz="2000" dirty="0">
                <a:latin typeface="微软雅黑" panose="020B0503020204020204" pitchFamily="34" charset="-122"/>
                <a:ea typeface="微软雅黑" panose="020B0503020204020204" pitchFamily="34" charset="-122"/>
              </a:rPr>
              <a:t>(Jitter)</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指码元出现的时刻随时间频繁地变化，也就是各有效瞬间相对于理想时间位置的短时间偏移</a:t>
            </a:r>
          </a:p>
          <a:p>
            <a:pPr lvl="1"/>
            <a:r>
              <a:rPr lang="zh-CN" altLang="zh-CN" sz="2000" dirty="0">
                <a:solidFill>
                  <a:srgbClr val="C00000"/>
                </a:solidFill>
                <a:latin typeface="微软雅黑" panose="020B0503020204020204" pitchFamily="34" charset="-122"/>
                <a:ea typeface="微软雅黑" panose="020B0503020204020204" pitchFamily="34" charset="-122"/>
              </a:rPr>
              <a:t>漂移</a:t>
            </a:r>
            <a:r>
              <a:rPr lang="en-US" altLang="zh-CN" sz="2000" dirty="0">
                <a:latin typeface="微软雅黑" panose="020B0503020204020204" pitchFamily="34" charset="-122"/>
                <a:ea typeface="微软雅黑" panose="020B0503020204020204" pitchFamily="34" charset="-122"/>
              </a:rPr>
              <a:t>(Wander)</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指码元各有效瞬间相对于理想时间位置的长期缓慢偏移</a:t>
            </a:r>
            <a:endParaRPr lang="en-US" altLang="zh-CN" sz="2000" dirty="0">
              <a:latin typeface="微软雅黑" panose="020B0503020204020204" pitchFamily="34" charset="-122"/>
              <a:ea typeface="微软雅黑" panose="020B0503020204020204" pitchFamily="34" charset="-122"/>
            </a:endParaRPr>
          </a:p>
          <a:p>
            <a:pPr lvl="1">
              <a:defRPr/>
            </a:pPr>
            <a:r>
              <a:rPr lang="zh-CN" altLang="zh-CN" sz="2000" dirty="0">
                <a:solidFill>
                  <a:srgbClr val="C00000"/>
                </a:solidFill>
                <a:latin typeface="微软雅黑" panose="020B0503020204020204" pitchFamily="34" charset="-122"/>
                <a:ea typeface="微软雅黑" panose="020B0503020204020204" pitchFamily="34" charset="-122"/>
              </a:rPr>
              <a:t>滑动</a:t>
            </a:r>
            <a:r>
              <a:rPr lang="en-US" altLang="zh-CN" sz="2000" dirty="0">
                <a:latin typeface="微软雅黑" panose="020B0503020204020204" pitchFamily="34" charset="-122"/>
                <a:ea typeface="微软雅黑" panose="020B0503020204020204" pitchFamily="34" charset="-122"/>
              </a:rPr>
              <a:t>(Slip)</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指一个信号序列在传输过程中，不可恢复地丢失或增加若干码元</a:t>
            </a:r>
          </a:p>
          <a:p>
            <a:pPr lvl="1">
              <a:defRPr/>
            </a:pPr>
            <a:r>
              <a:rPr lang="zh-CN" altLang="zh-CN" sz="2000" dirty="0">
                <a:solidFill>
                  <a:srgbClr val="C00000"/>
                </a:solidFill>
                <a:latin typeface="微软雅黑" panose="020B0503020204020204" pitchFamily="34" charset="-122"/>
                <a:ea typeface="微软雅黑" panose="020B0503020204020204" pitchFamily="34" charset="-122"/>
              </a:rPr>
              <a:t>时延</a:t>
            </a:r>
            <a:r>
              <a:rPr lang="en-US" altLang="zh-CN" sz="2000" dirty="0">
                <a:latin typeface="微软雅黑" panose="020B0503020204020204" pitchFamily="34" charset="-122"/>
                <a:ea typeface="微软雅黑" panose="020B0503020204020204" pitchFamily="34" charset="-122"/>
              </a:rPr>
              <a:t>(Delay)</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指信号的各有效瞬间相对于理想时间位置的滞后或推迟</a:t>
            </a:r>
          </a:p>
          <a:p>
            <a:endParaRPr lang="zh-CN"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p:txBody>
      </p:sp>
      <p:pic>
        <p:nvPicPr>
          <p:cNvPr id="10" name="Picture 4" descr="B16">
            <a:extLst>
              <a:ext uri="{FF2B5EF4-FFF2-40B4-BE49-F238E27FC236}">
                <a16:creationId xmlns:a16="http://schemas.microsoft.com/office/drawing/2014/main" id="{57D357A5-0CA7-43E9-8FA9-34430FB00F61}"/>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6933063" y="1492891"/>
            <a:ext cx="5064005" cy="4550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1B9D70A5-D865-496E-9099-BC2CF9C83C35}"/>
              </a:ext>
            </a:extLst>
          </p:cNvPr>
          <p:cNvSpPr txBox="1"/>
          <p:nvPr/>
        </p:nvSpPr>
        <p:spPr>
          <a:xfrm>
            <a:off x="7941065" y="6107431"/>
            <a:ext cx="3048000" cy="369332"/>
          </a:xfrm>
          <a:prstGeom prst="rect">
            <a:avLst/>
          </a:prstGeom>
          <a:noFill/>
        </p:spPr>
        <p:txBody>
          <a:bodyPr wrap="square">
            <a:spAutoFit/>
          </a:bodyPr>
          <a:lstStyle/>
          <a:p>
            <a:pPr eaLnBrk="1" hangingPunct="1">
              <a:buFont typeface="Wingdings" panose="05000000000000000000" pitchFamily="2" charset="2"/>
              <a:buNone/>
            </a:pPr>
            <a:r>
              <a:rPr lang="zh-CN" altLang="en-US" dirty="0">
                <a:solidFill>
                  <a:schemeClr val="accent2"/>
                </a:solidFill>
                <a:latin typeface="Arial" panose="020B0604020202020204" pitchFamily="34" charset="0"/>
                <a:ea typeface="黑体" panose="02010609060101010101" pitchFamily="49" charset="-122"/>
              </a:rPr>
              <a:t>噪声对数据信号传输的影响</a:t>
            </a:r>
            <a:endParaRPr lang="zh-CN" altLang="en-US" dirty="0"/>
          </a:p>
        </p:txBody>
      </p:sp>
      <p:sp>
        <p:nvSpPr>
          <p:cNvPr id="9" name="文本框 8">
            <a:extLst>
              <a:ext uri="{FF2B5EF4-FFF2-40B4-BE49-F238E27FC236}">
                <a16:creationId xmlns:a16="http://schemas.microsoft.com/office/drawing/2014/main" id="{5EE302E1-3696-40D1-9B58-E6F1242E769A}"/>
              </a:ext>
            </a:extLst>
          </p:cNvPr>
          <p:cNvSpPr txBox="1"/>
          <p:nvPr/>
        </p:nvSpPr>
        <p:spPr>
          <a:xfrm>
            <a:off x="0" y="6523806"/>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822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
        <p:nvSpPr>
          <p:cNvPr id="7" name="文本框 6">
            <a:extLst>
              <a:ext uri="{FF2B5EF4-FFF2-40B4-BE49-F238E27FC236}">
                <a16:creationId xmlns:a16="http://schemas.microsoft.com/office/drawing/2014/main" id="{F34196EE-2B93-4643-8D2E-EF8C3B7FF3C4}"/>
              </a:ext>
            </a:extLst>
          </p:cNvPr>
          <p:cNvSpPr txBox="1"/>
          <p:nvPr/>
        </p:nvSpPr>
        <p:spPr>
          <a:xfrm>
            <a:off x="397955" y="1160786"/>
            <a:ext cx="6096000" cy="597921"/>
          </a:xfrm>
          <a:prstGeom prst="rect">
            <a:avLst/>
          </a:prstGeom>
        </p:spPr>
        <p:txBody>
          <a:bodyPr vert="horz" lIns="91440" tIns="45720" rIns="91440" bIns="45720" rtlCol="0">
            <a:normAutofit/>
          </a:bodyPr>
          <a:lstStyle>
            <a:lvl1pPr marL="228600" indent="-228600">
              <a:lnSpc>
                <a:spcPct val="130000"/>
              </a:lnSpc>
              <a:spcBef>
                <a:spcPts val="600"/>
              </a:spcBef>
              <a:buFont typeface="Wingdings" pitchFamily="2" charset="2"/>
              <a:buChar char="Ø"/>
              <a:defRPr kumimoji="1" sz="2800" b="1">
                <a:latin typeface="Microsoft YaHei" panose="020B0503020204020204" pitchFamily="34" charset="-122"/>
                <a:ea typeface="Microsoft YaHei" panose="020B0503020204020204" pitchFamily="34" charset="-122"/>
              </a:defRPr>
            </a:lvl1pPr>
            <a:lvl2pPr marL="685800" indent="-228600">
              <a:lnSpc>
                <a:spcPct val="100000"/>
              </a:lnSpc>
              <a:spcBef>
                <a:spcPts val="600"/>
              </a:spcBef>
              <a:buFont typeface="Arial" panose="020B0604020202020204" pitchFamily="34" charset="0"/>
              <a:buChar char="•"/>
              <a:defRPr sz="2400">
                <a:latin typeface="Microsoft YaHei" panose="020B0503020204020204" pitchFamily="34" charset="-122"/>
                <a:ea typeface="Microsoft YaHei" panose="020B0503020204020204" pitchFamily="34" charset="-122"/>
              </a:defRPr>
            </a:lvl2pPr>
            <a:lvl3pPr marL="1143000" indent="-228600">
              <a:lnSpc>
                <a:spcPct val="100000"/>
              </a:lnSpc>
              <a:spcBef>
                <a:spcPts val="600"/>
              </a:spcBef>
              <a:buFont typeface="Arial" panose="020B0604020202020204" pitchFamily="34" charset="0"/>
              <a:buChar char="•"/>
              <a:defRPr sz="2000">
                <a:latin typeface="Microsoft YaHei" panose="020B0503020204020204" pitchFamily="34" charset="-122"/>
                <a:ea typeface="Microsoft YaHei" panose="020B0503020204020204" pitchFamily="34" charset="-122"/>
              </a:defRPr>
            </a:lvl3pPr>
            <a:lvl4pPr marL="1600200" indent="-228600">
              <a:lnSpc>
                <a:spcPct val="100000"/>
              </a:lnSpc>
              <a:spcBef>
                <a:spcPts val="600"/>
              </a:spcBef>
              <a:buFont typeface="Arial" panose="020B0604020202020204" pitchFamily="34" charset="0"/>
              <a:buChar char="•"/>
              <a:defRPr>
                <a:latin typeface="Microsoft YaHei" panose="020B0503020204020204" pitchFamily="34" charset="-122"/>
                <a:ea typeface="Microsoft YaHei" panose="020B0503020204020204" pitchFamily="34" charset="-122"/>
              </a:defRPr>
            </a:lvl4pPr>
            <a:lvl5pPr marL="2057400" indent="-228600">
              <a:lnSpc>
                <a:spcPct val="100000"/>
              </a:lnSpc>
              <a:spcBef>
                <a:spcPts val="600"/>
              </a:spcBef>
              <a:buFont typeface="Arial" panose="020B0604020202020204" pitchFamily="34" charset="0"/>
              <a:buChar char="•"/>
              <a:defRPr>
                <a:latin typeface="Microsoft YaHei" panose="020B0503020204020204" pitchFamily="34" charset="-122"/>
                <a:ea typeface="Microsoft YaHei"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zh-CN" altLang="en-US" dirty="0"/>
          </a:p>
        </p:txBody>
      </p:sp>
      <p:sp>
        <p:nvSpPr>
          <p:cNvPr id="8" name="内容占位符 2">
            <a:extLst>
              <a:ext uri="{FF2B5EF4-FFF2-40B4-BE49-F238E27FC236}">
                <a16:creationId xmlns:a16="http://schemas.microsoft.com/office/drawing/2014/main" id="{F101110B-11AD-47E7-9065-ADE7FCE7EFAF}"/>
              </a:ext>
            </a:extLst>
          </p:cNvPr>
          <p:cNvSpPr>
            <a:spLocks noGrp="1"/>
          </p:cNvSpPr>
          <p:nvPr>
            <p:ph idx="1"/>
          </p:nvPr>
        </p:nvSpPr>
        <p:spPr>
          <a:xfrm>
            <a:off x="496233" y="1413973"/>
            <a:ext cx="7891941" cy="561975"/>
          </a:xfrm>
        </p:spPr>
        <p:txBody>
          <a:bodyPr>
            <a:normAutofit/>
          </a:bodyPr>
          <a:lstStyle/>
          <a:p>
            <a:pPr>
              <a:buFont typeface="Wingdings" panose="05000000000000000000" pitchFamily="2" charset="2"/>
              <a:buNone/>
              <a:defRPr/>
            </a:pPr>
            <a:r>
              <a:rPr lang="zh-CN" altLang="en-US" sz="2400" dirty="0">
                <a:latin typeface="微软雅黑" panose="020B0503020204020204" pitchFamily="34" charset="-122"/>
                <a:ea typeface="微软雅黑" panose="020B0503020204020204" pitchFamily="34" charset="-122"/>
              </a:rPr>
              <a:t>数字信号通过实际信道的情况</a:t>
            </a:r>
            <a:endParaRPr lang="en-US" altLang="zh-CN" sz="2400" dirty="0">
              <a:latin typeface="微软雅黑" panose="020B0503020204020204" pitchFamily="34" charset="-122"/>
              <a:ea typeface="微软雅黑" panose="020B0503020204020204" pitchFamily="34" charset="-122"/>
            </a:endParaRPr>
          </a:p>
          <a:p>
            <a:pPr>
              <a:defRPr/>
            </a:pPr>
            <a:endParaRPr lang="zh-CN" altLang="en-US" sz="2400" dirty="0">
              <a:latin typeface="Arial" charset="0"/>
              <a:ea typeface="黑体" pitchFamily="49" charset="-122"/>
              <a:cs typeface="+mj-cs"/>
            </a:endParaRPr>
          </a:p>
        </p:txBody>
      </p:sp>
      <p:sp>
        <p:nvSpPr>
          <p:cNvPr id="9" name="Rectangle 3">
            <a:extLst>
              <a:ext uri="{FF2B5EF4-FFF2-40B4-BE49-F238E27FC236}">
                <a16:creationId xmlns:a16="http://schemas.microsoft.com/office/drawing/2014/main" id="{C5B3D01F-9BBD-42C9-9059-88CFF84D3B7D}"/>
              </a:ext>
            </a:extLst>
          </p:cNvPr>
          <p:cNvSpPr txBox="1">
            <a:spLocks noChangeArrowheads="1"/>
          </p:cNvSpPr>
          <p:nvPr/>
        </p:nvSpPr>
        <p:spPr bwMode="auto">
          <a:xfrm>
            <a:off x="501523" y="2417540"/>
            <a:ext cx="7801320" cy="2099203"/>
          </a:xfrm>
          <a:prstGeom prst="rect">
            <a:avLst/>
          </a:prstGeom>
          <a:noFill/>
          <a:ln w="9525">
            <a:noFill/>
            <a:miter lim="800000"/>
            <a:headEnd/>
            <a:tailEnd/>
          </a:ln>
        </p:spPr>
        <p:txBody>
          <a:bodyPr/>
          <a:lstStyle/>
          <a:p>
            <a:pPr marL="342900" indent="-342900">
              <a:lnSpc>
                <a:spcPct val="110000"/>
              </a:lnSpc>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有失真，但可识别</a:t>
            </a:r>
            <a:endParaRPr lang="en-US" altLang="zh-CN" sz="2400" dirty="0">
              <a:latin typeface="微软雅黑" panose="020B0503020204020204" pitchFamily="34" charset="-122"/>
              <a:ea typeface="微软雅黑" panose="020B0503020204020204" pitchFamily="34" charset="-122"/>
            </a:endParaRPr>
          </a:p>
          <a:p>
            <a:pPr marL="342900" indent="-342900">
              <a:lnSpc>
                <a:spcPct val="110000"/>
              </a:lnSpc>
              <a:buClr>
                <a:schemeClr val="accent2"/>
              </a:buClr>
              <a:buFont typeface="Wingdings" pitchFamily="2" charset="2"/>
              <a:buChar char="q"/>
              <a:defRPr/>
            </a:pPr>
            <a:endParaRPr lang="zh-CN" altLang="en-US" sz="2400" kern="0" dirty="0">
              <a:latin typeface="黑体" pitchFamily="49" charset="-122"/>
              <a:ea typeface="黑体" pitchFamily="49" charset="-122"/>
            </a:endParaRPr>
          </a:p>
          <a:p>
            <a:pPr marL="342900" indent="-342900">
              <a:lnSpc>
                <a:spcPct val="110000"/>
              </a:lnSpc>
              <a:buClr>
                <a:schemeClr val="accent2"/>
              </a:buClr>
              <a:buFont typeface="Wingdings" pitchFamily="2" charset="2"/>
              <a:buChar char="q"/>
              <a:defRPr/>
            </a:pPr>
            <a:endParaRPr lang="zh-CN" altLang="en-US" sz="2400" kern="0" dirty="0">
              <a:latin typeface="黑体" pitchFamily="49" charset="-122"/>
              <a:ea typeface="黑体" pitchFamily="49" charset="-122"/>
            </a:endParaRPr>
          </a:p>
          <a:p>
            <a:pPr marL="342900" indent="-342900">
              <a:lnSpc>
                <a:spcPct val="110000"/>
              </a:lnSpc>
              <a:buClr>
                <a:schemeClr val="accent2"/>
              </a:buClr>
              <a:buFont typeface="Wingdings" pitchFamily="2" charset="2"/>
              <a:buChar char="q"/>
              <a:defRPr/>
            </a:pPr>
            <a:endParaRPr lang="zh-CN" altLang="en-US" sz="2400" kern="0" dirty="0">
              <a:latin typeface="黑体" pitchFamily="49" charset="-122"/>
              <a:ea typeface="黑体" pitchFamily="49" charset="-122"/>
            </a:endParaRPr>
          </a:p>
          <a:p>
            <a:pPr marL="342900" indent="-342900">
              <a:lnSpc>
                <a:spcPct val="110000"/>
              </a:lnSpc>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失真大，无法识别 </a:t>
            </a:r>
          </a:p>
        </p:txBody>
      </p:sp>
      <p:grpSp>
        <p:nvGrpSpPr>
          <p:cNvPr id="10" name="组合 5">
            <a:extLst>
              <a:ext uri="{FF2B5EF4-FFF2-40B4-BE49-F238E27FC236}">
                <a16:creationId xmlns:a16="http://schemas.microsoft.com/office/drawing/2014/main" id="{6792B824-1669-4520-8DF7-A324DACBAA50}"/>
              </a:ext>
            </a:extLst>
          </p:cNvPr>
          <p:cNvGrpSpPr>
            <a:grpSpLocks/>
          </p:cNvGrpSpPr>
          <p:nvPr/>
        </p:nvGrpSpPr>
        <p:grpSpPr bwMode="auto">
          <a:xfrm>
            <a:off x="3292475" y="2422674"/>
            <a:ext cx="7772400" cy="1059867"/>
            <a:chOff x="539750" y="2466975"/>
            <a:chExt cx="7848600" cy="1441549"/>
          </a:xfrm>
        </p:grpSpPr>
        <p:sp>
          <p:nvSpPr>
            <p:cNvPr id="11" name="AutoShape 4">
              <a:extLst>
                <a:ext uri="{FF2B5EF4-FFF2-40B4-BE49-F238E27FC236}">
                  <a16:creationId xmlns:a16="http://schemas.microsoft.com/office/drawing/2014/main" id="{CFBB6EDB-3307-4D50-8FA5-B4482C9D0185}"/>
                </a:ext>
              </a:extLst>
            </p:cNvPr>
            <p:cNvSpPr>
              <a:spLocks noChangeArrowheads="1"/>
            </p:cNvSpPr>
            <p:nvPr/>
          </p:nvSpPr>
          <p:spPr bwMode="auto">
            <a:xfrm rot="-5400000">
              <a:off x="4185444" y="1381919"/>
              <a:ext cx="395287" cy="4060825"/>
            </a:xfrm>
            <a:prstGeom prst="can">
              <a:avLst>
                <a:gd name="adj" fmla="val 66775"/>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1600"/>
            </a:p>
          </p:txBody>
        </p:sp>
        <p:sp>
          <p:nvSpPr>
            <p:cNvPr id="12" name="Freeform 5">
              <a:extLst>
                <a:ext uri="{FF2B5EF4-FFF2-40B4-BE49-F238E27FC236}">
                  <a16:creationId xmlns:a16="http://schemas.microsoft.com/office/drawing/2014/main" id="{51C9FA0A-29AA-4D02-8B00-98C6DA351809}"/>
                </a:ext>
              </a:extLst>
            </p:cNvPr>
            <p:cNvSpPr>
              <a:spLocks/>
            </p:cNvSpPr>
            <p:nvPr/>
          </p:nvSpPr>
          <p:spPr bwMode="auto">
            <a:xfrm>
              <a:off x="601663" y="2620963"/>
              <a:ext cx="1539875" cy="658812"/>
            </a:xfrm>
            <a:custGeom>
              <a:avLst/>
              <a:gdLst>
                <a:gd name="T0" fmla="*/ 0 w 1056"/>
                <a:gd name="T1" fmla="*/ 2147483646 h 480"/>
                <a:gd name="T2" fmla="*/ 2147483646 w 1056"/>
                <a:gd name="T3" fmla="*/ 2147483646 h 480"/>
                <a:gd name="T4" fmla="*/ 2147483646 w 1056"/>
                <a:gd name="T5" fmla="*/ 0 h 480"/>
                <a:gd name="T6" fmla="*/ 2147483646 w 1056"/>
                <a:gd name="T7" fmla="*/ 0 h 480"/>
                <a:gd name="T8" fmla="*/ 2147483646 w 1056"/>
                <a:gd name="T9" fmla="*/ 2147483646 h 480"/>
                <a:gd name="T10" fmla="*/ 2147483646 w 1056"/>
                <a:gd name="T11" fmla="*/ 2147483646 h 480"/>
                <a:gd name="T12" fmla="*/ 2147483646 w 1056"/>
                <a:gd name="T13" fmla="*/ 0 h 480"/>
                <a:gd name="T14" fmla="*/ 2147483646 w 1056"/>
                <a:gd name="T15" fmla="*/ 0 h 480"/>
                <a:gd name="T16" fmla="*/ 2147483646 w 1056"/>
                <a:gd name="T17" fmla="*/ 2147483646 h 480"/>
                <a:gd name="T18" fmla="*/ 2147483646 w 1056"/>
                <a:gd name="T19" fmla="*/ 2147483646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13" name="Line 6">
              <a:extLst>
                <a:ext uri="{FF2B5EF4-FFF2-40B4-BE49-F238E27FC236}">
                  <a16:creationId xmlns:a16="http://schemas.microsoft.com/office/drawing/2014/main" id="{ACFAAF55-977F-4925-BB8D-5AF2F3535B92}"/>
                </a:ext>
              </a:extLst>
            </p:cNvPr>
            <p:cNvSpPr>
              <a:spLocks noChangeShapeType="1"/>
            </p:cNvSpPr>
            <p:nvPr/>
          </p:nvSpPr>
          <p:spPr bwMode="auto">
            <a:xfrm>
              <a:off x="601663" y="3411538"/>
              <a:ext cx="196056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sz="1600"/>
            </a:p>
          </p:txBody>
        </p:sp>
        <p:sp>
          <p:nvSpPr>
            <p:cNvPr id="14" name="Freeform 7">
              <a:extLst>
                <a:ext uri="{FF2B5EF4-FFF2-40B4-BE49-F238E27FC236}">
                  <a16:creationId xmlns:a16="http://schemas.microsoft.com/office/drawing/2014/main" id="{E3155AF3-1AEE-4E9F-B5A8-6074FD373DDB}"/>
                </a:ext>
              </a:extLst>
            </p:cNvPr>
            <p:cNvSpPr>
              <a:spLocks/>
            </p:cNvSpPr>
            <p:nvPr/>
          </p:nvSpPr>
          <p:spPr bwMode="auto">
            <a:xfrm>
              <a:off x="6692900" y="2620963"/>
              <a:ext cx="1541463" cy="658812"/>
            </a:xfrm>
            <a:custGeom>
              <a:avLst/>
              <a:gdLst>
                <a:gd name="T0" fmla="*/ 0 w 1056"/>
                <a:gd name="T1" fmla="*/ 2147483646 h 480"/>
                <a:gd name="T2" fmla="*/ 2147483646 w 1056"/>
                <a:gd name="T3" fmla="*/ 2147483646 h 480"/>
                <a:gd name="T4" fmla="*/ 2147483646 w 1056"/>
                <a:gd name="T5" fmla="*/ 0 h 480"/>
                <a:gd name="T6" fmla="*/ 2147483646 w 1056"/>
                <a:gd name="T7" fmla="*/ 0 h 480"/>
                <a:gd name="T8" fmla="*/ 2147483646 w 1056"/>
                <a:gd name="T9" fmla="*/ 2147483646 h 480"/>
                <a:gd name="T10" fmla="*/ 2147483646 w 1056"/>
                <a:gd name="T11" fmla="*/ 2147483646 h 480"/>
                <a:gd name="T12" fmla="*/ 2147483646 w 1056"/>
                <a:gd name="T13" fmla="*/ 0 h 480"/>
                <a:gd name="T14" fmla="*/ 2147483646 w 1056"/>
                <a:gd name="T15" fmla="*/ 0 h 480"/>
                <a:gd name="T16" fmla="*/ 2147483646 w 1056"/>
                <a:gd name="T17" fmla="*/ 2147483646 h 480"/>
                <a:gd name="T18" fmla="*/ 2147483646 w 1056"/>
                <a:gd name="T19" fmla="*/ 2147483646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15" name="Line 8">
              <a:extLst>
                <a:ext uri="{FF2B5EF4-FFF2-40B4-BE49-F238E27FC236}">
                  <a16:creationId xmlns:a16="http://schemas.microsoft.com/office/drawing/2014/main" id="{1288C459-9595-43EB-B3C4-AC44CEE68ED6}"/>
                </a:ext>
              </a:extLst>
            </p:cNvPr>
            <p:cNvSpPr>
              <a:spLocks noChangeShapeType="1"/>
            </p:cNvSpPr>
            <p:nvPr/>
          </p:nvSpPr>
          <p:spPr bwMode="auto">
            <a:xfrm>
              <a:off x="6413500" y="3411538"/>
              <a:ext cx="196056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sz="1600"/>
            </a:p>
          </p:txBody>
        </p:sp>
        <p:sp>
          <p:nvSpPr>
            <p:cNvPr id="16" name="Freeform 9">
              <a:extLst>
                <a:ext uri="{FF2B5EF4-FFF2-40B4-BE49-F238E27FC236}">
                  <a16:creationId xmlns:a16="http://schemas.microsoft.com/office/drawing/2014/main" id="{4F080D71-8304-460D-9715-A2A79F178E0C}"/>
                </a:ext>
              </a:extLst>
            </p:cNvPr>
            <p:cNvSpPr>
              <a:spLocks/>
            </p:cNvSpPr>
            <p:nvPr/>
          </p:nvSpPr>
          <p:spPr bwMode="auto">
            <a:xfrm>
              <a:off x="6707188" y="2657475"/>
              <a:ext cx="1495425" cy="633413"/>
            </a:xfrm>
            <a:custGeom>
              <a:avLst/>
              <a:gdLst>
                <a:gd name="T0" fmla="*/ 0 w 1026"/>
                <a:gd name="T1" fmla="*/ 2147483646 h 461"/>
                <a:gd name="T2" fmla="*/ 2147483646 w 1026"/>
                <a:gd name="T3" fmla="*/ 2147483646 h 461"/>
                <a:gd name="T4" fmla="*/ 2147483646 w 1026"/>
                <a:gd name="T5" fmla="*/ 2147483646 h 461"/>
                <a:gd name="T6" fmla="*/ 2147483646 w 1026"/>
                <a:gd name="T7" fmla="*/ 2147483646 h 461"/>
                <a:gd name="T8" fmla="*/ 2147483646 w 1026"/>
                <a:gd name="T9" fmla="*/ 2147483646 h 461"/>
                <a:gd name="T10" fmla="*/ 2147483646 w 1026"/>
                <a:gd name="T11" fmla="*/ 2147483646 h 461"/>
                <a:gd name="T12" fmla="*/ 2147483646 w 1026"/>
                <a:gd name="T13" fmla="*/ 2147483646 h 461"/>
                <a:gd name="T14" fmla="*/ 2147483646 w 1026"/>
                <a:gd name="T15" fmla="*/ 2147483646 h 461"/>
                <a:gd name="T16" fmla="*/ 2147483646 w 1026"/>
                <a:gd name="T17" fmla="*/ 2147483646 h 461"/>
                <a:gd name="T18" fmla="*/ 2147483646 w 1026"/>
                <a:gd name="T19" fmla="*/ 2147483646 h 461"/>
                <a:gd name="T20" fmla="*/ 2147483646 w 1026"/>
                <a:gd name="T21" fmla="*/ 2147483646 h 461"/>
                <a:gd name="T22" fmla="*/ 2147483646 w 1026"/>
                <a:gd name="T23" fmla="*/ 2147483646 h 461"/>
                <a:gd name="T24" fmla="*/ 2147483646 w 1026"/>
                <a:gd name="T25" fmla="*/ 2147483646 h 461"/>
                <a:gd name="T26" fmla="*/ 2147483646 w 1026"/>
                <a:gd name="T27" fmla="*/ 0 h 461"/>
                <a:gd name="T28" fmla="*/ 2147483646 w 1026"/>
                <a:gd name="T29" fmla="*/ 2147483646 h 461"/>
                <a:gd name="T30" fmla="*/ 2147483646 w 1026"/>
                <a:gd name="T31" fmla="*/ 2147483646 h 461"/>
                <a:gd name="T32" fmla="*/ 2147483646 w 1026"/>
                <a:gd name="T33" fmla="*/ 2147483646 h 461"/>
                <a:gd name="T34" fmla="*/ 2147483646 w 1026"/>
                <a:gd name="T35" fmla="*/ 2147483646 h 461"/>
                <a:gd name="T36" fmla="*/ 2147483646 w 1026"/>
                <a:gd name="T37" fmla="*/ 2147483646 h 461"/>
                <a:gd name="T38" fmla="*/ 2147483646 w 1026"/>
                <a:gd name="T39" fmla="*/ 2147483646 h 461"/>
                <a:gd name="T40" fmla="*/ 2147483646 w 1026"/>
                <a:gd name="T41" fmla="*/ 2147483646 h 461"/>
                <a:gd name="T42" fmla="*/ 2147483646 w 1026"/>
                <a:gd name="T43" fmla="*/ 2147483646 h 461"/>
                <a:gd name="T44" fmla="*/ 2147483646 w 1026"/>
                <a:gd name="T45" fmla="*/ 2147483646 h 461"/>
                <a:gd name="T46" fmla="*/ 2147483646 w 1026"/>
                <a:gd name="T47" fmla="*/ 2147483646 h 461"/>
                <a:gd name="T48" fmla="*/ 2147483646 w 1026"/>
                <a:gd name="T49" fmla="*/ 2147483646 h 461"/>
                <a:gd name="T50" fmla="*/ 2147483646 w 1026"/>
                <a:gd name="T51" fmla="*/ 2147483646 h 461"/>
                <a:gd name="T52" fmla="*/ 2147483646 w 1026"/>
                <a:gd name="T53" fmla="*/ 2147483646 h 461"/>
                <a:gd name="T54" fmla="*/ 2147483646 w 1026"/>
                <a:gd name="T55" fmla="*/ 2147483646 h 461"/>
                <a:gd name="T56" fmla="*/ 2147483646 w 1026"/>
                <a:gd name="T57" fmla="*/ 2147483646 h 461"/>
                <a:gd name="T58" fmla="*/ 2147483646 w 1026"/>
                <a:gd name="T59" fmla="*/ 2147483646 h 461"/>
                <a:gd name="T60" fmla="*/ 2147483646 w 1026"/>
                <a:gd name="T61" fmla="*/ 2147483646 h 461"/>
                <a:gd name="T62" fmla="*/ 2147483646 w 1026"/>
                <a:gd name="T63" fmla="*/ 2147483646 h 461"/>
                <a:gd name="T64" fmla="*/ 2147483646 w 1026"/>
                <a:gd name="T65" fmla="*/ 2147483646 h 461"/>
                <a:gd name="T66" fmla="*/ 2147483646 w 1026"/>
                <a:gd name="T67" fmla="*/ 2147483646 h 461"/>
                <a:gd name="T68" fmla="*/ 2147483646 w 1026"/>
                <a:gd name="T69" fmla="*/ 2147483646 h 461"/>
                <a:gd name="T70" fmla="*/ 2147483646 w 1026"/>
                <a:gd name="T71" fmla="*/ 2147483646 h 461"/>
                <a:gd name="T72" fmla="*/ 2147483646 w 1026"/>
                <a:gd name="T73" fmla="*/ 2147483646 h 461"/>
                <a:gd name="T74" fmla="*/ 2147483646 w 1026"/>
                <a:gd name="T75" fmla="*/ 2147483646 h 461"/>
                <a:gd name="T76" fmla="*/ 2147483646 w 1026"/>
                <a:gd name="T77" fmla="*/ 2147483646 h 461"/>
                <a:gd name="T78" fmla="*/ 2147483646 w 1026"/>
                <a:gd name="T79" fmla="*/ 2147483646 h 4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26"/>
                <a:gd name="T121" fmla="*/ 0 h 461"/>
                <a:gd name="T122" fmla="*/ 1026 w 1026"/>
                <a:gd name="T123" fmla="*/ 461 h 46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17" name="Text Box 10">
              <a:extLst>
                <a:ext uri="{FF2B5EF4-FFF2-40B4-BE49-F238E27FC236}">
                  <a16:creationId xmlns:a16="http://schemas.microsoft.com/office/drawing/2014/main" id="{33754221-7994-4210-AE67-B32089D65250}"/>
                </a:ext>
              </a:extLst>
            </p:cNvPr>
            <p:cNvSpPr txBox="1">
              <a:spLocks noChangeArrowheads="1"/>
            </p:cNvSpPr>
            <p:nvPr/>
          </p:nvSpPr>
          <p:spPr bwMode="auto">
            <a:xfrm>
              <a:off x="2406274" y="2466975"/>
              <a:ext cx="3826629" cy="79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dirty="0">
                  <a:solidFill>
                    <a:srgbClr val="333399"/>
                  </a:solidFill>
                  <a:ea typeface="黑体" panose="02010609060101010101" pitchFamily="49" charset="-122"/>
                </a:rPr>
                <a:t>实际的信道</a:t>
              </a:r>
            </a:p>
            <a:p>
              <a:pPr algn="ctr" eaLnBrk="1" hangingPunct="1">
                <a:spcBef>
                  <a:spcPct val="0"/>
                </a:spcBef>
                <a:buClrTx/>
                <a:buFontTx/>
                <a:buNone/>
              </a:pPr>
              <a:r>
                <a:rPr lang="zh-CN" altLang="en-US" sz="1600" dirty="0">
                  <a:solidFill>
                    <a:srgbClr val="333399"/>
                  </a:solidFill>
                  <a:ea typeface="黑体" panose="02010609060101010101" pitchFamily="49" charset="-122"/>
                </a:rPr>
                <a:t>（带宽受限、有噪声、干扰和失真）</a:t>
              </a:r>
            </a:p>
          </p:txBody>
        </p:sp>
        <p:sp>
          <p:nvSpPr>
            <p:cNvPr id="18" name="Text Box 11">
              <a:extLst>
                <a:ext uri="{FF2B5EF4-FFF2-40B4-BE49-F238E27FC236}">
                  <a16:creationId xmlns:a16="http://schemas.microsoft.com/office/drawing/2014/main" id="{9290804A-606B-4028-B916-98C641BDD063}"/>
                </a:ext>
              </a:extLst>
            </p:cNvPr>
            <p:cNvSpPr txBox="1">
              <a:spLocks noChangeArrowheads="1"/>
            </p:cNvSpPr>
            <p:nvPr/>
          </p:nvSpPr>
          <p:spPr bwMode="auto">
            <a:xfrm>
              <a:off x="539750" y="3433764"/>
              <a:ext cx="1562351" cy="4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1600" dirty="0">
                  <a:solidFill>
                    <a:srgbClr val="333399"/>
                  </a:solidFill>
                  <a:latin typeface="黑体" panose="02010609060101010101" pitchFamily="49" charset="-122"/>
                  <a:ea typeface="黑体" panose="02010609060101010101" pitchFamily="49" charset="-122"/>
                </a:rPr>
                <a:t>发送信号波形</a:t>
              </a:r>
            </a:p>
          </p:txBody>
        </p:sp>
        <p:sp>
          <p:nvSpPr>
            <p:cNvPr id="19" name="Text Box 12">
              <a:extLst>
                <a:ext uri="{FF2B5EF4-FFF2-40B4-BE49-F238E27FC236}">
                  <a16:creationId xmlns:a16="http://schemas.microsoft.com/office/drawing/2014/main" id="{81189B9D-6319-4C18-BFE0-76CD19A196D0}"/>
                </a:ext>
              </a:extLst>
            </p:cNvPr>
            <p:cNvSpPr txBox="1">
              <a:spLocks noChangeArrowheads="1"/>
            </p:cNvSpPr>
            <p:nvPr/>
          </p:nvSpPr>
          <p:spPr bwMode="auto">
            <a:xfrm>
              <a:off x="6464300" y="3448049"/>
              <a:ext cx="1924050" cy="4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solidFill>
                    <a:srgbClr val="333399"/>
                  </a:solidFill>
                  <a:latin typeface="黑体" panose="02010609060101010101" pitchFamily="49" charset="-122"/>
                  <a:ea typeface="黑体" panose="02010609060101010101" pitchFamily="49" charset="-122"/>
                </a:rPr>
                <a:t>接收信号波形</a:t>
              </a:r>
            </a:p>
          </p:txBody>
        </p:sp>
      </p:grpSp>
      <p:grpSp>
        <p:nvGrpSpPr>
          <p:cNvPr id="20" name="Group 24">
            <a:extLst>
              <a:ext uri="{FF2B5EF4-FFF2-40B4-BE49-F238E27FC236}">
                <a16:creationId xmlns:a16="http://schemas.microsoft.com/office/drawing/2014/main" id="{310F6B4E-5CE7-41A2-9994-FA82B791CA43}"/>
              </a:ext>
            </a:extLst>
          </p:cNvPr>
          <p:cNvGrpSpPr>
            <a:grpSpLocks/>
          </p:cNvGrpSpPr>
          <p:nvPr/>
        </p:nvGrpSpPr>
        <p:grpSpPr bwMode="auto">
          <a:xfrm>
            <a:off x="3509963" y="3887167"/>
            <a:ext cx="7531076" cy="1093642"/>
            <a:chOff x="304" y="2886"/>
            <a:chExt cx="4935" cy="937"/>
          </a:xfrm>
        </p:grpSpPr>
        <p:sp>
          <p:nvSpPr>
            <p:cNvPr id="21" name="AutoShape 13">
              <a:extLst>
                <a:ext uri="{FF2B5EF4-FFF2-40B4-BE49-F238E27FC236}">
                  <a16:creationId xmlns:a16="http://schemas.microsoft.com/office/drawing/2014/main" id="{96655958-0FBB-4E84-8F8D-7FB27BBC6028}"/>
                </a:ext>
              </a:extLst>
            </p:cNvPr>
            <p:cNvSpPr>
              <a:spLocks noChangeArrowheads="1"/>
            </p:cNvSpPr>
            <p:nvPr/>
          </p:nvSpPr>
          <p:spPr bwMode="auto">
            <a:xfrm rot="-5400000">
              <a:off x="2600" y="2210"/>
              <a:ext cx="250" cy="2558"/>
            </a:xfrm>
            <a:prstGeom prst="can">
              <a:avLst>
                <a:gd name="adj" fmla="val 66508"/>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1600"/>
            </a:p>
          </p:txBody>
        </p:sp>
        <p:sp>
          <p:nvSpPr>
            <p:cNvPr id="22" name="Freeform 14">
              <a:extLst>
                <a:ext uri="{FF2B5EF4-FFF2-40B4-BE49-F238E27FC236}">
                  <a16:creationId xmlns:a16="http://schemas.microsoft.com/office/drawing/2014/main" id="{5F9C5DB9-4C72-4642-BF10-D64FD243A661}"/>
                </a:ext>
              </a:extLst>
            </p:cNvPr>
            <p:cNvSpPr>
              <a:spLocks/>
            </p:cNvSpPr>
            <p:nvPr/>
          </p:nvSpPr>
          <p:spPr bwMode="auto">
            <a:xfrm>
              <a:off x="343" y="2991"/>
              <a:ext cx="970" cy="415"/>
            </a:xfrm>
            <a:custGeom>
              <a:avLst/>
              <a:gdLst>
                <a:gd name="T0" fmla="*/ 0 w 1056"/>
                <a:gd name="T1" fmla="*/ 54 h 480"/>
                <a:gd name="T2" fmla="*/ 40 w 1056"/>
                <a:gd name="T3" fmla="*/ 54 h 480"/>
                <a:gd name="T4" fmla="*/ 40 w 1056"/>
                <a:gd name="T5" fmla="*/ 0 h 480"/>
                <a:gd name="T6" fmla="*/ 108 w 1056"/>
                <a:gd name="T7" fmla="*/ 0 h 480"/>
                <a:gd name="T8" fmla="*/ 108 w 1056"/>
                <a:gd name="T9" fmla="*/ 54 h 480"/>
                <a:gd name="T10" fmla="*/ 174 w 1056"/>
                <a:gd name="T11" fmla="*/ 54 h 480"/>
                <a:gd name="T12" fmla="*/ 174 w 1056"/>
                <a:gd name="T13" fmla="*/ 0 h 480"/>
                <a:gd name="T14" fmla="*/ 242 w 1056"/>
                <a:gd name="T15" fmla="*/ 0 h 480"/>
                <a:gd name="T16" fmla="*/ 242 w 1056"/>
                <a:gd name="T17" fmla="*/ 54 h 480"/>
                <a:gd name="T18" fmla="*/ 295 w 1056"/>
                <a:gd name="T19" fmla="*/ 54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23" name="Line 15">
              <a:extLst>
                <a:ext uri="{FF2B5EF4-FFF2-40B4-BE49-F238E27FC236}">
                  <a16:creationId xmlns:a16="http://schemas.microsoft.com/office/drawing/2014/main" id="{5A8B4E8C-4F28-4C9C-9510-17B009BF6CFD}"/>
                </a:ext>
              </a:extLst>
            </p:cNvPr>
            <p:cNvSpPr>
              <a:spLocks noChangeShapeType="1"/>
            </p:cNvSpPr>
            <p:nvPr/>
          </p:nvSpPr>
          <p:spPr bwMode="auto">
            <a:xfrm>
              <a:off x="343" y="3489"/>
              <a:ext cx="123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sz="1600"/>
            </a:p>
          </p:txBody>
        </p:sp>
        <p:sp>
          <p:nvSpPr>
            <p:cNvPr id="24" name="Freeform 16">
              <a:extLst>
                <a:ext uri="{FF2B5EF4-FFF2-40B4-BE49-F238E27FC236}">
                  <a16:creationId xmlns:a16="http://schemas.microsoft.com/office/drawing/2014/main" id="{BED4792B-7965-425B-BA0D-F52230661437}"/>
                </a:ext>
              </a:extLst>
            </p:cNvPr>
            <p:cNvSpPr>
              <a:spLocks/>
            </p:cNvSpPr>
            <p:nvPr/>
          </p:nvSpPr>
          <p:spPr bwMode="auto">
            <a:xfrm>
              <a:off x="4180" y="2991"/>
              <a:ext cx="971" cy="415"/>
            </a:xfrm>
            <a:custGeom>
              <a:avLst/>
              <a:gdLst>
                <a:gd name="T0" fmla="*/ 0 w 1056"/>
                <a:gd name="T1" fmla="*/ 54 h 480"/>
                <a:gd name="T2" fmla="*/ 40 w 1056"/>
                <a:gd name="T3" fmla="*/ 54 h 480"/>
                <a:gd name="T4" fmla="*/ 40 w 1056"/>
                <a:gd name="T5" fmla="*/ 0 h 480"/>
                <a:gd name="T6" fmla="*/ 110 w 1056"/>
                <a:gd name="T7" fmla="*/ 0 h 480"/>
                <a:gd name="T8" fmla="*/ 110 w 1056"/>
                <a:gd name="T9" fmla="*/ 54 h 480"/>
                <a:gd name="T10" fmla="*/ 177 w 1056"/>
                <a:gd name="T11" fmla="*/ 54 h 480"/>
                <a:gd name="T12" fmla="*/ 177 w 1056"/>
                <a:gd name="T13" fmla="*/ 0 h 480"/>
                <a:gd name="T14" fmla="*/ 245 w 1056"/>
                <a:gd name="T15" fmla="*/ 0 h 480"/>
                <a:gd name="T16" fmla="*/ 245 w 1056"/>
                <a:gd name="T17" fmla="*/ 54 h 480"/>
                <a:gd name="T18" fmla="*/ 300 w 1056"/>
                <a:gd name="T19" fmla="*/ 54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25" name="Line 17">
              <a:extLst>
                <a:ext uri="{FF2B5EF4-FFF2-40B4-BE49-F238E27FC236}">
                  <a16:creationId xmlns:a16="http://schemas.microsoft.com/office/drawing/2014/main" id="{5430EA3E-04D0-4E7A-AA92-218EEFCE4B00}"/>
                </a:ext>
              </a:extLst>
            </p:cNvPr>
            <p:cNvSpPr>
              <a:spLocks noChangeShapeType="1"/>
            </p:cNvSpPr>
            <p:nvPr/>
          </p:nvSpPr>
          <p:spPr bwMode="auto">
            <a:xfrm>
              <a:off x="4004" y="3489"/>
              <a:ext cx="123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sz="1600"/>
            </a:p>
          </p:txBody>
        </p:sp>
        <p:sp>
          <p:nvSpPr>
            <p:cNvPr id="26" name="Freeform 18">
              <a:extLst>
                <a:ext uri="{FF2B5EF4-FFF2-40B4-BE49-F238E27FC236}">
                  <a16:creationId xmlns:a16="http://schemas.microsoft.com/office/drawing/2014/main" id="{5FC9199E-FBC3-4261-90BC-171315F1B872}"/>
                </a:ext>
              </a:extLst>
            </p:cNvPr>
            <p:cNvSpPr>
              <a:spLocks/>
            </p:cNvSpPr>
            <p:nvPr/>
          </p:nvSpPr>
          <p:spPr bwMode="auto">
            <a:xfrm>
              <a:off x="4186" y="3270"/>
              <a:ext cx="934" cy="124"/>
            </a:xfrm>
            <a:custGeom>
              <a:avLst/>
              <a:gdLst>
                <a:gd name="T0" fmla="*/ 0 w 1017"/>
                <a:gd name="T1" fmla="*/ 13 h 143"/>
                <a:gd name="T2" fmla="*/ 16 w 1017"/>
                <a:gd name="T3" fmla="*/ 15 h 143"/>
                <a:gd name="T4" fmla="*/ 24 w 1017"/>
                <a:gd name="T5" fmla="*/ 15 h 143"/>
                <a:gd name="T6" fmla="*/ 31 w 1017"/>
                <a:gd name="T7" fmla="*/ 10 h 143"/>
                <a:gd name="T8" fmla="*/ 46 w 1017"/>
                <a:gd name="T9" fmla="*/ 3 h 143"/>
                <a:gd name="T10" fmla="*/ 51 w 1017"/>
                <a:gd name="T11" fmla="*/ 7 h 143"/>
                <a:gd name="T12" fmla="*/ 52 w 1017"/>
                <a:gd name="T13" fmla="*/ 13 h 143"/>
                <a:gd name="T14" fmla="*/ 56 w 1017"/>
                <a:gd name="T15" fmla="*/ 9 h 143"/>
                <a:gd name="T16" fmla="*/ 61 w 1017"/>
                <a:gd name="T17" fmla="*/ 10 h 143"/>
                <a:gd name="T18" fmla="*/ 71 w 1017"/>
                <a:gd name="T19" fmla="*/ 9 h 143"/>
                <a:gd name="T20" fmla="*/ 91 w 1017"/>
                <a:gd name="T21" fmla="*/ 11 h 143"/>
                <a:gd name="T22" fmla="*/ 98 w 1017"/>
                <a:gd name="T23" fmla="*/ 14 h 143"/>
                <a:gd name="T24" fmla="*/ 114 w 1017"/>
                <a:gd name="T25" fmla="*/ 9 h 143"/>
                <a:gd name="T26" fmla="*/ 129 w 1017"/>
                <a:gd name="T27" fmla="*/ 12 h 143"/>
                <a:gd name="T28" fmla="*/ 141 w 1017"/>
                <a:gd name="T29" fmla="*/ 14 h 143"/>
                <a:gd name="T30" fmla="*/ 157 w 1017"/>
                <a:gd name="T31" fmla="*/ 14 h 143"/>
                <a:gd name="T32" fmla="*/ 172 w 1017"/>
                <a:gd name="T33" fmla="*/ 10 h 143"/>
                <a:gd name="T34" fmla="*/ 179 w 1017"/>
                <a:gd name="T35" fmla="*/ 9 h 143"/>
                <a:gd name="T36" fmla="*/ 183 w 1017"/>
                <a:gd name="T37" fmla="*/ 13 h 143"/>
                <a:gd name="T38" fmla="*/ 187 w 1017"/>
                <a:gd name="T39" fmla="*/ 6 h 143"/>
                <a:gd name="T40" fmla="*/ 195 w 1017"/>
                <a:gd name="T41" fmla="*/ 5 h 143"/>
                <a:gd name="T42" fmla="*/ 211 w 1017"/>
                <a:gd name="T43" fmla="*/ 8 h 143"/>
                <a:gd name="T44" fmla="*/ 222 w 1017"/>
                <a:gd name="T45" fmla="*/ 8 h 143"/>
                <a:gd name="T46" fmla="*/ 232 w 1017"/>
                <a:gd name="T47" fmla="*/ 11 h 143"/>
                <a:gd name="T48" fmla="*/ 243 w 1017"/>
                <a:gd name="T49" fmla="*/ 13 h 143"/>
                <a:gd name="T50" fmla="*/ 249 w 1017"/>
                <a:gd name="T51" fmla="*/ 10 h 143"/>
                <a:gd name="T52" fmla="*/ 253 w 1017"/>
                <a:gd name="T53" fmla="*/ 12 h 143"/>
                <a:gd name="T54" fmla="*/ 259 w 1017"/>
                <a:gd name="T55" fmla="*/ 8 h 143"/>
                <a:gd name="T56" fmla="*/ 271 w 1017"/>
                <a:gd name="T57" fmla="*/ 13 h 143"/>
                <a:gd name="T58" fmla="*/ 284 w 1017"/>
                <a:gd name="T59" fmla="*/ 14 h 1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017"/>
                <a:gd name="T91" fmla="*/ 0 h 143"/>
                <a:gd name="T92" fmla="*/ 1017 w 1017"/>
                <a:gd name="T93" fmla="*/ 143 h 14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27" name="Text Box 19">
              <a:extLst>
                <a:ext uri="{FF2B5EF4-FFF2-40B4-BE49-F238E27FC236}">
                  <a16:creationId xmlns:a16="http://schemas.microsoft.com/office/drawing/2014/main" id="{29704CD1-64E9-4B1F-9638-57433816AFF5}"/>
                </a:ext>
              </a:extLst>
            </p:cNvPr>
            <p:cNvSpPr txBox="1">
              <a:spLocks noChangeArrowheads="1"/>
            </p:cNvSpPr>
            <p:nvPr/>
          </p:nvSpPr>
          <p:spPr bwMode="auto">
            <a:xfrm>
              <a:off x="304" y="3503"/>
              <a:ext cx="9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1600">
                  <a:solidFill>
                    <a:srgbClr val="333399"/>
                  </a:solidFill>
                  <a:latin typeface="黑体" panose="02010609060101010101" pitchFamily="49" charset="-122"/>
                  <a:ea typeface="黑体" panose="02010609060101010101" pitchFamily="49" charset="-122"/>
                </a:rPr>
                <a:t>发送信号波形</a:t>
              </a:r>
            </a:p>
          </p:txBody>
        </p:sp>
        <p:sp>
          <p:nvSpPr>
            <p:cNvPr id="28" name="Text Box 22">
              <a:extLst>
                <a:ext uri="{FF2B5EF4-FFF2-40B4-BE49-F238E27FC236}">
                  <a16:creationId xmlns:a16="http://schemas.microsoft.com/office/drawing/2014/main" id="{8184FC11-5225-4811-B5E6-3F36275BDDEA}"/>
                </a:ext>
              </a:extLst>
            </p:cNvPr>
            <p:cNvSpPr txBox="1">
              <a:spLocks noChangeArrowheads="1"/>
            </p:cNvSpPr>
            <p:nvPr/>
          </p:nvSpPr>
          <p:spPr bwMode="auto">
            <a:xfrm>
              <a:off x="1494" y="2886"/>
              <a:ext cx="2410"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solidFill>
                    <a:srgbClr val="333399"/>
                  </a:solidFill>
                  <a:ea typeface="黑体" panose="02010609060101010101" pitchFamily="49" charset="-122"/>
                </a:rPr>
                <a:t>实际的信道</a:t>
              </a:r>
            </a:p>
            <a:p>
              <a:pPr algn="ctr" eaLnBrk="1" hangingPunct="1">
                <a:spcBef>
                  <a:spcPct val="0"/>
                </a:spcBef>
                <a:buClrTx/>
                <a:buFontTx/>
                <a:buNone/>
              </a:pPr>
              <a:r>
                <a:rPr lang="zh-CN" altLang="en-US" sz="1600">
                  <a:solidFill>
                    <a:srgbClr val="333399"/>
                  </a:solidFill>
                  <a:ea typeface="黑体" panose="02010609060101010101" pitchFamily="49" charset="-122"/>
                </a:rPr>
                <a:t>（带宽受限、有噪声、干扰和失真）</a:t>
              </a:r>
            </a:p>
          </p:txBody>
        </p:sp>
        <p:sp>
          <p:nvSpPr>
            <p:cNvPr id="29" name="Text Box 23">
              <a:extLst>
                <a:ext uri="{FF2B5EF4-FFF2-40B4-BE49-F238E27FC236}">
                  <a16:creationId xmlns:a16="http://schemas.microsoft.com/office/drawing/2014/main" id="{6A12B740-444C-401E-A9DF-B08BF4E213B5}"/>
                </a:ext>
              </a:extLst>
            </p:cNvPr>
            <p:cNvSpPr txBox="1">
              <a:spLocks noChangeArrowheads="1"/>
            </p:cNvSpPr>
            <p:nvPr/>
          </p:nvSpPr>
          <p:spPr bwMode="auto">
            <a:xfrm>
              <a:off x="3991" y="3533"/>
              <a:ext cx="11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solidFill>
                    <a:srgbClr val="333399"/>
                  </a:solidFill>
                  <a:latin typeface="黑体" panose="02010609060101010101" pitchFamily="49" charset="-122"/>
                  <a:ea typeface="黑体" panose="02010609060101010101" pitchFamily="49" charset="-122"/>
                </a:rPr>
                <a:t>接收信号波形</a:t>
              </a:r>
            </a:p>
          </p:txBody>
        </p:sp>
      </p:grpSp>
      <p:sp>
        <p:nvSpPr>
          <p:cNvPr id="30" name="内容占位符 2">
            <a:extLst>
              <a:ext uri="{FF2B5EF4-FFF2-40B4-BE49-F238E27FC236}">
                <a16:creationId xmlns:a16="http://schemas.microsoft.com/office/drawing/2014/main" id="{ADDBDCE5-7E26-4A61-931A-54B611251234}"/>
              </a:ext>
            </a:extLst>
          </p:cNvPr>
          <p:cNvSpPr txBox="1">
            <a:spLocks/>
          </p:cNvSpPr>
          <p:nvPr/>
        </p:nvSpPr>
        <p:spPr>
          <a:xfrm>
            <a:off x="496233" y="4748469"/>
            <a:ext cx="11595687" cy="157286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rgbClr val="C00000"/>
                </a:solidFill>
                <a:latin typeface="微软雅黑" panose="020B0503020204020204" pitchFamily="34" charset="-122"/>
                <a:ea typeface="微软雅黑" panose="020B0503020204020204" pitchFamily="34" charset="-122"/>
              </a:rPr>
              <a:t>干扰</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环境干扰</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指</a:t>
            </a:r>
            <a:r>
              <a:rPr lang="zh-CN" altLang="zh-CN" sz="2000" dirty="0">
                <a:latin typeface="微软雅黑" panose="020B0503020204020204" pitchFamily="34" charset="-122"/>
                <a:ea typeface="微软雅黑" panose="020B0503020204020204" pitchFamily="34" charset="-122"/>
              </a:rPr>
              <a:t>大气干扰</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如雷电、电离层闪烁等</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、城区人为干扰</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如工业干扰</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汽车干扰等</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和非恶意的邻道干扰等</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人为恶意干扰  </a:t>
            </a:r>
            <a:r>
              <a:rPr lang="zh-CN" altLang="zh-CN" sz="2000" dirty="0">
                <a:latin typeface="微软雅黑" panose="020B0503020204020204" pitchFamily="34" charset="-122"/>
                <a:ea typeface="微软雅黑" panose="020B0503020204020204" pitchFamily="34" charset="-122"/>
              </a:rPr>
              <a:t>指带有恶意或敌意的人为干扰</a:t>
            </a:r>
            <a:endParaRPr lang="zh-CN" altLang="en-US" sz="2000" dirty="0">
              <a:latin typeface="微软雅黑" panose="020B0503020204020204" pitchFamily="34" charset="-122"/>
              <a:ea typeface="微软雅黑" panose="020B0503020204020204" pitchFamily="34" charset="-122"/>
            </a:endParaRPr>
          </a:p>
        </p:txBody>
      </p:sp>
      <p:sp>
        <p:nvSpPr>
          <p:cNvPr id="32" name="标题 1">
            <a:extLst>
              <a:ext uri="{FF2B5EF4-FFF2-40B4-BE49-F238E27FC236}">
                <a16:creationId xmlns:a16="http://schemas.microsoft.com/office/drawing/2014/main" id="{C86BA3DA-3CB7-49A2-B48A-5A11623B960B}"/>
              </a:ext>
            </a:extLst>
          </p:cNvPr>
          <p:cNvSpPr>
            <a:spLocks noGrp="1"/>
          </p:cNvSpPr>
          <p:nvPr>
            <p:ph type="title"/>
          </p:nvPr>
        </p:nvSpPr>
        <p:spPr>
          <a:xfrm>
            <a:off x="1307508" y="365126"/>
            <a:ext cx="8220812" cy="879086"/>
          </a:xfrm>
        </p:spPr>
        <p:txBody>
          <a:bodyPr vert="horz" lIns="91440" tIns="45720" rIns="91440" bIns="45720" rtlCol="0">
            <a:normAutofit/>
          </a:bodyPr>
          <a:lstStyle/>
          <a:p>
            <a:pPr marL="0" indent="0">
              <a:buNone/>
            </a:pPr>
            <a:r>
              <a:rPr lang="zh-CN" altLang="en-US" dirty="0"/>
              <a:t>传输损伤</a:t>
            </a:r>
          </a:p>
        </p:txBody>
      </p:sp>
      <p:sp>
        <p:nvSpPr>
          <p:cNvPr id="33" name="文本框 32">
            <a:extLst>
              <a:ext uri="{FF2B5EF4-FFF2-40B4-BE49-F238E27FC236}">
                <a16:creationId xmlns:a16="http://schemas.microsoft.com/office/drawing/2014/main" id="{C74BB69C-0C36-4D8B-8123-CD9E14A922F8}"/>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005284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53060" y="1263185"/>
            <a:ext cx="10140682" cy="879086"/>
          </a:xfrm>
        </p:spPr>
        <p:txBody>
          <a:bodyPr>
            <a:normAutofit/>
          </a:bodyPr>
          <a:lstStyle/>
          <a:p>
            <a:pPr marL="0" indent="0">
              <a:lnSpc>
                <a:spcPct val="130000"/>
              </a:lnSpc>
              <a:buNone/>
            </a:pPr>
            <a:r>
              <a:rPr lang="zh-CN" altLang="en-US" dirty="0">
                <a:solidFill>
                  <a:srgbClr val="C00000"/>
                </a:solidFill>
                <a:latin typeface="微软雅黑" panose="020B0503020204020204" pitchFamily="34" charset="-122"/>
                <a:ea typeface="微软雅黑" panose="020B0503020204020204" pitchFamily="34" charset="-122"/>
              </a:rPr>
              <a:t>传输速率</a:t>
            </a:r>
          </a:p>
        </p:txBody>
      </p:sp>
      <p:sp>
        <p:nvSpPr>
          <p:cNvPr id="6" name="Rectangle 3">
            <a:extLst>
              <a:ext uri="{FF2B5EF4-FFF2-40B4-BE49-F238E27FC236}">
                <a16:creationId xmlns:a16="http://schemas.microsoft.com/office/drawing/2014/main" id="{C6398C3E-BA0D-49F5-A103-CF3ACC1612B8}"/>
              </a:ext>
            </a:extLst>
          </p:cNvPr>
          <p:cNvSpPr txBox="1">
            <a:spLocks noChangeArrowheads="1"/>
          </p:cNvSpPr>
          <p:nvPr/>
        </p:nvSpPr>
        <p:spPr>
          <a:xfrm>
            <a:off x="553058" y="1920432"/>
            <a:ext cx="11074835" cy="386715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rgbClr val="C00000"/>
                </a:solidFill>
                <a:latin typeface="微软雅黑" panose="020B0503020204020204" pitchFamily="34" charset="-122"/>
                <a:ea typeface="微软雅黑" panose="020B0503020204020204" pitchFamily="34" charset="-122"/>
              </a:rPr>
              <a:t>传输速率    </a:t>
            </a:r>
            <a:r>
              <a:rPr lang="zh-CN" altLang="en-US" sz="2400" dirty="0">
                <a:latin typeface="微软雅黑" panose="020B0503020204020204" pitchFamily="34" charset="-122"/>
                <a:ea typeface="微软雅黑" panose="020B0503020204020204" pitchFamily="34" charset="-122"/>
              </a:rPr>
              <a:t>指单位时间内传送的信息量，是衡量数据通信系统传输能力的一个重要指标。常用的传输速率有两种：</a:t>
            </a:r>
          </a:p>
          <a:p>
            <a:pPr lvl="1"/>
            <a:r>
              <a:rPr lang="zh-CN" altLang="en-US" sz="2200" dirty="0">
                <a:solidFill>
                  <a:srgbClr val="C00000"/>
                </a:solidFill>
                <a:latin typeface="微软雅黑" panose="020B0503020204020204" pitchFamily="34" charset="-122"/>
                <a:ea typeface="微软雅黑" panose="020B0503020204020204" pitchFamily="34" charset="-122"/>
              </a:rPr>
              <a:t>调制速率</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或波特率、码元速率</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指单位时间内调制信号波形的变换次数，其单位是波特：</a:t>
            </a:r>
          </a:p>
          <a:p>
            <a:pPr lvl="1">
              <a:buNone/>
            </a:pPr>
            <a:endParaRPr lang="en-US" altLang="zh-CN" sz="2200" dirty="0">
              <a:latin typeface="微软雅黑" panose="020B0503020204020204" pitchFamily="34" charset="-122"/>
              <a:ea typeface="微软雅黑" panose="020B0503020204020204" pitchFamily="34" charset="-122"/>
            </a:endParaRPr>
          </a:p>
          <a:p>
            <a:pPr lvl="1"/>
            <a:r>
              <a:rPr lang="zh-CN" altLang="en-US" sz="2200" dirty="0">
                <a:solidFill>
                  <a:srgbClr val="C00000"/>
                </a:solidFill>
                <a:latin typeface="微软雅黑" panose="020B0503020204020204" pitchFamily="34" charset="-122"/>
                <a:ea typeface="微软雅黑" panose="020B0503020204020204" pitchFamily="34" charset="-122"/>
              </a:rPr>
              <a:t>数据信号速率</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或传信率、比特率</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指单位时间内通过信道的信息量，其单位是比特</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秒：</a:t>
            </a:r>
          </a:p>
          <a:p>
            <a:pPr>
              <a:buFont typeface="Wingdings" pitchFamily="2" charset="2"/>
              <a:buNone/>
            </a:pPr>
            <a:endParaRPr lang="en-US" altLang="zh-CN" sz="2400" dirty="0">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66838D60-E33A-4289-B0AA-5306531E3EC8}"/>
              </a:ext>
            </a:extLst>
          </p:cNvPr>
          <p:cNvGrpSpPr/>
          <p:nvPr/>
        </p:nvGrpSpPr>
        <p:grpSpPr>
          <a:xfrm>
            <a:off x="4181180" y="4657082"/>
            <a:ext cx="3650715" cy="1005017"/>
            <a:chOff x="2890218" y="4448707"/>
            <a:chExt cx="3723039" cy="854428"/>
          </a:xfrm>
        </p:grpSpPr>
        <p:graphicFrame>
          <p:nvGraphicFramePr>
            <p:cNvPr id="9" name="Object 7">
              <a:extLst>
                <a:ext uri="{FF2B5EF4-FFF2-40B4-BE49-F238E27FC236}">
                  <a16:creationId xmlns:a16="http://schemas.microsoft.com/office/drawing/2014/main" id="{21223637-D1D6-419F-B006-547876CCFFEE}"/>
                </a:ext>
              </a:extLst>
            </p:cNvPr>
            <p:cNvGraphicFramePr>
              <a:graphicFrameLocks noChangeAspect="1"/>
            </p:cNvGraphicFramePr>
            <p:nvPr>
              <p:extLst>
                <p:ext uri="{D42A27DB-BD31-4B8C-83A1-F6EECF244321}">
                  <p14:modId xmlns:p14="http://schemas.microsoft.com/office/powerpoint/2010/main" val="2646041212"/>
                </p:ext>
              </p:extLst>
            </p:nvPr>
          </p:nvGraphicFramePr>
          <p:xfrm>
            <a:off x="2890218" y="4448707"/>
            <a:ext cx="2505075" cy="854428"/>
          </p:xfrm>
          <a:graphic>
            <a:graphicData uri="http://schemas.openxmlformats.org/presentationml/2006/ole">
              <mc:AlternateContent xmlns:mc="http://schemas.openxmlformats.org/markup-compatibility/2006">
                <mc:Choice xmlns:v="urn:schemas-microsoft-com:vml" Requires="v">
                  <p:oleObj name="Equation" r:id="rId3" imgW="965160" imgH="380880" progId="Equation.DSMT4">
                    <p:embed/>
                  </p:oleObj>
                </mc:Choice>
                <mc:Fallback>
                  <p:oleObj name="Equation" r:id="rId3" imgW="965160" imgH="380880" progId="Equation.DSMT4">
                    <p:embed/>
                    <p:pic>
                      <p:nvPicPr>
                        <p:cNvPr id="25607" name="Object 7">
                          <a:extLst>
                            <a:ext uri="{FF2B5EF4-FFF2-40B4-BE49-F238E27FC236}">
                              <a16:creationId xmlns:a16="http://schemas.microsoft.com/office/drawing/2014/main" id="{8CE5CCD8-1C5B-41EA-A769-526E95D74F99}"/>
                            </a:ext>
                          </a:extLst>
                        </p:cNvPr>
                        <p:cNvPicPr>
                          <a:picLocks noChangeAspect="1" noChangeArrowheads="1"/>
                        </p:cNvPicPr>
                        <p:nvPr/>
                      </p:nvPicPr>
                      <p:blipFill>
                        <a:blip r:embed="rId4"/>
                        <a:srcRect/>
                        <a:stretch>
                          <a:fillRect/>
                        </a:stretch>
                      </p:blipFill>
                      <p:spPr bwMode="auto">
                        <a:xfrm>
                          <a:off x="2890218" y="4448707"/>
                          <a:ext cx="2505075" cy="854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8">
              <a:extLst>
                <a:ext uri="{FF2B5EF4-FFF2-40B4-BE49-F238E27FC236}">
                  <a16:creationId xmlns:a16="http://schemas.microsoft.com/office/drawing/2014/main" id="{A8377FAB-643C-4AC8-A277-B6D0E956865B}"/>
                </a:ext>
              </a:extLst>
            </p:cNvPr>
            <p:cNvSpPr txBox="1">
              <a:spLocks noChangeArrowheads="1"/>
            </p:cNvSpPr>
            <p:nvPr/>
          </p:nvSpPr>
          <p:spPr bwMode="auto">
            <a:xfrm>
              <a:off x="5605199" y="4625632"/>
              <a:ext cx="100805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dirty="0"/>
                <a:t>(b/s)</a:t>
              </a:r>
            </a:p>
          </p:txBody>
        </p:sp>
      </p:grpSp>
      <p:grpSp>
        <p:nvGrpSpPr>
          <p:cNvPr id="5" name="组合 4">
            <a:extLst>
              <a:ext uri="{FF2B5EF4-FFF2-40B4-BE49-F238E27FC236}">
                <a16:creationId xmlns:a16="http://schemas.microsoft.com/office/drawing/2014/main" id="{C1C223CB-326D-4EBF-A896-4A8910DE5FE9}"/>
              </a:ext>
            </a:extLst>
          </p:cNvPr>
          <p:cNvGrpSpPr/>
          <p:nvPr/>
        </p:nvGrpSpPr>
        <p:grpSpPr>
          <a:xfrm>
            <a:off x="4477865" y="3268044"/>
            <a:ext cx="2643450" cy="585963"/>
            <a:chOff x="3393273" y="3117862"/>
            <a:chExt cx="2528387" cy="549275"/>
          </a:xfrm>
        </p:grpSpPr>
        <p:graphicFrame>
          <p:nvGraphicFramePr>
            <p:cNvPr id="8" name="Object 4">
              <a:extLst>
                <a:ext uri="{FF2B5EF4-FFF2-40B4-BE49-F238E27FC236}">
                  <a16:creationId xmlns:a16="http://schemas.microsoft.com/office/drawing/2014/main" id="{3630A51D-66CE-4512-B7FD-CF3D67BA58DD}"/>
                </a:ext>
              </a:extLst>
            </p:cNvPr>
            <p:cNvGraphicFramePr>
              <a:graphicFrameLocks noChangeAspect="1"/>
            </p:cNvGraphicFramePr>
            <p:nvPr>
              <p:extLst>
                <p:ext uri="{D42A27DB-BD31-4B8C-83A1-F6EECF244321}">
                  <p14:modId xmlns:p14="http://schemas.microsoft.com/office/powerpoint/2010/main" val="1719218613"/>
                </p:ext>
              </p:extLst>
            </p:nvPr>
          </p:nvGraphicFramePr>
          <p:xfrm>
            <a:off x="3393273" y="3117862"/>
            <a:ext cx="1341431" cy="450850"/>
          </p:xfrm>
          <a:graphic>
            <a:graphicData uri="http://schemas.openxmlformats.org/presentationml/2006/ole">
              <mc:AlternateContent xmlns:mc="http://schemas.openxmlformats.org/markup-compatibility/2006">
                <mc:Choice xmlns:v="urn:schemas-microsoft-com:vml" Requires="v">
                  <p:oleObj name="公式" r:id="rId5" imgW="774364" imgH="215806" progId="Equation.3">
                    <p:embed/>
                  </p:oleObj>
                </mc:Choice>
                <mc:Fallback>
                  <p:oleObj name="公式" r:id="rId5" imgW="774364" imgH="215806" progId="Equation.3">
                    <p:embed/>
                    <p:pic>
                      <p:nvPicPr>
                        <p:cNvPr id="25606" name="Object 4">
                          <a:extLst>
                            <a:ext uri="{FF2B5EF4-FFF2-40B4-BE49-F238E27FC236}">
                              <a16:creationId xmlns:a16="http://schemas.microsoft.com/office/drawing/2014/main" id="{2D0A39A7-043B-4A64-8AF0-610AE9A92E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93273" y="3117862"/>
                          <a:ext cx="1341431"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9">
              <a:extLst>
                <a:ext uri="{FF2B5EF4-FFF2-40B4-BE49-F238E27FC236}">
                  <a16:creationId xmlns:a16="http://schemas.microsoft.com/office/drawing/2014/main" id="{7025BD4B-E887-4129-82AD-67C2B853A9F1}"/>
                </a:ext>
              </a:extLst>
            </p:cNvPr>
            <p:cNvSpPr txBox="1">
              <a:spLocks noChangeArrowheads="1"/>
            </p:cNvSpPr>
            <p:nvPr/>
          </p:nvSpPr>
          <p:spPr bwMode="auto">
            <a:xfrm>
              <a:off x="4913602" y="3117862"/>
              <a:ext cx="100805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dirty="0"/>
                <a:t>(Bd/s)</a:t>
              </a:r>
            </a:p>
          </p:txBody>
        </p:sp>
      </p:grpSp>
      <p:sp>
        <p:nvSpPr>
          <p:cNvPr id="16" name="Rectangle 3">
            <a:extLst>
              <a:ext uri="{FF2B5EF4-FFF2-40B4-BE49-F238E27FC236}">
                <a16:creationId xmlns:a16="http://schemas.microsoft.com/office/drawing/2014/main" id="{77F760D8-84A9-4B48-BE26-2ABDBC20EF4B}"/>
              </a:ext>
            </a:extLst>
          </p:cNvPr>
          <p:cNvSpPr txBox="1">
            <a:spLocks noChangeArrowheads="1"/>
          </p:cNvSpPr>
          <p:nvPr/>
        </p:nvSpPr>
        <p:spPr>
          <a:xfrm>
            <a:off x="561021" y="5946847"/>
            <a:ext cx="5154222" cy="47239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rgbClr val="C00000"/>
                </a:solidFill>
                <a:ea typeface="黑体" panose="02010609060101010101" pitchFamily="49" charset="-122"/>
              </a:rPr>
              <a:t>调制速率与数据信号速率的关系</a:t>
            </a:r>
            <a:r>
              <a:rPr lang="zh-CN" altLang="en-US" sz="2000" dirty="0">
                <a:latin typeface="Arial" panose="020B0604020202020204" pitchFamily="34" charset="0"/>
                <a:ea typeface="黑体" panose="02010609060101010101" pitchFamily="49" charset="-122"/>
              </a:rPr>
              <a:t>： </a:t>
            </a:r>
          </a:p>
        </p:txBody>
      </p:sp>
      <p:graphicFrame>
        <p:nvGraphicFramePr>
          <p:cNvPr id="17" name="Object 4">
            <a:extLst>
              <a:ext uri="{FF2B5EF4-FFF2-40B4-BE49-F238E27FC236}">
                <a16:creationId xmlns:a16="http://schemas.microsoft.com/office/drawing/2014/main" id="{B532CCF3-68B7-40F3-8147-D2BE0F8787BA}"/>
              </a:ext>
            </a:extLst>
          </p:cNvPr>
          <p:cNvGraphicFramePr>
            <a:graphicFrameLocks noChangeAspect="1"/>
          </p:cNvGraphicFramePr>
          <p:nvPr>
            <p:extLst>
              <p:ext uri="{D42A27DB-BD31-4B8C-83A1-F6EECF244321}">
                <p14:modId xmlns:p14="http://schemas.microsoft.com/office/powerpoint/2010/main" val="2450501388"/>
              </p:ext>
            </p:extLst>
          </p:nvPr>
        </p:nvGraphicFramePr>
        <p:xfrm>
          <a:off x="5524579" y="5924976"/>
          <a:ext cx="2456412" cy="546192"/>
        </p:xfrm>
        <a:graphic>
          <a:graphicData uri="http://schemas.openxmlformats.org/presentationml/2006/ole">
            <mc:AlternateContent xmlns:mc="http://schemas.openxmlformats.org/markup-compatibility/2006">
              <mc:Choice xmlns:v="urn:schemas-microsoft-com:vml" Requires="v">
                <p:oleObj name="公式" r:id="rId7" imgW="1016000" imgH="228600" progId="Equation.3">
                  <p:embed/>
                </p:oleObj>
              </mc:Choice>
              <mc:Fallback>
                <p:oleObj name="公式" r:id="rId7" imgW="1016000" imgH="228600" progId="Equation.3">
                  <p:embed/>
                  <p:pic>
                    <p:nvPicPr>
                      <p:cNvPr id="26630" name="Object 4">
                        <a:extLst>
                          <a:ext uri="{FF2B5EF4-FFF2-40B4-BE49-F238E27FC236}">
                            <a16:creationId xmlns:a16="http://schemas.microsoft.com/office/drawing/2014/main" id="{EDED53C6-0F0A-4295-9749-DAEBBC32BCD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4579" y="5924976"/>
                        <a:ext cx="2456412" cy="546192"/>
                      </a:xfrm>
                      <a:prstGeom prst="rect">
                        <a:avLst/>
                      </a:prstGeom>
                      <a:noFill/>
                      <a:ln>
                        <a:noFill/>
                      </a:ln>
                    </p:spPr>
                  </p:pic>
                </p:oleObj>
              </mc:Fallback>
            </mc:AlternateContent>
          </a:graphicData>
        </a:graphic>
      </p:graphicFrame>
      <p:grpSp>
        <p:nvGrpSpPr>
          <p:cNvPr id="13" name="组合 12">
            <a:extLst>
              <a:ext uri="{FF2B5EF4-FFF2-40B4-BE49-F238E27FC236}">
                <a16:creationId xmlns:a16="http://schemas.microsoft.com/office/drawing/2014/main" id="{3A19A87A-2824-4110-A5DB-DA71131EFE6D}"/>
              </a:ext>
            </a:extLst>
          </p:cNvPr>
          <p:cNvGrpSpPr/>
          <p:nvPr/>
        </p:nvGrpSpPr>
        <p:grpSpPr>
          <a:xfrm>
            <a:off x="7848712" y="1263185"/>
            <a:ext cx="3886087" cy="5481759"/>
            <a:chOff x="7848712" y="1263185"/>
            <a:chExt cx="3886087" cy="5481759"/>
          </a:xfrm>
        </p:grpSpPr>
        <p:pic>
          <p:nvPicPr>
            <p:cNvPr id="7" name="图片 6">
              <a:extLst>
                <a:ext uri="{FF2B5EF4-FFF2-40B4-BE49-F238E27FC236}">
                  <a16:creationId xmlns:a16="http://schemas.microsoft.com/office/drawing/2014/main" id="{1F85257C-A72A-4135-A742-636E5CEC187B}"/>
                </a:ext>
              </a:extLst>
            </p:cNvPr>
            <p:cNvPicPr>
              <a:picLocks noChangeAspect="1"/>
            </p:cNvPicPr>
            <p:nvPr/>
          </p:nvPicPr>
          <p:blipFill>
            <a:blip r:embed="rId9"/>
            <a:stretch>
              <a:fillRect/>
            </a:stretch>
          </p:blipFill>
          <p:spPr>
            <a:xfrm>
              <a:off x="7983628" y="6403112"/>
              <a:ext cx="2706824" cy="341832"/>
            </a:xfrm>
            <a:prstGeom prst="rect">
              <a:avLst/>
            </a:prstGeom>
          </p:spPr>
        </p:pic>
        <p:pic>
          <p:nvPicPr>
            <p:cNvPr id="20" name="图片 19">
              <a:extLst>
                <a:ext uri="{FF2B5EF4-FFF2-40B4-BE49-F238E27FC236}">
                  <a16:creationId xmlns:a16="http://schemas.microsoft.com/office/drawing/2014/main" id="{66F60C3B-7FBB-4921-B432-5D811E4F50CC}"/>
                </a:ext>
              </a:extLst>
            </p:cNvPr>
            <p:cNvPicPr>
              <a:picLocks noChangeAspect="1"/>
            </p:cNvPicPr>
            <p:nvPr/>
          </p:nvPicPr>
          <p:blipFill>
            <a:blip r:embed="rId9"/>
            <a:stretch>
              <a:fillRect/>
            </a:stretch>
          </p:blipFill>
          <p:spPr>
            <a:xfrm>
              <a:off x="7848712" y="1263185"/>
              <a:ext cx="3886087" cy="291405"/>
            </a:xfrm>
            <a:prstGeom prst="rect">
              <a:avLst/>
            </a:prstGeom>
          </p:spPr>
        </p:pic>
      </p:grpSp>
      <p:sp>
        <p:nvSpPr>
          <p:cNvPr id="4" name="对话气泡: 圆角矩形 3">
            <a:extLst>
              <a:ext uri="{FF2B5EF4-FFF2-40B4-BE49-F238E27FC236}">
                <a16:creationId xmlns:a16="http://schemas.microsoft.com/office/drawing/2014/main" id="{421EF980-580B-4160-B37B-D18FFC26A483}"/>
              </a:ext>
            </a:extLst>
          </p:cNvPr>
          <p:cNvSpPr/>
          <p:nvPr/>
        </p:nvSpPr>
        <p:spPr>
          <a:xfrm>
            <a:off x="9321421" y="5390866"/>
            <a:ext cx="1452942" cy="741250"/>
          </a:xfrm>
          <a:prstGeom prst="wedgeRoundRectCallout">
            <a:avLst>
              <a:gd name="adj1" fmla="val -152566"/>
              <a:gd name="adj2" fmla="val 58196"/>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1" name="对话气泡: 圆角矩形 20">
            <a:extLst>
              <a:ext uri="{FF2B5EF4-FFF2-40B4-BE49-F238E27FC236}">
                <a16:creationId xmlns:a16="http://schemas.microsoft.com/office/drawing/2014/main" id="{6821E07E-9C34-42A0-804D-6E9B6BD74F07}"/>
              </a:ext>
            </a:extLst>
          </p:cNvPr>
          <p:cNvSpPr/>
          <p:nvPr/>
        </p:nvSpPr>
        <p:spPr>
          <a:xfrm>
            <a:off x="9321420" y="5379493"/>
            <a:ext cx="1897039" cy="741250"/>
          </a:xfrm>
          <a:prstGeom prst="wedgeRoundRectCallout">
            <a:avLst>
              <a:gd name="adj1" fmla="val -207707"/>
              <a:gd name="adj2" fmla="val -68223"/>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sz="2000" dirty="0"/>
              <a:t>M</a:t>
            </a:r>
            <a:r>
              <a:rPr lang="zh-CN" altLang="en-US" sz="2000" dirty="0"/>
              <a:t>代表进制数</a:t>
            </a:r>
          </a:p>
        </p:txBody>
      </p:sp>
      <p:sp>
        <p:nvSpPr>
          <p:cNvPr id="19" name="文本框 18">
            <a:extLst>
              <a:ext uri="{FF2B5EF4-FFF2-40B4-BE49-F238E27FC236}">
                <a16:creationId xmlns:a16="http://schemas.microsoft.com/office/drawing/2014/main" id="{230F807E-5DEF-4909-858E-AB23CEAB82A2}"/>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20662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D6E462B-A698-42B6-A6F7-64E741C1EF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6B1BF7AA-BDE8-4EB8-A57E-9C1E9C41A345}"/>
              </a:ext>
            </a:extLst>
          </p:cNvPr>
          <p:cNvSpPr txBox="1"/>
          <p:nvPr/>
        </p:nvSpPr>
        <p:spPr>
          <a:xfrm>
            <a:off x="413657" y="1944275"/>
            <a:ext cx="11495314" cy="523220"/>
          </a:xfrm>
          <a:prstGeom prst="rect">
            <a:avLst/>
          </a:prstGeom>
          <a:noFill/>
        </p:spPr>
        <p:txBody>
          <a:bodyPr wrap="square">
            <a:spAutoFit/>
          </a:bodyPr>
          <a:lstStyle/>
          <a:p>
            <a:pPr marL="533400" marR="0" lvl="0" indent="-53340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zh-CN" altLang="en-US" sz="2800" b="0" i="0" u="none" strike="noStrike" kern="1200" cap="none" spc="0" normalizeH="0" baseline="0" noProof="0" dirty="0">
                <a:ln>
                  <a:noFill/>
                </a:ln>
                <a:solidFill>
                  <a:prstClr val="black"/>
                </a:solidFill>
                <a:effectLst/>
                <a:uLnTx/>
                <a:uFillTx/>
                <a:latin typeface="Arial" charset="0"/>
                <a:ea typeface="黑体" pitchFamily="49" charset="-122"/>
                <a:cs typeface="+mn-cs"/>
              </a:rPr>
              <a:t> </a:t>
            </a:r>
            <a:endParaRPr kumimoji="0" lang="zh-CN" altLang="en-US" sz="2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内容占位符 2">
            <a:extLst>
              <a:ext uri="{FF2B5EF4-FFF2-40B4-BE49-F238E27FC236}">
                <a16:creationId xmlns:a16="http://schemas.microsoft.com/office/drawing/2014/main" id="{6DEFBE8C-6084-4686-A8D2-97B95726B8AC}"/>
              </a:ext>
            </a:extLst>
          </p:cNvPr>
          <p:cNvSpPr>
            <a:spLocks noGrp="1"/>
          </p:cNvSpPr>
          <p:nvPr>
            <p:ph idx="1"/>
          </p:nvPr>
        </p:nvSpPr>
        <p:spPr>
          <a:xfrm>
            <a:off x="671593" y="1385581"/>
            <a:ext cx="10515600" cy="5247781"/>
          </a:xfrm>
        </p:spPr>
        <p:txBody>
          <a:bodyPr>
            <a:normAutofit/>
          </a:bodyPr>
          <a:lstStyle/>
          <a:p>
            <a:pPr>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带宽</a:t>
            </a:r>
            <a:r>
              <a:rPr lang="en-US" altLang="zh-CN" sz="2400" dirty="0">
                <a:solidFill>
                  <a:srgbClr val="C00000"/>
                </a:solidFill>
                <a:latin typeface="微软雅黑" panose="020B0503020204020204" pitchFamily="34" charset="-122"/>
                <a:ea typeface="微软雅黑" panose="020B0503020204020204" pitchFamily="34" charset="-122"/>
              </a:rPr>
              <a:t>(bandwidth)</a:t>
            </a:r>
            <a:r>
              <a:rPr lang="zh-CN" altLang="en-US" sz="2400" dirty="0">
                <a:solidFill>
                  <a:srgbClr val="C00000"/>
                </a:solidFill>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带宽有两种不同的意义</a:t>
            </a:r>
          </a:p>
          <a:p>
            <a:pPr lvl="1">
              <a:lnSpc>
                <a:spcPct val="110000"/>
              </a:lnSpc>
              <a:defRPr/>
            </a:pPr>
            <a:r>
              <a:rPr lang="zh-CN" altLang="en-US" sz="2200" dirty="0">
                <a:latin typeface="微软雅黑" panose="020B0503020204020204" pitchFamily="34" charset="-122"/>
                <a:ea typeface="微软雅黑" panose="020B0503020204020204" pitchFamily="34" charset="-122"/>
              </a:rPr>
              <a:t>在通信领域（模拟传输），带宽指某个信号具有的频带宽度。单位是赫</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或千赫、兆赫、吉赫、太赫等</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。如话音信号的带宽是</a:t>
            </a:r>
            <a:r>
              <a:rPr lang="en-US" altLang="zh-CN" sz="2200" dirty="0">
                <a:latin typeface="微软雅黑" panose="020B0503020204020204" pitchFamily="34" charset="-122"/>
                <a:ea typeface="微软雅黑" panose="020B0503020204020204" pitchFamily="34" charset="-122"/>
              </a:rPr>
              <a:t>3.1kHz (300Hz</a:t>
            </a: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3400Hz)</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lnSpc>
                <a:spcPct val="110000"/>
              </a:lnSpc>
              <a:defRPr/>
            </a:pPr>
            <a:r>
              <a:rPr lang="zh-CN" altLang="en-US" sz="2200" dirty="0">
                <a:latin typeface="微软雅黑" panose="020B0503020204020204" pitchFamily="34" charset="-122"/>
                <a:ea typeface="微软雅黑" panose="020B0503020204020204" pitchFamily="34" charset="-122"/>
              </a:rPr>
              <a:t>在计算机领域（数字传输），带宽指计算机网络的通信线路所能传送数据的能力，即在单位时间内从网络中的某一点到另一点所能达到的“最高数据速率”。单位是</a:t>
            </a:r>
            <a:r>
              <a:rPr lang="en-US" altLang="zh-CN" sz="2200" dirty="0">
                <a:latin typeface="微软雅黑" panose="020B0503020204020204" pitchFamily="34" charset="-122"/>
                <a:ea typeface="微软雅黑" panose="020B0503020204020204" pitchFamily="34" charset="-122"/>
              </a:rPr>
              <a:t>b/s (bit/s) </a:t>
            </a:r>
          </a:p>
          <a:p>
            <a:pPr>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数字通信与模拟通信相比较</a:t>
            </a:r>
          </a:p>
          <a:p>
            <a:pPr lvl="1">
              <a:lnSpc>
                <a:spcPct val="110000"/>
              </a:lnSpc>
            </a:pPr>
            <a:r>
              <a:rPr lang="zh-CN" altLang="en-US" sz="2200" dirty="0">
                <a:latin typeface="微软雅黑" panose="020B0503020204020204" pitchFamily="34" charset="-122"/>
                <a:ea typeface="微软雅黑" panose="020B0503020204020204" pitchFamily="34" charset="-122"/>
              </a:rPr>
              <a:t>优点：抗干扰性强，保密性好，设备易于集成，便于计算机处理等。</a:t>
            </a:r>
            <a:endParaRPr lang="en-US" altLang="zh-CN" sz="2200" dirty="0">
              <a:latin typeface="微软雅黑" panose="020B0503020204020204" pitchFamily="34" charset="-122"/>
              <a:ea typeface="微软雅黑" panose="020B0503020204020204" pitchFamily="34" charset="-122"/>
            </a:endParaRPr>
          </a:p>
          <a:p>
            <a:pPr lvl="1">
              <a:lnSpc>
                <a:spcPct val="110000"/>
              </a:lnSpc>
            </a:pPr>
            <a:r>
              <a:rPr lang="zh-CN" altLang="en-US" sz="2200" dirty="0">
                <a:latin typeface="微软雅黑" panose="020B0503020204020204" pitchFamily="34" charset="-122"/>
                <a:ea typeface="微软雅黑" panose="020B0503020204020204" pitchFamily="34" charset="-122"/>
              </a:rPr>
              <a:t>缺点：占用较多的带宽，信道利用率低。</a:t>
            </a:r>
            <a:endParaRPr lang="en-US" altLang="zh-CN" sz="2200" dirty="0">
              <a:latin typeface="微软雅黑" panose="020B0503020204020204" pitchFamily="34" charset="-122"/>
              <a:ea typeface="微软雅黑" panose="020B0503020204020204" pitchFamily="34" charset="-122"/>
            </a:endParaRPr>
          </a:p>
          <a:p>
            <a:pPr marL="533400" indent="-533400">
              <a:defRPr/>
            </a:pPr>
            <a:endParaRPr lang="zh-CN" altLang="en-US" sz="2200" dirty="0"/>
          </a:p>
          <a:p>
            <a:pPr marL="0" indent="0">
              <a:lnSpc>
                <a:spcPct val="130000"/>
              </a:lnSpc>
              <a:buNone/>
            </a:pPr>
            <a:endParaRPr lang="zh-CN" altLang="en-US"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94969147-C68E-4955-A56A-87402A16F679}"/>
              </a:ext>
            </a:extLst>
          </p:cNvPr>
          <p:cNvSpPr txBox="1"/>
          <p:nvPr/>
        </p:nvSpPr>
        <p:spPr>
          <a:xfrm>
            <a:off x="9856870" y="25395"/>
            <a:ext cx="233512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数据通信基础</a:t>
            </a:r>
          </a:p>
        </p:txBody>
      </p:sp>
      <p:sp>
        <p:nvSpPr>
          <p:cNvPr id="10" name="标题 1">
            <a:extLst>
              <a:ext uri="{FF2B5EF4-FFF2-40B4-BE49-F238E27FC236}">
                <a16:creationId xmlns:a16="http://schemas.microsoft.com/office/drawing/2014/main" id="{53813BA9-EC72-472D-8252-A69E187B7E92}"/>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sp>
        <p:nvSpPr>
          <p:cNvPr id="11" name="Rectangle 3">
            <a:extLst>
              <a:ext uri="{FF2B5EF4-FFF2-40B4-BE49-F238E27FC236}">
                <a16:creationId xmlns:a16="http://schemas.microsoft.com/office/drawing/2014/main" id="{9CF74A15-26AA-4221-8F95-59F1C65C522E}"/>
              </a:ext>
            </a:extLst>
          </p:cNvPr>
          <p:cNvSpPr txBox="1">
            <a:spLocks noChangeArrowheads="1"/>
          </p:cNvSpPr>
          <p:nvPr/>
        </p:nvSpPr>
        <p:spPr>
          <a:xfrm>
            <a:off x="426130" y="4893422"/>
            <a:ext cx="12310155" cy="341788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600"/>
              </a:spcBef>
              <a:spcAft>
                <a:spcPts val="0"/>
              </a:spcAft>
              <a:buClrTx/>
              <a:buSzTx/>
              <a:buFont typeface="Wingdings" pitchFamily="2" charset="2"/>
              <a:buChar char="Ø"/>
              <a:tabLst/>
              <a:defRPr/>
            </a:pPr>
            <a:endParaRPr kumimoji="0"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228600" marR="0" lvl="0" indent="-228600" algn="l" defTabSz="914400" rtl="0" eaLnBrk="1" fontAlgn="auto" latinLnBrk="0" hangingPunct="1">
              <a:lnSpc>
                <a:spcPct val="90000"/>
              </a:lnSpc>
              <a:spcBef>
                <a:spcPts val="600"/>
              </a:spcBef>
              <a:spcAft>
                <a:spcPts val="0"/>
              </a:spcAft>
              <a:buClrTx/>
              <a:buSzTx/>
              <a:buFont typeface="Wingdings" pitchFamily="2" charset="2"/>
              <a:buChar char="Ø"/>
              <a:tabLst/>
              <a:defRPr/>
            </a:pPr>
            <a:endParaRPr kumimoji="0"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a:p>
            <a:pPr marL="228600" marR="0" lvl="0" indent="-228600" algn="l" defTabSz="914400" rtl="0" eaLnBrk="1" fontAlgn="auto" latinLnBrk="0" hangingPunct="1">
              <a:lnSpc>
                <a:spcPct val="100000"/>
              </a:lnSpc>
              <a:spcBef>
                <a:spcPts val="600"/>
              </a:spcBef>
              <a:spcAft>
                <a:spcPts val="0"/>
              </a:spcAft>
              <a:buClrTx/>
              <a:buSzTx/>
              <a:buFont typeface="Wingdings" pitchFamily="2" charset="2"/>
              <a:buChar char="n"/>
              <a:tabLst/>
              <a:defRPr/>
            </a:pPr>
            <a:endParaRPr kumimoji="0"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11597734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5F075BCD-A803-41DB-B51E-207666F9974C}"/>
              </a:ext>
            </a:extLst>
          </p:cNvPr>
          <p:cNvSpPr/>
          <p:nvPr/>
        </p:nvSpPr>
        <p:spPr>
          <a:xfrm>
            <a:off x="667015" y="5774708"/>
            <a:ext cx="11143676" cy="665234"/>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4274" name="灯片编号占位符 5">
            <a:extLst>
              <a:ext uri="{FF2B5EF4-FFF2-40B4-BE49-F238E27FC236}">
                <a16:creationId xmlns:a16="http://schemas.microsoft.com/office/drawing/2014/main" id="{DF20DF3A-45E1-43A0-9786-718EA96752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7F8ABB97-8E9C-473F-8C9B-DB3CF5F513E4}" type="slidenum">
              <a:rPr lang="zh-CN" altLang="en-US" sz="1800"/>
              <a:pPr>
                <a:spcBef>
                  <a:spcPct val="0"/>
                </a:spcBef>
                <a:buClrTx/>
                <a:buFontTx/>
                <a:buNone/>
              </a:pPr>
              <a:t>50</a:t>
            </a:fld>
            <a:endParaRPr lang="en-US" altLang="zh-CN" sz="1800"/>
          </a:p>
        </p:txBody>
      </p:sp>
      <p:sp>
        <p:nvSpPr>
          <p:cNvPr id="54276" name="Rectangle 3">
            <a:extLst>
              <a:ext uri="{FF2B5EF4-FFF2-40B4-BE49-F238E27FC236}">
                <a16:creationId xmlns:a16="http://schemas.microsoft.com/office/drawing/2014/main" id="{C4399D44-A275-4BFA-A5D2-EBD95EAC9DCC}"/>
              </a:ext>
            </a:extLst>
          </p:cNvPr>
          <p:cNvSpPr>
            <a:spLocks noGrp="1" noChangeArrowheads="1"/>
          </p:cNvSpPr>
          <p:nvPr>
            <p:ph type="body" idx="1"/>
          </p:nvPr>
        </p:nvSpPr>
        <p:spPr>
          <a:xfrm>
            <a:off x="620327" y="1997082"/>
            <a:ext cx="11270524" cy="2214563"/>
          </a:xfrm>
        </p:spPr>
        <p:txBody>
          <a:bodyPr>
            <a:normAutofit/>
          </a:bodyPr>
          <a:lstStyle/>
          <a:p>
            <a:pPr eaLnBrk="1" hangingPunct="1">
              <a:lnSpc>
                <a:spcPts val="3200"/>
              </a:lnSpc>
            </a:pPr>
            <a:r>
              <a:rPr lang="zh-CN" altLang="en-US" sz="2400" dirty="0">
                <a:latin typeface="微软雅黑" panose="020B0503020204020204" pitchFamily="34" charset="-122"/>
                <a:ea typeface="微软雅黑" panose="020B0503020204020204" pitchFamily="34" charset="-122"/>
              </a:rPr>
              <a:t>香农定律指出：在信号平均功率受限的高斯白噪声信道中，计算信道容量的理论公式为</a:t>
            </a:r>
          </a:p>
        </p:txBody>
      </p:sp>
      <p:graphicFrame>
        <p:nvGraphicFramePr>
          <p:cNvPr id="54283" name="Object 6">
            <a:extLst>
              <a:ext uri="{FF2B5EF4-FFF2-40B4-BE49-F238E27FC236}">
                <a16:creationId xmlns:a16="http://schemas.microsoft.com/office/drawing/2014/main" id="{B8196E30-D219-478C-B137-BE9E473DE187}"/>
              </a:ext>
            </a:extLst>
          </p:cNvPr>
          <p:cNvGraphicFramePr>
            <a:graphicFrameLocks noChangeAspect="1"/>
          </p:cNvGraphicFramePr>
          <p:nvPr>
            <p:extLst>
              <p:ext uri="{D42A27DB-BD31-4B8C-83A1-F6EECF244321}">
                <p14:modId xmlns:p14="http://schemas.microsoft.com/office/powerpoint/2010/main" val="958683172"/>
              </p:ext>
            </p:extLst>
          </p:nvPr>
        </p:nvGraphicFramePr>
        <p:xfrm>
          <a:off x="4611687" y="2775857"/>
          <a:ext cx="3090557" cy="915081"/>
        </p:xfrm>
        <a:graphic>
          <a:graphicData uri="http://schemas.openxmlformats.org/presentationml/2006/ole">
            <mc:AlternateContent xmlns:mc="http://schemas.openxmlformats.org/markup-compatibility/2006">
              <mc:Choice xmlns:v="urn:schemas-microsoft-com:vml" Requires="v">
                <p:oleObj name="Equation" r:id="rId2" imgW="1015920" imgH="368280" progId="Equation.DSMT4">
                  <p:embed/>
                </p:oleObj>
              </mc:Choice>
              <mc:Fallback>
                <p:oleObj name="Equation" r:id="rId2" imgW="1015920" imgH="368280" progId="Equation.DSMT4">
                  <p:embed/>
                  <p:pic>
                    <p:nvPicPr>
                      <p:cNvPr id="54283" name="Object 6">
                        <a:extLst>
                          <a:ext uri="{FF2B5EF4-FFF2-40B4-BE49-F238E27FC236}">
                            <a16:creationId xmlns:a16="http://schemas.microsoft.com/office/drawing/2014/main" id="{B8196E30-D219-478C-B137-BE9E473DE187}"/>
                          </a:ext>
                        </a:extLst>
                      </p:cNvPr>
                      <p:cNvPicPr>
                        <a:picLocks noChangeAspect="1" noChangeArrowheads="1"/>
                      </p:cNvPicPr>
                      <p:nvPr/>
                    </p:nvPicPr>
                    <p:blipFill>
                      <a:blip r:embed="rId3"/>
                      <a:srcRect/>
                      <a:stretch>
                        <a:fillRect/>
                      </a:stretch>
                    </p:blipFill>
                    <p:spPr bwMode="auto">
                      <a:xfrm>
                        <a:off x="4611687" y="2775857"/>
                        <a:ext cx="3090557" cy="915081"/>
                      </a:xfrm>
                      <a:prstGeom prst="rect">
                        <a:avLst/>
                      </a:prstGeom>
                      <a:noFill/>
                      <a:ln>
                        <a:noFill/>
                      </a:ln>
                    </p:spPr>
                  </p:pic>
                </p:oleObj>
              </mc:Fallback>
            </mc:AlternateContent>
          </a:graphicData>
        </a:graphic>
      </p:graphicFrame>
      <p:sp>
        <p:nvSpPr>
          <p:cNvPr id="54278" name="Rectangle 11">
            <a:extLst>
              <a:ext uri="{FF2B5EF4-FFF2-40B4-BE49-F238E27FC236}">
                <a16:creationId xmlns:a16="http://schemas.microsoft.com/office/drawing/2014/main" id="{CE278B69-E739-4F5B-91B2-5F1FF2211DB8}"/>
              </a:ext>
            </a:extLst>
          </p:cNvPr>
          <p:cNvSpPr>
            <a:spLocks noChangeArrowheads="1"/>
          </p:cNvSpPr>
          <p:nvPr/>
        </p:nvSpPr>
        <p:spPr bwMode="auto">
          <a:xfrm>
            <a:off x="6003635" y="310768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54279" name="Rectangle 13">
            <a:extLst>
              <a:ext uri="{FF2B5EF4-FFF2-40B4-BE49-F238E27FC236}">
                <a16:creationId xmlns:a16="http://schemas.microsoft.com/office/drawing/2014/main" id="{9E7DF00E-4799-461C-8FFA-90C1B55D2E24}"/>
              </a:ext>
            </a:extLst>
          </p:cNvPr>
          <p:cNvSpPr>
            <a:spLocks noChangeArrowheads="1"/>
          </p:cNvSpPr>
          <p:nvPr/>
        </p:nvSpPr>
        <p:spPr bwMode="auto">
          <a:xfrm>
            <a:off x="6003635" y="310291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54280" name="Rectangle 15">
            <a:extLst>
              <a:ext uri="{FF2B5EF4-FFF2-40B4-BE49-F238E27FC236}">
                <a16:creationId xmlns:a16="http://schemas.microsoft.com/office/drawing/2014/main" id="{29063DAE-ECF7-4824-803A-0DDDB2CCFAB1}"/>
              </a:ext>
            </a:extLst>
          </p:cNvPr>
          <p:cNvSpPr>
            <a:spLocks noChangeArrowheads="1"/>
          </p:cNvSpPr>
          <p:nvPr/>
        </p:nvSpPr>
        <p:spPr bwMode="auto">
          <a:xfrm>
            <a:off x="6003635" y="310291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54281" name="Rectangle 17">
            <a:extLst>
              <a:ext uri="{FF2B5EF4-FFF2-40B4-BE49-F238E27FC236}">
                <a16:creationId xmlns:a16="http://schemas.microsoft.com/office/drawing/2014/main" id="{57639078-DFBA-4232-98F6-08E7948A2354}"/>
              </a:ext>
            </a:extLst>
          </p:cNvPr>
          <p:cNvSpPr>
            <a:spLocks noChangeArrowheads="1"/>
          </p:cNvSpPr>
          <p:nvPr/>
        </p:nvSpPr>
        <p:spPr bwMode="auto">
          <a:xfrm>
            <a:off x="6003635" y="310291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9" name="Rectangle 3">
            <a:extLst>
              <a:ext uri="{FF2B5EF4-FFF2-40B4-BE49-F238E27FC236}">
                <a16:creationId xmlns:a16="http://schemas.microsoft.com/office/drawing/2014/main" id="{3DB04FF0-039F-4D19-AFB2-255FD5137BAE}"/>
              </a:ext>
            </a:extLst>
          </p:cNvPr>
          <p:cNvSpPr txBox="1">
            <a:spLocks noChangeArrowheads="1"/>
          </p:cNvSpPr>
          <p:nvPr/>
        </p:nvSpPr>
        <p:spPr bwMode="auto">
          <a:xfrm>
            <a:off x="603591" y="3815902"/>
            <a:ext cx="11270524" cy="3000375"/>
          </a:xfrm>
          <a:prstGeom prst="rect">
            <a:avLst/>
          </a:prstGeom>
          <a:noFill/>
          <a:ln w="9525">
            <a:noFill/>
            <a:miter lim="800000"/>
            <a:headEnd/>
            <a:tailEnd/>
          </a:ln>
        </p:spPr>
        <p:txBody>
          <a:bodyPr/>
          <a:lstStyle/>
          <a:p>
            <a:pPr marL="342900" indent="-342900" algn="just">
              <a:lnSpc>
                <a:spcPts val="3400"/>
              </a:lnSpc>
              <a:spcBef>
                <a:spcPct val="20000"/>
              </a:spcBef>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式中</a:t>
            </a:r>
            <a:r>
              <a:rPr lang="en-US" altLang="zh-CN" sz="2400" i="1"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是信道带宽</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单位为</a:t>
            </a:r>
            <a:r>
              <a:rPr lang="en-US" altLang="zh-CN" sz="2400" dirty="0">
                <a:latin typeface="微软雅黑" panose="020B0503020204020204" pitchFamily="34" charset="-122"/>
                <a:ea typeface="微软雅黑" panose="020B0503020204020204" pitchFamily="34" charset="-122"/>
              </a:rPr>
              <a:t>Hz)</a:t>
            </a:r>
            <a:r>
              <a:rPr lang="zh-CN" altLang="en-US"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S</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是平均信号噪声功率比</a:t>
            </a:r>
            <a:r>
              <a:rPr lang="en-US" altLang="zh-CN" sz="2400" dirty="0">
                <a:latin typeface="微软雅黑" panose="020B0503020204020204" pitchFamily="34" charset="-122"/>
                <a:ea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为接收信号功率，</a:t>
            </a:r>
            <a:r>
              <a:rPr lang="en-US" altLang="zh-CN" sz="2400" i="1"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为噪声功率</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指正态分布的加性高斯白噪声</a:t>
            </a:r>
            <a:r>
              <a:rPr lang="en-US" altLang="zh-CN" sz="2400" dirty="0">
                <a:latin typeface="微软雅黑" panose="020B0503020204020204" pitchFamily="34" charset="-122"/>
                <a:ea typeface="微软雅黑" panose="020B0503020204020204" pitchFamily="34" charset="-122"/>
              </a:rPr>
              <a:t>)</a:t>
            </a:r>
          </a:p>
          <a:p>
            <a:pPr marL="342900" indent="-342900" algn="just">
              <a:lnSpc>
                <a:spcPts val="3400"/>
              </a:lnSpc>
              <a:spcBef>
                <a:spcPct val="20000"/>
              </a:spcBef>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高斯白噪声在整个频域具有均匀分布的功率谱密度及噪声的概率密度函数服从高斯分布</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正态分布</a:t>
            </a:r>
            <a:r>
              <a:rPr lang="en-US" altLang="zh-CN" sz="2400" dirty="0">
                <a:latin typeface="微软雅黑" panose="020B0503020204020204" pitchFamily="34" charset="-122"/>
                <a:ea typeface="微软雅黑" panose="020B0503020204020204" pitchFamily="34" charset="-122"/>
              </a:rPr>
              <a:t>)</a:t>
            </a:r>
          </a:p>
        </p:txBody>
      </p:sp>
      <p:sp>
        <p:nvSpPr>
          <p:cNvPr id="17" name="标题 1">
            <a:extLst>
              <a:ext uri="{FF2B5EF4-FFF2-40B4-BE49-F238E27FC236}">
                <a16:creationId xmlns:a16="http://schemas.microsoft.com/office/drawing/2014/main" id="{42468924-4875-4F91-B15A-FA779A77A81C}"/>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sp>
        <p:nvSpPr>
          <p:cNvPr id="20" name="文本框 19">
            <a:extLst>
              <a:ext uri="{FF2B5EF4-FFF2-40B4-BE49-F238E27FC236}">
                <a16:creationId xmlns:a16="http://schemas.microsoft.com/office/drawing/2014/main" id="{537F9520-65E3-42C5-ACEE-3DDCAFDD01C3}"/>
              </a:ext>
            </a:extLst>
          </p:cNvPr>
          <p:cNvSpPr txBox="1"/>
          <p:nvPr/>
        </p:nvSpPr>
        <p:spPr>
          <a:xfrm>
            <a:off x="555008" y="1348898"/>
            <a:ext cx="6096000" cy="523220"/>
          </a:xfrm>
          <a:prstGeom prst="rect">
            <a:avLst/>
          </a:prstGeom>
          <a:noFill/>
        </p:spPr>
        <p:txBody>
          <a:bodyPr wrap="square">
            <a:spAutoFit/>
          </a:bodyPr>
          <a:lstStyle/>
          <a:p>
            <a:pPr eaLnBrk="1" hangingPunct="1">
              <a:buFont typeface="Wingdings" panose="05000000000000000000" pitchFamily="2" charset="2"/>
              <a:buNone/>
            </a:pPr>
            <a:r>
              <a:rPr lang="zh-CN" altLang="en-US" sz="2800" dirty="0">
                <a:solidFill>
                  <a:srgbClr val="C00000"/>
                </a:solidFill>
                <a:latin typeface="微软雅黑" panose="020B0503020204020204" pitchFamily="34" charset="-122"/>
                <a:ea typeface="微软雅黑" panose="020B0503020204020204" pitchFamily="34" charset="-122"/>
              </a:rPr>
              <a:t>模拟信道的容量</a:t>
            </a:r>
            <a:endParaRPr lang="en-US" altLang="zh-CN" sz="2800" dirty="0">
              <a:solidFill>
                <a:srgbClr val="C0000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2B96B885-E69B-478A-BE22-BA30234243FE}"/>
              </a:ext>
            </a:extLst>
          </p:cNvPr>
          <p:cNvSpPr txBox="1"/>
          <p:nvPr/>
        </p:nvSpPr>
        <p:spPr>
          <a:xfrm>
            <a:off x="663928" y="5870657"/>
            <a:ext cx="10954027" cy="473335"/>
          </a:xfrm>
          <a:prstGeom prst="rect">
            <a:avLst/>
          </a:prstGeom>
          <a:noFill/>
        </p:spPr>
        <p:txBody>
          <a:bodyPr wrap="square">
            <a:spAutoFit/>
          </a:bodyPr>
          <a:lstStyle/>
          <a:p>
            <a:pPr marL="285750" indent="-285750">
              <a:lnSpc>
                <a:spcPts val="3200"/>
              </a:lnSpc>
              <a:spcBef>
                <a:spcPts val="600"/>
              </a:spcBef>
              <a:buClr>
                <a:schemeClr val="accent2"/>
              </a:buClr>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提升模拟信道容量方式：</a:t>
            </a:r>
            <a:r>
              <a:rPr lang="zh-CN" altLang="en-US" sz="2400" b="1" dirty="0">
                <a:solidFill>
                  <a:srgbClr val="002060"/>
                </a:solidFill>
                <a:latin typeface="微软雅黑" panose="020B0503020204020204" pitchFamily="34" charset="-122"/>
                <a:ea typeface="微软雅黑" panose="020B0503020204020204" pitchFamily="34" charset="-122"/>
              </a:rPr>
              <a:t>增加系统带宽</a:t>
            </a:r>
            <a:r>
              <a:rPr lang="zh-CN" altLang="en-US" sz="2400" dirty="0">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提升源端信号发射功率</a:t>
            </a:r>
            <a:r>
              <a:rPr lang="zh-CN" altLang="en-US" sz="2400" dirty="0">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降低噪声</a:t>
            </a:r>
            <a:r>
              <a:rPr lang="zh-CN" altLang="en-US" sz="2400" dirty="0">
                <a:latin typeface="微软雅黑" panose="020B0503020204020204" pitchFamily="34" charset="-122"/>
                <a:ea typeface="微软雅黑" panose="020B0503020204020204" pitchFamily="34" charset="-122"/>
              </a:rPr>
              <a:t>等</a:t>
            </a:r>
          </a:p>
        </p:txBody>
      </p:sp>
      <p:cxnSp>
        <p:nvCxnSpPr>
          <p:cNvPr id="8" name="直接箭头连接符 7">
            <a:extLst>
              <a:ext uri="{FF2B5EF4-FFF2-40B4-BE49-F238E27FC236}">
                <a16:creationId xmlns:a16="http://schemas.microsoft.com/office/drawing/2014/main" id="{5BAEFEAD-8E41-4391-8978-5F8FCCEE87BA}"/>
              </a:ext>
            </a:extLst>
          </p:cNvPr>
          <p:cNvCxnSpPr/>
          <p:nvPr/>
        </p:nvCxnSpPr>
        <p:spPr>
          <a:xfrm flipV="1">
            <a:off x="1801504" y="3429000"/>
            <a:ext cx="3603009" cy="386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222E15D5-0625-4E43-B43C-708DCF491E4A}"/>
              </a:ext>
            </a:extLst>
          </p:cNvPr>
          <p:cNvCxnSpPr/>
          <p:nvPr/>
        </p:nvCxnSpPr>
        <p:spPr>
          <a:xfrm flipV="1">
            <a:off x="5813946" y="3569347"/>
            <a:ext cx="1119117" cy="246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77370F7A-990C-47D0-A108-84C1C13F6B5A}"/>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985762F8-0A48-4B12-BF1F-50115C8373BA}"/>
              </a:ext>
            </a:extLst>
          </p:cNvPr>
          <p:cNvSpPr txBox="1">
            <a:spLocks noChangeArrowheads="1"/>
          </p:cNvSpPr>
          <p:nvPr/>
        </p:nvSpPr>
        <p:spPr bwMode="auto">
          <a:xfrm>
            <a:off x="682387" y="4126170"/>
            <a:ext cx="11117808" cy="2428875"/>
          </a:xfrm>
          <a:prstGeom prst="rect">
            <a:avLst/>
          </a:prstGeom>
          <a:noFill/>
          <a:ln w="9525">
            <a:noFill/>
            <a:miter lim="800000"/>
            <a:headEnd/>
            <a:tailEnd/>
          </a:ln>
        </p:spPr>
        <p:txBody>
          <a:bodyPr/>
          <a:lstStyle/>
          <a:p>
            <a:pPr marL="342900" indent="-342900">
              <a:lnSpc>
                <a:spcPts val="3600"/>
              </a:lnSpc>
              <a:spcBef>
                <a:spcPct val="20000"/>
              </a:spcBef>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此式表明，任意信号通过一个带宽为</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的低通滤波器，则每秒采样</a:t>
            </a:r>
            <a:r>
              <a:rPr lang="en-US" altLang="zh-CN" sz="2400" dirty="0">
                <a:latin typeface="微软雅黑" panose="020B0503020204020204" pitchFamily="34" charset="-122"/>
                <a:ea typeface="微软雅黑" panose="020B0503020204020204" pitchFamily="34" charset="-122"/>
              </a:rPr>
              <a:t>2B</a:t>
            </a:r>
            <a:r>
              <a:rPr lang="zh-CN" altLang="en-US" sz="2400" dirty="0">
                <a:latin typeface="微软雅黑" panose="020B0503020204020204" pitchFamily="34" charset="-122"/>
                <a:ea typeface="微软雅黑" panose="020B0503020204020204" pitchFamily="34" charset="-122"/>
              </a:rPr>
              <a:t>次就能完整地重现该信号，信号电平分为</a:t>
            </a:r>
            <a:r>
              <a:rPr lang="en-US" altLang="zh-CN" sz="2400"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级</a:t>
            </a:r>
          </a:p>
          <a:p>
            <a:pPr marL="342900" indent="-342900">
              <a:lnSpc>
                <a:spcPts val="3600"/>
              </a:lnSpc>
              <a:spcBef>
                <a:spcPct val="20000"/>
              </a:spcBef>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对于给定的带宽可以通过增加信号取值的状态数来提高信道容量。但这将会加重接收器的负担。意即在每个信号码元时间内，必须从</a:t>
            </a:r>
            <a:r>
              <a:rPr lang="en-US" altLang="zh-CN" sz="2400" i="1"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个可能的状态中区分出一个来。同时，传输线上的噪声和其他损伤也将会限制</a:t>
            </a:r>
            <a:r>
              <a:rPr lang="en-US" altLang="zh-CN" sz="2400" i="1"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的实际取值</a:t>
            </a:r>
            <a:endParaRPr lang="zh-CN" altLang="en-US" sz="2400" kern="0" dirty="0">
              <a:latin typeface="微软雅黑" panose="020B0503020204020204" pitchFamily="34" charset="-122"/>
              <a:ea typeface="微软雅黑" panose="020B0503020204020204" pitchFamily="34" charset="-122"/>
            </a:endParaRPr>
          </a:p>
        </p:txBody>
      </p:sp>
      <p:sp>
        <p:nvSpPr>
          <p:cNvPr id="56324" name="Rectangle 3">
            <a:extLst>
              <a:ext uri="{FF2B5EF4-FFF2-40B4-BE49-F238E27FC236}">
                <a16:creationId xmlns:a16="http://schemas.microsoft.com/office/drawing/2014/main" id="{9AD24E1F-F2BD-427E-AB41-73FE7EDB2704}"/>
              </a:ext>
            </a:extLst>
          </p:cNvPr>
          <p:cNvSpPr>
            <a:spLocks noGrp="1" noChangeArrowheads="1"/>
          </p:cNvSpPr>
          <p:nvPr>
            <p:ph type="body" idx="1"/>
          </p:nvPr>
        </p:nvSpPr>
        <p:spPr>
          <a:xfrm>
            <a:off x="682387" y="1350998"/>
            <a:ext cx="11117807" cy="2214563"/>
          </a:xfrm>
        </p:spPr>
        <p:txBody>
          <a:bodyPr>
            <a:normAutofit/>
          </a:bodyPr>
          <a:lstStyle/>
          <a:p>
            <a:pPr eaLnBrk="1" hangingPunct="1">
              <a:buFont typeface="Wingdings" panose="05000000000000000000" pitchFamily="2" charset="2"/>
              <a:buNone/>
            </a:pPr>
            <a:r>
              <a:rPr lang="zh-CN" altLang="en-US" dirty="0">
                <a:solidFill>
                  <a:srgbClr val="C00000"/>
                </a:solidFill>
                <a:latin typeface="微软雅黑" panose="020B0503020204020204" pitchFamily="34" charset="-122"/>
                <a:ea typeface="微软雅黑" panose="020B0503020204020204" pitchFamily="34" charset="-122"/>
              </a:rPr>
              <a:t>数字信道的容量</a:t>
            </a:r>
            <a:endParaRPr lang="en-US" altLang="zh-CN" dirty="0">
              <a:solidFill>
                <a:srgbClr val="C00000"/>
              </a:solidFill>
              <a:latin typeface="微软雅黑" panose="020B0503020204020204" pitchFamily="34" charset="-122"/>
              <a:ea typeface="微软雅黑" panose="020B0503020204020204" pitchFamily="34" charset="-122"/>
            </a:endParaRPr>
          </a:p>
          <a:p>
            <a:pPr>
              <a:lnSpc>
                <a:spcPts val="3600"/>
              </a:lnSpc>
            </a:pPr>
            <a:r>
              <a:rPr lang="zh-CN" altLang="en-US" sz="2400" dirty="0">
                <a:latin typeface="微软雅黑" panose="020B0503020204020204" pitchFamily="34" charset="-122"/>
                <a:ea typeface="微软雅黑" panose="020B0503020204020204" pitchFamily="34" charset="-122"/>
              </a:rPr>
              <a:t>奈奎斯特认为，即使是理想信道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无噪声、无码间干扰</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，它的传输能力也是有限的。对于一条有限带宽、无噪声的理想信道容量的计算公式</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简称奈奎斯特公式（</a:t>
            </a:r>
            <a:r>
              <a:rPr lang="en-US" altLang="zh-CN" sz="2400" dirty="0">
                <a:latin typeface="微软雅黑" panose="020B0503020204020204" pitchFamily="34" charset="-122"/>
                <a:ea typeface="微软雅黑" panose="020B0503020204020204" pitchFamily="34" charset="-122"/>
              </a:rPr>
              <a:t>1924</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grpSp>
        <p:nvGrpSpPr>
          <p:cNvPr id="56326" name="组合 11">
            <a:extLst>
              <a:ext uri="{FF2B5EF4-FFF2-40B4-BE49-F238E27FC236}">
                <a16:creationId xmlns:a16="http://schemas.microsoft.com/office/drawing/2014/main" id="{AF3AEE96-C2B7-4C65-ABA3-2FCD6CDF7386}"/>
              </a:ext>
            </a:extLst>
          </p:cNvPr>
          <p:cNvGrpSpPr>
            <a:grpSpLocks/>
          </p:cNvGrpSpPr>
          <p:nvPr/>
        </p:nvGrpSpPr>
        <p:grpSpPr bwMode="auto">
          <a:xfrm>
            <a:off x="4673600" y="3458011"/>
            <a:ext cx="2985154" cy="463159"/>
            <a:chOff x="3514729" y="3403989"/>
            <a:chExt cx="2985175" cy="463159"/>
          </a:xfrm>
        </p:grpSpPr>
        <p:graphicFrame>
          <p:nvGraphicFramePr>
            <p:cNvPr id="56327" name="Object 2">
              <a:extLst>
                <a:ext uri="{FF2B5EF4-FFF2-40B4-BE49-F238E27FC236}">
                  <a16:creationId xmlns:a16="http://schemas.microsoft.com/office/drawing/2014/main" id="{17D0E76B-C3E5-4A0B-A5FF-1BEF81349536}"/>
                </a:ext>
              </a:extLst>
            </p:cNvPr>
            <p:cNvGraphicFramePr>
              <a:graphicFrameLocks noChangeAspect="1"/>
            </p:cNvGraphicFramePr>
            <p:nvPr>
              <p:extLst>
                <p:ext uri="{D42A27DB-BD31-4B8C-83A1-F6EECF244321}">
                  <p14:modId xmlns:p14="http://schemas.microsoft.com/office/powerpoint/2010/main" val="3562477960"/>
                </p:ext>
              </p:extLst>
            </p:nvPr>
          </p:nvGraphicFramePr>
          <p:xfrm>
            <a:off x="3514729" y="3417886"/>
            <a:ext cx="1822463" cy="449262"/>
          </p:xfrm>
          <a:graphic>
            <a:graphicData uri="http://schemas.openxmlformats.org/presentationml/2006/ole">
              <mc:AlternateContent xmlns:mc="http://schemas.openxmlformats.org/markup-compatibility/2006">
                <mc:Choice xmlns:v="urn:schemas-microsoft-com:vml" Requires="v">
                  <p:oleObj name="Equation" r:id="rId3" imgW="799920" imgH="190440" progId="Equation.DSMT4">
                    <p:embed/>
                  </p:oleObj>
                </mc:Choice>
                <mc:Fallback>
                  <p:oleObj name="Equation" r:id="rId3" imgW="799920" imgH="190440" progId="Equation.DSMT4">
                    <p:embed/>
                    <p:pic>
                      <p:nvPicPr>
                        <p:cNvPr id="56327" name="Object 2">
                          <a:extLst>
                            <a:ext uri="{FF2B5EF4-FFF2-40B4-BE49-F238E27FC236}">
                              <a16:creationId xmlns:a16="http://schemas.microsoft.com/office/drawing/2014/main" id="{17D0E76B-C3E5-4A0B-A5FF-1BEF81349536}"/>
                            </a:ext>
                          </a:extLst>
                        </p:cNvPr>
                        <p:cNvPicPr>
                          <a:picLocks noChangeAspect="1" noChangeArrowheads="1"/>
                        </p:cNvPicPr>
                        <p:nvPr/>
                      </p:nvPicPr>
                      <p:blipFill>
                        <a:blip r:embed="rId4"/>
                        <a:srcRect/>
                        <a:stretch>
                          <a:fillRect/>
                        </a:stretch>
                      </p:blipFill>
                      <p:spPr bwMode="auto">
                        <a:xfrm>
                          <a:off x="3514729" y="3417886"/>
                          <a:ext cx="182246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9" name="Text Box 6">
              <a:extLst>
                <a:ext uri="{FF2B5EF4-FFF2-40B4-BE49-F238E27FC236}">
                  <a16:creationId xmlns:a16="http://schemas.microsoft.com/office/drawing/2014/main" id="{2F4EA4D7-D99E-4244-B469-5823B973F4EE}"/>
                </a:ext>
              </a:extLst>
            </p:cNvPr>
            <p:cNvSpPr txBox="1">
              <a:spLocks noChangeArrowheads="1"/>
            </p:cNvSpPr>
            <p:nvPr/>
          </p:nvSpPr>
          <p:spPr bwMode="auto">
            <a:xfrm>
              <a:off x="5528327" y="3403989"/>
              <a:ext cx="971577" cy="320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dirty="0"/>
                <a:t>(b/s)</a:t>
              </a:r>
            </a:p>
          </p:txBody>
        </p:sp>
      </p:grpSp>
      <p:sp>
        <p:nvSpPr>
          <p:cNvPr id="13" name="标题 1">
            <a:extLst>
              <a:ext uri="{FF2B5EF4-FFF2-40B4-BE49-F238E27FC236}">
                <a16:creationId xmlns:a16="http://schemas.microsoft.com/office/drawing/2014/main" id="{1E79320F-F035-48F6-BC99-4C4B87CFD34E}"/>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cxnSp>
        <p:nvCxnSpPr>
          <p:cNvPr id="3" name="直接箭头连接符 2">
            <a:extLst>
              <a:ext uri="{FF2B5EF4-FFF2-40B4-BE49-F238E27FC236}">
                <a16:creationId xmlns:a16="http://schemas.microsoft.com/office/drawing/2014/main" id="{8619847A-41EC-4710-8C75-B97AFCB3AFE7}"/>
              </a:ext>
            </a:extLst>
          </p:cNvPr>
          <p:cNvCxnSpPr>
            <a:cxnSpLocks/>
          </p:cNvCxnSpPr>
          <p:nvPr/>
        </p:nvCxnSpPr>
        <p:spPr>
          <a:xfrm flipV="1">
            <a:off x="6496051" y="3114842"/>
            <a:ext cx="382269" cy="39669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EA051C8-CEC1-4B71-842F-84DA32C04EF5}"/>
              </a:ext>
            </a:extLst>
          </p:cNvPr>
          <p:cNvSpPr txBox="1"/>
          <p:nvPr/>
        </p:nvSpPr>
        <p:spPr>
          <a:xfrm>
            <a:off x="6878320" y="2877585"/>
            <a:ext cx="1516264" cy="400110"/>
          </a:xfrm>
          <a:prstGeom prst="rect">
            <a:avLst/>
          </a:prstGeom>
          <a:noFill/>
        </p:spPr>
        <p:txBody>
          <a:bodyPr wrap="square">
            <a:spAutoFit/>
          </a:bodyPr>
          <a:lstStyle/>
          <a:p>
            <a:r>
              <a:rPr lang="zh-CN" altLang="en-US" sz="2000" dirty="0">
                <a:solidFill>
                  <a:srgbClr val="5B307E"/>
                </a:solidFill>
                <a:latin typeface="微软雅黑" panose="020B0503020204020204" pitchFamily="34" charset="-122"/>
                <a:ea typeface="微软雅黑" panose="020B0503020204020204" pitchFamily="34" charset="-122"/>
              </a:rPr>
              <a:t>调制进制数</a:t>
            </a:r>
            <a:endParaRPr lang="zh-CN" altLang="en-US" sz="2000" dirty="0">
              <a:solidFill>
                <a:srgbClr val="5B307E"/>
              </a:solidFill>
            </a:endParaRPr>
          </a:p>
        </p:txBody>
      </p:sp>
      <p:sp>
        <p:nvSpPr>
          <p:cNvPr id="16" name="文本框 15">
            <a:extLst>
              <a:ext uri="{FF2B5EF4-FFF2-40B4-BE49-F238E27FC236}">
                <a16:creationId xmlns:a16="http://schemas.microsoft.com/office/drawing/2014/main" id="{072F55B3-B3A7-42CB-966F-D89F1B03D510}"/>
              </a:ext>
            </a:extLst>
          </p:cNvPr>
          <p:cNvSpPr txBox="1"/>
          <p:nvPr/>
        </p:nvSpPr>
        <p:spPr>
          <a:xfrm>
            <a:off x="2248745" y="3229323"/>
            <a:ext cx="1340372"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信道容量 </a:t>
            </a:r>
          </a:p>
        </p:txBody>
      </p:sp>
      <p:cxnSp>
        <p:nvCxnSpPr>
          <p:cNvPr id="6" name="直接箭头连接符 5">
            <a:extLst>
              <a:ext uri="{FF2B5EF4-FFF2-40B4-BE49-F238E27FC236}">
                <a16:creationId xmlns:a16="http://schemas.microsoft.com/office/drawing/2014/main" id="{2916C5B4-4C12-4BB0-8AAB-6C02EFDA4597}"/>
              </a:ext>
            </a:extLst>
          </p:cNvPr>
          <p:cNvCxnSpPr>
            <a:cxnSpLocks/>
            <a:endCxn id="16" idx="3"/>
          </p:cNvCxnSpPr>
          <p:nvPr/>
        </p:nvCxnSpPr>
        <p:spPr>
          <a:xfrm flipH="1" flipV="1">
            <a:off x="3589117" y="3429378"/>
            <a:ext cx="1084482" cy="145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31AC1E0D-C3A3-45C0-B7C6-93724763BA56}"/>
              </a:ext>
            </a:extLst>
          </p:cNvPr>
          <p:cNvSpPr txBox="1"/>
          <p:nvPr/>
        </p:nvSpPr>
        <p:spPr>
          <a:xfrm>
            <a:off x="3589117" y="3870709"/>
            <a:ext cx="1991906"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系统带宽</a:t>
            </a:r>
          </a:p>
        </p:txBody>
      </p:sp>
      <p:cxnSp>
        <p:nvCxnSpPr>
          <p:cNvPr id="9" name="直接箭头连接符 8">
            <a:extLst>
              <a:ext uri="{FF2B5EF4-FFF2-40B4-BE49-F238E27FC236}">
                <a16:creationId xmlns:a16="http://schemas.microsoft.com/office/drawing/2014/main" id="{FDD50886-0ABE-4216-9C6A-E23DE65B0003}"/>
              </a:ext>
            </a:extLst>
          </p:cNvPr>
          <p:cNvCxnSpPr>
            <a:cxnSpLocks/>
          </p:cNvCxnSpPr>
          <p:nvPr/>
        </p:nvCxnSpPr>
        <p:spPr>
          <a:xfrm flipH="1">
            <a:off x="4744825" y="3844587"/>
            <a:ext cx="673090" cy="199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灯片编号占位符 5">
            <a:extLst>
              <a:ext uri="{FF2B5EF4-FFF2-40B4-BE49-F238E27FC236}">
                <a16:creationId xmlns:a16="http://schemas.microsoft.com/office/drawing/2014/main" id="{A655D8CC-3690-4C8A-BEE0-61ECD60DC621}"/>
              </a:ext>
            </a:extLst>
          </p:cNvPr>
          <p:cNvSpPr>
            <a:spLocks noGrp="1"/>
          </p:cNvSpPr>
          <p:nvPr>
            <p:ph type="sldNum" sz="quarter" idx="12"/>
          </p:nvPr>
        </p:nvSpPr>
        <p:spPr>
          <a:xfrm>
            <a:off x="861060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7F8ABB97-8E9C-473F-8C9B-DB3CF5F513E4}" type="slidenum">
              <a:rPr lang="zh-CN" altLang="en-US" sz="1800"/>
              <a:pPr>
                <a:spcBef>
                  <a:spcPct val="0"/>
                </a:spcBef>
                <a:buClrTx/>
                <a:buFontTx/>
                <a:buNone/>
              </a:pPr>
              <a:t>51</a:t>
            </a:fld>
            <a:endParaRPr lang="en-US" altLang="zh-CN" sz="1800"/>
          </a:p>
        </p:txBody>
      </p:sp>
      <p:sp>
        <p:nvSpPr>
          <p:cNvPr id="17" name="文本框 16">
            <a:extLst>
              <a:ext uri="{FF2B5EF4-FFF2-40B4-BE49-F238E27FC236}">
                <a16:creationId xmlns:a16="http://schemas.microsoft.com/office/drawing/2014/main" id="{C1CDFA2C-C48D-45CB-B248-7A9F8D56CF5B}"/>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641177" y="1248271"/>
            <a:ext cx="10515600" cy="879086"/>
          </a:xfrm>
        </p:spPr>
        <p:txBody>
          <a:bodyPr>
            <a:normAutofit/>
          </a:bodyPr>
          <a:lstStyle/>
          <a:p>
            <a:pPr marL="0" indent="0">
              <a:lnSpc>
                <a:spcPct val="130000"/>
              </a:lnSpc>
              <a:buNone/>
            </a:pPr>
            <a:r>
              <a:rPr lang="zh-CN" altLang="en-US" dirty="0">
                <a:solidFill>
                  <a:srgbClr val="C00000"/>
                </a:solidFill>
                <a:latin typeface="微软雅黑" panose="020B0503020204020204" pitchFamily="34" charset="-122"/>
                <a:ea typeface="微软雅黑" panose="020B0503020204020204" pitchFamily="34" charset="-122"/>
              </a:rPr>
              <a:t>频带利用率 </a:t>
            </a:r>
          </a:p>
        </p:txBody>
      </p:sp>
      <p:sp>
        <p:nvSpPr>
          <p:cNvPr id="14" name="Rectangle 3">
            <a:extLst>
              <a:ext uri="{FF2B5EF4-FFF2-40B4-BE49-F238E27FC236}">
                <a16:creationId xmlns:a16="http://schemas.microsoft.com/office/drawing/2014/main" id="{C239A3C2-0DB4-4431-A4EC-06AD538F4584}"/>
              </a:ext>
            </a:extLst>
          </p:cNvPr>
          <p:cNvSpPr txBox="1">
            <a:spLocks noChangeArrowheads="1"/>
          </p:cNvSpPr>
          <p:nvPr/>
        </p:nvSpPr>
        <p:spPr>
          <a:xfrm>
            <a:off x="604342" y="1992564"/>
            <a:ext cx="8132763" cy="98107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指单位传输带宽所能实现的传输速率。</a:t>
            </a:r>
          </a:p>
        </p:txBody>
      </p:sp>
      <p:sp>
        <p:nvSpPr>
          <p:cNvPr id="18" name="Rectangle 17">
            <a:extLst>
              <a:ext uri="{FF2B5EF4-FFF2-40B4-BE49-F238E27FC236}">
                <a16:creationId xmlns:a16="http://schemas.microsoft.com/office/drawing/2014/main" id="{A4F021A4-778D-4603-8B0D-6ABE8BE29769}"/>
              </a:ext>
            </a:extLst>
          </p:cNvPr>
          <p:cNvSpPr>
            <a:spLocks noChangeArrowheads="1"/>
          </p:cNvSpPr>
          <p:nvPr/>
        </p:nvSpPr>
        <p:spPr bwMode="auto">
          <a:xfrm>
            <a:off x="641177" y="3866085"/>
            <a:ext cx="10909646" cy="2857500"/>
          </a:xfrm>
          <a:prstGeom prst="rect">
            <a:avLst/>
          </a:prstGeom>
        </p:spPr>
        <p:txBody>
          <a:bodyPr vert="horz" lIns="91440" tIns="45720" rIns="91440" bIns="45720" rtlCol="0">
            <a:normAutofit/>
          </a:bodyPr>
          <a:lstStyle/>
          <a:p>
            <a:pPr marL="228600" indent="-228600">
              <a:lnSpc>
                <a:spcPts val="3500"/>
              </a:lnSpc>
              <a:spcBef>
                <a:spcPts val="600"/>
              </a:spcBef>
              <a:buFont typeface="Wingdings" pitchFamily="2" charset="2"/>
              <a:buChar char="Ø"/>
            </a:pPr>
            <a:r>
              <a:rPr lang="zh-CN" altLang="en-US" sz="2400" dirty="0">
                <a:latin typeface="微软雅黑" panose="020B0503020204020204" pitchFamily="34" charset="-122"/>
                <a:ea typeface="微软雅黑" panose="020B0503020204020204" pitchFamily="34" charset="-122"/>
              </a:rPr>
              <a:t>频带利用率是描述数据传输速率与带宽之间关系的一个指标</a:t>
            </a:r>
            <a:endParaRPr lang="en-US" altLang="zh-CN" sz="2400" dirty="0">
              <a:latin typeface="微软雅黑" panose="020B0503020204020204" pitchFamily="34" charset="-122"/>
              <a:ea typeface="微软雅黑" panose="020B0503020204020204" pitchFamily="34" charset="-122"/>
            </a:endParaRPr>
          </a:p>
          <a:p>
            <a:pPr marL="228600" indent="-228600">
              <a:lnSpc>
                <a:spcPts val="3500"/>
              </a:lnSpc>
              <a:spcBef>
                <a:spcPts val="600"/>
              </a:spcBef>
              <a:buFont typeface="Wingdings" pitchFamily="2" charset="2"/>
              <a:buChar char="Ø"/>
            </a:pPr>
            <a:r>
              <a:rPr lang="zh-CN" altLang="en-US" sz="2400" dirty="0">
                <a:latin typeface="微软雅黑" panose="020B0503020204020204" pitchFamily="34" charset="-122"/>
                <a:ea typeface="微软雅黑" panose="020B0503020204020204" pitchFamily="34" charset="-122"/>
              </a:rPr>
              <a:t>在衡量数据通信系统的效率时，既要考虑到传输速率，又要考虑到传输信号所占用频带宽度</a:t>
            </a:r>
            <a:endParaRPr lang="en-US" altLang="zh-CN" sz="2400" dirty="0">
              <a:latin typeface="微软雅黑" panose="020B0503020204020204" pitchFamily="34" charset="-122"/>
              <a:ea typeface="微软雅黑" panose="020B0503020204020204" pitchFamily="34" charset="-122"/>
            </a:endParaRPr>
          </a:p>
          <a:p>
            <a:pPr marL="228600" indent="-228600">
              <a:lnSpc>
                <a:spcPts val="3500"/>
              </a:lnSpc>
              <a:spcBef>
                <a:spcPts val="600"/>
              </a:spcBef>
              <a:buFont typeface="Wingdings" pitchFamily="2" charset="2"/>
              <a:buChar char="Ø"/>
            </a:pPr>
            <a:r>
              <a:rPr lang="zh-CN" altLang="zh-CN" sz="2400" dirty="0">
                <a:latin typeface="微软雅黑" panose="020B0503020204020204" pitchFamily="34" charset="-122"/>
                <a:ea typeface="微软雅黑" panose="020B0503020204020204" pitchFamily="34" charset="-122"/>
              </a:rPr>
              <a:t>真正衡量数据传输系统信息传输效率的是频带利用率</a:t>
            </a:r>
            <a:endParaRPr lang="en-US" altLang="zh-CN" sz="2400" dirty="0">
              <a:latin typeface="微软雅黑" panose="020B0503020204020204" pitchFamily="34" charset="-122"/>
              <a:ea typeface="微软雅黑" panose="020B0503020204020204" pitchFamily="34" charset="-122"/>
            </a:endParaRPr>
          </a:p>
          <a:p>
            <a:pPr marL="228600" indent="-228600">
              <a:lnSpc>
                <a:spcPts val="3500"/>
              </a:lnSpc>
              <a:spcBef>
                <a:spcPts val="600"/>
              </a:spcBef>
              <a:buFont typeface="Wingdings" pitchFamily="2" charset="2"/>
              <a:buChar char="Ø"/>
            </a:pPr>
            <a:r>
              <a:rPr lang="zh-CN" altLang="zh-CN" sz="2400" dirty="0">
                <a:latin typeface="微软雅黑" panose="020B0503020204020204" pitchFamily="34" charset="-122"/>
                <a:ea typeface="微软雅黑" panose="020B0503020204020204" pitchFamily="34" charset="-122"/>
              </a:rPr>
              <a:t>频带利用率通常与采用的调制及编码方式有关</a:t>
            </a:r>
            <a:endParaRPr lang="zh-CN" altLang="en-US" sz="2400" dirty="0">
              <a:latin typeface="微软雅黑" panose="020B0503020204020204" pitchFamily="34" charset="-122"/>
              <a:ea typeface="微软雅黑" panose="020B0503020204020204" pitchFamily="34" charset="-122"/>
            </a:endParaRPr>
          </a:p>
        </p:txBody>
      </p:sp>
      <p:grpSp>
        <p:nvGrpSpPr>
          <p:cNvPr id="20" name="组合 12">
            <a:extLst>
              <a:ext uri="{FF2B5EF4-FFF2-40B4-BE49-F238E27FC236}">
                <a16:creationId xmlns:a16="http://schemas.microsoft.com/office/drawing/2014/main" id="{804FDB3F-3F18-4C10-90EF-381064FFC0D4}"/>
              </a:ext>
            </a:extLst>
          </p:cNvPr>
          <p:cNvGrpSpPr>
            <a:grpSpLocks/>
          </p:cNvGrpSpPr>
          <p:nvPr/>
        </p:nvGrpSpPr>
        <p:grpSpPr bwMode="auto">
          <a:xfrm>
            <a:off x="2497418" y="2590467"/>
            <a:ext cx="6515953" cy="981075"/>
            <a:chOff x="2027238" y="2349500"/>
            <a:chExt cx="5149860" cy="768351"/>
          </a:xfrm>
        </p:grpSpPr>
        <p:graphicFrame>
          <p:nvGraphicFramePr>
            <p:cNvPr id="21" name="Object 10">
              <a:extLst>
                <a:ext uri="{FF2B5EF4-FFF2-40B4-BE49-F238E27FC236}">
                  <a16:creationId xmlns:a16="http://schemas.microsoft.com/office/drawing/2014/main" id="{D11DC3A0-F635-4614-B0CA-420C05728AE4}"/>
                </a:ext>
              </a:extLst>
            </p:cNvPr>
            <p:cNvGraphicFramePr>
              <a:graphicFrameLocks noChangeAspect="1"/>
            </p:cNvGraphicFramePr>
            <p:nvPr/>
          </p:nvGraphicFramePr>
          <p:xfrm>
            <a:off x="2027238" y="2359025"/>
            <a:ext cx="1119188" cy="720725"/>
          </p:xfrm>
          <a:graphic>
            <a:graphicData uri="http://schemas.openxmlformats.org/presentationml/2006/ole">
              <mc:AlternateContent xmlns:mc="http://schemas.openxmlformats.org/markup-compatibility/2006">
                <mc:Choice xmlns:v="urn:schemas-microsoft-com:vml" Requires="v">
                  <p:oleObj name="公式" r:id="rId3" imgW="482391" imgH="393529" progId="Equation.3">
                    <p:embed/>
                  </p:oleObj>
                </mc:Choice>
                <mc:Fallback>
                  <p:oleObj name="公式" r:id="rId3" imgW="482391" imgH="393529" progId="Equation.3">
                    <p:embed/>
                    <p:pic>
                      <p:nvPicPr>
                        <p:cNvPr id="27655" name="Object 10">
                          <a:extLst>
                            <a:ext uri="{FF2B5EF4-FFF2-40B4-BE49-F238E27FC236}">
                              <a16:creationId xmlns:a16="http://schemas.microsoft.com/office/drawing/2014/main" id="{339F5761-9F4B-4B81-B0E6-9A182E0EC4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238" y="2359025"/>
                          <a:ext cx="11191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 Box 11">
              <a:extLst>
                <a:ext uri="{FF2B5EF4-FFF2-40B4-BE49-F238E27FC236}">
                  <a16:creationId xmlns:a16="http://schemas.microsoft.com/office/drawing/2014/main" id="{3C9B1958-044A-412B-AC34-BCE2FDD78751}"/>
                </a:ext>
              </a:extLst>
            </p:cNvPr>
            <p:cNvSpPr txBox="1">
              <a:spLocks noChangeArrowheads="1"/>
            </p:cNvSpPr>
            <p:nvPr/>
          </p:nvSpPr>
          <p:spPr bwMode="auto">
            <a:xfrm>
              <a:off x="3214678" y="2514600"/>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Bd/Hz</a:t>
              </a:r>
              <a:r>
                <a:rPr lang="en-US" altLang="zh-CN" sz="2400" dirty="0">
                  <a:latin typeface="微软雅黑" panose="020B0503020204020204" pitchFamily="34" charset="-122"/>
                  <a:ea typeface="微软雅黑" panose="020B0503020204020204" pitchFamily="34" charset="-122"/>
                </a:rPr>
                <a:t>)</a:t>
              </a:r>
            </a:p>
          </p:txBody>
        </p:sp>
        <p:graphicFrame>
          <p:nvGraphicFramePr>
            <p:cNvPr id="23" name="Object 13">
              <a:extLst>
                <a:ext uri="{FF2B5EF4-FFF2-40B4-BE49-F238E27FC236}">
                  <a16:creationId xmlns:a16="http://schemas.microsoft.com/office/drawing/2014/main" id="{43AE997E-250C-4A24-B0E4-8EC08B4DCE29}"/>
                </a:ext>
              </a:extLst>
            </p:cNvPr>
            <p:cNvGraphicFramePr>
              <a:graphicFrameLocks noChangeAspect="1"/>
            </p:cNvGraphicFramePr>
            <p:nvPr/>
          </p:nvGraphicFramePr>
          <p:xfrm>
            <a:off x="5072066" y="2349500"/>
            <a:ext cx="781050" cy="717550"/>
          </p:xfrm>
          <a:graphic>
            <a:graphicData uri="http://schemas.openxmlformats.org/presentationml/2006/ole">
              <mc:AlternateContent xmlns:mc="http://schemas.openxmlformats.org/markup-compatibility/2006">
                <mc:Choice xmlns:v="urn:schemas-microsoft-com:vml" Requires="v">
                  <p:oleObj name="公式" r:id="rId5" imgW="469696" imgH="393529" progId="Equation.3">
                    <p:embed/>
                  </p:oleObj>
                </mc:Choice>
                <mc:Fallback>
                  <p:oleObj name="公式" r:id="rId5" imgW="469696" imgH="393529" progId="Equation.3">
                    <p:embed/>
                    <p:pic>
                      <p:nvPicPr>
                        <p:cNvPr id="27657" name="Object 13">
                          <a:extLst>
                            <a:ext uri="{FF2B5EF4-FFF2-40B4-BE49-F238E27FC236}">
                              <a16:creationId xmlns:a16="http://schemas.microsoft.com/office/drawing/2014/main" id="{8363EF1F-D230-414D-8C38-3AF84E4CF4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66" y="2349500"/>
                          <a:ext cx="78105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 Box 14">
              <a:extLst>
                <a:ext uri="{FF2B5EF4-FFF2-40B4-BE49-F238E27FC236}">
                  <a16:creationId xmlns:a16="http://schemas.microsoft.com/office/drawing/2014/main" id="{82B129A3-45B5-4C2B-86C4-70C18416B050}"/>
                </a:ext>
              </a:extLst>
            </p:cNvPr>
            <p:cNvSpPr txBox="1">
              <a:spLocks noChangeArrowheads="1"/>
            </p:cNvSpPr>
            <p:nvPr/>
          </p:nvSpPr>
          <p:spPr bwMode="auto">
            <a:xfrm>
              <a:off x="6000760" y="2525713"/>
              <a:ext cx="1176338"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(bps</a:t>
              </a:r>
              <a:r>
                <a:rPr lang="en-US" altLang="zh-CN" sz="2400">
                  <a:solidFill>
                    <a:srgbClr val="000000"/>
                  </a:solidFill>
                  <a:latin typeface="微软雅黑" panose="020B0503020204020204" pitchFamily="34" charset="-122"/>
                  <a:ea typeface="微软雅黑" panose="020B0503020204020204" pitchFamily="34" charset="-122"/>
                </a:rPr>
                <a:t>/Hz</a:t>
              </a:r>
              <a:r>
                <a:rPr lang="en-US" altLang="zh-CN" sz="2400">
                  <a:latin typeface="微软雅黑" panose="020B0503020204020204" pitchFamily="34" charset="-122"/>
                  <a:ea typeface="微软雅黑" panose="020B0503020204020204" pitchFamily="34" charset="-122"/>
                </a:rPr>
                <a:t>)</a:t>
              </a:r>
            </a:p>
          </p:txBody>
        </p:sp>
        <p:sp>
          <p:nvSpPr>
            <p:cNvPr id="25" name="Text Box 15">
              <a:extLst>
                <a:ext uri="{FF2B5EF4-FFF2-40B4-BE49-F238E27FC236}">
                  <a16:creationId xmlns:a16="http://schemas.microsoft.com/office/drawing/2014/main" id="{72C4A771-BF43-4ACF-8D82-32FF316D3BBB}"/>
                </a:ext>
              </a:extLst>
            </p:cNvPr>
            <p:cNvSpPr txBox="1">
              <a:spLocks noChangeArrowheads="1"/>
            </p:cNvSpPr>
            <p:nvPr/>
          </p:nvSpPr>
          <p:spPr bwMode="auto">
            <a:xfrm>
              <a:off x="4357686" y="2503489"/>
              <a:ext cx="661988" cy="496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2400">
                  <a:latin typeface="微软雅黑" panose="020B0503020204020204" pitchFamily="34" charset="-122"/>
                  <a:ea typeface="微软雅黑" panose="020B0503020204020204" pitchFamily="34" charset="-122"/>
                </a:rPr>
                <a:t>或</a:t>
              </a:r>
            </a:p>
          </p:txBody>
        </p:sp>
      </p:grpSp>
      <p:sp>
        <p:nvSpPr>
          <p:cNvPr id="16" name="标题 1">
            <a:extLst>
              <a:ext uri="{FF2B5EF4-FFF2-40B4-BE49-F238E27FC236}">
                <a16:creationId xmlns:a16="http://schemas.microsoft.com/office/drawing/2014/main" id="{209093B8-A441-49D9-B933-F27D9B407FD6}"/>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cxnSp>
        <p:nvCxnSpPr>
          <p:cNvPr id="4" name="直接箭头连接符 3">
            <a:extLst>
              <a:ext uri="{FF2B5EF4-FFF2-40B4-BE49-F238E27FC236}">
                <a16:creationId xmlns:a16="http://schemas.microsoft.com/office/drawing/2014/main" id="{2CC499D5-7430-4EB0-B607-10243B27DDFB}"/>
              </a:ext>
            </a:extLst>
          </p:cNvPr>
          <p:cNvCxnSpPr/>
          <p:nvPr/>
        </p:nvCxnSpPr>
        <p:spPr>
          <a:xfrm flipV="1">
            <a:off x="3684896" y="2590467"/>
            <a:ext cx="423080" cy="196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22F714CC-A6C6-4F67-B708-B095380ACE23}"/>
              </a:ext>
            </a:extLst>
          </p:cNvPr>
          <p:cNvSpPr txBox="1"/>
          <p:nvPr/>
        </p:nvSpPr>
        <p:spPr>
          <a:xfrm>
            <a:off x="4077542" y="2361586"/>
            <a:ext cx="1340372"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波特率 </a:t>
            </a:r>
          </a:p>
        </p:txBody>
      </p:sp>
      <p:cxnSp>
        <p:nvCxnSpPr>
          <p:cNvPr id="6" name="直接箭头连接符 5">
            <a:extLst>
              <a:ext uri="{FF2B5EF4-FFF2-40B4-BE49-F238E27FC236}">
                <a16:creationId xmlns:a16="http://schemas.microsoft.com/office/drawing/2014/main" id="{C4659AC0-796E-4320-969D-B61F1EDC424B}"/>
              </a:ext>
            </a:extLst>
          </p:cNvPr>
          <p:cNvCxnSpPr/>
          <p:nvPr/>
        </p:nvCxnSpPr>
        <p:spPr>
          <a:xfrm flipV="1">
            <a:off x="7338179" y="2561641"/>
            <a:ext cx="359158" cy="225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CCD9CBDD-19CE-4C57-96D0-698E7622D1C9}"/>
              </a:ext>
            </a:extLst>
          </p:cNvPr>
          <p:cNvSpPr txBox="1"/>
          <p:nvPr/>
        </p:nvSpPr>
        <p:spPr>
          <a:xfrm>
            <a:off x="7697201" y="2297870"/>
            <a:ext cx="1340372"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比特率 </a:t>
            </a:r>
          </a:p>
        </p:txBody>
      </p:sp>
      <p:cxnSp>
        <p:nvCxnSpPr>
          <p:cNvPr id="19" name="直接箭头连接符 18">
            <a:extLst>
              <a:ext uri="{FF2B5EF4-FFF2-40B4-BE49-F238E27FC236}">
                <a16:creationId xmlns:a16="http://schemas.microsoft.com/office/drawing/2014/main" id="{D3AAE202-6209-4DCC-A5E0-F9AE796F88A2}"/>
              </a:ext>
            </a:extLst>
          </p:cNvPr>
          <p:cNvCxnSpPr>
            <a:cxnSpLocks/>
            <a:endCxn id="27" idx="1"/>
          </p:cNvCxnSpPr>
          <p:nvPr/>
        </p:nvCxnSpPr>
        <p:spPr>
          <a:xfrm>
            <a:off x="3726884" y="3363168"/>
            <a:ext cx="1020844" cy="25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68EF7F9E-3EAC-4430-9CB1-B9584799BA37}"/>
              </a:ext>
            </a:extLst>
          </p:cNvPr>
          <p:cNvCxnSpPr>
            <a:cxnSpLocks/>
          </p:cNvCxnSpPr>
          <p:nvPr/>
        </p:nvCxnSpPr>
        <p:spPr>
          <a:xfrm flipH="1">
            <a:off x="5417914" y="3396778"/>
            <a:ext cx="1426149" cy="211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F7C94B57-D5B1-4E58-8386-A8F620BDD825}"/>
              </a:ext>
            </a:extLst>
          </p:cNvPr>
          <p:cNvSpPr txBox="1"/>
          <p:nvPr/>
        </p:nvSpPr>
        <p:spPr>
          <a:xfrm>
            <a:off x="4747728" y="3417961"/>
            <a:ext cx="1340372"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带宽 </a:t>
            </a:r>
          </a:p>
        </p:txBody>
      </p:sp>
      <p:sp>
        <p:nvSpPr>
          <p:cNvPr id="28" name="文本框 27">
            <a:extLst>
              <a:ext uri="{FF2B5EF4-FFF2-40B4-BE49-F238E27FC236}">
                <a16:creationId xmlns:a16="http://schemas.microsoft.com/office/drawing/2014/main" id="{6452FE72-15F7-4B46-97E7-0CE85FC4F351}"/>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2605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vert="horz" lIns="91440" tIns="45720" rIns="91440" bIns="45720" rtlCol="0" anchor="ctr">
            <a:normAutofit/>
          </a:bodyPr>
          <a:lstStyle/>
          <a:p>
            <a:r>
              <a:rPr kumimoji="1" lang="zh-CN" altLang="en-US" dirty="0">
                <a:cs typeface="+mn-cs"/>
              </a:rPr>
              <a:t>传输质量</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7" name="文本框 6">
            <a:extLst>
              <a:ext uri="{FF2B5EF4-FFF2-40B4-BE49-F238E27FC236}">
                <a16:creationId xmlns:a16="http://schemas.microsoft.com/office/drawing/2014/main" id="{EB331A9D-FDF6-4738-8FB7-EF23562DB413}"/>
              </a:ext>
            </a:extLst>
          </p:cNvPr>
          <p:cNvSpPr txBox="1"/>
          <p:nvPr/>
        </p:nvSpPr>
        <p:spPr>
          <a:xfrm>
            <a:off x="461963" y="1204710"/>
            <a:ext cx="6096000" cy="597921"/>
          </a:xfrm>
          <a:prstGeom prst="rect">
            <a:avLst/>
          </a:prstGeom>
        </p:spPr>
        <p:txBody>
          <a:bodyPr vert="horz" lIns="91440" tIns="45720" rIns="91440" bIns="45720" rtlCol="0">
            <a:normAutofit/>
          </a:bodyPr>
          <a:lstStyle>
            <a:lvl1pPr marL="228600" indent="-228600">
              <a:lnSpc>
                <a:spcPct val="130000"/>
              </a:lnSpc>
              <a:spcBef>
                <a:spcPts val="600"/>
              </a:spcBef>
              <a:buFont typeface="Wingdings" pitchFamily="2" charset="2"/>
              <a:buChar char="Ø"/>
              <a:defRPr kumimoji="1" sz="2800" b="1">
                <a:latin typeface="Microsoft YaHei" panose="020B0503020204020204" pitchFamily="34" charset="-122"/>
                <a:ea typeface="Microsoft YaHei" panose="020B0503020204020204" pitchFamily="34" charset="-122"/>
              </a:defRPr>
            </a:lvl1pPr>
            <a:lvl2pPr marL="685800" indent="-228600">
              <a:lnSpc>
                <a:spcPct val="100000"/>
              </a:lnSpc>
              <a:spcBef>
                <a:spcPts val="600"/>
              </a:spcBef>
              <a:buFont typeface="Arial" panose="020B0604020202020204" pitchFamily="34" charset="0"/>
              <a:buChar char="•"/>
              <a:defRPr sz="2400">
                <a:latin typeface="Microsoft YaHei" panose="020B0503020204020204" pitchFamily="34" charset="-122"/>
                <a:ea typeface="Microsoft YaHei" panose="020B0503020204020204" pitchFamily="34" charset="-122"/>
              </a:defRPr>
            </a:lvl2pPr>
            <a:lvl3pPr marL="1143000" indent="-228600">
              <a:lnSpc>
                <a:spcPct val="100000"/>
              </a:lnSpc>
              <a:spcBef>
                <a:spcPts val="600"/>
              </a:spcBef>
              <a:buFont typeface="Arial" panose="020B0604020202020204" pitchFamily="34" charset="0"/>
              <a:buChar char="•"/>
              <a:defRPr sz="2000">
                <a:latin typeface="Microsoft YaHei" panose="020B0503020204020204" pitchFamily="34" charset="-122"/>
                <a:ea typeface="Microsoft YaHei" panose="020B0503020204020204" pitchFamily="34" charset="-122"/>
              </a:defRPr>
            </a:lvl3pPr>
            <a:lvl4pPr marL="1600200" indent="-228600">
              <a:lnSpc>
                <a:spcPct val="100000"/>
              </a:lnSpc>
              <a:spcBef>
                <a:spcPts val="600"/>
              </a:spcBef>
              <a:buFont typeface="Arial" panose="020B0604020202020204" pitchFamily="34" charset="0"/>
              <a:buChar char="•"/>
              <a:defRPr>
                <a:latin typeface="Microsoft YaHei" panose="020B0503020204020204" pitchFamily="34" charset="-122"/>
                <a:ea typeface="Microsoft YaHei" panose="020B0503020204020204" pitchFamily="34" charset="-122"/>
              </a:defRPr>
            </a:lvl4pPr>
            <a:lvl5pPr marL="2057400" indent="-228600">
              <a:lnSpc>
                <a:spcPct val="100000"/>
              </a:lnSpc>
              <a:spcBef>
                <a:spcPts val="600"/>
              </a:spcBef>
              <a:buFont typeface="Arial" panose="020B0604020202020204" pitchFamily="34" charset="0"/>
              <a:buChar char="•"/>
              <a:defRPr>
                <a:latin typeface="Microsoft YaHei" panose="020B0503020204020204" pitchFamily="34" charset="-122"/>
                <a:ea typeface="Microsoft YaHei"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zh-CN" altLang="en-US" dirty="0"/>
          </a:p>
        </p:txBody>
      </p:sp>
      <p:sp>
        <p:nvSpPr>
          <p:cNvPr id="8" name="Rectangle 3">
            <a:extLst>
              <a:ext uri="{FF2B5EF4-FFF2-40B4-BE49-F238E27FC236}">
                <a16:creationId xmlns:a16="http://schemas.microsoft.com/office/drawing/2014/main" id="{A34EE81C-1802-4432-982E-3AA31E291872}"/>
              </a:ext>
            </a:extLst>
          </p:cNvPr>
          <p:cNvSpPr txBox="1">
            <a:spLocks noChangeArrowheads="1"/>
          </p:cNvSpPr>
          <p:nvPr/>
        </p:nvSpPr>
        <p:spPr>
          <a:xfrm>
            <a:off x="425847" y="1597627"/>
            <a:ext cx="11340306" cy="242887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200"/>
              </a:lnSpc>
            </a:pPr>
            <a:r>
              <a:rPr lang="zh-CN" altLang="en-US" sz="2400" dirty="0">
                <a:solidFill>
                  <a:srgbClr val="C00000"/>
                </a:solidFill>
                <a:latin typeface="微软雅黑" panose="020B0503020204020204" pitchFamily="34" charset="-122"/>
                <a:ea typeface="微软雅黑" panose="020B0503020204020204" pitchFamily="34" charset="-122"/>
              </a:rPr>
              <a:t>信噪比</a:t>
            </a:r>
            <a:r>
              <a:rPr lang="en-US" altLang="zh-CN"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SNR</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指信号通路某一点上的信号功率</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与混在信号中的噪声功率</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之比值（常用对数表示）。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SNR</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用来描述信号在传输过程中受到噪声影响的度量</a:t>
            </a:r>
          </a:p>
        </p:txBody>
      </p:sp>
      <p:grpSp>
        <p:nvGrpSpPr>
          <p:cNvPr id="9" name="Group 10">
            <a:extLst>
              <a:ext uri="{FF2B5EF4-FFF2-40B4-BE49-F238E27FC236}">
                <a16:creationId xmlns:a16="http://schemas.microsoft.com/office/drawing/2014/main" id="{12B8BE84-0998-4454-9A8E-D3B6EA53D419}"/>
              </a:ext>
            </a:extLst>
          </p:cNvPr>
          <p:cNvGrpSpPr>
            <a:grpSpLocks/>
          </p:cNvGrpSpPr>
          <p:nvPr/>
        </p:nvGrpSpPr>
        <p:grpSpPr bwMode="auto">
          <a:xfrm>
            <a:off x="5463383" y="2638060"/>
            <a:ext cx="5260976" cy="795336"/>
            <a:chOff x="3736" y="2429"/>
            <a:chExt cx="3314" cy="501"/>
          </a:xfrm>
        </p:grpSpPr>
        <p:graphicFrame>
          <p:nvGraphicFramePr>
            <p:cNvPr id="10" name="Object 8">
              <a:extLst>
                <a:ext uri="{FF2B5EF4-FFF2-40B4-BE49-F238E27FC236}">
                  <a16:creationId xmlns:a16="http://schemas.microsoft.com/office/drawing/2014/main" id="{161CC489-1BA7-4B9E-9C76-C71D1CE49C7F}"/>
                </a:ext>
              </a:extLst>
            </p:cNvPr>
            <p:cNvGraphicFramePr>
              <a:graphicFrameLocks noChangeAspect="1"/>
            </p:cNvGraphicFramePr>
            <p:nvPr>
              <p:extLst>
                <p:ext uri="{D42A27DB-BD31-4B8C-83A1-F6EECF244321}">
                  <p14:modId xmlns:p14="http://schemas.microsoft.com/office/powerpoint/2010/main" val="1412550969"/>
                </p:ext>
              </p:extLst>
            </p:nvPr>
          </p:nvGraphicFramePr>
          <p:xfrm>
            <a:off x="3736" y="2429"/>
            <a:ext cx="1235" cy="501"/>
          </p:xfrm>
          <a:graphic>
            <a:graphicData uri="http://schemas.openxmlformats.org/presentationml/2006/ole">
              <mc:AlternateContent xmlns:mc="http://schemas.openxmlformats.org/markup-compatibility/2006">
                <mc:Choice xmlns:v="urn:schemas-microsoft-com:vml" Requires="v">
                  <p:oleObj name="公式" r:id="rId2" imgW="965200" imgH="431800" progId="Equation.3">
                    <p:embed/>
                  </p:oleObj>
                </mc:Choice>
                <mc:Fallback>
                  <p:oleObj name="公式" r:id="rId2" imgW="965200" imgH="431800" progId="Equation.3">
                    <p:embed/>
                    <p:pic>
                      <p:nvPicPr>
                        <p:cNvPr id="41991" name="Object 8">
                          <a:extLst>
                            <a:ext uri="{FF2B5EF4-FFF2-40B4-BE49-F238E27FC236}">
                              <a16:creationId xmlns:a16="http://schemas.microsoft.com/office/drawing/2014/main" id="{F5FFCEED-E142-4DC7-BB95-7B5D06AAD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6" y="2429"/>
                          <a:ext cx="1235"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9">
              <a:extLst>
                <a:ext uri="{FF2B5EF4-FFF2-40B4-BE49-F238E27FC236}">
                  <a16:creationId xmlns:a16="http://schemas.microsoft.com/office/drawing/2014/main" id="{AC51D126-264E-4F3D-A153-D5A6036DE5A1}"/>
                </a:ext>
              </a:extLst>
            </p:cNvPr>
            <p:cNvSpPr txBox="1">
              <a:spLocks noChangeArrowheads="1"/>
            </p:cNvSpPr>
            <p:nvPr/>
          </p:nvSpPr>
          <p:spPr bwMode="auto">
            <a:xfrm>
              <a:off x="5009" y="2524"/>
              <a:ext cx="20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dirty="0">
                  <a:latin typeface="黑体" panose="02010609060101010101" pitchFamily="49" charset="-122"/>
                  <a:ea typeface="黑体" panose="02010609060101010101" pitchFamily="49" charset="-122"/>
                </a:rPr>
                <a:t>(dB)                       </a:t>
              </a:r>
            </a:p>
          </p:txBody>
        </p:sp>
      </p:grpSp>
      <p:sp>
        <p:nvSpPr>
          <p:cNvPr id="12" name="Rectangle 10">
            <a:extLst>
              <a:ext uri="{FF2B5EF4-FFF2-40B4-BE49-F238E27FC236}">
                <a16:creationId xmlns:a16="http://schemas.microsoft.com/office/drawing/2014/main" id="{20A7BB51-8614-41F6-8227-627C1A5D96E9}"/>
              </a:ext>
            </a:extLst>
          </p:cNvPr>
          <p:cNvSpPr>
            <a:spLocks noChangeArrowheads="1"/>
          </p:cNvSpPr>
          <p:nvPr/>
        </p:nvSpPr>
        <p:spPr bwMode="auto">
          <a:xfrm>
            <a:off x="522287" y="3296521"/>
            <a:ext cx="8059738"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eaLnBrk="1" hangingPunct="1">
              <a:buNone/>
            </a:pPr>
            <a:r>
              <a:rPr lang="zh-CN" altLang="en-US" sz="2400" dirty="0">
                <a:latin typeface="微软雅黑" panose="020B0503020204020204" pitchFamily="34" charset="-122"/>
                <a:ea typeface="微软雅黑" panose="020B0503020204020204" pitchFamily="34" charset="-122"/>
              </a:rPr>
              <a:t> 信噪比一般是在接收端测量</a:t>
            </a:r>
          </a:p>
        </p:txBody>
      </p:sp>
      <p:sp>
        <p:nvSpPr>
          <p:cNvPr id="13" name="Rectangle 3">
            <a:extLst>
              <a:ext uri="{FF2B5EF4-FFF2-40B4-BE49-F238E27FC236}">
                <a16:creationId xmlns:a16="http://schemas.microsoft.com/office/drawing/2014/main" id="{D50A11D1-8AE6-4D12-9174-73F8840F9CEB}"/>
              </a:ext>
            </a:extLst>
          </p:cNvPr>
          <p:cNvSpPr txBox="1">
            <a:spLocks noChangeArrowheads="1"/>
          </p:cNvSpPr>
          <p:nvPr/>
        </p:nvSpPr>
        <p:spPr>
          <a:xfrm>
            <a:off x="456406" y="3677964"/>
            <a:ext cx="10897394" cy="171450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4000"/>
              </a:lnSpc>
            </a:pPr>
            <a:r>
              <a:rPr lang="zh-CN" altLang="en-US" sz="2400" dirty="0">
                <a:solidFill>
                  <a:srgbClr val="C00000"/>
                </a:solidFill>
                <a:latin typeface="微软雅黑" panose="020B0503020204020204" pitchFamily="34" charset="-122"/>
                <a:ea typeface="微软雅黑" panose="020B0503020204020204" pitchFamily="34" charset="-122"/>
              </a:rPr>
              <a:t>平均误码率    </a:t>
            </a:r>
            <a:r>
              <a:rPr lang="zh-CN" altLang="en-US" sz="2400" dirty="0">
                <a:latin typeface="微软雅黑" panose="020B0503020204020204" pitchFamily="34" charset="-122"/>
                <a:ea typeface="微软雅黑" panose="020B0503020204020204" pitchFamily="34" charset="-122"/>
              </a:rPr>
              <a:t>指单位时间内接收到的出错码元数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400" dirty="0">
                <a:latin typeface="微软雅黑" panose="020B0503020204020204" pitchFamily="34" charset="-122"/>
                <a:ea typeface="微软雅黑" panose="020B0503020204020204" pitchFamily="34" charset="-122"/>
              </a:rPr>
              <a:t>占总码元数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微软雅黑" panose="020B0503020204020204" pitchFamily="34" charset="-122"/>
                <a:ea typeface="微软雅黑" panose="020B0503020204020204" pitchFamily="34" charset="-122"/>
              </a:rPr>
              <a:t>的比例</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14" name="Rectangle 7">
            <a:extLst>
              <a:ext uri="{FF2B5EF4-FFF2-40B4-BE49-F238E27FC236}">
                <a16:creationId xmlns:a16="http://schemas.microsoft.com/office/drawing/2014/main" id="{B4649D6B-6639-4FA5-8D00-84AB31339E51}"/>
              </a:ext>
            </a:extLst>
          </p:cNvPr>
          <p:cNvSpPr>
            <a:spLocks noChangeArrowheads="1"/>
          </p:cNvSpPr>
          <p:nvPr/>
        </p:nvSpPr>
        <p:spPr bwMode="auto">
          <a:xfrm>
            <a:off x="425847" y="4303271"/>
            <a:ext cx="11667865" cy="2306637"/>
          </a:xfrm>
          <a:prstGeom prst="rect">
            <a:avLst/>
          </a:prstGeom>
          <a:noFill/>
          <a:ln w="9525">
            <a:noFill/>
            <a:miter lim="800000"/>
            <a:headEnd/>
            <a:tailEnd/>
          </a:ln>
        </p:spPr>
        <p:txBody>
          <a:bodyPr/>
          <a:lstStyle/>
          <a:p>
            <a:pPr marL="800100" lvl="1" indent="-342900">
              <a:lnSpc>
                <a:spcPts val="4000"/>
              </a:lnSpc>
              <a:spcBef>
                <a:spcPct val="20000"/>
              </a:spcBef>
              <a:buClr>
                <a:schemeClr val="accent2"/>
              </a:buClr>
              <a:buFont typeface="Arial" panose="020B0604020202020204" pitchFamily="34" charset="0"/>
              <a:buChar char="•"/>
              <a:defRPr/>
            </a:pPr>
            <a:r>
              <a:rPr lang="zh-CN" altLang="en-US" sz="2400" dirty="0">
                <a:latin typeface="微软雅黑" panose="020B0503020204020204" pitchFamily="34" charset="-122"/>
                <a:ea typeface="微软雅黑" panose="020B0503020204020204" pitchFamily="34" charset="-122"/>
              </a:rPr>
              <a:t>平均误码率与所选择的测量时间的分布和长短有关。在日常维护测试中，</a:t>
            </a:r>
            <a:r>
              <a:rPr lang="en-US" altLang="zh-CN" sz="2400" dirty="0">
                <a:latin typeface="微软雅黑" panose="020B0503020204020204" pitchFamily="34" charset="-122"/>
                <a:ea typeface="微软雅黑" panose="020B0503020204020204" pitchFamily="34" charset="-122"/>
              </a:rPr>
              <a:t>ITU</a:t>
            </a:r>
            <a:r>
              <a:rPr lang="zh-CN" altLang="en-US" sz="2400" dirty="0">
                <a:latin typeface="微软雅黑" panose="020B0503020204020204" pitchFamily="34" charset="-122"/>
                <a:ea typeface="微软雅黑" panose="020B0503020204020204" pitchFamily="34" charset="-122"/>
              </a:rPr>
              <a:t>规定测试时间为</a:t>
            </a:r>
            <a:r>
              <a:rPr lang="en-US" altLang="zh-CN" sz="2400" dirty="0">
                <a:latin typeface="微软雅黑" panose="020B0503020204020204" pitchFamily="34" charset="-122"/>
                <a:ea typeface="微软雅黑" panose="020B0503020204020204" pitchFamily="34" charset="-122"/>
              </a:rPr>
              <a:t>15min</a:t>
            </a:r>
            <a:endParaRPr lang="zh-CN" altLang="en-US" sz="2400" dirty="0">
              <a:latin typeface="微软雅黑" panose="020B0503020204020204" pitchFamily="34" charset="-122"/>
              <a:ea typeface="微软雅黑" panose="020B0503020204020204" pitchFamily="34" charset="-122"/>
            </a:endParaRPr>
          </a:p>
          <a:p>
            <a:pPr marL="800100" lvl="1" indent="-342900">
              <a:lnSpc>
                <a:spcPts val="4000"/>
              </a:lnSpc>
              <a:buClr>
                <a:schemeClr val="accent2"/>
              </a:buClr>
              <a:buFont typeface="Arial" panose="020B0604020202020204" pitchFamily="34" charset="0"/>
              <a:buChar char="•"/>
              <a:defRPr/>
            </a:pPr>
            <a:r>
              <a:rPr lang="zh-CN" altLang="en-US" sz="2400" dirty="0">
                <a:latin typeface="微软雅黑" panose="020B0503020204020204" pitchFamily="34" charset="-122"/>
                <a:ea typeface="微软雅黑" panose="020B0503020204020204" pitchFamily="34" charset="-122"/>
              </a:rPr>
              <a:t>对于二进制传输而言，因码元与比特等价，所以误码率又称误比特率，但多进制传输时，两者不等</a:t>
            </a:r>
          </a:p>
        </p:txBody>
      </p:sp>
      <p:graphicFrame>
        <p:nvGraphicFramePr>
          <p:cNvPr id="16" name="Object 6">
            <a:extLst>
              <a:ext uri="{FF2B5EF4-FFF2-40B4-BE49-F238E27FC236}">
                <a16:creationId xmlns:a16="http://schemas.microsoft.com/office/drawing/2014/main" id="{0111BE70-B1E8-487A-ACA1-6AC4D1BCEE88}"/>
              </a:ext>
            </a:extLst>
          </p:cNvPr>
          <p:cNvGraphicFramePr>
            <a:graphicFrameLocks noChangeAspect="1"/>
          </p:cNvGraphicFramePr>
          <p:nvPr>
            <p:extLst>
              <p:ext uri="{D42A27DB-BD31-4B8C-83A1-F6EECF244321}">
                <p14:modId xmlns:p14="http://schemas.microsoft.com/office/powerpoint/2010/main" val="3510843066"/>
              </p:ext>
            </p:extLst>
          </p:nvPr>
        </p:nvGraphicFramePr>
        <p:xfrm>
          <a:off x="10291246" y="3649063"/>
          <a:ext cx="1681083" cy="800660"/>
        </p:xfrm>
        <a:graphic>
          <a:graphicData uri="http://schemas.openxmlformats.org/presentationml/2006/ole">
            <mc:AlternateContent xmlns:mc="http://schemas.openxmlformats.org/markup-compatibility/2006">
              <mc:Choice xmlns:v="urn:schemas-microsoft-com:vml" Requires="v">
                <p:oleObj name="公式" r:id="rId4" imgW="495085" imgH="393529" progId="Equation.3">
                  <p:embed/>
                </p:oleObj>
              </mc:Choice>
              <mc:Fallback>
                <p:oleObj name="公式" r:id="rId4" imgW="495085" imgH="393529" progId="Equation.3">
                  <p:embed/>
                  <p:pic>
                    <p:nvPicPr>
                      <p:cNvPr id="43015" name="Object 6">
                        <a:extLst>
                          <a:ext uri="{FF2B5EF4-FFF2-40B4-BE49-F238E27FC236}">
                            <a16:creationId xmlns:a16="http://schemas.microsoft.com/office/drawing/2014/main" id="{C6ABBBEF-5AC8-497D-B5FA-BA9E5E9CE4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91246" y="3649063"/>
                        <a:ext cx="1681083" cy="800660"/>
                      </a:xfrm>
                      <a:prstGeom prst="rect">
                        <a:avLst/>
                      </a:prstGeom>
                      <a:noFill/>
                      <a:ln>
                        <a:noFill/>
                      </a:ln>
                    </p:spPr>
                  </p:pic>
                </p:oleObj>
              </mc:Fallback>
            </mc:AlternateContent>
          </a:graphicData>
        </a:graphic>
      </p:graphicFrame>
      <p:sp>
        <p:nvSpPr>
          <p:cNvPr id="17" name="文本框 16">
            <a:extLst>
              <a:ext uri="{FF2B5EF4-FFF2-40B4-BE49-F238E27FC236}">
                <a16:creationId xmlns:a16="http://schemas.microsoft.com/office/drawing/2014/main" id="{377CF625-D039-47DB-921D-18E8ECD3A295}"/>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79738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圆角矩形 1">
            <a:extLst>
              <a:ext uri="{FF2B5EF4-FFF2-40B4-BE49-F238E27FC236}">
                <a16:creationId xmlns:a16="http://schemas.microsoft.com/office/drawing/2014/main" id="{CB8A6B55-C973-4713-A3AF-495FE1B172B5}"/>
              </a:ext>
            </a:extLst>
          </p:cNvPr>
          <p:cNvSpPr/>
          <p:nvPr/>
        </p:nvSpPr>
        <p:spPr>
          <a:xfrm>
            <a:off x="2163877" y="3429000"/>
            <a:ext cx="8177552" cy="3292475"/>
          </a:xfrm>
          <a:prstGeom prst="roundRect">
            <a:avLst>
              <a:gd name="adj" fmla="val 2019"/>
            </a:avLst>
          </a:prstGeom>
          <a:solidFill>
            <a:schemeClr val="bg1"/>
          </a:solidFill>
          <a:ln w="19050">
            <a:solidFill>
              <a:schemeClr val="accent1">
                <a:lumMod val="60000"/>
                <a:lumOff val="40000"/>
              </a:schemeClr>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pic>
        <p:nvPicPr>
          <p:cNvPr id="23" name="图片 22">
            <a:extLst>
              <a:ext uri="{FF2B5EF4-FFF2-40B4-BE49-F238E27FC236}">
                <a16:creationId xmlns:a16="http://schemas.microsoft.com/office/drawing/2014/main" id="{563A9030-8B36-4CF6-9272-EB62315DC947}"/>
              </a:ext>
            </a:extLst>
          </p:cNvPr>
          <p:cNvPicPr>
            <a:picLocks noChangeAspect="1"/>
          </p:cNvPicPr>
          <p:nvPr/>
        </p:nvPicPr>
        <p:blipFill>
          <a:blip r:embed="rId2"/>
          <a:stretch>
            <a:fillRect/>
          </a:stretch>
        </p:blipFill>
        <p:spPr>
          <a:xfrm>
            <a:off x="6258234" y="4198040"/>
            <a:ext cx="1331136" cy="612745"/>
          </a:xfrm>
          <a:prstGeom prst="rect">
            <a:avLst/>
          </a:prstGeom>
        </p:spPr>
      </p:pic>
      <p:sp>
        <p:nvSpPr>
          <p:cNvPr id="2" name="标题 1">
            <a:extLst>
              <a:ext uri="{FF2B5EF4-FFF2-40B4-BE49-F238E27FC236}">
                <a16:creationId xmlns:a16="http://schemas.microsoft.com/office/drawing/2014/main" id="{5814C7AB-24CB-4EA2-8A56-940873D15E77}"/>
              </a:ext>
            </a:extLst>
          </p:cNvPr>
          <p:cNvSpPr>
            <a:spLocks noGrp="1"/>
          </p:cNvSpPr>
          <p:nvPr>
            <p:ph type="title"/>
          </p:nvPr>
        </p:nvSpPr>
        <p:spPr/>
        <p:txBody>
          <a:bodyPr vert="horz" lIns="91440" tIns="45720" rIns="91440" bIns="45720" rtlCol="0" anchor="ctr">
            <a:normAutofit/>
          </a:bodyPr>
          <a:lstStyle/>
          <a:p>
            <a:pPr marL="0" indent="0">
              <a:buNone/>
            </a:pPr>
            <a:r>
              <a:rPr lang="zh-CN" altLang="en-US" dirty="0"/>
              <a:t>传输质量</a:t>
            </a:r>
          </a:p>
        </p:txBody>
      </p:sp>
      <p:sp>
        <p:nvSpPr>
          <p:cNvPr id="3" name="内容占位符 2">
            <a:extLst>
              <a:ext uri="{FF2B5EF4-FFF2-40B4-BE49-F238E27FC236}">
                <a16:creationId xmlns:a16="http://schemas.microsoft.com/office/drawing/2014/main" id="{D0DABA86-7361-4514-A550-3F1A6E2B80C0}"/>
              </a:ext>
            </a:extLst>
          </p:cNvPr>
          <p:cNvSpPr>
            <a:spLocks noGrp="1"/>
          </p:cNvSpPr>
          <p:nvPr>
            <p:ph idx="1"/>
          </p:nvPr>
        </p:nvSpPr>
        <p:spPr>
          <a:xfrm>
            <a:off x="664580" y="1418161"/>
            <a:ext cx="10515600" cy="4586694"/>
          </a:xfrm>
        </p:spPr>
        <p:txBody>
          <a:bodyPr/>
          <a:lstStyle/>
          <a:p>
            <a:pPr marL="0" indent="0">
              <a:buNone/>
            </a:pPr>
            <a:r>
              <a:rPr lang="zh-CN" altLang="en-US" dirty="0">
                <a:solidFill>
                  <a:srgbClr val="5B307E"/>
                </a:solidFill>
                <a:latin typeface="微软雅黑" panose="020B0503020204020204" pitchFamily="34" charset="-122"/>
                <a:ea typeface="微软雅黑" panose="020B0503020204020204" pitchFamily="34" charset="-122"/>
              </a:rPr>
              <a:t>举例：</a:t>
            </a:r>
            <a:r>
              <a:rPr lang="en-US" altLang="zh-CN" dirty="0">
                <a:solidFill>
                  <a:srgbClr val="5B307E"/>
                </a:solidFill>
                <a:latin typeface="微软雅黑" panose="020B0503020204020204" pitchFamily="34" charset="-122"/>
                <a:ea typeface="微软雅黑" panose="020B0503020204020204" pitchFamily="34" charset="-122"/>
              </a:rPr>
              <a:t>WIFI</a:t>
            </a:r>
            <a:r>
              <a:rPr lang="zh-CN" altLang="en-US" dirty="0">
                <a:solidFill>
                  <a:srgbClr val="5B307E"/>
                </a:solidFill>
                <a:latin typeface="微软雅黑" panose="020B0503020204020204" pitchFamily="34" charset="-122"/>
                <a:ea typeface="微软雅黑" panose="020B0503020204020204" pitchFamily="34" charset="-122"/>
              </a:rPr>
              <a:t>信号放大器</a:t>
            </a:r>
          </a:p>
        </p:txBody>
      </p:sp>
      <p:sp>
        <p:nvSpPr>
          <p:cNvPr id="4" name="灯片编号占位符 3">
            <a:extLst>
              <a:ext uri="{FF2B5EF4-FFF2-40B4-BE49-F238E27FC236}">
                <a16:creationId xmlns:a16="http://schemas.microsoft.com/office/drawing/2014/main" id="{3414A089-5D52-45DF-B9C1-47471ED1108B}"/>
              </a:ext>
            </a:extLst>
          </p:cNvPr>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sp>
        <p:nvSpPr>
          <p:cNvPr id="8" name="文本框 7">
            <a:extLst>
              <a:ext uri="{FF2B5EF4-FFF2-40B4-BE49-F238E27FC236}">
                <a16:creationId xmlns:a16="http://schemas.microsoft.com/office/drawing/2014/main" id="{A4391CF2-F484-4468-B41F-ADDDEA3952EF}"/>
              </a:ext>
            </a:extLst>
          </p:cNvPr>
          <p:cNvSpPr txBox="1"/>
          <p:nvPr/>
        </p:nvSpPr>
        <p:spPr>
          <a:xfrm>
            <a:off x="894145" y="1971149"/>
            <a:ext cx="10946756" cy="1294072"/>
          </a:xfrm>
          <a:prstGeom prst="rect">
            <a:avLst/>
          </a:prstGeom>
          <a:noFill/>
        </p:spPr>
        <p:txBody>
          <a:bodyPr wrap="square">
            <a:spAutoFit/>
          </a:bodyPr>
          <a:lstStyle/>
          <a:p>
            <a:pPr marL="285750" indent="-285750">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又称无线信号扩展器原理，和两个无线路由器之间的无线桥接类似</a:t>
            </a:r>
            <a:endParaRPr lang="en-US" altLang="zh-CN" sz="2400" dirty="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dirty="0" err="1">
                <a:latin typeface="微软雅黑" panose="020B0503020204020204" pitchFamily="34" charset="-122"/>
                <a:ea typeface="微软雅黑" panose="020B0503020204020204" pitchFamily="34" charset="-122"/>
              </a:rPr>
              <a:t>wifi</a:t>
            </a:r>
            <a:r>
              <a:rPr lang="zh-CN" altLang="en-US" sz="2400" dirty="0">
                <a:latin typeface="微软雅黑" panose="020B0503020204020204" pitchFamily="34" charset="-122"/>
                <a:ea typeface="微软雅黑" panose="020B0503020204020204" pitchFamily="34" charset="-122"/>
              </a:rPr>
              <a:t>信号放大器会通过无线的方式，和原来无线路由器建立连接</a:t>
            </a:r>
            <a:endParaRPr lang="en-US" altLang="zh-CN" sz="2400" dirty="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dirty="0" err="1">
                <a:latin typeface="微软雅黑" panose="020B0503020204020204" pitchFamily="34" charset="-122"/>
                <a:ea typeface="微软雅黑" panose="020B0503020204020204" pitchFamily="34" charset="-122"/>
              </a:rPr>
              <a:t>wifi</a:t>
            </a:r>
            <a:r>
              <a:rPr lang="zh-CN" altLang="en-US" sz="2400" dirty="0">
                <a:latin typeface="微软雅黑" panose="020B0503020204020204" pitchFamily="34" charset="-122"/>
                <a:ea typeface="微软雅黑" panose="020B0503020204020204" pitchFamily="34" charset="-122"/>
              </a:rPr>
              <a:t>信号放大器自身再提供一个无线信号，从而实现扩大无线信号覆盖范围的</a:t>
            </a:r>
          </a:p>
        </p:txBody>
      </p:sp>
      <p:pic>
        <p:nvPicPr>
          <p:cNvPr id="15362" name="Picture 2">
            <a:extLst>
              <a:ext uri="{FF2B5EF4-FFF2-40B4-BE49-F238E27FC236}">
                <a16:creationId xmlns:a16="http://schemas.microsoft.com/office/drawing/2014/main" id="{386CDC49-2EC9-4714-8E1F-A78A8DF37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4497" y="3592780"/>
            <a:ext cx="1091999" cy="1091999"/>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95389797-2DCB-4F64-99ED-CA59F6CA7914}"/>
              </a:ext>
            </a:extLst>
          </p:cNvPr>
          <p:cNvPicPr>
            <a:picLocks noChangeAspect="1"/>
          </p:cNvPicPr>
          <p:nvPr/>
        </p:nvPicPr>
        <p:blipFill>
          <a:blip r:embed="rId4"/>
          <a:stretch>
            <a:fillRect/>
          </a:stretch>
        </p:blipFill>
        <p:spPr>
          <a:xfrm>
            <a:off x="4781667" y="3592780"/>
            <a:ext cx="792800" cy="2374815"/>
          </a:xfrm>
          <a:prstGeom prst="rect">
            <a:avLst/>
          </a:prstGeom>
        </p:spPr>
      </p:pic>
      <p:pic>
        <p:nvPicPr>
          <p:cNvPr id="12" name="图片 11">
            <a:extLst>
              <a:ext uri="{FF2B5EF4-FFF2-40B4-BE49-F238E27FC236}">
                <a16:creationId xmlns:a16="http://schemas.microsoft.com/office/drawing/2014/main" id="{0DD57FB0-5E3F-4C1A-9305-110ED1C0ADD2}"/>
              </a:ext>
            </a:extLst>
          </p:cNvPr>
          <p:cNvPicPr>
            <a:picLocks noChangeAspect="1"/>
          </p:cNvPicPr>
          <p:nvPr/>
        </p:nvPicPr>
        <p:blipFill>
          <a:blip r:embed="rId5"/>
          <a:stretch>
            <a:fillRect/>
          </a:stretch>
        </p:blipFill>
        <p:spPr>
          <a:xfrm>
            <a:off x="6559639" y="4684779"/>
            <a:ext cx="636186" cy="788349"/>
          </a:xfrm>
          <a:prstGeom prst="rect">
            <a:avLst/>
          </a:prstGeom>
        </p:spPr>
      </p:pic>
      <p:cxnSp>
        <p:nvCxnSpPr>
          <p:cNvPr id="14" name="直接箭头连接符 13">
            <a:extLst>
              <a:ext uri="{FF2B5EF4-FFF2-40B4-BE49-F238E27FC236}">
                <a16:creationId xmlns:a16="http://schemas.microsoft.com/office/drawing/2014/main" id="{AB59238E-F877-47ED-96F4-36B24EAF9CAB}"/>
              </a:ext>
            </a:extLst>
          </p:cNvPr>
          <p:cNvCxnSpPr/>
          <p:nvPr/>
        </p:nvCxnSpPr>
        <p:spPr>
          <a:xfrm>
            <a:off x="4062714" y="3808071"/>
            <a:ext cx="718953" cy="33070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79D551D8-82B7-4BDD-8210-47B614A55DB0}"/>
              </a:ext>
            </a:extLst>
          </p:cNvPr>
          <p:cNvCxnSpPr>
            <a:cxnSpLocks/>
          </p:cNvCxnSpPr>
          <p:nvPr/>
        </p:nvCxnSpPr>
        <p:spPr>
          <a:xfrm>
            <a:off x="5574467" y="4466338"/>
            <a:ext cx="793056" cy="3138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533D14C-22DE-4AC8-9462-AAAB53A2FC2A}"/>
              </a:ext>
            </a:extLst>
          </p:cNvPr>
          <p:cNvSpPr txBox="1"/>
          <p:nvPr/>
        </p:nvSpPr>
        <p:spPr>
          <a:xfrm>
            <a:off x="4259484" y="5967595"/>
            <a:ext cx="1836516" cy="70788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墙体遮挡，</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信号强度减弱</a:t>
            </a:r>
          </a:p>
        </p:txBody>
      </p:sp>
      <p:sp>
        <p:nvSpPr>
          <p:cNvPr id="21" name="文本框 20">
            <a:extLst>
              <a:ext uri="{FF2B5EF4-FFF2-40B4-BE49-F238E27FC236}">
                <a16:creationId xmlns:a16="http://schemas.microsoft.com/office/drawing/2014/main" id="{641A6BA7-4466-4B9D-90D7-729C9FE67AA4}"/>
              </a:ext>
            </a:extLst>
          </p:cNvPr>
          <p:cNvSpPr txBox="1"/>
          <p:nvPr/>
        </p:nvSpPr>
        <p:spPr>
          <a:xfrm>
            <a:off x="2729214" y="4681629"/>
            <a:ext cx="1391732"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WIFI</a:t>
            </a:r>
            <a:r>
              <a:rPr lang="zh-CN" altLang="en-US" sz="2000" dirty="0">
                <a:latin typeface="微软雅黑" panose="020B0503020204020204" pitchFamily="34" charset="-122"/>
                <a:ea typeface="微软雅黑" panose="020B0503020204020204" pitchFamily="34" charset="-122"/>
              </a:rPr>
              <a:t>设备</a:t>
            </a:r>
          </a:p>
        </p:txBody>
      </p:sp>
      <p:sp>
        <p:nvSpPr>
          <p:cNvPr id="22" name="文本框 21">
            <a:extLst>
              <a:ext uri="{FF2B5EF4-FFF2-40B4-BE49-F238E27FC236}">
                <a16:creationId xmlns:a16="http://schemas.microsoft.com/office/drawing/2014/main" id="{35FFA004-445E-4CB5-815C-8272B2004881}"/>
              </a:ext>
            </a:extLst>
          </p:cNvPr>
          <p:cNvSpPr txBox="1"/>
          <p:nvPr/>
        </p:nvSpPr>
        <p:spPr>
          <a:xfrm>
            <a:off x="6075806" y="5567166"/>
            <a:ext cx="1603851"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WIFI</a:t>
            </a:r>
            <a:r>
              <a:rPr lang="zh-CN" altLang="en-US" sz="2000" dirty="0">
                <a:latin typeface="微软雅黑" panose="020B0503020204020204" pitchFamily="34" charset="-122"/>
                <a:ea typeface="微软雅黑" panose="020B0503020204020204" pitchFamily="34" charset="-122"/>
              </a:rPr>
              <a:t>放大器</a:t>
            </a:r>
          </a:p>
        </p:txBody>
      </p:sp>
      <p:pic>
        <p:nvPicPr>
          <p:cNvPr id="25" name="图片 24">
            <a:extLst>
              <a:ext uri="{FF2B5EF4-FFF2-40B4-BE49-F238E27FC236}">
                <a16:creationId xmlns:a16="http://schemas.microsoft.com/office/drawing/2014/main" id="{419B4E2A-F97D-41E9-9597-17A2D5986C7C}"/>
              </a:ext>
            </a:extLst>
          </p:cNvPr>
          <p:cNvPicPr>
            <a:picLocks noChangeAspect="1"/>
          </p:cNvPicPr>
          <p:nvPr/>
        </p:nvPicPr>
        <p:blipFill>
          <a:blip r:embed="rId6"/>
          <a:stretch>
            <a:fillRect/>
          </a:stretch>
        </p:blipFill>
        <p:spPr>
          <a:xfrm>
            <a:off x="8191607" y="3900407"/>
            <a:ext cx="870212" cy="870211"/>
          </a:xfrm>
          <a:prstGeom prst="rect">
            <a:avLst/>
          </a:prstGeom>
        </p:spPr>
      </p:pic>
      <p:sp>
        <p:nvSpPr>
          <p:cNvPr id="27" name="文本框 26">
            <a:extLst>
              <a:ext uri="{FF2B5EF4-FFF2-40B4-BE49-F238E27FC236}">
                <a16:creationId xmlns:a16="http://schemas.microsoft.com/office/drawing/2014/main" id="{162E2B53-F2D4-4A23-8351-09768914D23F}"/>
              </a:ext>
            </a:extLst>
          </p:cNvPr>
          <p:cNvSpPr txBox="1"/>
          <p:nvPr/>
        </p:nvSpPr>
        <p:spPr>
          <a:xfrm>
            <a:off x="8136887" y="4810785"/>
            <a:ext cx="2571017" cy="70788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覆盖满格</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提升接收信噪比</a:t>
            </a:r>
          </a:p>
        </p:txBody>
      </p:sp>
      <p:sp>
        <p:nvSpPr>
          <p:cNvPr id="20" name="文本框 19">
            <a:extLst>
              <a:ext uri="{FF2B5EF4-FFF2-40B4-BE49-F238E27FC236}">
                <a16:creationId xmlns:a16="http://schemas.microsoft.com/office/drawing/2014/main" id="{AC485AC0-CE57-4BF1-AB2B-10893333E121}"/>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24892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92792" y="1466079"/>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t>2.2 </a:t>
            </a:r>
            <a:r>
              <a:rPr lang="zh-CN" altLang="en-US" dirty="0"/>
              <a:t>数据通信基础</a:t>
            </a:r>
            <a:endParaRPr lang="en-US" altLang="zh-CN" dirty="0"/>
          </a:p>
          <a:p>
            <a:pPr marL="0" indent="0">
              <a:lnSpc>
                <a:spcPct val="160000"/>
              </a:lnSpc>
              <a:buNone/>
            </a:pPr>
            <a:r>
              <a:rPr lang="en-US" altLang="zh-CN" dirty="0"/>
              <a:t>2.3 </a:t>
            </a:r>
            <a:r>
              <a:rPr lang="zh-CN" altLang="en-US" dirty="0"/>
              <a:t>传输介质</a:t>
            </a:r>
            <a:endParaRPr lang="en-US" altLang="zh-CN" dirty="0"/>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t>2.5 </a:t>
            </a:r>
            <a:r>
              <a:rPr lang="zh-CN" altLang="en-US" dirty="0"/>
              <a:t>多路复用技术</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5713539" y="2657479"/>
            <a:ext cx="3814781" cy="1808746"/>
          </a:xfrm>
          <a:prstGeom prst="wedgeRectCallout">
            <a:avLst>
              <a:gd name="adj1" fmla="val -96430"/>
              <a:gd name="adj2" fmla="val -583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传输介质分类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导引性介质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非导引性介质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687013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Computer Network</a:t>
            </a:r>
          </a:p>
        </p:txBody>
      </p:sp>
      <p:sp>
        <p:nvSpPr>
          <p:cNvPr id="30723" name="灯片编号占位符 2"/>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64FC0BE-4AB8-4F46-8A66-2BC23478556C}" type="slidenum">
              <a:rPr lang="en-US" altLang="zh-CN" sz="1200">
                <a:latin typeface="Arial Black" panose="020B0A04020102020204" pitchFamily="34" charset="0"/>
              </a:rPr>
              <a:pPr>
                <a:spcBef>
                  <a:spcPct val="0"/>
                </a:spcBef>
                <a:buClrTx/>
                <a:buSzTx/>
                <a:buFontTx/>
                <a:buNone/>
              </a:pPr>
              <a:t>56</a:t>
            </a:fld>
            <a:endParaRPr lang="en-US" altLang="zh-CN" sz="1200">
              <a:latin typeface="Arial Black" panose="020B0A04020102020204" pitchFamily="34" charset="0"/>
            </a:endParaRPr>
          </a:p>
        </p:txBody>
      </p:sp>
      <p:sp>
        <p:nvSpPr>
          <p:cNvPr id="7" name="日期占位符 3"/>
          <p:cNvSpPr>
            <a:spLocks noGrp="1"/>
          </p:cNvSpPr>
          <p:nvPr>
            <p:ph type="dt" sz="quarter" idx="12"/>
          </p:nvPr>
        </p:nvSpPr>
        <p:spPr/>
        <p:txBody>
          <a:bodyPr/>
          <a:lstStyle/>
          <a:p>
            <a:pPr>
              <a:defRPr/>
            </a:pPr>
            <a:fld id="{0B8CBAD6-22B1-4597-9B29-2E7AF646BD3E}" type="datetime1">
              <a:rPr lang="zh-CN" altLang="en-US"/>
              <a:pPr>
                <a:defRPr/>
              </a:pPr>
              <a:t>2024/9/27</a:t>
            </a:fld>
            <a:endParaRPr lang="en-US" altLang="zh-CN"/>
          </a:p>
        </p:txBody>
      </p:sp>
      <p:sp>
        <p:nvSpPr>
          <p:cNvPr id="879621" name="Rectangle 1029"/>
          <p:cNvSpPr>
            <a:spLocks noChangeArrowheads="1"/>
          </p:cNvSpPr>
          <p:nvPr/>
        </p:nvSpPr>
        <p:spPr bwMode="auto">
          <a:xfrm>
            <a:off x="2351088" y="1484314"/>
            <a:ext cx="7543800" cy="257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p>
            <a:pPr algn="just" eaLnBrk="1" hangingPunct="1">
              <a:lnSpc>
                <a:spcPct val="110000"/>
              </a:lnSpc>
              <a:defRPr/>
            </a:pPr>
            <a:r>
              <a:rPr lang="en-US" altLang="zh-CN" sz="2800" dirty="0">
                <a:solidFill>
                  <a:srgbClr val="0000FF"/>
                </a:solidFill>
                <a:effectLst>
                  <a:outerShdw blurRad="38100" dist="38100" dir="2700000" algn="tl">
                    <a:srgbClr val="C0C0C0"/>
                  </a:outerShdw>
                </a:effectLst>
                <a:latin typeface="Verdana" pitchFamily="34" charset="0"/>
              </a:rPr>
              <a:t>    </a:t>
            </a:r>
            <a:r>
              <a:rPr lang="zh-CN" altLang="en-US" sz="2400" dirty="0">
                <a:solidFill>
                  <a:srgbClr val="0000FF"/>
                </a:solidFill>
                <a:effectLst>
                  <a:outerShdw blurRad="38100" dist="38100" dir="2700000" algn="tl">
                    <a:srgbClr val="C0C0C0"/>
                  </a:outerShdw>
                </a:effectLst>
                <a:latin typeface="Verdana" pitchFamily="34" charset="0"/>
              </a:rPr>
              <a:t>传输介质并不属于物理层，但</a:t>
            </a:r>
            <a:r>
              <a:rPr lang="zh-CN" altLang="en-US" sz="2400" dirty="0">
                <a:latin typeface="Verdana" pitchFamily="34" charset="0"/>
              </a:rPr>
              <a:t>和物理层密切相关。</a:t>
            </a:r>
            <a:endParaRPr lang="zh-CN" altLang="en-US" sz="2400" dirty="0">
              <a:solidFill>
                <a:srgbClr val="0000FF"/>
              </a:solidFill>
              <a:effectLst>
                <a:outerShdw blurRad="38100" dist="38100" dir="2700000" algn="tl">
                  <a:srgbClr val="C0C0C0"/>
                </a:outerShdw>
              </a:effectLst>
              <a:latin typeface="Verdana" pitchFamily="34" charset="0"/>
            </a:endParaRPr>
          </a:p>
          <a:p>
            <a:pPr algn="just" eaLnBrk="1" hangingPunct="1">
              <a:lnSpc>
                <a:spcPct val="115000"/>
              </a:lnSpc>
              <a:defRPr/>
            </a:pPr>
            <a:r>
              <a:rPr lang="zh-CN" altLang="en-US" sz="2400" dirty="0">
                <a:latin typeface="Verdana" pitchFamily="34" charset="0"/>
              </a:rPr>
              <a:t>    传输介质在物理层的下面。由于物理层是体系结构的第一层，因此有时称传输介质为</a:t>
            </a:r>
            <a:r>
              <a:rPr lang="en-US" altLang="zh-CN" sz="2400" dirty="0">
                <a:latin typeface="Verdana" pitchFamily="34" charset="0"/>
              </a:rPr>
              <a:t>0</a:t>
            </a:r>
            <a:r>
              <a:rPr lang="zh-CN" altLang="en-US" sz="2400" dirty="0">
                <a:latin typeface="Verdana" pitchFamily="34" charset="0"/>
              </a:rPr>
              <a:t>层。在传输介质中传输的是</a:t>
            </a:r>
            <a:r>
              <a:rPr lang="zh-CN" altLang="en-US" sz="2400" dirty="0">
                <a:solidFill>
                  <a:schemeClr val="hlink"/>
                </a:solidFill>
                <a:latin typeface="Verdana" pitchFamily="34" charset="0"/>
              </a:rPr>
              <a:t>信号</a:t>
            </a:r>
            <a:r>
              <a:rPr lang="zh-CN" altLang="en-US" sz="2400" dirty="0">
                <a:latin typeface="Verdana" pitchFamily="34" charset="0"/>
              </a:rPr>
              <a:t>，传输介质并不知道所传输的信号代表什么意思。但物理层由于规定了电气特性，因此能够识别所传送的比特流。</a:t>
            </a:r>
          </a:p>
        </p:txBody>
      </p:sp>
      <p:graphicFrame>
        <p:nvGraphicFramePr>
          <p:cNvPr id="30727" name="Object 1028"/>
          <p:cNvGraphicFramePr>
            <a:graphicFrameLocks noChangeAspect="1"/>
          </p:cNvGraphicFramePr>
          <p:nvPr/>
        </p:nvGraphicFramePr>
        <p:xfrm>
          <a:off x="2135188" y="4221164"/>
          <a:ext cx="7924800" cy="2130425"/>
        </p:xfrm>
        <a:graphic>
          <a:graphicData uri="http://schemas.openxmlformats.org/presentationml/2006/ole">
            <mc:AlternateContent xmlns:mc="http://schemas.openxmlformats.org/markup-compatibility/2006">
              <mc:Choice xmlns:v="urn:schemas-microsoft-com:vml" Requires="v">
                <p:oleObj name="演示文稿" r:id="rId2" imgW="1685690" imgH="1264915" progId="PowerPoint.Show.8">
                  <p:embed/>
                </p:oleObj>
              </mc:Choice>
              <mc:Fallback>
                <p:oleObj name="演示文稿" r:id="rId2" imgW="1685690" imgH="1264915" progId="PowerPoint.Show.8">
                  <p:embed/>
                  <p:pic>
                    <p:nvPicPr>
                      <p:cNvPr id="30727" name="Object 1028"/>
                      <p:cNvPicPr>
                        <a:picLocks noChangeAspect="1" noChangeArrowheads="1"/>
                      </p:cNvPicPr>
                      <p:nvPr/>
                    </p:nvPicPr>
                    <p:blipFill>
                      <a:blip r:embed="rId3">
                        <a:extLst>
                          <a:ext uri="{28A0092B-C50C-407E-A947-70E740481C1C}">
                            <a14:useLocalDpi xmlns:a14="http://schemas.microsoft.com/office/drawing/2010/main" val="0"/>
                          </a:ext>
                        </a:extLst>
                      </a:blip>
                      <a:srcRect l="4597" t="23338" r="11685" b="46770"/>
                      <a:stretch>
                        <a:fillRect/>
                      </a:stretch>
                    </p:blipFill>
                    <p:spPr bwMode="auto">
                      <a:xfrm>
                        <a:off x="2135188" y="4221164"/>
                        <a:ext cx="7924800"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82410422"/>
      </p:ext>
    </p:extLst>
  </p:cSld>
  <p:clrMapOvr>
    <a:masterClrMapping/>
  </p:clrMapOvr>
  <p:transition spd="slow">
    <p:pull dir="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B089F6AA-1515-4DEC-BDE4-E658CBDBDBD5}"/>
              </a:ext>
            </a:extLst>
          </p:cNvPr>
          <p:cNvSpPr/>
          <p:nvPr/>
        </p:nvSpPr>
        <p:spPr>
          <a:xfrm>
            <a:off x="6096001" y="2480755"/>
            <a:ext cx="5930348" cy="3206146"/>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9EFBC8D1-C65C-4F77-9833-6BF07B681CF6}"/>
              </a:ext>
            </a:extLst>
          </p:cNvPr>
          <p:cNvSpPr>
            <a:spLocks noGrp="1"/>
          </p:cNvSpPr>
          <p:nvPr>
            <p:ph type="title"/>
          </p:nvPr>
        </p:nvSpPr>
        <p:spPr/>
        <p:txBody>
          <a:bodyPr/>
          <a:lstStyle/>
          <a:p>
            <a:r>
              <a:rPr lang="zh-CN" altLang="en-US" sz="4000" dirty="0"/>
              <a:t>传输介质分类</a:t>
            </a:r>
            <a:endParaRPr lang="zh-CN" altLang="en-US" dirty="0"/>
          </a:p>
        </p:txBody>
      </p:sp>
      <p:sp>
        <p:nvSpPr>
          <p:cNvPr id="3" name="内容占位符 2">
            <a:extLst>
              <a:ext uri="{FF2B5EF4-FFF2-40B4-BE49-F238E27FC236}">
                <a16:creationId xmlns:a16="http://schemas.microsoft.com/office/drawing/2014/main" id="{53063E8B-D558-4537-9C27-9A85B094EC41}"/>
              </a:ext>
            </a:extLst>
          </p:cNvPr>
          <p:cNvSpPr>
            <a:spLocks noGrp="1"/>
          </p:cNvSpPr>
          <p:nvPr>
            <p:ph idx="1"/>
          </p:nvPr>
        </p:nvSpPr>
        <p:spPr>
          <a:xfrm>
            <a:off x="592492" y="1454749"/>
            <a:ext cx="5396020" cy="4614634"/>
          </a:xfrm>
        </p:spPr>
        <p:txBody>
          <a:bodyPr>
            <a:normAutofit/>
          </a:bodyPr>
          <a:lstStyle/>
          <a:p>
            <a:pPr marL="0" indent="0" algn="just">
              <a:buClr>
                <a:schemeClr val="tx1"/>
              </a:buClr>
              <a:buNone/>
            </a:pPr>
            <a:r>
              <a:rPr lang="zh-CN" altLang="en-US" sz="2400" dirty="0">
                <a:solidFill>
                  <a:srgbClr val="C00000"/>
                </a:solidFill>
                <a:latin typeface="微软雅黑" panose="020B0503020204020204" pitchFamily="34" charset="-122"/>
                <a:ea typeface="微软雅黑" panose="020B0503020204020204" pitchFamily="34" charset="-122"/>
              </a:rPr>
              <a:t>传输介质</a:t>
            </a:r>
            <a:r>
              <a:rPr lang="zh-CN" altLang="en-US" sz="2400" dirty="0">
                <a:latin typeface="微软雅黑" panose="020B0503020204020204" pitchFamily="34" charset="-122"/>
                <a:ea typeface="微软雅黑" panose="020B0503020204020204" pitchFamily="34" charset="-122"/>
              </a:rPr>
              <a:t>是指发送器与接收器之间的物理通路可分两大类：</a:t>
            </a:r>
            <a:endParaRPr lang="en-US" altLang="zh-CN" sz="2400" dirty="0">
              <a:solidFill>
                <a:srgbClr val="C00000"/>
              </a:solidFill>
              <a:latin typeface="微软雅黑" panose="020B0503020204020204" pitchFamily="34" charset="-122"/>
              <a:ea typeface="微软雅黑" panose="020B0503020204020204" pitchFamily="34" charset="-122"/>
            </a:endParaRPr>
          </a:p>
          <a:p>
            <a:pPr marL="360000" indent="-360000" algn="just">
              <a:buClr>
                <a:schemeClr val="tx1"/>
              </a:buClr>
            </a:pPr>
            <a:r>
              <a:rPr lang="zh-CN" altLang="en-US" sz="2400" dirty="0">
                <a:solidFill>
                  <a:srgbClr val="C00000"/>
                </a:solidFill>
                <a:latin typeface="微软雅黑" panose="020B0503020204020204" pitchFamily="34" charset="-122"/>
                <a:ea typeface="微软雅黑" panose="020B0503020204020204" pitchFamily="34" charset="-122"/>
              </a:rPr>
              <a:t>导引型传输介质   </a:t>
            </a:r>
            <a:r>
              <a:rPr lang="zh-CN" altLang="en-US" sz="2400" dirty="0">
                <a:latin typeface="微软雅黑" panose="020B0503020204020204" pitchFamily="34" charset="-122"/>
                <a:ea typeface="微软雅黑" panose="020B0503020204020204" pitchFamily="34" charset="-122"/>
              </a:rPr>
              <a:t>指电磁波被导向沿着某一媒体传播，包括</a:t>
            </a:r>
            <a:endParaRPr lang="en-US" altLang="zh-CN" sz="2400" dirty="0">
              <a:latin typeface="微软雅黑" panose="020B0503020204020204" pitchFamily="34" charset="-122"/>
              <a:ea typeface="微软雅黑" panose="020B0503020204020204" pitchFamily="34" charset="-122"/>
            </a:endParaRPr>
          </a:p>
          <a:p>
            <a:pPr marL="817200" lvl="1" indent="-360000" algn="just">
              <a:buClr>
                <a:schemeClr val="tx1"/>
              </a:buClr>
            </a:pPr>
            <a:r>
              <a:rPr lang="zh-CN" altLang="en-US" sz="2000" dirty="0">
                <a:latin typeface="微软雅黑" panose="020B0503020204020204" pitchFamily="34" charset="-122"/>
                <a:ea typeface="微软雅黑" panose="020B0503020204020204" pitchFamily="34" charset="-122"/>
              </a:rPr>
              <a:t>双绞线、同轴电缆、电力线和光纤等</a:t>
            </a:r>
            <a:endParaRPr lang="en-US" altLang="zh-CN" sz="2000" dirty="0">
              <a:latin typeface="微软雅黑" panose="020B0503020204020204" pitchFamily="34" charset="-122"/>
              <a:ea typeface="微软雅黑" panose="020B0503020204020204" pitchFamily="34" charset="-122"/>
            </a:endParaRPr>
          </a:p>
          <a:p>
            <a:pPr marL="360000" indent="-360000" algn="just">
              <a:buClr>
                <a:schemeClr val="tx1"/>
              </a:buClr>
            </a:pPr>
            <a:r>
              <a:rPr lang="zh-CN" altLang="en-US" sz="2400" dirty="0">
                <a:solidFill>
                  <a:srgbClr val="C00000"/>
                </a:solidFill>
                <a:latin typeface="微软雅黑" panose="020B0503020204020204" pitchFamily="34" charset="-122"/>
                <a:ea typeface="微软雅黑" panose="020B0503020204020204" pitchFamily="34" charset="-122"/>
              </a:rPr>
              <a:t>非导引型传输介质 </a:t>
            </a:r>
            <a:r>
              <a:rPr lang="zh-CN" altLang="en-US" sz="2400" dirty="0">
                <a:latin typeface="微软雅黑" panose="020B0503020204020204" pitchFamily="34" charset="-122"/>
                <a:ea typeface="微软雅黑" panose="020B0503020204020204" pitchFamily="34" charset="-122"/>
              </a:rPr>
              <a:t>指电磁波在大气层、外层空间或海洋中进行的无线传播，包括</a:t>
            </a:r>
            <a:endParaRPr lang="en-US" altLang="zh-CN" sz="2400" dirty="0">
              <a:latin typeface="微软雅黑" panose="020B0503020204020204" pitchFamily="34" charset="-122"/>
              <a:ea typeface="微软雅黑" panose="020B0503020204020204" pitchFamily="34" charset="-122"/>
            </a:endParaRPr>
          </a:p>
          <a:p>
            <a:pPr marL="817200" lvl="1" indent="-360000" algn="just">
              <a:buClr>
                <a:schemeClr val="tx1"/>
              </a:buClr>
            </a:pPr>
            <a:r>
              <a:rPr lang="zh-CN" altLang="en-US" sz="2000" dirty="0">
                <a:latin typeface="微软雅黑" panose="020B0503020204020204" pitchFamily="34" charset="-122"/>
                <a:ea typeface="微软雅黑" panose="020B0503020204020204" pitchFamily="34" charset="-122"/>
              </a:rPr>
              <a:t>短波传输、地面微波</a:t>
            </a:r>
            <a:endParaRPr lang="en-US" altLang="zh-CN" sz="2000" dirty="0">
              <a:latin typeface="微软雅黑" panose="020B0503020204020204" pitchFamily="34" charset="-122"/>
              <a:ea typeface="微软雅黑" panose="020B0503020204020204" pitchFamily="34" charset="-122"/>
            </a:endParaRPr>
          </a:p>
          <a:p>
            <a:pPr marL="817200" lvl="1" indent="-360000" algn="just">
              <a:buClr>
                <a:schemeClr val="tx1"/>
              </a:buClr>
            </a:pPr>
            <a:r>
              <a:rPr lang="zh-CN" altLang="en-US" sz="2000" dirty="0">
                <a:latin typeface="微软雅黑" panose="020B0503020204020204" pitchFamily="34" charset="-122"/>
                <a:ea typeface="微软雅黑" panose="020B0503020204020204" pitchFamily="34" charset="-122"/>
              </a:rPr>
              <a:t>卫星微波、光波传输等</a:t>
            </a:r>
          </a:p>
          <a:p>
            <a:pPr algn="just"/>
            <a:endParaRPr lang="zh-CN" altLang="en-US" sz="2400"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1284512-B950-481B-ADB2-22F8D20B02A6}"/>
              </a:ext>
            </a:extLst>
          </p:cNvPr>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pic>
        <p:nvPicPr>
          <p:cNvPr id="7" name="图片 6"/>
          <p:cNvPicPr>
            <a:picLocks noChangeAspect="1"/>
          </p:cNvPicPr>
          <p:nvPr/>
        </p:nvPicPr>
        <p:blipFill>
          <a:blip r:embed="rId3"/>
          <a:stretch>
            <a:fillRect/>
          </a:stretch>
        </p:blipFill>
        <p:spPr>
          <a:xfrm>
            <a:off x="6367470" y="2527508"/>
            <a:ext cx="5531162" cy="1369099"/>
          </a:xfrm>
          <a:prstGeom prst="rect">
            <a:avLst/>
          </a:prstGeom>
        </p:spPr>
      </p:pic>
      <p:pic>
        <p:nvPicPr>
          <p:cNvPr id="8" name="图片 7"/>
          <p:cNvPicPr>
            <a:picLocks noChangeAspect="1"/>
          </p:cNvPicPr>
          <p:nvPr/>
        </p:nvPicPr>
        <p:blipFill>
          <a:blip r:embed="rId4"/>
          <a:stretch>
            <a:fillRect/>
          </a:stretch>
        </p:blipFill>
        <p:spPr>
          <a:xfrm>
            <a:off x="6192278" y="4096641"/>
            <a:ext cx="5706354" cy="1369099"/>
          </a:xfrm>
          <a:prstGeom prst="rect">
            <a:avLst/>
          </a:prstGeom>
        </p:spPr>
      </p:pic>
      <p:sp>
        <p:nvSpPr>
          <p:cNvPr id="9" name="内容占位符 2">
            <a:extLst>
              <a:ext uri="{FF2B5EF4-FFF2-40B4-BE49-F238E27FC236}">
                <a16:creationId xmlns:a16="http://schemas.microsoft.com/office/drawing/2014/main" id="{53063E8B-D558-4537-9C27-9A85B094EC41}"/>
              </a:ext>
            </a:extLst>
          </p:cNvPr>
          <p:cNvSpPr txBox="1">
            <a:spLocks/>
          </p:cNvSpPr>
          <p:nvPr/>
        </p:nvSpPr>
        <p:spPr>
          <a:xfrm>
            <a:off x="527420" y="1454748"/>
            <a:ext cx="11368244" cy="112130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Clr>
                <a:schemeClr val="tx1"/>
              </a:buClr>
              <a:buFont typeface="Wingdings" pitchFamily="2" charset="2"/>
              <a:buNone/>
            </a:pPr>
            <a:endParaRPr lang="zh-CN" altLang="en-US"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A8E3D66D-FB01-4831-A48B-0B8B410A0A65}"/>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365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par>
                                <p:cTn id="32" presetID="1"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D16C5A55-3AB2-41CB-BBE4-1305DDAF984E}"/>
              </a:ext>
            </a:extLst>
          </p:cNvPr>
          <p:cNvSpPr/>
          <p:nvPr/>
        </p:nvSpPr>
        <p:spPr>
          <a:xfrm>
            <a:off x="666180" y="4311489"/>
            <a:ext cx="10280116" cy="2044861"/>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D74AA8E7-B84F-4775-B000-115C80C69136}"/>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C40C31AA-DEA0-43D7-B9AF-15CAAEF190FF}"/>
              </a:ext>
            </a:extLst>
          </p:cNvPr>
          <p:cNvSpPr>
            <a:spLocks noGrp="1"/>
          </p:cNvSpPr>
          <p:nvPr>
            <p:ph idx="1"/>
          </p:nvPr>
        </p:nvSpPr>
        <p:spPr>
          <a:xfrm>
            <a:off x="635415" y="1321899"/>
            <a:ext cx="10515600" cy="4586694"/>
          </a:xfrm>
        </p:spPr>
        <p:txBody>
          <a:bodyPr>
            <a:normAutofit/>
          </a:bodyPr>
          <a:lstStyle/>
          <a:p>
            <a:pPr marL="0" indent="0" algn="just">
              <a:buNone/>
            </a:pPr>
            <a:r>
              <a:rPr kumimoji="0" lang="zh-CN" altLang="en-US" sz="2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rPr>
              <a:t>双绞线</a:t>
            </a:r>
            <a:endParaRPr lang="en-US" altLang="zh-CN" dirty="0">
              <a:solidFill>
                <a:srgbClr val="C00000"/>
              </a:solidFill>
              <a:latin typeface="Times New Roman" panose="02020603050405020304" pitchFamily="18" charset="0"/>
              <a:ea typeface="微软雅黑" panose="020B0503020204020204" pitchFamily="34" charset="-122"/>
            </a:endParaRPr>
          </a:p>
          <a:p>
            <a:pPr algn="just"/>
            <a:r>
              <a:rPr lang="zh-CN" altLang="en-US" dirty="0">
                <a:latin typeface="Times New Roman" panose="02020603050405020304" pitchFamily="18" charset="0"/>
                <a:ea typeface="微软雅黑" panose="020B0503020204020204" pitchFamily="34" charset="-122"/>
              </a:rPr>
              <a:t>具有绝</a:t>
            </a:r>
            <a:r>
              <a:rPr lang="zh-CN" altLang="zh-CN" dirty="0">
                <a:latin typeface="Times New Roman" panose="02020603050405020304" pitchFamily="18" charset="0"/>
                <a:ea typeface="微软雅黑" panose="020B0503020204020204" pitchFamily="34" charset="-122"/>
              </a:rPr>
              <a:t>缘保护层</a:t>
            </a:r>
            <a:r>
              <a:rPr lang="zh-CN" altLang="en-US" dirty="0">
                <a:latin typeface="Times New Roman" panose="02020603050405020304" pitchFamily="18" charset="0"/>
                <a:ea typeface="微软雅黑" panose="020B0503020204020204" pitchFamily="34" charset="-122"/>
              </a:rPr>
              <a:t>的两根铜导线按一定密度绞缠在一起形成的线对</a:t>
            </a:r>
            <a:endParaRPr lang="en-US" altLang="zh-CN" dirty="0">
              <a:latin typeface="Times New Roman" panose="02020603050405020304" pitchFamily="18" charset="0"/>
              <a:ea typeface="微软雅黑" panose="020B0503020204020204" pitchFamily="34" charset="-122"/>
            </a:endParaRPr>
          </a:p>
          <a:p>
            <a:pPr lvl="1" algn="just"/>
            <a:r>
              <a:rPr lang="zh-CN" altLang="en-US" dirty="0">
                <a:latin typeface="Times New Roman" panose="02020603050405020304" pitchFamily="18" charset="0"/>
                <a:ea typeface="微软雅黑" panose="020B0503020204020204" pitchFamily="34" charset="-122"/>
              </a:rPr>
              <a:t>通常多根双绞线再绞合成电缆状</a:t>
            </a:r>
            <a:endParaRPr lang="en-US" altLang="zh-CN" dirty="0">
              <a:latin typeface="Times New Roman" panose="02020603050405020304" pitchFamily="18" charset="0"/>
              <a:ea typeface="微软雅黑" panose="020B0503020204020204" pitchFamily="34" charset="-122"/>
            </a:endParaRPr>
          </a:p>
          <a:p>
            <a:pPr algn="just"/>
            <a:r>
              <a:rPr lang="zh-CN" altLang="en-US" dirty="0">
                <a:latin typeface="Times New Roman" panose="02020603050405020304" pitchFamily="18" charset="0"/>
                <a:ea typeface="微软雅黑" panose="020B0503020204020204" pitchFamily="34" charset="-122"/>
              </a:rPr>
              <a:t>影响双绞线的特性阻抗、衰减和近端串扰的因素</a:t>
            </a:r>
            <a:endParaRPr lang="en-US" altLang="zh-CN" dirty="0">
              <a:latin typeface="Times New Roman" panose="02020603050405020304" pitchFamily="18" charset="0"/>
              <a:ea typeface="微软雅黑" panose="020B0503020204020204" pitchFamily="34" charset="-122"/>
            </a:endParaRPr>
          </a:p>
          <a:p>
            <a:pPr lvl="1" algn="just"/>
            <a:r>
              <a:rPr lang="zh-CN" altLang="en-US" dirty="0">
                <a:latin typeface="Times New Roman" panose="02020603050405020304" pitchFamily="18" charset="0"/>
                <a:ea typeface="微软雅黑" panose="020B0503020204020204" pitchFamily="34" charset="-122"/>
              </a:rPr>
              <a:t>绞合密度、扭绞方向和绝</a:t>
            </a:r>
            <a:r>
              <a:rPr lang="zh-CN" altLang="zh-CN" dirty="0">
                <a:latin typeface="Times New Roman" panose="02020603050405020304" pitchFamily="18" charset="0"/>
                <a:ea typeface="微软雅黑" panose="020B0503020204020204" pitchFamily="34" charset="-122"/>
              </a:rPr>
              <a:t>缘</a:t>
            </a:r>
            <a:r>
              <a:rPr lang="zh-CN" altLang="en-US" dirty="0">
                <a:latin typeface="Times New Roman" panose="02020603050405020304" pitchFamily="18" charset="0"/>
                <a:ea typeface="微软雅黑" panose="020B0503020204020204" pitchFamily="34" charset="-122"/>
              </a:rPr>
              <a:t>材料等</a:t>
            </a:r>
            <a:endParaRPr lang="en-US" altLang="zh-CN" dirty="0">
              <a:latin typeface="Times New Roman" panose="02020603050405020304" pitchFamily="18" charset="0"/>
              <a:ea typeface="微软雅黑" panose="020B0503020204020204" pitchFamily="34" charset="-122"/>
            </a:endParaRPr>
          </a:p>
          <a:p>
            <a:pPr algn="just"/>
            <a:r>
              <a:rPr lang="zh-CN" altLang="en-US" dirty="0">
                <a:solidFill>
                  <a:prstClr val="black"/>
                </a:solidFill>
                <a:latin typeface="Times New Roman" panose="02020603050405020304" pitchFamily="18" charset="0"/>
                <a:ea typeface="微软雅黑" panose="020B0503020204020204" pitchFamily="34" charset="-122"/>
              </a:rPr>
              <a:t>适用于模拟传输或数据传输，通信距离一般为几到几十公里</a:t>
            </a:r>
            <a:endParaRPr lang="en-US" altLang="zh-CN" dirty="0">
              <a:solidFill>
                <a:prstClr val="black"/>
              </a:solidFill>
              <a:latin typeface="Times New Roman" panose="02020603050405020304" pitchFamily="18" charset="0"/>
              <a:ea typeface="微软雅黑" panose="020B0503020204020204" pitchFamily="34" charset="-122"/>
            </a:endParaRPr>
          </a:p>
          <a:p>
            <a:pPr algn="just"/>
            <a:endParaRPr lang="en-US" altLang="zh-CN" dirty="0">
              <a:latin typeface="Times New Roman" panose="02020603050405020304" pitchFamily="18" charset="0"/>
              <a:ea typeface="微软雅黑" panose="020B0503020204020204" pitchFamily="34" charset="-122"/>
            </a:endParaRPr>
          </a:p>
        </p:txBody>
      </p:sp>
      <p:sp>
        <p:nvSpPr>
          <p:cNvPr id="4" name="灯片编号占位符 3">
            <a:extLst>
              <a:ext uri="{FF2B5EF4-FFF2-40B4-BE49-F238E27FC236}">
                <a16:creationId xmlns:a16="http://schemas.microsoft.com/office/drawing/2014/main" id="{2A3C634B-F205-4C88-874B-D3B4B195A394}"/>
              </a:ext>
            </a:extLst>
          </p:cNvPr>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pic>
        <p:nvPicPr>
          <p:cNvPr id="5" name="图片 4"/>
          <p:cNvPicPr>
            <a:picLocks noChangeAspect="1"/>
          </p:cNvPicPr>
          <p:nvPr/>
        </p:nvPicPr>
        <p:blipFill>
          <a:blip r:embed="rId3"/>
          <a:stretch>
            <a:fillRect/>
          </a:stretch>
        </p:blipFill>
        <p:spPr>
          <a:xfrm>
            <a:off x="5083308" y="4545008"/>
            <a:ext cx="2343431" cy="1546148"/>
          </a:xfrm>
          <a:prstGeom prst="rect">
            <a:avLst/>
          </a:prstGeom>
        </p:spPr>
      </p:pic>
      <p:pic>
        <p:nvPicPr>
          <p:cNvPr id="7" name="图片 6"/>
          <p:cNvPicPr>
            <a:picLocks noChangeAspect="1"/>
          </p:cNvPicPr>
          <p:nvPr/>
        </p:nvPicPr>
        <p:blipFill>
          <a:blip r:embed="rId4"/>
          <a:stretch>
            <a:fillRect/>
          </a:stretch>
        </p:blipFill>
        <p:spPr>
          <a:xfrm>
            <a:off x="7701295" y="4330883"/>
            <a:ext cx="3061699" cy="1795292"/>
          </a:xfrm>
          <a:prstGeom prst="rect">
            <a:avLst/>
          </a:prstGeom>
        </p:spPr>
      </p:pic>
      <p:pic>
        <p:nvPicPr>
          <p:cNvPr id="9" name="图片 8"/>
          <p:cNvPicPr>
            <a:picLocks noChangeAspect="1"/>
          </p:cNvPicPr>
          <p:nvPr/>
        </p:nvPicPr>
        <p:blipFill>
          <a:blip r:embed="rId5"/>
          <a:stretch>
            <a:fillRect/>
          </a:stretch>
        </p:blipFill>
        <p:spPr>
          <a:xfrm>
            <a:off x="878992" y="4653476"/>
            <a:ext cx="3929760" cy="1363908"/>
          </a:xfrm>
          <a:prstGeom prst="rect">
            <a:avLst/>
          </a:prstGeom>
        </p:spPr>
      </p:pic>
      <p:sp>
        <p:nvSpPr>
          <p:cNvPr id="12" name="文本框 11">
            <a:extLst>
              <a:ext uri="{FF2B5EF4-FFF2-40B4-BE49-F238E27FC236}">
                <a16:creationId xmlns:a16="http://schemas.microsoft.com/office/drawing/2014/main" id="{DFAABC33-E313-46D5-8DE2-8B53F7923579}"/>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2140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1A2E33BA-D8E7-4E05-B778-70BA488A3EC2}"/>
              </a:ext>
            </a:extLst>
          </p:cNvPr>
          <p:cNvSpPr/>
          <p:nvPr/>
        </p:nvSpPr>
        <p:spPr>
          <a:xfrm>
            <a:off x="4685016" y="1384301"/>
            <a:ext cx="7317974" cy="5014167"/>
          </a:xfrm>
          <a:prstGeom prst="roundRect">
            <a:avLst>
              <a:gd name="adj" fmla="val 5663"/>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43B348C7-9F51-4B4A-8937-80AA4FED5EAA}"/>
              </a:ext>
            </a:extLst>
          </p:cNvPr>
          <p:cNvSpPr>
            <a:spLocks noGrp="1"/>
          </p:cNvSpPr>
          <p:nvPr>
            <p:ph type="title"/>
          </p:nvPr>
        </p:nvSpPr>
        <p:spPr>
          <a:xfrm>
            <a:off x="1307508" y="376012"/>
            <a:ext cx="8220812" cy="879086"/>
          </a:xfrm>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0609C880-D884-41B7-A86F-0A769872DD1D}"/>
              </a:ext>
            </a:extLst>
          </p:cNvPr>
          <p:cNvSpPr>
            <a:spLocks noGrp="1"/>
          </p:cNvSpPr>
          <p:nvPr>
            <p:ph idx="1"/>
          </p:nvPr>
        </p:nvSpPr>
        <p:spPr>
          <a:xfrm>
            <a:off x="838200" y="1510759"/>
            <a:ext cx="10515600" cy="487884"/>
          </a:xfrm>
        </p:spPr>
        <p:txBody>
          <a:bodyPr>
            <a:normAutofit lnSpcReduction="10000"/>
          </a:bodyPr>
          <a:lstStyle/>
          <a:p>
            <a:pPr marL="0" indent="0">
              <a:buNone/>
            </a:pPr>
            <a:r>
              <a:rPr kumimoji="0" lang="zh-CN" altLang="en-US" sz="2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双绞</a:t>
            </a:r>
            <a:r>
              <a:rPr lang="zh-CN" altLang="en-US" b="1" dirty="0">
                <a:solidFill>
                  <a:srgbClr val="002060"/>
                </a:solidFill>
                <a:latin typeface="微软雅黑" panose="020B0503020204020204" pitchFamily="34" charset="-122"/>
                <a:ea typeface="微软雅黑" panose="020B0503020204020204" pitchFamily="34" charset="-122"/>
              </a:rPr>
              <a:t>线</a:t>
            </a:r>
            <a:r>
              <a:rPr kumimoji="0" lang="zh-CN" altLang="en-US" sz="2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的种类：</a:t>
            </a:r>
          </a:p>
          <a:p>
            <a:endParaRPr lang="zh-CN" altLang="en-US" dirty="0"/>
          </a:p>
        </p:txBody>
      </p:sp>
      <p:sp>
        <p:nvSpPr>
          <p:cNvPr id="4" name="灯片编号占位符 3">
            <a:extLst>
              <a:ext uri="{FF2B5EF4-FFF2-40B4-BE49-F238E27FC236}">
                <a16:creationId xmlns:a16="http://schemas.microsoft.com/office/drawing/2014/main" id="{05FCBEB8-CE08-4FCB-A50A-869EE40A6CA6}"/>
              </a:ext>
            </a:extLst>
          </p:cNvPr>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
        <p:nvSpPr>
          <p:cNvPr id="7"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9077865" y="5752138"/>
            <a:ext cx="2346415" cy="64633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STP</a:t>
            </a:r>
            <a:r>
              <a:rPr lang="zh-CN" altLang="en-US" sz="2400" dirty="0">
                <a:solidFill>
                  <a:srgbClr val="C00000"/>
                </a:solidFill>
                <a:latin typeface="Arial" panose="020B0604020202020204" pitchFamily="34" charset="0"/>
                <a:ea typeface="黑体" panose="02010609060101010101" pitchFamily="49" charset="-122"/>
              </a:rPr>
              <a:t>屏蔽双绞线</a:t>
            </a:r>
          </a:p>
        </p:txBody>
      </p:sp>
      <p:sp>
        <p:nvSpPr>
          <p:cNvPr id="12"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5082607" y="3095082"/>
            <a:ext cx="2721935" cy="64633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UTP</a:t>
            </a:r>
            <a:r>
              <a:rPr lang="zh-CN" altLang="en-US" sz="2400" dirty="0">
                <a:solidFill>
                  <a:srgbClr val="C00000"/>
                </a:solidFill>
                <a:latin typeface="Arial" panose="020B0604020202020204" pitchFamily="34" charset="0"/>
                <a:ea typeface="黑体" panose="02010609060101010101" pitchFamily="49" charset="-122"/>
              </a:rPr>
              <a:t>无屏蔽双绞线</a:t>
            </a:r>
          </a:p>
        </p:txBody>
      </p:sp>
      <p:sp>
        <p:nvSpPr>
          <p:cNvPr id="13"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9084991" y="3136342"/>
            <a:ext cx="2411796" cy="64633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FTP</a:t>
            </a:r>
            <a:r>
              <a:rPr lang="zh-CN" altLang="en-US" sz="2400" dirty="0">
                <a:solidFill>
                  <a:srgbClr val="C00000"/>
                </a:solidFill>
                <a:latin typeface="Arial" panose="020B0604020202020204" pitchFamily="34" charset="0"/>
                <a:ea typeface="黑体" panose="02010609060101010101" pitchFamily="49" charset="-122"/>
              </a:rPr>
              <a:t>屏蔽双绞线</a:t>
            </a:r>
          </a:p>
        </p:txBody>
      </p:sp>
      <p:sp>
        <p:nvSpPr>
          <p:cNvPr id="14"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5082607" y="5752138"/>
            <a:ext cx="3416549" cy="57458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SFTP</a:t>
            </a:r>
            <a:r>
              <a:rPr lang="zh-CN" altLang="en-US" sz="2400" dirty="0">
                <a:solidFill>
                  <a:srgbClr val="C00000"/>
                </a:solidFill>
                <a:latin typeface="Arial" panose="020B0604020202020204" pitchFamily="34" charset="0"/>
                <a:ea typeface="黑体" panose="02010609060101010101" pitchFamily="49" charset="-122"/>
              </a:rPr>
              <a:t>屏蔽金属箔双绞线</a:t>
            </a:r>
            <a:endParaRPr lang="en-US" altLang="zh-CN" sz="2400" dirty="0">
              <a:solidFill>
                <a:srgbClr val="C00000"/>
              </a:solidFill>
              <a:latin typeface="Arial" panose="020B0604020202020204" pitchFamily="34" charset="0"/>
              <a:ea typeface="黑体" panose="02010609060101010101" pitchFamily="49" charset="-122"/>
            </a:endParaRPr>
          </a:p>
        </p:txBody>
      </p:sp>
      <p:pic>
        <p:nvPicPr>
          <p:cNvPr id="8" name="图片 7"/>
          <p:cNvPicPr>
            <a:picLocks noChangeAspect="1"/>
          </p:cNvPicPr>
          <p:nvPr/>
        </p:nvPicPr>
        <p:blipFill>
          <a:blip r:embed="rId3"/>
          <a:stretch>
            <a:fillRect/>
          </a:stretch>
        </p:blipFill>
        <p:spPr>
          <a:xfrm>
            <a:off x="1811043" y="2642787"/>
            <a:ext cx="825377" cy="1602674"/>
          </a:xfrm>
          <a:prstGeom prst="rect">
            <a:avLst/>
          </a:prstGeom>
        </p:spPr>
      </p:pic>
      <p:pic>
        <p:nvPicPr>
          <p:cNvPr id="9" name="图片 8"/>
          <p:cNvPicPr>
            <a:picLocks noChangeAspect="1"/>
          </p:cNvPicPr>
          <p:nvPr/>
        </p:nvPicPr>
        <p:blipFill>
          <a:blip r:embed="rId4"/>
          <a:stretch>
            <a:fillRect/>
          </a:stretch>
        </p:blipFill>
        <p:spPr>
          <a:xfrm>
            <a:off x="5082607" y="1537829"/>
            <a:ext cx="3003153" cy="1760175"/>
          </a:xfrm>
          <a:prstGeom prst="rect">
            <a:avLst/>
          </a:prstGeom>
        </p:spPr>
      </p:pic>
      <p:pic>
        <p:nvPicPr>
          <p:cNvPr id="11" name="图片 10"/>
          <p:cNvPicPr>
            <a:picLocks noChangeAspect="1"/>
          </p:cNvPicPr>
          <p:nvPr/>
        </p:nvPicPr>
        <p:blipFill>
          <a:blip r:embed="rId5"/>
          <a:stretch>
            <a:fillRect/>
          </a:stretch>
        </p:blipFill>
        <p:spPr>
          <a:xfrm>
            <a:off x="8377261" y="1510759"/>
            <a:ext cx="3512896" cy="1787245"/>
          </a:xfrm>
          <a:prstGeom prst="rect">
            <a:avLst/>
          </a:prstGeom>
        </p:spPr>
      </p:pic>
      <p:pic>
        <p:nvPicPr>
          <p:cNvPr id="15" name="图片 14"/>
          <p:cNvPicPr>
            <a:picLocks noChangeAspect="1"/>
          </p:cNvPicPr>
          <p:nvPr/>
        </p:nvPicPr>
        <p:blipFill>
          <a:blip r:embed="rId6"/>
          <a:stretch>
            <a:fillRect/>
          </a:stretch>
        </p:blipFill>
        <p:spPr>
          <a:xfrm>
            <a:off x="4936902" y="3752644"/>
            <a:ext cx="3270753" cy="2117613"/>
          </a:xfrm>
          <a:prstGeom prst="rect">
            <a:avLst/>
          </a:prstGeom>
        </p:spPr>
      </p:pic>
      <p:pic>
        <p:nvPicPr>
          <p:cNvPr id="16" name="图片 15"/>
          <p:cNvPicPr>
            <a:picLocks noChangeAspect="1"/>
          </p:cNvPicPr>
          <p:nvPr/>
        </p:nvPicPr>
        <p:blipFill>
          <a:blip r:embed="rId7"/>
          <a:stretch>
            <a:fillRect/>
          </a:stretch>
        </p:blipFill>
        <p:spPr>
          <a:xfrm>
            <a:off x="8371540" y="3870325"/>
            <a:ext cx="3536705" cy="1988199"/>
          </a:xfrm>
          <a:prstGeom prst="rect">
            <a:avLst/>
          </a:prstGeom>
        </p:spPr>
      </p:pic>
      <p:sp>
        <p:nvSpPr>
          <p:cNvPr id="17"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470548" y="3033964"/>
            <a:ext cx="698400" cy="494238"/>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000" dirty="0">
                <a:latin typeface="Arial" panose="020B0604020202020204" pitchFamily="34" charset="0"/>
                <a:ea typeface="黑体" panose="02010609060101010101" pitchFamily="49" charset="-122"/>
              </a:rPr>
              <a:t>1</a:t>
            </a:r>
            <a:r>
              <a:rPr lang="zh-CN" altLang="en-US" sz="2000" dirty="0">
                <a:latin typeface="Arial" panose="020B0604020202020204" pitchFamily="34" charset="0"/>
                <a:ea typeface="黑体" panose="02010609060101010101" pitchFamily="49" charset="-122"/>
              </a:rPr>
              <a:t>针</a:t>
            </a:r>
          </a:p>
        </p:txBody>
      </p:sp>
      <p:sp>
        <p:nvSpPr>
          <p:cNvPr id="18"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990600" y="2025788"/>
            <a:ext cx="2871303" cy="64633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RJ45</a:t>
            </a:r>
            <a:r>
              <a:rPr lang="zh-CN" altLang="en-US" sz="2400" dirty="0">
                <a:solidFill>
                  <a:srgbClr val="C00000"/>
                </a:solidFill>
                <a:latin typeface="Arial" panose="020B0604020202020204" pitchFamily="34" charset="0"/>
                <a:ea typeface="黑体" panose="02010609060101010101" pitchFamily="49" charset="-122"/>
              </a:rPr>
              <a:t>（网线水晶头）</a:t>
            </a:r>
          </a:p>
        </p:txBody>
      </p:sp>
      <p:cxnSp>
        <p:nvCxnSpPr>
          <p:cNvPr id="20" name="直接连接符 19"/>
          <p:cNvCxnSpPr>
            <a:stCxn id="17" idx="3"/>
          </p:cNvCxnSpPr>
          <p:nvPr/>
        </p:nvCxnSpPr>
        <p:spPr>
          <a:xfrm flipV="1">
            <a:off x="1168948" y="2928137"/>
            <a:ext cx="680398" cy="3529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3526638" y="3064786"/>
            <a:ext cx="698400" cy="494238"/>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000" dirty="0">
                <a:latin typeface="Arial" panose="020B0604020202020204" pitchFamily="34" charset="0"/>
                <a:ea typeface="黑体" panose="02010609060101010101" pitchFamily="49" charset="-122"/>
              </a:rPr>
              <a:t>8</a:t>
            </a:r>
            <a:r>
              <a:rPr lang="zh-CN" altLang="en-US" sz="2000" dirty="0">
                <a:latin typeface="Arial" panose="020B0604020202020204" pitchFamily="34" charset="0"/>
                <a:ea typeface="黑体" panose="02010609060101010101" pitchFamily="49" charset="-122"/>
              </a:rPr>
              <a:t>针</a:t>
            </a:r>
          </a:p>
        </p:txBody>
      </p:sp>
      <p:cxnSp>
        <p:nvCxnSpPr>
          <p:cNvPr id="22" name="直接连接符 21"/>
          <p:cNvCxnSpPr/>
          <p:nvPr/>
        </p:nvCxnSpPr>
        <p:spPr>
          <a:xfrm>
            <a:off x="2638781" y="2953043"/>
            <a:ext cx="766385" cy="2424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图片 23"/>
          <p:cNvPicPr>
            <a:picLocks noChangeAspect="1"/>
          </p:cNvPicPr>
          <p:nvPr/>
        </p:nvPicPr>
        <p:blipFill>
          <a:blip r:embed="rId8"/>
          <a:stretch>
            <a:fillRect/>
          </a:stretch>
        </p:blipFill>
        <p:spPr>
          <a:xfrm>
            <a:off x="689598" y="4261628"/>
            <a:ext cx="3337132" cy="2220360"/>
          </a:xfrm>
          <a:prstGeom prst="rect">
            <a:avLst/>
          </a:prstGeom>
        </p:spPr>
      </p:pic>
      <p:sp>
        <p:nvSpPr>
          <p:cNvPr id="25" name="文本框 24">
            <a:extLst>
              <a:ext uri="{FF2B5EF4-FFF2-40B4-BE49-F238E27FC236}">
                <a16:creationId xmlns:a16="http://schemas.microsoft.com/office/drawing/2014/main" id="{57655554-ACC8-4E1A-80DC-852977CD0F2B}"/>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4044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4" grpId="0"/>
      <p:bldP spid="17" grpId="0"/>
      <p:bldP spid="18" grpId="0"/>
      <p:bldP spid="2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8715213" y="3530600"/>
            <a:ext cx="3200400" cy="3190875"/>
          </a:xfrm>
          <a:prstGeom prst="rect">
            <a:avLst/>
          </a:prstGeom>
        </p:spPr>
      </p:pic>
      <p:sp>
        <p:nvSpPr>
          <p:cNvPr id="2" name="标题 1">
            <a:extLst>
              <a:ext uri="{FF2B5EF4-FFF2-40B4-BE49-F238E27FC236}">
                <a16:creationId xmlns:a16="http://schemas.microsoft.com/office/drawing/2014/main" id="{1103C2F1-2B9D-440A-914E-7406860BB92C}"/>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8C7F6846-7D37-459F-8595-EC667C4C058A}"/>
              </a:ext>
            </a:extLst>
          </p:cNvPr>
          <p:cNvSpPr>
            <a:spLocks noGrp="1"/>
          </p:cNvSpPr>
          <p:nvPr>
            <p:ph idx="1"/>
          </p:nvPr>
        </p:nvSpPr>
        <p:spPr>
          <a:xfrm>
            <a:off x="838200" y="1418292"/>
            <a:ext cx="10515600" cy="678865"/>
          </a:xfrm>
        </p:spPr>
        <p:txBody>
          <a:bodyPr/>
          <a:lstStyle/>
          <a:p>
            <a:pPr marL="0" indent="0" algn="just">
              <a:buNone/>
            </a:pPr>
            <a:r>
              <a:rPr lang="zh-CN" altLang="en-US" dirty="0"/>
              <a:t>常用的绞合线的典型应用</a:t>
            </a:r>
            <a:endParaRPr lang="en-US" altLang="zh-CN" dirty="0"/>
          </a:p>
          <a:p>
            <a:pPr marL="0" indent="0" algn="just">
              <a:buNone/>
            </a:pPr>
            <a:endParaRPr lang="zh-CN" altLang="en-US" dirty="0">
              <a:solidFill>
                <a:srgbClr val="5B307E"/>
              </a:solidFill>
            </a:endParaRPr>
          </a:p>
        </p:txBody>
      </p:sp>
      <p:sp>
        <p:nvSpPr>
          <p:cNvPr id="4" name="灯片编号占位符 3">
            <a:extLst>
              <a:ext uri="{FF2B5EF4-FFF2-40B4-BE49-F238E27FC236}">
                <a16:creationId xmlns:a16="http://schemas.microsoft.com/office/drawing/2014/main" id="{334C68F2-A92F-43A7-9D38-D0A8B64ACEA3}"/>
              </a:ext>
            </a:extLst>
          </p:cNvPr>
          <p:cNvSpPr>
            <a:spLocks noGrp="1"/>
          </p:cNvSpPr>
          <p:nvPr>
            <p:ph type="sldNum" sz="quarter" idx="12"/>
          </p:nvPr>
        </p:nvSpPr>
        <p:spPr/>
        <p:txBody>
          <a:bodyPr/>
          <a:lstStyle/>
          <a:p>
            <a:fld id="{8D4D1E41-7A09-AB4A-A4E1-09765ADA2698}" type="slidenum">
              <a:rPr kumimoji="1" lang="zh-CN" altLang="en-US" smtClean="0"/>
              <a:t>60</a:t>
            </a:fld>
            <a:endParaRPr kumimoji="1" lang="zh-CN" altLang="en-US" dirty="0"/>
          </a:p>
        </p:txBody>
      </p:sp>
      <p:pic>
        <p:nvPicPr>
          <p:cNvPr id="6" name="图片 5">
            <a:extLst>
              <a:ext uri="{FF2B5EF4-FFF2-40B4-BE49-F238E27FC236}">
                <a16:creationId xmlns:a16="http://schemas.microsoft.com/office/drawing/2014/main" id="{E8518212-7FDC-4DB6-A148-9FE61F4B08AF}"/>
              </a:ext>
            </a:extLst>
          </p:cNvPr>
          <p:cNvPicPr>
            <a:picLocks noChangeAspect="1"/>
          </p:cNvPicPr>
          <p:nvPr/>
        </p:nvPicPr>
        <p:blipFill>
          <a:blip r:embed="rId3"/>
          <a:stretch>
            <a:fillRect/>
          </a:stretch>
        </p:blipFill>
        <p:spPr>
          <a:xfrm>
            <a:off x="985977" y="2011471"/>
            <a:ext cx="7032937" cy="3276146"/>
          </a:xfrm>
          <a:prstGeom prst="rect">
            <a:avLst/>
          </a:prstGeom>
          <a:effectLst/>
        </p:spPr>
      </p:pic>
      <p:sp>
        <p:nvSpPr>
          <p:cNvPr id="5" name="矩形 4"/>
          <p:cNvSpPr/>
          <p:nvPr/>
        </p:nvSpPr>
        <p:spPr>
          <a:xfrm>
            <a:off x="838200" y="5326373"/>
            <a:ext cx="7772400" cy="940963"/>
          </a:xfrm>
          <a:prstGeom prst="rect">
            <a:avLst/>
          </a:prstGeom>
        </p:spPr>
        <p:txBody>
          <a:bodyPr wrap="square">
            <a:spAutoFit/>
          </a:bodyPr>
          <a:lstStyle/>
          <a:p>
            <a:pPr marL="342900" indent="-342900" algn="just">
              <a:lnSpc>
                <a:spcPct val="120000"/>
              </a:lnSpc>
              <a:buFont typeface="Wingdings" panose="05000000000000000000" pitchFamily="2" charset="2"/>
              <a:buChar char="Ø"/>
            </a:pPr>
            <a:r>
              <a:rPr lang="zh-CN" altLang="en-US" sz="2400" dirty="0">
                <a:solidFill>
                  <a:prstClr val="black"/>
                </a:solidFill>
                <a:latin typeface="Times New Roman" panose="02020603050405020304" pitchFamily="18" charset="0"/>
                <a:ea typeface="微软雅黑" panose="020B0503020204020204" pitchFamily="34" charset="-122"/>
              </a:rPr>
              <a:t>上面类别是按照频率和信噪比进行分类</a:t>
            </a:r>
          </a:p>
          <a:p>
            <a:pPr marL="342900" indent="-342900" algn="just">
              <a:lnSpc>
                <a:spcPct val="120000"/>
              </a:lnSpc>
              <a:buFont typeface="Wingdings" panose="05000000000000000000" pitchFamily="2" charset="2"/>
              <a:buChar char="Ø"/>
            </a:pPr>
            <a:r>
              <a:rPr lang="zh-CN" altLang="en-US" sz="2400" dirty="0">
                <a:solidFill>
                  <a:prstClr val="black"/>
                </a:solidFill>
                <a:latin typeface="Times New Roman" panose="02020603050405020304" pitchFamily="18" charset="0"/>
                <a:ea typeface="微软雅黑" panose="020B0503020204020204" pitchFamily="34" charset="-122"/>
              </a:rPr>
              <a:t>常用</a:t>
            </a:r>
            <a:r>
              <a:rPr lang="en-US" altLang="zh-CN" sz="2400" dirty="0">
                <a:solidFill>
                  <a:prstClr val="black"/>
                </a:solidFill>
                <a:latin typeface="Times New Roman" panose="02020603050405020304" pitchFamily="18" charset="0"/>
                <a:ea typeface="微软雅黑" panose="020B0503020204020204" pitchFamily="34" charset="-122"/>
              </a:rPr>
              <a:t>3</a:t>
            </a:r>
            <a:r>
              <a:rPr lang="zh-CN" altLang="en-US" sz="2400" dirty="0">
                <a:solidFill>
                  <a:prstClr val="black"/>
                </a:solidFill>
                <a:latin typeface="Times New Roman" panose="02020603050405020304" pitchFamily="18" charset="0"/>
                <a:ea typeface="微软雅黑" panose="020B0503020204020204" pitchFamily="34" charset="-122"/>
              </a:rPr>
              <a:t>类线和</a:t>
            </a:r>
            <a:r>
              <a:rPr lang="en-US" altLang="zh-CN" sz="2400" dirty="0">
                <a:solidFill>
                  <a:prstClr val="black"/>
                </a:solidFill>
                <a:latin typeface="Times New Roman" panose="02020603050405020304" pitchFamily="18" charset="0"/>
                <a:ea typeface="微软雅黑" panose="020B0503020204020204" pitchFamily="34" charset="-122"/>
              </a:rPr>
              <a:t>5</a:t>
            </a:r>
            <a:r>
              <a:rPr lang="zh-CN" altLang="en-US" sz="2400" dirty="0">
                <a:solidFill>
                  <a:prstClr val="black"/>
                </a:solidFill>
                <a:latin typeface="Times New Roman" panose="02020603050405020304" pitchFamily="18" charset="0"/>
                <a:ea typeface="微软雅黑" panose="020B0503020204020204" pitchFamily="34" charset="-122"/>
              </a:rPr>
              <a:t>类线区别在于单位长度的绞合次数不同</a:t>
            </a:r>
          </a:p>
        </p:txBody>
      </p:sp>
      <p:pic>
        <p:nvPicPr>
          <p:cNvPr id="8" name="图片 7"/>
          <p:cNvPicPr>
            <a:picLocks noChangeAspect="1"/>
          </p:cNvPicPr>
          <p:nvPr/>
        </p:nvPicPr>
        <p:blipFill>
          <a:blip r:embed="rId4"/>
          <a:stretch>
            <a:fillRect/>
          </a:stretch>
        </p:blipFill>
        <p:spPr>
          <a:xfrm>
            <a:off x="8715213" y="1244212"/>
            <a:ext cx="3177208" cy="2247632"/>
          </a:xfrm>
          <a:prstGeom prst="rect">
            <a:avLst/>
          </a:prstGeom>
        </p:spPr>
      </p:pic>
      <p:sp>
        <p:nvSpPr>
          <p:cNvPr id="10" name="文本框 9">
            <a:extLst>
              <a:ext uri="{FF2B5EF4-FFF2-40B4-BE49-F238E27FC236}">
                <a16:creationId xmlns:a16="http://schemas.microsoft.com/office/drawing/2014/main" id="{B331B24C-A920-4EE0-AA4D-9B8526A8AE7F}"/>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2451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2335" y="1551496"/>
            <a:ext cx="5613538" cy="1951517"/>
          </a:xfrm>
        </p:spPr>
        <p:txBody>
          <a:bodyPr/>
          <a:lstStyle/>
          <a:p>
            <a:r>
              <a:rPr lang="zh-CN" altLang="en-US" dirty="0"/>
              <a:t>双绞线通常制作为网线</a:t>
            </a:r>
            <a:endParaRPr lang="en-US" altLang="zh-CN" dirty="0"/>
          </a:p>
          <a:p>
            <a:r>
              <a:rPr lang="zh-CN" altLang="en-US" dirty="0"/>
              <a:t>有两种线序排列方式如右图</a:t>
            </a:r>
            <a:endParaRPr lang="en-US" altLang="zh-CN" dirty="0"/>
          </a:p>
          <a:p>
            <a:pPr lvl="1"/>
            <a:r>
              <a:rPr lang="zh-CN" altLang="en-US" dirty="0"/>
              <a:t>标准是美国电子工业协会（</a:t>
            </a:r>
            <a:r>
              <a:rPr lang="en-US" altLang="zh-CN" dirty="0"/>
              <a:t>EIA</a:t>
            </a:r>
            <a:r>
              <a:rPr lang="zh-CN" altLang="en-US" dirty="0"/>
              <a:t>）和电信行业协会（</a:t>
            </a:r>
            <a:r>
              <a:rPr lang="en-US" altLang="zh-CN" dirty="0"/>
              <a:t>TIA</a:t>
            </a:r>
            <a:r>
              <a:rPr lang="zh-CN" altLang="en-US" dirty="0"/>
              <a:t>）指定</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
        <p:nvSpPr>
          <p:cNvPr id="5" name="标题 1">
            <a:extLst>
              <a:ext uri="{FF2B5EF4-FFF2-40B4-BE49-F238E27FC236}">
                <a16:creationId xmlns:a16="http://schemas.microsoft.com/office/drawing/2014/main" id="{1103C2F1-2B9D-440A-914E-7406860BB92C}"/>
              </a:ext>
            </a:extLst>
          </p:cNvPr>
          <p:cNvSpPr>
            <a:spLocks noGrp="1"/>
          </p:cNvSpPr>
          <p:nvPr>
            <p:ph type="title"/>
          </p:nvPr>
        </p:nvSpPr>
        <p:spPr>
          <a:xfrm>
            <a:off x="1307508" y="365126"/>
            <a:ext cx="8220812" cy="879086"/>
          </a:xfrm>
        </p:spPr>
        <p:txBody>
          <a:bodyPr/>
          <a:lstStyle/>
          <a:p>
            <a:r>
              <a:rPr lang="zh-CN" altLang="en-US" sz="4000" dirty="0"/>
              <a:t>导引型传输介质</a:t>
            </a:r>
            <a:endParaRPr lang="zh-CN" altLang="en-US" dirty="0"/>
          </a:p>
        </p:txBody>
      </p:sp>
      <p:grpSp>
        <p:nvGrpSpPr>
          <p:cNvPr id="11" name="组合 10"/>
          <p:cNvGrpSpPr/>
          <p:nvPr/>
        </p:nvGrpSpPr>
        <p:grpSpPr>
          <a:xfrm>
            <a:off x="6510753" y="1417965"/>
            <a:ext cx="5261527" cy="5031700"/>
            <a:chOff x="6451738" y="1163751"/>
            <a:chExt cx="5261527" cy="5589322"/>
          </a:xfrm>
        </p:grpSpPr>
        <p:pic>
          <p:nvPicPr>
            <p:cNvPr id="8" name="图片 7"/>
            <p:cNvPicPr>
              <a:picLocks noChangeAspect="1"/>
            </p:cNvPicPr>
            <p:nvPr/>
          </p:nvPicPr>
          <p:blipFill>
            <a:blip r:embed="rId3"/>
            <a:stretch>
              <a:fillRect/>
            </a:stretch>
          </p:blipFill>
          <p:spPr>
            <a:xfrm>
              <a:off x="6451738" y="4024610"/>
              <a:ext cx="5097532" cy="2728463"/>
            </a:xfrm>
            <a:prstGeom prst="rect">
              <a:avLst/>
            </a:prstGeom>
          </p:spPr>
        </p:pic>
        <p:pic>
          <p:nvPicPr>
            <p:cNvPr id="7" name="图片 6"/>
            <p:cNvPicPr>
              <a:picLocks noChangeAspect="1"/>
            </p:cNvPicPr>
            <p:nvPr/>
          </p:nvPicPr>
          <p:blipFill>
            <a:blip r:embed="rId4"/>
            <a:stretch>
              <a:fillRect/>
            </a:stretch>
          </p:blipFill>
          <p:spPr>
            <a:xfrm>
              <a:off x="6451738" y="1163751"/>
              <a:ext cx="5261527" cy="2860859"/>
            </a:xfrm>
            <a:prstGeom prst="rect">
              <a:avLst/>
            </a:prstGeom>
          </p:spPr>
        </p:pic>
        <p:sp>
          <p:nvSpPr>
            <p:cNvPr id="9" name="文本框 8"/>
            <p:cNvSpPr txBox="1"/>
            <p:nvPr/>
          </p:nvSpPr>
          <p:spPr>
            <a:xfrm>
              <a:off x="6451738" y="6343024"/>
              <a:ext cx="1838739"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EIA/TIA568B</a:t>
              </a:r>
              <a:endParaRPr lang="zh-CN" altLang="en-US"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451738" y="3564866"/>
              <a:ext cx="1838739"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EIA/TIA568A</a:t>
              </a:r>
              <a:endParaRPr lang="zh-CN" altLang="en-US" sz="2000" dirty="0">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990703" y="3445151"/>
            <a:ext cx="3086100" cy="1327305"/>
            <a:chOff x="758687" y="3503013"/>
            <a:chExt cx="3086100" cy="1327305"/>
          </a:xfrm>
        </p:grpSpPr>
        <p:pic>
          <p:nvPicPr>
            <p:cNvPr id="12" name="图片 11"/>
            <p:cNvPicPr>
              <a:picLocks noChangeAspect="1"/>
            </p:cNvPicPr>
            <p:nvPr/>
          </p:nvPicPr>
          <p:blipFill>
            <a:blip r:embed="rId5"/>
            <a:stretch>
              <a:fillRect/>
            </a:stretch>
          </p:blipFill>
          <p:spPr>
            <a:xfrm>
              <a:off x="758687" y="3503013"/>
              <a:ext cx="3086100" cy="923925"/>
            </a:xfrm>
            <a:prstGeom prst="rect">
              <a:avLst/>
            </a:prstGeom>
          </p:spPr>
        </p:pic>
        <p:sp>
          <p:nvSpPr>
            <p:cNvPr id="15" name="文本框 14"/>
            <p:cNvSpPr txBox="1"/>
            <p:nvPr/>
          </p:nvSpPr>
          <p:spPr>
            <a:xfrm>
              <a:off x="1382367" y="4430208"/>
              <a:ext cx="1838739"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、剪线</a:t>
              </a:r>
            </a:p>
          </p:txBody>
        </p:sp>
      </p:grpSp>
      <p:grpSp>
        <p:nvGrpSpPr>
          <p:cNvPr id="18" name="组合 17"/>
          <p:cNvGrpSpPr/>
          <p:nvPr/>
        </p:nvGrpSpPr>
        <p:grpSpPr>
          <a:xfrm>
            <a:off x="4207741" y="3503013"/>
            <a:ext cx="2009775" cy="1916086"/>
            <a:chOff x="3924300" y="4426938"/>
            <a:chExt cx="2009775" cy="1916086"/>
          </a:xfrm>
        </p:grpSpPr>
        <p:pic>
          <p:nvPicPr>
            <p:cNvPr id="13" name="图片 12"/>
            <p:cNvPicPr>
              <a:picLocks noChangeAspect="1"/>
            </p:cNvPicPr>
            <p:nvPr/>
          </p:nvPicPr>
          <p:blipFill>
            <a:blip r:embed="rId6"/>
            <a:stretch>
              <a:fillRect/>
            </a:stretch>
          </p:blipFill>
          <p:spPr>
            <a:xfrm>
              <a:off x="3924300" y="4426938"/>
              <a:ext cx="2009775" cy="1419225"/>
            </a:xfrm>
            <a:prstGeom prst="rect">
              <a:avLst/>
            </a:prstGeom>
          </p:spPr>
        </p:pic>
        <p:sp>
          <p:nvSpPr>
            <p:cNvPr id="16" name="文本框 15"/>
            <p:cNvSpPr txBox="1"/>
            <p:nvPr/>
          </p:nvSpPr>
          <p:spPr>
            <a:xfrm>
              <a:off x="4009817" y="5942914"/>
              <a:ext cx="1838739"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、插入接头</a:t>
              </a:r>
            </a:p>
          </p:txBody>
        </p:sp>
      </p:grpSp>
      <p:grpSp>
        <p:nvGrpSpPr>
          <p:cNvPr id="20" name="组合 19"/>
          <p:cNvGrpSpPr/>
          <p:nvPr/>
        </p:nvGrpSpPr>
        <p:grpSpPr>
          <a:xfrm>
            <a:off x="1097237" y="4830318"/>
            <a:ext cx="4488554" cy="1928001"/>
            <a:chOff x="1097237" y="4830318"/>
            <a:chExt cx="4488554" cy="1928001"/>
          </a:xfrm>
        </p:grpSpPr>
        <p:pic>
          <p:nvPicPr>
            <p:cNvPr id="14" name="图片 13"/>
            <p:cNvPicPr>
              <a:picLocks noChangeAspect="1"/>
            </p:cNvPicPr>
            <p:nvPr/>
          </p:nvPicPr>
          <p:blipFill>
            <a:blip r:embed="rId7"/>
            <a:stretch>
              <a:fillRect/>
            </a:stretch>
          </p:blipFill>
          <p:spPr>
            <a:xfrm>
              <a:off x="1097237" y="4830318"/>
              <a:ext cx="2435915" cy="1928001"/>
            </a:xfrm>
            <a:prstGeom prst="rect">
              <a:avLst/>
            </a:prstGeom>
          </p:spPr>
        </p:pic>
        <p:sp>
          <p:nvSpPr>
            <p:cNvPr id="19" name="文本框 18"/>
            <p:cNvSpPr txBox="1"/>
            <p:nvPr/>
          </p:nvSpPr>
          <p:spPr>
            <a:xfrm>
              <a:off x="3671680" y="5665974"/>
              <a:ext cx="1914111"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、压线钳压紧</a:t>
              </a:r>
            </a:p>
          </p:txBody>
        </p:sp>
      </p:grpSp>
      <p:sp>
        <p:nvSpPr>
          <p:cNvPr id="21" name="文本框 20">
            <a:extLst>
              <a:ext uri="{FF2B5EF4-FFF2-40B4-BE49-F238E27FC236}">
                <a16:creationId xmlns:a16="http://schemas.microsoft.com/office/drawing/2014/main" id="{09E8866C-E903-4BF0-93EB-A82D13D32161}"/>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71454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46D877AF-3A1C-45AC-AC41-8588394D3E8F}"/>
              </a:ext>
            </a:extLst>
          </p:cNvPr>
          <p:cNvPicPr>
            <a:picLocks noChangeAspect="1"/>
          </p:cNvPicPr>
          <p:nvPr/>
        </p:nvPicPr>
        <p:blipFill>
          <a:blip r:embed="rId2"/>
          <a:stretch>
            <a:fillRect/>
          </a:stretch>
        </p:blipFill>
        <p:spPr>
          <a:xfrm>
            <a:off x="8034513" y="2390120"/>
            <a:ext cx="2987612" cy="1569674"/>
          </a:xfrm>
          <a:prstGeom prst="rect">
            <a:avLst/>
          </a:prstGeom>
        </p:spPr>
      </p:pic>
      <p:sp>
        <p:nvSpPr>
          <p:cNvPr id="2" name="标题 1">
            <a:extLst>
              <a:ext uri="{FF2B5EF4-FFF2-40B4-BE49-F238E27FC236}">
                <a16:creationId xmlns:a16="http://schemas.microsoft.com/office/drawing/2014/main" id="{B05FF24D-6CB1-4D47-B310-C28C1B156FA4}"/>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B6E2827B-1F3C-449A-9C23-F59218CB3061}"/>
              </a:ext>
            </a:extLst>
          </p:cNvPr>
          <p:cNvSpPr>
            <a:spLocks noGrp="1"/>
          </p:cNvSpPr>
          <p:nvPr>
            <p:ph idx="1"/>
          </p:nvPr>
        </p:nvSpPr>
        <p:spPr>
          <a:xfrm>
            <a:off x="838200" y="1438677"/>
            <a:ext cx="10515600" cy="4982116"/>
          </a:xfrm>
        </p:spPr>
        <p:txBody>
          <a:bodyPr>
            <a:normAutofit fontScale="25000" lnSpcReduction="20000"/>
          </a:bodyPr>
          <a:lstStyle/>
          <a:p>
            <a:pPr marL="360000" indent="-360000" algn="just">
              <a:lnSpc>
                <a:spcPct val="130000"/>
              </a:lnSpc>
              <a:buNone/>
            </a:pPr>
            <a:r>
              <a:rPr lang="zh-CN" altLang="en-US" sz="11200" b="1" dirty="0">
                <a:solidFill>
                  <a:srgbClr val="C00000"/>
                </a:solidFill>
              </a:rPr>
              <a:t>同轴电缆</a:t>
            </a:r>
            <a:endParaRPr lang="en-US" altLang="zh-CN" sz="11200" b="1" dirty="0">
              <a:solidFill>
                <a:srgbClr val="C00000"/>
              </a:solidFill>
            </a:endParaRPr>
          </a:p>
          <a:p>
            <a:pPr marL="360000" indent="-360000" algn="just">
              <a:lnSpc>
                <a:spcPct val="130000"/>
              </a:lnSpc>
            </a:pPr>
            <a:r>
              <a:rPr lang="zh-CN" altLang="en-US" sz="9600" dirty="0"/>
              <a:t>同轴电缆由硬的铜质芯线和外包一层绝缘材料，在绝缘材料外面是一层网状密织的外导体，以及塑料保护外套组成 </a:t>
            </a:r>
            <a:endParaRPr lang="en-US" altLang="zh-CN" sz="9600" dirty="0"/>
          </a:p>
          <a:p>
            <a:pPr marL="360000" indent="-360000" algn="just">
              <a:lnSpc>
                <a:spcPct val="130000"/>
              </a:lnSpc>
            </a:pPr>
            <a:endParaRPr lang="en-US" altLang="zh-CN" sz="9600" dirty="0"/>
          </a:p>
          <a:p>
            <a:pPr marL="360000" indent="-360000" algn="just">
              <a:lnSpc>
                <a:spcPct val="130000"/>
              </a:lnSpc>
            </a:pPr>
            <a:endParaRPr lang="en-US" altLang="zh-CN" sz="9600" dirty="0"/>
          </a:p>
          <a:p>
            <a:pPr marL="360000" indent="-360000" algn="just">
              <a:lnSpc>
                <a:spcPct val="130000"/>
              </a:lnSpc>
            </a:pPr>
            <a:endParaRPr lang="en-US" altLang="zh-CN" sz="9600" dirty="0"/>
          </a:p>
          <a:p>
            <a:pPr marL="0" indent="0" algn="just">
              <a:lnSpc>
                <a:spcPct val="130000"/>
              </a:lnSpc>
              <a:buNone/>
            </a:pPr>
            <a:endParaRPr lang="en-US" altLang="zh-CN" sz="9600" dirty="0"/>
          </a:p>
          <a:p>
            <a:pPr marL="0" indent="0" algn="just">
              <a:lnSpc>
                <a:spcPct val="130000"/>
              </a:lnSpc>
              <a:buNone/>
            </a:pPr>
            <a:endParaRPr lang="en-US" altLang="zh-CN" sz="9600" dirty="0"/>
          </a:p>
          <a:p>
            <a:pPr marL="0" indent="0" algn="just">
              <a:lnSpc>
                <a:spcPct val="130000"/>
              </a:lnSpc>
              <a:buNone/>
            </a:pPr>
            <a:endParaRPr lang="en-US" altLang="zh-CN" sz="9600" dirty="0"/>
          </a:p>
          <a:p>
            <a:pPr marL="360000" indent="-360000" algn="just">
              <a:lnSpc>
                <a:spcPct val="130000"/>
              </a:lnSpc>
            </a:pPr>
            <a:r>
              <a:rPr lang="zh-CN" altLang="en-US" sz="9600" dirty="0"/>
              <a:t>同轴电缆具有寿命长、容量大、传输稳定、外界干扰小、维护方便等优点 </a:t>
            </a:r>
          </a:p>
          <a:p>
            <a:pPr algn="just"/>
            <a:endParaRPr lang="zh-CN" altLang="en-US" dirty="0"/>
          </a:p>
          <a:p>
            <a:pPr marL="0" indent="0" algn="just">
              <a:buNone/>
            </a:pPr>
            <a:r>
              <a:rPr lang="en-US" altLang="zh-CN" dirty="0"/>
              <a:t>	</a:t>
            </a:r>
            <a:endParaRPr lang="zh-CN" altLang="en-US" dirty="0"/>
          </a:p>
          <a:p>
            <a:pPr marL="0" indent="0" algn="just">
              <a:buNone/>
            </a:pPr>
            <a:endParaRPr lang="zh-CN" altLang="en-US" dirty="0"/>
          </a:p>
        </p:txBody>
      </p:sp>
      <p:sp>
        <p:nvSpPr>
          <p:cNvPr id="4" name="灯片编号占位符 3">
            <a:extLst>
              <a:ext uri="{FF2B5EF4-FFF2-40B4-BE49-F238E27FC236}">
                <a16:creationId xmlns:a16="http://schemas.microsoft.com/office/drawing/2014/main" id="{311AC9B1-7701-4298-95EE-204816B2BF41}"/>
              </a:ext>
            </a:extLst>
          </p:cNvPr>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pic>
        <p:nvPicPr>
          <p:cNvPr id="6" name="图片 5">
            <a:extLst>
              <a:ext uri="{FF2B5EF4-FFF2-40B4-BE49-F238E27FC236}">
                <a16:creationId xmlns:a16="http://schemas.microsoft.com/office/drawing/2014/main" id="{AB356A21-4AEA-4C73-A77B-0911BDA44F07}"/>
              </a:ext>
            </a:extLst>
          </p:cNvPr>
          <p:cNvPicPr>
            <a:picLocks noChangeAspect="1"/>
          </p:cNvPicPr>
          <p:nvPr/>
        </p:nvPicPr>
        <p:blipFill>
          <a:blip r:embed="rId3"/>
          <a:stretch>
            <a:fillRect/>
          </a:stretch>
        </p:blipFill>
        <p:spPr>
          <a:xfrm>
            <a:off x="1128689" y="2978272"/>
            <a:ext cx="6268542" cy="2501031"/>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2359" y="4025850"/>
            <a:ext cx="4371921" cy="1569674"/>
          </a:xfrm>
          <a:prstGeom prst="rect">
            <a:avLst/>
          </a:prstGeom>
        </p:spPr>
      </p:pic>
      <p:sp>
        <p:nvSpPr>
          <p:cNvPr id="10" name="文本框 9">
            <a:extLst>
              <a:ext uri="{FF2B5EF4-FFF2-40B4-BE49-F238E27FC236}">
                <a16:creationId xmlns:a16="http://schemas.microsoft.com/office/drawing/2014/main" id="{AEC6787D-527E-4285-89A2-18FD0C6E6D7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7342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2345" y="5063454"/>
            <a:ext cx="3214733" cy="1595885"/>
          </a:xfrm>
          <a:prstGeom prst="rect">
            <a:avLst/>
          </a:prstGeom>
        </p:spPr>
      </p:pic>
      <p:sp>
        <p:nvSpPr>
          <p:cNvPr id="2" name="标题 1">
            <a:extLst>
              <a:ext uri="{FF2B5EF4-FFF2-40B4-BE49-F238E27FC236}">
                <a16:creationId xmlns:a16="http://schemas.microsoft.com/office/drawing/2014/main" id="{665E64E1-B493-44B0-A50D-9942BB583125}"/>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95EA994E-D561-4FC4-A8C5-A23050694371}"/>
              </a:ext>
            </a:extLst>
          </p:cNvPr>
          <p:cNvSpPr>
            <a:spLocks noGrp="1"/>
          </p:cNvSpPr>
          <p:nvPr>
            <p:ph idx="1"/>
          </p:nvPr>
        </p:nvSpPr>
        <p:spPr>
          <a:xfrm>
            <a:off x="838200" y="1244212"/>
            <a:ext cx="10802420" cy="4586694"/>
          </a:xfrm>
        </p:spPr>
        <p:txBody>
          <a:bodyPr>
            <a:normAutofit/>
          </a:bodyPr>
          <a:lstStyle/>
          <a:p>
            <a:pPr marL="360000" indent="-360000" algn="just">
              <a:lnSpc>
                <a:spcPct val="110000"/>
              </a:lnSpc>
            </a:pPr>
            <a:r>
              <a:rPr lang="zh-CN" altLang="en-US" i="0" dirty="0">
                <a:latin typeface="Times New Roman" panose="02020603050405020304" pitchFamily="18" charset="0"/>
                <a:ea typeface="微软雅黑" panose="020B0503020204020204" pitchFamily="34" charset="-122"/>
              </a:rPr>
              <a:t>同轴电缆有两分类</a:t>
            </a:r>
            <a:endParaRPr lang="en-US" altLang="zh-CN" i="0" dirty="0">
              <a:latin typeface="Times New Roman" panose="02020603050405020304" pitchFamily="18" charset="0"/>
              <a:ea typeface="微软雅黑" panose="020B0503020204020204" pitchFamily="34" charset="-122"/>
            </a:endParaRPr>
          </a:p>
          <a:p>
            <a:pPr marL="817200" lvl="1" indent="-360000" algn="just">
              <a:lnSpc>
                <a:spcPct val="110000"/>
              </a:lnSpc>
            </a:pPr>
            <a:r>
              <a:rPr lang="zh-CN" altLang="en-US" i="0" dirty="0">
                <a:latin typeface="Times New Roman" panose="02020603050405020304" pitchFamily="18" charset="0"/>
                <a:ea typeface="微软雅黑" panose="020B0503020204020204" pitchFamily="34" charset="-122"/>
              </a:rPr>
              <a:t>按内、外导体尺寸不同，分为中、小和微三种规格</a:t>
            </a:r>
            <a:endParaRPr lang="en-US" altLang="zh-CN" i="0" dirty="0">
              <a:latin typeface="Times New Roman" panose="02020603050405020304" pitchFamily="18" charset="0"/>
              <a:ea typeface="微软雅黑" panose="020B0503020204020204" pitchFamily="34" charset="-122"/>
            </a:endParaRPr>
          </a:p>
          <a:p>
            <a:pPr marL="817200" lvl="1" indent="-360000" algn="just">
              <a:lnSpc>
                <a:spcPct val="110000"/>
              </a:lnSpc>
            </a:pPr>
            <a:r>
              <a:rPr lang="zh-CN" altLang="en-US" dirty="0">
                <a:latin typeface="Times New Roman" panose="02020603050405020304" pitchFamily="18" charset="0"/>
                <a:ea typeface="微软雅黑" panose="020B0503020204020204" pitchFamily="34" charset="-122"/>
              </a:rPr>
              <a:t>按特性阻抗的不同，分为</a:t>
            </a:r>
            <a:r>
              <a:rPr lang="zh-CN" altLang="en-US" dirty="0">
                <a:solidFill>
                  <a:srgbClr val="C00000"/>
                </a:solidFill>
                <a:latin typeface="Times New Roman" panose="02020603050405020304" pitchFamily="18" charset="0"/>
                <a:ea typeface="微软雅黑" panose="020B0503020204020204" pitchFamily="34" charset="-122"/>
              </a:rPr>
              <a:t>基带同轴电缆（</a:t>
            </a:r>
            <a:r>
              <a:rPr lang="en-US" altLang="zh-CN" dirty="0">
                <a:solidFill>
                  <a:srgbClr val="C00000"/>
                </a:solidFill>
                <a:latin typeface="Times New Roman" panose="02020603050405020304" pitchFamily="18" charset="0"/>
                <a:ea typeface="微软雅黑" panose="020B0503020204020204" pitchFamily="34" charset="-122"/>
              </a:rPr>
              <a:t>50</a:t>
            </a:r>
            <a:r>
              <a:rPr lang="el-GR" altLang="zh-CN" dirty="0">
                <a:solidFill>
                  <a:srgbClr val="C00000"/>
                </a:solidFill>
                <a:latin typeface="Times New Roman" panose="02020603050405020304" pitchFamily="18" charset="0"/>
                <a:ea typeface="微软雅黑" panose="020B0503020204020204" pitchFamily="34" charset="-122"/>
              </a:rPr>
              <a:t>Ω</a:t>
            </a:r>
            <a:r>
              <a:rPr lang="zh-CN" altLang="en-US" dirty="0">
                <a:solidFill>
                  <a:srgbClr val="C00000"/>
                </a:solidFill>
                <a:latin typeface="Times New Roman" panose="02020603050405020304" pitchFamily="18" charset="0"/>
                <a:ea typeface="微软雅黑" panose="020B0503020204020204" pitchFamily="34" charset="-122"/>
              </a:rPr>
              <a:t>）</a:t>
            </a:r>
            <a:r>
              <a:rPr lang="zh-CN" altLang="en-US" dirty="0">
                <a:latin typeface="Times New Roman" panose="02020603050405020304" pitchFamily="18" charset="0"/>
                <a:ea typeface="微软雅黑" panose="020B0503020204020204" pitchFamily="34" charset="-122"/>
              </a:rPr>
              <a:t>和</a:t>
            </a:r>
            <a:r>
              <a:rPr lang="zh-CN" altLang="en-US" dirty="0">
                <a:solidFill>
                  <a:srgbClr val="C00000"/>
                </a:solidFill>
                <a:latin typeface="Times New Roman" panose="02020603050405020304" pitchFamily="18" charset="0"/>
                <a:ea typeface="微软雅黑" panose="020B0503020204020204" pitchFamily="34" charset="-122"/>
              </a:rPr>
              <a:t>宽带同轴电缆（</a:t>
            </a:r>
            <a:r>
              <a:rPr lang="en-US" altLang="zh-CN" dirty="0">
                <a:solidFill>
                  <a:srgbClr val="C00000"/>
                </a:solidFill>
                <a:latin typeface="Times New Roman" panose="02020603050405020304" pitchFamily="18" charset="0"/>
                <a:ea typeface="微软雅黑" panose="020B0503020204020204" pitchFamily="34" charset="-122"/>
              </a:rPr>
              <a:t>75</a:t>
            </a:r>
            <a:r>
              <a:rPr lang="el-GR" altLang="zh-CN" dirty="0">
                <a:solidFill>
                  <a:srgbClr val="C00000"/>
                </a:solidFill>
                <a:latin typeface="Times New Roman" panose="02020603050405020304" pitchFamily="18" charset="0"/>
                <a:ea typeface="微软雅黑" panose="020B0503020204020204" pitchFamily="34" charset="-122"/>
              </a:rPr>
              <a:t>Ω</a:t>
            </a:r>
            <a:r>
              <a:rPr lang="zh-CN" altLang="en-US" dirty="0">
                <a:solidFill>
                  <a:srgbClr val="C00000"/>
                </a:solidFill>
                <a:latin typeface="Times New Roman" panose="02020603050405020304" pitchFamily="18" charset="0"/>
                <a:ea typeface="微软雅黑" panose="020B0503020204020204" pitchFamily="34" charset="-122"/>
              </a:rPr>
              <a:t>）</a:t>
            </a:r>
            <a:endParaRPr lang="en-US" altLang="zh-CN" dirty="0">
              <a:solidFill>
                <a:srgbClr val="C00000"/>
              </a:solidFill>
              <a:latin typeface="Times New Roman" panose="02020603050405020304" pitchFamily="18" charset="0"/>
              <a:ea typeface="微软雅黑" panose="020B0503020204020204" pitchFamily="34" charset="-122"/>
            </a:endParaRPr>
          </a:p>
          <a:p>
            <a:pPr marL="1274400" lvl="2" indent="-360000" algn="just">
              <a:lnSpc>
                <a:spcPct val="110000"/>
              </a:lnSpc>
            </a:pPr>
            <a:r>
              <a:rPr lang="zh-CN" altLang="en-US" dirty="0">
                <a:latin typeface="Times New Roman" panose="02020603050405020304" pitchFamily="18" charset="0"/>
                <a:ea typeface="微软雅黑" panose="020B0503020204020204" pitchFamily="34" charset="-122"/>
              </a:rPr>
              <a:t>基带同轴用来传送基带信号，其距离可达</a:t>
            </a:r>
            <a:r>
              <a:rPr lang="en-US" altLang="zh-CN" dirty="0">
                <a:latin typeface="Times New Roman" panose="02020603050405020304" pitchFamily="18" charset="0"/>
                <a:ea typeface="微软雅黑" panose="020B0503020204020204" pitchFamily="34" charset="-122"/>
              </a:rPr>
              <a:t>1km</a:t>
            </a:r>
            <a:r>
              <a:rPr lang="zh-CN" altLang="en-US" dirty="0">
                <a:latin typeface="Times New Roman" panose="02020603050405020304" pitchFamily="18" charset="0"/>
                <a:ea typeface="微软雅黑" panose="020B0503020204020204" pitchFamily="34" charset="-122"/>
              </a:rPr>
              <a:t>，传输速率为</a:t>
            </a:r>
            <a:r>
              <a:rPr lang="en-US" altLang="zh-CN" dirty="0">
                <a:latin typeface="Times New Roman" panose="02020603050405020304" pitchFamily="18" charset="0"/>
                <a:ea typeface="微软雅黑" panose="020B0503020204020204" pitchFamily="34" charset="-122"/>
              </a:rPr>
              <a:t>10Mb/s</a:t>
            </a:r>
          </a:p>
          <a:p>
            <a:pPr marL="1274400" lvl="2" indent="-360000" algn="just">
              <a:lnSpc>
                <a:spcPct val="110000"/>
              </a:lnSpc>
            </a:pPr>
            <a:r>
              <a:rPr lang="zh-CN" altLang="en-US" dirty="0">
                <a:latin typeface="Times New Roman" panose="02020603050405020304" pitchFamily="18" charset="0"/>
                <a:ea typeface="微软雅黑" panose="020B0503020204020204" pitchFamily="34" charset="-122"/>
              </a:rPr>
              <a:t>宽带同轴是有线电视的标准传输电缆，传送频分复用的宽带信号，信号频率可高达</a:t>
            </a:r>
            <a:r>
              <a:rPr lang="en-US" altLang="zh-CN" dirty="0">
                <a:latin typeface="Times New Roman" panose="02020603050405020304" pitchFamily="18" charset="0"/>
                <a:ea typeface="微软雅黑" panose="020B0503020204020204" pitchFamily="34" charset="-122"/>
              </a:rPr>
              <a:t>300-400MHz</a:t>
            </a:r>
            <a:r>
              <a:rPr lang="zh-CN" altLang="en-US" dirty="0">
                <a:latin typeface="Times New Roman" panose="02020603050405020304" pitchFamily="18" charset="0"/>
                <a:ea typeface="微软雅黑" panose="020B0503020204020204" pitchFamily="34" charset="-122"/>
              </a:rPr>
              <a:t>，距离可达</a:t>
            </a:r>
            <a:r>
              <a:rPr lang="en-US" altLang="zh-CN" dirty="0">
                <a:latin typeface="Times New Roman" panose="02020603050405020304" pitchFamily="18" charset="0"/>
                <a:ea typeface="微软雅黑" panose="020B0503020204020204" pitchFamily="34" charset="-122"/>
              </a:rPr>
              <a:t>100km</a:t>
            </a:r>
            <a:r>
              <a:rPr lang="zh-CN" altLang="en-US" dirty="0">
                <a:latin typeface="Times New Roman" panose="02020603050405020304" pitchFamily="18" charset="0"/>
                <a:ea typeface="微软雅黑" panose="020B0503020204020204" pitchFamily="34" charset="-122"/>
              </a:rPr>
              <a:t> </a:t>
            </a:r>
          </a:p>
          <a:p>
            <a:pPr marL="360000" indent="-360000" algn="just">
              <a:lnSpc>
                <a:spcPct val="110000"/>
              </a:lnSpc>
            </a:pPr>
            <a:r>
              <a:rPr lang="zh-CN" altLang="en-US" sz="2400" i="0" dirty="0">
                <a:latin typeface="Times New Roman" panose="02020603050405020304" pitchFamily="18" charset="0"/>
                <a:ea typeface="微软雅黑" panose="020B0503020204020204" pitchFamily="34" charset="-122"/>
              </a:rPr>
              <a:t>局域网发展初期广泛地使用同轴电缆</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50</a:t>
            </a:r>
            <a:r>
              <a:rPr lang="el-GR" altLang="zh-CN" sz="2400" dirty="0">
                <a:latin typeface="Times New Roman" panose="02020603050405020304" pitchFamily="18" charset="0"/>
                <a:ea typeface="微软雅黑" panose="020B0503020204020204" pitchFamily="34" charset="-122"/>
              </a:rPr>
              <a:t>Ω</a:t>
            </a:r>
            <a:r>
              <a:rPr lang="zh-CN" altLang="en-US"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a:p>
            <a:pPr marL="360000" indent="-360000" algn="just">
              <a:lnSpc>
                <a:spcPct val="110000"/>
              </a:lnSpc>
            </a:pPr>
            <a:r>
              <a:rPr lang="zh-CN" altLang="en-US" sz="2400" i="0" dirty="0">
                <a:latin typeface="Times New Roman" panose="02020603050405020304" pitchFamily="18" charset="0"/>
                <a:ea typeface="微软雅黑" panose="020B0503020204020204" pitchFamily="34" charset="-122"/>
              </a:rPr>
              <a:t>现在同轴电缆</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75</a:t>
            </a:r>
            <a:r>
              <a:rPr lang="el-GR" altLang="zh-CN" sz="2400" dirty="0">
                <a:latin typeface="Times New Roman" panose="02020603050405020304" pitchFamily="18" charset="0"/>
                <a:ea typeface="微软雅黑" panose="020B0503020204020204" pitchFamily="34" charset="-122"/>
              </a:rPr>
              <a:t>Ω</a:t>
            </a:r>
            <a:r>
              <a:rPr lang="zh-CN" altLang="en-US" sz="2400" dirty="0">
                <a:latin typeface="Times New Roman" panose="02020603050405020304" pitchFamily="18" charset="0"/>
                <a:ea typeface="微软雅黑" panose="020B0503020204020204" pitchFamily="34" charset="-122"/>
              </a:rPr>
              <a:t>）</a:t>
            </a:r>
            <a:r>
              <a:rPr lang="zh-CN" altLang="en-US" sz="2400" i="0" dirty="0">
                <a:latin typeface="Times New Roman" panose="02020603050405020304" pitchFamily="18" charset="0"/>
                <a:ea typeface="微软雅黑" panose="020B0503020204020204" pitchFamily="34" charset="-122"/>
              </a:rPr>
              <a:t>主要用在有线电视网</a:t>
            </a:r>
            <a:endParaRPr lang="zh-CN" altLang="en-US" sz="2400" dirty="0">
              <a:latin typeface="Times New Roman" panose="02020603050405020304" pitchFamily="18" charset="0"/>
              <a:ea typeface="微软雅黑" panose="020B0503020204020204" pitchFamily="34" charset="-122"/>
            </a:endParaRPr>
          </a:p>
          <a:p>
            <a:pPr algn="just"/>
            <a:endParaRPr lang="zh-CN" altLang="en-US" dirty="0"/>
          </a:p>
        </p:txBody>
      </p:sp>
      <p:sp>
        <p:nvSpPr>
          <p:cNvPr id="4" name="灯片编号占位符 3">
            <a:extLst>
              <a:ext uri="{FF2B5EF4-FFF2-40B4-BE49-F238E27FC236}">
                <a16:creationId xmlns:a16="http://schemas.microsoft.com/office/drawing/2014/main" id="{1952D14F-80B6-4BF6-96B5-F65893F0C210}"/>
              </a:ext>
            </a:extLst>
          </p:cNvPr>
          <p:cNvSpPr>
            <a:spLocks noGrp="1"/>
          </p:cNvSpPr>
          <p:nvPr>
            <p:ph type="sldNum" sz="quarter" idx="12"/>
          </p:nvPr>
        </p:nvSpPr>
        <p:spPr/>
        <p:txBody>
          <a:bodyPr/>
          <a:lstStyle/>
          <a:p>
            <a:fld id="{8D4D1E41-7A09-AB4A-A4E1-09765ADA2698}" type="slidenum">
              <a:rPr kumimoji="1" lang="zh-CN" altLang="en-US" smtClean="0"/>
              <a:t>63</a:t>
            </a:fld>
            <a:endParaRPr kumimoji="1" lang="zh-CN" altLang="en-US" dirty="0"/>
          </a:p>
        </p:txBody>
      </p:sp>
      <p:pic>
        <p:nvPicPr>
          <p:cNvPr id="5" name="图片 4"/>
          <p:cNvPicPr>
            <a:picLocks noChangeAspect="1"/>
          </p:cNvPicPr>
          <p:nvPr/>
        </p:nvPicPr>
        <p:blipFill>
          <a:blip r:embed="rId3"/>
          <a:stretch>
            <a:fillRect/>
          </a:stretch>
        </p:blipFill>
        <p:spPr>
          <a:xfrm>
            <a:off x="8692344" y="3954447"/>
            <a:ext cx="3214734" cy="2218013"/>
          </a:xfrm>
          <a:prstGeom prst="rect">
            <a:avLst/>
          </a:prstGeom>
        </p:spPr>
      </p:pic>
      <p:pic>
        <p:nvPicPr>
          <p:cNvPr id="6" name="图片 5"/>
          <p:cNvPicPr>
            <a:picLocks noChangeAspect="1"/>
          </p:cNvPicPr>
          <p:nvPr/>
        </p:nvPicPr>
        <p:blipFill>
          <a:blip r:embed="rId4"/>
          <a:stretch>
            <a:fillRect/>
          </a:stretch>
        </p:blipFill>
        <p:spPr>
          <a:xfrm>
            <a:off x="6900899" y="5063454"/>
            <a:ext cx="1798889" cy="1105499"/>
          </a:xfrm>
          <a:prstGeom prst="rect">
            <a:avLst/>
          </a:prstGeom>
        </p:spPr>
      </p:pic>
      <p:graphicFrame>
        <p:nvGraphicFramePr>
          <p:cNvPr id="9" name="表格 10">
            <a:extLst>
              <a:ext uri="{FF2B5EF4-FFF2-40B4-BE49-F238E27FC236}">
                <a16:creationId xmlns:a16="http://schemas.microsoft.com/office/drawing/2014/main" id="{94932734-82B6-43AB-B108-385C619C8615}"/>
              </a:ext>
            </a:extLst>
          </p:cNvPr>
          <p:cNvGraphicFramePr>
            <a:graphicFrameLocks noGrp="1"/>
          </p:cNvGraphicFramePr>
          <p:nvPr>
            <p:extLst>
              <p:ext uri="{D42A27DB-BD31-4B8C-83A1-F6EECF244321}">
                <p14:modId xmlns:p14="http://schemas.microsoft.com/office/powerpoint/2010/main" val="3264583802"/>
              </p:ext>
            </p:extLst>
          </p:nvPr>
        </p:nvGraphicFramePr>
        <p:xfrm>
          <a:off x="971428" y="5111114"/>
          <a:ext cx="5796243" cy="1112520"/>
        </p:xfrm>
        <a:graphic>
          <a:graphicData uri="http://schemas.openxmlformats.org/drawingml/2006/table">
            <a:tbl>
              <a:tblPr firstRow="1" bandRow="1">
                <a:tableStyleId>{5C22544A-7EE6-4342-B048-85BDC9FD1C3A}</a:tableStyleId>
              </a:tblPr>
              <a:tblGrid>
                <a:gridCol w="1661161">
                  <a:extLst>
                    <a:ext uri="{9D8B030D-6E8A-4147-A177-3AD203B41FA5}">
                      <a16:colId xmlns:a16="http://schemas.microsoft.com/office/drawing/2014/main" val="1399778437"/>
                    </a:ext>
                  </a:extLst>
                </a:gridCol>
                <a:gridCol w="2001520">
                  <a:extLst>
                    <a:ext uri="{9D8B030D-6E8A-4147-A177-3AD203B41FA5}">
                      <a16:colId xmlns:a16="http://schemas.microsoft.com/office/drawing/2014/main" val="5556413"/>
                    </a:ext>
                  </a:extLst>
                </a:gridCol>
                <a:gridCol w="2133562">
                  <a:extLst>
                    <a:ext uri="{9D8B030D-6E8A-4147-A177-3AD203B41FA5}">
                      <a16:colId xmlns:a16="http://schemas.microsoft.com/office/drawing/2014/main" val="2962062530"/>
                    </a:ext>
                  </a:extLst>
                </a:gridCol>
              </a:tblGrid>
              <a:tr h="370840">
                <a:tc>
                  <a:txBody>
                    <a:bodyPr/>
                    <a:lstStyle/>
                    <a:p>
                      <a:pPr algn="ctr"/>
                      <a:r>
                        <a:rPr lang="zh-CN" altLang="en-US" dirty="0">
                          <a:latin typeface="微软雅黑" panose="020B0503020204020204" pitchFamily="34" charset="-122"/>
                          <a:ea typeface="微软雅黑" panose="020B0503020204020204" pitchFamily="34" charset="-122"/>
                        </a:rPr>
                        <a:t>以太网标准</a:t>
                      </a:r>
                    </a:p>
                  </a:txBody>
                  <a:tcPr/>
                </a:tc>
                <a:tc>
                  <a:txBody>
                    <a:bodyPr/>
                    <a:lstStyle/>
                    <a:p>
                      <a:pPr algn="ctr"/>
                      <a:r>
                        <a:rPr lang="zh-CN" altLang="en-US" dirty="0">
                          <a:latin typeface="微软雅黑" panose="020B0503020204020204" pitchFamily="34" charset="-122"/>
                          <a:ea typeface="微软雅黑" panose="020B0503020204020204" pitchFamily="34" charset="-122"/>
                        </a:rPr>
                        <a:t>电缆类别</a:t>
                      </a:r>
                    </a:p>
                  </a:txBody>
                  <a:tcPr/>
                </a:tc>
                <a:tc>
                  <a:txBody>
                    <a:bodyPr/>
                    <a:lstStyle/>
                    <a:p>
                      <a:pPr algn="ctr"/>
                      <a:r>
                        <a:rPr lang="zh-CN" altLang="en-US" dirty="0">
                          <a:latin typeface="微软雅黑" panose="020B0503020204020204" pitchFamily="34" charset="-122"/>
                          <a:ea typeface="微软雅黑" panose="020B0503020204020204" pitchFamily="34" charset="-122"/>
                        </a:rPr>
                        <a:t>最长有效传输距离</a:t>
                      </a:r>
                    </a:p>
                  </a:txBody>
                  <a:tcPr/>
                </a:tc>
                <a:extLst>
                  <a:ext uri="{0D108BD9-81ED-4DB2-BD59-A6C34878D82A}">
                    <a16:rowId xmlns:a16="http://schemas.microsoft.com/office/drawing/2014/main" val="72841286"/>
                  </a:ext>
                </a:extLst>
              </a:tr>
              <a:tr h="370840">
                <a:tc>
                  <a:txBody>
                    <a:bodyPr/>
                    <a:lstStyle/>
                    <a:p>
                      <a:pPr algn="ctr"/>
                      <a:r>
                        <a:rPr lang="en-US" altLang="zh-CN" dirty="0">
                          <a:latin typeface="微软雅黑" panose="020B0503020204020204" pitchFamily="34" charset="-122"/>
                          <a:ea typeface="微软雅黑" panose="020B0503020204020204" pitchFamily="34" charset="-122"/>
                        </a:rPr>
                        <a:t>10BASE5</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zh-CN" altLang="en-US" dirty="0">
                          <a:latin typeface="微软雅黑" panose="020B0503020204020204" pitchFamily="34" charset="-122"/>
                          <a:ea typeface="微软雅黑" panose="020B0503020204020204" pitchFamily="34" charset="-122"/>
                        </a:rPr>
                        <a:t>粗同轴电缆</a:t>
                      </a:r>
                    </a:p>
                  </a:txBody>
                  <a:tcPr/>
                </a:tc>
                <a:tc>
                  <a:txBody>
                    <a:bodyPr/>
                    <a:lstStyle/>
                    <a:p>
                      <a:pPr algn="ctr"/>
                      <a:r>
                        <a:rPr lang="en-US" altLang="zh-CN" dirty="0">
                          <a:latin typeface="微软雅黑" panose="020B0503020204020204" pitchFamily="34" charset="-122"/>
                          <a:ea typeface="微软雅黑" panose="020B0503020204020204" pitchFamily="34" charset="-122"/>
                        </a:rPr>
                        <a:t>500</a:t>
                      </a:r>
                      <a:r>
                        <a:rPr lang="zh-CN" altLang="en-US" dirty="0">
                          <a:latin typeface="微软雅黑" panose="020B0503020204020204" pitchFamily="34" charset="-122"/>
                          <a:ea typeface="微软雅黑" panose="020B0503020204020204" pitchFamily="34" charset="-122"/>
                        </a:rPr>
                        <a:t>米</a:t>
                      </a:r>
                    </a:p>
                  </a:txBody>
                  <a:tcPr/>
                </a:tc>
                <a:extLst>
                  <a:ext uri="{0D108BD9-81ED-4DB2-BD59-A6C34878D82A}">
                    <a16:rowId xmlns:a16="http://schemas.microsoft.com/office/drawing/2014/main" val="3826538380"/>
                  </a:ext>
                </a:extLst>
              </a:tr>
              <a:tr h="370840">
                <a:tc>
                  <a:txBody>
                    <a:bodyPr/>
                    <a:lstStyle/>
                    <a:p>
                      <a:pPr algn="ctr"/>
                      <a:r>
                        <a:rPr lang="en-US" altLang="zh-CN" dirty="0">
                          <a:latin typeface="微软雅黑" panose="020B0503020204020204" pitchFamily="34" charset="-122"/>
                          <a:ea typeface="微软雅黑" panose="020B0503020204020204" pitchFamily="34" charset="-122"/>
                        </a:rPr>
                        <a:t>10BASE2</a:t>
                      </a:r>
                      <a:endParaRPr lang="zh-CN" altLang="en-US"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ea typeface="微软雅黑" panose="020B0503020204020204" pitchFamily="34" charset="-122"/>
                        </a:rPr>
                        <a:t>细同轴电缆</a:t>
                      </a:r>
                    </a:p>
                  </a:txBody>
                  <a:tcPr/>
                </a:tc>
                <a:tc>
                  <a:txBody>
                    <a:bodyPr/>
                    <a:lstStyle/>
                    <a:p>
                      <a:pPr algn="ctr"/>
                      <a:r>
                        <a:rPr lang="en-US" altLang="zh-CN" dirty="0">
                          <a:latin typeface="微软雅黑" panose="020B0503020204020204" pitchFamily="34" charset="-122"/>
                          <a:ea typeface="微软雅黑" panose="020B0503020204020204" pitchFamily="34" charset="-122"/>
                        </a:rPr>
                        <a:t>185</a:t>
                      </a:r>
                      <a:r>
                        <a:rPr lang="zh-CN" altLang="en-US" dirty="0">
                          <a:latin typeface="微软雅黑" panose="020B0503020204020204" pitchFamily="34" charset="-122"/>
                          <a:ea typeface="微软雅黑" panose="020B0503020204020204" pitchFamily="34" charset="-122"/>
                        </a:rPr>
                        <a:t>米</a:t>
                      </a:r>
                    </a:p>
                  </a:txBody>
                  <a:tcPr/>
                </a:tc>
                <a:extLst>
                  <a:ext uri="{0D108BD9-81ED-4DB2-BD59-A6C34878D82A}">
                    <a16:rowId xmlns:a16="http://schemas.microsoft.com/office/drawing/2014/main" val="1738156500"/>
                  </a:ext>
                </a:extLst>
              </a:tr>
            </a:tbl>
          </a:graphicData>
        </a:graphic>
      </p:graphicFrame>
      <p:sp>
        <p:nvSpPr>
          <p:cNvPr id="11" name="文本框 10">
            <a:extLst>
              <a:ext uri="{FF2B5EF4-FFF2-40B4-BE49-F238E27FC236}">
                <a16:creationId xmlns:a16="http://schemas.microsoft.com/office/drawing/2014/main" id="{65A4FE82-C071-47B8-9020-B3A36C58482A}"/>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0967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633DFDF-562C-4C60-B46C-D81B74DE2BF8}"/>
              </a:ext>
            </a:extLst>
          </p:cNvPr>
          <p:cNvPicPr>
            <a:picLocks noChangeAspect="1"/>
          </p:cNvPicPr>
          <p:nvPr/>
        </p:nvPicPr>
        <p:blipFill>
          <a:blip r:embed="rId2"/>
          <a:stretch>
            <a:fillRect/>
          </a:stretch>
        </p:blipFill>
        <p:spPr>
          <a:xfrm>
            <a:off x="8999448" y="5184753"/>
            <a:ext cx="2647240" cy="1566148"/>
          </a:xfrm>
          <a:prstGeom prst="rect">
            <a:avLst/>
          </a:prstGeom>
          <a:ln>
            <a:solidFill>
              <a:schemeClr val="tx2"/>
            </a:solidFill>
          </a:ln>
        </p:spPr>
      </p:pic>
      <p:sp>
        <p:nvSpPr>
          <p:cNvPr id="2" name="标题 1">
            <a:extLst>
              <a:ext uri="{FF2B5EF4-FFF2-40B4-BE49-F238E27FC236}">
                <a16:creationId xmlns:a16="http://schemas.microsoft.com/office/drawing/2014/main" id="{503F7DF2-9661-4539-9B11-69A72DB78BB3}"/>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03F94CCD-3C14-46B1-B763-AD9AA2092308}"/>
              </a:ext>
            </a:extLst>
          </p:cNvPr>
          <p:cNvSpPr>
            <a:spLocks noGrp="1"/>
          </p:cNvSpPr>
          <p:nvPr>
            <p:ph idx="1"/>
          </p:nvPr>
        </p:nvSpPr>
        <p:spPr>
          <a:xfrm>
            <a:off x="838200" y="1319686"/>
            <a:ext cx="5388863" cy="4586694"/>
          </a:xfrm>
        </p:spPr>
        <p:txBody>
          <a:bodyPr>
            <a:normAutofit/>
          </a:bodyPr>
          <a:lstStyle/>
          <a:p>
            <a:pPr marL="0" indent="0" algn="just">
              <a:buNone/>
            </a:pPr>
            <a:r>
              <a:rPr lang="zh-CN" altLang="en-US" b="1" dirty="0">
                <a:solidFill>
                  <a:srgbClr val="C00000"/>
                </a:solidFill>
              </a:rPr>
              <a:t>光纤</a:t>
            </a:r>
            <a:endParaRPr lang="en-US" altLang="zh-CN" b="1" dirty="0">
              <a:solidFill>
                <a:srgbClr val="C00000"/>
              </a:solidFill>
            </a:endParaRPr>
          </a:p>
          <a:p>
            <a:pPr marL="360000" indent="-360000" algn="just"/>
            <a:r>
              <a:rPr lang="zh-CN" altLang="en-US" sz="2400" i="0" dirty="0">
                <a:latin typeface="Times New Roman" panose="02020603050405020304" pitchFamily="18" charset="0"/>
              </a:rPr>
              <a:t>光纤通信已成为现代通信技术中的一个十分重要的领域</a:t>
            </a:r>
            <a:endParaRPr lang="en-US" altLang="zh-CN" sz="2400" dirty="0">
              <a:latin typeface="Times New Roman" panose="02020603050405020304" pitchFamily="18" charset="0"/>
            </a:endParaRPr>
          </a:p>
          <a:p>
            <a:pPr marL="360000" indent="-360000" algn="just"/>
            <a:r>
              <a:rPr lang="zh-CN" altLang="en-US" sz="2400" i="0" dirty="0">
                <a:latin typeface="Times New Roman" panose="02020603050405020304" pitchFamily="18" charset="0"/>
              </a:rPr>
              <a:t>光纤是一种新型的光波导，结构一般是双层或多层同心园柱体</a:t>
            </a:r>
            <a:endParaRPr lang="en-US" altLang="zh-CN" sz="2400" i="0" dirty="0">
              <a:latin typeface="Times New Roman" panose="02020603050405020304" pitchFamily="18" charset="0"/>
            </a:endParaRPr>
          </a:p>
          <a:p>
            <a:pPr marL="817200" lvl="1" indent="-360000" algn="just"/>
            <a:r>
              <a:rPr lang="zh-CN" altLang="en-US" sz="2000" i="0" dirty="0">
                <a:latin typeface="Times New Roman" panose="02020603050405020304" pitchFamily="18" charset="0"/>
              </a:rPr>
              <a:t>由纤芯、包层和护套组成 </a:t>
            </a:r>
            <a:endParaRPr lang="en-US" altLang="zh-CN" sz="2000" dirty="0">
              <a:latin typeface="Times New Roman" panose="02020603050405020304" pitchFamily="18" charset="0"/>
            </a:endParaRPr>
          </a:p>
          <a:p>
            <a:pPr marL="0" indent="0" algn="just">
              <a:buNone/>
            </a:pPr>
            <a:endParaRPr lang="en-US" altLang="zh-CN" dirty="0"/>
          </a:p>
          <a:p>
            <a:pPr marL="0" indent="0" algn="just">
              <a:buNone/>
            </a:pPr>
            <a:endParaRPr lang="zh-CN" altLang="en-US" dirty="0"/>
          </a:p>
          <a:p>
            <a:pPr algn="just"/>
            <a:endParaRPr lang="zh-CN" altLang="en-US" dirty="0"/>
          </a:p>
        </p:txBody>
      </p:sp>
      <p:sp>
        <p:nvSpPr>
          <p:cNvPr id="4" name="灯片编号占位符 3">
            <a:extLst>
              <a:ext uri="{FF2B5EF4-FFF2-40B4-BE49-F238E27FC236}">
                <a16:creationId xmlns:a16="http://schemas.microsoft.com/office/drawing/2014/main" id="{5C8858A8-A245-44F1-B71E-5413885E23CA}"/>
              </a:ext>
            </a:extLst>
          </p:cNvPr>
          <p:cNvSpPr>
            <a:spLocks noGrp="1"/>
          </p:cNvSpPr>
          <p:nvPr>
            <p:ph type="sldNum" sz="quarter" idx="12"/>
          </p:nvPr>
        </p:nvSpPr>
        <p:spPr/>
        <p:txBody>
          <a:bodyPr/>
          <a:lstStyle/>
          <a:p>
            <a:fld id="{8D4D1E41-7A09-AB4A-A4E1-09765ADA2698}" type="slidenum">
              <a:rPr kumimoji="1" lang="zh-CN" altLang="en-US" smtClean="0"/>
              <a:t>64</a:t>
            </a:fld>
            <a:endParaRPr kumimoji="1" lang="zh-CN" altLang="en-US" dirty="0"/>
          </a:p>
        </p:txBody>
      </p:sp>
      <p:pic>
        <p:nvPicPr>
          <p:cNvPr id="6" name="图片 5">
            <a:extLst>
              <a:ext uri="{FF2B5EF4-FFF2-40B4-BE49-F238E27FC236}">
                <a16:creationId xmlns:a16="http://schemas.microsoft.com/office/drawing/2014/main" id="{E543C342-D7D5-40CB-985B-5FFAD29B615D}"/>
              </a:ext>
            </a:extLst>
          </p:cNvPr>
          <p:cNvPicPr>
            <a:picLocks noChangeAspect="1"/>
          </p:cNvPicPr>
          <p:nvPr/>
        </p:nvPicPr>
        <p:blipFill>
          <a:blip r:embed="rId3"/>
          <a:stretch>
            <a:fillRect/>
          </a:stretch>
        </p:blipFill>
        <p:spPr>
          <a:xfrm>
            <a:off x="6309391" y="1327230"/>
            <a:ext cx="5049066" cy="2053665"/>
          </a:xfrm>
          <a:prstGeom prst="rect">
            <a:avLst/>
          </a:prstGeom>
        </p:spPr>
      </p:pic>
      <p:pic>
        <p:nvPicPr>
          <p:cNvPr id="5" name="图片 4"/>
          <p:cNvPicPr>
            <a:picLocks noChangeAspect="1"/>
          </p:cNvPicPr>
          <p:nvPr/>
        </p:nvPicPr>
        <p:blipFill>
          <a:blip r:embed="rId4"/>
          <a:stretch>
            <a:fillRect/>
          </a:stretch>
        </p:blipFill>
        <p:spPr>
          <a:xfrm>
            <a:off x="6227063" y="3598540"/>
            <a:ext cx="2724913" cy="1551122"/>
          </a:xfrm>
          <a:prstGeom prst="rect">
            <a:avLst/>
          </a:prstGeom>
        </p:spPr>
      </p:pic>
      <p:pic>
        <p:nvPicPr>
          <p:cNvPr id="8" name="图片 7">
            <a:extLst>
              <a:ext uri="{FF2B5EF4-FFF2-40B4-BE49-F238E27FC236}">
                <a16:creationId xmlns:a16="http://schemas.microsoft.com/office/drawing/2014/main" id="{ED8CA879-A875-42C9-8575-A7B79B55478E}"/>
              </a:ext>
            </a:extLst>
          </p:cNvPr>
          <p:cNvPicPr>
            <a:picLocks noChangeAspect="1"/>
          </p:cNvPicPr>
          <p:nvPr/>
        </p:nvPicPr>
        <p:blipFill>
          <a:blip r:embed="rId5"/>
          <a:stretch>
            <a:fillRect/>
          </a:stretch>
        </p:blipFill>
        <p:spPr>
          <a:xfrm>
            <a:off x="6304736" y="5184753"/>
            <a:ext cx="2647240" cy="1566148"/>
          </a:xfrm>
          <a:prstGeom prst="rect">
            <a:avLst/>
          </a:prstGeom>
        </p:spPr>
      </p:pic>
      <p:pic>
        <p:nvPicPr>
          <p:cNvPr id="10" name="图片 9">
            <a:extLst>
              <a:ext uri="{FF2B5EF4-FFF2-40B4-BE49-F238E27FC236}">
                <a16:creationId xmlns:a16="http://schemas.microsoft.com/office/drawing/2014/main" id="{6726B571-1753-4069-A27A-8AFC5B1E876D}"/>
              </a:ext>
            </a:extLst>
          </p:cNvPr>
          <p:cNvPicPr>
            <a:picLocks noChangeAspect="1"/>
          </p:cNvPicPr>
          <p:nvPr/>
        </p:nvPicPr>
        <p:blipFill>
          <a:blip r:embed="rId6"/>
          <a:stretch>
            <a:fillRect/>
          </a:stretch>
        </p:blipFill>
        <p:spPr>
          <a:xfrm>
            <a:off x="8999448" y="3597274"/>
            <a:ext cx="2640864" cy="1539434"/>
          </a:xfrm>
          <a:prstGeom prst="rect">
            <a:avLst/>
          </a:prstGeom>
        </p:spPr>
      </p:pic>
      <p:pic>
        <p:nvPicPr>
          <p:cNvPr id="7" name="图片 6"/>
          <p:cNvPicPr>
            <a:picLocks noChangeAspect="1"/>
          </p:cNvPicPr>
          <p:nvPr/>
        </p:nvPicPr>
        <p:blipFill>
          <a:blip r:embed="rId7"/>
          <a:stretch>
            <a:fillRect/>
          </a:stretch>
        </p:blipFill>
        <p:spPr>
          <a:xfrm>
            <a:off x="924670" y="4029902"/>
            <a:ext cx="3033350" cy="2338318"/>
          </a:xfrm>
          <a:prstGeom prst="rect">
            <a:avLst/>
          </a:prstGeom>
        </p:spPr>
      </p:pic>
      <p:sp>
        <p:nvSpPr>
          <p:cNvPr id="11"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3982262" y="4923696"/>
            <a:ext cx="2871303" cy="1200329"/>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zh-CN" altLang="en-US" sz="2400" dirty="0">
                <a:solidFill>
                  <a:srgbClr val="C00000"/>
                </a:solidFill>
                <a:latin typeface="Arial" panose="020B0604020202020204" pitchFamily="34" charset="0"/>
                <a:ea typeface="黑体" panose="02010609060101010101" pitchFamily="49" charset="-122"/>
              </a:rPr>
              <a:t>光交换机</a:t>
            </a:r>
            <a:endParaRPr lang="en-US" altLang="zh-CN" sz="2400" dirty="0">
              <a:solidFill>
                <a:srgbClr val="C00000"/>
              </a:solidFill>
              <a:latin typeface="Arial" panose="020B0604020202020204" pitchFamily="34" charset="0"/>
              <a:ea typeface="黑体" panose="02010609060101010101" pitchFamily="49" charset="-122"/>
            </a:endParaRPr>
          </a:p>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a:t>
            </a:r>
            <a:r>
              <a:rPr lang="zh-CN" altLang="en-US" sz="2400" dirty="0">
                <a:solidFill>
                  <a:srgbClr val="C00000"/>
                </a:solidFill>
                <a:latin typeface="Arial" panose="020B0604020202020204" pitchFamily="34" charset="0"/>
                <a:ea typeface="黑体" panose="02010609060101010101" pitchFamily="49" charset="-122"/>
              </a:rPr>
              <a:t>（家用光猫）</a:t>
            </a:r>
          </a:p>
        </p:txBody>
      </p:sp>
      <p:sp>
        <p:nvSpPr>
          <p:cNvPr id="13" name="文本框 12">
            <a:extLst>
              <a:ext uri="{FF2B5EF4-FFF2-40B4-BE49-F238E27FC236}">
                <a16:creationId xmlns:a16="http://schemas.microsoft.com/office/drawing/2014/main" id="{D73BF32C-00F7-48B4-B81D-33D9C78EF9AE}"/>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7858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B8BA65-21DF-4D9A-9BB0-4DE954AAD564}"/>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BF080807-67D5-43DB-B385-67271050A48B}"/>
              </a:ext>
            </a:extLst>
          </p:cNvPr>
          <p:cNvSpPr>
            <a:spLocks noGrp="1"/>
          </p:cNvSpPr>
          <p:nvPr>
            <p:ph idx="1"/>
          </p:nvPr>
        </p:nvSpPr>
        <p:spPr>
          <a:xfrm>
            <a:off x="838200" y="1510758"/>
            <a:ext cx="10515600" cy="564622"/>
          </a:xfrm>
        </p:spPr>
        <p:txBody>
          <a:bodyPr>
            <a:noAutofit/>
          </a:bodyPr>
          <a:lstStyle/>
          <a:p>
            <a:pPr marL="0" indent="0" algn="just">
              <a:buNone/>
            </a:pPr>
            <a:r>
              <a:rPr lang="zh-CN" altLang="en-US" b="1" dirty="0">
                <a:solidFill>
                  <a:srgbClr val="5B307E"/>
                </a:solidFill>
              </a:rPr>
              <a:t>光线在光纤中的折射</a:t>
            </a:r>
            <a:endParaRPr lang="en-US" altLang="zh-CN" b="1" dirty="0">
              <a:solidFill>
                <a:srgbClr val="5B307E"/>
              </a:solidFill>
            </a:endParaRPr>
          </a:p>
        </p:txBody>
      </p:sp>
      <p:sp>
        <p:nvSpPr>
          <p:cNvPr id="4" name="灯片编号占位符 3">
            <a:extLst>
              <a:ext uri="{FF2B5EF4-FFF2-40B4-BE49-F238E27FC236}">
                <a16:creationId xmlns:a16="http://schemas.microsoft.com/office/drawing/2014/main" id="{D701E630-08F0-4688-8D5B-EB2407A0A1B8}"/>
              </a:ext>
            </a:extLst>
          </p:cNvPr>
          <p:cNvSpPr>
            <a:spLocks noGrp="1"/>
          </p:cNvSpPr>
          <p:nvPr>
            <p:ph type="sldNum" sz="quarter" idx="12"/>
          </p:nvPr>
        </p:nvSpPr>
        <p:spPr/>
        <p:txBody>
          <a:bodyPr/>
          <a:lstStyle/>
          <a:p>
            <a:fld id="{8D4D1E41-7A09-AB4A-A4E1-09765ADA2698}" type="slidenum">
              <a:rPr kumimoji="1" lang="zh-CN" altLang="en-US" smtClean="0"/>
              <a:t>65</a:t>
            </a:fld>
            <a:endParaRPr kumimoji="1" lang="zh-CN" altLang="en-US" dirty="0"/>
          </a:p>
        </p:txBody>
      </p:sp>
      <p:pic>
        <p:nvPicPr>
          <p:cNvPr id="6" name="图片 5">
            <a:extLst>
              <a:ext uri="{FF2B5EF4-FFF2-40B4-BE49-F238E27FC236}">
                <a16:creationId xmlns:a16="http://schemas.microsoft.com/office/drawing/2014/main" id="{B4582963-E401-4B8F-A510-0314730F4DFC}"/>
              </a:ext>
            </a:extLst>
          </p:cNvPr>
          <p:cNvPicPr>
            <a:picLocks noChangeAspect="1"/>
          </p:cNvPicPr>
          <p:nvPr/>
        </p:nvPicPr>
        <p:blipFill>
          <a:blip r:embed="rId2"/>
          <a:stretch>
            <a:fillRect/>
          </a:stretch>
        </p:blipFill>
        <p:spPr>
          <a:xfrm>
            <a:off x="987496" y="2064015"/>
            <a:ext cx="8010525" cy="3352800"/>
          </a:xfrm>
          <a:prstGeom prst="rect">
            <a:avLst/>
          </a:prstGeom>
        </p:spPr>
      </p:pic>
      <p:sp>
        <p:nvSpPr>
          <p:cNvPr id="5" name="矩形 4"/>
          <p:cNvSpPr/>
          <p:nvPr/>
        </p:nvSpPr>
        <p:spPr>
          <a:xfrm>
            <a:off x="838200" y="5544868"/>
            <a:ext cx="11009243" cy="883703"/>
          </a:xfrm>
          <a:prstGeom prst="rect">
            <a:avLst/>
          </a:prstGeom>
        </p:spPr>
        <p:txBody>
          <a:bodyPr wrap="square">
            <a:spAutoFit/>
          </a:bodyPr>
          <a:lstStyle/>
          <a:p>
            <a:pPr marL="342900" indent="-342900" algn="just">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由于纤芯折射率大于包层的折射率，使得折射角大于入射角</a:t>
            </a:r>
            <a:endParaRPr lang="en-US" altLang="zh-CN" sz="2400" dirty="0">
              <a:latin typeface="微软雅黑" panose="020B0503020204020204" pitchFamily="34" charset="-122"/>
              <a:ea typeface="微软雅黑" panose="020B0503020204020204" pitchFamily="34" charset="-122"/>
            </a:endParaRPr>
          </a:p>
          <a:p>
            <a:pPr marL="342900" indent="-342900" algn="just">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当入射角足够大时，就会引起全反射，光线重新折回纤芯，从而不断向前传播</a:t>
            </a:r>
          </a:p>
        </p:txBody>
      </p:sp>
      <p:pic>
        <p:nvPicPr>
          <p:cNvPr id="7" name="图片 6"/>
          <p:cNvPicPr>
            <a:picLocks noChangeAspect="1"/>
          </p:cNvPicPr>
          <p:nvPr/>
        </p:nvPicPr>
        <p:blipFill>
          <a:blip r:embed="rId3"/>
          <a:stretch>
            <a:fillRect/>
          </a:stretch>
        </p:blipFill>
        <p:spPr>
          <a:xfrm>
            <a:off x="9309030" y="1264090"/>
            <a:ext cx="2538413" cy="1823846"/>
          </a:xfrm>
          <a:prstGeom prst="rect">
            <a:avLst/>
          </a:prstGeom>
        </p:spPr>
      </p:pic>
      <p:pic>
        <p:nvPicPr>
          <p:cNvPr id="2050" name="Picture 2">
            <a:extLst>
              <a:ext uri="{FF2B5EF4-FFF2-40B4-BE49-F238E27FC236}">
                <a16:creationId xmlns:a16="http://schemas.microsoft.com/office/drawing/2014/main" id="{984EA036-25FF-47AF-992A-9E8D2C92E3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807" b="23109"/>
          <a:stretch/>
        </p:blipFill>
        <p:spPr bwMode="auto">
          <a:xfrm>
            <a:off x="8937556" y="3505199"/>
            <a:ext cx="3091158" cy="1643743"/>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7FA89E86-753D-476D-AA6B-97A881FC5A95}"/>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9705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49146-0A4D-4B22-A0CE-91AB3BC223BB}"/>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E8E5A8C8-D4A6-49E1-802F-120523DBF093}"/>
              </a:ext>
            </a:extLst>
          </p:cNvPr>
          <p:cNvSpPr>
            <a:spLocks noGrp="1"/>
          </p:cNvSpPr>
          <p:nvPr>
            <p:ph idx="1"/>
          </p:nvPr>
        </p:nvSpPr>
        <p:spPr>
          <a:xfrm>
            <a:off x="838200" y="1371611"/>
            <a:ext cx="10515600" cy="4462659"/>
          </a:xfrm>
        </p:spPr>
        <p:txBody>
          <a:bodyPr>
            <a:normAutofit/>
          </a:bodyPr>
          <a:lstStyle/>
          <a:p>
            <a:pPr marL="0" indent="0" algn="just">
              <a:buNone/>
            </a:pPr>
            <a:r>
              <a:rPr lang="zh-CN" altLang="en-US" i="0" dirty="0">
                <a:solidFill>
                  <a:srgbClr val="C00000"/>
                </a:solidFill>
                <a:latin typeface="Times New Roman" panose="02020603050405020304" pitchFamily="18" charset="0"/>
              </a:rPr>
              <a:t>三种实用光纤</a:t>
            </a:r>
            <a:endParaRPr lang="en-US" altLang="zh-CN" dirty="0">
              <a:solidFill>
                <a:srgbClr val="C00000"/>
              </a:solidFill>
              <a:latin typeface="Times New Roman" panose="02020603050405020304" pitchFamily="18" charset="0"/>
            </a:endParaRPr>
          </a:p>
          <a:p>
            <a:pPr marL="360000" indent="-360000" algn="just">
              <a:lnSpc>
                <a:spcPct val="110000"/>
              </a:lnSpc>
              <a:buClr>
                <a:schemeClr val="tx1"/>
              </a:buClr>
            </a:pPr>
            <a:r>
              <a:rPr lang="zh-CN" altLang="en-US" sz="2400" i="0" dirty="0">
                <a:solidFill>
                  <a:srgbClr val="C00000"/>
                </a:solidFill>
                <a:latin typeface="Times New Roman" panose="02020603050405020304" pitchFamily="18" charset="0"/>
              </a:rPr>
              <a:t>多模突变光纤</a:t>
            </a:r>
            <a:r>
              <a:rPr lang="zh-CN" altLang="en-US" sz="2400" dirty="0">
                <a:solidFill>
                  <a:srgbClr val="C00000"/>
                </a:solidFill>
                <a:latin typeface="Times New Roman" panose="02020603050405020304" pitchFamily="18" charset="0"/>
              </a:rPr>
              <a:t>（</a:t>
            </a:r>
            <a:r>
              <a:rPr lang="zh-CN" altLang="en-US" sz="2400" i="0" dirty="0">
                <a:solidFill>
                  <a:srgbClr val="C00000"/>
                </a:solidFill>
                <a:latin typeface="Times New Roman" panose="02020603050405020304" pitchFamily="18" charset="0"/>
              </a:rPr>
              <a:t>又称阶跃光纤）：</a:t>
            </a:r>
            <a:r>
              <a:rPr lang="en-US" altLang="zh-CN" sz="2400" i="0" dirty="0">
                <a:solidFill>
                  <a:srgbClr val="C00000"/>
                </a:solidFill>
                <a:latin typeface="Times New Roman" panose="02020603050405020304" pitchFamily="18" charset="0"/>
              </a:rPr>
              <a:t> </a:t>
            </a:r>
            <a:r>
              <a:rPr lang="zh-CN" altLang="en-US" sz="2400" i="0" dirty="0">
                <a:latin typeface="Times New Roman" panose="02020603050405020304" pitchFamily="18" charset="0"/>
              </a:rPr>
              <a:t>指光纤的纤芯和包层的折射率沿光纤的径向分布是均匀的，而在两者的交界面上发生</a:t>
            </a:r>
            <a:r>
              <a:rPr lang="zh-CN" altLang="en-US" sz="2400" dirty="0">
                <a:latin typeface="Times New Roman" panose="02020603050405020304" pitchFamily="18" charset="0"/>
              </a:rPr>
              <a:t>突变</a:t>
            </a:r>
            <a:endParaRPr lang="en-US" altLang="zh-CN" sz="2400" dirty="0">
              <a:latin typeface="Times New Roman" panose="02020603050405020304" pitchFamily="18" charset="0"/>
            </a:endParaRPr>
          </a:p>
          <a:p>
            <a:pPr marL="817200" lvl="1" indent="-360000" algn="just">
              <a:lnSpc>
                <a:spcPct val="110000"/>
              </a:lnSpc>
              <a:buClr>
                <a:schemeClr val="tx1"/>
              </a:buClr>
            </a:pPr>
            <a:r>
              <a:rPr lang="zh-CN" altLang="en-US" sz="2000" i="0" dirty="0">
                <a:latin typeface="Times New Roman" panose="02020603050405020304" pitchFamily="18" charset="0"/>
              </a:rPr>
              <a:t>多模突变光纤的带宽较窄，适用于小容量短距离通信</a:t>
            </a:r>
            <a:endParaRPr lang="zh-CN" altLang="en-US" sz="2000" dirty="0">
              <a:latin typeface="Times New Roman" panose="02020603050405020304" pitchFamily="18" charset="0"/>
            </a:endParaRPr>
          </a:p>
          <a:p>
            <a:pPr marL="360000" indent="-360000" algn="just">
              <a:lnSpc>
                <a:spcPct val="110000"/>
              </a:lnSpc>
              <a:buClr>
                <a:schemeClr val="tx1"/>
              </a:buClr>
            </a:pPr>
            <a:r>
              <a:rPr lang="zh-CN" altLang="en-US" sz="2400" i="0" dirty="0">
                <a:solidFill>
                  <a:srgbClr val="C00000"/>
                </a:solidFill>
                <a:latin typeface="Times New Roman" panose="02020603050405020304" pitchFamily="18" charset="0"/>
              </a:rPr>
              <a:t>多模渐变光纤：</a:t>
            </a:r>
            <a:r>
              <a:rPr lang="zh-CN" altLang="en-US" sz="2400" i="0" dirty="0">
                <a:latin typeface="Times New Roman" panose="02020603050405020304" pitchFamily="18" charset="0"/>
              </a:rPr>
              <a:t>指纤芯的折射率是半径 </a:t>
            </a:r>
            <a:r>
              <a:rPr lang="en-US" altLang="zh-CN" sz="2400" i="0" dirty="0">
                <a:latin typeface="Times New Roman" panose="02020603050405020304" pitchFamily="18" charset="0"/>
              </a:rPr>
              <a:t>r </a:t>
            </a:r>
            <a:r>
              <a:rPr lang="zh-CN" altLang="en-US" sz="2400" i="0" dirty="0">
                <a:latin typeface="Times New Roman" panose="02020603050405020304" pitchFamily="18" charset="0"/>
              </a:rPr>
              <a:t>的函数</a:t>
            </a:r>
            <a:r>
              <a:rPr lang="en-US" altLang="zh-CN" sz="2400" i="0" dirty="0">
                <a:latin typeface="Times New Roman" panose="02020603050405020304" pitchFamily="18" charset="0"/>
              </a:rPr>
              <a:t>n(r)</a:t>
            </a:r>
            <a:r>
              <a:rPr lang="zh-CN" altLang="en-US" sz="2400" i="0" dirty="0">
                <a:latin typeface="Times New Roman" panose="02020603050405020304" pitchFamily="18" charset="0"/>
              </a:rPr>
              <a:t>，沿着径向随 </a:t>
            </a:r>
            <a:r>
              <a:rPr lang="en-US" altLang="zh-CN" sz="2400" i="0" dirty="0">
                <a:latin typeface="Times New Roman" panose="02020603050405020304" pitchFamily="18" charset="0"/>
              </a:rPr>
              <a:t>r </a:t>
            </a:r>
            <a:r>
              <a:rPr lang="zh-CN" altLang="en-US" sz="2400" i="0" dirty="0">
                <a:latin typeface="Times New Roman" panose="02020603050405020304" pitchFamily="18" charset="0"/>
              </a:rPr>
              <a:t>的增加逐渐减小，直到达到包层的折射率值为止，而包层内的折射率又是均匀的</a:t>
            </a:r>
            <a:endParaRPr lang="en-US" altLang="zh-CN" sz="2400" i="0" dirty="0">
              <a:latin typeface="Times New Roman" panose="02020603050405020304" pitchFamily="18" charset="0"/>
            </a:endParaRPr>
          </a:p>
          <a:p>
            <a:pPr marL="817200" lvl="1" indent="-360000" algn="just">
              <a:lnSpc>
                <a:spcPct val="110000"/>
              </a:lnSpc>
              <a:buClr>
                <a:schemeClr val="tx1"/>
              </a:buClr>
            </a:pPr>
            <a:r>
              <a:rPr lang="zh-CN" altLang="en-US" sz="2000" dirty="0">
                <a:latin typeface="Times New Roman" panose="02020603050405020304" pitchFamily="18" charset="0"/>
              </a:rPr>
              <a:t>多模渐变</a:t>
            </a:r>
            <a:r>
              <a:rPr lang="zh-CN" altLang="en-US" sz="2000" i="0" dirty="0">
                <a:latin typeface="Times New Roman" panose="02020603050405020304" pitchFamily="18" charset="0"/>
              </a:rPr>
              <a:t>光纤带宽较宽，适用于中容量中距离通信</a:t>
            </a:r>
            <a:endParaRPr lang="zh-CN" altLang="en-US" sz="2000" dirty="0">
              <a:latin typeface="Times New Roman" panose="02020603050405020304" pitchFamily="18" charset="0"/>
            </a:endParaRPr>
          </a:p>
          <a:p>
            <a:pPr marL="360000" indent="-360000" algn="just">
              <a:lnSpc>
                <a:spcPct val="110000"/>
              </a:lnSpc>
              <a:buClr>
                <a:schemeClr val="tx1"/>
              </a:buClr>
            </a:pPr>
            <a:r>
              <a:rPr lang="zh-CN" altLang="en-US" sz="2400" i="0" dirty="0">
                <a:solidFill>
                  <a:srgbClr val="C00000"/>
                </a:solidFill>
                <a:latin typeface="Times New Roman" panose="02020603050405020304" pitchFamily="18" charset="0"/>
              </a:rPr>
              <a:t>单模光纤</a:t>
            </a:r>
            <a:r>
              <a:rPr lang="zh-CN" altLang="en-US" sz="2400" i="0" dirty="0">
                <a:latin typeface="Times New Roman" panose="02020603050405020304" pitchFamily="18" charset="0"/>
              </a:rPr>
              <a:t>：指纤芯中仅传输一种最低模式的光波，由于纤芯直径很小（通常为</a:t>
            </a:r>
            <a:r>
              <a:rPr lang="en-US" altLang="zh-CN" sz="2400" i="0" dirty="0">
                <a:latin typeface="Times New Roman" panose="02020603050405020304" pitchFamily="18" charset="0"/>
              </a:rPr>
              <a:t>8</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12μm</a:t>
            </a:r>
            <a:r>
              <a:rPr lang="zh-CN" altLang="en-US" sz="2400" i="0" dirty="0">
                <a:latin typeface="Times New Roman" panose="02020603050405020304" pitchFamily="18" charset="0"/>
              </a:rPr>
              <a:t>），制作工艺难度大，其折射率分布属于突变型</a:t>
            </a:r>
            <a:endParaRPr lang="en-US" altLang="zh-CN" sz="2400" i="0" dirty="0">
              <a:latin typeface="Times New Roman" panose="02020603050405020304" pitchFamily="18" charset="0"/>
            </a:endParaRPr>
          </a:p>
          <a:p>
            <a:pPr marL="817200" lvl="1" indent="-360000" algn="just">
              <a:lnSpc>
                <a:spcPct val="110000"/>
              </a:lnSpc>
              <a:buClr>
                <a:schemeClr val="tx1"/>
              </a:buClr>
            </a:pPr>
            <a:r>
              <a:rPr lang="zh-CN" altLang="en-US" sz="2000" i="0" dirty="0">
                <a:solidFill>
                  <a:srgbClr val="C00000"/>
                </a:solidFill>
                <a:latin typeface="Times New Roman" panose="02020603050405020304" pitchFamily="18" charset="0"/>
              </a:rPr>
              <a:t>单模光纤的带宽极宽，适用于大容量远距离通信</a:t>
            </a:r>
            <a:r>
              <a:rPr lang="zh-CN" altLang="en-US" sz="2000" i="0" dirty="0">
                <a:latin typeface="Times New Roman" panose="02020603050405020304" pitchFamily="18" charset="0"/>
              </a:rPr>
              <a:t> </a:t>
            </a:r>
            <a:endParaRPr lang="zh-CN" altLang="en-US" sz="2000" dirty="0">
              <a:latin typeface="Times New Roman" panose="02020603050405020304" pitchFamily="18" charset="0"/>
            </a:endParaRPr>
          </a:p>
          <a:p>
            <a:pPr algn="just"/>
            <a:endParaRPr lang="zh-CN" altLang="en-US" dirty="0"/>
          </a:p>
        </p:txBody>
      </p:sp>
      <p:sp>
        <p:nvSpPr>
          <p:cNvPr id="4" name="灯片编号占位符 3">
            <a:extLst>
              <a:ext uri="{FF2B5EF4-FFF2-40B4-BE49-F238E27FC236}">
                <a16:creationId xmlns:a16="http://schemas.microsoft.com/office/drawing/2014/main" id="{AFC038CC-473E-4C00-A6F0-46BC11006206}"/>
              </a:ext>
            </a:extLst>
          </p:cNvPr>
          <p:cNvSpPr>
            <a:spLocks noGrp="1"/>
          </p:cNvSpPr>
          <p:nvPr>
            <p:ph type="sldNum" sz="quarter" idx="12"/>
          </p:nvPr>
        </p:nvSpPr>
        <p:spPr>
          <a:xfrm>
            <a:off x="8252796" y="6356350"/>
            <a:ext cx="2743200" cy="365125"/>
          </a:xfrm>
        </p:spPr>
        <p:txBody>
          <a:bodyPr/>
          <a:lstStyle/>
          <a:p>
            <a:fld id="{8D4D1E41-7A09-AB4A-A4E1-09765ADA2698}" type="slidenum">
              <a:rPr kumimoji="1" lang="zh-CN" altLang="en-US" smtClean="0"/>
              <a:t>66</a:t>
            </a:fld>
            <a:endParaRPr kumimoji="1" lang="zh-CN" altLang="en-US" dirty="0"/>
          </a:p>
        </p:txBody>
      </p:sp>
      <p:grpSp>
        <p:nvGrpSpPr>
          <p:cNvPr id="11" name="组合 10"/>
          <p:cNvGrpSpPr/>
          <p:nvPr/>
        </p:nvGrpSpPr>
        <p:grpSpPr>
          <a:xfrm>
            <a:off x="119688" y="5719697"/>
            <a:ext cx="6267450" cy="1001778"/>
            <a:chOff x="119688" y="5719697"/>
            <a:chExt cx="6267450" cy="1001778"/>
          </a:xfrm>
        </p:grpSpPr>
        <p:pic>
          <p:nvPicPr>
            <p:cNvPr id="7" name="图片 6"/>
            <p:cNvPicPr>
              <a:picLocks noChangeAspect="1"/>
            </p:cNvPicPr>
            <p:nvPr/>
          </p:nvPicPr>
          <p:blipFill>
            <a:blip r:embed="rId2"/>
            <a:stretch>
              <a:fillRect/>
            </a:stretch>
          </p:blipFill>
          <p:spPr>
            <a:xfrm>
              <a:off x="119688" y="5759450"/>
              <a:ext cx="6267450" cy="962025"/>
            </a:xfrm>
            <a:prstGeom prst="rect">
              <a:avLst/>
            </a:prstGeom>
          </p:spPr>
        </p:pic>
        <p:sp>
          <p:nvSpPr>
            <p:cNvPr id="9" name="矩形 8"/>
            <p:cNvSpPr/>
            <p:nvPr/>
          </p:nvSpPr>
          <p:spPr>
            <a:xfrm>
              <a:off x="119688" y="5719697"/>
              <a:ext cx="697627" cy="400110"/>
            </a:xfrm>
            <a:prstGeom prst="rect">
              <a:avLst/>
            </a:prstGeom>
          </p:spPr>
          <p:txBody>
            <a:bodyPr wrap="none">
              <a:spAutoFit/>
            </a:bodyPr>
            <a:lstStyle/>
            <a:p>
              <a:r>
                <a:rPr lang="zh-CN" altLang="en-US" sz="2000" dirty="0">
                  <a:solidFill>
                    <a:srgbClr val="C00000"/>
                  </a:solidFill>
                  <a:latin typeface="Times New Roman" panose="02020603050405020304" pitchFamily="18" charset="0"/>
                </a:rPr>
                <a:t>单模</a:t>
              </a:r>
              <a:endParaRPr lang="zh-CN" altLang="en-US" sz="2000" dirty="0"/>
            </a:p>
          </p:txBody>
        </p:sp>
      </p:grpSp>
      <p:grpSp>
        <p:nvGrpSpPr>
          <p:cNvPr id="12" name="组合 11"/>
          <p:cNvGrpSpPr/>
          <p:nvPr/>
        </p:nvGrpSpPr>
        <p:grpSpPr>
          <a:xfrm>
            <a:off x="6425876" y="5755480"/>
            <a:ext cx="5658657" cy="965995"/>
            <a:chOff x="6425876" y="5755480"/>
            <a:chExt cx="5658657" cy="965995"/>
          </a:xfrm>
        </p:grpSpPr>
        <p:pic>
          <p:nvPicPr>
            <p:cNvPr id="8" name="图片 7"/>
            <p:cNvPicPr>
              <a:picLocks noChangeAspect="1"/>
            </p:cNvPicPr>
            <p:nvPr/>
          </p:nvPicPr>
          <p:blipFill>
            <a:blip r:embed="rId3"/>
            <a:stretch>
              <a:fillRect/>
            </a:stretch>
          </p:blipFill>
          <p:spPr>
            <a:xfrm>
              <a:off x="6466994" y="5759450"/>
              <a:ext cx="5617539" cy="962025"/>
            </a:xfrm>
            <a:prstGeom prst="rect">
              <a:avLst/>
            </a:prstGeom>
          </p:spPr>
        </p:pic>
        <p:sp>
          <p:nvSpPr>
            <p:cNvPr id="10" name="矩形 9"/>
            <p:cNvSpPr/>
            <p:nvPr/>
          </p:nvSpPr>
          <p:spPr>
            <a:xfrm>
              <a:off x="6425876" y="5755480"/>
              <a:ext cx="697627" cy="400110"/>
            </a:xfrm>
            <a:prstGeom prst="rect">
              <a:avLst/>
            </a:prstGeom>
          </p:spPr>
          <p:txBody>
            <a:bodyPr wrap="none">
              <a:spAutoFit/>
            </a:bodyPr>
            <a:lstStyle/>
            <a:p>
              <a:r>
                <a:rPr lang="zh-CN" altLang="en-US" sz="2000" dirty="0">
                  <a:solidFill>
                    <a:srgbClr val="C00000"/>
                  </a:solidFill>
                  <a:latin typeface="Times New Roman" panose="02020603050405020304" pitchFamily="18" charset="0"/>
                </a:rPr>
                <a:t>多模</a:t>
              </a:r>
              <a:endParaRPr lang="zh-CN" altLang="en-US" sz="2000" dirty="0"/>
            </a:p>
          </p:txBody>
        </p:sp>
      </p:grpSp>
      <p:sp>
        <p:nvSpPr>
          <p:cNvPr id="14" name="文本框 13">
            <a:extLst>
              <a:ext uri="{FF2B5EF4-FFF2-40B4-BE49-F238E27FC236}">
                <a16:creationId xmlns:a16="http://schemas.microsoft.com/office/drawing/2014/main" id="{D4A55A84-6769-44C6-B282-A8EEC7B72A49}"/>
              </a:ext>
            </a:extLst>
          </p:cNvPr>
          <p:cNvSpPr txBox="1"/>
          <p:nvPr/>
        </p:nvSpPr>
        <p:spPr>
          <a:xfrm>
            <a:off x="2794907" y="3244334"/>
            <a:ext cx="6264728" cy="369332"/>
          </a:xfrm>
          <a:prstGeom prst="rect">
            <a:avLst/>
          </a:prstGeom>
          <a:noFill/>
        </p:spPr>
        <p:txBody>
          <a:bodyPr wrap="square">
            <a:spAutoFit/>
          </a:bodyPr>
          <a:lstStyle/>
          <a:p>
            <a:endParaRPr lang="zh-CN" altLang="en-US" dirty="0"/>
          </a:p>
        </p:txBody>
      </p:sp>
      <p:sp>
        <p:nvSpPr>
          <p:cNvPr id="15" name="文本框 14">
            <a:extLst>
              <a:ext uri="{FF2B5EF4-FFF2-40B4-BE49-F238E27FC236}">
                <a16:creationId xmlns:a16="http://schemas.microsoft.com/office/drawing/2014/main" id="{43108CFC-0C8D-448D-B1BF-425CE1871BFC}"/>
              </a:ext>
            </a:extLst>
          </p:cNvPr>
          <p:cNvSpPr txBox="1"/>
          <p:nvPr/>
        </p:nvSpPr>
        <p:spPr>
          <a:xfrm>
            <a:off x="2794907" y="3244334"/>
            <a:ext cx="6264728" cy="369332"/>
          </a:xfrm>
          <a:prstGeom prst="rect">
            <a:avLst/>
          </a:prstGeom>
          <a:noFill/>
        </p:spPr>
        <p:txBody>
          <a:bodyPr wrap="square">
            <a:spAutoFit/>
          </a:bodyPr>
          <a:lstStyle/>
          <a:p>
            <a:endParaRPr lang="zh-CN" altLang="en-US" dirty="0"/>
          </a:p>
        </p:txBody>
      </p:sp>
      <p:sp>
        <p:nvSpPr>
          <p:cNvPr id="17" name="文本框 16">
            <a:extLst>
              <a:ext uri="{FF2B5EF4-FFF2-40B4-BE49-F238E27FC236}">
                <a16:creationId xmlns:a16="http://schemas.microsoft.com/office/drawing/2014/main" id="{409CB80C-85BB-4BA9-801B-6DF0990F938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54345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9184763" y="4636775"/>
            <a:ext cx="2169037" cy="1825396"/>
          </a:xfrm>
          <a:prstGeom prst="rect">
            <a:avLst/>
          </a:prstGeom>
        </p:spPr>
      </p:pic>
      <p:sp>
        <p:nvSpPr>
          <p:cNvPr id="2" name="标题 1">
            <a:extLst>
              <a:ext uri="{FF2B5EF4-FFF2-40B4-BE49-F238E27FC236}">
                <a16:creationId xmlns:a16="http://schemas.microsoft.com/office/drawing/2014/main" id="{2C814AB7-9082-4590-B38A-E26BE91C5CB0}"/>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F9E4A187-6FA3-4C17-99C1-50C4C28C97A8}"/>
              </a:ext>
            </a:extLst>
          </p:cNvPr>
          <p:cNvSpPr>
            <a:spLocks noGrp="1"/>
          </p:cNvSpPr>
          <p:nvPr>
            <p:ph idx="1"/>
          </p:nvPr>
        </p:nvSpPr>
        <p:spPr>
          <a:xfrm>
            <a:off x="669754" y="1410174"/>
            <a:ext cx="10515600" cy="4586694"/>
          </a:xfrm>
        </p:spPr>
        <p:txBody>
          <a:bodyPr>
            <a:normAutofit/>
          </a:bodyPr>
          <a:lstStyle/>
          <a:p>
            <a:pPr marL="0" indent="0" algn="just">
              <a:buNone/>
            </a:pPr>
            <a:r>
              <a:rPr lang="zh-CN" altLang="en-US" b="1" dirty="0">
                <a:solidFill>
                  <a:srgbClr val="5B307E"/>
                </a:solidFill>
              </a:rPr>
              <a:t>光纤通信系统的收发端器件</a:t>
            </a:r>
          </a:p>
          <a:p>
            <a:pPr marL="360000" indent="-360000" algn="just"/>
            <a:r>
              <a:rPr lang="zh-CN" altLang="en-US" sz="2400" dirty="0">
                <a:solidFill>
                  <a:srgbClr val="C00000"/>
                </a:solidFill>
                <a:latin typeface="Times New Roman" panose="02020603050405020304" pitchFamily="18" charset="0"/>
                <a:ea typeface="微软雅黑" panose="020B0503020204020204" pitchFamily="34" charset="-122"/>
              </a:rPr>
              <a:t>发送端的光源</a:t>
            </a:r>
            <a:endParaRPr lang="en-US" altLang="zh-CN" sz="2400" i="0" dirty="0">
              <a:solidFill>
                <a:srgbClr val="C00000"/>
              </a:solidFill>
              <a:latin typeface="Times New Roman" panose="02020603050405020304" pitchFamily="18" charset="0"/>
              <a:ea typeface="微软雅黑" panose="020B0503020204020204" pitchFamily="34" charset="-122"/>
            </a:endParaRPr>
          </a:p>
          <a:p>
            <a:pPr marL="817200" lvl="1" indent="-360000" algn="just"/>
            <a:r>
              <a:rPr lang="zh-CN" altLang="en-US" sz="2000" i="0" dirty="0">
                <a:solidFill>
                  <a:srgbClr val="C00000"/>
                </a:solidFill>
                <a:latin typeface="Times New Roman" panose="02020603050405020304" pitchFamily="18" charset="0"/>
                <a:ea typeface="微软雅黑" panose="020B0503020204020204" pitchFamily="34" charset="-122"/>
              </a:rPr>
              <a:t>发光二极管</a:t>
            </a:r>
            <a:r>
              <a:rPr lang="zh-CN" altLang="en-US" sz="2000" i="0" dirty="0">
                <a:latin typeface="Times New Roman" panose="02020603050405020304" pitchFamily="18" charset="0"/>
                <a:ea typeface="微软雅黑" panose="020B0503020204020204" pitchFamily="34" charset="-122"/>
              </a:rPr>
              <a:t>：价格较低，工作温度也较宽，使用寿命长</a:t>
            </a:r>
            <a:endParaRPr lang="zh-CN" altLang="en-US" sz="2000" dirty="0">
              <a:latin typeface="Times New Roman" panose="02020603050405020304" pitchFamily="18" charset="0"/>
              <a:ea typeface="微软雅黑" panose="020B0503020204020204" pitchFamily="34" charset="-122"/>
            </a:endParaRPr>
          </a:p>
          <a:p>
            <a:pPr marL="817200" lvl="1" indent="-360000" algn="just"/>
            <a:r>
              <a:rPr lang="zh-CN" altLang="en-US" sz="2000" i="0" dirty="0">
                <a:solidFill>
                  <a:srgbClr val="C00000"/>
                </a:solidFill>
                <a:latin typeface="Times New Roman" panose="02020603050405020304" pitchFamily="18" charset="0"/>
                <a:ea typeface="微软雅黑" panose="020B0503020204020204" pitchFamily="34" charset="-122"/>
              </a:rPr>
              <a:t>注入激光二极管</a:t>
            </a:r>
            <a:r>
              <a:rPr lang="zh-CN" altLang="en-US" sz="2000" i="0" dirty="0">
                <a:latin typeface="Times New Roman" panose="02020603050405020304" pitchFamily="18" charset="0"/>
                <a:ea typeface="微软雅黑" panose="020B0503020204020204" pitchFamily="34" charset="-122"/>
              </a:rPr>
              <a:t>：发光效率高，可支持较高的传输速率</a:t>
            </a:r>
            <a:endParaRPr lang="zh-CN" altLang="en-US" sz="2000" dirty="0">
              <a:latin typeface="Times New Roman" panose="02020603050405020304" pitchFamily="18" charset="0"/>
              <a:ea typeface="微软雅黑" panose="020B0503020204020204" pitchFamily="34" charset="-122"/>
            </a:endParaRPr>
          </a:p>
          <a:p>
            <a:pPr marL="360000" indent="-360000" algn="just"/>
            <a:r>
              <a:rPr lang="zh-CN" altLang="en-US" sz="2400" i="0" dirty="0">
                <a:latin typeface="Times New Roman" panose="02020603050405020304" pitchFamily="18" charset="0"/>
                <a:ea typeface="微软雅黑" panose="020B0503020204020204" pitchFamily="34" charset="-122"/>
              </a:rPr>
              <a:t>接收端</a:t>
            </a:r>
            <a:endParaRPr lang="en-US" altLang="zh-CN" sz="2400" i="0" dirty="0">
              <a:latin typeface="Times New Roman" panose="02020603050405020304" pitchFamily="18" charset="0"/>
              <a:ea typeface="微软雅黑" panose="020B0503020204020204" pitchFamily="34" charset="-122"/>
            </a:endParaRPr>
          </a:p>
          <a:p>
            <a:pPr marL="817200" lvl="1" indent="-360000" algn="just"/>
            <a:r>
              <a:rPr lang="zh-CN" altLang="en-US" sz="2000" i="0" dirty="0">
                <a:solidFill>
                  <a:srgbClr val="C00000"/>
                </a:solidFill>
                <a:latin typeface="Times New Roman" panose="02020603050405020304" pitchFamily="18" charset="0"/>
                <a:ea typeface="微软雅黑" panose="020B0503020204020204" pitchFamily="34" charset="-122"/>
              </a:rPr>
              <a:t>光敏二极管</a:t>
            </a:r>
            <a:r>
              <a:rPr lang="zh-CN" altLang="en-US" sz="2000" i="0" dirty="0">
                <a:latin typeface="Times New Roman" panose="02020603050405020304" pitchFamily="18" charset="0"/>
                <a:ea typeface="微软雅黑" panose="020B0503020204020204" pitchFamily="34" charset="-122"/>
              </a:rPr>
              <a:t>：遇到光照射时，光敏二极管会产生一个电脉冲</a:t>
            </a:r>
            <a:endParaRPr lang="en-US" altLang="zh-CN" sz="2000" i="0" dirty="0">
              <a:latin typeface="Times New Roman" panose="02020603050405020304" pitchFamily="18" charset="0"/>
              <a:ea typeface="微软雅黑" panose="020B0503020204020204" pitchFamily="34" charset="-122"/>
            </a:endParaRPr>
          </a:p>
          <a:p>
            <a:pPr marL="817200" lvl="1" indent="-360000" algn="just"/>
            <a:r>
              <a:rPr lang="zh-CN" altLang="en-US" sz="2000" i="0" dirty="0">
                <a:latin typeface="Times New Roman" panose="02020603050405020304" pitchFamily="18" charset="0"/>
                <a:ea typeface="微软雅黑" panose="020B0503020204020204" pitchFamily="34" charset="-122"/>
              </a:rPr>
              <a:t>光敏二极管的典型响应时间为</a:t>
            </a:r>
            <a:r>
              <a:rPr lang="en-US" altLang="zh-CN" sz="2000" i="0" dirty="0">
                <a:latin typeface="Times New Roman" panose="02020603050405020304" pitchFamily="18" charset="0"/>
                <a:ea typeface="微软雅黑" panose="020B0503020204020204" pitchFamily="34" charset="-122"/>
              </a:rPr>
              <a:t>1ns</a:t>
            </a:r>
            <a:r>
              <a:rPr lang="zh-CN" altLang="en-US" sz="2000" i="0" dirty="0">
                <a:latin typeface="Times New Roman" panose="02020603050405020304" pitchFamily="18" charset="0"/>
                <a:ea typeface="微软雅黑" panose="020B0503020204020204" pitchFamily="34" charset="-122"/>
              </a:rPr>
              <a:t>，因而限制传输速率在</a:t>
            </a:r>
            <a:r>
              <a:rPr lang="en-US" altLang="zh-CN" sz="2000" i="0" dirty="0">
                <a:latin typeface="Times New Roman" panose="02020603050405020304" pitchFamily="18" charset="0"/>
                <a:ea typeface="微软雅黑" panose="020B0503020204020204" pitchFamily="34" charset="-122"/>
              </a:rPr>
              <a:t>1Gb/s</a:t>
            </a:r>
            <a:r>
              <a:rPr lang="zh-CN" altLang="en-US" sz="2000" i="0" dirty="0">
                <a:latin typeface="Times New Roman" panose="02020603050405020304" pitchFamily="18" charset="0"/>
                <a:ea typeface="微软雅黑" panose="020B0503020204020204" pitchFamily="34" charset="-122"/>
              </a:rPr>
              <a:t>左右</a:t>
            </a:r>
            <a:endParaRPr lang="zh-CN" altLang="en-US" sz="2000" dirty="0">
              <a:latin typeface="Times New Roman" panose="02020603050405020304" pitchFamily="18" charset="0"/>
              <a:ea typeface="微软雅黑" panose="020B0503020204020204" pitchFamily="34" charset="-122"/>
            </a:endParaRPr>
          </a:p>
        </p:txBody>
      </p:sp>
      <p:sp>
        <p:nvSpPr>
          <p:cNvPr id="4" name="灯片编号占位符 3">
            <a:extLst>
              <a:ext uri="{FF2B5EF4-FFF2-40B4-BE49-F238E27FC236}">
                <a16:creationId xmlns:a16="http://schemas.microsoft.com/office/drawing/2014/main" id="{7F986FB0-B5BB-4617-9F91-B8E44389BD22}"/>
              </a:ext>
            </a:extLst>
          </p:cNvPr>
          <p:cNvSpPr>
            <a:spLocks noGrp="1"/>
          </p:cNvSpPr>
          <p:nvPr>
            <p:ph type="sldNum" sz="quarter" idx="12"/>
          </p:nvPr>
        </p:nvSpPr>
        <p:spPr/>
        <p:txBody>
          <a:bodyPr/>
          <a:lstStyle/>
          <a:p>
            <a:fld id="{8D4D1E41-7A09-AB4A-A4E1-09765ADA2698}" type="slidenum">
              <a:rPr kumimoji="1" lang="zh-CN" altLang="en-US" smtClean="0"/>
              <a:t>67</a:t>
            </a:fld>
            <a:endParaRPr kumimoji="1" lang="zh-CN" altLang="en-US" dirty="0"/>
          </a:p>
        </p:txBody>
      </p:sp>
      <p:pic>
        <p:nvPicPr>
          <p:cNvPr id="1026" name="Picture 2" descr="https://cshihong.github.io/2020/08/16/%E5%85%89%E6%A8%A1%E5%9D%97%E5%AD%A6%E4%B9%A0%E6%80%BB%E7%BB%93/%E5%85%89%E6%A8%A1%E5%9D%97%E5%8E%9F%E7%90%8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2936" y="4500225"/>
            <a:ext cx="6109236" cy="2262277"/>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636312" y="4592536"/>
            <a:ext cx="1749080" cy="1866863"/>
          </a:xfrm>
          <a:prstGeom prst="rect">
            <a:avLst/>
          </a:prstGeom>
        </p:spPr>
      </p:pic>
      <p:pic>
        <p:nvPicPr>
          <p:cNvPr id="8" name="图片 7"/>
          <p:cNvPicPr>
            <a:picLocks noChangeAspect="1"/>
          </p:cNvPicPr>
          <p:nvPr/>
        </p:nvPicPr>
        <p:blipFill>
          <a:blip r:embed="rId5"/>
          <a:stretch>
            <a:fillRect/>
          </a:stretch>
        </p:blipFill>
        <p:spPr>
          <a:xfrm>
            <a:off x="8367581" y="1410174"/>
            <a:ext cx="3615299" cy="2084939"/>
          </a:xfrm>
          <a:prstGeom prst="rect">
            <a:avLst/>
          </a:prstGeom>
        </p:spPr>
      </p:pic>
      <p:sp>
        <p:nvSpPr>
          <p:cNvPr id="11" name="文本框 10">
            <a:extLst>
              <a:ext uri="{FF2B5EF4-FFF2-40B4-BE49-F238E27FC236}">
                <a16:creationId xmlns:a16="http://schemas.microsoft.com/office/drawing/2014/main" id="{5CB09D60-88CA-44D0-BF1F-273F17DC807D}"/>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7659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FC8B62-E1B2-4879-B3A5-4A95FC46C283}"/>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5ADD2A54-EA33-4A24-877F-566FD3DFC96B}"/>
              </a:ext>
            </a:extLst>
          </p:cNvPr>
          <p:cNvSpPr>
            <a:spLocks noGrp="1"/>
          </p:cNvSpPr>
          <p:nvPr>
            <p:ph idx="1"/>
          </p:nvPr>
        </p:nvSpPr>
        <p:spPr>
          <a:xfrm>
            <a:off x="838200" y="1510758"/>
            <a:ext cx="4616431" cy="4939562"/>
          </a:xfrm>
        </p:spPr>
        <p:txBody>
          <a:bodyPr>
            <a:normAutofit/>
          </a:bodyPr>
          <a:lstStyle/>
          <a:p>
            <a:pPr marL="360000" indent="-360000" algn="just">
              <a:lnSpc>
                <a:spcPct val="110000"/>
              </a:lnSpc>
              <a:buNone/>
            </a:pPr>
            <a:r>
              <a:rPr lang="zh-CN" altLang="en-US" sz="3000" dirty="0"/>
              <a:t>影响光纤传输质量的因素</a:t>
            </a:r>
          </a:p>
          <a:p>
            <a:pPr marL="360000" indent="-360000" algn="just">
              <a:lnSpc>
                <a:spcPct val="110000"/>
              </a:lnSpc>
              <a:buClr>
                <a:schemeClr val="tx1"/>
              </a:buClr>
            </a:pPr>
            <a:r>
              <a:rPr lang="zh-CN" altLang="en-US" sz="2600" dirty="0">
                <a:solidFill>
                  <a:srgbClr val="C00000"/>
                </a:solidFill>
              </a:rPr>
              <a:t>损耗特性</a:t>
            </a:r>
            <a:r>
              <a:rPr lang="zh-CN" altLang="en-US" sz="2600" dirty="0"/>
              <a:t>表示光能在光纤中传输所受到衰减程度</a:t>
            </a:r>
            <a:endParaRPr lang="en-US" altLang="zh-CN" sz="2600" dirty="0"/>
          </a:p>
          <a:p>
            <a:pPr marL="360000" indent="-360000" algn="just">
              <a:lnSpc>
                <a:spcPct val="110000"/>
              </a:lnSpc>
            </a:pPr>
            <a:r>
              <a:rPr lang="zh-CN" altLang="en-US" sz="2600" dirty="0"/>
              <a:t>光纤损耗分为</a:t>
            </a:r>
            <a:endParaRPr lang="en-US" altLang="zh-CN" sz="2600" dirty="0"/>
          </a:p>
          <a:p>
            <a:pPr marL="817200" lvl="2" indent="-360000" algn="just">
              <a:lnSpc>
                <a:spcPct val="110000"/>
              </a:lnSpc>
              <a:buClr>
                <a:schemeClr val="tx1"/>
              </a:buClr>
            </a:pPr>
            <a:r>
              <a:rPr lang="zh-CN" altLang="en-US" sz="2200" dirty="0">
                <a:solidFill>
                  <a:srgbClr val="C00000"/>
                </a:solidFill>
              </a:rPr>
              <a:t>固有损耗</a:t>
            </a:r>
            <a:r>
              <a:rPr lang="zh-CN" altLang="en-US" sz="2200" dirty="0"/>
              <a:t>指光纤材料的性质和微观结构引起的吸收损耗和瑞利散射损耗</a:t>
            </a:r>
          </a:p>
          <a:p>
            <a:pPr marL="817200" lvl="2" indent="-360000" algn="just">
              <a:lnSpc>
                <a:spcPct val="110000"/>
              </a:lnSpc>
              <a:buClr>
                <a:schemeClr val="tx1"/>
              </a:buClr>
            </a:pPr>
            <a:r>
              <a:rPr lang="zh-CN" altLang="en-US" sz="2200" dirty="0">
                <a:solidFill>
                  <a:srgbClr val="C00000"/>
                </a:solidFill>
              </a:rPr>
              <a:t>非固有损耗</a:t>
            </a:r>
            <a:r>
              <a:rPr lang="zh-CN" altLang="en-US" sz="2200" dirty="0"/>
              <a:t>指杂质吸收、结构不规则引起的散射和弯曲幅射损耗等</a:t>
            </a:r>
          </a:p>
          <a:p>
            <a:pPr marL="0" indent="0" algn="just">
              <a:lnSpc>
                <a:spcPct val="110000"/>
              </a:lnSpc>
              <a:buNone/>
            </a:pPr>
            <a:endParaRPr lang="zh-CN" altLang="en-US" sz="2400" dirty="0"/>
          </a:p>
        </p:txBody>
      </p:sp>
      <p:sp>
        <p:nvSpPr>
          <p:cNvPr id="4" name="灯片编号占位符 3">
            <a:extLst>
              <a:ext uri="{FF2B5EF4-FFF2-40B4-BE49-F238E27FC236}">
                <a16:creationId xmlns:a16="http://schemas.microsoft.com/office/drawing/2014/main" id="{5C5471DA-E4CA-4A8A-B42E-1DCA609BC162}"/>
              </a:ext>
            </a:extLst>
          </p:cNvPr>
          <p:cNvSpPr>
            <a:spLocks noGrp="1"/>
          </p:cNvSpPr>
          <p:nvPr>
            <p:ph type="sldNum" sz="quarter" idx="12"/>
          </p:nvPr>
        </p:nvSpPr>
        <p:spPr/>
        <p:txBody>
          <a:bodyPr/>
          <a:lstStyle/>
          <a:p>
            <a:fld id="{8D4D1E41-7A09-AB4A-A4E1-09765ADA2698}" type="slidenum">
              <a:rPr kumimoji="1" lang="zh-CN" altLang="en-US" smtClean="0"/>
              <a:t>68</a:t>
            </a:fld>
            <a:endParaRPr kumimoji="1" lang="zh-CN" altLang="en-US" dirty="0"/>
          </a:p>
        </p:txBody>
      </p:sp>
      <p:pic>
        <p:nvPicPr>
          <p:cNvPr id="5" name="图片 4">
            <a:extLst>
              <a:ext uri="{FF2B5EF4-FFF2-40B4-BE49-F238E27FC236}">
                <a16:creationId xmlns:a16="http://schemas.microsoft.com/office/drawing/2014/main" id="{96A3C29E-EB77-49C0-ABB4-AB6D2762CCF1}"/>
              </a:ext>
            </a:extLst>
          </p:cNvPr>
          <p:cNvPicPr>
            <a:picLocks noChangeAspect="1"/>
          </p:cNvPicPr>
          <p:nvPr/>
        </p:nvPicPr>
        <p:blipFill>
          <a:blip r:embed="rId2"/>
          <a:stretch>
            <a:fillRect/>
          </a:stretch>
        </p:blipFill>
        <p:spPr>
          <a:xfrm>
            <a:off x="6062870" y="2063894"/>
            <a:ext cx="5793508" cy="3454417"/>
          </a:xfrm>
          <a:prstGeom prst="rect">
            <a:avLst/>
          </a:prstGeom>
        </p:spPr>
      </p:pic>
      <p:sp>
        <p:nvSpPr>
          <p:cNvPr id="6" name="内容占位符 2">
            <a:extLst>
              <a:ext uri="{FF2B5EF4-FFF2-40B4-BE49-F238E27FC236}">
                <a16:creationId xmlns:a16="http://schemas.microsoft.com/office/drawing/2014/main" id="{18E0BD8E-5364-49B7-9E3D-B166D933F8B1}"/>
              </a:ext>
            </a:extLst>
          </p:cNvPr>
          <p:cNvSpPr txBox="1">
            <a:spLocks/>
          </p:cNvSpPr>
          <p:nvPr/>
        </p:nvSpPr>
        <p:spPr>
          <a:xfrm>
            <a:off x="6062870" y="1510758"/>
            <a:ext cx="4042025" cy="52352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zh-CN" altLang="en-US" dirty="0"/>
              <a:t>光纤损耗与波长的关系                             </a:t>
            </a:r>
          </a:p>
          <a:p>
            <a:pPr marL="0" indent="0">
              <a:buFont typeface="Wingdings" pitchFamily="2" charset="2"/>
              <a:buNone/>
            </a:pPr>
            <a:endParaRPr lang="zh-CN" altLang="en-US" dirty="0"/>
          </a:p>
        </p:txBody>
      </p:sp>
      <p:sp>
        <p:nvSpPr>
          <p:cNvPr id="7" name="文本框 6">
            <a:extLst>
              <a:ext uri="{FF2B5EF4-FFF2-40B4-BE49-F238E27FC236}">
                <a16:creationId xmlns:a16="http://schemas.microsoft.com/office/drawing/2014/main" id="{81233F62-37A0-47CC-95F9-CD142293F230}"/>
              </a:ext>
            </a:extLst>
          </p:cNvPr>
          <p:cNvSpPr txBox="1"/>
          <p:nvPr/>
        </p:nvSpPr>
        <p:spPr>
          <a:xfrm>
            <a:off x="5685182" y="5628868"/>
            <a:ext cx="6291469" cy="1092607"/>
          </a:xfrm>
          <a:prstGeom prst="rect">
            <a:avLst/>
          </a:prstGeom>
          <a:noFill/>
          <a:ln w="28575">
            <a:solidFill>
              <a:srgbClr val="B348FF"/>
            </a:solidFill>
          </a:ln>
        </p:spPr>
        <p:txBody>
          <a:bodyPr wrap="square" rtlCol="0">
            <a:spAutoFit/>
          </a:bodyPr>
          <a:lstStyle/>
          <a:p>
            <a:pPr indent="-360000">
              <a:spcBef>
                <a:spcPts val="600"/>
              </a:spcBef>
            </a:pP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在光纤通信中常用的三个波段的中心分别位于</a:t>
            </a:r>
            <a:r>
              <a:rPr kumimoji="1" lang="zh-CN" altLang="zh-CN" sz="2000" i="0" kern="1200" dirty="0">
                <a:solidFill>
                  <a:srgbClr val="C00000"/>
                </a:solidFill>
                <a:effectLst/>
                <a:latin typeface="Times New Roman" panose="02020603050405020304" pitchFamily="18" charset="0"/>
                <a:ea typeface="微软雅黑" panose="020B0503020204020204" pitchFamily="34" charset="-122"/>
              </a:rPr>
              <a:t>0.85</a:t>
            </a:r>
            <a:r>
              <a:rPr kumimoji="1" lang="en-US" altLang="zh-CN" sz="2000" dirty="0">
                <a:solidFill>
                  <a:srgbClr val="C00000"/>
                </a:solidFill>
                <a:latin typeface="Times New Roman" panose="02020603050405020304" pitchFamily="18" charset="0"/>
                <a:ea typeface="微软雅黑" panose="020B0503020204020204" pitchFamily="34" charset="-122"/>
                <a:sym typeface="Symbol" panose="05050102010706020507" pitchFamily="18" charset="2"/>
              </a:rPr>
              <a:t> </a:t>
            </a:r>
            <a:r>
              <a:rPr kumimoji="1" lang="en-US" altLang="zh-CN" sz="2000" dirty="0">
                <a:solidFill>
                  <a:srgbClr val="C00000"/>
                </a:solidFill>
                <a:latin typeface="Times New Roman" panose="02020603050405020304" pitchFamily="18" charset="0"/>
                <a:ea typeface="微软雅黑" panose="020B0503020204020204" pitchFamily="34" charset="-122"/>
              </a:rPr>
              <a:t>m </a:t>
            </a:r>
            <a:r>
              <a:rPr kumimoji="1" lang="zh-CN" altLang="en-US" sz="2000" i="0" kern="1200" dirty="0">
                <a:solidFill>
                  <a:srgbClr val="000000"/>
                </a:solidFill>
                <a:effectLst/>
                <a:latin typeface="Times New Roman" panose="02020603050405020304" pitchFamily="18" charset="0"/>
                <a:ea typeface="微软雅黑" panose="020B0503020204020204" pitchFamily="34" charset="-122"/>
              </a:rPr>
              <a:t>、</a:t>
            </a:r>
            <a:r>
              <a:rPr kumimoji="1" lang="zh-CN" altLang="zh-CN" sz="2000" i="0" kern="1200" dirty="0">
                <a:solidFill>
                  <a:srgbClr val="C00000"/>
                </a:solidFill>
                <a:effectLst/>
                <a:latin typeface="Times New Roman" panose="02020603050405020304" pitchFamily="18" charset="0"/>
                <a:ea typeface="微软雅黑" panose="020B0503020204020204" pitchFamily="34" charset="-122"/>
              </a:rPr>
              <a:t>1.30</a:t>
            </a:r>
            <a:r>
              <a:rPr kumimoji="1" lang="en-US" altLang="zh-CN" sz="2000" dirty="0">
                <a:solidFill>
                  <a:srgbClr val="C00000"/>
                </a:solidFill>
                <a:latin typeface="Times New Roman" panose="02020603050405020304" pitchFamily="18" charset="0"/>
                <a:ea typeface="微软雅黑" panose="020B0503020204020204" pitchFamily="34" charset="-122"/>
                <a:sym typeface="Symbol" panose="05050102010706020507" pitchFamily="18" charset="2"/>
              </a:rPr>
              <a:t> </a:t>
            </a:r>
            <a:r>
              <a:rPr kumimoji="1" lang="en-US" altLang="zh-CN" sz="2000" dirty="0">
                <a:solidFill>
                  <a:srgbClr val="C00000"/>
                </a:solidFill>
                <a:latin typeface="Times New Roman" panose="02020603050405020304" pitchFamily="18" charset="0"/>
                <a:ea typeface="微软雅黑" panose="020B0503020204020204" pitchFamily="34" charset="-122"/>
              </a:rPr>
              <a:t>m</a:t>
            </a: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和</a:t>
            </a:r>
            <a:r>
              <a:rPr kumimoji="1" lang="zh-CN" altLang="zh-CN" sz="2000" i="0" kern="1200" dirty="0">
                <a:solidFill>
                  <a:srgbClr val="C00000"/>
                </a:solidFill>
                <a:effectLst/>
                <a:latin typeface="Times New Roman" panose="02020603050405020304" pitchFamily="18" charset="0"/>
                <a:ea typeface="微软雅黑" panose="020B0503020204020204" pitchFamily="34" charset="-122"/>
              </a:rPr>
              <a:t>1.55 </a:t>
            </a:r>
            <a:r>
              <a:rPr kumimoji="1" lang="en-US" altLang="zh-CN" sz="2000" i="0" kern="1200" dirty="0">
                <a:solidFill>
                  <a:srgbClr val="C00000"/>
                </a:solidFill>
                <a:effectLst/>
                <a:latin typeface="Times New Roman" panose="02020603050405020304" pitchFamily="18" charset="0"/>
                <a:ea typeface="微软雅黑" panose="020B0503020204020204" pitchFamily="34" charset="-122"/>
                <a:sym typeface="Symbol" panose="05050102010706020507" pitchFamily="18" charset="2"/>
              </a:rPr>
              <a:t></a:t>
            </a:r>
            <a:r>
              <a:rPr kumimoji="1" lang="en-US" altLang="zh-CN" sz="2000" i="0" kern="1200" dirty="0">
                <a:solidFill>
                  <a:srgbClr val="C00000"/>
                </a:solidFill>
                <a:effectLst/>
                <a:latin typeface="Times New Roman" panose="02020603050405020304" pitchFamily="18" charset="0"/>
                <a:ea typeface="微软雅黑" panose="020B0503020204020204" pitchFamily="34" charset="-122"/>
              </a:rPr>
              <a:t>m</a:t>
            </a:r>
          </a:p>
          <a:p>
            <a:pPr indent="-360000">
              <a:spcBef>
                <a:spcPts val="600"/>
              </a:spcBef>
            </a:pP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这三个波段具有25000</a:t>
            </a:r>
            <a:r>
              <a:rPr kumimoji="1" lang="en-US" altLang="zh-CN" sz="2000" i="0" kern="1200" dirty="0">
                <a:solidFill>
                  <a:srgbClr val="000000"/>
                </a:solidFill>
                <a:effectLst/>
                <a:latin typeface="Times New Roman" panose="02020603050405020304" pitchFamily="18" charset="0"/>
                <a:ea typeface="微软雅黑" panose="020B0503020204020204" pitchFamily="34" charset="-122"/>
              </a:rPr>
              <a:t>-</a:t>
            </a: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30000</a:t>
            </a:r>
            <a:r>
              <a:rPr kumimoji="1" lang="en-US" altLang="zh-CN" sz="2000" i="0" kern="1200" dirty="0">
                <a:solidFill>
                  <a:srgbClr val="000000"/>
                </a:solidFill>
                <a:effectLst/>
                <a:latin typeface="Times New Roman" panose="02020603050405020304" pitchFamily="18" charset="0"/>
                <a:ea typeface="微软雅黑" panose="020B0503020204020204" pitchFamily="34" charset="-122"/>
              </a:rPr>
              <a:t>GHz</a:t>
            </a: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的带宽</a:t>
            </a:r>
            <a:endParaRPr lang="zh-CN" altLang="en-US" sz="2000" dirty="0">
              <a:latin typeface="Times New Roman" panose="02020603050405020304" pitchFamily="18" charset="0"/>
              <a:ea typeface="微软雅黑" panose="020B0503020204020204" pitchFamily="34" charset="-122"/>
            </a:endParaRPr>
          </a:p>
        </p:txBody>
      </p:sp>
      <p:sp>
        <p:nvSpPr>
          <p:cNvPr id="8" name="矩形 7"/>
          <p:cNvSpPr/>
          <p:nvPr/>
        </p:nvSpPr>
        <p:spPr>
          <a:xfrm>
            <a:off x="7290743" y="2587747"/>
            <a:ext cx="996593" cy="328773"/>
          </a:xfrm>
          <a:prstGeom prst="rect">
            <a:avLst/>
          </a:prstGeom>
          <a:noFill/>
          <a:ln w="28575">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348FF"/>
              </a:solidFill>
            </a:endParaRPr>
          </a:p>
        </p:txBody>
      </p:sp>
      <p:sp>
        <p:nvSpPr>
          <p:cNvPr id="9" name="矩形 8"/>
          <p:cNvSpPr/>
          <p:nvPr/>
        </p:nvSpPr>
        <p:spPr>
          <a:xfrm>
            <a:off x="8376790" y="3774856"/>
            <a:ext cx="996593" cy="328773"/>
          </a:xfrm>
          <a:prstGeom prst="rect">
            <a:avLst/>
          </a:prstGeom>
          <a:noFill/>
          <a:ln w="28575">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348FF"/>
              </a:solidFill>
            </a:endParaRPr>
          </a:p>
        </p:txBody>
      </p:sp>
      <p:sp>
        <p:nvSpPr>
          <p:cNvPr id="10" name="矩形 9"/>
          <p:cNvSpPr/>
          <p:nvPr/>
        </p:nvSpPr>
        <p:spPr>
          <a:xfrm>
            <a:off x="9942444" y="4092089"/>
            <a:ext cx="996593" cy="328773"/>
          </a:xfrm>
          <a:prstGeom prst="rect">
            <a:avLst/>
          </a:prstGeom>
          <a:noFill/>
          <a:ln w="28575">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348FF"/>
              </a:solidFill>
            </a:endParaRPr>
          </a:p>
        </p:txBody>
      </p:sp>
      <p:sp>
        <p:nvSpPr>
          <p:cNvPr id="13" name="文本框 12">
            <a:extLst>
              <a:ext uri="{FF2B5EF4-FFF2-40B4-BE49-F238E27FC236}">
                <a16:creationId xmlns:a16="http://schemas.microsoft.com/office/drawing/2014/main" id="{5554D872-F4AE-4C6B-93D7-5DADD1F0E748}"/>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33066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2094" y="3727449"/>
            <a:ext cx="4024979" cy="3123233"/>
          </a:xfrm>
          <a:prstGeom prst="rect">
            <a:avLst/>
          </a:prstGeom>
        </p:spPr>
      </p:pic>
      <p:sp>
        <p:nvSpPr>
          <p:cNvPr id="2" name="标题 1">
            <a:extLst>
              <a:ext uri="{FF2B5EF4-FFF2-40B4-BE49-F238E27FC236}">
                <a16:creationId xmlns:a16="http://schemas.microsoft.com/office/drawing/2014/main" id="{9DAEE89C-AF26-4134-8110-82C1213A83CA}"/>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F202D5E2-03C6-4460-A008-26201DC1E332}"/>
              </a:ext>
            </a:extLst>
          </p:cNvPr>
          <p:cNvSpPr>
            <a:spLocks noGrp="1"/>
          </p:cNvSpPr>
          <p:nvPr>
            <p:ph idx="1"/>
          </p:nvPr>
        </p:nvSpPr>
        <p:spPr>
          <a:xfrm>
            <a:off x="509016" y="1503612"/>
            <a:ext cx="11377976" cy="4939738"/>
          </a:xfrm>
        </p:spPr>
        <p:txBody>
          <a:bodyPr>
            <a:normAutofit/>
          </a:bodyPr>
          <a:lstStyle/>
          <a:p>
            <a:pPr marL="360000" indent="-360000" algn="just"/>
            <a:r>
              <a:rPr lang="zh-CN" altLang="en-US" sz="2400" dirty="0">
                <a:solidFill>
                  <a:srgbClr val="C00000"/>
                </a:solidFill>
                <a:latin typeface="Times New Roman" panose="02020603050405020304" pitchFamily="18" charset="0"/>
              </a:rPr>
              <a:t>光纤传输的模式理论</a:t>
            </a:r>
            <a:r>
              <a:rPr lang="zh-CN" altLang="en-US" sz="2400" dirty="0">
                <a:latin typeface="Times New Roman" panose="02020603050405020304" pitchFamily="18" charset="0"/>
              </a:rPr>
              <a:t>：光以电磁波传送，不同模式的电磁波在光纤中的传送速度是不同的</a:t>
            </a:r>
            <a:endParaRPr lang="en-US" altLang="zh-CN" sz="2400" dirty="0">
              <a:latin typeface="Times New Roman" panose="02020603050405020304" pitchFamily="18" charset="0"/>
            </a:endParaRPr>
          </a:p>
          <a:p>
            <a:pPr marL="360000" indent="-360000" algn="just"/>
            <a:r>
              <a:rPr lang="zh-CN" altLang="en-US" sz="2400" i="0" dirty="0">
                <a:latin typeface="Times New Roman" panose="02020603050405020304" pitchFamily="18" charset="0"/>
              </a:rPr>
              <a:t>频带特性与光纤传光时的色散性能有关</a:t>
            </a:r>
            <a:endParaRPr lang="en-US" altLang="zh-CN" sz="2400" i="0" dirty="0">
              <a:latin typeface="Times New Roman" panose="02020603050405020304" pitchFamily="18" charset="0"/>
            </a:endParaRPr>
          </a:p>
          <a:p>
            <a:pPr marL="817200" lvl="1" indent="-360000" algn="just"/>
            <a:r>
              <a:rPr lang="zh-CN" altLang="en-US" i="0" dirty="0">
                <a:latin typeface="Times New Roman" panose="02020603050405020304" pitchFamily="18" charset="0"/>
              </a:rPr>
              <a:t>传送速度随模式、波长或材料变化的性质称为</a:t>
            </a:r>
            <a:r>
              <a:rPr lang="zh-CN" altLang="en-US" i="0" dirty="0">
                <a:solidFill>
                  <a:srgbClr val="C00000"/>
                </a:solidFill>
                <a:latin typeface="Times New Roman" panose="02020603050405020304" pitchFamily="18" charset="0"/>
              </a:rPr>
              <a:t>光纤的色散特性</a:t>
            </a:r>
            <a:endParaRPr lang="en-US" altLang="zh-CN" i="0" dirty="0">
              <a:latin typeface="Times New Roman" panose="02020603050405020304" pitchFamily="18" charset="0"/>
            </a:endParaRPr>
          </a:p>
          <a:p>
            <a:pPr marL="1274400" lvl="2" indent="-360000" algn="just"/>
            <a:r>
              <a:rPr lang="zh-CN" altLang="en-US" i="0" dirty="0">
                <a:latin typeface="Times New Roman" panose="02020603050405020304" pitchFamily="18" charset="0"/>
              </a:rPr>
              <a:t>色散有模间色散和</a:t>
            </a:r>
            <a:r>
              <a:rPr lang="zh-CN" altLang="en-US" dirty="0">
                <a:latin typeface="Times New Roman" panose="02020603050405020304" pitchFamily="18" charset="0"/>
              </a:rPr>
              <a:t>模内色散，对传输质量的影响体现在传输波形的畸变上</a:t>
            </a:r>
            <a:endParaRPr lang="en-US" altLang="zh-CN" i="0" dirty="0">
              <a:latin typeface="Times New Roman" panose="02020603050405020304" pitchFamily="18" charset="0"/>
            </a:endParaRPr>
          </a:p>
          <a:p>
            <a:pPr marL="1274400" lvl="2" indent="-360000" algn="just"/>
            <a:r>
              <a:rPr lang="zh-CN" altLang="en-US" i="0" dirty="0">
                <a:latin typeface="Times New Roman" panose="02020603050405020304" pitchFamily="18" charset="0"/>
              </a:rPr>
              <a:t>多模光纤中以模间色散为主</a:t>
            </a:r>
            <a:endParaRPr lang="en-US" altLang="zh-CN" i="0" dirty="0">
              <a:latin typeface="Times New Roman" panose="02020603050405020304" pitchFamily="18" charset="0"/>
            </a:endParaRPr>
          </a:p>
          <a:p>
            <a:pPr marL="1274400" lvl="2" indent="-360000" algn="just"/>
            <a:r>
              <a:rPr lang="zh-CN" altLang="en-US" i="0" dirty="0">
                <a:latin typeface="Times New Roman" panose="02020603050405020304" pitchFamily="18" charset="0"/>
              </a:rPr>
              <a:t>单模光纤只存在模内色散</a:t>
            </a:r>
            <a:endParaRPr lang="en-US" altLang="zh-CN" i="0" dirty="0">
              <a:latin typeface="Times New Roman" panose="02020603050405020304" pitchFamily="18" charset="0"/>
            </a:endParaRPr>
          </a:p>
        </p:txBody>
      </p:sp>
      <p:sp>
        <p:nvSpPr>
          <p:cNvPr id="4" name="灯片编号占位符 3">
            <a:extLst>
              <a:ext uri="{FF2B5EF4-FFF2-40B4-BE49-F238E27FC236}">
                <a16:creationId xmlns:a16="http://schemas.microsoft.com/office/drawing/2014/main" id="{DC353849-FD75-4AAF-AB34-8CC96382B96C}"/>
              </a:ext>
            </a:extLst>
          </p:cNvPr>
          <p:cNvSpPr>
            <a:spLocks noGrp="1"/>
          </p:cNvSpPr>
          <p:nvPr>
            <p:ph type="sldNum" sz="quarter" idx="12"/>
          </p:nvPr>
        </p:nvSpPr>
        <p:spPr/>
        <p:txBody>
          <a:bodyPr/>
          <a:lstStyle/>
          <a:p>
            <a:fld id="{8D4D1E41-7A09-AB4A-A4E1-09765ADA2698}" type="slidenum">
              <a:rPr kumimoji="1" lang="zh-CN" altLang="en-US" smtClean="0"/>
              <a:t>69</a:t>
            </a:fld>
            <a:endParaRPr kumimoji="1" lang="zh-CN" altLang="en-US" dirty="0"/>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963" y="4186639"/>
            <a:ext cx="7921608" cy="2460377"/>
          </a:xfrm>
          <a:prstGeom prst="rect">
            <a:avLst/>
          </a:prstGeom>
        </p:spPr>
      </p:pic>
      <p:sp>
        <p:nvSpPr>
          <p:cNvPr id="9" name="文本框 8">
            <a:extLst>
              <a:ext uri="{FF2B5EF4-FFF2-40B4-BE49-F238E27FC236}">
                <a16:creationId xmlns:a16="http://schemas.microsoft.com/office/drawing/2014/main" id="{5E494235-65D7-4459-8D57-4BAA5DC6A671}"/>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87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4F314-7F4F-4ED1-9E35-82A98B285BCF}"/>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D8D397C3-F0C5-4D7E-8C67-B47608F1EF92}"/>
              </a:ext>
            </a:extLst>
          </p:cNvPr>
          <p:cNvSpPr>
            <a:spLocks noGrp="1"/>
          </p:cNvSpPr>
          <p:nvPr>
            <p:ph idx="1"/>
          </p:nvPr>
        </p:nvSpPr>
        <p:spPr>
          <a:xfrm>
            <a:off x="838199" y="1356648"/>
            <a:ext cx="10370907" cy="4586694"/>
          </a:xfrm>
        </p:spPr>
        <p:txBody>
          <a:bodyPr>
            <a:normAutofit/>
          </a:bodyPr>
          <a:lstStyle/>
          <a:p>
            <a:pPr marL="0" indent="0" algn="just">
              <a:buNone/>
            </a:pPr>
            <a:r>
              <a:rPr lang="zh-CN" altLang="en-US" b="1" i="0" dirty="0">
                <a:solidFill>
                  <a:srgbClr val="5B307E"/>
                </a:solidFill>
                <a:latin typeface="Times New Roman" panose="02020603050405020304" pitchFamily="18" charset="0"/>
                <a:ea typeface="微软雅黑" panose="020B0503020204020204" pitchFamily="34" charset="-122"/>
              </a:rPr>
              <a:t>电力载波</a:t>
            </a:r>
            <a:endParaRPr lang="en-US" altLang="zh-CN" b="1" dirty="0">
              <a:solidFill>
                <a:srgbClr val="5B307E"/>
              </a:solidFill>
              <a:latin typeface="Times New Roman" panose="02020603050405020304" pitchFamily="18" charset="0"/>
              <a:ea typeface="微软雅黑" panose="020B0503020204020204" pitchFamily="34" charset="-122"/>
            </a:endParaRPr>
          </a:p>
          <a:p>
            <a:pPr marL="360000" indent="-360000" algn="just"/>
            <a:r>
              <a:rPr lang="zh-CN" altLang="en-US" sz="2400" dirty="0">
                <a:solidFill>
                  <a:srgbClr val="C00000"/>
                </a:solidFill>
              </a:rPr>
              <a:t>电力载波</a:t>
            </a:r>
            <a:r>
              <a:rPr lang="zh-CN" altLang="en-US" sz="2400" dirty="0"/>
              <a:t>是电力系统特有的通信方式</a:t>
            </a:r>
            <a:endParaRPr lang="en-US" altLang="zh-CN" sz="2400" dirty="0"/>
          </a:p>
          <a:p>
            <a:pPr marL="817200" lvl="1" indent="-360000" algn="just"/>
            <a:r>
              <a:rPr lang="zh-CN" altLang="en-US" sz="2000" dirty="0"/>
              <a:t>利用现有电力线，通过载波方式将模拟或数字信号进行高速传输</a:t>
            </a:r>
            <a:endParaRPr lang="en-US" altLang="zh-CN" sz="2000" dirty="0"/>
          </a:p>
          <a:p>
            <a:pPr marL="360000" indent="-360000" algn="just"/>
            <a:r>
              <a:rPr kumimoji="1" lang="zh-CN" altLang="zh-CN" sz="2400" i="0" dirty="0">
                <a:solidFill>
                  <a:srgbClr val="C00000"/>
                </a:solidFill>
                <a:effectLst/>
                <a:latin typeface="Times New Roman" panose="02020603050405020304" pitchFamily="18" charset="0"/>
                <a:ea typeface="微软雅黑" panose="020B0503020204020204" pitchFamily="34" charset="-122"/>
              </a:rPr>
              <a:t>电力线</a:t>
            </a:r>
            <a:r>
              <a:rPr kumimoji="1" lang="zh-CN" altLang="zh-CN" sz="2400" i="0" dirty="0">
                <a:solidFill>
                  <a:srgbClr val="000000"/>
                </a:solidFill>
                <a:effectLst/>
                <a:latin typeface="Times New Roman" panose="02020603050405020304" pitchFamily="18" charset="0"/>
                <a:ea typeface="微软雅黑" panose="020B0503020204020204" pitchFamily="34" charset="-122"/>
              </a:rPr>
              <a:t>是指输送电能的电力线路</a:t>
            </a:r>
            <a:endParaRPr lang="zh-CN" altLang="zh-CN" sz="2400" dirty="0">
              <a:effectLst/>
              <a:latin typeface="Times New Roman" panose="02020603050405020304" pitchFamily="18" charset="0"/>
              <a:ea typeface="微软雅黑" panose="020B0503020204020204" pitchFamily="34" charset="-122"/>
            </a:endParaRPr>
          </a:p>
          <a:p>
            <a:pPr marL="817200" lvl="1" indent="-360000" algn="just" eaLnBrk="0" fontAlgn="base" hangingPunct="0"/>
            <a:r>
              <a:rPr kumimoji="1" lang="zh-CN" altLang="zh-CN" sz="2000" i="0" dirty="0">
                <a:solidFill>
                  <a:srgbClr val="000000"/>
                </a:solidFill>
                <a:effectLst/>
                <a:latin typeface="Times New Roman" panose="02020603050405020304" pitchFamily="18" charset="0"/>
                <a:ea typeface="微软雅黑" panose="020B0503020204020204" pitchFamily="34" charset="-122"/>
              </a:rPr>
              <a:t>按结构形式的不同，输电线路分架空输电线路和电缆线路</a:t>
            </a:r>
            <a:endParaRPr kumimoji="1" lang="en-US" altLang="zh-CN" sz="2000" dirty="0">
              <a:solidFill>
                <a:srgbClr val="000000"/>
              </a:solidFill>
              <a:latin typeface="Times New Roman" panose="02020603050405020304" pitchFamily="18" charset="0"/>
              <a:ea typeface="微软雅黑" panose="020B0503020204020204" pitchFamily="34" charset="-122"/>
            </a:endParaRPr>
          </a:p>
          <a:p>
            <a:pPr marL="817200" lvl="1" indent="-360000" algn="just" eaLnBrk="0" fontAlgn="base" hangingPunct="0"/>
            <a:r>
              <a:rPr kumimoji="1" lang="zh-CN" altLang="zh-CN" sz="2000" i="0" dirty="0">
                <a:solidFill>
                  <a:srgbClr val="000000"/>
                </a:solidFill>
                <a:effectLst/>
                <a:latin typeface="Times New Roman" panose="02020603050405020304" pitchFamily="18" charset="0"/>
                <a:ea typeface="微软雅黑" panose="020B0503020204020204" pitchFamily="34" charset="-122"/>
              </a:rPr>
              <a:t>架空输电线由线路杆塔和电力线组成</a:t>
            </a:r>
            <a:endParaRPr lang="zh-CN" altLang="zh-CN" sz="2000" dirty="0">
              <a:effectLst/>
              <a:latin typeface="Times New Roman" panose="02020603050405020304" pitchFamily="18" charset="0"/>
              <a:ea typeface="微软雅黑" panose="020B0503020204020204" pitchFamily="34" charset="-122"/>
            </a:endParaRPr>
          </a:p>
        </p:txBody>
      </p:sp>
      <p:sp>
        <p:nvSpPr>
          <p:cNvPr id="4" name="灯片编号占位符 3">
            <a:extLst>
              <a:ext uri="{FF2B5EF4-FFF2-40B4-BE49-F238E27FC236}">
                <a16:creationId xmlns:a16="http://schemas.microsoft.com/office/drawing/2014/main" id="{19A264C8-66DB-4F34-808B-0CDF4CB3B8B0}"/>
              </a:ext>
            </a:extLst>
          </p:cNvPr>
          <p:cNvSpPr>
            <a:spLocks noGrp="1"/>
          </p:cNvSpPr>
          <p:nvPr>
            <p:ph type="sldNum" sz="quarter" idx="12"/>
          </p:nvPr>
        </p:nvSpPr>
        <p:spPr/>
        <p:txBody>
          <a:bodyPr/>
          <a:lstStyle/>
          <a:p>
            <a:fld id="{8D4D1E41-7A09-AB4A-A4E1-09765ADA2698}" type="slidenum">
              <a:rPr kumimoji="1" lang="zh-CN" altLang="en-US" smtClean="0"/>
              <a:t>70</a:t>
            </a:fld>
            <a:endParaRPr kumimoji="1" lang="zh-CN" altLang="en-US" dirty="0"/>
          </a:p>
        </p:txBody>
      </p:sp>
      <p:pic>
        <p:nvPicPr>
          <p:cNvPr id="5" name="图片 4"/>
          <p:cNvPicPr>
            <a:picLocks noChangeAspect="1"/>
          </p:cNvPicPr>
          <p:nvPr/>
        </p:nvPicPr>
        <p:blipFill>
          <a:blip r:embed="rId2"/>
          <a:stretch>
            <a:fillRect/>
          </a:stretch>
        </p:blipFill>
        <p:spPr>
          <a:xfrm>
            <a:off x="838199" y="4023032"/>
            <a:ext cx="3419342" cy="2413315"/>
          </a:xfrm>
          <a:prstGeom prst="rect">
            <a:avLst/>
          </a:prstGeom>
        </p:spPr>
      </p:pic>
      <p:pic>
        <p:nvPicPr>
          <p:cNvPr id="6" name="图片 5"/>
          <p:cNvPicPr>
            <a:picLocks noChangeAspect="1"/>
          </p:cNvPicPr>
          <p:nvPr/>
        </p:nvPicPr>
        <p:blipFill>
          <a:blip r:embed="rId3"/>
          <a:stretch>
            <a:fillRect/>
          </a:stretch>
        </p:blipFill>
        <p:spPr>
          <a:xfrm>
            <a:off x="4257541" y="4023032"/>
            <a:ext cx="3575304" cy="2413315"/>
          </a:xfrm>
          <a:prstGeom prst="rect">
            <a:avLst/>
          </a:prstGeom>
        </p:spPr>
      </p:pic>
      <p:pic>
        <p:nvPicPr>
          <p:cNvPr id="8" name="图片 7">
            <a:extLst>
              <a:ext uri="{FF2B5EF4-FFF2-40B4-BE49-F238E27FC236}">
                <a16:creationId xmlns:a16="http://schemas.microsoft.com/office/drawing/2014/main" id="{DFD7676B-C0F2-4151-AEB9-9CC063A264B4}"/>
              </a:ext>
            </a:extLst>
          </p:cNvPr>
          <p:cNvPicPr>
            <a:picLocks noChangeAspect="1"/>
          </p:cNvPicPr>
          <p:nvPr/>
        </p:nvPicPr>
        <p:blipFill>
          <a:blip r:embed="rId4"/>
          <a:stretch>
            <a:fillRect/>
          </a:stretch>
        </p:blipFill>
        <p:spPr>
          <a:xfrm>
            <a:off x="7832845" y="4042910"/>
            <a:ext cx="3679451" cy="2349499"/>
          </a:xfrm>
          <a:prstGeom prst="rect">
            <a:avLst/>
          </a:prstGeom>
          <a:ln w="28575">
            <a:solidFill>
              <a:schemeClr val="bg2">
                <a:lumMod val="75000"/>
              </a:schemeClr>
            </a:solidFill>
          </a:ln>
        </p:spPr>
      </p:pic>
      <p:sp>
        <p:nvSpPr>
          <p:cNvPr id="9" name="文本框 8">
            <a:extLst>
              <a:ext uri="{FF2B5EF4-FFF2-40B4-BE49-F238E27FC236}">
                <a16:creationId xmlns:a16="http://schemas.microsoft.com/office/drawing/2014/main" id="{0548D8EA-EE9D-42F0-834E-21B44A36EC8C}"/>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3774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4DC73-10BE-46BD-A2C4-94A7C6CDB034}"/>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3CE76234-3518-46FC-9F15-E77D6DAEF658}"/>
              </a:ext>
            </a:extLst>
          </p:cNvPr>
          <p:cNvSpPr>
            <a:spLocks noGrp="1"/>
          </p:cNvSpPr>
          <p:nvPr>
            <p:ph idx="1"/>
          </p:nvPr>
        </p:nvSpPr>
        <p:spPr/>
        <p:txBody>
          <a:bodyPr/>
          <a:lstStyle/>
          <a:p>
            <a:pPr marL="360000" indent="-360000" algn="just">
              <a:lnSpc>
                <a:spcPct val="110000"/>
              </a:lnSpc>
            </a:pPr>
            <a:r>
              <a:rPr kumimoji="1" lang="zh-CN" altLang="zh-CN" sz="2400" dirty="0">
                <a:solidFill>
                  <a:srgbClr val="000000"/>
                </a:solidFill>
                <a:latin typeface="Times New Roman" panose="02020603050405020304" pitchFamily="18" charset="0"/>
                <a:ea typeface="微软雅黑" panose="020B0503020204020204" pitchFamily="34" charset="-122"/>
              </a:rPr>
              <a:t>电力线载波通信</a:t>
            </a:r>
            <a:r>
              <a:rPr kumimoji="1" lang="zh-CN" altLang="en-US" sz="2400" dirty="0">
                <a:solidFill>
                  <a:srgbClr val="000000"/>
                </a:solidFill>
                <a:latin typeface="Times New Roman" panose="02020603050405020304" pitchFamily="18" charset="0"/>
                <a:ea typeface="微软雅黑" panose="020B0503020204020204" pitchFamily="34" charset="-122"/>
              </a:rPr>
              <a:t>可</a:t>
            </a:r>
            <a:r>
              <a:rPr kumimoji="1" lang="zh-CN" altLang="zh-CN" sz="2400" dirty="0">
                <a:solidFill>
                  <a:srgbClr val="000000"/>
                </a:solidFill>
                <a:latin typeface="Times New Roman" panose="02020603050405020304" pitchFamily="18" charset="0"/>
                <a:ea typeface="微软雅黑" panose="020B0503020204020204" pitchFamily="34" charset="-122"/>
              </a:rPr>
              <a:t>利用</a:t>
            </a:r>
            <a:endParaRPr kumimoji="1" lang="en-US" altLang="zh-CN" sz="2400" dirty="0">
              <a:solidFill>
                <a:srgbClr val="000000"/>
              </a:solidFill>
              <a:latin typeface="Times New Roman" panose="02020603050405020304" pitchFamily="18" charset="0"/>
              <a:ea typeface="微软雅黑" panose="020B0503020204020204" pitchFamily="34" charset="-122"/>
            </a:endParaRPr>
          </a:p>
          <a:p>
            <a:pPr marL="817200" lvl="1" indent="-360000" algn="just">
              <a:lnSpc>
                <a:spcPct val="110000"/>
              </a:lnSpc>
            </a:pPr>
            <a:r>
              <a:rPr kumimoji="1" lang="zh-CN" altLang="zh-CN" sz="2000" dirty="0">
                <a:solidFill>
                  <a:srgbClr val="C00000"/>
                </a:solidFill>
                <a:latin typeface="Times New Roman" panose="02020603050405020304" pitchFamily="18" charset="0"/>
                <a:ea typeface="微软雅黑" panose="020B0503020204020204" pitchFamily="34" charset="-122"/>
              </a:rPr>
              <a:t>高压电力线</a:t>
            </a:r>
            <a:r>
              <a:rPr kumimoji="1" lang="zh-CN" altLang="en-US" sz="2000" dirty="0">
                <a:solidFill>
                  <a:srgbClr val="C00000"/>
                </a:solidFill>
                <a:latin typeface="Times New Roman" panose="02020603050405020304" pitchFamily="18" charset="0"/>
                <a:ea typeface="微软雅黑" panose="020B0503020204020204" pitchFamily="34" charset="-122"/>
              </a:rPr>
              <a:t>（</a:t>
            </a:r>
            <a:r>
              <a:rPr kumimoji="1" lang="en-US" altLang="zh-CN" sz="2000" dirty="0">
                <a:solidFill>
                  <a:srgbClr val="C00000"/>
                </a:solidFill>
                <a:latin typeface="Times New Roman" panose="02020603050405020304" pitchFamily="18" charset="0"/>
                <a:ea typeface="微软雅黑" panose="020B0503020204020204" pitchFamily="34" charset="-122"/>
              </a:rPr>
              <a:t>35kV</a:t>
            </a:r>
            <a:r>
              <a:rPr kumimoji="1" lang="zh-CN" altLang="zh-CN" sz="2000" dirty="0">
                <a:solidFill>
                  <a:srgbClr val="C00000"/>
                </a:solidFill>
                <a:latin typeface="Times New Roman" panose="02020603050405020304" pitchFamily="18" charset="0"/>
                <a:ea typeface="微软雅黑" panose="020B0503020204020204" pitchFamily="34" charset="-122"/>
              </a:rPr>
              <a:t>及以上</a:t>
            </a:r>
            <a:r>
              <a:rPr kumimoji="1" lang="zh-CN" altLang="en-US" sz="2000" dirty="0">
                <a:solidFill>
                  <a:srgbClr val="C00000"/>
                </a:solidFill>
                <a:latin typeface="Times New Roman" panose="02020603050405020304" pitchFamily="18" charset="0"/>
                <a:ea typeface="微软雅黑" panose="020B0503020204020204" pitchFamily="34" charset="-122"/>
              </a:rPr>
              <a:t>）</a:t>
            </a:r>
            <a:endParaRPr kumimoji="1" lang="en-US" altLang="zh-CN" sz="2000" dirty="0">
              <a:solidFill>
                <a:srgbClr val="000000"/>
              </a:solidFill>
              <a:latin typeface="Times New Roman" panose="02020603050405020304" pitchFamily="18" charset="0"/>
              <a:ea typeface="微软雅黑" panose="020B0503020204020204" pitchFamily="34" charset="-122"/>
            </a:endParaRPr>
          </a:p>
          <a:p>
            <a:pPr marL="817200" lvl="1" indent="-360000" algn="just">
              <a:lnSpc>
                <a:spcPct val="110000"/>
              </a:lnSpc>
            </a:pPr>
            <a:r>
              <a:rPr kumimoji="1" lang="zh-CN" altLang="zh-CN" sz="2000" dirty="0">
                <a:solidFill>
                  <a:srgbClr val="C00000"/>
                </a:solidFill>
                <a:latin typeface="Times New Roman" panose="02020603050405020304" pitchFamily="18" charset="0"/>
                <a:ea typeface="微软雅黑" panose="020B0503020204020204" pitchFamily="34" charset="-122"/>
              </a:rPr>
              <a:t>中压电力线</a:t>
            </a:r>
            <a:r>
              <a:rPr kumimoji="1" lang="zh-CN" altLang="en-US" sz="2000" dirty="0">
                <a:solidFill>
                  <a:srgbClr val="C00000"/>
                </a:solidFill>
                <a:latin typeface="Times New Roman" panose="02020603050405020304" pitchFamily="18" charset="0"/>
                <a:ea typeface="微软雅黑" panose="020B0503020204020204" pitchFamily="34" charset="-122"/>
              </a:rPr>
              <a:t>（</a:t>
            </a:r>
            <a:r>
              <a:rPr kumimoji="1" lang="en-US" altLang="zh-CN" sz="2000" dirty="0">
                <a:solidFill>
                  <a:srgbClr val="C00000"/>
                </a:solidFill>
                <a:latin typeface="Times New Roman" panose="02020603050405020304" pitchFamily="18" charset="0"/>
                <a:ea typeface="微软雅黑" panose="020B0503020204020204" pitchFamily="34" charset="-122"/>
              </a:rPr>
              <a:t>10kV</a:t>
            </a:r>
            <a:r>
              <a:rPr kumimoji="1" lang="zh-CN" altLang="en-US" sz="2000" dirty="0">
                <a:solidFill>
                  <a:srgbClr val="C00000"/>
                </a:solidFill>
                <a:latin typeface="Times New Roman" panose="02020603050405020304" pitchFamily="18" charset="0"/>
                <a:ea typeface="微软雅黑" panose="020B0503020204020204" pitchFamily="34" charset="-122"/>
              </a:rPr>
              <a:t>）</a:t>
            </a:r>
            <a:endParaRPr kumimoji="1" lang="en-US" altLang="zh-CN" sz="2000" dirty="0">
              <a:solidFill>
                <a:srgbClr val="000000"/>
              </a:solidFill>
              <a:latin typeface="Times New Roman" panose="02020603050405020304" pitchFamily="18" charset="0"/>
              <a:ea typeface="微软雅黑" panose="020B0503020204020204" pitchFamily="34" charset="-122"/>
            </a:endParaRPr>
          </a:p>
          <a:p>
            <a:pPr marL="817200" lvl="1" indent="-360000" algn="just">
              <a:lnSpc>
                <a:spcPct val="110000"/>
              </a:lnSpc>
            </a:pPr>
            <a:r>
              <a:rPr kumimoji="1" lang="zh-CN" altLang="zh-CN" sz="2000" dirty="0">
                <a:solidFill>
                  <a:srgbClr val="C00000"/>
                </a:solidFill>
                <a:latin typeface="Times New Roman" panose="02020603050405020304" pitchFamily="18" charset="0"/>
                <a:ea typeface="微软雅黑" panose="020B0503020204020204" pitchFamily="34" charset="-122"/>
              </a:rPr>
              <a:t>低压配电线</a:t>
            </a:r>
            <a:r>
              <a:rPr kumimoji="1" lang="zh-CN" altLang="en-US" sz="2000" dirty="0">
                <a:solidFill>
                  <a:srgbClr val="C00000"/>
                </a:solidFill>
                <a:latin typeface="Times New Roman" panose="02020603050405020304" pitchFamily="18" charset="0"/>
                <a:ea typeface="微软雅黑" panose="020B0503020204020204" pitchFamily="34" charset="-122"/>
              </a:rPr>
              <a:t>（</a:t>
            </a:r>
            <a:r>
              <a:rPr kumimoji="1" lang="en-US" altLang="zh-CN" sz="2000" dirty="0">
                <a:solidFill>
                  <a:srgbClr val="C00000"/>
                </a:solidFill>
                <a:latin typeface="Times New Roman" panose="02020603050405020304" pitchFamily="18" charset="0"/>
                <a:ea typeface="微软雅黑" panose="020B0503020204020204" pitchFamily="34" charset="-122"/>
              </a:rPr>
              <a:t>380/220V</a:t>
            </a:r>
            <a:r>
              <a:rPr kumimoji="1" lang="zh-CN" altLang="en-US" sz="2000" dirty="0">
                <a:solidFill>
                  <a:srgbClr val="C00000"/>
                </a:solidFill>
                <a:latin typeface="Times New Roman" panose="02020603050405020304" pitchFamily="18" charset="0"/>
                <a:ea typeface="微软雅黑" panose="020B0503020204020204" pitchFamily="34" charset="-122"/>
              </a:rPr>
              <a:t>）</a:t>
            </a:r>
            <a:endParaRPr kumimoji="1" lang="en-US" altLang="zh-CN" sz="2000" dirty="0">
              <a:solidFill>
                <a:srgbClr val="C00000"/>
              </a:solidFill>
              <a:latin typeface="Times New Roman" panose="02020603050405020304" pitchFamily="18" charset="0"/>
              <a:ea typeface="微软雅黑" panose="020B0503020204020204" pitchFamily="34" charset="-122"/>
            </a:endParaRPr>
          </a:p>
          <a:p>
            <a:pPr marL="360000" indent="-360000" algn="just">
              <a:lnSpc>
                <a:spcPct val="110000"/>
              </a:lnSpc>
            </a:pPr>
            <a:r>
              <a:rPr kumimoji="1" lang="zh-CN" altLang="zh-CN" sz="2400" dirty="0">
                <a:solidFill>
                  <a:srgbClr val="000000"/>
                </a:solidFill>
                <a:latin typeface="Times New Roman" panose="02020603050405020304" pitchFamily="18" charset="0"/>
                <a:ea typeface="微软雅黑" panose="020B0503020204020204" pitchFamily="34" charset="-122"/>
              </a:rPr>
              <a:t>电力线载波通信</a:t>
            </a:r>
            <a:r>
              <a:rPr kumimoji="1" lang="zh-CN" altLang="en-US" sz="2400" dirty="0">
                <a:solidFill>
                  <a:srgbClr val="000000"/>
                </a:solidFill>
                <a:latin typeface="Times New Roman" panose="02020603050405020304" pitchFamily="18" charset="0"/>
                <a:ea typeface="微软雅黑" panose="020B0503020204020204" pitchFamily="34" charset="-122"/>
              </a:rPr>
              <a:t>系统最基本的一项任务：</a:t>
            </a:r>
            <a:endParaRPr kumimoji="1" lang="en-US" altLang="zh-CN" sz="2400" dirty="0">
              <a:solidFill>
                <a:srgbClr val="000000"/>
              </a:solidFill>
              <a:latin typeface="Times New Roman" panose="02020603050405020304" pitchFamily="18" charset="0"/>
              <a:ea typeface="微软雅黑" panose="020B0503020204020204" pitchFamily="34" charset="-122"/>
            </a:endParaRPr>
          </a:p>
          <a:p>
            <a:pPr marL="817200" lvl="1" indent="-360000" algn="just">
              <a:lnSpc>
                <a:spcPct val="110000"/>
              </a:lnSpc>
            </a:pPr>
            <a:r>
              <a:rPr kumimoji="1" lang="zh-CN" altLang="en-US" sz="2000" dirty="0">
                <a:solidFill>
                  <a:srgbClr val="000000"/>
                </a:solidFill>
                <a:latin typeface="Times New Roman" panose="02020603050405020304" pitchFamily="18" charset="0"/>
                <a:ea typeface="微软雅黑" panose="020B0503020204020204" pitchFamily="34" charset="-122"/>
              </a:rPr>
              <a:t>根据通信信道的不同选择不同的调制方式，形成调制信号以适应信道传输</a:t>
            </a:r>
            <a:endParaRPr lang="en-US" altLang="zh-CN" dirty="0"/>
          </a:p>
          <a:p>
            <a:pPr marL="360000" indent="-360000" algn="just">
              <a:lnSpc>
                <a:spcPct val="110000"/>
              </a:lnSpc>
            </a:pPr>
            <a:r>
              <a:rPr lang="zh-CN" altLang="en-US" sz="2400" dirty="0"/>
              <a:t>优点：投资少、连接方便、传输速率高、安全性好和使用范围广</a:t>
            </a:r>
            <a:endParaRPr lang="en-US" altLang="zh-CN" sz="2400" dirty="0"/>
          </a:p>
          <a:p>
            <a:pPr marL="360000" indent="-360000" algn="just">
              <a:lnSpc>
                <a:spcPct val="110000"/>
              </a:lnSpc>
            </a:pPr>
            <a:r>
              <a:rPr lang="zh-CN" altLang="en-US" sz="2400" dirty="0"/>
              <a:t>缺点：无法提供高质量的数据传输业务，如家庭电器产生的电磁波干扰等</a:t>
            </a:r>
            <a:endParaRPr lang="zh-CN" altLang="en-US" dirty="0"/>
          </a:p>
        </p:txBody>
      </p:sp>
      <p:sp>
        <p:nvSpPr>
          <p:cNvPr id="4" name="灯片编号占位符 3">
            <a:extLst>
              <a:ext uri="{FF2B5EF4-FFF2-40B4-BE49-F238E27FC236}">
                <a16:creationId xmlns:a16="http://schemas.microsoft.com/office/drawing/2014/main" id="{98BD53FC-B310-4D05-A7AC-68206AA9489E}"/>
              </a:ext>
            </a:extLst>
          </p:cNvPr>
          <p:cNvSpPr>
            <a:spLocks noGrp="1"/>
          </p:cNvSpPr>
          <p:nvPr>
            <p:ph type="sldNum" sz="quarter" idx="12"/>
          </p:nvPr>
        </p:nvSpPr>
        <p:spPr/>
        <p:txBody>
          <a:bodyPr/>
          <a:lstStyle/>
          <a:p>
            <a:fld id="{8D4D1E41-7A09-AB4A-A4E1-09765ADA2698}" type="slidenum">
              <a:rPr kumimoji="1" lang="zh-CN" altLang="en-US" smtClean="0"/>
              <a:t>71</a:t>
            </a:fld>
            <a:endParaRPr kumimoji="1" lang="zh-CN" altLang="en-US" dirty="0"/>
          </a:p>
        </p:txBody>
      </p:sp>
      <p:grpSp>
        <p:nvGrpSpPr>
          <p:cNvPr id="13" name="组合 12"/>
          <p:cNvGrpSpPr/>
          <p:nvPr/>
        </p:nvGrpSpPr>
        <p:grpSpPr>
          <a:xfrm>
            <a:off x="6638925" y="1251860"/>
            <a:ext cx="5444748" cy="2483212"/>
            <a:chOff x="6638925" y="1251860"/>
            <a:chExt cx="5444748" cy="2483212"/>
          </a:xfrm>
        </p:grpSpPr>
        <p:grpSp>
          <p:nvGrpSpPr>
            <p:cNvPr id="8" name="组合 7"/>
            <p:cNvGrpSpPr/>
            <p:nvPr/>
          </p:nvGrpSpPr>
          <p:grpSpPr>
            <a:xfrm>
              <a:off x="6638925" y="1251860"/>
              <a:ext cx="5444748" cy="2483212"/>
              <a:chOff x="6638925" y="1251860"/>
              <a:chExt cx="5444748" cy="2483212"/>
            </a:xfrm>
          </p:grpSpPr>
          <p:pic>
            <p:nvPicPr>
              <p:cNvPr id="5" name="图片 4"/>
              <p:cNvPicPr>
                <a:picLocks noChangeAspect="1"/>
              </p:cNvPicPr>
              <p:nvPr/>
            </p:nvPicPr>
            <p:blipFill>
              <a:blip r:embed="rId2"/>
              <a:stretch>
                <a:fillRect/>
              </a:stretch>
            </p:blipFill>
            <p:spPr>
              <a:xfrm>
                <a:off x="6638925" y="1251860"/>
                <a:ext cx="5444748" cy="2483212"/>
              </a:xfrm>
              <a:prstGeom prst="rect">
                <a:avLst/>
              </a:prstGeom>
            </p:spPr>
          </p:pic>
          <p:sp>
            <p:nvSpPr>
              <p:cNvPr id="7" name="文本框 6"/>
              <p:cNvSpPr txBox="1"/>
              <p:nvPr/>
            </p:nvSpPr>
            <p:spPr>
              <a:xfrm>
                <a:off x="8698404" y="3260033"/>
                <a:ext cx="1361661" cy="369332"/>
              </a:xfrm>
              <a:prstGeom prst="rect">
                <a:avLst/>
              </a:prstGeom>
              <a:solidFill>
                <a:schemeClr val="bg1"/>
              </a:solidFill>
              <a:ln w="28575">
                <a:solidFill>
                  <a:srgbClr val="B348FF"/>
                </a:solidFill>
              </a:ln>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低压输电线</a:t>
                </a:r>
              </a:p>
            </p:txBody>
          </p:sp>
        </p:grpSp>
        <p:sp>
          <p:nvSpPr>
            <p:cNvPr id="12" name="文本框 11"/>
            <p:cNvSpPr txBox="1"/>
            <p:nvPr/>
          </p:nvSpPr>
          <p:spPr>
            <a:xfrm>
              <a:off x="6788427" y="3557884"/>
              <a:ext cx="367748" cy="169277"/>
            </a:xfrm>
            <a:prstGeom prst="rect">
              <a:avLst/>
            </a:prstGeom>
            <a:solidFill>
              <a:schemeClr val="bg1"/>
            </a:solidFill>
            <a:ln w="28575">
              <a:noFill/>
            </a:ln>
          </p:spPr>
          <p:txBody>
            <a:bodyPr wrap="square" rtlCol="0">
              <a:spAutoFit/>
            </a:bodyPr>
            <a:lstStyle/>
            <a:p>
              <a:r>
                <a:rPr lang="zh-CN" altLang="en-US" sz="500" dirty="0">
                  <a:latin typeface="微软雅黑" panose="020B0503020204020204" pitchFamily="34" charset="-122"/>
                  <a:ea typeface="微软雅黑" panose="020B0503020204020204" pitchFamily="34" charset="-122"/>
                </a:rPr>
                <a:t> </a:t>
              </a:r>
            </a:p>
          </p:txBody>
        </p:sp>
      </p:gr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0445" y="5071717"/>
            <a:ext cx="3974937" cy="1786283"/>
          </a:xfrm>
          <a:prstGeom prst="rect">
            <a:avLst/>
          </a:prstGeom>
        </p:spPr>
      </p:pic>
      <p:sp>
        <p:nvSpPr>
          <p:cNvPr id="15" name="文本框 14">
            <a:extLst>
              <a:ext uri="{FF2B5EF4-FFF2-40B4-BE49-F238E27FC236}">
                <a16:creationId xmlns:a16="http://schemas.microsoft.com/office/drawing/2014/main" id="{5048BBB0-D29C-4333-8951-55041DED620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3713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矩形: 圆角 194">
            <a:extLst>
              <a:ext uri="{FF2B5EF4-FFF2-40B4-BE49-F238E27FC236}">
                <a16:creationId xmlns:a16="http://schemas.microsoft.com/office/drawing/2014/main" id="{27116B66-DB10-4E0F-8DFF-E30BB4AFCD51}"/>
              </a:ext>
            </a:extLst>
          </p:cNvPr>
          <p:cNvSpPr/>
          <p:nvPr/>
        </p:nvSpPr>
        <p:spPr>
          <a:xfrm>
            <a:off x="582598" y="1994623"/>
            <a:ext cx="11241156" cy="4321572"/>
          </a:xfrm>
          <a:prstGeom prst="roundRect">
            <a:avLst>
              <a:gd name="adj" fmla="val 8422"/>
            </a:avLst>
          </a:prstGeom>
          <a:solidFill>
            <a:schemeClr val="accent5">
              <a:lumMod val="20000"/>
              <a:lumOff val="80000"/>
            </a:schemeClr>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6B45494E-B908-4679-BBC0-B057FD73DB7A}"/>
              </a:ext>
            </a:extLst>
          </p:cNvPr>
          <p:cNvSpPr>
            <a:spLocks noGrp="1"/>
          </p:cNvSpPr>
          <p:nvPr>
            <p:ph idx="1"/>
          </p:nvPr>
        </p:nvSpPr>
        <p:spPr>
          <a:xfrm>
            <a:off x="582598" y="1351532"/>
            <a:ext cx="10515600" cy="606173"/>
          </a:xfrm>
        </p:spPr>
        <p:txBody>
          <a:bodyPr/>
          <a:lstStyle/>
          <a:p>
            <a:pPr marL="0" indent="0">
              <a:buNone/>
            </a:pPr>
            <a:r>
              <a:rPr lang="zh-CN" altLang="en-US" dirty="0">
                <a:solidFill>
                  <a:srgbClr val="C00000"/>
                </a:solidFill>
                <a:latin typeface="微软雅黑" panose="020B0503020204020204" pitchFamily="34" charset="-122"/>
                <a:ea typeface="微软雅黑" panose="020B0503020204020204" pitchFamily="34" charset="-122"/>
              </a:rPr>
              <a:t>导引</a:t>
            </a:r>
            <a:r>
              <a:rPr lang="en-US"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非导引介质（电磁波）的频谱</a:t>
            </a:r>
          </a:p>
          <a:p>
            <a:endParaRPr lang="zh-CN" altLang="en-US" dirty="0">
              <a:solidFill>
                <a:srgbClr val="C00000"/>
              </a:solidFill>
            </a:endParaRPr>
          </a:p>
        </p:txBody>
      </p:sp>
      <p:sp>
        <p:nvSpPr>
          <p:cNvPr id="4" name="灯片编号占位符 3">
            <a:extLst>
              <a:ext uri="{FF2B5EF4-FFF2-40B4-BE49-F238E27FC236}">
                <a16:creationId xmlns:a16="http://schemas.microsoft.com/office/drawing/2014/main" id="{4F8734B9-5AFF-43D9-B4D7-1E06EB57779F}"/>
              </a:ext>
            </a:extLst>
          </p:cNvPr>
          <p:cNvSpPr>
            <a:spLocks noGrp="1"/>
          </p:cNvSpPr>
          <p:nvPr>
            <p:ph type="sldNum" sz="quarter" idx="12"/>
          </p:nvPr>
        </p:nvSpPr>
        <p:spPr/>
        <p:txBody>
          <a:bodyPr/>
          <a:lstStyle/>
          <a:p>
            <a:fld id="{8D4D1E41-7A09-AB4A-A4E1-09765ADA2698}" type="slidenum">
              <a:rPr kumimoji="1" lang="zh-CN" altLang="en-US" smtClean="0"/>
              <a:t>72</a:t>
            </a:fld>
            <a:endParaRPr kumimoji="1" lang="zh-CN" altLang="en-US" dirty="0"/>
          </a:p>
        </p:txBody>
      </p:sp>
      <p:grpSp>
        <p:nvGrpSpPr>
          <p:cNvPr id="7" name="组合 6"/>
          <p:cNvGrpSpPr/>
          <p:nvPr/>
        </p:nvGrpSpPr>
        <p:grpSpPr>
          <a:xfrm>
            <a:off x="1179576" y="2149252"/>
            <a:ext cx="10341864" cy="4086955"/>
            <a:chOff x="1179576" y="2149252"/>
            <a:chExt cx="10341864" cy="4086955"/>
          </a:xfrm>
        </p:grpSpPr>
        <p:sp>
          <p:nvSpPr>
            <p:cNvPr id="101" name="Line 5">
              <a:extLst>
                <a:ext uri="{FF2B5EF4-FFF2-40B4-BE49-F238E27FC236}">
                  <a16:creationId xmlns:a16="http://schemas.microsoft.com/office/drawing/2014/main" id="{E5153347-C726-4596-BD7D-C657FA2D7679}"/>
                </a:ext>
              </a:extLst>
            </p:cNvPr>
            <p:cNvSpPr>
              <a:spLocks noChangeShapeType="1"/>
            </p:cNvSpPr>
            <p:nvPr/>
          </p:nvSpPr>
          <p:spPr bwMode="auto">
            <a:xfrm>
              <a:off x="8036491" y="2953476"/>
              <a:ext cx="2862194" cy="939448"/>
            </a:xfrm>
            <a:prstGeom prst="line">
              <a:avLst/>
            </a:prstGeom>
            <a:noFill/>
            <a:ln w="9525" cap="rnd">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7">
              <a:extLst>
                <a:ext uri="{FF2B5EF4-FFF2-40B4-BE49-F238E27FC236}">
                  <a16:creationId xmlns:a16="http://schemas.microsoft.com/office/drawing/2014/main" id="{19E3683C-CDD5-4519-8194-33DD0CA3348F}"/>
                </a:ext>
              </a:extLst>
            </p:cNvPr>
            <p:cNvSpPr>
              <a:spLocks noChangeShapeType="1"/>
            </p:cNvSpPr>
            <p:nvPr/>
          </p:nvSpPr>
          <p:spPr bwMode="auto">
            <a:xfrm flipV="1">
              <a:off x="2325641" y="2953476"/>
              <a:ext cx="1427229" cy="939448"/>
            </a:xfrm>
            <a:prstGeom prst="line">
              <a:avLst/>
            </a:prstGeom>
            <a:noFill/>
            <a:ln w="9525" cap="rnd">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9">
              <a:extLst>
                <a:ext uri="{FF2B5EF4-FFF2-40B4-BE49-F238E27FC236}">
                  <a16:creationId xmlns:a16="http://schemas.microsoft.com/office/drawing/2014/main" id="{E088B3C8-A009-4EF7-A591-D8E581C2F793}"/>
                </a:ext>
              </a:extLst>
            </p:cNvPr>
            <p:cNvSpPr>
              <a:spLocks noChangeShapeType="1"/>
            </p:cNvSpPr>
            <p:nvPr/>
          </p:nvSpPr>
          <p:spPr bwMode="auto">
            <a:xfrm>
              <a:off x="3750936" y="3871573"/>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11">
              <a:extLst>
                <a:ext uri="{FF2B5EF4-FFF2-40B4-BE49-F238E27FC236}">
                  <a16:creationId xmlns:a16="http://schemas.microsoft.com/office/drawing/2014/main" id="{D0539064-0727-48AE-9CBF-D25865262074}"/>
                </a:ext>
              </a:extLst>
            </p:cNvPr>
            <p:cNvSpPr>
              <a:spLocks noChangeShapeType="1"/>
            </p:cNvSpPr>
            <p:nvPr/>
          </p:nvSpPr>
          <p:spPr bwMode="auto">
            <a:xfrm>
              <a:off x="3045057" y="3875132"/>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Line 14">
              <a:extLst>
                <a:ext uri="{FF2B5EF4-FFF2-40B4-BE49-F238E27FC236}">
                  <a16:creationId xmlns:a16="http://schemas.microsoft.com/office/drawing/2014/main" id="{BF97E0A2-9E9A-48E5-8D72-6AAB53711037}"/>
                </a:ext>
              </a:extLst>
            </p:cNvPr>
            <p:cNvSpPr>
              <a:spLocks noChangeShapeType="1"/>
            </p:cNvSpPr>
            <p:nvPr/>
          </p:nvSpPr>
          <p:spPr bwMode="auto">
            <a:xfrm>
              <a:off x="4468419" y="3878690"/>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Line 16">
              <a:extLst>
                <a:ext uri="{FF2B5EF4-FFF2-40B4-BE49-F238E27FC236}">
                  <a16:creationId xmlns:a16="http://schemas.microsoft.com/office/drawing/2014/main" id="{D89AD4BF-2A1F-497C-B4AE-0C76BF0180AA}"/>
                </a:ext>
              </a:extLst>
            </p:cNvPr>
            <p:cNvSpPr>
              <a:spLocks noChangeShapeType="1"/>
            </p:cNvSpPr>
            <p:nvPr/>
          </p:nvSpPr>
          <p:spPr bwMode="auto">
            <a:xfrm>
              <a:off x="5180099" y="3885807"/>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18">
              <a:extLst>
                <a:ext uri="{FF2B5EF4-FFF2-40B4-BE49-F238E27FC236}">
                  <a16:creationId xmlns:a16="http://schemas.microsoft.com/office/drawing/2014/main" id="{352CB045-4F03-4494-A71A-6E4135132EC7}"/>
                </a:ext>
              </a:extLst>
            </p:cNvPr>
            <p:cNvSpPr>
              <a:spLocks noChangeShapeType="1"/>
            </p:cNvSpPr>
            <p:nvPr/>
          </p:nvSpPr>
          <p:spPr bwMode="auto">
            <a:xfrm>
              <a:off x="6609262" y="3878690"/>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Line 20">
              <a:extLst>
                <a:ext uri="{FF2B5EF4-FFF2-40B4-BE49-F238E27FC236}">
                  <a16:creationId xmlns:a16="http://schemas.microsoft.com/office/drawing/2014/main" id="{47B631C0-8726-4342-A69C-EC9E8876C9BB}"/>
                </a:ext>
              </a:extLst>
            </p:cNvPr>
            <p:cNvSpPr>
              <a:spLocks noChangeShapeType="1"/>
            </p:cNvSpPr>
            <p:nvPr/>
          </p:nvSpPr>
          <p:spPr bwMode="auto">
            <a:xfrm>
              <a:off x="2315971" y="2526455"/>
              <a:ext cx="91899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21">
              <a:extLst>
                <a:ext uri="{FF2B5EF4-FFF2-40B4-BE49-F238E27FC236}">
                  <a16:creationId xmlns:a16="http://schemas.microsoft.com/office/drawing/2014/main" id="{A4ED5A60-D502-46C2-891C-037E08D03336}"/>
                </a:ext>
              </a:extLst>
            </p:cNvPr>
            <p:cNvSpPr>
              <a:spLocks noChangeShapeType="1"/>
            </p:cNvSpPr>
            <p:nvPr/>
          </p:nvSpPr>
          <p:spPr bwMode="auto">
            <a:xfrm>
              <a:off x="2296603" y="2985500"/>
              <a:ext cx="91899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23">
              <a:extLst>
                <a:ext uri="{FF2B5EF4-FFF2-40B4-BE49-F238E27FC236}">
                  <a16:creationId xmlns:a16="http://schemas.microsoft.com/office/drawing/2014/main" id="{1299C8EC-D905-421F-BC45-7A205F7CDD41}"/>
                </a:ext>
              </a:extLst>
            </p:cNvPr>
            <p:cNvSpPr>
              <a:spLocks noChangeShapeType="1"/>
            </p:cNvSpPr>
            <p:nvPr/>
          </p:nvSpPr>
          <p:spPr bwMode="auto">
            <a:xfrm>
              <a:off x="5004112" y="2531793"/>
              <a:ext cx="0" cy="4216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24">
              <a:extLst>
                <a:ext uri="{FF2B5EF4-FFF2-40B4-BE49-F238E27FC236}">
                  <a16:creationId xmlns:a16="http://schemas.microsoft.com/office/drawing/2014/main" id="{300243D0-69CE-4655-A29D-BD4FE08A4369}"/>
                </a:ext>
              </a:extLst>
            </p:cNvPr>
            <p:cNvSpPr>
              <a:spLocks noChangeShapeType="1"/>
            </p:cNvSpPr>
            <p:nvPr/>
          </p:nvSpPr>
          <p:spPr bwMode="auto">
            <a:xfrm>
              <a:off x="3762539" y="2544247"/>
              <a:ext cx="0" cy="4305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Line 25">
              <a:extLst>
                <a:ext uri="{FF2B5EF4-FFF2-40B4-BE49-F238E27FC236}">
                  <a16:creationId xmlns:a16="http://schemas.microsoft.com/office/drawing/2014/main" id="{C4567F89-DBE6-4342-A937-F20BD03B4624}"/>
                </a:ext>
              </a:extLst>
            </p:cNvPr>
            <p:cNvSpPr>
              <a:spLocks noChangeShapeType="1"/>
            </p:cNvSpPr>
            <p:nvPr/>
          </p:nvSpPr>
          <p:spPr bwMode="auto">
            <a:xfrm>
              <a:off x="7591690" y="2526455"/>
              <a:ext cx="0" cy="4270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26">
              <a:extLst>
                <a:ext uri="{FF2B5EF4-FFF2-40B4-BE49-F238E27FC236}">
                  <a16:creationId xmlns:a16="http://schemas.microsoft.com/office/drawing/2014/main" id="{88A85941-FC9A-4706-838C-4973E6FF365B}"/>
                </a:ext>
              </a:extLst>
            </p:cNvPr>
            <p:cNvSpPr>
              <a:spLocks noChangeShapeType="1"/>
            </p:cNvSpPr>
            <p:nvPr/>
          </p:nvSpPr>
          <p:spPr bwMode="auto">
            <a:xfrm>
              <a:off x="10283699" y="2537130"/>
              <a:ext cx="0" cy="4110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27">
              <a:extLst>
                <a:ext uri="{FF2B5EF4-FFF2-40B4-BE49-F238E27FC236}">
                  <a16:creationId xmlns:a16="http://schemas.microsoft.com/office/drawing/2014/main" id="{DFA0D090-1F04-4E88-AF64-8212ABCF5E7A}"/>
                </a:ext>
              </a:extLst>
            </p:cNvPr>
            <p:cNvSpPr>
              <a:spLocks noChangeShapeType="1"/>
            </p:cNvSpPr>
            <p:nvPr/>
          </p:nvSpPr>
          <p:spPr bwMode="auto">
            <a:xfrm flipV="1">
              <a:off x="2319839" y="3878690"/>
              <a:ext cx="8588515" cy="53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Text Box 28">
              <a:extLst>
                <a:ext uri="{FF2B5EF4-FFF2-40B4-BE49-F238E27FC236}">
                  <a16:creationId xmlns:a16="http://schemas.microsoft.com/office/drawing/2014/main" id="{D56AA147-825B-4401-A7B9-66459BB8CFA2}"/>
                </a:ext>
              </a:extLst>
            </p:cNvPr>
            <p:cNvSpPr txBox="1">
              <a:spLocks noChangeArrowheads="1"/>
            </p:cNvSpPr>
            <p:nvPr/>
          </p:nvSpPr>
          <p:spPr bwMode="auto">
            <a:xfrm>
              <a:off x="3979138" y="2547806"/>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无线电</a:t>
              </a:r>
            </a:p>
          </p:txBody>
        </p:sp>
        <p:sp>
          <p:nvSpPr>
            <p:cNvPr id="124" name="Text Box 29">
              <a:extLst>
                <a:ext uri="{FF2B5EF4-FFF2-40B4-BE49-F238E27FC236}">
                  <a16:creationId xmlns:a16="http://schemas.microsoft.com/office/drawing/2014/main" id="{4318DCDF-6E6C-4282-AB1B-442E2580E2ED}"/>
                </a:ext>
              </a:extLst>
            </p:cNvPr>
            <p:cNvSpPr txBox="1">
              <a:spLocks noChangeArrowheads="1"/>
            </p:cNvSpPr>
            <p:nvPr/>
          </p:nvSpPr>
          <p:spPr bwMode="auto">
            <a:xfrm>
              <a:off x="5174297" y="2547806"/>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微波</a:t>
              </a:r>
            </a:p>
          </p:txBody>
        </p:sp>
        <p:sp>
          <p:nvSpPr>
            <p:cNvPr id="125" name="Line 30">
              <a:extLst>
                <a:ext uri="{FF2B5EF4-FFF2-40B4-BE49-F238E27FC236}">
                  <a16:creationId xmlns:a16="http://schemas.microsoft.com/office/drawing/2014/main" id="{F898D49C-7EE0-42E6-A2C9-E19E8AC75873}"/>
                </a:ext>
              </a:extLst>
            </p:cNvPr>
            <p:cNvSpPr>
              <a:spLocks noChangeShapeType="1"/>
            </p:cNvSpPr>
            <p:nvPr/>
          </p:nvSpPr>
          <p:spPr bwMode="auto">
            <a:xfrm>
              <a:off x="6288232" y="2526455"/>
              <a:ext cx="0" cy="4270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 name="Line 31">
              <a:extLst>
                <a:ext uri="{FF2B5EF4-FFF2-40B4-BE49-F238E27FC236}">
                  <a16:creationId xmlns:a16="http://schemas.microsoft.com/office/drawing/2014/main" id="{740150A0-EBA0-4E88-9B60-22D0BA0350D9}"/>
                </a:ext>
              </a:extLst>
            </p:cNvPr>
            <p:cNvSpPr>
              <a:spLocks noChangeShapeType="1"/>
            </p:cNvSpPr>
            <p:nvPr/>
          </p:nvSpPr>
          <p:spPr bwMode="auto">
            <a:xfrm>
              <a:off x="7471787" y="2526455"/>
              <a:ext cx="0" cy="4270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 name="Text Box 32">
              <a:extLst>
                <a:ext uri="{FF2B5EF4-FFF2-40B4-BE49-F238E27FC236}">
                  <a16:creationId xmlns:a16="http://schemas.microsoft.com/office/drawing/2014/main" id="{1CAD89FD-E57D-4993-846F-B4368F0441DA}"/>
                </a:ext>
              </a:extLst>
            </p:cNvPr>
            <p:cNvSpPr txBox="1">
              <a:spLocks noChangeArrowheads="1"/>
            </p:cNvSpPr>
            <p:nvPr/>
          </p:nvSpPr>
          <p:spPr bwMode="auto">
            <a:xfrm>
              <a:off x="6442945" y="2547806"/>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红外线</a:t>
              </a:r>
            </a:p>
          </p:txBody>
        </p:sp>
        <p:sp>
          <p:nvSpPr>
            <p:cNvPr id="128" name="Text Box 33">
              <a:extLst>
                <a:ext uri="{FF2B5EF4-FFF2-40B4-BE49-F238E27FC236}">
                  <a16:creationId xmlns:a16="http://schemas.microsoft.com/office/drawing/2014/main" id="{870C8431-C18B-4347-8D70-8C3EAF25A0CE}"/>
                </a:ext>
              </a:extLst>
            </p:cNvPr>
            <p:cNvSpPr txBox="1">
              <a:spLocks noChangeArrowheads="1"/>
            </p:cNvSpPr>
            <p:nvPr/>
          </p:nvSpPr>
          <p:spPr bwMode="auto">
            <a:xfrm>
              <a:off x="6767843" y="3124285"/>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可见光</a:t>
              </a:r>
            </a:p>
          </p:txBody>
        </p:sp>
        <p:sp>
          <p:nvSpPr>
            <p:cNvPr id="129" name="Text Box 34">
              <a:extLst>
                <a:ext uri="{FF2B5EF4-FFF2-40B4-BE49-F238E27FC236}">
                  <a16:creationId xmlns:a16="http://schemas.microsoft.com/office/drawing/2014/main" id="{36CE9E1E-7D6A-4CCD-8FCB-F8E1A21C351E}"/>
                </a:ext>
              </a:extLst>
            </p:cNvPr>
            <p:cNvSpPr txBox="1">
              <a:spLocks noChangeArrowheads="1"/>
            </p:cNvSpPr>
            <p:nvPr/>
          </p:nvSpPr>
          <p:spPr bwMode="auto">
            <a:xfrm>
              <a:off x="7742535" y="3124285"/>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紫外线</a:t>
              </a:r>
            </a:p>
          </p:txBody>
        </p:sp>
        <p:sp>
          <p:nvSpPr>
            <p:cNvPr id="130" name="Line 35">
              <a:extLst>
                <a:ext uri="{FF2B5EF4-FFF2-40B4-BE49-F238E27FC236}">
                  <a16:creationId xmlns:a16="http://schemas.microsoft.com/office/drawing/2014/main" id="{B766866E-B18D-4A72-BAAD-FDF3159AC3D4}"/>
                </a:ext>
              </a:extLst>
            </p:cNvPr>
            <p:cNvSpPr>
              <a:spLocks noChangeShapeType="1"/>
            </p:cNvSpPr>
            <p:nvPr/>
          </p:nvSpPr>
          <p:spPr bwMode="auto">
            <a:xfrm>
              <a:off x="8051962" y="2526455"/>
              <a:ext cx="0" cy="432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 name="Text Box 36">
              <a:extLst>
                <a:ext uri="{FF2B5EF4-FFF2-40B4-BE49-F238E27FC236}">
                  <a16:creationId xmlns:a16="http://schemas.microsoft.com/office/drawing/2014/main" id="{46EB2098-299F-4F00-ACC3-75784A59527D}"/>
                </a:ext>
              </a:extLst>
            </p:cNvPr>
            <p:cNvSpPr txBox="1">
              <a:spLocks noChangeArrowheads="1"/>
            </p:cNvSpPr>
            <p:nvPr/>
          </p:nvSpPr>
          <p:spPr bwMode="auto">
            <a:xfrm>
              <a:off x="8608929" y="2547806"/>
              <a:ext cx="89733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dirty="0">
                  <a:ea typeface="黑体" panose="02010609060101010101" pitchFamily="49" charset="-122"/>
                </a:rPr>
                <a:t>X</a:t>
              </a:r>
              <a:r>
                <a:rPr lang="zh-CN" altLang="en-US" sz="1600" dirty="0">
                  <a:ea typeface="黑体" panose="02010609060101010101" pitchFamily="49" charset="-122"/>
                </a:rPr>
                <a:t>射线</a:t>
              </a:r>
            </a:p>
          </p:txBody>
        </p:sp>
        <p:sp>
          <p:nvSpPr>
            <p:cNvPr id="132" name="Text Box 37">
              <a:extLst>
                <a:ext uri="{FF2B5EF4-FFF2-40B4-BE49-F238E27FC236}">
                  <a16:creationId xmlns:a16="http://schemas.microsoft.com/office/drawing/2014/main" id="{594707CC-760D-419C-9F66-AEF836268DBA}"/>
                </a:ext>
              </a:extLst>
            </p:cNvPr>
            <p:cNvSpPr txBox="1">
              <a:spLocks noChangeArrowheads="1"/>
            </p:cNvSpPr>
            <p:nvPr/>
          </p:nvSpPr>
          <p:spPr bwMode="auto">
            <a:xfrm>
              <a:off x="10465487" y="2512221"/>
              <a:ext cx="326832"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sym typeface="Symbol" panose="05050102010706020507" pitchFamily="18" charset="2"/>
                </a:rPr>
                <a:t></a:t>
              </a:r>
            </a:p>
          </p:txBody>
        </p:sp>
        <p:sp>
          <p:nvSpPr>
            <p:cNvPr id="133" name="Text Box 38">
              <a:extLst>
                <a:ext uri="{FF2B5EF4-FFF2-40B4-BE49-F238E27FC236}">
                  <a16:creationId xmlns:a16="http://schemas.microsoft.com/office/drawing/2014/main" id="{CBDD8E91-0E93-45AA-90F0-87315C29B0CE}"/>
                </a:ext>
              </a:extLst>
            </p:cNvPr>
            <p:cNvSpPr txBox="1">
              <a:spLocks noChangeArrowheads="1"/>
            </p:cNvSpPr>
            <p:nvPr/>
          </p:nvSpPr>
          <p:spPr bwMode="auto">
            <a:xfrm>
              <a:off x="10647275" y="2547806"/>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射线</a:t>
              </a:r>
            </a:p>
          </p:txBody>
        </p:sp>
        <p:sp>
          <p:nvSpPr>
            <p:cNvPr id="134" name="Text Box 39">
              <a:extLst>
                <a:ext uri="{FF2B5EF4-FFF2-40B4-BE49-F238E27FC236}">
                  <a16:creationId xmlns:a16="http://schemas.microsoft.com/office/drawing/2014/main" id="{A33F133E-199B-4236-9853-6DA9EFDC40C7}"/>
                </a:ext>
              </a:extLst>
            </p:cNvPr>
            <p:cNvSpPr txBox="1">
              <a:spLocks noChangeArrowheads="1"/>
            </p:cNvSpPr>
            <p:nvPr/>
          </p:nvSpPr>
          <p:spPr bwMode="auto">
            <a:xfrm>
              <a:off x="2588654" y="3878690"/>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双绞线</a:t>
              </a:r>
            </a:p>
          </p:txBody>
        </p:sp>
        <p:sp>
          <p:nvSpPr>
            <p:cNvPr id="135" name="Line 40">
              <a:extLst>
                <a:ext uri="{FF2B5EF4-FFF2-40B4-BE49-F238E27FC236}">
                  <a16:creationId xmlns:a16="http://schemas.microsoft.com/office/drawing/2014/main" id="{2F2BF31E-520A-4C2E-A2BA-4809CE29E24A}"/>
                </a:ext>
              </a:extLst>
            </p:cNvPr>
            <p:cNvSpPr>
              <a:spLocks noChangeShapeType="1"/>
            </p:cNvSpPr>
            <p:nvPr/>
          </p:nvSpPr>
          <p:spPr bwMode="auto">
            <a:xfrm>
              <a:off x="2319839" y="4234542"/>
              <a:ext cx="1647695"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Text Box 41">
              <a:extLst>
                <a:ext uri="{FF2B5EF4-FFF2-40B4-BE49-F238E27FC236}">
                  <a16:creationId xmlns:a16="http://schemas.microsoft.com/office/drawing/2014/main" id="{DB24EF1D-D000-46EA-9511-A30FC3492A6C}"/>
                </a:ext>
              </a:extLst>
            </p:cNvPr>
            <p:cNvSpPr txBox="1">
              <a:spLocks noChangeArrowheads="1"/>
            </p:cNvSpPr>
            <p:nvPr/>
          </p:nvSpPr>
          <p:spPr bwMode="auto">
            <a:xfrm>
              <a:off x="3855367" y="4261231"/>
              <a:ext cx="1214498"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dirty="0">
                  <a:ea typeface="黑体" panose="02010609060101010101" pitchFamily="49" charset="-122"/>
                </a:rPr>
                <a:t>同轴电缆</a:t>
              </a:r>
            </a:p>
          </p:txBody>
        </p:sp>
        <p:sp>
          <p:nvSpPr>
            <p:cNvPr id="137" name="Line 42">
              <a:extLst>
                <a:ext uri="{FF2B5EF4-FFF2-40B4-BE49-F238E27FC236}">
                  <a16:creationId xmlns:a16="http://schemas.microsoft.com/office/drawing/2014/main" id="{6CDD5240-341C-49C5-9B1F-A186E188D696}"/>
                </a:ext>
              </a:extLst>
            </p:cNvPr>
            <p:cNvSpPr>
              <a:spLocks noChangeShapeType="1"/>
            </p:cNvSpPr>
            <p:nvPr/>
          </p:nvSpPr>
          <p:spPr bwMode="auto">
            <a:xfrm>
              <a:off x="3039255" y="4652668"/>
              <a:ext cx="278483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Text Box 43">
              <a:extLst>
                <a:ext uri="{FF2B5EF4-FFF2-40B4-BE49-F238E27FC236}">
                  <a16:creationId xmlns:a16="http://schemas.microsoft.com/office/drawing/2014/main" id="{421931F6-E3F3-4082-984F-547FBAC6E4BC}"/>
                </a:ext>
              </a:extLst>
            </p:cNvPr>
            <p:cNvSpPr txBox="1">
              <a:spLocks noChangeArrowheads="1"/>
            </p:cNvSpPr>
            <p:nvPr/>
          </p:nvSpPr>
          <p:spPr bwMode="auto">
            <a:xfrm>
              <a:off x="5916920" y="3884029"/>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卫星</a:t>
              </a:r>
            </a:p>
          </p:txBody>
        </p:sp>
        <p:sp>
          <p:nvSpPr>
            <p:cNvPr id="139" name="Line 44">
              <a:extLst>
                <a:ext uri="{FF2B5EF4-FFF2-40B4-BE49-F238E27FC236}">
                  <a16:creationId xmlns:a16="http://schemas.microsoft.com/office/drawing/2014/main" id="{41AC8E9A-6A08-4EF5-B34B-46B0AB03A29D}"/>
                </a:ext>
              </a:extLst>
            </p:cNvPr>
            <p:cNvSpPr>
              <a:spLocks noChangeShapeType="1"/>
            </p:cNvSpPr>
            <p:nvPr/>
          </p:nvSpPr>
          <p:spPr bwMode="auto">
            <a:xfrm>
              <a:off x="5638436" y="4268348"/>
              <a:ext cx="1392419"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Text Box 45">
              <a:extLst>
                <a:ext uri="{FF2B5EF4-FFF2-40B4-BE49-F238E27FC236}">
                  <a16:creationId xmlns:a16="http://schemas.microsoft.com/office/drawing/2014/main" id="{342CBEB0-EB8A-451A-A567-D3E4D2065572}"/>
                </a:ext>
              </a:extLst>
            </p:cNvPr>
            <p:cNvSpPr txBox="1">
              <a:spLocks noChangeArrowheads="1"/>
            </p:cNvSpPr>
            <p:nvPr/>
          </p:nvSpPr>
          <p:spPr bwMode="auto">
            <a:xfrm>
              <a:off x="6098708" y="4353753"/>
              <a:ext cx="1214498"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地面微波</a:t>
              </a:r>
            </a:p>
          </p:txBody>
        </p:sp>
        <p:sp>
          <p:nvSpPr>
            <p:cNvPr id="141" name="Line 46">
              <a:extLst>
                <a:ext uri="{FF2B5EF4-FFF2-40B4-BE49-F238E27FC236}">
                  <a16:creationId xmlns:a16="http://schemas.microsoft.com/office/drawing/2014/main" id="{E201430B-EB93-44F0-A814-920CDB25A827}"/>
                </a:ext>
              </a:extLst>
            </p:cNvPr>
            <p:cNvSpPr>
              <a:spLocks noChangeShapeType="1"/>
            </p:cNvSpPr>
            <p:nvPr/>
          </p:nvSpPr>
          <p:spPr bwMode="auto">
            <a:xfrm>
              <a:off x="6087105" y="4746968"/>
              <a:ext cx="114487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 name="Text Box 47">
              <a:extLst>
                <a:ext uri="{FF2B5EF4-FFF2-40B4-BE49-F238E27FC236}">
                  <a16:creationId xmlns:a16="http://schemas.microsoft.com/office/drawing/2014/main" id="{EA1B9012-5093-493E-B64F-0DA7F377A97F}"/>
                </a:ext>
              </a:extLst>
            </p:cNvPr>
            <p:cNvSpPr txBox="1">
              <a:spLocks noChangeArrowheads="1"/>
            </p:cNvSpPr>
            <p:nvPr/>
          </p:nvSpPr>
          <p:spPr bwMode="auto">
            <a:xfrm>
              <a:off x="3317739" y="4782553"/>
              <a:ext cx="966957" cy="5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0"/>
                </a:spcBef>
                <a:buClrTx/>
                <a:buFontTx/>
                <a:buNone/>
              </a:pPr>
              <a:r>
                <a:rPr lang="zh-CN" altLang="en-US" sz="1600">
                  <a:ea typeface="黑体" panose="02010609060101010101" pitchFamily="49" charset="-122"/>
                </a:rPr>
                <a:t>  调幅</a:t>
              </a:r>
            </a:p>
            <a:p>
              <a:pPr algn="ctr" eaLnBrk="1" hangingPunct="1">
                <a:lnSpc>
                  <a:spcPct val="90000"/>
                </a:lnSpc>
                <a:spcBef>
                  <a:spcPct val="0"/>
                </a:spcBef>
                <a:buClrTx/>
                <a:buFontTx/>
                <a:buNone/>
              </a:pPr>
              <a:r>
                <a:rPr lang="zh-CN" altLang="en-US" sz="1600">
                  <a:ea typeface="黑体" panose="02010609060101010101" pitchFamily="49" charset="-122"/>
                </a:rPr>
                <a:t>无线电</a:t>
              </a:r>
            </a:p>
          </p:txBody>
        </p:sp>
        <p:sp>
          <p:nvSpPr>
            <p:cNvPr id="143" name="Text Box 48">
              <a:extLst>
                <a:ext uri="{FF2B5EF4-FFF2-40B4-BE49-F238E27FC236}">
                  <a16:creationId xmlns:a16="http://schemas.microsoft.com/office/drawing/2014/main" id="{84451953-3CA0-4257-A586-D46E1474FA7E}"/>
                </a:ext>
              </a:extLst>
            </p:cNvPr>
            <p:cNvSpPr txBox="1">
              <a:spLocks noChangeArrowheads="1"/>
            </p:cNvSpPr>
            <p:nvPr/>
          </p:nvSpPr>
          <p:spPr bwMode="auto">
            <a:xfrm>
              <a:off x="4617329" y="4790675"/>
              <a:ext cx="966957" cy="5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0"/>
                </a:spcBef>
                <a:buClrTx/>
                <a:buFontTx/>
                <a:buNone/>
              </a:pPr>
              <a:r>
                <a:rPr lang="zh-CN" altLang="en-US" sz="1600" dirty="0">
                  <a:ea typeface="黑体" panose="02010609060101010101" pitchFamily="49" charset="-122"/>
                </a:rPr>
                <a:t>  调频</a:t>
              </a:r>
            </a:p>
            <a:p>
              <a:pPr algn="ctr" eaLnBrk="1" hangingPunct="1">
                <a:lnSpc>
                  <a:spcPct val="90000"/>
                </a:lnSpc>
                <a:spcBef>
                  <a:spcPct val="0"/>
                </a:spcBef>
                <a:buClrTx/>
                <a:buFontTx/>
                <a:buNone/>
              </a:pPr>
              <a:r>
                <a:rPr lang="zh-CN" altLang="en-US" sz="1600" dirty="0">
                  <a:ea typeface="黑体" panose="02010609060101010101" pitchFamily="49" charset="-122"/>
                </a:rPr>
                <a:t>无线电</a:t>
              </a:r>
            </a:p>
          </p:txBody>
        </p:sp>
        <p:sp>
          <p:nvSpPr>
            <p:cNvPr id="144" name="Text Box 49">
              <a:extLst>
                <a:ext uri="{FF2B5EF4-FFF2-40B4-BE49-F238E27FC236}">
                  <a16:creationId xmlns:a16="http://schemas.microsoft.com/office/drawing/2014/main" id="{5711EFE8-0A52-4E19-9DCC-A4CD7E0A5988}"/>
                </a:ext>
              </a:extLst>
            </p:cNvPr>
            <p:cNvSpPr txBox="1">
              <a:spLocks noChangeArrowheads="1"/>
            </p:cNvSpPr>
            <p:nvPr/>
          </p:nvSpPr>
          <p:spPr bwMode="auto">
            <a:xfrm>
              <a:off x="2432006" y="4786112"/>
              <a:ext cx="966957" cy="5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0"/>
                </a:spcBef>
                <a:buClrTx/>
                <a:buFontTx/>
                <a:buNone/>
              </a:pPr>
              <a:r>
                <a:rPr lang="zh-CN" altLang="en-US" sz="1600">
                  <a:ea typeface="黑体" panose="02010609060101010101" pitchFamily="49" charset="-122"/>
                </a:rPr>
                <a:t>  海事</a:t>
              </a:r>
            </a:p>
            <a:p>
              <a:pPr algn="ctr" eaLnBrk="1" hangingPunct="1">
                <a:lnSpc>
                  <a:spcPct val="90000"/>
                </a:lnSpc>
                <a:spcBef>
                  <a:spcPct val="0"/>
                </a:spcBef>
                <a:buClrTx/>
                <a:buFontTx/>
                <a:buNone/>
              </a:pPr>
              <a:r>
                <a:rPr lang="zh-CN" altLang="en-US" sz="1600">
                  <a:ea typeface="黑体" panose="02010609060101010101" pitchFamily="49" charset="-122"/>
                </a:rPr>
                <a:t>无线电</a:t>
              </a:r>
            </a:p>
          </p:txBody>
        </p:sp>
        <p:sp>
          <p:nvSpPr>
            <p:cNvPr id="145" name="Line 50">
              <a:extLst>
                <a:ext uri="{FF2B5EF4-FFF2-40B4-BE49-F238E27FC236}">
                  <a16:creationId xmlns:a16="http://schemas.microsoft.com/office/drawing/2014/main" id="{6DE45D3C-6464-4D2A-A101-B1C87AAEDA33}"/>
                </a:ext>
              </a:extLst>
            </p:cNvPr>
            <p:cNvSpPr>
              <a:spLocks noChangeShapeType="1"/>
            </p:cNvSpPr>
            <p:nvPr/>
          </p:nvSpPr>
          <p:spPr bwMode="auto">
            <a:xfrm>
              <a:off x="4942227" y="5411636"/>
              <a:ext cx="526025"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 name="Text Box 51">
              <a:extLst>
                <a:ext uri="{FF2B5EF4-FFF2-40B4-BE49-F238E27FC236}">
                  <a16:creationId xmlns:a16="http://schemas.microsoft.com/office/drawing/2014/main" id="{FECD6287-591F-43C3-B693-07FEA59851A3}"/>
                </a:ext>
              </a:extLst>
            </p:cNvPr>
            <p:cNvSpPr txBox="1">
              <a:spLocks noChangeArrowheads="1"/>
            </p:cNvSpPr>
            <p:nvPr/>
          </p:nvSpPr>
          <p:spPr bwMode="auto">
            <a:xfrm>
              <a:off x="9475323" y="3910717"/>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光纤</a:t>
              </a:r>
            </a:p>
          </p:txBody>
        </p:sp>
        <p:sp>
          <p:nvSpPr>
            <p:cNvPr id="147" name="Line 52">
              <a:extLst>
                <a:ext uri="{FF2B5EF4-FFF2-40B4-BE49-F238E27FC236}">
                  <a16:creationId xmlns:a16="http://schemas.microsoft.com/office/drawing/2014/main" id="{FBCE7258-2FAB-4E6F-910B-96CAB7FA921D}"/>
                </a:ext>
              </a:extLst>
            </p:cNvPr>
            <p:cNvSpPr>
              <a:spLocks noChangeShapeType="1"/>
            </p:cNvSpPr>
            <p:nvPr/>
          </p:nvSpPr>
          <p:spPr bwMode="auto">
            <a:xfrm>
              <a:off x="9444380" y="4282582"/>
              <a:ext cx="727152"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 name="Text Box 53">
              <a:extLst>
                <a:ext uri="{FF2B5EF4-FFF2-40B4-BE49-F238E27FC236}">
                  <a16:creationId xmlns:a16="http://schemas.microsoft.com/office/drawing/2014/main" id="{98FDE2F7-7649-498E-8868-2083A2063015}"/>
                </a:ext>
              </a:extLst>
            </p:cNvPr>
            <p:cNvSpPr txBox="1">
              <a:spLocks noChangeArrowheads="1"/>
            </p:cNvSpPr>
            <p:nvPr/>
          </p:nvSpPr>
          <p:spPr bwMode="auto">
            <a:xfrm>
              <a:off x="5174297" y="5394618"/>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dirty="0">
                  <a:ea typeface="黑体" panose="02010609060101010101" pitchFamily="49" charset="-122"/>
                </a:rPr>
                <a:t>电视</a:t>
              </a:r>
            </a:p>
          </p:txBody>
        </p:sp>
        <p:sp>
          <p:nvSpPr>
            <p:cNvPr id="149" name="Line 54">
              <a:extLst>
                <a:ext uri="{FF2B5EF4-FFF2-40B4-BE49-F238E27FC236}">
                  <a16:creationId xmlns:a16="http://schemas.microsoft.com/office/drawing/2014/main" id="{B1F180EC-323A-4616-BF15-71FA0AB7A552}"/>
                </a:ext>
              </a:extLst>
            </p:cNvPr>
            <p:cNvSpPr>
              <a:spLocks noChangeShapeType="1"/>
            </p:cNvSpPr>
            <p:nvPr/>
          </p:nvSpPr>
          <p:spPr bwMode="auto">
            <a:xfrm flipV="1">
              <a:off x="7309339" y="2697263"/>
              <a:ext cx="232070" cy="512426"/>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 name="Line 55">
              <a:extLst>
                <a:ext uri="{FF2B5EF4-FFF2-40B4-BE49-F238E27FC236}">
                  <a16:creationId xmlns:a16="http://schemas.microsoft.com/office/drawing/2014/main" id="{2BE8E785-D299-45FB-955D-B914EBCEB368}"/>
                </a:ext>
              </a:extLst>
            </p:cNvPr>
            <p:cNvSpPr>
              <a:spLocks noChangeShapeType="1"/>
            </p:cNvSpPr>
            <p:nvPr/>
          </p:nvSpPr>
          <p:spPr bwMode="auto">
            <a:xfrm flipH="1" flipV="1">
              <a:off x="7835363" y="2697263"/>
              <a:ext cx="100564" cy="508868"/>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1" name="Line 56">
              <a:extLst>
                <a:ext uri="{FF2B5EF4-FFF2-40B4-BE49-F238E27FC236}">
                  <a16:creationId xmlns:a16="http://schemas.microsoft.com/office/drawing/2014/main" id="{DEB48169-5397-411A-85A1-C59271D83D59}"/>
                </a:ext>
              </a:extLst>
            </p:cNvPr>
            <p:cNvSpPr>
              <a:spLocks noChangeShapeType="1"/>
            </p:cNvSpPr>
            <p:nvPr/>
          </p:nvSpPr>
          <p:spPr bwMode="auto">
            <a:xfrm>
              <a:off x="2482288" y="5430203"/>
              <a:ext cx="835451"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 name="Line 57">
              <a:extLst>
                <a:ext uri="{FF2B5EF4-FFF2-40B4-BE49-F238E27FC236}">
                  <a16:creationId xmlns:a16="http://schemas.microsoft.com/office/drawing/2014/main" id="{C676D81D-1DAA-45CB-80A3-A904F3F50E06}"/>
                </a:ext>
              </a:extLst>
            </p:cNvPr>
            <p:cNvSpPr>
              <a:spLocks noChangeShapeType="1"/>
            </p:cNvSpPr>
            <p:nvPr/>
          </p:nvSpPr>
          <p:spPr bwMode="auto">
            <a:xfrm>
              <a:off x="3503395" y="5430203"/>
              <a:ext cx="55696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 name="Line 58">
              <a:extLst>
                <a:ext uri="{FF2B5EF4-FFF2-40B4-BE49-F238E27FC236}">
                  <a16:creationId xmlns:a16="http://schemas.microsoft.com/office/drawing/2014/main" id="{8732E0D3-167B-4273-BA0B-E8E7FA652C5B}"/>
                </a:ext>
              </a:extLst>
            </p:cNvPr>
            <p:cNvSpPr>
              <a:spLocks noChangeShapeType="1"/>
            </p:cNvSpPr>
            <p:nvPr/>
          </p:nvSpPr>
          <p:spPr bwMode="auto">
            <a:xfrm>
              <a:off x="4988641" y="5771820"/>
              <a:ext cx="912808"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59">
              <a:extLst>
                <a:ext uri="{FF2B5EF4-FFF2-40B4-BE49-F238E27FC236}">
                  <a16:creationId xmlns:a16="http://schemas.microsoft.com/office/drawing/2014/main" id="{C6F5AA69-885F-426B-9390-A196A733F4B6}"/>
                </a:ext>
              </a:extLst>
            </p:cNvPr>
            <p:cNvSpPr>
              <a:spLocks noChangeShapeType="1"/>
            </p:cNvSpPr>
            <p:nvPr/>
          </p:nvSpPr>
          <p:spPr bwMode="auto">
            <a:xfrm>
              <a:off x="2314038" y="5848329"/>
              <a:ext cx="860011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Line 60">
              <a:extLst>
                <a:ext uri="{FF2B5EF4-FFF2-40B4-BE49-F238E27FC236}">
                  <a16:creationId xmlns:a16="http://schemas.microsoft.com/office/drawing/2014/main" id="{A552AE20-2F27-468C-95BD-0570A41382D1}"/>
                </a:ext>
              </a:extLst>
            </p:cNvPr>
            <p:cNvSpPr>
              <a:spLocks noChangeShapeType="1"/>
            </p:cNvSpPr>
            <p:nvPr/>
          </p:nvSpPr>
          <p:spPr bwMode="auto">
            <a:xfrm>
              <a:off x="2327575" y="3884029"/>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 name="Line 61">
              <a:extLst>
                <a:ext uri="{FF2B5EF4-FFF2-40B4-BE49-F238E27FC236}">
                  <a16:creationId xmlns:a16="http://schemas.microsoft.com/office/drawing/2014/main" id="{2C2B9147-BACE-4971-9142-DC86F438B1D6}"/>
                </a:ext>
              </a:extLst>
            </p:cNvPr>
            <p:cNvSpPr>
              <a:spLocks noChangeShapeType="1"/>
            </p:cNvSpPr>
            <p:nvPr/>
          </p:nvSpPr>
          <p:spPr bwMode="auto">
            <a:xfrm>
              <a:off x="5897581" y="3876912"/>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 name="Line 62">
              <a:extLst>
                <a:ext uri="{FF2B5EF4-FFF2-40B4-BE49-F238E27FC236}">
                  <a16:creationId xmlns:a16="http://schemas.microsoft.com/office/drawing/2014/main" id="{EABD9C45-D64D-4B00-93D5-C57F350B1FD1}"/>
                </a:ext>
              </a:extLst>
            </p:cNvPr>
            <p:cNvSpPr>
              <a:spLocks noChangeShapeType="1"/>
            </p:cNvSpPr>
            <p:nvPr/>
          </p:nvSpPr>
          <p:spPr bwMode="auto">
            <a:xfrm>
              <a:off x="7320942" y="3885807"/>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8" name="Line 63">
              <a:extLst>
                <a:ext uri="{FF2B5EF4-FFF2-40B4-BE49-F238E27FC236}">
                  <a16:creationId xmlns:a16="http://schemas.microsoft.com/office/drawing/2014/main" id="{016ACE82-9BB0-4619-B986-FF46E26E66A1}"/>
                </a:ext>
              </a:extLst>
            </p:cNvPr>
            <p:cNvSpPr>
              <a:spLocks noChangeShapeType="1"/>
            </p:cNvSpPr>
            <p:nvPr/>
          </p:nvSpPr>
          <p:spPr bwMode="auto">
            <a:xfrm>
              <a:off x="8032623" y="3882249"/>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 name="Line 64">
              <a:extLst>
                <a:ext uri="{FF2B5EF4-FFF2-40B4-BE49-F238E27FC236}">
                  <a16:creationId xmlns:a16="http://schemas.microsoft.com/office/drawing/2014/main" id="{2ACDBD79-A58A-4E47-A0E4-7916C2F385D9}"/>
                </a:ext>
              </a:extLst>
            </p:cNvPr>
            <p:cNvSpPr>
              <a:spLocks noChangeShapeType="1"/>
            </p:cNvSpPr>
            <p:nvPr/>
          </p:nvSpPr>
          <p:spPr bwMode="auto">
            <a:xfrm>
              <a:off x="8750106" y="3884029"/>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 name="Line 65">
              <a:extLst>
                <a:ext uri="{FF2B5EF4-FFF2-40B4-BE49-F238E27FC236}">
                  <a16:creationId xmlns:a16="http://schemas.microsoft.com/office/drawing/2014/main" id="{E36F3665-D379-49B3-85E3-85FF6876D9E7}"/>
                </a:ext>
              </a:extLst>
            </p:cNvPr>
            <p:cNvSpPr>
              <a:spLocks noChangeShapeType="1"/>
            </p:cNvSpPr>
            <p:nvPr/>
          </p:nvSpPr>
          <p:spPr bwMode="auto">
            <a:xfrm>
              <a:off x="9467587" y="3896483"/>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1" name="Line 66">
              <a:extLst>
                <a:ext uri="{FF2B5EF4-FFF2-40B4-BE49-F238E27FC236}">
                  <a16:creationId xmlns:a16="http://schemas.microsoft.com/office/drawing/2014/main" id="{84EA8507-FD62-497E-9975-22A720BDBEB7}"/>
                </a:ext>
              </a:extLst>
            </p:cNvPr>
            <p:cNvSpPr>
              <a:spLocks noChangeShapeType="1"/>
            </p:cNvSpPr>
            <p:nvPr/>
          </p:nvSpPr>
          <p:spPr bwMode="auto">
            <a:xfrm>
              <a:off x="10179268" y="3887587"/>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 name="Line 67">
              <a:extLst>
                <a:ext uri="{FF2B5EF4-FFF2-40B4-BE49-F238E27FC236}">
                  <a16:creationId xmlns:a16="http://schemas.microsoft.com/office/drawing/2014/main" id="{2F6BC8BC-CFA0-41FE-B473-A1BA1C5030ED}"/>
                </a:ext>
              </a:extLst>
            </p:cNvPr>
            <p:cNvSpPr>
              <a:spLocks noChangeShapeType="1"/>
            </p:cNvSpPr>
            <p:nvPr/>
          </p:nvSpPr>
          <p:spPr bwMode="auto">
            <a:xfrm>
              <a:off x="10896751" y="3884029"/>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 name="Text Box 69">
              <a:extLst>
                <a:ext uri="{FF2B5EF4-FFF2-40B4-BE49-F238E27FC236}">
                  <a16:creationId xmlns:a16="http://schemas.microsoft.com/office/drawing/2014/main" id="{D1D05176-5525-4E29-A2FE-524E90687BFE}"/>
                </a:ext>
              </a:extLst>
            </p:cNvPr>
            <p:cNvSpPr txBox="1">
              <a:spLocks noChangeArrowheads="1"/>
            </p:cNvSpPr>
            <p:nvPr/>
          </p:nvSpPr>
          <p:spPr bwMode="auto">
            <a:xfrm>
              <a:off x="1249537" y="2186617"/>
              <a:ext cx="1134971" cy="413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800" b="1" dirty="0">
                  <a:ea typeface="黑体" panose="02010609060101010101" pitchFamily="49" charset="-122"/>
                </a:rPr>
                <a:t>（</a:t>
              </a:r>
              <a:r>
                <a:rPr lang="en-US" altLang="zh-CN" sz="1800" b="1" dirty="0">
                  <a:ea typeface="黑体" panose="02010609060101010101" pitchFamily="49" charset="-122"/>
                </a:rPr>
                <a:t>Hz</a:t>
              </a:r>
              <a:r>
                <a:rPr lang="zh-CN" altLang="en-US" sz="1800" b="1" dirty="0">
                  <a:ea typeface="黑体" panose="02010609060101010101" pitchFamily="49" charset="-122"/>
                </a:rPr>
                <a:t>）</a:t>
              </a:r>
              <a:endParaRPr lang="en-US" altLang="zh-CN" sz="1800" b="1" dirty="0">
                <a:ea typeface="黑体" panose="02010609060101010101" pitchFamily="49" charset="-122"/>
              </a:endParaRPr>
            </a:p>
          </p:txBody>
        </p:sp>
        <p:sp>
          <p:nvSpPr>
            <p:cNvPr id="164" name="Text Box 70">
              <a:extLst>
                <a:ext uri="{FF2B5EF4-FFF2-40B4-BE49-F238E27FC236}">
                  <a16:creationId xmlns:a16="http://schemas.microsoft.com/office/drawing/2014/main" id="{2BE3030B-9797-49BF-A173-BEB7A9AF458A}"/>
                </a:ext>
              </a:extLst>
            </p:cNvPr>
            <p:cNvSpPr txBox="1">
              <a:spLocks noChangeArrowheads="1"/>
            </p:cNvSpPr>
            <p:nvPr/>
          </p:nvSpPr>
          <p:spPr bwMode="auto">
            <a:xfrm>
              <a:off x="1275525" y="2184837"/>
              <a:ext cx="317162" cy="41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800" b="1" i="1">
                  <a:ea typeface="黑体" panose="02010609060101010101" pitchFamily="49" charset="-122"/>
                </a:rPr>
                <a:t>f</a:t>
              </a:r>
            </a:p>
          </p:txBody>
        </p:sp>
        <p:sp>
          <p:nvSpPr>
            <p:cNvPr id="165" name="Text Box 72">
              <a:extLst>
                <a:ext uri="{FF2B5EF4-FFF2-40B4-BE49-F238E27FC236}">
                  <a16:creationId xmlns:a16="http://schemas.microsoft.com/office/drawing/2014/main" id="{B7BA3CA1-C26E-4F2F-8F16-231852568784}"/>
                </a:ext>
              </a:extLst>
            </p:cNvPr>
            <p:cNvSpPr txBox="1">
              <a:spLocks noChangeArrowheads="1"/>
            </p:cNvSpPr>
            <p:nvPr/>
          </p:nvSpPr>
          <p:spPr bwMode="auto">
            <a:xfrm>
              <a:off x="1179576" y="3551307"/>
              <a:ext cx="1205272" cy="413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800" b="1" dirty="0">
                  <a:ea typeface="黑体" panose="02010609060101010101" pitchFamily="49" charset="-122"/>
                </a:rPr>
                <a:t> （</a:t>
              </a:r>
              <a:r>
                <a:rPr lang="en-US" altLang="zh-CN" sz="1800" b="1" dirty="0">
                  <a:ea typeface="黑体" panose="02010609060101010101" pitchFamily="49" charset="-122"/>
                </a:rPr>
                <a:t>Hz</a:t>
              </a:r>
              <a:r>
                <a:rPr lang="zh-CN" altLang="en-US" sz="1800" b="1" dirty="0">
                  <a:ea typeface="黑体" panose="02010609060101010101" pitchFamily="49" charset="-122"/>
                </a:rPr>
                <a:t>）</a:t>
              </a:r>
              <a:endParaRPr lang="en-US" altLang="zh-CN" sz="1800" b="1" dirty="0">
                <a:ea typeface="黑体" panose="02010609060101010101" pitchFamily="49" charset="-122"/>
              </a:endParaRPr>
            </a:p>
          </p:txBody>
        </p:sp>
        <p:sp>
          <p:nvSpPr>
            <p:cNvPr id="166" name="Text Box 73">
              <a:extLst>
                <a:ext uri="{FF2B5EF4-FFF2-40B4-BE49-F238E27FC236}">
                  <a16:creationId xmlns:a16="http://schemas.microsoft.com/office/drawing/2014/main" id="{5EC5DABC-D58B-4FDC-914C-E995F638ED6F}"/>
                </a:ext>
              </a:extLst>
            </p:cNvPr>
            <p:cNvSpPr txBox="1">
              <a:spLocks noChangeArrowheads="1"/>
            </p:cNvSpPr>
            <p:nvPr/>
          </p:nvSpPr>
          <p:spPr bwMode="auto">
            <a:xfrm>
              <a:off x="1283261" y="3556645"/>
              <a:ext cx="317162" cy="41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800" b="1" i="1" dirty="0">
                  <a:ea typeface="黑体" panose="02010609060101010101" pitchFamily="49" charset="-122"/>
                </a:rPr>
                <a:t>f</a:t>
              </a:r>
            </a:p>
          </p:txBody>
        </p:sp>
        <p:sp>
          <p:nvSpPr>
            <p:cNvPr id="167" name="Line 74">
              <a:extLst>
                <a:ext uri="{FF2B5EF4-FFF2-40B4-BE49-F238E27FC236}">
                  <a16:creationId xmlns:a16="http://schemas.microsoft.com/office/drawing/2014/main" id="{1D043DC4-2ED0-4608-8A60-B95A28703723}"/>
                </a:ext>
              </a:extLst>
            </p:cNvPr>
            <p:cNvSpPr>
              <a:spLocks noChangeShapeType="1"/>
            </p:cNvSpPr>
            <p:nvPr/>
          </p:nvSpPr>
          <p:spPr bwMode="auto">
            <a:xfrm>
              <a:off x="2575116" y="5848329"/>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 name="Line 75">
              <a:extLst>
                <a:ext uri="{FF2B5EF4-FFF2-40B4-BE49-F238E27FC236}">
                  <a16:creationId xmlns:a16="http://schemas.microsoft.com/office/drawing/2014/main" id="{0CF6B949-BAE2-4282-B38D-2D2DBD2DFD77}"/>
                </a:ext>
              </a:extLst>
            </p:cNvPr>
            <p:cNvSpPr>
              <a:spLocks noChangeShapeType="1"/>
            </p:cNvSpPr>
            <p:nvPr/>
          </p:nvSpPr>
          <p:spPr bwMode="auto">
            <a:xfrm>
              <a:off x="3271325"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76">
              <a:extLst>
                <a:ext uri="{FF2B5EF4-FFF2-40B4-BE49-F238E27FC236}">
                  <a16:creationId xmlns:a16="http://schemas.microsoft.com/office/drawing/2014/main" id="{082AE043-03CF-4852-A16E-4EA96553B0F9}"/>
                </a:ext>
              </a:extLst>
            </p:cNvPr>
            <p:cNvSpPr>
              <a:spLocks noChangeShapeType="1"/>
            </p:cNvSpPr>
            <p:nvPr/>
          </p:nvSpPr>
          <p:spPr bwMode="auto">
            <a:xfrm>
              <a:off x="3973336" y="5864342"/>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0" name="Line 77">
              <a:extLst>
                <a:ext uri="{FF2B5EF4-FFF2-40B4-BE49-F238E27FC236}">
                  <a16:creationId xmlns:a16="http://schemas.microsoft.com/office/drawing/2014/main" id="{5FB51AD2-BF43-4878-96A8-78A9A6F4754A}"/>
                </a:ext>
              </a:extLst>
            </p:cNvPr>
            <p:cNvSpPr>
              <a:spLocks noChangeShapeType="1"/>
            </p:cNvSpPr>
            <p:nvPr/>
          </p:nvSpPr>
          <p:spPr bwMode="auto">
            <a:xfrm>
              <a:off x="4698554"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1" name="Line 78">
              <a:extLst>
                <a:ext uri="{FF2B5EF4-FFF2-40B4-BE49-F238E27FC236}">
                  <a16:creationId xmlns:a16="http://schemas.microsoft.com/office/drawing/2014/main" id="{83670A74-5E63-47FF-BBF8-8C55FD374127}"/>
                </a:ext>
              </a:extLst>
            </p:cNvPr>
            <p:cNvSpPr>
              <a:spLocks noChangeShapeType="1"/>
            </p:cNvSpPr>
            <p:nvPr/>
          </p:nvSpPr>
          <p:spPr bwMode="auto">
            <a:xfrm>
              <a:off x="5388962"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2" name="Line 79">
              <a:extLst>
                <a:ext uri="{FF2B5EF4-FFF2-40B4-BE49-F238E27FC236}">
                  <a16:creationId xmlns:a16="http://schemas.microsoft.com/office/drawing/2014/main" id="{A6190563-B627-4C80-9459-0EE94A5CDA9B}"/>
                </a:ext>
              </a:extLst>
            </p:cNvPr>
            <p:cNvSpPr>
              <a:spLocks noChangeShapeType="1"/>
            </p:cNvSpPr>
            <p:nvPr/>
          </p:nvSpPr>
          <p:spPr bwMode="auto">
            <a:xfrm>
              <a:off x="6114179"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80">
              <a:extLst>
                <a:ext uri="{FF2B5EF4-FFF2-40B4-BE49-F238E27FC236}">
                  <a16:creationId xmlns:a16="http://schemas.microsoft.com/office/drawing/2014/main" id="{6A987579-67D0-4FDF-8226-319B4BA057FE}"/>
                </a:ext>
              </a:extLst>
            </p:cNvPr>
            <p:cNvSpPr>
              <a:spLocks noChangeShapeType="1"/>
            </p:cNvSpPr>
            <p:nvPr/>
          </p:nvSpPr>
          <p:spPr bwMode="auto">
            <a:xfrm>
              <a:off x="6833596"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 name="Line 81">
              <a:extLst>
                <a:ext uri="{FF2B5EF4-FFF2-40B4-BE49-F238E27FC236}">
                  <a16:creationId xmlns:a16="http://schemas.microsoft.com/office/drawing/2014/main" id="{F6903BEC-21F3-4306-BEC7-05EE577A8015}"/>
                </a:ext>
              </a:extLst>
            </p:cNvPr>
            <p:cNvSpPr>
              <a:spLocks noChangeShapeType="1"/>
            </p:cNvSpPr>
            <p:nvPr/>
          </p:nvSpPr>
          <p:spPr bwMode="auto">
            <a:xfrm>
              <a:off x="7535607"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5" name="Line 82">
              <a:extLst>
                <a:ext uri="{FF2B5EF4-FFF2-40B4-BE49-F238E27FC236}">
                  <a16:creationId xmlns:a16="http://schemas.microsoft.com/office/drawing/2014/main" id="{AB3EB7CE-D4A7-4E35-B1DC-0F46FEA63138}"/>
                </a:ext>
              </a:extLst>
            </p:cNvPr>
            <p:cNvSpPr>
              <a:spLocks noChangeShapeType="1"/>
            </p:cNvSpPr>
            <p:nvPr/>
          </p:nvSpPr>
          <p:spPr bwMode="auto">
            <a:xfrm>
              <a:off x="8266627" y="5864342"/>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6" name="Line 83">
              <a:extLst>
                <a:ext uri="{FF2B5EF4-FFF2-40B4-BE49-F238E27FC236}">
                  <a16:creationId xmlns:a16="http://schemas.microsoft.com/office/drawing/2014/main" id="{9ECB7C6B-987D-49D5-8768-0F2AAD4073B8}"/>
                </a:ext>
              </a:extLst>
            </p:cNvPr>
            <p:cNvSpPr>
              <a:spLocks noChangeShapeType="1"/>
            </p:cNvSpPr>
            <p:nvPr/>
          </p:nvSpPr>
          <p:spPr bwMode="auto">
            <a:xfrm>
              <a:off x="8980241" y="5853666"/>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7" name="Line 84">
              <a:extLst>
                <a:ext uri="{FF2B5EF4-FFF2-40B4-BE49-F238E27FC236}">
                  <a16:creationId xmlns:a16="http://schemas.microsoft.com/office/drawing/2014/main" id="{21968496-9BFB-4C40-B8F2-63F8F5A62938}"/>
                </a:ext>
              </a:extLst>
            </p:cNvPr>
            <p:cNvSpPr>
              <a:spLocks noChangeShapeType="1"/>
            </p:cNvSpPr>
            <p:nvPr/>
          </p:nvSpPr>
          <p:spPr bwMode="auto">
            <a:xfrm>
              <a:off x="9705459" y="5864342"/>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 name="Line 85">
              <a:extLst>
                <a:ext uri="{FF2B5EF4-FFF2-40B4-BE49-F238E27FC236}">
                  <a16:creationId xmlns:a16="http://schemas.microsoft.com/office/drawing/2014/main" id="{B7853B1D-77E5-4608-8D42-A02A0EA2FBD8}"/>
                </a:ext>
              </a:extLst>
            </p:cNvPr>
            <p:cNvSpPr>
              <a:spLocks noChangeShapeType="1"/>
            </p:cNvSpPr>
            <p:nvPr/>
          </p:nvSpPr>
          <p:spPr bwMode="auto">
            <a:xfrm>
              <a:off x="10424876" y="5853666"/>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 name="Text Box 86">
              <a:extLst>
                <a:ext uri="{FF2B5EF4-FFF2-40B4-BE49-F238E27FC236}">
                  <a16:creationId xmlns:a16="http://schemas.microsoft.com/office/drawing/2014/main" id="{1DBBDB8E-86A7-425A-883A-E9B6EC2D647A}"/>
                </a:ext>
              </a:extLst>
            </p:cNvPr>
            <p:cNvSpPr txBox="1">
              <a:spLocks noChangeArrowheads="1"/>
            </p:cNvSpPr>
            <p:nvPr/>
          </p:nvSpPr>
          <p:spPr bwMode="auto">
            <a:xfrm>
              <a:off x="2654407" y="5859004"/>
              <a:ext cx="539563"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LF</a:t>
              </a:r>
            </a:p>
          </p:txBody>
        </p:sp>
        <p:sp>
          <p:nvSpPr>
            <p:cNvPr id="180" name="Text Box 87">
              <a:extLst>
                <a:ext uri="{FF2B5EF4-FFF2-40B4-BE49-F238E27FC236}">
                  <a16:creationId xmlns:a16="http://schemas.microsoft.com/office/drawing/2014/main" id="{FEB769CA-47E1-4923-A6AE-32DAA0D8A8BA}"/>
                </a:ext>
              </a:extLst>
            </p:cNvPr>
            <p:cNvSpPr txBox="1">
              <a:spLocks noChangeArrowheads="1"/>
            </p:cNvSpPr>
            <p:nvPr/>
          </p:nvSpPr>
          <p:spPr bwMode="auto">
            <a:xfrm>
              <a:off x="3368021" y="5859004"/>
              <a:ext cx="609184"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MF</a:t>
              </a:r>
            </a:p>
          </p:txBody>
        </p:sp>
        <p:sp>
          <p:nvSpPr>
            <p:cNvPr id="181" name="Text Box 88">
              <a:extLst>
                <a:ext uri="{FF2B5EF4-FFF2-40B4-BE49-F238E27FC236}">
                  <a16:creationId xmlns:a16="http://schemas.microsoft.com/office/drawing/2014/main" id="{68A749B5-7F03-4114-AE2F-4A7FE499EB3C}"/>
                </a:ext>
              </a:extLst>
            </p:cNvPr>
            <p:cNvSpPr txBox="1">
              <a:spLocks noChangeArrowheads="1"/>
            </p:cNvSpPr>
            <p:nvPr/>
          </p:nvSpPr>
          <p:spPr bwMode="auto">
            <a:xfrm>
              <a:off x="4081636" y="5859004"/>
              <a:ext cx="568571"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HF</a:t>
              </a:r>
            </a:p>
          </p:txBody>
        </p:sp>
        <p:sp>
          <p:nvSpPr>
            <p:cNvPr id="182" name="Text Box 89">
              <a:extLst>
                <a:ext uri="{FF2B5EF4-FFF2-40B4-BE49-F238E27FC236}">
                  <a16:creationId xmlns:a16="http://schemas.microsoft.com/office/drawing/2014/main" id="{907EE247-15E1-48A9-A1C5-57423F9937B1}"/>
                </a:ext>
              </a:extLst>
            </p:cNvPr>
            <p:cNvSpPr txBox="1">
              <a:spLocks noChangeArrowheads="1"/>
            </p:cNvSpPr>
            <p:nvPr/>
          </p:nvSpPr>
          <p:spPr bwMode="auto">
            <a:xfrm>
              <a:off x="4714025" y="5859004"/>
              <a:ext cx="746491"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VHF</a:t>
              </a:r>
            </a:p>
          </p:txBody>
        </p:sp>
        <p:sp>
          <p:nvSpPr>
            <p:cNvPr id="183" name="Text Box 90">
              <a:extLst>
                <a:ext uri="{FF2B5EF4-FFF2-40B4-BE49-F238E27FC236}">
                  <a16:creationId xmlns:a16="http://schemas.microsoft.com/office/drawing/2014/main" id="{60D5AC92-6878-4913-9CEB-23EFA687D9C7}"/>
                </a:ext>
              </a:extLst>
            </p:cNvPr>
            <p:cNvSpPr txBox="1">
              <a:spLocks noChangeArrowheads="1"/>
            </p:cNvSpPr>
            <p:nvPr/>
          </p:nvSpPr>
          <p:spPr bwMode="auto">
            <a:xfrm>
              <a:off x="5410234" y="5859004"/>
              <a:ext cx="746491"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UHF</a:t>
              </a:r>
            </a:p>
          </p:txBody>
        </p:sp>
        <p:sp>
          <p:nvSpPr>
            <p:cNvPr id="184" name="Text Box 91">
              <a:extLst>
                <a:ext uri="{FF2B5EF4-FFF2-40B4-BE49-F238E27FC236}">
                  <a16:creationId xmlns:a16="http://schemas.microsoft.com/office/drawing/2014/main" id="{AC247ECD-7100-4A06-B62D-0F4DD24B9835}"/>
                </a:ext>
              </a:extLst>
            </p:cNvPr>
            <p:cNvSpPr txBox="1">
              <a:spLocks noChangeArrowheads="1"/>
            </p:cNvSpPr>
            <p:nvPr/>
          </p:nvSpPr>
          <p:spPr bwMode="auto">
            <a:xfrm>
              <a:off x="6100643" y="5859004"/>
              <a:ext cx="705879"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SHF</a:t>
              </a:r>
            </a:p>
          </p:txBody>
        </p:sp>
        <p:sp>
          <p:nvSpPr>
            <p:cNvPr id="185" name="Text Box 92">
              <a:extLst>
                <a:ext uri="{FF2B5EF4-FFF2-40B4-BE49-F238E27FC236}">
                  <a16:creationId xmlns:a16="http://schemas.microsoft.com/office/drawing/2014/main" id="{3D35BB80-90CD-46CC-BD47-58D8FF733F05}"/>
                </a:ext>
              </a:extLst>
            </p:cNvPr>
            <p:cNvSpPr txBox="1">
              <a:spLocks noChangeArrowheads="1"/>
            </p:cNvSpPr>
            <p:nvPr/>
          </p:nvSpPr>
          <p:spPr bwMode="auto">
            <a:xfrm>
              <a:off x="6831662" y="5859004"/>
              <a:ext cx="732954"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EHF</a:t>
              </a:r>
            </a:p>
          </p:txBody>
        </p:sp>
        <p:sp>
          <p:nvSpPr>
            <p:cNvPr id="186" name="Text Box 93">
              <a:extLst>
                <a:ext uri="{FF2B5EF4-FFF2-40B4-BE49-F238E27FC236}">
                  <a16:creationId xmlns:a16="http://schemas.microsoft.com/office/drawing/2014/main" id="{46809816-6491-476C-B0C5-5E81843EADC9}"/>
                </a:ext>
              </a:extLst>
            </p:cNvPr>
            <p:cNvSpPr txBox="1">
              <a:spLocks noChangeArrowheads="1"/>
            </p:cNvSpPr>
            <p:nvPr/>
          </p:nvSpPr>
          <p:spPr bwMode="auto">
            <a:xfrm>
              <a:off x="7539475" y="5859004"/>
              <a:ext cx="732954"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THF</a:t>
              </a:r>
            </a:p>
          </p:txBody>
        </p:sp>
        <p:sp>
          <p:nvSpPr>
            <p:cNvPr id="187" name="Text Box 94">
              <a:extLst>
                <a:ext uri="{FF2B5EF4-FFF2-40B4-BE49-F238E27FC236}">
                  <a16:creationId xmlns:a16="http://schemas.microsoft.com/office/drawing/2014/main" id="{9D54A73D-A539-49E2-B639-2AFFB00F2288}"/>
                </a:ext>
              </a:extLst>
            </p:cNvPr>
            <p:cNvSpPr txBox="1">
              <a:spLocks noChangeArrowheads="1"/>
            </p:cNvSpPr>
            <p:nvPr/>
          </p:nvSpPr>
          <p:spPr bwMode="auto">
            <a:xfrm>
              <a:off x="1461181" y="5771820"/>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波段</a:t>
              </a:r>
            </a:p>
          </p:txBody>
        </p:sp>
        <p:sp>
          <p:nvSpPr>
            <p:cNvPr id="188" name="Text Box 95">
              <a:extLst>
                <a:ext uri="{FF2B5EF4-FFF2-40B4-BE49-F238E27FC236}">
                  <a16:creationId xmlns:a16="http://schemas.microsoft.com/office/drawing/2014/main" id="{EA86CFA5-ED84-4E71-AC3C-7E01033B59A7}"/>
                </a:ext>
              </a:extLst>
            </p:cNvPr>
            <p:cNvSpPr txBox="1">
              <a:spLocks noChangeArrowheads="1"/>
            </p:cNvSpPr>
            <p:nvPr/>
          </p:nvSpPr>
          <p:spPr bwMode="auto">
            <a:xfrm>
              <a:off x="1898245" y="3479670"/>
              <a:ext cx="9228641"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b="1" dirty="0">
                  <a:ea typeface="黑体" panose="02010609060101010101" pitchFamily="49" charset="-122"/>
                </a:rPr>
                <a:t>10</a:t>
              </a:r>
              <a:r>
                <a:rPr lang="zh-CN" altLang="en-US" sz="1600" b="1" baseline="30000" dirty="0">
                  <a:ea typeface="黑体" panose="02010609060101010101" pitchFamily="49" charset="-122"/>
                </a:rPr>
                <a:t>4         </a:t>
              </a:r>
              <a:r>
                <a:rPr lang="zh-CN" altLang="en-US" sz="1600" b="1" dirty="0">
                  <a:ea typeface="黑体" panose="02010609060101010101" pitchFamily="49" charset="-122"/>
                </a:rPr>
                <a:t>10</a:t>
              </a:r>
              <a:r>
                <a:rPr lang="zh-CN" altLang="en-US" sz="1600" b="1" baseline="30000" dirty="0">
                  <a:ea typeface="黑体" panose="02010609060101010101" pitchFamily="49" charset="-122"/>
                </a:rPr>
                <a:t>5         </a:t>
              </a:r>
              <a:r>
                <a:rPr lang="zh-CN" altLang="en-US" sz="1600" b="1" dirty="0">
                  <a:ea typeface="黑体" panose="02010609060101010101" pitchFamily="49" charset="-122"/>
                </a:rPr>
                <a:t>10</a:t>
              </a:r>
              <a:r>
                <a:rPr lang="zh-CN" altLang="en-US" sz="1600" b="1" baseline="30000" dirty="0">
                  <a:ea typeface="黑体" panose="02010609060101010101" pitchFamily="49" charset="-122"/>
                </a:rPr>
                <a:t>6         </a:t>
              </a:r>
              <a:r>
                <a:rPr lang="zh-CN" altLang="en-US" sz="1600" b="1" dirty="0">
                  <a:ea typeface="黑体" panose="02010609060101010101" pitchFamily="49" charset="-122"/>
                </a:rPr>
                <a:t>10</a:t>
              </a:r>
              <a:r>
                <a:rPr lang="zh-CN" altLang="en-US" sz="1600" b="1" baseline="30000" dirty="0">
                  <a:ea typeface="黑体" panose="02010609060101010101" pitchFamily="49" charset="-122"/>
                </a:rPr>
                <a:t>7         </a:t>
              </a:r>
              <a:r>
                <a:rPr lang="zh-CN" altLang="en-US" sz="1600" b="1" dirty="0">
                  <a:ea typeface="黑体" panose="02010609060101010101" pitchFamily="49" charset="-122"/>
                </a:rPr>
                <a:t>10</a:t>
              </a:r>
              <a:r>
                <a:rPr lang="zh-CN" altLang="en-US" sz="1600" b="1" baseline="30000" dirty="0">
                  <a:ea typeface="黑体" panose="02010609060101010101" pitchFamily="49" charset="-122"/>
                </a:rPr>
                <a:t>8         </a:t>
              </a:r>
              <a:r>
                <a:rPr lang="zh-CN" altLang="en-US" sz="1600" b="1" dirty="0">
                  <a:ea typeface="黑体" panose="02010609060101010101" pitchFamily="49" charset="-122"/>
                </a:rPr>
                <a:t>10</a:t>
              </a:r>
              <a:r>
                <a:rPr lang="zh-CN" altLang="en-US" sz="1600" b="1" baseline="30000" dirty="0">
                  <a:ea typeface="黑体" panose="02010609060101010101" pitchFamily="49" charset="-122"/>
                </a:rPr>
                <a:t>9         </a:t>
              </a:r>
              <a:r>
                <a:rPr lang="zh-CN" altLang="en-US" sz="1600" b="1" dirty="0">
                  <a:ea typeface="黑体" panose="02010609060101010101" pitchFamily="49" charset="-122"/>
                </a:rPr>
                <a:t>10</a:t>
              </a:r>
              <a:r>
                <a:rPr lang="zh-CN" altLang="en-US" sz="1600" b="1" baseline="30000" dirty="0">
                  <a:ea typeface="黑体" panose="02010609060101010101" pitchFamily="49" charset="-122"/>
                </a:rPr>
                <a:t>10        </a:t>
              </a:r>
              <a:r>
                <a:rPr lang="zh-CN" altLang="en-US" sz="1600" b="1" dirty="0">
                  <a:ea typeface="黑体" panose="02010609060101010101" pitchFamily="49" charset="-122"/>
                </a:rPr>
                <a:t>10</a:t>
              </a:r>
              <a:r>
                <a:rPr lang="zh-CN" altLang="en-US" sz="1600" b="1" baseline="30000" dirty="0">
                  <a:ea typeface="黑体" panose="02010609060101010101" pitchFamily="49" charset="-122"/>
                </a:rPr>
                <a:t>11      </a:t>
              </a:r>
              <a:r>
                <a:rPr lang="zh-CN" altLang="en-US" sz="1600" b="1" dirty="0">
                  <a:ea typeface="黑体" panose="02010609060101010101" pitchFamily="49" charset="-122"/>
                </a:rPr>
                <a:t>10</a:t>
              </a:r>
              <a:r>
                <a:rPr lang="zh-CN" altLang="en-US" sz="1600" b="1" baseline="30000" dirty="0">
                  <a:ea typeface="黑体" panose="02010609060101010101" pitchFamily="49" charset="-122"/>
                </a:rPr>
                <a:t>12       </a:t>
              </a:r>
              <a:r>
                <a:rPr lang="zh-CN" altLang="en-US" sz="1600" b="1" dirty="0">
                  <a:ea typeface="黑体" panose="02010609060101010101" pitchFamily="49" charset="-122"/>
                </a:rPr>
                <a:t>10</a:t>
              </a:r>
              <a:r>
                <a:rPr lang="zh-CN" altLang="en-US" sz="1600" b="1" baseline="30000" dirty="0">
                  <a:ea typeface="黑体" panose="02010609060101010101" pitchFamily="49" charset="-122"/>
                </a:rPr>
                <a:t>13       </a:t>
              </a:r>
              <a:r>
                <a:rPr lang="zh-CN" altLang="en-US" sz="1600" b="1" dirty="0">
                  <a:ea typeface="黑体" panose="02010609060101010101" pitchFamily="49" charset="-122"/>
                </a:rPr>
                <a:t>10</a:t>
              </a:r>
              <a:r>
                <a:rPr lang="zh-CN" altLang="en-US" sz="1600" b="1" baseline="30000" dirty="0">
                  <a:ea typeface="黑体" panose="02010609060101010101" pitchFamily="49" charset="-122"/>
                </a:rPr>
                <a:t>14       </a:t>
              </a:r>
              <a:r>
                <a:rPr lang="zh-CN" altLang="en-US" sz="1600" b="1" dirty="0">
                  <a:ea typeface="黑体" panose="02010609060101010101" pitchFamily="49" charset="-122"/>
                </a:rPr>
                <a:t>10</a:t>
              </a:r>
              <a:r>
                <a:rPr lang="zh-CN" altLang="en-US" sz="1600" b="1" baseline="30000" dirty="0">
                  <a:ea typeface="黑体" panose="02010609060101010101" pitchFamily="49" charset="-122"/>
                </a:rPr>
                <a:t>15       </a:t>
              </a:r>
              <a:r>
                <a:rPr lang="zh-CN" altLang="en-US" sz="1600" b="1" dirty="0">
                  <a:ea typeface="黑体" panose="02010609060101010101" pitchFamily="49" charset="-122"/>
                </a:rPr>
                <a:t>10</a:t>
              </a:r>
              <a:r>
                <a:rPr lang="zh-CN" altLang="en-US" sz="1600" b="1" baseline="30000" dirty="0">
                  <a:ea typeface="黑体" panose="02010609060101010101" pitchFamily="49" charset="-122"/>
                </a:rPr>
                <a:t>16</a:t>
              </a:r>
              <a:endParaRPr lang="zh-CN" altLang="en-US" sz="1600" b="1" dirty="0">
                <a:ea typeface="黑体" panose="02010609060101010101" pitchFamily="49" charset="-122"/>
              </a:endParaRPr>
            </a:p>
          </p:txBody>
        </p:sp>
        <p:sp>
          <p:nvSpPr>
            <p:cNvPr id="189" name="Text Box 96">
              <a:extLst>
                <a:ext uri="{FF2B5EF4-FFF2-40B4-BE49-F238E27FC236}">
                  <a16:creationId xmlns:a16="http://schemas.microsoft.com/office/drawing/2014/main" id="{B410461A-CE3B-4388-8113-9481454C81C7}"/>
                </a:ext>
              </a:extLst>
            </p:cNvPr>
            <p:cNvSpPr txBox="1">
              <a:spLocks noChangeArrowheads="1"/>
            </p:cNvSpPr>
            <p:nvPr/>
          </p:nvSpPr>
          <p:spPr bwMode="auto">
            <a:xfrm>
              <a:off x="2110976" y="2149252"/>
              <a:ext cx="9313733"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b="1" dirty="0">
                  <a:ea typeface="黑体" panose="02010609060101010101" pitchFamily="49" charset="-122"/>
                </a:rPr>
                <a:t>10</a:t>
              </a:r>
              <a:r>
                <a:rPr lang="zh-CN" altLang="en-US" sz="1600" b="1" baseline="30000" dirty="0">
                  <a:ea typeface="黑体" panose="02010609060101010101" pitchFamily="49" charset="-122"/>
                </a:rPr>
                <a:t>0         </a:t>
              </a:r>
              <a:r>
                <a:rPr lang="zh-CN" altLang="en-US" sz="1600" b="1" dirty="0">
                  <a:ea typeface="黑体" panose="02010609060101010101" pitchFamily="49" charset="-122"/>
                </a:rPr>
                <a:t>10</a:t>
              </a:r>
              <a:r>
                <a:rPr lang="zh-CN" altLang="en-US" sz="1600" b="1" baseline="30000" dirty="0">
                  <a:ea typeface="黑体" panose="02010609060101010101" pitchFamily="49" charset="-122"/>
                </a:rPr>
                <a:t>2         </a:t>
              </a:r>
              <a:r>
                <a:rPr lang="zh-CN" altLang="en-US" sz="1600" b="1" dirty="0">
                  <a:ea typeface="黑体" panose="02010609060101010101" pitchFamily="49" charset="-122"/>
                </a:rPr>
                <a:t>10</a:t>
              </a:r>
              <a:r>
                <a:rPr lang="zh-CN" altLang="en-US" sz="1600" b="1" baseline="30000" dirty="0">
                  <a:ea typeface="黑体" panose="02010609060101010101" pitchFamily="49" charset="-122"/>
                </a:rPr>
                <a:t>4         </a:t>
              </a:r>
              <a:r>
                <a:rPr lang="zh-CN" altLang="en-US" sz="1600" b="1" dirty="0">
                  <a:ea typeface="黑体" panose="02010609060101010101" pitchFamily="49" charset="-122"/>
                </a:rPr>
                <a:t>10</a:t>
              </a:r>
              <a:r>
                <a:rPr lang="zh-CN" altLang="en-US" sz="1600" b="1" baseline="30000" dirty="0">
                  <a:ea typeface="黑体" panose="02010609060101010101" pitchFamily="49" charset="-122"/>
                </a:rPr>
                <a:t>6         </a:t>
              </a:r>
              <a:r>
                <a:rPr lang="zh-CN" altLang="en-US" sz="1600" b="1" dirty="0">
                  <a:ea typeface="黑体" panose="02010609060101010101" pitchFamily="49" charset="-122"/>
                </a:rPr>
                <a:t>10</a:t>
              </a:r>
              <a:r>
                <a:rPr lang="zh-CN" altLang="en-US" sz="1600" b="1" baseline="30000" dirty="0">
                  <a:ea typeface="黑体" panose="02010609060101010101" pitchFamily="49" charset="-122"/>
                </a:rPr>
                <a:t>8         </a:t>
              </a:r>
              <a:r>
                <a:rPr lang="zh-CN" altLang="en-US" sz="1600" b="1" dirty="0">
                  <a:ea typeface="黑体" panose="02010609060101010101" pitchFamily="49" charset="-122"/>
                </a:rPr>
                <a:t>10</a:t>
              </a:r>
              <a:r>
                <a:rPr lang="zh-CN" altLang="en-US" sz="1600" b="1" baseline="30000" dirty="0">
                  <a:ea typeface="黑体" panose="02010609060101010101" pitchFamily="49" charset="-122"/>
                </a:rPr>
                <a:t>10        </a:t>
              </a:r>
              <a:r>
                <a:rPr lang="zh-CN" altLang="en-US" sz="1600" b="1" dirty="0">
                  <a:ea typeface="黑体" panose="02010609060101010101" pitchFamily="49" charset="-122"/>
                </a:rPr>
                <a:t>10</a:t>
              </a:r>
              <a:r>
                <a:rPr lang="zh-CN" altLang="en-US" sz="1600" b="1" baseline="30000" dirty="0">
                  <a:ea typeface="黑体" panose="02010609060101010101" pitchFamily="49" charset="-122"/>
                </a:rPr>
                <a:t>12        </a:t>
              </a:r>
              <a:r>
                <a:rPr lang="zh-CN" altLang="en-US" sz="1600" b="1" dirty="0">
                  <a:ea typeface="黑体" panose="02010609060101010101" pitchFamily="49" charset="-122"/>
                </a:rPr>
                <a:t>10</a:t>
              </a:r>
              <a:r>
                <a:rPr lang="zh-CN" altLang="en-US" sz="1600" b="1" baseline="30000" dirty="0">
                  <a:ea typeface="黑体" panose="02010609060101010101" pitchFamily="49" charset="-122"/>
                </a:rPr>
                <a:t>14       </a:t>
              </a:r>
              <a:r>
                <a:rPr lang="zh-CN" altLang="en-US" sz="1600" b="1" dirty="0">
                  <a:ea typeface="黑体" panose="02010609060101010101" pitchFamily="49" charset="-122"/>
                </a:rPr>
                <a:t>10</a:t>
              </a:r>
              <a:r>
                <a:rPr lang="zh-CN" altLang="en-US" sz="1600" b="1" baseline="30000" dirty="0">
                  <a:ea typeface="黑体" panose="02010609060101010101" pitchFamily="49" charset="-122"/>
                </a:rPr>
                <a:t>16       </a:t>
              </a:r>
              <a:r>
                <a:rPr lang="zh-CN" altLang="en-US" sz="1600" b="1" dirty="0">
                  <a:ea typeface="黑体" panose="02010609060101010101" pitchFamily="49" charset="-122"/>
                </a:rPr>
                <a:t>10</a:t>
              </a:r>
              <a:r>
                <a:rPr lang="zh-CN" altLang="en-US" sz="1600" b="1" baseline="30000" dirty="0">
                  <a:ea typeface="黑体" panose="02010609060101010101" pitchFamily="49" charset="-122"/>
                </a:rPr>
                <a:t>18       </a:t>
              </a:r>
              <a:r>
                <a:rPr lang="zh-CN" altLang="en-US" sz="1600" b="1" dirty="0">
                  <a:ea typeface="黑体" panose="02010609060101010101" pitchFamily="49" charset="-122"/>
                </a:rPr>
                <a:t>10</a:t>
              </a:r>
              <a:r>
                <a:rPr lang="zh-CN" altLang="en-US" sz="1600" b="1" baseline="30000" dirty="0">
                  <a:ea typeface="黑体" panose="02010609060101010101" pitchFamily="49" charset="-122"/>
                </a:rPr>
                <a:t>20       </a:t>
              </a:r>
              <a:r>
                <a:rPr lang="zh-CN" altLang="en-US" sz="1600" b="1" dirty="0">
                  <a:ea typeface="黑体" panose="02010609060101010101" pitchFamily="49" charset="-122"/>
                </a:rPr>
                <a:t>10</a:t>
              </a:r>
              <a:r>
                <a:rPr lang="zh-CN" altLang="en-US" sz="1600" b="1" baseline="30000" dirty="0">
                  <a:ea typeface="黑体" panose="02010609060101010101" pitchFamily="49" charset="-122"/>
                </a:rPr>
                <a:t>22       </a:t>
              </a:r>
              <a:r>
                <a:rPr lang="zh-CN" altLang="en-US" sz="1600" b="1" dirty="0">
                  <a:ea typeface="黑体" panose="02010609060101010101" pitchFamily="49" charset="-122"/>
                </a:rPr>
                <a:t>10</a:t>
              </a:r>
              <a:r>
                <a:rPr lang="zh-CN" altLang="en-US" sz="1600" b="1" baseline="30000" dirty="0">
                  <a:ea typeface="黑体" panose="02010609060101010101" pitchFamily="49" charset="-122"/>
                </a:rPr>
                <a:t>24</a:t>
              </a:r>
              <a:endParaRPr lang="zh-CN" altLang="en-US" sz="1600" b="1" dirty="0">
                <a:ea typeface="黑体" panose="02010609060101010101" pitchFamily="49" charset="-122"/>
              </a:endParaRPr>
            </a:p>
          </p:txBody>
        </p:sp>
        <p:sp>
          <p:nvSpPr>
            <p:cNvPr id="190" name="Line 97">
              <a:extLst>
                <a:ext uri="{FF2B5EF4-FFF2-40B4-BE49-F238E27FC236}">
                  <a16:creationId xmlns:a16="http://schemas.microsoft.com/office/drawing/2014/main" id="{FD5A159B-5DA0-41E9-9AA4-45F15ABDA47B}"/>
                </a:ext>
              </a:extLst>
            </p:cNvPr>
            <p:cNvSpPr>
              <a:spLocks noChangeShapeType="1"/>
            </p:cNvSpPr>
            <p:nvPr/>
          </p:nvSpPr>
          <p:spPr bwMode="auto">
            <a:xfrm flipV="1">
              <a:off x="5669379" y="5408077"/>
              <a:ext cx="435131" cy="3559"/>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2" name="Text Box 99">
              <a:extLst>
                <a:ext uri="{FF2B5EF4-FFF2-40B4-BE49-F238E27FC236}">
                  <a16:creationId xmlns:a16="http://schemas.microsoft.com/office/drawing/2014/main" id="{EA982675-B3A4-45B3-ABD5-0707ED6619FC}"/>
                </a:ext>
              </a:extLst>
            </p:cNvPr>
            <p:cNvSpPr txBox="1">
              <a:spLocks noChangeArrowheads="1"/>
            </p:cNvSpPr>
            <p:nvPr/>
          </p:nvSpPr>
          <p:spPr bwMode="auto">
            <a:xfrm>
              <a:off x="5446979" y="4830747"/>
              <a:ext cx="1028843" cy="5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0"/>
                </a:spcBef>
                <a:buClrTx/>
                <a:buFontTx/>
                <a:buNone/>
              </a:pPr>
              <a:r>
                <a:rPr lang="zh-CN" altLang="en-US" sz="1600" dirty="0">
                  <a:ea typeface="黑体" panose="02010609060101010101" pitchFamily="49" charset="-122"/>
                </a:rPr>
                <a:t>移动</a:t>
              </a:r>
            </a:p>
            <a:p>
              <a:pPr algn="ctr" eaLnBrk="1" hangingPunct="1">
                <a:lnSpc>
                  <a:spcPct val="90000"/>
                </a:lnSpc>
                <a:spcBef>
                  <a:spcPct val="0"/>
                </a:spcBef>
                <a:buClrTx/>
                <a:buFontTx/>
                <a:buNone/>
              </a:pPr>
              <a:r>
                <a:rPr lang="zh-CN" altLang="en-US" sz="1600" dirty="0">
                  <a:ea typeface="黑体" panose="02010609060101010101" pitchFamily="49" charset="-122"/>
                </a:rPr>
                <a:t>无线电 </a:t>
              </a:r>
            </a:p>
          </p:txBody>
        </p:sp>
        <p:sp>
          <p:nvSpPr>
            <p:cNvPr id="193" name="Line 24">
              <a:extLst>
                <a:ext uri="{FF2B5EF4-FFF2-40B4-BE49-F238E27FC236}">
                  <a16:creationId xmlns:a16="http://schemas.microsoft.com/office/drawing/2014/main" id="{70897D24-9CEF-4766-A7F8-8E6393F70550}"/>
                </a:ext>
              </a:extLst>
            </p:cNvPr>
            <p:cNvSpPr>
              <a:spLocks noChangeShapeType="1"/>
            </p:cNvSpPr>
            <p:nvPr/>
          </p:nvSpPr>
          <p:spPr bwMode="auto">
            <a:xfrm>
              <a:off x="2296603" y="2519331"/>
              <a:ext cx="0" cy="4305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 name="Line 24">
              <a:extLst>
                <a:ext uri="{FF2B5EF4-FFF2-40B4-BE49-F238E27FC236}">
                  <a16:creationId xmlns:a16="http://schemas.microsoft.com/office/drawing/2014/main" id="{0104E7D2-FFB4-401A-B8E4-021FBA60E901}"/>
                </a:ext>
              </a:extLst>
            </p:cNvPr>
            <p:cNvSpPr>
              <a:spLocks noChangeShapeType="1"/>
            </p:cNvSpPr>
            <p:nvPr/>
          </p:nvSpPr>
          <p:spPr bwMode="auto">
            <a:xfrm>
              <a:off x="11521440" y="2533565"/>
              <a:ext cx="0" cy="4305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矩形 4"/>
            <p:cNvSpPr/>
            <p:nvPr/>
          </p:nvSpPr>
          <p:spPr>
            <a:xfrm>
              <a:off x="2448401" y="4824020"/>
              <a:ext cx="3977140" cy="663042"/>
            </a:xfrm>
            <a:prstGeom prst="rect">
              <a:avLst/>
            </a:prstGeom>
            <a:noFill/>
            <a:ln w="28575">
              <a:solidFill>
                <a:srgbClr val="B348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7" name="标题 1">
            <a:extLst>
              <a:ext uri="{FF2B5EF4-FFF2-40B4-BE49-F238E27FC236}">
                <a16:creationId xmlns:a16="http://schemas.microsoft.com/office/drawing/2014/main" id="{007D7280-3208-4292-AFE8-013F1C8D73F4}"/>
              </a:ext>
            </a:extLst>
          </p:cNvPr>
          <p:cNvSpPr>
            <a:spLocks noGrp="1"/>
          </p:cNvSpPr>
          <p:nvPr>
            <p:ph type="title"/>
          </p:nvPr>
        </p:nvSpPr>
        <p:spPr>
          <a:xfrm>
            <a:off x="1307508" y="365126"/>
            <a:ext cx="8220812" cy="879086"/>
          </a:xfrm>
        </p:spPr>
        <p:txBody>
          <a:bodyPr/>
          <a:lstStyle/>
          <a:p>
            <a:r>
              <a:rPr lang="zh-CN" altLang="en-US" sz="4000" dirty="0"/>
              <a:t>非导引型传输介质</a:t>
            </a:r>
            <a:endParaRPr lang="zh-CN" altLang="en-US" dirty="0"/>
          </a:p>
        </p:txBody>
      </p:sp>
      <p:sp>
        <p:nvSpPr>
          <p:cNvPr id="95" name="文本框 94">
            <a:extLst>
              <a:ext uri="{FF2B5EF4-FFF2-40B4-BE49-F238E27FC236}">
                <a16:creationId xmlns:a16="http://schemas.microsoft.com/office/drawing/2014/main" id="{A841FA8F-CA9B-4EF0-96D2-1FB05BADDA18}"/>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34027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2EBE6-6C68-4D85-BA9D-9D1C7C474CE3}"/>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43EBD558-F3A2-42A8-8CE0-33405E9333FB}"/>
              </a:ext>
            </a:extLst>
          </p:cNvPr>
          <p:cNvSpPr>
            <a:spLocks noGrp="1"/>
          </p:cNvSpPr>
          <p:nvPr>
            <p:ph idx="1"/>
          </p:nvPr>
        </p:nvSpPr>
        <p:spPr>
          <a:xfrm>
            <a:off x="667512" y="1510758"/>
            <a:ext cx="10817352" cy="4586694"/>
          </a:xfrm>
        </p:spPr>
        <p:txBody>
          <a:bodyPr>
            <a:normAutofit/>
          </a:bodyPr>
          <a:lstStyle/>
          <a:p>
            <a:pPr marL="0" indent="0" algn="just">
              <a:buNone/>
            </a:pPr>
            <a:r>
              <a:rPr lang="zh-CN" altLang="en-US" b="1" dirty="0">
                <a:solidFill>
                  <a:srgbClr val="5B307E"/>
                </a:solidFill>
              </a:rPr>
              <a:t>短波传输（无线电波）</a:t>
            </a:r>
            <a:endParaRPr lang="en-US" altLang="zh-CN" b="1" dirty="0">
              <a:solidFill>
                <a:srgbClr val="5B307E"/>
              </a:solidFill>
            </a:endParaRPr>
          </a:p>
          <a:p>
            <a:pPr algn="just">
              <a:lnSpc>
                <a:spcPct val="110000"/>
              </a:lnSpc>
            </a:pPr>
            <a:r>
              <a:rPr lang="zh-CN" altLang="en-US" sz="2400" i="0" dirty="0">
                <a:latin typeface="Times New Roman" panose="02020603050405020304" pitchFamily="18" charset="0"/>
              </a:rPr>
              <a:t>短波是指以波长为</a:t>
            </a:r>
            <a:r>
              <a:rPr lang="en-US" altLang="zh-CN" sz="2400" i="0" dirty="0">
                <a:latin typeface="Times New Roman" panose="02020603050405020304" pitchFamily="18" charset="0"/>
              </a:rPr>
              <a:t>100m</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10m</a:t>
            </a:r>
            <a:r>
              <a:rPr lang="zh-CN" altLang="en-US" sz="2400" i="0" dirty="0">
                <a:latin typeface="Times New Roman" panose="02020603050405020304" pitchFamily="18" charset="0"/>
              </a:rPr>
              <a:t>（或频率为</a:t>
            </a:r>
            <a:r>
              <a:rPr lang="en-US" altLang="zh-CN" sz="2400" i="0" dirty="0">
                <a:latin typeface="Times New Roman" panose="02020603050405020304" pitchFamily="18" charset="0"/>
              </a:rPr>
              <a:t>3</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30MHz</a:t>
            </a:r>
            <a:r>
              <a:rPr lang="zh-CN" altLang="en-US" sz="2400" i="0" dirty="0">
                <a:latin typeface="Times New Roman" panose="02020603050405020304" pitchFamily="18" charset="0"/>
              </a:rPr>
              <a:t>）的电磁波</a:t>
            </a:r>
            <a:endParaRPr lang="en-US" altLang="zh-CN" sz="2400" i="0" dirty="0">
              <a:latin typeface="Times New Roman" panose="02020603050405020304" pitchFamily="18" charset="0"/>
            </a:endParaRPr>
          </a:p>
          <a:p>
            <a:pPr algn="just">
              <a:lnSpc>
                <a:spcPct val="110000"/>
              </a:lnSpc>
            </a:pPr>
            <a:r>
              <a:rPr lang="zh-CN" altLang="en-US" sz="2400" i="0" dirty="0">
                <a:latin typeface="Times New Roman" panose="02020603050405020304" pitchFamily="18" charset="0"/>
              </a:rPr>
              <a:t>实用短波是</a:t>
            </a:r>
            <a:r>
              <a:rPr lang="en-US" altLang="zh-CN" sz="2400" i="0" dirty="0">
                <a:latin typeface="Times New Roman" panose="02020603050405020304" pitchFamily="18" charset="0"/>
              </a:rPr>
              <a:t>3</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30MHz</a:t>
            </a:r>
          </a:p>
          <a:p>
            <a:pPr algn="just">
              <a:lnSpc>
                <a:spcPct val="110000"/>
              </a:lnSpc>
            </a:pPr>
            <a:r>
              <a:rPr lang="zh-CN" altLang="en-US" sz="2400" i="0" dirty="0">
                <a:latin typeface="Times New Roman" panose="02020603050405020304" pitchFamily="18" charset="0"/>
              </a:rPr>
              <a:t>短波（频率为</a:t>
            </a:r>
            <a:r>
              <a:rPr lang="en-US" altLang="zh-CN" sz="2400" i="0" dirty="0">
                <a:latin typeface="Times New Roman" panose="02020603050405020304" pitchFamily="18" charset="0"/>
              </a:rPr>
              <a:t>2MHz</a:t>
            </a:r>
            <a:r>
              <a:rPr lang="zh-CN" altLang="en-US" sz="2400" i="0" dirty="0">
                <a:latin typeface="Times New Roman" panose="02020603050405020304" pitchFamily="18" charset="0"/>
              </a:rPr>
              <a:t>以下）</a:t>
            </a:r>
            <a:endParaRPr lang="en-US" altLang="zh-CN" sz="2400" i="0" dirty="0">
              <a:latin typeface="Times New Roman" panose="02020603050405020304" pitchFamily="18" charset="0"/>
            </a:endParaRPr>
          </a:p>
          <a:p>
            <a:pPr lvl="1" algn="just">
              <a:lnSpc>
                <a:spcPct val="110000"/>
              </a:lnSpc>
            </a:pPr>
            <a:r>
              <a:rPr lang="zh-CN" altLang="en-US" sz="2000" i="0" dirty="0">
                <a:latin typeface="Times New Roman" panose="02020603050405020304" pitchFamily="18" charset="0"/>
              </a:rPr>
              <a:t>可沿地球表面以地波形式传播（数百千米）</a:t>
            </a:r>
            <a:endParaRPr lang="en-US" altLang="zh-CN" sz="2000" i="0" dirty="0">
              <a:latin typeface="Times New Roman" panose="02020603050405020304" pitchFamily="18" charset="0"/>
            </a:endParaRPr>
          </a:p>
          <a:p>
            <a:pPr lvl="1" algn="just">
              <a:lnSpc>
                <a:spcPct val="110000"/>
              </a:lnSpc>
            </a:pPr>
            <a:r>
              <a:rPr lang="zh-CN" altLang="en-US" sz="2000" i="0" dirty="0">
                <a:latin typeface="Times New Roman" panose="02020603050405020304" pitchFamily="18" charset="0"/>
              </a:rPr>
              <a:t>主要以天波的形式靠大气层中的电离层反射传播（达数千～上万千米）</a:t>
            </a:r>
            <a:endParaRPr lang="zh-CN" altLang="en-US" dirty="0"/>
          </a:p>
        </p:txBody>
      </p:sp>
      <p:sp>
        <p:nvSpPr>
          <p:cNvPr id="4" name="灯片编号占位符 3">
            <a:extLst>
              <a:ext uri="{FF2B5EF4-FFF2-40B4-BE49-F238E27FC236}">
                <a16:creationId xmlns:a16="http://schemas.microsoft.com/office/drawing/2014/main" id="{EACC2CFC-338F-45B4-BD1B-0033124629F4}"/>
              </a:ext>
            </a:extLst>
          </p:cNvPr>
          <p:cNvSpPr>
            <a:spLocks noGrp="1"/>
          </p:cNvSpPr>
          <p:nvPr>
            <p:ph type="sldNum" sz="quarter" idx="12"/>
          </p:nvPr>
        </p:nvSpPr>
        <p:spPr/>
        <p:txBody>
          <a:bodyPr/>
          <a:lstStyle/>
          <a:p>
            <a:fld id="{8D4D1E41-7A09-AB4A-A4E1-09765ADA2698}" type="slidenum">
              <a:rPr kumimoji="1" lang="zh-CN" altLang="en-US" smtClean="0"/>
              <a:t>73</a:t>
            </a:fld>
            <a:endParaRPr kumimoji="1" lang="zh-CN" altLang="en-US" dirty="0"/>
          </a:p>
        </p:txBody>
      </p:sp>
      <p:grpSp>
        <p:nvGrpSpPr>
          <p:cNvPr id="10" name="组合 9"/>
          <p:cNvGrpSpPr/>
          <p:nvPr/>
        </p:nvGrpSpPr>
        <p:grpSpPr>
          <a:xfrm>
            <a:off x="838200" y="4300275"/>
            <a:ext cx="10047514" cy="2133710"/>
            <a:chOff x="1477788" y="4300275"/>
            <a:chExt cx="8050532" cy="2133710"/>
          </a:xfrm>
        </p:grpSpPr>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7788" y="4300275"/>
              <a:ext cx="4127712" cy="2133710"/>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8705" y="4351078"/>
              <a:ext cx="3219615" cy="2082907"/>
            </a:xfrm>
            <a:prstGeom prst="rect">
              <a:avLst/>
            </a:prstGeom>
          </p:spPr>
        </p:pic>
      </p:grpSp>
      <p:sp>
        <p:nvSpPr>
          <p:cNvPr id="11" name="文本框 10">
            <a:extLst>
              <a:ext uri="{FF2B5EF4-FFF2-40B4-BE49-F238E27FC236}">
                <a16:creationId xmlns:a16="http://schemas.microsoft.com/office/drawing/2014/main" id="{2112433E-AC0C-4EE9-9F98-F0508B985B1F}"/>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1131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040A00-2423-43DD-81B7-815A3C710A28}"/>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5DBC6A34-A7CA-401F-8853-E35834A57BFD}"/>
              </a:ext>
            </a:extLst>
          </p:cNvPr>
          <p:cNvSpPr>
            <a:spLocks noGrp="1"/>
          </p:cNvSpPr>
          <p:nvPr>
            <p:ph idx="1"/>
          </p:nvPr>
        </p:nvSpPr>
        <p:spPr>
          <a:xfrm>
            <a:off x="627888" y="1356068"/>
            <a:ext cx="10515600" cy="515649"/>
          </a:xfrm>
        </p:spPr>
        <p:txBody>
          <a:bodyPr>
            <a:normAutofit lnSpcReduction="10000"/>
          </a:bodyPr>
          <a:lstStyle/>
          <a:p>
            <a:pPr marL="0" indent="0">
              <a:buNone/>
            </a:pPr>
            <a:r>
              <a:rPr lang="zh-CN" altLang="en-US" b="1" dirty="0">
                <a:solidFill>
                  <a:srgbClr val="5B307E"/>
                </a:solidFill>
              </a:rPr>
              <a:t>电离层的构成</a:t>
            </a:r>
          </a:p>
        </p:txBody>
      </p:sp>
      <p:sp>
        <p:nvSpPr>
          <p:cNvPr id="4" name="灯片编号占位符 3">
            <a:extLst>
              <a:ext uri="{FF2B5EF4-FFF2-40B4-BE49-F238E27FC236}">
                <a16:creationId xmlns:a16="http://schemas.microsoft.com/office/drawing/2014/main" id="{E04498CC-0543-4FC4-A4F1-1C98F98D64DA}"/>
              </a:ext>
            </a:extLst>
          </p:cNvPr>
          <p:cNvSpPr>
            <a:spLocks noGrp="1"/>
          </p:cNvSpPr>
          <p:nvPr>
            <p:ph type="sldNum" sz="quarter" idx="12"/>
          </p:nvPr>
        </p:nvSpPr>
        <p:spPr/>
        <p:txBody>
          <a:bodyPr/>
          <a:lstStyle/>
          <a:p>
            <a:fld id="{8D4D1E41-7A09-AB4A-A4E1-09765ADA2698}" type="slidenum">
              <a:rPr kumimoji="1" lang="zh-CN" altLang="en-US" smtClean="0"/>
              <a:t>74</a:t>
            </a:fld>
            <a:endParaRPr kumimoji="1" lang="zh-CN" altLang="en-US" dirty="0"/>
          </a:p>
        </p:txBody>
      </p:sp>
      <p:sp>
        <p:nvSpPr>
          <p:cNvPr id="8" name="内容占位符 2">
            <a:extLst>
              <a:ext uri="{FF2B5EF4-FFF2-40B4-BE49-F238E27FC236}">
                <a16:creationId xmlns:a16="http://schemas.microsoft.com/office/drawing/2014/main" id="{43EBD558-F3A2-42A8-8CE0-33405E9333FB}"/>
              </a:ext>
            </a:extLst>
          </p:cNvPr>
          <p:cNvSpPr txBox="1">
            <a:spLocks/>
          </p:cNvSpPr>
          <p:nvPr/>
        </p:nvSpPr>
        <p:spPr>
          <a:xfrm>
            <a:off x="509016" y="1933878"/>
            <a:ext cx="11378184" cy="177078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400" dirty="0">
                <a:latin typeface="Times New Roman" panose="02020603050405020304" pitchFamily="18" charset="0"/>
              </a:rPr>
              <a:t>电离层是离地面高度</a:t>
            </a:r>
            <a:r>
              <a:rPr lang="en-US" altLang="zh-CN" sz="2400" dirty="0">
                <a:solidFill>
                  <a:srgbClr val="C00000"/>
                </a:solidFill>
                <a:latin typeface="Times New Roman" panose="02020603050405020304" pitchFamily="18" charset="0"/>
              </a:rPr>
              <a:t>60</a:t>
            </a:r>
            <a:r>
              <a:rPr lang="zh-CN" altLang="en-US" sz="2400" dirty="0">
                <a:solidFill>
                  <a:srgbClr val="C00000"/>
                </a:solidFill>
                <a:latin typeface="Times New Roman" panose="02020603050405020304" pitchFamily="18" charset="0"/>
              </a:rPr>
              <a:t>～</a:t>
            </a:r>
            <a:r>
              <a:rPr lang="en-US" altLang="zh-CN" sz="2400" dirty="0">
                <a:solidFill>
                  <a:srgbClr val="C00000"/>
                </a:solidFill>
                <a:latin typeface="Times New Roman" panose="02020603050405020304" pitchFamily="18" charset="0"/>
              </a:rPr>
              <a:t>450km</a:t>
            </a:r>
            <a:r>
              <a:rPr lang="zh-CN" altLang="en-US" sz="2400" dirty="0">
                <a:latin typeface="Times New Roman" panose="02020603050405020304" pitchFamily="18" charset="0"/>
              </a:rPr>
              <a:t>，受太阳紫外线和</a:t>
            </a:r>
            <a:r>
              <a:rPr lang="en-US" altLang="zh-CN" sz="2400" dirty="0">
                <a:latin typeface="Times New Roman" panose="02020603050405020304" pitchFamily="18" charset="0"/>
              </a:rPr>
              <a:t>X</a:t>
            </a:r>
            <a:r>
              <a:rPr lang="zh-CN" altLang="en-US" sz="2400" dirty="0">
                <a:latin typeface="Times New Roman" panose="02020603050405020304" pitchFamily="18" charset="0"/>
              </a:rPr>
              <a:t>射线作用而存在的由离子、自由电子和中性分子、原子组成的一个区域</a:t>
            </a:r>
          </a:p>
          <a:p>
            <a:pPr algn="just"/>
            <a:r>
              <a:rPr lang="zh-CN" altLang="en-US" sz="2400" dirty="0">
                <a:latin typeface="Times New Roman" panose="02020603050405020304" pitchFamily="18" charset="0"/>
              </a:rPr>
              <a:t>电离层由环绕地球处于不同高度的四个导电层组成：</a:t>
            </a:r>
            <a:r>
              <a:rPr lang="en-US" altLang="zh-CN" sz="2400" dirty="0">
                <a:latin typeface="Times New Roman" panose="02020603050405020304" pitchFamily="18" charset="0"/>
              </a:rPr>
              <a:t>D</a:t>
            </a:r>
            <a:r>
              <a:rPr lang="zh-CN" altLang="en-US" sz="2400" dirty="0">
                <a:latin typeface="Times New Roman" panose="02020603050405020304" pitchFamily="18" charset="0"/>
              </a:rPr>
              <a:t>、</a:t>
            </a:r>
            <a:r>
              <a:rPr lang="en-US" altLang="zh-CN" sz="2400" dirty="0">
                <a:latin typeface="Times New Roman" panose="02020603050405020304" pitchFamily="18" charset="0"/>
              </a:rPr>
              <a:t>E</a:t>
            </a:r>
            <a:r>
              <a:rPr lang="zh-CN" altLang="en-US" sz="2400" dirty="0">
                <a:latin typeface="Times New Roman" panose="02020603050405020304" pitchFamily="18" charset="0"/>
              </a:rPr>
              <a:t>、</a:t>
            </a:r>
            <a:r>
              <a:rPr lang="en-US" altLang="zh-CN" sz="2400" dirty="0">
                <a:latin typeface="Times New Roman" panose="02020603050405020304" pitchFamily="18" charset="0"/>
              </a:rPr>
              <a:t>F1</a:t>
            </a:r>
            <a:r>
              <a:rPr lang="zh-CN" altLang="en-US" sz="2400" dirty="0">
                <a:latin typeface="Times New Roman" panose="02020603050405020304" pitchFamily="18" charset="0"/>
              </a:rPr>
              <a:t>和</a:t>
            </a:r>
            <a:r>
              <a:rPr lang="en-US" altLang="zh-CN" sz="2400" dirty="0">
                <a:latin typeface="Times New Roman" panose="02020603050405020304" pitchFamily="18" charset="0"/>
              </a:rPr>
              <a:t>F2</a:t>
            </a:r>
          </a:p>
          <a:p>
            <a:pPr algn="just"/>
            <a:r>
              <a:rPr lang="zh-CN" altLang="en-US" sz="2400" dirty="0">
                <a:latin typeface="Times New Roman" panose="02020603050405020304" pitchFamily="18" charset="0"/>
              </a:rPr>
              <a:t>对短波传输起主要作用的是</a:t>
            </a:r>
            <a:r>
              <a:rPr lang="en-US" altLang="zh-CN" sz="2400" dirty="0">
                <a:solidFill>
                  <a:srgbClr val="C00000"/>
                </a:solidFill>
                <a:latin typeface="Times New Roman" panose="02020603050405020304" pitchFamily="18" charset="0"/>
              </a:rPr>
              <a:t>F</a:t>
            </a:r>
            <a:r>
              <a:rPr lang="zh-CN" altLang="en-US" sz="2400" dirty="0">
                <a:solidFill>
                  <a:srgbClr val="C00000"/>
                </a:solidFill>
                <a:latin typeface="Times New Roman" panose="02020603050405020304" pitchFamily="18" charset="0"/>
              </a:rPr>
              <a:t>层</a:t>
            </a:r>
            <a:r>
              <a:rPr lang="zh-CN" altLang="en-US" sz="2400" dirty="0">
                <a:latin typeface="Times New Roman" panose="02020603050405020304" pitchFamily="18" charset="0"/>
              </a:rPr>
              <a:t>，且选用夜间工作频率低于白天的工作频率</a:t>
            </a:r>
            <a:endParaRPr lang="zh-CN" altLang="en-US" dirty="0"/>
          </a:p>
        </p:txBody>
      </p:sp>
      <p:grpSp>
        <p:nvGrpSpPr>
          <p:cNvPr id="5" name="组合 4"/>
          <p:cNvGrpSpPr/>
          <p:nvPr/>
        </p:nvGrpSpPr>
        <p:grpSpPr>
          <a:xfrm>
            <a:off x="755225" y="3704666"/>
            <a:ext cx="7788972" cy="2744998"/>
            <a:chOff x="1739348" y="3754361"/>
            <a:chExt cx="7788972" cy="2967114"/>
          </a:xfrm>
        </p:grpSpPr>
        <p:pic>
          <p:nvPicPr>
            <p:cNvPr id="6" name="图片 5">
              <a:extLst>
                <a:ext uri="{FF2B5EF4-FFF2-40B4-BE49-F238E27FC236}">
                  <a16:creationId xmlns:a16="http://schemas.microsoft.com/office/drawing/2014/main" id="{9367A11D-D8ED-4FDB-BE2C-60257F0265C1}"/>
                </a:ext>
              </a:extLst>
            </p:cNvPr>
            <p:cNvPicPr>
              <a:picLocks noChangeAspect="1"/>
            </p:cNvPicPr>
            <p:nvPr/>
          </p:nvPicPr>
          <p:blipFill>
            <a:blip r:embed="rId2"/>
            <a:stretch>
              <a:fillRect/>
            </a:stretch>
          </p:blipFill>
          <p:spPr>
            <a:xfrm>
              <a:off x="2114688" y="3754361"/>
              <a:ext cx="7045380" cy="2925914"/>
            </a:xfrm>
            <a:prstGeom prst="rect">
              <a:avLst/>
            </a:prstGeom>
          </p:spPr>
        </p:pic>
        <p:sp>
          <p:nvSpPr>
            <p:cNvPr id="7" name="矩形: 圆角 194">
              <a:extLst>
                <a:ext uri="{FF2B5EF4-FFF2-40B4-BE49-F238E27FC236}">
                  <a16:creationId xmlns:a16="http://schemas.microsoft.com/office/drawing/2014/main" id="{27116B66-DB10-4E0F-8DFF-E30BB4AFCD51}"/>
                </a:ext>
              </a:extLst>
            </p:cNvPr>
            <p:cNvSpPr/>
            <p:nvPr/>
          </p:nvSpPr>
          <p:spPr>
            <a:xfrm>
              <a:off x="1739348" y="3754361"/>
              <a:ext cx="7788972" cy="2967114"/>
            </a:xfrm>
            <a:prstGeom prst="roundRect">
              <a:avLst>
                <a:gd name="adj" fmla="val 8422"/>
              </a:avLst>
            </a:prstGeom>
            <a:solidFill>
              <a:schemeClr val="accent4">
                <a:lumMod val="20000"/>
                <a:lumOff val="80000"/>
                <a:alpha val="28000"/>
              </a:schemeClr>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9" name="矩形 8"/>
          <p:cNvSpPr/>
          <p:nvPr/>
        </p:nvSpPr>
        <p:spPr>
          <a:xfrm>
            <a:off x="8610600" y="4186272"/>
            <a:ext cx="3354916" cy="1569660"/>
          </a:xfrm>
          <a:prstGeom prst="rect">
            <a:avLst/>
          </a:prstGeom>
        </p:spPr>
        <p:txBody>
          <a:bodyPr wrap="square">
            <a:spAutoFit/>
          </a:bodyPr>
          <a:lstStyle/>
          <a:p>
            <a:pPr algn="just">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D</a:t>
            </a:r>
            <a:r>
              <a:rPr lang="zh-CN" altLang="en-US" sz="2000" dirty="0">
                <a:solidFill>
                  <a:srgbClr val="333333"/>
                </a:solidFill>
                <a:latin typeface="微软雅黑" panose="020B0503020204020204" pitchFamily="34" charset="-122"/>
                <a:ea typeface="微软雅黑" panose="020B0503020204020204" pitchFamily="34" charset="-122"/>
              </a:rPr>
              <a:t>层离地面约</a:t>
            </a:r>
            <a:r>
              <a:rPr lang="en-US" altLang="zh-CN" sz="2000" dirty="0">
                <a:solidFill>
                  <a:srgbClr val="333333"/>
                </a:solidFill>
                <a:latin typeface="微软雅黑" panose="020B0503020204020204" pitchFamily="34" charset="-122"/>
                <a:ea typeface="微软雅黑" panose="020B0503020204020204" pitchFamily="34" charset="-122"/>
              </a:rPr>
              <a:t>60</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90km</a:t>
            </a:r>
          </a:p>
          <a:p>
            <a:pPr algn="just">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E</a:t>
            </a:r>
            <a:r>
              <a:rPr lang="zh-CN" altLang="en-US" sz="2000" dirty="0">
                <a:solidFill>
                  <a:srgbClr val="333333"/>
                </a:solidFill>
                <a:latin typeface="微软雅黑" panose="020B0503020204020204" pitchFamily="34" charset="-122"/>
                <a:ea typeface="微软雅黑" panose="020B0503020204020204" pitchFamily="34" charset="-122"/>
              </a:rPr>
              <a:t>层离地面约</a:t>
            </a:r>
            <a:r>
              <a:rPr lang="en-US" altLang="zh-CN" sz="2000" dirty="0">
                <a:solidFill>
                  <a:srgbClr val="333333"/>
                </a:solidFill>
                <a:latin typeface="微软雅黑" panose="020B0503020204020204" pitchFamily="34" charset="-122"/>
                <a:ea typeface="微软雅黑" panose="020B0503020204020204" pitchFamily="34" charset="-122"/>
              </a:rPr>
              <a:t>90</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130km</a:t>
            </a:r>
          </a:p>
          <a:p>
            <a:pPr algn="just">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F1</a:t>
            </a:r>
            <a:r>
              <a:rPr lang="zh-CN" altLang="en-US" sz="2000" dirty="0">
                <a:solidFill>
                  <a:srgbClr val="333333"/>
                </a:solidFill>
                <a:latin typeface="微软雅黑" panose="020B0503020204020204" pitchFamily="34" charset="-122"/>
                <a:ea typeface="微软雅黑" panose="020B0503020204020204" pitchFamily="34" charset="-122"/>
              </a:rPr>
              <a:t>层离地面约</a:t>
            </a:r>
            <a:r>
              <a:rPr lang="en-US" altLang="zh-CN" sz="2000" dirty="0">
                <a:solidFill>
                  <a:srgbClr val="333333"/>
                </a:solidFill>
                <a:latin typeface="微软雅黑" panose="020B0503020204020204" pitchFamily="34" charset="-122"/>
                <a:ea typeface="微软雅黑" panose="020B0503020204020204" pitchFamily="34" charset="-122"/>
              </a:rPr>
              <a:t>130</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220km</a:t>
            </a:r>
          </a:p>
          <a:p>
            <a:pPr algn="just">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F2</a:t>
            </a:r>
            <a:r>
              <a:rPr lang="zh-CN" altLang="en-US" sz="2000" dirty="0">
                <a:solidFill>
                  <a:srgbClr val="333333"/>
                </a:solidFill>
                <a:latin typeface="微软雅黑" panose="020B0503020204020204" pitchFamily="34" charset="-122"/>
                <a:ea typeface="微软雅黑" panose="020B0503020204020204" pitchFamily="34" charset="-122"/>
              </a:rPr>
              <a:t>层离地面约</a:t>
            </a:r>
            <a:r>
              <a:rPr lang="en-US" altLang="zh-CN" sz="2000" dirty="0">
                <a:solidFill>
                  <a:srgbClr val="333333"/>
                </a:solidFill>
                <a:latin typeface="微软雅黑" panose="020B0503020204020204" pitchFamily="34" charset="-122"/>
                <a:ea typeface="微软雅黑" panose="020B0503020204020204" pitchFamily="34" charset="-122"/>
              </a:rPr>
              <a:t>220km</a:t>
            </a:r>
            <a:r>
              <a:rPr lang="zh-CN" altLang="en-US" sz="2000" dirty="0">
                <a:solidFill>
                  <a:srgbClr val="333333"/>
                </a:solidFill>
                <a:latin typeface="微软雅黑" panose="020B0503020204020204" pitchFamily="34" charset="-122"/>
                <a:ea typeface="微软雅黑" panose="020B0503020204020204" pitchFamily="34" charset="-122"/>
              </a:rPr>
              <a:t>以上</a:t>
            </a:r>
          </a:p>
        </p:txBody>
      </p:sp>
      <p:sp>
        <p:nvSpPr>
          <p:cNvPr id="12" name="文本框 11">
            <a:extLst>
              <a:ext uri="{FF2B5EF4-FFF2-40B4-BE49-F238E27FC236}">
                <a16:creationId xmlns:a16="http://schemas.microsoft.com/office/drawing/2014/main" id="{68D8CB05-C685-433E-9D57-3D6241FC4F0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9252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AE99C-D2F1-4948-89DE-B6B900BF5285}"/>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58DEA7B7-DA79-4150-8946-4AD3E387EC9A}"/>
              </a:ext>
            </a:extLst>
          </p:cNvPr>
          <p:cNvSpPr>
            <a:spLocks noGrp="1"/>
          </p:cNvSpPr>
          <p:nvPr>
            <p:ph idx="1"/>
          </p:nvPr>
        </p:nvSpPr>
        <p:spPr>
          <a:xfrm>
            <a:off x="726896" y="1510758"/>
            <a:ext cx="10626904" cy="2066426"/>
          </a:xfrm>
        </p:spPr>
        <p:txBody>
          <a:bodyPr/>
          <a:lstStyle/>
          <a:p>
            <a:pPr algn="just">
              <a:buClr>
                <a:schemeClr val="tx1"/>
              </a:buClr>
            </a:pPr>
            <a:r>
              <a:rPr lang="zh-CN" altLang="en-US" dirty="0">
                <a:solidFill>
                  <a:srgbClr val="C00000"/>
                </a:solidFill>
              </a:rPr>
              <a:t>多径传播</a:t>
            </a:r>
            <a:r>
              <a:rPr lang="zh-CN" altLang="en-US" dirty="0"/>
              <a:t>  </a:t>
            </a:r>
            <a:r>
              <a:rPr lang="zh-CN" altLang="en-US" sz="2400" dirty="0"/>
              <a:t>短波电波通过若干条路径或者不同的传播模式由发信点到达收信点的长度不同，而引起由发信点到达收信点的时间不同的现象</a:t>
            </a:r>
          </a:p>
          <a:p>
            <a:pPr algn="just">
              <a:buClr>
                <a:schemeClr val="tx1"/>
              </a:buClr>
            </a:pPr>
            <a:r>
              <a:rPr lang="zh-CN" altLang="en-US" dirty="0">
                <a:solidFill>
                  <a:srgbClr val="C00000"/>
                </a:solidFill>
              </a:rPr>
              <a:t>多径时散  </a:t>
            </a:r>
            <a:r>
              <a:rPr lang="zh-CN" altLang="en-US" sz="2400" dirty="0"/>
              <a:t>指不同路径的时延差；与路径长度、工作频率、昼夜、季节等因素有关</a:t>
            </a:r>
            <a:endParaRPr lang="zh-CN" altLang="en-US" dirty="0"/>
          </a:p>
        </p:txBody>
      </p:sp>
      <p:sp>
        <p:nvSpPr>
          <p:cNvPr id="4" name="灯片编号占位符 3">
            <a:extLst>
              <a:ext uri="{FF2B5EF4-FFF2-40B4-BE49-F238E27FC236}">
                <a16:creationId xmlns:a16="http://schemas.microsoft.com/office/drawing/2014/main" id="{0C4B330F-5C4B-415E-BB31-59AE22CB3164}"/>
              </a:ext>
            </a:extLst>
          </p:cNvPr>
          <p:cNvSpPr>
            <a:spLocks noGrp="1"/>
          </p:cNvSpPr>
          <p:nvPr>
            <p:ph type="sldNum" sz="quarter" idx="12"/>
          </p:nvPr>
        </p:nvSpPr>
        <p:spPr/>
        <p:txBody>
          <a:bodyPr/>
          <a:lstStyle/>
          <a:p>
            <a:fld id="{8D4D1E41-7A09-AB4A-A4E1-09765ADA2698}" type="slidenum">
              <a:rPr kumimoji="1" lang="zh-CN" altLang="en-US" smtClean="0"/>
              <a:t>75</a:t>
            </a:fld>
            <a:endParaRPr kumimoji="1" lang="zh-CN" altLang="en-US" dirty="0"/>
          </a:p>
        </p:txBody>
      </p:sp>
      <p:sp>
        <p:nvSpPr>
          <p:cNvPr id="5" name="内容占位符 2">
            <a:extLst>
              <a:ext uri="{FF2B5EF4-FFF2-40B4-BE49-F238E27FC236}">
                <a16:creationId xmlns:a16="http://schemas.microsoft.com/office/drawing/2014/main" id="{332AFB19-3583-4D07-AFBC-B0F9A7CE7804}"/>
              </a:ext>
            </a:extLst>
          </p:cNvPr>
          <p:cNvSpPr txBox="1">
            <a:spLocks/>
          </p:cNvSpPr>
          <p:nvPr/>
        </p:nvSpPr>
        <p:spPr>
          <a:xfrm>
            <a:off x="949504" y="3305478"/>
            <a:ext cx="10515600" cy="54341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0400" indent="-230400">
              <a:lnSpc>
                <a:spcPct val="110000"/>
              </a:lnSpc>
              <a:buFont typeface="Wingdings" pitchFamily="2" charset="2"/>
              <a:buNone/>
            </a:pPr>
            <a:r>
              <a:rPr lang="zh-CN" altLang="en-US" sz="2400" dirty="0"/>
              <a:t>引起多径时散的几种主要因素</a:t>
            </a:r>
          </a:p>
          <a:p>
            <a:pPr marL="0" indent="0">
              <a:buFont typeface="Wingdings" pitchFamily="2" charset="2"/>
              <a:buNone/>
            </a:pPr>
            <a:endParaRPr lang="zh-CN" altLang="en-US" sz="2400" dirty="0"/>
          </a:p>
        </p:txBody>
      </p:sp>
      <p:pic>
        <p:nvPicPr>
          <p:cNvPr id="6" name="图片 5">
            <a:extLst>
              <a:ext uri="{FF2B5EF4-FFF2-40B4-BE49-F238E27FC236}">
                <a16:creationId xmlns:a16="http://schemas.microsoft.com/office/drawing/2014/main" id="{686F6D65-F829-446C-8C18-96514C736C99}"/>
              </a:ext>
            </a:extLst>
          </p:cNvPr>
          <p:cNvPicPr>
            <a:picLocks noChangeAspect="1"/>
          </p:cNvPicPr>
          <p:nvPr/>
        </p:nvPicPr>
        <p:blipFill>
          <a:blip r:embed="rId2"/>
          <a:stretch>
            <a:fillRect/>
          </a:stretch>
        </p:blipFill>
        <p:spPr>
          <a:xfrm>
            <a:off x="952278" y="3755652"/>
            <a:ext cx="9866410" cy="2024670"/>
          </a:xfrm>
          <a:prstGeom prst="rect">
            <a:avLst/>
          </a:prstGeom>
        </p:spPr>
      </p:pic>
      <p:sp>
        <p:nvSpPr>
          <p:cNvPr id="7" name="内容占位符 2">
            <a:extLst>
              <a:ext uri="{FF2B5EF4-FFF2-40B4-BE49-F238E27FC236}">
                <a16:creationId xmlns:a16="http://schemas.microsoft.com/office/drawing/2014/main" id="{332AFB19-3583-4D07-AFBC-B0F9A7CE7804}"/>
              </a:ext>
            </a:extLst>
          </p:cNvPr>
          <p:cNvSpPr txBox="1">
            <a:spLocks/>
          </p:cNvSpPr>
          <p:nvPr/>
        </p:nvSpPr>
        <p:spPr>
          <a:xfrm>
            <a:off x="782548" y="5643610"/>
            <a:ext cx="10515600" cy="103723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0400" indent="-230400" algn="just">
              <a:lnSpc>
                <a:spcPct val="110000"/>
              </a:lnSpc>
            </a:pPr>
            <a:r>
              <a:rPr lang="zh-CN" altLang="en-US" sz="2400" dirty="0"/>
              <a:t>多径时散对数据通信的影响主要体现在码间干扰</a:t>
            </a:r>
            <a:endParaRPr lang="en-US" altLang="zh-CN" sz="2400" dirty="0"/>
          </a:p>
          <a:p>
            <a:pPr marL="230400" indent="-230400" algn="just">
              <a:lnSpc>
                <a:spcPct val="110000"/>
              </a:lnSpc>
            </a:pPr>
            <a:r>
              <a:rPr lang="zh-CN" altLang="en-US" sz="2400" dirty="0"/>
              <a:t>为了保证传输质量，往往采用</a:t>
            </a:r>
            <a:r>
              <a:rPr lang="zh-CN" altLang="en-US" sz="2400" dirty="0">
                <a:solidFill>
                  <a:srgbClr val="C00000"/>
                </a:solidFill>
              </a:rPr>
              <a:t>限制数据传输速率</a:t>
            </a:r>
            <a:r>
              <a:rPr lang="zh-CN" altLang="en-US" sz="2400" dirty="0"/>
              <a:t>的措施</a:t>
            </a:r>
          </a:p>
        </p:txBody>
      </p:sp>
      <p:sp>
        <p:nvSpPr>
          <p:cNvPr id="8" name="矩形: 圆角 194">
            <a:extLst>
              <a:ext uri="{FF2B5EF4-FFF2-40B4-BE49-F238E27FC236}">
                <a16:creationId xmlns:a16="http://schemas.microsoft.com/office/drawing/2014/main" id="{27116B66-DB10-4E0F-8DFF-E30BB4AFCD51}"/>
              </a:ext>
            </a:extLst>
          </p:cNvPr>
          <p:cNvSpPr/>
          <p:nvPr/>
        </p:nvSpPr>
        <p:spPr>
          <a:xfrm>
            <a:off x="1575863" y="3813913"/>
            <a:ext cx="8691259" cy="1541643"/>
          </a:xfrm>
          <a:prstGeom prst="roundRect">
            <a:avLst>
              <a:gd name="adj" fmla="val 8422"/>
            </a:avLst>
          </a:prstGeom>
          <a:solidFill>
            <a:schemeClr val="accent4">
              <a:lumMod val="20000"/>
              <a:lumOff val="80000"/>
              <a:alpha val="28000"/>
            </a:schemeClr>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BE1DE295-1467-407A-94F0-3321CBCFABDF}"/>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3763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A966D9-7F7C-4A83-A455-6483FBCDEEF4}"/>
              </a:ext>
            </a:extLst>
          </p:cNvPr>
          <p:cNvSpPr>
            <a:spLocks noGrp="1"/>
          </p:cNvSpPr>
          <p:nvPr>
            <p:ph type="title"/>
          </p:nvPr>
        </p:nvSpPr>
        <p:spPr>
          <a:xfrm>
            <a:off x="1307508" y="365126"/>
            <a:ext cx="8220812" cy="879086"/>
          </a:xfrm>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503EA5FE-C6E2-40AA-82A2-CB44AF13BECB}"/>
              </a:ext>
            </a:extLst>
          </p:cNvPr>
          <p:cNvSpPr>
            <a:spLocks noGrp="1"/>
          </p:cNvSpPr>
          <p:nvPr>
            <p:ph idx="1"/>
          </p:nvPr>
        </p:nvSpPr>
        <p:spPr>
          <a:xfrm>
            <a:off x="664029" y="1453953"/>
            <a:ext cx="10929257" cy="4586694"/>
          </a:xfrm>
        </p:spPr>
        <p:txBody>
          <a:bodyPr>
            <a:normAutofit/>
          </a:bodyPr>
          <a:lstStyle/>
          <a:p>
            <a:pPr algn="just">
              <a:lnSpc>
                <a:spcPct val="110000"/>
              </a:lnSpc>
              <a:buClr>
                <a:schemeClr val="tx1"/>
              </a:buClr>
            </a:pPr>
            <a:r>
              <a:rPr lang="zh-CN" altLang="en-US" i="0" dirty="0">
                <a:solidFill>
                  <a:srgbClr val="C00000"/>
                </a:solidFill>
                <a:latin typeface="Times New Roman" panose="02020603050405020304" pitchFamily="18" charset="0"/>
              </a:rPr>
              <a:t>衰落</a:t>
            </a:r>
            <a:r>
              <a:rPr lang="en-US" altLang="zh-CN" i="0" dirty="0">
                <a:solidFill>
                  <a:srgbClr val="C00000"/>
                </a:solidFill>
                <a:latin typeface="Times New Roman" panose="02020603050405020304" pitchFamily="18" charset="0"/>
              </a:rPr>
              <a:t>   </a:t>
            </a:r>
            <a:r>
              <a:rPr lang="zh-CN" altLang="en-US" sz="2400" i="0" dirty="0">
                <a:latin typeface="Times New Roman" panose="02020603050405020304" pitchFamily="18" charset="0"/>
              </a:rPr>
              <a:t>指在短波传输过程中，收信电平出现忽高忽低随机变化的现象</a:t>
            </a:r>
            <a:endParaRPr lang="en-US" altLang="zh-CN" sz="2400" i="0" dirty="0">
              <a:latin typeface="Times New Roman" panose="02020603050405020304" pitchFamily="18" charset="0"/>
            </a:endParaRPr>
          </a:p>
          <a:p>
            <a:pPr lvl="1" algn="just">
              <a:lnSpc>
                <a:spcPct val="110000"/>
              </a:lnSpc>
              <a:buClr>
                <a:schemeClr val="tx1"/>
              </a:buClr>
            </a:pPr>
            <a:r>
              <a:rPr lang="zh-CN" altLang="en-US" sz="2000" i="0" dirty="0">
                <a:latin typeface="Times New Roman" panose="02020603050405020304" pitchFamily="18" charset="0"/>
              </a:rPr>
              <a:t>衰落按其持续时间的长短分为</a:t>
            </a:r>
            <a:r>
              <a:rPr lang="zh-CN" altLang="en-US" sz="2000" i="0" dirty="0">
                <a:solidFill>
                  <a:srgbClr val="C00000"/>
                </a:solidFill>
                <a:latin typeface="Times New Roman" panose="02020603050405020304" pitchFamily="18" charset="0"/>
              </a:rPr>
              <a:t>快衰落</a:t>
            </a:r>
            <a:r>
              <a:rPr lang="zh-CN" altLang="en-US" sz="2000" i="0" dirty="0">
                <a:latin typeface="Times New Roman" panose="02020603050405020304" pitchFamily="18" charset="0"/>
              </a:rPr>
              <a:t>（信号起伏持续时间仅几分之一秒）与</a:t>
            </a:r>
            <a:r>
              <a:rPr lang="zh-CN" altLang="en-US" sz="2000" i="0" dirty="0">
                <a:solidFill>
                  <a:srgbClr val="C00000"/>
                </a:solidFill>
                <a:latin typeface="Times New Roman" panose="02020603050405020304" pitchFamily="18" charset="0"/>
              </a:rPr>
              <a:t>慢衰落</a:t>
            </a:r>
            <a:r>
              <a:rPr lang="zh-CN" altLang="en-US" sz="2000" i="0" dirty="0">
                <a:latin typeface="Times New Roman" panose="02020603050405020304" pitchFamily="18" charset="0"/>
              </a:rPr>
              <a:t>（持续时间可达一小时或更长 ）</a:t>
            </a:r>
            <a:endParaRPr lang="zh-CN" altLang="en-US" dirty="0">
              <a:latin typeface="Times New Roman" panose="02020603050405020304" pitchFamily="18" charset="0"/>
            </a:endParaRPr>
          </a:p>
          <a:p>
            <a:pPr algn="just">
              <a:lnSpc>
                <a:spcPct val="110000"/>
              </a:lnSpc>
              <a:buClr>
                <a:schemeClr val="tx1"/>
              </a:buClr>
            </a:pPr>
            <a:r>
              <a:rPr lang="zh-CN" altLang="en-US" i="0" dirty="0">
                <a:latin typeface="Times New Roman" panose="02020603050405020304" pitchFamily="18" charset="0"/>
              </a:rPr>
              <a:t>除自由空间传播损耗外，还有电离层吸收损耗、地面反射损耗和系统额外损耗等附加损耗</a:t>
            </a:r>
            <a:endParaRPr lang="en-US" altLang="zh-CN" i="0" dirty="0">
              <a:latin typeface="Times New Roman" panose="02020603050405020304" pitchFamily="18" charset="0"/>
            </a:endParaRPr>
          </a:p>
          <a:p>
            <a:pPr lvl="1" algn="just">
              <a:lnSpc>
                <a:spcPct val="110000"/>
              </a:lnSpc>
              <a:buClr>
                <a:schemeClr val="tx1"/>
              </a:buClr>
            </a:pPr>
            <a:r>
              <a:rPr lang="zh-CN" altLang="en-US" i="0" dirty="0">
                <a:solidFill>
                  <a:srgbClr val="C00000"/>
                </a:solidFill>
                <a:latin typeface="Times New Roman" panose="02020603050405020304" pitchFamily="18" charset="0"/>
              </a:rPr>
              <a:t>吸收损耗</a:t>
            </a:r>
            <a:r>
              <a:rPr lang="zh-CN" altLang="en-US" i="0" dirty="0">
                <a:latin typeface="Times New Roman" panose="02020603050405020304" pitchFamily="18" charset="0"/>
              </a:rPr>
              <a:t>主要在</a:t>
            </a:r>
            <a:r>
              <a:rPr lang="en-US" altLang="zh-CN" i="0" dirty="0">
                <a:latin typeface="Times New Roman" panose="02020603050405020304" pitchFamily="18" charset="0"/>
              </a:rPr>
              <a:t>D</a:t>
            </a:r>
            <a:r>
              <a:rPr lang="zh-CN" altLang="en-US" i="0" dirty="0">
                <a:latin typeface="Times New Roman" panose="02020603050405020304" pitchFamily="18" charset="0"/>
              </a:rPr>
              <a:t>、</a:t>
            </a:r>
            <a:r>
              <a:rPr lang="en-US" altLang="zh-CN" i="0" dirty="0">
                <a:latin typeface="Times New Roman" panose="02020603050405020304" pitchFamily="18" charset="0"/>
              </a:rPr>
              <a:t>E</a:t>
            </a:r>
            <a:r>
              <a:rPr lang="zh-CN" altLang="en-US" i="0" dirty="0">
                <a:latin typeface="Times New Roman" panose="02020603050405020304" pitchFamily="18" charset="0"/>
              </a:rPr>
              <a:t>层（通常吸收损耗为</a:t>
            </a:r>
            <a:r>
              <a:rPr lang="en-US" altLang="zh-CN" i="0" dirty="0">
                <a:latin typeface="Times New Roman" panose="02020603050405020304" pitchFamily="18" charset="0"/>
              </a:rPr>
              <a:t>6</a:t>
            </a:r>
            <a:r>
              <a:rPr lang="zh-CN" altLang="en-US" i="0" dirty="0">
                <a:latin typeface="Times New Roman" panose="02020603050405020304" pitchFamily="18" charset="0"/>
              </a:rPr>
              <a:t>～</a:t>
            </a:r>
            <a:r>
              <a:rPr lang="en-US" altLang="zh-CN" i="0" dirty="0">
                <a:latin typeface="Times New Roman" panose="02020603050405020304" pitchFamily="18" charset="0"/>
              </a:rPr>
              <a:t>25dB</a:t>
            </a:r>
            <a:r>
              <a:rPr lang="zh-CN" altLang="en-US" i="0" dirty="0">
                <a:latin typeface="Times New Roman" panose="02020603050405020304" pitchFamily="18" charset="0"/>
              </a:rPr>
              <a:t>）</a:t>
            </a:r>
            <a:endParaRPr lang="en-US" altLang="zh-CN" i="0" dirty="0">
              <a:latin typeface="Times New Roman" panose="02020603050405020304" pitchFamily="18" charset="0"/>
            </a:endParaRPr>
          </a:p>
          <a:p>
            <a:pPr lvl="1" algn="just">
              <a:lnSpc>
                <a:spcPct val="110000"/>
              </a:lnSpc>
              <a:buClr>
                <a:schemeClr val="tx1"/>
              </a:buClr>
            </a:pPr>
            <a:r>
              <a:rPr lang="zh-CN" altLang="en-US" i="0" dirty="0">
                <a:solidFill>
                  <a:srgbClr val="C00000"/>
                </a:solidFill>
                <a:latin typeface="Times New Roman" panose="02020603050405020304" pitchFamily="18" charset="0"/>
              </a:rPr>
              <a:t>地面反射损耗</a:t>
            </a:r>
            <a:r>
              <a:rPr lang="zh-CN" altLang="en-US" i="0" dirty="0">
                <a:latin typeface="Times New Roman" panose="02020603050405020304" pitchFamily="18" charset="0"/>
              </a:rPr>
              <a:t>与地面状况、电波入射角和工作频率有关（损耗为</a:t>
            </a:r>
            <a:r>
              <a:rPr lang="en-US" altLang="zh-CN" i="0" dirty="0">
                <a:latin typeface="Times New Roman" panose="02020603050405020304" pitchFamily="18" charset="0"/>
              </a:rPr>
              <a:t>20dB</a:t>
            </a:r>
            <a:r>
              <a:rPr lang="zh-CN" altLang="en-US" i="0" dirty="0">
                <a:latin typeface="Times New Roman" panose="02020603050405020304" pitchFamily="18" charset="0"/>
              </a:rPr>
              <a:t>）</a:t>
            </a:r>
            <a:endParaRPr lang="en-US" altLang="zh-CN" i="0" dirty="0">
              <a:latin typeface="Times New Roman" panose="02020603050405020304" pitchFamily="18" charset="0"/>
            </a:endParaRPr>
          </a:p>
          <a:p>
            <a:pPr lvl="1" algn="just">
              <a:lnSpc>
                <a:spcPct val="110000"/>
              </a:lnSpc>
              <a:buClr>
                <a:schemeClr val="tx1"/>
              </a:buClr>
            </a:pPr>
            <a:r>
              <a:rPr lang="zh-CN" altLang="en-US" i="0" dirty="0">
                <a:solidFill>
                  <a:srgbClr val="C00000"/>
                </a:solidFill>
                <a:latin typeface="Times New Roman" panose="02020603050405020304" pitchFamily="18" charset="0"/>
              </a:rPr>
              <a:t>系统额外损耗</a:t>
            </a:r>
            <a:r>
              <a:rPr lang="zh-CN" altLang="en-US" i="0" dirty="0">
                <a:latin typeface="Times New Roman" panose="02020603050405020304" pitchFamily="18" charset="0"/>
              </a:rPr>
              <a:t>是指一些尚未被人们完全认识和难以计算的损耗，常用统计方法得到，如中纬度地区系统额外损耗可取</a:t>
            </a:r>
            <a:r>
              <a:rPr lang="en-US" altLang="zh-CN" i="0" dirty="0">
                <a:latin typeface="Times New Roman" panose="02020603050405020304" pitchFamily="18" charset="0"/>
              </a:rPr>
              <a:t>15</a:t>
            </a:r>
            <a:r>
              <a:rPr lang="zh-CN" altLang="en-US" i="0" dirty="0">
                <a:latin typeface="Times New Roman" panose="02020603050405020304" pitchFamily="18" charset="0"/>
              </a:rPr>
              <a:t>～</a:t>
            </a:r>
            <a:r>
              <a:rPr lang="en-US" altLang="zh-CN" i="0" dirty="0">
                <a:latin typeface="Times New Roman" panose="02020603050405020304" pitchFamily="18" charset="0"/>
              </a:rPr>
              <a:t>18dB</a:t>
            </a:r>
            <a:endParaRPr lang="zh-CN" altLang="en-US" dirty="0"/>
          </a:p>
        </p:txBody>
      </p:sp>
      <p:sp>
        <p:nvSpPr>
          <p:cNvPr id="4" name="灯片编号占位符 3">
            <a:extLst>
              <a:ext uri="{FF2B5EF4-FFF2-40B4-BE49-F238E27FC236}">
                <a16:creationId xmlns:a16="http://schemas.microsoft.com/office/drawing/2014/main" id="{BD371EAD-AA7C-4417-9484-F1EC25A4D1CA}"/>
              </a:ext>
            </a:extLst>
          </p:cNvPr>
          <p:cNvSpPr>
            <a:spLocks noGrp="1"/>
          </p:cNvSpPr>
          <p:nvPr>
            <p:ph type="sldNum" sz="quarter" idx="12"/>
          </p:nvPr>
        </p:nvSpPr>
        <p:spPr/>
        <p:txBody>
          <a:bodyPr/>
          <a:lstStyle/>
          <a:p>
            <a:fld id="{8D4D1E41-7A09-AB4A-A4E1-09765ADA2698}" type="slidenum">
              <a:rPr kumimoji="1" lang="zh-CN" altLang="en-US" smtClean="0"/>
              <a:t>76</a:t>
            </a:fld>
            <a:endParaRPr kumimoji="1" lang="zh-CN" altLang="en-US" dirty="0"/>
          </a:p>
        </p:txBody>
      </p:sp>
      <p:sp>
        <p:nvSpPr>
          <p:cNvPr id="6" name="文本框 5">
            <a:extLst>
              <a:ext uri="{FF2B5EF4-FFF2-40B4-BE49-F238E27FC236}">
                <a16:creationId xmlns:a16="http://schemas.microsoft.com/office/drawing/2014/main" id="{88542750-F6E3-4C2F-B9C1-4637FA1DEC26}"/>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6894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0F56C-D876-4B1E-87A9-AA055027E0DE}"/>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3454C2E1-CF22-4C9F-98A1-D8B96C67AECA}"/>
              </a:ext>
            </a:extLst>
          </p:cNvPr>
          <p:cNvSpPr>
            <a:spLocks noGrp="1"/>
          </p:cNvSpPr>
          <p:nvPr>
            <p:ph idx="1"/>
          </p:nvPr>
        </p:nvSpPr>
        <p:spPr>
          <a:xfrm>
            <a:off x="649225" y="1397744"/>
            <a:ext cx="5453402" cy="4586694"/>
          </a:xfrm>
        </p:spPr>
        <p:txBody>
          <a:bodyPr/>
          <a:lstStyle/>
          <a:p>
            <a:pPr marL="0" indent="0" algn="just">
              <a:lnSpc>
                <a:spcPct val="110000"/>
              </a:lnSpc>
              <a:buNone/>
            </a:pPr>
            <a:r>
              <a:rPr lang="zh-CN" altLang="en-US" b="1" dirty="0">
                <a:solidFill>
                  <a:srgbClr val="5B307E"/>
                </a:solidFill>
              </a:rPr>
              <a:t>散射传输（无线电波）</a:t>
            </a:r>
            <a:endParaRPr lang="en-US" altLang="zh-CN" b="1" dirty="0">
              <a:solidFill>
                <a:srgbClr val="5B307E"/>
              </a:solidFill>
            </a:endParaRPr>
          </a:p>
          <a:p>
            <a:pPr algn="just">
              <a:lnSpc>
                <a:spcPct val="110000"/>
              </a:lnSpc>
              <a:buClr>
                <a:schemeClr val="tx1"/>
              </a:buClr>
            </a:pPr>
            <a:r>
              <a:rPr lang="zh-CN" altLang="en-US" sz="2400" dirty="0">
                <a:solidFill>
                  <a:srgbClr val="C00000"/>
                </a:solidFill>
              </a:rPr>
              <a:t>散射通信</a:t>
            </a:r>
            <a:r>
              <a:rPr lang="zh-CN" altLang="en-US" sz="2400" dirty="0"/>
              <a:t>是指利用大气层中传输媒体的不均匀性对无线电波的散射作用进行的超视距通信</a:t>
            </a:r>
          </a:p>
          <a:p>
            <a:pPr algn="just">
              <a:lnSpc>
                <a:spcPct val="110000"/>
              </a:lnSpc>
              <a:buClr>
                <a:schemeClr val="tx1"/>
              </a:buClr>
            </a:pPr>
            <a:r>
              <a:rPr lang="zh-CN" altLang="en-US" sz="2400" dirty="0"/>
              <a:t>特点：可在被高山、湖泊等障碍物阻隔数百千米的用户之间实现超视距通信，适合于军事应用</a:t>
            </a:r>
          </a:p>
          <a:p>
            <a:pPr algn="just">
              <a:lnSpc>
                <a:spcPct val="110000"/>
              </a:lnSpc>
              <a:buClr>
                <a:schemeClr val="tx1"/>
              </a:buClr>
            </a:pPr>
            <a:r>
              <a:rPr lang="zh-CN" altLang="en-US" sz="2400" dirty="0"/>
              <a:t>散射通信包括</a:t>
            </a:r>
            <a:r>
              <a:rPr lang="zh-CN" altLang="en-US" sz="2400" dirty="0">
                <a:solidFill>
                  <a:srgbClr val="C00000"/>
                </a:solidFill>
              </a:rPr>
              <a:t>对流层散射通信</a:t>
            </a:r>
            <a:r>
              <a:rPr lang="zh-CN" altLang="en-US" sz="2400" dirty="0"/>
              <a:t>、</a:t>
            </a:r>
            <a:r>
              <a:rPr lang="zh-CN" altLang="en-US" sz="2400" dirty="0">
                <a:solidFill>
                  <a:srgbClr val="C00000"/>
                </a:solidFill>
              </a:rPr>
              <a:t>电离层散射通信</a:t>
            </a:r>
            <a:r>
              <a:rPr lang="zh-CN" altLang="en-US" sz="2400" dirty="0"/>
              <a:t>和</a:t>
            </a:r>
            <a:r>
              <a:rPr lang="zh-CN" altLang="en-US" sz="2400" dirty="0">
                <a:solidFill>
                  <a:srgbClr val="C00000"/>
                </a:solidFill>
              </a:rPr>
              <a:t>流星余迹散射通信</a:t>
            </a:r>
            <a:endParaRPr lang="zh-CN" altLang="en-US" sz="2400" dirty="0"/>
          </a:p>
        </p:txBody>
      </p:sp>
      <p:sp>
        <p:nvSpPr>
          <p:cNvPr id="4" name="灯片编号占位符 3">
            <a:extLst>
              <a:ext uri="{FF2B5EF4-FFF2-40B4-BE49-F238E27FC236}">
                <a16:creationId xmlns:a16="http://schemas.microsoft.com/office/drawing/2014/main" id="{A4E7189B-B26C-4C3B-8548-C424123CBE7C}"/>
              </a:ext>
            </a:extLst>
          </p:cNvPr>
          <p:cNvSpPr>
            <a:spLocks noGrp="1"/>
          </p:cNvSpPr>
          <p:nvPr>
            <p:ph type="sldNum" sz="quarter" idx="12"/>
          </p:nvPr>
        </p:nvSpPr>
        <p:spPr/>
        <p:txBody>
          <a:bodyPr/>
          <a:lstStyle/>
          <a:p>
            <a:fld id="{8D4D1E41-7A09-AB4A-A4E1-09765ADA2698}" type="slidenum">
              <a:rPr kumimoji="1" lang="zh-CN" altLang="en-US" smtClean="0"/>
              <a:t>77</a:t>
            </a:fld>
            <a:endParaRPr kumimoji="1" lang="zh-CN" altLang="en-US" dirty="0"/>
          </a:p>
        </p:txBody>
      </p:sp>
      <p:pic>
        <p:nvPicPr>
          <p:cNvPr id="8" name="图片 7"/>
          <p:cNvPicPr>
            <a:picLocks noChangeAspect="1"/>
          </p:cNvPicPr>
          <p:nvPr/>
        </p:nvPicPr>
        <p:blipFill>
          <a:blip r:embed="rId2"/>
          <a:stretch>
            <a:fillRect/>
          </a:stretch>
        </p:blipFill>
        <p:spPr>
          <a:xfrm>
            <a:off x="8912640" y="4658222"/>
            <a:ext cx="3074572" cy="2063253"/>
          </a:xfrm>
          <a:prstGeom prst="rect">
            <a:avLst/>
          </a:prstGeom>
        </p:spPr>
      </p:pic>
      <p:pic>
        <p:nvPicPr>
          <p:cNvPr id="9" name="图片 8"/>
          <p:cNvPicPr>
            <a:picLocks noChangeAspect="1"/>
          </p:cNvPicPr>
          <p:nvPr/>
        </p:nvPicPr>
        <p:blipFill>
          <a:blip r:embed="rId3"/>
          <a:stretch>
            <a:fillRect/>
          </a:stretch>
        </p:blipFill>
        <p:spPr>
          <a:xfrm>
            <a:off x="6102626" y="4658222"/>
            <a:ext cx="2810014" cy="2062482"/>
          </a:xfrm>
          <a:prstGeom prst="rect">
            <a:avLst/>
          </a:prstGeom>
        </p:spPr>
      </p:pic>
      <p:sp>
        <p:nvSpPr>
          <p:cNvPr id="10" name="矩形 9"/>
          <p:cNvSpPr/>
          <p:nvPr/>
        </p:nvSpPr>
        <p:spPr>
          <a:xfrm>
            <a:off x="641097" y="5569325"/>
            <a:ext cx="5544842" cy="830997"/>
          </a:xfrm>
          <a:prstGeom prst="rect">
            <a:avLst/>
          </a:prstGeom>
        </p:spPr>
        <p:txBody>
          <a:bodyPr wrap="square">
            <a:spAutoFit/>
          </a:bodyPr>
          <a:lstStyle/>
          <a:p>
            <a:pPr marL="342900" indent="-342900">
              <a:buFont typeface="Wingdings" panose="05000000000000000000" pitchFamily="2" charset="2"/>
              <a:buChar char="Ø"/>
            </a:pPr>
            <a:r>
              <a:rPr lang="zh-CN" altLang="en-US" sz="2400" dirty="0">
                <a:latin typeface="Microsoft YaHei" panose="020B0503020204020204" pitchFamily="34" charset="-122"/>
                <a:ea typeface="Microsoft YaHei" panose="020B0503020204020204" pitchFamily="34" charset="-122"/>
              </a:rPr>
              <a:t>对流层散射通信是军事通信中战略通信网和战术通信网中的主要传输手段</a:t>
            </a:r>
          </a:p>
        </p:txBody>
      </p:sp>
      <p:pic>
        <p:nvPicPr>
          <p:cNvPr id="6" name="图片 5">
            <a:extLst>
              <a:ext uri="{FF2B5EF4-FFF2-40B4-BE49-F238E27FC236}">
                <a16:creationId xmlns:a16="http://schemas.microsoft.com/office/drawing/2014/main" id="{7B265955-709B-40EF-8834-FEC0531DEC94}"/>
              </a:ext>
            </a:extLst>
          </p:cNvPr>
          <p:cNvPicPr>
            <a:picLocks noChangeAspect="1"/>
          </p:cNvPicPr>
          <p:nvPr/>
        </p:nvPicPr>
        <p:blipFill rotWithShape="1">
          <a:blip r:embed="rId4"/>
          <a:srcRect l="9739" t="4125" r="2724"/>
          <a:stretch/>
        </p:blipFill>
        <p:spPr>
          <a:xfrm>
            <a:off x="6096001" y="1397744"/>
            <a:ext cx="5891212" cy="3106946"/>
          </a:xfrm>
          <a:prstGeom prst="rect">
            <a:avLst/>
          </a:prstGeom>
        </p:spPr>
      </p:pic>
      <p:sp>
        <p:nvSpPr>
          <p:cNvPr id="11" name="文本框 10">
            <a:extLst>
              <a:ext uri="{FF2B5EF4-FFF2-40B4-BE49-F238E27FC236}">
                <a16:creationId xmlns:a16="http://schemas.microsoft.com/office/drawing/2014/main" id="{501E05A2-D21D-466E-9029-D171AA9FC807}"/>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7451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FA55B6-C458-4A45-83F3-9CBACCFEAE8B}"/>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1966E801-3F83-4D72-BE12-F3C53005CE63}"/>
              </a:ext>
            </a:extLst>
          </p:cNvPr>
          <p:cNvSpPr>
            <a:spLocks noGrp="1"/>
          </p:cNvSpPr>
          <p:nvPr>
            <p:ph idx="1"/>
          </p:nvPr>
        </p:nvSpPr>
        <p:spPr>
          <a:xfrm>
            <a:off x="838200" y="5681680"/>
            <a:ext cx="10515600" cy="904051"/>
          </a:xfrm>
        </p:spPr>
        <p:txBody>
          <a:bodyPr>
            <a:noAutofit/>
          </a:bodyPr>
          <a:lstStyle/>
          <a:p>
            <a:r>
              <a:rPr lang="zh-CN" altLang="en-US" sz="2400" dirty="0">
                <a:latin typeface="Times New Roman" panose="02020603050405020304" pitchFamily="18" charset="0"/>
              </a:rPr>
              <a:t>对流层是指从地球表面至高度为</a:t>
            </a:r>
            <a:r>
              <a:rPr lang="en-US" altLang="zh-CN" sz="2400" dirty="0">
                <a:latin typeface="Times New Roman" panose="02020603050405020304" pitchFamily="18" charset="0"/>
                <a:cs typeface="Times New Roman" panose="02020603050405020304" pitchFamily="18" charset="0"/>
              </a:rPr>
              <a:t>18km</a:t>
            </a:r>
            <a:r>
              <a:rPr lang="zh-CN" altLang="en-US" sz="2400" dirty="0">
                <a:latin typeface="Times New Roman" panose="02020603050405020304" pitchFamily="18" charset="0"/>
              </a:rPr>
              <a:t>的气体最稠密的大气空间</a:t>
            </a:r>
            <a:endParaRPr lang="en-US" altLang="zh-CN" sz="2400" dirty="0">
              <a:latin typeface="Times New Roman" panose="02020603050405020304" pitchFamily="18" charset="0"/>
            </a:endParaRPr>
          </a:p>
          <a:p>
            <a:r>
              <a:rPr lang="zh-CN" altLang="en-US" sz="2400" dirty="0"/>
              <a:t>对流层内的散射体是空气涡流和云团，而电离层内的散射体是流星余迹</a:t>
            </a:r>
          </a:p>
        </p:txBody>
      </p:sp>
      <p:sp>
        <p:nvSpPr>
          <p:cNvPr id="4" name="灯片编号占位符 3">
            <a:extLst>
              <a:ext uri="{FF2B5EF4-FFF2-40B4-BE49-F238E27FC236}">
                <a16:creationId xmlns:a16="http://schemas.microsoft.com/office/drawing/2014/main" id="{EAE74A0F-4272-45E6-9949-8EEF93169C8C}"/>
              </a:ext>
            </a:extLst>
          </p:cNvPr>
          <p:cNvSpPr>
            <a:spLocks noGrp="1"/>
          </p:cNvSpPr>
          <p:nvPr>
            <p:ph type="sldNum" sz="quarter" idx="12"/>
          </p:nvPr>
        </p:nvSpPr>
        <p:spPr/>
        <p:txBody>
          <a:bodyPr/>
          <a:lstStyle/>
          <a:p>
            <a:fld id="{8D4D1E41-7A09-AB4A-A4E1-09765ADA2698}" type="slidenum">
              <a:rPr kumimoji="1" lang="zh-CN" altLang="en-US" smtClean="0"/>
              <a:t>78</a:t>
            </a:fld>
            <a:endParaRPr kumimoji="1" lang="zh-CN" altLang="en-US" dirty="0"/>
          </a:p>
        </p:txBody>
      </p:sp>
      <p:pic>
        <p:nvPicPr>
          <p:cNvPr id="12" name="图片 11">
            <a:extLst>
              <a:ext uri="{FF2B5EF4-FFF2-40B4-BE49-F238E27FC236}">
                <a16:creationId xmlns:a16="http://schemas.microsoft.com/office/drawing/2014/main" id="{7B3B147B-18A9-4F98-ABC0-6454ADA9CB2E}"/>
              </a:ext>
            </a:extLst>
          </p:cNvPr>
          <p:cNvPicPr>
            <a:picLocks noChangeAspect="1"/>
          </p:cNvPicPr>
          <p:nvPr/>
        </p:nvPicPr>
        <p:blipFill>
          <a:blip r:embed="rId2"/>
          <a:stretch>
            <a:fillRect/>
          </a:stretch>
        </p:blipFill>
        <p:spPr>
          <a:xfrm>
            <a:off x="1910137" y="1353617"/>
            <a:ext cx="7618183" cy="4354401"/>
          </a:xfrm>
          <a:prstGeom prst="rect">
            <a:avLst/>
          </a:prstGeom>
        </p:spPr>
      </p:pic>
      <p:sp>
        <p:nvSpPr>
          <p:cNvPr id="8" name="文本框 7">
            <a:extLst>
              <a:ext uri="{FF2B5EF4-FFF2-40B4-BE49-F238E27FC236}">
                <a16:creationId xmlns:a16="http://schemas.microsoft.com/office/drawing/2014/main" id="{93159F19-23A8-4734-8759-2BC66C63F1F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43326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207EAC-FC8C-460E-8FE2-E73D166761A8}"/>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E1333916-1149-4123-8EB2-48838E3E9D38}"/>
              </a:ext>
            </a:extLst>
          </p:cNvPr>
          <p:cNvSpPr>
            <a:spLocks noGrp="1"/>
          </p:cNvSpPr>
          <p:nvPr>
            <p:ph idx="1"/>
          </p:nvPr>
        </p:nvSpPr>
        <p:spPr>
          <a:xfrm>
            <a:off x="838200" y="1510758"/>
            <a:ext cx="10515600" cy="2098992"/>
          </a:xfrm>
        </p:spPr>
        <p:txBody>
          <a:bodyPr/>
          <a:lstStyle/>
          <a:p>
            <a:pPr marL="0" indent="0" algn="just">
              <a:buNone/>
            </a:pPr>
            <a:r>
              <a:rPr lang="zh-CN" altLang="en-US" b="1" dirty="0">
                <a:solidFill>
                  <a:srgbClr val="5B307E"/>
                </a:solidFill>
              </a:rPr>
              <a:t>地面微波</a:t>
            </a:r>
            <a:endParaRPr lang="en-US" altLang="zh-CN" b="1" dirty="0">
              <a:solidFill>
                <a:srgbClr val="5B307E"/>
              </a:solidFill>
            </a:endParaRPr>
          </a:p>
          <a:p>
            <a:pPr algn="just">
              <a:lnSpc>
                <a:spcPct val="110000"/>
              </a:lnSpc>
              <a:buClr>
                <a:schemeClr val="tx1"/>
              </a:buClr>
            </a:pPr>
            <a:r>
              <a:rPr lang="zh-CN" altLang="en-US" sz="2400" dirty="0">
                <a:solidFill>
                  <a:srgbClr val="C00000"/>
                </a:solidFill>
              </a:rPr>
              <a:t>微波</a:t>
            </a:r>
            <a:r>
              <a:rPr lang="zh-CN" altLang="en-US" sz="2400" dirty="0"/>
              <a:t>   指在对流层的视距范围内，以波长为</a:t>
            </a:r>
            <a:r>
              <a:rPr lang="en-US" altLang="zh-CN" sz="2400" i="0" dirty="0">
                <a:latin typeface="Times New Roman" panose="02020603050405020304" pitchFamily="18" charset="0"/>
              </a:rPr>
              <a:t>1m</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1mm</a:t>
            </a:r>
            <a:r>
              <a:rPr lang="zh-CN" altLang="en-US" sz="2400" i="0" dirty="0">
                <a:latin typeface="Times New Roman" panose="02020603050405020304" pitchFamily="18" charset="0"/>
              </a:rPr>
              <a:t>（或频率为</a:t>
            </a:r>
            <a:r>
              <a:rPr lang="en-US" altLang="zh-CN" sz="2400" i="0" dirty="0">
                <a:latin typeface="Times New Roman" panose="02020603050405020304" pitchFamily="18" charset="0"/>
              </a:rPr>
              <a:t>300MHz</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300GHz</a:t>
            </a:r>
            <a:r>
              <a:rPr lang="zh-CN" altLang="en-US" sz="2400" i="0" dirty="0">
                <a:latin typeface="Times New Roman" panose="02020603050405020304" pitchFamily="18" charset="0"/>
              </a:rPr>
              <a:t>）</a:t>
            </a:r>
            <a:r>
              <a:rPr lang="zh-CN" altLang="en-US" sz="2400" dirty="0"/>
              <a:t>的电磁波进行信息传输</a:t>
            </a:r>
            <a:endParaRPr lang="en-US" altLang="zh-CN" sz="2400" dirty="0"/>
          </a:p>
          <a:p>
            <a:pPr algn="just">
              <a:lnSpc>
                <a:spcPct val="110000"/>
              </a:lnSpc>
              <a:buClr>
                <a:schemeClr val="tx1"/>
              </a:buClr>
            </a:pPr>
            <a:r>
              <a:rPr lang="zh-CN" altLang="en-US" sz="2400" dirty="0">
                <a:solidFill>
                  <a:srgbClr val="C00000"/>
                </a:solidFill>
              </a:rPr>
              <a:t>多路复用</a:t>
            </a:r>
            <a:r>
              <a:rPr lang="zh-CN" altLang="en-US" sz="2400" dirty="0"/>
              <a:t>、</a:t>
            </a:r>
            <a:r>
              <a:rPr lang="zh-CN" altLang="en-US" sz="2400" dirty="0">
                <a:solidFill>
                  <a:srgbClr val="C00000"/>
                </a:solidFill>
              </a:rPr>
              <a:t>射频工作</a:t>
            </a:r>
            <a:r>
              <a:rPr lang="zh-CN" altLang="en-US" sz="2400" dirty="0"/>
              <a:t>和</a:t>
            </a:r>
            <a:r>
              <a:rPr lang="zh-CN" altLang="en-US" sz="2400" dirty="0">
                <a:solidFill>
                  <a:srgbClr val="C00000"/>
                </a:solidFill>
              </a:rPr>
              <a:t>中继接力</a:t>
            </a:r>
            <a:r>
              <a:rPr lang="zh-CN" altLang="en-US" sz="2400" dirty="0"/>
              <a:t>是地面微波传输的三个最基本的工作特点</a:t>
            </a:r>
          </a:p>
          <a:p>
            <a:pPr algn="just"/>
            <a:endParaRPr lang="zh-CN" altLang="en-US" dirty="0"/>
          </a:p>
        </p:txBody>
      </p:sp>
      <p:sp>
        <p:nvSpPr>
          <p:cNvPr id="4" name="灯片编号占位符 3">
            <a:extLst>
              <a:ext uri="{FF2B5EF4-FFF2-40B4-BE49-F238E27FC236}">
                <a16:creationId xmlns:a16="http://schemas.microsoft.com/office/drawing/2014/main" id="{711B575D-6371-4C15-9B46-4F5F395C2588}"/>
              </a:ext>
            </a:extLst>
          </p:cNvPr>
          <p:cNvSpPr>
            <a:spLocks noGrp="1"/>
          </p:cNvSpPr>
          <p:nvPr>
            <p:ph type="sldNum" sz="quarter" idx="12"/>
          </p:nvPr>
        </p:nvSpPr>
        <p:spPr/>
        <p:txBody>
          <a:bodyPr/>
          <a:lstStyle/>
          <a:p>
            <a:fld id="{8D4D1E41-7A09-AB4A-A4E1-09765ADA2698}" type="slidenum">
              <a:rPr kumimoji="1" lang="zh-CN" altLang="en-US" smtClean="0"/>
              <a:t>79</a:t>
            </a:fld>
            <a:endParaRPr kumimoji="1" lang="zh-CN" altLang="en-US" dirty="0"/>
          </a:p>
        </p:txBody>
      </p:sp>
      <p:grpSp>
        <p:nvGrpSpPr>
          <p:cNvPr id="10" name="组合 9"/>
          <p:cNvGrpSpPr/>
          <p:nvPr/>
        </p:nvGrpSpPr>
        <p:grpSpPr>
          <a:xfrm>
            <a:off x="8792815" y="3982485"/>
            <a:ext cx="2650886" cy="1270142"/>
            <a:chOff x="8792815" y="4827310"/>
            <a:chExt cx="2650886" cy="1270142"/>
          </a:xfrm>
        </p:grpSpPr>
        <p:pic>
          <p:nvPicPr>
            <p:cNvPr id="7" name="图片 6"/>
            <p:cNvPicPr>
              <a:picLocks noChangeAspect="1"/>
            </p:cNvPicPr>
            <p:nvPr/>
          </p:nvPicPr>
          <p:blipFill>
            <a:blip r:embed="rId2"/>
            <a:stretch>
              <a:fillRect/>
            </a:stretch>
          </p:blipFill>
          <p:spPr>
            <a:xfrm>
              <a:off x="8792815" y="4897302"/>
              <a:ext cx="952500" cy="1200150"/>
            </a:xfrm>
            <a:prstGeom prst="rect">
              <a:avLst/>
            </a:prstGeom>
          </p:spPr>
        </p:pic>
        <p:sp>
          <p:nvSpPr>
            <p:cNvPr id="8" name="矩形 7"/>
            <p:cNvSpPr/>
            <p:nvPr/>
          </p:nvSpPr>
          <p:spPr>
            <a:xfrm>
              <a:off x="9745315" y="4827310"/>
              <a:ext cx="1689822" cy="461665"/>
            </a:xfrm>
            <a:prstGeom prst="rect">
              <a:avLst/>
            </a:prstGeom>
          </p:spPr>
          <p:txBody>
            <a:bodyPr wrap="square">
              <a:spAutoFit/>
            </a:bodyPr>
            <a:lstStyle/>
            <a:p>
              <a:pPr algn="just">
                <a:lnSpc>
                  <a:spcPct val="120000"/>
                </a:lnSpc>
              </a:pPr>
              <a:r>
                <a:rPr lang="zh-CN" altLang="en-US" sz="2000" dirty="0">
                  <a:solidFill>
                    <a:srgbClr val="333333"/>
                  </a:solidFill>
                  <a:latin typeface="微软雅黑" panose="020B0503020204020204" pitchFamily="34" charset="-122"/>
                  <a:ea typeface="微软雅黑" panose="020B0503020204020204" pitchFamily="34" charset="-122"/>
                </a:rPr>
                <a:t>直视路线</a:t>
              </a:r>
            </a:p>
          </p:txBody>
        </p:sp>
        <p:sp>
          <p:nvSpPr>
            <p:cNvPr id="9" name="矩形 8"/>
            <p:cNvSpPr/>
            <p:nvPr/>
          </p:nvSpPr>
          <p:spPr>
            <a:xfrm>
              <a:off x="9753879" y="5370126"/>
              <a:ext cx="1689822" cy="430374"/>
            </a:xfrm>
            <a:prstGeom prst="rect">
              <a:avLst/>
            </a:prstGeom>
          </p:spPr>
          <p:txBody>
            <a:bodyPr wrap="square">
              <a:spAutoFit/>
            </a:bodyPr>
            <a:lstStyle/>
            <a:p>
              <a:pPr algn="just">
                <a:lnSpc>
                  <a:spcPct val="120000"/>
                </a:lnSpc>
              </a:pPr>
              <a:r>
                <a:rPr lang="zh-CN" altLang="en-US" sz="2000" dirty="0">
                  <a:solidFill>
                    <a:srgbClr val="333333"/>
                  </a:solidFill>
                  <a:latin typeface="微软雅黑" panose="020B0503020204020204" pitchFamily="34" charset="-122"/>
                  <a:ea typeface="微软雅黑" panose="020B0503020204020204" pitchFamily="34" charset="-122"/>
                </a:rPr>
                <a:t>微波中继站</a:t>
              </a:r>
            </a:p>
          </p:txBody>
        </p:sp>
      </p:grpSp>
      <p:sp>
        <p:nvSpPr>
          <p:cNvPr id="11" name="内容占位符 2">
            <a:extLst>
              <a:ext uri="{FF2B5EF4-FFF2-40B4-BE49-F238E27FC236}">
                <a16:creationId xmlns:a16="http://schemas.microsoft.com/office/drawing/2014/main" id="{AB994ECE-D69C-4EE7-8A70-CE578E1C0AA4}"/>
              </a:ext>
            </a:extLst>
          </p:cNvPr>
          <p:cNvSpPr txBox="1">
            <a:spLocks/>
          </p:cNvSpPr>
          <p:nvPr/>
        </p:nvSpPr>
        <p:spPr>
          <a:xfrm>
            <a:off x="848006" y="5595732"/>
            <a:ext cx="10704576" cy="113305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pPr>
            <a:r>
              <a:rPr lang="zh-CN" altLang="en-US" sz="2400" dirty="0"/>
              <a:t>远距离通信则采用中继方式</a:t>
            </a:r>
            <a:endParaRPr lang="en-US" altLang="zh-CN" sz="2400" dirty="0"/>
          </a:p>
          <a:p>
            <a:pPr algn="just">
              <a:lnSpc>
                <a:spcPct val="110000"/>
              </a:lnSpc>
            </a:pPr>
            <a:r>
              <a:rPr lang="zh-CN" altLang="en-US" sz="2400" dirty="0">
                <a:latin typeface="Times New Roman" panose="02020603050405020304" pitchFamily="18" charset="0"/>
              </a:rPr>
              <a:t>因受地形和天线高度的限制，两通信站之间的距离一般在</a:t>
            </a:r>
            <a:r>
              <a:rPr lang="en-US" altLang="zh-CN" sz="2400" dirty="0">
                <a:latin typeface="Times New Roman" panose="02020603050405020304" pitchFamily="18" charset="0"/>
              </a:rPr>
              <a:t>40</a:t>
            </a:r>
            <a:r>
              <a:rPr lang="zh-CN" altLang="en-US" sz="2400" dirty="0">
                <a:latin typeface="Times New Roman" panose="02020603050405020304" pitchFamily="18" charset="0"/>
              </a:rPr>
              <a:t>～</a:t>
            </a:r>
            <a:r>
              <a:rPr lang="en-US" altLang="zh-CN" sz="2400" dirty="0">
                <a:latin typeface="Times New Roman" panose="02020603050405020304" pitchFamily="18" charset="0"/>
              </a:rPr>
              <a:t>60km</a:t>
            </a:r>
            <a:endParaRPr lang="en-US" altLang="zh-CN" sz="2400" dirty="0"/>
          </a:p>
        </p:txBody>
      </p:sp>
      <p:grpSp>
        <p:nvGrpSpPr>
          <p:cNvPr id="13" name="组合 12"/>
          <p:cNvGrpSpPr/>
          <p:nvPr/>
        </p:nvGrpSpPr>
        <p:grpSpPr>
          <a:xfrm>
            <a:off x="838200" y="3320775"/>
            <a:ext cx="7724775" cy="2190750"/>
            <a:chOff x="838200" y="3320775"/>
            <a:chExt cx="7724775" cy="2190750"/>
          </a:xfrm>
        </p:grpSpPr>
        <p:pic>
          <p:nvPicPr>
            <p:cNvPr id="5" name="图片 4"/>
            <p:cNvPicPr>
              <a:picLocks noChangeAspect="1"/>
            </p:cNvPicPr>
            <p:nvPr/>
          </p:nvPicPr>
          <p:blipFill>
            <a:blip r:embed="rId3"/>
            <a:stretch>
              <a:fillRect/>
            </a:stretch>
          </p:blipFill>
          <p:spPr>
            <a:xfrm>
              <a:off x="838200" y="3320775"/>
              <a:ext cx="7724775" cy="2190750"/>
            </a:xfrm>
            <a:prstGeom prst="rect">
              <a:avLst/>
            </a:prstGeom>
          </p:spPr>
        </p:pic>
        <p:sp>
          <p:nvSpPr>
            <p:cNvPr id="12" name="文本框 11"/>
            <p:cNvSpPr txBox="1"/>
            <p:nvPr/>
          </p:nvSpPr>
          <p:spPr>
            <a:xfrm>
              <a:off x="4523392" y="4879940"/>
              <a:ext cx="833800" cy="400110"/>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地球</a:t>
              </a:r>
            </a:p>
          </p:txBody>
        </p:sp>
      </p:grpSp>
      <p:sp>
        <p:nvSpPr>
          <p:cNvPr id="14" name="文本框 13">
            <a:extLst>
              <a:ext uri="{FF2B5EF4-FFF2-40B4-BE49-F238E27FC236}">
                <a16:creationId xmlns:a16="http://schemas.microsoft.com/office/drawing/2014/main" id="{1954995B-4D74-44B1-9935-75FF7BF222B6}"/>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5245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48ECDC-773A-4F15-9995-9F050FFF41AC}"/>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A8401846-1A97-43E0-927B-E9B6BBEDCBA7}"/>
              </a:ext>
            </a:extLst>
          </p:cNvPr>
          <p:cNvSpPr>
            <a:spLocks noGrp="1"/>
          </p:cNvSpPr>
          <p:nvPr>
            <p:ph idx="1"/>
          </p:nvPr>
        </p:nvSpPr>
        <p:spPr>
          <a:xfrm>
            <a:off x="685800" y="1331033"/>
            <a:ext cx="10783869" cy="626267"/>
          </a:xfrm>
        </p:spPr>
        <p:txBody>
          <a:bodyPr/>
          <a:lstStyle/>
          <a:p>
            <a:pPr marL="0" indent="0">
              <a:buNone/>
            </a:pPr>
            <a:r>
              <a:rPr lang="zh-CN" altLang="en-US" dirty="0"/>
              <a:t>自然环境对微波通信的影响主要有三个方面</a:t>
            </a:r>
          </a:p>
        </p:txBody>
      </p:sp>
      <p:sp>
        <p:nvSpPr>
          <p:cNvPr id="4" name="灯片编号占位符 3">
            <a:extLst>
              <a:ext uri="{FF2B5EF4-FFF2-40B4-BE49-F238E27FC236}">
                <a16:creationId xmlns:a16="http://schemas.microsoft.com/office/drawing/2014/main" id="{23E766C8-40FC-4D45-8F3F-B98B51C65750}"/>
              </a:ext>
            </a:extLst>
          </p:cNvPr>
          <p:cNvSpPr>
            <a:spLocks noGrp="1"/>
          </p:cNvSpPr>
          <p:nvPr>
            <p:ph type="sldNum" sz="quarter" idx="12"/>
          </p:nvPr>
        </p:nvSpPr>
        <p:spPr/>
        <p:txBody>
          <a:bodyPr/>
          <a:lstStyle/>
          <a:p>
            <a:fld id="{8D4D1E41-7A09-AB4A-A4E1-09765ADA2698}" type="slidenum">
              <a:rPr kumimoji="1" lang="zh-CN" altLang="en-US" smtClean="0"/>
              <a:t>80</a:t>
            </a:fld>
            <a:endParaRPr kumimoji="1" lang="zh-CN" altLang="en-US" dirty="0"/>
          </a:p>
        </p:txBody>
      </p:sp>
      <p:sp>
        <p:nvSpPr>
          <p:cNvPr id="5" name="内容占位符 2">
            <a:extLst>
              <a:ext uri="{FF2B5EF4-FFF2-40B4-BE49-F238E27FC236}">
                <a16:creationId xmlns:a16="http://schemas.microsoft.com/office/drawing/2014/main" id="{BD9E2174-8036-4931-9152-7C5254CF57DC}"/>
              </a:ext>
            </a:extLst>
          </p:cNvPr>
          <p:cNvSpPr txBox="1">
            <a:spLocks/>
          </p:cNvSpPr>
          <p:nvPr/>
        </p:nvSpPr>
        <p:spPr>
          <a:xfrm>
            <a:off x="720105" y="1980754"/>
            <a:ext cx="11125200" cy="295263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Wingdings" pitchFamily="2" charset="2"/>
              <a:buNone/>
            </a:pPr>
            <a:r>
              <a:rPr lang="zh-CN" altLang="en-US" sz="2400" dirty="0"/>
              <a:t>地形对电波传播的影响</a:t>
            </a:r>
          </a:p>
          <a:p>
            <a:pPr marL="230400" indent="-230400" algn="just">
              <a:lnSpc>
                <a:spcPct val="110000"/>
              </a:lnSpc>
            </a:pPr>
            <a:r>
              <a:rPr lang="zh-CN" altLang="en-US" sz="2000" dirty="0"/>
              <a:t>地形对微波传播带来的影响主要表现在电波的反射、绕射和地面散射等方面</a:t>
            </a:r>
          </a:p>
          <a:p>
            <a:pPr marL="687600" lvl="1" indent="-230400" algn="just">
              <a:lnSpc>
                <a:spcPct val="110000"/>
              </a:lnSpc>
            </a:pPr>
            <a:r>
              <a:rPr lang="zh-CN" altLang="en-US" sz="2000" dirty="0">
                <a:solidFill>
                  <a:srgbClr val="C00000"/>
                </a:solidFill>
              </a:rPr>
              <a:t>反射</a:t>
            </a:r>
            <a:r>
              <a:rPr lang="zh-CN" altLang="en-US" sz="2000" dirty="0"/>
              <a:t>的影响是指光滑地面或水面可将天线发射的部分信号能量反射到接收天线处，对主波信号产生干涉</a:t>
            </a:r>
          </a:p>
          <a:p>
            <a:pPr marL="687600" lvl="1" indent="-230400" algn="just">
              <a:lnSpc>
                <a:spcPct val="110000"/>
              </a:lnSpc>
            </a:pPr>
            <a:r>
              <a:rPr lang="zh-CN" altLang="en-US" sz="2000" dirty="0">
                <a:solidFill>
                  <a:srgbClr val="C00000"/>
                </a:solidFill>
              </a:rPr>
              <a:t>绕射</a:t>
            </a:r>
            <a:r>
              <a:rPr lang="zh-CN" altLang="en-US" sz="2000" dirty="0"/>
              <a:t>的影响是指地面障碍物（山峰、森林、建筑物等）可能阻挡一部分电波射线，使收信点的接收电平降低</a:t>
            </a:r>
          </a:p>
          <a:p>
            <a:pPr marL="687600" lvl="1" indent="-230400" algn="just">
              <a:lnSpc>
                <a:spcPct val="110000"/>
              </a:lnSpc>
            </a:pPr>
            <a:r>
              <a:rPr lang="zh-CN" altLang="en-US" sz="2000" dirty="0">
                <a:solidFill>
                  <a:srgbClr val="C00000"/>
                </a:solidFill>
              </a:rPr>
              <a:t>地面散射</a:t>
            </a:r>
            <a:r>
              <a:rPr lang="zh-CN" altLang="en-US" sz="2000" dirty="0"/>
              <a:t>通常呈乱反射状，这对主波信号影响较小，可以忽略不计</a:t>
            </a:r>
            <a:endParaRPr lang="zh-CN" altLang="en-US" sz="2800" dirty="0"/>
          </a:p>
        </p:txBody>
      </p:sp>
      <p:sp>
        <p:nvSpPr>
          <p:cNvPr id="6" name="内容占位符 2">
            <a:extLst>
              <a:ext uri="{FF2B5EF4-FFF2-40B4-BE49-F238E27FC236}">
                <a16:creationId xmlns:a16="http://schemas.microsoft.com/office/drawing/2014/main" id="{39EC4BFB-D8BD-4DC2-A917-A42A6DA353D8}"/>
              </a:ext>
            </a:extLst>
          </p:cNvPr>
          <p:cNvSpPr txBox="1">
            <a:spLocks/>
          </p:cNvSpPr>
          <p:nvPr/>
        </p:nvSpPr>
        <p:spPr>
          <a:xfrm>
            <a:off x="861619" y="4803233"/>
            <a:ext cx="10983686" cy="191824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zh-CN" altLang="en-US" sz="2400" dirty="0">
                <a:latin typeface="微软雅黑" panose="020B0503020204020204" pitchFamily="34" charset="-122"/>
                <a:ea typeface="微软雅黑" panose="020B0503020204020204" pitchFamily="34" charset="-122"/>
              </a:rPr>
              <a:t>大气对电波传播的影响</a:t>
            </a:r>
          </a:p>
          <a:p>
            <a:r>
              <a:rPr lang="zh-CN" altLang="en-US" sz="2000" dirty="0">
                <a:latin typeface="微软雅黑" panose="020B0503020204020204" pitchFamily="34" charset="-122"/>
                <a:ea typeface="微软雅黑" panose="020B0503020204020204" pitchFamily="34" charset="-122"/>
              </a:rPr>
              <a:t>对流层对电波传播的影响，主要表现在气体分子对电波的共振吸收、雨雾中水滴对电波的散射损耗，以及对流层结构的不均匀性使电波产生折射、反射、散射等现象，其中尤以大气折射的影响最为显著</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
        <p:nvSpPr>
          <p:cNvPr id="9" name="文本框 8">
            <a:extLst>
              <a:ext uri="{FF2B5EF4-FFF2-40B4-BE49-F238E27FC236}">
                <a16:creationId xmlns:a16="http://schemas.microsoft.com/office/drawing/2014/main" id="{1D36C07F-8DA6-4EB0-8D54-8C7BD47154E0}"/>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9964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002DD3-769B-4A2C-99E9-A6225F5CADAA}"/>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91E211BE-4968-4C28-8498-4915208A8F32}"/>
              </a:ext>
            </a:extLst>
          </p:cNvPr>
          <p:cNvSpPr>
            <a:spLocks noGrp="1"/>
          </p:cNvSpPr>
          <p:nvPr>
            <p:ph idx="1"/>
          </p:nvPr>
        </p:nvSpPr>
        <p:spPr>
          <a:xfrm>
            <a:off x="621792" y="1346166"/>
            <a:ext cx="11137392" cy="4586694"/>
          </a:xfrm>
        </p:spPr>
        <p:txBody>
          <a:bodyPr>
            <a:normAutofit/>
          </a:bodyPr>
          <a:lstStyle/>
          <a:p>
            <a:pPr marL="0" marR="0" lvl="0" indent="0" algn="just" defTabSz="914400" rtl="0" eaLnBrk="1" fontAlgn="auto" latinLnBrk="0" hangingPunct="1">
              <a:lnSpc>
                <a:spcPct val="110000"/>
              </a:lnSpc>
              <a:spcBef>
                <a:spcPts val="600"/>
              </a:spcBef>
              <a:spcAft>
                <a:spcPts val="0"/>
              </a:spcAft>
              <a:buClrTx/>
              <a:buSzTx/>
              <a:buFont typeface="Wingdings" pitchFamily="2" charset="2"/>
              <a:buNone/>
              <a:tabLst/>
              <a:defRPr/>
            </a:pPr>
            <a:r>
              <a:rPr kumimoji="0" lang="zh-CN" altLang="en-US" b="1" i="0" u="none" strike="noStrike" kern="1200" cap="none" spc="0" normalizeH="0" baseline="0" noProof="0" dirty="0">
                <a:ln>
                  <a:noFill/>
                </a:ln>
                <a:solidFill>
                  <a:srgbClr val="5B307E"/>
                </a:solidFill>
                <a:effectLst/>
                <a:uLnTx/>
                <a:uFillTx/>
                <a:latin typeface="Times New Roman" panose="02020603050405020304" pitchFamily="18" charset="0"/>
                <a:ea typeface="微软雅黑" panose="020B0503020204020204" pitchFamily="34" charset="-122"/>
                <a:cs typeface="+mn-cs"/>
              </a:rPr>
              <a:t>光波传输</a:t>
            </a:r>
          </a:p>
          <a:p>
            <a:pPr algn="just">
              <a:lnSpc>
                <a:spcPct val="110000"/>
              </a:lnSpc>
              <a:defRPr/>
            </a:pP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紫外线、可见光和红外线都属于光波的范畴。光波的波长在</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3×10</a:t>
            </a:r>
            <a:r>
              <a:rPr kumimoji="0" lang="en-US" altLang="zh-CN" sz="2400" b="0" i="0" u="none" strike="noStrike" kern="1200" cap="none" spc="0" normalizeH="0" baseline="30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0" i="0" u="none" strike="noStrike" kern="1200" cap="none" spc="0" normalizeH="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60×10</a:t>
            </a:r>
            <a:r>
              <a:rPr kumimoji="0" lang="en-US" altLang="zh-CN" sz="2400" b="0" i="0" u="none" strike="noStrike" kern="1200" cap="none" spc="0" normalizeH="0" baseline="30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sz="2400" b="0" i="0" u="none" strike="noStrike" kern="1200" cap="none" spc="0" normalizeH="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μm</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，频率在</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3×10</a:t>
            </a:r>
            <a:r>
              <a:rPr kumimoji="0" lang="en-US" altLang="zh-CN" sz="2400" b="0" i="0" u="none" strike="noStrike" kern="1200" cap="none" spc="0" normalizeH="0" baseline="30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12</a:t>
            </a: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5×10</a:t>
            </a:r>
            <a:r>
              <a:rPr kumimoji="0" lang="en-US" altLang="zh-CN" sz="2400" b="0" i="0" u="none" strike="noStrike" kern="1200" cap="none" spc="0" normalizeH="0" baseline="30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16</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Hz</a:t>
            </a:r>
            <a:endPar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a:p>
            <a:pPr algn="just">
              <a:lnSpc>
                <a:spcPct val="110000"/>
              </a:lnSpc>
              <a:defRPr/>
            </a:pP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光波通信目前有三种分类</a:t>
            </a:r>
            <a:endPar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a:p>
            <a:pPr marL="914400" lvl="1" indent="-457200" algn="just">
              <a:lnSpc>
                <a:spcPct val="110000"/>
              </a:lnSpc>
              <a:buFont typeface="+mj-ea"/>
              <a:buAutoNum type="circleNumDbPlain"/>
              <a:defRPr/>
            </a:pP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按照光源特性的不同，分为</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激光通信</a:t>
            </a:r>
            <a:r>
              <a:rPr lang="zh-CN" altLang="en-US" dirty="0">
                <a:latin typeface="Times New Roman" panose="02020603050405020304" pitchFamily="18" charset="0"/>
                <a:ea typeface="微软雅黑" panose="020B0503020204020204" pitchFamily="34" charset="-122"/>
              </a:rPr>
              <a:t>和</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非激光通信</a:t>
            </a:r>
            <a:endParaRPr kumimoji="0" lang="en-US" altLang="zh-CN"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a:p>
            <a:pPr marL="914400" lvl="1" indent="-457200" algn="just">
              <a:lnSpc>
                <a:spcPct val="110000"/>
              </a:lnSpc>
              <a:buFont typeface="+mj-ea"/>
              <a:buAutoNum type="circleNumDbPlain"/>
              <a:defRPr/>
            </a:pP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按照传输媒体的不同，分为</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大气激光通信</a:t>
            </a: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和</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光纤通信</a:t>
            </a:r>
            <a:endParaRPr kumimoji="0" lang="en-US" altLang="zh-CN"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a:p>
            <a:pPr marL="914400" lvl="1" indent="-457200" algn="just">
              <a:lnSpc>
                <a:spcPct val="110000"/>
              </a:lnSpc>
              <a:buFont typeface="+mj-ea"/>
              <a:buAutoNum type="circleNumDbPlain"/>
              <a:defRPr/>
            </a:pP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按照传输波段的不同，光波通信分为</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可见光通信、红外线（光）通信</a:t>
            </a: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和</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紫外线（光）通信 </a:t>
            </a:r>
          </a:p>
        </p:txBody>
      </p:sp>
      <p:sp>
        <p:nvSpPr>
          <p:cNvPr id="4" name="灯片编号占位符 3">
            <a:extLst>
              <a:ext uri="{FF2B5EF4-FFF2-40B4-BE49-F238E27FC236}">
                <a16:creationId xmlns:a16="http://schemas.microsoft.com/office/drawing/2014/main" id="{7760AFE3-C507-4AEA-B1E4-9D0D39909F60}"/>
              </a:ext>
            </a:extLst>
          </p:cNvPr>
          <p:cNvSpPr>
            <a:spLocks noGrp="1"/>
          </p:cNvSpPr>
          <p:nvPr>
            <p:ph type="sldNum" sz="quarter" idx="12"/>
          </p:nvPr>
        </p:nvSpPr>
        <p:spPr/>
        <p:txBody>
          <a:bodyPr/>
          <a:lstStyle/>
          <a:p>
            <a:fld id="{8D4D1E41-7A09-AB4A-A4E1-09765ADA2698}" type="slidenum">
              <a:rPr kumimoji="1" lang="zh-CN" altLang="en-US" smtClean="0"/>
              <a:t>81</a:t>
            </a:fld>
            <a:endParaRPr kumimoji="1" lang="zh-CN" altLang="en-US" dirty="0"/>
          </a:p>
        </p:txBody>
      </p:sp>
      <p:pic>
        <p:nvPicPr>
          <p:cNvPr id="6" name="图片 5">
            <a:extLst>
              <a:ext uri="{FF2B5EF4-FFF2-40B4-BE49-F238E27FC236}">
                <a16:creationId xmlns:a16="http://schemas.microsoft.com/office/drawing/2014/main" id="{3A5F7576-ECE1-486E-8942-BAE47C5E2886}"/>
              </a:ext>
            </a:extLst>
          </p:cNvPr>
          <p:cNvPicPr>
            <a:picLocks noChangeAspect="1"/>
          </p:cNvPicPr>
          <p:nvPr/>
        </p:nvPicPr>
        <p:blipFill>
          <a:blip r:embed="rId2"/>
          <a:stretch>
            <a:fillRect/>
          </a:stretch>
        </p:blipFill>
        <p:spPr>
          <a:xfrm>
            <a:off x="4531431" y="4716550"/>
            <a:ext cx="6113377" cy="2004925"/>
          </a:xfrm>
          <a:prstGeom prst="rect">
            <a:avLst/>
          </a:prstGeom>
          <a:ln w="12700">
            <a:solidFill>
              <a:schemeClr val="bg2">
                <a:lumMod val="90000"/>
              </a:schemeClr>
            </a:solidFill>
          </a:ln>
        </p:spPr>
      </p:pic>
      <p:sp>
        <p:nvSpPr>
          <p:cNvPr id="7" name="文本框 6">
            <a:extLst>
              <a:ext uri="{FF2B5EF4-FFF2-40B4-BE49-F238E27FC236}">
                <a16:creationId xmlns:a16="http://schemas.microsoft.com/office/drawing/2014/main" id="{A3ED0A66-4E34-4A46-8FD7-B0D9EF93B04A}"/>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01696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572EBB-4532-4B0A-A024-09ACCE991196}"/>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A3B9C3AF-3FF2-4D66-8F96-1B6BE18452F1}"/>
              </a:ext>
            </a:extLst>
          </p:cNvPr>
          <p:cNvSpPr>
            <a:spLocks noGrp="1"/>
          </p:cNvSpPr>
          <p:nvPr>
            <p:ph idx="1"/>
          </p:nvPr>
        </p:nvSpPr>
        <p:spPr>
          <a:xfrm>
            <a:off x="582168" y="1425678"/>
            <a:ext cx="5947841" cy="4586694"/>
          </a:xfrm>
        </p:spPr>
        <p:txBody>
          <a:bodyPr>
            <a:noAutofit/>
          </a:bodyPr>
          <a:lstStyle/>
          <a:p>
            <a:pPr algn="just"/>
            <a:r>
              <a:rPr lang="zh-CN" altLang="en-US" sz="2400" dirty="0">
                <a:solidFill>
                  <a:srgbClr val="C00000"/>
                </a:solidFill>
                <a:latin typeface="Times New Roman" panose="02020603050405020304" pitchFamily="18" charset="0"/>
              </a:rPr>
              <a:t>大气激光通信</a:t>
            </a:r>
            <a:r>
              <a:rPr lang="zh-CN" altLang="en-US" sz="2400" dirty="0">
                <a:latin typeface="Times New Roman" panose="02020603050405020304" pitchFamily="18" charset="0"/>
              </a:rPr>
              <a:t>可传输语音、数据、图像等信息</a:t>
            </a:r>
            <a:endParaRPr lang="en-US" altLang="zh-CN" sz="2400" dirty="0">
              <a:latin typeface="Times New Roman" panose="02020603050405020304" pitchFamily="18" charset="0"/>
            </a:endParaRPr>
          </a:p>
          <a:p>
            <a:pPr lvl="1" algn="just"/>
            <a:r>
              <a:rPr lang="zh-CN" altLang="en-US" sz="2000" dirty="0">
                <a:latin typeface="Times New Roman" panose="02020603050405020304" pitchFamily="18" charset="0"/>
              </a:rPr>
              <a:t>具有抗干扰性好、设备轻便、保密性强、机动性</a:t>
            </a:r>
            <a:endParaRPr lang="en-US" altLang="zh-CN" sz="2000" dirty="0">
              <a:latin typeface="Times New Roman" panose="02020603050405020304" pitchFamily="18" charset="0"/>
            </a:endParaRPr>
          </a:p>
          <a:p>
            <a:pPr lvl="1" algn="just"/>
            <a:r>
              <a:rPr lang="zh-CN" altLang="en-US" sz="2000" dirty="0">
                <a:latin typeface="Times New Roman" panose="02020603050405020304" pitchFamily="18" charset="0"/>
              </a:rPr>
              <a:t>但使用时收、发天线相互对准较为困难，通信距离限于视距范围</a:t>
            </a:r>
            <a:endParaRPr lang="en-US" altLang="zh-CN" sz="2000" dirty="0">
              <a:latin typeface="Times New Roman" panose="02020603050405020304" pitchFamily="18" charset="0"/>
            </a:endParaRPr>
          </a:p>
          <a:p>
            <a:pPr lvl="1" algn="just"/>
            <a:r>
              <a:rPr lang="zh-CN" altLang="en-US" sz="2000" dirty="0">
                <a:latin typeface="Times New Roman" panose="02020603050405020304" pitchFamily="18" charset="0"/>
              </a:rPr>
              <a:t>易受气候影响，尤其在恶劣气候条件下会造成通信中断</a:t>
            </a:r>
            <a:endParaRPr lang="en-US" altLang="zh-CN" sz="2000" dirty="0">
              <a:latin typeface="Times New Roman" panose="02020603050405020304" pitchFamily="18" charset="0"/>
            </a:endParaRPr>
          </a:p>
          <a:p>
            <a:pPr algn="just"/>
            <a:r>
              <a:rPr lang="zh-CN" altLang="en-US" sz="2400" dirty="0">
                <a:solidFill>
                  <a:srgbClr val="C00000"/>
                </a:solidFill>
                <a:latin typeface="Times New Roman" panose="02020603050405020304" pitchFamily="18" charset="0"/>
              </a:rPr>
              <a:t>红外线通信</a:t>
            </a:r>
            <a:r>
              <a:rPr lang="zh-CN" altLang="en-US" sz="2400" dirty="0">
                <a:latin typeface="Times New Roman" panose="02020603050405020304" pitchFamily="18" charset="0"/>
              </a:rPr>
              <a:t>广泛使用的家电遥控器、手机、笔记本电脑等短距离通信领域</a:t>
            </a:r>
            <a:endParaRPr lang="en-US" altLang="zh-CN" sz="2400" dirty="0">
              <a:latin typeface="Times New Roman" panose="02020603050405020304" pitchFamily="18" charset="0"/>
            </a:endParaRPr>
          </a:p>
          <a:p>
            <a:pPr lvl="1" algn="just"/>
            <a:r>
              <a:rPr lang="zh-CN" altLang="en-US" sz="2000" dirty="0">
                <a:latin typeface="Times New Roman" panose="02020603050405020304" pitchFamily="18" charset="0"/>
              </a:rPr>
              <a:t>红外线传输不受无线电干扰，且使用不受国家无线管理委员会的限制，具有方向性、便宜和易于制造等优点</a:t>
            </a:r>
            <a:endParaRPr lang="en-US" altLang="zh-CN" sz="2000" dirty="0">
              <a:latin typeface="Times New Roman" panose="02020603050405020304" pitchFamily="18" charset="0"/>
            </a:endParaRPr>
          </a:p>
          <a:p>
            <a:pPr lvl="1"/>
            <a:r>
              <a:rPr lang="zh-CN" altLang="en-US" sz="2000" dirty="0">
                <a:latin typeface="Times New Roman" panose="02020603050405020304" pitchFamily="18" charset="0"/>
              </a:rPr>
              <a:t>红外线对非透明物体的透过性较差，导致传输距离受限制</a:t>
            </a:r>
          </a:p>
          <a:p>
            <a:pPr algn="just"/>
            <a:endParaRPr lang="zh-CN" altLang="en-US" sz="2400" dirty="0">
              <a:latin typeface="Times New Roman" panose="02020603050405020304" pitchFamily="18" charset="0"/>
            </a:endParaRPr>
          </a:p>
        </p:txBody>
      </p:sp>
      <p:sp>
        <p:nvSpPr>
          <p:cNvPr id="4" name="灯片编号占位符 3">
            <a:extLst>
              <a:ext uri="{FF2B5EF4-FFF2-40B4-BE49-F238E27FC236}">
                <a16:creationId xmlns:a16="http://schemas.microsoft.com/office/drawing/2014/main" id="{FB8665EF-A5EA-4F8D-B917-2E87B648B4B8}"/>
              </a:ext>
            </a:extLst>
          </p:cNvPr>
          <p:cNvSpPr>
            <a:spLocks noGrp="1"/>
          </p:cNvSpPr>
          <p:nvPr>
            <p:ph type="sldNum" sz="quarter" idx="12"/>
          </p:nvPr>
        </p:nvSpPr>
        <p:spPr/>
        <p:txBody>
          <a:bodyPr/>
          <a:lstStyle/>
          <a:p>
            <a:fld id="{8D4D1E41-7A09-AB4A-A4E1-09765ADA2698}" type="slidenum">
              <a:rPr kumimoji="1" lang="zh-CN" altLang="en-US" smtClean="0"/>
              <a:t>82</a:t>
            </a:fld>
            <a:endParaRPr kumimoji="1" lang="zh-CN" altLang="en-US" dirty="0"/>
          </a:p>
        </p:txBody>
      </p:sp>
      <p:pic>
        <p:nvPicPr>
          <p:cNvPr id="7" name="图片 6">
            <a:extLst>
              <a:ext uri="{FF2B5EF4-FFF2-40B4-BE49-F238E27FC236}">
                <a16:creationId xmlns:a16="http://schemas.microsoft.com/office/drawing/2014/main" id="{C33C5005-FA21-46DC-8C96-28FCA5351F84}"/>
              </a:ext>
            </a:extLst>
          </p:cNvPr>
          <p:cNvPicPr>
            <a:picLocks noChangeAspect="1"/>
          </p:cNvPicPr>
          <p:nvPr/>
        </p:nvPicPr>
        <p:blipFill rotWithShape="1">
          <a:blip r:embed="rId2"/>
          <a:srcRect l="14853" t="17036" r="12026" b="27663"/>
          <a:stretch/>
        </p:blipFill>
        <p:spPr>
          <a:xfrm>
            <a:off x="7062307" y="1425678"/>
            <a:ext cx="4788450" cy="2414649"/>
          </a:xfrm>
          <a:prstGeom prst="rect">
            <a:avLst/>
          </a:prstGeom>
          <a:ln>
            <a:noFill/>
          </a:ln>
          <a:effectLst>
            <a:outerShdw blurRad="292100" dist="139700" dir="2700000" algn="tl" rotWithShape="0">
              <a:srgbClr val="333333">
                <a:alpha val="65000"/>
              </a:srgbClr>
            </a:outerShdw>
          </a:effectLst>
        </p:spPr>
      </p:pic>
      <p:grpSp>
        <p:nvGrpSpPr>
          <p:cNvPr id="10" name="组合 9"/>
          <p:cNvGrpSpPr/>
          <p:nvPr/>
        </p:nvGrpSpPr>
        <p:grpSpPr>
          <a:xfrm>
            <a:off x="7062307" y="4335878"/>
            <a:ext cx="4771885" cy="1927650"/>
            <a:chOff x="7062307" y="4335878"/>
            <a:chExt cx="4771885" cy="1927650"/>
          </a:xfrm>
        </p:grpSpPr>
        <p:pic>
          <p:nvPicPr>
            <p:cNvPr id="5" name="图片 4"/>
            <p:cNvPicPr>
              <a:picLocks noChangeAspect="1"/>
            </p:cNvPicPr>
            <p:nvPr/>
          </p:nvPicPr>
          <p:blipFill>
            <a:blip r:embed="rId3"/>
            <a:stretch>
              <a:fillRect/>
            </a:stretch>
          </p:blipFill>
          <p:spPr>
            <a:xfrm>
              <a:off x="7062307" y="4661451"/>
              <a:ext cx="1674329" cy="1509255"/>
            </a:xfrm>
            <a:prstGeom prst="rect">
              <a:avLst/>
            </a:prstGeom>
          </p:spPr>
        </p:pic>
        <p:pic>
          <p:nvPicPr>
            <p:cNvPr id="8" name="图片 7"/>
            <p:cNvPicPr>
              <a:picLocks noChangeAspect="1"/>
            </p:cNvPicPr>
            <p:nvPr/>
          </p:nvPicPr>
          <p:blipFill>
            <a:blip r:embed="rId4"/>
            <a:stretch>
              <a:fillRect/>
            </a:stretch>
          </p:blipFill>
          <p:spPr>
            <a:xfrm>
              <a:off x="8736636" y="4475807"/>
              <a:ext cx="1863417" cy="1694899"/>
            </a:xfrm>
            <a:prstGeom prst="rect">
              <a:avLst/>
            </a:prstGeom>
          </p:spPr>
        </p:pic>
        <p:pic>
          <p:nvPicPr>
            <p:cNvPr id="9" name="图片 8"/>
            <p:cNvPicPr>
              <a:picLocks noChangeAspect="1"/>
            </p:cNvPicPr>
            <p:nvPr/>
          </p:nvPicPr>
          <p:blipFill>
            <a:blip r:embed="rId5"/>
            <a:stretch>
              <a:fillRect/>
            </a:stretch>
          </p:blipFill>
          <p:spPr>
            <a:xfrm>
              <a:off x="10798244" y="4335878"/>
              <a:ext cx="1035948" cy="1927650"/>
            </a:xfrm>
            <a:prstGeom prst="rect">
              <a:avLst/>
            </a:prstGeom>
          </p:spPr>
        </p:pic>
      </p:grpSp>
      <p:sp>
        <p:nvSpPr>
          <p:cNvPr id="11" name="文本框 10">
            <a:extLst>
              <a:ext uri="{FF2B5EF4-FFF2-40B4-BE49-F238E27FC236}">
                <a16:creationId xmlns:a16="http://schemas.microsoft.com/office/drawing/2014/main" id="{4E6435FF-22D3-4B80-9FE8-E268E631AAAB}"/>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5253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5574157" y="4187676"/>
            <a:ext cx="5905331" cy="2441866"/>
          </a:xfrm>
          <a:prstGeom prst="rect">
            <a:avLst/>
          </a:prstGeom>
        </p:spPr>
      </p:pic>
      <p:sp>
        <p:nvSpPr>
          <p:cNvPr id="2" name="标题 1">
            <a:extLst>
              <a:ext uri="{FF2B5EF4-FFF2-40B4-BE49-F238E27FC236}">
                <a16:creationId xmlns:a16="http://schemas.microsoft.com/office/drawing/2014/main" id="{FA572EBB-4532-4B0A-A024-09ACCE991196}"/>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A3B9C3AF-3FF2-4D66-8F96-1B6BE18452F1}"/>
              </a:ext>
            </a:extLst>
          </p:cNvPr>
          <p:cNvSpPr>
            <a:spLocks noGrp="1"/>
          </p:cNvSpPr>
          <p:nvPr>
            <p:ph idx="1"/>
          </p:nvPr>
        </p:nvSpPr>
        <p:spPr>
          <a:xfrm>
            <a:off x="712512" y="1355310"/>
            <a:ext cx="10515600" cy="4586694"/>
          </a:xfrm>
        </p:spPr>
        <p:txBody>
          <a:bodyPr>
            <a:normAutofit/>
          </a:bodyPr>
          <a:lstStyle/>
          <a:p>
            <a:pPr algn="just">
              <a:lnSpc>
                <a:spcPct val="110000"/>
              </a:lnSpc>
            </a:pPr>
            <a:r>
              <a:rPr lang="zh-CN" altLang="en-US" sz="2400" dirty="0">
                <a:solidFill>
                  <a:srgbClr val="C00000"/>
                </a:solidFill>
                <a:latin typeface="Times New Roman" panose="02020603050405020304" pitchFamily="18" charset="0"/>
              </a:rPr>
              <a:t>红外线</a:t>
            </a:r>
            <a:r>
              <a:rPr lang="zh-CN" altLang="en-US" sz="2400" dirty="0">
                <a:latin typeface="Times New Roman" panose="02020603050405020304" pitchFamily="18" charset="0"/>
              </a:rPr>
              <a:t>是不可见光，其波长范围</a:t>
            </a:r>
            <a:r>
              <a:rPr lang="en-US" altLang="zh-CN" sz="2400" dirty="0">
                <a:latin typeface="Times New Roman" panose="02020603050405020304" pitchFamily="18" charset="0"/>
              </a:rPr>
              <a:t>760nm~4.0</a:t>
            </a:r>
            <a:r>
              <a:rPr lang="zh-CN" altLang="en-US" sz="2400" dirty="0">
                <a:latin typeface="Times New Roman" panose="02020603050405020304" pitchFamily="18" charset="0"/>
              </a:rPr>
              <a:t>*</a:t>
            </a:r>
            <a:r>
              <a:rPr lang="en-US" altLang="zh-CN" sz="2400" dirty="0">
                <a:latin typeface="Times New Roman" panose="02020603050405020304" pitchFamily="18" charset="0"/>
              </a:rPr>
              <a:t>10</a:t>
            </a:r>
            <a:r>
              <a:rPr lang="en-US" altLang="zh-CN" sz="2400" baseline="30000" dirty="0">
                <a:latin typeface="Times New Roman" panose="02020603050405020304" pitchFamily="18" charset="0"/>
              </a:rPr>
              <a:t>5</a:t>
            </a:r>
            <a:r>
              <a:rPr lang="en-US" altLang="zh-CN" sz="2400" dirty="0">
                <a:latin typeface="Times New Roman" panose="02020603050405020304" pitchFamily="18" charset="0"/>
              </a:rPr>
              <a:t>nm</a:t>
            </a:r>
          </a:p>
          <a:p>
            <a:pPr algn="just">
              <a:lnSpc>
                <a:spcPct val="110000"/>
              </a:lnSpc>
            </a:pPr>
            <a:r>
              <a:rPr lang="zh-CN" altLang="en-US" sz="2400" dirty="0">
                <a:solidFill>
                  <a:srgbClr val="C00000"/>
                </a:solidFill>
                <a:latin typeface="Times New Roman" panose="02020603050405020304" pitchFamily="18" charset="0"/>
              </a:rPr>
              <a:t>红外线通信</a:t>
            </a:r>
            <a:endParaRPr lang="en-US" altLang="zh-CN" sz="2400" dirty="0">
              <a:solidFill>
                <a:srgbClr val="C00000"/>
              </a:solidFill>
              <a:latin typeface="Times New Roman" panose="02020603050405020304" pitchFamily="18" charset="0"/>
            </a:endParaRPr>
          </a:p>
          <a:p>
            <a:pPr lvl="1" algn="just">
              <a:lnSpc>
                <a:spcPct val="110000"/>
              </a:lnSpc>
            </a:pPr>
            <a:r>
              <a:rPr lang="zh-CN" altLang="en-US" sz="2000" dirty="0"/>
              <a:t>利用</a:t>
            </a:r>
            <a:r>
              <a:rPr lang="en-US" altLang="zh-CN" sz="2000" dirty="0"/>
              <a:t>950nm</a:t>
            </a:r>
            <a:r>
              <a:rPr lang="zh-CN" altLang="en-US" sz="2000" dirty="0"/>
              <a:t>近红外波段的红外线作为传递信息的媒体</a:t>
            </a:r>
            <a:endParaRPr lang="en-US" altLang="zh-CN" sz="2000" dirty="0"/>
          </a:p>
          <a:p>
            <a:pPr lvl="1" algn="just">
              <a:lnSpc>
                <a:spcPct val="110000"/>
              </a:lnSpc>
            </a:pPr>
            <a:r>
              <a:rPr lang="zh-CN" altLang="en-US" sz="2000" dirty="0"/>
              <a:t>发送端采用脉位调制（</a:t>
            </a:r>
            <a:r>
              <a:rPr lang="en-US" altLang="zh-CN" sz="2000" dirty="0"/>
              <a:t>PPM</a:t>
            </a:r>
            <a:r>
              <a:rPr lang="zh-CN" altLang="en-US" sz="2000" dirty="0"/>
              <a:t>）方式，驱动红外发射管以光脉冲的形式发送出去</a:t>
            </a:r>
            <a:endParaRPr lang="en-US" altLang="zh-CN" sz="2000" dirty="0"/>
          </a:p>
          <a:p>
            <a:pPr lvl="1" algn="just">
              <a:lnSpc>
                <a:spcPct val="110000"/>
              </a:lnSpc>
            </a:pPr>
            <a:r>
              <a:rPr lang="zh-CN" altLang="en-US" sz="2000" dirty="0"/>
              <a:t>接收端将接收到的光脉转换成电信号，再经过放大、滤波等处理后送给解调电路进行解调，还原为二进制数字信号后输出</a:t>
            </a:r>
            <a:endParaRPr lang="zh-CN" altLang="en-US" sz="2000" dirty="0">
              <a:latin typeface="Times New Roman" panose="02020603050405020304" pitchFamily="18" charset="0"/>
            </a:endParaRPr>
          </a:p>
        </p:txBody>
      </p:sp>
      <p:sp>
        <p:nvSpPr>
          <p:cNvPr id="4" name="灯片编号占位符 3">
            <a:extLst>
              <a:ext uri="{FF2B5EF4-FFF2-40B4-BE49-F238E27FC236}">
                <a16:creationId xmlns:a16="http://schemas.microsoft.com/office/drawing/2014/main" id="{FB8665EF-A5EA-4F8D-B917-2E87B648B4B8}"/>
              </a:ext>
            </a:extLst>
          </p:cNvPr>
          <p:cNvSpPr>
            <a:spLocks noGrp="1"/>
          </p:cNvSpPr>
          <p:nvPr>
            <p:ph type="sldNum" sz="quarter" idx="12"/>
          </p:nvPr>
        </p:nvSpPr>
        <p:spPr/>
        <p:txBody>
          <a:bodyPr/>
          <a:lstStyle/>
          <a:p>
            <a:fld id="{8D4D1E41-7A09-AB4A-A4E1-09765ADA2698}" type="slidenum">
              <a:rPr kumimoji="1" lang="zh-CN" altLang="en-US" smtClean="0"/>
              <a:t>83</a:t>
            </a:fld>
            <a:endParaRPr kumimoji="1" lang="zh-CN" altLang="en-US" dirty="0"/>
          </a:p>
        </p:txBody>
      </p:sp>
      <p:pic>
        <p:nvPicPr>
          <p:cNvPr id="7" name="图片 6"/>
          <p:cNvPicPr>
            <a:picLocks noChangeAspect="1"/>
          </p:cNvPicPr>
          <p:nvPr/>
        </p:nvPicPr>
        <p:blipFill>
          <a:blip r:embed="rId3"/>
          <a:stretch>
            <a:fillRect/>
          </a:stretch>
        </p:blipFill>
        <p:spPr>
          <a:xfrm>
            <a:off x="1410141" y="4187676"/>
            <a:ext cx="3611851" cy="2373502"/>
          </a:xfrm>
          <a:prstGeom prst="rect">
            <a:avLst/>
          </a:prstGeom>
        </p:spPr>
      </p:pic>
      <p:sp>
        <p:nvSpPr>
          <p:cNvPr id="8" name="文本框 7">
            <a:extLst>
              <a:ext uri="{FF2B5EF4-FFF2-40B4-BE49-F238E27FC236}">
                <a16:creationId xmlns:a16="http://schemas.microsoft.com/office/drawing/2014/main" id="{31920F8E-646C-4587-9432-BEAEC1ED0199}"/>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745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非导引型传输介质</a:t>
            </a:r>
          </a:p>
        </p:txBody>
      </p:sp>
      <p:sp>
        <p:nvSpPr>
          <p:cNvPr id="3" name="内容占位符 2"/>
          <p:cNvSpPr>
            <a:spLocks noGrp="1"/>
          </p:cNvSpPr>
          <p:nvPr>
            <p:ph idx="1"/>
          </p:nvPr>
        </p:nvSpPr>
        <p:spPr>
          <a:xfrm>
            <a:off x="838200" y="1510758"/>
            <a:ext cx="10902696" cy="4586694"/>
          </a:xfrm>
        </p:spPr>
        <p:txBody>
          <a:bodyPr/>
          <a:lstStyle/>
          <a:p>
            <a:r>
              <a:rPr lang="zh-CN" altLang="en-US" dirty="0">
                <a:solidFill>
                  <a:srgbClr val="C00000"/>
                </a:solidFill>
              </a:rPr>
              <a:t>可见光通信</a:t>
            </a:r>
            <a:r>
              <a:rPr lang="zh-CN" altLang="en-US" dirty="0"/>
              <a:t>是利用可见光波段的光作为信息载体，在空气中直接传输信号的通信方式</a:t>
            </a:r>
            <a:endParaRPr lang="en-US" altLang="zh-CN" dirty="0"/>
          </a:p>
          <a:p>
            <a:r>
              <a:rPr lang="en-US" altLang="zh-CN" dirty="0">
                <a:solidFill>
                  <a:srgbClr val="C00000"/>
                </a:solidFill>
              </a:rPr>
              <a:t>LED</a:t>
            </a:r>
            <a:r>
              <a:rPr lang="zh-CN" altLang="en-US" dirty="0">
                <a:solidFill>
                  <a:srgbClr val="C00000"/>
                </a:solidFill>
              </a:rPr>
              <a:t>可见光通信</a:t>
            </a:r>
            <a:r>
              <a:rPr lang="zh-CN" altLang="en-US" dirty="0"/>
              <a:t>基于可见光发光二极管高速调制</a:t>
            </a:r>
            <a:r>
              <a:rPr lang="zh-CN" altLang="en-US" dirty="0">
                <a:solidFill>
                  <a:srgbClr val="C00000"/>
                </a:solidFill>
              </a:rPr>
              <a:t>光波信号</a:t>
            </a:r>
            <a:r>
              <a:rPr lang="zh-CN" altLang="en-US" dirty="0"/>
              <a:t>，利用光传输，并使用光电二极管等光电转换器件接收信号并获取数据</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9632" y="3578148"/>
            <a:ext cx="5238296" cy="2814770"/>
          </a:xfrm>
          <a:prstGeom prst="rect">
            <a:avLst/>
          </a:prstGeom>
        </p:spPr>
      </p:pic>
      <p:pic>
        <p:nvPicPr>
          <p:cNvPr id="5" name="图片 4"/>
          <p:cNvPicPr>
            <a:picLocks noChangeAspect="1"/>
          </p:cNvPicPr>
          <p:nvPr/>
        </p:nvPicPr>
        <p:blipFill>
          <a:blip r:embed="rId3"/>
          <a:stretch>
            <a:fillRect/>
          </a:stretch>
        </p:blipFill>
        <p:spPr>
          <a:xfrm>
            <a:off x="943475" y="3578148"/>
            <a:ext cx="5256157" cy="2824204"/>
          </a:xfrm>
          <a:prstGeom prst="rect">
            <a:avLst/>
          </a:prstGeom>
        </p:spPr>
      </p:pic>
      <p:sp>
        <p:nvSpPr>
          <p:cNvPr id="8" name="文本框 7">
            <a:extLst>
              <a:ext uri="{FF2B5EF4-FFF2-40B4-BE49-F238E27FC236}">
                <a16:creationId xmlns:a16="http://schemas.microsoft.com/office/drawing/2014/main" id="{CE2B8703-34CE-4DB1-834A-5795C03C0970}"/>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962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非导引型传输介质</a:t>
            </a:r>
          </a:p>
        </p:txBody>
      </p:sp>
      <p:sp>
        <p:nvSpPr>
          <p:cNvPr id="3" name="内容占位符 2"/>
          <p:cNvSpPr>
            <a:spLocks noGrp="1"/>
          </p:cNvSpPr>
          <p:nvPr>
            <p:ph idx="1"/>
          </p:nvPr>
        </p:nvSpPr>
        <p:spPr/>
        <p:txBody>
          <a:bodyPr/>
          <a:lstStyle/>
          <a:p>
            <a:pPr marL="0" indent="0">
              <a:buNone/>
            </a:pPr>
            <a:r>
              <a:rPr lang="zh-CN" altLang="en-US" dirty="0">
                <a:solidFill>
                  <a:srgbClr val="C00000"/>
                </a:solidFill>
              </a:rPr>
              <a:t>可见光通信</a:t>
            </a:r>
            <a:r>
              <a:rPr lang="zh-CN" altLang="en-US" dirty="0"/>
              <a:t>的优点</a:t>
            </a:r>
            <a:endParaRPr lang="en-US" altLang="zh-CN" dirty="0"/>
          </a:p>
          <a:p>
            <a:r>
              <a:rPr lang="zh-CN" altLang="en-US" dirty="0"/>
              <a:t>可见光方向性好，可用来高精度市内定位，保密性强</a:t>
            </a:r>
            <a:endParaRPr lang="en-US" altLang="zh-CN" dirty="0"/>
          </a:p>
          <a:p>
            <a:r>
              <a:rPr lang="zh-CN" altLang="en-US" dirty="0"/>
              <a:t>速度高，最高传输速率达</a:t>
            </a:r>
            <a:r>
              <a:rPr lang="en-US" altLang="zh-CN" dirty="0" err="1"/>
              <a:t>Gbps</a:t>
            </a:r>
            <a:r>
              <a:rPr lang="zh-CN" altLang="en-US" dirty="0"/>
              <a:t>级</a:t>
            </a:r>
            <a:endParaRPr lang="en-US" altLang="zh-CN" dirty="0"/>
          </a:p>
          <a:p>
            <a:r>
              <a:rPr lang="zh-CN" altLang="en-US" dirty="0"/>
              <a:t>抗干扰，抗复杂电磁干扰</a:t>
            </a:r>
            <a:endParaRPr lang="en-US" altLang="zh-CN" dirty="0"/>
          </a:p>
          <a:p>
            <a:r>
              <a:rPr lang="zh-CN" altLang="en-US" dirty="0"/>
              <a:t>多功能合一，具备照明、通信、传感、显示等功能一体化</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85</a:t>
            </a:fld>
            <a:endParaRPr kumimoji="1" lang="zh-CN" altLang="en-US"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151272"/>
            <a:ext cx="3327432" cy="2136511"/>
          </a:xfrm>
          <a:prstGeom prst="rect">
            <a:avLst/>
          </a:prstGeom>
          <a:ln>
            <a:solidFill>
              <a:schemeClr val="bg1">
                <a:lumMod val="75000"/>
              </a:schemeClr>
            </a:solidFill>
          </a:ln>
        </p:spPr>
      </p:pic>
      <p:pic>
        <p:nvPicPr>
          <p:cNvPr id="9" name="图片 8"/>
          <p:cNvPicPr>
            <a:picLocks noChangeAspect="1"/>
          </p:cNvPicPr>
          <p:nvPr/>
        </p:nvPicPr>
        <p:blipFill>
          <a:blip r:embed="rId3"/>
          <a:stretch>
            <a:fillRect/>
          </a:stretch>
        </p:blipFill>
        <p:spPr>
          <a:xfrm>
            <a:off x="4500535" y="4151273"/>
            <a:ext cx="3190929" cy="2136510"/>
          </a:xfrm>
          <a:prstGeom prst="rect">
            <a:avLst/>
          </a:prstGeom>
        </p:spPr>
      </p:pic>
      <p:pic>
        <p:nvPicPr>
          <p:cNvPr id="10" name="图片 9"/>
          <p:cNvPicPr>
            <a:picLocks noChangeAspect="1"/>
          </p:cNvPicPr>
          <p:nvPr/>
        </p:nvPicPr>
        <p:blipFill>
          <a:blip r:embed="rId4"/>
          <a:stretch>
            <a:fillRect/>
          </a:stretch>
        </p:blipFill>
        <p:spPr>
          <a:xfrm>
            <a:off x="8026367" y="4151271"/>
            <a:ext cx="3386597" cy="2136511"/>
          </a:xfrm>
          <a:prstGeom prst="rect">
            <a:avLst/>
          </a:prstGeom>
        </p:spPr>
      </p:pic>
      <p:sp>
        <p:nvSpPr>
          <p:cNvPr id="11" name="文本框 10">
            <a:extLst>
              <a:ext uri="{FF2B5EF4-FFF2-40B4-BE49-F238E27FC236}">
                <a16:creationId xmlns:a16="http://schemas.microsoft.com/office/drawing/2014/main" id="{A9696DD7-B4FF-4579-9E94-BC9821B743E0}"/>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81678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92792" y="1466079"/>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t>2.2 </a:t>
            </a:r>
            <a:r>
              <a:rPr lang="zh-CN" altLang="en-US" dirty="0"/>
              <a:t>数据通信基础</a:t>
            </a:r>
            <a:endParaRPr lang="en-US" altLang="zh-CN" dirty="0"/>
          </a:p>
          <a:p>
            <a:pPr marL="0" indent="0">
              <a:lnSpc>
                <a:spcPct val="160000"/>
              </a:lnSpc>
              <a:buNone/>
            </a:pPr>
            <a:r>
              <a:rPr lang="en-US" altLang="zh-CN" dirty="0"/>
              <a:t>2.3 </a:t>
            </a:r>
            <a:r>
              <a:rPr lang="zh-CN" altLang="en-US" dirty="0"/>
              <a:t>传输介质</a:t>
            </a:r>
            <a:endParaRPr lang="en-US" altLang="zh-CN" dirty="0"/>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t>2.5 </a:t>
            </a:r>
            <a:r>
              <a:rPr lang="zh-CN" altLang="en-US" dirty="0"/>
              <a:t>多路复用技术</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5966230" y="3448939"/>
            <a:ext cx="3814781" cy="1300482"/>
          </a:xfrm>
          <a:prstGeom prst="wedgeRectCallout">
            <a:avLst>
              <a:gd name="adj1" fmla="val -88917"/>
              <a:gd name="adj2" fmla="val -80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无线通信的基本概念</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无线通信系统分类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899447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7" name="Rectangle 5">
            <a:extLst>
              <a:ext uri="{FF2B5EF4-FFF2-40B4-BE49-F238E27FC236}">
                <a16:creationId xmlns:a16="http://schemas.microsoft.com/office/drawing/2014/main" id="{9AC50CFC-2C05-4264-9D60-D8C4425E3807}"/>
              </a:ext>
            </a:extLst>
          </p:cNvPr>
          <p:cNvSpPr>
            <a:spLocks noGrp="1" noChangeArrowheads="1"/>
          </p:cNvSpPr>
          <p:nvPr>
            <p:ph type="title"/>
          </p:nvPr>
        </p:nvSpPr>
        <p:spPr>
          <a:noFill/>
          <a:ln/>
        </p:spPr>
        <p:txBody>
          <a:bodyPr>
            <a:normAutofit/>
          </a:bodyPr>
          <a:lstStyle/>
          <a:p>
            <a:r>
              <a:rPr lang="zh-CN" altLang="en-US" dirty="0"/>
              <a:t>无线通信基本概念</a:t>
            </a:r>
          </a:p>
        </p:txBody>
      </p:sp>
      <p:sp>
        <p:nvSpPr>
          <p:cNvPr id="6" name="Rectangle 3">
            <a:extLst>
              <a:ext uri="{FF2B5EF4-FFF2-40B4-BE49-F238E27FC236}">
                <a16:creationId xmlns:a16="http://schemas.microsoft.com/office/drawing/2014/main" id="{0A90D213-440A-4334-BE0B-E1BBD32970DC}"/>
              </a:ext>
            </a:extLst>
          </p:cNvPr>
          <p:cNvSpPr txBox="1">
            <a:spLocks noChangeArrowheads="1"/>
          </p:cNvSpPr>
          <p:nvPr/>
        </p:nvSpPr>
        <p:spPr>
          <a:xfrm>
            <a:off x="672217" y="1534939"/>
            <a:ext cx="11205044" cy="49482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b="1" dirty="0">
                <a:solidFill>
                  <a:srgbClr val="7030A0"/>
                </a:solidFill>
              </a:rPr>
              <a:t>无线通信</a:t>
            </a:r>
            <a:r>
              <a:rPr lang="zh-CN" altLang="en-US" sz="2400" b="1" dirty="0">
                <a:solidFill>
                  <a:srgbClr val="7030A0"/>
                </a:solidFill>
              </a:rPr>
              <a:t>：</a:t>
            </a:r>
            <a:r>
              <a:rPr lang="zh-CN" altLang="en-US" sz="2400" dirty="0"/>
              <a:t>利用电磁波的辐射和传播，经过空间传送信息的通信方式称之为无线电通信，也称之为无线通信。它包括</a:t>
            </a:r>
            <a:r>
              <a:rPr lang="en-US" altLang="zh-CN" sz="2400" dirty="0" err="1"/>
              <a:t>zigbee</a:t>
            </a:r>
            <a:r>
              <a:rPr lang="zh-CN" altLang="en-US" sz="2400" dirty="0"/>
              <a:t>、蓝牙、红外线、卫星、微波、</a:t>
            </a:r>
            <a:r>
              <a:rPr lang="en-US" altLang="zh-CN" sz="2400" dirty="0" err="1"/>
              <a:t>WiFi</a:t>
            </a:r>
            <a:r>
              <a:rPr lang="zh-CN" altLang="en-US" sz="2400" dirty="0"/>
              <a:t>等无线方式的通信 </a:t>
            </a:r>
          </a:p>
          <a:p>
            <a:r>
              <a:rPr lang="zh-CN" altLang="en-US" sz="2400" b="1" dirty="0">
                <a:solidFill>
                  <a:srgbClr val="7030A0"/>
                </a:solidFill>
              </a:rPr>
              <a:t>适用范围：</a:t>
            </a:r>
            <a:r>
              <a:rPr lang="zh-CN" altLang="en-US" sz="2400" dirty="0"/>
              <a:t>利用无线通信可以传送电报、电话、传真、数据、图像以及广播和电视节目等通信业务</a:t>
            </a:r>
          </a:p>
        </p:txBody>
      </p:sp>
      <p:pic>
        <p:nvPicPr>
          <p:cNvPr id="2050" name="Picture 2">
            <a:extLst>
              <a:ext uri="{FF2B5EF4-FFF2-40B4-BE49-F238E27FC236}">
                <a16:creationId xmlns:a16="http://schemas.microsoft.com/office/drawing/2014/main" id="{3364DDD6-C239-4EB2-96B0-70261767F2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2877" y="3917950"/>
            <a:ext cx="3246906" cy="24288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5F3B4C7-07B9-4C78-93FD-BCDB423FAD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028" y="3917950"/>
            <a:ext cx="3117017" cy="242887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A877AFD-9863-4161-904B-B7925E86E1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9085" y="3917950"/>
            <a:ext cx="3581752" cy="2428874"/>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97544B98-33A1-4E3C-9A00-40A9AB9CC8A9}"/>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7CCAF824-14C5-48DB-8E93-48C0BC0AAF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7367" y="1510758"/>
            <a:ext cx="7974889" cy="5026237"/>
          </a:xfrm>
          <a:prstGeom prst="rect">
            <a:avLst/>
          </a:prstGeom>
          <a:noFill/>
          <a:extLst>
            <a:ext uri="{909E8E84-426E-40DD-AFC4-6F175D3DCCD1}">
              <a14:hiddenFill xmlns:a14="http://schemas.microsoft.com/office/drawing/2010/main">
                <a:solidFill>
                  <a:srgbClr val="FFFFFF"/>
                </a:solidFill>
              </a14:hiddenFill>
            </a:ext>
          </a:extLst>
        </p:spPr>
      </p:pic>
      <p:sp>
        <p:nvSpPr>
          <p:cNvPr id="818179" name="Rectangle 3">
            <a:extLst>
              <a:ext uri="{FF2B5EF4-FFF2-40B4-BE49-F238E27FC236}">
                <a16:creationId xmlns:a16="http://schemas.microsoft.com/office/drawing/2014/main" id="{7F854890-EDB1-4366-B2BD-A4C769BF92ED}"/>
              </a:ext>
            </a:extLst>
          </p:cNvPr>
          <p:cNvSpPr>
            <a:spLocks noGrp="1" noChangeArrowheads="1"/>
          </p:cNvSpPr>
          <p:nvPr>
            <p:ph type="body" idx="1"/>
          </p:nvPr>
        </p:nvSpPr>
        <p:spPr>
          <a:xfrm>
            <a:off x="567160" y="1510758"/>
            <a:ext cx="5202269" cy="4586694"/>
          </a:xfrm>
        </p:spPr>
        <p:txBody>
          <a:bodyPr>
            <a:normAutofit/>
          </a:bodyPr>
          <a:lstStyle/>
          <a:p>
            <a:pPr>
              <a:lnSpc>
                <a:spcPts val="3200"/>
              </a:lnSpc>
            </a:pPr>
            <a:r>
              <a:rPr lang="zh-CN" altLang="en-US" sz="2400" b="1" dirty="0">
                <a:solidFill>
                  <a:srgbClr val="7030A0"/>
                </a:solidFill>
                <a:latin typeface="微软雅黑" panose="020B0503020204020204" pitchFamily="34" charset="-122"/>
                <a:ea typeface="微软雅黑" panose="020B0503020204020204" pitchFamily="34" charset="-122"/>
              </a:rPr>
              <a:t>无线传输：</a:t>
            </a:r>
            <a:r>
              <a:rPr lang="zh-CN" altLang="en-US" sz="2400" dirty="0">
                <a:solidFill>
                  <a:srgbClr val="000000"/>
                </a:solidFill>
                <a:latin typeface="微软雅黑" panose="020B0503020204020204" pitchFamily="34" charset="-122"/>
                <a:ea typeface="微软雅黑" panose="020B0503020204020204" pitchFamily="34" charset="-122"/>
              </a:rPr>
              <a:t>可以在自由空间利用电磁波发送和接收信号进行通信</a:t>
            </a:r>
            <a:endParaRPr lang="en-US" altLang="zh-CN" sz="2400" dirty="0">
              <a:solidFill>
                <a:srgbClr val="000000"/>
              </a:solidFill>
              <a:latin typeface="微软雅黑" panose="020B0503020204020204" pitchFamily="34" charset="-122"/>
              <a:ea typeface="微软雅黑" panose="020B0503020204020204" pitchFamily="34" charset="-122"/>
            </a:endParaRPr>
          </a:p>
          <a:p>
            <a:pPr>
              <a:lnSpc>
                <a:spcPts val="3200"/>
              </a:lnSpc>
            </a:pPr>
            <a:r>
              <a:rPr lang="zh-CN" altLang="en-US" sz="2400" b="1" dirty="0">
                <a:solidFill>
                  <a:srgbClr val="7030A0"/>
                </a:solidFill>
                <a:latin typeface="微软雅黑" panose="020B0503020204020204" pitchFamily="34" charset="-122"/>
                <a:ea typeface="微软雅黑" panose="020B0503020204020204" pitchFamily="34" charset="-122"/>
              </a:rPr>
              <a:t>无线电波</a:t>
            </a:r>
            <a:r>
              <a:rPr lang="zh-CN" altLang="en-US" sz="2400" dirty="0">
                <a:solidFill>
                  <a:srgbClr val="7030A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指在自由空间（包括空气和真空）传播的射频频段的电磁波</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a:buNone/>
            </a:pPr>
            <a:endParaRPr lang="en-US" altLang="zh-CN" sz="2400" b="1" dirty="0">
              <a:solidFill>
                <a:srgbClr val="5B307E"/>
              </a:solidFill>
              <a:latin typeface="微软雅黑" panose="020B0503020204020204" pitchFamily="34" charset="-122"/>
              <a:ea typeface="微软雅黑" panose="020B0503020204020204" pitchFamily="34" charset="-122"/>
            </a:endParaRPr>
          </a:p>
          <a:p>
            <a:pPr marL="342900" indent="-342900"/>
            <a:r>
              <a:rPr lang="zh-CN" altLang="en-US" sz="2400" b="1" dirty="0">
                <a:solidFill>
                  <a:srgbClr val="5B307E"/>
                </a:solidFill>
                <a:latin typeface="微软雅黑" panose="020B0503020204020204" pitchFamily="34" charset="-122"/>
                <a:ea typeface="微软雅黑" panose="020B0503020204020204" pitchFamily="34" charset="-122"/>
              </a:rPr>
              <a:t>电磁波传输特点</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800100" lvl="1" indent="-342900"/>
            <a:r>
              <a:rPr lang="zh-CN" altLang="en-US" dirty="0">
                <a:solidFill>
                  <a:srgbClr val="000000"/>
                </a:solidFill>
                <a:latin typeface="微软雅黑" panose="020B0503020204020204" pitchFamily="34" charset="-122"/>
                <a:ea typeface="微软雅黑" panose="020B0503020204020204" pitchFamily="34" charset="-122"/>
              </a:rPr>
              <a:t>传输环境复杂</a:t>
            </a:r>
            <a:endParaRPr lang="en-US" altLang="zh-CN" dirty="0">
              <a:solidFill>
                <a:srgbClr val="000000"/>
              </a:solidFill>
              <a:latin typeface="微软雅黑" panose="020B0503020204020204" pitchFamily="34" charset="-122"/>
              <a:ea typeface="微软雅黑" panose="020B0503020204020204" pitchFamily="34" charset="-122"/>
            </a:endParaRPr>
          </a:p>
          <a:p>
            <a:pPr marL="800100" lvl="1" indent="-342900"/>
            <a:r>
              <a:rPr lang="zh-CN" altLang="en-US" dirty="0">
                <a:solidFill>
                  <a:srgbClr val="000000"/>
                </a:solidFill>
                <a:latin typeface="微软雅黑" panose="020B0503020204020204" pitchFamily="34" charset="-122"/>
                <a:ea typeface="微软雅黑" panose="020B0503020204020204" pitchFamily="34" charset="-122"/>
              </a:rPr>
              <a:t>传输环境不断变化</a:t>
            </a:r>
            <a:endParaRPr lang="en-US" altLang="zh-CN" dirty="0">
              <a:solidFill>
                <a:srgbClr val="000000"/>
              </a:solidFill>
              <a:latin typeface="微软雅黑" panose="020B0503020204020204" pitchFamily="34" charset="-122"/>
              <a:ea typeface="微软雅黑" panose="020B0503020204020204" pitchFamily="34" charset="-122"/>
            </a:endParaRPr>
          </a:p>
          <a:p>
            <a:pPr marL="800100" lvl="1" indent="-342900"/>
            <a:r>
              <a:rPr lang="zh-CN" altLang="en-US" dirty="0">
                <a:solidFill>
                  <a:srgbClr val="000000"/>
                </a:solidFill>
                <a:latin typeface="微软雅黑" panose="020B0503020204020204" pitchFamily="34" charset="-122"/>
                <a:ea typeface="微软雅黑" panose="020B0503020204020204" pitchFamily="34" charset="-122"/>
              </a:rPr>
              <a:t>环境被电磁噪声污染</a:t>
            </a:r>
            <a:endParaRPr lang="zh-CN" altLang="en-US" dirty="0">
              <a:latin typeface="微软雅黑" panose="020B0503020204020204" pitchFamily="34" charset="-122"/>
              <a:ea typeface="微软雅黑" panose="020B0503020204020204" pitchFamily="34" charset="-122"/>
            </a:endParaRPr>
          </a:p>
          <a:p>
            <a:endParaRPr lang="en-US" altLang="zh-CN" sz="2400" dirty="0">
              <a:solidFill>
                <a:srgbClr val="000000"/>
              </a:solidFill>
              <a:latin typeface="微软雅黑" panose="020B0503020204020204" pitchFamily="34" charset="-122"/>
              <a:ea typeface="微软雅黑" panose="020B0503020204020204" pitchFamily="34" charset="-122"/>
            </a:endParaRPr>
          </a:p>
        </p:txBody>
      </p:sp>
      <p:sp>
        <p:nvSpPr>
          <p:cNvPr id="818182" name="Rectangle 6">
            <a:extLst>
              <a:ext uri="{FF2B5EF4-FFF2-40B4-BE49-F238E27FC236}">
                <a16:creationId xmlns:a16="http://schemas.microsoft.com/office/drawing/2014/main" id="{B22CE88F-E508-45E8-B769-939113088DA2}"/>
              </a:ext>
            </a:extLst>
          </p:cNvPr>
          <p:cNvSpPr>
            <a:spLocks noGrp="1" noChangeArrowheads="1"/>
          </p:cNvSpPr>
          <p:nvPr>
            <p:ph type="title"/>
          </p:nvPr>
        </p:nvSpPr>
        <p:spPr>
          <a:xfrm>
            <a:off x="1361630" y="321005"/>
            <a:ext cx="8220812" cy="879086"/>
          </a:xfrm>
          <a:noFill/>
          <a:ln/>
        </p:spPr>
        <p:txBody>
          <a:bodyPr/>
          <a:lstStyle/>
          <a:p>
            <a:r>
              <a:rPr lang="zh-CN" altLang="en-US" dirty="0"/>
              <a:t>无线信号传输</a:t>
            </a:r>
          </a:p>
        </p:txBody>
      </p:sp>
      <p:sp>
        <p:nvSpPr>
          <p:cNvPr id="8" name="文本框 7">
            <a:extLst>
              <a:ext uri="{FF2B5EF4-FFF2-40B4-BE49-F238E27FC236}">
                <a16:creationId xmlns:a16="http://schemas.microsoft.com/office/drawing/2014/main" id="{169B573C-8B0C-4E2A-9F3C-2FE68C464A3F}"/>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76862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2">
            <a:extLst>
              <a:ext uri="{FF2B5EF4-FFF2-40B4-BE49-F238E27FC236}">
                <a16:creationId xmlns:a16="http://schemas.microsoft.com/office/drawing/2014/main" id="{AB810C37-0618-46B2-AFDC-82A468B8317D}"/>
              </a:ext>
            </a:extLst>
          </p:cNvPr>
          <p:cNvSpPr>
            <a:spLocks noGrp="1" noChangeArrowheads="1"/>
          </p:cNvSpPr>
          <p:nvPr>
            <p:ph type="title"/>
          </p:nvPr>
        </p:nvSpPr>
        <p:spPr>
          <a:xfrm>
            <a:off x="1311966" y="-23376"/>
            <a:ext cx="7772400" cy="1200328"/>
          </a:xfrm>
          <a:noFill/>
          <a:ln/>
        </p:spPr>
        <p:txBody>
          <a:bodyPr vert="horz" lIns="91440" tIns="45720" rIns="91440" bIns="45720" rtlCol="0" anchor="ctr">
            <a:normAutofit/>
          </a:bodyPr>
          <a:lstStyle/>
          <a:p>
            <a:br>
              <a:rPr lang="zh-CN" altLang="en-US" dirty="0"/>
            </a:br>
            <a:r>
              <a:rPr lang="zh-CN" altLang="en-US" dirty="0"/>
              <a:t>无线电频谱</a:t>
            </a:r>
          </a:p>
        </p:txBody>
      </p:sp>
      <p:sp>
        <p:nvSpPr>
          <p:cNvPr id="819203" name="Text Box 3">
            <a:extLst>
              <a:ext uri="{FF2B5EF4-FFF2-40B4-BE49-F238E27FC236}">
                <a16:creationId xmlns:a16="http://schemas.microsoft.com/office/drawing/2014/main" id="{FC97FFBE-4EEB-48B9-8E7E-EC26CB1008E8}"/>
              </a:ext>
            </a:extLst>
          </p:cNvPr>
          <p:cNvSpPr txBox="1">
            <a:spLocks noChangeArrowheads="1"/>
          </p:cNvSpPr>
          <p:nvPr/>
        </p:nvSpPr>
        <p:spPr bwMode="auto">
          <a:xfrm>
            <a:off x="571617" y="1350182"/>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无线电的频率与波长满足以下关系:</a:t>
            </a:r>
          </a:p>
        </p:txBody>
      </p:sp>
      <p:graphicFrame>
        <p:nvGraphicFramePr>
          <p:cNvPr id="819204" name="Object 4">
            <a:extLst>
              <a:ext uri="{FF2B5EF4-FFF2-40B4-BE49-F238E27FC236}">
                <a16:creationId xmlns:a16="http://schemas.microsoft.com/office/drawing/2014/main" id="{442E5A60-ADAB-4939-8532-2FD09A60A378}"/>
              </a:ext>
            </a:extLst>
          </p:cNvPr>
          <p:cNvGraphicFramePr>
            <a:graphicFrameLocks noChangeAspect="1"/>
          </p:cNvGraphicFramePr>
          <p:nvPr/>
        </p:nvGraphicFramePr>
        <p:xfrm>
          <a:off x="2265686" y="2010614"/>
          <a:ext cx="1358900" cy="406400"/>
        </p:xfrm>
        <a:graphic>
          <a:graphicData uri="http://schemas.openxmlformats.org/presentationml/2006/ole">
            <mc:AlternateContent xmlns:mc="http://schemas.openxmlformats.org/markup-compatibility/2006">
              <mc:Choice xmlns:v="urn:schemas-microsoft-com:vml" Requires="v">
                <p:oleObj name="公式" r:id="rId2" imgW="583920" imgH="203040" progId="Equation.3">
                  <p:embed/>
                </p:oleObj>
              </mc:Choice>
              <mc:Fallback>
                <p:oleObj name="公式" r:id="rId2" imgW="583920" imgH="203040" progId="Equation.3">
                  <p:embed/>
                  <p:pic>
                    <p:nvPicPr>
                      <p:cNvPr id="819204" name="Object 4">
                        <a:extLst>
                          <a:ext uri="{FF2B5EF4-FFF2-40B4-BE49-F238E27FC236}">
                            <a16:creationId xmlns:a16="http://schemas.microsoft.com/office/drawing/2014/main" id="{442E5A60-ADAB-4939-8532-2FD09A60A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5686" y="2010614"/>
                        <a:ext cx="1358900" cy="406400"/>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05" name="Text Box 5">
            <a:extLst>
              <a:ext uri="{FF2B5EF4-FFF2-40B4-BE49-F238E27FC236}">
                <a16:creationId xmlns:a16="http://schemas.microsoft.com/office/drawing/2014/main" id="{67A6A60B-7CE2-4849-8A4B-D4AEA7557083}"/>
              </a:ext>
            </a:extLst>
          </p:cNvPr>
          <p:cNvSpPr txBox="1">
            <a:spLocks noChangeArrowheads="1"/>
          </p:cNvSpPr>
          <p:nvPr/>
        </p:nvSpPr>
        <p:spPr bwMode="auto">
          <a:xfrm>
            <a:off x="356386" y="2475729"/>
            <a:ext cx="629786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其中，</a:t>
            </a:r>
            <a:r>
              <a:rPr lang="en-US" altLang="zh-CN" sz="2400" i="1" dirty="0">
                <a:latin typeface="微软雅黑" panose="020B0503020204020204" pitchFamily="34" charset="-122"/>
                <a:ea typeface="微软雅黑" panose="020B0503020204020204" pitchFamily="34" charset="-122"/>
              </a:rPr>
              <a:t>λ</a:t>
            </a:r>
            <a:r>
              <a:rPr lang="zh-CN" altLang="en-US" sz="2400" dirty="0">
                <a:latin typeface="微软雅黑" panose="020B0503020204020204" pitchFamily="34" charset="-122"/>
                <a:ea typeface="微软雅黑" panose="020B0503020204020204" pitchFamily="34" charset="-122"/>
              </a:rPr>
              <a:t>是无线电的波长，</a:t>
            </a:r>
            <a:r>
              <a:rPr lang="en-US" altLang="zh-CN" sz="2400" i="1" dirty="0">
                <a:latin typeface="微软雅黑" panose="020B0503020204020204" pitchFamily="34" charset="-122"/>
                <a:ea typeface="微软雅黑" panose="020B0503020204020204" pitchFamily="34" charset="-122"/>
              </a:rPr>
              <a:t>f</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是无线电的频率</a:t>
            </a:r>
          </a:p>
          <a:p>
            <a:pPr>
              <a:spcBef>
                <a:spcPct val="50000"/>
              </a:spcBef>
            </a:pPr>
            <a:r>
              <a:rPr lang="en-US" altLang="zh-CN" sz="2400" i="1" dirty="0">
                <a:latin typeface="微软雅黑" panose="020B0503020204020204" pitchFamily="34" charset="-122"/>
                <a:ea typeface="微软雅黑" panose="020B0503020204020204" pitchFamily="34" charset="-122"/>
              </a:rPr>
              <a:t>c</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是光速，</a:t>
            </a:r>
            <a:r>
              <a:rPr lang="en-US" altLang="zh-CN" sz="2400" dirty="0">
                <a:latin typeface="微软雅黑" panose="020B0503020204020204" pitchFamily="34" charset="-122"/>
                <a:ea typeface="微软雅黑" panose="020B0503020204020204" pitchFamily="34" charset="-122"/>
              </a:rPr>
              <a:t>c = 3×10</a:t>
            </a:r>
            <a:r>
              <a:rPr lang="en-US" altLang="zh-CN" sz="2400" baseline="30000" dirty="0">
                <a:latin typeface="微软雅黑" panose="020B0503020204020204" pitchFamily="34" charset="-122"/>
                <a:ea typeface="微软雅黑" panose="020B0503020204020204" pitchFamily="34" charset="-122"/>
              </a:rPr>
              <a:t>8 </a:t>
            </a:r>
            <a:r>
              <a:rPr lang="en-US" altLang="zh-CN" sz="2400" dirty="0">
                <a:latin typeface="微软雅黑" panose="020B0503020204020204" pitchFamily="34" charset="-122"/>
                <a:ea typeface="微软雅黑" panose="020B0503020204020204" pitchFamily="34" charset="-122"/>
              </a:rPr>
              <a:t>m/s</a:t>
            </a:r>
          </a:p>
        </p:txBody>
      </p:sp>
      <p:sp>
        <p:nvSpPr>
          <p:cNvPr id="819206" name="Text Box 6">
            <a:extLst>
              <a:ext uri="{FF2B5EF4-FFF2-40B4-BE49-F238E27FC236}">
                <a16:creationId xmlns:a16="http://schemas.microsoft.com/office/drawing/2014/main" id="{33334D05-2BB0-4A19-93F6-2A74E0429D58}"/>
              </a:ext>
            </a:extLst>
          </p:cNvPr>
          <p:cNvSpPr txBox="1">
            <a:spLocks noChangeArrowheads="1"/>
          </p:cNvSpPr>
          <p:nvPr/>
        </p:nvSpPr>
        <p:spPr bwMode="auto">
          <a:xfrm>
            <a:off x="7096836" y="1416978"/>
            <a:ext cx="4880584" cy="1200329"/>
          </a:xfrm>
          <a:prstGeom prst="rect">
            <a:avLst/>
          </a:prstGeom>
          <a:solidFill>
            <a:schemeClr val="accent6">
              <a:lumMod val="20000"/>
              <a:lumOff val="80000"/>
            </a:schemeClr>
          </a:solidFill>
          <a:ln>
            <a:noFill/>
          </a:ln>
          <a:effectLst/>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典型的例子：</a:t>
            </a:r>
            <a:r>
              <a:rPr lang="en-US" altLang="zh-CN" sz="2400" dirty="0">
                <a:latin typeface="微软雅黑" panose="020B0503020204020204" pitchFamily="34" charset="-122"/>
                <a:ea typeface="微软雅黑" panose="020B0503020204020204" pitchFamily="34" charset="-122"/>
              </a:rPr>
              <a:t>GSM</a:t>
            </a:r>
            <a:r>
              <a:rPr lang="zh-CN" altLang="en-US" sz="2400" dirty="0">
                <a:latin typeface="微软雅黑" panose="020B0503020204020204" pitchFamily="34" charset="-122"/>
                <a:ea typeface="微软雅黑" panose="020B0503020204020204" pitchFamily="34" charset="-122"/>
              </a:rPr>
              <a:t>系统使用900 </a:t>
            </a:r>
            <a:r>
              <a:rPr lang="en-US" altLang="zh-CN" sz="2400" dirty="0">
                <a:latin typeface="微软雅黑" panose="020B0503020204020204" pitchFamily="34" charset="-122"/>
                <a:ea typeface="微软雅黑" panose="020B0503020204020204" pitchFamily="34" charset="-122"/>
              </a:rPr>
              <a:t>MHz</a:t>
            </a:r>
            <a:r>
              <a:rPr lang="zh-CN" altLang="en-US" sz="2400" dirty="0">
                <a:latin typeface="微软雅黑" panose="020B0503020204020204" pitchFamily="34" charset="-122"/>
                <a:ea typeface="微软雅黑" panose="020B0503020204020204" pitchFamily="34" charset="-122"/>
              </a:rPr>
              <a:t>频段，其波长是3×10</a:t>
            </a:r>
            <a:r>
              <a:rPr lang="zh-CN" altLang="en-US" sz="2400" baseline="30000" dirty="0">
                <a:latin typeface="微软雅黑" panose="020B0503020204020204" pitchFamily="34" charset="-122"/>
                <a:ea typeface="微软雅黑" panose="020B0503020204020204" pitchFamily="34" charset="-122"/>
              </a:rPr>
              <a:t>8  </a:t>
            </a:r>
            <a:r>
              <a:rPr lang="zh-CN" altLang="en-US" sz="2400" dirty="0">
                <a:latin typeface="微软雅黑" panose="020B0503020204020204" pitchFamily="34" charset="-122"/>
                <a:ea typeface="微软雅黑" panose="020B0503020204020204" pitchFamily="34" charset="-122"/>
              </a:rPr>
              <a:t>/ 900×10</a:t>
            </a:r>
            <a:r>
              <a:rPr lang="zh-CN" altLang="en-US" sz="2400" baseline="300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 = 0.33</a:t>
            </a:r>
            <a:r>
              <a:rPr lang="en-US" altLang="zh-CN" sz="2400" dirty="0">
                <a:latin typeface="微软雅黑" panose="020B0503020204020204" pitchFamily="34" charset="-122"/>
                <a:ea typeface="微软雅黑" panose="020B0503020204020204" pitchFamily="34" charset="-122"/>
              </a:rPr>
              <a:t>m。</a:t>
            </a:r>
          </a:p>
        </p:txBody>
      </p:sp>
      <p:graphicFrame>
        <p:nvGraphicFramePr>
          <p:cNvPr id="14" name="Object 5">
            <a:extLst>
              <a:ext uri="{FF2B5EF4-FFF2-40B4-BE49-F238E27FC236}">
                <a16:creationId xmlns:a16="http://schemas.microsoft.com/office/drawing/2014/main" id="{310A011B-FC8A-4FDA-924C-A3A1CEE8D102}"/>
              </a:ext>
            </a:extLst>
          </p:cNvPr>
          <p:cNvGraphicFramePr>
            <a:graphicFrameLocks noGrp="1" noChangeAspect="1"/>
          </p:cNvGraphicFramePr>
          <p:nvPr>
            <p:ph idx="1"/>
            <p:extLst>
              <p:ext uri="{D42A27DB-BD31-4B8C-83A1-F6EECF244321}">
                <p14:modId xmlns:p14="http://schemas.microsoft.com/office/powerpoint/2010/main" val="3314469110"/>
              </p:ext>
            </p:extLst>
          </p:nvPr>
        </p:nvGraphicFramePr>
        <p:xfrm>
          <a:off x="356386" y="3809726"/>
          <a:ext cx="6888632" cy="3262591"/>
        </p:xfrm>
        <a:graphic>
          <a:graphicData uri="http://schemas.openxmlformats.org/presentationml/2006/ole">
            <mc:AlternateContent xmlns:mc="http://schemas.openxmlformats.org/markup-compatibility/2006">
              <mc:Choice xmlns:v="urn:schemas-microsoft-com:vml" Requires="v">
                <p:oleObj name="Document" r:id="rId4" imgW="6586634" imgH="3118693" progId="Word.Document.8">
                  <p:embed/>
                </p:oleObj>
              </mc:Choice>
              <mc:Fallback>
                <p:oleObj name="Document" r:id="rId4" imgW="6586634" imgH="3118693" progId="Word.Document.8">
                  <p:embed/>
                  <p:pic>
                    <p:nvPicPr>
                      <p:cNvPr id="14" name="Object 5">
                        <a:extLst>
                          <a:ext uri="{FF2B5EF4-FFF2-40B4-BE49-F238E27FC236}">
                            <a16:creationId xmlns:a16="http://schemas.microsoft.com/office/drawing/2014/main" id="{310A011B-FC8A-4FDA-924C-A3A1CEE8D102}"/>
                          </a:ext>
                        </a:extLst>
                      </p:cNvPr>
                      <p:cNvPicPr>
                        <a:picLocks noChangeAspect="1" noChangeArrowheads="1"/>
                      </p:cNvPicPr>
                      <p:nvPr/>
                    </p:nvPicPr>
                    <p:blipFill>
                      <a:blip r:embed="rId5"/>
                      <a:srcRect/>
                      <a:stretch>
                        <a:fillRect/>
                      </a:stretch>
                    </p:blipFill>
                    <p:spPr bwMode="auto">
                      <a:xfrm>
                        <a:off x="356386" y="3809726"/>
                        <a:ext cx="6888632" cy="3262591"/>
                      </a:xfrm>
                      <a:prstGeom prst="rect">
                        <a:avLst/>
                      </a:prstGeom>
                      <a:noFill/>
                      <a:ln>
                        <a:noFill/>
                      </a:ln>
                      <a:effectLst/>
                    </p:spPr>
                  </p:pic>
                </p:oleObj>
              </mc:Fallback>
            </mc:AlternateContent>
          </a:graphicData>
        </a:graphic>
      </p:graphicFrame>
      <p:sp>
        <p:nvSpPr>
          <p:cNvPr id="10" name="文本框 9">
            <a:extLst>
              <a:ext uri="{FF2B5EF4-FFF2-40B4-BE49-F238E27FC236}">
                <a16:creationId xmlns:a16="http://schemas.microsoft.com/office/drawing/2014/main" id="{9688D33F-08BC-4EF0-8261-06E454667D1E}"/>
              </a:ext>
            </a:extLst>
          </p:cNvPr>
          <p:cNvSpPr txBox="1"/>
          <p:nvPr/>
        </p:nvSpPr>
        <p:spPr>
          <a:xfrm>
            <a:off x="7096836" y="3842114"/>
            <a:ext cx="4880584" cy="2385268"/>
          </a:xfrm>
          <a:prstGeom prst="rect">
            <a:avLst/>
          </a:prstGeom>
          <a:solidFill>
            <a:schemeClr val="accent4">
              <a:lumMod val="40000"/>
              <a:lumOff val="60000"/>
            </a:schemeClr>
          </a:solidFill>
        </p:spPr>
        <p:txBody>
          <a:bodyPr wrap="square">
            <a:spAutoFit/>
          </a:bodyPr>
          <a:lstStyle/>
          <a:p>
            <a:pPr algn="ctr">
              <a:spcAft>
                <a:spcPts val="600"/>
              </a:spcAft>
            </a:pPr>
            <a:r>
              <a:rPr lang="zh-CN" altLang="en-US" sz="2400" b="1" dirty="0">
                <a:solidFill>
                  <a:srgbClr val="5B307E"/>
                </a:solidFill>
                <a:latin typeface="微软雅黑" panose="020B0503020204020204" pitchFamily="34" charset="-122"/>
                <a:ea typeface="微软雅黑" panose="020B0503020204020204" pitchFamily="34" charset="-122"/>
              </a:rPr>
              <a:t>激光通信 </a:t>
            </a:r>
            <a:r>
              <a:rPr lang="en-US" altLang="zh-CN" sz="2400" b="1" dirty="0">
                <a:solidFill>
                  <a:srgbClr val="5B307E"/>
                </a:solidFill>
                <a:latin typeface="微软雅黑" panose="020B0503020204020204" pitchFamily="34" charset="-122"/>
                <a:ea typeface="微软雅黑" panose="020B0503020204020204" pitchFamily="34" charset="-122"/>
              </a:rPr>
              <a:t>vs </a:t>
            </a:r>
            <a:r>
              <a:rPr lang="zh-CN" altLang="en-US" sz="2400" b="1" dirty="0">
                <a:solidFill>
                  <a:srgbClr val="5B307E"/>
                </a:solidFill>
                <a:latin typeface="微软雅黑" panose="020B0503020204020204" pitchFamily="34" charset="-122"/>
                <a:ea typeface="微软雅黑" panose="020B0503020204020204" pitchFamily="34" charset="-122"/>
              </a:rPr>
              <a:t>光纤</a:t>
            </a:r>
            <a:endParaRPr lang="en-US" altLang="zh-CN" sz="2400" b="1" dirty="0">
              <a:solidFill>
                <a:srgbClr val="5B307E"/>
              </a:solidFill>
              <a:latin typeface="微软雅黑" panose="020B0503020204020204" pitchFamily="34" charset="-122"/>
              <a:ea typeface="微软雅黑" panose="020B0503020204020204" pitchFamily="34" charset="-122"/>
            </a:endParaRPr>
          </a:p>
          <a:p>
            <a:r>
              <a:rPr lang="zh-CN" altLang="en-US" sz="2400" dirty="0"/>
              <a:t>由于光纤内部是玻璃，因此光的传播速度被限制在每秒</a:t>
            </a:r>
            <a:r>
              <a:rPr lang="en-US" altLang="zh-CN" sz="2400" dirty="0"/>
              <a:t>20</a:t>
            </a:r>
            <a:r>
              <a:rPr lang="zh-CN" altLang="en-US" sz="2400" dirty="0"/>
              <a:t>万千米左右，只有激光在空气中传播速度的</a:t>
            </a:r>
            <a:r>
              <a:rPr lang="en-US" altLang="zh-CN" sz="2400" dirty="0"/>
              <a:t>2/3</a:t>
            </a:r>
            <a:r>
              <a:rPr lang="zh-CN" altLang="en-US" sz="2400" dirty="0"/>
              <a:t>。</a:t>
            </a:r>
            <a:endParaRPr lang="en-US" altLang="zh-CN" sz="2400" dirty="0"/>
          </a:p>
          <a:p>
            <a:r>
              <a:rPr lang="zh-CN" altLang="en-US" sz="2400" dirty="0"/>
              <a:t>因此低轨激光卫星有望超越光纤的传输速率。</a:t>
            </a:r>
          </a:p>
        </p:txBody>
      </p:sp>
      <p:sp>
        <p:nvSpPr>
          <p:cNvPr id="11" name="文本框 10">
            <a:extLst>
              <a:ext uri="{FF2B5EF4-FFF2-40B4-BE49-F238E27FC236}">
                <a16:creationId xmlns:a16="http://schemas.microsoft.com/office/drawing/2014/main" id="{297E96CF-2761-40B3-8344-D0AC231C5606}"/>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53290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9" name="Rectangle 3">
            <a:extLst>
              <a:ext uri="{FF2B5EF4-FFF2-40B4-BE49-F238E27FC236}">
                <a16:creationId xmlns:a16="http://schemas.microsoft.com/office/drawing/2014/main" id="{7F854890-EDB1-4366-B2BD-A4C769BF92ED}"/>
              </a:ext>
            </a:extLst>
          </p:cNvPr>
          <p:cNvSpPr>
            <a:spLocks noGrp="1" noChangeArrowheads="1"/>
          </p:cNvSpPr>
          <p:nvPr>
            <p:ph type="body" idx="1"/>
          </p:nvPr>
        </p:nvSpPr>
        <p:spPr>
          <a:xfrm>
            <a:off x="549965" y="1560464"/>
            <a:ext cx="10373139" cy="4932410"/>
          </a:xfrm>
        </p:spPr>
        <p:txBody>
          <a:bodyPr>
            <a:normAutofit/>
          </a:bodyPr>
          <a:lstStyle/>
          <a:p>
            <a:r>
              <a:rPr lang="zh-CN" altLang="en-US" sz="2600" b="1" dirty="0">
                <a:solidFill>
                  <a:srgbClr val="7030A0"/>
                </a:solidFill>
                <a:latin typeface="微软雅黑" panose="020B0503020204020204" pitchFamily="34" charset="-122"/>
                <a:ea typeface="微软雅黑" panose="020B0503020204020204" pitchFamily="34" charset="-122"/>
              </a:rPr>
              <a:t>信道：</a:t>
            </a:r>
            <a:r>
              <a:rPr lang="zh-CN" altLang="en-US" sz="2600" dirty="0">
                <a:solidFill>
                  <a:srgbClr val="000000"/>
                </a:solidFill>
                <a:latin typeface="微软雅黑" panose="020B0503020204020204" pitchFamily="34" charset="-122"/>
                <a:ea typeface="微软雅黑" panose="020B0503020204020204" pitchFamily="34" charset="-122"/>
              </a:rPr>
              <a:t>通信信道是界于发射机和接收机之间信号传播的物理媒质。</a:t>
            </a:r>
            <a:endParaRPr lang="en-US" altLang="zh-CN" sz="2600" dirty="0">
              <a:solidFill>
                <a:srgbClr val="000000"/>
              </a:solidFill>
              <a:latin typeface="微软雅黑" panose="020B0503020204020204" pitchFamily="34" charset="-122"/>
              <a:ea typeface="微软雅黑" panose="020B0503020204020204" pitchFamily="34" charset="-122"/>
            </a:endParaRPr>
          </a:p>
          <a:p>
            <a:r>
              <a:rPr lang="zh-CN" altLang="en-US" sz="2600" b="1" dirty="0">
                <a:solidFill>
                  <a:srgbClr val="7030A0"/>
                </a:solidFill>
                <a:latin typeface="微软雅黑" panose="020B0503020204020204" pitchFamily="34" charset="-122"/>
                <a:ea typeface="微软雅黑" panose="020B0503020204020204" pitchFamily="34" charset="-122"/>
              </a:rPr>
              <a:t>无线信道：</a:t>
            </a:r>
            <a:r>
              <a:rPr lang="zh-CN" altLang="en-US" sz="2600" dirty="0">
                <a:solidFill>
                  <a:srgbClr val="000000"/>
                </a:solidFill>
                <a:latin typeface="微软雅黑" panose="020B0503020204020204" pitchFamily="34" charset="-122"/>
                <a:ea typeface="微软雅黑" panose="020B0503020204020204" pitchFamily="34" charset="-122"/>
              </a:rPr>
              <a:t>以无线信号作为传输媒体的数据信号传送通道。</a:t>
            </a:r>
            <a:endParaRPr lang="en-US" altLang="zh-CN" sz="2600" dirty="0">
              <a:solidFill>
                <a:srgbClr val="000000"/>
              </a:solidFill>
              <a:latin typeface="微软雅黑" panose="020B0503020204020204" pitchFamily="34" charset="-122"/>
              <a:ea typeface="微软雅黑" panose="020B0503020204020204" pitchFamily="34" charset="-122"/>
            </a:endParaRPr>
          </a:p>
          <a:p>
            <a:endParaRPr lang="zh-CN" altLang="en-US" dirty="0">
              <a:solidFill>
                <a:srgbClr val="000000"/>
              </a:solidFill>
              <a:highlight>
                <a:srgbClr val="FFFF00"/>
              </a:highlight>
              <a:latin typeface="微软雅黑" panose="020B0503020204020204" pitchFamily="34" charset="-122"/>
              <a:ea typeface="微软雅黑" panose="020B0503020204020204" pitchFamily="34" charset="-122"/>
            </a:endParaRPr>
          </a:p>
          <a:p>
            <a:pPr marL="0" indent="0">
              <a:buNone/>
            </a:pPr>
            <a:endParaRPr lang="en-US" altLang="zh-CN" sz="2000" dirty="0">
              <a:solidFill>
                <a:srgbClr val="000000"/>
              </a:solidFill>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p:txBody>
      </p:sp>
      <p:sp>
        <p:nvSpPr>
          <p:cNvPr id="818182" name="Rectangle 6">
            <a:extLst>
              <a:ext uri="{FF2B5EF4-FFF2-40B4-BE49-F238E27FC236}">
                <a16:creationId xmlns:a16="http://schemas.microsoft.com/office/drawing/2014/main" id="{B22CE88F-E508-45E8-B769-939113088DA2}"/>
              </a:ext>
            </a:extLst>
          </p:cNvPr>
          <p:cNvSpPr>
            <a:spLocks noGrp="1" noChangeArrowheads="1"/>
          </p:cNvSpPr>
          <p:nvPr>
            <p:ph type="title"/>
          </p:nvPr>
        </p:nvSpPr>
        <p:spPr>
          <a:noFill/>
          <a:ln/>
        </p:spPr>
        <p:txBody>
          <a:bodyPr/>
          <a:lstStyle/>
          <a:p>
            <a:r>
              <a:rPr lang="zh-CN" altLang="en-US" dirty="0"/>
              <a:t>无线信道</a:t>
            </a:r>
          </a:p>
        </p:txBody>
      </p:sp>
      <p:sp>
        <p:nvSpPr>
          <p:cNvPr id="5" name="文本框 4">
            <a:extLst>
              <a:ext uri="{FF2B5EF4-FFF2-40B4-BE49-F238E27FC236}">
                <a16:creationId xmlns:a16="http://schemas.microsoft.com/office/drawing/2014/main" id="{2E80B75B-55EB-435C-8391-C080A3ACFAAB}"/>
              </a:ext>
            </a:extLst>
          </p:cNvPr>
          <p:cNvSpPr txBox="1"/>
          <p:nvPr/>
        </p:nvSpPr>
        <p:spPr>
          <a:xfrm>
            <a:off x="859421" y="2567226"/>
            <a:ext cx="6094070" cy="861774"/>
          </a:xfrm>
          <a:prstGeom prst="rect">
            <a:avLst/>
          </a:prstGeom>
          <a:noFill/>
        </p:spPr>
        <p:txBody>
          <a:bodyPr wrap="square">
            <a:spAutoFit/>
          </a:bodyPr>
          <a:lstStyle/>
          <a:p>
            <a:pPr>
              <a:spcBef>
                <a:spcPct val="50000"/>
              </a:spcBef>
            </a:pPr>
            <a:r>
              <a:rPr lang="zh-CN" altLang="en-US" sz="2000" dirty="0">
                <a:latin typeface="微软雅黑" panose="020B0503020204020204" pitchFamily="34" charset="-122"/>
                <a:ea typeface="微软雅黑" panose="020B0503020204020204" pitchFamily="34" charset="-122"/>
              </a:rPr>
              <a:t>衰落现象：接收信号的场强随时间不断地变化。</a:t>
            </a:r>
          </a:p>
          <a:p>
            <a:pPr>
              <a:spcBef>
                <a:spcPct val="50000"/>
              </a:spcBef>
            </a:pPr>
            <a:r>
              <a:rPr lang="zh-CN" altLang="en-US" sz="2000" dirty="0">
                <a:latin typeface="微软雅黑" panose="020B0503020204020204" pitchFamily="34" charset="-122"/>
                <a:ea typeface="微软雅黑" panose="020B0503020204020204" pitchFamily="34" charset="-122"/>
              </a:rPr>
              <a:t>在短时间内信号电平的变化范围高达30 ~ 40 </a:t>
            </a:r>
            <a:r>
              <a:rPr lang="en-US" altLang="zh-CN" sz="2000" dirty="0">
                <a:latin typeface="微软雅黑" panose="020B0503020204020204" pitchFamily="34" charset="-122"/>
                <a:ea typeface="微软雅黑" panose="020B0503020204020204" pitchFamily="34" charset="-122"/>
              </a:rPr>
              <a:t>dB</a:t>
            </a:r>
            <a:endParaRPr lang="zh-CN" altLang="en-US" sz="2000" dirty="0"/>
          </a:p>
        </p:txBody>
      </p:sp>
      <p:pic>
        <p:nvPicPr>
          <p:cNvPr id="6" name="Picture 3">
            <a:extLst>
              <a:ext uri="{FF2B5EF4-FFF2-40B4-BE49-F238E27FC236}">
                <a16:creationId xmlns:a16="http://schemas.microsoft.com/office/drawing/2014/main" id="{82E01918-51D3-4218-AA23-A861EFE941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81" b="8521"/>
          <a:stretch/>
        </p:blipFill>
        <p:spPr bwMode="auto">
          <a:xfrm>
            <a:off x="857492" y="3526669"/>
            <a:ext cx="4045605" cy="2868536"/>
          </a:xfrm>
          <a:prstGeom prst="rect">
            <a:avLst/>
          </a:prstGeom>
          <a:noFill/>
          <a:ln w="57150" cmpd="thinThick">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BC6FD1CF-2392-4CCE-930C-DBEA605E315B}"/>
              </a:ext>
            </a:extLst>
          </p:cNvPr>
          <p:cNvSpPr txBox="1"/>
          <p:nvPr/>
        </p:nvSpPr>
        <p:spPr>
          <a:xfrm>
            <a:off x="4934000" y="4509165"/>
            <a:ext cx="7092096" cy="2000548"/>
          </a:xfrm>
          <a:prstGeom prst="rect">
            <a:avLst/>
          </a:prstGeom>
          <a:noFill/>
        </p:spPr>
        <p:txBody>
          <a:bodyPr wrap="square">
            <a:spAutoFit/>
          </a:bodyPr>
          <a:lstStyle/>
          <a:p>
            <a:r>
              <a:rPr lang="zh-CN" altLang="en-US" sz="2400" b="1" dirty="0">
                <a:solidFill>
                  <a:srgbClr val="7030A0"/>
                </a:solidFill>
                <a:latin typeface="微软雅黑" panose="020B0503020204020204" pitchFamily="34" charset="-122"/>
                <a:ea typeface="微软雅黑" panose="020B0503020204020204" pitchFamily="34" charset="-122"/>
              </a:rPr>
              <a:t>衰落产生的原因：</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rPr>
              <a:t>自由空间损耗</a:t>
            </a:r>
            <a:r>
              <a:rPr lang="zh-CN" altLang="en-US" sz="2000" dirty="0">
                <a:latin typeface="微软雅黑" panose="020B0503020204020204" pitchFamily="34" charset="-122"/>
                <a:ea typeface="微软雅黑" panose="020B0503020204020204" pitchFamily="34" charset="-122"/>
              </a:rPr>
              <a:t>：距离越远，信号越弱</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rPr>
              <a:t>多径效应</a:t>
            </a:r>
            <a:r>
              <a:rPr lang="zh-CN" altLang="en-US" sz="2000" dirty="0">
                <a:latin typeface="微软雅黑" panose="020B0503020204020204" pitchFamily="34" charset="-122"/>
                <a:ea typeface="微软雅黑" panose="020B0503020204020204" pitchFamily="34" charset="-122"/>
              </a:rPr>
              <a:t>：接收机在接收点附近的建筑物产生多次反射，多次反射信号相互叠加，产生衰落</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rPr>
              <a:t>阴影效应</a:t>
            </a:r>
            <a:r>
              <a:rPr lang="zh-CN" altLang="en-US" sz="2000" dirty="0">
                <a:latin typeface="微软雅黑" panose="020B0503020204020204" pitchFamily="34" charset="-122"/>
                <a:ea typeface="微软雅黑" panose="020B0503020204020204" pitchFamily="34" charset="-122"/>
              </a:rPr>
              <a:t>：由障碍物阻挡造成的阴影效应，接受信号强度下降，但该场强中值随地理改变缓慢变化，又称慢衰落</a:t>
            </a:r>
          </a:p>
        </p:txBody>
      </p:sp>
      <p:pic>
        <p:nvPicPr>
          <p:cNvPr id="4" name="图片 3">
            <a:extLst>
              <a:ext uri="{FF2B5EF4-FFF2-40B4-BE49-F238E27FC236}">
                <a16:creationId xmlns:a16="http://schemas.microsoft.com/office/drawing/2014/main" id="{9C11E77F-E9FE-404E-BC50-85BDC1F83A64}"/>
              </a:ext>
            </a:extLst>
          </p:cNvPr>
          <p:cNvPicPr>
            <a:picLocks noChangeAspect="1"/>
          </p:cNvPicPr>
          <p:nvPr/>
        </p:nvPicPr>
        <p:blipFill>
          <a:blip r:embed="rId3"/>
          <a:stretch>
            <a:fillRect/>
          </a:stretch>
        </p:blipFill>
        <p:spPr>
          <a:xfrm>
            <a:off x="6549675" y="2533266"/>
            <a:ext cx="2388622" cy="1791467"/>
          </a:xfrm>
          <a:prstGeom prst="rect">
            <a:avLst/>
          </a:prstGeom>
        </p:spPr>
      </p:pic>
      <p:pic>
        <p:nvPicPr>
          <p:cNvPr id="3" name="图片 2">
            <a:extLst>
              <a:ext uri="{FF2B5EF4-FFF2-40B4-BE49-F238E27FC236}">
                <a16:creationId xmlns:a16="http://schemas.microsoft.com/office/drawing/2014/main" id="{4038ABCE-EC37-4696-A317-4C1C58CC6F01}"/>
              </a:ext>
            </a:extLst>
          </p:cNvPr>
          <p:cNvPicPr>
            <a:picLocks noChangeAspect="1"/>
          </p:cNvPicPr>
          <p:nvPr/>
        </p:nvPicPr>
        <p:blipFill>
          <a:blip r:embed="rId4"/>
          <a:stretch>
            <a:fillRect/>
          </a:stretch>
        </p:blipFill>
        <p:spPr>
          <a:xfrm>
            <a:off x="9256229" y="2470527"/>
            <a:ext cx="2412000" cy="1936492"/>
          </a:xfrm>
          <a:prstGeom prst="rect">
            <a:avLst/>
          </a:prstGeom>
        </p:spPr>
      </p:pic>
      <p:sp>
        <p:nvSpPr>
          <p:cNvPr id="10" name="文本框 9">
            <a:extLst>
              <a:ext uri="{FF2B5EF4-FFF2-40B4-BE49-F238E27FC236}">
                <a16:creationId xmlns:a16="http://schemas.microsoft.com/office/drawing/2014/main" id="{31552F87-F533-4CF7-9569-A383FC2CE945}"/>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010151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9C8CC-7E4D-4988-9299-EF1A163C7564}"/>
              </a:ext>
            </a:extLst>
          </p:cNvPr>
          <p:cNvSpPr>
            <a:spLocks noGrp="1"/>
          </p:cNvSpPr>
          <p:nvPr>
            <p:ph type="title"/>
          </p:nvPr>
        </p:nvSpPr>
        <p:spPr>
          <a:xfrm>
            <a:off x="1307508" y="415211"/>
            <a:ext cx="8220812" cy="879086"/>
          </a:xfrm>
        </p:spPr>
        <p:txBody>
          <a:bodyPr/>
          <a:lstStyle/>
          <a:p>
            <a:r>
              <a:rPr lang="zh-CN" altLang="en-US" dirty="0"/>
              <a:t>卫星通信的基本概念</a:t>
            </a:r>
          </a:p>
        </p:txBody>
      </p:sp>
      <p:sp>
        <p:nvSpPr>
          <p:cNvPr id="4" name="灯片编号占位符 3">
            <a:extLst>
              <a:ext uri="{FF2B5EF4-FFF2-40B4-BE49-F238E27FC236}">
                <a16:creationId xmlns:a16="http://schemas.microsoft.com/office/drawing/2014/main" id="{FA1F0768-2CCB-473D-BE3B-F6D0BCFAB1B7}"/>
              </a:ext>
            </a:extLst>
          </p:cNvPr>
          <p:cNvSpPr>
            <a:spLocks noGrp="1"/>
          </p:cNvSpPr>
          <p:nvPr>
            <p:ph type="sldNum" sz="quarter" idx="12"/>
          </p:nvPr>
        </p:nvSpPr>
        <p:spPr/>
        <p:txBody>
          <a:bodyPr/>
          <a:lstStyle/>
          <a:p>
            <a:fld id="{8D4D1E41-7A09-AB4A-A4E1-09765ADA2698}" type="slidenum">
              <a:rPr kumimoji="1" lang="zh-CN" altLang="en-US" smtClean="0"/>
              <a:t>91</a:t>
            </a:fld>
            <a:endParaRPr kumimoji="1" lang="zh-CN" altLang="en-US" dirty="0"/>
          </a:p>
        </p:txBody>
      </p:sp>
      <p:sp>
        <p:nvSpPr>
          <p:cNvPr id="7" name="文本框 6">
            <a:extLst>
              <a:ext uri="{FF2B5EF4-FFF2-40B4-BE49-F238E27FC236}">
                <a16:creationId xmlns:a16="http://schemas.microsoft.com/office/drawing/2014/main" id="{61520702-6848-4E43-9D87-344212D4DFB0}"/>
              </a:ext>
            </a:extLst>
          </p:cNvPr>
          <p:cNvSpPr txBox="1"/>
          <p:nvPr/>
        </p:nvSpPr>
        <p:spPr>
          <a:xfrm>
            <a:off x="593450" y="1353614"/>
            <a:ext cx="11369204" cy="1221938"/>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zh-CN" altLang="en-US" sz="2600" b="1" dirty="0">
                <a:solidFill>
                  <a:srgbClr val="7030A0"/>
                </a:solidFill>
                <a:latin typeface="微软雅黑" panose="020B0503020204020204" pitchFamily="34" charset="-122"/>
                <a:ea typeface="微软雅黑" panose="020B0503020204020204" pitchFamily="34" charset="-122"/>
              </a:rPr>
              <a:t>卫星通信</a:t>
            </a:r>
            <a:r>
              <a:rPr lang="zh-CN" altLang="en-US" sz="2600" dirty="0">
                <a:latin typeface="微软雅黑" panose="020B0503020204020204" pitchFamily="34" charset="-122"/>
                <a:ea typeface="微软雅黑" panose="020B0503020204020204" pitchFamily="34" charset="-122"/>
              </a:rPr>
              <a:t>是指利用人造地球卫星作为中继站，转发或反射无线电波，在两个或多个地球站之间进行的通信。</a:t>
            </a:r>
          </a:p>
        </p:txBody>
      </p:sp>
      <p:sp>
        <p:nvSpPr>
          <p:cNvPr id="8" name="Rectangle 3">
            <a:extLst>
              <a:ext uri="{FF2B5EF4-FFF2-40B4-BE49-F238E27FC236}">
                <a16:creationId xmlns:a16="http://schemas.microsoft.com/office/drawing/2014/main" id="{3B5EF66B-BD67-44AD-8F6E-A8E2EE8EE715}"/>
              </a:ext>
            </a:extLst>
          </p:cNvPr>
          <p:cNvSpPr txBox="1">
            <a:spLocks noChangeArrowheads="1"/>
          </p:cNvSpPr>
          <p:nvPr/>
        </p:nvSpPr>
        <p:spPr>
          <a:xfrm>
            <a:off x="593450" y="2801776"/>
            <a:ext cx="7690741" cy="283825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800"/>
              </a:lnSpc>
            </a:pPr>
            <a:r>
              <a:rPr lang="zh-CN" altLang="en-US" sz="2600" dirty="0">
                <a:latin typeface="微软雅黑" panose="020B0503020204020204" pitchFamily="34" charset="-122"/>
                <a:ea typeface="微软雅黑" panose="020B0503020204020204" pitchFamily="34" charset="-122"/>
              </a:rPr>
              <a:t>卫星通信又是宇宙无线电通信形式之一，而宇宙通信是指以宇宙飞行体为对象的无线电通信，它有</a:t>
            </a:r>
            <a:r>
              <a:rPr lang="zh-CN" altLang="en-US" sz="2600" b="1" dirty="0">
                <a:solidFill>
                  <a:srgbClr val="7030A0"/>
                </a:solidFill>
                <a:latin typeface="微软雅黑" panose="020B0503020204020204" pitchFamily="34" charset="-122"/>
                <a:ea typeface="微软雅黑" panose="020B0503020204020204" pitchFamily="34" charset="-122"/>
              </a:rPr>
              <a:t>三种形式</a:t>
            </a:r>
            <a:r>
              <a:rPr lang="zh-CN" altLang="en-US" sz="2600" dirty="0">
                <a:latin typeface="微软雅黑" panose="020B0503020204020204" pitchFamily="34" charset="-122"/>
                <a:ea typeface="微软雅黑" panose="020B0503020204020204" pitchFamily="34" charset="-122"/>
              </a:rPr>
              <a:t>：</a:t>
            </a:r>
          </a:p>
          <a:p>
            <a:pPr marL="0" lvl="3" indent="0">
              <a:lnSpc>
                <a:spcPts val="3800"/>
              </a:lnSpc>
              <a:buNone/>
            </a:pPr>
            <a:r>
              <a:rPr lang="zh-CN" altLang="en-US" sz="2600" dirty="0">
                <a:latin typeface="微软雅黑" panose="020B0503020204020204" pitchFamily="34" charset="-122"/>
                <a:ea typeface="微软雅黑" panose="020B0503020204020204" pitchFamily="34" charset="-122"/>
              </a:rPr>
              <a:t>（1）宇宙站与地球站之间通信；</a:t>
            </a:r>
          </a:p>
          <a:p>
            <a:pPr marL="0" lvl="3" indent="0">
              <a:lnSpc>
                <a:spcPts val="3800"/>
              </a:lnSpc>
              <a:buNone/>
            </a:pPr>
            <a:r>
              <a:rPr lang="zh-CN" altLang="en-US" sz="2600" dirty="0">
                <a:latin typeface="微软雅黑" panose="020B0503020204020204" pitchFamily="34" charset="-122"/>
                <a:ea typeface="微软雅黑" panose="020B0503020204020204" pitchFamily="34" charset="-122"/>
              </a:rPr>
              <a:t>（2）宇宙站之间通信；</a:t>
            </a:r>
            <a:endParaRPr lang="en-US" altLang="zh-CN" sz="2600" dirty="0">
              <a:latin typeface="微软雅黑" panose="020B0503020204020204" pitchFamily="34" charset="-122"/>
              <a:ea typeface="微软雅黑" panose="020B0503020204020204" pitchFamily="34" charset="-122"/>
            </a:endParaRPr>
          </a:p>
          <a:p>
            <a:pPr marL="0" lvl="3" indent="0">
              <a:lnSpc>
                <a:spcPts val="3800"/>
              </a:lnSpc>
              <a:buNone/>
            </a:pPr>
            <a:r>
              <a:rPr lang="zh-CN" altLang="en-US" sz="2600" dirty="0">
                <a:latin typeface="微软雅黑" panose="020B0503020204020204" pitchFamily="34" charset="-122"/>
                <a:ea typeface="微软雅黑" panose="020B0503020204020204" pitchFamily="34" charset="-122"/>
              </a:rPr>
              <a:t>（3）通过宇宙站转发</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反射进行地球站间通信</a:t>
            </a:r>
          </a:p>
        </p:txBody>
      </p:sp>
      <p:pic>
        <p:nvPicPr>
          <p:cNvPr id="10" name="图片 9">
            <a:extLst>
              <a:ext uri="{FF2B5EF4-FFF2-40B4-BE49-F238E27FC236}">
                <a16:creationId xmlns:a16="http://schemas.microsoft.com/office/drawing/2014/main" id="{62F6DF2E-2088-4DA1-9B9D-0FF7930EF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4191" y="2824682"/>
            <a:ext cx="3678463" cy="2857500"/>
          </a:xfrm>
          <a:prstGeom prst="rect">
            <a:avLst/>
          </a:prstGeom>
        </p:spPr>
      </p:pic>
      <p:sp>
        <p:nvSpPr>
          <p:cNvPr id="11" name="文本框 10">
            <a:extLst>
              <a:ext uri="{FF2B5EF4-FFF2-40B4-BE49-F238E27FC236}">
                <a16:creationId xmlns:a16="http://schemas.microsoft.com/office/drawing/2014/main" id="{C9ABEC33-03D7-4979-8626-3024388D9469}"/>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8318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5"/>
          <a:stretch>
            <a:fillRect/>
          </a:stretch>
        </p:blipFill>
        <p:spPr>
          <a:xfrm>
            <a:off x="6778703" y="3359883"/>
            <a:ext cx="4683195" cy="3223894"/>
          </a:xfrm>
          <a:prstGeom prst="rect">
            <a:avLst/>
          </a:prstGeom>
        </p:spPr>
      </p:pic>
      <p:sp>
        <p:nvSpPr>
          <p:cNvPr id="3" name="内容占位符 2">
            <a:extLst>
              <a:ext uri="{FF2B5EF4-FFF2-40B4-BE49-F238E27FC236}">
                <a16:creationId xmlns:a16="http://schemas.microsoft.com/office/drawing/2014/main" id="{AB5C7073-6D10-49F7-B4EF-B979934601C8}"/>
              </a:ext>
            </a:extLst>
          </p:cNvPr>
          <p:cNvSpPr>
            <a:spLocks noGrp="1"/>
          </p:cNvSpPr>
          <p:nvPr>
            <p:ph idx="1"/>
          </p:nvPr>
        </p:nvSpPr>
        <p:spPr>
          <a:xfrm>
            <a:off x="6643569" y="1463941"/>
            <a:ext cx="4818329" cy="1895942"/>
          </a:xfrm>
        </p:spPr>
        <p:txBody>
          <a:bodyPr>
            <a:normAutofit/>
          </a:bodyPr>
          <a:lstStyle/>
          <a:p>
            <a:pPr marL="0" indent="0" algn="just">
              <a:buNone/>
            </a:pPr>
            <a:r>
              <a:rPr lang="zh-CN" altLang="en-US" dirty="0">
                <a:solidFill>
                  <a:srgbClr val="C00000"/>
                </a:solidFill>
              </a:rPr>
              <a:t>同步卫星的配置</a:t>
            </a:r>
            <a:endParaRPr lang="en-US" altLang="zh-CN" dirty="0">
              <a:solidFill>
                <a:srgbClr val="C00000"/>
              </a:solidFill>
            </a:endParaRPr>
          </a:p>
          <a:p>
            <a:pPr algn="just">
              <a:lnSpc>
                <a:spcPct val="110000"/>
              </a:lnSpc>
            </a:pPr>
            <a:r>
              <a:rPr lang="zh-CN" altLang="en-US" sz="2400" dirty="0"/>
              <a:t>同步卫星在赤道上空</a:t>
            </a:r>
            <a:r>
              <a:rPr lang="en-US" altLang="zh-CN" sz="2400" dirty="0"/>
              <a:t>36000km</a:t>
            </a:r>
            <a:r>
              <a:rPr lang="zh-CN" altLang="en-US" sz="2400" dirty="0"/>
              <a:t>，三颗相距</a:t>
            </a:r>
            <a:r>
              <a:rPr lang="en-US" altLang="zh-CN" sz="2400" dirty="0"/>
              <a:t>120</a:t>
            </a:r>
            <a:r>
              <a:rPr lang="zh-CN" altLang="en-US" sz="2400" dirty="0"/>
              <a:t>度的卫星就能覆盖整个赤道圆周</a:t>
            </a:r>
          </a:p>
          <a:p>
            <a:pPr algn="just"/>
            <a:endParaRPr lang="zh-CN" altLang="en-US" dirty="0">
              <a:solidFill>
                <a:srgbClr val="C00000"/>
              </a:solidFill>
            </a:endParaRPr>
          </a:p>
          <a:p>
            <a:pPr marL="0" indent="0" algn="just">
              <a:buNone/>
            </a:pPr>
            <a:endParaRPr lang="zh-CN" altLang="en-US" dirty="0"/>
          </a:p>
        </p:txBody>
      </p:sp>
      <p:sp>
        <p:nvSpPr>
          <p:cNvPr id="4" name="灯片编号占位符 3">
            <a:extLst>
              <a:ext uri="{FF2B5EF4-FFF2-40B4-BE49-F238E27FC236}">
                <a16:creationId xmlns:a16="http://schemas.microsoft.com/office/drawing/2014/main" id="{B9A105DD-B912-4CEE-9DD4-C5702612FDB4}"/>
              </a:ext>
            </a:extLst>
          </p:cNvPr>
          <p:cNvSpPr>
            <a:spLocks noGrp="1"/>
          </p:cNvSpPr>
          <p:nvPr>
            <p:ph type="sldNum" sz="quarter" idx="12"/>
          </p:nvPr>
        </p:nvSpPr>
        <p:spPr/>
        <p:txBody>
          <a:bodyPr/>
          <a:lstStyle/>
          <a:p>
            <a:fld id="{8D4D1E41-7A09-AB4A-A4E1-09765ADA2698}" type="slidenum">
              <a:rPr kumimoji="1" lang="zh-CN" altLang="en-US" smtClean="0"/>
              <a:t>92</a:t>
            </a:fld>
            <a:endParaRPr kumimoji="1" lang="zh-CN" altLang="en-US" dirty="0"/>
          </a:p>
        </p:txBody>
      </p:sp>
      <p:sp>
        <p:nvSpPr>
          <p:cNvPr id="7" name="内容占位符 2">
            <a:extLst>
              <a:ext uri="{FF2B5EF4-FFF2-40B4-BE49-F238E27FC236}">
                <a16:creationId xmlns:a16="http://schemas.microsoft.com/office/drawing/2014/main" id="{6B2CD84D-7A75-49A7-899B-579A10D08C2F}"/>
              </a:ext>
            </a:extLst>
          </p:cNvPr>
          <p:cNvSpPr txBox="1">
            <a:spLocks/>
          </p:cNvSpPr>
          <p:nvPr/>
        </p:nvSpPr>
        <p:spPr>
          <a:xfrm>
            <a:off x="446568" y="1465613"/>
            <a:ext cx="5826642" cy="521026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None/>
            </a:pPr>
            <a:r>
              <a:rPr lang="zh-CN" altLang="en-US" dirty="0">
                <a:solidFill>
                  <a:srgbClr val="C00000"/>
                </a:solidFill>
              </a:rPr>
              <a:t>同步卫星通信</a:t>
            </a:r>
            <a:endParaRPr lang="en-US" altLang="zh-CN" dirty="0">
              <a:solidFill>
                <a:srgbClr val="C00000"/>
              </a:solidFill>
            </a:endParaRPr>
          </a:p>
          <a:p>
            <a:pPr algn="just">
              <a:lnSpc>
                <a:spcPct val="110000"/>
              </a:lnSpc>
            </a:pPr>
            <a:r>
              <a:rPr lang="zh-CN" altLang="en-US" sz="2400" dirty="0"/>
              <a:t>同步卫星有两种轨道：</a:t>
            </a:r>
            <a:endParaRPr lang="en-US" altLang="zh-CN" sz="2400" dirty="0"/>
          </a:p>
          <a:p>
            <a:pPr lvl="1" algn="just">
              <a:lnSpc>
                <a:spcPct val="110000"/>
              </a:lnSpc>
            </a:pPr>
            <a:r>
              <a:rPr lang="zh-CN" altLang="en-US" dirty="0"/>
              <a:t>地球同步轨道：</a:t>
            </a:r>
            <a:endParaRPr lang="en-US" altLang="zh-CN" dirty="0"/>
          </a:p>
          <a:p>
            <a:pPr lvl="2" algn="just">
              <a:lnSpc>
                <a:spcPct val="110000"/>
              </a:lnSpc>
            </a:pPr>
            <a:r>
              <a:rPr lang="zh-CN" altLang="en-US" dirty="0"/>
              <a:t>从地球上的特定位置观看时，地球同步轨道上的卫星经过一个恒星天后，会出现在天空中完全相同的位置</a:t>
            </a:r>
            <a:endParaRPr lang="en-US" altLang="zh-CN" dirty="0"/>
          </a:p>
          <a:p>
            <a:pPr lvl="2" algn="just">
              <a:lnSpc>
                <a:spcPct val="110000"/>
              </a:lnSpc>
            </a:pPr>
            <a:r>
              <a:rPr lang="zh-CN" altLang="en-US" dirty="0"/>
              <a:t>圆形的地球同步轨道的半径为</a:t>
            </a:r>
            <a:r>
              <a:rPr lang="en-US" altLang="zh-CN" dirty="0"/>
              <a:t>42,164km</a:t>
            </a:r>
          </a:p>
          <a:p>
            <a:pPr lvl="1" algn="just">
              <a:lnSpc>
                <a:spcPct val="110000"/>
              </a:lnSpc>
            </a:pPr>
            <a:r>
              <a:rPr lang="zh-CN" altLang="en-US" dirty="0"/>
              <a:t>地球静止轨道</a:t>
            </a:r>
            <a:endParaRPr lang="en-US" altLang="zh-CN" dirty="0"/>
          </a:p>
          <a:p>
            <a:pPr lvl="2" algn="just">
              <a:lnSpc>
                <a:spcPct val="110000"/>
              </a:lnSpc>
            </a:pPr>
            <a:r>
              <a:rPr lang="zh-CN" altLang="en-US" dirty="0"/>
              <a:t>在地球赤道上空约</a:t>
            </a:r>
            <a:r>
              <a:rPr lang="en-US" altLang="zh-CN" dirty="0"/>
              <a:t>36000km</a:t>
            </a:r>
            <a:r>
              <a:rPr lang="zh-CN" altLang="en-US" dirty="0"/>
              <a:t>的太空中围绕地球的圆形轨道</a:t>
            </a:r>
            <a:endParaRPr lang="en-US" altLang="zh-CN" dirty="0"/>
          </a:p>
          <a:p>
            <a:pPr lvl="2" algn="just">
              <a:lnSpc>
                <a:spcPct val="110000"/>
              </a:lnSpc>
            </a:pPr>
            <a:r>
              <a:rPr lang="zh-CN" altLang="en-US" dirty="0"/>
              <a:t>其绕地球运行周期为</a:t>
            </a:r>
            <a:r>
              <a:rPr lang="en-US" altLang="zh-CN" dirty="0"/>
              <a:t>1</a:t>
            </a:r>
            <a:r>
              <a:rPr lang="zh-CN" altLang="en-US" dirty="0"/>
              <a:t>恒星日，与地球自转同步</a:t>
            </a:r>
            <a:endParaRPr lang="zh-CN" altLang="en-US" sz="1400" dirty="0"/>
          </a:p>
        </p:txBody>
      </p:sp>
      <p:pic>
        <p:nvPicPr>
          <p:cNvPr id="8" name="同步卫星">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flipV="1">
            <a:off x="478483" y="2516339"/>
            <a:ext cx="5794727" cy="3359130"/>
          </a:xfrm>
          <a:prstGeom prst="rect">
            <a:avLst/>
          </a:prstGeom>
        </p:spPr>
      </p:pic>
      <p:sp>
        <p:nvSpPr>
          <p:cNvPr id="11" name="标题 1">
            <a:extLst>
              <a:ext uri="{FF2B5EF4-FFF2-40B4-BE49-F238E27FC236}">
                <a16:creationId xmlns:a16="http://schemas.microsoft.com/office/drawing/2014/main" id="{FA0B063A-ECE9-4FB5-BA02-140C365C7CC6}"/>
              </a:ext>
            </a:extLst>
          </p:cNvPr>
          <p:cNvSpPr>
            <a:spLocks noGrp="1"/>
          </p:cNvSpPr>
          <p:nvPr>
            <p:ph type="title"/>
          </p:nvPr>
        </p:nvSpPr>
        <p:spPr>
          <a:xfrm>
            <a:off x="1307508" y="365126"/>
            <a:ext cx="8220812" cy="879086"/>
          </a:xfrm>
        </p:spPr>
        <p:txBody>
          <a:bodyPr/>
          <a:lstStyle/>
          <a:p>
            <a:r>
              <a:rPr lang="zh-CN" altLang="en-US" dirty="0"/>
              <a:t>卫星通信的基本概念</a:t>
            </a:r>
          </a:p>
        </p:txBody>
      </p:sp>
      <p:sp>
        <p:nvSpPr>
          <p:cNvPr id="10" name="文本框 9">
            <a:extLst>
              <a:ext uri="{FF2B5EF4-FFF2-40B4-BE49-F238E27FC236}">
                <a16:creationId xmlns:a16="http://schemas.microsoft.com/office/drawing/2014/main" id="{1658BD85-6426-4839-A6D8-58F3D396BB67}"/>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985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8"/>
                </p:tgtEl>
              </p:cMediaNode>
            </p:video>
          </p:childTnLst>
        </p:cTn>
      </p:par>
    </p:tnLst>
    <p:bldLst>
      <p:bldP spid="3" grpId="0" uiExpand="1"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DD66CFE-5E92-4D7F-A42D-EF9BF007D958}"/>
              </a:ext>
            </a:extLst>
          </p:cNvPr>
          <p:cNvSpPr>
            <a:spLocks noGrp="1"/>
          </p:cNvSpPr>
          <p:nvPr>
            <p:ph type="sldNum" sz="quarter" idx="12"/>
          </p:nvPr>
        </p:nvSpPr>
        <p:spPr/>
        <p:txBody>
          <a:bodyPr/>
          <a:lstStyle/>
          <a:p>
            <a:fld id="{8D4D1E41-7A09-AB4A-A4E1-09765ADA2698}" type="slidenum">
              <a:rPr kumimoji="1" lang="zh-CN" altLang="en-US" smtClean="0"/>
              <a:t>93</a:t>
            </a:fld>
            <a:endParaRPr kumimoji="1" lang="zh-CN" altLang="en-US" dirty="0"/>
          </a:p>
        </p:txBody>
      </p:sp>
      <p:sp>
        <p:nvSpPr>
          <p:cNvPr id="6" name="内容占位符 2">
            <a:extLst>
              <a:ext uri="{FF2B5EF4-FFF2-40B4-BE49-F238E27FC236}">
                <a16:creationId xmlns:a16="http://schemas.microsoft.com/office/drawing/2014/main" id="{1577B0BC-A45F-47A2-B809-E8F56059BC3E}"/>
              </a:ext>
            </a:extLst>
          </p:cNvPr>
          <p:cNvSpPr>
            <a:spLocks noGrp="1"/>
          </p:cNvSpPr>
          <p:nvPr>
            <p:ph idx="1"/>
          </p:nvPr>
        </p:nvSpPr>
        <p:spPr>
          <a:xfrm>
            <a:off x="838200" y="1512312"/>
            <a:ext cx="10515600" cy="4919310"/>
          </a:xfrm>
        </p:spPr>
        <p:txBody>
          <a:bodyPr>
            <a:normAutofit fontScale="92500" lnSpcReduction="20000"/>
          </a:bodyPr>
          <a:lstStyle/>
          <a:p>
            <a:pPr>
              <a:lnSpc>
                <a:spcPct val="110000"/>
              </a:lnSpc>
            </a:pPr>
            <a:r>
              <a:rPr lang="zh-CN" altLang="en-US" i="0" dirty="0">
                <a:solidFill>
                  <a:srgbClr val="5B307E"/>
                </a:solidFill>
                <a:latin typeface="Times New Roman" panose="02020603050405020304" pitchFamily="18" charset="0"/>
              </a:rPr>
              <a:t>卫星通信的特点</a:t>
            </a:r>
            <a:endParaRPr lang="en-US" altLang="zh-CN" dirty="0">
              <a:solidFill>
                <a:srgbClr val="5B307E"/>
              </a:solidFill>
              <a:latin typeface="Times New Roman" panose="02020603050405020304" pitchFamily="18" charset="0"/>
            </a:endParaRPr>
          </a:p>
          <a:p>
            <a:pPr lvl="1">
              <a:lnSpc>
                <a:spcPct val="120000"/>
              </a:lnSpc>
            </a:pPr>
            <a:r>
              <a:rPr lang="zh-CN" altLang="en-US" i="0" dirty="0">
                <a:latin typeface="Times New Roman" panose="02020603050405020304" pitchFamily="18" charset="0"/>
              </a:rPr>
              <a:t>传播时延长，从一个地球站经卫星到另一个地球站的电波传播传播时间约需</a:t>
            </a:r>
            <a:r>
              <a:rPr lang="en-US" altLang="zh-CN" i="0" dirty="0">
                <a:latin typeface="Times New Roman" panose="02020603050405020304" pitchFamily="18" charset="0"/>
              </a:rPr>
              <a:t>240</a:t>
            </a:r>
            <a:r>
              <a:rPr lang="zh-CN" altLang="en-US" i="0" dirty="0">
                <a:latin typeface="Times New Roman" panose="02020603050405020304" pitchFamily="18" charset="0"/>
              </a:rPr>
              <a:t>～</a:t>
            </a:r>
            <a:r>
              <a:rPr lang="en-US" altLang="zh-CN" i="0" dirty="0">
                <a:latin typeface="Times New Roman" panose="02020603050405020304" pitchFamily="18" charset="0"/>
              </a:rPr>
              <a:t>280ms</a:t>
            </a:r>
            <a:r>
              <a:rPr lang="zh-CN" altLang="en-US" i="0" dirty="0">
                <a:latin typeface="Times New Roman" panose="02020603050405020304" pitchFamily="18" charset="0"/>
              </a:rPr>
              <a:t>（可取</a:t>
            </a:r>
            <a:r>
              <a:rPr lang="en-US" altLang="zh-CN" i="0" dirty="0">
                <a:latin typeface="Times New Roman" panose="02020603050405020304" pitchFamily="18" charset="0"/>
              </a:rPr>
              <a:t>270ms</a:t>
            </a:r>
            <a:r>
              <a:rPr lang="zh-CN" altLang="en-US" i="0" dirty="0">
                <a:latin typeface="Times New Roman" panose="02020603050405020304" pitchFamily="18" charset="0"/>
              </a:rPr>
              <a:t>）</a:t>
            </a:r>
            <a:endParaRPr lang="zh-CN" altLang="en-US" dirty="0">
              <a:latin typeface="Times New Roman" panose="02020603050405020304" pitchFamily="18" charset="0"/>
            </a:endParaRPr>
          </a:p>
          <a:p>
            <a:pPr lvl="1">
              <a:lnSpc>
                <a:spcPct val="110000"/>
              </a:lnSpc>
            </a:pPr>
            <a:r>
              <a:rPr lang="zh-CN" altLang="en-US" i="0" dirty="0">
                <a:latin typeface="Times New Roman" panose="02020603050405020304" pitchFamily="18" charset="0"/>
              </a:rPr>
              <a:t>传播损耗大，达</a:t>
            </a:r>
            <a:r>
              <a:rPr lang="en-US" altLang="zh-CN" i="0" dirty="0">
                <a:latin typeface="Times New Roman" panose="02020603050405020304" pitchFamily="18" charset="0"/>
              </a:rPr>
              <a:t>200dB</a:t>
            </a:r>
            <a:r>
              <a:rPr lang="zh-CN" altLang="en-US" i="0" dirty="0">
                <a:latin typeface="Times New Roman" panose="02020603050405020304" pitchFamily="18" charset="0"/>
              </a:rPr>
              <a:t>左右</a:t>
            </a:r>
            <a:endParaRPr lang="zh-CN" altLang="en-US" dirty="0">
              <a:latin typeface="Times New Roman" panose="02020603050405020304" pitchFamily="18" charset="0"/>
            </a:endParaRPr>
          </a:p>
          <a:p>
            <a:pPr lvl="1">
              <a:lnSpc>
                <a:spcPct val="110000"/>
              </a:lnSpc>
            </a:pPr>
            <a:r>
              <a:rPr lang="zh-CN" altLang="en-US" i="0" dirty="0">
                <a:latin typeface="Times New Roman" panose="02020603050405020304" pitchFamily="18" charset="0"/>
              </a:rPr>
              <a:t>受大气层的影响大</a:t>
            </a:r>
            <a:endParaRPr lang="zh-CN" altLang="en-US" dirty="0">
              <a:latin typeface="Times New Roman" panose="02020603050405020304" pitchFamily="18" charset="0"/>
            </a:endParaRPr>
          </a:p>
          <a:p>
            <a:pPr lvl="1">
              <a:lnSpc>
                <a:spcPct val="110000"/>
              </a:lnSpc>
            </a:pPr>
            <a:r>
              <a:rPr lang="zh-CN" altLang="en-US" i="0" dirty="0">
                <a:latin typeface="Times New Roman" panose="02020603050405020304" pitchFamily="18" charset="0"/>
              </a:rPr>
              <a:t>“面覆盖”式的传播信道</a:t>
            </a:r>
            <a:endParaRPr lang="en-US" altLang="zh-CN" i="0" dirty="0">
              <a:latin typeface="Times New Roman" panose="02020603050405020304" pitchFamily="18" charset="0"/>
            </a:endParaRPr>
          </a:p>
          <a:p>
            <a:pPr>
              <a:lnSpc>
                <a:spcPct val="120000"/>
              </a:lnSpc>
            </a:pPr>
            <a:r>
              <a:rPr lang="zh-CN" altLang="en-US" dirty="0">
                <a:solidFill>
                  <a:srgbClr val="5B307E"/>
                </a:solidFill>
              </a:rPr>
              <a:t>卫星通信的缺点</a:t>
            </a:r>
            <a:endParaRPr lang="en-US" altLang="zh-CN" dirty="0">
              <a:solidFill>
                <a:srgbClr val="5B307E"/>
              </a:solidFill>
            </a:endParaRPr>
          </a:p>
          <a:p>
            <a:pPr lvl="1">
              <a:lnSpc>
                <a:spcPct val="120000"/>
              </a:lnSpc>
            </a:pPr>
            <a:r>
              <a:rPr lang="zh-CN" altLang="en-US" dirty="0"/>
              <a:t>传输时延大：</a:t>
            </a:r>
            <a:r>
              <a:rPr lang="en-US" altLang="zh-CN" dirty="0"/>
              <a:t>500</a:t>
            </a:r>
            <a:r>
              <a:rPr lang="zh-CN" altLang="en-US" dirty="0"/>
              <a:t>毫秒</a:t>
            </a:r>
            <a:r>
              <a:rPr lang="en-US" altLang="zh-CN" dirty="0"/>
              <a:t>~800</a:t>
            </a:r>
            <a:r>
              <a:rPr lang="zh-CN" altLang="en-US" dirty="0"/>
              <a:t>毫秒的时延</a:t>
            </a:r>
          </a:p>
          <a:p>
            <a:pPr lvl="1">
              <a:lnSpc>
                <a:spcPct val="120000"/>
              </a:lnSpc>
            </a:pPr>
            <a:r>
              <a:rPr lang="zh-CN" altLang="en-US" dirty="0"/>
              <a:t>高纬度地区难以实现卫星通信</a:t>
            </a:r>
          </a:p>
          <a:p>
            <a:pPr lvl="1">
              <a:lnSpc>
                <a:spcPct val="120000"/>
              </a:lnSpc>
            </a:pPr>
            <a:r>
              <a:rPr lang="zh-CN" altLang="en-US" dirty="0"/>
              <a:t>为了避免各卫星通信系统之间的相互干扰，</a:t>
            </a:r>
            <a:r>
              <a:rPr lang="zh-CN" altLang="en-US" dirty="0">
                <a:solidFill>
                  <a:srgbClr val="C00000"/>
                </a:solidFill>
              </a:rPr>
              <a:t>同步轨道的星位</a:t>
            </a:r>
            <a:r>
              <a:rPr lang="zh-CN" altLang="en-US" dirty="0"/>
              <a:t>是有一点限度的，不能无限制地增加卫星数量</a:t>
            </a:r>
          </a:p>
          <a:p>
            <a:pPr lvl="1">
              <a:lnSpc>
                <a:spcPct val="120000"/>
              </a:lnSpc>
            </a:pPr>
            <a:r>
              <a:rPr lang="zh-CN" altLang="en-US" dirty="0"/>
              <a:t>太空中的日凌现象和星食现象会中断和影响卫星通信</a:t>
            </a:r>
          </a:p>
          <a:p>
            <a:pPr marL="914400" lvl="1" indent="-457200">
              <a:lnSpc>
                <a:spcPct val="110000"/>
              </a:lnSpc>
              <a:buFont typeface="+mj-ea"/>
              <a:buAutoNum type="circleNumDbPlain"/>
            </a:pPr>
            <a:endParaRPr lang="zh-CN" altLang="en-US" dirty="0">
              <a:latin typeface="Times New Roman" panose="02020603050405020304" pitchFamily="18" charset="0"/>
            </a:endParaRPr>
          </a:p>
          <a:p>
            <a:pPr marL="914400" lvl="1" indent="-457200">
              <a:buFont typeface="+mj-ea"/>
              <a:buAutoNum type="circleNumDbPlain"/>
            </a:pPr>
            <a:endParaRPr lang="zh-CN" altLang="en-US" dirty="0"/>
          </a:p>
          <a:p>
            <a:endParaRPr lang="zh-CN" altLang="en-US" dirty="0"/>
          </a:p>
          <a:p>
            <a:pPr marL="245700" indent="-342900">
              <a:lnSpc>
                <a:spcPct val="110000"/>
              </a:lnSpc>
            </a:pPr>
            <a:endParaRPr lang="zh-CN" altLang="en-US" sz="2400" dirty="0"/>
          </a:p>
          <a:p>
            <a:pPr marL="360000" lvl="1" indent="0">
              <a:lnSpc>
                <a:spcPct val="110000"/>
              </a:lnSpc>
              <a:buNone/>
            </a:pPr>
            <a:endParaRPr lang="en-US" altLang="zh-CN" sz="2000" dirty="0"/>
          </a:p>
        </p:txBody>
      </p:sp>
      <p:pic>
        <p:nvPicPr>
          <p:cNvPr id="5" name="图片 4">
            <a:extLst>
              <a:ext uri="{FF2B5EF4-FFF2-40B4-BE49-F238E27FC236}">
                <a16:creationId xmlns:a16="http://schemas.microsoft.com/office/drawing/2014/main" id="{E8E14FFC-815B-4EB0-8917-C289AC2DCA95}"/>
              </a:ext>
            </a:extLst>
          </p:cNvPr>
          <p:cNvPicPr>
            <a:picLocks noChangeAspect="1"/>
          </p:cNvPicPr>
          <p:nvPr/>
        </p:nvPicPr>
        <p:blipFill rotWithShape="1">
          <a:blip r:embed="rId2"/>
          <a:srcRect l="15720" t="13414" r="6880"/>
          <a:stretch/>
        </p:blipFill>
        <p:spPr>
          <a:xfrm>
            <a:off x="7781544" y="2509924"/>
            <a:ext cx="3867912" cy="2213972"/>
          </a:xfrm>
          <a:prstGeom prst="rect">
            <a:avLst/>
          </a:prstGeom>
        </p:spPr>
      </p:pic>
      <p:sp>
        <p:nvSpPr>
          <p:cNvPr id="9" name="标题 1">
            <a:extLst>
              <a:ext uri="{FF2B5EF4-FFF2-40B4-BE49-F238E27FC236}">
                <a16:creationId xmlns:a16="http://schemas.microsoft.com/office/drawing/2014/main" id="{60E625BC-D845-4361-89CA-571F9B13E573}"/>
              </a:ext>
            </a:extLst>
          </p:cNvPr>
          <p:cNvSpPr>
            <a:spLocks noGrp="1"/>
          </p:cNvSpPr>
          <p:nvPr>
            <p:ph type="title"/>
          </p:nvPr>
        </p:nvSpPr>
        <p:spPr>
          <a:xfrm>
            <a:off x="1307508" y="365126"/>
            <a:ext cx="8220812" cy="879086"/>
          </a:xfrm>
        </p:spPr>
        <p:txBody>
          <a:bodyPr/>
          <a:lstStyle/>
          <a:p>
            <a:r>
              <a:rPr lang="zh-CN" altLang="en-US" dirty="0"/>
              <a:t>卫星通信的基本概念</a:t>
            </a:r>
          </a:p>
        </p:txBody>
      </p:sp>
      <p:sp>
        <p:nvSpPr>
          <p:cNvPr id="7" name="文本框 6">
            <a:extLst>
              <a:ext uri="{FF2B5EF4-FFF2-40B4-BE49-F238E27FC236}">
                <a16:creationId xmlns:a16="http://schemas.microsoft.com/office/drawing/2014/main" id="{32C34B50-0B0F-4A93-B795-5363C11E7170}"/>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154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060A5DDD-BD97-4D80-A6E6-891F18564818}"/>
              </a:ext>
            </a:extLst>
          </p:cNvPr>
          <p:cNvPicPr>
            <a:picLocks noChangeAspect="1"/>
          </p:cNvPicPr>
          <p:nvPr/>
        </p:nvPicPr>
        <p:blipFill>
          <a:blip r:embed="rId2"/>
          <a:stretch>
            <a:fillRect/>
          </a:stretch>
        </p:blipFill>
        <p:spPr>
          <a:xfrm>
            <a:off x="10077570" y="1512132"/>
            <a:ext cx="1781407" cy="4641465"/>
          </a:xfrm>
          <a:prstGeom prst="rect">
            <a:avLst/>
          </a:prstGeom>
        </p:spPr>
      </p:pic>
      <p:sp>
        <p:nvSpPr>
          <p:cNvPr id="21" name="文本框 20">
            <a:extLst>
              <a:ext uri="{FF2B5EF4-FFF2-40B4-BE49-F238E27FC236}">
                <a16:creationId xmlns:a16="http://schemas.microsoft.com/office/drawing/2014/main" id="{F6459123-C226-4047-A64C-E06B8128C44D}"/>
              </a:ext>
            </a:extLst>
          </p:cNvPr>
          <p:cNvSpPr txBox="1"/>
          <p:nvPr/>
        </p:nvSpPr>
        <p:spPr>
          <a:xfrm>
            <a:off x="7606819" y="6315308"/>
            <a:ext cx="208280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一箭</a:t>
            </a:r>
            <a:r>
              <a:rPr lang="en-US" altLang="zh-CN" sz="2000" dirty="0">
                <a:latin typeface="微软雅黑" panose="020B0503020204020204" pitchFamily="34" charset="-122"/>
                <a:ea typeface="微软雅黑" panose="020B0503020204020204" pitchFamily="34" charset="-122"/>
              </a:rPr>
              <a:t>60</a:t>
            </a:r>
            <a:r>
              <a:rPr lang="zh-CN" altLang="en-US" sz="2000" dirty="0">
                <a:latin typeface="微软雅黑" panose="020B0503020204020204" pitchFamily="34" charset="-122"/>
                <a:ea typeface="微软雅黑" panose="020B0503020204020204" pitchFamily="34" charset="-122"/>
              </a:rPr>
              <a:t>星示意图</a:t>
            </a:r>
          </a:p>
        </p:txBody>
      </p:sp>
      <p:sp>
        <p:nvSpPr>
          <p:cNvPr id="22" name="文本框 21">
            <a:extLst>
              <a:ext uri="{FF2B5EF4-FFF2-40B4-BE49-F238E27FC236}">
                <a16:creationId xmlns:a16="http://schemas.microsoft.com/office/drawing/2014/main" id="{6E687294-04C6-4685-B57C-B30AD1A0D2C4}"/>
              </a:ext>
            </a:extLst>
          </p:cNvPr>
          <p:cNvSpPr txBox="1"/>
          <p:nvPr/>
        </p:nvSpPr>
        <p:spPr>
          <a:xfrm>
            <a:off x="10189916" y="6315308"/>
            <a:ext cx="2082800"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猎鹰</a:t>
            </a:r>
            <a:r>
              <a:rPr lang="en-US" altLang="zh-CN" sz="2000" dirty="0">
                <a:latin typeface="微软雅黑" panose="020B0503020204020204" pitchFamily="34" charset="-122"/>
                <a:ea typeface="微软雅黑" panose="020B0503020204020204" pitchFamily="34" charset="-122"/>
              </a:rPr>
              <a:t>9</a:t>
            </a:r>
            <a:r>
              <a:rPr lang="zh-CN" altLang="en-US" sz="2000" dirty="0">
                <a:latin typeface="微软雅黑" panose="020B0503020204020204" pitchFamily="34" charset="-122"/>
                <a:ea typeface="微软雅黑" panose="020B0503020204020204" pitchFamily="34" charset="-122"/>
              </a:rPr>
              <a:t>号火箭</a:t>
            </a:r>
          </a:p>
        </p:txBody>
      </p:sp>
      <p:pic>
        <p:nvPicPr>
          <p:cNvPr id="24" name="图片 23">
            <a:extLst>
              <a:ext uri="{FF2B5EF4-FFF2-40B4-BE49-F238E27FC236}">
                <a16:creationId xmlns:a16="http://schemas.microsoft.com/office/drawing/2014/main" id="{1ACEB9BB-E846-4216-B594-61FD14570084}"/>
              </a:ext>
            </a:extLst>
          </p:cNvPr>
          <p:cNvPicPr>
            <a:picLocks noChangeAspect="1"/>
          </p:cNvPicPr>
          <p:nvPr/>
        </p:nvPicPr>
        <p:blipFill>
          <a:blip r:embed="rId3"/>
          <a:stretch>
            <a:fillRect/>
          </a:stretch>
        </p:blipFill>
        <p:spPr>
          <a:xfrm>
            <a:off x="7508446" y="1596304"/>
            <a:ext cx="2720441" cy="4557293"/>
          </a:xfrm>
          <a:prstGeom prst="rect">
            <a:avLst/>
          </a:prstGeom>
        </p:spPr>
      </p:pic>
      <p:sp>
        <p:nvSpPr>
          <p:cNvPr id="14" name="标题 1">
            <a:extLst>
              <a:ext uri="{FF2B5EF4-FFF2-40B4-BE49-F238E27FC236}">
                <a16:creationId xmlns:a16="http://schemas.microsoft.com/office/drawing/2014/main" id="{FE4BA429-23D1-4C51-AA79-E7BC1F701CAD}"/>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6" name="文本框 15">
            <a:extLst>
              <a:ext uri="{FF2B5EF4-FFF2-40B4-BE49-F238E27FC236}">
                <a16:creationId xmlns:a16="http://schemas.microsoft.com/office/drawing/2014/main" id="{FFA0E9B5-C750-4D37-85A5-B9B837938AF7}"/>
              </a:ext>
            </a:extLst>
          </p:cNvPr>
          <p:cNvSpPr txBox="1"/>
          <p:nvPr/>
        </p:nvSpPr>
        <p:spPr>
          <a:xfrm>
            <a:off x="622694" y="1244212"/>
            <a:ext cx="6885752" cy="6130268"/>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2015</a:t>
            </a:r>
            <a:r>
              <a:rPr lang="zh-CN" altLang="en-US" sz="2200" dirty="0">
                <a:latin typeface="微软雅黑" panose="020B0503020204020204" pitchFamily="34" charset="-122"/>
                <a:ea typeface="微软雅黑" panose="020B0503020204020204" pitchFamily="34" charset="-122"/>
              </a:rPr>
              <a:t>年</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月，马斯克宣布</a:t>
            </a:r>
            <a:r>
              <a:rPr lang="en-US" altLang="zh-CN" sz="2200" dirty="0">
                <a:latin typeface="微软雅黑" panose="020B0503020204020204" pitchFamily="34" charset="-122"/>
                <a:ea typeface="微软雅黑" panose="020B0503020204020204" pitchFamily="34" charset="-122"/>
              </a:rPr>
              <a:t>SpaceX</a:t>
            </a:r>
            <a:r>
              <a:rPr lang="zh-CN" altLang="en-US" sz="2200" dirty="0">
                <a:latin typeface="微软雅黑" panose="020B0503020204020204" pitchFamily="34" charset="-122"/>
                <a:ea typeface="微软雅黑" panose="020B0503020204020204" pitchFamily="34" charset="-122"/>
              </a:rPr>
              <a:t>计划将约</a:t>
            </a:r>
            <a:r>
              <a:rPr lang="en-US" altLang="zh-CN" sz="2200" dirty="0">
                <a:latin typeface="微软雅黑" panose="020B0503020204020204" pitchFamily="34" charset="-122"/>
                <a:ea typeface="微软雅黑" panose="020B0503020204020204" pitchFamily="34" charset="-122"/>
              </a:rPr>
              <a:t>1.2</a:t>
            </a:r>
            <a:r>
              <a:rPr lang="zh-CN" altLang="en-US" sz="2200" dirty="0">
                <a:latin typeface="微软雅黑" panose="020B0503020204020204" pitchFamily="34" charset="-122"/>
                <a:ea typeface="微软雅黑" panose="020B0503020204020204" pitchFamily="34" charset="-122"/>
              </a:rPr>
              <a:t>万颗通信卫星发射到轨道，这一项目被命名为“星链”（</a:t>
            </a:r>
            <a:r>
              <a:rPr lang="en-US" altLang="zh-CN" sz="2200" dirty="0" err="1">
                <a:latin typeface="微软雅黑" panose="020B0503020204020204" pitchFamily="34" charset="-122"/>
                <a:ea typeface="微软雅黑" panose="020B0503020204020204" pitchFamily="34" charset="-122"/>
              </a:rPr>
              <a:t>Starlink</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2019</a:t>
            </a:r>
            <a:r>
              <a:rPr lang="zh-CN" altLang="en-US" sz="2200" dirty="0">
                <a:latin typeface="微软雅黑" panose="020B0503020204020204" pitchFamily="34" charset="-122"/>
                <a:ea typeface="微软雅黑" panose="020B0503020204020204" pitchFamily="34" charset="-122"/>
              </a:rPr>
              <a:t>年</a:t>
            </a:r>
            <a:r>
              <a:rPr lang="en-US" altLang="zh-CN" sz="2200" dirty="0">
                <a:latin typeface="微软雅黑" panose="020B0503020204020204" pitchFamily="34" charset="-122"/>
                <a:ea typeface="微软雅黑" panose="020B0503020204020204" pitchFamily="34" charset="-122"/>
              </a:rPr>
              <a:t>5</a:t>
            </a:r>
            <a:r>
              <a:rPr lang="zh-CN" altLang="en-US" sz="2200" dirty="0">
                <a:latin typeface="微软雅黑" panose="020B0503020204020204" pitchFamily="34" charset="-122"/>
                <a:ea typeface="微软雅黑" panose="020B0503020204020204" pitchFamily="34" charset="-122"/>
              </a:rPr>
              <a:t>月，</a:t>
            </a:r>
            <a:r>
              <a:rPr lang="en-US" altLang="zh-CN" sz="2200" dirty="0">
                <a:latin typeface="微软雅黑" panose="020B0503020204020204" pitchFamily="34" charset="-122"/>
                <a:ea typeface="微软雅黑" panose="020B0503020204020204" pitchFamily="34" charset="-122"/>
              </a:rPr>
              <a:t>SpaceX </a:t>
            </a:r>
            <a:r>
              <a:rPr lang="zh-CN" altLang="en-US" sz="2200" dirty="0">
                <a:latin typeface="微软雅黑" panose="020B0503020204020204" pitchFamily="34" charset="-122"/>
                <a:ea typeface="微软雅黑" panose="020B0503020204020204" pitchFamily="34" charset="-122"/>
              </a:rPr>
              <a:t>利用猎鹰</a:t>
            </a:r>
            <a:r>
              <a:rPr lang="en-US" altLang="zh-CN" sz="2200" dirty="0">
                <a:latin typeface="微软雅黑" panose="020B0503020204020204" pitchFamily="34" charset="-122"/>
                <a:ea typeface="微软雅黑" panose="020B0503020204020204" pitchFamily="34" charset="-122"/>
              </a:rPr>
              <a:t>9</a:t>
            </a:r>
            <a:r>
              <a:rPr lang="zh-CN" altLang="en-US" sz="2200" dirty="0">
                <a:latin typeface="微软雅黑" panose="020B0503020204020204" pitchFamily="34" charset="-122"/>
                <a:ea typeface="微软雅黑" panose="020B0503020204020204" pitchFamily="34" charset="-122"/>
              </a:rPr>
              <a:t>号运载火箭成功将“星链”首批</a:t>
            </a:r>
            <a:r>
              <a:rPr lang="en-US" altLang="zh-CN" sz="2200" dirty="0">
                <a:latin typeface="微软雅黑" panose="020B0503020204020204" pitchFamily="34" charset="-122"/>
                <a:ea typeface="微软雅黑" panose="020B0503020204020204" pitchFamily="34" charset="-122"/>
              </a:rPr>
              <a:t>60</a:t>
            </a:r>
            <a:r>
              <a:rPr lang="zh-CN" altLang="en-US" sz="2200" dirty="0">
                <a:latin typeface="微软雅黑" panose="020B0503020204020204" pitchFamily="34" charset="-122"/>
                <a:ea typeface="微软雅黑" panose="020B0503020204020204" pitchFamily="34" charset="-122"/>
              </a:rPr>
              <a:t>颗卫星送入轨道。</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2021</a:t>
            </a:r>
            <a:r>
              <a:rPr lang="zh-CN" altLang="en-US" sz="2200" dirty="0">
                <a:latin typeface="微软雅黑" panose="020B0503020204020204" pitchFamily="34" charset="-122"/>
                <a:ea typeface="微软雅黑" panose="020B0503020204020204" pitchFamily="34" charset="-122"/>
              </a:rPr>
              <a:t>年</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月，</a:t>
            </a:r>
            <a:r>
              <a:rPr lang="en-US" altLang="zh-CN" sz="2200" dirty="0">
                <a:latin typeface="微软雅黑" panose="020B0503020204020204" pitchFamily="34" charset="-122"/>
                <a:ea typeface="微软雅黑" panose="020B0503020204020204" pitchFamily="34" charset="-122"/>
              </a:rPr>
              <a:t>SpaceX </a:t>
            </a:r>
            <a:r>
              <a:rPr lang="zh-CN" altLang="en-US" sz="2200" dirty="0">
                <a:latin typeface="微软雅黑" panose="020B0503020204020204" pitchFamily="34" charset="-122"/>
                <a:ea typeface="微软雅黑" panose="020B0503020204020204" pitchFamily="34" charset="-122"/>
              </a:rPr>
              <a:t>发射了 </a:t>
            </a:r>
            <a:r>
              <a:rPr lang="en-US" altLang="zh-CN" sz="2200" dirty="0">
                <a:latin typeface="微软雅黑" panose="020B0503020204020204" pitchFamily="34" charset="-122"/>
                <a:ea typeface="微软雅黑" panose="020B0503020204020204" pitchFamily="34" charset="-122"/>
              </a:rPr>
              <a:t>60 </a:t>
            </a:r>
            <a:r>
              <a:rPr lang="zh-CN" altLang="en-US" sz="2200" dirty="0">
                <a:latin typeface="微软雅黑" panose="020B0503020204020204" pitchFamily="34" charset="-122"/>
                <a:ea typeface="微软雅黑" panose="020B0503020204020204" pitchFamily="34" charset="-122"/>
              </a:rPr>
              <a:t>颗星链互联网卫星（</a:t>
            </a:r>
            <a:r>
              <a:rPr lang="en-US" altLang="zh-CN" sz="2200" dirty="0" err="1">
                <a:latin typeface="微软雅黑" panose="020B0503020204020204" pitchFamily="34" charset="-122"/>
                <a:ea typeface="微软雅黑" panose="020B0503020204020204" pitchFamily="34" charset="-122"/>
              </a:rPr>
              <a:t>Starlink</a:t>
            </a:r>
            <a:r>
              <a:rPr lang="en-US" altLang="zh-CN" sz="2200" dirty="0">
                <a:latin typeface="微软雅黑" panose="020B0503020204020204" pitchFamily="34" charset="-122"/>
                <a:ea typeface="微软雅黑" panose="020B0503020204020204" pitchFamily="34" charset="-122"/>
              </a:rPr>
              <a:t> satellites</a:t>
            </a:r>
            <a:r>
              <a:rPr lang="zh-CN" altLang="en-US" sz="2200" dirty="0">
                <a:latin typeface="微软雅黑" panose="020B0503020204020204" pitchFamily="34" charset="-122"/>
                <a:ea typeface="微软雅黑" panose="020B0503020204020204" pitchFamily="34" charset="-122"/>
              </a:rPr>
              <a:t>）进入轨道，这是猎鹰</a:t>
            </a:r>
            <a:r>
              <a:rPr lang="en-US" altLang="zh-CN" sz="2200" dirty="0">
                <a:latin typeface="微软雅黑" panose="020B0503020204020204" pitchFamily="34" charset="-122"/>
                <a:ea typeface="微软雅黑" panose="020B0503020204020204" pitchFamily="34" charset="-122"/>
              </a:rPr>
              <a:t>9</a:t>
            </a:r>
            <a:r>
              <a:rPr lang="zh-CN" altLang="en-US" sz="2200" dirty="0">
                <a:latin typeface="微软雅黑" panose="020B0503020204020204" pitchFamily="34" charset="-122"/>
                <a:ea typeface="微软雅黑" panose="020B0503020204020204" pitchFamily="34" charset="-122"/>
              </a:rPr>
              <a:t>号火箭的第 </a:t>
            </a:r>
            <a:r>
              <a:rPr lang="en-US" altLang="zh-CN" sz="2200" dirty="0">
                <a:latin typeface="微软雅黑" panose="020B0503020204020204" pitchFamily="34" charset="-122"/>
                <a:ea typeface="微软雅黑" panose="020B0503020204020204" pitchFamily="34" charset="-122"/>
              </a:rPr>
              <a:t>50 </a:t>
            </a:r>
            <a:r>
              <a:rPr lang="zh-CN" altLang="en-US" sz="2200" dirty="0">
                <a:latin typeface="微软雅黑" panose="020B0503020204020204" pitchFamily="34" charset="-122"/>
                <a:ea typeface="微软雅黑" panose="020B0503020204020204" pitchFamily="34" charset="-122"/>
              </a:rPr>
              <a:t>次发射</a:t>
            </a:r>
            <a:endParaRPr lang="en-US" altLang="zh-CN" sz="2200" dirty="0">
              <a:latin typeface="微软雅黑" panose="020B0503020204020204" pitchFamily="34" charset="-122"/>
              <a:ea typeface="微软雅黑" panose="020B0503020204020204" pitchFamily="34" charset="-122"/>
            </a:endParaRPr>
          </a:p>
          <a:p>
            <a:pPr marL="342900" indent="-342900">
              <a:lnSpc>
                <a:spcPct val="150000"/>
              </a:lnSpc>
              <a:buFont typeface="Wingdings" pitchFamily="2" charset="2"/>
              <a:buChar char="Ø"/>
            </a:pPr>
            <a:r>
              <a:rPr lang="zh-CN" altLang="en-US" sz="2400" dirty="0">
                <a:latin typeface="微软雅黑" panose="020B0503020204020204" pitchFamily="34" charset="-122"/>
                <a:ea typeface="微软雅黑" panose="020B0503020204020204" pitchFamily="34" charset="-122"/>
              </a:rPr>
              <a:t>目前星链卫星互联网服务已经拥有</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万多名用户</a:t>
            </a:r>
          </a:p>
          <a:p>
            <a:pPr lvl="1">
              <a:lnSpc>
                <a:spcPct val="150000"/>
              </a:lnSpc>
            </a:pPr>
            <a:endParaRPr lang="en-US" altLang="zh-CN" sz="2200" dirty="0">
              <a:latin typeface="微软雅黑" panose="020B0503020204020204" pitchFamily="34" charset="-122"/>
              <a:ea typeface="微软雅黑" panose="020B0503020204020204" pitchFamily="34" charset="-122"/>
            </a:endParaRPr>
          </a:p>
          <a:p>
            <a:pPr marL="342900" indent="-342900">
              <a:lnSpc>
                <a:spcPct val="130000"/>
              </a:lnSpc>
              <a:buFont typeface="Wingdings" panose="05000000000000000000" pitchFamily="2" charset="2"/>
              <a:buChar char="Ø"/>
            </a:pPr>
            <a:endParaRPr lang="zh-CN" altLang="en-US" sz="2400" b="1" dirty="0">
              <a:solidFill>
                <a:srgbClr val="7030A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F7B2AD1-A065-430D-8FCD-4F51BADA4C00}"/>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251768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D631C0B-FA56-417F-B492-8E3A9765F24D}"/>
              </a:ext>
            </a:extLst>
          </p:cNvPr>
          <p:cNvSpPr>
            <a:spLocks noGrp="1"/>
          </p:cNvSpPr>
          <p:nvPr>
            <p:ph type="sldNum" sz="quarter" idx="12"/>
          </p:nvPr>
        </p:nvSpPr>
        <p:spPr/>
        <p:txBody>
          <a:bodyPr/>
          <a:lstStyle/>
          <a:p>
            <a:fld id="{8D4D1E41-7A09-AB4A-A4E1-09765ADA2698}" type="slidenum">
              <a:rPr kumimoji="1" lang="zh-CN" altLang="en-US" smtClean="0"/>
              <a:t>95</a:t>
            </a:fld>
            <a:endParaRPr kumimoji="1" lang="zh-CN" altLang="en-US" dirty="0"/>
          </a:p>
        </p:txBody>
      </p:sp>
      <p:sp>
        <p:nvSpPr>
          <p:cNvPr id="7" name="文本框 6">
            <a:extLst>
              <a:ext uri="{FF2B5EF4-FFF2-40B4-BE49-F238E27FC236}">
                <a16:creationId xmlns:a16="http://schemas.microsoft.com/office/drawing/2014/main" id="{8CAD05B1-8C6A-4038-B638-F25BA54386EA}"/>
              </a:ext>
            </a:extLst>
          </p:cNvPr>
          <p:cNvSpPr txBox="1"/>
          <p:nvPr/>
        </p:nvSpPr>
        <p:spPr>
          <a:xfrm>
            <a:off x="451555" y="1282532"/>
            <a:ext cx="6096000" cy="525657"/>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p>
        </p:txBody>
      </p:sp>
      <p:sp>
        <p:nvSpPr>
          <p:cNvPr id="6" name="文本框 5">
            <a:extLst>
              <a:ext uri="{FF2B5EF4-FFF2-40B4-BE49-F238E27FC236}">
                <a16:creationId xmlns:a16="http://schemas.microsoft.com/office/drawing/2014/main" id="{D9B2B16F-A8C1-41B6-B157-CD2480E4008F}"/>
              </a:ext>
            </a:extLst>
          </p:cNvPr>
          <p:cNvSpPr txBox="1"/>
          <p:nvPr/>
        </p:nvSpPr>
        <p:spPr>
          <a:xfrm>
            <a:off x="451555" y="1978995"/>
            <a:ext cx="6604000" cy="4459041"/>
          </a:xfrm>
          <a:prstGeom prst="rect">
            <a:avLst/>
          </a:prstGeom>
          <a:noFill/>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由SpaceX（</a:t>
            </a:r>
            <a:r>
              <a:rPr lang="zh-CN" altLang="en-US" sz="2400" b="0" i="0" dirty="0">
                <a:solidFill>
                  <a:srgbClr val="333333"/>
                </a:solidFill>
                <a:effectLst/>
                <a:latin typeface="微软雅黑" panose="020B0503020204020204" pitchFamily="34" charset="-122"/>
                <a:ea typeface="微软雅黑" panose="020B0503020204020204" pitchFamily="34" charset="-122"/>
              </a:rPr>
              <a:t>美国太空探索技术公司，由马斯克创建</a:t>
            </a:r>
            <a:r>
              <a:rPr lang="zh-CN" altLang="en-US" sz="2400" dirty="0">
                <a:latin typeface="微软雅黑" panose="020B0503020204020204" pitchFamily="34" charset="-122"/>
                <a:ea typeface="微软雅黑" panose="020B0503020204020204" pitchFamily="34" charset="-122"/>
              </a:rPr>
              <a:t>）构建的卫星互联网星座，</a:t>
            </a:r>
            <a:r>
              <a:rPr lang="zh-CN" altLang="en-US" sz="2400" b="1" dirty="0">
                <a:latin typeface="微软雅黑" panose="020B0503020204020204" pitchFamily="34" charset="-122"/>
                <a:ea typeface="微软雅黑" panose="020B0503020204020204" pitchFamily="34" charset="-122"/>
              </a:rPr>
              <a:t>可提供卫星互联网访问</a:t>
            </a:r>
            <a:r>
              <a:rPr lang="zh-CN" altLang="en-US" sz="2400" dirty="0">
                <a:latin typeface="微软雅黑" panose="020B0503020204020204" pitchFamily="34" charset="-122"/>
                <a:ea typeface="微软雅黑" panose="020B0503020204020204" pitchFamily="34" charset="-122"/>
              </a:rPr>
              <a:t>，并从</a:t>
            </a:r>
            <a:r>
              <a:rPr lang="en-US" altLang="zh-CN" sz="2400" dirty="0">
                <a:latin typeface="微软雅黑" panose="020B0503020204020204" pitchFamily="34" charset="-122"/>
                <a:ea typeface="微软雅黑" panose="020B0503020204020204" pitchFamily="34" charset="-122"/>
              </a:rPr>
              <a:t>2020</a:t>
            </a:r>
            <a:r>
              <a:rPr lang="zh-CN" altLang="en-US" sz="2400" dirty="0">
                <a:latin typeface="微软雅黑" panose="020B0503020204020204" pitchFamily="34" charset="-122"/>
                <a:ea typeface="微软雅黑" panose="020B0503020204020204" pitchFamily="34" charset="-122"/>
              </a:rPr>
              <a:t>年开始工作。 </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SpaceX</a:t>
            </a:r>
            <a:r>
              <a:rPr lang="zh-CN" altLang="en-US" sz="2400" b="0" i="0" dirty="0">
                <a:solidFill>
                  <a:srgbClr val="333333"/>
                </a:solidFill>
                <a:effectLst/>
                <a:latin typeface="微软雅黑" panose="020B0503020204020204" pitchFamily="34" charset="-122"/>
                <a:ea typeface="微软雅黑" panose="020B0503020204020204" pitchFamily="34" charset="-122"/>
              </a:rPr>
              <a:t>计划在</a:t>
            </a:r>
            <a:r>
              <a:rPr lang="en-US" altLang="zh-CN" sz="2400" b="0" i="0" dirty="0">
                <a:solidFill>
                  <a:srgbClr val="333333"/>
                </a:solidFill>
                <a:effectLst/>
                <a:latin typeface="微软雅黑" panose="020B0503020204020204" pitchFamily="34" charset="-122"/>
                <a:ea typeface="微软雅黑" panose="020B0503020204020204" pitchFamily="34" charset="-122"/>
              </a:rPr>
              <a:t>2019</a:t>
            </a:r>
            <a:r>
              <a:rPr lang="zh-CN" altLang="en-US" sz="2400" b="0" i="0" dirty="0">
                <a:solidFill>
                  <a:srgbClr val="333333"/>
                </a:solidFill>
                <a:effectLst/>
                <a:latin typeface="微软雅黑" panose="020B0503020204020204" pitchFamily="34" charset="-122"/>
                <a:ea typeface="微软雅黑" panose="020B0503020204020204" pitchFamily="34" charset="-122"/>
              </a:rPr>
              <a:t>年至</a:t>
            </a:r>
            <a:r>
              <a:rPr lang="en-US" altLang="zh-CN" sz="2400" b="0" i="0" dirty="0">
                <a:solidFill>
                  <a:srgbClr val="333333"/>
                </a:solidFill>
                <a:effectLst/>
                <a:latin typeface="微软雅黑" panose="020B0503020204020204" pitchFamily="34" charset="-122"/>
                <a:ea typeface="微软雅黑" panose="020B0503020204020204" pitchFamily="34" charset="-122"/>
              </a:rPr>
              <a:t>2024</a:t>
            </a:r>
            <a:r>
              <a:rPr lang="zh-CN" altLang="en-US" sz="2400" b="0" i="0" dirty="0">
                <a:solidFill>
                  <a:srgbClr val="333333"/>
                </a:solidFill>
                <a:effectLst/>
                <a:latin typeface="微软雅黑" panose="020B0503020204020204" pitchFamily="34" charset="-122"/>
                <a:ea typeface="微软雅黑" panose="020B0503020204020204" pitchFamily="34" charset="-122"/>
              </a:rPr>
              <a:t>年间在太空搭建由</a:t>
            </a:r>
            <a:r>
              <a:rPr lang="zh-CN" altLang="en-US" sz="2400" b="1" i="0" dirty="0">
                <a:solidFill>
                  <a:srgbClr val="333333"/>
                </a:solidFill>
                <a:effectLst/>
                <a:latin typeface="微软雅黑" panose="020B0503020204020204" pitchFamily="34" charset="-122"/>
                <a:ea typeface="微软雅黑" panose="020B0503020204020204" pitchFamily="34" charset="-122"/>
              </a:rPr>
              <a:t>约</a:t>
            </a:r>
            <a:r>
              <a:rPr lang="en-US" altLang="zh-CN" sz="2400" b="1" i="0" dirty="0">
                <a:solidFill>
                  <a:srgbClr val="333333"/>
                </a:solidFill>
                <a:effectLst/>
                <a:latin typeface="微软雅黑" panose="020B0503020204020204" pitchFamily="34" charset="-122"/>
                <a:ea typeface="微软雅黑" panose="020B0503020204020204" pitchFamily="34" charset="-122"/>
              </a:rPr>
              <a:t>1.2</a:t>
            </a:r>
            <a:r>
              <a:rPr lang="zh-CN" altLang="en-US" sz="2400" b="1" i="0" dirty="0">
                <a:solidFill>
                  <a:srgbClr val="333333"/>
                </a:solidFill>
                <a:effectLst/>
                <a:latin typeface="微软雅黑" panose="020B0503020204020204" pitchFamily="34" charset="-122"/>
                <a:ea typeface="微软雅黑" panose="020B0503020204020204" pitchFamily="34" charset="-122"/>
              </a:rPr>
              <a:t>万</a:t>
            </a:r>
            <a:r>
              <a:rPr lang="zh-CN" altLang="en-US" sz="2400" b="1" dirty="0">
                <a:latin typeface="微软雅黑" panose="020B0503020204020204" pitchFamily="34" charset="-122"/>
                <a:ea typeface="微软雅黑" panose="020B0503020204020204" pitchFamily="34" charset="-122"/>
              </a:rPr>
              <a:t>颗卫星组成</a:t>
            </a:r>
            <a:r>
              <a:rPr lang="zh-CN" altLang="en-US" sz="2400" dirty="0">
                <a:latin typeface="微软雅黑" panose="020B0503020204020204" pitchFamily="34" charset="-122"/>
                <a:ea typeface="微软雅黑" panose="020B0503020204020204" pitchFamily="34" charset="-122"/>
              </a:rPr>
              <a:t>的“星链”网络提供互联网服务，其中</a:t>
            </a:r>
            <a:r>
              <a:rPr lang="en-US" altLang="zh-CN" sz="2400" dirty="0">
                <a:latin typeface="微软雅黑" panose="020B0503020204020204" pitchFamily="34" charset="-122"/>
                <a:ea typeface="微软雅黑" panose="020B0503020204020204" pitchFamily="34" charset="-122"/>
              </a:rPr>
              <a:t>1584</a:t>
            </a:r>
            <a:r>
              <a:rPr lang="zh-CN" altLang="en-US" sz="2400" dirty="0">
                <a:latin typeface="微软雅黑" panose="020B0503020204020204" pitchFamily="34" charset="-122"/>
                <a:ea typeface="微软雅黑" panose="020B0503020204020204" pitchFamily="34" charset="-122"/>
              </a:rPr>
              <a:t>颗将部署在地球上空</a:t>
            </a:r>
            <a:r>
              <a:rPr lang="en-US" altLang="zh-CN" sz="2400" dirty="0">
                <a:latin typeface="微软雅黑" panose="020B0503020204020204" pitchFamily="34" charset="-122"/>
                <a:ea typeface="微软雅黑" panose="020B0503020204020204" pitchFamily="34" charset="-122"/>
              </a:rPr>
              <a:t>550</a:t>
            </a:r>
            <a:r>
              <a:rPr lang="zh-CN" altLang="en-US" sz="2400" dirty="0">
                <a:latin typeface="微软雅黑" panose="020B0503020204020204" pitchFamily="34" charset="-122"/>
                <a:ea typeface="微软雅黑" panose="020B0503020204020204" pitchFamily="34" charset="-122"/>
              </a:rPr>
              <a:t>千米处的近地轨道，并在地面装上星链信号接收器，便可以使用低轨道卫星网络进行全球网络访问。</a:t>
            </a:r>
            <a:endParaRPr lang="en-US" altLang="zh-CN" sz="2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DC5AC327-5D0C-4167-9027-129D3B85F84B}"/>
              </a:ext>
            </a:extLst>
          </p:cNvPr>
          <p:cNvPicPr>
            <a:picLocks noChangeAspect="1"/>
          </p:cNvPicPr>
          <p:nvPr/>
        </p:nvPicPr>
        <p:blipFill rotWithShape="1">
          <a:blip r:embed="rId2"/>
          <a:srcRect l="14711" r="14445"/>
          <a:stretch/>
        </p:blipFill>
        <p:spPr>
          <a:xfrm>
            <a:off x="7055555" y="1637383"/>
            <a:ext cx="5036672" cy="4734913"/>
          </a:xfrm>
          <a:prstGeom prst="rect">
            <a:avLst/>
          </a:prstGeom>
        </p:spPr>
      </p:pic>
      <p:sp>
        <p:nvSpPr>
          <p:cNvPr id="13" name="标题 1">
            <a:extLst>
              <a:ext uri="{FF2B5EF4-FFF2-40B4-BE49-F238E27FC236}">
                <a16:creationId xmlns:a16="http://schemas.microsoft.com/office/drawing/2014/main" id="{FB6ACB47-CF20-4B8A-A0E3-762933EDE6DE}"/>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0" name="文本框 9">
            <a:extLst>
              <a:ext uri="{FF2B5EF4-FFF2-40B4-BE49-F238E27FC236}">
                <a16:creationId xmlns:a16="http://schemas.microsoft.com/office/drawing/2014/main" id="{7D24181C-09EF-4BFB-B039-D97001DE7422}"/>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29325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D631C0B-FA56-417F-B492-8E3A9765F24D}"/>
              </a:ext>
            </a:extLst>
          </p:cNvPr>
          <p:cNvSpPr>
            <a:spLocks noGrp="1"/>
          </p:cNvSpPr>
          <p:nvPr>
            <p:ph type="sldNum" sz="quarter" idx="12"/>
          </p:nvPr>
        </p:nvSpPr>
        <p:spPr/>
        <p:txBody>
          <a:bodyPr/>
          <a:lstStyle/>
          <a:p>
            <a:fld id="{8D4D1E41-7A09-AB4A-A4E1-09765ADA2698}" type="slidenum">
              <a:rPr kumimoji="1" lang="zh-CN" altLang="en-US" smtClean="0"/>
              <a:t>96</a:t>
            </a:fld>
            <a:endParaRPr kumimoji="1" lang="zh-CN" altLang="en-US" dirty="0"/>
          </a:p>
        </p:txBody>
      </p:sp>
      <p:sp>
        <p:nvSpPr>
          <p:cNvPr id="6" name="文本框 5">
            <a:extLst>
              <a:ext uri="{FF2B5EF4-FFF2-40B4-BE49-F238E27FC236}">
                <a16:creationId xmlns:a16="http://schemas.microsoft.com/office/drawing/2014/main" id="{34CAE871-31B8-49A5-ABA8-C70EB5F767F4}"/>
              </a:ext>
            </a:extLst>
          </p:cNvPr>
          <p:cNvSpPr txBox="1"/>
          <p:nvPr/>
        </p:nvSpPr>
        <p:spPr>
          <a:xfrm>
            <a:off x="451554" y="2352112"/>
            <a:ext cx="5347361" cy="4192879"/>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目前，用户终端可以达到从</a:t>
            </a:r>
            <a:r>
              <a:rPr lang="en-US" altLang="zh-CN" sz="2000" dirty="0">
                <a:latin typeface="微软雅黑" panose="020B0503020204020204" pitchFamily="34" charset="-122"/>
                <a:ea typeface="微软雅黑" panose="020B0503020204020204" pitchFamily="34" charset="-122"/>
              </a:rPr>
              <a:t>50Mb/s</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150 Mb/s</a:t>
            </a:r>
            <a:r>
              <a:rPr lang="zh-CN" altLang="en-US" sz="2000" dirty="0">
                <a:latin typeface="微软雅黑" panose="020B0503020204020204" pitchFamily="34" charset="-122"/>
                <a:ea typeface="微软雅黑" panose="020B0503020204020204" pitchFamily="34" charset="-122"/>
              </a:rPr>
              <a:t>不等，延迟在</a:t>
            </a:r>
            <a:r>
              <a:rPr lang="en-US" altLang="zh-CN" sz="2000" dirty="0">
                <a:latin typeface="微软雅黑" panose="020B0503020204020204" pitchFamily="34" charset="-122"/>
                <a:ea typeface="微软雅黑" panose="020B0503020204020204" pitchFamily="34" charset="-122"/>
              </a:rPr>
              <a:t>20ms</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40ms</a:t>
            </a:r>
            <a:r>
              <a:rPr lang="zh-CN" altLang="en-US" sz="2000" dirty="0">
                <a:latin typeface="微软雅黑" panose="020B0503020204020204" pitchFamily="34" charset="-122"/>
                <a:ea typeface="微软雅黑" panose="020B0503020204020204" pitchFamily="34" charset="-122"/>
              </a:rPr>
              <a:t>之间变化</a:t>
            </a:r>
            <a:endParaRPr lang="en-US" altLang="zh-CN" sz="20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未来，</a:t>
            </a:r>
            <a:r>
              <a:rPr lang="en-US" altLang="zh-CN" sz="2000" dirty="0" err="1">
                <a:latin typeface="微软雅黑" panose="020B0503020204020204" pitchFamily="34" charset="-122"/>
                <a:ea typeface="微软雅黑" panose="020B0503020204020204" pitchFamily="34" charset="-122"/>
              </a:rPr>
              <a:t>Starlink</a:t>
            </a:r>
            <a:r>
              <a:rPr lang="zh-CN" altLang="en-US" sz="2000" dirty="0">
                <a:latin typeface="微软雅黑" panose="020B0503020204020204" pitchFamily="34" charset="-122"/>
                <a:ea typeface="微软雅黑" panose="020B0503020204020204" pitchFamily="34" charset="-122"/>
              </a:rPr>
              <a:t>将提供</a:t>
            </a:r>
            <a:r>
              <a:rPr lang="zh-CN" altLang="en-US" sz="2000" b="1" dirty="0">
                <a:latin typeface="微软雅黑" panose="020B0503020204020204" pitchFamily="34" charset="-122"/>
                <a:ea typeface="微软雅黑" panose="020B0503020204020204" pitchFamily="34" charset="-122"/>
              </a:rPr>
              <a:t>高达1 Gbit/s的速度，延迟介于25毫秒至35毫秒之间</a:t>
            </a:r>
            <a:endParaRPr lang="en-US" altLang="zh-CN" b="1"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根据FCC的测量，这些等待时间将使SpaceX的服务可与电缆和光纤媲美，而现有的卫星宽带服务的等待时间为</a:t>
            </a:r>
            <a:r>
              <a:rPr lang="en-US" altLang="zh-CN" sz="2000" dirty="0">
                <a:latin typeface="微软雅黑" panose="020B0503020204020204" pitchFamily="34" charset="-122"/>
                <a:ea typeface="微软雅黑" panose="020B0503020204020204" pitchFamily="34" charset="-122"/>
              </a:rPr>
              <a:t>600</a:t>
            </a:r>
            <a:r>
              <a:rPr lang="zh-CN" altLang="en-US" sz="2000" dirty="0">
                <a:latin typeface="微软雅黑" panose="020B0503020204020204" pitchFamily="34" charset="-122"/>
                <a:ea typeface="微软雅黑" panose="020B0503020204020204" pitchFamily="34" charset="-122"/>
              </a:rPr>
              <a:t>毫秒或更长</a:t>
            </a:r>
            <a:endParaRPr lang="en-US" altLang="zh-CN" sz="20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FA2C9B71-CEB1-44AD-A9F8-45AA5B30FE91}"/>
              </a:ext>
            </a:extLst>
          </p:cNvPr>
          <p:cNvSpPr txBox="1"/>
          <p:nvPr/>
        </p:nvSpPr>
        <p:spPr>
          <a:xfrm>
            <a:off x="739422" y="1843367"/>
            <a:ext cx="2760133" cy="499624"/>
          </a:xfrm>
          <a:prstGeom prst="rect">
            <a:avLst/>
          </a:prstGeom>
          <a:noFill/>
        </p:spPr>
        <p:txBody>
          <a:bodyPr wrap="square">
            <a:spAutoFit/>
          </a:bodyPr>
          <a:lstStyle>
            <a:defPPr>
              <a:defRPr lang="zh-CN"/>
            </a:defPPr>
            <a:lvl1pPr>
              <a:lnSpc>
                <a:spcPct val="150000"/>
              </a:lnSpc>
              <a:defRPr sz="2000" b="1">
                <a:latin typeface="微软雅黑" panose="020B0503020204020204" pitchFamily="34" charset="-122"/>
                <a:ea typeface="微软雅黑" panose="020B0503020204020204" pitchFamily="34" charset="-122"/>
              </a:defRPr>
            </a:lvl1pPr>
          </a:lstStyle>
          <a:p>
            <a:r>
              <a:rPr lang="zh-CN" altLang="en-US" dirty="0"/>
              <a:t>通信能力</a:t>
            </a:r>
          </a:p>
        </p:txBody>
      </p:sp>
      <p:pic>
        <p:nvPicPr>
          <p:cNvPr id="17" name="图片 16">
            <a:extLst>
              <a:ext uri="{FF2B5EF4-FFF2-40B4-BE49-F238E27FC236}">
                <a16:creationId xmlns:a16="http://schemas.microsoft.com/office/drawing/2014/main" id="{03EBA004-2C8E-434E-88DB-61BCDEAEFA14}"/>
              </a:ext>
            </a:extLst>
          </p:cNvPr>
          <p:cNvPicPr>
            <a:picLocks noChangeAspect="1"/>
          </p:cNvPicPr>
          <p:nvPr/>
        </p:nvPicPr>
        <p:blipFill>
          <a:blip r:embed="rId2"/>
          <a:stretch>
            <a:fillRect/>
          </a:stretch>
        </p:blipFill>
        <p:spPr>
          <a:xfrm>
            <a:off x="5798915" y="2123146"/>
            <a:ext cx="5941531" cy="4233204"/>
          </a:xfrm>
          <a:prstGeom prst="rect">
            <a:avLst/>
          </a:prstGeom>
        </p:spPr>
      </p:pic>
      <p:sp>
        <p:nvSpPr>
          <p:cNvPr id="11" name="标题 1">
            <a:extLst>
              <a:ext uri="{FF2B5EF4-FFF2-40B4-BE49-F238E27FC236}">
                <a16:creationId xmlns:a16="http://schemas.microsoft.com/office/drawing/2014/main" id="{8FC293A4-6536-40FE-A4D2-450E8E58B793}"/>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2" name="文本框 11">
            <a:extLst>
              <a:ext uri="{FF2B5EF4-FFF2-40B4-BE49-F238E27FC236}">
                <a16:creationId xmlns:a16="http://schemas.microsoft.com/office/drawing/2014/main" id="{01DAE708-E155-4F1B-AF72-2E12F701232D}"/>
              </a:ext>
            </a:extLst>
          </p:cNvPr>
          <p:cNvSpPr txBox="1"/>
          <p:nvPr/>
        </p:nvSpPr>
        <p:spPr>
          <a:xfrm>
            <a:off x="451555" y="1278360"/>
            <a:ext cx="6096000" cy="525657"/>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p>
        </p:txBody>
      </p:sp>
      <p:sp>
        <p:nvSpPr>
          <p:cNvPr id="9" name="文本框 8">
            <a:extLst>
              <a:ext uri="{FF2B5EF4-FFF2-40B4-BE49-F238E27FC236}">
                <a16:creationId xmlns:a16="http://schemas.microsoft.com/office/drawing/2014/main" id="{02210FA0-81FC-4CD8-B5CD-CDDFF394E318}"/>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442945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92792" y="1466079"/>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t>2.2 </a:t>
            </a:r>
            <a:r>
              <a:rPr lang="zh-CN" altLang="en-US" dirty="0"/>
              <a:t>数据通信基础</a:t>
            </a:r>
            <a:endParaRPr lang="en-US" altLang="zh-CN" dirty="0"/>
          </a:p>
          <a:p>
            <a:pPr marL="0" indent="0">
              <a:lnSpc>
                <a:spcPct val="160000"/>
              </a:lnSpc>
              <a:buNone/>
            </a:pPr>
            <a:r>
              <a:rPr lang="en-US" altLang="zh-CN" dirty="0"/>
              <a:t>2.3 </a:t>
            </a:r>
            <a:r>
              <a:rPr lang="zh-CN" altLang="en-US" dirty="0"/>
              <a:t>传输介质</a:t>
            </a:r>
            <a:endParaRPr lang="en-US" altLang="zh-CN" dirty="0"/>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t>2.5 </a:t>
            </a:r>
            <a:r>
              <a:rPr lang="zh-CN" altLang="en-US" dirty="0"/>
              <a:t>多路复用技术</a:t>
            </a:r>
            <a:endParaRPr lang="en-US" altLang="zh-CN" dirty="0"/>
          </a:p>
          <a:p>
            <a:pPr marL="0" indent="0">
              <a:lnSpc>
                <a:spcPct val="160000"/>
              </a:lnSpc>
              <a:buNone/>
            </a:pP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97</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6150592" y="3157774"/>
            <a:ext cx="4249002" cy="3381138"/>
          </a:xfrm>
          <a:prstGeom prst="wedgeRectCallout">
            <a:avLst>
              <a:gd name="adj1" fmla="val -96221"/>
              <a:gd name="adj2" fmla="val -305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频分复用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时分复用与统计时分复用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波分复用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码分复用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正交频分复用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空分复用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559250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964E09-9DD9-4DB4-A589-8F8E04F99532}"/>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什么是复用技术？</a:t>
            </a:r>
          </a:p>
        </p:txBody>
      </p:sp>
      <p:sp>
        <p:nvSpPr>
          <p:cNvPr id="4" name="灯片编号占位符 3">
            <a:extLst>
              <a:ext uri="{FF2B5EF4-FFF2-40B4-BE49-F238E27FC236}">
                <a16:creationId xmlns:a16="http://schemas.microsoft.com/office/drawing/2014/main" id="{1EFBDE77-6A95-43FD-A23E-C1F43B03D515}"/>
              </a:ext>
            </a:extLst>
          </p:cNvPr>
          <p:cNvSpPr>
            <a:spLocks noGrp="1"/>
          </p:cNvSpPr>
          <p:nvPr>
            <p:ph type="sldNum" sz="quarter" idx="12"/>
          </p:nvPr>
        </p:nvSpPr>
        <p:spPr/>
        <p:txBody>
          <a:bodyPr/>
          <a:lstStyle/>
          <a:p>
            <a:fld id="{8D4D1E41-7A09-AB4A-A4E1-09765ADA2698}" type="slidenum">
              <a:rPr kumimoji="1" lang="zh-CN" altLang="en-US" smtClean="0"/>
              <a:t>98</a:t>
            </a:fld>
            <a:endParaRPr kumimoji="1" lang="zh-CN" altLang="en-US" dirty="0"/>
          </a:p>
        </p:txBody>
      </p:sp>
      <p:sp>
        <p:nvSpPr>
          <p:cNvPr id="7" name="矩形 6">
            <a:extLst>
              <a:ext uri="{FF2B5EF4-FFF2-40B4-BE49-F238E27FC236}">
                <a16:creationId xmlns:a16="http://schemas.microsoft.com/office/drawing/2014/main" id="{6F08E247-F26B-47C7-BD3E-8AB26A4EEE9D}"/>
              </a:ext>
            </a:extLst>
          </p:cNvPr>
          <p:cNvSpPr/>
          <p:nvPr/>
        </p:nvSpPr>
        <p:spPr>
          <a:xfrm>
            <a:off x="578295" y="3094676"/>
            <a:ext cx="3109452" cy="2598917"/>
          </a:xfrm>
          <a:prstGeom prst="rect">
            <a:avLst/>
          </a:prstGeom>
        </p:spPr>
        <p:txBody>
          <a:bodyPr wrap="square">
            <a:spAutoFit/>
          </a:bodyPr>
          <a:lstStyle/>
          <a:p>
            <a:pPr eaLnBrk="0" hangingPunct="0">
              <a:lnSpc>
                <a:spcPts val="3300"/>
              </a:lnSpc>
              <a:buClr>
                <a:srgbClr val="0070C0"/>
              </a:buClr>
            </a:pPr>
            <a:r>
              <a:rPr lang="zh-CN" altLang="en-US" sz="2400" dirty="0">
                <a:solidFill>
                  <a:srgbClr val="C00000"/>
                </a:solidFill>
                <a:latin typeface="微软雅黑" pitchFamily="34" charset="-122"/>
                <a:ea typeface="微软雅黑" pitchFamily="34" charset="-122"/>
              </a:rPr>
              <a:t>复用 </a:t>
            </a:r>
            <a:r>
              <a:rPr lang="en-US" altLang="zh-CN" sz="2400" dirty="0">
                <a:latin typeface="微软雅黑" pitchFamily="34" charset="-122"/>
                <a:ea typeface="微软雅黑" pitchFamily="34" charset="-122"/>
              </a:rPr>
              <a:t>(multiplexing) </a:t>
            </a:r>
            <a:r>
              <a:rPr lang="zh-CN" altLang="en-US" sz="2400" dirty="0">
                <a:latin typeface="微软雅黑" pitchFamily="34" charset="-122"/>
                <a:ea typeface="微软雅黑" pitchFamily="34" charset="-122"/>
              </a:rPr>
              <a:t>技术的目的是：允许用户使用一个共享信道进行通信，避免相互干扰，降低成本，提高利用率。</a:t>
            </a:r>
          </a:p>
        </p:txBody>
      </p:sp>
      <p:grpSp>
        <p:nvGrpSpPr>
          <p:cNvPr id="71" name="组合 70">
            <a:extLst>
              <a:ext uri="{FF2B5EF4-FFF2-40B4-BE49-F238E27FC236}">
                <a16:creationId xmlns:a16="http://schemas.microsoft.com/office/drawing/2014/main" id="{20C15AF4-7645-4A53-B8A7-5A7DC6B98B16}"/>
              </a:ext>
            </a:extLst>
          </p:cNvPr>
          <p:cNvGrpSpPr/>
          <p:nvPr/>
        </p:nvGrpSpPr>
        <p:grpSpPr>
          <a:xfrm>
            <a:off x="3956766" y="2778299"/>
            <a:ext cx="7806349" cy="3615580"/>
            <a:chOff x="3985946" y="2778299"/>
            <a:chExt cx="7806349" cy="3615580"/>
          </a:xfrm>
        </p:grpSpPr>
        <p:sp>
          <p:nvSpPr>
            <p:cNvPr id="5" name="圆角矩形 5">
              <a:extLst>
                <a:ext uri="{FF2B5EF4-FFF2-40B4-BE49-F238E27FC236}">
                  <a16:creationId xmlns:a16="http://schemas.microsoft.com/office/drawing/2014/main" id="{D581C624-91E8-4AB4-B6EC-B78FE2EBFDA9}"/>
                </a:ext>
              </a:extLst>
            </p:cNvPr>
            <p:cNvSpPr/>
            <p:nvPr/>
          </p:nvSpPr>
          <p:spPr>
            <a:xfrm>
              <a:off x="3996268" y="2778299"/>
              <a:ext cx="7796027" cy="3615580"/>
            </a:xfrm>
            <a:prstGeom prst="roundRect">
              <a:avLst>
                <a:gd name="adj" fmla="val 7063"/>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矩形 5">
              <a:extLst>
                <a:ext uri="{FF2B5EF4-FFF2-40B4-BE49-F238E27FC236}">
                  <a16:creationId xmlns:a16="http://schemas.microsoft.com/office/drawing/2014/main" id="{45BB3C82-9EB3-4314-84CC-8B076FCDADDF}"/>
                </a:ext>
              </a:extLst>
            </p:cNvPr>
            <p:cNvSpPr/>
            <p:nvPr/>
          </p:nvSpPr>
          <p:spPr>
            <a:xfrm>
              <a:off x="3985946" y="3432685"/>
              <a:ext cx="553998" cy="2165684"/>
            </a:xfrm>
            <a:prstGeom prst="rect">
              <a:avLst/>
            </a:prstGeom>
          </p:spPr>
          <p:txBody>
            <a:bodyPr vert="eaVert" wrap="square">
              <a:spAutoFit/>
            </a:bodyPr>
            <a:lstStyle/>
            <a:p>
              <a:pPr algn="ctr"/>
              <a:r>
                <a:rPr lang="zh-CN" altLang="en-US" sz="2400" b="1" dirty="0">
                  <a:latin typeface="微软雅黑" pitchFamily="34" charset="-122"/>
                  <a:ea typeface="微软雅黑" pitchFamily="34" charset="-122"/>
                </a:rPr>
                <a:t>复用示意图</a:t>
              </a:r>
            </a:p>
          </p:txBody>
        </p:sp>
      </p:grpSp>
      <p:grpSp>
        <p:nvGrpSpPr>
          <p:cNvPr id="3" name="组合 2">
            <a:extLst>
              <a:ext uri="{FF2B5EF4-FFF2-40B4-BE49-F238E27FC236}">
                <a16:creationId xmlns:a16="http://schemas.microsoft.com/office/drawing/2014/main" id="{F13DE924-131D-45C2-B6F4-948D11A5C6D2}"/>
              </a:ext>
            </a:extLst>
          </p:cNvPr>
          <p:cNvGrpSpPr/>
          <p:nvPr/>
        </p:nvGrpSpPr>
        <p:grpSpPr>
          <a:xfrm>
            <a:off x="4755124" y="2805788"/>
            <a:ext cx="6762554" cy="1725522"/>
            <a:chOff x="4755124" y="2805788"/>
            <a:chExt cx="6762554" cy="1725522"/>
          </a:xfrm>
        </p:grpSpPr>
        <p:sp>
          <p:nvSpPr>
            <p:cNvPr id="9" name="Line 39">
              <a:extLst>
                <a:ext uri="{FF2B5EF4-FFF2-40B4-BE49-F238E27FC236}">
                  <a16:creationId xmlns:a16="http://schemas.microsoft.com/office/drawing/2014/main" id="{727C0C9C-F7BA-4EFD-A30F-C486846CBF0B}"/>
                </a:ext>
              </a:extLst>
            </p:cNvPr>
            <p:cNvSpPr>
              <a:spLocks noChangeShapeType="1"/>
            </p:cNvSpPr>
            <p:nvPr/>
          </p:nvSpPr>
          <p:spPr bwMode="auto">
            <a:xfrm>
              <a:off x="5133552" y="3137084"/>
              <a:ext cx="60794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10" name="Line 40">
              <a:extLst>
                <a:ext uri="{FF2B5EF4-FFF2-40B4-BE49-F238E27FC236}">
                  <a16:creationId xmlns:a16="http://schemas.microsoft.com/office/drawing/2014/main" id="{F9EA2B3F-426F-4C8A-B6A3-EC7C3EB415C9}"/>
                </a:ext>
              </a:extLst>
            </p:cNvPr>
            <p:cNvSpPr>
              <a:spLocks noChangeShapeType="1"/>
            </p:cNvSpPr>
            <p:nvPr/>
          </p:nvSpPr>
          <p:spPr bwMode="auto">
            <a:xfrm>
              <a:off x="5133552" y="3616306"/>
              <a:ext cx="60794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11" name="Line 41">
              <a:extLst>
                <a:ext uri="{FF2B5EF4-FFF2-40B4-BE49-F238E27FC236}">
                  <a16:creationId xmlns:a16="http://schemas.microsoft.com/office/drawing/2014/main" id="{1C019046-F33E-4816-9F61-844394098BDB}"/>
                </a:ext>
              </a:extLst>
            </p:cNvPr>
            <p:cNvSpPr>
              <a:spLocks noChangeShapeType="1"/>
            </p:cNvSpPr>
            <p:nvPr/>
          </p:nvSpPr>
          <p:spPr bwMode="auto">
            <a:xfrm>
              <a:off x="5133552" y="4095529"/>
              <a:ext cx="60794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12" name="Oval 42">
              <a:extLst>
                <a:ext uri="{FF2B5EF4-FFF2-40B4-BE49-F238E27FC236}">
                  <a16:creationId xmlns:a16="http://schemas.microsoft.com/office/drawing/2014/main" id="{25D8DBF3-F75D-47DE-B230-175DC8FE5B02}"/>
                </a:ext>
              </a:extLst>
            </p:cNvPr>
            <p:cNvSpPr>
              <a:spLocks noChangeArrowheads="1"/>
            </p:cNvSpPr>
            <p:nvPr/>
          </p:nvSpPr>
          <p:spPr bwMode="auto">
            <a:xfrm>
              <a:off x="4755124" y="2953716"/>
              <a:ext cx="378428" cy="366736"/>
            </a:xfrm>
            <a:prstGeom prst="ellipse">
              <a:avLst/>
            </a:prstGeom>
            <a:solidFill>
              <a:srgbClr val="92D05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1</a:t>
              </a:r>
            </a:p>
          </p:txBody>
        </p:sp>
        <p:sp>
          <p:nvSpPr>
            <p:cNvPr id="13" name="Oval 43">
              <a:extLst>
                <a:ext uri="{FF2B5EF4-FFF2-40B4-BE49-F238E27FC236}">
                  <a16:creationId xmlns:a16="http://schemas.microsoft.com/office/drawing/2014/main" id="{C5665DF6-172D-4FC8-ACDD-98B337C5B8CA}"/>
                </a:ext>
              </a:extLst>
            </p:cNvPr>
            <p:cNvSpPr>
              <a:spLocks noChangeArrowheads="1"/>
            </p:cNvSpPr>
            <p:nvPr/>
          </p:nvSpPr>
          <p:spPr bwMode="auto">
            <a:xfrm>
              <a:off x="11139250" y="2953716"/>
              <a:ext cx="378428" cy="366736"/>
            </a:xfrm>
            <a:prstGeom prst="ellipse">
              <a:avLst/>
            </a:prstGeom>
            <a:solidFill>
              <a:srgbClr val="92D05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1</a:t>
              </a:r>
            </a:p>
          </p:txBody>
        </p:sp>
        <p:sp>
          <p:nvSpPr>
            <p:cNvPr id="14" name="Oval 44">
              <a:extLst>
                <a:ext uri="{FF2B5EF4-FFF2-40B4-BE49-F238E27FC236}">
                  <a16:creationId xmlns:a16="http://schemas.microsoft.com/office/drawing/2014/main" id="{C53A294F-D588-4D97-834B-FBA20CD6EF52}"/>
                </a:ext>
              </a:extLst>
            </p:cNvPr>
            <p:cNvSpPr>
              <a:spLocks noChangeArrowheads="1"/>
            </p:cNvSpPr>
            <p:nvPr/>
          </p:nvSpPr>
          <p:spPr bwMode="auto">
            <a:xfrm>
              <a:off x="4755124" y="3432939"/>
              <a:ext cx="378428" cy="366736"/>
            </a:xfrm>
            <a:prstGeom prst="ellipse">
              <a:avLst/>
            </a:prstGeom>
            <a:solidFill>
              <a:srgbClr val="0070C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2</a:t>
              </a:r>
            </a:p>
          </p:txBody>
        </p:sp>
        <p:sp>
          <p:nvSpPr>
            <p:cNvPr id="15" name="Oval 45">
              <a:extLst>
                <a:ext uri="{FF2B5EF4-FFF2-40B4-BE49-F238E27FC236}">
                  <a16:creationId xmlns:a16="http://schemas.microsoft.com/office/drawing/2014/main" id="{120323F3-8679-4890-8E4C-76983BE18A06}"/>
                </a:ext>
              </a:extLst>
            </p:cNvPr>
            <p:cNvSpPr>
              <a:spLocks noChangeArrowheads="1"/>
            </p:cNvSpPr>
            <p:nvPr/>
          </p:nvSpPr>
          <p:spPr bwMode="auto">
            <a:xfrm>
              <a:off x="11139250" y="3432939"/>
              <a:ext cx="378428" cy="366736"/>
            </a:xfrm>
            <a:prstGeom prst="ellipse">
              <a:avLst/>
            </a:prstGeom>
            <a:solidFill>
              <a:srgbClr val="0070C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2</a:t>
              </a:r>
            </a:p>
          </p:txBody>
        </p:sp>
        <p:sp>
          <p:nvSpPr>
            <p:cNvPr id="16" name="Oval 46">
              <a:extLst>
                <a:ext uri="{FF2B5EF4-FFF2-40B4-BE49-F238E27FC236}">
                  <a16:creationId xmlns:a16="http://schemas.microsoft.com/office/drawing/2014/main" id="{B0EE5A21-78C9-4248-A10B-A0B5CB4EB2CC}"/>
                </a:ext>
              </a:extLst>
            </p:cNvPr>
            <p:cNvSpPr>
              <a:spLocks noChangeArrowheads="1"/>
            </p:cNvSpPr>
            <p:nvPr/>
          </p:nvSpPr>
          <p:spPr bwMode="auto">
            <a:xfrm>
              <a:off x="4755124" y="3912161"/>
              <a:ext cx="378428" cy="366736"/>
            </a:xfrm>
            <a:prstGeom prst="ellipse">
              <a:avLst/>
            </a:prstGeom>
            <a:solidFill>
              <a:srgbClr val="FFFF0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3</a:t>
              </a:r>
            </a:p>
          </p:txBody>
        </p:sp>
        <p:sp>
          <p:nvSpPr>
            <p:cNvPr id="17" name="Oval 47">
              <a:extLst>
                <a:ext uri="{FF2B5EF4-FFF2-40B4-BE49-F238E27FC236}">
                  <a16:creationId xmlns:a16="http://schemas.microsoft.com/office/drawing/2014/main" id="{B3C2689D-9B8F-4CBD-9631-9C057B9659FB}"/>
                </a:ext>
              </a:extLst>
            </p:cNvPr>
            <p:cNvSpPr>
              <a:spLocks noChangeArrowheads="1"/>
            </p:cNvSpPr>
            <p:nvPr/>
          </p:nvSpPr>
          <p:spPr bwMode="auto">
            <a:xfrm>
              <a:off x="11139250" y="3912161"/>
              <a:ext cx="378428" cy="366736"/>
            </a:xfrm>
            <a:prstGeom prst="ellipse">
              <a:avLst/>
            </a:prstGeom>
            <a:solidFill>
              <a:srgbClr val="FFFF0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3</a:t>
              </a:r>
            </a:p>
          </p:txBody>
        </p:sp>
        <p:sp>
          <p:nvSpPr>
            <p:cNvPr id="18" name="Text Box 60">
              <a:extLst>
                <a:ext uri="{FF2B5EF4-FFF2-40B4-BE49-F238E27FC236}">
                  <a16:creationId xmlns:a16="http://schemas.microsoft.com/office/drawing/2014/main" id="{FBE2218F-A695-4036-90F5-6A6FED0C883E}"/>
                </a:ext>
              </a:extLst>
            </p:cNvPr>
            <p:cNvSpPr txBox="1">
              <a:spLocks noChangeArrowheads="1"/>
            </p:cNvSpPr>
            <p:nvPr/>
          </p:nvSpPr>
          <p:spPr bwMode="auto">
            <a:xfrm>
              <a:off x="6968235" y="4151654"/>
              <a:ext cx="2208999"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67" b="1" dirty="0">
                  <a:latin typeface="微软雅黑" pitchFamily="34" charset="-122"/>
                  <a:ea typeface="微软雅黑" pitchFamily="34" charset="-122"/>
                </a:rPr>
                <a:t>(a) </a:t>
              </a:r>
              <a:r>
                <a:rPr lang="zh-CN" altLang="en-US" sz="1867" b="1" dirty="0">
                  <a:latin typeface="微软雅黑" pitchFamily="34" charset="-122"/>
                  <a:ea typeface="微软雅黑" pitchFamily="34" charset="-122"/>
                </a:rPr>
                <a:t>使用单独的信道</a:t>
              </a:r>
            </a:p>
          </p:txBody>
        </p:sp>
        <p:sp>
          <p:nvSpPr>
            <p:cNvPr id="19" name="Line 64">
              <a:extLst>
                <a:ext uri="{FF2B5EF4-FFF2-40B4-BE49-F238E27FC236}">
                  <a16:creationId xmlns:a16="http://schemas.microsoft.com/office/drawing/2014/main" id="{72D80C32-922D-4B88-815F-B2C8A678AA9E}"/>
                </a:ext>
              </a:extLst>
            </p:cNvPr>
            <p:cNvSpPr>
              <a:spLocks noChangeShapeType="1"/>
            </p:cNvSpPr>
            <p:nvPr/>
          </p:nvSpPr>
          <p:spPr bwMode="auto">
            <a:xfrm>
              <a:off x="6883166" y="3026138"/>
              <a:ext cx="227711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20" name="Line 65">
              <a:extLst>
                <a:ext uri="{FF2B5EF4-FFF2-40B4-BE49-F238E27FC236}">
                  <a16:creationId xmlns:a16="http://schemas.microsoft.com/office/drawing/2014/main" id="{43EA4EDF-8582-467C-A476-6C6ECD475245}"/>
                </a:ext>
              </a:extLst>
            </p:cNvPr>
            <p:cNvSpPr>
              <a:spLocks noChangeShapeType="1"/>
            </p:cNvSpPr>
            <p:nvPr/>
          </p:nvSpPr>
          <p:spPr bwMode="auto">
            <a:xfrm>
              <a:off x="6883166" y="3493033"/>
              <a:ext cx="227711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21" name="Line 66">
              <a:extLst>
                <a:ext uri="{FF2B5EF4-FFF2-40B4-BE49-F238E27FC236}">
                  <a16:creationId xmlns:a16="http://schemas.microsoft.com/office/drawing/2014/main" id="{E88736EC-9714-4DDB-BCC3-C2F71B1D19C5}"/>
                </a:ext>
              </a:extLst>
            </p:cNvPr>
            <p:cNvSpPr>
              <a:spLocks noChangeShapeType="1"/>
            </p:cNvSpPr>
            <p:nvPr/>
          </p:nvSpPr>
          <p:spPr bwMode="auto">
            <a:xfrm>
              <a:off x="6883166" y="3983042"/>
              <a:ext cx="227711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22" name="AutoShape 78">
              <a:extLst>
                <a:ext uri="{FF2B5EF4-FFF2-40B4-BE49-F238E27FC236}">
                  <a16:creationId xmlns:a16="http://schemas.microsoft.com/office/drawing/2014/main" id="{654CAA44-9BB1-4155-A6BB-4F3A75B5EEAD}"/>
                </a:ext>
              </a:extLst>
            </p:cNvPr>
            <p:cNvSpPr>
              <a:spLocks noChangeArrowheads="1"/>
            </p:cNvSpPr>
            <p:nvPr/>
          </p:nvSpPr>
          <p:spPr bwMode="auto">
            <a:xfrm>
              <a:off x="7946368" y="3764233"/>
              <a:ext cx="170374" cy="16641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3" name="Oval 80">
              <a:extLst>
                <a:ext uri="{FF2B5EF4-FFF2-40B4-BE49-F238E27FC236}">
                  <a16:creationId xmlns:a16="http://schemas.microsoft.com/office/drawing/2014/main" id="{5F4D1F76-1D21-448C-917B-7E6AF2939F03}"/>
                </a:ext>
              </a:extLst>
            </p:cNvPr>
            <p:cNvSpPr>
              <a:spLocks noChangeArrowheads="1"/>
            </p:cNvSpPr>
            <p:nvPr/>
          </p:nvSpPr>
          <p:spPr bwMode="auto">
            <a:xfrm>
              <a:off x="5210548" y="2953715"/>
              <a:ext cx="152353"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4" name="Oval 81">
              <a:extLst>
                <a:ext uri="{FF2B5EF4-FFF2-40B4-BE49-F238E27FC236}">
                  <a16:creationId xmlns:a16="http://schemas.microsoft.com/office/drawing/2014/main" id="{06E1B7D4-5E15-45E3-89B4-7A0262CCA95A}"/>
                </a:ext>
              </a:extLst>
            </p:cNvPr>
            <p:cNvSpPr>
              <a:spLocks noChangeArrowheads="1"/>
            </p:cNvSpPr>
            <p:nvPr/>
          </p:nvSpPr>
          <p:spPr bwMode="auto">
            <a:xfrm>
              <a:off x="7954558" y="2805788"/>
              <a:ext cx="152354"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5" name="Oval 82">
              <a:extLst>
                <a:ext uri="{FF2B5EF4-FFF2-40B4-BE49-F238E27FC236}">
                  <a16:creationId xmlns:a16="http://schemas.microsoft.com/office/drawing/2014/main" id="{013117A1-A008-43E3-8A6D-5C88AAAEAED3}"/>
                </a:ext>
              </a:extLst>
            </p:cNvPr>
            <p:cNvSpPr>
              <a:spLocks noChangeArrowheads="1"/>
            </p:cNvSpPr>
            <p:nvPr/>
          </p:nvSpPr>
          <p:spPr bwMode="auto">
            <a:xfrm>
              <a:off x="10909900" y="2953715"/>
              <a:ext cx="152354"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6" name="Rectangle 83">
              <a:extLst>
                <a:ext uri="{FF2B5EF4-FFF2-40B4-BE49-F238E27FC236}">
                  <a16:creationId xmlns:a16="http://schemas.microsoft.com/office/drawing/2014/main" id="{47B75584-1059-426C-929A-861413BCE574}"/>
                </a:ext>
              </a:extLst>
            </p:cNvPr>
            <p:cNvSpPr>
              <a:spLocks noChangeArrowheads="1"/>
            </p:cNvSpPr>
            <p:nvPr/>
          </p:nvSpPr>
          <p:spPr bwMode="auto">
            <a:xfrm>
              <a:off x="10909900" y="3468379"/>
              <a:ext cx="121228" cy="118650"/>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7" name="Rectangle 84">
              <a:extLst>
                <a:ext uri="{FF2B5EF4-FFF2-40B4-BE49-F238E27FC236}">
                  <a16:creationId xmlns:a16="http://schemas.microsoft.com/office/drawing/2014/main" id="{8565E9E1-20A8-44DC-8F0C-28DD9B00308D}"/>
                </a:ext>
              </a:extLst>
            </p:cNvPr>
            <p:cNvSpPr>
              <a:spLocks noChangeArrowheads="1"/>
            </p:cNvSpPr>
            <p:nvPr/>
          </p:nvSpPr>
          <p:spPr bwMode="auto">
            <a:xfrm>
              <a:off x="5210548" y="3468379"/>
              <a:ext cx="122866" cy="118650"/>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8" name="Rectangle 85">
              <a:extLst>
                <a:ext uri="{FF2B5EF4-FFF2-40B4-BE49-F238E27FC236}">
                  <a16:creationId xmlns:a16="http://schemas.microsoft.com/office/drawing/2014/main" id="{CE5C194F-F433-4078-973C-D1DC24A7DA98}"/>
                </a:ext>
              </a:extLst>
            </p:cNvPr>
            <p:cNvSpPr>
              <a:spLocks noChangeArrowheads="1"/>
            </p:cNvSpPr>
            <p:nvPr/>
          </p:nvSpPr>
          <p:spPr bwMode="auto">
            <a:xfrm>
              <a:off x="7969303" y="3321994"/>
              <a:ext cx="122866" cy="118650"/>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9" name="AutoShape 86">
              <a:extLst>
                <a:ext uri="{FF2B5EF4-FFF2-40B4-BE49-F238E27FC236}">
                  <a16:creationId xmlns:a16="http://schemas.microsoft.com/office/drawing/2014/main" id="{60D7B3A3-7C95-4218-B23C-E4640D9EC0FF}"/>
                </a:ext>
              </a:extLst>
            </p:cNvPr>
            <p:cNvSpPr>
              <a:spLocks noChangeArrowheads="1"/>
            </p:cNvSpPr>
            <p:nvPr/>
          </p:nvSpPr>
          <p:spPr bwMode="auto">
            <a:xfrm>
              <a:off x="10911009" y="3878262"/>
              <a:ext cx="170374" cy="16487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30" name="AutoShape 87">
              <a:extLst>
                <a:ext uri="{FF2B5EF4-FFF2-40B4-BE49-F238E27FC236}">
                  <a16:creationId xmlns:a16="http://schemas.microsoft.com/office/drawing/2014/main" id="{A42E55EB-AC3E-4E71-B63E-95DA5A40F6B5}"/>
                </a:ext>
              </a:extLst>
            </p:cNvPr>
            <p:cNvSpPr>
              <a:spLocks noChangeArrowheads="1"/>
            </p:cNvSpPr>
            <p:nvPr/>
          </p:nvSpPr>
          <p:spPr bwMode="auto">
            <a:xfrm>
              <a:off x="5185975" y="3892129"/>
              <a:ext cx="170374" cy="16641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grpSp>
      <p:grpSp>
        <p:nvGrpSpPr>
          <p:cNvPr id="70" name="组合 69">
            <a:extLst>
              <a:ext uri="{FF2B5EF4-FFF2-40B4-BE49-F238E27FC236}">
                <a16:creationId xmlns:a16="http://schemas.microsoft.com/office/drawing/2014/main" id="{BFD65A44-D4F1-4F20-BF6C-B9823E661BB2}"/>
              </a:ext>
            </a:extLst>
          </p:cNvPr>
          <p:cNvGrpSpPr/>
          <p:nvPr/>
        </p:nvGrpSpPr>
        <p:grpSpPr>
          <a:xfrm>
            <a:off x="4755124" y="4704199"/>
            <a:ext cx="6762554" cy="1476844"/>
            <a:chOff x="4755124" y="4704199"/>
            <a:chExt cx="6762554" cy="1476844"/>
          </a:xfrm>
        </p:grpSpPr>
        <p:sp>
          <p:nvSpPr>
            <p:cNvPr id="32" name="Text Box 92">
              <a:extLst>
                <a:ext uri="{FF2B5EF4-FFF2-40B4-BE49-F238E27FC236}">
                  <a16:creationId xmlns:a16="http://schemas.microsoft.com/office/drawing/2014/main" id="{19F3ADEE-56A0-474E-B480-1FDF32A30A46}"/>
                </a:ext>
              </a:extLst>
            </p:cNvPr>
            <p:cNvSpPr txBox="1">
              <a:spLocks noChangeArrowheads="1"/>
            </p:cNvSpPr>
            <p:nvPr/>
          </p:nvSpPr>
          <p:spPr bwMode="auto">
            <a:xfrm>
              <a:off x="7684616" y="4898353"/>
              <a:ext cx="36056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67" b="1">
                  <a:latin typeface="微软雅黑" pitchFamily="34" charset="-122"/>
                  <a:ea typeface="微软雅黑" pitchFamily="34" charset="-122"/>
                </a:rPr>
                <a:t>+</a:t>
              </a:r>
            </a:p>
          </p:txBody>
        </p:sp>
        <p:sp>
          <p:nvSpPr>
            <p:cNvPr id="33" name="Text Box 93">
              <a:extLst>
                <a:ext uri="{FF2B5EF4-FFF2-40B4-BE49-F238E27FC236}">
                  <a16:creationId xmlns:a16="http://schemas.microsoft.com/office/drawing/2014/main" id="{8B7EF12A-77E2-4334-81BC-3449ACCFEE27}"/>
                </a:ext>
              </a:extLst>
            </p:cNvPr>
            <p:cNvSpPr txBox="1">
              <a:spLocks noChangeArrowheads="1"/>
            </p:cNvSpPr>
            <p:nvPr/>
          </p:nvSpPr>
          <p:spPr bwMode="auto">
            <a:xfrm>
              <a:off x="7138463" y="4881671"/>
              <a:ext cx="185564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867" b="1" dirty="0">
                  <a:latin typeface="微软雅黑" pitchFamily="34" charset="-122"/>
                  <a:ea typeface="微软雅黑" pitchFamily="34" charset="-122"/>
                </a:rPr>
                <a:t>(               )</a:t>
              </a:r>
            </a:p>
          </p:txBody>
        </p:sp>
        <p:sp>
          <p:nvSpPr>
            <p:cNvPr id="34" name="Text Box 37">
              <a:extLst>
                <a:ext uri="{FF2B5EF4-FFF2-40B4-BE49-F238E27FC236}">
                  <a16:creationId xmlns:a16="http://schemas.microsoft.com/office/drawing/2014/main" id="{4D3D78DC-CFBB-4938-B3BF-EF53C2CEB557}"/>
                </a:ext>
              </a:extLst>
            </p:cNvPr>
            <p:cNvSpPr txBox="1">
              <a:spLocks noChangeArrowheads="1"/>
            </p:cNvSpPr>
            <p:nvPr/>
          </p:nvSpPr>
          <p:spPr bwMode="auto">
            <a:xfrm>
              <a:off x="8072872" y="4898353"/>
              <a:ext cx="36056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67" b="1" dirty="0">
                  <a:latin typeface="微软雅黑" pitchFamily="34" charset="-122"/>
                  <a:ea typeface="微软雅黑" pitchFamily="34" charset="-122"/>
                </a:rPr>
                <a:t>+</a:t>
              </a:r>
            </a:p>
          </p:txBody>
        </p:sp>
        <p:sp>
          <p:nvSpPr>
            <p:cNvPr id="35" name="Line 38">
              <a:extLst>
                <a:ext uri="{FF2B5EF4-FFF2-40B4-BE49-F238E27FC236}">
                  <a16:creationId xmlns:a16="http://schemas.microsoft.com/office/drawing/2014/main" id="{A60D0D72-8515-4FFD-851E-7D4D6F9D47A9}"/>
                </a:ext>
              </a:extLst>
            </p:cNvPr>
            <p:cNvSpPr>
              <a:spLocks noChangeShapeType="1"/>
            </p:cNvSpPr>
            <p:nvPr/>
          </p:nvSpPr>
          <p:spPr bwMode="auto">
            <a:xfrm>
              <a:off x="5133552" y="5366789"/>
              <a:ext cx="607941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6" name="Line 48">
              <a:extLst>
                <a:ext uri="{FF2B5EF4-FFF2-40B4-BE49-F238E27FC236}">
                  <a16:creationId xmlns:a16="http://schemas.microsoft.com/office/drawing/2014/main" id="{2ABA853F-ECE5-4EC8-9F1B-5C5C720B6F6A}"/>
                </a:ext>
              </a:extLst>
            </p:cNvPr>
            <p:cNvSpPr>
              <a:spLocks noChangeShapeType="1"/>
            </p:cNvSpPr>
            <p:nvPr/>
          </p:nvSpPr>
          <p:spPr bwMode="auto">
            <a:xfrm>
              <a:off x="5969041" y="5366789"/>
              <a:ext cx="4485435"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7" name="Line 49">
              <a:extLst>
                <a:ext uri="{FF2B5EF4-FFF2-40B4-BE49-F238E27FC236}">
                  <a16:creationId xmlns:a16="http://schemas.microsoft.com/office/drawing/2014/main" id="{A3DF94E2-F782-4DA5-B185-E21F1B3D095D}"/>
                </a:ext>
              </a:extLst>
            </p:cNvPr>
            <p:cNvSpPr>
              <a:spLocks noChangeShapeType="1"/>
            </p:cNvSpPr>
            <p:nvPr/>
          </p:nvSpPr>
          <p:spPr bwMode="auto">
            <a:xfrm>
              <a:off x="10454476" y="5440753"/>
              <a:ext cx="835490" cy="368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8" name="Line 50">
              <a:extLst>
                <a:ext uri="{FF2B5EF4-FFF2-40B4-BE49-F238E27FC236}">
                  <a16:creationId xmlns:a16="http://schemas.microsoft.com/office/drawing/2014/main" id="{FD6C3E2D-E9D9-4A54-B1D9-8C74DB476CA2}"/>
                </a:ext>
              </a:extLst>
            </p:cNvPr>
            <p:cNvSpPr>
              <a:spLocks noChangeShapeType="1"/>
            </p:cNvSpPr>
            <p:nvPr/>
          </p:nvSpPr>
          <p:spPr bwMode="auto">
            <a:xfrm flipH="1">
              <a:off x="10454476" y="4924548"/>
              <a:ext cx="835490" cy="3698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9" name="Line 51">
              <a:extLst>
                <a:ext uri="{FF2B5EF4-FFF2-40B4-BE49-F238E27FC236}">
                  <a16:creationId xmlns:a16="http://schemas.microsoft.com/office/drawing/2014/main" id="{11FDE095-5FA8-44F4-AE34-B2664E3121D5}"/>
                </a:ext>
              </a:extLst>
            </p:cNvPr>
            <p:cNvSpPr>
              <a:spLocks noChangeShapeType="1"/>
            </p:cNvSpPr>
            <p:nvPr/>
          </p:nvSpPr>
          <p:spPr bwMode="auto">
            <a:xfrm flipV="1">
              <a:off x="5056555" y="5440753"/>
              <a:ext cx="837128" cy="368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40" name="Line 52">
              <a:extLst>
                <a:ext uri="{FF2B5EF4-FFF2-40B4-BE49-F238E27FC236}">
                  <a16:creationId xmlns:a16="http://schemas.microsoft.com/office/drawing/2014/main" id="{0E328B3D-540C-451D-8B83-6DC7E5374E72}"/>
                </a:ext>
              </a:extLst>
            </p:cNvPr>
            <p:cNvSpPr>
              <a:spLocks noChangeShapeType="1"/>
            </p:cNvSpPr>
            <p:nvPr/>
          </p:nvSpPr>
          <p:spPr bwMode="auto">
            <a:xfrm>
              <a:off x="5056555" y="4924548"/>
              <a:ext cx="837128" cy="3698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41" name="Oval 53">
              <a:extLst>
                <a:ext uri="{FF2B5EF4-FFF2-40B4-BE49-F238E27FC236}">
                  <a16:creationId xmlns:a16="http://schemas.microsoft.com/office/drawing/2014/main" id="{2783CB71-634F-4E93-AFCD-B48238F73055}"/>
                </a:ext>
              </a:extLst>
            </p:cNvPr>
            <p:cNvSpPr>
              <a:spLocks noChangeArrowheads="1"/>
            </p:cNvSpPr>
            <p:nvPr/>
          </p:nvSpPr>
          <p:spPr bwMode="auto">
            <a:xfrm>
              <a:off x="4755124" y="4704199"/>
              <a:ext cx="378427" cy="366737"/>
            </a:xfrm>
            <a:prstGeom prst="ellipse">
              <a:avLst/>
            </a:prstGeom>
            <a:solidFill>
              <a:srgbClr val="92D05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1</a:t>
              </a:r>
            </a:p>
          </p:txBody>
        </p:sp>
        <p:sp>
          <p:nvSpPr>
            <p:cNvPr id="42" name="Oval 54">
              <a:extLst>
                <a:ext uri="{FF2B5EF4-FFF2-40B4-BE49-F238E27FC236}">
                  <a16:creationId xmlns:a16="http://schemas.microsoft.com/office/drawing/2014/main" id="{18519B59-9E52-477C-9E95-B39E2740B334}"/>
                </a:ext>
              </a:extLst>
            </p:cNvPr>
            <p:cNvSpPr>
              <a:spLocks noChangeArrowheads="1"/>
            </p:cNvSpPr>
            <p:nvPr/>
          </p:nvSpPr>
          <p:spPr bwMode="auto">
            <a:xfrm>
              <a:off x="11139250" y="4704199"/>
              <a:ext cx="378428" cy="366737"/>
            </a:xfrm>
            <a:prstGeom prst="ellipse">
              <a:avLst/>
            </a:prstGeom>
            <a:solidFill>
              <a:srgbClr val="92D05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1</a:t>
              </a:r>
            </a:p>
          </p:txBody>
        </p:sp>
        <p:sp>
          <p:nvSpPr>
            <p:cNvPr id="43" name="Oval 55">
              <a:extLst>
                <a:ext uri="{FF2B5EF4-FFF2-40B4-BE49-F238E27FC236}">
                  <a16:creationId xmlns:a16="http://schemas.microsoft.com/office/drawing/2014/main" id="{79ACA4E1-90FF-435A-8594-26376021E5C1}"/>
                </a:ext>
              </a:extLst>
            </p:cNvPr>
            <p:cNvSpPr>
              <a:spLocks noChangeArrowheads="1"/>
            </p:cNvSpPr>
            <p:nvPr/>
          </p:nvSpPr>
          <p:spPr bwMode="auto">
            <a:xfrm>
              <a:off x="4755124" y="5172636"/>
              <a:ext cx="378427" cy="366737"/>
            </a:xfrm>
            <a:prstGeom prst="ellipse">
              <a:avLst/>
            </a:prstGeom>
            <a:solidFill>
              <a:srgbClr val="0070C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2</a:t>
              </a:r>
            </a:p>
          </p:txBody>
        </p:sp>
        <p:sp>
          <p:nvSpPr>
            <p:cNvPr id="44" name="Oval 56">
              <a:extLst>
                <a:ext uri="{FF2B5EF4-FFF2-40B4-BE49-F238E27FC236}">
                  <a16:creationId xmlns:a16="http://schemas.microsoft.com/office/drawing/2014/main" id="{953FEC30-4B3C-4B19-A962-F5BF7E4296D7}"/>
                </a:ext>
              </a:extLst>
            </p:cNvPr>
            <p:cNvSpPr>
              <a:spLocks noChangeArrowheads="1"/>
            </p:cNvSpPr>
            <p:nvPr/>
          </p:nvSpPr>
          <p:spPr bwMode="auto">
            <a:xfrm>
              <a:off x="11139250" y="5172636"/>
              <a:ext cx="378428" cy="366737"/>
            </a:xfrm>
            <a:prstGeom prst="ellipse">
              <a:avLst/>
            </a:prstGeom>
            <a:solidFill>
              <a:srgbClr val="0070C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2</a:t>
              </a:r>
            </a:p>
          </p:txBody>
        </p:sp>
        <p:sp>
          <p:nvSpPr>
            <p:cNvPr id="45" name="Oval 57">
              <a:extLst>
                <a:ext uri="{FF2B5EF4-FFF2-40B4-BE49-F238E27FC236}">
                  <a16:creationId xmlns:a16="http://schemas.microsoft.com/office/drawing/2014/main" id="{4DD01261-5BB7-4713-B1CE-B1D7C384813A}"/>
                </a:ext>
              </a:extLst>
            </p:cNvPr>
            <p:cNvSpPr>
              <a:spLocks noChangeArrowheads="1"/>
            </p:cNvSpPr>
            <p:nvPr/>
          </p:nvSpPr>
          <p:spPr bwMode="auto">
            <a:xfrm>
              <a:off x="4755124" y="5662645"/>
              <a:ext cx="378427" cy="366737"/>
            </a:xfrm>
            <a:prstGeom prst="ellipse">
              <a:avLst/>
            </a:prstGeom>
            <a:solidFill>
              <a:srgbClr val="FFFF0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3</a:t>
              </a:r>
            </a:p>
          </p:txBody>
        </p:sp>
        <p:sp>
          <p:nvSpPr>
            <p:cNvPr id="46" name="Oval 58">
              <a:extLst>
                <a:ext uri="{FF2B5EF4-FFF2-40B4-BE49-F238E27FC236}">
                  <a16:creationId xmlns:a16="http://schemas.microsoft.com/office/drawing/2014/main" id="{416EE1D5-6094-40D9-9160-F19E07A7BA66}"/>
                </a:ext>
              </a:extLst>
            </p:cNvPr>
            <p:cNvSpPr>
              <a:spLocks noChangeArrowheads="1"/>
            </p:cNvSpPr>
            <p:nvPr/>
          </p:nvSpPr>
          <p:spPr bwMode="auto">
            <a:xfrm>
              <a:off x="11139250" y="5662645"/>
              <a:ext cx="378428" cy="366737"/>
            </a:xfrm>
            <a:prstGeom prst="ellipse">
              <a:avLst/>
            </a:prstGeom>
            <a:solidFill>
              <a:srgbClr val="FFFF0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3</a:t>
              </a:r>
            </a:p>
          </p:txBody>
        </p:sp>
        <p:sp>
          <p:nvSpPr>
            <p:cNvPr id="47" name="Text Box 59">
              <a:extLst>
                <a:ext uri="{FF2B5EF4-FFF2-40B4-BE49-F238E27FC236}">
                  <a16:creationId xmlns:a16="http://schemas.microsoft.com/office/drawing/2014/main" id="{2ADF641B-90D0-4115-ABEA-5E2AC4D16E67}"/>
                </a:ext>
              </a:extLst>
            </p:cNvPr>
            <p:cNvSpPr txBox="1">
              <a:spLocks noChangeArrowheads="1"/>
            </p:cNvSpPr>
            <p:nvPr/>
          </p:nvSpPr>
          <p:spPr bwMode="auto">
            <a:xfrm>
              <a:off x="7504048" y="5391445"/>
              <a:ext cx="1118815"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867" b="1" dirty="0">
                  <a:solidFill>
                    <a:srgbClr val="C00000"/>
                  </a:solidFill>
                  <a:latin typeface="微软雅黑" pitchFamily="34" charset="-122"/>
                  <a:ea typeface="微软雅黑" pitchFamily="34" charset="-122"/>
                </a:rPr>
                <a:t>共享信道</a:t>
              </a:r>
            </a:p>
          </p:txBody>
        </p:sp>
        <p:sp>
          <p:nvSpPr>
            <p:cNvPr id="48" name="Text Box 61">
              <a:extLst>
                <a:ext uri="{FF2B5EF4-FFF2-40B4-BE49-F238E27FC236}">
                  <a16:creationId xmlns:a16="http://schemas.microsoft.com/office/drawing/2014/main" id="{CDF513AD-2AA4-4B6B-AB26-FDF299E1E999}"/>
                </a:ext>
              </a:extLst>
            </p:cNvPr>
            <p:cNvSpPr txBox="1">
              <a:spLocks noChangeArrowheads="1"/>
            </p:cNvSpPr>
            <p:nvPr/>
          </p:nvSpPr>
          <p:spPr bwMode="auto">
            <a:xfrm>
              <a:off x="7111302" y="5801387"/>
              <a:ext cx="199505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67" b="1" dirty="0">
                  <a:latin typeface="微软雅黑" pitchFamily="34" charset="-122"/>
                  <a:ea typeface="微软雅黑" pitchFamily="34" charset="-122"/>
                </a:rPr>
                <a:t>(b) </a:t>
              </a:r>
              <a:r>
                <a:rPr lang="zh-CN" altLang="en-US" sz="1867" b="1" dirty="0">
                  <a:latin typeface="微软雅黑" pitchFamily="34" charset="-122"/>
                  <a:ea typeface="微软雅黑" pitchFamily="34" charset="-122"/>
                </a:rPr>
                <a:t>使用共享信道</a:t>
              </a:r>
            </a:p>
          </p:txBody>
        </p:sp>
        <p:sp>
          <p:nvSpPr>
            <p:cNvPr id="49" name="Oval 62">
              <a:extLst>
                <a:ext uri="{FF2B5EF4-FFF2-40B4-BE49-F238E27FC236}">
                  <a16:creationId xmlns:a16="http://schemas.microsoft.com/office/drawing/2014/main" id="{397C9D88-CA17-44AD-A5A7-E47554409F52}"/>
                </a:ext>
              </a:extLst>
            </p:cNvPr>
            <p:cNvSpPr>
              <a:spLocks noChangeArrowheads="1"/>
            </p:cNvSpPr>
            <p:nvPr/>
          </p:nvSpPr>
          <p:spPr bwMode="auto">
            <a:xfrm>
              <a:off x="5697097" y="5171094"/>
              <a:ext cx="683137" cy="368278"/>
            </a:xfrm>
            <a:prstGeom prst="ellipse">
              <a:avLst/>
            </a:prstGeom>
            <a:solidFill>
              <a:schemeClr val="bg1"/>
            </a:solidFill>
            <a:ln w="9525">
              <a:solidFill>
                <a:schemeClr val="tx1"/>
              </a:solidFill>
              <a:round/>
              <a:headEnd/>
              <a:tailEnd/>
            </a:ln>
            <a:effectLst/>
          </p:spPr>
          <p:txBody>
            <a:bodyPr wrap="none" anchor="ctr"/>
            <a:lstStyle/>
            <a:p>
              <a:pPr algn="ctr"/>
              <a:r>
                <a:rPr lang="zh-CN" altLang="en-US" sz="1867" b="1">
                  <a:solidFill>
                    <a:srgbClr val="0000FF"/>
                  </a:solidFill>
                  <a:latin typeface="微软雅黑" pitchFamily="34" charset="-122"/>
                  <a:ea typeface="微软雅黑" pitchFamily="34" charset="-122"/>
                </a:rPr>
                <a:t>复用</a:t>
              </a:r>
            </a:p>
          </p:txBody>
        </p:sp>
        <p:sp>
          <p:nvSpPr>
            <p:cNvPr id="50" name="Oval 63">
              <a:extLst>
                <a:ext uri="{FF2B5EF4-FFF2-40B4-BE49-F238E27FC236}">
                  <a16:creationId xmlns:a16="http://schemas.microsoft.com/office/drawing/2014/main" id="{B5373644-8B63-4325-8F8F-36D4D7C564B0}"/>
                </a:ext>
              </a:extLst>
            </p:cNvPr>
            <p:cNvSpPr>
              <a:spLocks noChangeArrowheads="1"/>
            </p:cNvSpPr>
            <p:nvPr/>
          </p:nvSpPr>
          <p:spPr bwMode="auto">
            <a:xfrm>
              <a:off x="10094068" y="5184962"/>
              <a:ext cx="683137" cy="368277"/>
            </a:xfrm>
            <a:prstGeom prst="ellipse">
              <a:avLst/>
            </a:prstGeom>
            <a:solidFill>
              <a:schemeClr val="bg1"/>
            </a:solidFill>
            <a:ln w="9525">
              <a:solidFill>
                <a:schemeClr val="tx1"/>
              </a:solidFill>
              <a:round/>
              <a:headEnd/>
              <a:tailEnd/>
            </a:ln>
            <a:effectLst/>
          </p:spPr>
          <p:txBody>
            <a:bodyPr wrap="none" anchor="ctr"/>
            <a:lstStyle/>
            <a:p>
              <a:pPr algn="ctr"/>
              <a:r>
                <a:rPr lang="zh-CN" altLang="en-US" sz="1867" b="1">
                  <a:solidFill>
                    <a:srgbClr val="0000FF"/>
                  </a:solidFill>
                  <a:latin typeface="微软雅黑" pitchFamily="34" charset="-122"/>
                  <a:ea typeface="微软雅黑" pitchFamily="34" charset="-122"/>
                </a:rPr>
                <a:t>分用</a:t>
              </a:r>
            </a:p>
          </p:txBody>
        </p:sp>
        <p:sp>
          <p:nvSpPr>
            <p:cNvPr id="51" name="Line 67">
              <a:extLst>
                <a:ext uri="{FF2B5EF4-FFF2-40B4-BE49-F238E27FC236}">
                  <a16:creationId xmlns:a16="http://schemas.microsoft.com/office/drawing/2014/main" id="{F30D117A-EA34-4F8F-9F0E-2D99091A8761}"/>
                </a:ext>
              </a:extLst>
            </p:cNvPr>
            <p:cNvSpPr>
              <a:spLocks noChangeShapeType="1"/>
            </p:cNvSpPr>
            <p:nvPr/>
          </p:nvSpPr>
          <p:spPr bwMode="auto">
            <a:xfrm>
              <a:off x="6883166" y="5243517"/>
              <a:ext cx="2277119"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2" name="Line 68">
              <a:extLst>
                <a:ext uri="{FF2B5EF4-FFF2-40B4-BE49-F238E27FC236}">
                  <a16:creationId xmlns:a16="http://schemas.microsoft.com/office/drawing/2014/main" id="{30E46474-5CA1-4FAC-8ECA-8912E1D8BB7F}"/>
                </a:ext>
              </a:extLst>
            </p:cNvPr>
            <p:cNvSpPr>
              <a:spLocks noChangeShapeType="1"/>
            </p:cNvSpPr>
            <p:nvPr/>
          </p:nvSpPr>
          <p:spPr bwMode="auto">
            <a:xfrm>
              <a:off x="5200718" y="5323644"/>
              <a:ext cx="380066"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3" name="Line 69">
              <a:extLst>
                <a:ext uri="{FF2B5EF4-FFF2-40B4-BE49-F238E27FC236}">
                  <a16:creationId xmlns:a16="http://schemas.microsoft.com/office/drawing/2014/main" id="{3918306A-66BD-4C61-BC7A-FB81A0C4988C}"/>
                </a:ext>
              </a:extLst>
            </p:cNvPr>
            <p:cNvSpPr>
              <a:spLocks noChangeShapeType="1"/>
            </p:cNvSpPr>
            <p:nvPr/>
          </p:nvSpPr>
          <p:spPr bwMode="auto">
            <a:xfrm>
              <a:off x="10757545" y="5294366"/>
              <a:ext cx="380066"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4" name="Line 70">
              <a:extLst>
                <a:ext uri="{FF2B5EF4-FFF2-40B4-BE49-F238E27FC236}">
                  <a16:creationId xmlns:a16="http://schemas.microsoft.com/office/drawing/2014/main" id="{154A4EBA-870A-441B-80A3-3838029F7214}"/>
                </a:ext>
              </a:extLst>
            </p:cNvPr>
            <p:cNvSpPr>
              <a:spLocks noChangeShapeType="1"/>
            </p:cNvSpPr>
            <p:nvPr/>
          </p:nvSpPr>
          <p:spPr bwMode="auto">
            <a:xfrm rot="1484370">
              <a:off x="5266247" y="5027789"/>
              <a:ext cx="380066"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5" name="Line 71">
              <a:extLst>
                <a:ext uri="{FF2B5EF4-FFF2-40B4-BE49-F238E27FC236}">
                  <a16:creationId xmlns:a16="http://schemas.microsoft.com/office/drawing/2014/main" id="{3B79C2D7-3B79-496D-A489-2C6D47DAA157}"/>
                </a:ext>
              </a:extLst>
            </p:cNvPr>
            <p:cNvSpPr>
              <a:spLocks noChangeShapeType="1"/>
            </p:cNvSpPr>
            <p:nvPr/>
          </p:nvSpPr>
          <p:spPr bwMode="auto">
            <a:xfrm rot="1484370">
              <a:off x="10813245" y="5627203"/>
              <a:ext cx="380066"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6" name="Line 72">
              <a:extLst>
                <a:ext uri="{FF2B5EF4-FFF2-40B4-BE49-F238E27FC236}">
                  <a16:creationId xmlns:a16="http://schemas.microsoft.com/office/drawing/2014/main" id="{B9286034-6530-4C82-A3A8-DC0CAFD2BB7C}"/>
                </a:ext>
              </a:extLst>
            </p:cNvPr>
            <p:cNvSpPr>
              <a:spLocks noChangeShapeType="1"/>
            </p:cNvSpPr>
            <p:nvPr/>
          </p:nvSpPr>
          <p:spPr bwMode="auto">
            <a:xfrm rot="19951492">
              <a:off x="5212185" y="5594845"/>
              <a:ext cx="380066" cy="154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7" name="Line 73">
              <a:extLst>
                <a:ext uri="{FF2B5EF4-FFF2-40B4-BE49-F238E27FC236}">
                  <a16:creationId xmlns:a16="http://schemas.microsoft.com/office/drawing/2014/main" id="{D65945B5-A683-4E38-834E-DE25D0295547}"/>
                </a:ext>
              </a:extLst>
            </p:cNvPr>
            <p:cNvSpPr>
              <a:spLocks noChangeShapeType="1"/>
            </p:cNvSpPr>
            <p:nvPr/>
          </p:nvSpPr>
          <p:spPr bwMode="auto">
            <a:xfrm rot="19951492">
              <a:off x="10677273" y="5037036"/>
              <a:ext cx="380066" cy="154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8" name="Oval 74">
              <a:extLst>
                <a:ext uri="{FF2B5EF4-FFF2-40B4-BE49-F238E27FC236}">
                  <a16:creationId xmlns:a16="http://schemas.microsoft.com/office/drawing/2014/main" id="{901FB8AB-AD99-431A-BF79-A0D600ED9E9E}"/>
                </a:ext>
              </a:extLst>
            </p:cNvPr>
            <p:cNvSpPr>
              <a:spLocks noChangeArrowheads="1"/>
            </p:cNvSpPr>
            <p:nvPr/>
          </p:nvSpPr>
          <p:spPr bwMode="auto">
            <a:xfrm>
              <a:off x="5379284" y="4774094"/>
              <a:ext cx="152354"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59" name="Oval 75">
              <a:extLst>
                <a:ext uri="{FF2B5EF4-FFF2-40B4-BE49-F238E27FC236}">
                  <a16:creationId xmlns:a16="http://schemas.microsoft.com/office/drawing/2014/main" id="{43AAE4A1-9BC3-4E40-9722-45A1D5363CBE}"/>
                </a:ext>
              </a:extLst>
            </p:cNvPr>
            <p:cNvSpPr>
              <a:spLocks noChangeArrowheads="1"/>
            </p:cNvSpPr>
            <p:nvPr/>
          </p:nvSpPr>
          <p:spPr bwMode="auto">
            <a:xfrm>
              <a:off x="10742802" y="4843988"/>
              <a:ext cx="152354" cy="146386"/>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0" name="Rectangle 76">
              <a:extLst>
                <a:ext uri="{FF2B5EF4-FFF2-40B4-BE49-F238E27FC236}">
                  <a16:creationId xmlns:a16="http://schemas.microsoft.com/office/drawing/2014/main" id="{7E022094-4B69-4B10-8268-C4FF78F54E0B}"/>
                </a:ext>
              </a:extLst>
            </p:cNvPr>
            <p:cNvSpPr>
              <a:spLocks noChangeArrowheads="1"/>
            </p:cNvSpPr>
            <p:nvPr/>
          </p:nvSpPr>
          <p:spPr bwMode="auto">
            <a:xfrm>
              <a:off x="5297373" y="5161848"/>
              <a:ext cx="122867" cy="118651"/>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1" name="Rectangle 77">
              <a:extLst>
                <a:ext uri="{FF2B5EF4-FFF2-40B4-BE49-F238E27FC236}">
                  <a16:creationId xmlns:a16="http://schemas.microsoft.com/office/drawing/2014/main" id="{F1C06A16-0EF2-4E2E-BAA6-EAD09088A875}"/>
                </a:ext>
              </a:extLst>
            </p:cNvPr>
            <p:cNvSpPr>
              <a:spLocks noChangeArrowheads="1"/>
            </p:cNvSpPr>
            <p:nvPr/>
          </p:nvSpPr>
          <p:spPr bwMode="auto">
            <a:xfrm>
              <a:off x="10882051" y="5149521"/>
              <a:ext cx="122866" cy="118651"/>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2" name="AutoShape 79">
              <a:extLst>
                <a:ext uri="{FF2B5EF4-FFF2-40B4-BE49-F238E27FC236}">
                  <a16:creationId xmlns:a16="http://schemas.microsoft.com/office/drawing/2014/main" id="{E74FA6D2-0DDD-4B3F-B12E-D77D0964E28B}"/>
                </a:ext>
              </a:extLst>
            </p:cNvPr>
            <p:cNvSpPr>
              <a:spLocks noChangeArrowheads="1"/>
            </p:cNvSpPr>
            <p:nvPr/>
          </p:nvSpPr>
          <p:spPr bwMode="auto">
            <a:xfrm>
              <a:off x="10924644" y="5423802"/>
              <a:ext cx="170374" cy="166418"/>
            </a:xfrm>
            <a:prstGeom prst="star5">
              <a:avLst/>
            </a:prstGeom>
            <a:solidFill>
              <a:srgbClr val="FFFF00"/>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sp>
          <p:nvSpPr>
            <p:cNvPr id="63" name="AutoShape 88">
              <a:extLst>
                <a:ext uri="{FF2B5EF4-FFF2-40B4-BE49-F238E27FC236}">
                  <a16:creationId xmlns:a16="http://schemas.microsoft.com/office/drawing/2014/main" id="{39EC8AA7-1135-46CD-A07C-3DC5E51AC15D}"/>
                </a:ext>
              </a:extLst>
            </p:cNvPr>
            <p:cNvSpPr>
              <a:spLocks noChangeArrowheads="1"/>
            </p:cNvSpPr>
            <p:nvPr/>
          </p:nvSpPr>
          <p:spPr bwMode="auto">
            <a:xfrm>
              <a:off x="5231843" y="5439213"/>
              <a:ext cx="172013" cy="16487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4" name="Oval 89">
              <a:extLst>
                <a:ext uri="{FF2B5EF4-FFF2-40B4-BE49-F238E27FC236}">
                  <a16:creationId xmlns:a16="http://schemas.microsoft.com/office/drawing/2014/main" id="{BFB2342A-9254-4725-B0D8-57D0A930F74F}"/>
                </a:ext>
              </a:extLst>
            </p:cNvPr>
            <p:cNvSpPr>
              <a:spLocks noChangeArrowheads="1"/>
            </p:cNvSpPr>
            <p:nvPr/>
          </p:nvSpPr>
          <p:spPr bwMode="auto">
            <a:xfrm>
              <a:off x="7599429" y="5021625"/>
              <a:ext cx="152353"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5" name="Rectangle 90">
              <a:extLst>
                <a:ext uri="{FF2B5EF4-FFF2-40B4-BE49-F238E27FC236}">
                  <a16:creationId xmlns:a16="http://schemas.microsoft.com/office/drawing/2014/main" id="{82472865-953A-40CC-BD41-2B7F09953124}"/>
                </a:ext>
              </a:extLst>
            </p:cNvPr>
            <p:cNvSpPr>
              <a:spLocks noChangeArrowheads="1"/>
            </p:cNvSpPr>
            <p:nvPr/>
          </p:nvSpPr>
          <p:spPr bwMode="auto">
            <a:xfrm>
              <a:off x="7979494" y="5035493"/>
              <a:ext cx="122866" cy="118651"/>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6" name="AutoShape 91">
              <a:extLst>
                <a:ext uri="{FF2B5EF4-FFF2-40B4-BE49-F238E27FC236}">
                  <a16:creationId xmlns:a16="http://schemas.microsoft.com/office/drawing/2014/main" id="{397D5A6E-0B31-4DB5-8E9A-A71AEE913C94}"/>
                </a:ext>
              </a:extLst>
            </p:cNvPr>
            <p:cNvSpPr>
              <a:spLocks noChangeArrowheads="1"/>
            </p:cNvSpPr>
            <p:nvPr/>
          </p:nvSpPr>
          <p:spPr bwMode="auto">
            <a:xfrm>
              <a:off x="8339902" y="5010839"/>
              <a:ext cx="170374" cy="16641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grpSp>
      <p:sp>
        <p:nvSpPr>
          <p:cNvPr id="68" name="文本框 67">
            <a:extLst>
              <a:ext uri="{FF2B5EF4-FFF2-40B4-BE49-F238E27FC236}">
                <a16:creationId xmlns:a16="http://schemas.microsoft.com/office/drawing/2014/main" id="{F5069BB2-AA14-4B2D-8326-25B02AB200B5}"/>
              </a:ext>
            </a:extLst>
          </p:cNvPr>
          <p:cNvSpPr txBox="1"/>
          <p:nvPr/>
        </p:nvSpPr>
        <p:spPr>
          <a:xfrm>
            <a:off x="483809" y="1486490"/>
            <a:ext cx="11542127" cy="1329338"/>
          </a:xfrm>
          <a:prstGeom prst="rect">
            <a:avLst/>
          </a:prstGeom>
        </p:spPr>
        <p:txBody>
          <a:bodyPr wrap="square">
            <a:spAutoFit/>
          </a:bodyPr>
          <a:lstStyle>
            <a:defPPr>
              <a:defRPr lang="zh-CN"/>
            </a:defPPr>
            <a:lvl1pPr eaLnBrk="0" hangingPunct="0">
              <a:lnSpc>
                <a:spcPts val="3300"/>
              </a:lnSpc>
              <a:buClr>
                <a:srgbClr val="0070C0"/>
              </a:buClr>
              <a:defRPr sz="2400">
                <a:solidFill>
                  <a:srgbClr val="C00000"/>
                </a:solidFill>
                <a:latin typeface="微软雅黑" pitchFamily="34" charset="-122"/>
                <a:ea typeface="微软雅黑" pitchFamily="34" charset="-122"/>
              </a:defRPr>
            </a:lvl1pPr>
          </a:lstStyle>
          <a:p>
            <a:pPr marL="342900" indent="-342900">
              <a:buFont typeface="Wingdings" panose="05000000000000000000" pitchFamily="2" charset="2"/>
              <a:buChar char="Ø"/>
            </a:pPr>
            <a:r>
              <a:rPr lang="zh-CN" altLang="en-US" dirty="0">
                <a:solidFill>
                  <a:schemeClr val="tx1"/>
                </a:solidFill>
              </a:rPr>
              <a:t>信道资源是有限的，实际网络中，多对用户往往需要利用相同的信道资源传输信息</a:t>
            </a:r>
            <a:endParaRPr lang="en-US" altLang="zh-CN" dirty="0">
              <a:solidFill>
                <a:schemeClr val="tx1"/>
              </a:solidFill>
            </a:endParaRPr>
          </a:p>
          <a:p>
            <a:pPr marL="342900" indent="-342900">
              <a:buFont typeface="Wingdings" panose="05000000000000000000" pitchFamily="2" charset="2"/>
              <a:buChar char="Ø"/>
            </a:pPr>
            <a:r>
              <a:rPr lang="zh-CN" altLang="en-US" dirty="0">
                <a:solidFill>
                  <a:schemeClr val="tx1"/>
                </a:solidFill>
              </a:rPr>
              <a:t>不同的信号同时在同一信道中传输会产生严重的相互干扰，导致传输失败。</a:t>
            </a:r>
            <a:endParaRPr lang="en-US" altLang="zh-CN" dirty="0">
              <a:solidFill>
                <a:schemeClr val="tx1"/>
              </a:solidFill>
            </a:endParaRPr>
          </a:p>
          <a:p>
            <a:endParaRPr lang="zh-CN" altLang="en-US" dirty="0">
              <a:solidFill>
                <a:schemeClr val="tx1"/>
              </a:solidFill>
            </a:endParaRPr>
          </a:p>
        </p:txBody>
      </p:sp>
      <p:sp>
        <p:nvSpPr>
          <p:cNvPr id="72" name="文本框 71">
            <a:extLst>
              <a:ext uri="{FF2B5EF4-FFF2-40B4-BE49-F238E27FC236}">
                <a16:creationId xmlns:a16="http://schemas.microsoft.com/office/drawing/2014/main" id="{4315D43F-CFB7-41CC-8DDB-88EAE783532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40180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3CB60-64B7-4F67-8D40-5ABF972A54D1}"/>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频分复用</a:t>
            </a:r>
            <a:r>
              <a:rPr lang="en-US" altLang="zh-CN" dirty="0">
                <a:latin typeface="微软雅黑" panose="020B0503020204020204" pitchFamily="34" charset="-122"/>
                <a:ea typeface="微软雅黑" panose="020B0503020204020204" pitchFamily="34" charset="-122"/>
              </a:rPr>
              <a:t>(FDM)</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8228EF8-A5D2-4CE4-8911-05ABD1F03B27}"/>
              </a:ext>
            </a:extLst>
          </p:cNvPr>
          <p:cNvSpPr>
            <a:spLocks noGrp="1"/>
          </p:cNvSpPr>
          <p:nvPr>
            <p:ph type="sldNum" sz="quarter" idx="12"/>
          </p:nvPr>
        </p:nvSpPr>
        <p:spPr/>
        <p:txBody>
          <a:bodyPr/>
          <a:lstStyle/>
          <a:p>
            <a:fld id="{8D4D1E41-7A09-AB4A-A4E1-09765ADA2698}" type="slidenum">
              <a:rPr kumimoji="1" lang="zh-CN" altLang="en-US" smtClean="0"/>
              <a:t>99</a:t>
            </a:fld>
            <a:endParaRPr kumimoji="1" lang="zh-CN" altLang="en-US" dirty="0"/>
          </a:p>
        </p:txBody>
      </p:sp>
      <p:sp>
        <p:nvSpPr>
          <p:cNvPr id="5" name="Rectangle 68">
            <a:extLst>
              <a:ext uri="{FF2B5EF4-FFF2-40B4-BE49-F238E27FC236}">
                <a16:creationId xmlns:a16="http://schemas.microsoft.com/office/drawing/2014/main" id="{04C62C0C-65EE-4C55-8A71-C3CE08EC9180}"/>
              </a:ext>
            </a:extLst>
          </p:cNvPr>
          <p:cNvSpPr>
            <a:spLocks noChangeArrowheads="1"/>
          </p:cNvSpPr>
          <p:nvPr/>
        </p:nvSpPr>
        <p:spPr bwMode="auto">
          <a:xfrm>
            <a:off x="439845" y="1587659"/>
            <a:ext cx="6281207" cy="43205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eaLnBrk="0" hangingPunct="0">
              <a:lnSpc>
                <a:spcPts val="3200"/>
              </a:lnSpc>
              <a:spcBef>
                <a:spcPts val="6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频分复用（</a:t>
            </a:r>
            <a:r>
              <a:rPr lang="en-US" altLang="zh-CN" sz="2400" dirty="0">
                <a:latin typeface="微软雅黑" panose="020B0503020204020204" pitchFamily="34" charset="-122"/>
                <a:ea typeface="微软雅黑" panose="020B0503020204020204" pitchFamily="34" charset="-122"/>
              </a:rPr>
              <a:t>Frequency-division multiplexing,</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FDM</a:t>
            </a:r>
            <a:r>
              <a:rPr lang="zh-CN" altLang="en-US" sz="2400" dirty="0">
                <a:latin typeface="微软雅黑" panose="020B0503020204020204" pitchFamily="34" charset="-122"/>
                <a:ea typeface="微软雅黑" panose="020B0503020204020204" pitchFamily="34" charset="-122"/>
              </a:rPr>
              <a:t>），是一种将多路基带信号调制到不同频率载波上，再进行叠加形成一个复合信号的多路复用技术</a:t>
            </a:r>
            <a:endParaRPr lang="en-US" altLang="zh-CN" sz="2400" dirty="0">
              <a:latin typeface="微软雅黑" panose="020B0503020204020204" pitchFamily="34" charset="-122"/>
              <a:ea typeface="微软雅黑" panose="020B0503020204020204" pitchFamily="34" charset="-122"/>
            </a:endParaRPr>
          </a:p>
          <a:p>
            <a:pPr marL="457200" indent="-457200" eaLnBrk="0" hangingPunct="0">
              <a:lnSpc>
                <a:spcPts val="3200"/>
              </a:lnSpc>
              <a:spcBef>
                <a:spcPts val="600"/>
              </a:spcBef>
              <a:buFont typeface="Wingdings" panose="05000000000000000000" pitchFamily="2" charset="2"/>
              <a:buChar char="Ø"/>
            </a:pPr>
            <a:r>
              <a:rPr lang="zh-CN" altLang="en-US" sz="2400" dirty="0">
                <a:latin typeface="微软雅黑" pitchFamily="34" charset="-122"/>
                <a:ea typeface="微软雅黑" pitchFamily="34" charset="-122"/>
              </a:rPr>
              <a:t>频分复用将整个带宽分为多份，用户在分配到一定的频带后，在通信过程中自始至终都占用这个频带</a:t>
            </a:r>
          </a:p>
          <a:p>
            <a:pPr marL="457200" indent="-457200" eaLnBrk="0" hangingPunct="0">
              <a:lnSpc>
                <a:spcPts val="3200"/>
              </a:lnSpc>
              <a:spcBef>
                <a:spcPts val="600"/>
              </a:spcBef>
              <a:buFont typeface="Wingdings" panose="05000000000000000000" pitchFamily="2" charset="2"/>
              <a:buChar char="Ø"/>
            </a:pPr>
            <a:r>
              <a:rPr lang="zh-CN" altLang="en-US" sz="2400" dirty="0">
                <a:solidFill>
                  <a:srgbClr val="C00000"/>
                </a:solidFill>
                <a:latin typeface="微软雅黑" pitchFamily="34" charset="-122"/>
                <a:ea typeface="微软雅黑" pitchFamily="34" charset="-122"/>
              </a:rPr>
              <a:t>频分复用</a:t>
            </a:r>
            <a:r>
              <a:rPr lang="zh-CN" altLang="en-US" sz="2400" dirty="0">
                <a:latin typeface="微软雅黑" pitchFamily="34" charset="-122"/>
                <a:ea typeface="微软雅黑" pitchFamily="34" charset="-122"/>
              </a:rPr>
              <a:t>的所有用户在同样的时间</a:t>
            </a:r>
            <a:r>
              <a:rPr lang="zh-CN" altLang="en-US" sz="2400" dirty="0">
                <a:solidFill>
                  <a:srgbClr val="C00000"/>
                </a:solidFill>
                <a:latin typeface="微软雅黑" pitchFamily="34" charset="-122"/>
                <a:ea typeface="微软雅黑" pitchFamily="34" charset="-122"/>
              </a:rPr>
              <a:t>占用不同的带宽资源</a:t>
            </a:r>
            <a:r>
              <a:rPr lang="zh-CN" altLang="en-US" sz="2400" dirty="0">
                <a:latin typeface="微软雅黑" pitchFamily="34" charset="-122"/>
                <a:ea typeface="微软雅黑" pitchFamily="34" charset="-122"/>
              </a:rPr>
              <a:t>（请注意，这里的“带宽”是</a:t>
            </a:r>
            <a:r>
              <a:rPr lang="zh-CN" altLang="en-US" sz="2400" b="1" dirty="0">
                <a:latin typeface="微软雅黑" pitchFamily="34" charset="-122"/>
                <a:ea typeface="微软雅黑" pitchFamily="34" charset="-122"/>
              </a:rPr>
              <a:t>频率带宽</a:t>
            </a:r>
            <a:r>
              <a:rPr lang="zh-CN" altLang="en-US" sz="2400" dirty="0">
                <a:latin typeface="微软雅黑" pitchFamily="34" charset="-122"/>
                <a:ea typeface="微软雅黑" pitchFamily="34" charset="-122"/>
              </a:rPr>
              <a:t>而不是数据的</a:t>
            </a:r>
            <a:r>
              <a:rPr lang="zh-CN" altLang="en-US" sz="2400" b="1" dirty="0">
                <a:latin typeface="微软雅黑" pitchFamily="34" charset="-122"/>
                <a:ea typeface="微软雅黑" pitchFamily="34" charset="-122"/>
              </a:rPr>
              <a:t>发送速率</a:t>
            </a:r>
            <a:r>
              <a:rPr lang="zh-CN" altLang="en-US" sz="2400" dirty="0">
                <a:latin typeface="微软雅黑" pitchFamily="34" charset="-122"/>
                <a:ea typeface="微软雅黑" pitchFamily="34" charset="-122"/>
              </a:rPr>
              <a:t>） </a:t>
            </a:r>
          </a:p>
        </p:txBody>
      </p:sp>
      <p:sp>
        <p:nvSpPr>
          <p:cNvPr id="7" name="Text Box 29">
            <a:extLst>
              <a:ext uri="{FF2B5EF4-FFF2-40B4-BE49-F238E27FC236}">
                <a16:creationId xmlns:a16="http://schemas.microsoft.com/office/drawing/2014/main" id="{4C2AB722-54B7-4CA9-9DF6-BACE18B2A558}"/>
              </a:ext>
            </a:extLst>
          </p:cNvPr>
          <p:cNvSpPr txBox="1">
            <a:spLocks noChangeArrowheads="1"/>
          </p:cNvSpPr>
          <p:nvPr/>
        </p:nvSpPr>
        <p:spPr bwMode="auto">
          <a:xfrm>
            <a:off x="6597571" y="1275878"/>
            <a:ext cx="662361"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867" dirty="0">
                <a:latin typeface="微软雅黑" pitchFamily="34" charset="-122"/>
                <a:ea typeface="微软雅黑" pitchFamily="34" charset="-122"/>
              </a:rPr>
              <a:t>频率</a:t>
            </a:r>
          </a:p>
        </p:txBody>
      </p:sp>
      <p:sp>
        <p:nvSpPr>
          <p:cNvPr id="8" name="Text Box 30">
            <a:extLst>
              <a:ext uri="{FF2B5EF4-FFF2-40B4-BE49-F238E27FC236}">
                <a16:creationId xmlns:a16="http://schemas.microsoft.com/office/drawing/2014/main" id="{1378363E-AAE7-4A4D-89E2-16585A8780EC}"/>
              </a:ext>
            </a:extLst>
          </p:cNvPr>
          <p:cNvSpPr txBox="1">
            <a:spLocks noChangeArrowheads="1"/>
          </p:cNvSpPr>
          <p:nvPr/>
        </p:nvSpPr>
        <p:spPr bwMode="auto">
          <a:xfrm>
            <a:off x="11342301" y="3159080"/>
            <a:ext cx="662361"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867" dirty="0">
                <a:latin typeface="微软雅黑" pitchFamily="34" charset="-122"/>
                <a:ea typeface="微软雅黑" pitchFamily="34" charset="-122"/>
              </a:rPr>
              <a:t>时间</a:t>
            </a:r>
          </a:p>
        </p:txBody>
      </p:sp>
      <p:sp>
        <p:nvSpPr>
          <p:cNvPr id="9" name="Rectangle 31">
            <a:extLst>
              <a:ext uri="{FF2B5EF4-FFF2-40B4-BE49-F238E27FC236}">
                <a16:creationId xmlns:a16="http://schemas.microsoft.com/office/drawing/2014/main" id="{AB163AA6-EE0C-4354-9D85-CA5339978EC8}"/>
              </a:ext>
            </a:extLst>
          </p:cNvPr>
          <p:cNvSpPr>
            <a:spLocks noChangeArrowheads="1"/>
          </p:cNvSpPr>
          <p:nvPr/>
        </p:nvSpPr>
        <p:spPr bwMode="auto">
          <a:xfrm>
            <a:off x="6954632" y="1763304"/>
            <a:ext cx="4628207" cy="252340"/>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dirty="0">
              <a:solidFill>
                <a:srgbClr val="0000FF"/>
              </a:solidFill>
              <a:latin typeface="微软雅黑" pitchFamily="34" charset="-122"/>
              <a:ea typeface="微软雅黑" pitchFamily="34" charset="-122"/>
            </a:endParaRPr>
          </a:p>
        </p:txBody>
      </p:sp>
      <p:sp>
        <p:nvSpPr>
          <p:cNvPr id="10" name="Rectangle 32">
            <a:extLst>
              <a:ext uri="{FF2B5EF4-FFF2-40B4-BE49-F238E27FC236}">
                <a16:creationId xmlns:a16="http://schemas.microsoft.com/office/drawing/2014/main" id="{7D979761-68A6-451E-A12C-173974E26B8A}"/>
              </a:ext>
            </a:extLst>
          </p:cNvPr>
          <p:cNvSpPr>
            <a:spLocks noChangeArrowheads="1"/>
          </p:cNvSpPr>
          <p:nvPr/>
        </p:nvSpPr>
        <p:spPr bwMode="auto">
          <a:xfrm>
            <a:off x="6954632" y="2015644"/>
            <a:ext cx="4628207" cy="25234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11" name="Rectangle 34">
            <a:extLst>
              <a:ext uri="{FF2B5EF4-FFF2-40B4-BE49-F238E27FC236}">
                <a16:creationId xmlns:a16="http://schemas.microsoft.com/office/drawing/2014/main" id="{A3719FE7-5E41-4F1F-9B43-17D467032550}"/>
              </a:ext>
            </a:extLst>
          </p:cNvPr>
          <p:cNvSpPr>
            <a:spLocks noChangeArrowheads="1"/>
          </p:cNvSpPr>
          <p:nvPr/>
        </p:nvSpPr>
        <p:spPr bwMode="auto">
          <a:xfrm>
            <a:off x="6954632" y="2520324"/>
            <a:ext cx="4628207" cy="252340"/>
          </a:xfrm>
          <a:prstGeom prst="rect">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12" name="Rectangle 35">
            <a:extLst>
              <a:ext uri="{FF2B5EF4-FFF2-40B4-BE49-F238E27FC236}">
                <a16:creationId xmlns:a16="http://schemas.microsoft.com/office/drawing/2014/main" id="{D8595BB3-E8AB-4232-8CC3-7E9553F9C56B}"/>
              </a:ext>
            </a:extLst>
          </p:cNvPr>
          <p:cNvSpPr>
            <a:spLocks noChangeArrowheads="1"/>
          </p:cNvSpPr>
          <p:nvPr/>
        </p:nvSpPr>
        <p:spPr bwMode="auto">
          <a:xfrm>
            <a:off x="6954632" y="2772664"/>
            <a:ext cx="4628207" cy="252340"/>
          </a:xfrm>
          <a:prstGeom prst="rect">
            <a:avLst/>
          </a:prstGeom>
          <a:solidFill>
            <a:srgbClr val="7030A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13" name="Text Box 36">
            <a:extLst>
              <a:ext uri="{FF2B5EF4-FFF2-40B4-BE49-F238E27FC236}">
                <a16:creationId xmlns:a16="http://schemas.microsoft.com/office/drawing/2014/main" id="{FA566667-3BDF-4F38-B7D2-70C3C5F1C809}"/>
              </a:ext>
            </a:extLst>
          </p:cNvPr>
          <p:cNvSpPr txBox="1">
            <a:spLocks noChangeArrowheads="1"/>
          </p:cNvSpPr>
          <p:nvPr/>
        </p:nvSpPr>
        <p:spPr bwMode="auto">
          <a:xfrm>
            <a:off x="8937395" y="2728461"/>
            <a:ext cx="1500379"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dirty="0">
                <a:latin typeface="微软雅黑" pitchFamily="34" charset="-122"/>
                <a:ea typeface="微软雅黑" pitchFamily="34" charset="-122"/>
              </a:rPr>
              <a:t>频带 </a:t>
            </a:r>
            <a:r>
              <a:rPr kumimoji="1" lang="en-US" altLang="zh-CN" dirty="0">
                <a:latin typeface="微软雅黑" pitchFamily="34" charset="-122"/>
                <a:ea typeface="微软雅黑" pitchFamily="34" charset="-122"/>
              </a:rPr>
              <a:t>1</a:t>
            </a:r>
          </a:p>
        </p:txBody>
      </p:sp>
      <p:sp>
        <p:nvSpPr>
          <p:cNvPr id="14" name="Text Box 37">
            <a:extLst>
              <a:ext uri="{FF2B5EF4-FFF2-40B4-BE49-F238E27FC236}">
                <a16:creationId xmlns:a16="http://schemas.microsoft.com/office/drawing/2014/main" id="{E19D7A04-F6F9-472D-9C5F-D1FEC5A30286}"/>
              </a:ext>
            </a:extLst>
          </p:cNvPr>
          <p:cNvSpPr txBox="1">
            <a:spLocks noChangeArrowheads="1"/>
          </p:cNvSpPr>
          <p:nvPr/>
        </p:nvSpPr>
        <p:spPr bwMode="auto">
          <a:xfrm>
            <a:off x="8937395" y="2475088"/>
            <a:ext cx="1665753" cy="3509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dirty="0">
                <a:latin typeface="微软雅黑" pitchFamily="34" charset="-122"/>
                <a:ea typeface="微软雅黑" pitchFamily="34" charset="-122"/>
              </a:rPr>
              <a:t>频带</a:t>
            </a:r>
            <a:r>
              <a:rPr kumimoji="1" lang="zh-CN" altLang="en-US" sz="1867" dirty="0">
                <a:latin typeface="微软雅黑" pitchFamily="34" charset="-122"/>
                <a:ea typeface="微软雅黑" pitchFamily="34" charset="-122"/>
              </a:rPr>
              <a:t> </a:t>
            </a:r>
            <a:r>
              <a:rPr kumimoji="1" lang="en-US" altLang="zh-CN" sz="1867" dirty="0">
                <a:latin typeface="微软雅黑" pitchFamily="34" charset="-122"/>
                <a:ea typeface="微软雅黑" pitchFamily="34" charset="-122"/>
              </a:rPr>
              <a:t>2</a:t>
            </a:r>
          </a:p>
        </p:txBody>
      </p:sp>
      <p:sp>
        <p:nvSpPr>
          <p:cNvPr id="15" name="Text Box 39">
            <a:extLst>
              <a:ext uri="{FF2B5EF4-FFF2-40B4-BE49-F238E27FC236}">
                <a16:creationId xmlns:a16="http://schemas.microsoft.com/office/drawing/2014/main" id="{45234B47-1215-4195-B526-44CE4CB0A57D}"/>
              </a:ext>
            </a:extLst>
          </p:cNvPr>
          <p:cNvSpPr txBox="1">
            <a:spLocks noChangeArrowheads="1"/>
          </p:cNvSpPr>
          <p:nvPr/>
        </p:nvSpPr>
        <p:spPr bwMode="auto">
          <a:xfrm>
            <a:off x="9052697" y="1911947"/>
            <a:ext cx="684687"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en-US" altLang="zh-CN" sz="1867" b="1" dirty="0">
                <a:latin typeface="微软雅黑" pitchFamily="34" charset="-122"/>
                <a:ea typeface="微软雅黑" pitchFamily="34" charset="-122"/>
                <a:sym typeface="Symbol" pitchFamily="18" charset="2"/>
              </a:rPr>
              <a:t></a:t>
            </a:r>
            <a:endParaRPr kumimoji="1" lang="zh-CN" altLang="zh-CN" sz="1867" b="1" dirty="0">
              <a:latin typeface="微软雅黑" pitchFamily="34" charset="-122"/>
              <a:ea typeface="微软雅黑" pitchFamily="34" charset="-122"/>
              <a:sym typeface="Symbol" pitchFamily="18" charset="2"/>
            </a:endParaRPr>
          </a:p>
        </p:txBody>
      </p:sp>
      <p:sp>
        <p:nvSpPr>
          <p:cNvPr id="16" name="Text Box 40">
            <a:extLst>
              <a:ext uri="{FF2B5EF4-FFF2-40B4-BE49-F238E27FC236}">
                <a16:creationId xmlns:a16="http://schemas.microsoft.com/office/drawing/2014/main" id="{00747745-441A-4ECE-8386-518A33CD8E63}"/>
              </a:ext>
            </a:extLst>
          </p:cNvPr>
          <p:cNvSpPr txBox="1">
            <a:spLocks noChangeArrowheads="1"/>
          </p:cNvSpPr>
          <p:nvPr/>
        </p:nvSpPr>
        <p:spPr bwMode="auto">
          <a:xfrm>
            <a:off x="8937395" y="1709794"/>
            <a:ext cx="1196219"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dirty="0">
                <a:latin typeface="微软雅黑" pitchFamily="34" charset="-122"/>
                <a:ea typeface="微软雅黑" pitchFamily="34" charset="-122"/>
              </a:rPr>
              <a:t>频带 </a:t>
            </a:r>
            <a:r>
              <a:rPr kumimoji="1" lang="en-US" altLang="zh-CN" dirty="0">
                <a:latin typeface="微软雅黑" pitchFamily="34" charset="-122"/>
                <a:ea typeface="微软雅黑" pitchFamily="34" charset="-122"/>
              </a:rPr>
              <a:t>n</a:t>
            </a:r>
          </a:p>
        </p:txBody>
      </p:sp>
      <p:sp>
        <p:nvSpPr>
          <p:cNvPr id="17" name="Rectangle 34">
            <a:extLst>
              <a:ext uri="{FF2B5EF4-FFF2-40B4-BE49-F238E27FC236}">
                <a16:creationId xmlns:a16="http://schemas.microsoft.com/office/drawing/2014/main" id="{B38297C0-CC63-4FD5-9151-DC162878A28E}"/>
              </a:ext>
            </a:extLst>
          </p:cNvPr>
          <p:cNvSpPr>
            <a:spLocks noChangeArrowheads="1"/>
          </p:cNvSpPr>
          <p:nvPr/>
        </p:nvSpPr>
        <p:spPr bwMode="auto">
          <a:xfrm>
            <a:off x="6960151" y="2267984"/>
            <a:ext cx="4622688" cy="238344"/>
          </a:xfrm>
          <a:prstGeom prst="rect">
            <a:avLst/>
          </a:prstGeom>
          <a:solidFill>
            <a:srgbClr val="00B050"/>
          </a:solidFill>
          <a:ln>
            <a:solidFill>
              <a:schemeClr val="tx1"/>
            </a:solidFill>
          </a:ln>
          <a:effec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18" name="Text Box 38">
            <a:extLst>
              <a:ext uri="{FF2B5EF4-FFF2-40B4-BE49-F238E27FC236}">
                <a16:creationId xmlns:a16="http://schemas.microsoft.com/office/drawing/2014/main" id="{C24F04F1-F147-491E-AB48-A4E28A2B80EF}"/>
              </a:ext>
            </a:extLst>
          </p:cNvPr>
          <p:cNvSpPr txBox="1">
            <a:spLocks noChangeArrowheads="1"/>
          </p:cNvSpPr>
          <p:nvPr/>
        </p:nvSpPr>
        <p:spPr bwMode="auto">
          <a:xfrm>
            <a:off x="8937395" y="2218235"/>
            <a:ext cx="1500380"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dirty="0">
                <a:latin typeface="微软雅黑" pitchFamily="34" charset="-122"/>
                <a:ea typeface="微软雅黑" pitchFamily="34" charset="-122"/>
              </a:rPr>
              <a:t>频带 </a:t>
            </a:r>
            <a:r>
              <a:rPr kumimoji="1" lang="en-US" altLang="zh-CN" dirty="0">
                <a:latin typeface="微软雅黑" pitchFamily="34" charset="-122"/>
                <a:ea typeface="微软雅黑" pitchFamily="34" charset="-122"/>
              </a:rPr>
              <a:t>3</a:t>
            </a:r>
          </a:p>
        </p:txBody>
      </p:sp>
      <p:cxnSp>
        <p:nvCxnSpPr>
          <p:cNvPr id="19" name="直接箭头连接符 18">
            <a:extLst>
              <a:ext uri="{FF2B5EF4-FFF2-40B4-BE49-F238E27FC236}">
                <a16:creationId xmlns:a16="http://schemas.microsoft.com/office/drawing/2014/main" id="{49467F2A-3D2C-4905-BA37-46F28D4917E9}"/>
              </a:ext>
            </a:extLst>
          </p:cNvPr>
          <p:cNvCxnSpPr>
            <a:cxnSpLocks/>
          </p:cNvCxnSpPr>
          <p:nvPr/>
        </p:nvCxnSpPr>
        <p:spPr bwMode="auto">
          <a:xfrm>
            <a:off x="6954632" y="3125808"/>
            <a:ext cx="4957403"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Line 41">
            <a:extLst>
              <a:ext uri="{FF2B5EF4-FFF2-40B4-BE49-F238E27FC236}">
                <a16:creationId xmlns:a16="http://schemas.microsoft.com/office/drawing/2014/main" id="{46B6FF8A-4D52-49BA-AC30-416C29406C06}"/>
              </a:ext>
            </a:extLst>
          </p:cNvPr>
          <p:cNvSpPr>
            <a:spLocks noChangeShapeType="1"/>
          </p:cNvSpPr>
          <p:nvPr/>
        </p:nvSpPr>
        <p:spPr bwMode="auto">
          <a:xfrm rot="16200000">
            <a:off x="6166845" y="2353519"/>
            <a:ext cx="1575573" cy="0"/>
          </a:xfrm>
          <a:prstGeom prst="line">
            <a:avLst/>
          </a:prstGeom>
          <a:noFill/>
          <a:ln w="28575">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21" name="矩形 20">
            <a:extLst>
              <a:ext uri="{FF2B5EF4-FFF2-40B4-BE49-F238E27FC236}">
                <a16:creationId xmlns:a16="http://schemas.microsoft.com/office/drawing/2014/main" id="{39024797-5722-4B56-ABA8-87E58463190D}"/>
              </a:ext>
            </a:extLst>
          </p:cNvPr>
          <p:cNvSpPr/>
          <p:nvPr/>
        </p:nvSpPr>
        <p:spPr>
          <a:xfrm>
            <a:off x="8923026" y="3300553"/>
            <a:ext cx="1210588" cy="400110"/>
          </a:xfrm>
          <a:prstGeom prst="rect">
            <a:avLst/>
          </a:prstGeom>
        </p:spPr>
        <p:txBody>
          <a:bodyPr wrap="none">
            <a:spAutoFit/>
          </a:bodyPr>
          <a:lstStyle/>
          <a:p>
            <a:pPr algn="ctr"/>
            <a:r>
              <a:rPr lang="zh-CN" altLang="en-US" sz="2000" b="1" dirty="0">
                <a:latin typeface="微软雅黑" pitchFamily="34" charset="-122"/>
                <a:ea typeface="微软雅黑" pitchFamily="34" charset="-122"/>
              </a:rPr>
              <a:t>频分复用</a:t>
            </a:r>
          </a:p>
        </p:txBody>
      </p:sp>
      <p:sp>
        <p:nvSpPr>
          <p:cNvPr id="23" name="矩形 22">
            <a:extLst>
              <a:ext uri="{FF2B5EF4-FFF2-40B4-BE49-F238E27FC236}">
                <a16:creationId xmlns:a16="http://schemas.microsoft.com/office/drawing/2014/main" id="{AAE160E7-5F31-42A3-9176-372BE1495F8F}"/>
              </a:ext>
            </a:extLst>
          </p:cNvPr>
          <p:cNvSpPr/>
          <p:nvPr/>
        </p:nvSpPr>
        <p:spPr>
          <a:xfrm>
            <a:off x="6467348" y="6322387"/>
            <a:ext cx="7332531" cy="369332"/>
          </a:xfrm>
          <a:prstGeom prst="rect">
            <a:avLst/>
          </a:prstGeom>
        </p:spPr>
        <p:txBody>
          <a:bodyPr wrap="square">
            <a:spAutoFit/>
          </a:bodyPr>
          <a:lstStyle/>
          <a:p>
            <a:r>
              <a:rPr lang="en-US" altLang="zh-CN" b="1" dirty="0"/>
              <a:t>(a) </a:t>
            </a:r>
            <a:r>
              <a:rPr lang="zh-CN" altLang="en-US" b="1" dirty="0"/>
              <a:t>原始频带</a:t>
            </a:r>
            <a:r>
              <a:rPr lang="en-US" altLang="zh-CN" b="1" dirty="0"/>
              <a:t>  (b) </a:t>
            </a:r>
            <a:r>
              <a:rPr lang="zh-CN" altLang="en-US" b="1" dirty="0"/>
              <a:t>叠加到不同频率上的频带 </a:t>
            </a:r>
            <a:r>
              <a:rPr lang="en-US" altLang="zh-CN" b="1" dirty="0"/>
              <a:t> (c) </a:t>
            </a:r>
            <a:r>
              <a:rPr lang="zh-CN" altLang="en-US" b="1" dirty="0"/>
              <a:t>复用信道</a:t>
            </a:r>
            <a:endParaRPr lang="en-US" altLang="zh-CN" b="1" dirty="0"/>
          </a:p>
        </p:txBody>
      </p:sp>
      <p:grpSp>
        <p:nvGrpSpPr>
          <p:cNvPr id="196" name="组合 195">
            <a:extLst>
              <a:ext uri="{FF2B5EF4-FFF2-40B4-BE49-F238E27FC236}">
                <a16:creationId xmlns:a16="http://schemas.microsoft.com/office/drawing/2014/main" id="{C9CD4E1C-272C-4F11-A614-91F5E6CA608C}"/>
              </a:ext>
            </a:extLst>
          </p:cNvPr>
          <p:cNvGrpSpPr/>
          <p:nvPr/>
        </p:nvGrpSpPr>
        <p:grpSpPr>
          <a:xfrm>
            <a:off x="6522152" y="3510838"/>
            <a:ext cx="5709176" cy="2794852"/>
            <a:chOff x="6964605" y="3530502"/>
            <a:chExt cx="6075431" cy="2794852"/>
          </a:xfrm>
        </p:grpSpPr>
        <p:grpSp>
          <p:nvGrpSpPr>
            <p:cNvPr id="94" name="组合 93">
              <a:extLst>
                <a:ext uri="{FF2B5EF4-FFF2-40B4-BE49-F238E27FC236}">
                  <a16:creationId xmlns:a16="http://schemas.microsoft.com/office/drawing/2014/main" id="{932D73B7-F474-42D7-A655-D27B9DE8AF9D}"/>
                </a:ext>
              </a:extLst>
            </p:cNvPr>
            <p:cNvGrpSpPr/>
            <p:nvPr/>
          </p:nvGrpSpPr>
          <p:grpSpPr>
            <a:xfrm>
              <a:off x="6964605" y="3530502"/>
              <a:ext cx="5817274" cy="2794852"/>
              <a:chOff x="7222648" y="3503635"/>
              <a:chExt cx="6173848" cy="2794852"/>
            </a:xfrm>
          </p:grpSpPr>
          <p:grpSp>
            <p:nvGrpSpPr>
              <p:cNvPr id="63" name="组合 62">
                <a:extLst>
                  <a:ext uri="{FF2B5EF4-FFF2-40B4-BE49-F238E27FC236}">
                    <a16:creationId xmlns:a16="http://schemas.microsoft.com/office/drawing/2014/main" id="{CE952207-720F-4596-A493-A7BF2D518A95}"/>
                  </a:ext>
                </a:extLst>
              </p:cNvPr>
              <p:cNvGrpSpPr/>
              <p:nvPr/>
            </p:nvGrpSpPr>
            <p:grpSpPr>
              <a:xfrm>
                <a:off x="7603615" y="3503635"/>
                <a:ext cx="1068351" cy="654416"/>
                <a:chOff x="7451730" y="3800726"/>
                <a:chExt cx="1220487" cy="740869"/>
              </a:xfrm>
            </p:grpSpPr>
            <p:grpSp>
              <p:nvGrpSpPr>
                <p:cNvPr id="61" name="组合 60">
                  <a:extLst>
                    <a:ext uri="{FF2B5EF4-FFF2-40B4-BE49-F238E27FC236}">
                      <a16:creationId xmlns:a16="http://schemas.microsoft.com/office/drawing/2014/main" id="{C83A80A2-E952-4C66-ADB0-A3C86CC1A15D}"/>
                    </a:ext>
                  </a:extLst>
                </p:cNvPr>
                <p:cNvGrpSpPr/>
                <p:nvPr/>
              </p:nvGrpSpPr>
              <p:grpSpPr>
                <a:xfrm>
                  <a:off x="7451730" y="3926396"/>
                  <a:ext cx="1040076" cy="615199"/>
                  <a:chOff x="8012621" y="4138047"/>
                  <a:chExt cx="1040076" cy="615199"/>
                </a:xfrm>
              </p:grpSpPr>
              <p:sp>
                <p:nvSpPr>
                  <p:cNvPr id="52" name="任意多边形: 形状 51">
                    <a:extLst>
                      <a:ext uri="{FF2B5EF4-FFF2-40B4-BE49-F238E27FC236}">
                        <a16:creationId xmlns:a16="http://schemas.microsoft.com/office/drawing/2014/main" id="{A125DFAF-9004-49CB-9936-61541A780928}"/>
                      </a:ext>
                    </a:extLst>
                  </p:cNvPr>
                  <p:cNvSpPr/>
                  <p:nvPr/>
                </p:nvSpPr>
                <p:spPr>
                  <a:xfrm>
                    <a:off x="8213207" y="4329943"/>
                    <a:ext cx="709819" cy="423303"/>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BD19B44C-E236-44A6-8CC6-FEA9D88C4302}"/>
                      </a:ext>
                    </a:extLst>
                  </p:cNvPr>
                  <p:cNvCxnSpPr>
                    <a:cxnSpLocks/>
                  </p:cNvCxnSpPr>
                  <p:nvPr/>
                </p:nvCxnSpPr>
                <p:spPr>
                  <a:xfrm>
                    <a:off x="8213207" y="4753246"/>
                    <a:ext cx="839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B472017C-6767-46AF-9E6D-2A9D28644982}"/>
                      </a:ext>
                    </a:extLst>
                  </p:cNvPr>
                  <p:cNvCxnSpPr/>
                  <p:nvPr/>
                </p:nvCxnSpPr>
                <p:spPr>
                  <a:xfrm flipV="1">
                    <a:off x="8213207" y="4138047"/>
                    <a:ext cx="0" cy="615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8CE57617-5C13-4909-8025-DFE436C155B7}"/>
                      </a:ext>
                    </a:extLst>
                  </p:cNvPr>
                  <p:cNvCxnSpPr/>
                  <p:nvPr/>
                </p:nvCxnSpPr>
                <p:spPr>
                  <a:xfrm>
                    <a:off x="8213207" y="4329943"/>
                    <a:ext cx="93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7896A147-D7E9-4D26-A516-92138738F57C}"/>
                      </a:ext>
                    </a:extLst>
                  </p:cNvPr>
                  <p:cNvSpPr txBox="1"/>
                  <p:nvPr/>
                </p:nvSpPr>
                <p:spPr>
                  <a:xfrm>
                    <a:off x="8012621" y="4213705"/>
                    <a:ext cx="178230" cy="246221"/>
                  </a:xfrm>
                  <a:prstGeom prst="rect">
                    <a:avLst/>
                  </a:prstGeom>
                  <a:noFill/>
                </p:spPr>
                <p:txBody>
                  <a:bodyPr wrap="square" rtlCol="0">
                    <a:spAutoFit/>
                  </a:bodyPr>
                  <a:lstStyle/>
                  <a:p>
                    <a:r>
                      <a:rPr lang="en-US" altLang="zh-CN" sz="1000" dirty="0"/>
                      <a:t>1</a:t>
                    </a:r>
                    <a:endParaRPr lang="zh-CN" altLang="en-US" sz="1000" dirty="0"/>
                  </a:p>
                </p:txBody>
              </p:sp>
            </p:grpSp>
            <p:sp>
              <p:nvSpPr>
                <p:cNvPr id="62" name="文本框 61">
                  <a:extLst>
                    <a:ext uri="{FF2B5EF4-FFF2-40B4-BE49-F238E27FC236}">
                      <a16:creationId xmlns:a16="http://schemas.microsoft.com/office/drawing/2014/main" id="{04A56976-7D11-4426-9E31-8C5DDE8DB50E}"/>
                    </a:ext>
                  </a:extLst>
                </p:cNvPr>
                <p:cNvSpPr txBox="1"/>
                <p:nvPr/>
              </p:nvSpPr>
              <p:spPr>
                <a:xfrm>
                  <a:off x="7568886" y="3800726"/>
                  <a:ext cx="1103331" cy="247428"/>
                </a:xfrm>
                <a:prstGeom prst="rect">
                  <a:avLst/>
                </a:prstGeom>
                <a:noFill/>
              </p:spPr>
              <p:txBody>
                <a:bodyPr wrap="square" rtlCol="0">
                  <a:spAutoFit/>
                </a:bodyPr>
                <a:lstStyle/>
                <a:p>
                  <a:r>
                    <a:rPr lang="en-US" altLang="zh-CN" sz="1100" dirty="0"/>
                    <a:t>Channel 1</a:t>
                  </a:r>
                  <a:endParaRPr lang="zh-CN" altLang="en-US" sz="1100" dirty="0"/>
                </a:p>
              </p:txBody>
            </p:sp>
          </p:grpSp>
          <p:grpSp>
            <p:nvGrpSpPr>
              <p:cNvPr id="64" name="组合 63">
                <a:extLst>
                  <a:ext uri="{FF2B5EF4-FFF2-40B4-BE49-F238E27FC236}">
                    <a16:creationId xmlns:a16="http://schemas.microsoft.com/office/drawing/2014/main" id="{0F662D7F-4F8F-4763-AA44-884920F99550}"/>
                  </a:ext>
                </a:extLst>
              </p:cNvPr>
              <p:cNvGrpSpPr/>
              <p:nvPr/>
            </p:nvGrpSpPr>
            <p:grpSpPr>
              <a:xfrm>
                <a:off x="7603615" y="4262186"/>
                <a:ext cx="1068351" cy="648746"/>
                <a:chOff x="7451730" y="3800727"/>
                <a:chExt cx="1220487" cy="740868"/>
              </a:xfrm>
            </p:grpSpPr>
            <p:grpSp>
              <p:nvGrpSpPr>
                <p:cNvPr id="65" name="组合 64">
                  <a:extLst>
                    <a:ext uri="{FF2B5EF4-FFF2-40B4-BE49-F238E27FC236}">
                      <a16:creationId xmlns:a16="http://schemas.microsoft.com/office/drawing/2014/main" id="{589892C0-76F7-4ABE-BA36-252B428F9B3B}"/>
                    </a:ext>
                  </a:extLst>
                </p:cNvPr>
                <p:cNvGrpSpPr/>
                <p:nvPr/>
              </p:nvGrpSpPr>
              <p:grpSpPr>
                <a:xfrm>
                  <a:off x="7451730" y="3926396"/>
                  <a:ext cx="1040076" cy="615199"/>
                  <a:chOff x="8012621" y="4138047"/>
                  <a:chExt cx="1040076" cy="615199"/>
                </a:xfrm>
              </p:grpSpPr>
              <p:sp>
                <p:nvSpPr>
                  <p:cNvPr id="67" name="任意多边形: 形状 66">
                    <a:extLst>
                      <a:ext uri="{FF2B5EF4-FFF2-40B4-BE49-F238E27FC236}">
                        <a16:creationId xmlns:a16="http://schemas.microsoft.com/office/drawing/2014/main" id="{82E18A81-4C8B-4205-872F-692661D55E49}"/>
                      </a:ext>
                    </a:extLst>
                  </p:cNvPr>
                  <p:cNvSpPr/>
                  <p:nvPr/>
                </p:nvSpPr>
                <p:spPr>
                  <a:xfrm>
                    <a:off x="8213207" y="4329943"/>
                    <a:ext cx="709819" cy="423303"/>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连接符 67">
                    <a:extLst>
                      <a:ext uri="{FF2B5EF4-FFF2-40B4-BE49-F238E27FC236}">
                        <a16:creationId xmlns:a16="http://schemas.microsoft.com/office/drawing/2014/main" id="{6EE7C36E-6250-4AAA-9431-7F8E9BFE2110}"/>
                      </a:ext>
                    </a:extLst>
                  </p:cNvPr>
                  <p:cNvCxnSpPr>
                    <a:cxnSpLocks/>
                  </p:cNvCxnSpPr>
                  <p:nvPr/>
                </p:nvCxnSpPr>
                <p:spPr>
                  <a:xfrm>
                    <a:off x="8213207" y="4753246"/>
                    <a:ext cx="839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603CF613-99D2-4270-B64E-E8E442712B9E}"/>
                      </a:ext>
                    </a:extLst>
                  </p:cNvPr>
                  <p:cNvCxnSpPr/>
                  <p:nvPr/>
                </p:nvCxnSpPr>
                <p:spPr>
                  <a:xfrm flipV="1">
                    <a:off x="8213207" y="4138047"/>
                    <a:ext cx="0" cy="615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CAEEF319-A8F4-457E-AC3F-CEBD07885F5E}"/>
                      </a:ext>
                    </a:extLst>
                  </p:cNvPr>
                  <p:cNvCxnSpPr/>
                  <p:nvPr/>
                </p:nvCxnSpPr>
                <p:spPr>
                  <a:xfrm>
                    <a:off x="8213207" y="4329943"/>
                    <a:ext cx="93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24F401DB-9D40-435D-AE1A-B01E377E774F}"/>
                      </a:ext>
                    </a:extLst>
                  </p:cNvPr>
                  <p:cNvSpPr txBox="1"/>
                  <p:nvPr/>
                </p:nvSpPr>
                <p:spPr>
                  <a:xfrm>
                    <a:off x="8012621" y="4213705"/>
                    <a:ext cx="178230" cy="246221"/>
                  </a:xfrm>
                  <a:prstGeom prst="rect">
                    <a:avLst/>
                  </a:prstGeom>
                  <a:noFill/>
                </p:spPr>
                <p:txBody>
                  <a:bodyPr wrap="square" rtlCol="0">
                    <a:spAutoFit/>
                  </a:bodyPr>
                  <a:lstStyle/>
                  <a:p>
                    <a:r>
                      <a:rPr lang="en-US" altLang="zh-CN" sz="1000" dirty="0"/>
                      <a:t>1</a:t>
                    </a:r>
                    <a:endParaRPr lang="zh-CN" altLang="en-US" sz="1000" dirty="0"/>
                  </a:p>
                </p:txBody>
              </p:sp>
            </p:grpSp>
            <p:sp>
              <p:nvSpPr>
                <p:cNvPr id="66" name="文本框 65">
                  <a:extLst>
                    <a:ext uri="{FF2B5EF4-FFF2-40B4-BE49-F238E27FC236}">
                      <a16:creationId xmlns:a16="http://schemas.microsoft.com/office/drawing/2014/main" id="{C5D3784F-ECC8-4919-806F-E8C3E1368E0F}"/>
                    </a:ext>
                  </a:extLst>
                </p:cNvPr>
                <p:cNvSpPr txBox="1"/>
                <p:nvPr/>
              </p:nvSpPr>
              <p:spPr>
                <a:xfrm>
                  <a:off x="7568886" y="3800727"/>
                  <a:ext cx="1103331" cy="247428"/>
                </a:xfrm>
                <a:prstGeom prst="rect">
                  <a:avLst/>
                </a:prstGeom>
                <a:noFill/>
              </p:spPr>
              <p:txBody>
                <a:bodyPr wrap="square" rtlCol="0">
                  <a:spAutoFit/>
                </a:bodyPr>
                <a:lstStyle/>
                <a:p>
                  <a:r>
                    <a:rPr lang="en-US" altLang="zh-CN" sz="1100" dirty="0">
                      <a:cs typeface="Times New Roman" panose="02020603050405020304" pitchFamily="18" charset="0"/>
                    </a:rPr>
                    <a:t>Channel 2</a:t>
                  </a:r>
                  <a:endParaRPr lang="zh-CN" altLang="en-US" sz="1100" dirty="0">
                    <a:cs typeface="Times New Roman" panose="02020603050405020304" pitchFamily="18" charset="0"/>
                  </a:endParaRPr>
                </a:p>
              </p:txBody>
            </p:sp>
          </p:grpSp>
          <p:grpSp>
            <p:nvGrpSpPr>
              <p:cNvPr id="91" name="组合 90">
                <a:extLst>
                  <a:ext uri="{FF2B5EF4-FFF2-40B4-BE49-F238E27FC236}">
                    <a16:creationId xmlns:a16="http://schemas.microsoft.com/office/drawing/2014/main" id="{95BE4C0F-86F3-47CF-B8C1-D3320EDC7651}"/>
                  </a:ext>
                </a:extLst>
              </p:cNvPr>
              <p:cNvGrpSpPr/>
              <p:nvPr/>
            </p:nvGrpSpPr>
            <p:grpSpPr>
              <a:xfrm>
                <a:off x="7603613" y="5015076"/>
                <a:ext cx="3525361" cy="845680"/>
                <a:chOff x="7603615" y="5193295"/>
                <a:chExt cx="4136868" cy="1017328"/>
              </a:xfrm>
            </p:grpSpPr>
            <p:grpSp>
              <p:nvGrpSpPr>
                <p:cNvPr id="88" name="组合 87">
                  <a:extLst>
                    <a:ext uri="{FF2B5EF4-FFF2-40B4-BE49-F238E27FC236}">
                      <a16:creationId xmlns:a16="http://schemas.microsoft.com/office/drawing/2014/main" id="{BC606B64-5B86-433E-BA08-EBAB15879AB4}"/>
                    </a:ext>
                  </a:extLst>
                </p:cNvPr>
                <p:cNvGrpSpPr/>
                <p:nvPr/>
              </p:nvGrpSpPr>
              <p:grpSpPr>
                <a:xfrm>
                  <a:off x="7603615" y="5193295"/>
                  <a:ext cx="1253666" cy="727059"/>
                  <a:chOff x="7603615" y="5193295"/>
                  <a:chExt cx="1253666" cy="727059"/>
                </a:xfrm>
              </p:grpSpPr>
              <p:grpSp>
                <p:nvGrpSpPr>
                  <p:cNvPr id="72" name="组合 71">
                    <a:extLst>
                      <a:ext uri="{FF2B5EF4-FFF2-40B4-BE49-F238E27FC236}">
                        <a16:creationId xmlns:a16="http://schemas.microsoft.com/office/drawing/2014/main" id="{598DB2F5-17C3-4322-A2B0-A72D3430165B}"/>
                      </a:ext>
                    </a:extLst>
                  </p:cNvPr>
                  <p:cNvGrpSpPr/>
                  <p:nvPr/>
                </p:nvGrpSpPr>
                <p:grpSpPr>
                  <a:xfrm>
                    <a:off x="7603615" y="5193295"/>
                    <a:ext cx="1253666" cy="719973"/>
                    <a:chOff x="7451730" y="3800726"/>
                    <a:chExt cx="1220487" cy="740869"/>
                  </a:xfrm>
                </p:grpSpPr>
                <p:grpSp>
                  <p:nvGrpSpPr>
                    <p:cNvPr id="73" name="组合 72">
                      <a:extLst>
                        <a:ext uri="{FF2B5EF4-FFF2-40B4-BE49-F238E27FC236}">
                          <a16:creationId xmlns:a16="http://schemas.microsoft.com/office/drawing/2014/main" id="{E86D501D-8C8D-48FD-8827-2BC430FB5F4F}"/>
                        </a:ext>
                      </a:extLst>
                    </p:cNvPr>
                    <p:cNvGrpSpPr/>
                    <p:nvPr/>
                  </p:nvGrpSpPr>
                  <p:grpSpPr>
                    <a:xfrm>
                      <a:off x="7451730" y="3926396"/>
                      <a:ext cx="1040076" cy="615199"/>
                      <a:chOff x="8012621" y="4138047"/>
                      <a:chExt cx="1040076" cy="615199"/>
                    </a:xfrm>
                  </p:grpSpPr>
                  <p:sp>
                    <p:nvSpPr>
                      <p:cNvPr id="75" name="任意多边形: 形状 74">
                        <a:extLst>
                          <a:ext uri="{FF2B5EF4-FFF2-40B4-BE49-F238E27FC236}">
                            <a16:creationId xmlns:a16="http://schemas.microsoft.com/office/drawing/2014/main" id="{3FA3CA3E-1CE8-4043-BFF0-465E4B0EE63A}"/>
                          </a:ext>
                        </a:extLst>
                      </p:cNvPr>
                      <p:cNvSpPr/>
                      <p:nvPr/>
                    </p:nvSpPr>
                    <p:spPr>
                      <a:xfrm>
                        <a:off x="8213207" y="4329943"/>
                        <a:ext cx="709819" cy="423303"/>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6" name="直接连接符 75">
                        <a:extLst>
                          <a:ext uri="{FF2B5EF4-FFF2-40B4-BE49-F238E27FC236}">
                            <a16:creationId xmlns:a16="http://schemas.microsoft.com/office/drawing/2014/main" id="{35632A17-2CF6-4470-B9BA-C7B3759888B4}"/>
                          </a:ext>
                        </a:extLst>
                      </p:cNvPr>
                      <p:cNvCxnSpPr>
                        <a:cxnSpLocks/>
                      </p:cNvCxnSpPr>
                      <p:nvPr/>
                    </p:nvCxnSpPr>
                    <p:spPr>
                      <a:xfrm>
                        <a:off x="8213207" y="4753246"/>
                        <a:ext cx="839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F005F8C7-9F34-44C9-8A04-3CD37167E2C5}"/>
                          </a:ext>
                        </a:extLst>
                      </p:cNvPr>
                      <p:cNvCxnSpPr/>
                      <p:nvPr/>
                    </p:nvCxnSpPr>
                    <p:spPr>
                      <a:xfrm flipV="1">
                        <a:off x="8213207" y="4138047"/>
                        <a:ext cx="0" cy="615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A86FB02-4A7E-4362-8011-61F43D59E832}"/>
                          </a:ext>
                        </a:extLst>
                      </p:cNvPr>
                      <p:cNvCxnSpPr/>
                      <p:nvPr/>
                    </p:nvCxnSpPr>
                    <p:spPr>
                      <a:xfrm>
                        <a:off x="8213207" y="4329943"/>
                        <a:ext cx="93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FB30F459-5792-458B-9A30-700F325B8190}"/>
                          </a:ext>
                        </a:extLst>
                      </p:cNvPr>
                      <p:cNvSpPr txBox="1"/>
                      <p:nvPr/>
                    </p:nvSpPr>
                    <p:spPr>
                      <a:xfrm>
                        <a:off x="8012621" y="4213705"/>
                        <a:ext cx="178230" cy="246221"/>
                      </a:xfrm>
                      <a:prstGeom prst="rect">
                        <a:avLst/>
                      </a:prstGeom>
                      <a:noFill/>
                    </p:spPr>
                    <p:txBody>
                      <a:bodyPr wrap="square" rtlCol="0">
                        <a:spAutoFit/>
                      </a:bodyPr>
                      <a:lstStyle/>
                      <a:p>
                        <a:r>
                          <a:rPr lang="en-US" altLang="zh-CN" sz="1000" dirty="0"/>
                          <a:t>1</a:t>
                        </a:r>
                        <a:endParaRPr lang="zh-CN" altLang="en-US" sz="1000" dirty="0"/>
                      </a:p>
                    </p:txBody>
                  </p:sp>
                </p:grpSp>
                <p:sp>
                  <p:nvSpPr>
                    <p:cNvPr id="74" name="文本框 73">
                      <a:extLst>
                        <a:ext uri="{FF2B5EF4-FFF2-40B4-BE49-F238E27FC236}">
                          <a16:creationId xmlns:a16="http://schemas.microsoft.com/office/drawing/2014/main" id="{D5561ACD-5DD8-49F5-84C8-2C92649DC8E6}"/>
                        </a:ext>
                      </a:extLst>
                    </p:cNvPr>
                    <p:cNvSpPr txBox="1"/>
                    <p:nvPr/>
                  </p:nvSpPr>
                  <p:spPr>
                    <a:xfrm>
                      <a:off x="7568886" y="3800726"/>
                      <a:ext cx="1103331" cy="269202"/>
                    </a:xfrm>
                    <a:prstGeom prst="rect">
                      <a:avLst/>
                    </a:prstGeom>
                    <a:noFill/>
                  </p:spPr>
                  <p:txBody>
                    <a:bodyPr wrap="square" rtlCol="0">
                      <a:spAutoFit/>
                    </a:bodyPr>
                    <a:lstStyle/>
                    <a:p>
                      <a:r>
                        <a:rPr lang="en-US" altLang="zh-CN" sz="1100" dirty="0">
                          <a:cs typeface="Times New Roman" panose="02020603050405020304" pitchFamily="18" charset="0"/>
                        </a:rPr>
                        <a:t>Channel 3</a:t>
                      </a:r>
                      <a:endParaRPr lang="zh-CN" altLang="en-US" sz="1100" dirty="0">
                        <a:cs typeface="Times New Roman" panose="02020603050405020304" pitchFamily="18" charset="0"/>
                      </a:endParaRPr>
                    </a:p>
                  </p:txBody>
                </p:sp>
              </p:grpSp>
              <p:cxnSp>
                <p:nvCxnSpPr>
                  <p:cNvPr id="83" name="直接连接符 82">
                    <a:extLst>
                      <a:ext uri="{FF2B5EF4-FFF2-40B4-BE49-F238E27FC236}">
                        <a16:creationId xmlns:a16="http://schemas.microsoft.com/office/drawing/2014/main" id="{E8B90B3F-4842-42D9-AB08-389E1F1C7536}"/>
                      </a:ext>
                    </a:extLst>
                  </p:cNvPr>
                  <p:cNvCxnSpPr>
                    <a:cxnSpLocks/>
                  </p:cNvCxnSpPr>
                  <p:nvPr/>
                </p:nvCxnSpPr>
                <p:spPr>
                  <a:xfrm>
                    <a:off x="7880887" y="5861573"/>
                    <a:ext cx="0" cy="58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4B8F9D5-7AE9-42B4-8633-207D78C02E2D}"/>
                      </a:ext>
                    </a:extLst>
                  </p:cNvPr>
                  <p:cNvCxnSpPr>
                    <a:cxnSpLocks/>
                  </p:cNvCxnSpPr>
                  <p:nvPr/>
                </p:nvCxnSpPr>
                <p:spPr>
                  <a:xfrm>
                    <a:off x="8459487" y="5850280"/>
                    <a:ext cx="0" cy="58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9" name="文本框 88">
                  <a:extLst>
                    <a:ext uri="{FF2B5EF4-FFF2-40B4-BE49-F238E27FC236}">
                      <a16:creationId xmlns:a16="http://schemas.microsoft.com/office/drawing/2014/main" id="{36B56D47-DF19-4380-81F1-BB04CAC4BF99}"/>
                    </a:ext>
                  </a:extLst>
                </p:cNvPr>
                <p:cNvSpPr txBox="1"/>
                <p:nvPr/>
              </p:nvSpPr>
              <p:spPr>
                <a:xfrm>
                  <a:off x="7700711" y="5863563"/>
                  <a:ext cx="535412" cy="314710"/>
                </a:xfrm>
                <a:prstGeom prst="rect">
                  <a:avLst/>
                </a:prstGeom>
                <a:noFill/>
              </p:spPr>
              <p:txBody>
                <a:bodyPr wrap="square" rtlCol="0">
                  <a:spAutoFit/>
                </a:bodyPr>
                <a:lstStyle/>
                <a:p>
                  <a:r>
                    <a:rPr lang="en-US" altLang="zh-CN" sz="1100" dirty="0"/>
                    <a:t>300</a:t>
                  </a:r>
                  <a:endParaRPr lang="zh-CN" altLang="en-US" sz="1100" dirty="0"/>
                </a:p>
              </p:txBody>
            </p:sp>
            <p:sp>
              <p:nvSpPr>
                <p:cNvPr id="90" name="文本框 89">
                  <a:extLst>
                    <a:ext uri="{FF2B5EF4-FFF2-40B4-BE49-F238E27FC236}">
                      <a16:creationId xmlns:a16="http://schemas.microsoft.com/office/drawing/2014/main" id="{2CD10A60-866F-4C83-9728-589AEEE51262}"/>
                    </a:ext>
                  </a:extLst>
                </p:cNvPr>
                <p:cNvSpPr txBox="1"/>
                <p:nvPr/>
              </p:nvSpPr>
              <p:spPr>
                <a:xfrm>
                  <a:off x="8236126" y="5864213"/>
                  <a:ext cx="616017" cy="314710"/>
                </a:xfrm>
                <a:prstGeom prst="rect">
                  <a:avLst/>
                </a:prstGeom>
                <a:noFill/>
              </p:spPr>
              <p:txBody>
                <a:bodyPr wrap="square" rtlCol="0">
                  <a:spAutoFit/>
                </a:bodyPr>
                <a:lstStyle/>
                <a:p>
                  <a:r>
                    <a:rPr lang="en-US" altLang="zh-CN" sz="1100" dirty="0"/>
                    <a:t>3100</a:t>
                  </a:r>
                  <a:endParaRPr lang="zh-CN" altLang="en-US" sz="1100" dirty="0"/>
                </a:p>
              </p:txBody>
            </p:sp>
            <p:sp>
              <p:nvSpPr>
                <p:cNvPr id="160" name="文本框 159">
                  <a:extLst>
                    <a:ext uri="{FF2B5EF4-FFF2-40B4-BE49-F238E27FC236}">
                      <a16:creationId xmlns:a16="http://schemas.microsoft.com/office/drawing/2014/main" id="{F162E913-9D28-44B7-872D-AE6493101CD1}"/>
                    </a:ext>
                  </a:extLst>
                </p:cNvPr>
                <p:cNvSpPr txBox="1"/>
                <p:nvPr/>
              </p:nvSpPr>
              <p:spPr>
                <a:xfrm>
                  <a:off x="9227691" y="5866205"/>
                  <a:ext cx="535412" cy="314709"/>
                </a:xfrm>
                <a:prstGeom prst="rect">
                  <a:avLst/>
                </a:prstGeom>
                <a:noFill/>
              </p:spPr>
              <p:txBody>
                <a:bodyPr wrap="square" rtlCol="0">
                  <a:spAutoFit/>
                </a:bodyPr>
                <a:lstStyle/>
                <a:p>
                  <a:r>
                    <a:rPr lang="en-US" altLang="zh-CN" sz="1100" dirty="0"/>
                    <a:t>60</a:t>
                  </a:r>
                  <a:endParaRPr lang="zh-CN" altLang="en-US" sz="1100" dirty="0"/>
                </a:p>
              </p:txBody>
            </p:sp>
            <p:sp>
              <p:nvSpPr>
                <p:cNvPr id="161" name="文本框 160">
                  <a:extLst>
                    <a:ext uri="{FF2B5EF4-FFF2-40B4-BE49-F238E27FC236}">
                      <a16:creationId xmlns:a16="http://schemas.microsoft.com/office/drawing/2014/main" id="{EC07100F-DA90-4E38-A133-ED6475A883F7}"/>
                    </a:ext>
                  </a:extLst>
                </p:cNvPr>
                <p:cNvSpPr txBox="1"/>
                <p:nvPr/>
              </p:nvSpPr>
              <p:spPr>
                <a:xfrm>
                  <a:off x="9930538" y="5866205"/>
                  <a:ext cx="535412" cy="314709"/>
                </a:xfrm>
                <a:prstGeom prst="rect">
                  <a:avLst/>
                </a:prstGeom>
                <a:noFill/>
              </p:spPr>
              <p:txBody>
                <a:bodyPr wrap="square" rtlCol="0">
                  <a:spAutoFit/>
                </a:bodyPr>
                <a:lstStyle/>
                <a:p>
                  <a:r>
                    <a:rPr lang="en-US" altLang="zh-CN" sz="1100" dirty="0"/>
                    <a:t>64</a:t>
                  </a:r>
                  <a:endParaRPr lang="zh-CN" altLang="en-US" sz="1100" dirty="0"/>
                </a:p>
              </p:txBody>
            </p:sp>
            <p:sp>
              <p:nvSpPr>
                <p:cNvPr id="162" name="文本框 161">
                  <a:extLst>
                    <a:ext uri="{FF2B5EF4-FFF2-40B4-BE49-F238E27FC236}">
                      <a16:creationId xmlns:a16="http://schemas.microsoft.com/office/drawing/2014/main" id="{705BDFB8-1E8B-4978-9E29-C7888D5B2358}"/>
                    </a:ext>
                  </a:extLst>
                </p:cNvPr>
                <p:cNvSpPr txBox="1"/>
                <p:nvPr/>
              </p:nvSpPr>
              <p:spPr>
                <a:xfrm>
                  <a:off x="10578473" y="5895914"/>
                  <a:ext cx="535412" cy="314709"/>
                </a:xfrm>
                <a:prstGeom prst="rect">
                  <a:avLst/>
                </a:prstGeom>
                <a:noFill/>
              </p:spPr>
              <p:txBody>
                <a:bodyPr wrap="square" rtlCol="0">
                  <a:spAutoFit/>
                </a:bodyPr>
                <a:lstStyle/>
                <a:p>
                  <a:r>
                    <a:rPr lang="en-US" altLang="zh-CN" sz="1100" dirty="0"/>
                    <a:t>68</a:t>
                  </a:r>
                  <a:endParaRPr lang="zh-CN" altLang="en-US" sz="1100" dirty="0"/>
                </a:p>
              </p:txBody>
            </p:sp>
            <p:sp>
              <p:nvSpPr>
                <p:cNvPr id="163" name="文本框 162">
                  <a:extLst>
                    <a:ext uri="{FF2B5EF4-FFF2-40B4-BE49-F238E27FC236}">
                      <a16:creationId xmlns:a16="http://schemas.microsoft.com/office/drawing/2014/main" id="{8DD8118C-CF4A-4031-AAD4-E979AA2F23A1}"/>
                    </a:ext>
                  </a:extLst>
                </p:cNvPr>
                <p:cNvSpPr txBox="1"/>
                <p:nvPr/>
              </p:nvSpPr>
              <p:spPr>
                <a:xfrm>
                  <a:off x="11205071" y="5868332"/>
                  <a:ext cx="535412" cy="314709"/>
                </a:xfrm>
                <a:prstGeom prst="rect">
                  <a:avLst/>
                </a:prstGeom>
                <a:noFill/>
              </p:spPr>
              <p:txBody>
                <a:bodyPr wrap="square" rtlCol="0">
                  <a:spAutoFit/>
                </a:bodyPr>
                <a:lstStyle/>
                <a:p>
                  <a:r>
                    <a:rPr lang="en-US" altLang="zh-CN" sz="1100" dirty="0"/>
                    <a:t>72</a:t>
                  </a:r>
                  <a:endParaRPr lang="zh-CN" altLang="en-US" sz="1100" dirty="0"/>
                </a:p>
              </p:txBody>
            </p:sp>
          </p:grpSp>
          <p:sp>
            <p:nvSpPr>
              <p:cNvPr id="92" name="文本框 91">
                <a:extLst>
                  <a:ext uri="{FF2B5EF4-FFF2-40B4-BE49-F238E27FC236}">
                    <a16:creationId xmlns:a16="http://schemas.microsoft.com/office/drawing/2014/main" id="{2A629F5F-1AAD-4BD2-B829-AFEB355EB92E}"/>
                  </a:ext>
                </a:extLst>
              </p:cNvPr>
              <p:cNvSpPr txBox="1"/>
              <p:nvPr/>
            </p:nvSpPr>
            <p:spPr>
              <a:xfrm rot="10800000">
                <a:off x="7222648" y="3943864"/>
                <a:ext cx="400110" cy="1597788"/>
              </a:xfrm>
              <a:prstGeom prst="rect">
                <a:avLst/>
              </a:prstGeom>
              <a:noFill/>
            </p:spPr>
            <p:txBody>
              <a:bodyPr vert="eaVert" wrap="square" rtlCol="0">
                <a:spAutoFit/>
              </a:bodyPr>
              <a:lstStyle/>
              <a:p>
                <a:r>
                  <a:rPr lang="en-US" altLang="zh-CN" sz="1400" dirty="0"/>
                  <a:t>Attenuation factor</a:t>
                </a:r>
                <a:endParaRPr lang="zh-CN" altLang="en-US" sz="1400" dirty="0"/>
              </a:p>
            </p:txBody>
          </p:sp>
          <p:sp>
            <p:nvSpPr>
              <p:cNvPr id="93" name="文本框 92">
                <a:extLst>
                  <a:ext uri="{FF2B5EF4-FFF2-40B4-BE49-F238E27FC236}">
                    <a16:creationId xmlns:a16="http://schemas.microsoft.com/office/drawing/2014/main" id="{71B98928-07A3-4CEB-B803-EA4438E316BE}"/>
                  </a:ext>
                </a:extLst>
              </p:cNvPr>
              <p:cNvSpPr txBox="1"/>
              <p:nvPr/>
            </p:nvSpPr>
            <p:spPr>
              <a:xfrm>
                <a:off x="7527363" y="5813363"/>
                <a:ext cx="1382548" cy="461665"/>
              </a:xfrm>
              <a:prstGeom prst="rect">
                <a:avLst/>
              </a:prstGeom>
              <a:noFill/>
            </p:spPr>
            <p:txBody>
              <a:bodyPr wrap="square" rtlCol="0">
                <a:spAutoFit/>
              </a:bodyPr>
              <a:lstStyle/>
              <a:p>
                <a:r>
                  <a:rPr lang="en-US" altLang="zh-CN" sz="1200" dirty="0"/>
                  <a:t>Frequency (Hz)</a:t>
                </a:r>
              </a:p>
              <a:p>
                <a:pPr algn="ctr"/>
                <a:r>
                  <a:rPr lang="en-US" altLang="zh-CN" sz="1200" dirty="0"/>
                  <a:t>(a)</a:t>
                </a:r>
                <a:endParaRPr lang="zh-CN" altLang="en-US" sz="1200" dirty="0"/>
              </a:p>
            </p:txBody>
          </p:sp>
          <p:sp>
            <p:nvSpPr>
              <p:cNvPr id="164" name="文本框 163">
                <a:extLst>
                  <a:ext uri="{FF2B5EF4-FFF2-40B4-BE49-F238E27FC236}">
                    <a16:creationId xmlns:a16="http://schemas.microsoft.com/office/drawing/2014/main" id="{CA0AB235-0EDA-44E0-B936-67B2B668AE3A}"/>
                  </a:ext>
                </a:extLst>
              </p:cNvPr>
              <p:cNvSpPr txBox="1"/>
              <p:nvPr/>
            </p:nvSpPr>
            <p:spPr>
              <a:xfrm>
                <a:off x="9446660" y="5836822"/>
                <a:ext cx="1517798" cy="461665"/>
              </a:xfrm>
              <a:prstGeom prst="rect">
                <a:avLst/>
              </a:prstGeom>
              <a:noFill/>
            </p:spPr>
            <p:txBody>
              <a:bodyPr wrap="square" rtlCol="0">
                <a:spAutoFit/>
              </a:bodyPr>
              <a:lstStyle/>
              <a:p>
                <a:r>
                  <a:rPr lang="en-US" altLang="zh-CN" sz="1200" dirty="0"/>
                  <a:t>Frequency (kHz)</a:t>
                </a:r>
              </a:p>
              <a:p>
                <a:pPr algn="ctr"/>
                <a:r>
                  <a:rPr lang="en-US" altLang="zh-CN" sz="1200" dirty="0"/>
                  <a:t>(b)</a:t>
                </a:r>
                <a:endParaRPr lang="zh-CN" altLang="en-US" sz="1200" dirty="0"/>
              </a:p>
            </p:txBody>
          </p:sp>
          <p:sp>
            <p:nvSpPr>
              <p:cNvPr id="195" name="文本框 194">
                <a:extLst>
                  <a:ext uri="{FF2B5EF4-FFF2-40B4-BE49-F238E27FC236}">
                    <a16:creationId xmlns:a16="http://schemas.microsoft.com/office/drawing/2014/main" id="{ED7B7624-7380-4ED9-84F7-B07B4309075A}"/>
                  </a:ext>
                </a:extLst>
              </p:cNvPr>
              <p:cNvSpPr txBox="1"/>
              <p:nvPr/>
            </p:nvSpPr>
            <p:spPr>
              <a:xfrm>
                <a:off x="11831718" y="5108934"/>
                <a:ext cx="1564778" cy="461665"/>
              </a:xfrm>
              <a:prstGeom prst="rect">
                <a:avLst/>
              </a:prstGeom>
              <a:noFill/>
            </p:spPr>
            <p:txBody>
              <a:bodyPr wrap="square" rtlCol="0">
                <a:spAutoFit/>
              </a:bodyPr>
              <a:lstStyle/>
              <a:p>
                <a:r>
                  <a:rPr lang="en-US" altLang="zh-CN" sz="1200" dirty="0"/>
                  <a:t>Frequency (kHz)</a:t>
                </a:r>
              </a:p>
              <a:p>
                <a:pPr algn="ctr"/>
                <a:r>
                  <a:rPr lang="en-US" altLang="zh-CN" sz="1200" dirty="0"/>
                  <a:t>(c)</a:t>
                </a:r>
                <a:endParaRPr lang="zh-CN" altLang="en-US" sz="1200" dirty="0"/>
              </a:p>
            </p:txBody>
          </p:sp>
        </p:grpSp>
        <p:grpSp>
          <p:nvGrpSpPr>
            <p:cNvPr id="122" name="组合 121">
              <a:extLst>
                <a:ext uri="{FF2B5EF4-FFF2-40B4-BE49-F238E27FC236}">
                  <a16:creationId xmlns:a16="http://schemas.microsoft.com/office/drawing/2014/main" id="{F2169451-6137-4C7E-AA9D-F44F21A36740}"/>
                </a:ext>
              </a:extLst>
            </p:cNvPr>
            <p:cNvGrpSpPr/>
            <p:nvPr/>
          </p:nvGrpSpPr>
          <p:grpSpPr>
            <a:xfrm>
              <a:off x="8481984" y="3669667"/>
              <a:ext cx="1948376" cy="721585"/>
              <a:chOff x="8481984" y="3669667"/>
              <a:chExt cx="1948376" cy="721585"/>
            </a:xfrm>
          </p:grpSpPr>
          <p:grpSp>
            <p:nvGrpSpPr>
              <p:cNvPr id="104" name="组合 103">
                <a:extLst>
                  <a:ext uri="{FF2B5EF4-FFF2-40B4-BE49-F238E27FC236}">
                    <a16:creationId xmlns:a16="http://schemas.microsoft.com/office/drawing/2014/main" id="{0E80F357-26C0-4DCC-84D3-5F6668EC73A7}"/>
                  </a:ext>
                </a:extLst>
              </p:cNvPr>
              <p:cNvGrpSpPr/>
              <p:nvPr/>
            </p:nvGrpSpPr>
            <p:grpSpPr>
              <a:xfrm>
                <a:off x="8481984" y="3669667"/>
                <a:ext cx="1948376" cy="721585"/>
                <a:chOff x="8481984" y="3669667"/>
                <a:chExt cx="1948376" cy="721585"/>
              </a:xfrm>
            </p:grpSpPr>
            <p:cxnSp>
              <p:nvCxnSpPr>
                <p:cNvPr id="96" name="直接连接符 95">
                  <a:extLst>
                    <a:ext uri="{FF2B5EF4-FFF2-40B4-BE49-F238E27FC236}">
                      <a16:creationId xmlns:a16="http://schemas.microsoft.com/office/drawing/2014/main" id="{2552A041-EDEE-4256-A586-7A1EDA1E7F9D}"/>
                    </a:ext>
                  </a:extLst>
                </p:cNvPr>
                <p:cNvCxnSpPr/>
                <p:nvPr/>
              </p:nvCxnSpPr>
              <p:spPr>
                <a:xfrm>
                  <a:off x="8534440" y="3669667"/>
                  <a:ext cx="0" cy="511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38AC5217-BCB3-4683-80B0-E1648748A613}"/>
                    </a:ext>
                  </a:extLst>
                </p:cNvPr>
                <p:cNvCxnSpPr>
                  <a:cxnSpLocks/>
                </p:cNvCxnSpPr>
                <p:nvPr/>
              </p:nvCxnSpPr>
              <p:spPr>
                <a:xfrm>
                  <a:off x="8534440" y="4181298"/>
                  <a:ext cx="18959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矩形 102">
                  <a:extLst>
                    <a:ext uri="{FF2B5EF4-FFF2-40B4-BE49-F238E27FC236}">
                      <a16:creationId xmlns:a16="http://schemas.microsoft.com/office/drawing/2014/main" id="{C7650839-05ED-404D-874B-F66FC37C2ACD}"/>
                    </a:ext>
                  </a:extLst>
                </p:cNvPr>
                <p:cNvSpPr/>
                <p:nvPr/>
              </p:nvSpPr>
              <p:spPr>
                <a:xfrm>
                  <a:off x="8637926" y="4135168"/>
                  <a:ext cx="85241" cy="1138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 name="组合 101">
                  <a:extLst>
                    <a:ext uri="{FF2B5EF4-FFF2-40B4-BE49-F238E27FC236}">
                      <a16:creationId xmlns:a16="http://schemas.microsoft.com/office/drawing/2014/main" id="{E55D6E75-B963-4BF9-9997-47B34CDA36B8}"/>
                    </a:ext>
                  </a:extLst>
                </p:cNvPr>
                <p:cNvGrpSpPr/>
                <p:nvPr/>
              </p:nvGrpSpPr>
              <p:grpSpPr>
                <a:xfrm>
                  <a:off x="8481984" y="4019797"/>
                  <a:ext cx="425032" cy="371455"/>
                  <a:chOff x="8667961" y="4879950"/>
                  <a:chExt cx="425032" cy="371455"/>
                </a:xfrm>
              </p:grpSpPr>
              <p:sp>
                <p:nvSpPr>
                  <p:cNvPr id="100" name="文本框 99">
                    <a:extLst>
                      <a:ext uri="{FF2B5EF4-FFF2-40B4-BE49-F238E27FC236}">
                        <a16:creationId xmlns:a16="http://schemas.microsoft.com/office/drawing/2014/main" id="{27EF0769-BA6B-4E4F-A955-43C55FCC7BFA}"/>
                      </a:ext>
                    </a:extLst>
                  </p:cNvPr>
                  <p:cNvSpPr txBox="1"/>
                  <p:nvPr/>
                </p:nvSpPr>
                <p:spPr>
                  <a:xfrm rot="16200000" flipH="1" flipV="1">
                    <a:off x="8668142" y="4882254"/>
                    <a:ext cx="368970" cy="369332"/>
                  </a:xfrm>
                  <a:prstGeom prst="rect">
                    <a:avLst/>
                  </a:prstGeom>
                  <a:noFill/>
                </p:spPr>
                <p:txBody>
                  <a:bodyPr wrap="square" rtlCol="0">
                    <a:spAutoFit/>
                  </a:bodyPr>
                  <a:lstStyle/>
                  <a:p>
                    <a:r>
                      <a:rPr lang="en-US" altLang="zh-CN" dirty="0"/>
                      <a:t>~</a:t>
                    </a:r>
                    <a:endParaRPr lang="zh-CN" altLang="en-US" dirty="0"/>
                  </a:p>
                </p:txBody>
              </p:sp>
              <p:sp>
                <p:nvSpPr>
                  <p:cNvPr id="101" name="文本框 100">
                    <a:extLst>
                      <a:ext uri="{FF2B5EF4-FFF2-40B4-BE49-F238E27FC236}">
                        <a16:creationId xmlns:a16="http://schemas.microsoft.com/office/drawing/2014/main" id="{568C86A6-166B-47CC-9EBB-161EF33009AA}"/>
                      </a:ext>
                    </a:extLst>
                  </p:cNvPr>
                  <p:cNvSpPr txBox="1"/>
                  <p:nvPr/>
                </p:nvSpPr>
                <p:spPr>
                  <a:xfrm rot="16200000" flipH="1" flipV="1">
                    <a:off x="8723660" y="4879951"/>
                    <a:ext cx="369334" cy="369332"/>
                  </a:xfrm>
                  <a:prstGeom prst="rect">
                    <a:avLst/>
                  </a:prstGeom>
                  <a:noFill/>
                </p:spPr>
                <p:txBody>
                  <a:bodyPr wrap="square" rtlCol="0">
                    <a:spAutoFit/>
                  </a:bodyPr>
                  <a:lstStyle/>
                  <a:p>
                    <a:r>
                      <a:rPr lang="en-US" altLang="zh-CN" dirty="0"/>
                      <a:t>~</a:t>
                    </a:r>
                    <a:endParaRPr lang="zh-CN" altLang="en-US" dirty="0"/>
                  </a:p>
                </p:txBody>
              </p:sp>
            </p:grpSp>
          </p:grpSp>
          <p:sp>
            <p:nvSpPr>
              <p:cNvPr id="105" name="任意多边形: 形状 104">
                <a:extLst>
                  <a:ext uri="{FF2B5EF4-FFF2-40B4-BE49-F238E27FC236}">
                    <a16:creationId xmlns:a16="http://schemas.microsoft.com/office/drawing/2014/main" id="{664B0559-AC3E-4CB3-B8E0-77E1F0B8AD6A}"/>
                  </a:ext>
                </a:extLst>
              </p:cNvPr>
              <p:cNvSpPr/>
              <p:nvPr/>
            </p:nvSpPr>
            <p:spPr>
              <a:xfrm>
                <a:off x="8809587" y="3814376"/>
                <a:ext cx="585453" cy="373907"/>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3" name="组合 122">
              <a:extLst>
                <a:ext uri="{FF2B5EF4-FFF2-40B4-BE49-F238E27FC236}">
                  <a16:creationId xmlns:a16="http://schemas.microsoft.com/office/drawing/2014/main" id="{153BDC27-2DD4-4BC0-9550-A8C2E12A0EFB}"/>
                </a:ext>
              </a:extLst>
            </p:cNvPr>
            <p:cNvGrpSpPr/>
            <p:nvPr/>
          </p:nvGrpSpPr>
          <p:grpSpPr>
            <a:xfrm>
              <a:off x="8481984" y="4397939"/>
              <a:ext cx="1948376" cy="721585"/>
              <a:chOff x="8481984" y="3669667"/>
              <a:chExt cx="1948376" cy="721585"/>
            </a:xfrm>
          </p:grpSpPr>
          <p:grpSp>
            <p:nvGrpSpPr>
              <p:cNvPr id="124" name="组合 123">
                <a:extLst>
                  <a:ext uri="{FF2B5EF4-FFF2-40B4-BE49-F238E27FC236}">
                    <a16:creationId xmlns:a16="http://schemas.microsoft.com/office/drawing/2014/main" id="{53337674-F947-4200-950B-9DC89527152A}"/>
                  </a:ext>
                </a:extLst>
              </p:cNvPr>
              <p:cNvGrpSpPr/>
              <p:nvPr/>
            </p:nvGrpSpPr>
            <p:grpSpPr>
              <a:xfrm>
                <a:off x="8481984" y="3669667"/>
                <a:ext cx="1948376" cy="721585"/>
                <a:chOff x="8481984" y="3669667"/>
                <a:chExt cx="1948376" cy="721585"/>
              </a:xfrm>
            </p:grpSpPr>
            <p:cxnSp>
              <p:nvCxnSpPr>
                <p:cNvPr id="126" name="直接连接符 125">
                  <a:extLst>
                    <a:ext uri="{FF2B5EF4-FFF2-40B4-BE49-F238E27FC236}">
                      <a16:creationId xmlns:a16="http://schemas.microsoft.com/office/drawing/2014/main" id="{438403E3-5865-4699-A668-AFA29084E3D8}"/>
                    </a:ext>
                  </a:extLst>
                </p:cNvPr>
                <p:cNvCxnSpPr/>
                <p:nvPr/>
              </p:nvCxnSpPr>
              <p:spPr>
                <a:xfrm>
                  <a:off x="8534440" y="3669667"/>
                  <a:ext cx="0" cy="511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65AE69-43B6-4ADB-9764-E13589AB8461}"/>
                    </a:ext>
                  </a:extLst>
                </p:cNvPr>
                <p:cNvCxnSpPr>
                  <a:cxnSpLocks/>
                </p:cNvCxnSpPr>
                <p:nvPr/>
              </p:nvCxnSpPr>
              <p:spPr>
                <a:xfrm>
                  <a:off x="8534440" y="4181298"/>
                  <a:ext cx="18959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矩形 127">
                  <a:extLst>
                    <a:ext uri="{FF2B5EF4-FFF2-40B4-BE49-F238E27FC236}">
                      <a16:creationId xmlns:a16="http://schemas.microsoft.com/office/drawing/2014/main" id="{E06DF455-1774-4FCC-85D7-AF27753C87FB}"/>
                    </a:ext>
                  </a:extLst>
                </p:cNvPr>
                <p:cNvSpPr/>
                <p:nvPr/>
              </p:nvSpPr>
              <p:spPr>
                <a:xfrm>
                  <a:off x="8637926" y="4135168"/>
                  <a:ext cx="85241" cy="1138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9" name="组合 128">
                  <a:extLst>
                    <a:ext uri="{FF2B5EF4-FFF2-40B4-BE49-F238E27FC236}">
                      <a16:creationId xmlns:a16="http://schemas.microsoft.com/office/drawing/2014/main" id="{3A672E28-8893-4ED9-B43F-FAACA68D9FB1}"/>
                    </a:ext>
                  </a:extLst>
                </p:cNvPr>
                <p:cNvGrpSpPr/>
                <p:nvPr/>
              </p:nvGrpSpPr>
              <p:grpSpPr>
                <a:xfrm>
                  <a:off x="8481984" y="4019797"/>
                  <a:ext cx="425032" cy="371455"/>
                  <a:chOff x="8667961" y="4879950"/>
                  <a:chExt cx="425032" cy="371455"/>
                </a:xfrm>
              </p:grpSpPr>
              <p:sp>
                <p:nvSpPr>
                  <p:cNvPr id="130" name="文本框 129">
                    <a:extLst>
                      <a:ext uri="{FF2B5EF4-FFF2-40B4-BE49-F238E27FC236}">
                        <a16:creationId xmlns:a16="http://schemas.microsoft.com/office/drawing/2014/main" id="{019DFB89-6DCC-46F1-ACC8-F22B9A1B23C6}"/>
                      </a:ext>
                    </a:extLst>
                  </p:cNvPr>
                  <p:cNvSpPr txBox="1"/>
                  <p:nvPr/>
                </p:nvSpPr>
                <p:spPr>
                  <a:xfrm rot="16200000" flipH="1" flipV="1">
                    <a:off x="8668142" y="4882254"/>
                    <a:ext cx="368970" cy="369332"/>
                  </a:xfrm>
                  <a:prstGeom prst="rect">
                    <a:avLst/>
                  </a:prstGeom>
                  <a:noFill/>
                </p:spPr>
                <p:txBody>
                  <a:bodyPr wrap="square" rtlCol="0">
                    <a:spAutoFit/>
                  </a:bodyPr>
                  <a:lstStyle/>
                  <a:p>
                    <a:r>
                      <a:rPr lang="en-US" altLang="zh-CN" dirty="0"/>
                      <a:t>~</a:t>
                    </a:r>
                    <a:endParaRPr lang="zh-CN" altLang="en-US" dirty="0"/>
                  </a:p>
                </p:txBody>
              </p:sp>
              <p:sp>
                <p:nvSpPr>
                  <p:cNvPr id="131" name="文本框 130">
                    <a:extLst>
                      <a:ext uri="{FF2B5EF4-FFF2-40B4-BE49-F238E27FC236}">
                        <a16:creationId xmlns:a16="http://schemas.microsoft.com/office/drawing/2014/main" id="{FA2DBBFA-C033-48BE-8168-E2737A16C4E3}"/>
                      </a:ext>
                    </a:extLst>
                  </p:cNvPr>
                  <p:cNvSpPr txBox="1"/>
                  <p:nvPr/>
                </p:nvSpPr>
                <p:spPr>
                  <a:xfrm rot="16200000" flipH="1" flipV="1">
                    <a:off x="8723660" y="4879951"/>
                    <a:ext cx="369334" cy="369332"/>
                  </a:xfrm>
                  <a:prstGeom prst="rect">
                    <a:avLst/>
                  </a:prstGeom>
                  <a:noFill/>
                </p:spPr>
                <p:txBody>
                  <a:bodyPr wrap="square" rtlCol="0">
                    <a:spAutoFit/>
                  </a:bodyPr>
                  <a:lstStyle/>
                  <a:p>
                    <a:r>
                      <a:rPr lang="en-US" altLang="zh-CN" dirty="0"/>
                      <a:t>~</a:t>
                    </a:r>
                    <a:endParaRPr lang="zh-CN" altLang="en-US" dirty="0"/>
                  </a:p>
                </p:txBody>
              </p:sp>
            </p:grpSp>
          </p:grpSp>
          <p:sp>
            <p:nvSpPr>
              <p:cNvPr id="125" name="任意多边形: 形状 124">
                <a:extLst>
                  <a:ext uri="{FF2B5EF4-FFF2-40B4-BE49-F238E27FC236}">
                    <a16:creationId xmlns:a16="http://schemas.microsoft.com/office/drawing/2014/main" id="{4645C781-2BCA-42B8-8F07-123F10ED1777}"/>
                  </a:ext>
                </a:extLst>
              </p:cNvPr>
              <p:cNvSpPr/>
              <p:nvPr/>
            </p:nvSpPr>
            <p:spPr>
              <a:xfrm>
                <a:off x="9313284" y="3814376"/>
                <a:ext cx="585453" cy="373907"/>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2" name="组合 131">
              <a:extLst>
                <a:ext uri="{FF2B5EF4-FFF2-40B4-BE49-F238E27FC236}">
                  <a16:creationId xmlns:a16="http://schemas.microsoft.com/office/drawing/2014/main" id="{CD06D022-2F20-4EB7-B246-B85E3FF79F21}"/>
                </a:ext>
              </a:extLst>
            </p:cNvPr>
            <p:cNvGrpSpPr/>
            <p:nvPr/>
          </p:nvGrpSpPr>
          <p:grpSpPr>
            <a:xfrm>
              <a:off x="8481984" y="5126211"/>
              <a:ext cx="1948376" cy="721585"/>
              <a:chOff x="8481984" y="3669667"/>
              <a:chExt cx="1948376" cy="721585"/>
            </a:xfrm>
          </p:grpSpPr>
          <p:grpSp>
            <p:nvGrpSpPr>
              <p:cNvPr id="133" name="组合 132">
                <a:extLst>
                  <a:ext uri="{FF2B5EF4-FFF2-40B4-BE49-F238E27FC236}">
                    <a16:creationId xmlns:a16="http://schemas.microsoft.com/office/drawing/2014/main" id="{D1D3DAB2-542B-4B36-8F58-3396A8D0A2A6}"/>
                  </a:ext>
                </a:extLst>
              </p:cNvPr>
              <p:cNvGrpSpPr/>
              <p:nvPr/>
            </p:nvGrpSpPr>
            <p:grpSpPr>
              <a:xfrm>
                <a:off x="8481984" y="3669667"/>
                <a:ext cx="1948376" cy="721585"/>
                <a:chOff x="8481984" y="3669667"/>
                <a:chExt cx="1948376" cy="721585"/>
              </a:xfrm>
            </p:grpSpPr>
            <p:cxnSp>
              <p:nvCxnSpPr>
                <p:cNvPr id="135" name="直接连接符 134">
                  <a:extLst>
                    <a:ext uri="{FF2B5EF4-FFF2-40B4-BE49-F238E27FC236}">
                      <a16:creationId xmlns:a16="http://schemas.microsoft.com/office/drawing/2014/main" id="{560C96D8-E991-4270-8CFF-EA58589C4DF1}"/>
                    </a:ext>
                  </a:extLst>
                </p:cNvPr>
                <p:cNvCxnSpPr/>
                <p:nvPr/>
              </p:nvCxnSpPr>
              <p:spPr>
                <a:xfrm>
                  <a:off x="8534440" y="3669667"/>
                  <a:ext cx="0" cy="511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EFA7B5A3-7671-4417-B792-FF3690801588}"/>
                    </a:ext>
                  </a:extLst>
                </p:cNvPr>
                <p:cNvCxnSpPr>
                  <a:cxnSpLocks/>
                </p:cNvCxnSpPr>
                <p:nvPr/>
              </p:nvCxnSpPr>
              <p:spPr>
                <a:xfrm>
                  <a:off x="8534440" y="4181298"/>
                  <a:ext cx="18959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矩形 136">
                  <a:extLst>
                    <a:ext uri="{FF2B5EF4-FFF2-40B4-BE49-F238E27FC236}">
                      <a16:creationId xmlns:a16="http://schemas.microsoft.com/office/drawing/2014/main" id="{2364986E-6BFB-4D64-A22B-4893BB3D6CC7}"/>
                    </a:ext>
                  </a:extLst>
                </p:cNvPr>
                <p:cNvSpPr/>
                <p:nvPr/>
              </p:nvSpPr>
              <p:spPr>
                <a:xfrm>
                  <a:off x="8637926" y="4135168"/>
                  <a:ext cx="85241" cy="1138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8" name="组合 137">
                  <a:extLst>
                    <a:ext uri="{FF2B5EF4-FFF2-40B4-BE49-F238E27FC236}">
                      <a16:creationId xmlns:a16="http://schemas.microsoft.com/office/drawing/2014/main" id="{EF00A373-4A0F-4A9B-A9F8-21996784E09B}"/>
                    </a:ext>
                  </a:extLst>
                </p:cNvPr>
                <p:cNvGrpSpPr/>
                <p:nvPr/>
              </p:nvGrpSpPr>
              <p:grpSpPr>
                <a:xfrm>
                  <a:off x="8481984" y="4019797"/>
                  <a:ext cx="425032" cy="371455"/>
                  <a:chOff x="8667961" y="4879950"/>
                  <a:chExt cx="425032" cy="371455"/>
                </a:xfrm>
              </p:grpSpPr>
              <p:sp>
                <p:nvSpPr>
                  <p:cNvPr id="139" name="文本框 138">
                    <a:extLst>
                      <a:ext uri="{FF2B5EF4-FFF2-40B4-BE49-F238E27FC236}">
                        <a16:creationId xmlns:a16="http://schemas.microsoft.com/office/drawing/2014/main" id="{60043640-048C-4C49-9ED4-D98B622B85D1}"/>
                      </a:ext>
                    </a:extLst>
                  </p:cNvPr>
                  <p:cNvSpPr txBox="1"/>
                  <p:nvPr/>
                </p:nvSpPr>
                <p:spPr>
                  <a:xfrm rot="16200000" flipH="1" flipV="1">
                    <a:off x="8668142" y="4882254"/>
                    <a:ext cx="368970" cy="369332"/>
                  </a:xfrm>
                  <a:prstGeom prst="rect">
                    <a:avLst/>
                  </a:prstGeom>
                  <a:noFill/>
                </p:spPr>
                <p:txBody>
                  <a:bodyPr wrap="square" rtlCol="0">
                    <a:spAutoFit/>
                  </a:bodyPr>
                  <a:lstStyle/>
                  <a:p>
                    <a:r>
                      <a:rPr lang="en-US" altLang="zh-CN" dirty="0"/>
                      <a:t>~</a:t>
                    </a:r>
                    <a:endParaRPr lang="zh-CN" altLang="en-US" dirty="0"/>
                  </a:p>
                </p:txBody>
              </p:sp>
              <p:sp>
                <p:nvSpPr>
                  <p:cNvPr id="140" name="文本框 139">
                    <a:extLst>
                      <a:ext uri="{FF2B5EF4-FFF2-40B4-BE49-F238E27FC236}">
                        <a16:creationId xmlns:a16="http://schemas.microsoft.com/office/drawing/2014/main" id="{0B321A37-AED7-48B3-95C3-23CD49ADD8E6}"/>
                      </a:ext>
                    </a:extLst>
                  </p:cNvPr>
                  <p:cNvSpPr txBox="1"/>
                  <p:nvPr/>
                </p:nvSpPr>
                <p:spPr>
                  <a:xfrm rot="16200000" flipH="1" flipV="1">
                    <a:off x="8723660" y="4879951"/>
                    <a:ext cx="369334" cy="369332"/>
                  </a:xfrm>
                  <a:prstGeom prst="rect">
                    <a:avLst/>
                  </a:prstGeom>
                  <a:noFill/>
                </p:spPr>
                <p:txBody>
                  <a:bodyPr wrap="square" rtlCol="0">
                    <a:spAutoFit/>
                  </a:bodyPr>
                  <a:lstStyle/>
                  <a:p>
                    <a:r>
                      <a:rPr lang="en-US" altLang="zh-CN" dirty="0"/>
                      <a:t>~</a:t>
                    </a:r>
                    <a:endParaRPr lang="zh-CN" altLang="en-US" dirty="0"/>
                  </a:p>
                </p:txBody>
              </p:sp>
            </p:grpSp>
          </p:grpSp>
          <p:sp>
            <p:nvSpPr>
              <p:cNvPr id="134" name="任意多边形: 形状 133">
                <a:extLst>
                  <a:ext uri="{FF2B5EF4-FFF2-40B4-BE49-F238E27FC236}">
                    <a16:creationId xmlns:a16="http://schemas.microsoft.com/office/drawing/2014/main" id="{1AE25618-34CA-4ED0-B35D-C4D38D9F2F0C}"/>
                  </a:ext>
                </a:extLst>
              </p:cNvPr>
              <p:cNvSpPr/>
              <p:nvPr/>
            </p:nvSpPr>
            <p:spPr>
              <a:xfrm>
                <a:off x="9801477" y="3814376"/>
                <a:ext cx="585453" cy="373907"/>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42" name="直接连接符 141">
              <a:extLst>
                <a:ext uri="{FF2B5EF4-FFF2-40B4-BE49-F238E27FC236}">
                  <a16:creationId xmlns:a16="http://schemas.microsoft.com/office/drawing/2014/main" id="{DC2A0E36-BA69-4518-8130-B6A9F604B1EA}"/>
                </a:ext>
              </a:extLst>
            </p:cNvPr>
            <p:cNvCxnSpPr>
              <a:cxnSpLocks/>
            </p:cNvCxnSpPr>
            <p:nvPr/>
          </p:nvCxnSpPr>
          <p:spPr>
            <a:xfrm>
              <a:off x="8796218" y="4119306"/>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67564CE2-66FA-4254-A7F9-A34DF57ED4FC}"/>
                </a:ext>
              </a:extLst>
            </p:cNvPr>
            <p:cNvCxnSpPr>
              <a:cxnSpLocks/>
            </p:cNvCxnSpPr>
            <p:nvPr/>
          </p:nvCxnSpPr>
          <p:spPr>
            <a:xfrm>
              <a:off x="8778139" y="5581307"/>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D0755A0A-D594-4856-A535-1A4DC71B1099}"/>
                </a:ext>
              </a:extLst>
            </p:cNvPr>
            <p:cNvCxnSpPr>
              <a:cxnSpLocks/>
            </p:cNvCxnSpPr>
            <p:nvPr/>
          </p:nvCxnSpPr>
          <p:spPr>
            <a:xfrm>
              <a:off x="9317994" y="5570973"/>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B281CDD0-225D-4A27-88D5-81859862F97D}"/>
                </a:ext>
              </a:extLst>
            </p:cNvPr>
            <p:cNvCxnSpPr>
              <a:cxnSpLocks/>
            </p:cNvCxnSpPr>
            <p:nvPr/>
          </p:nvCxnSpPr>
          <p:spPr>
            <a:xfrm>
              <a:off x="9842348" y="5576141"/>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94170BEA-1E65-4359-9F86-052F90CE36AF}"/>
                </a:ext>
              </a:extLst>
            </p:cNvPr>
            <p:cNvCxnSpPr>
              <a:cxnSpLocks/>
            </p:cNvCxnSpPr>
            <p:nvPr/>
          </p:nvCxnSpPr>
          <p:spPr>
            <a:xfrm>
              <a:off x="10374456" y="5573561"/>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1CFC0C3A-C940-44D4-958E-30AA040C40F1}"/>
                </a:ext>
              </a:extLst>
            </p:cNvPr>
            <p:cNvCxnSpPr/>
            <p:nvPr/>
          </p:nvCxnSpPr>
          <p:spPr>
            <a:xfrm>
              <a:off x="10855708" y="4397939"/>
              <a:ext cx="0" cy="511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590B76CA-3E37-4D42-AE10-E542563D3AB0}"/>
                </a:ext>
              </a:extLst>
            </p:cNvPr>
            <p:cNvCxnSpPr>
              <a:cxnSpLocks/>
            </p:cNvCxnSpPr>
            <p:nvPr/>
          </p:nvCxnSpPr>
          <p:spPr>
            <a:xfrm>
              <a:off x="10855708" y="4909570"/>
              <a:ext cx="2131872" cy="69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0" name="矩形 169">
              <a:extLst>
                <a:ext uri="{FF2B5EF4-FFF2-40B4-BE49-F238E27FC236}">
                  <a16:creationId xmlns:a16="http://schemas.microsoft.com/office/drawing/2014/main" id="{1E96EF27-D8DA-417E-B70A-C2C17770A23C}"/>
                </a:ext>
              </a:extLst>
            </p:cNvPr>
            <p:cNvSpPr/>
            <p:nvPr/>
          </p:nvSpPr>
          <p:spPr>
            <a:xfrm>
              <a:off x="10959194" y="4863440"/>
              <a:ext cx="85241" cy="1138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1" name="组合 170">
              <a:extLst>
                <a:ext uri="{FF2B5EF4-FFF2-40B4-BE49-F238E27FC236}">
                  <a16:creationId xmlns:a16="http://schemas.microsoft.com/office/drawing/2014/main" id="{9492D93D-2B57-4149-9D1E-886C8D6CBE88}"/>
                </a:ext>
              </a:extLst>
            </p:cNvPr>
            <p:cNvGrpSpPr/>
            <p:nvPr/>
          </p:nvGrpSpPr>
          <p:grpSpPr>
            <a:xfrm>
              <a:off x="10803252" y="4748069"/>
              <a:ext cx="425032" cy="371455"/>
              <a:chOff x="8667961" y="4879950"/>
              <a:chExt cx="425032" cy="371455"/>
            </a:xfrm>
          </p:grpSpPr>
          <p:sp>
            <p:nvSpPr>
              <p:cNvPr id="172" name="文本框 171">
                <a:extLst>
                  <a:ext uri="{FF2B5EF4-FFF2-40B4-BE49-F238E27FC236}">
                    <a16:creationId xmlns:a16="http://schemas.microsoft.com/office/drawing/2014/main" id="{C5AE71EE-9C42-46AC-99E1-CE587820F795}"/>
                  </a:ext>
                </a:extLst>
              </p:cNvPr>
              <p:cNvSpPr txBox="1"/>
              <p:nvPr/>
            </p:nvSpPr>
            <p:spPr>
              <a:xfrm rot="16200000" flipH="1" flipV="1">
                <a:off x="8668142" y="4882254"/>
                <a:ext cx="368970" cy="369332"/>
              </a:xfrm>
              <a:prstGeom prst="rect">
                <a:avLst/>
              </a:prstGeom>
              <a:noFill/>
            </p:spPr>
            <p:txBody>
              <a:bodyPr wrap="square" rtlCol="0">
                <a:spAutoFit/>
              </a:bodyPr>
              <a:lstStyle/>
              <a:p>
                <a:r>
                  <a:rPr lang="en-US" altLang="zh-CN" dirty="0"/>
                  <a:t>~</a:t>
                </a:r>
                <a:endParaRPr lang="zh-CN" altLang="en-US" dirty="0"/>
              </a:p>
            </p:txBody>
          </p:sp>
          <p:sp>
            <p:nvSpPr>
              <p:cNvPr id="173" name="文本框 172">
                <a:extLst>
                  <a:ext uri="{FF2B5EF4-FFF2-40B4-BE49-F238E27FC236}">
                    <a16:creationId xmlns:a16="http://schemas.microsoft.com/office/drawing/2014/main" id="{486BCDDE-6932-4323-B6B5-4D36C760DC95}"/>
                  </a:ext>
                </a:extLst>
              </p:cNvPr>
              <p:cNvSpPr txBox="1"/>
              <p:nvPr/>
            </p:nvSpPr>
            <p:spPr>
              <a:xfrm rot="16200000" flipH="1" flipV="1">
                <a:off x="8723660" y="4879951"/>
                <a:ext cx="369334" cy="369332"/>
              </a:xfrm>
              <a:prstGeom prst="rect">
                <a:avLst/>
              </a:prstGeom>
              <a:noFill/>
            </p:spPr>
            <p:txBody>
              <a:bodyPr wrap="square" rtlCol="0">
                <a:spAutoFit/>
              </a:bodyPr>
              <a:lstStyle/>
              <a:p>
                <a:r>
                  <a:rPr lang="en-US" altLang="zh-CN" dirty="0"/>
                  <a:t>~</a:t>
                </a:r>
                <a:endParaRPr lang="zh-CN" altLang="en-US" dirty="0"/>
              </a:p>
            </p:txBody>
          </p:sp>
        </p:grpSp>
        <p:sp>
          <p:nvSpPr>
            <p:cNvPr id="167" name="任意多边形: 形状 166">
              <a:extLst>
                <a:ext uri="{FF2B5EF4-FFF2-40B4-BE49-F238E27FC236}">
                  <a16:creationId xmlns:a16="http://schemas.microsoft.com/office/drawing/2014/main" id="{6A8F2B3B-249D-4048-9EEB-69BCF911796C}"/>
                </a:ext>
              </a:extLst>
            </p:cNvPr>
            <p:cNvSpPr/>
            <p:nvPr/>
          </p:nvSpPr>
          <p:spPr>
            <a:xfrm>
              <a:off x="11130855" y="4542648"/>
              <a:ext cx="585453" cy="373907"/>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任意多边形: 形状 173">
              <a:extLst>
                <a:ext uri="{FF2B5EF4-FFF2-40B4-BE49-F238E27FC236}">
                  <a16:creationId xmlns:a16="http://schemas.microsoft.com/office/drawing/2014/main" id="{87C0E2E6-57CF-4A9C-923A-3868D1CA2D4A}"/>
                </a:ext>
              </a:extLst>
            </p:cNvPr>
            <p:cNvSpPr/>
            <p:nvPr/>
          </p:nvSpPr>
          <p:spPr>
            <a:xfrm>
              <a:off x="11650948" y="4572001"/>
              <a:ext cx="585453" cy="341036"/>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5" name="任意多边形: 形状 174">
              <a:extLst>
                <a:ext uri="{FF2B5EF4-FFF2-40B4-BE49-F238E27FC236}">
                  <a16:creationId xmlns:a16="http://schemas.microsoft.com/office/drawing/2014/main" id="{ED23EDA6-178C-47CC-A2A9-A7E968FF59AF}"/>
                </a:ext>
              </a:extLst>
            </p:cNvPr>
            <p:cNvSpPr/>
            <p:nvPr/>
          </p:nvSpPr>
          <p:spPr>
            <a:xfrm>
              <a:off x="12183054" y="4577170"/>
              <a:ext cx="585453" cy="341036"/>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7" name="直接连接符 176">
              <a:extLst>
                <a:ext uri="{FF2B5EF4-FFF2-40B4-BE49-F238E27FC236}">
                  <a16:creationId xmlns:a16="http://schemas.microsoft.com/office/drawing/2014/main" id="{2ABB8AAA-77A4-4B8B-AD97-ED3AA864B4A9}"/>
                </a:ext>
              </a:extLst>
            </p:cNvPr>
            <p:cNvCxnSpPr>
              <a:cxnSpLocks/>
            </p:cNvCxnSpPr>
            <p:nvPr/>
          </p:nvCxnSpPr>
          <p:spPr>
            <a:xfrm>
              <a:off x="11118390" y="4845139"/>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DCE7FD73-2896-40B9-B21B-3128248819B4}"/>
                </a:ext>
              </a:extLst>
            </p:cNvPr>
            <p:cNvCxnSpPr>
              <a:cxnSpLocks/>
            </p:cNvCxnSpPr>
            <p:nvPr/>
          </p:nvCxnSpPr>
          <p:spPr>
            <a:xfrm>
              <a:off x="12781880" y="4850308"/>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9" name="文本框 178">
              <a:extLst>
                <a:ext uri="{FF2B5EF4-FFF2-40B4-BE49-F238E27FC236}">
                  <a16:creationId xmlns:a16="http://schemas.microsoft.com/office/drawing/2014/main" id="{79044E3E-A09E-4DAF-B6A2-4C0FC882DA42}"/>
                </a:ext>
              </a:extLst>
            </p:cNvPr>
            <p:cNvSpPr txBox="1"/>
            <p:nvPr/>
          </p:nvSpPr>
          <p:spPr>
            <a:xfrm>
              <a:off x="10972792" y="4864018"/>
              <a:ext cx="429916" cy="261610"/>
            </a:xfrm>
            <a:prstGeom prst="rect">
              <a:avLst/>
            </a:prstGeom>
            <a:noFill/>
          </p:spPr>
          <p:txBody>
            <a:bodyPr wrap="square" rtlCol="0">
              <a:spAutoFit/>
            </a:bodyPr>
            <a:lstStyle/>
            <a:p>
              <a:r>
                <a:rPr lang="en-US" altLang="zh-CN" sz="1100" dirty="0"/>
                <a:t>60</a:t>
              </a:r>
              <a:endParaRPr lang="zh-CN" altLang="en-US" sz="1100" dirty="0"/>
            </a:p>
          </p:txBody>
        </p:sp>
        <p:sp>
          <p:nvSpPr>
            <p:cNvPr id="180" name="文本框 179">
              <a:extLst>
                <a:ext uri="{FF2B5EF4-FFF2-40B4-BE49-F238E27FC236}">
                  <a16:creationId xmlns:a16="http://schemas.microsoft.com/office/drawing/2014/main" id="{CEA737FC-7C41-4A64-ACF2-14DA365A8498}"/>
                </a:ext>
              </a:extLst>
            </p:cNvPr>
            <p:cNvSpPr txBox="1"/>
            <p:nvPr/>
          </p:nvSpPr>
          <p:spPr>
            <a:xfrm>
              <a:off x="11527646" y="4884236"/>
              <a:ext cx="429916" cy="261610"/>
            </a:xfrm>
            <a:prstGeom prst="rect">
              <a:avLst/>
            </a:prstGeom>
            <a:noFill/>
          </p:spPr>
          <p:txBody>
            <a:bodyPr wrap="square" rtlCol="0">
              <a:spAutoFit/>
            </a:bodyPr>
            <a:lstStyle/>
            <a:p>
              <a:r>
                <a:rPr lang="en-US" altLang="zh-CN" sz="1100" dirty="0"/>
                <a:t>64</a:t>
              </a:r>
              <a:endParaRPr lang="zh-CN" altLang="en-US" sz="1100" dirty="0"/>
            </a:p>
          </p:txBody>
        </p:sp>
        <p:sp>
          <p:nvSpPr>
            <p:cNvPr id="181" name="文本框 180">
              <a:extLst>
                <a:ext uri="{FF2B5EF4-FFF2-40B4-BE49-F238E27FC236}">
                  <a16:creationId xmlns:a16="http://schemas.microsoft.com/office/drawing/2014/main" id="{84E7F4A5-8630-47AE-95E8-A3B55CBB5082}"/>
                </a:ext>
              </a:extLst>
            </p:cNvPr>
            <p:cNvSpPr txBox="1"/>
            <p:nvPr/>
          </p:nvSpPr>
          <p:spPr>
            <a:xfrm>
              <a:off x="12068338" y="4878984"/>
              <a:ext cx="429916" cy="261610"/>
            </a:xfrm>
            <a:prstGeom prst="rect">
              <a:avLst/>
            </a:prstGeom>
            <a:noFill/>
          </p:spPr>
          <p:txBody>
            <a:bodyPr wrap="square" rtlCol="0">
              <a:spAutoFit/>
            </a:bodyPr>
            <a:lstStyle/>
            <a:p>
              <a:r>
                <a:rPr lang="en-US" altLang="zh-CN" sz="1100" dirty="0"/>
                <a:t>68</a:t>
              </a:r>
              <a:endParaRPr lang="zh-CN" altLang="en-US" sz="1100" dirty="0"/>
            </a:p>
          </p:txBody>
        </p:sp>
        <p:sp>
          <p:nvSpPr>
            <p:cNvPr id="182" name="文本框 181">
              <a:extLst>
                <a:ext uri="{FF2B5EF4-FFF2-40B4-BE49-F238E27FC236}">
                  <a16:creationId xmlns:a16="http://schemas.microsoft.com/office/drawing/2014/main" id="{0475DBED-648C-40C5-BC7F-448FE0790C77}"/>
                </a:ext>
              </a:extLst>
            </p:cNvPr>
            <p:cNvSpPr txBox="1"/>
            <p:nvPr/>
          </p:nvSpPr>
          <p:spPr>
            <a:xfrm>
              <a:off x="12610120" y="4879923"/>
              <a:ext cx="429916" cy="261610"/>
            </a:xfrm>
            <a:prstGeom prst="rect">
              <a:avLst/>
            </a:prstGeom>
            <a:noFill/>
          </p:spPr>
          <p:txBody>
            <a:bodyPr wrap="square" rtlCol="0">
              <a:spAutoFit/>
            </a:bodyPr>
            <a:lstStyle/>
            <a:p>
              <a:r>
                <a:rPr lang="en-US" altLang="zh-CN" sz="1100" dirty="0"/>
                <a:t>72</a:t>
              </a:r>
              <a:endParaRPr lang="zh-CN" altLang="en-US" sz="1100" dirty="0"/>
            </a:p>
          </p:txBody>
        </p:sp>
        <p:sp>
          <p:nvSpPr>
            <p:cNvPr id="183" name="文本框 182">
              <a:extLst>
                <a:ext uri="{FF2B5EF4-FFF2-40B4-BE49-F238E27FC236}">
                  <a16:creationId xmlns:a16="http://schemas.microsoft.com/office/drawing/2014/main" id="{BF7CB108-24E6-47FF-BAE6-4936B508E57C}"/>
                </a:ext>
              </a:extLst>
            </p:cNvPr>
            <p:cNvSpPr txBox="1"/>
            <p:nvPr/>
          </p:nvSpPr>
          <p:spPr>
            <a:xfrm>
              <a:off x="11024434" y="4232994"/>
              <a:ext cx="910019" cy="218555"/>
            </a:xfrm>
            <a:prstGeom prst="rect">
              <a:avLst/>
            </a:prstGeom>
            <a:noFill/>
          </p:spPr>
          <p:txBody>
            <a:bodyPr wrap="square" rtlCol="0">
              <a:spAutoFit/>
            </a:bodyPr>
            <a:lstStyle/>
            <a:p>
              <a:r>
                <a:rPr lang="en-US" altLang="zh-CN" sz="1100" dirty="0"/>
                <a:t>Channel 1</a:t>
              </a:r>
              <a:endParaRPr lang="zh-CN" altLang="en-US" sz="1100" dirty="0"/>
            </a:p>
          </p:txBody>
        </p:sp>
        <p:sp>
          <p:nvSpPr>
            <p:cNvPr id="184" name="文本框 183">
              <a:extLst>
                <a:ext uri="{FF2B5EF4-FFF2-40B4-BE49-F238E27FC236}">
                  <a16:creationId xmlns:a16="http://schemas.microsoft.com/office/drawing/2014/main" id="{B1DA97F3-1FB3-45DA-881F-8671A38252F8}"/>
                </a:ext>
              </a:extLst>
            </p:cNvPr>
            <p:cNvSpPr txBox="1"/>
            <p:nvPr/>
          </p:nvSpPr>
          <p:spPr>
            <a:xfrm>
              <a:off x="12078096" y="4271739"/>
              <a:ext cx="910019" cy="261610"/>
            </a:xfrm>
            <a:prstGeom prst="rect">
              <a:avLst/>
            </a:prstGeom>
            <a:noFill/>
          </p:spPr>
          <p:txBody>
            <a:bodyPr wrap="square" rtlCol="0">
              <a:spAutoFit/>
            </a:bodyPr>
            <a:lstStyle/>
            <a:p>
              <a:r>
                <a:rPr lang="en-US" altLang="zh-CN" sz="1100" dirty="0"/>
                <a:t>Channel 3</a:t>
              </a:r>
              <a:endParaRPr lang="zh-CN" altLang="en-US" sz="1100" dirty="0"/>
            </a:p>
          </p:txBody>
        </p:sp>
        <p:sp>
          <p:nvSpPr>
            <p:cNvPr id="186" name="文本框 185">
              <a:extLst>
                <a:ext uri="{FF2B5EF4-FFF2-40B4-BE49-F238E27FC236}">
                  <a16:creationId xmlns:a16="http://schemas.microsoft.com/office/drawing/2014/main" id="{CF51B36C-B21F-4A7F-9C93-583926D2EAA4}"/>
                </a:ext>
              </a:extLst>
            </p:cNvPr>
            <p:cNvSpPr txBox="1"/>
            <p:nvPr/>
          </p:nvSpPr>
          <p:spPr>
            <a:xfrm>
              <a:off x="11542907" y="3987431"/>
              <a:ext cx="910019" cy="261610"/>
            </a:xfrm>
            <a:prstGeom prst="rect">
              <a:avLst/>
            </a:prstGeom>
            <a:noFill/>
          </p:spPr>
          <p:txBody>
            <a:bodyPr wrap="square" rtlCol="0">
              <a:spAutoFit/>
            </a:bodyPr>
            <a:lstStyle/>
            <a:p>
              <a:r>
                <a:rPr lang="en-US" altLang="zh-CN" sz="1100" dirty="0"/>
                <a:t>Channel 2</a:t>
              </a:r>
              <a:endParaRPr lang="zh-CN" altLang="en-US" sz="1100" dirty="0"/>
            </a:p>
          </p:txBody>
        </p:sp>
        <p:cxnSp>
          <p:nvCxnSpPr>
            <p:cNvPr id="188" name="直接箭头连接符 187">
              <a:extLst>
                <a:ext uri="{FF2B5EF4-FFF2-40B4-BE49-F238E27FC236}">
                  <a16:creationId xmlns:a16="http://schemas.microsoft.com/office/drawing/2014/main" id="{5CF4B273-20DE-4FF3-9F35-0F829415AC81}"/>
                </a:ext>
              </a:extLst>
            </p:cNvPr>
            <p:cNvCxnSpPr/>
            <p:nvPr/>
          </p:nvCxnSpPr>
          <p:spPr>
            <a:xfrm>
              <a:off x="8142547" y="3970731"/>
              <a:ext cx="300569"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直接箭头连接符 188">
              <a:extLst>
                <a:ext uri="{FF2B5EF4-FFF2-40B4-BE49-F238E27FC236}">
                  <a16:creationId xmlns:a16="http://schemas.microsoft.com/office/drawing/2014/main" id="{B360F467-46F5-47A5-B40D-86A563394E62}"/>
                </a:ext>
              </a:extLst>
            </p:cNvPr>
            <p:cNvCxnSpPr/>
            <p:nvPr/>
          </p:nvCxnSpPr>
          <p:spPr>
            <a:xfrm>
              <a:off x="8142547" y="4687109"/>
              <a:ext cx="300569"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接箭头连接符 189">
              <a:extLst>
                <a:ext uri="{FF2B5EF4-FFF2-40B4-BE49-F238E27FC236}">
                  <a16:creationId xmlns:a16="http://schemas.microsoft.com/office/drawing/2014/main" id="{354436A2-C186-44C8-A4D6-526FE1C93F1A}"/>
                </a:ext>
              </a:extLst>
            </p:cNvPr>
            <p:cNvCxnSpPr/>
            <p:nvPr/>
          </p:nvCxnSpPr>
          <p:spPr>
            <a:xfrm>
              <a:off x="8142547" y="5403487"/>
              <a:ext cx="300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1" name="任意多边形: 形状 190">
              <a:extLst>
                <a:ext uri="{FF2B5EF4-FFF2-40B4-BE49-F238E27FC236}">
                  <a16:creationId xmlns:a16="http://schemas.microsoft.com/office/drawing/2014/main" id="{3B835BC6-1EC4-4561-B34F-E4CA19667143}"/>
                </a:ext>
              </a:extLst>
            </p:cNvPr>
            <p:cNvSpPr/>
            <p:nvPr/>
          </p:nvSpPr>
          <p:spPr>
            <a:xfrm>
              <a:off x="10484603" y="3719593"/>
              <a:ext cx="348712" cy="836909"/>
            </a:xfrm>
            <a:custGeom>
              <a:avLst/>
              <a:gdLst>
                <a:gd name="connsiteX0" fmla="*/ 0 w 348712"/>
                <a:gd name="connsiteY0" fmla="*/ 0 h 836909"/>
                <a:gd name="connsiteX1" fmla="*/ 185980 w 348712"/>
                <a:gd name="connsiteY1" fmla="*/ 286719 h 836909"/>
                <a:gd name="connsiteX2" fmla="*/ 232475 w 348712"/>
                <a:gd name="connsiteY2" fmla="*/ 689675 h 836909"/>
                <a:gd name="connsiteX3" fmla="*/ 348712 w 348712"/>
                <a:gd name="connsiteY3" fmla="*/ 836909 h 836909"/>
              </a:gdLst>
              <a:ahLst/>
              <a:cxnLst>
                <a:cxn ang="0">
                  <a:pos x="connsiteX0" y="connsiteY0"/>
                </a:cxn>
                <a:cxn ang="0">
                  <a:pos x="connsiteX1" y="connsiteY1"/>
                </a:cxn>
                <a:cxn ang="0">
                  <a:pos x="connsiteX2" y="connsiteY2"/>
                </a:cxn>
                <a:cxn ang="0">
                  <a:pos x="connsiteX3" y="connsiteY3"/>
                </a:cxn>
              </a:cxnLst>
              <a:rect l="l" t="t" r="r" b="b"/>
              <a:pathLst>
                <a:path w="348712" h="836909">
                  <a:moveTo>
                    <a:pt x="0" y="0"/>
                  </a:moveTo>
                  <a:cubicBezTo>
                    <a:pt x="73617" y="85886"/>
                    <a:pt x="147234" y="171773"/>
                    <a:pt x="185980" y="286719"/>
                  </a:cubicBezTo>
                  <a:cubicBezTo>
                    <a:pt x="224726" y="401665"/>
                    <a:pt x="205353" y="597977"/>
                    <a:pt x="232475" y="689675"/>
                  </a:cubicBezTo>
                  <a:cubicBezTo>
                    <a:pt x="259597" y="781373"/>
                    <a:pt x="304154" y="809141"/>
                    <a:pt x="348712" y="836909"/>
                  </a:cubicBezTo>
                </a:path>
              </a:pathLst>
            </a:custGeom>
            <a:noFill/>
            <a:ln w="3175">
              <a:solidFill>
                <a:schemeClr val="accent1">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任意多边形: 形状 192">
              <a:extLst>
                <a:ext uri="{FF2B5EF4-FFF2-40B4-BE49-F238E27FC236}">
                  <a16:creationId xmlns:a16="http://schemas.microsoft.com/office/drawing/2014/main" id="{3D2E3C27-BA2F-428A-86EF-33B1398C1A27}"/>
                </a:ext>
              </a:extLst>
            </p:cNvPr>
            <p:cNvSpPr/>
            <p:nvPr/>
          </p:nvSpPr>
          <p:spPr>
            <a:xfrm flipV="1">
              <a:off x="10490305" y="4707974"/>
              <a:ext cx="348712" cy="933581"/>
            </a:xfrm>
            <a:custGeom>
              <a:avLst/>
              <a:gdLst>
                <a:gd name="connsiteX0" fmla="*/ 0 w 348712"/>
                <a:gd name="connsiteY0" fmla="*/ 0 h 836909"/>
                <a:gd name="connsiteX1" fmla="*/ 185980 w 348712"/>
                <a:gd name="connsiteY1" fmla="*/ 286719 h 836909"/>
                <a:gd name="connsiteX2" fmla="*/ 232475 w 348712"/>
                <a:gd name="connsiteY2" fmla="*/ 689675 h 836909"/>
                <a:gd name="connsiteX3" fmla="*/ 348712 w 348712"/>
                <a:gd name="connsiteY3" fmla="*/ 836909 h 836909"/>
              </a:gdLst>
              <a:ahLst/>
              <a:cxnLst>
                <a:cxn ang="0">
                  <a:pos x="connsiteX0" y="connsiteY0"/>
                </a:cxn>
                <a:cxn ang="0">
                  <a:pos x="connsiteX1" y="connsiteY1"/>
                </a:cxn>
                <a:cxn ang="0">
                  <a:pos x="connsiteX2" y="connsiteY2"/>
                </a:cxn>
                <a:cxn ang="0">
                  <a:pos x="connsiteX3" y="connsiteY3"/>
                </a:cxn>
              </a:cxnLst>
              <a:rect l="l" t="t" r="r" b="b"/>
              <a:pathLst>
                <a:path w="348712" h="836909">
                  <a:moveTo>
                    <a:pt x="0" y="0"/>
                  </a:moveTo>
                  <a:cubicBezTo>
                    <a:pt x="73617" y="85886"/>
                    <a:pt x="147234" y="171773"/>
                    <a:pt x="185980" y="286719"/>
                  </a:cubicBezTo>
                  <a:cubicBezTo>
                    <a:pt x="224726" y="401665"/>
                    <a:pt x="205353" y="597977"/>
                    <a:pt x="232475" y="689675"/>
                  </a:cubicBezTo>
                  <a:cubicBezTo>
                    <a:pt x="259597" y="781373"/>
                    <a:pt x="304154" y="809141"/>
                    <a:pt x="348712" y="836909"/>
                  </a:cubicBezTo>
                </a:path>
              </a:pathLst>
            </a:custGeom>
            <a:noFill/>
            <a:ln w="3175">
              <a:solidFill>
                <a:schemeClr val="accent1">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4" name="直接箭头连接符 193">
              <a:extLst>
                <a:ext uri="{FF2B5EF4-FFF2-40B4-BE49-F238E27FC236}">
                  <a16:creationId xmlns:a16="http://schemas.microsoft.com/office/drawing/2014/main" id="{2CEEC696-0A09-406A-96A6-5A411CC94484}"/>
                </a:ext>
              </a:extLst>
            </p:cNvPr>
            <p:cNvCxnSpPr/>
            <p:nvPr/>
          </p:nvCxnSpPr>
          <p:spPr>
            <a:xfrm>
              <a:off x="10538448" y="4634457"/>
              <a:ext cx="300569"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19" name="文本框 118">
            <a:extLst>
              <a:ext uri="{FF2B5EF4-FFF2-40B4-BE49-F238E27FC236}">
                <a16:creationId xmlns:a16="http://schemas.microsoft.com/office/drawing/2014/main" id="{CE24E042-32DA-4C00-830A-D639E496A886}"/>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25855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时分复用</a:t>
            </a:r>
            <a:r>
              <a:rPr lang="en-US" altLang="zh-CN" dirty="0">
                <a:latin typeface="微软雅黑" panose="020B0503020204020204" pitchFamily="34" charset="-122"/>
                <a:ea typeface="微软雅黑" panose="020B0503020204020204" pitchFamily="34" charset="-122"/>
              </a:rPr>
              <a:t>(TDM)</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11530475" cy="4586694"/>
          </a:xfrm>
        </p:spPr>
        <p:txBody>
          <a:bodyPr>
            <a:noAutofit/>
          </a:bodyPr>
          <a:lstStyle/>
          <a:p>
            <a:pPr eaLnBrk="0" hangingPunct="0">
              <a:lnSpc>
                <a:spcPts val="3100"/>
              </a:lnSpc>
            </a:pPr>
            <a:r>
              <a:rPr lang="zh-CN" altLang="en-US" sz="2000" dirty="0">
                <a:solidFill>
                  <a:srgbClr val="C00000"/>
                </a:solidFill>
                <a:latin typeface="微软雅黑" pitchFamily="34" charset="-122"/>
                <a:ea typeface="微软雅黑" pitchFamily="34" charset="-122"/>
              </a:rPr>
              <a:t>时分复用</a:t>
            </a:r>
            <a:r>
              <a:rPr lang="en-US" altLang="zh-CN" sz="2000" dirty="0">
                <a:solidFill>
                  <a:srgbClr val="C00000"/>
                </a:solidFill>
                <a:latin typeface="微软雅黑" pitchFamily="34" charset="-122"/>
                <a:ea typeface="微软雅黑" pitchFamily="34" charset="-122"/>
              </a:rPr>
              <a:t>(</a:t>
            </a:r>
            <a:r>
              <a:rPr lang="en-US" altLang="zh-CN" sz="2000" dirty="0"/>
              <a:t>Time Division Multiplexing, TDM)</a:t>
            </a:r>
            <a:r>
              <a:rPr lang="zh-CN" altLang="en-US" sz="2000" dirty="0">
                <a:latin typeface="微软雅黑" pitchFamily="34" charset="-122"/>
                <a:ea typeface="微软雅黑" pitchFamily="34" charset="-122"/>
              </a:rPr>
              <a:t> 将时间划分为一段段等长的</a:t>
            </a:r>
            <a:r>
              <a:rPr lang="zh-CN" altLang="en-US" sz="2000" dirty="0">
                <a:solidFill>
                  <a:srgbClr val="C00000"/>
                </a:solidFill>
                <a:latin typeface="微软雅黑" pitchFamily="34" charset="-122"/>
                <a:ea typeface="微软雅黑" pitchFamily="34" charset="-122"/>
              </a:rPr>
              <a:t>时分复用帧</a:t>
            </a:r>
            <a:r>
              <a:rPr lang="zh-CN" altLang="en-US"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TDM</a:t>
            </a:r>
            <a:r>
              <a:rPr lang="zh-CN" altLang="en-US" sz="2000" dirty="0">
                <a:latin typeface="微软雅黑" pitchFamily="34" charset="-122"/>
                <a:ea typeface="微软雅黑" pitchFamily="34" charset="-122"/>
              </a:rPr>
              <a:t>帧）</a:t>
            </a:r>
            <a:endParaRPr lang="en-US" altLang="zh-CN" sz="2000" dirty="0">
              <a:latin typeface="微软雅黑" pitchFamily="34" charset="-122"/>
              <a:ea typeface="微软雅黑" pitchFamily="34" charset="-122"/>
            </a:endParaRPr>
          </a:p>
          <a:p>
            <a:pPr eaLnBrk="0" hangingPunct="0">
              <a:lnSpc>
                <a:spcPts val="3100"/>
              </a:lnSpc>
            </a:pPr>
            <a:r>
              <a:rPr lang="zh-CN" altLang="en-US" sz="2000" dirty="0">
                <a:latin typeface="微软雅黑" pitchFamily="34" charset="-122"/>
                <a:ea typeface="微软雅黑" pitchFamily="34" charset="-122"/>
              </a:rPr>
              <a:t>每一个时分复用的用户在每一个 </a:t>
            </a:r>
            <a:r>
              <a:rPr lang="en-US" altLang="zh-CN" sz="2000" dirty="0">
                <a:latin typeface="微软雅黑" pitchFamily="34" charset="-122"/>
                <a:ea typeface="微软雅黑" pitchFamily="34" charset="-122"/>
              </a:rPr>
              <a:t>TDM </a:t>
            </a:r>
            <a:r>
              <a:rPr lang="zh-CN" altLang="en-US" sz="2000" dirty="0">
                <a:latin typeface="微软雅黑" pitchFamily="34" charset="-122"/>
                <a:ea typeface="微软雅黑" pitchFamily="34" charset="-122"/>
              </a:rPr>
              <a:t>帧中占用固定序号的时隙</a:t>
            </a:r>
          </a:p>
          <a:p>
            <a:pPr eaLnBrk="0" hangingPunct="0">
              <a:lnSpc>
                <a:spcPts val="3100"/>
              </a:lnSpc>
            </a:pPr>
            <a:r>
              <a:rPr lang="zh-CN" altLang="en-US" sz="2000" dirty="0">
                <a:latin typeface="微软雅黑" pitchFamily="34" charset="-122"/>
                <a:ea typeface="微软雅黑" pitchFamily="34" charset="-122"/>
              </a:rPr>
              <a:t>每一个用户所占用的时隙是</a:t>
            </a:r>
            <a:r>
              <a:rPr lang="zh-CN" altLang="en-US" sz="2000" dirty="0">
                <a:solidFill>
                  <a:srgbClr val="C00000"/>
                </a:solidFill>
                <a:latin typeface="微软雅黑" pitchFamily="34" charset="-122"/>
                <a:ea typeface="微软雅黑" pitchFamily="34" charset="-122"/>
              </a:rPr>
              <a:t>周期性地出现</a:t>
            </a:r>
            <a:r>
              <a:rPr lang="zh-CN" altLang="en-US" sz="2000" dirty="0">
                <a:latin typeface="微软雅黑" pitchFamily="34" charset="-122"/>
                <a:ea typeface="微软雅黑" pitchFamily="34" charset="-122"/>
              </a:rPr>
              <a:t>（其周期就是</a:t>
            </a:r>
            <a:r>
              <a:rPr lang="en-US" altLang="zh-CN" sz="2000" dirty="0">
                <a:latin typeface="微软雅黑" pitchFamily="34" charset="-122"/>
                <a:ea typeface="微软雅黑" pitchFamily="34" charset="-122"/>
              </a:rPr>
              <a:t>TDM</a:t>
            </a:r>
            <a:r>
              <a:rPr lang="zh-CN" altLang="en-US" sz="2000" dirty="0">
                <a:latin typeface="微软雅黑" pitchFamily="34" charset="-122"/>
                <a:ea typeface="微软雅黑" pitchFamily="34" charset="-122"/>
              </a:rPr>
              <a:t>帧的长度）的。</a:t>
            </a:r>
          </a:p>
          <a:p>
            <a:pPr eaLnBrk="0" hangingPunct="0">
              <a:lnSpc>
                <a:spcPts val="3100"/>
              </a:lnSpc>
            </a:pPr>
            <a:r>
              <a:rPr lang="en-US" altLang="zh-CN" sz="2000" dirty="0">
                <a:latin typeface="微软雅黑" pitchFamily="34" charset="-122"/>
                <a:ea typeface="微软雅黑" pitchFamily="34" charset="-122"/>
              </a:rPr>
              <a:t>TDM </a:t>
            </a:r>
            <a:r>
              <a:rPr lang="zh-CN" altLang="en-US" sz="2000" dirty="0">
                <a:latin typeface="微软雅黑" pitchFamily="34" charset="-122"/>
                <a:ea typeface="微软雅黑" pitchFamily="34" charset="-122"/>
              </a:rPr>
              <a:t>信号也称为</a:t>
            </a:r>
            <a:r>
              <a:rPr lang="zh-CN" altLang="en-US" sz="2000" dirty="0">
                <a:solidFill>
                  <a:srgbClr val="C00000"/>
                </a:solidFill>
                <a:latin typeface="微软雅黑" pitchFamily="34" charset="-122"/>
                <a:ea typeface="微软雅黑" pitchFamily="34" charset="-122"/>
              </a:rPr>
              <a:t>等时</a:t>
            </a:r>
            <a:r>
              <a:rPr lang="zh-CN" altLang="en-US" sz="2000" dirty="0">
                <a:solidFill>
                  <a:srgbClr val="7030A0"/>
                </a:solidFill>
                <a:latin typeface="微软雅黑" pitchFamily="34" charset="-122"/>
                <a:ea typeface="微软雅黑" pitchFamily="34" charset="-122"/>
              </a:rPr>
              <a:t> </a:t>
            </a:r>
            <a:r>
              <a:rPr lang="en-US" altLang="zh-CN" sz="2000" dirty="0">
                <a:latin typeface="微软雅黑" pitchFamily="34" charset="-122"/>
                <a:ea typeface="微软雅黑" pitchFamily="34" charset="-122"/>
              </a:rPr>
              <a:t>(isochronous) </a:t>
            </a:r>
            <a:r>
              <a:rPr lang="zh-CN" altLang="en-US" sz="2000" dirty="0">
                <a:latin typeface="微软雅黑" pitchFamily="34" charset="-122"/>
                <a:ea typeface="微软雅黑" pitchFamily="34" charset="-122"/>
              </a:rPr>
              <a:t>信号。</a:t>
            </a:r>
          </a:p>
          <a:p>
            <a:pPr eaLnBrk="0" hangingPunct="0">
              <a:lnSpc>
                <a:spcPts val="3100"/>
              </a:lnSpc>
            </a:pPr>
            <a:r>
              <a:rPr lang="zh-CN" altLang="en-US" sz="2000" dirty="0">
                <a:latin typeface="微软雅黑" pitchFamily="34" charset="-122"/>
                <a:ea typeface="微软雅黑" pitchFamily="34" charset="-122"/>
              </a:rPr>
              <a:t>时分复用的所有用户</a:t>
            </a:r>
            <a:r>
              <a:rPr lang="zh-CN" altLang="en-US" sz="2000" dirty="0">
                <a:solidFill>
                  <a:srgbClr val="C00000"/>
                </a:solidFill>
                <a:latin typeface="微软雅黑" pitchFamily="34" charset="-122"/>
                <a:ea typeface="微软雅黑" pitchFamily="34" charset="-122"/>
              </a:rPr>
              <a:t>在不同的时间</a:t>
            </a:r>
            <a:r>
              <a:rPr lang="zh-CN" altLang="en-US" sz="2000" dirty="0">
                <a:latin typeface="微软雅黑" pitchFamily="34" charset="-122"/>
                <a:ea typeface="微软雅黑" pitchFamily="34" charset="-122"/>
              </a:rPr>
              <a:t>占用</a:t>
            </a:r>
            <a:r>
              <a:rPr lang="zh-CN" altLang="en-US" sz="2000" dirty="0">
                <a:solidFill>
                  <a:srgbClr val="C00000"/>
                </a:solidFill>
                <a:latin typeface="微软雅黑" pitchFamily="34" charset="-122"/>
                <a:ea typeface="微软雅黑" pitchFamily="34" charset="-122"/>
              </a:rPr>
              <a:t>同样的频带宽度</a:t>
            </a:r>
            <a:endParaRPr lang="zh-CN" altLang="en-US" sz="2000" dirty="0">
              <a:latin typeface="微软雅黑" pitchFamily="34" charset="-122"/>
              <a:ea typeface="微软雅黑" pitchFamily="34" charset="-122"/>
            </a:endParaRPr>
          </a:p>
          <a:p>
            <a:endParaRPr lang="zh-CN" altLang="en-US" sz="2000" dirty="0"/>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100</a:t>
            </a:fld>
            <a:endParaRPr kumimoji="1" lang="zh-CN" altLang="en-US" dirty="0"/>
          </a:p>
        </p:txBody>
      </p:sp>
      <p:grpSp>
        <p:nvGrpSpPr>
          <p:cNvPr id="58" name="组合 57">
            <a:extLst>
              <a:ext uri="{FF2B5EF4-FFF2-40B4-BE49-F238E27FC236}">
                <a16:creationId xmlns:a16="http://schemas.microsoft.com/office/drawing/2014/main" id="{27BFABD0-B459-4584-BFA7-006429F915D3}"/>
              </a:ext>
            </a:extLst>
          </p:cNvPr>
          <p:cNvGrpSpPr/>
          <p:nvPr/>
        </p:nvGrpSpPr>
        <p:grpSpPr>
          <a:xfrm>
            <a:off x="748616" y="3560398"/>
            <a:ext cx="10830444" cy="2939451"/>
            <a:chOff x="260343" y="3578384"/>
            <a:chExt cx="10830444" cy="2815740"/>
          </a:xfrm>
        </p:grpSpPr>
        <p:sp>
          <p:nvSpPr>
            <p:cNvPr id="7" name="圆角矩形 4">
              <a:extLst>
                <a:ext uri="{FF2B5EF4-FFF2-40B4-BE49-F238E27FC236}">
                  <a16:creationId xmlns:a16="http://schemas.microsoft.com/office/drawing/2014/main" id="{9334DB1C-888F-41DA-BDF0-019CE3B50C1C}"/>
                </a:ext>
              </a:extLst>
            </p:cNvPr>
            <p:cNvSpPr/>
            <p:nvPr/>
          </p:nvSpPr>
          <p:spPr>
            <a:xfrm>
              <a:off x="260343" y="3578384"/>
              <a:ext cx="10830444" cy="2807545"/>
            </a:xfrm>
            <a:prstGeom prst="roundRect">
              <a:avLst>
                <a:gd name="adj" fmla="val 7870"/>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endParaRPr>
            </a:p>
          </p:txBody>
        </p:sp>
        <p:sp>
          <p:nvSpPr>
            <p:cNvPr id="8" name="Line 3">
              <a:extLst>
                <a:ext uri="{FF2B5EF4-FFF2-40B4-BE49-F238E27FC236}">
                  <a16:creationId xmlns:a16="http://schemas.microsoft.com/office/drawing/2014/main" id="{E9CA026B-D494-4A9E-AD91-BDB6EC5BA7B3}"/>
                </a:ext>
              </a:extLst>
            </p:cNvPr>
            <p:cNvSpPr>
              <a:spLocks noChangeShapeType="1"/>
            </p:cNvSpPr>
            <p:nvPr/>
          </p:nvSpPr>
          <p:spPr bwMode="auto">
            <a:xfrm flipV="1">
              <a:off x="1363612" y="6197584"/>
              <a:ext cx="8773218" cy="834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sp>
          <p:nvSpPr>
            <p:cNvPr id="9" name="Text Box 4">
              <a:extLst>
                <a:ext uri="{FF2B5EF4-FFF2-40B4-BE49-F238E27FC236}">
                  <a16:creationId xmlns:a16="http://schemas.microsoft.com/office/drawing/2014/main" id="{BC9F79C0-A8C1-4B03-9505-D3879D69BBDA}"/>
                </a:ext>
              </a:extLst>
            </p:cNvPr>
            <p:cNvSpPr txBox="1">
              <a:spLocks noChangeArrowheads="1"/>
            </p:cNvSpPr>
            <p:nvPr/>
          </p:nvSpPr>
          <p:spPr bwMode="auto">
            <a:xfrm>
              <a:off x="635883" y="3943488"/>
              <a:ext cx="719924"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1867" dirty="0">
                  <a:latin typeface="微软雅黑" pitchFamily="34" charset="-122"/>
                  <a:ea typeface="微软雅黑" pitchFamily="34" charset="-122"/>
                </a:rPr>
                <a:t>频率</a:t>
              </a:r>
            </a:p>
          </p:txBody>
        </p:sp>
        <p:sp>
          <p:nvSpPr>
            <p:cNvPr id="10" name="Text Box 5">
              <a:extLst>
                <a:ext uri="{FF2B5EF4-FFF2-40B4-BE49-F238E27FC236}">
                  <a16:creationId xmlns:a16="http://schemas.microsoft.com/office/drawing/2014/main" id="{580A9355-A73A-4BF6-B781-D88E79A53739}"/>
                </a:ext>
              </a:extLst>
            </p:cNvPr>
            <p:cNvSpPr txBox="1">
              <a:spLocks noChangeArrowheads="1"/>
            </p:cNvSpPr>
            <p:nvPr/>
          </p:nvSpPr>
          <p:spPr bwMode="auto">
            <a:xfrm>
              <a:off x="10136831" y="6043194"/>
              <a:ext cx="719924"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1867" dirty="0">
                  <a:latin typeface="微软雅黑" pitchFamily="34" charset="-122"/>
                  <a:ea typeface="微软雅黑" pitchFamily="34" charset="-122"/>
                </a:rPr>
                <a:t>时间</a:t>
              </a:r>
            </a:p>
          </p:txBody>
        </p:sp>
        <p:sp>
          <p:nvSpPr>
            <p:cNvPr id="11" name="Rectangle 6">
              <a:extLst>
                <a:ext uri="{FF2B5EF4-FFF2-40B4-BE49-F238E27FC236}">
                  <a16:creationId xmlns:a16="http://schemas.microsoft.com/office/drawing/2014/main" id="{26D1DEC4-CB0C-46FB-9127-80278D24098E}"/>
                </a:ext>
              </a:extLst>
            </p:cNvPr>
            <p:cNvSpPr>
              <a:spLocks noChangeArrowheads="1"/>
            </p:cNvSpPr>
            <p:nvPr/>
          </p:nvSpPr>
          <p:spPr bwMode="auto">
            <a:xfrm>
              <a:off x="1775746" y="4314045"/>
              <a:ext cx="412133" cy="1404611"/>
            </a:xfrm>
            <a:prstGeom prst="rect">
              <a:avLst/>
            </a:prstGeom>
            <a:solidFill>
              <a:srgbClr val="FFFF00"/>
            </a:solidFill>
            <a:ln>
              <a:solidFill>
                <a:schemeClr val="tx1"/>
              </a:solidFill>
            </a:ln>
            <a:effectLst/>
          </p:spPr>
          <p:txBody>
            <a:bodyPr wrap="none" anchor="ctr"/>
            <a:lstStyle/>
            <a:p>
              <a:r>
                <a:rPr lang="en-US" altLang="zh-CN" sz="1867" b="1">
                  <a:latin typeface="微软雅黑" pitchFamily="34" charset="-122"/>
                  <a:ea typeface="微软雅黑" pitchFamily="34" charset="-122"/>
                </a:rPr>
                <a:t>B</a:t>
              </a:r>
            </a:p>
          </p:txBody>
        </p:sp>
        <p:sp>
          <p:nvSpPr>
            <p:cNvPr id="12" name="Rectangle 7">
              <a:extLst>
                <a:ext uri="{FF2B5EF4-FFF2-40B4-BE49-F238E27FC236}">
                  <a16:creationId xmlns:a16="http://schemas.microsoft.com/office/drawing/2014/main" id="{735895D7-2E9A-482A-AE3D-89D9B9D515AB}"/>
                </a:ext>
              </a:extLst>
            </p:cNvPr>
            <p:cNvSpPr>
              <a:spLocks noChangeArrowheads="1"/>
            </p:cNvSpPr>
            <p:nvPr/>
          </p:nvSpPr>
          <p:spPr bwMode="auto">
            <a:xfrm>
              <a:off x="2190159" y="4314045"/>
              <a:ext cx="412133" cy="140461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C</a:t>
              </a:r>
            </a:p>
          </p:txBody>
        </p:sp>
        <p:sp>
          <p:nvSpPr>
            <p:cNvPr id="13" name="Rectangle 8">
              <a:extLst>
                <a:ext uri="{FF2B5EF4-FFF2-40B4-BE49-F238E27FC236}">
                  <a16:creationId xmlns:a16="http://schemas.microsoft.com/office/drawing/2014/main" id="{F5DC6AC2-CBF4-4BCF-A8A3-4C137B141638}"/>
                </a:ext>
              </a:extLst>
            </p:cNvPr>
            <p:cNvSpPr>
              <a:spLocks noChangeArrowheads="1"/>
            </p:cNvSpPr>
            <p:nvPr/>
          </p:nvSpPr>
          <p:spPr bwMode="auto">
            <a:xfrm>
              <a:off x="2602292" y="4314045"/>
              <a:ext cx="412134" cy="1404611"/>
            </a:xfrm>
            <a:prstGeom prst="rect">
              <a:avLst/>
            </a:prstGeom>
            <a:solidFill>
              <a:srgbClr val="00B0F0"/>
            </a:solidFill>
            <a:ln>
              <a:solidFill>
                <a:schemeClr val="tx1"/>
              </a:solidFill>
            </a:ln>
            <a:effectLst/>
          </p:spPr>
          <p:txBody>
            <a:bodyPr wrap="none" anchor="ctr"/>
            <a:lstStyle/>
            <a:p>
              <a:r>
                <a:rPr lang="en-US" altLang="zh-CN" sz="1867" b="1">
                  <a:latin typeface="微软雅黑" pitchFamily="34" charset="-122"/>
                  <a:ea typeface="微软雅黑" pitchFamily="34" charset="-122"/>
                </a:rPr>
                <a:t>D</a:t>
              </a:r>
            </a:p>
          </p:txBody>
        </p:sp>
        <p:sp>
          <p:nvSpPr>
            <p:cNvPr id="14" name="Rectangle 9">
              <a:extLst>
                <a:ext uri="{FF2B5EF4-FFF2-40B4-BE49-F238E27FC236}">
                  <a16:creationId xmlns:a16="http://schemas.microsoft.com/office/drawing/2014/main" id="{F47F48BD-D713-46FA-8F43-94B952A41FCF}"/>
                </a:ext>
              </a:extLst>
            </p:cNvPr>
            <p:cNvSpPr>
              <a:spLocks noChangeArrowheads="1"/>
            </p:cNvSpPr>
            <p:nvPr/>
          </p:nvSpPr>
          <p:spPr bwMode="auto">
            <a:xfrm>
              <a:off x="3428837" y="4314045"/>
              <a:ext cx="412133" cy="1404611"/>
            </a:xfrm>
            <a:prstGeom prst="rect">
              <a:avLst/>
            </a:prstGeom>
            <a:solidFill>
              <a:srgbClr val="FFFF00"/>
            </a:solidFill>
            <a:ln>
              <a:solidFill>
                <a:schemeClr val="tx1"/>
              </a:solidFill>
            </a:ln>
            <a:effectLst/>
          </p:spPr>
          <p:txBody>
            <a:bodyPr wrap="none" anchor="ctr"/>
            <a:lstStyle/>
            <a:p>
              <a:r>
                <a:rPr lang="en-US" altLang="zh-CN" sz="1867" b="1">
                  <a:latin typeface="微软雅黑" pitchFamily="34" charset="-122"/>
                  <a:ea typeface="微软雅黑" pitchFamily="34" charset="-122"/>
                </a:rPr>
                <a:t>B</a:t>
              </a:r>
            </a:p>
          </p:txBody>
        </p:sp>
        <p:sp>
          <p:nvSpPr>
            <p:cNvPr id="15" name="Rectangle 10">
              <a:extLst>
                <a:ext uri="{FF2B5EF4-FFF2-40B4-BE49-F238E27FC236}">
                  <a16:creationId xmlns:a16="http://schemas.microsoft.com/office/drawing/2014/main" id="{4766AC0B-D32A-4915-AD65-4A6621BD354B}"/>
                </a:ext>
              </a:extLst>
            </p:cNvPr>
            <p:cNvSpPr>
              <a:spLocks noChangeArrowheads="1"/>
            </p:cNvSpPr>
            <p:nvPr/>
          </p:nvSpPr>
          <p:spPr bwMode="auto">
            <a:xfrm>
              <a:off x="3843249" y="4314045"/>
              <a:ext cx="412133" cy="140461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C</a:t>
              </a:r>
            </a:p>
          </p:txBody>
        </p:sp>
        <p:sp>
          <p:nvSpPr>
            <p:cNvPr id="16" name="Rectangle 11">
              <a:extLst>
                <a:ext uri="{FF2B5EF4-FFF2-40B4-BE49-F238E27FC236}">
                  <a16:creationId xmlns:a16="http://schemas.microsoft.com/office/drawing/2014/main" id="{2BB68237-96DA-42DD-9D47-5D6C3F3CBB1B}"/>
                </a:ext>
              </a:extLst>
            </p:cNvPr>
            <p:cNvSpPr>
              <a:spLocks noChangeArrowheads="1"/>
            </p:cNvSpPr>
            <p:nvPr/>
          </p:nvSpPr>
          <p:spPr bwMode="auto">
            <a:xfrm>
              <a:off x="4255380" y="4314045"/>
              <a:ext cx="412134" cy="1404611"/>
            </a:xfrm>
            <a:prstGeom prst="rect">
              <a:avLst/>
            </a:prstGeom>
            <a:solidFill>
              <a:srgbClr val="00B0F0"/>
            </a:solidFill>
            <a:ln>
              <a:solidFill>
                <a:schemeClr val="tx1"/>
              </a:solidFill>
            </a:ln>
            <a:effectLst/>
          </p:spPr>
          <p:txBody>
            <a:bodyPr wrap="none" anchor="ctr"/>
            <a:lstStyle/>
            <a:p>
              <a:r>
                <a:rPr lang="en-US" altLang="zh-CN" sz="1867" b="1">
                  <a:latin typeface="微软雅黑" pitchFamily="34" charset="-122"/>
                  <a:ea typeface="微软雅黑" pitchFamily="34" charset="-122"/>
                </a:rPr>
                <a:t>D</a:t>
              </a:r>
            </a:p>
          </p:txBody>
        </p:sp>
        <p:sp>
          <p:nvSpPr>
            <p:cNvPr id="17" name="Rectangle 12">
              <a:extLst>
                <a:ext uri="{FF2B5EF4-FFF2-40B4-BE49-F238E27FC236}">
                  <a16:creationId xmlns:a16="http://schemas.microsoft.com/office/drawing/2014/main" id="{2BD00B57-CE64-46E8-BBBC-15FE1DED4AEB}"/>
                </a:ext>
              </a:extLst>
            </p:cNvPr>
            <p:cNvSpPr>
              <a:spLocks noChangeArrowheads="1"/>
            </p:cNvSpPr>
            <p:nvPr/>
          </p:nvSpPr>
          <p:spPr bwMode="auto">
            <a:xfrm>
              <a:off x="5081926" y="4314045"/>
              <a:ext cx="412133" cy="1404611"/>
            </a:xfrm>
            <a:prstGeom prst="rect">
              <a:avLst/>
            </a:prstGeom>
            <a:solidFill>
              <a:srgbClr val="FFFF00"/>
            </a:solidFill>
            <a:ln>
              <a:solidFill>
                <a:schemeClr val="tx1"/>
              </a:solidFill>
            </a:ln>
            <a:effectLst/>
          </p:spPr>
          <p:txBody>
            <a:bodyPr wrap="none" anchor="ctr"/>
            <a:lstStyle/>
            <a:p>
              <a:r>
                <a:rPr lang="en-US" altLang="zh-CN" sz="1867" b="1">
                  <a:latin typeface="微软雅黑" pitchFamily="34" charset="-122"/>
                  <a:ea typeface="微软雅黑" pitchFamily="34" charset="-122"/>
                </a:rPr>
                <a:t>B</a:t>
              </a:r>
            </a:p>
          </p:txBody>
        </p:sp>
        <p:sp>
          <p:nvSpPr>
            <p:cNvPr id="18" name="Rectangle 13">
              <a:extLst>
                <a:ext uri="{FF2B5EF4-FFF2-40B4-BE49-F238E27FC236}">
                  <a16:creationId xmlns:a16="http://schemas.microsoft.com/office/drawing/2014/main" id="{60946F64-75ED-4391-A083-1E741D89A462}"/>
                </a:ext>
              </a:extLst>
            </p:cNvPr>
            <p:cNvSpPr>
              <a:spLocks noChangeArrowheads="1"/>
            </p:cNvSpPr>
            <p:nvPr/>
          </p:nvSpPr>
          <p:spPr bwMode="auto">
            <a:xfrm>
              <a:off x="5496338" y="4314045"/>
              <a:ext cx="412133" cy="140461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C</a:t>
              </a:r>
            </a:p>
          </p:txBody>
        </p:sp>
        <p:sp>
          <p:nvSpPr>
            <p:cNvPr id="19" name="Rectangle 14">
              <a:extLst>
                <a:ext uri="{FF2B5EF4-FFF2-40B4-BE49-F238E27FC236}">
                  <a16:creationId xmlns:a16="http://schemas.microsoft.com/office/drawing/2014/main" id="{68F7B752-581C-4FA9-A721-90151E124532}"/>
                </a:ext>
              </a:extLst>
            </p:cNvPr>
            <p:cNvSpPr>
              <a:spLocks noChangeArrowheads="1"/>
            </p:cNvSpPr>
            <p:nvPr/>
          </p:nvSpPr>
          <p:spPr bwMode="auto">
            <a:xfrm>
              <a:off x="5908471" y="4314045"/>
              <a:ext cx="412134" cy="1404611"/>
            </a:xfrm>
            <a:prstGeom prst="rect">
              <a:avLst/>
            </a:prstGeom>
            <a:solidFill>
              <a:srgbClr val="00B0F0"/>
            </a:solidFill>
            <a:ln>
              <a:solidFill>
                <a:schemeClr val="tx1"/>
              </a:solidFill>
            </a:ln>
            <a:effectLst/>
          </p:spPr>
          <p:txBody>
            <a:bodyPr wrap="none" anchor="ctr"/>
            <a:lstStyle/>
            <a:p>
              <a:r>
                <a:rPr lang="en-US" altLang="zh-CN" sz="1867" b="1">
                  <a:latin typeface="微软雅黑" pitchFamily="34" charset="-122"/>
                  <a:ea typeface="微软雅黑" pitchFamily="34" charset="-122"/>
                </a:rPr>
                <a:t>D</a:t>
              </a:r>
            </a:p>
          </p:txBody>
        </p:sp>
        <p:sp>
          <p:nvSpPr>
            <p:cNvPr id="20" name="Rectangle 15">
              <a:extLst>
                <a:ext uri="{FF2B5EF4-FFF2-40B4-BE49-F238E27FC236}">
                  <a16:creationId xmlns:a16="http://schemas.microsoft.com/office/drawing/2014/main" id="{C174464A-998E-4706-8ECF-EE17A8EB98EB}"/>
                </a:ext>
              </a:extLst>
            </p:cNvPr>
            <p:cNvSpPr>
              <a:spLocks noChangeArrowheads="1"/>
            </p:cNvSpPr>
            <p:nvPr/>
          </p:nvSpPr>
          <p:spPr bwMode="auto">
            <a:xfrm>
              <a:off x="6735018" y="4314045"/>
              <a:ext cx="412133" cy="1404611"/>
            </a:xfrm>
            <a:prstGeom prst="rect">
              <a:avLst/>
            </a:prstGeom>
            <a:solidFill>
              <a:srgbClr val="FFFF00"/>
            </a:solidFill>
            <a:ln>
              <a:solidFill>
                <a:schemeClr val="tx1"/>
              </a:solidFill>
            </a:ln>
            <a:effectLst/>
          </p:spPr>
          <p:txBody>
            <a:bodyPr wrap="none" anchor="ctr"/>
            <a:lstStyle/>
            <a:p>
              <a:r>
                <a:rPr lang="en-US" altLang="zh-CN" sz="1867" b="1">
                  <a:latin typeface="微软雅黑" pitchFamily="34" charset="-122"/>
                  <a:ea typeface="微软雅黑" pitchFamily="34" charset="-122"/>
                </a:rPr>
                <a:t>B</a:t>
              </a:r>
            </a:p>
          </p:txBody>
        </p:sp>
        <p:sp>
          <p:nvSpPr>
            <p:cNvPr id="21" name="Rectangle 16">
              <a:extLst>
                <a:ext uri="{FF2B5EF4-FFF2-40B4-BE49-F238E27FC236}">
                  <a16:creationId xmlns:a16="http://schemas.microsoft.com/office/drawing/2014/main" id="{5EB4490A-D1F5-454F-9715-30C2BD1BF591}"/>
                </a:ext>
              </a:extLst>
            </p:cNvPr>
            <p:cNvSpPr>
              <a:spLocks noChangeArrowheads="1"/>
            </p:cNvSpPr>
            <p:nvPr/>
          </p:nvSpPr>
          <p:spPr bwMode="auto">
            <a:xfrm>
              <a:off x="7149429" y="4314045"/>
              <a:ext cx="412133" cy="140461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C</a:t>
              </a:r>
            </a:p>
          </p:txBody>
        </p:sp>
        <p:sp>
          <p:nvSpPr>
            <p:cNvPr id="22" name="Rectangle 17">
              <a:extLst>
                <a:ext uri="{FF2B5EF4-FFF2-40B4-BE49-F238E27FC236}">
                  <a16:creationId xmlns:a16="http://schemas.microsoft.com/office/drawing/2014/main" id="{DB38AA22-04B6-4FD7-90A0-3E8A1FFB6DA2}"/>
                </a:ext>
              </a:extLst>
            </p:cNvPr>
            <p:cNvSpPr>
              <a:spLocks noChangeArrowheads="1"/>
            </p:cNvSpPr>
            <p:nvPr/>
          </p:nvSpPr>
          <p:spPr bwMode="auto">
            <a:xfrm>
              <a:off x="7561560" y="4314045"/>
              <a:ext cx="412134" cy="1404611"/>
            </a:xfrm>
            <a:prstGeom prst="rect">
              <a:avLst/>
            </a:prstGeom>
            <a:solidFill>
              <a:srgbClr val="00B0F0"/>
            </a:solidFill>
            <a:ln>
              <a:solidFill>
                <a:schemeClr val="tx1"/>
              </a:solidFill>
            </a:ln>
            <a:effectLst/>
          </p:spPr>
          <p:txBody>
            <a:bodyPr wrap="none" anchor="ctr"/>
            <a:lstStyle/>
            <a:p>
              <a:r>
                <a:rPr lang="en-US" altLang="zh-CN" sz="1867" b="1">
                  <a:latin typeface="微软雅黑" pitchFamily="34" charset="-122"/>
                  <a:ea typeface="微软雅黑" pitchFamily="34" charset="-122"/>
                </a:rPr>
                <a:t>D</a:t>
              </a:r>
            </a:p>
          </p:txBody>
        </p:sp>
        <p:grpSp>
          <p:nvGrpSpPr>
            <p:cNvPr id="23" name="Group 18">
              <a:extLst>
                <a:ext uri="{FF2B5EF4-FFF2-40B4-BE49-F238E27FC236}">
                  <a16:creationId xmlns:a16="http://schemas.microsoft.com/office/drawing/2014/main" id="{CCC3AF8E-31CF-486A-8F66-35D6C53D3A2E}"/>
                </a:ext>
              </a:extLst>
            </p:cNvPr>
            <p:cNvGrpSpPr>
              <a:grpSpLocks/>
            </p:cNvGrpSpPr>
            <p:nvPr/>
          </p:nvGrpSpPr>
          <p:grpSpPr bwMode="auto">
            <a:xfrm>
              <a:off x="1363612" y="4314045"/>
              <a:ext cx="5371406" cy="1404611"/>
              <a:chOff x="930" y="1661"/>
              <a:chExt cx="2359" cy="1179"/>
            </a:xfrm>
          </p:grpSpPr>
          <p:sp>
            <p:nvSpPr>
              <p:cNvPr id="52" name="Rectangle 19">
                <a:extLst>
                  <a:ext uri="{FF2B5EF4-FFF2-40B4-BE49-F238E27FC236}">
                    <a16:creationId xmlns:a16="http://schemas.microsoft.com/office/drawing/2014/main" id="{6A109E9D-534B-42AF-89CF-424AB0B47C28}"/>
                  </a:ext>
                </a:extLst>
              </p:cNvPr>
              <p:cNvSpPr>
                <a:spLocks noChangeArrowheads="1"/>
              </p:cNvSpPr>
              <p:nvPr/>
            </p:nvSpPr>
            <p:spPr bwMode="auto">
              <a:xfrm>
                <a:off x="930" y="1661"/>
                <a:ext cx="181" cy="1179"/>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dirty="0">
                    <a:latin typeface="微软雅黑" pitchFamily="34" charset="-122"/>
                    <a:ea typeface="微软雅黑" pitchFamily="34" charset="-122"/>
                  </a:rPr>
                  <a:t>A</a:t>
                </a:r>
              </a:p>
            </p:txBody>
          </p:sp>
          <p:sp>
            <p:nvSpPr>
              <p:cNvPr id="53" name="Rectangle 20">
                <a:extLst>
                  <a:ext uri="{FF2B5EF4-FFF2-40B4-BE49-F238E27FC236}">
                    <a16:creationId xmlns:a16="http://schemas.microsoft.com/office/drawing/2014/main" id="{D5C7BAA9-B4BB-443A-A7BF-A7B3014459B4}"/>
                  </a:ext>
                </a:extLst>
              </p:cNvPr>
              <p:cNvSpPr>
                <a:spLocks noChangeArrowheads="1"/>
              </p:cNvSpPr>
              <p:nvPr/>
            </p:nvSpPr>
            <p:spPr bwMode="auto">
              <a:xfrm>
                <a:off x="1656" y="1661"/>
                <a:ext cx="181" cy="1179"/>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A</a:t>
                </a:r>
              </a:p>
            </p:txBody>
          </p:sp>
          <p:sp>
            <p:nvSpPr>
              <p:cNvPr id="54" name="Rectangle 21">
                <a:extLst>
                  <a:ext uri="{FF2B5EF4-FFF2-40B4-BE49-F238E27FC236}">
                    <a16:creationId xmlns:a16="http://schemas.microsoft.com/office/drawing/2014/main" id="{FE17A619-7447-4E83-A8BD-20179058C2B8}"/>
                  </a:ext>
                </a:extLst>
              </p:cNvPr>
              <p:cNvSpPr>
                <a:spLocks noChangeArrowheads="1"/>
              </p:cNvSpPr>
              <p:nvPr/>
            </p:nvSpPr>
            <p:spPr bwMode="auto">
              <a:xfrm>
                <a:off x="2382" y="1661"/>
                <a:ext cx="181" cy="1179"/>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A</a:t>
                </a:r>
              </a:p>
            </p:txBody>
          </p:sp>
          <p:sp>
            <p:nvSpPr>
              <p:cNvPr id="55" name="Rectangle 22">
                <a:extLst>
                  <a:ext uri="{FF2B5EF4-FFF2-40B4-BE49-F238E27FC236}">
                    <a16:creationId xmlns:a16="http://schemas.microsoft.com/office/drawing/2014/main" id="{CD52A4CD-F0CE-4D3A-BF2C-7F910812081B}"/>
                  </a:ext>
                </a:extLst>
              </p:cNvPr>
              <p:cNvSpPr>
                <a:spLocks noChangeArrowheads="1"/>
              </p:cNvSpPr>
              <p:nvPr/>
            </p:nvSpPr>
            <p:spPr bwMode="auto">
              <a:xfrm>
                <a:off x="3108" y="1661"/>
                <a:ext cx="181" cy="1179"/>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A</a:t>
                </a:r>
              </a:p>
            </p:txBody>
          </p:sp>
        </p:grpSp>
        <p:grpSp>
          <p:nvGrpSpPr>
            <p:cNvPr id="24" name="Group 30">
              <a:extLst>
                <a:ext uri="{FF2B5EF4-FFF2-40B4-BE49-F238E27FC236}">
                  <a16:creationId xmlns:a16="http://schemas.microsoft.com/office/drawing/2014/main" id="{B2708F2D-92D6-437F-85FA-064A5A7E0BCB}"/>
                </a:ext>
              </a:extLst>
            </p:cNvPr>
            <p:cNvGrpSpPr>
              <a:grpSpLocks/>
            </p:cNvGrpSpPr>
            <p:nvPr/>
          </p:nvGrpSpPr>
          <p:grpSpPr bwMode="auto">
            <a:xfrm>
              <a:off x="1363610" y="5773458"/>
              <a:ext cx="1650815" cy="434847"/>
              <a:chOff x="930" y="2886"/>
              <a:chExt cx="725" cy="365"/>
            </a:xfrm>
          </p:grpSpPr>
          <p:sp>
            <p:nvSpPr>
              <p:cNvPr id="50" name="Text Box 31">
                <a:extLst>
                  <a:ext uri="{FF2B5EF4-FFF2-40B4-BE49-F238E27FC236}">
                    <a16:creationId xmlns:a16="http://schemas.microsoft.com/office/drawing/2014/main" id="{9D0547C6-3CA6-4F8E-9240-8D89B4E73D3B}"/>
                  </a:ext>
                </a:extLst>
              </p:cNvPr>
              <p:cNvSpPr txBox="1">
                <a:spLocks noChangeArrowheads="1"/>
              </p:cNvSpPr>
              <p:nvPr/>
            </p:nvSpPr>
            <p:spPr bwMode="auto">
              <a:xfrm>
                <a:off x="1017"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51" name="AutoShape 32">
                <a:extLst>
                  <a:ext uri="{FF2B5EF4-FFF2-40B4-BE49-F238E27FC236}">
                    <a16:creationId xmlns:a16="http://schemas.microsoft.com/office/drawing/2014/main" id="{DF399517-0A4F-4B9A-A431-66EE649D7364}"/>
                  </a:ext>
                </a:extLst>
              </p:cNvPr>
              <p:cNvSpPr>
                <a:spLocks/>
              </p:cNvSpPr>
              <p:nvPr/>
            </p:nvSpPr>
            <p:spPr bwMode="auto">
              <a:xfrm rot="16200000" flipV="1">
                <a:off x="1248"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grpSp>
          <p:nvGrpSpPr>
            <p:cNvPr id="25" name="Group 33">
              <a:extLst>
                <a:ext uri="{FF2B5EF4-FFF2-40B4-BE49-F238E27FC236}">
                  <a16:creationId xmlns:a16="http://schemas.microsoft.com/office/drawing/2014/main" id="{D2EAECF3-6F48-4D2C-B15C-1211FC83FAE9}"/>
                </a:ext>
              </a:extLst>
            </p:cNvPr>
            <p:cNvGrpSpPr>
              <a:grpSpLocks/>
            </p:cNvGrpSpPr>
            <p:nvPr/>
          </p:nvGrpSpPr>
          <p:grpSpPr bwMode="auto">
            <a:xfrm>
              <a:off x="3014425" y="5773458"/>
              <a:ext cx="1650810" cy="434847"/>
              <a:chOff x="1655" y="2886"/>
              <a:chExt cx="725" cy="365"/>
            </a:xfrm>
          </p:grpSpPr>
          <p:sp>
            <p:nvSpPr>
              <p:cNvPr id="48" name="Text Box 34">
                <a:extLst>
                  <a:ext uri="{FF2B5EF4-FFF2-40B4-BE49-F238E27FC236}">
                    <a16:creationId xmlns:a16="http://schemas.microsoft.com/office/drawing/2014/main" id="{0FDC49B2-215F-4129-83F1-D1A1C42CAEB1}"/>
                  </a:ext>
                </a:extLst>
              </p:cNvPr>
              <p:cNvSpPr txBox="1">
                <a:spLocks noChangeArrowheads="1"/>
              </p:cNvSpPr>
              <p:nvPr/>
            </p:nvSpPr>
            <p:spPr bwMode="auto">
              <a:xfrm>
                <a:off x="1748"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49" name="AutoShape 35">
                <a:extLst>
                  <a:ext uri="{FF2B5EF4-FFF2-40B4-BE49-F238E27FC236}">
                    <a16:creationId xmlns:a16="http://schemas.microsoft.com/office/drawing/2014/main" id="{A62C92FF-A7BA-4318-88C7-E00C5EB43943}"/>
                  </a:ext>
                </a:extLst>
              </p:cNvPr>
              <p:cNvSpPr>
                <a:spLocks/>
              </p:cNvSpPr>
              <p:nvPr/>
            </p:nvSpPr>
            <p:spPr bwMode="auto">
              <a:xfrm rot="16200000" flipV="1">
                <a:off x="197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grpSp>
          <p:nvGrpSpPr>
            <p:cNvPr id="26" name="Group 36">
              <a:extLst>
                <a:ext uri="{FF2B5EF4-FFF2-40B4-BE49-F238E27FC236}">
                  <a16:creationId xmlns:a16="http://schemas.microsoft.com/office/drawing/2014/main" id="{88A61329-536A-4494-8A13-D4838F7AECBC}"/>
                </a:ext>
              </a:extLst>
            </p:cNvPr>
            <p:cNvGrpSpPr>
              <a:grpSpLocks/>
            </p:cNvGrpSpPr>
            <p:nvPr/>
          </p:nvGrpSpPr>
          <p:grpSpPr bwMode="auto">
            <a:xfrm>
              <a:off x="4665238" y="5773458"/>
              <a:ext cx="1650815" cy="434847"/>
              <a:chOff x="2380" y="2886"/>
              <a:chExt cx="725" cy="365"/>
            </a:xfrm>
          </p:grpSpPr>
          <p:sp>
            <p:nvSpPr>
              <p:cNvPr id="46" name="Text Box 37">
                <a:extLst>
                  <a:ext uri="{FF2B5EF4-FFF2-40B4-BE49-F238E27FC236}">
                    <a16:creationId xmlns:a16="http://schemas.microsoft.com/office/drawing/2014/main" id="{B3CF9F58-FA7D-4857-ABCA-4E01F8A69774}"/>
                  </a:ext>
                </a:extLst>
              </p:cNvPr>
              <p:cNvSpPr txBox="1">
                <a:spLocks noChangeArrowheads="1"/>
              </p:cNvSpPr>
              <p:nvPr/>
            </p:nvSpPr>
            <p:spPr bwMode="auto">
              <a:xfrm>
                <a:off x="2474"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47" name="AutoShape 38">
                <a:extLst>
                  <a:ext uri="{FF2B5EF4-FFF2-40B4-BE49-F238E27FC236}">
                    <a16:creationId xmlns:a16="http://schemas.microsoft.com/office/drawing/2014/main" id="{923E51F5-FDAF-491D-8B3D-9E866EE72C37}"/>
                  </a:ext>
                </a:extLst>
              </p:cNvPr>
              <p:cNvSpPr>
                <a:spLocks/>
              </p:cNvSpPr>
              <p:nvPr/>
            </p:nvSpPr>
            <p:spPr bwMode="auto">
              <a:xfrm rot="16200000" flipV="1">
                <a:off x="2698"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grpSp>
          <p:nvGrpSpPr>
            <p:cNvPr id="27" name="Group 39">
              <a:extLst>
                <a:ext uri="{FF2B5EF4-FFF2-40B4-BE49-F238E27FC236}">
                  <a16:creationId xmlns:a16="http://schemas.microsoft.com/office/drawing/2014/main" id="{626554B7-DEE5-4828-A5E0-FFFFECB8111E}"/>
                </a:ext>
              </a:extLst>
            </p:cNvPr>
            <p:cNvGrpSpPr>
              <a:grpSpLocks/>
            </p:cNvGrpSpPr>
            <p:nvPr/>
          </p:nvGrpSpPr>
          <p:grpSpPr bwMode="auto">
            <a:xfrm>
              <a:off x="6316055" y="5773458"/>
              <a:ext cx="1650812" cy="434847"/>
              <a:chOff x="3105" y="2886"/>
              <a:chExt cx="725" cy="365"/>
            </a:xfrm>
          </p:grpSpPr>
          <p:sp>
            <p:nvSpPr>
              <p:cNvPr id="44" name="Text Box 40">
                <a:extLst>
                  <a:ext uri="{FF2B5EF4-FFF2-40B4-BE49-F238E27FC236}">
                    <a16:creationId xmlns:a16="http://schemas.microsoft.com/office/drawing/2014/main" id="{07567491-F718-45BF-A890-F90488ECE447}"/>
                  </a:ext>
                </a:extLst>
              </p:cNvPr>
              <p:cNvSpPr txBox="1">
                <a:spLocks noChangeArrowheads="1"/>
              </p:cNvSpPr>
              <p:nvPr/>
            </p:nvSpPr>
            <p:spPr bwMode="auto">
              <a:xfrm>
                <a:off x="3200"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45" name="AutoShape 41">
                <a:extLst>
                  <a:ext uri="{FF2B5EF4-FFF2-40B4-BE49-F238E27FC236}">
                    <a16:creationId xmlns:a16="http://schemas.microsoft.com/office/drawing/2014/main" id="{26FDC850-1A11-44C1-BFA3-CA651347027B}"/>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sp>
          <p:nvSpPr>
            <p:cNvPr id="28" name="Rectangle 42">
              <a:extLst>
                <a:ext uri="{FF2B5EF4-FFF2-40B4-BE49-F238E27FC236}">
                  <a16:creationId xmlns:a16="http://schemas.microsoft.com/office/drawing/2014/main" id="{BDC85C1D-BB27-497F-88A4-C6A116CD9D20}"/>
                </a:ext>
              </a:extLst>
            </p:cNvPr>
            <p:cNvSpPr>
              <a:spLocks noChangeArrowheads="1"/>
            </p:cNvSpPr>
            <p:nvPr/>
          </p:nvSpPr>
          <p:spPr bwMode="auto">
            <a:xfrm>
              <a:off x="8507198" y="4827270"/>
              <a:ext cx="515727" cy="250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0651" tIns="59267" rIns="120651" bIns="59267">
              <a:spAutoFit/>
            </a:bodyPr>
            <a:lstStyle/>
            <a:p>
              <a:pPr defTabSz="1015975" eaLnBrk="0" hangingPunct="0"/>
              <a:r>
                <a:rPr kumimoji="1" lang="en-US" altLang="zh-CN" sz="1867" b="1" dirty="0">
                  <a:latin typeface="微软雅黑" pitchFamily="34" charset="-122"/>
                  <a:ea typeface="微软雅黑" pitchFamily="34" charset="-122"/>
                </a:rPr>
                <a:t>…</a:t>
              </a:r>
            </a:p>
          </p:txBody>
        </p:sp>
        <p:sp>
          <p:nvSpPr>
            <p:cNvPr id="29" name="Line 43">
              <a:extLst>
                <a:ext uri="{FF2B5EF4-FFF2-40B4-BE49-F238E27FC236}">
                  <a16:creationId xmlns:a16="http://schemas.microsoft.com/office/drawing/2014/main" id="{EBC63B40-AF0B-4EA9-AF4B-B8DB91189786}"/>
                </a:ext>
              </a:extLst>
            </p:cNvPr>
            <p:cNvSpPr>
              <a:spLocks noChangeShapeType="1"/>
            </p:cNvSpPr>
            <p:nvPr/>
          </p:nvSpPr>
          <p:spPr bwMode="auto">
            <a:xfrm rot="16200000">
              <a:off x="249692" y="5088429"/>
              <a:ext cx="222784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nvGrpSpPr>
            <p:cNvPr id="30" name="Group 44">
              <a:extLst>
                <a:ext uri="{FF2B5EF4-FFF2-40B4-BE49-F238E27FC236}">
                  <a16:creationId xmlns:a16="http://schemas.microsoft.com/office/drawing/2014/main" id="{2A1A8D9B-C7B0-4E9F-B0E7-EB86AD523A1C}"/>
                </a:ext>
              </a:extLst>
            </p:cNvPr>
            <p:cNvGrpSpPr>
              <a:grpSpLocks/>
            </p:cNvGrpSpPr>
            <p:nvPr/>
          </p:nvGrpSpPr>
          <p:grpSpPr bwMode="auto">
            <a:xfrm>
              <a:off x="7973700" y="5773457"/>
              <a:ext cx="1650812" cy="434847"/>
              <a:chOff x="3105" y="2886"/>
              <a:chExt cx="725" cy="365"/>
            </a:xfrm>
          </p:grpSpPr>
          <p:sp>
            <p:nvSpPr>
              <p:cNvPr id="42" name="Text Box 45">
                <a:extLst>
                  <a:ext uri="{FF2B5EF4-FFF2-40B4-BE49-F238E27FC236}">
                    <a16:creationId xmlns:a16="http://schemas.microsoft.com/office/drawing/2014/main" id="{E973A468-DB14-4D45-A20A-E8D135C9D7BF}"/>
                  </a:ext>
                </a:extLst>
              </p:cNvPr>
              <p:cNvSpPr txBox="1">
                <a:spLocks noChangeArrowheads="1"/>
              </p:cNvSpPr>
              <p:nvPr/>
            </p:nvSpPr>
            <p:spPr bwMode="auto">
              <a:xfrm>
                <a:off x="3200"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43" name="AutoShape 46">
                <a:extLst>
                  <a:ext uri="{FF2B5EF4-FFF2-40B4-BE49-F238E27FC236}">
                    <a16:creationId xmlns:a16="http://schemas.microsoft.com/office/drawing/2014/main" id="{FF4A6548-1B6F-4EEC-80EC-22C29F85302B}"/>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sp>
          <p:nvSpPr>
            <p:cNvPr id="31" name="Line 47">
              <a:extLst>
                <a:ext uri="{FF2B5EF4-FFF2-40B4-BE49-F238E27FC236}">
                  <a16:creationId xmlns:a16="http://schemas.microsoft.com/office/drawing/2014/main" id="{8C43D2A5-0F2B-41DB-9C5C-74B6838E9BED}"/>
                </a:ext>
              </a:extLst>
            </p:cNvPr>
            <p:cNvSpPr>
              <a:spLocks noChangeShapeType="1"/>
            </p:cNvSpPr>
            <p:nvPr/>
          </p:nvSpPr>
          <p:spPr bwMode="auto">
            <a:xfrm>
              <a:off x="3015567" y="4205631"/>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2" name="Line 48">
              <a:extLst>
                <a:ext uri="{FF2B5EF4-FFF2-40B4-BE49-F238E27FC236}">
                  <a16:creationId xmlns:a16="http://schemas.microsoft.com/office/drawing/2014/main" id="{B89DCE33-10DF-4B30-8D55-B92435F3AD53}"/>
                </a:ext>
              </a:extLst>
            </p:cNvPr>
            <p:cNvSpPr>
              <a:spLocks noChangeShapeType="1"/>
            </p:cNvSpPr>
            <p:nvPr/>
          </p:nvSpPr>
          <p:spPr bwMode="auto">
            <a:xfrm>
              <a:off x="4668659" y="4205631"/>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3" name="Line 49">
              <a:extLst>
                <a:ext uri="{FF2B5EF4-FFF2-40B4-BE49-F238E27FC236}">
                  <a16:creationId xmlns:a16="http://schemas.microsoft.com/office/drawing/2014/main" id="{004D172B-12E4-4D04-A6B0-EBA8336DCD8A}"/>
                </a:ext>
              </a:extLst>
            </p:cNvPr>
            <p:cNvSpPr>
              <a:spLocks noChangeShapeType="1"/>
            </p:cNvSpPr>
            <p:nvPr/>
          </p:nvSpPr>
          <p:spPr bwMode="auto">
            <a:xfrm>
              <a:off x="6321748" y="4205631"/>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4" name="Line 50">
              <a:extLst>
                <a:ext uri="{FF2B5EF4-FFF2-40B4-BE49-F238E27FC236}">
                  <a16:creationId xmlns:a16="http://schemas.microsoft.com/office/drawing/2014/main" id="{854731B3-6C67-4869-AF4C-03016A11353D}"/>
                </a:ext>
              </a:extLst>
            </p:cNvPr>
            <p:cNvSpPr>
              <a:spLocks noChangeShapeType="1"/>
            </p:cNvSpPr>
            <p:nvPr/>
          </p:nvSpPr>
          <p:spPr bwMode="auto">
            <a:xfrm>
              <a:off x="7974838" y="4205631"/>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5" name="Line 51">
              <a:extLst>
                <a:ext uri="{FF2B5EF4-FFF2-40B4-BE49-F238E27FC236}">
                  <a16:creationId xmlns:a16="http://schemas.microsoft.com/office/drawing/2014/main" id="{CDDC73ED-48FA-4D2F-860D-2CE3CFECBA63}"/>
                </a:ext>
              </a:extLst>
            </p:cNvPr>
            <p:cNvSpPr>
              <a:spLocks noChangeShapeType="1"/>
            </p:cNvSpPr>
            <p:nvPr/>
          </p:nvSpPr>
          <p:spPr bwMode="auto">
            <a:xfrm>
              <a:off x="1355808" y="4260434"/>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6" name="Text Box 53">
              <a:extLst>
                <a:ext uri="{FF2B5EF4-FFF2-40B4-BE49-F238E27FC236}">
                  <a16:creationId xmlns:a16="http://schemas.microsoft.com/office/drawing/2014/main" id="{DDC0B0F9-9879-4623-A5F1-FB8C3B65169E}"/>
                </a:ext>
              </a:extLst>
            </p:cNvPr>
            <p:cNvSpPr txBox="1">
              <a:spLocks noChangeArrowheads="1"/>
            </p:cNvSpPr>
            <p:nvPr/>
          </p:nvSpPr>
          <p:spPr bwMode="auto">
            <a:xfrm>
              <a:off x="3368325" y="3652125"/>
              <a:ext cx="1498739" cy="327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1867" dirty="0">
                  <a:solidFill>
                    <a:srgbClr val="C00000"/>
                  </a:solidFill>
                  <a:latin typeface="微软雅黑" pitchFamily="34" charset="-122"/>
                  <a:ea typeface="微软雅黑" pitchFamily="34" charset="-122"/>
                </a:rPr>
                <a:t>周期性出现</a:t>
              </a:r>
            </a:p>
          </p:txBody>
        </p:sp>
        <p:sp>
          <p:nvSpPr>
            <p:cNvPr id="38" name="Line 26">
              <a:extLst>
                <a:ext uri="{FF2B5EF4-FFF2-40B4-BE49-F238E27FC236}">
                  <a16:creationId xmlns:a16="http://schemas.microsoft.com/office/drawing/2014/main" id="{F3D43AFB-8802-4D4E-9BA6-80DDEC91EB69}"/>
                </a:ext>
              </a:extLst>
            </p:cNvPr>
            <p:cNvSpPr>
              <a:spLocks noChangeShapeType="1"/>
            </p:cNvSpPr>
            <p:nvPr/>
          </p:nvSpPr>
          <p:spPr bwMode="auto">
            <a:xfrm flipH="1">
              <a:off x="1568540" y="3989995"/>
              <a:ext cx="2480775" cy="270438"/>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9" name="Line 27">
              <a:extLst>
                <a:ext uri="{FF2B5EF4-FFF2-40B4-BE49-F238E27FC236}">
                  <a16:creationId xmlns:a16="http://schemas.microsoft.com/office/drawing/2014/main" id="{A464B3F3-1AB5-4B52-ADF8-B6BB4E6D958F}"/>
                </a:ext>
              </a:extLst>
            </p:cNvPr>
            <p:cNvSpPr>
              <a:spLocks noChangeShapeType="1"/>
            </p:cNvSpPr>
            <p:nvPr/>
          </p:nvSpPr>
          <p:spPr bwMode="auto">
            <a:xfrm flipH="1">
              <a:off x="3212519" y="3989996"/>
              <a:ext cx="836793" cy="270439"/>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40" name="Line 28">
              <a:extLst>
                <a:ext uri="{FF2B5EF4-FFF2-40B4-BE49-F238E27FC236}">
                  <a16:creationId xmlns:a16="http://schemas.microsoft.com/office/drawing/2014/main" id="{AD7D6377-E575-4F7F-B1B5-C0A69AFF4B5E}"/>
                </a:ext>
              </a:extLst>
            </p:cNvPr>
            <p:cNvSpPr>
              <a:spLocks noChangeShapeType="1"/>
            </p:cNvSpPr>
            <p:nvPr/>
          </p:nvSpPr>
          <p:spPr bwMode="auto">
            <a:xfrm>
              <a:off x="4049314" y="3989994"/>
              <a:ext cx="809468" cy="270438"/>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41" name="Line 29">
              <a:extLst>
                <a:ext uri="{FF2B5EF4-FFF2-40B4-BE49-F238E27FC236}">
                  <a16:creationId xmlns:a16="http://schemas.microsoft.com/office/drawing/2014/main" id="{66028EB0-4EFD-4B5F-A65C-FACEFA93E11B}"/>
                </a:ext>
              </a:extLst>
            </p:cNvPr>
            <p:cNvSpPr>
              <a:spLocks noChangeShapeType="1"/>
            </p:cNvSpPr>
            <p:nvPr/>
          </p:nvSpPr>
          <p:spPr bwMode="auto">
            <a:xfrm>
              <a:off x="4049314" y="3989995"/>
              <a:ext cx="2453451" cy="270438"/>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gr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11251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E91C88-4613-4D83-B39A-BBE2CFAD9560}"/>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时分复用</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a:t>
            </a:r>
          </a:p>
        </p:txBody>
      </p:sp>
      <p:sp>
        <p:nvSpPr>
          <p:cNvPr id="3" name="内容占位符 2">
            <a:extLst>
              <a:ext uri="{FF2B5EF4-FFF2-40B4-BE49-F238E27FC236}">
                <a16:creationId xmlns:a16="http://schemas.microsoft.com/office/drawing/2014/main" id="{7BB4897C-745F-4C1F-9E37-CC03FC1B6952}"/>
              </a:ext>
            </a:extLst>
          </p:cNvPr>
          <p:cNvSpPr>
            <a:spLocks noGrp="1"/>
          </p:cNvSpPr>
          <p:nvPr>
            <p:ph idx="1"/>
          </p:nvPr>
        </p:nvSpPr>
        <p:spPr>
          <a:xfrm>
            <a:off x="475563" y="1428688"/>
            <a:ext cx="11449437" cy="4586694"/>
          </a:xfrm>
        </p:spPr>
        <p:txBody>
          <a:bodyPr>
            <a:normAutofit/>
          </a:bodyPr>
          <a:lstStyle/>
          <a:p>
            <a:pPr>
              <a:lnSpc>
                <a:spcPts val="3400"/>
              </a:lnSpc>
            </a:pPr>
            <a:r>
              <a:rPr lang="zh-CN" altLang="en-US" sz="2400" b="1" dirty="0">
                <a:solidFill>
                  <a:srgbClr val="7030A0"/>
                </a:solidFill>
                <a:latin typeface="微软雅黑" pitchFamily="34" charset="-122"/>
                <a:ea typeface="微软雅黑" pitchFamily="34" charset="-122"/>
              </a:rPr>
              <a:t>存在的不足：</a:t>
            </a:r>
            <a:r>
              <a:rPr lang="zh-CN" altLang="en-US" sz="2400" dirty="0">
                <a:latin typeface="微软雅黑" pitchFamily="34" charset="-122"/>
                <a:ea typeface="微软雅黑" pitchFamily="34" charset="-122"/>
              </a:rPr>
              <a:t>使用时分复用系统传送计算机数据时，由于计算机数据的突发性质，用户对分配到的子信道的利用率一般是不高的。</a:t>
            </a:r>
          </a:p>
          <a:p>
            <a:pPr>
              <a:lnSpc>
                <a:spcPts val="3400"/>
              </a:lnSpc>
            </a:pPr>
            <a:endParaRPr lang="zh-CN" altLang="en-US" sz="2400" dirty="0"/>
          </a:p>
        </p:txBody>
      </p:sp>
      <p:sp>
        <p:nvSpPr>
          <p:cNvPr id="4" name="灯片编号占位符 3">
            <a:extLst>
              <a:ext uri="{FF2B5EF4-FFF2-40B4-BE49-F238E27FC236}">
                <a16:creationId xmlns:a16="http://schemas.microsoft.com/office/drawing/2014/main" id="{F5C8C6E7-239F-4988-A5ED-712E079CA542}"/>
              </a:ext>
            </a:extLst>
          </p:cNvPr>
          <p:cNvSpPr>
            <a:spLocks noGrp="1"/>
          </p:cNvSpPr>
          <p:nvPr>
            <p:ph type="sldNum" sz="quarter" idx="12"/>
          </p:nvPr>
        </p:nvSpPr>
        <p:spPr/>
        <p:txBody>
          <a:bodyPr/>
          <a:lstStyle/>
          <a:p>
            <a:fld id="{8D4D1E41-7A09-AB4A-A4E1-09765ADA2698}" type="slidenum">
              <a:rPr kumimoji="1" lang="zh-CN" altLang="en-US" smtClean="0"/>
              <a:t>101</a:t>
            </a:fld>
            <a:endParaRPr kumimoji="1" lang="zh-CN" altLang="en-US" dirty="0"/>
          </a:p>
        </p:txBody>
      </p:sp>
      <p:sp>
        <p:nvSpPr>
          <p:cNvPr id="5" name="圆角矩形 17">
            <a:extLst>
              <a:ext uri="{FF2B5EF4-FFF2-40B4-BE49-F238E27FC236}">
                <a16:creationId xmlns:a16="http://schemas.microsoft.com/office/drawing/2014/main" id="{A8B1CB94-4194-49A6-9125-46B1DE5697D3}"/>
              </a:ext>
            </a:extLst>
          </p:cNvPr>
          <p:cNvSpPr/>
          <p:nvPr/>
        </p:nvSpPr>
        <p:spPr>
          <a:xfrm>
            <a:off x="561692" y="2795812"/>
            <a:ext cx="11154745" cy="3653852"/>
          </a:xfrm>
          <a:prstGeom prst="roundRect">
            <a:avLst>
              <a:gd name="adj" fmla="val 8269"/>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矩形 5">
            <a:extLst>
              <a:ext uri="{FF2B5EF4-FFF2-40B4-BE49-F238E27FC236}">
                <a16:creationId xmlns:a16="http://schemas.microsoft.com/office/drawing/2014/main" id="{ADF0D981-5EB5-43D9-8484-D6884277A513}"/>
              </a:ext>
            </a:extLst>
          </p:cNvPr>
          <p:cNvSpPr/>
          <p:nvPr/>
        </p:nvSpPr>
        <p:spPr>
          <a:xfrm>
            <a:off x="3461555" y="6040645"/>
            <a:ext cx="5109091" cy="461665"/>
          </a:xfrm>
          <a:prstGeom prst="rect">
            <a:avLst/>
          </a:prstGeom>
        </p:spPr>
        <p:txBody>
          <a:bodyPr wrap="none">
            <a:spAutoFit/>
          </a:bodyPr>
          <a:lstStyle/>
          <a:p>
            <a:pPr algn="ctr"/>
            <a:r>
              <a:rPr lang="zh-CN" altLang="zh-CN" sz="2400" dirty="0">
                <a:latin typeface="微软雅黑" pitchFamily="34" charset="-122"/>
                <a:ea typeface="微软雅黑" pitchFamily="34" charset="-122"/>
              </a:rPr>
              <a:t>时分复用可能会造成线路资源的浪费</a:t>
            </a:r>
            <a:endParaRPr lang="zh-CN" altLang="en-US" sz="2400" dirty="0">
              <a:latin typeface="微软雅黑" pitchFamily="34" charset="-122"/>
              <a:ea typeface="微软雅黑" pitchFamily="34" charset="-122"/>
            </a:endParaRPr>
          </a:p>
        </p:txBody>
      </p:sp>
      <p:sp>
        <p:nvSpPr>
          <p:cNvPr id="8" name="Freeform 3">
            <a:extLst>
              <a:ext uri="{FF2B5EF4-FFF2-40B4-BE49-F238E27FC236}">
                <a16:creationId xmlns:a16="http://schemas.microsoft.com/office/drawing/2014/main" id="{582CFD23-F1BD-4B52-BFFB-CF23CB3C062B}"/>
              </a:ext>
            </a:extLst>
          </p:cNvPr>
          <p:cNvSpPr>
            <a:spLocks/>
          </p:cNvSpPr>
          <p:nvPr/>
        </p:nvSpPr>
        <p:spPr bwMode="auto">
          <a:xfrm>
            <a:off x="8016194" y="4219671"/>
            <a:ext cx="28136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9" name="Freeform 4">
            <a:extLst>
              <a:ext uri="{FF2B5EF4-FFF2-40B4-BE49-F238E27FC236}">
                <a16:creationId xmlns:a16="http://schemas.microsoft.com/office/drawing/2014/main" id="{9FA2D59F-E1BD-4437-971A-D9759138DACC}"/>
              </a:ext>
            </a:extLst>
          </p:cNvPr>
          <p:cNvSpPr>
            <a:spLocks/>
          </p:cNvSpPr>
          <p:nvPr/>
        </p:nvSpPr>
        <p:spPr bwMode="auto">
          <a:xfrm>
            <a:off x="9139814" y="4219671"/>
            <a:ext cx="27951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0" name="Freeform 5">
            <a:extLst>
              <a:ext uri="{FF2B5EF4-FFF2-40B4-BE49-F238E27FC236}">
                <a16:creationId xmlns:a16="http://schemas.microsoft.com/office/drawing/2014/main" id="{1FD48275-FAAE-4260-86C3-A93B8A03A11D}"/>
              </a:ext>
            </a:extLst>
          </p:cNvPr>
          <p:cNvSpPr>
            <a:spLocks/>
          </p:cNvSpPr>
          <p:nvPr/>
        </p:nvSpPr>
        <p:spPr bwMode="auto">
          <a:xfrm>
            <a:off x="9700698" y="4219671"/>
            <a:ext cx="28136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1" name="Freeform 6">
            <a:extLst>
              <a:ext uri="{FF2B5EF4-FFF2-40B4-BE49-F238E27FC236}">
                <a16:creationId xmlns:a16="http://schemas.microsoft.com/office/drawing/2014/main" id="{D2A6A7F5-2275-4CDD-B2F8-36784015187B}"/>
              </a:ext>
            </a:extLst>
          </p:cNvPr>
          <p:cNvSpPr>
            <a:spLocks/>
          </p:cNvSpPr>
          <p:nvPr/>
        </p:nvSpPr>
        <p:spPr bwMode="auto">
          <a:xfrm>
            <a:off x="10542950" y="4219671"/>
            <a:ext cx="27951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66FF33"/>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2" name="Freeform 7">
            <a:extLst>
              <a:ext uri="{FF2B5EF4-FFF2-40B4-BE49-F238E27FC236}">
                <a16:creationId xmlns:a16="http://schemas.microsoft.com/office/drawing/2014/main" id="{0CC071A6-FE1E-4379-AEB6-CE5DAC091F74}"/>
              </a:ext>
            </a:extLst>
          </p:cNvPr>
          <p:cNvSpPr>
            <a:spLocks/>
          </p:cNvSpPr>
          <p:nvPr/>
        </p:nvSpPr>
        <p:spPr bwMode="auto">
          <a:xfrm>
            <a:off x="7736678" y="4219671"/>
            <a:ext cx="27951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3" name="Freeform 8">
            <a:extLst>
              <a:ext uri="{FF2B5EF4-FFF2-40B4-BE49-F238E27FC236}">
                <a16:creationId xmlns:a16="http://schemas.microsoft.com/office/drawing/2014/main" id="{286D6DA2-DFB3-4760-B2D4-58D6E6731CC8}"/>
              </a:ext>
            </a:extLst>
          </p:cNvPr>
          <p:cNvSpPr>
            <a:spLocks/>
          </p:cNvSpPr>
          <p:nvPr/>
        </p:nvSpPr>
        <p:spPr bwMode="auto">
          <a:xfrm>
            <a:off x="6613058" y="4223090"/>
            <a:ext cx="281367" cy="404964"/>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4" name="Freeform 9">
            <a:extLst>
              <a:ext uri="{FF2B5EF4-FFF2-40B4-BE49-F238E27FC236}">
                <a16:creationId xmlns:a16="http://schemas.microsoft.com/office/drawing/2014/main" id="{31FB049B-9706-45F5-B60C-3FB027516792}"/>
              </a:ext>
            </a:extLst>
          </p:cNvPr>
          <p:cNvSpPr>
            <a:spLocks/>
          </p:cNvSpPr>
          <p:nvPr/>
        </p:nvSpPr>
        <p:spPr bwMode="auto">
          <a:xfrm>
            <a:off x="6333542" y="4223090"/>
            <a:ext cx="279517" cy="404964"/>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 name="Freeform 10">
            <a:extLst>
              <a:ext uri="{FF2B5EF4-FFF2-40B4-BE49-F238E27FC236}">
                <a16:creationId xmlns:a16="http://schemas.microsoft.com/office/drawing/2014/main" id="{AB32B177-31D5-4EA2-8BB2-39B9BBACF32A}"/>
              </a:ext>
            </a:extLst>
          </p:cNvPr>
          <p:cNvSpPr>
            <a:spLocks/>
          </p:cNvSpPr>
          <p:nvPr/>
        </p:nvSpPr>
        <p:spPr bwMode="auto">
          <a:xfrm>
            <a:off x="3712379" y="3004778"/>
            <a:ext cx="65529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 name="Freeform 11">
            <a:extLst>
              <a:ext uri="{FF2B5EF4-FFF2-40B4-BE49-F238E27FC236}">
                <a16:creationId xmlns:a16="http://schemas.microsoft.com/office/drawing/2014/main" id="{A04652EE-20A2-4737-ABA1-F7AD2753C511}"/>
              </a:ext>
            </a:extLst>
          </p:cNvPr>
          <p:cNvSpPr>
            <a:spLocks/>
          </p:cNvSpPr>
          <p:nvPr/>
        </p:nvSpPr>
        <p:spPr bwMode="auto">
          <a:xfrm>
            <a:off x="1748359" y="3814706"/>
            <a:ext cx="131058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7" name="Freeform 12">
            <a:extLst>
              <a:ext uri="{FF2B5EF4-FFF2-40B4-BE49-F238E27FC236}">
                <a16:creationId xmlns:a16="http://schemas.microsoft.com/office/drawing/2014/main" id="{A109277E-56F3-4728-BD9B-4F9695F606E6}"/>
              </a:ext>
            </a:extLst>
          </p:cNvPr>
          <p:cNvSpPr>
            <a:spLocks/>
          </p:cNvSpPr>
          <p:nvPr/>
        </p:nvSpPr>
        <p:spPr bwMode="auto">
          <a:xfrm>
            <a:off x="2403648" y="4622927"/>
            <a:ext cx="1308729" cy="40496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8" name="Freeform 13">
            <a:extLst>
              <a:ext uri="{FF2B5EF4-FFF2-40B4-BE49-F238E27FC236}">
                <a16:creationId xmlns:a16="http://schemas.microsoft.com/office/drawing/2014/main" id="{3BD17511-0E2D-4F87-B868-CB366E0FC000}"/>
              </a:ext>
            </a:extLst>
          </p:cNvPr>
          <p:cNvSpPr>
            <a:spLocks/>
          </p:cNvSpPr>
          <p:nvPr/>
        </p:nvSpPr>
        <p:spPr bwMode="auto">
          <a:xfrm>
            <a:off x="3712379" y="5432857"/>
            <a:ext cx="655291" cy="40496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66FF33"/>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9" name="Text Box 14">
            <a:extLst>
              <a:ext uri="{FF2B5EF4-FFF2-40B4-BE49-F238E27FC236}">
                <a16:creationId xmlns:a16="http://schemas.microsoft.com/office/drawing/2014/main" id="{63F9D7D5-FF14-4C59-860D-9E6243423B10}"/>
              </a:ext>
            </a:extLst>
          </p:cNvPr>
          <p:cNvSpPr txBox="1">
            <a:spLocks noChangeArrowheads="1"/>
          </p:cNvSpPr>
          <p:nvPr/>
        </p:nvSpPr>
        <p:spPr bwMode="auto">
          <a:xfrm>
            <a:off x="1250411" y="2980859"/>
            <a:ext cx="36420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A</a:t>
            </a:r>
          </a:p>
        </p:txBody>
      </p:sp>
      <p:sp>
        <p:nvSpPr>
          <p:cNvPr id="20" name="Text Box 15">
            <a:extLst>
              <a:ext uri="{FF2B5EF4-FFF2-40B4-BE49-F238E27FC236}">
                <a16:creationId xmlns:a16="http://schemas.microsoft.com/office/drawing/2014/main" id="{6927320E-AF9B-4F72-BD1D-F1CA0A3E5D35}"/>
              </a:ext>
            </a:extLst>
          </p:cNvPr>
          <p:cNvSpPr txBox="1">
            <a:spLocks noChangeArrowheads="1"/>
          </p:cNvSpPr>
          <p:nvPr/>
        </p:nvSpPr>
        <p:spPr bwMode="auto">
          <a:xfrm>
            <a:off x="1250411" y="3790786"/>
            <a:ext cx="34817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B</a:t>
            </a:r>
          </a:p>
        </p:txBody>
      </p:sp>
      <p:sp>
        <p:nvSpPr>
          <p:cNvPr id="21" name="Text Box 16">
            <a:extLst>
              <a:ext uri="{FF2B5EF4-FFF2-40B4-BE49-F238E27FC236}">
                <a16:creationId xmlns:a16="http://schemas.microsoft.com/office/drawing/2014/main" id="{FE580F1C-CBA8-4919-B375-1AA88ACCF897}"/>
              </a:ext>
            </a:extLst>
          </p:cNvPr>
          <p:cNvSpPr txBox="1">
            <a:spLocks noChangeArrowheads="1"/>
          </p:cNvSpPr>
          <p:nvPr/>
        </p:nvSpPr>
        <p:spPr bwMode="auto">
          <a:xfrm>
            <a:off x="1250411" y="4600715"/>
            <a:ext cx="346569"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solidFill>
                  <a:srgbClr val="000099"/>
                </a:solidFill>
                <a:latin typeface="微软雅黑" pitchFamily="34" charset="-122"/>
                <a:ea typeface="微软雅黑" pitchFamily="34" charset="-122"/>
              </a:rPr>
              <a:t>C</a:t>
            </a:r>
          </a:p>
        </p:txBody>
      </p:sp>
      <p:sp>
        <p:nvSpPr>
          <p:cNvPr id="22" name="Text Box 17">
            <a:extLst>
              <a:ext uri="{FF2B5EF4-FFF2-40B4-BE49-F238E27FC236}">
                <a16:creationId xmlns:a16="http://schemas.microsoft.com/office/drawing/2014/main" id="{1787D7D6-87A2-4EA4-BF5E-E4103BD17AF4}"/>
              </a:ext>
            </a:extLst>
          </p:cNvPr>
          <p:cNvSpPr txBox="1">
            <a:spLocks noChangeArrowheads="1"/>
          </p:cNvSpPr>
          <p:nvPr/>
        </p:nvSpPr>
        <p:spPr bwMode="auto">
          <a:xfrm>
            <a:off x="1250411" y="5410641"/>
            <a:ext cx="37382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D</a:t>
            </a:r>
          </a:p>
        </p:txBody>
      </p:sp>
      <p:sp>
        <p:nvSpPr>
          <p:cNvPr id="23" name="Line 18">
            <a:extLst>
              <a:ext uri="{FF2B5EF4-FFF2-40B4-BE49-F238E27FC236}">
                <a16:creationId xmlns:a16="http://schemas.microsoft.com/office/drawing/2014/main" id="{C4D9E9A8-9913-4F0A-BE81-71B923D1846D}"/>
              </a:ext>
            </a:extLst>
          </p:cNvPr>
          <p:cNvSpPr>
            <a:spLocks noChangeShapeType="1"/>
          </p:cNvSpPr>
          <p:nvPr/>
        </p:nvSpPr>
        <p:spPr bwMode="auto">
          <a:xfrm>
            <a:off x="6144729" y="4622927"/>
            <a:ext cx="4959105"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24" name="Line 19">
            <a:extLst>
              <a:ext uri="{FF2B5EF4-FFF2-40B4-BE49-F238E27FC236}">
                <a16:creationId xmlns:a16="http://schemas.microsoft.com/office/drawing/2014/main" id="{D741DA07-0300-44C4-9D5C-75C0E9DD0F5F}"/>
              </a:ext>
            </a:extLst>
          </p:cNvPr>
          <p:cNvSpPr>
            <a:spLocks noChangeShapeType="1"/>
          </p:cNvSpPr>
          <p:nvPr/>
        </p:nvSpPr>
        <p:spPr bwMode="auto">
          <a:xfrm>
            <a:off x="6894426"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25" name="Text Box 20">
            <a:extLst>
              <a:ext uri="{FF2B5EF4-FFF2-40B4-BE49-F238E27FC236}">
                <a16:creationId xmlns:a16="http://schemas.microsoft.com/office/drawing/2014/main" id="{C0024FEB-7717-4019-9A82-C4715BEF011A}"/>
              </a:ext>
            </a:extLst>
          </p:cNvPr>
          <p:cNvSpPr txBox="1">
            <a:spLocks noChangeArrowheads="1"/>
          </p:cNvSpPr>
          <p:nvPr/>
        </p:nvSpPr>
        <p:spPr bwMode="auto">
          <a:xfrm>
            <a:off x="3853060" y="2963768"/>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a</a:t>
            </a:r>
          </a:p>
        </p:txBody>
      </p:sp>
      <p:sp>
        <p:nvSpPr>
          <p:cNvPr id="26" name="Text Box 23">
            <a:extLst>
              <a:ext uri="{FF2B5EF4-FFF2-40B4-BE49-F238E27FC236}">
                <a16:creationId xmlns:a16="http://schemas.microsoft.com/office/drawing/2014/main" id="{24643D1B-23C9-4E86-8A86-6D70442C2051}"/>
              </a:ext>
            </a:extLst>
          </p:cNvPr>
          <p:cNvSpPr txBox="1">
            <a:spLocks noChangeArrowheads="1"/>
          </p:cNvSpPr>
          <p:nvPr/>
        </p:nvSpPr>
        <p:spPr bwMode="auto">
          <a:xfrm>
            <a:off x="1868680" y="3811291"/>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b</a:t>
            </a:r>
          </a:p>
        </p:txBody>
      </p:sp>
      <p:sp>
        <p:nvSpPr>
          <p:cNvPr id="27" name="Text Box 24">
            <a:extLst>
              <a:ext uri="{FF2B5EF4-FFF2-40B4-BE49-F238E27FC236}">
                <a16:creationId xmlns:a16="http://schemas.microsoft.com/office/drawing/2014/main" id="{7E82D1D4-F468-46BA-B4CF-426393056E76}"/>
              </a:ext>
            </a:extLst>
          </p:cNvPr>
          <p:cNvSpPr txBox="1">
            <a:spLocks noChangeArrowheads="1"/>
          </p:cNvSpPr>
          <p:nvPr/>
        </p:nvSpPr>
        <p:spPr bwMode="auto">
          <a:xfrm>
            <a:off x="3214434" y="4590462"/>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c</a:t>
            </a:r>
          </a:p>
        </p:txBody>
      </p:sp>
      <p:sp>
        <p:nvSpPr>
          <p:cNvPr id="28" name="Text Box 25">
            <a:extLst>
              <a:ext uri="{FF2B5EF4-FFF2-40B4-BE49-F238E27FC236}">
                <a16:creationId xmlns:a16="http://schemas.microsoft.com/office/drawing/2014/main" id="{3E4C04EF-08C0-4572-BF70-896C3823C834}"/>
              </a:ext>
            </a:extLst>
          </p:cNvPr>
          <p:cNvSpPr txBox="1">
            <a:spLocks noChangeArrowheads="1"/>
          </p:cNvSpPr>
          <p:nvPr/>
        </p:nvSpPr>
        <p:spPr bwMode="auto">
          <a:xfrm>
            <a:off x="3814191" y="5405519"/>
            <a:ext cx="365805"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d</a:t>
            </a:r>
          </a:p>
        </p:txBody>
      </p:sp>
      <p:sp>
        <p:nvSpPr>
          <p:cNvPr id="29" name="Text Box 29">
            <a:extLst>
              <a:ext uri="{FF2B5EF4-FFF2-40B4-BE49-F238E27FC236}">
                <a16:creationId xmlns:a16="http://schemas.microsoft.com/office/drawing/2014/main" id="{FB1F891C-5037-4784-8C4E-2419AF49644A}"/>
              </a:ext>
            </a:extLst>
          </p:cNvPr>
          <p:cNvSpPr txBox="1">
            <a:spLocks noChangeArrowheads="1"/>
          </p:cNvSpPr>
          <p:nvPr/>
        </p:nvSpPr>
        <p:spPr bwMode="auto">
          <a:xfrm>
            <a:off x="4624972" y="2980859"/>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0" name="Text Box 30">
            <a:extLst>
              <a:ext uri="{FF2B5EF4-FFF2-40B4-BE49-F238E27FC236}">
                <a16:creationId xmlns:a16="http://schemas.microsoft.com/office/drawing/2014/main" id="{B7CAC0B6-8312-495F-AE9B-CA90F38DBA24}"/>
              </a:ext>
            </a:extLst>
          </p:cNvPr>
          <p:cNvSpPr txBox="1">
            <a:spLocks noChangeArrowheads="1"/>
          </p:cNvSpPr>
          <p:nvPr/>
        </p:nvSpPr>
        <p:spPr bwMode="auto">
          <a:xfrm>
            <a:off x="4624972" y="3809580"/>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1" name="Text Box 31">
            <a:extLst>
              <a:ext uri="{FF2B5EF4-FFF2-40B4-BE49-F238E27FC236}">
                <a16:creationId xmlns:a16="http://schemas.microsoft.com/office/drawing/2014/main" id="{99B5B0FE-C1D4-4A5E-9A43-272B67150900}"/>
              </a:ext>
            </a:extLst>
          </p:cNvPr>
          <p:cNvSpPr txBox="1">
            <a:spLocks noChangeArrowheads="1"/>
          </p:cNvSpPr>
          <p:nvPr/>
        </p:nvSpPr>
        <p:spPr bwMode="auto">
          <a:xfrm>
            <a:off x="4624972" y="4638306"/>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2" name="Text Box 32">
            <a:extLst>
              <a:ext uri="{FF2B5EF4-FFF2-40B4-BE49-F238E27FC236}">
                <a16:creationId xmlns:a16="http://schemas.microsoft.com/office/drawing/2014/main" id="{0F012B6C-306B-4F63-9FD7-C1D8E42773A9}"/>
              </a:ext>
            </a:extLst>
          </p:cNvPr>
          <p:cNvSpPr txBox="1">
            <a:spLocks noChangeArrowheads="1"/>
          </p:cNvSpPr>
          <p:nvPr/>
        </p:nvSpPr>
        <p:spPr bwMode="auto">
          <a:xfrm>
            <a:off x="4624972" y="5467030"/>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3" name="Text Box 33">
            <a:extLst>
              <a:ext uri="{FF2B5EF4-FFF2-40B4-BE49-F238E27FC236}">
                <a16:creationId xmlns:a16="http://schemas.microsoft.com/office/drawing/2014/main" id="{35F62E72-3D6F-4C2F-8982-403A736C9A29}"/>
              </a:ext>
            </a:extLst>
          </p:cNvPr>
          <p:cNvSpPr txBox="1">
            <a:spLocks noChangeArrowheads="1"/>
          </p:cNvSpPr>
          <p:nvPr/>
        </p:nvSpPr>
        <p:spPr bwMode="auto">
          <a:xfrm>
            <a:off x="11079770" y="4534182"/>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4" name="Line 34">
            <a:extLst>
              <a:ext uri="{FF2B5EF4-FFF2-40B4-BE49-F238E27FC236}">
                <a16:creationId xmlns:a16="http://schemas.microsoft.com/office/drawing/2014/main" id="{902DC3AA-BB9A-47E4-A425-08737858FFD8}"/>
              </a:ext>
            </a:extLst>
          </p:cNvPr>
          <p:cNvSpPr>
            <a:spLocks noChangeShapeType="1"/>
          </p:cNvSpPr>
          <p:nvPr/>
        </p:nvSpPr>
        <p:spPr bwMode="auto">
          <a:xfrm>
            <a:off x="8858445"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5" name="Line 35">
            <a:extLst>
              <a:ext uri="{FF2B5EF4-FFF2-40B4-BE49-F238E27FC236}">
                <a16:creationId xmlns:a16="http://schemas.microsoft.com/office/drawing/2014/main" id="{22A4D552-D31A-47D3-B436-69DB993489FE}"/>
              </a:ext>
            </a:extLst>
          </p:cNvPr>
          <p:cNvSpPr>
            <a:spLocks noChangeShapeType="1"/>
          </p:cNvSpPr>
          <p:nvPr/>
        </p:nvSpPr>
        <p:spPr bwMode="auto">
          <a:xfrm>
            <a:off x="2403648"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6" name="Line 36">
            <a:extLst>
              <a:ext uri="{FF2B5EF4-FFF2-40B4-BE49-F238E27FC236}">
                <a16:creationId xmlns:a16="http://schemas.microsoft.com/office/drawing/2014/main" id="{5D9CA641-F6D0-4F9B-AD9F-C742A825D85A}"/>
              </a:ext>
            </a:extLst>
          </p:cNvPr>
          <p:cNvSpPr>
            <a:spLocks noChangeShapeType="1"/>
          </p:cNvSpPr>
          <p:nvPr/>
        </p:nvSpPr>
        <p:spPr bwMode="auto">
          <a:xfrm>
            <a:off x="3058940" y="4927077"/>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7" name="Line 37">
            <a:extLst>
              <a:ext uri="{FF2B5EF4-FFF2-40B4-BE49-F238E27FC236}">
                <a16:creationId xmlns:a16="http://schemas.microsoft.com/office/drawing/2014/main" id="{563CB8B9-55A3-4F9C-B808-6B6FEB55CB6F}"/>
              </a:ext>
            </a:extLst>
          </p:cNvPr>
          <p:cNvSpPr>
            <a:spLocks noChangeShapeType="1"/>
          </p:cNvSpPr>
          <p:nvPr/>
        </p:nvSpPr>
        <p:spPr bwMode="auto">
          <a:xfrm>
            <a:off x="3712378"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8" name="Line 38">
            <a:extLst>
              <a:ext uri="{FF2B5EF4-FFF2-40B4-BE49-F238E27FC236}">
                <a16:creationId xmlns:a16="http://schemas.microsoft.com/office/drawing/2014/main" id="{D672704C-09A8-4474-BCC0-F9B81EE5F783}"/>
              </a:ext>
            </a:extLst>
          </p:cNvPr>
          <p:cNvSpPr>
            <a:spLocks noChangeShapeType="1"/>
          </p:cNvSpPr>
          <p:nvPr/>
        </p:nvSpPr>
        <p:spPr bwMode="auto">
          <a:xfrm>
            <a:off x="2403648" y="5737006"/>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9" name="Line 39">
            <a:extLst>
              <a:ext uri="{FF2B5EF4-FFF2-40B4-BE49-F238E27FC236}">
                <a16:creationId xmlns:a16="http://schemas.microsoft.com/office/drawing/2014/main" id="{653A8241-92C4-4C13-A8DF-9E8FB29A887A}"/>
              </a:ext>
            </a:extLst>
          </p:cNvPr>
          <p:cNvSpPr>
            <a:spLocks noChangeShapeType="1"/>
          </p:cNvSpPr>
          <p:nvPr/>
        </p:nvSpPr>
        <p:spPr bwMode="auto">
          <a:xfrm>
            <a:off x="4367670" y="4927077"/>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0" name="Line 40">
            <a:extLst>
              <a:ext uri="{FF2B5EF4-FFF2-40B4-BE49-F238E27FC236}">
                <a16:creationId xmlns:a16="http://schemas.microsoft.com/office/drawing/2014/main" id="{8BE3CDFA-4617-47ED-BB4E-FD7C62A1B158}"/>
              </a:ext>
            </a:extLst>
          </p:cNvPr>
          <p:cNvSpPr>
            <a:spLocks noChangeShapeType="1"/>
          </p:cNvSpPr>
          <p:nvPr/>
        </p:nvSpPr>
        <p:spPr bwMode="auto">
          <a:xfrm>
            <a:off x="3712378" y="5737006"/>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1" name="Line 41">
            <a:extLst>
              <a:ext uri="{FF2B5EF4-FFF2-40B4-BE49-F238E27FC236}">
                <a16:creationId xmlns:a16="http://schemas.microsoft.com/office/drawing/2014/main" id="{1ADE90F5-8F1E-401F-BB97-60DBEEF5701B}"/>
              </a:ext>
            </a:extLst>
          </p:cNvPr>
          <p:cNvSpPr>
            <a:spLocks noChangeShapeType="1"/>
          </p:cNvSpPr>
          <p:nvPr/>
        </p:nvSpPr>
        <p:spPr bwMode="auto">
          <a:xfrm>
            <a:off x="6333541"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2" name="Line 42">
            <a:extLst>
              <a:ext uri="{FF2B5EF4-FFF2-40B4-BE49-F238E27FC236}">
                <a16:creationId xmlns:a16="http://schemas.microsoft.com/office/drawing/2014/main" id="{7D81EB0D-BCE9-4366-A08B-39418AD6D65D}"/>
              </a:ext>
            </a:extLst>
          </p:cNvPr>
          <p:cNvSpPr>
            <a:spLocks noChangeShapeType="1"/>
          </p:cNvSpPr>
          <p:nvPr/>
        </p:nvSpPr>
        <p:spPr bwMode="auto">
          <a:xfrm>
            <a:off x="7455309"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3" name="Line 43">
            <a:extLst>
              <a:ext uri="{FF2B5EF4-FFF2-40B4-BE49-F238E27FC236}">
                <a16:creationId xmlns:a16="http://schemas.microsoft.com/office/drawing/2014/main" id="{EC1DE263-7938-429A-8C08-A2286D57FF52}"/>
              </a:ext>
            </a:extLst>
          </p:cNvPr>
          <p:cNvSpPr>
            <a:spLocks noChangeShapeType="1"/>
          </p:cNvSpPr>
          <p:nvPr/>
        </p:nvSpPr>
        <p:spPr bwMode="auto">
          <a:xfrm>
            <a:off x="8577078"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4" name="Line 44">
            <a:extLst>
              <a:ext uri="{FF2B5EF4-FFF2-40B4-BE49-F238E27FC236}">
                <a16:creationId xmlns:a16="http://schemas.microsoft.com/office/drawing/2014/main" id="{FF9DFEBE-99E2-49EC-82D2-EED8B6A7BF57}"/>
              </a:ext>
            </a:extLst>
          </p:cNvPr>
          <p:cNvSpPr>
            <a:spLocks noChangeShapeType="1"/>
          </p:cNvSpPr>
          <p:nvPr/>
        </p:nvSpPr>
        <p:spPr bwMode="auto">
          <a:xfrm>
            <a:off x="9700698"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5" name="Line 45">
            <a:extLst>
              <a:ext uri="{FF2B5EF4-FFF2-40B4-BE49-F238E27FC236}">
                <a16:creationId xmlns:a16="http://schemas.microsoft.com/office/drawing/2014/main" id="{C1BBBD41-DC90-4CE8-BDD6-F5C06040973F}"/>
              </a:ext>
            </a:extLst>
          </p:cNvPr>
          <p:cNvSpPr>
            <a:spLocks noChangeShapeType="1"/>
          </p:cNvSpPr>
          <p:nvPr/>
        </p:nvSpPr>
        <p:spPr bwMode="auto">
          <a:xfrm>
            <a:off x="6333542" y="4826263"/>
            <a:ext cx="1121769" cy="0"/>
          </a:xfrm>
          <a:prstGeom prst="line">
            <a:avLst/>
          </a:prstGeom>
          <a:noFill/>
          <a:ln w="12700">
            <a:solidFill>
              <a:schemeClr val="tx1"/>
            </a:solidFill>
            <a:prstDash val="solid"/>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6" name="Line 46">
            <a:extLst>
              <a:ext uri="{FF2B5EF4-FFF2-40B4-BE49-F238E27FC236}">
                <a16:creationId xmlns:a16="http://schemas.microsoft.com/office/drawing/2014/main" id="{25D0B99B-5BCA-4174-A02B-7492DE50C807}"/>
              </a:ext>
            </a:extLst>
          </p:cNvPr>
          <p:cNvSpPr>
            <a:spLocks noChangeShapeType="1"/>
          </p:cNvSpPr>
          <p:nvPr/>
        </p:nvSpPr>
        <p:spPr bwMode="auto">
          <a:xfrm>
            <a:off x="7455310" y="4826263"/>
            <a:ext cx="112176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7" name="Line 47">
            <a:extLst>
              <a:ext uri="{FF2B5EF4-FFF2-40B4-BE49-F238E27FC236}">
                <a16:creationId xmlns:a16="http://schemas.microsoft.com/office/drawing/2014/main" id="{C1E2F5EC-7BE1-41C6-B823-B4058EEF43ED}"/>
              </a:ext>
            </a:extLst>
          </p:cNvPr>
          <p:cNvSpPr>
            <a:spLocks noChangeShapeType="1"/>
          </p:cNvSpPr>
          <p:nvPr/>
        </p:nvSpPr>
        <p:spPr bwMode="auto">
          <a:xfrm>
            <a:off x="8577079" y="4826263"/>
            <a:ext cx="112362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8" name="Text Box 48">
            <a:extLst>
              <a:ext uri="{FF2B5EF4-FFF2-40B4-BE49-F238E27FC236}">
                <a16:creationId xmlns:a16="http://schemas.microsoft.com/office/drawing/2014/main" id="{F60A7986-7C62-4681-AB62-AE483E8527EE}"/>
              </a:ext>
            </a:extLst>
          </p:cNvPr>
          <p:cNvSpPr txBox="1">
            <a:spLocks noChangeArrowheads="1"/>
          </p:cNvSpPr>
          <p:nvPr/>
        </p:nvSpPr>
        <p:spPr bwMode="auto">
          <a:xfrm>
            <a:off x="7647774" y="5602018"/>
            <a:ext cx="1835759"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4 </a:t>
            </a:r>
            <a:r>
              <a:rPr kumimoji="1" lang="zh-CN" altLang="en-US" sz="1867" dirty="0">
                <a:latin typeface="微软雅黑" pitchFamily="34" charset="-122"/>
                <a:ea typeface="微软雅黑" pitchFamily="34" charset="-122"/>
              </a:rPr>
              <a:t>个时分复用帧</a:t>
            </a:r>
          </a:p>
        </p:txBody>
      </p:sp>
      <p:sp>
        <p:nvSpPr>
          <p:cNvPr id="49" name="Text Box 49">
            <a:extLst>
              <a:ext uri="{FF2B5EF4-FFF2-40B4-BE49-F238E27FC236}">
                <a16:creationId xmlns:a16="http://schemas.microsoft.com/office/drawing/2014/main" id="{C50957BD-63A5-4612-9AE7-F6AF2D5B6784}"/>
              </a:ext>
            </a:extLst>
          </p:cNvPr>
          <p:cNvSpPr txBox="1">
            <a:spLocks noChangeArrowheads="1"/>
          </p:cNvSpPr>
          <p:nvPr/>
        </p:nvSpPr>
        <p:spPr bwMode="auto">
          <a:xfrm>
            <a:off x="6613058" y="4771586"/>
            <a:ext cx="486029" cy="379656"/>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#1</a:t>
            </a:r>
          </a:p>
        </p:txBody>
      </p:sp>
      <p:sp>
        <p:nvSpPr>
          <p:cNvPr id="50" name="Line 50">
            <a:extLst>
              <a:ext uri="{FF2B5EF4-FFF2-40B4-BE49-F238E27FC236}">
                <a16:creationId xmlns:a16="http://schemas.microsoft.com/office/drawing/2014/main" id="{550DD87C-935F-49BF-896C-FD06C97D9DD3}"/>
              </a:ext>
            </a:extLst>
          </p:cNvPr>
          <p:cNvSpPr>
            <a:spLocks noChangeShapeType="1"/>
          </p:cNvSpPr>
          <p:nvPr/>
        </p:nvSpPr>
        <p:spPr bwMode="auto">
          <a:xfrm>
            <a:off x="4826743" y="3467839"/>
            <a:ext cx="1225431" cy="75183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1" name="Line 51">
            <a:extLst>
              <a:ext uri="{FF2B5EF4-FFF2-40B4-BE49-F238E27FC236}">
                <a16:creationId xmlns:a16="http://schemas.microsoft.com/office/drawing/2014/main" id="{79795BA9-6B4E-479C-B164-664475695DE3}"/>
              </a:ext>
            </a:extLst>
          </p:cNvPr>
          <p:cNvSpPr>
            <a:spLocks noChangeShapeType="1"/>
          </p:cNvSpPr>
          <p:nvPr/>
        </p:nvSpPr>
        <p:spPr bwMode="auto">
          <a:xfrm>
            <a:off x="4826743" y="4243592"/>
            <a:ext cx="1131024" cy="177705"/>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2" name="Line 52">
            <a:extLst>
              <a:ext uri="{FF2B5EF4-FFF2-40B4-BE49-F238E27FC236}">
                <a16:creationId xmlns:a16="http://schemas.microsoft.com/office/drawing/2014/main" id="{19C66BC1-3BC4-4BFE-9CC9-EF2D08B00636}"/>
              </a:ext>
            </a:extLst>
          </p:cNvPr>
          <p:cNvSpPr>
            <a:spLocks noChangeShapeType="1"/>
          </p:cNvSpPr>
          <p:nvPr/>
        </p:nvSpPr>
        <p:spPr bwMode="auto">
          <a:xfrm flipV="1">
            <a:off x="4910043" y="4622927"/>
            <a:ext cx="1047724" cy="39471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3" name="Line 53">
            <a:extLst>
              <a:ext uri="{FF2B5EF4-FFF2-40B4-BE49-F238E27FC236}">
                <a16:creationId xmlns:a16="http://schemas.microsoft.com/office/drawing/2014/main" id="{2D0239EC-50E3-4C89-B954-40ABBE50F274}"/>
              </a:ext>
            </a:extLst>
          </p:cNvPr>
          <p:cNvSpPr>
            <a:spLocks noChangeShapeType="1"/>
          </p:cNvSpPr>
          <p:nvPr/>
        </p:nvSpPr>
        <p:spPr bwMode="auto">
          <a:xfrm flipV="1">
            <a:off x="4928554" y="4826263"/>
            <a:ext cx="1123619" cy="9107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4" name="Text Box 54">
            <a:extLst>
              <a:ext uri="{FF2B5EF4-FFF2-40B4-BE49-F238E27FC236}">
                <a16:creationId xmlns:a16="http://schemas.microsoft.com/office/drawing/2014/main" id="{DC464B92-FF7C-4BB4-A81F-40812D17B580}"/>
              </a:ext>
            </a:extLst>
          </p:cNvPr>
          <p:cNvSpPr txBox="1">
            <a:spLocks noChangeArrowheads="1"/>
          </p:cNvSpPr>
          <p:nvPr/>
        </p:nvSpPr>
        <p:spPr bwMode="auto">
          <a:xfrm>
            <a:off x="4910042" y="5096241"/>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④</a:t>
            </a:r>
          </a:p>
        </p:txBody>
      </p:sp>
      <p:sp>
        <p:nvSpPr>
          <p:cNvPr id="55" name="Text Box 55">
            <a:extLst>
              <a:ext uri="{FF2B5EF4-FFF2-40B4-BE49-F238E27FC236}">
                <a16:creationId xmlns:a16="http://schemas.microsoft.com/office/drawing/2014/main" id="{252B8766-1B7E-4366-BDEE-BBF79FE2BE6B}"/>
              </a:ext>
            </a:extLst>
          </p:cNvPr>
          <p:cNvSpPr txBox="1">
            <a:spLocks noChangeArrowheads="1"/>
          </p:cNvSpPr>
          <p:nvPr/>
        </p:nvSpPr>
        <p:spPr bwMode="auto">
          <a:xfrm>
            <a:off x="4910042" y="4502070"/>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③</a:t>
            </a:r>
          </a:p>
        </p:txBody>
      </p:sp>
      <p:sp>
        <p:nvSpPr>
          <p:cNvPr id="56" name="Text Box 56">
            <a:extLst>
              <a:ext uri="{FF2B5EF4-FFF2-40B4-BE49-F238E27FC236}">
                <a16:creationId xmlns:a16="http://schemas.microsoft.com/office/drawing/2014/main" id="{993BD780-4550-4D85-8038-31453E097E05}"/>
              </a:ext>
            </a:extLst>
          </p:cNvPr>
          <p:cNvSpPr txBox="1">
            <a:spLocks noChangeArrowheads="1"/>
          </p:cNvSpPr>
          <p:nvPr/>
        </p:nvSpPr>
        <p:spPr bwMode="auto">
          <a:xfrm>
            <a:off x="4910042" y="3855716"/>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②</a:t>
            </a:r>
          </a:p>
        </p:txBody>
      </p:sp>
      <p:sp>
        <p:nvSpPr>
          <p:cNvPr id="57" name="Text Box 57">
            <a:extLst>
              <a:ext uri="{FF2B5EF4-FFF2-40B4-BE49-F238E27FC236}">
                <a16:creationId xmlns:a16="http://schemas.microsoft.com/office/drawing/2014/main" id="{368F6C41-DE38-4457-AE9D-52B33C3A145A}"/>
              </a:ext>
            </a:extLst>
          </p:cNvPr>
          <p:cNvSpPr txBox="1">
            <a:spLocks noChangeArrowheads="1"/>
          </p:cNvSpPr>
          <p:nvPr/>
        </p:nvSpPr>
        <p:spPr bwMode="auto">
          <a:xfrm>
            <a:off x="4910042" y="3235452"/>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①</a:t>
            </a:r>
          </a:p>
        </p:txBody>
      </p:sp>
      <p:sp>
        <p:nvSpPr>
          <p:cNvPr id="58" name="Freeform 58">
            <a:extLst>
              <a:ext uri="{FF2B5EF4-FFF2-40B4-BE49-F238E27FC236}">
                <a16:creationId xmlns:a16="http://schemas.microsoft.com/office/drawing/2014/main" id="{D4BCED0B-4A4C-41EA-9A79-BA9FEBB26DA7}"/>
              </a:ext>
            </a:extLst>
          </p:cNvPr>
          <p:cNvSpPr>
            <a:spLocks/>
          </p:cNvSpPr>
          <p:nvPr/>
        </p:nvSpPr>
        <p:spPr bwMode="auto">
          <a:xfrm>
            <a:off x="1748359" y="3004778"/>
            <a:ext cx="65529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9" name="Line 59">
            <a:extLst>
              <a:ext uri="{FF2B5EF4-FFF2-40B4-BE49-F238E27FC236}">
                <a16:creationId xmlns:a16="http://schemas.microsoft.com/office/drawing/2014/main" id="{D8A36381-EEF4-44CA-92FE-6915C06B5567}"/>
              </a:ext>
            </a:extLst>
          </p:cNvPr>
          <p:cNvSpPr>
            <a:spLocks noChangeShapeType="1"/>
          </p:cNvSpPr>
          <p:nvPr/>
        </p:nvSpPr>
        <p:spPr bwMode="auto">
          <a:xfrm>
            <a:off x="4367670"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0" name="Line 60">
            <a:extLst>
              <a:ext uri="{FF2B5EF4-FFF2-40B4-BE49-F238E27FC236}">
                <a16:creationId xmlns:a16="http://schemas.microsoft.com/office/drawing/2014/main" id="{203B5AFF-C43D-4BD9-8A29-6BCCCD99CDA3}"/>
              </a:ext>
            </a:extLst>
          </p:cNvPr>
          <p:cNvSpPr>
            <a:spLocks noChangeShapeType="1"/>
          </p:cNvSpPr>
          <p:nvPr/>
        </p:nvSpPr>
        <p:spPr bwMode="auto">
          <a:xfrm>
            <a:off x="1748359" y="5716501"/>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1" name="Text Box 61">
            <a:extLst>
              <a:ext uri="{FF2B5EF4-FFF2-40B4-BE49-F238E27FC236}">
                <a16:creationId xmlns:a16="http://schemas.microsoft.com/office/drawing/2014/main" id="{0C74E19A-00CA-4002-9A87-CCD9B8CE96B0}"/>
              </a:ext>
            </a:extLst>
          </p:cNvPr>
          <p:cNvSpPr txBox="1">
            <a:spLocks noChangeArrowheads="1"/>
          </p:cNvSpPr>
          <p:nvPr/>
        </p:nvSpPr>
        <p:spPr bwMode="auto">
          <a:xfrm>
            <a:off x="1868680" y="2960351"/>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a</a:t>
            </a:r>
          </a:p>
        </p:txBody>
      </p:sp>
      <p:sp>
        <p:nvSpPr>
          <p:cNvPr id="62" name="Text Box 62">
            <a:extLst>
              <a:ext uri="{FF2B5EF4-FFF2-40B4-BE49-F238E27FC236}">
                <a16:creationId xmlns:a16="http://schemas.microsoft.com/office/drawing/2014/main" id="{1209E173-A809-4035-A590-8BD9B0382E3F}"/>
              </a:ext>
            </a:extLst>
          </p:cNvPr>
          <p:cNvSpPr txBox="1">
            <a:spLocks noChangeArrowheads="1"/>
          </p:cNvSpPr>
          <p:nvPr/>
        </p:nvSpPr>
        <p:spPr bwMode="auto">
          <a:xfrm>
            <a:off x="2555439" y="4576793"/>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c</a:t>
            </a:r>
          </a:p>
        </p:txBody>
      </p:sp>
      <p:sp>
        <p:nvSpPr>
          <p:cNvPr id="63" name="Text Box 63">
            <a:extLst>
              <a:ext uri="{FF2B5EF4-FFF2-40B4-BE49-F238E27FC236}">
                <a16:creationId xmlns:a16="http://schemas.microsoft.com/office/drawing/2014/main" id="{14268A94-0C5F-4F8F-BC79-835BD99F52F0}"/>
              </a:ext>
            </a:extLst>
          </p:cNvPr>
          <p:cNvSpPr txBox="1">
            <a:spLocks noChangeArrowheads="1"/>
          </p:cNvSpPr>
          <p:nvPr/>
        </p:nvSpPr>
        <p:spPr bwMode="auto">
          <a:xfrm>
            <a:off x="2586907" y="3814708"/>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b</a:t>
            </a:r>
          </a:p>
        </p:txBody>
      </p:sp>
      <p:sp>
        <p:nvSpPr>
          <p:cNvPr id="64" name="Line 64">
            <a:extLst>
              <a:ext uri="{FF2B5EF4-FFF2-40B4-BE49-F238E27FC236}">
                <a16:creationId xmlns:a16="http://schemas.microsoft.com/office/drawing/2014/main" id="{DB03AF04-8612-46E3-80D9-B33D8BA9A035}"/>
              </a:ext>
            </a:extLst>
          </p:cNvPr>
          <p:cNvSpPr>
            <a:spLocks noChangeShapeType="1"/>
          </p:cNvSpPr>
          <p:nvPr/>
        </p:nvSpPr>
        <p:spPr bwMode="auto">
          <a:xfrm>
            <a:off x="7173942"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5" name="Line 65">
            <a:extLst>
              <a:ext uri="{FF2B5EF4-FFF2-40B4-BE49-F238E27FC236}">
                <a16:creationId xmlns:a16="http://schemas.microsoft.com/office/drawing/2014/main" id="{56E1FD15-A4E9-4741-ACD2-7145ABDF9272}"/>
              </a:ext>
            </a:extLst>
          </p:cNvPr>
          <p:cNvSpPr>
            <a:spLocks noChangeShapeType="1"/>
          </p:cNvSpPr>
          <p:nvPr/>
        </p:nvSpPr>
        <p:spPr bwMode="auto">
          <a:xfrm>
            <a:off x="7455309"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6" name="Line 66">
            <a:extLst>
              <a:ext uri="{FF2B5EF4-FFF2-40B4-BE49-F238E27FC236}">
                <a16:creationId xmlns:a16="http://schemas.microsoft.com/office/drawing/2014/main" id="{A4B8F58B-3834-4E54-AE36-3761E0776B68}"/>
              </a:ext>
            </a:extLst>
          </p:cNvPr>
          <p:cNvSpPr>
            <a:spLocks noChangeShapeType="1"/>
          </p:cNvSpPr>
          <p:nvPr/>
        </p:nvSpPr>
        <p:spPr bwMode="auto">
          <a:xfrm>
            <a:off x="9700698" y="4826263"/>
            <a:ext cx="112176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7" name="Line 67">
            <a:extLst>
              <a:ext uri="{FF2B5EF4-FFF2-40B4-BE49-F238E27FC236}">
                <a16:creationId xmlns:a16="http://schemas.microsoft.com/office/drawing/2014/main" id="{67E57A28-B26D-4852-8375-E908C247FC73}"/>
              </a:ext>
            </a:extLst>
          </p:cNvPr>
          <p:cNvSpPr>
            <a:spLocks noChangeShapeType="1"/>
          </p:cNvSpPr>
          <p:nvPr/>
        </p:nvSpPr>
        <p:spPr bwMode="auto">
          <a:xfrm>
            <a:off x="10822467"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8" name="Line 68">
            <a:extLst>
              <a:ext uri="{FF2B5EF4-FFF2-40B4-BE49-F238E27FC236}">
                <a16:creationId xmlns:a16="http://schemas.microsoft.com/office/drawing/2014/main" id="{2C65BD73-4F70-45A0-A1FE-CD99F05A2440}"/>
              </a:ext>
            </a:extLst>
          </p:cNvPr>
          <p:cNvSpPr>
            <a:spLocks noChangeShapeType="1"/>
          </p:cNvSpPr>
          <p:nvPr/>
        </p:nvSpPr>
        <p:spPr bwMode="auto">
          <a:xfrm>
            <a:off x="10261582"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9" name="Line 69">
            <a:extLst>
              <a:ext uri="{FF2B5EF4-FFF2-40B4-BE49-F238E27FC236}">
                <a16:creationId xmlns:a16="http://schemas.microsoft.com/office/drawing/2014/main" id="{C15BC444-3FE4-4436-A99D-BA6F3932473C}"/>
              </a:ext>
            </a:extLst>
          </p:cNvPr>
          <p:cNvSpPr>
            <a:spLocks noChangeShapeType="1"/>
          </p:cNvSpPr>
          <p:nvPr/>
        </p:nvSpPr>
        <p:spPr bwMode="auto">
          <a:xfrm>
            <a:off x="8577078"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0" name="Text Box 72">
            <a:extLst>
              <a:ext uri="{FF2B5EF4-FFF2-40B4-BE49-F238E27FC236}">
                <a16:creationId xmlns:a16="http://schemas.microsoft.com/office/drawing/2014/main" id="{29DC5A91-17EC-4FE1-951A-FC115D03BC8C}"/>
              </a:ext>
            </a:extLst>
          </p:cNvPr>
          <p:cNvSpPr txBox="1">
            <a:spLocks noChangeArrowheads="1"/>
          </p:cNvSpPr>
          <p:nvPr/>
        </p:nvSpPr>
        <p:spPr bwMode="auto">
          <a:xfrm>
            <a:off x="5060226" y="5531821"/>
            <a:ext cx="1140056"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867" dirty="0">
                <a:solidFill>
                  <a:srgbClr val="C00000"/>
                </a:solidFill>
                <a:latin typeface="微软雅黑" pitchFamily="34" charset="-122"/>
                <a:ea typeface="微软雅黑" pitchFamily="34" charset="-122"/>
              </a:rPr>
              <a:t>时分复用</a:t>
            </a:r>
          </a:p>
        </p:txBody>
      </p:sp>
      <p:sp>
        <p:nvSpPr>
          <p:cNvPr id="71" name="Text Box 73">
            <a:extLst>
              <a:ext uri="{FF2B5EF4-FFF2-40B4-BE49-F238E27FC236}">
                <a16:creationId xmlns:a16="http://schemas.microsoft.com/office/drawing/2014/main" id="{B7B53C57-826B-483B-8283-8AFC7C6C2FBC}"/>
              </a:ext>
            </a:extLst>
          </p:cNvPr>
          <p:cNvSpPr txBox="1">
            <a:spLocks noChangeArrowheads="1"/>
          </p:cNvSpPr>
          <p:nvPr/>
        </p:nvSpPr>
        <p:spPr bwMode="auto">
          <a:xfrm>
            <a:off x="7736678" y="4771586"/>
            <a:ext cx="486029" cy="37965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#2</a:t>
            </a:r>
          </a:p>
        </p:txBody>
      </p:sp>
      <p:sp>
        <p:nvSpPr>
          <p:cNvPr id="72" name="Text Box 74">
            <a:extLst>
              <a:ext uri="{FF2B5EF4-FFF2-40B4-BE49-F238E27FC236}">
                <a16:creationId xmlns:a16="http://schemas.microsoft.com/office/drawing/2014/main" id="{183BEE75-69E3-4B29-9E4A-309712F7778F}"/>
              </a:ext>
            </a:extLst>
          </p:cNvPr>
          <p:cNvSpPr txBox="1">
            <a:spLocks noChangeArrowheads="1"/>
          </p:cNvSpPr>
          <p:nvPr/>
        </p:nvSpPr>
        <p:spPr bwMode="auto">
          <a:xfrm>
            <a:off x="8913978" y="4771586"/>
            <a:ext cx="486029" cy="37965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#3</a:t>
            </a:r>
          </a:p>
        </p:txBody>
      </p:sp>
      <p:sp>
        <p:nvSpPr>
          <p:cNvPr id="73" name="Text Box 75">
            <a:extLst>
              <a:ext uri="{FF2B5EF4-FFF2-40B4-BE49-F238E27FC236}">
                <a16:creationId xmlns:a16="http://schemas.microsoft.com/office/drawing/2014/main" id="{4F610F1D-A10B-4678-BBD5-3DC8B38BC897}"/>
              </a:ext>
            </a:extLst>
          </p:cNvPr>
          <p:cNvSpPr txBox="1">
            <a:spLocks noChangeArrowheads="1"/>
          </p:cNvSpPr>
          <p:nvPr/>
        </p:nvSpPr>
        <p:spPr bwMode="auto">
          <a:xfrm>
            <a:off x="10035747" y="4771586"/>
            <a:ext cx="486029" cy="37965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#4</a:t>
            </a:r>
          </a:p>
        </p:txBody>
      </p:sp>
      <p:sp>
        <p:nvSpPr>
          <p:cNvPr id="74" name="Line 76">
            <a:extLst>
              <a:ext uri="{FF2B5EF4-FFF2-40B4-BE49-F238E27FC236}">
                <a16:creationId xmlns:a16="http://schemas.microsoft.com/office/drawing/2014/main" id="{F5476F55-2A9A-4F32-AB55-EDC42BB3962D}"/>
              </a:ext>
            </a:extLst>
          </p:cNvPr>
          <p:cNvSpPr>
            <a:spLocks noChangeShapeType="1"/>
          </p:cNvSpPr>
          <p:nvPr/>
        </p:nvSpPr>
        <p:spPr bwMode="auto">
          <a:xfrm>
            <a:off x="6986982" y="5198762"/>
            <a:ext cx="1403136" cy="4049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5" name="Line 77">
            <a:extLst>
              <a:ext uri="{FF2B5EF4-FFF2-40B4-BE49-F238E27FC236}">
                <a16:creationId xmlns:a16="http://schemas.microsoft.com/office/drawing/2014/main" id="{E7424490-BE6A-4CB5-B780-60FEA0491977}"/>
              </a:ext>
            </a:extLst>
          </p:cNvPr>
          <p:cNvSpPr>
            <a:spLocks noChangeShapeType="1"/>
          </p:cNvSpPr>
          <p:nvPr/>
        </p:nvSpPr>
        <p:spPr bwMode="auto">
          <a:xfrm>
            <a:off x="8016194" y="5198762"/>
            <a:ext cx="560883" cy="4049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6" name="Line 78">
            <a:extLst>
              <a:ext uri="{FF2B5EF4-FFF2-40B4-BE49-F238E27FC236}">
                <a16:creationId xmlns:a16="http://schemas.microsoft.com/office/drawing/2014/main" id="{6DE25804-A14C-44E6-BF45-E5C35AD04D10}"/>
              </a:ext>
            </a:extLst>
          </p:cNvPr>
          <p:cNvSpPr>
            <a:spLocks noChangeShapeType="1"/>
          </p:cNvSpPr>
          <p:nvPr/>
        </p:nvSpPr>
        <p:spPr bwMode="auto">
          <a:xfrm flipH="1">
            <a:off x="8671485" y="5198762"/>
            <a:ext cx="468329" cy="4049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7" name="Line 79">
            <a:extLst>
              <a:ext uri="{FF2B5EF4-FFF2-40B4-BE49-F238E27FC236}">
                <a16:creationId xmlns:a16="http://schemas.microsoft.com/office/drawing/2014/main" id="{2A6488C4-8C71-4671-9BD0-76DF3E70734F}"/>
              </a:ext>
            </a:extLst>
          </p:cNvPr>
          <p:cNvSpPr>
            <a:spLocks noChangeShapeType="1"/>
          </p:cNvSpPr>
          <p:nvPr/>
        </p:nvSpPr>
        <p:spPr bwMode="auto">
          <a:xfrm flipV="1">
            <a:off x="8858446" y="5198762"/>
            <a:ext cx="1403136" cy="4049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8" name="Text Box 80">
            <a:extLst>
              <a:ext uri="{FF2B5EF4-FFF2-40B4-BE49-F238E27FC236}">
                <a16:creationId xmlns:a16="http://schemas.microsoft.com/office/drawing/2014/main" id="{F3F726C3-6783-434A-9029-A9DC9C53AD6C}"/>
              </a:ext>
            </a:extLst>
          </p:cNvPr>
          <p:cNvSpPr txBox="1">
            <a:spLocks noChangeArrowheads="1"/>
          </p:cNvSpPr>
          <p:nvPr/>
        </p:nvSpPr>
        <p:spPr bwMode="auto">
          <a:xfrm>
            <a:off x="675991" y="2964172"/>
            <a:ext cx="66236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867" dirty="0">
                <a:latin typeface="微软雅黑" pitchFamily="34" charset="-122"/>
                <a:ea typeface="微软雅黑" pitchFamily="34" charset="-122"/>
              </a:rPr>
              <a:t>用户</a:t>
            </a:r>
          </a:p>
        </p:txBody>
      </p:sp>
      <p:sp>
        <p:nvSpPr>
          <p:cNvPr id="79" name="Line 81">
            <a:extLst>
              <a:ext uri="{FF2B5EF4-FFF2-40B4-BE49-F238E27FC236}">
                <a16:creationId xmlns:a16="http://schemas.microsoft.com/office/drawing/2014/main" id="{BF0FD659-1912-4BA5-88B1-830522AD0D55}"/>
              </a:ext>
            </a:extLst>
          </p:cNvPr>
          <p:cNvSpPr>
            <a:spLocks noChangeShapeType="1"/>
          </p:cNvSpPr>
          <p:nvPr/>
        </p:nvSpPr>
        <p:spPr bwMode="auto">
          <a:xfrm>
            <a:off x="1655804" y="3409743"/>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0" name="Line 82">
            <a:extLst>
              <a:ext uri="{FF2B5EF4-FFF2-40B4-BE49-F238E27FC236}">
                <a16:creationId xmlns:a16="http://schemas.microsoft.com/office/drawing/2014/main" id="{5F500981-C176-4F06-A7F8-4AE65BEA68B0}"/>
              </a:ext>
            </a:extLst>
          </p:cNvPr>
          <p:cNvSpPr>
            <a:spLocks noChangeShapeType="1"/>
          </p:cNvSpPr>
          <p:nvPr/>
        </p:nvSpPr>
        <p:spPr bwMode="auto">
          <a:xfrm>
            <a:off x="1655804" y="4219671"/>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1" name="Line 83">
            <a:extLst>
              <a:ext uri="{FF2B5EF4-FFF2-40B4-BE49-F238E27FC236}">
                <a16:creationId xmlns:a16="http://schemas.microsoft.com/office/drawing/2014/main" id="{E24AC72E-6363-4C48-8754-0944C6C25A28}"/>
              </a:ext>
            </a:extLst>
          </p:cNvPr>
          <p:cNvSpPr>
            <a:spLocks noChangeShapeType="1"/>
          </p:cNvSpPr>
          <p:nvPr/>
        </p:nvSpPr>
        <p:spPr bwMode="auto">
          <a:xfrm>
            <a:off x="1655804" y="5027890"/>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2" name="Line 84">
            <a:extLst>
              <a:ext uri="{FF2B5EF4-FFF2-40B4-BE49-F238E27FC236}">
                <a16:creationId xmlns:a16="http://schemas.microsoft.com/office/drawing/2014/main" id="{50635698-C35C-4551-BE84-10D6A51D8676}"/>
              </a:ext>
            </a:extLst>
          </p:cNvPr>
          <p:cNvSpPr>
            <a:spLocks noChangeShapeType="1"/>
          </p:cNvSpPr>
          <p:nvPr/>
        </p:nvSpPr>
        <p:spPr bwMode="auto">
          <a:xfrm>
            <a:off x="1655804" y="5837819"/>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grpSp>
        <p:nvGrpSpPr>
          <p:cNvPr id="83" name="Group 85">
            <a:extLst>
              <a:ext uri="{FF2B5EF4-FFF2-40B4-BE49-F238E27FC236}">
                <a16:creationId xmlns:a16="http://schemas.microsoft.com/office/drawing/2014/main" id="{E1F164B2-0166-4286-8BFE-444C3E49B708}"/>
              </a:ext>
            </a:extLst>
          </p:cNvPr>
          <p:cNvGrpSpPr>
            <a:grpSpLocks/>
          </p:cNvGrpSpPr>
          <p:nvPr/>
        </p:nvGrpSpPr>
        <p:grpSpPr bwMode="auto">
          <a:xfrm>
            <a:off x="6337243" y="4011208"/>
            <a:ext cx="4489784" cy="1161923"/>
            <a:chOff x="1655" y="1570"/>
            <a:chExt cx="2919" cy="1497"/>
          </a:xfrm>
        </p:grpSpPr>
        <p:sp>
          <p:nvSpPr>
            <p:cNvPr id="92" name="Line 86">
              <a:extLst>
                <a:ext uri="{FF2B5EF4-FFF2-40B4-BE49-F238E27FC236}">
                  <a16:creationId xmlns:a16="http://schemas.microsoft.com/office/drawing/2014/main" id="{F8D50F17-76E1-4989-A13E-75F39F25470B}"/>
                </a:ext>
              </a:extLst>
            </p:cNvPr>
            <p:cNvSpPr>
              <a:spLocks noChangeShapeType="1"/>
            </p:cNvSpPr>
            <p:nvPr/>
          </p:nvSpPr>
          <p:spPr bwMode="auto">
            <a:xfrm>
              <a:off x="1655"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93" name="Line 87">
              <a:extLst>
                <a:ext uri="{FF2B5EF4-FFF2-40B4-BE49-F238E27FC236}">
                  <a16:creationId xmlns:a16="http://schemas.microsoft.com/office/drawing/2014/main" id="{3978D84A-5329-4FF6-8944-9EDD22610D34}"/>
                </a:ext>
              </a:extLst>
            </p:cNvPr>
            <p:cNvSpPr>
              <a:spLocks noChangeShapeType="1"/>
            </p:cNvSpPr>
            <p:nvPr/>
          </p:nvSpPr>
          <p:spPr bwMode="auto">
            <a:xfrm>
              <a:off x="2381"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94" name="Line 88">
              <a:extLst>
                <a:ext uri="{FF2B5EF4-FFF2-40B4-BE49-F238E27FC236}">
                  <a16:creationId xmlns:a16="http://schemas.microsoft.com/office/drawing/2014/main" id="{CE0A0D72-8C8E-446B-9F71-1BEF1163C1E5}"/>
                </a:ext>
              </a:extLst>
            </p:cNvPr>
            <p:cNvSpPr>
              <a:spLocks noChangeShapeType="1"/>
            </p:cNvSpPr>
            <p:nvPr/>
          </p:nvSpPr>
          <p:spPr bwMode="auto">
            <a:xfrm>
              <a:off x="3107"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95" name="Line 89">
              <a:extLst>
                <a:ext uri="{FF2B5EF4-FFF2-40B4-BE49-F238E27FC236}">
                  <a16:creationId xmlns:a16="http://schemas.microsoft.com/office/drawing/2014/main" id="{14C164AC-58CC-4723-8E22-C57B29407C20}"/>
                </a:ext>
              </a:extLst>
            </p:cNvPr>
            <p:cNvSpPr>
              <a:spLocks noChangeShapeType="1"/>
            </p:cNvSpPr>
            <p:nvPr/>
          </p:nvSpPr>
          <p:spPr bwMode="auto">
            <a:xfrm>
              <a:off x="3833"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96" name="Line 90">
              <a:extLst>
                <a:ext uri="{FF2B5EF4-FFF2-40B4-BE49-F238E27FC236}">
                  <a16:creationId xmlns:a16="http://schemas.microsoft.com/office/drawing/2014/main" id="{0E2A78C5-8B7F-496C-9B4E-03DEEBD4BE17}"/>
                </a:ext>
              </a:extLst>
            </p:cNvPr>
            <p:cNvSpPr>
              <a:spLocks noChangeShapeType="1"/>
            </p:cNvSpPr>
            <p:nvPr/>
          </p:nvSpPr>
          <p:spPr bwMode="auto">
            <a:xfrm>
              <a:off x="4574"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grpSp>
      <p:sp>
        <p:nvSpPr>
          <p:cNvPr id="84" name="矩形 83">
            <a:extLst>
              <a:ext uri="{FF2B5EF4-FFF2-40B4-BE49-F238E27FC236}">
                <a16:creationId xmlns:a16="http://schemas.microsoft.com/office/drawing/2014/main" id="{47F9DBDC-1BC9-462D-AD41-B1E5245A244C}"/>
              </a:ext>
            </a:extLst>
          </p:cNvPr>
          <p:cNvSpPr/>
          <p:nvPr/>
        </p:nvSpPr>
        <p:spPr>
          <a:xfrm>
            <a:off x="6197542" y="3055058"/>
            <a:ext cx="4905577" cy="666977"/>
          </a:xfrm>
          <a:prstGeom prst="rect">
            <a:avLst/>
          </a:prstGeom>
          <a:solidFill>
            <a:schemeClr val="bg1"/>
          </a:solidFill>
          <a:ln>
            <a:noFill/>
          </a:ln>
        </p:spPr>
        <p:txBody>
          <a:bodyPr wrap="square">
            <a:spAutoFit/>
          </a:bodyPr>
          <a:lstStyle/>
          <a:p>
            <a:r>
              <a:rPr lang="zh-CN" altLang="zh-CN" sz="1867" dirty="0">
                <a:latin typeface="微软雅黑" pitchFamily="34" charset="-122"/>
                <a:ea typeface="微软雅黑" pitchFamily="34" charset="-122"/>
              </a:rPr>
              <a:t>当某用户暂时无数据发送时，在时分复用帧中分配给该用户的时隙只能处于空闲状态</a:t>
            </a:r>
            <a:r>
              <a:rPr lang="zh-CN" altLang="en-US" sz="1867" dirty="0">
                <a:latin typeface="微软雅黑" pitchFamily="34" charset="-122"/>
                <a:ea typeface="微软雅黑" pitchFamily="34" charset="-122"/>
              </a:rPr>
              <a:t>。</a:t>
            </a:r>
          </a:p>
        </p:txBody>
      </p:sp>
      <p:sp>
        <p:nvSpPr>
          <p:cNvPr id="85" name="Text Box 21">
            <a:extLst>
              <a:ext uri="{FF2B5EF4-FFF2-40B4-BE49-F238E27FC236}">
                <a16:creationId xmlns:a16="http://schemas.microsoft.com/office/drawing/2014/main" id="{6EFD5DFC-6132-43E4-AA26-34954A1CA637}"/>
              </a:ext>
            </a:extLst>
          </p:cNvPr>
          <p:cNvSpPr txBox="1">
            <a:spLocks noChangeArrowheads="1"/>
          </p:cNvSpPr>
          <p:nvPr/>
        </p:nvSpPr>
        <p:spPr bwMode="auto">
          <a:xfrm>
            <a:off x="9665526" y="4204292"/>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a</a:t>
            </a:r>
          </a:p>
        </p:txBody>
      </p:sp>
      <p:sp>
        <p:nvSpPr>
          <p:cNvPr id="86" name="Text Box 22">
            <a:extLst>
              <a:ext uri="{FF2B5EF4-FFF2-40B4-BE49-F238E27FC236}">
                <a16:creationId xmlns:a16="http://schemas.microsoft.com/office/drawing/2014/main" id="{F6D17311-F174-4784-AAFC-2521F453C869}"/>
              </a:ext>
            </a:extLst>
          </p:cNvPr>
          <p:cNvSpPr txBox="1">
            <a:spLocks noChangeArrowheads="1"/>
          </p:cNvSpPr>
          <p:nvPr/>
        </p:nvSpPr>
        <p:spPr bwMode="auto">
          <a:xfrm>
            <a:off x="6566781" y="4204292"/>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b</a:t>
            </a:r>
          </a:p>
        </p:txBody>
      </p:sp>
      <p:sp>
        <p:nvSpPr>
          <p:cNvPr id="87" name="Text Box 26">
            <a:extLst>
              <a:ext uri="{FF2B5EF4-FFF2-40B4-BE49-F238E27FC236}">
                <a16:creationId xmlns:a16="http://schemas.microsoft.com/office/drawing/2014/main" id="{388AF1EB-A5A4-48FE-8C2B-33126DD6F0EA}"/>
              </a:ext>
            </a:extLst>
          </p:cNvPr>
          <p:cNvSpPr txBox="1">
            <a:spLocks noChangeArrowheads="1"/>
          </p:cNvSpPr>
          <p:nvPr/>
        </p:nvSpPr>
        <p:spPr bwMode="auto">
          <a:xfrm>
            <a:off x="7697803" y="4204292"/>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b</a:t>
            </a:r>
          </a:p>
        </p:txBody>
      </p:sp>
      <p:sp>
        <p:nvSpPr>
          <p:cNvPr id="88" name="Text Box 28">
            <a:extLst>
              <a:ext uri="{FF2B5EF4-FFF2-40B4-BE49-F238E27FC236}">
                <a16:creationId xmlns:a16="http://schemas.microsoft.com/office/drawing/2014/main" id="{1EB3E82B-1617-4575-9C06-89E29EE8E1DB}"/>
              </a:ext>
            </a:extLst>
          </p:cNvPr>
          <p:cNvSpPr txBox="1">
            <a:spLocks noChangeArrowheads="1"/>
          </p:cNvSpPr>
          <p:nvPr/>
        </p:nvSpPr>
        <p:spPr bwMode="auto">
          <a:xfrm>
            <a:off x="6302074" y="4204292"/>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a</a:t>
            </a:r>
          </a:p>
        </p:txBody>
      </p:sp>
      <p:sp>
        <p:nvSpPr>
          <p:cNvPr id="89" name="Text Box 71">
            <a:extLst>
              <a:ext uri="{FF2B5EF4-FFF2-40B4-BE49-F238E27FC236}">
                <a16:creationId xmlns:a16="http://schemas.microsoft.com/office/drawing/2014/main" id="{197336AA-9579-4EF7-A14F-31D9A1B49410}"/>
              </a:ext>
            </a:extLst>
          </p:cNvPr>
          <p:cNvSpPr txBox="1">
            <a:spLocks noChangeArrowheads="1"/>
          </p:cNvSpPr>
          <p:nvPr/>
        </p:nvSpPr>
        <p:spPr bwMode="auto">
          <a:xfrm>
            <a:off x="10496674" y="4204292"/>
            <a:ext cx="365805"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d</a:t>
            </a:r>
          </a:p>
        </p:txBody>
      </p:sp>
      <p:sp>
        <p:nvSpPr>
          <p:cNvPr id="90" name="Text Box 27">
            <a:extLst>
              <a:ext uri="{FF2B5EF4-FFF2-40B4-BE49-F238E27FC236}">
                <a16:creationId xmlns:a16="http://schemas.microsoft.com/office/drawing/2014/main" id="{E1C1F6FF-3AEA-4A9B-A11B-BE5F7939B71A}"/>
              </a:ext>
            </a:extLst>
          </p:cNvPr>
          <p:cNvSpPr txBox="1">
            <a:spLocks noChangeArrowheads="1"/>
          </p:cNvSpPr>
          <p:nvPr/>
        </p:nvSpPr>
        <p:spPr bwMode="auto">
          <a:xfrm>
            <a:off x="7982617" y="4204292"/>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c</a:t>
            </a:r>
          </a:p>
        </p:txBody>
      </p:sp>
      <p:sp>
        <p:nvSpPr>
          <p:cNvPr id="91" name="Text Box 70">
            <a:extLst>
              <a:ext uri="{FF2B5EF4-FFF2-40B4-BE49-F238E27FC236}">
                <a16:creationId xmlns:a16="http://schemas.microsoft.com/office/drawing/2014/main" id="{C1BCCAD3-05DE-4CB6-BAD6-7C4E83F96C1C}"/>
              </a:ext>
            </a:extLst>
          </p:cNvPr>
          <p:cNvSpPr txBox="1">
            <a:spLocks noChangeArrowheads="1"/>
          </p:cNvSpPr>
          <p:nvPr/>
        </p:nvSpPr>
        <p:spPr bwMode="auto">
          <a:xfrm>
            <a:off x="9090350" y="4204292"/>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c</a:t>
            </a:r>
          </a:p>
        </p:txBody>
      </p:sp>
      <p:sp>
        <p:nvSpPr>
          <p:cNvPr id="98" name="文本框 97">
            <a:extLst>
              <a:ext uri="{FF2B5EF4-FFF2-40B4-BE49-F238E27FC236}">
                <a16:creationId xmlns:a16="http://schemas.microsoft.com/office/drawing/2014/main" id="{5796D581-334C-4C10-800C-D680689A0F1E}"/>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44910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A0693F-7579-4784-A8C4-E3951FAF6219}"/>
              </a:ext>
            </a:extLst>
          </p:cNvPr>
          <p:cNvSpPr>
            <a:spLocks noGrp="1"/>
          </p:cNvSpPr>
          <p:nvPr>
            <p:ph type="title"/>
          </p:nvPr>
        </p:nvSpPr>
        <p:spPr/>
        <p:txBody>
          <a:bodyPr>
            <a:normAutofit/>
          </a:bodyPr>
          <a:lstStyle/>
          <a:p>
            <a:r>
              <a:rPr lang="zh-CN" altLang="en-US" dirty="0"/>
              <a:t>统计时分复用 </a:t>
            </a:r>
            <a:r>
              <a:rPr lang="en-US" altLang="zh-CN" dirty="0"/>
              <a:t>(STDM)</a:t>
            </a:r>
            <a:endParaRPr lang="zh-CN" altLang="en-US" dirty="0"/>
          </a:p>
        </p:txBody>
      </p:sp>
      <p:sp>
        <p:nvSpPr>
          <p:cNvPr id="4" name="灯片编号占位符 3">
            <a:extLst>
              <a:ext uri="{FF2B5EF4-FFF2-40B4-BE49-F238E27FC236}">
                <a16:creationId xmlns:a16="http://schemas.microsoft.com/office/drawing/2014/main" id="{7DCB97BB-1454-4136-8471-533844156201}"/>
              </a:ext>
            </a:extLst>
          </p:cNvPr>
          <p:cNvSpPr>
            <a:spLocks noGrp="1"/>
          </p:cNvSpPr>
          <p:nvPr>
            <p:ph type="sldNum" sz="quarter" idx="12"/>
          </p:nvPr>
        </p:nvSpPr>
        <p:spPr/>
        <p:txBody>
          <a:bodyPr/>
          <a:lstStyle/>
          <a:p>
            <a:fld id="{8D4D1E41-7A09-AB4A-A4E1-09765ADA2698}" type="slidenum">
              <a:rPr kumimoji="1" lang="zh-CN" altLang="en-US" smtClean="0"/>
              <a:t>102</a:t>
            </a:fld>
            <a:endParaRPr kumimoji="1" lang="zh-CN" altLang="en-US" dirty="0"/>
          </a:p>
        </p:txBody>
      </p:sp>
      <p:sp>
        <p:nvSpPr>
          <p:cNvPr id="3" name="矩形 2">
            <a:extLst>
              <a:ext uri="{FF2B5EF4-FFF2-40B4-BE49-F238E27FC236}">
                <a16:creationId xmlns:a16="http://schemas.microsoft.com/office/drawing/2014/main" id="{07088F01-887D-4B4B-A6E0-E12F5E2EC8DD}"/>
              </a:ext>
            </a:extLst>
          </p:cNvPr>
          <p:cNvSpPr/>
          <p:nvPr/>
        </p:nvSpPr>
        <p:spPr>
          <a:xfrm>
            <a:off x="544010" y="1284701"/>
            <a:ext cx="10837557" cy="1200329"/>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统计时分复用</a:t>
            </a:r>
            <a:r>
              <a:rPr lang="zh-CN" altLang="en-US" sz="2400" dirty="0">
                <a:solidFill>
                  <a:srgbClr val="333333"/>
                </a:solidFill>
                <a:latin typeface="微软雅黑" panose="020B0503020204020204" pitchFamily="34" charset="-122"/>
                <a:ea typeface="微软雅黑" panose="020B0503020204020204" pitchFamily="34" charset="-122"/>
              </a:rPr>
              <a:t>（</a:t>
            </a:r>
            <a:r>
              <a:rPr lang="en-US" altLang="zh-CN" sz="2400" dirty="0">
                <a:solidFill>
                  <a:srgbClr val="333333"/>
                </a:solidFill>
                <a:latin typeface="微软雅黑" panose="020B0503020204020204" pitchFamily="34" charset="-122"/>
                <a:ea typeface="微软雅黑" panose="020B0503020204020204" pitchFamily="34" charset="-122"/>
              </a:rPr>
              <a:t>statistical time division multiplexing</a:t>
            </a:r>
            <a:r>
              <a:rPr lang="zh-CN" altLang="en-US" sz="2400" dirty="0">
                <a:solidFill>
                  <a:srgbClr val="333333"/>
                </a:solidFill>
                <a:latin typeface="微软雅黑" panose="020B0503020204020204" pitchFamily="34" charset="-122"/>
                <a:ea typeface="微软雅黑" panose="020B0503020204020204" pitchFamily="34" charset="-122"/>
              </a:rPr>
              <a:t>，</a:t>
            </a:r>
            <a:r>
              <a:rPr lang="en-US" altLang="zh-CN" sz="2400" dirty="0">
                <a:solidFill>
                  <a:srgbClr val="333333"/>
                </a:solidFill>
                <a:latin typeface="微软雅黑" panose="020B0503020204020204" pitchFamily="34" charset="-122"/>
                <a:ea typeface="微软雅黑" panose="020B0503020204020204" pitchFamily="34" charset="-122"/>
              </a:rPr>
              <a:t>STDM</a:t>
            </a:r>
            <a:r>
              <a:rPr lang="zh-CN" altLang="en-US" sz="2400" dirty="0">
                <a:solidFill>
                  <a:srgbClr val="333333"/>
                </a:solidFill>
                <a:latin typeface="微软雅黑" panose="020B0503020204020204" pitchFamily="34" charset="-122"/>
                <a:ea typeface="微软雅黑" panose="020B0503020204020204" pitchFamily="34" charset="-122"/>
              </a:rPr>
              <a:t>）是指动态地</a:t>
            </a:r>
            <a:r>
              <a:rPr lang="zh-CN" altLang="en-US" sz="2400" dirty="0">
                <a:solidFill>
                  <a:srgbClr val="C00000"/>
                </a:solidFill>
                <a:latin typeface="微软雅黑" panose="020B0503020204020204" pitchFamily="34" charset="-122"/>
                <a:ea typeface="微软雅黑" panose="020B0503020204020204" pitchFamily="34" charset="-122"/>
              </a:rPr>
              <a:t>按需分配共用信道</a:t>
            </a:r>
            <a:r>
              <a:rPr lang="zh-CN" altLang="en-US" sz="2400" dirty="0">
                <a:solidFill>
                  <a:srgbClr val="333333"/>
                </a:solidFill>
                <a:latin typeface="微软雅黑" panose="020B0503020204020204" pitchFamily="34" charset="-122"/>
                <a:ea typeface="微软雅黑" panose="020B0503020204020204" pitchFamily="34" charset="-122"/>
              </a:rPr>
              <a:t>的时隙，只将需要传送数据的终端接入共用信道，以提高信道利用率的多路复用技术。</a:t>
            </a:r>
            <a:endParaRPr lang="zh-CN" altLang="en-US" sz="2400" dirty="0">
              <a:latin typeface="微软雅黑" panose="020B0503020204020204" pitchFamily="34" charset="-122"/>
              <a:ea typeface="微软雅黑" panose="020B0503020204020204" pitchFamily="34" charset="-122"/>
            </a:endParaRPr>
          </a:p>
        </p:txBody>
      </p:sp>
      <p:grpSp>
        <p:nvGrpSpPr>
          <p:cNvPr id="73" name="组合 72">
            <a:extLst>
              <a:ext uri="{FF2B5EF4-FFF2-40B4-BE49-F238E27FC236}">
                <a16:creationId xmlns:a16="http://schemas.microsoft.com/office/drawing/2014/main" id="{95CCCC98-AE39-4224-8976-B54059250072}"/>
              </a:ext>
            </a:extLst>
          </p:cNvPr>
          <p:cNvGrpSpPr/>
          <p:nvPr/>
        </p:nvGrpSpPr>
        <p:grpSpPr>
          <a:xfrm>
            <a:off x="1258529" y="2646620"/>
            <a:ext cx="9901158" cy="3971214"/>
            <a:chOff x="1573161" y="2744943"/>
            <a:chExt cx="9901158" cy="3971214"/>
          </a:xfrm>
        </p:grpSpPr>
        <p:sp>
          <p:nvSpPr>
            <p:cNvPr id="5" name="圆角矩形 23">
              <a:extLst>
                <a:ext uri="{FF2B5EF4-FFF2-40B4-BE49-F238E27FC236}">
                  <a16:creationId xmlns:a16="http://schemas.microsoft.com/office/drawing/2014/main" id="{7624F456-136C-4C59-8BA0-DBE6D2C239A7}"/>
                </a:ext>
              </a:extLst>
            </p:cNvPr>
            <p:cNvSpPr/>
            <p:nvPr/>
          </p:nvSpPr>
          <p:spPr>
            <a:xfrm>
              <a:off x="1573161" y="2744943"/>
              <a:ext cx="9901158" cy="3971214"/>
            </a:xfrm>
            <a:prstGeom prst="roundRect">
              <a:avLst>
                <a:gd name="adj" fmla="val 7923"/>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Freeform 85">
              <a:extLst>
                <a:ext uri="{FF2B5EF4-FFF2-40B4-BE49-F238E27FC236}">
                  <a16:creationId xmlns:a16="http://schemas.microsoft.com/office/drawing/2014/main" id="{050A362D-32D1-48B8-99BB-62E0985BD323}"/>
                </a:ext>
              </a:extLst>
            </p:cNvPr>
            <p:cNvSpPr>
              <a:spLocks/>
            </p:cNvSpPr>
            <p:nvPr/>
          </p:nvSpPr>
          <p:spPr bwMode="auto">
            <a:xfrm>
              <a:off x="8866649" y="4295168"/>
              <a:ext cx="312305"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 name="Freeform 86">
              <a:extLst>
                <a:ext uri="{FF2B5EF4-FFF2-40B4-BE49-F238E27FC236}">
                  <a16:creationId xmlns:a16="http://schemas.microsoft.com/office/drawing/2014/main" id="{C8D64D32-87DA-4975-A417-00CEA1595F7B}"/>
                </a:ext>
              </a:extLst>
            </p:cNvPr>
            <p:cNvSpPr>
              <a:spLocks/>
            </p:cNvSpPr>
            <p:nvPr/>
          </p:nvSpPr>
          <p:spPr bwMode="auto">
            <a:xfrm>
              <a:off x="10121378" y="4295168"/>
              <a:ext cx="312305"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 name="Freeform 87">
              <a:extLst>
                <a:ext uri="{FF2B5EF4-FFF2-40B4-BE49-F238E27FC236}">
                  <a16:creationId xmlns:a16="http://schemas.microsoft.com/office/drawing/2014/main" id="{9626F437-A939-4F69-A6A0-25C854FE8214}"/>
                </a:ext>
              </a:extLst>
            </p:cNvPr>
            <p:cNvSpPr>
              <a:spLocks/>
            </p:cNvSpPr>
            <p:nvPr/>
          </p:nvSpPr>
          <p:spPr bwMode="auto">
            <a:xfrm>
              <a:off x="9702522" y="4295168"/>
              <a:ext cx="314143"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66FF33"/>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9" name="Freeform 88">
              <a:extLst>
                <a:ext uri="{FF2B5EF4-FFF2-40B4-BE49-F238E27FC236}">
                  <a16:creationId xmlns:a16="http://schemas.microsoft.com/office/drawing/2014/main" id="{F272194F-FEDC-4343-B4E0-8B4E7EEC4ABB}"/>
                </a:ext>
              </a:extLst>
            </p:cNvPr>
            <p:cNvSpPr>
              <a:spLocks/>
            </p:cNvSpPr>
            <p:nvPr/>
          </p:nvSpPr>
          <p:spPr bwMode="auto">
            <a:xfrm>
              <a:off x="9283666" y="4295168"/>
              <a:ext cx="314143"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0" name="Freeform 89">
              <a:extLst>
                <a:ext uri="{FF2B5EF4-FFF2-40B4-BE49-F238E27FC236}">
                  <a16:creationId xmlns:a16="http://schemas.microsoft.com/office/drawing/2014/main" id="{BDF9296D-1035-40C1-B992-8D40ED4CDDC8}"/>
                </a:ext>
              </a:extLst>
            </p:cNvPr>
            <p:cNvSpPr>
              <a:spLocks/>
            </p:cNvSpPr>
            <p:nvPr/>
          </p:nvSpPr>
          <p:spPr bwMode="auto">
            <a:xfrm>
              <a:off x="8447792" y="4295168"/>
              <a:ext cx="314141"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1" name="Freeform 90">
              <a:extLst>
                <a:ext uri="{FF2B5EF4-FFF2-40B4-BE49-F238E27FC236}">
                  <a16:creationId xmlns:a16="http://schemas.microsoft.com/office/drawing/2014/main" id="{E2168919-56C5-4C75-9055-CC6A486CFDCF}"/>
                </a:ext>
              </a:extLst>
            </p:cNvPr>
            <p:cNvSpPr>
              <a:spLocks/>
            </p:cNvSpPr>
            <p:nvPr/>
          </p:nvSpPr>
          <p:spPr bwMode="auto">
            <a:xfrm>
              <a:off x="8028935" y="4295168"/>
              <a:ext cx="314141"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2" name="Freeform 91">
              <a:extLst>
                <a:ext uri="{FF2B5EF4-FFF2-40B4-BE49-F238E27FC236}">
                  <a16:creationId xmlns:a16="http://schemas.microsoft.com/office/drawing/2014/main" id="{B56E8EDB-F1B4-4E9C-B6D8-F58929D99435}"/>
                </a:ext>
              </a:extLst>
            </p:cNvPr>
            <p:cNvSpPr>
              <a:spLocks/>
            </p:cNvSpPr>
            <p:nvPr/>
          </p:nvSpPr>
          <p:spPr bwMode="auto">
            <a:xfrm>
              <a:off x="7611917" y="4295168"/>
              <a:ext cx="312305"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22" name="Line 101">
              <a:extLst>
                <a:ext uri="{FF2B5EF4-FFF2-40B4-BE49-F238E27FC236}">
                  <a16:creationId xmlns:a16="http://schemas.microsoft.com/office/drawing/2014/main" id="{F6801532-DA54-4BA0-A98E-E75F0C0252B7}"/>
                </a:ext>
              </a:extLst>
            </p:cNvPr>
            <p:cNvSpPr>
              <a:spLocks noChangeShapeType="1"/>
            </p:cNvSpPr>
            <p:nvPr/>
          </p:nvSpPr>
          <p:spPr bwMode="auto">
            <a:xfrm>
              <a:off x="7297776" y="4716061"/>
              <a:ext cx="345005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1" name="Text Box 115">
              <a:extLst>
                <a:ext uri="{FF2B5EF4-FFF2-40B4-BE49-F238E27FC236}">
                  <a16:creationId xmlns:a16="http://schemas.microsoft.com/office/drawing/2014/main" id="{4CC8041F-D7A8-46E5-845B-173121EF1B14}"/>
                </a:ext>
              </a:extLst>
            </p:cNvPr>
            <p:cNvSpPr txBox="1">
              <a:spLocks noChangeArrowheads="1"/>
            </p:cNvSpPr>
            <p:nvPr/>
          </p:nvSpPr>
          <p:spPr bwMode="auto">
            <a:xfrm>
              <a:off x="10701921" y="4585646"/>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8" name="Line 122">
              <a:extLst>
                <a:ext uri="{FF2B5EF4-FFF2-40B4-BE49-F238E27FC236}">
                  <a16:creationId xmlns:a16="http://schemas.microsoft.com/office/drawing/2014/main" id="{A20FE6B5-4D04-46BF-85A7-68A902DC80C7}"/>
                </a:ext>
              </a:extLst>
            </p:cNvPr>
            <p:cNvSpPr>
              <a:spLocks noChangeShapeType="1"/>
            </p:cNvSpPr>
            <p:nvPr/>
          </p:nvSpPr>
          <p:spPr bwMode="auto">
            <a:xfrm>
              <a:off x="7507203" y="4834424"/>
              <a:ext cx="0" cy="213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9" name="Line 123">
              <a:extLst>
                <a:ext uri="{FF2B5EF4-FFF2-40B4-BE49-F238E27FC236}">
                  <a16:creationId xmlns:a16="http://schemas.microsoft.com/office/drawing/2014/main" id="{CB516722-6D26-4103-A217-0A3B2DEA6D10}"/>
                </a:ext>
              </a:extLst>
            </p:cNvPr>
            <p:cNvSpPr>
              <a:spLocks noChangeShapeType="1"/>
            </p:cNvSpPr>
            <p:nvPr/>
          </p:nvSpPr>
          <p:spPr bwMode="auto">
            <a:xfrm>
              <a:off x="8343076" y="4834424"/>
              <a:ext cx="0" cy="213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0" name="Line 124">
              <a:extLst>
                <a:ext uri="{FF2B5EF4-FFF2-40B4-BE49-F238E27FC236}">
                  <a16:creationId xmlns:a16="http://schemas.microsoft.com/office/drawing/2014/main" id="{7C2D257B-8237-4903-9C4C-1C6119AB1C69}"/>
                </a:ext>
              </a:extLst>
            </p:cNvPr>
            <p:cNvSpPr>
              <a:spLocks noChangeShapeType="1"/>
            </p:cNvSpPr>
            <p:nvPr/>
          </p:nvSpPr>
          <p:spPr bwMode="auto">
            <a:xfrm>
              <a:off x="9178952" y="4834424"/>
              <a:ext cx="0" cy="213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1" name="Line 125">
              <a:extLst>
                <a:ext uri="{FF2B5EF4-FFF2-40B4-BE49-F238E27FC236}">
                  <a16:creationId xmlns:a16="http://schemas.microsoft.com/office/drawing/2014/main" id="{11038198-05F7-498E-A736-ECEBF997F6B0}"/>
                </a:ext>
              </a:extLst>
            </p:cNvPr>
            <p:cNvSpPr>
              <a:spLocks noChangeShapeType="1"/>
            </p:cNvSpPr>
            <p:nvPr/>
          </p:nvSpPr>
          <p:spPr bwMode="auto">
            <a:xfrm>
              <a:off x="7507203" y="4941256"/>
              <a:ext cx="83587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2" name="Line 126">
              <a:extLst>
                <a:ext uri="{FF2B5EF4-FFF2-40B4-BE49-F238E27FC236}">
                  <a16:creationId xmlns:a16="http://schemas.microsoft.com/office/drawing/2014/main" id="{A7853680-7764-4994-A58B-E87E69027DA9}"/>
                </a:ext>
              </a:extLst>
            </p:cNvPr>
            <p:cNvSpPr>
              <a:spLocks noChangeShapeType="1"/>
            </p:cNvSpPr>
            <p:nvPr/>
          </p:nvSpPr>
          <p:spPr bwMode="auto">
            <a:xfrm>
              <a:off x="8343077" y="4941256"/>
              <a:ext cx="835876"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3" name="Line 127">
              <a:extLst>
                <a:ext uri="{FF2B5EF4-FFF2-40B4-BE49-F238E27FC236}">
                  <a16:creationId xmlns:a16="http://schemas.microsoft.com/office/drawing/2014/main" id="{DBC74900-72E2-4E6E-9CF3-3824A04741CF}"/>
                </a:ext>
              </a:extLst>
            </p:cNvPr>
            <p:cNvSpPr>
              <a:spLocks noChangeShapeType="1"/>
            </p:cNvSpPr>
            <p:nvPr/>
          </p:nvSpPr>
          <p:spPr bwMode="auto">
            <a:xfrm>
              <a:off x="9178952" y="4941256"/>
              <a:ext cx="83771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4" name="Text Box 128">
              <a:extLst>
                <a:ext uri="{FF2B5EF4-FFF2-40B4-BE49-F238E27FC236}">
                  <a16:creationId xmlns:a16="http://schemas.microsoft.com/office/drawing/2014/main" id="{C3948F40-1310-44E6-8A8B-447E00EAB257}"/>
                </a:ext>
              </a:extLst>
            </p:cNvPr>
            <p:cNvSpPr txBox="1">
              <a:spLocks noChangeArrowheads="1"/>
            </p:cNvSpPr>
            <p:nvPr/>
          </p:nvSpPr>
          <p:spPr bwMode="auto">
            <a:xfrm>
              <a:off x="7778165" y="5771072"/>
              <a:ext cx="1750800" cy="37965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solidFill>
                    <a:srgbClr val="C00000"/>
                  </a:solidFill>
                  <a:latin typeface="微软雅黑" pitchFamily="34" charset="-122"/>
                  <a:ea typeface="微软雅黑" pitchFamily="34" charset="-122"/>
                </a:rPr>
                <a:t>3 </a:t>
              </a:r>
              <a:r>
                <a:rPr kumimoji="1" lang="zh-CN" altLang="en-US" sz="1867" dirty="0">
                  <a:solidFill>
                    <a:srgbClr val="C00000"/>
                  </a:solidFill>
                  <a:latin typeface="微软雅黑" pitchFamily="34" charset="-122"/>
                  <a:ea typeface="微软雅黑" pitchFamily="34" charset="-122"/>
                </a:rPr>
                <a:t>个 </a:t>
              </a:r>
              <a:r>
                <a:rPr kumimoji="1" lang="en-US" altLang="zh-CN" sz="1867" dirty="0">
                  <a:solidFill>
                    <a:srgbClr val="C00000"/>
                  </a:solidFill>
                  <a:latin typeface="微软雅黑" pitchFamily="34" charset="-122"/>
                  <a:ea typeface="微软雅黑" pitchFamily="34" charset="-122"/>
                </a:rPr>
                <a:t>STDM </a:t>
              </a:r>
              <a:r>
                <a:rPr kumimoji="1" lang="zh-CN" altLang="en-US" sz="1867" dirty="0">
                  <a:solidFill>
                    <a:srgbClr val="C00000"/>
                  </a:solidFill>
                  <a:latin typeface="微软雅黑" pitchFamily="34" charset="-122"/>
                  <a:ea typeface="微软雅黑" pitchFamily="34" charset="-122"/>
                </a:rPr>
                <a:t>帧</a:t>
              </a:r>
            </a:p>
          </p:txBody>
        </p:sp>
        <p:sp>
          <p:nvSpPr>
            <p:cNvPr id="45" name="Text Box 129">
              <a:extLst>
                <a:ext uri="{FF2B5EF4-FFF2-40B4-BE49-F238E27FC236}">
                  <a16:creationId xmlns:a16="http://schemas.microsoft.com/office/drawing/2014/main" id="{3A4EA8A8-3538-4719-B60B-CB6969B9150A}"/>
                </a:ext>
              </a:extLst>
            </p:cNvPr>
            <p:cNvSpPr txBox="1">
              <a:spLocks noChangeArrowheads="1"/>
            </p:cNvSpPr>
            <p:nvPr/>
          </p:nvSpPr>
          <p:spPr bwMode="auto">
            <a:xfrm>
              <a:off x="7633963" y="4893324"/>
              <a:ext cx="48603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#1</a:t>
              </a:r>
            </a:p>
          </p:txBody>
        </p:sp>
        <p:sp>
          <p:nvSpPr>
            <p:cNvPr id="60" name="Line 144">
              <a:extLst>
                <a:ext uri="{FF2B5EF4-FFF2-40B4-BE49-F238E27FC236}">
                  <a16:creationId xmlns:a16="http://schemas.microsoft.com/office/drawing/2014/main" id="{144DE65F-27AB-4FA0-90D3-770BE9F0B9E4}"/>
                </a:ext>
              </a:extLst>
            </p:cNvPr>
            <p:cNvSpPr>
              <a:spLocks noChangeShapeType="1"/>
            </p:cNvSpPr>
            <p:nvPr/>
          </p:nvSpPr>
          <p:spPr bwMode="auto">
            <a:xfrm>
              <a:off x="8447792" y="4619060"/>
              <a:ext cx="0" cy="1068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1" name="Line 145">
              <a:extLst>
                <a:ext uri="{FF2B5EF4-FFF2-40B4-BE49-F238E27FC236}">
                  <a16:creationId xmlns:a16="http://schemas.microsoft.com/office/drawing/2014/main" id="{BEBE1D3C-500C-4401-BB68-394F50E16D66}"/>
                </a:ext>
              </a:extLst>
            </p:cNvPr>
            <p:cNvSpPr>
              <a:spLocks noChangeShapeType="1"/>
            </p:cNvSpPr>
            <p:nvPr/>
          </p:nvSpPr>
          <p:spPr bwMode="auto">
            <a:xfrm>
              <a:off x="8761933" y="4619060"/>
              <a:ext cx="0" cy="1068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2" name="Line 146">
              <a:extLst>
                <a:ext uri="{FF2B5EF4-FFF2-40B4-BE49-F238E27FC236}">
                  <a16:creationId xmlns:a16="http://schemas.microsoft.com/office/drawing/2014/main" id="{3945DED8-AB3D-421C-9B93-2B6072ADFD43}"/>
                </a:ext>
              </a:extLst>
            </p:cNvPr>
            <p:cNvSpPr>
              <a:spLocks noChangeShapeType="1"/>
            </p:cNvSpPr>
            <p:nvPr/>
          </p:nvSpPr>
          <p:spPr bwMode="auto">
            <a:xfrm>
              <a:off x="10016664" y="4834424"/>
              <a:ext cx="0" cy="213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3" name="Line 147">
              <a:extLst>
                <a:ext uri="{FF2B5EF4-FFF2-40B4-BE49-F238E27FC236}">
                  <a16:creationId xmlns:a16="http://schemas.microsoft.com/office/drawing/2014/main" id="{582244A3-DC45-4067-866A-E3D90FC8A41A}"/>
                </a:ext>
              </a:extLst>
            </p:cNvPr>
            <p:cNvSpPr>
              <a:spLocks noChangeShapeType="1"/>
            </p:cNvSpPr>
            <p:nvPr/>
          </p:nvSpPr>
          <p:spPr bwMode="auto">
            <a:xfrm>
              <a:off x="10016664" y="4619060"/>
              <a:ext cx="0" cy="1068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4" name="Freeform 150">
              <a:extLst>
                <a:ext uri="{FF2B5EF4-FFF2-40B4-BE49-F238E27FC236}">
                  <a16:creationId xmlns:a16="http://schemas.microsoft.com/office/drawing/2014/main" id="{CE26F707-B153-465E-9E87-64915618FC50}"/>
                </a:ext>
              </a:extLst>
            </p:cNvPr>
            <p:cNvSpPr>
              <a:spLocks/>
            </p:cNvSpPr>
            <p:nvPr/>
          </p:nvSpPr>
          <p:spPr bwMode="auto">
            <a:xfrm>
              <a:off x="7507204" y="4295168"/>
              <a:ext cx="104713"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5" name="Freeform 151">
              <a:extLst>
                <a:ext uri="{FF2B5EF4-FFF2-40B4-BE49-F238E27FC236}">
                  <a16:creationId xmlns:a16="http://schemas.microsoft.com/office/drawing/2014/main" id="{23557BB8-357B-47B2-954A-7CE42344633A}"/>
                </a:ext>
              </a:extLst>
            </p:cNvPr>
            <p:cNvSpPr>
              <a:spLocks/>
            </p:cNvSpPr>
            <p:nvPr/>
          </p:nvSpPr>
          <p:spPr bwMode="auto">
            <a:xfrm>
              <a:off x="7924220" y="4295168"/>
              <a:ext cx="104715"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6" name="Freeform 152">
              <a:extLst>
                <a:ext uri="{FF2B5EF4-FFF2-40B4-BE49-F238E27FC236}">
                  <a16:creationId xmlns:a16="http://schemas.microsoft.com/office/drawing/2014/main" id="{14A22C4A-A6D6-412E-871E-36903D286862}"/>
                </a:ext>
              </a:extLst>
            </p:cNvPr>
            <p:cNvSpPr>
              <a:spLocks/>
            </p:cNvSpPr>
            <p:nvPr/>
          </p:nvSpPr>
          <p:spPr bwMode="auto">
            <a:xfrm>
              <a:off x="8343076" y="4295168"/>
              <a:ext cx="104715"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7" name="Freeform 153">
              <a:extLst>
                <a:ext uri="{FF2B5EF4-FFF2-40B4-BE49-F238E27FC236}">
                  <a16:creationId xmlns:a16="http://schemas.microsoft.com/office/drawing/2014/main" id="{79B484FA-AE1B-48F4-85A2-7CB572E68234}"/>
                </a:ext>
              </a:extLst>
            </p:cNvPr>
            <p:cNvSpPr>
              <a:spLocks/>
            </p:cNvSpPr>
            <p:nvPr/>
          </p:nvSpPr>
          <p:spPr bwMode="auto">
            <a:xfrm>
              <a:off x="8761932" y="4295168"/>
              <a:ext cx="104715"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8" name="Freeform 154">
              <a:extLst>
                <a:ext uri="{FF2B5EF4-FFF2-40B4-BE49-F238E27FC236}">
                  <a16:creationId xmlns:a16="http://schemas.microsoft.com/office/drawing/2014/main" id="{0A3F250C-7899-4415-8CC9-B4D64707CC93}"/>
                </a:ext>
              </a:extLst>
            </p:cNvPr>
            <p:cNvSpPr>
              <a:spLocks/>
            </p:cNvSpPr>
            <p:nvPr/>
          </p:nvSpPr>
          <p:spPr bwMode="auto">
            <a:xfrm>
              <a:off x="9178953" y="4295168"/>
              <a:ext cx="104713"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9" name="Freeform 155">
              <a:extLst>
                <a:ext uri="{FF2B5EF4-FFF2-40B4-BE49-F238E27FC236}">
                  <a16:creationId xmlns:a16="http://schemas.microsoft.com/office/drawing/2014/main" id="{6F5A3F7F-2828-4B7F-B019-36F77C9AF101}"/>
                </a:ext>
              </a:extLst>
            </p:cNvPr>
            <p:cNvSpPr>
              <a:spLocks/>
            </p:cNvSpPr>
            <p:nvPr/>
          </p:nvSpPr>
          <p:spPr bwMode="auto">
            <a:xfrm>
              <a:off x="9597809" y="4295168"/>
              <a:ext cx="104713"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0" name="Freeform 156">
              <a:extLst>
                <a:ext uri="{FF2B5EF4-FFF2-40B4-BE49-F238E27FC236}">
                  <a16:creationId xmlns:a16="http://schemas.microsoft.com/office/drawing/2014/main" id="{6B4C603E-8388-472A-A4D3-6D40E08D2D5B}"/>
                </a:ext>
              </a:extLst>
            </p:cNvPr>
            <p:cNvSpPr>
              <a:spLocks/>
            </p:cNvSpPr>
            <p:nvPr/>
          </p:nvSpPr>
          <p:spPr bwMode="auto">
            <a:xfrm>
              <a:off x="10016665" y="4295168"/>
              <a:ext cx="104713"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1" name="Text Box 157">
              <a:extLst>
                <a:ext uri="{FF2B5EF4-FFF2-40B4-BE49-F238E27FC236}">
                  <a16:creationId xmlns:a16="http://schemas.microsoft.com/office/drawing/2014/main" id="{3FD12ABD-F255-4BB9-B869-F42A36510F71}"/>
                </a:ext>
              </a:extLst>
            </p:cNvPr>
            <p:cNvSpPr txBox="1">
              <a:spLocks noChangeArrowheads="1"/>
            </p:cNvSpPr>
            <p:nvPr/>
          </p:nvSpPr>
          <p:spPr bwMode="auto">
            <a:xfrm>
              <a:off x="8447792" y="4893324"/>
              <a:ext cx="48603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#2</a:t>
              </a:r>
            </a:p>
          </p:txBody>
        </p:sp>
        <p:sp>
          <p:nvSpPr>
            <p:cNvPr id="72" name="Text Box 158">
              <a:extLst>
                <a:ext uri="{FF2B5EF4-FFF2-40B4-BE49-F238E27FC236}">
                  <a16:creationId xmlns:a16="http://schemas.microsoft.com/office/drawing/2014/main" id="{391D03B8-641B-4574-B9D2-B75388299964}"/>
                </a:ext>
              </a:extLst>
            </p:cNvPr>
            <p:cNvSpPr txBox="1">
              <a:spLocks noChangeArrowheads="1"/>
            </p:cNvSpPr>
            <p:nvPr/>
          </p:nvSpPr>
          <p:spPr bwMode="auto">
            <a:xfrm>
              <a:off x="9261620" y="4893324"/>
              <a:ext cx="48603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#3</a:t>
              </a:r>
            </a:p>
          </p:txBody>
        </p:sp>
        <p:sp>
          <p:nvSpPr>
            <p:cNvPr id="74" name="Line 160">
              <a:extLst>
                <a:ext uri="{FF2B5EF4-FFF2-40B4-BE49-F238E27FC236}">
                  <a16:creationId xmlns:a16="http://schemas.microsoft.com/office/drawing/2014/main" id="{F03053F8-F1A7-4149-818D-C4556356EE9A}"/>
                </a:ext>
              </a:extLst>
            </p:cNvPr>
            <p:cNvSpPr>
              <a:spLocks noChangeShapeType="1"/>
            </p:cNvSpPr>
            <p:nvPr/>
          </p:nvSpPr>
          <p:spPr bwMode="auto">
            <a:xfrm>
              <a:off x="7924222" y="5263452"/>
              <a:ext cx="732997" cy="5375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5" name="Line 161">
              <a:extLst>
                <a:ext uri="{FF2B5EF4-FFF2-40B4-BE49-F238E27FC236}">
                  <a16:creationId xmlns:a16="http://schemas.microsoft.com/office/drawing/2014/main" id="{A96742B6-A52D-4837-8D1C-62732C31E324}"/>
                </a:ext>
              </a:extLst>
            </p:cNvPr>
            <p:cNvSpPr>
              <a:spLocks noChangeShapeType="1"/>
            </p:cNvSpPr>
            <p:nvPr/>
          </p:nvSpPr>
          <p:spPr bwMode="auto">
            <a:xfrm>
              <a:off x="8761933" y="5263452"/>
              <a:ext cx="0" cy="5375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6" name="Line 162">
              <a:extLst>
                <a:ext uri="{FF2B5EF4-FFF2-40B4-BE49-F238E27FC236}">
                  <a16:creationId xmlns:a16="http://schemas.microsoft.com/office/drawing/2014/main" id="{7D5E7A2C-D027-454D-8385-BDF7D8156FCA}"/>
                </a:ext>
              </a:extLst>
            </p:cNvPr>
            <p:cNvSpPr>
              <a:spLocks noChangeShapeType="1"/>
            </p:cNvSpPr>
            <p:nvPr/>
          </p:nvSpPr>
          <p:spPr bwMode="auto">
            <a:xfrm flipH="1">
              <a:off x="8971362" y="5263452"/>
              <a:ext cx="521733" cy="5375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1" name="Line 170">
              <a:extLst>
                <a:ext uri="{FF2B5EF4-FFF2-40B4-BE49-F238E27FC236}">
                  <a16:creationId xmlns:a16="http://schemas.microsoft.com/office/drawing/2014/main" id="{B3AE09FD-C9E0-4191-9F9F-396FC4770CAC}"/>
                </a:ext>
              </a:extLst>
            </p:cNvPr>
            <p:cNvSpPr>
              <a:spLocks noChangeShapeType="1"/>
            </p:cNvSpPr>
            <p:nvPr/>
          </p:nvSpPr>
          <p:spPr bwMode="auto">
            <a:xfrm>
              <a:off x="7499853" y="3969580"/>
              <a:ext cx="0" cy="1153124"/>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2" name="Line 171">
              <a:extLst>
                <a:ext uri="{FF2B5EF4-FFF2-40B4-BE49-F238E27FC236}">
                  <a16:creationId xmlns:a16="http://schemas.microsoft.com/office/drawing/2014/main" id="{CBA4AA26-C137-4971-945D-5B03238F92A7}"/>
                </a:ext>
              </a:extLst>
            </p:cNvPr>
            <p:cNvSpPr>
              <a:spLocks noChangeShapeType="1"/>
            </p:cNvSpPr>
            <p:nvPr/>
          </p:nvSpPr>
          <p:spPr bwMode="auto">
            <a:xfrm>
              <a:off x="8337565" y="3969580"/>
              <a:ext cx="0" cy="1153124"/>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3" name="Line 172">
              <a:extLst>
                <a:ext uri="{FF2B5EF4-FFF2-40B4-BE49-F238E27FC236}">
                  <a16:creationId xmlns:a16="http://schemas.microsoft.com/office/drawing/2014/main" id="{59B93643-1703-4EA0-9274-CC46632372EA}"/>
                </a:ext>
              </a:extLst>
            </p:cNvPr>
            <p:cNvSpPr>
              <a:spLocks noChangeShapeType="1"/>
            </p:cNvSpPr>
            <p:nvPr/>
          </p:nvSpPr>
          <p:spPr bwMode="auto">
            <a:xfrm>
              <a:off x="9175277" y="3969580"/>
              <a:ext cx="0" cy="1153124"/>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4" name="Line 173">
              <a:extLst>
                <a:ext uri="{FF2B5EF4-FFF2-40B4-BE49-F238E27FC236}">
                  <a16:creationId xmlns:a16="http://schemas.microsoft.com/office/drawing/2014/main" id="{441CD452-12DD-45B5-B5FA-BEB0E4CC7694}"/>
                </a:ext>
              </a:extLst>
            </p:cNvPr>
            <p:cNvSpPr>
              <a:spLocks noChangeShapeType="1"/>
            </p:cNvSpPr>
            <p:nvPr/>
          </p:nvSpPr>
          <p:spPr bwMode="auto">
            <a:xfrm>
              <a:off x="10011152" y="3969580"/>
              <a:ext cx="0" cy="1153124"/>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5" name="矩形 84">
              <a:extLst>
                <a:ext uri="{FF2B5EF4-FFF2-40B4-BE49-F238E27FC236}">
                  <a16:creationId xmlns:a16="http://schemas.microsoft.com/office/drawing/2014/main" id="{BE8AD425-B833-4F5D-8A80-CADD6EEEB5AE}"/>
                </a:ext>
              </a:extLst>
            </p:cNvPr>
            <p:cNvSpPr/>
            <p:nvPr/>
          </p:nvSpPr>
          <p:spPr>
            <a:xfrm>
              <a:off x="4411922" y="6211575"/>
              <a:ext cx="3570208" cy="461665"/>
            </a:xfrm>
            <a:prstGeom prst="rect">
              <a:avLst/>
            </a:prstGeom>
          </p:spPr>
          <p:txBody>
            <a:bodyPr wrap="none">
              <a:spAutoFit/>
            </a:bodyPr>
            <a:lstStyle/>
            <a:p>
              <a:pPr algn="ctr"/>
              <a:r>
                <a:rPr lang="zh-CN" altLang="en-US" sz="2400" dirty="0">
                  <a:latin typeface="微软雅黑" pitchFamily="34" charset="-122"/>
                  <a:ea typeface="微软雅黑" pitchFamily="34" charset="-122"/>
                </a:rPr>
                <a:t>统计时分复用的工作原理</a:t>
              </a:r>
            </a:p>
          </p:txBody>
        </p:sp>
        <p:sp>
          <p:nvSpPr>
            <p:cNvPr id="86" name="矩形 85">
              <a:extLst>
                <a:ext uri="{FF2B5EF4-FFF2-40B4-BE49-F238E27FC236}">
                  <a16:creationId xmlns:a16="http://schemas.microsoft.com/office/drawing/2014/main" id="{48301693-BF47-4AF8-BA09-04DEF5C98A4E}"/>
                </a:ext>
              </a:extLst>
            </p:cNvPr>
            <p:cNvSpPr/>
            <p:nvPr/>
          </p:nvSpPr>
          <p:spPr>
            <a:xfrm>
              <a:off x="7361667" y="2870393"/>
              <a:ext cx="3839732" cy="954300"/>
            </a:xfrm>
            <a:prstGeom prst="rect">
              <a:avLst/>
            </a:prstGeom>
            <a:solidFill>
              <a:schemeClr val="bg1"/>
            </a:solidFill>
            <a:ln>
              <a:noFill/>
            </a:ln>
          </p:spPr>
          <p:txBody>
            <a:bodyPr wrap="square">
              <a:spAutoFit/>
            </a:bodyPr>
            <a:lstStyle/>
            <a:p>
              <a:r>
                <a:rPr lang="en-US" altLang="zh-CN" sz="1867" dirty="0">
                  <a:latin typeface="微软雅黑" pitchFamily="34" charset="-122"/>
                  <a:ea typeface="微软雅黑" pitchFamily="34" charset="-122"/>
                </a:rPr>
                <a:t>STDM </a:t>
              </a:r>
              <a:r>
                <a:rPr lang="zh-CN" altLang="en-US" sz="1867" dirty="0">
                  <a:latin typeface="微软雅黑" pitchFamily="34" charset="-122"/>
                  <a:ea typeface="微软雅黑" pitchFamily="34" charset="-122"/>
                </a:rPr>
                <a:t>帧</a:t>
              </a:r>
              <a:r>
                <a:rPr lang="zh-CN" altLang="en-US" sz="1867" dirty="0">
                  <a:solidFill>
                    <a:srgbClr val="C00000"/>
                  </a:solidFill>
                  <a:latin typeface="微软雅黑" pitchFamily="34" charset="-122"/>
                  <a:ea typeface="微软雅黑" pitchFamily="34" charset="-122"/>
                </a:rPr>
                <a:t>不是固定分配</a:t>
              </a:r>
              <a:r>
                <a:rPr lang="zh-CN" altLang="en-US" sz="1867" dirty="0">
                  <a:latin typeface="微软雅黑" pitchFamily="34" charset="-122"/>
                  <a:ea typeface="微软雅黑" pitchFamily="34" charset="-122"/>
                </a:rPr>
                <a:t>时隙，而是</a:t>
              </a:r>
              <a:r>
                <a:rPr lang="zh-CN" altLang="en-US" sz="1867" dirty="0">
                  <a:solidFill>
                    <a:srgbClr val="C00000"/>
                  </a:solidFill>
                  <a:latin typeface="微软雅黑" pitchFamily="34" charset="-122"/>
                  <a:ea typeface="微软雅黑" pitchFamily="34" charset="-122"/>
                </a:rPr>
                <a:t>按需动态地</a:t>
              </a:r>
              <a:r>
                <a:rPr lang="zh-CN" altLang="en-US" sz="1867" dirty="0">
                  <a:latin typeface="微软雅黑" pitchFamily="34" charset="-122"/>
                  <a:ea typeface="微软雅黑" pitchFamily="34" charset="-122"/>
                </a:rPr>
                <a:t>分配时隙。因此统计时分复用可以提高线路的利用率。</a:t>
              </a:r>
            </a:p>
          </p:txBody>
        </p:sp>
        <p:sp>
          <p:nvSpPr>
            <p:cNvPr id="87" name="Text Box 103">
              <a:extLst>
                <a:ext uri="{FF2B5EF4-FFF2-40B4-BE49-F238E27FC236}">
                  <a16:creationId xmlns:a16="http://schemas.microsoft.com/office/drawing/2014/main" id="{A5B1F747-324A-4DD0-B4A5-F961B1BB547A}"/>
                </a:ext>
              </a:extLst>
            </p:cNvPr>
            <p:cNvSpPr txBox="1">
              <a:spLocks noChangeArrowheads="1"/>
            </p:cNvSpPr>
            <p:nvPr/>
          </p:nvSpPr>
          <p:spPr bwMode="auto">
            <a:xfrm>
              <a:off x="10093821" y="4290910"/>
              <a:ext cx="32252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a</a:t>
              </a:r>
            </a:p>
          </p:txBody>
        </p:sp>
        <p:sp>
          <p:nvSpPr>
            <p:cNvPr id="88" name="Text Box 104">
              <a:extLst>
                <a:ext uri="{FF2B5EF4-FFF2-40B4-BE49-F238E27FC236}">
                  <a16:creationId xmlns:a16="http://schemas.microsoft.com/office/drawing/2014/main" id="{9920858C-8C36-4136-8684-F1D9DAF4A64B}"/>
                </a:ext>
              </a:extLst>
            </p:cNvPr>
            <p:cNvSpPr txBox="1">
              <a:spLocks noChangeArrowheads="1"/>
            </p:cNvSpPr>
            <p:nvPr/>
          </p:nvSpPr>
          <p:spPr bwMode="auto">
            <a:xfrm>
              <a:off x="8003217" y="4290910"/>
              <a:ext cx="34336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b</a:t>
              </a:r>
            </a:p>
          </p:txBody>
        </p:sp>
        <p:sp>
          <p:nvSpPr>
            <p:cNvPr id="89" name="Text Box 108">
              <a:extLst>
                <a:ext uri="{FF2B5EF4-FFF2-40B4-BE49-F238E27FC236}">
                  <a16:creationId xmlns:a16="http://schemas.microsoft.com/office/drawing/2014/main" id="{CDCAE40C-6454-47F6-B854-ABD3999E02CB}"/>
                </a:ext>
              </a:extLst>
            </p:cNvPr>
            <p:cNvSpPr txBox="1">
              <a:spLocks noChangeArrowheads="1"/>
            </p:cNvSpPr>
            <p:nvPr/>
          </p:nvSpPr>
          <p:spPr bwMode="auto">
            <a:xfrm>
              <a:off x="8396353" y="4290910"/>
              <a:ext cx="34336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b</a:t>
              </a:r>
            </a:p>
          </p:txBody>
        </p:sp>
        <p:sp>
          <p:nvSpPr>
            <p:cNvPr id="90" name="Text Box 109">
              <a:extLst>
                <a:ext uri="{FF2B5EF4-FFF2-40B4-BE49-F238E27FC236}">
                  <a16:creationId xmlns:a16="http://schemas.microsoft.com/office/drawing/2014/main" id="{932190F1-289B-4F3C-A211-27B3BECE66B1}"/>
                </a:ext>
              </a:extLst>
            </p:cNvPr>
            <p:cNvSpPr txBox="1">
              <a:spLocks noChangeArrowheads="1"/>
            </p:cNvSpPr>
            <p:nvPr/>
          </p:nvSpPr>
          <p:spPr bwMode="auto">
            <a:xfrm>
              <a:off x="8813372" y="4290910"/>
              <a:ext cx="308098"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c</a:t>
              </a:r>
            </a:p>
          </p:txBody>
        </p:sp>
        <p:sp>
          <p:nvSpPr>
            <p:cNvPr id="91" name="Text Box 110">
              <a:extLst>
                <a:ext uri="{FF2B5EF4-FFF2-40B4-BE49-F238E27FC236}">
                  <a16:creationId xmlns:a16="http://schemas.microsoft.com/office/drawing/2014/main" id="{4A2D646B-7C2D-4AD5-864B-BC369E14BA4F}"/>
                </a:ext>
              </a:extLst>
            </p:cNvPr>
            <p:cNvSpPr txBox="1">
              <a:spLocks noChangeArrowheads="1"/>
            </p:cNvSpPr>
            <p:nvPr/>
          </p:nvSpPr>
          <p:spPr bwMode="auto">
            <a:xfrm>
              <a:off x="7577011" y="4290910"/>
              <a:ext cx="32252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latin typeface="微软雅黑" pitchFamily="34" charset="-122"/>
                  <a:ea typeface="微软雅黑" pitchFamily="34" charset="-122"/>
                </a:rPr>
                <a:t>a</a:t>
              </a:r>
            </a:p>
          </p:txBody>
        </p:sp>
        <p:sp>
          <p:nvSpPr>
            <p:cNvPr id="92" name="Text Box 148">
              <a:extLst>
                <a:ext uri="{FF2B5EF4-FFF2-40B4-BE49-F238E27FC236}">
                  <a16:creationId xmlns:a16="http://schemas.microsoft.com/office/drawing/2014/main" id="{5D14FDEB-4F76-4E03-9960-A396C821DD94}"/>
                </a:ext>
              </a:extLst>
            </p:cNvPr>
            <p:cNvSpPr txBox="1">
              <a:spLocks noChangeArrowheads="1"/>
            </p:cNvSpPr>
            <p:nvPr/>
          </p:nvSpPr>
          <p:spPr bwMode="auto">
            <a:xfrm>
              <a:off x="9245086" y="4290910"/>
              <a:ext cx="308098"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c</a:t>
              </a:r>
            </a:p>
          </p:txBody>
        </p:sp>
        <p:sp>
          <p:nvSpPr>
            <p:cNvPr id="93" name="Text Box 149">
              <a:extLst>
                <a:ext uri="{FF2B5EF4-FFF2-40B4-BE49-F238E27FC236}">
                  <a16:creationId xmlns:a16="http://schemas.microsoft.com/office/drawing/2014/main" id="{13C96BA2-6476-45D6-90C7-2908C7F93CC6}"/>
                </a:ext>
              </a:extLst>
            </p:cNvPr>
            <p:cNvSpPr txBox="1">
              <a:spLocks noChangeArrowheads="1"/>
            </p:cNvSpPr>
            <p:nvPr/>
          </p:nvSpPr>
          <p:spPr bwMode="auto">
            <a:xfrm>
              <a:off x="9651083" y="4290910"/>
              <a:ext cx="34336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d</a:t>
              </a:r>
            </a:p>
          </p:txBody>
        </p:sp>
        <p:sp>
          <p:nvSpPr>
            <p:cNvPr id="137" name="Freeform 10">
              <a:extLst>
                <a:ext uri="{FF2B5EF4-FFF2-40B4-BE49-F238E27FC236}">
                  <a16:creationId xmlns:a16="http://schemas.microsoft.com/office/drawing/2014/main" id="{01528DC0-C1A4-4ECB-BC2A-59F7B4FAFE3B}"/>
                </a:ext>
              </a:extLst>
            </p:cNvPr>
            <p:cNvSpPr>
              <a:spLocks/>
            </p:cNvSpPr>
            <p:nvPr/>
          </p:nvSpPr>
          <p:spPr bwMode="auto">
            <a:xfrm>
              <a:off x="4872587" y="3004778"/>
              <a:ext cx="65529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38" name="Freeform 11">
              <a:extLst>
                <a:ext uri="{FF2B5EF4-FFF2-40B4-BE49-F238E27FC236}">
                  <a16:creationId xmlns:a16="http://schemas.microsoft.com/office/drawing/2014/main" id="{2931EECD-AA4E-4FF8-ACD8-E220F6297DBF}"/>
                </a:ext>
              </a:extLst>
            </p:cNvPr>
            <p:cNvSpPr>
              <a:spLocks/>
            </p:cNvSpPr>
            <p:nvPr/>
          </p:nvSpPr>
          <p:spPr bwMode="auto">
            <a:xfrm>
              <a:off x="2908567" y="3814706"/>
              <a:ext cx="131058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39" name="Freeform 12">
              <a:extLst>
                <a:ext uri="{FF2B5EF4-FFF2-40B4-BE49-F238E27FC236}">
                  <a16:creationId xmlns:a16="http://schemas.microsoft.com/office/drawing/2014/main" id="{62A0CF5C-5629-4463-8FA1-E9EA2EBB9A96}"/>
                </a:ext>
              </a:extLst>
            </p:cNvPr>
            <p:cNvSpPr>
              <a:spLocks/>
            </p:cNvSpPr>
            <p:nvPr/>
          </p:nvSpPr>
          <p:spPr bwMode="auto">
            <a:xfrm>
              <a:off x="3563856" y="4622927"/>
              <a:ext cx="1308729" cy="40496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40" name="Freeform 13">
              <a:extLst>
                <a:ext uri="{FF2B5EF4-FFF2-40B4-BE49-F238E27FC236}">
                  <a16:creationId xmlns:a16="http://schemas.microsoft.com/office/drawing/2014/main" id="{6BD29CDF-788B-48D8-8A6F-5D22DF1C2316}"/>
                </a:ext>
              </a:extLst>
            </p:cNvPr>
            <p:cNvSpPr>
              <a:spLocks/>
            </p:cNvSpPr>
            <p:nvPr/>
          </p:nvSpPr>
          <p:spPr bwMode="auto">
            <a:xfrm>
              <a:off x="4872587" y="5432857"/>
              <a:ext cx="655291" cy="40496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66FF33"/>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41" name="Text Box 14">
              <a:extLst>
                <a:ext uri="{FF2B5EF4-FFF2-40B4-BE49-F238E27FC236}">
                  <a16:creationId xmlns:a16="http://schemas.microsoft.com/office/drawing/2014/main" id="{5680CFA4-7296-42C3-8F66-7DD92E94BBA5}"/>
                </a:ext>
              </a:extLst>
            </p:cNvPr>
            <p:cNvSpPr txBox="1">
              <a:spLocks noChangeArrowheads="1"/>
            </p:cNvSpPr>
            <p:nvPr/>
          </p:nvSpPr>
          <p:spPr bwMode="auto">
            <a:xfrm>
              <a:off x="2410619" y="2980859"/>
              <a:ext cx="36420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A</a:t>
              </a:r>
            </a:p>
          </p:txBody>
        </p:sp>
        <p:sp>
          <p:nvSpPr>
            <p:cNvPr id="142" name="Text Box 15">
              <a:extLst>
                <a:ext uri="{FF2B5EF4-FFF2-40B4-BE49-F238E27FC236}">
                  <a16:creationId xmlns:a16="http://schemas.microsoft.com/office/drawing/2014/main" id="{64F4FA11-1844-4972-A47C-A70810C22A1D}"/>
                </a:ext>
              </a:extLst>
            </p:cNvPr>
            <p:cNvSpPr txBox="1">
              <a:spLocks noChangeArrowheads="1"/>
            </p:cNvSpPr>
            <p:nvPr/>
          </p:nvSpPr>
          <p:spPr bwMode="auto">
            <a:xfrm>
              <a:off x="2410619" y="3790786"/>
              <a:ext cx="34817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B</a:t>
              </a:r>
            </a:p>
          </p:txBody>
        </p:sp>
        <p:sp>
          <p:nvSpPr>
            <p:cNvPr id="143" name="Text Box 16">
              <a:extLst>
                <a:ext uri="{FF2B5EF4-FFF2-40B4-BE49-F238E27FC236}">
                  <a16:creationId xmlns:a16="http://schemas.microsoft.com/office/drawing/2014/main" id="{E8334F9C-63B3-438C-8103-896C464B12A6}"/>
                </a:ext>
              </a:extLst>
            </p:cNvPr>
            <p:cNvSpPr txBox="1">
              <a:spLocks noChangeArrowheads="1"/>
            </p:cNvSpPr>
            <p:nvPr/>
          </p:nvSpPr>
          <p:spPr bwMode="auto">
            <a:xfrm>
              <a:off x="2410619" y="4600715"/>
              <a:ext cx="346569"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solidFill>
                    <a:srgbClr val="000099"/>
                  </a:solidFill>
                  <a:latin typeface="微软雅黑" pitchFamily="34" charset="-122"/>
                  <a:ea typeface="微软雅黑" pitchFamily="34" charset="-122"/>
                </a:rPr>
                <a:t>C</a:t>
              </a:r>
            </a:p>
          </p:txBody>
        </p:sp>
        <p:sp>
          <p:nvSpPr>
            <p:cNvPr id="144" name="Text Box 17">
              <a:extLst>
                <a:ext uri="{FF2B5EF4-FFF2-40B4-BE49-F238E27FC236}">
                  <a16:creationId xmlns:a16="http://schemas.microsoft.com/office/drawing/2014/main" id="{AA0E8934-07A6-46F3-ADCC-577229BCE054}"/>
                </a:ext>
              </a:extLst>
            </p:cNvPr>
            <p:cNvSpPr txBox="1">
              <a:spLocks noChangeArrowheads="1"/>
            </p:cNvSpPr>
            <p:nvPr/>
          </p:nvSpPr>
          <p:spPr bwMode="auto">
            <a:xfrm>
              <a:off x="2410619" y="5410641"/>
              <a:ext cx="37382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D</a:t>
              </a:r>
            </a:p>
          </p:txBody>
        </p:sp>
        <p:sp>
          <p:nvSpPr>
            <p:cNvPr id="145" name="Text Box 20">
              <a:extLst>
                <a:ext uri="{FF2B5EF4-FFF2-40B4-BE49-F238E27FC236}">
                  <a16:creationId xmlns:a16="http://schemas.microsoft.com/office/drawing/2014/main" id="{AEB329F1-0FD2-4D2B-82C7-486176046584}"/>
                </a:ext>
              </a:extLst>
            </p:cNvPr>
            <p:cNvSpPr txBox="1">
              <a:spLocks noChangeArrowheads="1"/>
            </p:cNvSpPr>
            <p:nvPr/>
          </p:nvSpPr>
          <p:spPr bwMode="auto">
            <a:xfrm>
              <a:off x="5013268" y="2963768"/>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a</a:t>
              </a:r>
            </a:p>
          </p:txBody>
        </p:sp>
        <p:sp>
          <p:nvSpPr>
            <p:cNvPr id="146" name="Text Box 23">
              <a:extLst>
                <a:ext uri="{FF2B5EF4-FFF2-40B4-BE49-F238E27FC236}">
                  <a16:creationId xmlns:a16="http://schemas.microsoft.com/office/drawing/2014/main" id="{98DB41B6-6FD5-4BCE-9370-7144DD854E5F}"/>
                </a:ext>
              </a:extLst>
            </p:cNvPr>
            <p:cNvSpPr txBox="1">
              <a:spLocks noChangeArrowheads="1"/>
            </p:cNvSpPr>
            <p:nvPr/>
          </p:nvSpPr>
          <p:spPr bwMode="auto">
            <a:xfrm>
              <a:off x="3028888" y="3811291"/>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b</a:t>
              </a:r>
            </a:p>
          </p:txBody>
        </p:sp>
        <p:sp>
          <p:nvSpPr>
            <p:cNvPr id="147" name="Text Box 24">
              <a:extLst>
                <a:ext uri="{FF2B5EF4-FFF2-40B4-BE49-F238E27FC236}">
                  <a16:creationId xmlns:a16="http://schemas.microsoft.com/office/drawing/2014/main" id="{2851733E-7F66-472D-BECB-B36CD5B66988}"/>
                </a:ext>
              </a:extLst>
            </p:cNvPr>
            <p:cNvSpPr txBox="1">
              <a:spLocks noChangeArrowheads="1"/>
            </p:cNvSpPr>
            <p:nvPr/>
          </p:nvSpPr>
          <p:spPr bwMode="auto">
            <a:xfrm>
              <a:off x="4374642" y="4590462"/>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c</a:t>
              </a:r>
            </a:p>
          </p:txBody>
        </p:sp>
        <p:sp>
          <p:nvSpPr>
            <p:cNvPr id="148" name="Text Box 25">
              <a:extLst>
                <a:ext uri="{FF2B5EF4-FFF2-40B4-BE49-F238E27FC236}">
                  <a16:creationId xmlns:a16="http://schemas.microsoft.com/office/drawing/2014/main" id="{03C8A6B9-9C9C-4E48-AA07-8561FFF84A52}"/>
                </a:ext>
              </a:extLst>
            </p:cNvPr>
            <p:cNvSpPr txBox="1">
              <a:spLocks noChangeArrowheads="1"/>
            </p:cNvSpPr>
            <p:nvPr/>
          </p:nvSpPr>
          <p:spPr bwMode="auto">
            <a:xfrm>
              <a:off x="4974399" y="5405519"/>
              <a:ext cx="365805"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d</a:t>
              </a:r>
            </a:p>
          </p:txBody>
        </p:sp>
        <p:sp>
          <p:nvSpPr>
            <p:cNvPr id="149" name="Text Box 29">
              <a:extLst>
                <a:ext uri="{FF2B5EF4-FFF2-40B4-BE49-F238E27FC236}">
                  <a16:creationId xmlns:a16="http://schemas.microsoft.com/office/drawing/2014/main" id="{E676183D-373F-417B-A583-78A0B2D6FA2D}"/>
                </a:ext>
              </a:extLst>
            </p:cNvPr>
            <p:cNvSpPr txBox="1">
              <a:spLocks noChangeArrowheads="1"/>
            </p:cNvSpPr>
            <p:nvPr/>
          </p:nvSpPr>
          <p:spPr bwMode="auto">
            <a:xfrm>
              <a:off x="5785180" y="2980859"/>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150" name="Text Box 30">
              <a:extLst>
                <a:ext uri="{FF2B5EF4-FFF2-40B4-BE49-F238E27FC236}">
                  <a16:creationId xmlns:a16="http://schemas.microsoft.com/office/drawing/2014/main" id="{20B24F83-39E5-4537-B6F1-14C110D361F1}"/>
                </a:ext>
              </a:extLst>
            </p:cNvPr>
            <p:cNvSpPr txBox="1">
              <a:spLocks noChangeArrowheads="1"/>
            </p:cNvSpPr>
            <p:nvPr/>
          </p:nvSpPr>
          <p:spPr bwMode="auto">
            <a:xfrm>
              <a:off x="5785180" y="3809580"/>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151" name="Text Box 31">
              <a:extLst>
                <a:ext uri="{FF2B5EF4-FFF2-40B4-BE49-F238E27FC236}">
                  <a16:creationId xmlns:a16="http://schemas.microsoft.com/office/drawing/2014/main" id="{36B67D3F-0C85-483C-B379-AB70A246D11C}"/>
                </a:ext>
              </a:extLst>
            </p:cNvPr>
            <p:cNvSpPr txBox="1">
              <a:spLocks noChangeArrowheads="1"/>
            </p:cNvSpPr>
            <p:nvPr/>
          </p:nvSpPr>
          <p:spPr bwMode="auto">
            <a:xfrm>
              <a:off x="5785180" y="4638306"/>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152" name="Text Box 32">
              <a:extLst>
                <a:ext uri="{FF2B5EF4-FFF2-40B4-BE49-F238E27FC236}">
                  <a16:creationId xmlns:a16="http://schemas.microsoft.com/office/drawing/2014/main" id="{A70CD3CA-9684-4DAC-BC92-BEA5ACE38D55}"/>
                </a:ext>
              </a:extLst>
            </p:cNvPr>
            <p:cNvSpPr txBox="1">
              <a:spLocks noChangeArrowheads="1"/>
            </p:cNvSpPr>
            <p:nvPr/>
          </p:nvSpPr>
          <p:spPr bwMode="auto">
            <a:xfrm>
              <a:off x="5785180" y="5467030"/>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153" name="Line 35">
              <a:extLst>
                <a:ext uri="{FF2B5EF4-FFF2-40B4-BE49-F238E27FC236}">
                  <a16:creationId xmlns:a16="http://schemas.microsoft.com/office/drawing/2014/main" id="{18B7ACE6-DF6A-4232-8B6A-747A0C4C1771}"/>
                </a:ext>
              </a:extLst>
            </p:cNvPr>
            <p:cNvSpPr>
              <a:spLocks noChangeShapeType="1"/>
            </p:cNvSpPr>
            <p:nvPr/>
          </p:nvSpPr>
          <p:spPr bwMode="auto">
            <a:xfrm>
              <a:off x="3563856"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4" name="Line 36">
              <a:extLst>
                <a:ext uri="{FF2B5EF4-FFF2-40B4-BE49-F238E27FC236}">
                  <a16:creationId xmlns:a16="http://schemas.microsoft.com/office/drawing/2014/main" id="{92E2E2A8-9CE8-476F-9BF8-FB9E6CA2E8E6}"/>
                </a:ext>
              </a:extLst>
            </p:cNvPr>
            <p:cNvSpPr>
              <a:spLocks noChangeShapeType="1"/>
            </p:cNvSpPr>
            <p:nvPr/>
          </p:nvSpPr>
          <p:spPr bwMode="auto">
            <a:xfrm>
              <a:off x="4219148" y="4927077"/>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5" name="Line 37">
              <a:extLst>
                <a:ext uri="{FF2B5EF4-FFF2-40B4-BE49-F238E27FC236}">
                  <a16:creationId xmlns:a16="http://schemas.microsoft.com/office/drawing/2014/main" id="{7D44A5C6-E0F9-4750-A5FC-EF3DE382574D}"/>
                </a:ext>
              </a:extLst>
            </p:cNvPr>
            <p:cNvSpPr>
              <a:spLocks noChangeShapeType="1"/>
            </p:cNvSpPr>
            <p:nvPr/>
          </p:nvSpPr>
          <p:spPr bwMode="auto">
            <a:xfrm>
              <a:off x="4872586"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6" name="Line 38">
              <a:extLst>
                <a:ext uri="{FF2B5EF4-FFF2-40B4-BE49-F238E27FC236}">
                  <a16:creationId xmlns:a16="http://schemas.microsoft.com/office/drawing/2014/main" id="{6B2F424B-719B-40EA-BA3D-F9F756616807}"/>
                </a:ext>
              </a:extLst>
            </p:cNvPr>
            <p:cNvSpPr>
              <a:spLocks noChangeShapeType="1"/>
            </p:cNvSpPr>
            <p:nvPr/>
          </p:nvSpPr>
          <p:spPr bwMode="auto">
            <a:xfrm>
              <a:off x="3563856" y="5737006"/>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7" name="Line 39">
              <a:extLst>
                <a:ext uri="{FF2B5EF4-FFF2-40B4-BE49-F238E27FC236}">
                  <a16:creationId xmlns:a16="http://schemas.microsoft.com/office/drawing/2014/main" id="{D2D0AF2A-F591-4B3F-9C41-B8DC26C750A7}"/>
                </a:ext>
              </a:extLst>
            </p:cNvPr>
            <p:cNvSpPr>
              <a:spLocks noChangeShapeType="1"/>
            </p:cNvSpPr>
            <p:nvPr/>
          </p:nvSpPr>
          <p:spPr bwMode="auto">
            <a:xfrm>
              <a:off x="5527878" y="4927077"/>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8" name="Line 40">
              <a:extLst>
                <a:ext uri="{FF2B5EF4-FFF2-40B4-BE49-F238E27FC236}">
                  <a16:creationId xmlns:a16="http://schemas.microsoft.com/office/drawing/2014/main" id="{A65A670B-9958-4BF1-AE33-9B8322BE5CBF}"/>
                </a:ext>
              </a:extLst>
            </p:cNvPr>
            <p:cNvSpPr>
              <a:spLocks noChangeShapeType="1"/>
            </p:cNvSpPr>
            <p:nvPr/>
          </p:nvSpPr>
          <p:spPr bwMode="auto">
            <a:xfrm>
              <a:off x="4872586" y="5737006"/>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9" name="Line 50">
              <a:extLst>
                <a:ext uri="{FF2B5EF4-FFF2-40B4-BE49-F238E27FC236}">
                  <a16:creationId xmlns:a16="http://schemas.microsoft.com/office/drawing/2014/main" id="{0D7198B6-B9FF-45A0-BD2D-28F613136A31}"/>
                </a:ext>
              </a:extLst>
            </p:cNvPr>
            <p:cNvSpPr>
              <a:spLocks noChangeShapeType="1"/>
            </p:cNvSpPr>
            <p:nvPr/>
          </p:nvSpPr>
          <p:spPr bwMode="auto">
            <a:xfrm>
              <a:off x="5986951" y="3467839"/>
              <a:ext cx="1225431" cy="75183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0" name="Line 51">
              <a:extLst>
                <a:ext uri="{FF2B5EF4-FFF2-40B4-BE49-F238E27FC236}">
                  <a16:creationId xmlns:a16="http://schemas.microsoft.com/office/drawing/2014/main" id="{C434A93E-84C1-4BD6-A02B-84C1DFB5D120}"/>
                </a:ext>
              </a:extLst>
            </p:cNvPr>
            <p:cNvSpPr>
              <a:spLocks noChangeShapeType="1"/>
            </p:cNvSpPr>
            <p:nvPr/>
          </p:nvSpPr>
          <p:spPr bwMode="auto">
            <a:xfrm>
              <a:off x="5986951" y="4243592"/>
              <a:ext cx="1131024" cy="177705"/>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1" name="Line 52">
              <a:extLst>
                <a:ext uri="{FF2B5EF4-FFF2-40B4-BE49-F238E27FC236}">
                  <a16:creationId xmlns:a16="http://schemas.microsoft.com/office/drawing/2014/main" id="{77665017-7D2A-449E-B64F-27945081E2F1}"/>
                </a:ext>
              </a:extLst>
            </p:cNvPr>
            <p:cNvSpPr>
              <a:spLocks noChangeShapeType="1"/>
            </p:cNvSpPr>
            <p:nvPr/>
          </p:nvSpPr>
          <p:spPr bwMode="auto">
            <a:xfrm flipV="1">
              <a:off x="6070251" y="4622927"/>
              <a:ext cx="1047724" cy="39471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2" name="Line 53">
              <a:extLst>
                <a:ext uri="{FF2B5EF4-FFF2-40B4-BE49-F238E27FC236}">
                  <a16:creationId xmlns:a16="http://schemas.microsoft.com/office/drawing/2014/main" id="{8D26B893-FEE5-4171-9831-4531E78B9C7D}"/>
                </a:ext>
              </a:extLst>
            </p:cNvPr>
            <p:cNvSpPr>
              <a:spLocks noChangeShapeType="1"/>
            </p:cNvSpPr>
            <p:nvPr/>
          </p:nvSpPr>
          <p:spPr bwMode="auto">
            <a:xfrm flipV="1">
              <a:off x="6088762" y="4826263"/>
              <a:ext cx="1123619" cy="9107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3" name="Text Box 54">
              <a:extLst>
                <a:ext uri="{FF2B5EF4-FFF2-40B4-BE49-F238E27FC236}">
                  <a16:creationId xmlns:a16="http://schemas.microsoft.com/office/drawing/2014/main" id="{6DC3B259-5081-47FC-947F-3CF740032859}"/>
                </a:ext>
              </a:extLst>
            </p:cNvPr>
            <p:cNvSpPr txBox="1">
              <a:spLocks noChangeArrowheads="1"/>
            </p:cNvSpPr>
            <p:nvPr/>
          </p:nvSpPr>
          <p:spPr bwMode="auto">
            <a:xfrm>
              <a:off x="6070250" y="5096241"/>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④</a:t>
              </a:r>
            </a:p>
          </p:txBody>
        </p:sp>
        <p:sp>
          <p:nvSpPr>
            <p:cNvPr id="164" name="Text Box 55">
              <a:extLst>
                <a:ext uri="{FF2B5EF4-FFF2-40B4-BE49-F238E27FC236}">
                  <a16:creationId xmlns:a16="http://schemas.microsoft.com/office/drawing/2014/main" id="{4955646B-6E9F-42FC-9EAE-1C48DF3DFD53}"/>
                </a:ext>
              </a:extLst>
            </p:cNvPr>
            <p:cNvSpPr txBox="1">
              <a:spLocks noChangeArrowheads="1"/>
            </p:cNvSpPr>
            <p:nvPr/>
          </p:nvSpPr>
          <p:spPr bwMode="auto">
            <a:xfrm>
              <a:off x="6070250" y="4502070"/>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③</a:t>
              </a:r>
            </a:p>
          </p:txBody>
        </p:sp>
        <p:sp>
          <p:nvSpPr>
            <p:cNvPr id="165" name="Text Box 56">
              <a:extLst>
                <a:ext uri="{FF2B5EF4-FFF2-40B4-BE49-F238E27FC236}">
                  <a16:creationId xmlns:a16="http://schemas.microsoft.com/office/drawing/2014/main" id="{1E38F641-222D-41EB-980C-06F088B1D74C}"/>
                </a:ext>
              </a:extLst>
            </p:cNvPr>
            <p:cNvSpPr txBox="1">
              <a:spLocks noChangeArrowheads="1"/>
            </p:cNvSpPr>
            <p:nvPr/>
          </p:nvSpPr>
          <p:spPr bwMode="auto">
            <a:xfrm>
              <a:off x="6070250" y="3855716"/>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②</a:t>
              </a:r>
            </a:p>
          </p:txBody>
        </p:sp>
        <p:sp>
          <p:nvSpPr>
            <p:cNvPr id="166" name="Text Box 57">
              <a:extLst>
                <a:ext uri="{FF2B5EF4-FFF2-40B4-BE49-F238E27FC236}">
                  <a16:creationId xmlns:a16="http://schemas.microsoft.com/office/drawing/2014/main" id="{50E43813-5149-424A-862B-B36939FC4F81}"/>
                </a:ext>
              </a:extLst>
            </p:cNvPr>
            <p:cNvSpPr txBox="1">
              <a:spLocks noChangeArrowheads="1"/>
            </p:cNvSpPr>
            <p:nvPr/>
          </p:nvSpPr>
          <p:spPr bwMode="auto">
            <a:xfrm>
              <a:off x="6070250" y="3235452"/>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①</a:t>
              </a:r>
            </a:p>
          </p:txBody>
        </p:sp>
        <p:sp>
          <p:nvSpPr>
            <p:cNvPr id="167" name="Freeform 58">
              <a:extLst>
                <a:ext uri="{FF2B5EF4-FFF2-40B4-BE49-F238E27FC236}">
                  <a16:creationId xmlns:a16="http://schemas.microsoft.com/office/drawing/2014/main" id="{CFE22CDE-2B94-465B-84D5-206F7D6FF525}"/>
                </a:ext>
              </a:extLst>
            </p:cNvPr>
            <p:cNvSpPr>
              <a:spLocks/>
            </p:cNvSpPr>
            <p:nvPr/>
          </p:nvSpPr>
          <p:spPr bwMode="auto">
            <a:xfrm>
              <a:off x="2908567" y="3004778"/>
              <a:ext cx="65529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8" name="Line 59">
              <a:extLst>
                <a:ext uri="{FF2B5EF4-FFF2-40B4-BE49-F238E27FC236}">
                  <a16:creationId xmlns:a16="http://schemas.microsoft.com/office/drawing/2014/main" id="{891C6A34-783B-407E-9585-2B2C215A58A2}"/>
                </a:ext>
              </a:extLst>
            </p:cNvPr>
            <p:cNvSpPr>
              <a:spLocks noChangeShapeType="1"/>
            </p:cNvSpPr>
            <p:nvPr/>
          </p:nvSpPr>
          <p:spPr bwMode="auto">
            <a:xfrm>
              <a:off x="5527878"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9" name="Line 60">
              <a:extLst>
                <a:ext uri="{FF2B5EF4-FFF2-40B4-BE49-F238E27FC236}">
                  <a16:creationId xmlns:a16="http://schemas.microsoft.com/office/drawing/2014/main" id="{86B424BC-A85C-4911-8E5E-E82261DF7D7D}"/>
                </a:ext>
              </a:extLst>
            </p:cNvPr>
            <p:cNvSpPr>
              <a:spLocks noChangeShapeType="1"/>
            </p:cNvSpPr>
            <p:nvPr/>
          </p:nvSpPr>
          <p:spPr bwMode="auto">
            <a:xfrm>
              <a:off x="2908567" y="5716501"/>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70" name="Text Box 61">
              <a:extLst>
                <a:ext uri="{FF2B5EF4-FFF2-40B4-BE49-F238E27FC236}">
                  <a16:creationId xmlns:a16="http://schemas.microsoft.com/office/drawing/2014/main" id="{F67EA677-E7B6-42A3-ADF9-7D2F127DA8B7}"/>
                </a:ext>
              </a:extLst>
            </p:cNvPr>
            <p:cNvSpPr txBox="1">
              <a:spLocks noChangeArrowheads="1"/>
            </p:cNvSpPr>
            <p:nvPr/>
          </p:nvSpPr>
          <p:spPr bwMode="auto">
            <a:xfrm>
              <a:off x="3028888" y="2960351"/>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a</a:t>
              </a:r>
            </a:p>
          </p:txBody>
        </p:sp>
        <p:sp>
          <p:nvSpPr>
            <p:cNvPr id="171" name="Text Box 62">
              <a:extLst>
                <a:ext uri="{FF2B5EF4-FFF2-40B4-BE49-F238E27FC236}">
                  <a16:creationId xmlns:a16="http://schemas.microsoft.com/office/drawing/2014/main" id="{859F6946-0F7F-4407-B643-C92200943044}"/>
                </a:ext>
              </a:extLst>
            </p:cNvPr>
            <p:cNvSpPr txBox="1">
              <a:spLocks noChangeArrowheads="1"/>
            </p:cNvSpPr>
            <p:nvPr/>
          </p:nvSpPr>
          <p:spPr bwMode="auto">
            <a:xfrm>
              <a:off x="3715647" y="4576793"/>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c</a:t>
              </a:r>
            </a:p>
          </p:txBody>
        </p:sp>
        <p:sp>
          <p:nvSpPr>
            <p:cNvPr id="172" name="Text Box 63">
              <a:extLst>
                <a:ext uri="{FF2B5EF4-FFF2-40B4-BE49-F238E27FC236}">
                  <a16:creationId xmlns:a16="http://schemas.microsoft.com/office/drawing/2014/main" id="{031806E6-0D60-4F3C-8F94-98862EEBDDE3}"/>
                </a:ext>
              </a:extLst>
            </p:cNvPr>
            <p:cNvSpPr txBox="1">
              <a:spLocks noChangeArrowheads="1"/>
            </p:cNvSpPr>
            <p:nvPr/>
          </p:nvSpPr>
          <p:spPr bwMode="auto">
            <a:xfrm>
              <a:off x="3747115" y="3814708"/>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b</a:t>
              </a:r>
            </a:p>
          </p:txBody>
        </p:sp>
        <p:sp>
          <p:nvSpPr>
            <p:cNvPr id="173" name="Text Box 72">
              <a:extLst>
                <a:ext uri="{FF2B5EF4-FFF2-40B4-BE49-F238E27FC236}">
                  <a16:creationId xmlns:a16="http://schemas.microsoft.com/office/drawing/2014/main" id="{E076D5FA-833B-4134-89FC-0165F022DCEC}"/>
                </a:ext>
              </a:extLst>
            </p:cNvPr>
            <p:cNvSpPr txBox="1">
              <a:spLocks noChangeArrowheads="1"/>
            </p:cNvSpPr>
            <p:nvPr/>
          </p:nvSpPr>
          <p:spPr bwMode="auto">
            <a:xfrm>
              <a:off x="6220434" y="5531821"/>
              <a:ext cx="161775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867" dirty="0">
                  <a:solidFill>
                    <a:srgbClr val="C00000"/>
                  </a:solidFill>
                  <a:latin typeface="微软雅黑" pitchFamily="34" charset="-122"/>
                  <a:ea typeface="微软雅黑" pitchFamily="34" charset="-122"/>
                </a:rPr>
                <a:t>统计时分复用</a:t>
              </a:r>
            </a:p>
          </p:txBody>
        </p:sp>
        <p:sp>
          <p:nvSpPr>
            <p:cNvPr id="174" name="Text Box 80">
              <a:extLst>
                <a:ext uri="{FF2B5EF4-FFF2-40B4-BE49-F238E27FC236}">
                  <a16:creationId xmlns:a16="http://schemas.microsoft.com/office/drawing/2014/main" id="{15CFA880-DFC9-421B-8CFA-53D1E95C7824}"/>
                </a:ext>
              </a:extLst>
            </p:cNvPr>
            <p:cNvSpPr txBox="1">
              <a:spLocks noChangeArrowheads="1"/>
            </p:cNvSpPr>
            <p:nvPr/>
          </p:nvSpPr>
          <p:spPr bwMode="auto">
            <a:xfrm>
              <a:off x="1836199" y="2964172"/>
              <a:ext cx="66236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867" dirty="0">
                  <a:latin typeface="微软雅黑" pitchFamily="34" charset="-122"/>
                  <a:ea typeface="微软雅黑" pitchFamily="34" charset="-122"/>
                </a:rPr>
                <a:t>用户</a:t>
              </a:r>
            </a:p>
          </p:txBody>
        </p:sp>
        <p:sp>
          <p:nvSpPr>
            <p:cNvPr id="175" name="Line 81">
              <a:extLst>
                <a:ext uri="{FF2B5EF4-FFF2-40B4-BE49-F238E27FC236}">
                  <a16:creationId xmlns:a16="http://schemas.microsoft.com/office/drawing/2014/main" id="{0F9D0315-B4A9-4E1C-B09C-F44486ED1C02}"/>
                </a:ext>
              </a:extLst>
            </p:cNvPr>
            <p:cNvSpPr>
              <a:spLocks noChangeShapeType="1"/>
            </p:cNvSpPr>
            <p:nvPr/>
          </p:nvSpPr>
          <p:spPr bwMode="auto">
            <a:xfrm>
              <a:off x="2816012" y="3409743"/>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76" name="Line 82">
              <a:extLst>
                <a:ext uri="{FF2B5EF4-FFF2-40B4-BE49-F238E27FC236}">
                  <a16:creationId xmlns:a16="http://schemas.microsoft.com/office/drawing/2014/main" id="{F400A552-4D68-4B81-B0BB-3F6A31469054}"/>
                </a:ext>
              </a:extLst>
            </p:cNvPr>
            <p:cNvSpPr>
              <a:spLocks noChangeShapeType="1"/>
            </p:cNvSpPr>
            <p:nvPr/>
          </p:nvSpPr>
          <p:spPr bwMode="auto">
            <a:xfrm>
              <a:off x="2816012" y="4219671"/>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77" name="Line 83">
              <a:extLst>
                <a:ext uri="{FF2B5EF4-FFF2-40B4-BE49-F238E27FC236}">
                  <a16:creationId xmlns:a16="http://schemas.microsoft.com/office/drawing/2014/main" id="{62867B5C-BD0F-4434-9AA4-50C629BBAD0B}"/>
                </a:ext>
              </a:extLst>
            </p:cNvPr>
            <p:cNvSpPr>
              <a:spLocks noChangeShapeType="1"/>
            </p:cNvSpPr>
            <p:nvPr/>
          </p:nvSpPr>
          <p:spPr bwMode="auto">
            <a:xfrm>
              <a:off x="2816012" y="5027890"/>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78" name="Line 84">
              <a:extLst>
                <a:ext uri="{FF2B5EF4-FFF2-40B4-BE49-F238E27FC236}">
                  <a16:creationId xmlns:a16="http://schemas.microsoft.com/office/drawing/2014/main" id="{8FBC4AF6-24E9-49B2-A9C7-B84E6493C475}"/>
                </a:ext>
              </a:extLst>
            </p:cNvPr>
            <p:cNvSpPr>
              <a:spLocks noChangeShapeType="1"/>
            </p:cNvSpPr>
            <p:nvPr/>
          </p:nvSpPr>
          <p:spPr bwMode="auto">
            <a:xfrm>
              <a:off x="2816012" y="5837819"/>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grpSp>
      <p:sp>
        <p:nvSpPr>
          <p:cNvPr id="96" name="文本框 95">
            <a:extLst>
              <a:ext uri="{FF2B5EF4-FFF2-40B4-BE49-F238E27FC236}">
                <a16:creationId xmlns:a16="http://schemas.microsoft.com/office/drawing/2014/main" id="{6780BDEE-C0B8-431D-A8E0-9C50B5707432}"/>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552348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2E1F86-7431-4FC5-BE7C-0ADDA490B1CC}"/>
              </a:ext>
            </a:extLst>
          </p:cNvPr>
          <p:cNvSpPr>
            <a:spLocks noGrp="1"/>
          </p:cNvSpPr>
          <p:nvPr>
            <p:ph type="title"/>
          </p:nvPr>
        </p:nvSpPr>
        <p:spPr/>
        <p:txBody>
          <a:bodyPr vert="horz" lIns="91440" tIns="45720" rIns="91440" bIns="45720" rtlCol="0" anchor="ctr">
            <a:normAutofit/>
          </a:bodyPr>
          <a:lstStyle/>
          <a:p>
            <a:r>
              <a:rPr lang="zh-CN" altLang="en-US" dirty="0"/>
              <a:t>波分复用</a:t>
            </a:r>
            <a:r>
              <a:rPr lang="en-US" altLang="zh-CN" dirty="0"/>
              <a:t>(WDM)</a:t>
            </a:r>
            <a:endParaRPr lang="zh-CN" altLang="en-US" dirty="0"/>
          </a:p>
        </p:txBody>
      </p:sp>
      <p:sp>
        <p:nvSpPr>
          <p:cNvPr id="4" name="灯片编号占位符 3">
            <a:extLst>
              <a:ext uri="{FF2B5EF4-FFF2-40B4-BE49-F238E27FC236}">
                <a16:creationId xmlns:a16="http://schemas.microsoft.com/office/drawing/2014/main" id="{D5A50BA6-6652-4F26-843A-8217117DA259}"/>
              </a:ext>
            </a:extLst>
          </p:cNvPr>
          <p:cNvSpPr>
            <a:spLocks noGrp="1"/>
          </p:cNvSpPr>
          <p:nvPr>
            <p:ph type="sldNum" sz="quarter" idx="12"/>
          </p:nvPr>
        </p:nvSpPr>
        <p:spPr/>
        <p:txBody>
          <a:bodyPr/>
          <a:lstStyle/>
          <a:p>
            <a:fld id="{8D4D1E41-7A09-AB4A-A4E1-09765ADA2698}" type="slidenum">
              <a:rPr kumimoji="1" lang="zh-CN" altLang="en-US" smtClean="0"/>
              <a:t>103</a:t>
            </a:fld>
            <a:endParaRPr kumimoji="1" lang="zh-CN" altLang="en-US" dirty="0"/>
          </a:p>
        </p:txBody>
      </p:sp>
      <p:sp>
        <p:nvSpPr>
          <p:cNvPr id="3" name="矩形 2">
            <a:extLst>
              <a:ext uri="{FF2B5EF4-FFF2-40B4-BE49-F238E27FC236}">
                <a16:creationId xmlns:a16="http://schemas.microsoft.com/office/drawing/2014/main" id="{600DCF90-50AB-4C85-8B56-D3BDF1E9719D}"/>
              </a:ext>
            </a:extLst>
          </p:cNvPr>
          <p:cNvSpPr/>
          <p:nvPr/>
        </p:nvSpPr>
        <p:spPr>
          <a:xfrm>
            <a:off x="555962" y="1213708"/>
            <a:ext cx="11493284" cy="1135054"/>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波分复用</a:t>
            </a:r>
            <a:r>
              <a:rPr lang="zh-CN" altLang="en-US" sz="2400" dirty="0">
                <a:solidFill>
                  <a:srgbClr val="202122"/>
                </a:solidFill>
                <a:latin typeface="微软雅黑" panose="020B0503020204020204" pitchFamily="34" charset="-122"/>
                <a:ea typeface="微软雅黑" panose="020B0503020204020204" pitchFamily="34" charset="-122"/>
              </a:rPr>
              <a:t>（</a:t>
            </a:r>
            <a:r>
              <a:rPr lang="en-US" altLang="zh-CN" sz="2400" dirty="0">
                <a:solidFill>
                  <a:srgbClr val="202122"/>
                </a:solidFill>
                <a:latin typeface="微软雅黑" panose="020B0503020204020204" pitchFamily="34" charset="-122"/>
                <a:ea typeface="微软雅黑" panose="020B0503020204020204" pitchFamily="34" charset="-122"/>
              </a:rPr>
              <a:t>Wavelength Division Multiplexing</a:t>
            </a:r>
            <a:r>
              <a:rPr lang="zh-CN" altLang="en-US" sz="2400" dirty="0">
                <a:solidFill>
                  <a:srgbClr val="202122"/>
                </a:solidFill>
                <a:latin typeface="微软雅黑" panose="020B0503020204020204" pitchFamily="34" charset="-122"/>
                <a:ea typeface="微软雅黑" panose="020B0503020204020204" pitchFamily="34" charset="-122"/>
              </a:rPr>
              <a:t>，</a:t>
            </a:r>
            <a:r>
              <a:rPr lang="en-US" altLang="zh-CN" sz="2400" dirty="0">
                <a:solidFill>
                  <a:srgbClr val="202122"/>
                </a:solidFill>
                <a:latin typeface="微软雅黑" panose="020B0503020204020204" pitchFamily="34" charset="-122"/>
                <a:ea typeface="微软雅黑" panose="020B0503020204020204" pitchFamily="34" charset="-122"/>
              </a:rPr>
              <a:t>WDM</a:t>
            </a:r>
            <a:r>
              <a:rPr lang="zh-CN" altLang="en-US" sz="2400" dirty="0">
                <a:solidFill>
                  <a:srgbClr val="202122"/>
                </a:solidFill>
                <a:latin typeface="微软雅黑" panose="020B0503020204020204" pitchFamily="34" charset="-122"/>
                <a:ea typeface="微软雅黑" panose="020B0503020204020204" pitchFamily="34" charset="-122"/>
              </a:rPr>
              <a:t>）是利用多个激光器在单条</a:t>
            </a:r>
            <a:r>
              <a:rPr lang="zh-CN" altLang="en-US" sz="2400" dirty="0">
                <a:solidFill>
                  <a:srgbClr val="C00000"/>
                </a:solidFill>
                <a:latin typeface="微软雅黑" panose="020B0503020204020204" pitchFamily="34" charset="-122"/>
                <a:ea typeface="微软雅黑" panose="020B0503020204020204" pitchFamily="34" charset="-122"/>
              </a:rPr>
              <a:t>光纤</a:t>
            </a:r>
            <a:r>
              <a:rPr lang="zh-CN" altLang="en-US" sz="2400" dirty="0">
                <a:solidFill>
                  <a:srgbClr val="202122"/>
                </a:solidFill>
                <a:latin typeface="微软雅黑" panose="020B0503020204020204" pitchFamily="34" charset="-122"/>
                <a:ea typeface="微软雅黑" panose="020B0503020204020204" pitchFamily="34" charset="-122"/>
              </a:rPr>
              <a:t>上同时发送多束不同</a:t>
            </a:r>
            <a:r>
              <a:rPr lang="zh-CN" altLang="en-US" sz="2400" dirty="0">
                <a:solidFill>
                  <a:srgbClr val="C00000"/>
                </a:solidFill>
                <a:latin typeface="微软雅黑" panose="020B0503020204020204" pitchFamily="34" charset="-122"/>
                <a:ea typeface="微软雅黑" panose="020B0503020204020204" pitchFamily="34" charset="-122"/>
              </a:rPr>
              <a:t>波长</a:t>
            </a:r>
            <a:r>
              <a:rPr lang="zh-CN" altLang="en-US" sz="2400" dirty="0">
                <a:solidFill>
                  <a:srgbClr val="202122"/>
                </a:solidFill>
                <a:latin typeface="微软雅黑" panose="020B0503020204020204" pitchFamily="34" charset="-122"/>
                <a:ea typeface="微软雅黑" panose="020B0503020204020204" pitchFamily="34" charset="-122"/>
              </a:rPr>
              <a:t>激光的技术</a:t>
            </a:r>
            <a:endParaRPr lang="zh-CN" altLang="en-US" sz="2400" dirty="0">
              <a:latin typeface="微软雅黑" panose="020B0503020204020204" pitchFamily="34" charset="-122"/>
              <a:ea typeface="微软雅黑" panose="020B0503020204020204" pitchFamily="34" charset="-122"/>
            </a:endParaRPr>
          </a:p>
        </p:txBody>
      </p:sp>
      <p:grpSp>
        <p:nvGrpSpPr>
          <p:cNvPr id="66" name="组合 65">
            <a:extLst>
              <a:ext uri="{FF2B5EF4-FFF2-40B4-BE49-F238E27FC236}">
                <a16:creationId xmlns:a16="http://schemas.microsoft.com/office/drawing/2014/main" id="{1D9D86E4-87D0-48D1-AC22-E97EA6F09C5E}"/>
              </a:ext>
            </a:extLst>
          </p:cNvPr>
          <p:cNvGrpSpPr/>
          <p:nvPr/>
        </p:nvGrpSpPr>
        <p:grpSpPr>
          <a:xfrm>
            <a:off x="838200" y="2364605"/>
            <a:ext cx="10626943" cy="4107721"/>
            <a:chOff x="728858" y="2364605"/>
            <a:chExt cx="10736285" cy="4243921"/>
          </a:xfrm>
        </p:grpSpPr>
        <p:sp>
          <p:nvSpPr>
            <p:cNvPr id="5" name="圆角矩形 62">
              <a:extLst>
                <a:ext uri="{FF2B5EF4-FFF2-40B4-BE49-F238E27FC236}">
                  <a16:creationId xmlns:a16="http://schemas.microsoft.com/office/drawing/2014/main" id="{731E487D-A21B-4D29-B6E4-ECC2042E8524}"/>
                </a:ext>
              </a:extLst>
            </p:cNvPr>
            <p:cNvSpPr/>
            <p:nvPr/>
          </p:nvSpPr>
          <p:spPr>
            <a:xfrm>
              <a:off x="728858" y="2364605"/>
              <a:ext cx="10736285" cy="4243921"/>
            </a:xfrm>
            <a:prstGeom prst="roundRect">
              <a:avLst>
                <a:gd name="adj" fmla="val 6576"/>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Text Box 2">
              <a:extLst>
                <a:ext uri="{FF2B5EF4-FFF2-40B4-BE49-F238E27FC236}">
                  <a16:creationId xmlns:a16="http://schemas.microsoft.com/office/drawing/2014/main" id="{69A254FF-3138-40EE-8D19-78ACEFD5C591}"/>
                </a:ext>
              </a:extLst>
            </p:cNvPr>
            <p:cNvSpPr txBox="1">
              <a:spLocks noChangeArrowheads="1"/>
            </p:cNvSpPr>
            <p:nvPr/>
          </p:nvSpPr>
          <p:spPr bwMode="auto">
            <a:xfrm flipH="1">
              <a:off x="8060038" y="3211515"/>
              <a:ext cx="2005677" cy="24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ts val="2267"/>
                </a:lnSpc>
              </a:pPr>
              <a:r>
                <a:rPr kumimoji="1" lang="en-US" altLang="zh-CN" sz="1600" b="1" dirty="0">
                  <a:latin typeface="微软雅黑" pitchFamily="34" charset="-122"/>
                  <a:ea typeface="微软雅黑" pitchFamily="34" charset="-122"/>
                </a:rPr>
                <a:t> 1550 nm           0 </a:t>
              </a:r>
            </a:p>
            <a:p>
              <a:pPr>
                <a:lnSpc>
                  <a:spcPts val="2267"/>
                </a:lnSpc>
              </a:pPr>
              <a:r>
                <a:rPr kumimoji="1" lang="en-US" altLang="zh-CN" sz="1600" b="1" dirty="0">
                  <a:latin typeface="微软雅黑" pitchFamily="34" charset="-122"/>
                  <a:ea typeface="微软雅黑" pitchFamily="34" charset="-122"/>
                </a:rPr>
                <a:t> 1551 nm           1</a:t>
              </a:r>
            </a:p>
            <a:p>
              <a:pPr>
                <a:lnSpc>
                  <a:spcPts val="2267"/>
                </a:lnSpc>
              </a:pPr>
              <a:r>
                <a:rPr kumimoji="1" lang="en-US" altLang="zh-CN" sz="1600" b="1" dirty="0">
                  <a:latin typeface="微软雅黑" pitchFamily="34" charset="-122"/>
                  <a:ea typeface="微软雅黑" pitchFamily="34" charset="-122"/>
                </a:rPr>
                <a:t> 1552 nm           2</a:t>
              </a:r>
            </a:p>
            <a:p>
              <a:pPr>
                <a:lnSpc>
                  <a:spcPts val="2267"/>
                </a:lnSpc>
              </a:pPr>
              <a:r>
                <a:rPr kumimoji="1" lang="en-US" altLang="zh-CN" sz="1600" b="1" dirty="0">
                  <a:latin typeface="微软雅黑" pitchFamily="34" charset="-122"/>
                  <a:ea typeface="微软雅黑" pitchFamily="34" charset="-122"/>
                </a:rPr>
                <a:t> 1553 nm           3</a:t>
              </a:r>
            </a:p>
            <a:p>
              <a:pPr>
                <a:lnSpc>
                  <a:spcPts val="2267"/>
                </a:lnSpc>
              </a:pPr>
              <a:r>
                <a:rPr kumimoji="1" lang="en-US" altLang="zh-CN" sz="1600" b="1" dirty="0">
                  <a:latin typeface="微软雅黑" pitchFamily="34" charset="-122"/>
                  <a:ea typeface="微软雅黑" pitchFamily="34" charset="-122"/>
                </a:rPr>
                <a:t> 1554 nm           4</a:t>
              </a:r>
            </a:p>
            <a:p>
              <a:pPr>
                <a:lnSpc>
                  <a:spcPts val="2267"/>
                </a:lnSpc>
              </a:pPr>
              <a:r>
                <a:rPr kumimoji="1" lang="en-US" altLang="zh-CN" sz="1600" b="1" dirty="0">
                  <a:latin typeface="微软雅黑" pitchFamily="34" charset="-122"/>
                  <a:ea typeface="微软雅黑" pitchFamily="34" charset="-122"/>
                </a:rPr>
                <a:t> 1555 nm           5</a:t>
              </a:r>
            </a:p>
            <a:p>
              <a:pPr>
                <a:lnSpc>
                  <a:spcPts val="2267"/>
                </a:lnSpc>
              </a:pPr>
              <a:r>
                <a:rPr kumimoji="1" lang="en-US" altLang="zh-CN" sz="1600" b="1" dirty="0">
                  <a:latin typeface="微软雅黑" pitchFamily="34" charset="-122"/>
                  <a:ea typeface="微软雅黑" pitchFamily="34" charset="-122"/>
                </a:rPr>
                <a:t> 1556 nm           6</a:t>
              </a:r>
            </a:p>
            <a:p>
              <a:pPr>
                <a:lnSpc>
                  <a:spcPts val="2267"/>
                </a:lnSpc>
              </a:pPr>
              <a:r>
                <a:rPr kumimoji="1" lang="en-US" altLang="zh-CN" sz="1600" b="1" dirty="0">
                  <a:latin typeface="微软雅黑" pitchFamily="34" charset="-122"/>
                  <a:ea typeface="微软雅黑" pitchFamily="34" charset="-122"/>
                </a:rPr>
                <a:t> 1557 nm           7</a:t>
              </a:r>
            </a:p>
          </p:txBody>
        </p:sp>
        <p:sp>
          <p:nvSpPr>
            <p:cNvPr id="7" name="Text Box 3">
              <a:extLst>
                <a:ext uri="{FF2B5EF4-FFF2-40B4-BE49-F238E27FC236}">
                  <a16:creationId xmlns:a16="http://schemas.microsoft.com/office/drawing/2014/main" id="{3B34EFAD-5E34-4B74-A3E3-700DBB1A6C7C}"/>
                </a:ext>
              </a:extLst>
            </p:cNvPr>
            <p:cNvSpPr txBox="1">
              <a:spLocks noChangeArrowheads="1"/>
            </p:cNvSpPr>
            <p:nvPr/>
          </p:nvSpPr>
          <p:spPr bwMode="auto">
            <a:xfrm>
              <a:off x="2051830" y="3216557"/>
              <a:ext cx="2188420" cy="24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ts val="2267"/>
                </a:lnSpc>
              </a:pPr>
              <a:r>
                <a:rPr kumimoji="1" lang="en-US" altLang="zh-CN" sz="1600" b="1" dirty="0">
                  <a:latin typeface="微软雅黑" pitchFamily="34" charset="-122"/>
                  <a:ea typeface="微软雅黑" pitchFamily="34" charset="-122"/>
                </a:rPr>
                <a:t>0            1550 nm    </a:t>
              </a:r>
            </a:p>
            <a:p>
              <a:pPr>
                <a:lnSpc>
                  <a:spcPts val="2267"/>
                </a:lnSpc>
              </a:pPr>
              <a:r>
                <a:rPr kumimoji="1" lang="en-US" altLang="zh-CN" sz="1600" b="1" dirty="0">
                  <a:latin typeface="微软雅黑" pitchFamily="34" charset="-122"/>
                  <a:ea typeface="微软雅黑" pitchFamily="34" charset="-122"/>
                </a:rPr>
                <a:t>1            1551 nm  </a:t>
              </a:r>
            </a:p>
            <a:p>
              <a:pPr>
                <a:lnSpc>
                  <a:spcPts val="2267"/>
                </a:lnSpc>
              </a:pPr>
              <a:r>
                <a:rPr kumimoji="1" lang="en-US" altLang="zh-CN" sz="1600" b="1" dirty="0">
                  <a:latin typeface="微软雅黑" pitchFamily="34" charset="-122"/>
                  <a:ea typeface="微软雅黑" pitchFamily="34" charset="-122"/>
                </a:rPr>
                <a:t>2            1552 nm  </a:t>
              </a:r>
            </a:p>
            <a:p>
              <a:pPr>
                <a:lnSpc>
                  <a:spcPts val="2267"/>
                </a:lnSpc>
              </a:pPr>
              <a:r>
                <a:rPr kumimoji="1" lang="en-US" altLang="zh-CN" sz="1600" b="1" dirty="0">
                  <a:latin typeface="微软雅黑" pitchFamily="34" charset="-122"/>
                  <a:ea typeface="微软雅黑" pitchFamily="34" charset="-122"/>
                </a:rPr>
                <a:t>3            1553 nm  </a:t>
              </a:r>
            </a:p>
            <a:p>
              <a:pPr>
                <a:lnSpc>
                  <a:spcPts val="2267"/>
                </a:lnSpc>
              </a:pPr>
              <a:r>
                <a:rPr kumimoji="1" lang="en-US" altLang="zh-CN" sz="1600" b="1" dirty="0">
                  <a:latin typeface="微软雅黑" pitchFamily="34" charset="-122"/>
                  <a:ea typeface="微软雅黑" pitchFamily="34" charset="-122"/>
                </a:rPr>
                <a:t>4            1554 nm  </a:t>
              </a:r>
            </a:p>
            <a:p>
              <a:pPr>
                <a:lnSpc>
                  <a:spcPts val="2267"/>
                </a:lnSpc>
              </a:pPr>
              <a:r>
                <a:rPr kumimoji="1" lang="en-US" altLang="zh-CN" sz="1600" b="1" dirty="0">
                  <a:latin typeface="微软雅黑" pitchFamily="34" charset="-122"/>
                  <a:ea typeface="微软雅黑" pitchFamily="34" charset="-122"/>
                </a:rPr>
                <a:t>5            1555 nm  </a:t>
              </a:r>
            </a:p>
            <a:p>
              <a:pPr>
                <a:lnSpc>
                  <a:spcPts val="2267"/>
                </a:lnSpc>
              </a:pPr>
              <a:r>
                <a:rPr kumimoji="1" lang="en-US" altLang="zh-CN" sz="1600" b="1" dirty="0">
                  <a:latin typeface="微软雅黑" pitchFamily="34" charset="-122"/>
                  <a:ea typeface="微软雅黑" pitchFamily="34" charset="-122"/>
                </a:rPr>
                <a:t>6            1556 nm  </a:t>
              </a:r>
            </a:p>
            <a:p>
              <a:pPr>
                <a:lnSpc>
                  <a:spcPts val="2267"/>
                </a:lnSpc>
              </a:pPr>
              <a:r>
                <a:rPr kumimoji="1" lang="en-US" altLang="zh-CN" sz="1600" b="1" dirty="0">
                  <a:latin typeface="微软雅黑" pitchFamily="34" charset="-122"/>
                  <a:ea typeface="微软雅黑" pitchFamily="34" charset="-122"/>
                </a:rPr>
                <a:t>7            1557 nm  </a:t>
              </a:r>
            </a:p>
          </p:txBody>
        </p:sp>
        <p:sp>
          <p:nvSpPr>
            <p:cNvPr id="8" name="Text Box 6">
              <a:extLst>
                <a:ext uri="{FF2B5EF4-FFF2-40B4-BE49-F238E27FC236}">
                  <a16:creationId xmlns:a16="http://schemas.microsoft.com/office/drawing/2014/main" id="{157A199C-2371-475E-8CCA-8533F6987480}"/>
                </a:ext>
              </a:extLst>
            </p:cNvPr>
            <p:cNvSpPr txBox="1">
              <a:spLocks noChangeArrowheads="1"/>
            </p:cNvSpPr>
            <p:nvPr/>
          </p:nvSpPr>
          <p:spPr bwMode="auto">
            <a:xfrm>
              <a:off x="2120987" y="5805349"/>
              <a:ext cx="1965330" cy="666977"/>
            </a:xfrm>
            <a:prstGeom prst="rect">
              <a:avLst/>
            </a:prstGeom>
            <a:solidFill>
              <a:schemeClr val="bg1"/>
            </a:solidFill>
            <a:ln w="19050">
              <a:solidFill>
                <a:srgbClr val="333399"/>
              </a:solidFill>
              <a:miter lim="800000"/>
              <a:headEnd/>
              <a:tailEnd/>
            </a:ln>
            <a:effectLst/>
          </p:spPr>
          <p:txBody>
            <a:bodyPr wrap="square">
              <a:spAutoFit/>
            </a:bodyPr>
            <a:lstStyle/>
            <a:p>
              <a:r>
                <a:rPr kumimoji="1" lang="en-US" altLang="zh-CN" sz="1867" b="1" dirty="0">
                  <a:ea typeface="黑体" pitchFamily="2" charset="-122"/>
                </a:rPr>
                <a:t>8 </a:t>
              </a:r>
              <a:r>
                <a:rPr kumimoji="1" lang="en-US" altLang="zh-CN" sz="1867" b="1" dirty="0">
                  <a:ea typeface="黑体" pitchFamily="2" charset="-122"/>
                  <a:sym typeface="Symbol" pitchFamily="18" charset="2"/>
                </a:rPr>
                <a:t> </a:t>
              </a:r>
              <a:r>
                <a:rPr kumimoji="1" lang="en-US" altLang="zh-CN" sz="1867" b="1" dirty="0">
                  <a:ea typeface="黑体" pitchFamily="2" charset="-122"/>
                </a:rPr>
                <a:t>2.5 </a:t>
              </a:r>
              <a:r>
                <a:rPr kumimoji="1" lang="en-US" altLang="zh-CN" sz="1867" b="1" dirty="0" err="1">
                  <a:ea typeface="黑体" pitchFamily="2" charset="-122"/>
                </a:rPr>
                <a:t>Gbit</a:t>
              </a:r>
              <a:r>
                <a:rPr kumimoji="1" lang="en-US" altLang="zh-CN" sz="1867" b="1" dirty="0">
                  <a:ea typeface="黑体" pitchFamily="2" charset="-122"/>
                </a:rPr>
                <a:t>/s</a:t>
              </a:r>
            </a:p>
            <a:p>
              <a:r>
                <a:rPr kumimoji="1" lang="en-US" altLang="zh-CN" sz="1867" b="1" dirty="0">
                  <a:ea typeface="黑体" pitchFamily="2" charset="-122"/>
                </a:rPr>
                <a:t>1310 nm</a:t>
              </a:r>
            </a:p>
          </p:txBody>
        </p:sp>
        <p:sp>
          <p:nvSpPr>
            <p:cNvPr id="9" name="Line 7">
              <a:extLst>
                <a:ext uri="{FF2B5EF4-FFF2-40B4-BE49-F238E27FC236}">
                  <a16:creationId xmlns:a16="http://schemas.microsoft.com/office/drawing/2014/main" id="{69358687-9A80-433F-8D5A-1B9F4E21BFF0}"/>
                </a:ext>
              </a:extLst>
            </p:cNvPr>
            <p:cNvSpPr>
              <a:spLocks noChangeShapeType="1"/>
            </p:cNvSpPr>
            <p:nvPr/>
          </p:nvSpPr>
          <p:spPr bwMode="auto">
            <a:xfrm>
              <a:off x="8200148" y="3516223"/>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0" name="Line 8">
              <a:extLst>
                <a:ext uri="{FF2B5EF4-FFF2-40B4-BE49-F238E27FC236}">
                  <a16:creationId xmlns:a16="http://schemas.microsoft.com/office/drawing/2014/main" id="{44866DA2-5555-4EAF-BC06-6AA23801FBAE}"/>
                </a:ext>
              </a:extLst>
            </p:cNvPr>
            <p:cNvSpPr>
              <a:spLocks noChangeShapeType="1"/>
            </p:cNvSpPr>
            <p:nvPr/>
          </p:nvSpPr>
          <p:spPr bwMode="auto">
            <a:xfrm>
              <a:off x="8200148" y="3808737"/>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1" name="Line 9">
              <a:extLst>
                <a:ext uri="{FF2B5EF4-FFF2-40B4-BE49-F238E27FC236}">
                  <a16:creationId xmlns:a16="http://schemas.microsoft.com/office/drawing/2014/main" id="{8510C4B0-B074-44DC-A77B-BF15BF777615}"/>
                </a:ext>
              </a:extLst>
            </p:cNvPr>
            <p:cNvSpPr>
              <a:spLocks noChangeShapeType="1"/>
            </p:cNvSpPr>
            <p:nvPr/>
          </p:nvSpPr>
          <p:spPr bwMode="auto">
            <a:xfrm>
              <a:off x="8200148" y="4099928"/>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2" name="Line 10">
              <a:extLst>
                <a:ext uri="{FF2B5EF4-FFF2-40B4-BE49-F238E27FC236}">
                  <a16:creationId xmlns:a16="http://schemas.microsoft.com/office/drawing/2014/main" id="{70695F3E-5808-4000-978A-FB5080C2FCC0}"/>
                </a:ext>
              </a:extLst>
            </p:cNvPr>
            <p:cNvSpPr>
              <a:spLocks noChangeShapeType="1"/>
            </p:cNvSpPr>
            <p:nvPr/>
          </p:nvSpPr>
          <p:spPr bwMode="auto">
            <a:xfrm>
              <a:off x="8200148" y="4393765"/>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3" name="Line 11">
              <a:extLst>
                <a:ext uri="{FF2B5EF4-FFF2-40B4-BE49-F238E27FC236}">
                  <a16:creationId xmlns:a16="http://schemas.microsoft.com/office/drawing/2014/main" id="{AB9A2BB1-08B8-4BB8-A544-C4853E0EBB88}"/>
                </a:ext>
              </a:extLst>
            </p:cNvPr>
            <p:cNvSpPr>
              <a:spLocks noChangeShapeType="1"/>
            </p:cNvSpPr>
            <p:nvPr/>
          </p:nvSpPr>
          <p:spPr bwMode="auto">
            <a:xfrm>
              <a:off x="8200148" y="4684955"/>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4" name="Line 12">
              <a:extLst>
                <a:ext uri="{FF2B5EF4-FFF2-40B4-BE49-F238E27FC236}">
                  <a16:creationId xmlns:a16="http://schemas.microsoft.com/office/drawing/2014/main" id="{292EA8F1-A218-49FB-990E-1A6F860B04A1}"/>
                </a:ext>
              </a:extLst>
            </p:cNvPr>
            <p:cNvSpPr>
              <a:spLocks noChangeShapeType="1"/>
            </p:cNvSpPr>
            <p:nvPr/>
          </p:nvSpPr>
          <p:spPr bwMode="auto">
            <a:xfrm>
              <a:off x="8200148" y="4978792"/>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5" name="Line 13">
              <a:extLst>
                <a:ext uri="{FF2B5EF4-FFF2-40B4-BE49-F238E27FC236}">
                  <a16:creationId xmlns:a16="http://schemas.microsoft.com/office/drawing/2014/main" id="{C40731BA-B1A6-496E-B589-0225679434EF}"/>
                </a:ext>
              </a:extLst>
            </p:cNvPr>
            <p:cNvSpPr>
              <a:spLocks noChangeShapeType="1"/>
            </p:cNvSpPr>
            <p:nvPr/>
          </p:nvSpPr>
          <p:spPr bwMode="auto">
            <a:xfrm>
              <a:off x="8200148" y="5269983"/>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6" name="Line 14">
              <a:extLst>
                <a:ext uri="{FF2B5EF4-FFF2-40B4-BE49-F238E27FC236}">
                  <a16:creationId xmlns:a16="http://schemas.microsoft.com/office/drawing/2014/main" id="{1FAF9DE4-0FFA-457C-8F18-A153E91EF2A3}"/>
                </a:ext>
              </a:extLst>
            </p:cNvPr>
            <p:cNvSpPr>
              <a:spLocks noChangeShapeType="1"/>
            </p:cNvSpPr>
            <p:nvPr/>
          </p:nvSpPr>
          <p:spPr bwMode="auto">
            <a:xfrm>
              <a:off x="8200148" y="5563820"/>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7" name="Line 15">
              <a:extLst>
                <a:ext uri="{FF2B5EF4-FFF2-40B4-BE49-F238E27FC236}">
                  <a16:creationId xmlns:a16="http://schemas.microsoft.com/office/drawing/2014/main" id="{300ADF4D-7005-4A80-B2DF-2A387D9931F0}"/>
                </a:ext>
              </a:extLst>
            </p:cNvPr>
            <p:cNvSpPr>
              <a:spLocks noChangeShapeType="1"/>
            </p:cNvSpPr>
            <p:nvPr/>
          </p:nvSpPr>
          <p:spPr bwMode="auto">
            <a:xfrm>
              <a:off x="2153432" y="3516223"/>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8" name="Line 16">
              <a:extLst>
                <a:ext uri="{FF2B5EF4-FFF2-40B4-BE49-F238E27FC236}">
                  <a16:creationId xmlns:a16="http://schemas.microsoft.com/office/drawing/2014/main" id="{7440C9B5-F7D9-4243-A4D9-7AE6C7BE9D66}"/>
                </a:ext>
              </a:extLst>
            </p:cNvPr>
            <p:cNvSpPr>
              <a:spLocks noChangeShapeType="1"/>
            </p:cNvSpPr>
            <p:nvPr/>
          </p:nvSpPr>
          <p:spPr bwMode="auto">
            <a:xfrm>
              <a:off x="2153432" y="3808737"/>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9" name="Line 17">
              <a:extLst>
                <a:ext uri="{FF2B5EF4-FFF2-40B4-BE49-F238E27FC236}">
                  <a16:creationId xmlns:a16="http://schemas.microsoft.com/office/drawing/2014/main" id="{6C67B6A7-3806-4652-8075-2124B1690772}"/>
                </a:ext>
              </a:extLst>
            </p:cNvPr>
            <p:cNvSpPr>
              <a:spLocks noChangeShapeType="1"/>
            </p:cNvSpPr>
            <p:nvPr/>
          </p:nvSpPr>
          <p:spPr bwMode="auto">
            <a:xfrm>
              <a:off x="2153432" y="4099928"/>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0" name="Line 18">
              <a:extLst>
                <a:ext uri="{FF2B5EF4-FFF2-40B4-BE49-F238E27FC236}">
                  <a16:creationId xmlns:a16="http://schemas.microsoft.com/office/drawing/2014/main" id="{815E0C92-075A-4FA5-A59F-F16A6A7D5404}"/>
                </a:ext>
              </a:extLst>
            </p:cNvPr>
            <p:cNvSpPr>
              <a:spLocks noChangeShapeType="1"/>
            </p:cNvSpPr>
            <p:nvPr/>
          </p:nvSpPr>
          <p:spPr bwMode="auto">
            <a:xfrm>
              <a:off x="2153432" y="4393765"/>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1" name="Line 19">
              <a:extLst>
                <a:ext uri="{FF2B5EF4-FFF2-40B4-BE49-F238E27FC236}">
                  <a16:creationId xmlns:a16="http://schemas.microsoft.com/office/drawing/2014/main" id="{9778CF28-DCEC-497F-8291-7FC984A0277B}"/>
                </a:ext>
              </a:extLst>
            </p:cNvPr>
            <p:cNvSpPr>
              <a:spLocks noChangeShapeType="1"/>
            </p:cNvSpPr>
            <p:nvPr/>
          </p:nvSpPr>
          <p:spPr bwMode="auto">
            <a:xfrm>
              <a:off x="2153432" y="4684955"/>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2" name="Line 20">
              <a:extLst>
                <a:ext uri="{FF2B5EF4-FFF2-40B4-BE49-F238E27FC236}">
                  <a16:creationId xmlns:a16="http://schemas.microsoft.com/office/drawing/2014/main" id="{ED692266-F3CD-49D3-B16B-1054589F7CE4}"/>
                </a:ext>
              </a:extLst>
            </p:cNvPr>
            <p:cNvSpPr>
              <a:spLocks noChangeShapeType="1"/>
            </p:cNvSpPr>
            <p:nvPr/>
          </p:nvSpPr>
          <p:spPr bwMode="auto">
            <a:xfrm>
              <a:off x="2153432" y="4978792"/>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3" name="Line 21">
              <a:extLst>
                <a:ext uri="{FF2B5EF4-FFF2-40B4-BE49-F238E27FC236}">
                  <a16:creationId xmlns:a16="http://schemas.microsoft.com/office/drawing/2014/main" id="{4B174C43-32F4-4726-85DC-C4980AE6DD44}"/>
                </a:ext>
              </a:extLst>
            </p:cNvPr>
            <p:cNvSpPr>
              <a:spLocks noChangeShapeType="1"/>
            </p:cNvSpPr>
            <p:nvPr/>
          </p:nvSpPr>
          <p:spPr bwMode="auto">
            <a:xfrm>
              <a:off x="2153432" y="5269983"/>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4" name="Line 22">
              <a:extLst>
                <a:ext uri="{FF2B5EF4-FFF2-40B4-BE49-F238E27FC236}">
                  <a16:creationId xmlns:a16="http://schemas.microsoft.com/office/drawing/2014/main" id="{56A708C1-7D59-4826-BF97-2606AD7086C8}"/>
                </a:ext>
              </a:extLst>
            </p:cNvPr>
            <p:cNvSpPr>
              <a:spLocks noChangeShapeType="1"/>
            </p:cNvSpPr>
            <p:nvPr/>
          </p:nvSpPr>
          <p:spPr bwMode="auto">
            <a:xfrm>
              <a:off x="2153432" y="5563820"/>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5" name="Line 23">
              <a:extLst>
                <a:ext uri="{FF2B5EF4-FFF2-40B4-BE49-F238E27FC236}">
                  <a16:creationId xmlns:a16="http://schemas.microsoft.com/office/drawing/2014/main" id="{23021A0C-EA96-4EF8-AE46-ED39CB99EE0B}"/>
                </a:ext>
              </a:extLst>
            </p:cNvPr>
            <p:cNvSpPr>
              <a:spLocks noChangeShapeType="1"/>
            </p:cNvSpPr>
            <p:nvPr/>
          </p:nvSpPr>
          <p:spPr bwMode="auto">
            <a:xfrm>
              <a:off x="4086317" y="4535389"/>
              <a:ext cx="406364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26" name="AutoShape 24">
              <a:extLst>
                <a:ext uri="{FF2B5EF4-FFF2-40B4-BE49-F238E27FC236}">
                  <a16:creationId xmlns:a16="http://schemas.microsoft.com/office/drawing/2014/main" id="{1FCE605D-693F-4640-BA94-53A8A2D11E62}"/>
                </a:ext>
              </a:extLst>
            </p:cNvPr>
            <p:cNvSpPr>
              <a:spLocks noChangeArrowheads="1"/>
            </p:cNvSpPr>
            <p:nvPr/>
          </p:nvSpPr>
          <p:spPr bwMode="auto">
            <a:xfrm rot="5400000">
              <a:off x="4861444" y="4398013"/>
              <a:ext cx="295161" cy="268137"/>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27" name="Rectangle 25">
              <a:extLst>
                <a:ext uri="{FF2B5EF4-FFF2-40B4-BE49-F238E27FC236}">
                  <a16:creationId xmlns:a16="http://schemas.microsoft.com/office/drawing/2014/main" id="{646BED61-E3FE-4F86-8CF3-26E34D2AF9D8}"/>
                </a:ext>
              </a:extLst>
            </p:cNvPr>
            <p:cNvSpPr>
              <a:spLocks noChangeArrowheads="1"/>
            </p:cNvSpPr>
            <p:nvPr/>
          </p:nvSpPr>
          <p:spPr bwMode="auto">
            <a:xfrm>
              <a:off x="2563523" y="3435484"/>
              <a:ext cx="448807" cy="164125"/>
            </a:xfrm>
            <a:prstGeom prst="rect">
              <a:avLst/>
            </a:prstGeom>
            <a:solidFill>
              <a:srgbClr val="FFFFCC"/>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28" name="Rectangle 26">
              <a:extLst>
                <a:ext uri="{FF2B5EF4-FFF2-40B4-BE49-F238E27FC236}">
                  <a16:creationId xmlns:a16="http://schemas.microsoft.com/office/drawing/2014/main" id="{012E2EAE-A22E-414A-871C-611CD98F596D}"/>
                </a:ext>
              </a:extLst>
            </p:cNvPr>
            <p:cNvSpPr>
              <a:spLocks noChangeArrowheads="1"/>
            </p:cNvSpPr>
            <p:nvPr/>
          </p:nvSpPr>
          <p:spPr bwMode="auto">
            <a:xfrm>
              <a:off x="2563523" y="3726676"/>
              <a:ext cx="448807" cy="162801"/>
            </a:xfrm>
            <a:prstGeom prst="rect">
              <a:avLst/>
            </a:prstGeom>
            <a:solidFill>
              <a:srgbClr val="CCFF99"/>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29" name="Rectangle 27">
              <a:extLst>
                <a:ext uri="{FF2B5EF4-FFF2-40B4-BE49-F238E27FC236}">
                  <a16:creationId xmlns:a16="http://schemas.microsoft.com/office/drawing/2014/main" id="{6BFB582F-FC49-475D-84DE-BDD58A74FCA9}"/>
                </a:ext>
              </a:extLst>
            </p:cNvPr>
            <p:cNvSpPr>
              <a:spLocks noChangeArrowheads="1"/>
            </p:cNvSpPr>
            <p:nvPr/>
          </p:nvSpPr>
          <p:spPr bwMode="auto">
            <a:xfrm>
              <a:off x="2563523" y="4019189"/>
              <a:ext cx="448807" cy="162803"/>
            </a:xfrm>
            <a:prstGeom prst="rect">
              <a:avLst/>
            </a:prstGeom>
            <a:solidFill>
              <a:srgbClr val="CCCC00"/>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0" name="Rectangle 28">
              <a:extLst>
                <a:ext uri="{FF2B5EF4-FFF2-40B4-BE49-F238E27FC236}">
                  <a16:creationId xmlns:a16="http://schemas.microsoft.com/office/drawing/2014/main" id="{6B6FC81D-B5C0-49FE-B58C-589F5E05F3A4}"/>
                </a:ext>
              </a:extLst>
            </p:cNvPr>
            <p:cNvSpPr>
              <a:spLocks noChangeArrowheads="1"/>
            </p:cNvSpPr>
            <p:nvPr/>
          </p:nvSpPr>
          <p:spPr bwMode="auto">
            <a:xfrm>
              <a:off x="2563523" y="4311704"/>
              <a:ext cx="448807" cy="162801"/>
            </a:xfrm>
            <a:prstGeom prst="rect">
              <a:avLst/>
            </a:prstGeom>
            <a:solidFill>
              <a:srgbClr val="00CC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1" name="Rectangle 29">
              <a:extLst>
                <a:ext uri="{FF2B5EF4-FFF2-40B4-BE49-F238E27FC236}">
                  <a16:creationId xmlns:a16="http://schemas.microsoft.com/office/drawing/2014/main" id="{B188228A-650E-49DC-A292-58ACD4923B8D}"/>
                </a:ext>
              </a:extLst>
            </p:cNvPr>
            <p:cNvSpPr>
              <a:spLocks noChangeArrowheads="1"/>
            </p:cNvSpPr>
            <p:nvPr/>
          </p:nvSpPr>
          <p:spPr bwMode="auto">
            <a:xfrm>
              <a:off x="2563523" y="4604216"/>
              <a:ext cx="448807" cy="162803"/>
            </a:xfrm>
            <a:prstGeom prst="rect">
              <a:avLst/>
            </a:prstGeom>
            <a:solidFill>
              <a:srgbClr val="FF99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2" name="Rectangle 30">
              <a:extLst>
                <a:ext uri="{FF2B5EF4-FFF2-40B4-BE49-F238E27FC236}">
                  <a16:creationId xmlns:a16="http://schemas.microsoft.com/office/drawing/2014/main" id="{6404D7FF-0F82-439B-8B43-5A0BD2C4EB0C}"/>
                </a:ext>
              </a:extLst>
            </p:cNvPr>
            <p:cNvSpPr>
              <a:spLocks noChangeArrowheads="1"/>
            </p:cNvSpPr>
            <p:nvPr/>
          </p:nvSpPr>
          <p:spPr bwMode="auto">
            <a:xfrm>
              <a:off x="2563523" y="4896730"/>
              <a:ext cx="448807" cy="162801"/>
            </a:xfrm>
            <a:prstGeom prst="rect">
              <a:avLst/>
            </a:prstGeom>
            <a:solidFill>
              <a:srgbClr val="00CC00"/>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3" name="Rectangle 31">
              <a:extLst>
                <a:ext uri="{FF2B5EF4-FFF2-40B4-BE49-F238E27FC236}">
                  <a16:creationId xmlns:a16="http://schemas.microsoft.com/office/drawing/2014/main" id="{7F426911-E1A3-414C-AFDD-1DFDA6096150}"/>
                </a:ext>
              </a:extLst>
            </p:cNvPr>
            <p:cNvSpPr>
              <a:spLocks noChangeArrowheads="1"/>
            </p:cNvSpPr>
            <p:nvPr/>
          </p:nvSpPr>
          <p:spPr bwMode="auto">
            <a:xfrm>
              <a:off x="2563523" y="5189244"/>
              <a:ext cx="448807" cy="162803"/>
            </a:xfrm>
            <a:prstGeom prst="rect">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4" name="Rectangle 32">
              <a:extLst>
                <a:ext uri="{FF2B5EF4-FFF2-40B4-BE49-F238E27FC236}">
                  <a16:creationId xmlns:a16="http://schemas.microsoft.com/office/drawing/2014/main" id="{B00212BF-A776-4BA6-9327-03CBF926288E}"/>
                </a:ext>
              </a:extLst>
            </p:cNvPr>
            <p:cNvSpPr>
              <a:spLocks noChangeArrowheads="1"/>
            </p:cNvSpPr>
            <p:nvPr/>
          </p:nvSpPr>
          <p:spPr bwMode="auto">
            <a:xfrm>
              <a:off x="2563523" y="5480434"/>
              <a:ext cx="448807" cy="164125"/>
            </a:xfrm>
            <a:prstGeom prst="rect">
              <a:avLst/>
            </a:prstGeom>
            <a:solidFill>
              <a:srgbClr val="3399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5" name="Text Box 33">
              <a:extLst>
                <a:ext uri="{FF2B5EF4-FFF2-40B4-BE49-F238E27FC236}">
                  <a16:creationId xmlns:a16="http://schemas.microsoft.com/office/drawing/2014/main" id="{E4DD038E-4D7B-466B-A1DE-CF3F4C53FA38}"/>
                </a:ext>
              </a:extLst>
            </p:cNvPr>
            <p:cNvSpPr txBox="1">
              <a:spLocks noChangeArrowheads="1"/>
            </p:cNvSpPr>
            <p:nvPr/>
          </p:nvSpPr>
          <p:spPr bwMode="auto">
            <a:xfrm>
              <a:off x="5068529" y="3663143"/>
              <a:ext cx="1178528"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ea typeface="黑体" pitchFamily="2" charset="-122"/>
                </a:rPr>
                <a:t>20 </a:t>
              </a:r>
              <a:r>
                <a:rPr kumimoji="1" lang="en-US" altLang="zh-CN" sz="1867" b="1" dirty="0" err="1">
                  <a:ea typeface="黑体" pitchFamily="2" charset="-122"/>
                </a:rPr>
                <a:t>Gbit</a:t>
              </a:r>
              <a:r>
                <a:rPr kumimoji="1" lang="en-US" altLang="zh-CN" sz="1867" b="1" dirty="0">
                  <a:ea typeface="黑体" pitchFamily="2" charset="-122"/>
                </a:rPr>
                <a:t>/s</a:t>
              </a:r>
            </a:p>
          </p:txBody>
        </p:sp>
        <p:sp>
          <p:nvSpPr>
            <p:cNvPr id="36" name="AutoShape 34">
              <a:extLst>
                <a:ext uri="{FF2B5EF4-FFF2-40B4-BE49-F238E27FC236}">
                  <a16:creationId xmlns:a16="http://schemas.microsoft.com/office/drawing/2014/main" id="{75E8031E-2689-4B39-9C41-BF49C84537D7}"/>
                </a:ext>
              </a:extLst>
            </p:cNvPr>
            <p:cNvSpPr>
              <a:spLocks noChangeArrowheads="1"/>
            </p:cNvSpPr>
            <p:nvPr/>
          </p:nvSpPr>
          <p:spPr bwMode="auto">
            <a:xfrm rot="16200000">
              <a:off x="2825925" y="4314901"/>
              <a:ext cx="2701451" cy="450243"/>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99FF99"/>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7" name="AutoShape 35">
              <a:extLst>
                <a:ext uri="{FF2B5EF4-FFF2-40B4-BE49-F238E27FC236}">
                  <a16:creationId xmlns:a16="http://schemas.microsoft.com/office/drawing/2014/main" id="{C33B9D53-1AB9-41B9-89B5-A51965EACF79}"/>
                </a:ext>
              </a:extLst>
            </p:cNvPr>
            <p:cNvSpPr>
              <a:spLocks noChangeArrowheads="1"/>
            </p:cNvSpPr>
            <p:nvPr/>
          </p:nvSpPr>
          <p:spPr bwMode="auto">
            <a:xfrm rot="5400000" flipH="1">
              <a:off x="6625020" y="4315619"/>
              <a:ext cx="2701451" cy="448807"/>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00FFCC"/>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8" name="Rectangle 36">
              <a:extLst>
                <a:ext uri="{FF2B5EF4-FFF2-40B4-BE49-F238E27FC236}">
                  <a16:creationId xmlns:a16="http://schemas.microsoft.com/office/drawing/2014/main" id="{D7DD19CB-D7DE-43E5-A933-3961A9B58020}"/>
                </a:ext>
              </a:extLst>
            </p:cNvPr>
            <p:cNvSpPr>
              <a:spLocks noChangeArrowheads="1"/>
            </p:cNvSpPr>
            <p:nvPr/>
          </p:nvSpPr>
          <p:spPr bwMode="auto">
            <a:xfrm>
              <a:off x="9203871" y="3435484"/>
              <a:ext cx="448808" cy="164125"/>
            </a:xfrm>
            <a:prstGeom prst="rect">
              <a:avLst/>
            </a:prstGeom>
            <a:solidFill>
              <a:srgbClr val="FFFFCC"/>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9" name="Rectangle 37">
              <a:extLst>
                <a:ext uri="{FF2B5EF4-FFF2-40B4-BE49-F238E27FC236}">
                  <a16:creationId xmlns:a16="http://schemas.microsoft.com/office/drawing/2014/main" id="{EA0365B1-9443-4642-BCF4-F87366912B68}"/>
                </a:ext>
              </a:extLst>
            </p:cNvPr>
            <p:cNvSpPr>
              <a:spLocks noChangeArrowheads="1"/>
            </p:cNvSpPr>
            <p:nvPr/>
          </p:nvSpPr>
          <p:spPr bwMode="auto">
            <a:xfrm>
              <a:off x="9203871" y="3726676"/>
              <a:ext cx="448808" cy="162801"/>
            </a:xfrm>
            <a:prstGeom prst="rect">
              <a:avLst/>
            </a:prstGeom>
            <a:solidFill>
              <a:srgbClr val="CCFF99"/>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0" name="Rectangle 38">
              <a:extLst>
                <a:ext uri="{FF2B5EF4-FFF2-40B4-BE49-F238E27FC236}">
                  <a16:creationId xmlns:a16="http://schemas.microsoft.com/office/drawing/2014/main" id="{B9D1E491-E74D-4D6F-A946-F30112A19D5E}"/>
                </a:ext>
              </a:extLst>
            </p:cNvPr>
            <p:cNvSpPr>
              <a:spLocks noChangeArrowheads="1"/>
            </p:cNvSpPr>
            <p:nvPr/>
          </p:nvSpPr>
          <p:spPr bwMode="auto">
            <a:xfrm>
              <a:off x="9203871" y="4019189"/>
              <a:ext cx="448808" cy="162803"/>
            </a:xfrm>
            <a:prstGeom prst="rect">
              <a:avLst/>
            </a:prstGeom>
            <a:solidFill>
              <a:srgbClr val="CCCC00"/>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1" name="Rectangle 39">
              <a:extLst>
                <a:ext uri="{FF2B5EF4-FFF2-40B4-BE49-F238E27FC236}">
                  <a16:creationId xmlns:a16="http://schemas.microsoft.com/office/drawing/2014/main" id="{09AB8A16-B443-43B2-B935-24C1E9B64564}"/>
                </a:ext>
              </a:extLst>
            </p:cNvPr>
            <p:cNvSpPr>
              <a:spLocks noChangeArrowheads="1"/>
            </p:cNvSpPr>
            <p:nvPr/>
          </p:nvSpPr>
          <p:spPr bwMode="auto">
            <a:xfrm>
              <a:off x="9203871" y="4311704"/>
              <a:ext cx="448808" cy="162801"/>
            </a:xfrm>
            <a:prstGeom prst="rect">
              <a:avLst/>
            </a:prstGeom>
            <a:solidFill>
              <a:srgbClr val="00CC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2" name="Rectangle 40">
              <a:extLst>
                <a:ext uri="{FF2B5EF4-FFF2-40B4-BE49-F238E27FC236}">
                  <a16:creationId xmlns:a16="http://schemas.microsoft.com/office/drawing/2014/main" id="{106DE0B5-ABC0-4B0B-874F-7252502AF1EF}"/>
                </a:ext>
              </a:extLst>
            </p:cNvPr>
            <p:cNvSpPr>
              <a:spLocks noChangeArrowheads="1"/>
            </p:cNvSpPr>
            <p:nvPr/>
          </p:nvSpPr>
          <p:spPr bwMode="auto">
            <a:xfrm>
              <a:off x="9203871" y="4604216"/>
              <a:ext cx="448808" cy="162803"/>
            </a:xfrm>
            <a:prstGeom prst="rect">
              <a:avLst/>
            </a:prstGeom>
            <a:solidFill>
              <a:srgbClr val="FF99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3" name="Rectangle 41">
              <a:extLst>
                <a:ext uri="{FF2B5EF4-FFF2-40B4-BE49-F238E27FC236}">
                  <a16:creationId xmlns:a16="http://schemas.microsoft.com/office/drawing/2014/main" id="{81AC332A-9FC5-4E23-8BD4-2479D94335C0}"/>
                </a:ext>
              </a:extLst>
            </p:cNvPr>
            <p:cNvSpPr>
              <a:spLocks noChangeArrowheads="1"/>
            </p:cNvSpPr>
            <p:nvPr/>
          </p:nvSpPr>
          <p:spPr bwMode="auto">
            <a:xfrm>
              <a:off x="9203871" y="4896730"/>
              <a:ext cx="448808" cy="162801"/>
            </a:xfrm>
            <a:prstGeom prst="rect">
              <a:avLst/>
            </a:prstGeom>
            <a:solidFill>
              <a:srgbClr val="00CC00"/>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4" name="Rectangle 42">
              <a:extLst>
                <a:ext uri="{FF2B5EF4-FFF2-40B4-BE49-F238E27FC236}">
                  <a16:creationId xmlns:a16="http://schemas.microsoft.com/office/drawing/2014/main" id="{8A1495DF-CC7C-44FA-A80F-3EC45130B449}"/>
                </a:ext>
              </a:extLst>
            </p:cNvPr>
            <p:cNvSpPr>
              <a:spLocks noChangeArrowheads="1"/>
            </p:cNvSpPr>
            <p:nvPr/>
          </p:nvSpPr>
          <p:spPr bwMode="auto">
            <a:xfrm>
              <a:off x="9203871" y="5189244"/>
              <a:ext cx="448808" cy="162803"/>
            </a:xfrm>
            <a:prstGeom prst="rect">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5" name="Rectangle 43">
              <a:extLst>
                <a:ext uri="{FF2B5EF4-FFF2-40B4-BE49-F238E27FC236}">
                  <a16:creationId xmlns:a16="http://schemas.microsoft.com/office/drawing/2014/main" id="{96B0CA20-9265-44AE-B5C3-94F0D4F121DC}"/>
                </a:ext>
              </a:extLst>
            </p:cNvPr>
            <p:cNvSpPr>
              <a:spLocks noChangeArrowheads="1"/>
            </p:cNvSpPr>
            <p:nvPr/>
          </p:nvSpPr>
          <p:spPr bwMode="auto">
            <a:xfrm>
              <a:off x="9203871" y="5480434"/>
              <a:ext cx="448808" cy="164125"/>
            </a:xfrm>
            <a:prstGeom prst="rect">
              <a:avLst/>
            </a:prstGeom>
            <a:solidFill>
              <a:srgbClr val="3399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6" name="AutoShape 44">
              <a:extLst>
                <a:ext uri="{FF2B5EF4-FFF2-40B4-BE49-F238E27FC236}">
                  <a16:creationId xmlns:a16="http://schemas.microsoft.com/office/drawing/2014/main" id="{1463AF73-9A74-4A68-B0DD-3F7E977B6D77}"/>
                </a:ext>
              </a:extLst>
            </p:cNvPr>
            <p:cNvSpPr>
              <a:spLocks noChangeArrowheads="1"/>
            </p:cNvSpPr>
            <p:nvPr/>
          </p:nvSpPr>
          <p:spPr bwMode="auto">
            <a:xfrm rot="5400000">
              <a:off x="5923240" y="4398729"/>
              <a:ext cx="295161" cy="266704"/>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7" name="AutoShape 45">
              <a:extLst>
                <a:ext uri="{FF2B5EF4-FFF2-40B4-BE49-F238E27FC236}">
                  <a16:creationId xmlns:a16="http://schemas.microsoft.com/office/drawing/2014/main" id="{E6D7697E-5503-4AB8-A6CE-AED56C85EC90}"/>
                </a:ext>
              </a:extLst>
            </p:cNvPr>
            <p:cNvSpPr>
              <a:spLocks noChangeArrowheads="1"/>
            </p:cNvSpPr>
            <p:nvPr/>
          </p:nvSpPr>
          <p:spPr bwMode="auto">
            <a:xfrm rot="5400000">
              <a:off x="7018016" y="4398013"/>
              <a:ext cx="295161" cy="268137"/>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8" name="Line 46">
              <a:extLst>
                <a:ext uri="{FF2B5EF4-FFF2-40B4-BE49-F238E27FC236}">
                  <a16:creationId xmlns:a16="http://schemas.microsoft.com/office/drawing/2014/main" id="{306D4914-0C00-41D3-8ADC-C41CB9A26472}"/>
                </a:ext>
              </a:extLst>
            </p:cNvPr>
            <p:cNvSpPr>
              <a:spLocks noChangeShapeType="1"/>
            </p:cNvSpPr>
            <p:nvPr/>
          </p:nvSpPr>
          <p:spPr bwMode="auto">
            <a:xfrm flipH="1">
              <a:off x="5386854" y="4008599"/>
              <a:ext cx="116145" cy="518848"/>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49" name="Text Box 47">
              <a:extLst>
                <a:ext uri="{FF2B5EF4-FFF2-40B4-BE49-F238E27FC236}">
                  <a16:creationId xmlns:a16="http://schemas.microsoft.com/office/drawing/2014/main" id="{8BF85F6A-0BC3-43DF-B557-F44E986A966B}"/>
                </a:ext>
              </a:extLst>
            </p:cNvPr>
            <p:cNvSpPr txBox="1">
              <a:spLocks noChangeArrowheads="1"/>
            </p:cNvSpPr>
            <p:nvPr/>
          </p:nvSpPr>
          <p:spPr bwMode="auto">
            <a:xfrm>
              <a:off x="3923671" y="4077963"/>
              <a:ext cx="458780" cy="10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133" b="1" dirty="0">
                  <a:latin typeface="微软雅黑" pitchFamily="34" charset="-122"/>
                  <a:ea typeface="微软雅黑" pitchFamily="34" charset="-122"/>
                </a:rPr>
                <a:t>复</a:t>
              </a:r>
            </a:p>
            <a:p>
              <a:pPr algn="l"/>
              <a:r>
                <a:rPr kumimoji="1" lang="zh-CN" altLang="en-US" sz="2133" b="1" dirty="0">
                  <a:latin typeface="微软雅黑" pitchFamily="34" charset="-122"/>
                  <a:ea typeface="微软雅黑" pitchFamily="34" charset="-122"/>
                </a:rPr>
                <a:t>用</a:t>
              </a:r>
            </a:p>
            <a:p>
              <a:pPr algn="l"/>
              <a:r>
                <a:rPr kumimoji="1" lang="zh-CN" altLang="en-US" sz="2133" b="1" dirty="0">
                  <a:latin typeface="微软雅黑" pitchFamily="34" charset="-122"/>
                  <a:ea typeface="微软雅黑" pitchFamily="34" charset="-122"/>
                </a:rPr>
                <a:t>器</a:t>
              </a:r>
            </a:p>
          </p:txBody>
        </p:sp>
        <p:sp>
          <p:nvSpPr>
            <p:cNvPr id="50" name="Text Box 48">
              <a:extLst>
                <a:ext uri="{FF2B5EF4-FFF2-40B4-BE49-F238E27FC236}">
                  <a16:creationId xmlns:a16="http://schemas.microsoft.com/office/drawing/2014/main" id="{B4AB01AA-914B-4DB8-A72B-4910B1CDDE5C}"/>
                </a:ext>
              </a:extLst>
            </p:cNvPr>
            <p:cNvSpPr txBox="1">
              <a:spLocks noChangeArrowheads="1"/>
            </p:cNvSpPr>
            <p:nvPr/>
          </p:nvSpPr>
          <p:spPr bwMode="auto">
            <a:xfrm>
              <a:off x="7713651" y="4077963"/>
              <a:ext cx="458780" cy="10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133" b="1" dirty="0">
                  <a:latin typeface="微软雅黑" pitchFamily="34" charset="-122"/>
                  <a:ea typeface="微软雅黑" pitchFamily="34" charset="-122"/>
                </a:rPr>
                <a:t>分</a:t>
              </a:r>
            </a:p>
            <a:p>
              <a:pPr algn="l"/>
              <a:r>
                <a:rPr kumimoji="1" lang="zh-CN" altLang="en-US" sz="2133" b="1" dirty="0">
                  <a:latin typeface="微软雅黑" pitchFamily="34" charset="-122"/>
                  <a:ea typeface="微软雅黑" pitchFamily="34" charset="-122"/>
                </a:rPr>
                <a:t>用</a:t>
              </a:r>
            </a:p>
            <a:p>
              <a:pPr algn="l"/>
              <a:r>
                <a:rPr kumimoji="1" lang="zh-CN" altLang="en-US" sz="2133" b="1" dirty="0">
                  <a:latin typeface="微软雅黑" pitchFamily="34" charset="-122"/>
                  <a:ea typeface="微软雅黑" pitchFamily="34" charset="-122"/>
                </a:rPr>
                <a:t>器</a:t>
              </a:r>
            </a:p>
          </p:txBody>
        </p:sp>
        <p:sp>
          <p:nvSpPr>
            <p:cNvPr id="51" name="Text Box 49">
              <a:extLst>
                <a:ext uri="{FF2B5EF4-FFF2-40B4-BE49-F238E27FC236}">
                  <a16:creationId xmlns:a16="http://schemas.microsoft.com/office/drawing/2014/main" id="{1572467E-78D1-43C5-BB08-1D3C40E94370}"/>
                </a:ext>
              </a:extLst>
            </p:cNvPr>
            <p:cNvSpPr txBox="1">
              <a:spLocks noChangeArrowheads="1"/>
            </p:cNvSpPr>
            <p:nvPr/>
          </p:nvSpPr>
          <p:spPr bwMode="auto">
            <a:xfrm>
              <a:off x="6132478" y="3746529"/>
              <a:ext cx="184731" cy="66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kumimoji="1" lang="en-US" altLang="zh-CN" sz="1867" b="1" dirty="0">
                <a:ea typeface="黑体" pitchFamily="2" charset="-122"/>
              </a:endParaRPr>
            </a:p>
            <a:p>
              <a:pPr algn="l"/>
              <a:endParaRPr kumimoji="1" lang="en-US" altLang="zh-CN" sz="1867" b="1" dirty="0">
                <a:ea typeface="黑体" pitchFamily="2" charset="-122"/>
              </a:endParaRPr>
            </a:p>
          </p:txBody>
        </p:sp>
        <p:sp>
          <p:nvSpPr>
            <p:cNvPr id="52" name="Line 50">
              <a:extLst>
                <a:ext uri="{FF2B5EF4-FFF2-40B4-BE49-F238E27FC236}">
                  <a16:creationId xmlns:a16="http://schemas.microsoft.com/office/drawing/2014/main" id="{84FCF3D1-8F6F-475D-9F16-FC3BE7A24B67}"/>
                </a:ext>
              </a:extLst>
            </p:cNvPr>
            <p:cNvSpPr>
              <a:spLocks noChangeShapeType="1"/>
            </p:cNvSpPr>
            <p:nvPr/>
          </p:nvSpPr>
          <p:spPr bwMode="auto">
            <a:xfrm flipH="1">
              <a:off x="6096629" y="4089340"/>
              <a:ext cx="395755" cy="36001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53" name="Line 51">
              <a:extLst>
                <a:ext uri="{FF2B5EF4-FFF2-40B4-BE49-F238E27FC236}">
                  <a16:creationId xmlns:a16="http://schemas.microsoft.com/office/drawing/2014/main" id="{716EAA63-09F9-4D57-8E48-EE4A2247062D}"/>
                </a:ext>
              </a:extLst>
            </p:cNvPr>
            <p:cNvSpPr>
              <a:spLocks noChangeShapeType="1"/>
            </p:cNvSpPr>
            <p:nvPr/>
          </p:nvSpPr>
          <p:spPr bwMode="auto">
            <a:xfrm>
              <a:off x="4963856" y="4744516"/>
              <a:ext cx="0" cy="164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54" name="Line 52">
              <a:extLst>
                <a:ext uri="{FF2B5EF4-FFF2-40B4-BE49-F238E27FC236}">
                  <a16:creationId xmlns:a16="http://schemas.microsoft.com/office/drawing/2014/main" id="{3CF96B92-738F-48E7-8013-A5F949D2ED70}"/>
                </a:ext>
              </a:extLst>
            </p:cNvPr>
            <p:cNvSpPr>
              <a:spLocks noChangeShapeType="1"/>
            </p:cNvSpPr>
            <p:nvPr/>
          </p:nvSpPr>
          <p:spPr bwMode="auto">
            <a:xfrm>
              <a:off x="6042143" y="4744516"/>
              <a:ext cx="0" cy="164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55" name="Line 53">
              <a:extLst>
                <a:ext uri="{FF2B5EF4-FFF2-40B4-BE49-F238E27FC236}">
                  <a16:creationId xmlns:a16="http://schemas.microsoft.com/office/drawing/2014/main" id="{89D042E1-3AB6-47E8-89C7-F1F907CDF5AB}"/>
                </a:ext>
              </a:extLst>
            </p:cNvPr>
            <p:cNvSpPr>
              <a:spLocks noChangeShapeType="1"/>
            </p:cNvSpPr>
            <p:nvPr/>
          </p:nvSpPr>
          <p:spPr bwMode="auto">
            <a:xfrm>
              <a:off x="4960988" y="4825256"/>
              <a:ext cx="1079720"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56" name="Text Box 55">
              <a:extLst>
                <a:ext uri="{FF2B5EF4-FFF2-40B4-BE49-F238E27FC236}">
                  <a16:creationId xmlns:a16="http://schemas.microsoft.com/office/drawing/2014/main" id="{DC569FC0-4F40-4C1C-96F1-436FB9F238A1}"/>
                </a:ext>
              </a:extLst>
            </p:cNvPr>
            <p:cNvSpPr txBox="1">
              <a:spLocks noChangeArrowheads="1"/>
            </p:cNvSpPr>
            <p:nvPr/>
          </p:nvSpPr>
          <p:spPr bwMode="auto">
            <a:xfrm>
              <a:off x="2256054" y="2683879"/>
              <a:ext cx="1005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dirty="0">
                  <a:latin typeface="微软雅黑" pitchFamily="34" charset="-122"/>
                  <a:ea typeface="微软雅黑" pitchFamily="34" charset="-122"/>
                </a:rPr>
                <a:t>光调制器</a:t>
              </a:r>
            </a:p>
          </p:txBody>
        </p:sp>
        <p:sp>
          <p:nvSpPr>
            <p:cNvPr id="57" name="Line 56">
              <a:extLst>
                <a:ext uri="{FF2B5EF4-FFF2-40B4-BE49-F238E27FC236}">
                  <a16:creationId xmlns:a16="http://schemas.microsoft.com/office/drawing/2014/main" id="{3B0B092E-C8A2-466C-B0DE-8BDC5EE6FBE7}"/>
                </a:ext>
              </a:extLst>
            </p:cNvPr>
            <p:cNvSpPr>
              <a:spLocks noChangeShapeType="1"/>
            </p:cNvSpPr>
            <p:nvPr/>
          </p:nvSpPr>
          <p:spPr bwMode="auto">
            <a:xfrm>
              <a:off x="2785971" y="3008313"/>
              <a:ext cx="0" cy="4271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58" name="Text Box 57">
              <a:extLst>
                <a:ext uri="{FF2B5EF4-FFF2-40B4-BE49-F238E27FC236}">
                  <a16:creationId xmlns:a16="http://schemas.microsoft.com/office/drawing/2014/main" id="{5E846633-7C81-4BF2-BC7C-EEF53868EF3D}"/>
                </a:ext>
              </a:extLst>
            </p:cNvPr>
            <p:cNvSpPr txBox="1">
              <a:spLocks noChangeArrowheads="1"/>
            </p:cNvSpPr>
            <p:nvPr/>
          </p:nvSpPr>
          <p:spPr bwMode="auto">
            <a:xfrm>
              <a:off x="8897249" y="2696579"/>
              <a:ext cx="1005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dirty="0">
                  <a:latin typeface="微软雅黑" pitchFamily="34" charset="-122"/>
                  <a:ea typeface="微软雅黑" pitchFamily="34" charset="-122"/>
                </a:rPr>
                <a:t>光解调器</a:t>
              </a:r>
            </a:p>
          </p:txBody>
        </p:sp>
        <p:sp>
          <p:nvSpPr>
            <p:cNvPr id="59" name="Line 58">
              <a:extLst>
                <a:ext uri="{FF2B5EF4-FFF2-40B4-BE49-F238E27FC236}">
                  <a16:creationId xmlns:a16="http://schemas.microsoft.com/office/drawing/2014/main" id="{B2EA24A0-2B0A-4298-9B2C-0BD45E82AC52}"/>
                </a:ext>
              </a:extLst>
            </p:cNvPr>
            <p:cNvSpPr>
              <a:spLocks noChangeShapeType="1"/>
            </p:cNvSpPr>
            <p:nvPr/>
          </p:nvSpPr>
          <p:spPr bwMode="auto">
            <a:xfrm>
              <a:off x="9418935" y="3008313"/>
              <a:ext cx="0" cy="4271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60" name="Text Box 6">
              <a:extLst>
                <a:ext uri="{FF2B5EF4-FFF2-40B4-BE49-F238E27FC236}">
                  <a16:creationId xmlns:a16="http://schemas.microsoft.com/office/drawing/2014/main" id="{4FE6109E-F2E0-4533-9E1C-26EB0EDADE8F}"/>
                </a:ext>
              </a:extLst>
            </p:cNvPr>
            <p:cNvSpPr txBox="1">
              <a:spLocks noChangeArrowheads="1"/>
            </p:cNvSpPr>
            <p:nvPr/>
          </p:nvSpPr>
          <p:spPr bwMode="auto">
            <a:xfrm>
              <a:off x="8695024" y="5805349"/>
              <a:ext cx="1888435" cy="666977"/>
            </a:xfrm>
            <a:prstGeom prst="rect">
              <a:avLst/>
            </a:prstGeom>
            <a:solidFill>
              <a:schemeClr val="bg1"/>
            </a:solidFill>
            <a:ln w="19050">
              <a:solidFill>
                <a:srgbClr val="333399"/>
              </a:solidFill>
              <a:miter lim="800000"/>
              <a:headEnd/>
              <a:tailEnd/>
            </a:ln>
            <a:effectLst/>
          </p:spPr>
          <p:txBody>
            <a:bodyPr wrap="square">
              <a:spAutoFit/>
            </a:bodyPr>
            <a:lstStyle/>
            <a:p>
              <a:r>
                <a:rPr kumimoji="1" lang="en-US" altLang="zh-CN" sz="1867" b="1" dirty="0">
                  <a:ea typeface="黑体" pitchFamily="2" charset="-122"/>
                </a:rPr>
                <a:t>8 </a:t>
              </a:r>
              <a:r>
                <a:rPr kumimoji="1" lang="en-US" altLang="zh-CN" sz="1867" b="1" dirty="0">
                  <a:ea typeface="黑体" pitchFamily="2" charset="-122"/>
                  <a:sym typeface="Symbol" pitchFamily="18" charset="2"/>
                </a:rPr>
                <a:t> </a:t>
              </a:r>
              <a:r>
                <a:rPr kumimoji="1" lang="en-US" altLang="zh-CN" sz="1867" b="1" dirty="0">
                  <a:ea typeface="黑体" pitchFamily="2" charset="-122"/>
                </a:rPr>
                <a:t>2.5 </a:t>
              </a:r>
              <a:r>
                <a:rPr kumimoji="1" lang="en-US" altLang="zh-CN" sz="1867" b="1" dirty="0" err="1">
                  <a:ea typeface="黑体" pitchFamily="2" charset="-122"/>
                </a:rPr>
                <a:t>Gbit</a:t>
              </a:r>
              <a:r>
                <a:rPr kumimoji="1" lang="en-US" altLang="zh-CN" sz="1867" b="1" dirty="0">
                  <a:ea typeface="黑体" pitchFamily="2" charset="-122"/>
                </a:rPr>
                <a:t>/s</a:t>
              </a:r>
            </a:p>
            <a:p>
              <a:r>
                <a:rPr kumimoji="1" lang="en-US" altLang="zh-CN" sz="1867" b="1" dirty="0">
                  <a:ea typeface="黑体" pitchFamily="2" charset="-122"/>
                </a:rPr>
                <a:t>1310 nm</a:t>
              </a:r>
            </a:p>
          </p:txBody>
        </p:sp>
        <p:sp>
          <p:nvSpPr>
            <p:cNvPr id="61" name="矩形 60">
              <a:extLst>
                <a:ext uri="{FF2B5EF4-FFF2-40B4-BE49-F238E27FC236}">
                  <a16:creationId xmlns:a16="http://schemas.microsoft.com/office/drawing/2014/main" id="{364128C6-6BF9-42F6-9987-510D94376D36}"/>
                </a:ext>
              </a:extLst>
            </p:cNvPr>
            <p:cNvSpPr/>
            <p:nvPr/>
          </p:nvSpPr>
          <p:spPr>
            <a:xfrm>
              <a:off x="5027476" y="6066114"/>
              <a:ext cx="2339102" cy="461665"/>
            </a:xfrm>
            <a:prstGeom prst="rect">
              <a:avLst/>
            </a:prstGeom>
          </p:spPr>
          <p:txBody>
            <a:bodyPr wrap="none">
              <a:spAutoFit/>
            </a:bodyPr>
            <a:lstStyle/>
            <a:p>
              <a:pPr algn="ctr"/>
              <a:r>
                <a:rPr lang="zh-CN" altLang="en-US" sz="2400" dirty="0">
                  <a:latin typeface="微软雅黑" pitchFamily="34" charset="-122"/>
                  <a:ea typeface="微软雅黑" pitchFamily="34" charset="-122"/>
                </a:rPr>
                <a:t>波分复用的概念</a:t>
              </a:r>
            </a:p>
          </p:txBody>
        </p:sp>
        <p:sp>
          <p:nvSpPr>
            <p:cNvPr id="62" name="矩形 61">
              <a:extLst>
                <a:ext uri="{FF2B5EF4-FFF2-40B4-BE49-F238E27FC236}">
                  <a16:creationId xmlns:a16="http://schemas.microsoft.com/office/drawing/2014/main" id="{B2506F9B-5705-437E-AC4F-4E6D05E3DD40}"/>
                </a:ext>
              </a:extLst>
            </p:cNvPr>
            <p:cNvSpPr/>
            <p:nvPr/>
          </p:nvSpPr>
          <p:spPr>
            <a:xfrm>
              <a:off x="3951529" y="2522930"/>
              <a:ext cx="4260543" cy="707886"/>
            </a:xfrm>
            <a:prstGeom prst="rect">
              <a:avLst/>
            </a:prstGeom>
            <a:solidFill>
              <a:schemeClr val="bg1"/>
            </a:solidFill>
            <a:ln>
              <a:noFill/>
            </a:ln>
          </p:spPr>
          <p:txBody>
            <a:bodyPr wrap="square">
              <a:spAutoFit/>
            </a:bodyPr>
            <a:lstStyle/>
            <a:p>
              <a:r>
                <a:rPr lang="zh-CN" altLang="en-US" sz="2000" dirty="0">
                  <a:latin typeface="微软雅黑" pitchFamily="34" charset="-122"/>
                  <a:ea typeface="微软雅黑" pitchFamily="34" charset="-122"/>
                </a:rPr>
                <a:t>波分复用就是光的频分复用。使用一根光纤来同时传输多个光载波信号。</a:t>
              </a:r>
            </a:p>
          </p:txBody>
        </p:sp>
        <p:sp>
          <p:nvSpPr>
            <p:cNvPr id="63" name="Text Box 54">
              <a:extLst>
                <a:ext uri="{FF2B5EF4-FFF2-40B4-BE49-F238E27FC236}">
                  <a16:creationId xmlns:a16="http://schemas.microsoft.com/office/drawing/2014/main" id="{46505597-CF95-472D-AD33-1D5D39EA76AB}"/>
                </a:ext>
              </a:extLst>
            </p:cNvPr>
            <p:cNvSpPr txBox="1">
              <a:spLocks noChangeArrowheads="1"/>
            </p:cNvSpPr>
            <p:nvPr/>
          </p:nvSpPr>
          <p:spPr bwMode="auto">
            <a:xfrm>
              <a:off x="5016297" y="4828822"/>
              <a:ext cx="986167"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ea typeface="黑体" pitchFamily="2" charset="-122"/>
                </a:rPr>
                <a:t>120 km</a:t>
              </a:r>
            </a:p>
          </p:txBody>
        </p:sp>
        <p:sp>
          <p:nvSpPr>
            <p:cNvPr id="64" name="Text Box 33">
              <a:extLst>
                <a:ext uri="{FF2B5EF4-FFF2-40B4-BE49-F238E27FC236}">
                  <a16:creationId xmlns:a16="http://schemas.microsoft.com/office/drawing/2014/main" id="{A7C157B1-51A7-4D07-9A08-CD821CC24687}"/>
                </a:ext>
              </a:extLst>
            </p:cNvPr>
            <p:cNvSpPr txBox="1">
              <a:spLocks noChangeArrowheads="1"/>
            </p:cNvSpPr>
            <p:nvPr/>
          </p:nvSpPr>
          <p:spPr bwMode="auto">
            <a:xfrm>
              <a:off x="6188050" y="3652335"/>
              <a:ext cx="76014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67" b="1" dirty="0">
                  <a:ea typeface="黑体" pitchFamily="2" charset="-122"/>
                </a:rPr>
                <a:t>EDFA</a:t>
              </a:r>
            </a:p>
          </p:txBody>
        </p:sp>
      </p:grpSp>
      <p:sp>
        <p:nvSpPr>
          <p:cNvPr id="67" name="文本框 66">
            <a:extLst>
              <a:ext uri="{FF2B5EF4-FFF2-40B4-BE49-F238E27FC236}">
                <a16:creationId xmlns:a16="http://schemas.microsoft.com/office/drawing/2014/main" id="{68920A8C-8A54-4111-9ABC-2EF184F148B1}"/>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0235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87EE38FF-90AC-491A-91CF-EBBD30F17FC9}"/>
              </a:ext>
            </a:extLst>
          </p:cNvPr>
          <p:cNvSpPr/>
          <p:nvPr/>
        </p:nvSpPr>
        <p:spPr>
          <a:xfrm>
            <a:off x="548832" y="3392441"/>
            <a:ext cx="11442539" cy="3057223"/>
          </a:xfrm>
          <a:prstGeom prst="roundRect">
            <a:avLst>
              <a:gd name="adj" fmla="val 5268"/>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C63BB7B9-0FB7-4221-8150-824E4BC6D12E}"/>
              </a:ext>
            </a:extLst>
          </p:cNvPr>
          <p:cNvSpPr>
            <a:spLocks noGrp="1"/>
          </p:cNvSpPr>
          <p:nvPr>
            <p:ph type="title"/>
          </p:nvPr>
        </p:nvSpPr>
        <p:spPr/>
        <p:txBody>
          <a:bodyPr vert="horz" lIns="91440" tIns="45720" rIns="91440" bIns="45720" rtlCol="0" anchor="ctr">
            <a:normAutofit/>
          </a:bodyPr>
          <a:lstStyle/>
          <a:p>
            <a:r>
              <a:rPr lang="zh-CN" altLang="en-US" dirty="0"/>
              <a:t>码分复用</a:t>
            </a:r>
            <a:r>
              <a:rPr lang="en-US" altLang="zh-CN" dirty="0"/>
              <a:t>(CDMA)</a:t>
            </a:r>
            <a:endParaRPr lang="zh-CN" altLang="en-US" dirty="0"/>
          </a:p>
        </p:txBody>
      </p:sp>
      <p:sp>
        <p:nvSpPr>
          <p:cNvPr id="3" name="内容占位符 2">
            <a:extLst>
              <a:ext uri="{FF2B5EF4-FFF2-40B4-BE49-F238E27FC236}">
                <a16:creationId xmlns:a16="http://schemas.microsoft.com/office/drawing/2014/main" id="{BAD7C0CF-4B83-4E67-9B5C-C8075A552ED0}"/>
              </a:ext>
            </a:extLst>
          </p:cNvPr>
          <p:cNvSpPr>
            <a:spLocks noGrp="1"/>
          </p:cNvSpPr>
          <p:nvPr>
            <p:ph idx="1"/>
          </p:nvPr>
        </p:nvSpPr>
        <p:spPr>
          <a:xfrm>
            <a:off x="548832" y="1348712"/>
            <a:ext cx="11442539" cy="4586694"/>
          </a:xfrm>
        </p:spPr>
        <p:txBody>
          <a:bodyPr>
            <a:normAutofit/>
          </a:bodyPr>
          <a:lstStyle/>
          <a:p>
            <a:pPr>
              <a:lnSpc>
                <a:spcPts val="3400"/>
              </a:lnSpc>
            </a:pPr>
            <a:r>
              <a:rPr lang="zh-CN" altLang="en-US" sz="2400" dirty="0">
                <a:solidFill>
                  <a:srgbClr val="C00000"/>
                </a:solidFill>
                <a:latin typeface="微软雅黑" pitchFamily="34" charset="-122"/>
                <a:ea typeface="微软雅黑" pitchFamily="34" charset="-122"/>
              </a:rPr>
              <a:t>码分多址</a:t>
            </a:r>
            <a:r>
              <a:rPr lang="zh-CN" altLang="en-US" sz="2400" dirty="0">
                <a:latin typeface="微软雅黑" pitchFamily="34" charset="-122"/>
                <a:ea typeface="微软雅黑" pitchFamily="34" charset="-122"/>
              </a:rPr>
              <a:t> </a:t>
            </a:r>
            <a:r>
              <a:rPr lang="en-US" altLang="zh-CN" sz="2400" dirty="0">
                <a:latin typeface="微软雅黑" pitchFamily="34" charset="-122"/>
                <a:ea typeface="微软雅黑" pitchFamily="34" charset="-122"/>
              </a:rPr>
              <a:t>(Code Division Multiple Access</a:t>
            </a:r>
            <a:r>
              <a:rPr lang="zh-CN" altLang="en-US"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CDMA)</a:t>
            </a:r>
            <a:r>
              <a:rPr lang="zh-CN" altLang="en-US" sz="2400" dirty="0"/>
              <a:t>是指利用</a:t>
            </a:r>
            <a:r>
              <a:rPr lang="zh-CN" altLang="en-US" sz="2400" dirty="0">
                <a:solidFill>
                  <a:srgbClr val="C00000"/>
                </a:solidFill>
              </a:rPr>
              <a:t>码序列</a:t>
            </a:r>
            <a:r>
              <a:rPr lang="zh-CN" altLang="en-US" sz="2400" dirty="0"/>
              <a:t>相关性实现的</a:t>
            </a:r>
            <a:r>
              <a:rPr lang="zh-CN" altLang="en-US" sz="2400" dirty="0">
                <a:solidFill>
                  <a:srgbClr val="C00000"/>
                </a:solidFill>
              </a:rPr>
              <a:t>多址</a:t>
            </a:r>
            <a:r>
              <a:rPr lang="zh-CN" altLang="en-US" sz="2400" dirty="0"/>
              <a:t>通信 </a:t>
            </a:r>
            <a:r>
              <a:rPr lang="en-US" altLang="zh-CN" sz="2400" dirty="0"/>
              <a:t>, </a:t>
            </a:r>
            <a:r>
              <a:rPr lang="zh-CN" altLang="en-US" sz="2400" dirty="0"/>
              <a:t>基本思想是靠不同的</a:t>
            </a:r>
            <a:r>
              <a:rPr lang="zh-CN" altLang="en-US" sz="2400" dirty="0">
                <a:solidFill>
                  <a:srgbClr val="C00000"/>
                </a:solidFill>
              </a:rPr>
              <a:t>地址码</a:t>
            </a:r>
            <a:r>
              <a:rPr lang="zh-CN" altLang="en-US" sz="2400" dirty="0"/>
              <a:t>来区分的地址</a:t>
            </a:r>
            <a:endParaRPr lang="zh-CN" altLang="en-US" sz="2400" dirty="0">
              <a:latin typeface="微软雅黑" pitchFamily="34" charset="-122"/>
              <a:ea typeface="微软雅黑" pitchFamily="34" charset="-122"/>
            </a:endParaRPr>
          </a:p>
          <a:p>
            <a:pPr>
              <a:lnSpc>
                <a:spcPts val="3400"/>
              </a:lnSpc>
            </a:pPr>
            <a:r>
              <a:rPr lang="zh-CN" altLang="en-US" sz="2400" dirty="0">
                <a:latin typeface="微软雅黑" pitchFamily="34" charset="-122"/>
                <a:ea typeface="微软雅黑" pitchFamily="34" charset="-122"/>
              </a:rPr>
              <a:t>各用户使用经过特殊挑选的不同码型，因此彼此不会造成干扰</a:t>
            </a:r>
          </a:p>
          <a:p>
            <a:pPr>
              <a:lnSpc>
                <a:spcPts val="3400"/>
              </a:lnSpc>
            </a:pPr>
            <a:r>
              <a:rPr lang="zh-CN" altLang="en-US" sz="2400" dirty="0">
                <a:latin typeface="微软雅黑" pitchFamily="34" charset="-122"/>
                <a:ea typeface="微软雅黑" pitchFamily="34" charset="-122"/>
              </a:rPr>
              <a:t>这种系统发送的信号有很强的抗干扰能力，其频谱类似于白噪声，不易被敌人发现</a:t>
            </a:r>
          </a:p>
          <a:p>
            <a:endParaRPr lang="zh-CN" altLang="en-US" sz="2400" dirty="0"/>
          </a:p>
        </p:txBody>
      </p:sp>
      <p:sp>
        <p:nvSpPr>
          <p:cNvPr id="4" name="灯片编号占位符 3">
            <a:extLst>
              <a:ext uri="{FF2B5EF4-FFF2-40B4-BE49-F238E27FC236}">
                <a16:creationId xmlns:a16="http://schemas.microsoft.com/office/drawing/2014/main" id="{2C35830F-AB01-4EA0-9F5D-E1EC5576483B}"/>
              </a:ext>
            </a:extLst>
          </p:cNvPr>
          <p:cNvSpPr>
            <a:spLocks noGrp="1"/>
          </p:cNvSpPr>
          <p:nvPr>
            <p:ph type="sldNum" sz="quarter" idx="12"/>
          </p:nvPr>
        </p:nvSpPr>
        <p:spPr/>
        <p:txBody>
          <a:bodyPr/>
          <a:lstStyle/>
          <a:p>
            <a:fld id="{8D4D1E41-7A09-AB4A-A4E1-09765ADA2698}" type="slidenum">
              <a:rPr kumimoji="1" lang="zh-CN" altLang="en-US" smtClean="0"/>
              <a:t>104</a:t>
            </a:fld>
            <a:endParaRPr kumimoji="1" lang="zh-CN" altLang="en-US" dirty="0"/>
          </a:p>
        </p:txBody>
      </p:sp>
      <p:sp>
        <p:nvSpPr>
          <p:cNvPr id="5" name="内容占位符 2">
            <a:extLst>
              <a:ext uri="{FF2B5EF4-FFF2-40B4-BE49-F238E27FC236}">
                <a16:creationId xmlns:a16="http://schemas.microsoft.com/office/drawing/2014/main" id="{2A0DE0C6-935D-4C78-B393-1BE964B8AFB3}"/>
              </a:ext>
            </a:extLst>
          </p:cNvPr>
          <p:cNvSpPr txBox="1">
            <a:spLocks/>
          </p:cNvSpPr>
          <p:nvPr/>
        </p:nvSpPr>
        <p:spPr>
          <a:xfrm>
            <a:off x="3685571" y="3642059"/>
            <a:ext cx="10515600"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a:lnSpc>
                <a:spcPts val="3000"/>
              </a:lnSpc>
              <a:spcBef>
                <a:spcPts val="0"/>
              </a:spcBef>
            </a:pPr>
            <a:r>
              <a:rPr lang="zh-CN" altLang="en-US" sz="2000" dirty="0"/>
              <a:t>每一个比特时间划分为 </a:t>
            </a:r>
            <a:r>
              <a:rPr lang="en-US" altLang="zh-CN" sz="2000" dirty="0"/>
              <a:t>m </a:t>
            </a:r>
            <a:r>
              <a:rPr lang="zh-CN" altLang="en-US" sz="2000" dirty="0"/>
              <a:t>个短的间隔，称为</a:t>
            </a:r>
            <a:r>
              <a:rPr lang="zh-CN" altLang="en-US" sz="2000" dirty="0">
                <a:solidFill>
                  <a:srgbClr val="C00000"/>
                </a:solidFill>
              </a:rPr>
              <a:t>码片</a:t>
            </a:r>
            <a:r>
              <a:rPr lang="zh-CN" altLang="en-US" sz="2000" dirty="0"/>
              <a:t> </a:t>
            </a:r>
            <a:r>
              <a:rPr lang="en-US" altLang="zh-CN" sz="2000" dirty="0"/>
              <a:t>(chip)</a:t>
            </a:r>
            <a:r>
              <a:rPr lang="zh-CN" altLang="en-US" sz="2000" dirty="0"/>
              <a:t>。</a:t>
            </a:r>
          </a:p>
          <a:p>
            <a:pPr marL="36000">
              <a:lnSpc>
                <a:spcPts val="3000"/>
              </a:lnSpc>
              <a:spcBef>
                <a:spcPts val="0"/>
              </a:spcBef>
            </a:pPr>
            <a:r>
              <a:rPr lang="zh-CN" altLang="en-US" sz="2000" dirty="0"/>
              <a:t>每个站被指派一个唯一的 </a:t>
            </a:r>
            <a:r>
              <a:rPr lang="en-US" altLang="zh-CN" sz="2000" dirty="0"/>
              <a:t>m bit </a:t>
            </a:r>
            <a:r>
              <a:rPr lang="zh-CN" altLang="en-US" sz="2000" dirty="0">
                <a:solidFill>
                  <a:srgbClr val="C00000"/>
                </a:solidFill>
              </a:rPr>
              <a:t>码片序列</a:t>
            </a:r>
            <a:r>
              <a:rPr lang="zh-CN" altLang="en-US" sz="2000" dirty="0"/>
              <a:t>。</a:t>
            </a:r>
          </a:p>
          <a:p>
            <a:pPr marL="950400" lvl="3" indent="-457200">
              <a:lnSpc>
                <a:spcPts val="3000"/>
              </a:lnSpc>
              <a:spcBef>
                <a:spcPts val="0"/>
              </a:spcBef>
              <a:buFont typeface="+mj-lt"/>
              <a:buAutoNum type="arabicPeriod"/>
            </a:pPr>
            <a:r>
              <a:rPr lang="zh-CN" altLang="en-US" sz="2000" dirty="0"/>
              <a:t>如发送比特 </a:t>
            </a:r>
            <a:r>
              <a:rPr lang="en-US" altLang="zh-CN" sz="2000" dirty="0"/>
              <a:t>1</a:t>
            </a:r>
            <a:r>
              <a:rPr lang="zh-CN" altLang="en-US" sz="2000" dirty="0"/>
              <a:t>，则发送自己的 </a:t>
            </a:r>
            <a:r>
              <a:rPr lang="en-US" altLang="zh-CN" sz="2000" dirty="0"/>
              <a:t>m bit </a:t>
            </a:r>
            <a:r>
              <a:rPr lang="zh-CN" altLang="en-US" sz="2000" dirty="0"/>
              <a:t>码片序列。</a:t>
            </a:r>
          </a:p>
          <a:p>
            <a:pPr marL="950400" lvl="3" indent="-457200">
              <a:lnSpc>
                <a:spcPts val="3000"/>
              </a:lnSpc>
              <a:spcBef>
                <a:spcPts val="0"/>
              </a:spcBef>
              <a:buFont typeface="+mj-lt"/>
              <a:buAutoNum type="arabicPeriod"/>
            </a:pPr>
            <a:r>
              <a:rPr lang="zh-CN" altLang="en-US" sz="2000" dirty="0"/>
              <a:t>如发送比特 </a:t>
            </a:r>
            <a:r>
              <a:rPr lang="en-US" altLang="zh-CN" sz="2000" dirty="0"/>
              <a:t>0</a:t>
            </a:r>
            <a:r>
              <a:rPr lang="zh-CN" altLang="en-US" sz="2000" dirty="0"/>
              <a:t>，则发送该码片序列的二进制反码。 </a:t>
            </a:r>
          </a:p>
          <a:p>
            <a:pPr marL="36000">
              <a:lnSpc>
                <a:spcPts val="3000"/>
              </a:lnSpc>
              <a:spcBef>
                <a:spcPts val="0"/>
              </a:spcBef>
            </a:pPr>
            <a:r>
              <a:rPr lang="zh-CN" altLang="en-US" sz="2000" dirty="0"/>
              <a:t>例如，</a:t>
            </a:r>
            <a:r>
              <a:rPr lang="en-US" altLang="zh-CN" sz="2000" dirty="0"/>
              <a:t>S </a:t>
            </a:r>
            <a:r>
              <a:rPr lang="zh-CN" altLang="en-US" sz="2000" dirty="0"/>
              <a:t>站的 </a:t>
            </a:r>
            <a:r>
              <a:rPr lang="en-US" altLang="zh-CN" sz="2000" dirty="0"/>
              <a:t>8 bit </a:t>
            </a:r>
            <a:r>
              <a:rPr lang="zh-CN" altLang="en-US" sz="2000" dirty="0"/>
              <a:t>码片序列是 </a:t>
            </a:r>
            <a:r>
              <a:rPr lang="en-US" altLang="zh-CN" sz="2000" dirty="0"/>
              <a:t>00011011</a:t>
            </a:r>
            <a:r>
              <a:rPr lang="zh-CN" altLang="en-US" sz="2000" dirty="0"/>
              <a:t>。</a:t>
            </a:r>
          </a:p>
          <a:p>
            <a:pPr marL="950400" lvl="3" indent="-457200">
              <a:lnSpc>
                <a:spcPts val="3000"/>
              </a:lnSpc>
              <a:spcBef>
                <a:spcPts val="0"/>
              </a:spcBef>
              <a:buFont typeface="+mj-lt"/>
              <a:buAutoNum type="arabicPeriod"/>
            </a:pPr>
            <a:r>
              <a:rPr lang="zh-CN" altLang="en-US" sz="2000" dirty="0"/>
              <a:t>发送比特 </a:t>
            </a:r>
            <a:r>
              <a:rPr lang="en-US" altLang="zh-CN" sz="2000" dirty="0"/>
              <a:t>1 </a:t>
            </a:r>
            <a:r>
              <a:rPr lang="zh-CN" altLang="en-US" sz="2000" dirty="0"/>
              <a:t>时，就发送序列 </a:t>
            </a:r>
            <a:r>
              <a:rPr lang="en-US" altLang="zh-CN" sz="2000" dirty="0"/>
              <a:t>00011011</a:t>
            </a:r>
            <a:r>
              <a:rPr lang="zh-CN" altLang="en-US" sz="2000" dirty="0"/>
              <a:t>，</a:t>
            </a:r>
          </a:p>
          <a:p>
            <a:pPr marL="950400" lvl="3" indent="-457200">
              <a:lnSpc>
                <a:spcPts val="3000"/>
              </a:lnSpc>
              <a:spcBef>
                <a:spcPts val="0"/>
              </a:spcBef>
              <a:buFont typeface="+mj-lt"/>
              <a:buAutoNum type="arabicPeriod"/>
            </a:pPr>
            <a:r>
              <a:rPr lang="zh-CN" altLang="en-US" sz="2000" dirty="0"/>
              <a:t>发送比特 </a:t>
            </a:r>
            <a:r>
              <a:rPr lang="en-US" altLang="zh-CN" sz="2000" dirty="0"/>
              <a:t>0 </a:t>
            </a:r>
            <a:r>
              <a:rPr lang="zh-CN" altLang="en-US" sz="2000" dirty="0"/>
              <a:t>时，就发送序列 </a:t>
            </a:r>
            <a:r>
              <a:rPr lang="en-US" altLang="zh-CN" sz="2000" dirty="0"/>
              <a:t>11100100</a:t>
            </a:r>
            <a:r>
              <a:rPr lang="zh-CN" altLang="en-US" sz="2000" dirty="0"/>
              <a:t>。</a:t>
            </a:r>
          </a:p>
        </p:txBody>
      </p:sp>
      <p:sp>
        <p:nvSpPr>
          <p:cNvPr id="7" name="文本框 6">
            <a:extLst>
              <a:ext uri="{FF2B5EF4-FFF2-40B4-BE49-F238E27FC236}">
                <a16:creationId xmlns:a16="http://schemas.microsoft.com/office/drawing/2014/main" id="{DD4EA73A-B4F5-425C-952E-79678556BE48}"/>
              </a:ext>
            </a:extLst>
          </p:cNvPr>
          <p:cNvSpPr txBox="1"/>
          <p:nvPr/>
        </p:nvSpPr>
        <p:spPr>
          <a:xfrm>
            <a:off x="200629" y="4364714"/>
            <a:ext cx="3792637" cy="954107"/>
          </a:xfrm>
          <a:prstGeom prst="rect">
            <a:avLst/>
          </a:prstGeom>
          <a:noFill/>
        </p:spPr>
        <p:txBody>
          <a:bodyPr wrap="square">
            <a:spAutoFit/>
          </a:bodyPr>
          <a:lstStyle/>
          <a:p>
            <a:pPr algn="ctr"/>
            <a:r>
              <a:rPr lang="zh-CN" altLang="en-US" sz="2800" b="1" dirty="0"/>
              <a:t>码片序列</a:t>
            </a:r>
            <a:endParaRPr lang="en-US" altLang="zh-CN" sz="2800" b="1" dirty="0"/>
          </a:p>
          <a:p>
            <a:pPr algn="ctr"/>
            <a:r>
              <a:rPr lang="en-US" altLang="zh-CN" sz="2800" b="1" dirty="0"/>
              <a:t>(chip sequence) </a:t>
            </a:r>
            <a:endParaRPr lang="zh-CN" altLang="en-US" sz="2800" b="1" dirty="0"/>
          </a:p>
        </p:txBody>
      </p:sp>
      <p:sp>
        <p:nvSpPr>
          <p:cNvPr id="10" name="文本框 9">
            <a:extLst>
              <a:ext uri="{FF2B5EF4-FFF2-40B4-BE49-F238E27FC236}">
                <a16:creationId xmlns:a16="http://schemas.microsoft.com/office/drawing/2014/main" id="{CD45DC2D-2CA0-40BB-8C90-178E9A4C3F10}"/>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207412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033FB-5F62-4E7D-91B9-7DE3E2B589E4}"/>
              </a:ext>
            </a:extLst>
          </p:cNvPr>
          <p:cNvSpPr>
            <a:spLocks noGrp="1"/>
          </p:cNvSpPr>
          <p:nvPr>
            <p:ph type="title"/>
          </p:nvPr>
        </p:nvSpPr>
        <p:spPr>
          <a:xfrm>
            <a:off x="563775" y="1141558"/>
            <a:ext cx="8220812" cy="879086"/>
          </a:xfrm>
        </p:spPr>
        <p:txBody>
          <a:bodyPr>
            <a:normAutofit/>
          </a:bodyPr>
          <a:lstStyle/>
          <a:p>
            <a:r>
              <a:rPr lang="zh-CN" altLang="en-US" sz="2800" b="1" dirty="0">
                <a:solidFill>
                  <a:srgbClr val="7030A0"/>
                </a:solidFill>
              </a:rPr>
              <a:t>码片序列的正交关系 </a:t>
            </a:r>
          </a:p>
        </p:txBody>
      </p:sp>
      <p:sp>
        <p:nvSpPr>
          <p:cNvPr id="3" name="内容占位符 2">
            <a:extLst>
              <a:ext uri="{FF2B5EF4-FFF2-40B4-BE49-F238E27FC236}">
                <a16:creationId xmlns:a16="http://schemas.microsoft.com/office/drawing/2014/main" id="{DD5E634A-59ED-42F1-B586-D9D0DD7F579B}"/>
              </a:ext>
            </a:extLst>
          </p:cNvPr>
          <p:cNvSpPr>
            <a:spLocks noGrp="1"/>
          </p:cNvSpPr>
          <p:nvPr>
            <p:ph idx="1"/>
          </p:nvPr>
        </p:nvSpPr>
        <p:spPr>
          <a:xfrm>
            <a:off x="563775" y="1769656"/>
            <a:ext cx="11835650" cy="4586694"/>
          </a:xfrm>
        </p:spPr>
        <p:txBody>
          <a:bodyPr>
            <a:normAutofit/>
          </a:bodyPr>
          <a:lstStyle/>
          <a:p>
            <a:pPr eaLnBrk="0" hangingPunct="0">
              <a:lnSpc>
                <a:spcPts val="3100"/>
              </a:lnSpc>
              <a:spcBef>
                <a:spcPts val="0"/>
              </a:spcBef>
            </a:pPr>
            <a:r>
              <a:rPr lang="zh-CN" altLang="en-US" sz="2400" dirty="0">
                <a:latin typeface="Times New Roman" panose="02020603050405020304" pitchFamily="18" charset="0"/>
                <a:ea typeface="微软雅黑" pitchFamily="34" charset="-122"/>
                <a:cs typeface="Times New Roman" panose="02020603050405020304" pitchFamily="18" charset="0"/>
              </a:rPr>
              <a:t>每个站分配的码片序列不仅必须</a:t>
            </a:r>
            <a:r>
              <a:rPr lang="zh-CN" altLang="en-US" sz="2400" dirty="0">
                <a:solidFill>
                  <a:srgbClr val="C00000"/>
                </a:solidFill>
                <a:latin typeface="Times New Roman" panose="02020603050405020304" pitchFamily="18" charset="0"/>
                <a:ea typeface="微软雅黑" pitchFamily="34" charset="-122"/>
                <a:cs typeface="Times New Roman" panose="02020603050405020304" pitchFamily="18" charset="0"/>
              </a:rPr>
              <a:t>各不相同</a:t>
            </a:r>
            <a:r>
              <a:rPr lang="zh-CN" altLang="en-US" sz="2400" dirty="0">
                <a:latin typeface="Times New Roman" panose="02020603050405020304" pitchFamily="18" charset="0"/>
                <a:ea typeface="微软雅黑" pitchFamily="34" charset="-122"/>
                <a:cs typeface="Times New Roman" panose="02020603050405020304" pitchFamily="18" charset="0"/>
              </a:rPr>
              <a:t>，并且还必须</a:t>
            </a:r>
            <a:r>
              <a:rPr lang="zh-CN" altLang="en-US" sz="2400" dirty="0">
                <a:solidFill>
                  <a:srgbClr val="C00000"/>
                </a:solidFill>
                <a:latin typeface="Times New Roman" panose="02020603050405020304" pitchFamily="18" charset="0"/>
                <a:ea typeface="微软雅黑" pitchFamily="34" charset="-122"/>
                <a:cs typeface="Times New Roman" panose="02020603050405020304" pitchFamily="18" charset="0"/>
              </a:rPr>
              <a:t>互相正交 </a:t>
            </a:r>
            <a:r>
              <a:rPr lang="en-US" altLang="zh-CN" sz="2400" dirty="0">
                <a:latin typeface="Times New Roman" panose="02020603050405020304" pitchFamily="18" charset="0"/>
                <a:ea typeface="微软雅黑" pitchFamily="34" charset="-122"/>
                <a:cs typeface="Times New Roman" panose="02020603050405020304" pitchFamily="18" charset="0"/>
              </a:rPr>
              <a:t>(orthogonal)</a:t>
            </a:r>
            <a:endParaRPr lang="zh-CN" altLang="en-US" sz="2400" dirty="0">
              <a:latin typeface="Times New Roman" panose="02020603050405020304" pitchFamily="18" charset="0"/>
              <a:ea typeface="微软雅黑" pitchFamily="34" charset="-122"/>
              <a:cs typeface="Times New Roman" panose="02020603050405020304" pitchFamily="18" charset="0"/>
            </a:endParaRPr>
          </a:p>
          <a:p>
            <a:pPr eaLnBrk="0" hangingPunct="0">
              <a:lnSpc>
                <a:spcPts val="3100"/>
              </a:lnSpc>
              <a:spcBef>
                <a:spcPts val="0"/>
              </a:spcBef>
            </a:pPr>
            <a:r>
              <a:rPr lang="zh-CN" altLang="en-US" sz="2400" dirty="0">
                <a:latin typeface="Times New Roman" panose="02020603050405020304" pitchFamily="18" charset="0"/>
                <a:ea typeface="微软雅黑" pitchFamily="34" charset="-122"/>
                <a:cs typeface="Times New Roman" panose="02020603050405020304" pitchFamily="18" charset="0"/>
              </a:rPr>
              <a:t>在实用的系统中是使用</a:t>
            </a:r>
            <a:r>
              <a:rPr lang="zh-CN" altLang="en-US" sz="2400" dirty="0">
                <a:solidFill>
                  <a:srgbClr val="C00000"/>
                </a:solidFill>
                <a:latin typeface="Times New Roman" panose="02020603050405020304" pitchFamily="18" charset="0"/>
                <a:ea typeface="微软雅黑" pitchFamily="34" charset="-122"/>
                <a:cs typeface="Times New Roman" panose="02020603050405020304" pitchFamily="18" charset="0"/>
              </a:rPr>
              <a:t>伪随机码序列</a:t>
            </a:r>
            <a:r>
              <a:rPr lang="zh-CN" altLang="en-US" sz="2400" dirty="0">
                <a:latin typeface="Times New Roman" panose="02020603050405020304" pitchFamily="18" charset="0"/>
                <a:ea typeface="微软雅黑" pitchFamily="34" charset="-122"/>
                <a:cs typeface="Times New Roman" panose="02020603050405020304" pitchFamily="18" charset="0"/>
              </a:rPr>
              <a:t> </a:t>
            </a:r>
            <a:endParaRPr lang="en-US" altLang="zh-CN" sz="2400" dirty="0">
              <a:latin typeface="Times New Roman" panose="02020603050405020304" pitchFamily="18" charset="0"/>
              <a:ea typeface="微软雅黑" pitchFamily="34" charset="-122"/>
              <a:cs typeface="Times New Roman" panose="02020603050405020304" pitchFamily="18" charset="0"/>
            </a:endParaRPr>
          </a:p>
          <a:p>
            <a:pPr eaLnBrk="0" hangingPunct="0">
              <a:lnSpc>
                <a:spcPts val="3100"/>
              </a:lnSpc>
              <a:spcBef>
                <a:spcPts val="0"/>
              </a:spcBef>
            </a:pPr>
            <a:r>
              <a:rPr lang="zh-CN" altLang="en-US" sz="2400" dirty="0">
                <a:latin typeface="Times New Roman" panose="02020603050405020304" pitchFamily="18" charset="0"/>
                <a:ea typeface="微软雅黑" pitchFamily="34" charset="-122"/>
                <a:cs typeface="Times New Roman" panose="02020603050405020304" pitchFamily="18" charset="0"/>
              </a:rPr>
              <a:t>令向量 </a:t>
            </a:r>
            <a:r>
              <a:rPr lang="en-US" altLang="zh-CN" sz="2400" dirty="0">
                <a:latin typeface="Times New Roman" panose="02020603050405020304" pitchFamily="18" charset="0"/>
                <a:ea typeface="微软雅黑" pitchFamily="34" charset="-122"/>
                <a:cs typeface="Times New Roman" panose="02020603050405020304" pitchFamily="18" charset="0"/>
              </a:rPr>
              <a:t>S </a:t>
            </a:r>
            <a:r>
              <a:rPr lang="zh-CN" altLang="en-US" sz="2400" dirty="0">
                <a:latin typeface="Times New Roman" panose="02020603050405020304" pitchFamily="18" charset="0"/>
                <a:ea typeface="微软雅黑" pitchFamily="34" charset="-122"/>
                <a:cs typeface="Times New Roman" panose="02020603050405020304" pitchFamily="18" charset="0"/>
              </a:rPr>
              <a:t>表示站 </a:t>
            </a:r>
            <a:r>
              <a:rPr lang="en-US" altLang="zh-CN" sz="2400" dirty="0">
                <a:latin typeface="Times New Roman" panose="02020603050405020304" pitchFamily="18" charset="0"/>
                <a:ea typeface="微软雅黑" pitchFamily="34" charset="-122"/>
                <a:cs typeface="Times New Roman" panose="02020603050405020304" pitchFamily="18" charset="0"/>
              </a:rPr>
              <a:t>S </a:t>
            </a:r>
            <a:r>
              <a:rPr lang="zh-CN" altLang="en-US" sz="2400" dirty="0">
                <a:latin typeface="Times New Roman" panose="02020603050405020304" pitchFamily="18" charset="0"/>
                <a:ea typeface="微软雅黑" pitchFamily="34" charset="-122"/>
                <a:cs typeface="Times New Roman" panose="02020603050405020304" pitchFamily="18" charset="0"/>
              </a:rPr>
              <a:t>的码片向量，令 </a:t>
            </a:r>
            <a:r>
              <a:rPr lang="en-US" altLang="zh-CN" sz="2400" dirty="0">
                <a:latin typeface="Times New Roman" panose="02020603050405020304" pitchFamily="18" charset="0"/>
                <a:ea typeface="微软雅黑" pitchFamily="34" charset="-122"/>
                <a:cs typeface="Times New Roman" panose="02020603050405020304" pitchFamily="18" charset="0"/>
              </a:rPr>
              <a:t>T </a:t>
            </a:r>
            <a:r>
              <a:rPr lang="zh-CN" altLang="en-US" sz="2400" dirty="0">
                <a:latin typeface="Times New Roman" panose="02020603050405020304" pitchFamily="18" charset="0"/>
                <a:ea typeface="微软雅黑" pitchFamily="34" charset="-122"/>
                <a:cs typeface="Times New Roman" panose="02020603050405020304" pitchFamily="18" charset="0"/>
              </a:rPr>
              <a:t>表示其他任何站的码片向量 </a:t>
            </a:r>
          </a:p>
          <a:p>
            <a:pPr eaLnBrk="0" hangingPunct="0">
              <a:lnSpc>
                <a:spcPts val="3100"/>
              </a:lnSpc>
              <a:spcBef>
                <a:spcPts val="0"/>
              </a:spcBef>
            </a:pPr>
            <a:r>
              <a:rPr lang="zh-CN" altLang="en-US" sz="2400" dirty="0">
                <a:latin typeface="Times New Roman" panose="02020603050405020304" pitchFamily="18" charset="0"/>
                <a:ea typeface="微软雅黑" pitchFamily="34" charset="-122"/>
                <a:cs typeface="Times New Roman" panose="02020603050405020304" pitchFamily="18" charset="0"/>
              </a:rPr>
              <a:t>两个不同站的码片序列正交，就是向量 </a:t>
            </a:r>
            <a:r>
              <a:rPr lang="en-US" altLang="zh-CN" sz="2400" dirty="0">
                <a:latin typeface="Times New Roman" panose="02020603050405020304" pitchFamily="18" charset="0"/>
                <a:ea typeface="微软雅黑" pitchFamily="34" charset="-122"/>
                <a:cs typeface="Times New Roman" panose="02020603050405020304" pitchFamily="18" charset="0"/>
              </a:rPr>
              <a:t>S </a:t>
            </a:r>
            <a:r>
              <a:rPr lang="zh-CN" altLang="en-US" sz="2400" dirty="0">
                <a:latin typeface="Times New Roman" panose="02020603050405020304" pitchFamily="18" charset="0"/>
                <a:ea typeface="微软雅黑" pitchFamily="34" charset="-122"/>
                <a:cs typeface="Times New Roman" panose="02020603050405020304" pitchFamily="18" charset="0"/>
              </a:rPr>
              <a:t>和</a:t>
            </a:r>
            <a:r>
              <a:rPr lang="en-US" altLang="zh-CN" sz="2400" dirty="0">
                <a:latin typeface="Times New Roman" panose="02020603050405020304" pitchFamily="18" charset="0"/>
                <a:ea typeface="微软雅黑" pitchFamily="34" charset="-122"/>
                <a:cs typeface="Times New Roman" panose="02020603050405020304" pitchFamily="18" charset="0"/>
              </a:rPr>
              <a:t>T </a:t>
            </a:r>
            <a:r>
              <a:rPr lang="zh-CN" altLang="en-US" sz="2400" dirty="0">
                <a:latin typeface="Times New Roman" panose="02020603050405020304" pitchFamily="18" charset="0"/>
                <a:ea typeface="微软雅黑" pitchFamily="34" charset="-122"/>
                <a:cs typeface="Times New Roman" panose="02020603050405020304" pitchFamily="18" charset="0"/>
              </a:rPr>
              <a:t>的规格化</a:t>
            </a:r>
            <a:r>
              <a:rPr lang="zh-CN" altLang="en-US" sz="2400" dirty="0">
                <a:solidFill>
                  <a:srgbClr val="C00000"/>
                </a:solidFill>
                <a:latin typeface="Times New Roman" panose="02020603050405020304" pitchFamily="18" charset="0"/>
                <a:ea typeface="微软雅黑" pitchFamily="34" charset="-122"/>
                <a:cs typeface="Times New Roman" panose="02020603050405020304" pitchFamily="18" charset="0"/>
              </a:rPr>
              <a:t>内积</a:t>
            </a:r>
            <a:r>
              <a:rPr lang="zh-CN" altLang="en-US" sz="2400" dirty="0">
                <a:latin typeface="Times New Roman" panose="02020603050405020304" pitchFamily="18" charset="0"/>
                <a:ea typeface="微软雅黑" pitchFamily="34" charset="-122"/>
                <a:cs typeface="Times New Roman" panose="02020603050405020304" pitchFamily="18" charset="0"/>
              </a:rPr>
              <a:t> </a:t>
            </a:r>
            <a:r>
              <a:rPr lang="en-US" altLang="zh-CN" sz="2400" dirty="0">
                <a:latin typeface="Times New Roman" panose="02020603050405020304" pitchFamily="18" charset="0"/>
                <a:ea typeface="微软雅黑" pitchFamily="34" charset="-122"/>
                <a:cs typeface="Times New Roman" panose="02020603050405020304" pitchFamily="18" charset="0"/>
              </a:rPr>
              <a:t>(inner product) </a:t>
            </a:r>
            <a:r>
              <a:rPr lang="zh-CN" altLang="en-US" sz="2400" dirty="0">
                <a:latin typeface="Times New Roman" panose="02020603050405020304" pitchFamily="18" charset="0"/>
                <a:ea typeface="微软雅黑" pitchFamily="34" charset="-122"/>
                <a:cs typeface="Times New Roman" panose="02020603050405020304" pitchFamily="18" charset="0"/>
              </a:rPr>
              <a:t>等于 </a:t>
            </a:r>
            <a:r>
              <a:rPr lang="en-US" altLang="zh-CN" sz="2400" dirty="0">
                <a:latin typeface="Times New Roman" panose="02020603050405020304" pitchFamily="18" charset="0"/>
                <a:ea typeface="微软雅黑" pitchFamily="34" charset="-122"/>
                <a:cs typeface="Times New Roman" panose="02020603050405020304" pitchFamily="18" charset="0"/>
              </a:rPr>
              <a:t>0</a:t>
            </a:r>
            <a:r>
              <a:rPr lang="zh-CN" altLang="en-US" sz="2400" dirty="0">
                <a:latin typeface="Times New Roman" panose="02020603050405020304" pitchFamily="18" charset="0"/>
                <a:ea typeface="微软雅黑" pitchFamily="34" charset="-122"/>
                <a:cs typeface="Times New Roman" panose="02020603050405020304" pitchFamily="18" charset="0"/>
              </a:rPr>
              <a:t> </a:t>
            </a:r>
          </a:p>
          <a:p>
            <a:pPr eaLnBrk="0" hangingPunct="0">
              <a:lnSpc>
                <a:spcPts val="3100"/>
              </a:lnSpc>
              <a:spcBef>
                <a:spcPts val="0"/>
              </a:spcBef>
            </a:pPr>
            <a:endParaRPr lang="zh-CN" altLang="en-US" sz="2400" dirty="0">
              <a:latin typeface="Times New Roman" panose="02020603050405020304" pitchFamily="18" charset="0"/>
              <a:ea typeface="微软雅黑" pitchFamily="34" charset="-122"/>
              <a:cs typeface="Times New Roman" panose="02020603050405020304" pitchFamily="18" charset="0"/>
            </a:endParaRPr>
          </a:p>
          <a:p>
            <a:pPr>
              <a:lnSpc>
                <a:spcPts val="3100"/>
              </a:lnSpc>
              <a:spcBef>
                <a:spcPts val="0"/>
              </a:spcBef>
            </a:pP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85C45411-0432-429B-9CA1-F0ECFBA3C087}"/>
              </a:ext>
            </a:extLst>
          </p:cNvPr>
          <p:cNvSpPr>
            <a:spLocks noGrp="1"/>
          </p:cNvSpPr>
          <p:nvPr>
            <p:ph type="sldNum" sz="quarter" idx="12"/>
          </p:nvPr>
        </p:nvSpPr>
        <p:spPr/>
        <p:txBody>
          <a:bodyPr/>
          <a:lstStyle/>
          <a:p>
            <a:fld id="{8D4D1E41-7A09-AB4A-A4E1-09765ADA2698}" type="slidenum">
              <a:rPr kumimoji="1" lang="zh-CN" altLang="en-US" smtClean="0"/>
              <a:t>105</a:t>
            </a:fld>
            <a:endParaRPr kumimoji="1" lang="zh-CN" altLang="en-US" dirty="0"/>
          </a:p>
        </p:txBody>
      </p:sp>
      <p:pic>
        <p:nvPicPr>
          <p:cNvPr id="5" name="图片 4">
            <a:extLst>
              <a:ext uri="{FF2B5EF4-FFF2-40B4-BE49-F238E27FC236}">
                <a16:creationId xmlns:a16="http://schemas.microsoft.com/office/drawing/2014/main" id="{316AB979-326C-4710-8E70-725F669E1808}"/>
              </a:ext>
            </a:extLst>
          </p:cNvPr>
          <p:cNvPicPr>
            <a:picLocks noChangeAspect="1"/>
          </p:cNvPicPr>
          <p:nvPr/>
        </p:nvPicPr>
        <p:blipFill>
          <a:blip r:embed="rId3">
            <a:duotone>
              <a:prstClr val="black"/>
              <a:schemeClr val="accent5">
                <a:tint val="45000"/>
                <a:satMod val="400000"/>
              </a:schemeClr>
            </a:duotone>
          </a:blip>
          <a:stretch>
            <a:fillRect/>
          </a:stretch>
        </p:blipFill>
        <p:spPr>
          <a:xfrm>
            <a:off x="2904807" y="3530180"/>
            <a:ext cx="3141516" cy="982854"/>
          </a:xfrm>
          <a:prstGeom prst="rect">
            <a:avLst/>
          </a:prstGeom>
          <a:ln>
            <a:noFill/>
          </a:ln>
          <a:effectLst>
            <a:outerShdw blurRad="292100" dist="139700" dir="2700000" algn="tl" rotWithShape="0">
              <a:srgbClr val="333333">
                <a:alpha val="65000"/>
              </a:srgbClr>
            </a:outerShdw>
          </a:effectLst>
        </p:spPr>
      </p:pic>
      <p:sp>
        <p:nvSpPr>
          <p:cNvPr id="6" name="标题 1">
            <a:extLst>
              <a:ext uri="{FF2B5EF4-FFF2-40B4-BE49-F238E27FC236}">
                <a16:creationId xmlns:a16="http://schemas.microsoft.com/office/drawing/2014/main" id="{D2C83D77-21EB-4E05-A451-6459BE747766}"/>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zh-CN" altLang="en-US" dirty="0"/>
              <a:t>码分复用</a:t>
            </a:r>
            <a:r>
              <a:rPr lang="en-US" altLang="zh-CN" dirty="0"/>
              <a:t>(CDMA)</a:t>
            </a:r>
            <a:endParaRPr lang="zh-CN" altLang="en-US" dirty="0"/>
          </a:p>
        </p:txBody>
      </p:sp>
      <p:sp>
        <p:nvSpPr>
          <p:cNvPr id="9" name="文本框 8">
            <a:extLst>
              <a:ext uri="{FF2B5EF4-FFF2-40B4-BE49-F238E27FC236}">
                <a16:creationId xmlns:a16="http://schemas.microsoft.com/office/drawing/2014/main" id="{E0853CA2-3AAE-433D-B7D5-366070C7C308}"/>
              </a:ext>
            </a:extLst>
          </p:cNvPr>
          <p:cNvSpPr txBox="1"/>
          <p:nvPr/>
        </p:nvSpPr>
        <p:spPr>
          <a:xfrm>
            <a:off x="647165" y="4639157"/>
            <a:ext cx="8546071" cy="1938992"/>
          </a:xfrm>
          <a:prstGeom prst="rect">
            <a:avLst/>
          </a:prstGeom>
          <a:noFill/>
        </p:spPr>
        <p:txBody>
          <a:bodyPr wrap="square">
            <a:spAutoFit/>
          </a:bodyPr>
          <a:lstStyle/>
          <a:p>
            <a:pPr marL="342900" indent="-342900">
              <a:buFont typeface="Wingdings" panose="05000000000000000000" pitchFamily="2" charset="2"/>
              <a:buChar char="Ø"/>
            </a:pPr>
            <a:r>
              <a:rPr lang="zh-CN" altLang="en-US" sz="2400" dirty="0">
                <a:latin typeface="微软雅黑" pitchFamily="34" charset="-122"/>
                <a:ea typeface="微软雅黑" pitchFamily="34" charset="-122"/>
              </a:rPr>
              <a:t>任何一个码片向量和该码片向量自己的规格化内积都是 </a:t>
            </a:r>
            <a:r>
              <a:rPr lang="en-US" altLang="zh-CN" sz="2400" dirty="0">
                <a:latin typeface="微软雅黑" pitchFamily="34" charset="-122"/>
                <a:ea typeface="微软雅黑" pitchFamily="34" charset="-122"/>
              </a:rPr>
              <a:t>1</a:t>
            </a:r>
          </a:p>
          <a:p>
            <a:pPr marL="342900" indent="-342900">
              <a:buFont typeface="Wingdings" panose="05000000000000000000" pitchFamily="2" charset="2"/>
              <a:buChar char="Ø"/>
            </a:pPr>
            <a:endParaRPr lang="en-US" altLang="zh-CN" sz="2400" dirty="0">
              <a:latin typeface="微软雅黑" pitchFamily="34" charset="-122"/>
              <a:ea typeface="微软雅黑" pitchFamily="34" charset="-122"/>
            </a:endParaRPr>
          </a:p>
          <a:p>
            <a:pPr marL="342900" indent="-342900">
              <a:buFont typeface="Wingdings" panose="05000000000000000000" pitchFamily="2" charset="2"/>
              <a:buChar char="Ø"/>
            </a:pPr>
            <a:endParaRPr lang="en-US" altLang="zh-CN" sz="2400" dirty="0">
              <a:latin typeface="微软雅黑" pitchFamily="34" charset="-122"/>
              <a:ea typeface="微软雅黑" pitchFamily="34" charset="-122"/>
            </a:endParaRPr>
          </a:p>
          <a:p>
            <a:pPr marL="342900" indent="-342900">
              <a:buFont typeface="Wingdings" panose="05000000000000000000" pitchFamily="2" charset="2"/>
              <a:buChar char="Ø"/>
            </a:pPr>
            <a:endParaRPr lang="en-US" altLang="zh-CN" sz="2400" dirty="0">
              <a:latin typeface="微软雅黑" pitchFamily="34" charset="-122"/>
              <a:ea typeface="微软雅黑" pitchFamily="34" charset="-122"/>
            </a:endParaRPr>
          </a:p>
          <a:p>
            <a:pPr marL="342900" indent="-342900">
              <a:buFont typeface="Wingdings" panose="05000000000000000000" pitchFamily="2" charset="2"/>
              <a:buChar char="Ø"/>
            </a:pPr>
            <a:r>
              <a:rPr lang="zh-CN" altLang="en-US" sz="2400" dirty="0">
                <a:latin typeface="微软雅黑" pitchFamily="34" charset="-122"/>
                <a:ea typeface="微软雅黑" pitchFamily="34" charset="-122"/>
              </a:rPr>
              <a:t>一个码片向量和该码片反码的向量的规格化内积值是 </a:t>
            </a:r>
            <a:r>
              <a:rPr lang="en-US" altLang="zh-CN" sz="2400" dirty="0">
                <a:latin typeface="微软雅黑" pitchFamily="34" charset="-122"/>
                <a:ea typeface="微软雅黑" pitchFamily="34" charset="-122"/>
              </a:rPr>
              <a:t>–1</a:t>
            </a:r>
            <a:r>
              <a:rPr lang="zh-CN" altLang="en-US" sz="2400" dirty="0">
                <a:latin typeface="微软雅黑" pitchFamily="34" charset="-122"/>
                <a:ea typeface="微软雅黑" pitchFamily="34" charset="-122"/>
              </a:rPr>
              <a:t> </a:t>
            </a:r>
          </a:p>
        </p:txBody>
      </p:sp>
      <p:pic>
        <p:nvPicPr>
          <p:cNvPr id="10" name="图片 9">
            <a:extLst>
              <a:ext uri="{FF2B5EF4-FFF2-40B4-BE49-F238E27FC236}">
                <a16:creationId xmlns:a16="http://schemas.microsoft.com/office/drawing/2014/main" id="{7892F52B-CDA6-498E-9A37-03401E10F467}"/>
              </a:ext>
            </a:extLst>
          </p:cNvPr>
          <p:cNvPicPr>
            <a:picLocks noChangeAspect="1"/>
          </p:cNvPicPr>
          <p:nvPr/>
        </p:nvPicPr>
        <p:blipFill>
          <a:blip r:embed="rId4">
            <a:duotone>
              <a:prstClr val="black"/>
              <a:schemeClr val="accent5">
                <a:tint val="45000"/>
                <a:satMod val="400000"/>
              </a:schemeClr>
            </a:duotone>
          </a:blip>
          <a:stretch>
            <a:fillRect/>
          </a:stretch>
        </p:blipFill>
        <p:spPr>
          <a:xfrm>
            <a:off x="2869466" y="5119537"/>
            <a:ext cx="6760672" cy="978232"/>
          </a:xfrm>
          <a:prstGeom prst="rect">
            <a:avLst/>
          </a:prstGeom>
          <a:ln>
            <a:noFill/>
          </a:ln>
          <a:effectLst>
            <a:outerShdw blurRad="292100" dist="139700" dir="2700000" algn="tl" rotWithShape="0">
              <a:srgbClr val="333333">
                <a:alpha val="65000"/>
              </a:srgbClr>
            </a:outerShdw>
          </a:effectLst>
        </p:spPr>
      </p:pic>
      <p:sp>
        <p:nvSpPr>
          <p:cNvPr id="12" name="文本框 11">
            <a:extLst>
              <a:ext uri="{FF2B5EF4-FFF2-40B4-BE49-F238E27FC236}">
                <a16:creationId xmlns:a16="http://schemas.microsoft.com/office/drawing/2014/main" id="{6237CC40-7BFB-4EBA-AB09-D1819AAF23DC}"/>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1B879190-CB66-2048-AA6F-5485D3875B61}"/>
              </a:ext>
            </a:extLst>
          </p:cNvPr>
          <p:cNvSpPr/>
          <p:nvPr/>
        </p:nvSpPr>
        <p:spPr>
          <a:xfrm>
            <a:off x="7238028" y="3530180"/>
            <a:ext cx="3927059" cy="1015663"/>
          </a:xfrm>
          <a:prstGeom prst="rect">
            <a:avLst/>
          </a:prstGeom>
          <a:ln>
            <a:solidFill>
              <a:srgbClr val="002060"/>
            </a:solidFill>
          </a:ln>
        </p:spPr>
        <p:txBody>
          <a:bodyPr wrap="square">
            <a:spAutoFit/>
          </a:bodyPr>
          <a:lstStyle/>
          <a:p>
            <a:r>
              <a:rPr kumimoji="1" lang="zh-CN" altLang="en-US" sz="2000" dirty="0">
                <a:latin typeface="Microsoft YaHei" panose="020B0503020204020204" pitchFamily="34" charset="-122"/>
                <a:ea typeface="Microsoft YaHei" panose="020B0503020204020204" pitchFamily="34" charset="-122"/>
              </a:rPr>
              <a:t>例如：</a:t>
            </a:r>
            <a:br>
              <a:rPr kumimoji="1" lang="en-US" altLang="zh-CN" sz="2000" dirty="0">
                <a:latin typeface="Microsoft YaHei" panose="020B0503020204020204" pitchFamily="34" charset="-122"/>
                <a:ea typeface="Microsoft YaHei" panose="020B0503020204020204" pitchFamily="34" charset="-122"/>
              </a:rPr>
            </a:br>
            <a:r>
              <a:rPr kumimoji="1" lang="en-US" altLang="zh-CN" sz="2000" dirty="0">
                <a:latin typeface="Microsoft YaHei" panose="020B0503020204020204" pitchFamily="34" charset="-122"/>
                <a:ea typeface="Microsoft YaHei" panose="020B0503020204020204" pitchFamily="34" charset="-122"/>
              </a:rPr>
              <a:t>S:</a:t>
            </a:r>
            <a:r>
              <a:rPr kumimoji="1" lang="zh-CN" altLang="en-US" sz="2000" dirty="0">
                <a:latin typeface="Microsoft YaHei" panose="020B0503020204020204" pitchFamily="34" charset="-122"/>
                <a:ea typeface="Microsoft YaHei" panose="020B0503020204020204" pitchFamily="34" charset="-122"/>
              </a:rPr>
              <a:t>（</a:t>
            </a:r>
            <a:r>
              <a:rPr kumimoji="1" lang="en-US" altLang="zh-CN" sz="2000" dirty="0">
                <a:latin typeface="Microsoft YaHei" panose="020B0503020204020204" pitchFamily="34" charset="-122"/>
                <a:ea typeface="Microsoft YaHei" panose="020B0503020204020204" pitchFamily="34" charset="-122"/>
              </a:rPr>
              <a:t>-1 -1 -1 +1 +1 -1 +1 +1</a:t>
            </a:r>
            <a:r>
              <a:rPr kumimoji="1" lang="zh-CN" altLang="en-US" sz="2000" dirty="0">
                <a:latin typeface="Microsoft YaHei" panose="020B0503020204020204" pitchFamily="34" charset="-122"/>
                <a:ea typeface="Microsoft YaHei" panose="020B0503020204020204" pitchFamily="34" charset="-122"/>
              </a:rPr>
              <a:t>） </a:t>
            </a:r>
            <a:endParaRPr kumimoji="1" lang="en-US" altLang="zh-CN" sz="2000" dirty="0">
              <a:latin typeface="Microsoft YaHei" panose="020B0503020204020204" pitchFamily="34" charset="-122"/>
              <a:ea typeface="Microsoft YaHei" panose="020B0503020204020204" pitchFamily="34" charset="-122"/>
            </a:endParaRPr>
          </a:p>
          <a:p>
            <a:r>
              <a:rPr kumimoji="1" lang="en-US" altLang="zh-CN" sz="2000" dirty="0">
                <a:latin typeface="Microsoft YaHei" panose="020B0503020204020204" pitchFamily="34" charset="-122"/>
                <a:ea typeface="Microsoft YaHei" panose="020B0503020204020204" pitchFamily="34" charset="-122"/>
              </a:rPr>
              <a:t>T:</a:t>
            </a:r>
            <a:r>
              <a:rPr kumimoji="1" lang="zh-CN" altLang="en-US" sz="2000" dirty="0">
                <a:latin typeface="Microsoft YaHei" panose="020B0503020204020204" pitchFamily="34" charset="-122"/>
                <a:ea typeface="Microsoft YaHei" panose="020B0503020204020204" pitchFamily="34" charset="-122"/>
              </a:rPr>
              <a:t>（</a:t>
            </a:r>
            <a:r>
              <a:rPr kumimoji="1" lang="en-US" altLang="zh-CN" sz="2000" dirty="0">
                <a:latin typeface="Microsoft YaHei" panose="020B0503020204020204" pitchFamily="34" charset="-122"/>
                <a:ea typeface="Microsoft YaHei" panose="020B0503020204020204" pitchFamily="34" charset="-122"/>
              </a:rPr>
              <a:t>-1 -1 +1 -1 +1 +1 +1 -1</a:t>
            </a:r>
            <a:r>
              <a:rPr kumimoji="1" lang="zh-CN" altLang="en-US" sz="2000" dirty="0">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2653978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5F00D5-BE90-FA47-9ED8-ABD0D5E5686F}"/>
              </a:ext>
            </a:extLst>
          </p:cNvPr>
          <p:cNvSpPr>
            <a:spLocks noGrp="1"/>
          </p:cNvSpPr>
          <p:nvPr>
            <p:ph type="title"/>
          </p:nvPr>
        </p:nvSpPr>
        <p:spPr/>
        <p:txBody>
          <a:bodyPr/>
          <a:lstStyle/>
          <a:p>
            <a:r>
              <a:rPr kumimoji="1" lang="zh-CN" altLang="en-US" dirty="0"/>
              <a:t>码分复用举例</a:t>
            </a:r>
          </a:p>
        </p:txBody>
      </p:sp>
      <p:sp>
        <p:nvSpPr>
          <p:cNvPr id="3" name="内容占位符 2">
            <a:extLst>
              <a:ext uri="{FF2B5EF4-FFF2-40B4-BE49-F238E27FC236}">
                <a16:creationId xmlns:a16="http://schemas.microsoft.com/office/drawing/2014/main" id="{BC0AD05C-6AAE-A54E-B017-73D5BDC0E28A}"/>
              </a:ext>
            </a:extLst>
          </p:cNvPr>
          <p:cNvSpPr>
            <a:spLocks noGrp="1"/>
          </p:cNvSpPr>
          <p:nvPr>
            <p:ph idx="1"/>
          </p:nvPr>
        </p:nvSpPr>
        <p:spPr>
          <a:xfrm>
            <a:off x="752856" y="1364453"/>
            <a:ext cx="10515600" cy="5357021"/>
          </a:xfrm>
        </p:spPr>
        <p:txBody>
          <a:bodyPr>
            <a:normAutofit/>
          </a:bodyPr>
          <a:lstStyle/>
          <a:p>
            <a:r>
              <a:rPr kumimoji="1" lang="zh-CN" altLang="en-US" dirty="0"/>
              <a:t>共有四个站进行码分多址</a:t>
            </a:r>
            <a:r>
              <a:rPr kumimoji="1" lang="en-US" altLang="zh-CN" dirty="0"/>
              <a:t>CDMA</a:t>
            </a:r>
            <a:r>
              <a:rPr kumimoji="1" lang="zh-CN" altLang="en-US" dirty="0"/>
              <a:t>通信。四个站的码片分别为</a:t>
            </a:r>
          </a:p>
          <a:p>
            <a:pPr lvl="1"/>
            <a:r>
              <a:rPr kumimoji="1" lang="en-US" altLang="zh-CN" sz="2000" dirty="0"/>
              <a:t>A:</a:t>
            </a:r>
            <a:r>
              <a:rPr kumimoji="1" lang="zh-CN" altLang="en-US" sz="2000" dirty="0"/>
              <a:t>（</a:t>
            </a:r>
            <a:r>
              <a:rPr kumimoji="1" lang="en-US" altLang="zh-CN" sz="2000" dirty="0"/>
              <a:t>-1 -1 -1 +1 +1 -1 +1 +1</a:t>
            </a:r>
            <a:r>
              <a:rPr kumimoji="1" lang="zh-CN" altLang="en-US" sz="2000" dirty="0"/>
              <a:t>） </a:t>
            </a:r>
            <a:r>
              <a:rPr kumimoji="1" lang="en-US" altLang="zh-CN" sz="2000" dirty="0"/>
              <a:t>B:</a:t>
            </a:r>
            <a:r>
              <a:rPr kumimoji="1" lang="zh-CN" altLang="en-US" sz="2000" dirty="0"/>
              <a:t>（</a:t>
            </a:r>
            <a:r>
              <a:rPr kumimoji="1" lang="en-US" altLang="zh-CN" sz="2000" dirty="0"/>
              <a:t>-1 -1 +1 -1 +1 +1 +1 -1</a:t>
            </a:r>
            <a:r>
              <a:rPr kumimoji="1" lang="zh-CN" altLang="en-US" sz="2000" dirty="0"/>
              <a:t>）</a:t>
            </a:r>
          </a:p>
          <a:p>
            <a:pPr lvl="1"/>
            <a:r>
              <a:rPr kumimoji="1" lang="en-US" altLang="zh-CN" sz="2000" dirty="0"/>
              <a:t>C:</a:t>
            </a:r>
            <a:r>
              <a:rPr kumimoji="1" lang="zh-CN" altLang="en-US" sz="2000" dirty="0"/>
              <a:t>（</a:t>
            </a:r>
            <a:r>
              <a:rPr kumimoji="1" lang="en-US" altLang="zh-CN" sz="2000" dirty="0"/>
              <a:t>-1 +1 -1 +1 +1 +1 -1 -1</a:t>
            </a:r>
            <a:r>
              <a:rPr kumimoji="1" lang="zh-CN" altLang="en-US" sz="2000" dirty="0"/>
              <a:t>） </a:t>
            </a:r>
            <a:r>
              <a:rPr kumimoji="1" lang="en-US" altLang="zh-CN" sz="2000" dirty="0"/>
              <a:t>D:</a:t>
            </a:r>
            <a:r>
              <a:rPr kumimoji="1" lang="zh-CN" altLang="en-US" sz="2000" dirty="0"/>
              <a:t>（</a:t>
            </a:r>
            <a:r>
              <a:rPr kumimoji="1" lang="en-US" altLang="zh-CN" sz="2000" dirty="0"/>
              <a:t>-1 +1 -1 -1 -1 -1 +1 -1 </a:t>
            </a:r>
            <a:r>
              <a:rPr kumimoji="1" lang="zh-CN" altLang="en-US" sz="2000" dirty="0"/>
              <a:t>）</a:t>
            </a:r>
          </a:p>
          <a:p>
            <a:r>
              <a:rPr kumimoji="1" lang="zh-CN" altLang="en-US" dirty="0"/>
              <a:t>问题</a:t>
            </a:r>
            <a:endParaRPr kumimoji="1" lang="en-US" altLang="zh-CN" dirty="0"/>
          </a:p>
          <a:p>
            <a:pPr lvl="1"/>
            <a:r>
              <a:rPr kumimoji="1" lang="zh-CN" altLang="en-US" dirty="0"/>
              <a:t>现收到这样的码片序列：</a:t>
            </a:r>
            <a:r>
              <a:rPr kumimoji="1" lang="en-US" altLang="zh-CN" dirty="0"/>
              <a:t>M=</a:t>
            </a:r>
            <a:r>
              <a:rPr kumimoji="1" lang="zh-CN" altLang="en-US" dirty="0"/>
              <a:t>（</a:t>
            </a:r>
            <a:r>
              <a:rPr kumimoji="1" lang="en-US" altLang="zh-CN" dirty="0"/>
              <a:t>-1 +1 -3 +1 -1 -3 +1 +1</a:t>
            </a:r>
            <a:r>
              <a:rPr kumimoji="1" lang="zh-CN" altLang="en-US" dirty="0"/>
              <a:t>）</a:t>
            </a:r>
            <a:endParaRPr kumimoji="1" lang="en-US" altLang="zh-CN" dirty="0"/>
          </a:p>
          <a:p>
            <a:pPr lvl="1"/>
            <a:r>
              <a:rPr kumimoji="1" lang="zh-CN" altLang="en-US" dirty="0"/>
              <a:t>问哪个站发送数据了？</a:t>
            </a:r>
            <a:endParaRPr kumimoji="1" lang="en-US" altLang="zh-CN" dirty="0"/>
          </a:p>
          <a:p>
            <a:pPr lvl="1"/>
            <a:r>
              <a:rPr kumimoji="1" lang="zh-CN" altLang="en-US" dirty="0"/>
              <a:t>发送数据的站发送的</a:t>
            </a:r>
            <a:r>
              <a:rPr kumimoji="1" lang="en-US" altLang="zh-CN" dirty="0"/>
              <a:t>1</a:t>
            </a:r>
            <a:r>
              <a:rPr kumimoji="1" lang="zh-CN" altLang="en-US" dirty="0"/>
              <a:t>还是</a:t>
            </a:r>
            <a:r>
              <a:rPr kumimoji="1" lang="en-US" altLang="zh-CN" dirty="0"/>
              <a:t>0</a:t>
            </a:r>
            <a:r>
              <a:rPr kumimoji="1" lang="zh-CN" altLang="en-US" dirty="0"/>
              <a:t>？</a:t>
            </a:r>
            <a:endParaRPr kumimoji="1" lang="en-US" altLang="zh-CN" dirty="0"/>
          </a:p>
          <a:p>
            <a:r>
              <a:rPr kumimoji="1" lang="zh-CN" altLang="en-US" dirty="0"/>
              <a:t>求解</a:t>
            </a:r>
            <a:endParaRPr kumimoji="1" lang="en-US" altLang="zh-CN" dirty="0"/>
          </a:p>
          <a:p>
            <a:pPr lvl="1"/>
            <a:r>
              <a:rPr kumimoji="1" lang="en-US" altLang="zh-CN" dirty="0"/>
              <a:t>A</a:t>
            </a:r>
            <a:r>
              <a:rPr kumimoji="1" lang="zh-CN" altLang="en-US" dirty="0"/>
              <a:t>*</a:t>
            </a:r>
            <a:r>
              <a:rPr kumimoji="1" lang="en-US" altLang="zh-CN" dirty="0"/>
              <a:t>M=1/8</a:t>
            </a:r>
            <a:r>
              <a:rPr kumimoji="1" lang="zh-CN" altLang="en-US" dirty="0"/>
              <a:t>*</a:t>
            </a:r>
            <a:r>
              <a:rPr kumimoji="1" lang="en-US" altLang="zh-CN" dirty="0"/>
              <a:t>(1-1+3+1-1+3+1+1)=1</a:t>
            </a:r>
            <a:r>
              <a:rPr kumimoji="1" lang="zh-CN" altLang="en-US" dirty="0"/>
              <a:t>因此</a:t>
            </a:r>
            <a:r>
              <a:rPr kumimoji="1" lang="en-US" altLang="zh-CN" dirty="0"/>
              <a:t>A</a:t>
            </a:r>
            <a:r>
              <a:rPr kumimoji="1" lang="zh-CN" altLang="en-US" dirty="0"/>
              <a:t>发送了</a:t>
            </a:r>
            <a:r>
              <a:rPr kumimoji="1" lang="en-US" altLang="zh-CN" dirty="0"/>
              <a:t>1</a:t>
            </a:r>
          </a:p>
          <a:p>
            <a:pPr lvl="1"/>
            <a:r>
              <a:rPr kumimoji="1" lang="zh-CN" altLang="en-US" dirty="0"/>
              <a:t>同理，</a:t>
            </a:r>
            <a:r>
              <a:rPr kumimoji="1" lang="en-US" altLang="zh-CN" dirty="0"/>
              <a:t>B*M=-1</a:t>
            </a:r>
            <a:r>
              <a:rPr kumimoji="1" lang="zh-CN" altLang="en-US" dirty="0"/>
              <a:t>，</a:t>
            </a:r>
            <a:r>
              <a:rPr kumimoji="1" lang="en-US" altLang="zh-CN" dirty="0"/>
              <a:t>C</a:t>
            </a:r>
            <a:r>
              <a:rPr kumimoji="1" lang="zh-CN" altLang="en-US" dirty="0"/>
              <a:t>*</a:t>
            </a:r>
            <a:r>
              <a:rPr kumimoji="1" lang="en-US" altLang="zh-CN" dirty="0"/>
              <a:t>M=0</a:t>
            </a:r>
            <a:r>
              <a:rPr kumimoji="1" lang="zh-CN" altLang="en-US" dirty="0"/>
              <a:t>，</a:t>
            </a:r>
            <a:r>
              <a:rPr kumimoji="1" lang="en-US" altLang="zh-CN" dirty="0"/>
              <a:t>D</a:t>
            </a:r>
            <a:r>
              <a:rPr kumimoji="1" lang="zh-CN" altLang="en-US" dirty="0"/>
              <a:t>*</a:t>
            </a:r>
            <a:r>
              <a:rPr kumimoji="1" lang="en-US" altLang="zh-CN" dirty="0"/>
              <a:t>M=1</a:t>
            </a:r>
          </a:p>
          <a:p>
            <a:pPr lvl="1"/>
            <a:r>
              <a:rPr kumimoji="1" lang="zh-CN" altLang="en-US" dirty="0"/>
              <a:t>即</a:t>
            </a:r>
            <a:r>
              <a:rPr kumimoji="1" lang="en-US" altLang="zh-CN" dirty="0"/>
              <a:t>A</a:t>
            </a:r>
            <a:r>
              <a:rPr kumimoji="1" lang="zh-CN" altLang="en-US" dirty="0"/>
              <a:t>、</a:t>
            </a:r>
            <a:r>
              <a:rPr kumimoji="1" lang="en-US" altLang="zh-CN" dirty="0"/>
              <a:t>D</a:t>
            </a:r>
            <a:r>
              <a:rPr kumimoji="1" lang="zh-CN" altLang="en-US" dirty="0"/>
              <a:t>发送了</a:t>
            </a:r>
            <a:r>
              <a:rPr kumimoji="1" lang="en-US" altLang="zh-CN" dirty="0"/>
              <a:t>1</a:t>
            </a:r>
            <a:r>
              <a:rPr kumimoji="1" lang="zh-CN" altLang="en-US" dirty="0"/>
              <a:t>，</a:t>
            </a:r>
            <a:r>
              <a:rPr kumimoji="1" lang="en-US" altLang="zh-CN" dirty="0"/>
              <a:t>B</a:t>
            </a:r>
            <a:r>
              <a:rPr kumimoji="1" lang="zh-CN" altLang="en-US" dirty="0"/>
              <a:t>发送了</a:t>
            </a:r>
            <a:r>
              <a:rPr kumimoji="1" lang="en-US" altLang="zh-CN" dirty="0"/>
              <a:t>0</a:t>
            </a:r>
            <a:r>
              <a:rPr kumimoji="1" lang="zh-CN" altLang="en-US" dirty="0"/>
              <a:t>，</a:t>
            </a:r>
            <a:r>
              <a:rPr kumimoji="1" lang="en-US" altLang="zh-CN" dirty="0"/>
              <a:t>C</a:t>
            </a:r>
            <a:r>
              <a:rPr kumimoji="1" lang="zh-CN" altLang="en-US" dirty="0"/>
              <a:t>未发数据</a:t>
            </a:r>
          </a:p>
        </p:txBody>
      </p:sp>
      <p:sp>
        <p:nvSpPr>
          <p:cNvPr id="4" name="灯片编号占位符 3">
            <a:extLst>
              <a:ext uri="{FF2B5EF4-FFF2-40B4-BE49-F238E27FC236}">
                <a16:creationId xmlns:a16="http://schemas.microsoft.com/office/drawing/2014/main" id="{14ECBC8B-082E-214E-94D2-5B2AE2A94B83}"/>
              </a:ext>
            </a:extLst>
          </p:cNvPr>
          <p:cNvSpPr>
            <a:spLocks noGrp="1"/>
          </p:cNvSpPr>
          <p:nvPr>
            <p:ph type="sldNum" sz="quarter" idx="12"/>
          </p:nvPr>
        </p:nvSpPr>
        <p:spPr/>
        <p:txBody>
          <a:bodyPr/>
          <a:lstStyle/>
          <a:p>
            <a:fld id="{8D4D1E41-7A09-AB4A-A4E1-09765ADA2698}" type="slidenum">
              <a:rPr kumimoji="1" lang="zh-CN" altLang="en-US" smtClean="0"/>
              <a:t>106</a:t>
            </a:fld>
            <a:endParaRPr kumimoji="1" lang="zh-CN" altLang="en-US" dirty="0"/>
          </a:p>
        </p:txBody>
      </p:sp>
      <p:pic>
        <p:nvPicPr>
          <p:cNvPr id="6" name="图片 5">
            <a:extLst>
              <a:ext uri="{FF2B5EF4-FFF2-40B4-BE49-F238E27FC236}">
                <a16:creationId xmlns:a16="http://schemas.microsoft.com/office/drawing/2014/main" id="{54E87B2B-5C45-1144-9061-03171A3AE2BC}"/>
              </a:ext>
            </a:extLst>
          </p:cNvPr>
          <p:cNvPicPr>
            <a:picLocks noChangeAspect="1"/>
          </p:cNvPicPr>
          <p:nvPr/>
        </p:nvPicPr>
        <p:blipFill>
          <a:blip r:embed="rId2">
            <a:duotone>
              <a:prstClr val="black"/>
              <a:schemeClr val="accent5">
                <a:tint val="45000"/>
                <a:satMod val="400000"/>
              </a:schemeClr>
            </a:duotone>
          </a:blip>
          <a:stretch>
            <a:fillRect/>
          </a:stretch>
        </p:blipFill>
        <p:spPr>
          <a:xfrm>
            <a:off x="6389852" y="3746608"/>
            <a:ext cx="3141516" cy="9828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2597458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B9DF402-F3DE-4B59-92B2-F1554AD320C2}"/>
              </a:ext>
            </a:extLst>
          </p:cNvPr>
          <p:cNvSpPr>
            <a:spLocks noGrp="1"/>
          </p:cNvSpPr>
          <p:nvPr>
            <p:ph type="sldNum" sz="quarter" idx="12"/>
          </p:nvPr>
        </p:nvSpPr>
        <p:spPr/>
        <p:txBody>
          <a:bodyPr/>
          <a:lstStyle/>
          <a:p>
            <a:fld id="{8D4D1E41-7A09-AB4A-A4E1-09765ADA2698}" type="slidenum">
              <a:rPr kumimoji="1" lang="zh-CN" altLang="en-US" smtClean="0"/>
              <a:t>107</a:t>
            </a:fld>
            <a:endParaRPr kumimoji="1" lang="zh-CN" altLang="en-US" dirty="0"/>
          </a:p>
        </p:txBody>
      </p:sp>
      <p:sp>
        <p:nvSpPr>
          <p:cNvPr id="117" name="圆角矩形 1">
            <a:extLst>
              <a:ext uri="{FF2B5EF4-FFF2-40B4-BE49-F238E27FC236}">
                <a16:creationId xmlns:a16="http://schemas.microsoft.com/office/drawing/2014/main" id="{2B931F4D-1EC1-42F4-823D-F1C2D0E1AC8F}"/>
              </a:ext>
            </a:extLst>
          </p:cNvPr>
          <p:cNvSpPr/>
          <p:nvPr/>
        </p:nvSpPr>
        <p:spPr>
          <a:xfrm>
            <a:off x="838200" y="1821095"/>
            <a:ext cx="10320736" cy="4671779"/>
          </a:xfrm>
          <a:prstGeom prst="roundRect">
            <a:avLst>
              <a:gd name="adj" fmla="val 2019"/>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18" name="Rectangle 6">
            <a:extLst>
              <a:ext uri="{FF2B5EF4-FFF2-40B4-BE49-F238E27FC236}">
                <a16:creationId xmlns:a16="http://schemas.microsoft.com/office/drawing/2014/main" id="{73CBBBEC-C6C2-46E8-AF8C-74AAB54B499C}"/>
              </a:ext>
            </a:extLst>
          </p:cNvPr>
          <p:cNvSpPr>
            <a:spLocks noChangeArrowheads="1"/>
          </p:cNvSpPr>
          <p:nvPr/>
        </p:nvSpPr>
        <p:spPr bwMode="auto">
          <a:xfrm>
            <a:off x="768519" y="3160429"/>
            <a:ext cx="289806" cy="463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19" name="Line 10">
            <a:extLst>
              <a:ext uri="{FF2B5EF4-FFF2-40B4-BE49-F238E27FC236}">
                <a16:creationId xmlns:a16="http://schemas.microsoft.com/office/drawing/2014/main" id="{2C50F915-FCDC-4A01-99EF-9901E18466F4}"/>
              </a:ext>
            </a:extLst>
          </p:cNvPr>
          <p:cNvSpPr>
            <a:spLocks noChangeShapeType="1"/>
          </p:cNvSpPr>
          <p:nvPr/>
        </p:nvSpPr>
        <p:spPr bwMode="auto">
          <a:xfrm>
            <a:off x="4667211" y="2776447"/>
            <a:ext cx="182977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0" name="Text Box 11">
            <a:extLst>
              <a:ext uri="{FF2B5EF4-FFF2-40B4-BE49-F238E27FC236}">
                <a16:creationId xmlns:a16="http://schemas.microsoft.com/office/drawing/2014/main" id="{D548D36D-A3BC-474F-AD7B-A77A363CA034}"/>
              </a:ext>
            </a:extLst>
          </p:cNvPr>
          <p:cNvSpPr txBox="1">
            <a:spLocks noChangeArrowheads="1"/>
          </p:cNvSpPr>
          <p:nvPr/>
        </p:nvSpPr>
        <p:spPr bwMode="auto">
          <a:xfrm>
            <a:off x="1903089" y="2970142"/>
            <a:ext cx="2482597" cy="275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5000"/>
              </a:lnSpc>
            </a:pPr>
            <a:r>
              <a:rPr kumimoji="1" lang="en-US" altLang="zh-CN" sz="1400" dirty="0">
                <a:latin typeface="微软雅黑" pitchFamily="34" charset="-122"/>
                <a:ea typeface="微软雅黑" pitchFamily="34" charset="-122"/>
              </a:rPr>
              <a:t>S </a:t>
            </a:r>
            <a:r>
              <a:rPr kumimoji="1" lang="zh-CN" altLang="en-US" sz="1400" dirty="0">
                <a:latin typeface="微软雅黑" pitchFamily="34" charset="-122"/>
                <a:ea typeface="微软雅黑" pitchFamily="34" charset="-122"/>
              </a:rPr>
              <a:t>站的码片序列 </a:t>
            </a:r>
            <a:r>
              <a:rPr kumimoji="1" lang="en-US" altLang="zh-CN" sz="1400" i="1" dirty="0">
                <a:latin typeface="微软雅黑" pitchFamily="34" charset="-122"/>
                <a:ea typeface="微软雅黑" pitchFamily="34" charset="-122"/>
              </a:rPr>
              <a:t>S</a:t>
            </a:r>
          </a:p>
        </p:txBody>
      </p:sp>
      <p:sp>
        <p:nvSpPr>
          <p:cNvPr id="121" name="Line 12">
            <a:extLst>
              <a:ext uri="{FF2B5EF4-FFF2-40B4-BE49-F238E27FC236}">
                <a16:creationId xmlns:a16="http://schemas.microsoft.com/office/drawing/2014/main" id="{E652089F-A010-4B4E-9E9C-5EFDB8157D53}"/>
              </a:ext>
            </a:extLst>
          </p:cNvPr>
          <p:cNvSpPr>
            <a:spLocks noChangeShapeType="1"/>
          </p:cNvSpPr>
          <p:nvPr/>
        </p:nvSpPr>
        <p:spPr bwMode="auto">
          <a:xfrm>
            <a:off x="4669064" y="2052552"/>
            <a:ext cx="0" cy="448207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2" name="Line 13">
            <a:extLst>
              <a:ext uri="{FF2B5EF4-FFF2-40B4-BE49-F238E27FC236}">
                <a16:creationId xmlns:a16="http://schemas.microsoft.com/office/drawing/2014/main" id="{B47B7217-4756-45BD-9A98-660701C2321E}"/>
              </a:ext>
            </a:extLst>
          </p:cNvPr>
          <p:cNvSpPr>
            <a:spLocks noChangeShapeType="1"/>
          </p:cNvSpPr>
          <p:nvPr/>
        </p:nvSpPr>
        <p:spPr bwMode="auto">
          <a:xfrm>
            <a:off x="6511813" y="2052552"/>
            <a:ext cx="0" cy="448207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3" name="Line 14">
            <a:extLst>
              <a:ext uri="{FF2B5EF4-FFF2-40B4-BE49-F238E27FC236}">
                <a16:creationId xmlns:a16="http://schemas.microsoft.com/office/drawing/2014/main" id="{FE8061DB-7ADF-4555-A801-0E54C800662A}"/>
              </a:ext>
            </a:extLst>
          </p:cNvPr>
          <p:cNvSpPr>
            <a:spLocks noChangeShapeType="1"/>
          </p:cNvSpPr>
          <p:nvPr/>
        </p:nvSpPr>
        <p:spPr bwMode="auto">
          <a:xfrm>
            <a:off x="8354561" y="2052551"/>
            <a:ext cx="0" cy="448207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4" name="Line 15">
            <a:extLst>
              <a:ext uri="{FF2B5EF4-FFF2-40B4-BE49-F238E27FC236}">
                <a16:creationId xmlns:a16="http://schemas.microsoft.com/office/drawing/2014/main" id="{EFCC984C-61AA-4C1E-81AD-AB7EBEBD58AA}"/>
              </a:ext>
            </a:extLst>
          </p:cNvPr>
          <p:cNvSpPr>
            <a:spLocks noChangeShapeType="1"/>
          </p:cNvSpPr>
          <p:nvPr/>
        </p:nvSpPr>
        <p:spPr bwMode="auto">
          <a:xfrm>
            <a:off x="10197309" y="2052551"/>
            <a:ext cx="0" cy="448207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5" name="Freeform 16">
            <a:extLst>
              <a:ext uri="{FF2B5EF4-FFF2-40B4-BE49-F238E27FC236}">
                <a16:creationId xmlns:a16="http://schemas.microsoft.com/office/drawing/2014/main" id="{52169156-5115-4EAF-88D0-D9DF7D54B2B1}"/>
              </a:ext>
            </a:extLst>
          </p:cNvPr>
          <p:cNvSpPr>
            <a:spLocks/>
          </p:cNvSpPr>
          <p:nvPr/>
        </p:nvSpPr>
        <p:spPr bwMode="auto">
          <a:xfrm>
            <a:off x="4669064" y="3016104"/>
            <a:ext cx="1842749" cy="329938"/>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6" name="Freeform 17">
            <a:extLst>
              <a:ext uri="{FF2B5EF4-FFF2-40B4-BE49-F238E27FC236}">
                <a16:creationId xmlns:a16="http://schemas.microsoft.com/office/drawing/2014/main" id="{1A12552A-6EE0-444D-90FE-65F635516DA2}"/>
              </a:ext>
            </a:extLst>
          </p:cNvPr>
          <p:cNvSpPr>
            <a:spLocks/>
          </p:cNvSpPr>
          <p:nvPr/>
        </p:nvSpPr>
        <p:spPr bwMode="auto">
          <a:xfrm>
            <a:off x="6511813" y="3016104"/>
            <a:ext cx="1842749" cy="329938"/>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7" name="Freeform 18">
            <a:extLst>
              <a:ext uri="{FF2B5EF4-FFF2-40B4-BE49-F238E27FC236}">
                <a16:creationId xmlns:a16="http://schemas.microsoft.com/office/drawing/2014/main" id="{719C00B8-6B7C-4E49-8501-A177147A7586}"/>
              </a:ext>
            </a:extLst>
          </p:cNvPr>
          <p:cNvSpPr>
            <a:spLocks/>
          </p:cNvSpPr>
          <p:nvPr/>
        </p:nvSpPr>
        <p:spPr bwMode="auto">
          <a:xfrm>
            <a:off x="4669064" y="4143802"/>
            <a:ext cx="1842749" cy="321732"/>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8" name="Freeform 19">
            <a:extLst>
              <a:ext uri="{FF2B5EF4-FFF2-40B4-BE49-F238E27FC236}">
                <a16:creationId xmlns:a16="http://schemas.microsoft.com/office/drawing/2014/main" id="{761ACF02-5D20-41AA-B9DF-F8A29B41877B}"/>
              </a:ext>
            </a:extLst>
          </p:cNvPr>
          <p:cNvSpPr>
            <a:spLocks/>
          </p:cNvSpPr>
          <p:nvPr/>
        </p:nvSpPr>
        <p:spPr bwMode="auto">
          <a:xfrm>
            <a:off x="6511813" y="4143802"/>
            <a:ext cx="1842749" cy="321732"/>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9" name="Freeform 20">
            <a:extLst>
              <a:ext uri="{FF2B5EF4-FFF2-40B4-BE49-F238E27FC236}">
                <a16:creationId xmlns:a16="http://schemas.microsoft.com/office/drawing/2014/main" id="{0B36592A-CEBF-4F7C-92BF-3C5954E08B10}"/>
              </a:ext>
            </a:extLst>
          </p:cNvPr>
          <p:cNvSpPr>
            <a:spLocks/>
          </p:cNvSpPr>
          <p:nvPr/>
        </p:nvSpPr>
        <p:spPr bwMode="auto">
          <a:xfrm flipV="1">
            <a:off x="8354561" y="4143802"/>
            <a:ext cx="1842749" cy="321732"/>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66FFFF"/>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0" name="Freeform 21">
            <a:extLst>
              <a:ext uri="{FF2B5EF4-FFF2-40B4-BE49-F238E27FC236}">
                <a16:creationId xmlns:a16="http://schemas.microsoft.com/office/drawing/2014/main" id="{DC0D56A6-67D3-4877-9B34-9A48EB6D59BB}"/>
              </a:ext>
            </a:extLst>
          </p:cNvPr>
          <p:cNvSpPr>
            <a:spLocks/>
          </p:cNvSpPr>
          <p:nvPr/>
        </p:nvSpPr>
        <p:spPr bwMode="auto">
          <a:xfrm>
            <a:off x="4669064" y="5977342"/>
            <a:ext cx="1842749" cy="323372"/>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008000"/>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1" name="Freeform 22">
            <a:extLst>
              <a:ext uri="{FF2B5EF4-FFF2-40B4-BE49-F238E27FC236}">
                <a16:creationId xmlns:a16="http://schemas.microsoft.com/office/drawing/2014/main" id="{3BED289C-7200-4022-AA8C-44676E3A3AC6}"/>
              </a:ext>
            </a:extLst>
          </p:cNvPr>
          <p:cNvSpPr>
            <a:spLocks/>
          </p:cNvSpPr>
          <p:nvPr/>
        </p:nvSpPr>
        <p:spPr bwMode="auto">
          <a:xfrm>
            <a:off x="6511813" y="5977342"/>
            <a:ext cx="1842749" cy="323372"/>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008000"/>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2" name="Freeform 23">
            <a:extLst>
              <a:ext uri="{FF2B5EF4-FFF2-40B4-BE49-F238E27FC236}">
                <a16:creationId xmlns:a16="http://schemas.microsoft.com/office/drawing/2014/main" id="{C77E76FC-9241-4FB3-A915-5B9C59017246}"/>
              </a:ext>
            </a:extLst>
          </p:cNvPr>
          <p:cNvSpPr>
            <a:spLocks/>
          </p:cNvSpPr>
          <p:nvPr/>
        </p:nvSpPr>
        <p:spPr bwMode="auto">
          <a:xfrm flipV="1">
            <a:off x="8354561" y="5977342"/>
            <a:ext cx="1842749" cy="323372"/>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FF99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3" name="Freeform 24">
            <a:extLst>
              <a:ext uri="{FF2B5EF4-FFF2-40B4-BE49-F238E27FC236}">
                <a16:creationId xmlns:a16="http://schemas.microsoft.com/office/drawing/2014/main" id="{7F0FD088-E3EC-41E2-81F2-3B577EA9FA6D}"/>
              </a:ext>
            </a:extLst>
          </p:cNvPr>
          <p:cNvSpPr>
            <a:spLocks/>
          </p:cNvSpPr>
          <p:nvPr/>
        </p:nvSpPr>
        <p:spPr bwMode="auto">
          <a:xfrm>
            <a:off x="4669064" y="5430728"/>
            <a:ext cx="5528245" cy="325014"/>
          </a:xfrm>
          <a:custGeom>
            <a:avLst/>
            <a:gdLst>
              <a:gd name="T0" fmla="*/ 0 w 2827"/>
              <a:gd name="T1" fmla="*/ 96 h 194"/>
              <a:gd name="T2" fmla="*/ 0 w 2827"/>
              <a:gd name="T3" fmla="*/ 0 h 194"/>
              <a:gd name="T4" fmla="*/ 1886 w 2827"/>
              <a:gd name="T5" fmla="*/ 2 h 194"/>
              <a:gd name="T6" fmla="*/ 1886 w 2827"/>
              <a:gd name="T7" fmla="*/ 194 h 194"/>
              <a:gd name="T8" fmla="*/ 2826 w 2827"/>
              <a:gd name="T9" fmla="*/ 192 h 194"/>
              <a:gd name="T10" fmla="*/ 2827 w 2827"/>
              <a:gd name="T11" fmla="*/ 96 h 194"/>
            </a:gdLst>
            <a:ahLst/>
            <a:cxnLst>
              <a:cxn ang="0">
                <a:pos x="T0" y="T1"/>
              </a:cxn>
              <a:cxn ang="0">
                <a:pos x="T2" y="T3"/>
              </a:cxn>
              <a:cxn ang="0">
                <a:pos x="T4" y="T5"/>
              </a:cxn>
              <a:cxn ang="0">
                <a:pos x="T6" y="T7"/>
              </a:cxn>
              <a:cxn ang="0">
                <a:pos x="T8" y="T9"/>
              </a:cxn>
              <a:cxn ang="0">
                <a:pos x="T10" y="T11"/>
              </a:cxn>
            </a:cxnLst>
            <a:rect l="0" t="0" r="r" b="b"/>
            <a:pathLst>
              <a:path w="2827" h="194">
                <a:moveTo>
                  <a:pt x="0" y="96"/>
                </a:moveTo>
                <a:lnTo>
                  <a:pt x="0" y="0"/>
                </a:lnTo>
                <a:lnTo>
                  <a:pt x="1886" y="2"/>
                </a:lnTo>
                <a:lnTo>
                  <a:pt x="1886" y="194"/>
                </a:lnTo>
                <a:lnTo>
                  <a:pt x="2826" y="192"/>
                </a:lnTo>
                <a:lnTo>
                  <a:pt x="2827" y="96"/>
                </a:lnTo>
              </a:path>
            </a:pathLst>
          </a:custGeom>
          <a:solidFill>
            <a:srgbClr val="00FFCC"/>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4" name="Freeform 25">
            <a:extLst>
              <a:ext uri="{FF2B5EF4-FFF2-40B4-BE49-F238E27FC236}">
                <a16:creationId xmlns:a16="http://schemas.microsoft.com/office/drawing/2014/main" id="{B811BF8A-2CDB-4504-A214-25BA1BB1BED1}"/>
              </a:ext>
            </a:extLst>
          </p:cNvPr>
          <p:cNvSpPr>
            <a:spLocks/>
          </p:cNvSpPr>
          <p:nvPr/>
        </p:nvSpPr>
        <p:spPr bwMode="auto">
          <a:xfrm>
            <a:off x="4669064" y="2292208"/>
            <a:ext cx="5528245" cy="323373"/>
          </a:xfrm>
          <a:custGeom>
            <a:avLst/>
            <a:gdLst>
              <a:gd name="T0" fmla="*/ 0 w 2304"/>
              <a:gd name="T1" fmla="*/ 96 h 192"/>
              <a:gd name="T2" fmla="*/ 0 w 2304"/>
              <a:gd name="T3" fmla="*/ 0 h 192"/>
              <a:gd name="T4" fmla="*/ 1536 w 2304"/>
              <a:gd name="T5" fmla="*/ 0 h 192"/>
              <a:gd name="T6" fmla="*/ 1536 w 2304"/>
              <a:gd name="T7" fmla="*/ 192 h 192"/>
              <a:gd name="T8" fmla="*/ 2304 w 2304"/>
              <a:gd name="T9" fmla="*/ 192 h 192"/>
              <a:gd name="T10" fmla="*/ 2304 w 2304"/>
              <a:gd name="T11" fmla="*/ 96 h 192"/>
            </a:gdLst>
            <a:ahLst/>
            <a:cxnLst>
              <a:cxn ang="0">
                <a:pos x="T0" y="T1"/>
              </a:cxn>
              <a:cxn ang="0">
                <a:pos x="T2" y="T3"/>
              </a:cxn>
              <a:cxn ang="0">
                <a:pos x="T4" y="T5"/>
              </a:cxn>
              <a:cxn ang="0">
                <a:pos x="T6" y="T7"/>
              </a:cxn>
              <a:cxn ang="0">
                <a:pos x="T8" y="T9"/>
              </a:cxn>
              <a:cxn ang="0">
                <a:pos x="T10" y="T11"/>
              </a:cxn>
            </a:cxnLst>
            <a:rect l="0" t="0" r="r" b="b"/>
            <a:pathLst>
              <a:path w="2304" h="192">
                <a:moveTo>
                  <a:pt x="0" y="96"/>
                </a:moveTo>
                <a:lnTo>
                  <a:pt x="0" y="0"/>
                </a:lnTo>
                <a:lnTo>
                  <a:pt x="1536" y="0"/>
                </a:lnTo>
                <a:lnTo>
                  <a:pt x="1536" y="192"/>
                </a:lnTo>
                <a:lnTo>
                  <a:pt x="2304" y="192"/>
                </a:lnTo>
                <a:lnTo>
                  <a:pt x="2304" y="96"/>
                </a:lnTo>
              </a:path>
            </a:pathLst>
          </a:custGeom>
          <a:solidFill>
            <a:srgbClr val="FFFF00"/>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5" name="Line 26">
            <a:extLst>
              <a:ext uri="{FF2B5EF4-FFF2-40B4-BE49-F238E27FC236}">
                <a16:creationId xmlns:a16="http://schemas.microsoft.com/office/drawing/2014/main" id="{762A429F-0591-4B42-AFF6-2F9181B4ADEB}"/>
              </a:ext>
            </a:extLst>
          </p:cNvPr>
          <p:cNvSpPr>
            <a:spLocks noChangeShapeType="1"/>
          </p:cNvSpPr>
          <p:nvPr/>
        </p:nvSpPr>
        <p:spPr bwMode="auto">
          <a:xfrm>
            <a:off x="6511813" y="2172382"/>
            <a:ext cx="0" cy="1608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6" name="Text Box 27">
            <a:extLst>
              <a:ext uri="{FF2B5EF4-FFF2-40B4-BE49-F238E27FC236}">
                <a16:creationId xmlns:a16="http://schemas.microsoft.com/office/drawing/2014/main" id="{F17330EF-4DCE-427E-9E7B-FC7EFE193292}"/>
              </a:ext>
            </a:extLst>
          </p:cNvPr>
          <p:cNvSpPr txBox="1">
            <a:spLocks noChangeArrowheads="1"/>
          </p:cNvSpPr>
          <p:nvPr/>
        </p:nvSpPr>
        <p:spPr bwMode="auto">
          <a:xfrm>
            <a:off x="5362413" y="1950779"/>
            <a:ext cx="438077" cy="41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200" b="1" dirty="0">
                <a:latin typeface="微软雅黑" pitchFamily="34" charset="-122"/>
                <a:ea typeface="微软雅黑" pitchFamily="34" charset="-122"/>
              </a:rPr>
              <a:t>1</a:t>
            </a:r>
          </a:p>
        </p:txBody>
      </p:sp>
      <p:sp>
        <p:nvSpPr>
          <p:cNvPr id="137" name="Line 28">
            <a:extLst>
              <a:ext uri="{FF2B5EF4-FFF2-40B4-BE49-F238E27FC236}">
                <a16:creationId xmlns:a16="http://schemas.microsoft.com/office/drawing/2014/main" id="{31C7DE33-B748-459B-964D-E7CE78E3049C}"/>
              </a:ext>
            </a:extLst>
          </p:cNvPr>
          <p:cNvSpPr>
            <a:spLocks noChangeShapeType="1"/>
          </p:cNvSpPr>
          <p:nvPr/>
        </p:nvSpPr>
        <p:spPr bwMode="auto">
          <a:xfrm>
            <a:off x="4487385" y="4303028"/>
            <a:ext cx="6171538" cy="0"/>
          </a:xfrm>
          <a:prstGeom prst="line">
            <a:avLst/>
          </a:prstGeom>
          <a:noFill/>
          <a:ln w="19050">
            <a:solidFill>
              <a:schemeClr val="tx1"/>
            </a:solidFill>
            <a:round/>
            <a:headE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8" name="Line 29">
            <a:extLst>
              <a:ext uri="{FF2B5EF4-FFF2-40B4-BE49-F238E27FC236}">
                <a16:creationId xmlns:a16="http://schemas.microsoft.com/office/drawing/2014/main" id="{2D53A9CA-44D2-45F0-83E1-B0D2ADB14640}"/>
              </a:ext>
            </a:extLst>
          </p:cNvPr>
          <p:cNvSpPr>
            <a:spLocks noChangeShapeType="1"/>
          </p:cNvSpPr>
          <p:nvPr/>
        </p:nvSpPr>
        <p:spPr bwMode="auto">
          <a:xfrm>
            <a:off x="4487385" y="5591592"/>
            <a:ext cx="6171538"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9" name="Line 30">
            <a:extLst>
              <a:ext uri="{FF2B5EF4-FFF2-40B4-BE49-F238E27FC236}">
                <a16:creationId xmlns:a16="http://schemas.microsoft.com/office/drawing/2014/main" id="{325F3A6B-03DB-450D-9135-4A1E9A79AC65}"/>
              </a:ext>
            </a:extLst>
          </p:cNvPr>
          <p:cNvSpPr>
            <a:spLocks noChangeShapeType="1"/>
          </p:cNvSpPr>
          <p:nvPr/>
        </p:nvSpPr>
        <p:spPr bwMode="auto">
          <a:xfrm flipV="1">
            <a:off x="4487385" y="6139848"/>
            <a:ext cx="6171538" cy="1477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0" name="Freeform 31">
            <a:extLst>
              <a:ext uri="{FF2B5EF4-FFF2-40B4-BE49-F238E27FC236}">
                <a16:creationId xmlns:a16="http://schemas.microsoft.com/office/drawing/2014/main" id="{C0BE19C2-98DC-4226-B7C0-715B0A185DE7}"/>
              </a:ext>
            </a:extLst>
          </p:cNvPr>
          <p:cNvSpPr>
            <a:spLocks/>
          </p:cNvSpPr>
          <p:nvPr/>
        </p:nvSpPr>
        <p:spPr bwMode="auto">
          <a:xfrm>
            <a:off x="4669064" y="4626399"/>
            <a:ext cx="1842749" cy="643462"/>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1" name="Freeform 32">
            <a:extLst>
              <a:ext uri="{FF2B5EF4-FFF2-40B4-BE49-F238E27FC236}">
                <a16:creationId xmlns:a16="http://schemas.microsoft.com/office/drawing/2014/main" id="{43A0240E-D342-4629-94E6-2D3CC22D9C08}"/>
              </a:ext>
            </a:extLst>
          </p:cNvPr>
          <p:cNvSpPr>
            <a:spLocks/>
          </p:cNvSpPr>
          <p:nvPr/>
        </p:nvSpPr>
        <p:spPr bwMode="auto">
          <a:xfrm>
            <a:off x="6511813" y="4626399"/>
            <a:ext cx="1842749" cy="643462"/>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2" name="Freeform 33">
            <a:extLst>
              <a:ext uri="{FF2B5EF4-FFF2-40B4-BE49-F238E27FC236}">
                <a16:creationId xmlns:a16="http://schemas.microsoft.com/office/drawing/2014/main" id="{898DCF58-7648-4C90-9CD1-494BB3D0D6C3}"/>
              </a:ext>
            </a:extLst>
          </p:cNvPr>
          <p:cNvSpPr>
            <a:spLocks/>
          </p:cNvSpPr>
          <p:nvPr/>
        </p:nvSpPr>
        <p:spPr bwMode="auto">
          <a:xfrm flipV="1">
            <a:off x="8354561" y="4626399"/>
            <a:ext cx="1842749" cy="643462"/>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CC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3" name="Line 34">
            <a:extLst>
              <a:ext uri="{FF2B5EF4-FFF2-40B4-BE49-F238E27FC236}">
                <a16:creationId xmlns:a16="http://schemas.microsoft.com/office/drawing/2014/main" id="{D4E7FCE5-7C3A-4404-99F6-2D70F41CD3DD}"/>
              </a:ext>
            </a:extLst>
          </p:cNvPr>
          <p:cNvSpPr>
            <a:spLocks noChangeShapeType="1"/>
          </p:cNvSpPr>
          <p:nvPr/>
        </p:nvSpPr>
        <p:spPr bwMode="auto">
          <a:xfrm>
            <a:off x="4487385" y="4946490"/>
            <a:ext cx="61715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4" name="Line 35">
            <a:extLst>
              <a:ext uri="{FF2B5EF4-FFF2-40B4-BE49-F238E27FC236}">
                <a16:creationId xmlns:a16="http://schemas.microsoft.com/office/drawing/2014/main" id="{97E74D1E-8669-45D8-9065-761DBE5493A3}"/>
              </a:ext>
            </a:extLst>
          </p:cNvPr>
          <p:cNvSpPr>
            <a:spLocks noChangeShapeType="1"/>
          </p:cNvSpPr>
          <p:nvPr/>
        </p:nvSpPr>
        <p:spPr bwMode="auto">
          <a:xfrm>
            <a:off x="4511486" y="2454715"/>
            <a:ext cx="61474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5" name="Text Box 36">
            <a:extLst>
              <a:ext uri="{FF2B5EF4-FFF2-40B4-BE49-F238E27FC236}">
                <a16:creationId xmlns:a16="http://schemas.microsoft.com/office/drawing/2014/main" id="{FBB79FBA-3528-4C02-BF32-BC8AAF397962}"/>
              </a:ext>
            </a:extLst>
          </p:cNvPr>
          <p:cNvSpPr txBox="1">
            <a:spLocks noChangeArrowheads="1"/>
          </p:cNvSpPr>
          <p:nvPr/>
        </p:nvSpPr>
        <p:spPr bwMode="auto">
          <a:xfrm>
            <a:off x="7216283" y="1950779"/>
            <a:ext cx="438077" cy="41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200" b="1">
                <a:latin typeface="微软雅黑" pitchFamily="34" charset="-122"/>
                <a:ea typeface="微软雅黑" pitchFamily="34" charset="-122"/>
              </a:rPr>
              <a:t>1</a:t>
            </a:r>
          </a:p>
        </p:txBody>
      </p:sp>
      <p:sp>
        <p:nvSpPr>
          <p:cNvPr id="146" name="Text Box 37">
            <a:extLst>
              <a:ext uri="{FF2B5EF4-FFF2-40B4-BE49-F238E27FC236}">
                <a16:creationId xmlns:a16="http://schemas.microsoft.com/office/drawing/2014/main" id="{25145820-9263-4A25-9ABC-2832622EAFAA}"/>
              </a:ext>
            </a:extLst>
          </p:cNvPr>
          <p:cNvSpPr txBox="1">
            <a:spLocks noChangeArrowheads="1"/>
          </p:cNvSpPr>
          <p:nvPr/>
        </p:nvSpPr>
        <p:spPr bwMode="auto">
          <a:xfrm>
            <a:off x="9064595" y="1950779"/>
            <a:ext cx="438077" cy="41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200" b="1">
                <a:latin typeface="微软雅黑" pitchFamily="34" charset="-122"/>
                <a:ea typeface="微软雅黑" pitchFamily="34" charset="-122"/>
              </a:rPr>
              <a:t>0</a:t>
            </a:r>
          </a:p>
        </p:txBody>
      </p:sp>
      <p:sp>
        <p:nvSpPr>
          <p:cNvPr id="147" name="Text Box 38">
            <a:extLst>
              <a:ext uri="{FF2B5EF4-FFF2-40B4-BE49-F238E27FC236}">
                <a16:creationId xmlns:a16="http://schemas.microsoft.com/office/drawing/2014/main" id="{C9FAB7F3-7799-42B8-B0AF-96FBD8132566}"/>
              </a:ext>
            </a:extLst>
          </p:cNvPr>
          <p:cNvSpPr txBox="1">
            <a:spLocks noChangeArrowheads="1"/>
          </p:cNvSpPr>
          <p:nvPr/>
        </p:nvSpPr>
        <p:spPr bwMode="auto">
          <a:xfrm>
            <a:off x="10660777" y="2187154"/>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48" name="Text Box 39">
            <a:extLst>
              <a:ext uri="{FF2B5EF4-FFF2-40B4-BE49-F238E27FC236}">
                <a16:creationId xmlns:a16="http://schemas.microsoft.com/office/drawing/2014/main" id="{69975956-22D7-4BB7-8619-76F0FCDF1964}"/>
              </a:ext>
            </a:extLst>
          </p:cNvPr>
          <p:cNvSpPr txBox="1">
            <a:spLocks noChangeArrowheads="1"/>
          </p:cNvSpPr>
          <p:nvPr/>
        </p:nvSpPr>
        <p:spPr bwMode="auto">
          <a:xfrm>
            <a:off x="10660777" y="2924182"/>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49" name="Text Box 40">
            <a:extLst>
              <a:ext uri="{FF2B5EF4-FFF2-40B4-BE49-F238E27FC236}">
                <a16:creationId xmlns:a16="http://schemas.microsoft.com/office/drawing/2014/main" id="{AFD6399B-60DA-433C-966C-4B60C91F491A}"/>
              </a:ext>
            </a:extLst>
          </p:cNvPr>
          <p:cNvSpPr txBox="1">
            <a:spLocks noChangeArrowheads="1"/>
          </p:cNvSpPr>
          <p:nvPr/>
        </p:nvSpPr>
        <p:spPr bwMode="auto">
          <a:xfrm>
            <a:off x="10660777" y="4066655"/>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50" name="Text Box 41">
            <a:extLst>
              <a:ext uri="{FF2B5EF4-FFF2-40B4-BE49-F238E27FC236}">
                <a16:creationId xmlns:a16="http://schemas.microsoft.com/office/drawing/2014/main" id="{7F9C84B1-B711-411B-987B-C804E7FD4B57}"/>
              </a:ext>
            </a:extLst>
          </p:cNvPr>
          <p:cNvSpPr txBox="1">
            <a:spLocks noChangeArrowheads="1"/>
          </p:cNvSpPr>
          <p:nvPr/>
        </p:nvSpPr>
        <p:spPr bwMode="auto">
          <a:xfrm>
            <a:off x="10660777" y="4695342"/>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51" name="Text Box 42">
            <a:extLst>
              <a:ext uri="{FF2B5EF4-FFF2-40B4-BE49-F238E27FC236}">
                <a16:creationId xmlns:a16="http://schemas.microsoft.com/office/drawing/2014/main" id="{C283C710-BD72-4B8D-8C02-0B49F9212177}"/>
              </a:ext>
            </a:extLst>
          </p:cNvPr>
          <p:cNvSpPr txBox="1">
            <a:spLocks noChangeArrowheads="1"/>
          </p:cNvSpPr>
          <p:nvPr/>
        </p:nvSpPr>
        <p:spPr bwMode="auto">
          <a:xfrm>
            <a:off x="10660777" y="5338804"/>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52" name="Text Box 43">
            <a:extLst>
              <a:ext uri="{FF2B5EF4-FFF2-40B4-BE49-F238E27FC236}">
                <a16:creationId xmlns:a16="http://schemas.microsoft.com/office/drawing/2014/main" id="{7F46250E-A7DB-4E63-B020-24AA7D3EE1E0}"/>
              </a:ext>
            </a:extLst>
          </p:cNvPr>
          <p:cNvSpPr txBox="1">
            <a:spLocks noChangeArrowheads="1"/>
          </p:cNvSpPr>
          <p:nvPr/>
        </p:nvSpPr>
        <p:spPr bwMode="auto">
          <a:xfrm>
            <a:off x="10660777" y="5885420"/>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53" name="Rectangle 44">
            <a:extLst>
              <a:ext uri="{FF2B5EF4-FFF2-40B4-BE49-F238E27FC236}">
                <a16:creationId xmlns:a16="http://schemas.microsoft.com/office/drawing/2014/main" id="{92191F37-E0A8-44A2-A4EA-D4C32A3C960C}"/>
              </a:ext>
            </a:extLst>
          </p:cNvPr>
          <p:cNvSpPr>
            <a:spLocks noChangeArrowheads="1"/>
          </p:cNvSpPr>
          <p:nvPr/>
        </p:nvSpPr>
        <p:spPr bwMode="auto">
          <a:xfrm>
            <a:off x="4980516" y="2615581"/>
            <a:ext cx="1234678" cy="2823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4" name="Text Box 45">
            <a:extLst>
              <a:ext uri="{FF2B5EF4-FFF2-40B4-BE49-F238E27FC236}">
                <a16:creationId xmlns:a16="http://schemas.microsoft.com/office/drawing/2014/main" id="{ABC8D872-2557-4E2D-BE97-D5A1D1D0E296}"/>
              </a:ext>
            </a:extLst>
          </p:cNvPr>
          <p:cNvSpPr txBox="1">
            <a:spLocks noChangeArrowheads="1"/>
          </p:cNvSpPr>
          <p:nvPr/>
        </p:nvSpPr>
        <p:spPr bwMode="auto">
          <a:xfrm>
            <a:off x="4967539" y="2515452"/>
            <a:ext cx="1323282" cy="30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800"/>
              </a:lnSpc>
            </a:pPr>
            <a:r>
              <a:rPr kumimoji="1" lang="en-US" altLang="zh-CN" sz="1200" b="1" i="1" dirty="0">
                <a:solidFill>
                  <a:srgbClr val="C00000"/>
                </a:solidFill>
                <a:latin typeface="微软雅黑" pitchFamily="34" charset="-122"/>
                <a:ea typeface="微软雅黑" pitchFamily="34" charset="-122"/>
              </a:rPr>
              <a:t>m</a:t>
            </a:r>
            <a:r>
              <a:rPr kumimoji="1" lang="en-US" altLang="zh-CN" sz="1200" b="1" dirty="0">
                <a:solidFill>
                  <a:srgbClr val="C00000"/>
                </a:solidFill>
                <a:latin typeface="微软雅黑" pitchFamily="34" charset="-122"/>
                <a:ea typeface="微软雅黑" pitchFamily="34" charset="-122"/>
              </a:rPr>
              <a:t> </a:t>
            </a:r>
            <a:r>
              <a:rPr kumimoji="1" lang="zh-CN" altLang="en-US" sz="1200" b="1" dirty="0">
                <a:solidFill>
                  <a:srgbClr val="C00000"/>
                </a:solidFill>
                <a:latin typeface="微软雅黑" pitchFamily="34" charset="-122"/>
                <a:ea typeface="微软雅黑" pitchFamily="34" charset="-122"/>
              </a:rPr>
              <a:t>个码片</a:t>
            </a:r>
          </a:p>
        </p:txBody>
      </p:sp>
      <p:sp>
        <p:nvSpPr>
          <p:cNvPr id="155" name="Freeform 46">
            <a:extLst>
              <a:ext uri="{FF2B5EF4-FFF2-40B4-BE49-F238E27FC236}">
                <a16:creationId xmlns:a16="http://schemas.microsoft.com/office/drawing/2014/main" id="{D54E8FDB-59A8-4970-B690-77F9C221C4C4}"/>
              </a:ext>
            </a:extLst>
          </p:cNvPr>
          <p:cNvSpPr>
            <a:spLocks/>
          </p:cNvSpPr>
          <p:nvPr/>
        </p:nvSpPr>
        <p:spPr bwMode="auto">
          <a:xfrm>
            <a:off x="4669064" y="3574208"/>
            <a:ext cx="1842749" cy="328297"/>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6" name="Freeform 47">
            <a:extLst>
              <a:ext uri="{FF2B5EF4-FFF2-40B4-BE49-F238E27FC236}">
                <a16:creationId xmlns:a16="http://schemas.microsoft.com/office/drawing/2014/main" id="{8FE1C809-9E8D-4917-A79E-99AA681753C6}"/>
              </a:ext>
            </a:extLst>
          </p:cNvPr>
          <p:cNvSpPr>
            <a:spLocks/>
          </p:cNvSpPr>
          <p:nvPr/>
        </p:nvSpPr>
        <p:spPr bwMode="auto">
          <a:xfrm>
            <a:off x="6511813" y="3574208"/>
            <a:ext cx="1842749" cy="328297"/>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7" name="Freeform 48">
            <a:extLst>
              <a:ext uri="{FF2B5EF4-FFF2-40B4-BE49-F238E27FC236}">
                <a16:creationId xmlns:a16="http://schemas.microsoft.com/office/drawing/2014/main" id="{03EFEB46-5571-46E5-9F8D-A30CED96C112}"/>
              </a:ext>
            </a:extLst>
          </p:cNvPr>
          <p:cNvSpPr>
            <a:spLocks/>
          </p:cNvSpPr>
          <p:nvPr/>
        </p:nvSpPr>
        <p:spPr bwMode="auto">
          <a:xfrm flipV="1">
            <a:off x="8354561" y="3574208"/>
            <a:ext cx="1842749" cy="328297"/>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rgbClr val="FF6699"/>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8" name="Line 49">
            <a:extLst>
              <a:ext uri="{FF2B5EF4-FFF2-40B4-BE49-F238E27FC236}">
                <a16:creationId xmlns:a16="http://schemas.microsoft.com/office/drawing/2014/main" id="{6D217FB1-4755-484E-A45D-3A1B2A3095B2}"/>
              </a:ext>
            </a:extLst>
          </p:cNvPr>
          <p:cNvSpPr>
            <a:spLocks noChangeShapeType="1"/>
          </p:cNvSpPr>
          <p:nvPr/>
        </p:nvSpPr>
        <p:spPr bwMode="auto">
          <a:xfrm flipV="1">
            <a:off x="4487385" y="3735074"/>
            <a:ext cx="6171538" cy="6566"/>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9" name="Text Box 50">
            <a:extLst>
              <a:ext uri="{FF2B5EF4-FFF2-40B4-BE49-F238E27FC236}">
                <a16:creationId xmlns:a16="http://schemas.microsoft.com/office/drawing/2014/main" id="{ECE3B949-042A-4109-AB41-72D2B193959E}"/>
              </a:ext>
            </a:extLst>
          </p:cNvPr>
          <p:cNvSpPr txBox="1">
            <a:spLocks noChangeArrowheads="1"/>
          </p:cNvSpPr>
          <p:nvPr/>
        </p:nvSpPr>
        <p:spPr bwMode="auto">
          <a:xfrm>
            <a:off x="10660777" y="3479002"/>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kumimoji="1" lang="en-US" altLang="zh-CN" sz="1400" i="1" dirty="0">
                <a:latin typeface="微软雅黑" pitchFamily="34" charset="-122"/>
                <a:ea typeface="微软雅黑" pitchFamily="34" charset="-122"/>
              </a:rPr>
              <a:t>t</a:t>
            </a:r>
          </a:p>
        </p:txBody>
      </p:sp>
      <p:sp>
        <p:nvSpPr>
          <p:cNvPr id="160" name="Freeform 51">
            <a:extLst>
              <a:ext uri="{FF2B5EF4-FFF2-40B4-BE49-F238E27FC236}">
                <a16:creationId xmlns:a16="http://schemas.microsoft.com/office/drawing/2014/main" id="{3B0EAB6C-50BC-492C-AB2B-F519220958B5}"/>
              </a:ext>
            </a:extLst>
          </p:cNvPr>
          <p:cNvSpPr>
            <a:spLocks/>
          </p:cNvSpPr>
          <p:nvPr/>
        </p:nvSpPr>
        <p:spPr bwMode="auto">
          <a:xfrm>
            <a:off x="8360123" y="3016104"/>
            <a:ext cx="1842749" cy="329938"/>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61" name="Line 52">
            <a:extLst>
              <a:ext uri="{FF2B5EF4-FFF2-40B4-BE49-F238E27FC236}">
                <a16:creationId xmlns:a16="http://schemas.microsoft.com/office/drawing/2014/main" id="{8EBA3CE4-0DC0-432C-80C5-5E9D85010DE2}"/>
              </a:ext>
            </a:extLst>
          </p:cNvPr>
          <p:cNvSpPr>
            <a:spLocks noChangeShapeType="1"/>
          </p:cNvSpPr>
          <p:nvPr/>
        </p:nvSpPr>
        <p:spPr bwMode="auto">
          <a:xfrm>
            <a:off x="4511486" y="3178610"/>
            <a:ext cx="61474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62" name="Text Box 53">
            <a:extLst>
              <a:ext uri="{FF2B5EF4-FFF2-40B4-BE49-F238E27FC236}">
                <a16:creationId xmlns:a16="http://schemas.microsoft.com/office/drawing/2014/main" id="{A0B23A63-91FB-450F-A788-BEB4AEE9CE52}"/>
              </a:ext>
            </a:extLst>
          </p:cNvPr>
          <p:cNvSpPr txBox="1">
            <a:spLocks noChangeArrowheads="1"/>
          </p:cNvSpPr>
          <p:nvPr/>
        </p:nvSpPr>
        <p:spPr bwMode="auto">
          <a:xfrm>
            <a:off x="1903087" y="3465869"/>
            <a:ext cx="25932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dirty="0">
                <a:latin typeface="微软雅黑" pitchFamily="34" charset="-122"/>
                <a:ea typeface="微软雅黑" pitchFamily="34" charset="-122"/>
              </a:rPr>
              <a:t>S </a:t>
            </a:r>
            <a:r>
              <a:rPr kumimoji="1" lang="zh-CN" altLang="en-US" sz="1400" dirty="0">
                <a:latin typeface="微软雅黑" pitchFamily="34" charset="-122"/>
                <a:ea typeface="微软雅黑" pitchFamily="34" charset="-122"/>
              </a:rPr>
              <a:t>站发送的信号 </a:t>
            </a:r>
            <a:r>
              <a:rPr kumimoji="1" lang="en-US" altLang="zh-CN" sz="1400" i="1" dirty="0" err="1">
                <a:latin typeface="微软雅黑" pitchFamily="34" charset="-122"/>
                <a:ea typeface="微软雅黑" pitchFamily="34" charset="-122"/>
              </a:rPr>
              <a:t>S</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3" name="Text Box 54">
            <a:extLst>
              <a:ext uri="{FF2B5EF4-FFF2-40B4-BE49-F238E27FC236}">
                <a16:creationId xmlns:a16="http://schemas.microsoft.com/office/drawing/2014/main" id="{23A94EB0-5A15-4BA2-B58D-8183357A7FD9}"/>
              </a:ext>
            </a:extLst>
          </p:cNvPr>
          <p:cNvSpPr txBox="1">
            <a:spLocks noChangeArrowheads="1"/>
          </p:cNvSpPr>
          <p:nvPr/>
        </p:nvSpPr>
        <p:spPr bwMode="auto">
          <a:xfrm>
            <a:off x="1903089" y="4035466"/>
            <a:ext cx="258650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dirty="0">
                <a:latin typeface="微软雅黑" pitchFamily="34" charset="-122"/>
                <a:ea typeface="微软雅黑" pitchFamily="34" charset="-122"/>
              </a:rPr>
              <a:t>T </a:t>
            </a:r>
            <a:r>
              <a:rPr kumimoji="1" lang="zh-CN" altLang="en-US" sz="1400" dirty="0">
                <a:latin typeface="微软雅黑" pitchFamily="34" charset="-122"/>
                <a:ea typeface="微软雅黑" pitchFamily="34" charset="-122"/>
              </a:rPr>
              <a:t>站发送的信号 </a:t>
            </a:r>
            <a:r>
              <a:rPr kumimoji="1" lang="en-US" altLang="zh-CN" sz="1400" i="1" dirty="0" err="1">
                <a:latin typeface="微软雅黑" pitchFamily="34" charset="-122"/>
                <a:ea typeface="微软雅黑" pitchFamily="34" charset="-122"/>
              </a:rPr>
              <a:t>T</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4" name="Text Box 55">
            <a:extLst>
              <a:ext uri="{FF2B5EF4-FFF2-40B4-BE49-F238E27FC236}">
                <a16:creationId xmlns:a16="http://schemas.microsoft.com/office/drawing/2014/main" id="{CA901508-7CB2-4A2F-88C5-F7735FE89C63}"/>
              </a:ext>
            </a:extLst>
          </p:cNvPr>
          <p:cNvSpPr txBox="1">
            <a:spLocks noChangeArrowheads="1"/>
          </p:cNvSpPr>
          <p:nvPr/>
        </p:nvSpPr>
        <p:spPr bwMode="auto">
          <a:xfrm>
            <a:off x="1567539" y="4695342"/>
            <a:ext cx="29863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dirty="0">
                <a:latin typeface="微软雅黑" pitchFamily="34" charset="-122"/>
                <a:ea typeface="微软雅黑" pitchFamily="34" charset="-122"/>
              </a:rPr>
              <a:t>总的发送信号 </a:t>
            </a:r>
            <a:r>
              <a:rPr kumimoji="1" lang="en-US" altLang="zh-CN" sz="1400" i="1" dirty="0" err="1">
                <a:latin typeface="微软雅黑" pitchFamily="34" charset="-122"/>
                <a:ea typeface="微软雅黑" pitchFamily="34" charset="-122"/>
              </a:rPr>
              <a:t>S</a:t>
            </a:r>
            <a:r>
              <a:rPr kumimoji="1" lang="en-US" altLang="zh-CN" sz="1400" i="1" baseline="-25000" dirty="0" err="1">
                <a:latin typeface="微软雅黑" pitchFamily="34" charset="-122"/>
                <a:ea typeface="微软雅黑" pitchFamily="34" charset="-122"/>
              </a:rPr>
              <a:t>x</a:t>
            </a:r>
            <a:r>
              <a:rPr kumimoji="1" lang="en-US" altLang="zh-CN" sz="1400" dirty="0">
                <a:latin typeface="微软雅黑" pitchFamily="34" charset="-122"/>
                <a:ea typeface="微软雅黑" pitchFamily="34" charset="-122"/>
              </a:rPr>
              <a:t> + </a:t>
            </a:r>
            <a:r>
              <a:rPr kumimoji="1" lang="en-US" altLang="zh-CN" sz="1400" i="1" dirty="0" err="1">
                <a:latin typeface="微软雅黑" pitchFamily="34" charset="-122"/>
                <a:ea typeface="微软雅黑" pitchFamily="34" charset="-122"/>
              </a:rPr>
              <a:t>T</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5" name="Text Box 56">
            <a:extLst>
              <a:ext uri="{FF2B5EF4-FFF2-40B4-BE49-F238E27FC236}">
                <a16:creationId xmlns:a16="http://schemas.microsoft.com/office/drawing/2014/main" id="{8C303B1E-5007-423B-9517-903938A69DDD}"/>
              </a:ext>
            </a:extLst>
          </p:cNvPr>
          <p:cNvSpPr txBox="1">
            <a:spLocks noChangeArrowheads="1"/>
          </p:cNvSpPr>
          <p:nvPr/>
        </p:nvSpPr>
        <p:spPr bwMode="auto">
          <a:xfrm>
            <a:off x="1986513" y="5337164"/>
            <a:ext cx="252283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dirty="0">
                <a:latin typeface="微软雅黑" pitchFamily="34" charset="-122"/>
                <a:ea typeface="微软雅黑" pitchFamily="34" charset="-122"/>
              </a:rPr>
              <a:t>规格化内积 </a:t>
            </a:r>
            <a:r>
              <a:rPr kumimoji="1" lang="en-US" altLang="zh-CN" sz="1400" i="1" dirty="0">
                <a:latin typeface="微软雅黑" pitchFamily="34" charset="-122"/>
                <a:ea typeface="微软雅黑" pitchFamily="34" charset="-122"/>
              </a:rPr>
              <a:t>S</a:t>
            </a:r>
            <a:r>
              <a:rPr kumimoji="1" lang="en-US" altLang="zh-CN" sz="1400" dirty="0">
                <a:latin typeface="微软雅黑" pitchFamily="34" charset="-122"/>
                <a:ea typeface="微软雅黑" pitchFamily="34" charset="-122"/>
                <a:sym typeface="Symbol" pitchFamily="18" charset="2"/>
              </a:rPr>
              <a:t> </a:t>
            </a:r>
            <a:r>
              <a:rPr kumimoji="1" lang="en-US" altLang="zh-CN" sz="1400" dirty="0">
                <a:latin typeface="微软雅黑" pitchFamily="34" charset="-122"/>
                <a:ea typeface="微软雅黑" pitchFamily="34" charset="-122"/>
                <a:sym typeface="Wingdings" pitchFamily="2" charset="2"/>
              </a:rPr>
              <a:t> </a:t>
            </a:r>
            <a:r>
              <a:rPr kumimoji="1" lang="en-US" altLang="zh-CN" sz="1400" i="1" dirty="0" err="1">
                <a:latin typeface="微软雅黑" pitchFamily="34" charset="-122"/>
                <a:ea typeface="微软雅黑" pitchFamily="34" charset="-122"/>
              </a:rPr>
              <a:t>S</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6" name="Text Box 57">
            <a:extLst>
              <a:ext uri="{FF2B5EF4-FFF2-40B4-BE49-F238E27FC236}">
                <a16:creationId xmlns:a16="http://schemas.microsoft.com/office/drawing/2014/main" id="{A2FED9E7-DB1D-434C-8CED-1BA5FB89EC0D}"/>
              </a:ext>
            </a:extLst>
          </p:cNvPr>
          <p:cNvSpPr txBox="1">
            <a:spLocks noChangeArrowheads="1"/>
          </p:cNvSpPr>
          <p:nvPr/>
        </p:nvSpPr>
        <p:spPr bwMode="auto">
          <a:xfrm>
            <a:off x="1986513" y="5887060"/>
            <a:ext cx="25085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dirty="0">
                <a:latin typeface="微软雅黑" pitchFamily="34" charset="-122"/>
                <a:ea typeface="微软雅黑" pitchFamily="34" charset="-122"/>
              </a:rPr>
              <a:t>规格化内积 </a:t>
            </a:r>
            <a:r>
              <a:rPr kumimoji="1" lang="en-US" altLang="zh-CN" sz="1400" i="1" dirty="0">
                <a:latin typeface="微软雅黑" pitchFamily="34" charset="-122"/>
                <a:ea typeface="微软雅黑" pitchFamily="34" charset="-122"/>
              </a:rPr>
              <a:t>S</a:t>
            </a:r>
            <a:r>
              <a:rPr kumimoji="1" lang="en-US" altLang="zh-CN" sz="1400" dirty="0">
                <a:latin typeface="微软雅黑" pitchFamily="34" charset="-122"/>
                <a:ea typeface="微软雅黑" pitchFamily="34" charset="-122"/>
                <a:sym typeface="Symbol" pitchFamily="18" charset="2"/>
              </a:rPr>
              <a:t> </a:t>
            </a:r>
            <a:r>
              <a:rPr kumimoji="1" lang="en-US" altLang="zh-CN" sz="1400" dirty="0">
                <a:latin typeface="微软雅黑" pitchFamily="34" charset="-122"/>
                <a:ea typeface="微软雅黑" pitchFamily="34" charset="-122"/>
                <a:sym typeface="Wingdings" pitchFamily="2" charset="2"/>
              </a:rPr>
              <a:t> </a:t>
            </a:r>
            <a:r>
              <a:rPr kumimoji="1" lang="en-US" altLang="zh-CN" sz="1400" i="1" dirty="0" err="1">
                <a:latin typeface="微软雅黑" pitchFamily="34" charset="-122"/>
                <a:ea typeface="微软雅黑" pitchFamily="34" charset="-122"/>
              </a:rPr>
              <a:t>T</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7" name="Line 58">
            <a:extLst>
              <a:ext uri="{FF2B5EF4-FFF2-40B4-BE49-F238E27FC236}">
                <a16:creationId xmlns:a16="http://schemas.microsoft.com/office/drawing/2014/main" id="{4F32AEAD-2407-4EFC-9648-F010D2F641BC}"/>
              </a:ext>
            </a:extLst>
          </p:cNvPr>
          <p:cNvSpPr>
            <a:spLocks noChangeShapeType="1"/>
          </p:cNvSpPr>
          <p:nvPr/>
        </p:nvSpPr>
        <p:spPr bwMode="auto">
          <a:xfrm flipV="1">
            <a:off x="4511488" y="5591592"/>
            <a:ext cx="6101091" cy="16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68" name="Text Box 59">
            <a:extLst>
              <a:ext uri="{FF2B5EF4-FFF2-40B4-BE49-F238E27FC236}">
                <a16:creationId xmlns:a16="http://schemas.microsoft.com/office/drawing/2014/main" id="{6C1D727B-E627-4C47-9C34-5304DA3DCCF1}"/>
              </a:ext>
            </a:extLst>
          </p:cNvPr>
          <p:cNvSpPr txBox="1">
            <a:spLocks noChangeArrowheads="1"/>
          </p:cNvSpPr>
          <p:nvPr/>
        </p:nvSpPr>
        <p:spPr bwMode="auto">
          <a:xfrm>
            <a:off x="2414757" y="2091947"/>
            <a:ext cx="197964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dirty="0">
                <a:latin typeface="微软雅黑" pitchFamily="34" charset="-122"/>
                <a:ea typeface="微软雅黑" pitchFamily="34" charset="-122"/>
              </a:rPr>
              <a:t>数据码元比特</a:t>
            </a:r>
          </a:p>
        </p:txBody>
      </p:sp>
      <p:sp>
        <p:nvSpPr>
          <p:cNvPr id="169" name="Text Box 60">
            <a:extLst>
              <a:ext uri="{FF2B5EF4-FFF2-40B4-BE49-F238E27FC236}">
                <a16:creationId xmlns:a16="http://schemas.microsoft.com/office/drawing/2014/main" id="{44FF59A7-B624-45B1-AE96-6F4A9EAA7710}"/>
              </a:ext>
            </a:extLst>
          </p:cNvPr>
          <p:cNvSpPr txBox="1">
            <a:spLocks noChangeArrowheads="1"/>
          </p:cNvSpPr>
          <p:nvPr/>
        </p:nvSpPr>
        <p:spPr bwMode="auto">
          <a:xfrm>
            <a:off x="1055869" y="3216365"/>
            <a:ext cx="57135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b="1" dirty="0">
                <a:solidFill>
                  <a:srgbClr val="C00000"/>
                </a:solidFill>
                <a:latin typeface="微软雅黑" pitchFamily="34" charset="-122"/>
                <a:ea typeface="微软雅黑" pitchFamily="34" charset="-122"/>
              </a:rPr>
              <a:t>发</a:t>
            </a:r>
          </a:p>
          <a:p>
            <a:pPr algn="l"/>
            <a:r>
              <a:rPr kumimoji="1" lang="zh-CN" altLang="en-US" sz="1400" b="1" dirty="0">
                <a:solidFill>
                  <a:srgbClr val="C00000"/>
                </a:solidFill>
                <a:latin typeface="微软雅黑" pitchFamily="34" charset="-122"/>
                <a:ea typeface="微软雅黑" pitchFamily="34" charset="-122"/>
              </a:rPr>
              <a:t>送</a:t>
            </a:r>
          </a:p>
          <a:p>
            <a:pPr algn="l"/>
            <a:r>
              <a:rPr kumimoji="1" lang="zh-CN" altLang="en-US" sz="1400" b="1" dirty="0">
                <a:solidFill>
                  <a:srgbClr val="C00000"/>
                </a:solidFill>
                <a:latin typeface="微软雅黑" pitchFamily="34" charset="-122"/>
                <a:ea typeface="微软雅黑" pitchFamily="34" charset="-122"/>
              </a:rPr>
              <a:t>端</a:t>
            </a:r>
          </a:p>
        </p:txBody>
      </p:sp>
      <p:sp>
        <p:nvSpPr>
          <p:cNvPr id="170" name="Text Box 61">
            <a:extLst>
              <a:ext uri="{FF2B5EF4-FFF2-40B4-BE49-F238E27FC236}">
                <a16:creationId xmlns:a16="http://schemas.microsoft.com/office/drawing/2014/main" id="{A4A7E993-224A-43BD-8A37-25B365600C6B}"/>
              </a:ext>
            </a:extLst>
          </p:cNvPr>
          <p:cNvSpPr txBox="1">
            <a:spLocks noChangeArrowheads="1"/>
          </p:cNvSpPr>
          <p:nvPr/>
        </p:nvSpPr>
        <p:spPr bwMode="auto">
          <a:xfrm>
            <a:off x="1033065" y="5337164"/>
            <a:ext cx="57135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hangingPunct="0"/>
            <a:r>
              <a:rPr kumimoji="1" lang="zh-CN" altLang="en-US" sz="1400" b="1" dirty="0">
                <a:solidFill>
                  <a:srgbClr val="C00000"/>
                </a:solidFill>
                <a:latin typeface="微软雅黑" pitchFamily="34" charset="-122"/>
                <a:ea typeface="微软雅黑" pitchFamily="34" charset="-122"/>
              </a:rPr>
              <a:t>接</a:t>
            </a:r>
          </a:p>
          <a:p>
            <a:pPr algn="l" eaLnBrk="0" hangingPunct="0"/>
            <a:r>
              <a:rPr kumimoji="1" lang="zh-CN" altLang="en-US" sz="1400" b="1" dirty="0">
                <a:solidFill>
                  <a:srgbClr val="C00000"/>
                </a:solidFill>
                <a:latin typeface="微软雅黑" pitchFamily="34" charset="-122"/>
                <a:ea typeface="微软雅黑" pitchFamily="34" charset="-122"/>
              </a:rPr>
              <a:t>收</a:t>
            </a:r>
          </a:p>
          <a:p>
            <a:pPr algn="l" eaLnBrk="0" hangingPunct="0"/>
            <a:r>
              <a:rPr kumimoji="1" lang="zh-CN" altLang="en-US" sz="1400" b="1" dirty="0">
                <a:solidFill>
                  <a:srgbClr val="C00000"/>
                </a:solidFill>
                <a:latin typeface="微软雅黑" pitchFamily="34" charset="-122"/>
                <a:ea typeface="微软雅黑" pitchFamily="34" charset="-122"/>
              </a:rPr>
              <a:t>端</a:t>
            </a:r>
          </a:p>
        </p:txBody>
      </p:sp>
      <p:sp>
        <p:nvSpPr>
          <p:cNvPr id="171" name="AutoShape 62">
            <a:extLst>
              <a:ext uri="{FF2B5EF4-FFF2-40B4-BE49-F238E27FC236}">
                <a16:creationId xmlns:a16="http://schemas.microsoft.com/office/drawing/2014/main" id="{63B47305-F465-4B0B-A395-4D9FCB239E1B}"/>
              </a:ext>
            </a:extLst>
          </p:cNvPr>
          <p:cNvSpPr>
            <a:spLocks/>
          </p:cNvSpPr>
          <p:nvPr/>
        </p:nvSpPr>
        <p:spPr bwMode="auto">
          <a:xfrm>
            <a:off x="1567539" y="2174022"/>
            <a:ext cx="168702" cy="3127029"/>
          </a:xfrm>
          <a:prstGeom prst="leftBracket">
            <a:avLst>
              <a:gd name="adj" fmla="val 174451"/>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72" name="AutoShape 63">
            <a:extLst>
              <a:ext uri="{FF2B5EF4-FFF2-40B4-BE49-F238E27FC236}">
                <a16:creationId xmlns:a16="http://schemas.microsoft.com/office/drawing/2014/main" id="{EFC22C82-1659-4733-A887-5A5120FF35FD}"/>
              </a:ext>
            </a:extLst>
          </p:cNvPr>
          <p:cNvSpPr>
            <a:spLocks/>
          </p:cNvSpPr>
          <p:nvPr/>
        </p:nvSpPr>
        <p:spPr bwMode="auto">
          <a:xfrm>
            <a:off x="1604583" y="5417141"/>
            <a:ext cx="90838" cy="819101"/>
          </a:xfrm>
          <a:prstGeom prst="leftBracket">
            <a:avLst>
              <a:gd name="adj" fmla="val 84865"/>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BEBE644E-FAE9-4C27-8201-9B6AFC0CD5F5}"/>
              </a:ext>
            </a:extLst>
          </p:cNvPr>
          <p:cNvSpPr/>
          <p:nvPr/>
        </p:nvSpPr>
        <p:spPr>
          <a:xfrm>
            <a:off x="794525" y="1382037"/>
            <a:ext cx="4297971"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a:solidFill>
                  <a:srgbClr val="7030A0"/>
                </a:solidFill>
                <a:latin typeface="微软雅黑" pitchFamily="34" charset="-122"/>
                <a:ea typeface="微软雅黑" pitchFamily="34" charset="-122"/>
              </a:rPr>
              <a:t>CDMA</a:t>
            </a:r>
            <a:r>
              <a:rPr lang="zh-CN" altLang="en-US" sz="2400" b="1" dirty="0">
                <a:solidFill>
                  <a:srgbClr val="7030A0"/>
                </a:solidFill>
                <a:latin typeface="微软雅黑" pitchFamily="34" charset="-122"/>
                <a:ea typeface="微软雅黑" pitchFamily="34" charset="-122"/>
              </a:rPr>
              <a:t>编码和解码过程示例</a:t>
            </a:r>
            <a:endParaRPr lang="en-US" altLang="zh-CN" sz="2400" b="1" dirty="0">
              <a:solidFill>
                <a:srgbClr val="7030A0"/>
              </a:solidFill>
              <a:latin typeface="微软雅黑" pitchFamily="34" charset="-122"/>
              <a:ea typeface="微软雅黑" pitchFamily="34" charset="-122"/>
            </a:endParaRPr>
          </a:p>
        </p:txBody>
      </p:sp>
      <p:sp>
        <p:nvSpPr>
          <p:cNvPr id="64" name="标题 1">
            <a:extLst>
              <a:ext uri="{FF2B5EF4-FFF2-40B4-BE49-F238E27FC236}">
                <a16:creationId xmlns:a16="http://schemas.microsoft.com/office/drawing/2014/main" id="{C9B8E35E-AEA0-4247-ADB2-1D1569DA69F4}"/>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zh-CN" altLang="en-US" dirty="0"/>
              <a:t>码分复用</a:t>
            </a:r>
            <a:r>
              <a:rPr lang="en-US" altLang="zh-CN" dirty="0"/>
              <a:t>(CDMA)</a:t>
            </a:r>
            <a:endParaRPr lang="zh-CN" altLang="en-US" dirty="0"/>
          </a:p>
        </p:txBody>
      </p:sp>
      <p:sp>
        <p:nvSpPr>
          <p:cNvPr id="63" name="文本框 62">
            <a:extLst>
              <a:ext uri="{FF2B5EF4-FFF2-40B4-BE49-F238E27FC236}">
                <a16:creationId xmlns:a16="http://schemas.microsoft.com/office/drawing/2014/main" id="{9921A2B5-67C2-48DD-8AE7-053FAB105AA2}"/>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283041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07E10AC-F2F4-42C8-ADCF-7C969FFF305F}"/>
              </a:ext>
            </a:extLst>
          </p:cNvPr>
          <p:cNvSpPr>
            <a:spLocks noGrp="1"/>
          </p:cNvSpPr>
          <p:nvPr>
            <p:ph idx="1"/>
          </p:nvPr>
        </p:nvSpPr>
        <p:spPr>
          <a:xfrm>
            <a:off x="628837" y="1906180"/>
            <a:ext cx="11516810" cy="4586686"/>
          </a:xfrm>
        </p:spPr>
        <p:txBody>
          <a:bodyPr>
            <a:normAutofit/>
          </a:bodyPr>
          <a:lstStyle/>
          <a:p>
            <a:pPr eaLnBrk="0" hangingPunct="0">
              <a:lnSpc>
                <a:spcPts val="3000"/>
              </a:lnSpc>
            </a:pPr>
            <a:r>
              <a:rPr lang="zh-CN" altLang="en-US" sz="2400" dirty="0">
                <a:latin typeface="微软雅黑" pitchFamily="34" charset="-122"/>
                <a:ea typeface="微软雅黑" pitchFamily="34" charset="-122"/>
              </a:rPr>
              <a:t>假定</a:t>
            </a:r>
            <a:r>
              <a:rPr lang="en-US" altLang="zh-CN" sz="2400" dirty="0">
                <a:latin typeface="微软雅黑" pitchFamily="34" charset="-122"/>
                <a:ea typeface="微软雅黑" pitchFamily="34" charset="-122"/>
              </a:rPr>
              <a:t>S</a:t>
            </a:r>
            <a:r>
              <a:rPr lang="zh-CN" altLang="en-US" sz="2400" dirty="0">
                <a:latin typeface="微软雅黑" pitchFamily="34" charset="-122"/>
                <a:ea typeface="微软雅黑" pitchFamily="34" charset="-122"/>
              </a:rPr>
              <a:t>站要发送信息的数据率为 </a:t>
            </a:r>
            <a:r>
              <a:rPr lang="en-US" altLang="zh-CN" sz="2400" i="1" dirty="0">
                <a:solidFill>
                  <a:srgbClr val="C00000"/>
                </a:solidFill>
                <a:latin typeface="微软雅黑" pitchFamily="34" charset="-122"/>
                <a:ea typeface="微软雅黑" pitchFamily="34" charset="-122"/>
              </a:rPr>
              <a:t>b</a:t>
            </a:r>
            <a:r>
              <a:rPr lang="en-US" altLang="zh-CN" sz="2400" dirty="0">
                <a:solidFill>
                  <a:srgbClr val="C00000"/>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bit/s</a:t>
            </a:r>
            <a:r>
              <a:rPr lang="zh-CN" altLang="en-US" sz="2400" dirty="0">
                <a:latin typeface="微软雅黑" pitchFamily="34" charset="-122"/>
                <a:ea typeface="微软雅黑" pitchFamily="34" charset="-122"/>
              </a:rPr>
              <a:t>。由于每一个比特要转换成 </a:t>
            </a:r>
            <a:r>
              <a:rPr lang="en-US" altLang="zh-CN" sz="2400" i="1" dirty="0">
                <a:solidFill>
                  <a:srgbClr val="C00000"/>
                </a:solidFill>
                <a:latin typeface="微软雅黑" pitchFamily="34" charset="-122"/>
                <a:ea typeface="微软雅黑" pitchFamily="34" charset="-122"/>
              </a:rPr>
              <a:t>m</a:t>
            </a:r>
            <a:r>
              <a:rPr lang="en-US" altLang="zh-CN" sz="2400" dirty="0">
                <a:solidFill>
                  <a:srgbClr val="C00000"/>
                </a:solidFill>
                <a:latin typeface="微软雅黑" pitchFamily="34" charset="-122"/>
                <a:ea typeface="微软雅黑" pitchFamily="34" charset="-122"/>
              </a:rPr>
              <a:t> </a:t>
            </a:r>
            <a:r>
              <a:rPr lang="zh-CN" altLang="en-US" sz="2400" dirty="0">
                <a:latin typeface="微软雅黑" pitchFamily="34" charset="-122"/>
                <a:ea typeface="微软雅黑" pitchFamily="34" charset="-122"/>
              </a:rPr>
              <a:t>个比特的码片，因此 </a:t>
            </a:r>
            <a:r>
              <a:rPr lang="en-US" altLang="zh-CN" sz="2400" dirty="0">
                <a:latin typeface="微软雅黑" pitchFamily="34" charset="-122"/>
                <a:ea typeface="微软雅黑" pitchFamily="34" charset="-122"/>
              </a:rPr>
              <a:t>S </a:t>
            </a:r>
            <a:r>
              <a:rPr lang="zh-CN" altLang="en-US" sz="2400" dirty="0">
                <a:latin typeface="微软雅黑" pitchFamily="34" charset="-122"/>
                <a:ea typeface="微软雅黑" pitchFamily="34" charset="-122"/>
              </a:rPr>
              <a:t>站实际上发送的数据率提高到 </a:t>
            </a:r>
            <a:r>
              <a:rPr lang="en-US" altLang="zh-CN" sz="2400" i="1" dirty="0">
                <a:solidFill>
                  <a:srgbClr val="C00000"/>
                </a:solidFill>
                <a:latin typeface="微软雅黑" pitchFamily="34" charset="-122"/>
                <a:ea typeface="微软雅黑" pitchFamily="34" charset="-122"/>
              </a:rPr>
              <a:t>mb</a:t>
            </a:r>
            <a:r>
              <a:rPr lang="en-US" altLang="zh-CN" sz="2400" dirty="0">
                <a:latin typeface="微软雅黑" pitchFamily="34" charset="-122"/>
                <a:ea typeface="微软雅黑" pitchFamily="34" charset="-122"/>
              </a:rPr>
              <a:t> bit/s</a:t>
            </a:r>
            <a:r>
              <a:rPr lang="zh-CN" altLang="en-US" sz="2400" dirty="0">
                <a:latin typeface="微软雅黑" pitchFamily="34" charset="-122"/>
                <a:ea typeface="微软雅黑" pitchFamily="34" charset="-122"/>
              </a:rPr>
              <a:t>，同时 </a:t>
            </a:r>
            <a:r>
              <a:rPr lang="en-US" altLang="zh-CN" sz="2400" dirty="0">
                <a:latin typeface="微软雅黑" pitchFamily="34" charset="-122"/>
                <a:ea typeface="微软雅黑" pitchFamily="34" charset="-122"/>
              </a:rPr>
              <a:t>S </a:t>
            </a:r>
            <a:r>
              <a:rPr lang="zh-CN" altLang="en-US" sz="2400" dirty="0">
                <a:latin typeface="微软雅黑" pitchFamily="34" charset="-122"/>
                <a:ea typeface="微软雅黑" pitchFamily="34" charset="-122"/>
              </a:rPr>
              <a:t>站所占用的频带宽度也提高到原来数值的 </a:t>
            </a:r>
            <a:r>
              <a:rPr lang="en-US" altLang="zh-CN" sz="2400" i="1" dirty="0">
                <a:latin typeface="微软雅黑" pitchFamily="34" charset="-122"/>
                <a:ea typeface="微软雅黑" pitchFamily="34" charset="-122"/>
              </a:rPr>
              <a:t>m</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倍。</a:t>
            </a:r>
          </a:p>
          <a:p>
            <a:pPr eaLnBrk="0" hangingPunct="0">
              <a:lnSpc>
                <a:spcPts val="3000"/>
              </a:lnSpc>
            </a:pPr>
            <a:r>
              <a:rPr lang="zh-CN" altLang="en-US" sz="2400" dirty="0">
                <a:latin typeface="微软雅黑" pitchFamily="34" charset="-122"/>
                <a:ea typeface="微软雅黑" pitchFamily="34" charset="-122"/>
              </a:rPr>
              <a:t>属</a:t>
            </a:r>
            <a:r>
              <a:rPr lang="zh-CN" altLang="en-US" sz="2400" dirty="0">
                <a:solidFill>
                  <a:srgbClr val="C00000"/>
                </a:solidFill>
                <a:latin typeface="微软雅黑" pitchFamily="34" charset="-122"/>
                <a:ea typeface="微软雅黑" pitchFamily="34" charset="-122"/>
              </a:rPr>
              <a:t>扩频</a:t>
            </a:r>
            <a:r>
              <a:rPr lang="en-US" altLang="zh-CN" sz="2400" dirty="0">
                <a:latin typeface="微软雅黑" pitchFamily="34" charset="-122"/>
                <a:ea typeface="微软雅黑" pitchFamily="34" charset="-122"/>
              </a:rPr>
              <a:t>(spread spectrum)</a:t>
            </a:r>
            <a:r>
              <a:rPr lang="zh-CN" altLang="en-US" sz="2400" dirty="0">
                <a:latin typeface="微软雅黑" pitchFamily="34" charset="-122"/>
                <a:ea typeface="微软雅黑" pitchFamily="34" charset="-122"/>
              </a:rPr>
              <a:t>通信中的一种</a:t>
            </a:r>
          </a:p>
          <a:p>
            <a:pPr eaLnBrk="0" hangingPunct="0">
              <a:lnSpc>
                <a:spcPts val="3000"/>
              </a:lnSpc>
            </a:pPr>
            <a:r>
              <a:rPr lang="zh-CN" altLang="en-US" sz="2400" dirty="0">
                <a:latin typeface="微软雅黑" pitchFamily="34" charset="-122"/>
                <a:ea typeface="微软雅黑" pitchFamily="34" charset="-122"/>
              </a:rPr>
              <a:t>扩频通信通常有两大类：</a:t>
            </a:r>
          </a:p>
          <a:p>
            <a:pPr marL="536575" indent="-271463" eaLnBrk="0" hangingPunct="0">
              <a:lnSpc>
                <a:spcPts val="3000"/>
              </a:lnSpc>
              <a:buFont typeface="+mj-lt"/>
              <a:buAutoNum type="arabicPeriod"/>
            </a:pPr>
            <a:r>
              <a:rPr lang="zh-CN" altLang="en-US" sz="2400" dirty="0">
                <a:latin typeface="微软雅黑" pitchFamily="34" charset="-122"/>
                <a:ea typeface="微软雅黑" pitchFamily="34" charset="-122"/>
              </a:rPr>
              <a:t>一种是</a:t>
            </a:r>
            <a:r>
              <a:rPr lang="zh-CN" altLang="en-US" sz="2400" dirty="0">
                <a:solidFill>
                  <a:srgbClr val="C00000"/>
                </a:solidFill>
                <a:latin typeface="微软雅黑" pitchFamily="34" charset="-122"/>
                <a:ea typeface="微软雅黑" pitchFamily="34" charset="-122"/>
              </a:rPr>
              <a:t>直接序列扩频</a:t>
            </a:r>
            <a:r>
              <a:rPr lang="en-US" altLang="zh-CN" sz="2400" dirty="0">
                <a:solidFill>
                  <a:srgbClr val="C00000"/>
                </a:solidFill>
                <a:latin typeface="微软雅黑" pitchFamily="34" charset="-122"/>
                <a:ea typeface="微软雅黑" pitchFamily="34" charset="-122"/>
              </a:rPr>
              <a:t>DSSS </a:t>
            </a:r>
            <a:r>
              <a:rPr lang="en-US" altLang="zh-CN" sz="2400" dirty="0">
                <a:latin typeface="微软雅黑" pitchFamily="34" charset="-122"/>
                <a:ea typeface="微软雅黑" pitchFamily="34" charset="-122"/>
              </a:rPr>
              <a:t>(Direct Sequence Spread Spectrum)</a:t>
            </a:r>
            <a:r>
              <a:rPr lang="zh-CN" altLang="en-US" sz="2400" dirty="0">
                <a:latin typeface="微软雅黑" pitchFamily="34" charset="-122"/>
                <a:ea typeface="微软雅黑" pitchFamily="34" charset="-122"/>
              </a:rPr>
              <a:t>，如上面讲的使用码片序列就是这一类</a:t>
            </a:r>
          </a:p>
          <a:p>
            <a:pPr marL="536575" indent="-271463" eaLnBrk="0" hangingPunct="0">
              <a:lnSpc>
                <a:spcPts val="3000"/>
              </a:lnSpc>
              <a:buFont typeface="+mj-lt"/>
              <a:buAutoNum type="arabicPeriod"/>
            </a:pPr>
            <a:r>
              <a:rPr lang="zh-CN" altLang="en-US" sz="2400" dirty="0">
                <a:latin typeface="微软雅黑" pitchFamily="34" charset="-122"/>
                <a:ea typeface="微软雅黑" pitchFamily="34" charset="-122"/>
              </a:rPr>
              <a:t>另一种是</a:t>
            </a:r>
            <a:r>
              <a:rPr lang="zh-CN" altLang="en-US" sz="2400" dirty="0">
                <a:solidFill>
                  <a:srgbClr val="C00000"/>
                </a:solidFill>
                <a:latin typeface="微软雅黑" pitchFamily="34" charset="-122"/>
                <a:ea typeface="微软雅黑" pitchFamily="34" charset="-122"/>
              </a:rPr>
              <a:t>跳频扩频</a:t>
            </a:r>
            <a:r>
              <a:rPr lang="en-US" altLang="zh-CN" sz="2400" dirty="0">
                <a:solidFill>
                  <a:srgbClr val="C00000"/>
                </a:solidFill>
                <a:latin typeface="微软雅黑" pitchFamily="34" charset="-122"/>
                <a:ea typeface="微软雅黑" pitchFamily="34" charset="-122"/>
              </a:rPr>
              <a:t>FHSS</a:t>
            </a:r>
            <a:r>
              <a:rPr lang="en-US" altLang="zh-CN" sz="2400" dirty="0">
                <a:solidFill>
                  <a:srgbClr val="7030A0"/>
                </a:solidFill>
                <a:latin typeface="微软雅黑" pitchFamily="34" charset="-122"/>
                <a:ea typeface="微软雅黑" pitchFamily="34" charset="-122"/>
              </a:rPr>
              <a:t> </a:t>
            </a:r>
          </a:p>
          <a:p>
            <a:pPr marL="265112" indent="0" eaLnBrk="0" hangingPunct="0">
              <a:lnSpc>
                <a:spcPts val="3000"/>
              </a:lnSpc>
              <a:buNone/>
            </a:pPr>
            <a:r>
              <a:rPr lang="en-US" altLang="zh-CN" sz="2400" dirty="0">
                <a:solidFill>
                  <a:srgbClr val="7030A0"/>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(Frequency Hopping Spread Spectrum)</a:t>
            </a:r>
            <a:endParaRPr lang="zh-CN" altLang="en-US" sz="2400" dirty="0">
              <a:latin typeface="微软雅黑" pitchFamily="34" charset="-122"/>
              <a:ea typeface="微软雅黑" pitchFamily="34" charset="-122"/>
            </a:endParaRPr>
          </a:p>
          <a:p>
            <a:endParaRPr lang="zh-CN" altLang="en-US" sz="2400" dirty="0"/>
          </a:p>
        </p:txBody>
      </p:sp>
      <p:sp>
        <p:nvSpPr>
          <p:cNvPr id="2" name="标题 1">
            <a:extLst>
              <a:ext uri="{FF2B5EF4-FFF2-40B4-BE49-F238E27FC236}">
                <a16:creationId xmlns:a16="http://schemas.microsoft.com/office/drawing/2014/main" id="{248FB5BE-6423-4699-9042-C3EB5E06D096}"/>
              </a:ext>
            </a:extLst>
          </p:cNvPr>
          <p:cNvSpPr>
            <a:spLocks noGrp="1"/>
          </p:cNvSpPr>
          <p:nvPr>
            <p:ph type="title"/>
          </p:nvPr>
        </p:nvSpPr>
        <p:spPr>
          <a:xfrm>
            <a:off x="567212" y="1229812"/>
            <a:ext cx="8220812" cy="879086"/>
          </a:xfrm>
        </p:spPr>
        <p:txBody>
          <a:bodyPr>
            <a:normAutofit/>
          </a:bodyPr>
          <a:lstStyle/>
          <a:p>
            <a:r>
              <a:rPr lang="zh-CN" altLang="en-US" sz="2800" b="1" dirty="0">
                <a:solidFill>
                  <a:srgbClr val="7030A0"/>
                </a:solidFill>
              </a:rPr>
              <a:t>码片序列实现了扩频</a:t>
            </a:r>
          </a:p>
        </p:txBody>
      </p:sp>
      <p:sp>
        <p:nvSpPr>
          <p:cNvPr id="4" name="灯片编号占位符 3">
            <a:extLst>
              <a:ext uri="{FF2B5EF4-FFF2-40B4-BE49-F238E27FC236}">
                <a16:creationId xmlns:a16="http://schemas.microsoft.com/office/drawing/2014/main" id="{8D5FE80B-2B56-4F8A-B533-8C247920FAB6}"/>
              </a:ext>
            </a:extLst>
          </p:cNvPr>
          <p:cNvSpPr>
            <a:spLocks noGrp="1"/>
          </p:cNvSpPr>
          <p:nvPr>
            <p:ph type="sldNum" sz="quarter" idx="12"/>
          </p:nvPr>
        </p:nvSpPr>
        <p:spPr/>
        <p:txBody>
          <a:bodyPr/>
          <a:lstStyle/>
          <a:p>
            <a:fld id="{8D4D1E41-7A09-AB4A-A4E1-09765ADA2698}" type="slidenum">
              <a:rPr kumimoji="1" lang="zh-CN" altLang="en-US" smtClean="0"/>
              <a:t>108</a:t>
            </a:fld>
            <a:endParaRPr kumimoji="1" lang="zh-CN" altLang="en-US" dirty="0"/>
          </a:p>
        </p:txBody>
      </p:sp>
      <p:sp>
        <p:nvSpPr>
          <p:cNvPr id="6" name="标题 1">
            <a:extLst>
              <a:ext uri="{FF2B5EF4-FFF2-40B4-BE49-F238E27FC236}">
                <a16:creationId xmlns:a16="http://schemas.microsoft.com/office/drawing/2014/main" id="{09420108-E985-429A-9B5D-39790F655624}"/>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zh-CN" altLang="en-US" dirty="0"/>
              <a:t>码分复用</a:t>
            </a:r>
            <a:r>
              <a:rPr lang="en-US" altLang="zh-CN" dirty="0"/>
              <a:t>(CDMA)</a:t>
            </a:r>
            <a:endParaRPr lang="zh-CN" altLang="en-US" dirty="0"/>
          </a:p>
        </p:txBody>
      </p:sp>
      <p:grpSp>
        <p:nvGrpSpPr>
          <p:cNvPr id="61" name="组合 60">
            <a:extLst>
              <a:ext uri="{FF2B5EF4-FFF2-40B4-BE49-F238E27FC236}">
                <a16:creationId xmlns:a16="http://schemas.microsoft.com/office/drawing/2014/main" id="{C9D85289-63E7-47D3-BE47-6005DA6A9077}"/>
              </a:ext>
            </a:extLst>
          </p:cNvPr>
          <p:cNvGrpSpPr/>
          <p:nvPr/>
        </p:nvGrpSpPr>
        <p:grpSpPr>
          <a:xfrm>
            <a:off x="6878453" y="4535845"/>
            <a:ext cx="5159576" cy="2818160"/>
            <a:chOff x="6878453" y="4034680"/>
            <a:chExt cx="5159576" cy="2818160"/>
          </a:xfrm>
        </p:grpSpPr>
        <p:sp>
          <p:nvSpPr>
            <p:cNvPr id="50" name="不完整圆 49">
              <a:extLst>
                <a:ext uri="{FF2B5EF4-FFF2-40B4-BE49-F238E27FC236}">
                  <a16:creationId xmlns:a16="http://schemas.microsoft.com/office/drawing/2014/main" id="{BA5B33BC-409E-4712-B0AD-05ACE2488165}"/>
                </a:ext>
              </a:extLst>
            </p:cNvPr>
            <p:cNvSpPr/>
            <p:nvPr/>
          </p:nvSpPr>
          <p:spPr>
            <a:xfrm rot="5400000">
              <a:off x="7690159" y="4103975"/>
              <a:ext cx="2818160" cy="2679570"/>
            </a:xfrm>
            <a:prstGeom prst="pie">
              <a:avLst>
                <a:gd name="adj1" fmla="val 5373127"/>
                <a:gd name="adj2" fmla="val 16223714"/>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不完整圆 50">
              <a:extLst>
                <a:ext uri="{FF2B5EF4-FFF2-40B4-BE49-F238E27FC236}">
                  <a16:creationId xmlns:a16="http://schemas.microsoft.com/office/drawing/2014/main" id="{8079ED35-DD23-491E-AAA2-A426A591F6F9}"/>
                </a:ext>
              </a:extLst>
            </p:cNvPr>
            <p:cNvSpPr/>
            <p:nvPr/>
          </p:nvSpPr>
          <p:spPr>
            <a:xfrm rot="5400000">
              <a:off x="7585983" y="5328618"/>
              <a:ext cx="1651258" cy="254293"/>
            </a:xfrm>
            <a:prstGeom prst="pie">
              <a:avLst>
                <a:gd name="adj1" fmla="val 5351031"/>
                <a:gd name="adj2" fmla="val 16190745"/>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47" name="组合 46">
              <a:extLst>
                <a:ext uri="{FF2B5EF4-FFF2-40B4-BE49-F238E27FC236}">
                  <a16:creationId xmlns:a16="http://schemas.microsoft.com/office/drawing/2014/main" id="{807DBFCE-C7D1-4E65-913A-F9E330FA3FE3}"/>
                </a:ext>
              </a:extLst>
            </p:cNvPr>
            <p:cNvGrpSpPr/>
            <p:nvPr/>
          </p:nvGrpSpPr>
          <p:grpSpPr>
            <a:xfrm>
              <a:off x="6878453" y="5434930"/>
              <a:ext cx="5159576" cy="382353"/>
              <a:chOff x="6878453" y="5434930"/>
              <a:chExt cx="5159576" cy="382353"/>
            </a:xfrm>
          </p:grpSpPr>
          <p:cxnSp>
            <p:nvCxnSpPr>
              <p:cNvPr id="8" name="直接箭头连接符 7">
                <a:extLst>
                  <a:ext uri="{FF2B5EF4-FFF2-40B4-BE49-F238E27FC236}">
                    <a16:creationId xmlns:a16="http://schemas.microsoft.com/office/drawing/2014/main" id="{C2BC5A01-FB16-4C80-B568-C5B43D299232}"/>
                  </a:ext>
                </a:extLst>
              </p:cNvPr>
              <p:cNvCxnSpPr>
                <a:cxnSpLocks/>
              </p:cNvCxnSpPr>
              <p:nvPr/>
            </p:nvCxnSpPr>
            <p:spPr>
              <a:xfrm flipV="1">
                <a:off x="7173798" y="5449079"/>
                <a:ext cx="4864231" cy="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5E4E2AA-9E28-46E0-8D8F-B59D1DF6B768}"/>
                  </a:ext>
                </a:extLst>
              </p:cNvPr>
              <p:cNvCxnSpPr>
                <a:cxnSpLocks/>
              </p:cNvCxnSpPr>
              <p:nvPr/>
            </p:nvCxnSpPr>
            <p:spPr>
              <a:xfrm>
                <a:off x="7173798"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DFB52C0-AA59-429B-8810-CCCA5B479306}"/>
                  </a:ext>
                </a:extLst>
              </p:cNvPr>
              <p:cNvCxnSpPr>
                <a:cxnSpLocks/>
              </p:cNvCxnSpPr>
              <p:nvPr/>
            </p:nvCxnSpPr>
            <p:spPr>
              <a:xfrm>
                <a:off x="7420565"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C459533-685A-4577-8F69-3B5AFD105E18}"/>
                  </a:ext>
                </a:extLst>
              </p:cNvPr>
              <p:cNvCxnSpPr>
                <a:cxnSpLocks/>
              </p:cNvCxnSpPr>
              <p:nvPr/>
            </p:nvCxnSpPr>
            <p:spPr>
              <a:xfrm>
                <a:off x="7667332"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61DECB4-2421-4C8C-BEC1-61EF3A5E4083}"/>
                  </a:ext>
                </a:extLst>
              </p:cNvPr>
              <p:cNvCxnSpPr>
                <a:cxnSpLocks/>
              </p:cNvCxnSpPr>
              <p:nvPr/>
            </p:nvCxnSpPr>
            <p:spPr>
              <a:xfrm>
                <a:off x="7914099"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09EC5A2-DEAB-431D-B0DC-7B394B054EB5}"/>
                  </a:ext>
                </a:extLst>
              </p:cNvPr>
              <p:cNvCxnSpPr>
                <a:cxnSpLocks/>
              </p:cNvCxnSpPr>
              <p:nvPr/>
            </p:nvCxnSpPr>
            <p:spPr>
              <a:xfrm>
                <a:off x="8160866"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ACBA523-D7E5-4AF4-9845-14372C9719CA}"/>
                  </a:ext>
                </a:extLst>
              </p:cNvPr>
              <p:cNvCxnSpPr>
                <a:cxnSpLocks/>
              </p:cNvCxnSpPr>
              <p:nvPr/>
            </p:nvCxnSpPr>
            <p:spPr>
              <a:xfrm>
                <a:off x="8407633"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E3B25800-FBA4-4E7F-830D-14FA1257E440}"/>
                  </a:ext>
                </a:extLst>
              </p:cNvPr>
              <p:cNvCxnSpPr>
                <a:cxnSpLocks/>
              </p:cNvCxnSpPr>
              <p:nvPr/>
            </p:nvCxnSpPr>
            <p:spPr>
              <a:xfrm>
                <a:off x="8654400"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2721E8B-E17C-442D-BC25-3D8200A029FB}"/>
                  </a:ext>
                </a:extLst>
              </p:cNvPr>
              <p:cNvCxnSpPr>
                <a:cxnSpLocks/>
              </p:cNvCxnSpPr>
              <p:nvPr/>
            </p:nvCxnSpPr>
            <p:spPr>
              <a:xfrm>
                <a:off x="8901167"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921BEC6-DF1E-4ED5-B2BF-72DAE5A3AD5E}"/>
                  </a:ext>
                </a:extLst>
              </p:cNvPr>
              <p:cNvCxnSpPr>
                <a:cxnSpLocks/>
              </p:cNvCxnSpPr>
              <p:nvPr/>
            </p:nvCxnSpPr>
            <p:spPr>
              <a:xfrm>
                <a:off x="9147934"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5199EC9-2DEC-4770-AB5C-6690B117D3DA}"/>
                  </a:ext>
                </a:extLst>
              </p:cNvPr>
              <p:cNvCxnSpPr>
                <a:cxnSpLocks/>
              </p:cNvCxnSpPr>
              <p:nvPr/>
            </p:nvCxnSpPr>
            <p:spPr>
              <a:xfrm>
                <a:off x="9394701"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F2B08F4C-CE6C-443A-98A7-8ACDC4B226E8}"/>
                  </a:ext>
                </a:extLst>
              </p:cNvPr>
              <p:cNvCxnSpPr>
                <a:cxnSpLocks/>
              </p:cNvCxnSpPr>
              <p:nvPr/>
            </p:nvCxnSpPr>
            <p:spPr>
              <a:xfrm>
                <a:off x="9641468"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79E6C4B-FF60-4569-9AAD-CBA14D1D5D37}"/>
                  </a:ext>
                </a:extLst>
              </p:cNvPr>
              <p:cNvCxnSpPr>
                <a:cxnSpLocks/>
              </p:cNvCxnSpPr>
              <p:nvPr/>
            </p:nvCxnSpPr>
            <p:spPr>
              <a:xfrm>
                <a:off x="9888235"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B9784E1A-181C-4950-BAD7-AE4D5CE36A08}"/>
                  </a:ext>
                </a:extLst>
              </p:cNvPr>
              <p:cNvCxnSpPr>
                <a:cxnSpLocks/>
              </p:cNvCxnSpPr>
              <p:nvPr/>
            </p:nvCxnSpPr>
            <p:spPr>
              <a:xfrm>
                <a:off x="10135002"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EA010B1B-55F3-4807-8E1E-63DA118522A7}"/>
                  </a:ext>
                </a:extLst>
              </p:cNvPr>
              <p:cNvCxnSpPr>
                <a:cxnSpLocks/>
              </p:cNvCxnSpPr>
              <p:nvPr/>
            </p:nvCxnSpPr>
            <p:spPr>
              <a:xfrm>
                <a:off x="10381769"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945A996F-EB9B-4654-B808-4862D4C0E38C}"/>
                  </a:ext>
                </a:extLst>
              </p:cNvPr>
              <p:cNvCxnSpPr>
                <a:cxnSpLocks/>
              </p:cNvCxnSpPr>
              <p:nvPr/>
            </p:nvCxnSpPr>
            <p:spPr>
              <a:xfrm>
                <a:off x="10628536"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73E3B2C4-08B1-4DC2-BDED-5C1E5E612858}"/>
                  </a:ext>
                </a:extLst>
              </p:cNvPr>
              <p:cNvCxnSpPr>
                <a:cxnSpLocks/>
              </p:cNvCxnSpPr>
              <p:nvPr/>
            </p:nvCxnSpPr>
            <p:spPr>
              <a:xfrm>
                <a:off x="10875303"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230E4B92-A98D-4F40-9DA1-87524A202FE7}"/>
                  </a:ext>
                </a:extLst>
              </p:cNvPr>
              <p:cNvCxnSpPr>
                <a:cxnSpLocks/>
              </p:cNvCxnSpPr>
              <p:nvPr/>
            </p:nvCxnSpPr>
            <p:spPr>
              <a:xfrm>
                <a:off x="11615604"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C2F4893-9E6B-4D53-993A-240B229BE47F}"/>
                  </a:ext>
                </a:extLst>
              </p:cNvPr>
              <p:cNvCxnSpPr>
                <a:cxnSpLocks/>
              </p:cNvCxnSpPr>
              <p:nvPr/>
            </p:nvCxnSpPr>
            <p:spPr>
              <a:xfrm>
                <a:off x="11368837"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866877D2-408C-4148-B108-4967E1452B60}"/>
                  </a:ext>
                </a:extLst>
              </p:cNvPr>
              <p:cNvSpPr txBox="1"/>
              <p:nvPr/>
            </p:nvSpPr>
            <p:spPr>
              <a:xfrm>
                <a:off x="6878453" y="5540284"/>
                <a:ext cx="597004" cy="276999"/>
              </a:xfrm>
              <a:prstGeom prst="rect">
                <a:avLst/>
              </a:prstGeom>
              <a:noFill/>
            </p:spPr>
            <p:txBody>
              <a:bodyPr wrap="square" rtlCol="0">
                <a:spAutoFit/>
              </a:bodyPr>
              <a:lstStyle/>
              <a:p>
                <a:r>
                  <a:rPr lang="en-US" altLang="zh-CN" sz="1200" dirty="0"/>
                  <a:t>2,396</a:t>
                </a:r>
                <a:endParaRPr lang="zh-CN" altLang="en-US" sz="1200" dirty="0"/>
              </a:p>
            </p:txBody>
          </p:sp>
          <p:sp>
            <p:nvSpPr>
              <p:cNvPr id="36" name="文本框 35">
                <a:extLst>
                  <a:ext uri="{FF2B5EF4-FFF2-40B4-BE49-F238E27FC236}">
                    <a16:creationId xmlns:a16="http://schemas.microsoft.com/office/drawing/2014/main" id="{D998E6E1-B396-4AF7-AE61-657F55D09BDE}"/>
                  </a:ext>
                </a:extLst>
              </p:cNvPr>
              <p:cNvSpPr txBox="1"/>
              <p:nvPr/>
            </p:nvSpPr>
            <p:spPr>
              <a:xfrm>
                <a:off x="7372381" y="5540284"/>
                <a:ext cx="597004" cy="276999"/>
              </a:xfrm>
              <a:prstGeom prst="rect">
                <a:avLst/>
              </a:prstGeom>
              <a:noFill/>
            </p:spPr>
            <p:txBody>
              <a:bodyPr wrap="square" rtlCol="0">
                <a:spAutoFit/>
              </a:bodyPr>
              <a:lstStyle/>
              <a:p>
                <a:r>
                  <a:rPr lang="en-US" altLang="zh-CN" sz="1200" dirty="0"/>
                  <a:t>2,400</a:t>
                </a:r>
                <a:endParaRPr lang="zh-CN" altLang="en-US" sz="1200" dirty="0"/>
              </a:p>
            </p:txBody>
          </p:sp>
          <p:sp>
            <p:nvSpPr>
              <p:cNvPr id="37" name="文本框 36">
                <a:extLst>
                  <a:ext uri="{FF2B5EF4-FFF2-40B4-BE49-F238E27FC236}">
                    <a16:creationId xmlns:a16="http://schemas.microsoft.com/office/drawing/2014/main" id="{6625460D-2DF8-439D-9DA1-750A3D0E8D37}"/>
                  </a:ext>
                </a:extLst>
              </p:cNvPr>
              <p:cNvSpPr txBox="1"/>
              <p:nvPr/>
            </p:nvSpPr>
            <p:spPr>
              <a:xfrm>
                <a:off x="7866309" y="5540284"/>
                <a:ext cx="597004" cy="276999"/>
              </a:xfrm>
              <a:prstGeom prst="rect">
                <a:avLst/>
              </a:prstGeom>
              <a:noFill/>
            </p:spPr>
            <p:txBody>
              <a:bodyPr wrap="square" rtlCol="0">
                <a:spAutoFit/>
              </a:bodyPr>
              <a:lstStyle/>
              <a:p>
                <a:r>
                  <a:rPr lang="en-US" altLang="zh-CN" sz="1200" dirty="0"/>
                  <a:t>2,404</a:t>
                </a:r>
                <a:endParaRPr lang="zh-CN" altLang="en-US" sz="1200" dirty="0"/>
              </a:p>
            </p:txBody>
          </p:sp>
          <p:sp>
            <p:nvSpPr>
              <p:cNvPr id="38" name="文本框 37">
                <a:extLst>
                  <a:ext uri="{FF2B5EF4-FFF2-40B4-BE49-F238E27FC236}">
                    <a16:creationId xmlns:a16="http://schemas.microsoft.com/office/drawing/2014/main" id="{29F0CFF5-5D3E-4CF3-80E7-B241B44D33FD}"/>
                  </a:ext>
                </a:extLst>
              </p:cNvPr>
              <p:cNvSpPr txBox="1"/>
              <p:nvPr/>
            </p:nvSpPr>
            <p:spPr>
              <a:xfrm>
                <a:off x="8360237" y="5540284"/>
                <a:ext cx="597004" cy="276999"/>
              </a:xfrm>
              <a:prstGeom prst="rect">
                <a:avLst/>
              </a:prstGeom>
              <a:noFill/>
            </p:spPr>
            <p:txBody>
              <a:bodyPr wrap="square" rtlCol="0">
                <a:spAutoFit/>
              </a:bodyPr>
              <a:lstStyle/>
              <a:p>
                <a:r>
                  <a:rPr lang="en-US" altLang="zh-CN" sz="1200" dirty="0"/>
                  <a:t>2,408</a:t>
                </a:r>
                <a:endParaRPr lang="zh-CN" altLang="en-US" sz="1200" dirty="0"/>
              </a:p>
            </p:txBody>
          </p:sp>
          <p:sp>
            <p:nvSpPr>
              <p:cNvPr id="39" name="文本框 38">
                <a:extLst>
                  <a:ext uri="{FF2B5EF4-FFF2-40B4-BE49-F238E27FC236}">
                    <a16:creationId xmlns:a16="http://schemas.microsoft.com/office/drawing/2014/main" id="{5838D266-6C3E-47E6-AD7A-6214CC7B272C}"/>
                  </a:ext>
                </a:extLst>
              </p:cNvPr>
              <p:cNvSpPr txBox="1"/>
              <p:nvPr/>
            </p:nvSpPr>
            <p:spPr>
              <a:xfrm>
                <a:off x="8854165" y="5540284"/>
                <a:ext cx="597004" cy="276999"/>
              </a:xfrm>
              <a:prstGeom prst="rect">
                <a:avLst/>
              </a:prstGeom>
              <a:noFill/>
            </p:spPr>
            <p:txBody>
              <a:bodyPr wrap="square" rtlCol="0">
                <a:spAutoFit/>
              </a:bodyPr>
              <a:lstStyle/>
              <a:p>
                <a:r>
                  <a:rPr lang="en-US" altLang="zh-CN" sz="1200" dirty="0"/>
                  <a:t>2,412</a:t>
                </a:r>
                <a:endParaRPr lang="zh-CN" altLang="en-US" sz="1200" dirty="0"/>
              </a:p>
            </p:txBody>
          </p:sp>
          <p:sp>
            <p:nvSpPr>
              <p:cNvPr id="40" name="文本框 39">
                <a:extLst>
                  <a:ext uri="{FF2B5EF4-FFF2-40B4-BE49-F238E27FC236}">
                    <a16:creationId xmlns:a16="http://schemas.microsoft.com/office/drawing/2014/main" id="{F4753327-6DE5-4F3D-8D8F-B0AA4B4D0842}"/>
                  </a:ext>
                </a:extLst>
              </p:cNvPr>
              <p:cNvSpPr txBox="1"/>
              <p:nvPr/>
            </p:nvSpPr>
            <p:spPr>
              <a:xfrm>
                <a:off x="9348093" y="5540284"/>
                <a:ext cx="597004" cy="276999"/>
              </a:xfrm>
              <a:prstGeom prst="rect">
                <a:avLst/>
              </a:prstGeom>
              <a:noFill/>
            </p:spPr>
            <p:txBody>
              <a:bodyPr wrap="square" rtlCol="0">
                <a:spAutoFit/>
              </a:bodyPr>
              <a:lstStyle/>
              <a:p>
                <a:r>
                  <a:rPr lang="en-US" altLang="zh-CN" sz="1200" dirty="0"/>
                  <a:t>2,416</a:t>
                </a:r>
                <a:endParaRPr lang="zh-CN" altLang="en-US" sz="1200" dirty="0"/>
              </a:p>
            </p:txBody>
          </p:sp>
          <p:sp>
            <p:nvSpPr>
              <p:cNvPr id="41" name="文本框 40">
                <a:extLst>
                  <a:ext uri="{FF2B5EF4-FFF2-40B4-BE49-F238E27FC236}">
                    <a16:creationId xmlns:a16="http://schemas.microsoft.com/office/drawing/2014/main" id="{C032C4BB-D7B7-4349-9790-C1063C26C33A}"/>
                  </a:ext>
                </a:extLst>
              </p:cNvPr>
              <p:cNvSpPr txBox="1"/>
              <p:nvPr/>
            </p:nvSpPr>
            <p:spPr>
              <a:xfrm>
                <a:off x="9842021" y="5540284"/>
                <a:ext cx="597004" cy="276999"/>
              </a:xfrm>
              <a:prstGeom prst="rect">
                <a:avLst/>
              </a:prstGeom>
              <a:noFill/>
            </p:spPr>
            <p:txBody>
              <a:bodyPr wrap="square" rtlCol="0">
                <a:spAutoFit/>
              </a:bodyPr>
              <a:lstStyle/>
              <a:p>
                <a:r>
                  <a:rPr lang="en-US" altLang="zh-CN" sz="1200" dirty="0"/>
                  <a:t>2,420</a:t>
                </a:r>
                <a:endParaRPr lang="zh-CN" altLang="en-US" sz="1200" dirty="0"/>
              </a:p>
            </p:txBody>
          </p:sp>
          <p:sp>
            <p:nvSpPr>
              <p:cNvPr id="42" name="文本框 41">
                <a:extLst>
                  <a:ext uri="{FF2B5EF4-FFF2-40B4-BE49-F238E27FC236}">
                    <a16:creationId xmlns:a16="http://schemas.microsoft.com/office/drawing/2014/main" id="{688B315F-0253-43B1-8714-0F7E9B3A348A}"/>
                  </a:ext>
                </a:extLst>
              </p:cNvPr>
              <p:cNvSpPr txBox="1"/>
              <p:nvPr/>
            </p:nvSpPr>
            <p:spPr>
              <a:xfrm>
                <a:off x="10335949" y="5540284"/>
                <a:ext cx="597004" cy="276999"/>
              </a:xfrm>
              <a:prstGeom prst="rect">
                <a:avLst/>
              </a:prstGeom>
              <a:noFill/>
            </p:spPr>
            <p:txBody>
              <a:bodyPr wrap="square" rtlCol="0">
                <a:spAutoFit/>
              </a:bodyPr>
              <a:lstStyle/>
              <a:p>
                <a:r>
                  <a:rPr lang="en-US" altLang="zh-CN" sz="1200" dirty="0"/>
                  <a:t>2,424</a:t>
                </a:r>
                <a:endParaRPr lang="zh-CN" altLang="en-US" sz="1200" dirty="0"/>
              </a:p>
            </p:txBody>
          </p:sp>
          <p:sp>
            <p:nvSpPr>
              <p:cNvPr id="43" name="文本框 42">
                <a:extLst>
                  <a:ext uri="{FF2B5EF4-FFF2-40B4-BE49-F238E27FC236}">
                    <a16:creationId xmlns:a16="http://schemas.microsoft.com/office/drawing/2014/main" id="{564F4CB8-2C8F-4716-AE73-EAD8752434BD}"/>
                  </a:ext>
                </a:extLst>
              </p:cNvPr>
              <p:cNvSpPr txBox="1"/>
              <p:nvPr/>
            </p:nvSpPr>
            <p:spPr>
              <a:xfrm>
                <a:off x="10829877" y="5540284"/>
                <a:ext cx="597004" cy="276999"/>
              </a:xfrm>
              <a:prstGeom prst="rect">
                <a:avLst/>
              </a:prstGeom>
              <a:noFill/>
            </p:spPr>
            <p:txBody>
              <a:bodyPr wrap="square" rtlCol="0">
                <a:spAutoFit/>
              </a:bodyPr>
              <a:lstStyle/>
              <a:p>
                <a:r>
                  <a:rPr lang="en-US" altLang="zh-CN" sz="1200" dirty="0"/>
                  <a:t>2,428</a:t>
                </a:r>
                <a:endParaRPr lang="zh-CN" altLang="en-US" sz="1200" dirty="0"/>
              </a:p>
            </p:txBody>
          </p:sp>
          <p:sp>
            <p:nvSpPr>
              <p:cNvPr id="44" name="文本框 43">
                <a:extLst>
                  <a:ext uri="{FF2B5EF4-FFF2-40B4-BE49-F238E27FC236}">
                    <a16:creationId xmlns:a16="http://schemas.microsoft.com/office/drawing/2014/main" id="{9B9D9E5D-4317-4E8B-900F-4DE88E031196}"/>
                  </a:ext>
                </a:extLst>
              </p:cNvPr>
              <p:cNvSpPr txBox="1"/>
              <p:nvPr/>
            </p:nvSpPr>
            <p:spPr>
              <a:xfrm>
                <a:off x="11323804" y="5540284"/>
                <a:ext cx="597004" cy="276999"/>
              </a:xfrm>
              <a:prstGeom prst="rect">
                <a:avLst/>
              </a:prstGeom>
              <a:noFill/>
            </p:spPr>
            <p:txBody>
              <a:bodyPr wrap="square" rtlCol="0">
                <a:spAutoFit/>
              </a:bodyPr>
              <a:lstStyle/>
              <a:p>
                <a:r>
                  <a:rPr lang="en-US" altLang="zh-CN" sz="1200" dirty="0"/>
                  <a:t>2,432</a:t>
                </a:r>
                <a:endParaRPr lang="zh-CN" altLang="en-US" sz="1200" dirty="0"/>
              </a:p>
            </p:txBody>
          </p:sp>
          <p:cxnSp>
            <p:nvCxnSpPr>
              <p:cNvPr id="45" name="直接连接符 44">
                <a:extLst>
                  <a:ext uri="{FF2B5EF4-FFF2-40B4-BE49-F238E27FC236}">
                    <a16:creationId xmlns:a16="http://schemas.microsoft.com/office/drawing/2014/main" id="{E7F5299B-AB77-40DF-91EC-7F66D54B3061}"/>
                  </a:ext>
                </a:extLst>
              </p:cNvPr>
              <p:cNvCxnSpPr>
                <a:cxnSpLocks/>
              </p:cNvCxnSpPr>
              <p:nvPr/>
            </p:nvCxnSpPr>
            <p:spPr>
              <a:xfrm>
                <a:off x="11122070"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不完整圆 52">
              <a:extLst>
                <a:ext uri="{FF2B5EF4-FFF2-40B4-BE49-F238E27FC236}">
                  <a16:creationId xmlns:a16="http://schemas.microsoft.com/office/drawing/2014/main" id="{07278677-90A3-4B21-93AC-55A159DD320D}"/>
                </a:ext>
              </a:extLst>
            </p:cNvPr>
            <p:cNvSpPr/>
            <p:nvPr/>
          </p:nvSpPr>
          <p:spPr>
            <a:xfrm rot="5400000">
              <a:off x="8812076" y="5328619"/>
              <a:ext cx="1651258" cy="254293"/>
            </a:xfrm>
            <a:prstGeom prst="pie">
              <a:avLst>
                <a:gd name="adj1" fmla="val 5351031"/>
                <a:gd name="adj2" fmla="val 16190745"/>
              </a:avLst>
            </a:prstGeom>
            <a:noFill/>
            <a:ln w="19050">
              <a:solidFill>
                <a:schemeClr val="accent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不完整圆 53">
              <a:extLst>
                <a:ext uri="{FF2B5EF4-FFF2-40B4-BE49-F238E27FC236}">
                  <a16:creationId xmlns:a16="http://schemas.microsoft.com/office/drawing/2014/main" id="{0782B91F-897B-4981-B4E1-409DEEAEA266}"/>
                </a:ext>
              </a:extLst>
            </p:cNvPr>
            <p:cNvSpPr/>
            <p:nvPr/>
          </p:nvSpPr>
          <p:spPr>
            <a:xfrm rot="5400000">
              <a:off x="10302749" y="5325406"/>
              <a:ext cx="1651258" cy="254293"/>
            </a:xfrm>
            <a:prstGeom prst="pie">
              <a:avLst>
                <a:gd name="adj1" fmla="val 5351031"/>
                <a:gd name="adj2" fmla="val 16190745"/>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5" name="直接箭头连接符 54">
              <a:extLst>
                <a:ext uri="{FF2B5EF4-FFF2-40B4-BE49-F238E27FC236}">
                  <a16:creationId xmlns:a16="http://schemas.microsoft.com/office/drawing/2014/main" id="{CE6516C0-5085-46A9-8175-345A24524C65}"/>
                </a:ext>
              </a:extLst>
            </p:cNvPr>
            <p:cNvCxnSpPr/>
            <p:nvPr/>
          </p:nvCxnSpPr>
          <p:spPr>
            <a:xfrm>
              <a:off x="8654400" y="5081047"/>
              <a:ext cx="740301"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50D748A1-2EA2-4795-A833-CFAD0DC23746}"/>
                </a:ext>
              </a:extLst>
            </p:cNvPr>
            <p:cNvCxnSpPr>
              <a:cxnSpLocks/>
            </p:cNvCxnSpPr>
            <p:nvPr/>
          </p:nvCxnSpPr>
          <p:spPr>
            <a:xfrm>
              <a:off x="9945097" y="5081047"/>
              <a:ext cx="884780"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DF98277B-470D-4998-87B7-3666D496B704}"/>
                </a:ext>
              </a:extLst>
            </p:cNvPr>
            <p:cNvSpPr txBox="1"/>
            <p:nvPr/>
          </p:nvSpPr>
          <p:spPr>
            <a:xfrm>
              <a:off x="8672825" y="5818871"/>
              <a:ext cx="2147065" cy="338554"/>
            </a:xfrm>
            <a:prstGeom prst="rect">
              <a:avLst/>
            </a:prstGeom>
            <a:noFill/>
          </p:spPr>
          <p:txBody>
            <a:bodyPr wrap="square" rtlCol="0">
              <a:spAutoFit/>
            </a:bodyPr>
            <a:lstStyle/>
            <a:p>
              <a:r>
                <a:rPr lang="en-US" altLang="zh-CN" sz="1600" dirty="0"/>
                <a:t>FREQUENCY (GHz</a:t>
              </a:r>
              <a:r>
                <a:rPr lang="zh-CN" altLang="en-US" sz="1600" dirty="0"/>
                <a:t>）</a:t>
              </a:r>
            </a:p>
          </p:txBody>
        </p:sp>
      </p:grpSp>
      <p:sp>
        <p:nvSpPr>
          <p:cNvPr id="46" name="文本框 45">
            <a:extLst>
              <a:ext uri="{FF2B5EF4-FFF2-40B4-BE49-F238E27FC236}">
                <a16:creationId xmlns:a16="http://schemas.microsoft.com/office/drawing/2014/main" id="{50B7C9BC-66DC-44A1-981D-BEBC79534BD7}"/>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898300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0646-7899-4D78-A73E-6B7B086FD0F6}"/>
              </a:ext>
            </a:extLst>
          </p:cNvPr>
          <p:cNvSpPr>
            <a:spLocks noGrp="1"/>
          </p:cNvSpPr>
          <p:nvPr>
            <p:ph type="title"/>
          </p:nvPr>
        </p:nvSpPr>
        <p:spPr/>
        <p:txBody>
          <a:bodyPr>
            <a:normAutofit/>
          </a:bodyPr>
          <a:lstStyle/>
          <a:p>
            <a:r>
              <a:rPr lang="zh-CN" altLang="en-US" dirty="0"/>
              <a:t>正交频分复用</a:t>
            </a:r>
            <a:r>
              <a:rPr lang="en-US" altLang="zh-CN" dirty="0"/>
              <a:t>(OFDM)</a:t>
            </a:r>
            <a:endParaRPr lang="zh-CN" altLang="en-US" dirty="0"/>
          </a:p>
        </p:txBody>
      </p:sp>
      <p:sp>
        <p:nvSpPr>
          <p:cNvPr id="4" name="灯片编号占位符 3">
            <a:extLst>
              <a:ext uri="{FF2B5EF4-FFF2-40B4-BE49-F238E27FC236}">
                <a16:creationId xmlns:a16="http://schemas.microsoft.com/office/drawing/2014/main" id="{B4A9A515-3261-4940-9C22-DD718291D66A}"/>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109</a:t>
            </a:fld>
            <a:endParaRPr kumimoji="1" lang="zh-CN" altLang="en-US" dirty="0"/>
          </a:p>
        </p:txBody>
      </p:sp>
      <p:sp>
        <p:nvSpPr>
          <p:cNvPr id="6" name="矩形 5">
            <a:extLst>
              <a:ext uri="{FF2B5EF4-FFF2-40B4-BE49-F238E27FC236}">
                <a16:creationId xmlns:a16="http://schemas.microsoft.com/office/drawing/2014/main" id="{249A285A-BEE7-49C1-A9D1-1D3FA1309C03}"/>
              </a:ext>
            </a:extLst>
          </p:cNvPr>
          <p:cNvSpPr/>
          <p:nvPr/>
        </p:nvSpPr>
        <p:spPr>
          <a:xfrm>
            <a:off x="634128" y="1258434"/>
            <a:ext cx="10719672" cy="2243050"/>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dirty="0">
                <a:solidFill>
                  <a:srgbClr val="333333"/>
                </a:solidFill>
                <a:latin typeface="微软雅黑" panose="020B0503020204020204" pitchFamily="34" charset="-122"/>
                <a:ea typeface="微软雅黑" panose="020B0503020204020204" pitchFamily="34" charset="-122"/>
              </a:rPr>
              <a:t>正交频分复用（</a:t>
            </a:r>
            <a:r>
              <a:rPr lang="en-US" altLang="zh-CN" sz="2400" dirty="0">
                <a:solidFill>
                  <a:srgbClr val="333333"/>
                </a:solidFill>
                <a:latin typeface="微软雅黑" panose="020B0503020204020204" pitchFamily="34" charset="-122"/>
                <a:ea typeface="微软雅黑" panose="020B0503020204020204" pitchFamily="34" charset="-122"/>
              </a:rPr>
              <a:t>Orthogonal Frequency Division Multiplexing</a:t>
            </a:r>
            <a:r>
              <a:rPr lang="zh-CN" altLang="en-US" sz="2400" dirty="0">
                <a:solidFill>
                  <a:srgbClr val="333333"/>
                </a:solidFill>
                <a:latin typeface="微软雅黑" panose="020B0503020204020204" pitchFamily="34" charset="-122"/>
                <a:ea typeface="微软雅黑" panose="020B0503020204020204" pitchFamily="34" charset="-122"/>
              </a:rPr>
              <a:t>，</a:t>
            </a:r>
            <a:r>
              <a:rPr lang="en-US" altLang="zh-CN" sz="2400" dirty="0">
                <a:solidFill>
                  <a:srgbClr val="333333"/>
                </a:solidFill>
                <a:latin typeface="微软雅黑" panose="020B0503020204020204" pitchFamily="34" charset="-122"/>
                <a:ea typeface="微软雅黑" panose="020B0503020204020204" pitchFamily="34" charset="-122"/>
              </a:rPr>
              <a:t>OFDM)</a:t>
            </a:r>
            <a:r>
              <a:rPr lang="zh-CN" altLang="en-US" sz="2400" dirty="0">
                <a:solidFill>
                  <a:srgbClr val="333333"/>
                </a:solidFill>
                <a:latin typeface="微软雅黑" panose="020B0503020204020204" pitchFamily="34" charset="-122"/>
                <a:ea typeface="微软雅黑" panose="020B0503020204020204" pitchFamily="34" charset="-122"/>
              </a:rPr>
              <a:t> </a:t>
            </a:r>
            <a:endParaRPr lang="en-US" altLang="zh-CN" sz="2400" dirty="0">
              <a:solidFill>
                <a:srgbClr val="333333"/>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400" dirty="0">
                <a:solidFill>
                  <a:srgbClr val="333333"/>
                </a:solidFill>
                <a:latin typeface="微软雅黑" panose="020B0503020204020204" pitchFamily="34" charset="-122"/>
                <a:ea typeface="微软雅黑" panose="020B0503020204020204" pitchFamily="34" charset="-122"/>
              </a:rPr>
              <a:t>将</a:t>
            </a:r>
            <a:r>
              <a:rPr lang="zh-CN" altLang="en-US" sz="2400" dirty="0">
                <a:solidFill>
                  <a:srgbClr val="C00000"/>
                </a:solidFill>
                <a:latin typeface="微软雅黑" panose="020B0503020204020204" pitchFamily="34" charset="-122"/>
                <a:ea typeface="微软雅黑" panose="020B0503020204020204" pitchFamily="34" charset="-122"/>
              </a:rPr>
              <a:t>信道</a:t>
            </a:r>
            <a:r>
              <a:rPr lang="zh-CN" altLang="en-US" sz="2400" dirty="0">
                <a:solidFill>
                  <a:srgbClr val="333333"/>
                </a:solidFill>
                <a:latin typeface="微软雅黑" panose="020B0503020204020204" pitchFamily="34" charset="-122"/>
                <a:ea typeface="微软雅黑" panose="020B0503020204020204" pitchFamily="34" charset="-122"/>
              </a:rPr>
              <a:t>分成若干</a:t>
            </a:r>
            <a:r>
              <a:rPr lang="zh-CN" altLang="en-US" sz="2400" dirty="0">
                <a:solidFill>
                  <a:srgbClr val="C00000"/>
                </a:solidFill>
                <a:latin typeface="微软雅黑" panose="020B0503020204020204" pitchFamily="34" charset="-122"/>
                <a:ea typeface="微软雅黑" panose="020B0503020204020204" pitchFamily="34" charset="-122"/>
              </a:rPr>
              <a:t>正交子信道；</a:t>
            </a:r>
            <a:endParaRPr lang="en-US" altLang="zh-CN" sz="2400" dirty="0">
              <a:solidFill>
                <a:srgbClr val="333333"/>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400" dirty="0">
                <a:solidFill>
                  <a:srgbClr val="333333"/>
                </a:solidFill>
                <a:latin typeface="微软雅黑" panose="020B0503020204020204" pitchFamily="34" charset="-122"/>
                <a:ea typeface="微软雅黑" panose="020B0503020204020204" pitchFamily="34" charset="-122"/>
              </a:rPr>
              <a:t>将</a:t>
            </a:r>
            <a:r>
              <a:rPr lang="zh-CN" altLang="en-US" sz="2400" dirty="0">
                <a:solidFill>
                  <a:srgbClr val="C00000"/>
                </a:solidFill>
                <a:latin typeface="微软雅黑" panose="020B0503020204020204" pitchFamily="34" charset="-122"/>
                <a:ea typeface="微软雅黑" panose="020B0503020204020204" pitchFamily="34" charset="-122"/>
              </a:rPr>
              <a:t>高速数据信号</a:t>
            </a:r>
            <a:r>
              <a:rPr lang="zh-CN" altLang="en-US" sz="2400" dirty="0">
                <a:solidFill>
                  <a:srgbClr val="333333"/>
                </a:solidFill>
                <a:latin typeface="微软雅黑" panose="020B0503020204020204" pitchFamily="34" charset="-122"/>
                <a:ea typeface="微软雅黑" panose="020B0503020204020204" pitchFamily="34" charset="-122"/>
              </a:rPr>
              <a:t>转换成</a:t>
            </a:r>
            <a:r>
              <a:rPr lang="zh-CN" altLang="en-US" sz="2400" dirty="0">
                <a:solidFill>
                  <a:srgbClr val="C00000"/>
                </a:solidFill>
                <a:latin typeface="微软雅黑" panose="020B0503020204020204" pitchFamily="34" charset="-122"/>
                <a:ea typeface="微软雅黑" panose="020B0503020204020204" pitchFamily="34" charset="-122"/>
              </a:rPr>
              <a:t>并行</a:t>
            </a:r>
            <a:r>
              <a:rPr lang="zh-CN" altLang="en-US" sz="2400" dirty="0">
                <a:solidFill>
                  <a:srgbClr val="333333"/>
                </a:solidFill>
                <a:latin typeface="微软雅黑" panose="020B0503020204020204" pitchFamily="34" charset="-122"/>
                <a:ea typeface="微软雅黑" panose="020B0503020204020204" pitchFamily="34" charset="-122"/>
              </a:rPr>
              <a:t>的</a:t>
            </a:r>
            <a:r>
              <a:rPr lang="zh-CN" altLang="en-US" sz="2400" dirty="0">
                <a:solidFill>
                  <a:srgbClr val="C00000"/>
                </a:solidFill>
                <a:latin typeface="微软雅黑" panose="020B0503020204020204" pitchFamily="34" charset="-122"/>
                <a:ea typeface="微软雅黑" panose="020B0503020204020204" pitchFamily="34" charset="-122"/>
              </a:rPr>
              <a:t>低速子数据流，</a:t>
            </a:r>
            <a:r>
              <a:rPr lang="zh-CN" altLang="en-US" sz="2400" dirty="0">
                <a:solidFill>
                  <a:srgbClr val="333333"/>
                </a:solidFill>
                <a:latin typeface="微软雅黑" panose="020B0503020204020204" pitchFamily="34" charset="-122"/>
                <a:ea typeface="微软雅黑" panose="020B0503020204020204" pitchFamily="34" charset="-122"/>
              </a:rPr>
              <a:t>调制到在每个子信道上进行传输</a:t>
            </a:r>
            <a:endParaRPr lang="zh-CN" altLang="en-US" sz="2400" dirty="0">
              <a:latin typeface="微软雅黑" panose="020B0503020204020204" pitchFamily="34" charset="-122"/>
              <a:ea typeface="微软雅黑" panose="020B0503020204020204" pitchFamily="34" charset="-122"/>
            </a:endParaRPr>
          </a:p>
        </p:txBody>
      </p:sp>
      <p:pic>
        <p:nvPicPr>
          <p:cNvPr id="11266" name="Picture 2">
            <a:extLst>
              <a:ext uri="{FF2B5EF4-FFF2-40B4-BE49-F238E27FC236}">
                <a16:creationId xmlns:a16="http://schemas.microsoft.com/office/drawing/2014/main" id="{A8CDF84B-7E47-4EDC-89E0-8427E10B0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375" y="3672288"/>
            <a:ext cx="3119435" cy="174127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A4D28AF3-2E61-473A-97E8-5B2E6CE97009}"/>
              </a:ext>
            </a:extLst>
          </p:cNvPr>
          <p:cNvSpPr txBox="1"/>
          <p:nvPr/>
        </p:nvSpPr>
        <p:spPr>
          <a:xfrm>
            <a:off x="8991986" y="4132630"/>
            <a:ext cx="2745089" cy="1200329"/>
          </a:xfrm>
          <a:prstGeom prst="rect">
            <a:avLst/>
          </a:prstGeom>
          <a:solidFill>
            <a:schemeClr val="accent1">
              <a:lumMod val="20000"/>
              <a:lumOff val="80000"/>
            </a:schemeClr>
          </a:solid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4G</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5G</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WIFI 5</a:t>
            </a:r>
          </a:p>
          <a:p>
            <a:r>
              <a:rPr lang="zh-CN" altLang="en-US" sz="2400" dirty="0">
                <a:latin typeface="微软雅黑" panose="020B0503020204020204" pitchFamily="34" charset="-122"/>
                <a:ea typeface="微软雅黑" panose="020B0503020204020204" pitchFamily="34" charset="-122"/>
              </a:rPr>
              <a:t>都采用了</a:t>
            </a:r>
            <a:r>
              <a:rPr lang="en-US" altLang="zh-CN" sz="2400" dirty="0">
                <a:latin typeface="微软雅黑" panose="020B0503020204020204" pitchFamily="34" charset="-122"/>
                <a:ea typeface="微软雅黑" panose="020B0503020204020204" pitchFamily="34" charset="-122"/>
              </a:rPr>
              <a:t>OFDM</a:t>
            </a:r>
            <a:r>
              <a:rPr lang="zh-CN" altLang="en-US" sz="2400" dirty="0">
                <a:latin typeface="微软雅黑" panose="020B0503020204020204" pitchFamily="34" charset="-122"/>
                <a:ea typeface="微软雅黑" panose="020B0503020204020204" pitchFamily="34" charset="-122"/>
              </a:rPr>
              <a:t>技术</a:t>
            </a:r>
          </a:p>
        </p:txBody>
      </p:sp>
      <p:grpSp>
        <p:nvGrpSpPr>
          <p:cNvPr id="11269" name="组合 11268">
            <a:extLst>
              <a:ext uri="{FF2B5EF4-FFF2-40B4-BE49-F238E27FC236}">
                <a16:creationId xmlns:a16="http://schemas.microsoft.com/office/drawing/2014/main" id="{A2F3D5CC-7102-448A-A0C6-A0F2D6CEF15A}"/>
              </a:ext>
            </a:extLst>
          </p:cNvPr>
          <p:cNvGrpSpPr/>
          <p:nvPr/>
        </p:nvGrpSpPr>
        <p:grpSpPr>
          <a:xfrm>
            <a:off x="2304370" y="3310311"/>
            <a:ext cx="6651817" cy="3324019"/>
            <a:chOff x="1571025" y="3008309"/>
            <a:chExt cx="6651817" cy="3324019"/>
          </a:xfrm>
        </p:grpSpPr>
        <p:cxnSp>
          <p:nvCxnSpPr>
            <p:cNvPr id="17" name="直接连接符 16">
              <a:extLst>
                <a:ext uri="{FF2B5EF4-FFF2-40B4-BE49-F238E27FC236}">
                  <a16:creationId xmlns:a16="http://schemas.microsoft.com/office/drawing/2014/main" id="{DC3A3254-26B9-4963-886A-C6F792940BF6}"/>
                </a:ext>
              </a:extLst>
            </p:cNvPr>
            <p:cNvCxnSpPr>
              <a:cxnSpLocks/>
            </p:cNvCxnSpPr>
            <p:nvPr/>
          </p:nvCxnSpPr>
          <p:spPr>
            <a:xfrm>
              <a:off x="4058114" y="4198009"/>
              <a:ext cx="4041058" cy="7009"/>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任意多边形: 形状 19">
              <a:extLst>
                <a:ext uri="{FF2B5EF4-FFF2-40B4-BE49-F238E27FC236}">
                  <a16:creationId xmlns:a16="http://schemas.microsoft.com/office/drawing/2014/main" id="{359CAA70-4A14-410E-9816-4DF100AD614F}"/>
                </a:ext>
              </a:extLst>
            </p:cNvPr>
            <p:cNvSpPr/>
            <p:nvPr/>
          </p:nvSpPr>
          <p:spPr>
            <a:xfrm>
              <a:off x="2680138" y="5286500"/>
              <a:ext cx="4060734" cy="540192"/>
            </a:xfrm>
            <a:custGeom>
              <a:avLst/>
              <a:gdLst>
                <a:gd name="connsiteX0" fmla="*/ 0 w 4572000"/>
                <a:gd name="connsiteY0" fmla="*/ 29575 h 708292"/>
                <a:gd name="connsiteX1" fmla="*/ 176981 w 4572000"/>
                <a:gd name="connsiteY1" fmla="*/ 708001 h 708292"/>
                <a:gd name="connsiteX2" fmla="*/ 353961 w 4572000"/>
                <a:gd name="connsiteY2" fmla="*/ 39407 h 708292"/>
                <a:gd name="connsiteX3" fmla="*/ 442452 w 4572000"/>
                <a:gd name="connsiteY3" fmla="*/ 688336 h 708292"/>
                <a:gd name="connsiteX4" fmla="*/ 639097 w 4572000"/>
                <a:gd name="connsiteY4" fmla="*/ 78 h 708292"/>
                <a:gd name="connsiteX5" fmla="*/ 707923 w 4572000"/>
                <a:gd name="connsiteY5" fmla="*/ 639175 h 708292"/>
                <a:gd name="connsiteX6" fmla="*/ 875071 w 4572000"/>
                <a:gd name="connsiteY6" fmla="*/ 68904 h 708292"/>
                <a:gd name="connsiteX7" fmla="*/ 1061884 w 4572000"/>
                <a:gd name="connsiteY7" fmla="*/ 678504 h 708292"/>
                <a:gd name="connsiteX8" fmla="*/ 1209368 w 4572000"/>
                <a:gd name="connsiteY8" fmla="*/ 19743 h 708292"/>
                <a:gd name="connsiteX9" fmla="*/ 1288026 w 4572000"/>
                <a:gd name="connsiteY9" fmla="*/ 599846 h 708292"/>
                <a:gd name="connsiteX10" fmla="*/ 1533832 w 4572000"/>
                <a:gd name="connsiteY10" fmla="*/ 88568 h 708292"/>
                <a:gd name="connsiteX11" fmla="*/ 1602658 w 4572000"/>
                <a:gd name="connsiteY11" fmla="*/ 658839 h 708292"/>
                <a:gd name="connsiteX12" fmla="*/ 1828800 w 4572000"/>
                <a:gd name="connsiteY12" fmla="*/ 78 h 708292"/>
                <a:gd name="connsiteX13" fmla="*/ 1995948 w 4572000"/>
                <a:gd name="connsiteY13" fmla="*/ 688336 h 708292"/>
                <a:gd name="connsiteX14" fmla="*/ 2163097 w 4572000"/>
                <a:gd name="connsiteY14" fmla="*/ 59072 h 708292"/>
                <a:gd name="connsiteX15" fmla="*/ 2241755 w 4572000"/>
                <a:gd name="connsiteY15" fmla="*/ 708001 h 708292"/>
                <a:gd name="connsiteX16" fmla="*/ 2438400 w 4572000"/>
                <a:gd name="connsiteY16" fmla="*/ 147562 h 708292"/>
                <a:gd name="connsiteX17" fmla="*/ 2507226 w 4572000"/>
                <a:gd name="connsiteY17" fmla="*/ 560517 h 708292"/>
                <a:gd name="connsiteX18" fmla="*/ 2713703 w 4572000"/>
                <a:gd name="connsiteY18" fmla="*/ 9910 h 708292"/>
                <a:gd name="connsiteX19" fmla="*/ 2841523 w 4572000"/>
                <a:gd name="connsiteY19" fmla="*/ 708001 h 708292"/>
                <a:gd name="connsiteX20" fmla="*/ 3048000 w 4572000"/>
                <a:gd name="connsiteY20" fmla="*/ 49239 h 708292"/>
                <a:gd name="connsiteX21" fmla="*/ 3116826 w 4572000"/>
                <a:gd name="connsiteY21" fmla="*/ 678504 h 708292"/>
                <a:gd name="connsiteX22" fmla="*/ 3224981 w 4572000"/>
                <a:gd name="connsiteY22" fmla="*/ 98401 h 708292"/>
                <a:gd name="connsiteX23" fmla="*/ 3362632 w 4572000"/>
                <a:gd name="connsiteY23" fmla="*/ 668672 h 708292"/>
                <a:gd name="connsiteX24" fmla="*/ 3588774 w 4572000"/>
                <a:gd name="connsiteY24" fmla="*/ 29575 h 708292"/>
                <a:gd name="connsiteX25" fmla="*/ 3628103 w 4572000"/>
                <a:gd name="connsiteY25" fmla="*/ 639175 h 708292"/>
                <a:gd name="connsiteX26" fmla="*/ 3854245 w 4572000"/>
                <a:gd name="connsiteY26" fmla="*/ 137730 h 708292"/>
                <a:gd name="connsiteX27" fmla="*/ 3903407 w 4572000"/>
                <a:gd name="connsiteY27" fmla="*/ 668672 h 708292"/>
                <a:gd name="connsiteX28" fmla="*/ 4100052 w 4572000"/>
                <a:gd name="connsiteY28" fmla="*/ 39407 h 708292"/>
                <a:gd name="connsiteX29" fmla="*/ 4208207 w 4572000"/>
                <a:gd name="connsiteY29" fmla="*/ 688336 h 708292"/>
                <a:gd name="connsiteX30" fmla="*/ 4404852 w 4572000"/>
                <a:gd name="connsiteY30" fmla="*/ 39407 h 708292"/>
                <a:gd name="connsiteX31" fmla="*/ 4572000 w 4572000"/>
                <a:gd name="connsiteY31" fmla="*/ 698168 h 70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572000" h="708292">
                  <a:moveTo>
                    <a:pt x="0" y="29575"/>
                  </a:moveTo>
                  <a:cubicBezTo>
                    <a:pt x="58994" y="367968"/>
                    <a:pt x="117988" y="706362"/>
                    <a:pt x="176981" y="708001"/>
                  </a:cubicBezTo>
                  <a:cubicBezTo>
                    <a:pt x="235974" y="709640"/>
                    <a:pt x="309716" y="42685"/>
                    <a:pt x="353961" y="39407"/>
                  </a:cubicBezTo>
                  <a:cubicBezTo>
                    <a:pt x="398206" y="36130"/>
                    <a:pt x="394929" y="694891"/>
                    <a:pt x="442452" y="688336"/>
                  </a:cubicBezTo>
                  <a:cubicBezTo>
                    <a:pt x="489975" y="681781"/>
                    <a:pt x="594852" y="8271"/>
                    <a:pt x="639097" y="78"/>
                  </a:cubicBezTo>
                  <a:cubicBezTo>
                    <a:pt x="683342" y="-8116"/>
                    <a:pt x="668594" y="627704"/>
                    <a:pt x="707923" y="639175"/>
                  </a:cubicBezTo>
                  <a:cubicBezTo>
                    <a:pt x="747252" y="650646"/>
                    <a:pt x="816078" y="62349"/>
                    <a:pt x="875071" y="68904"/>
                  </a:cubicBezTo>
                  <a:cubicBezTo>
                    <a:pt x="934064" y="75459"/>
                    <a:pt x="1006168" y="686698"/>
                    <a:pt x="1061884" y="678504"/>
                  </a:cubicBezTo>
                  <a:cubicBezTo>
                    <a:pt x="1117600" y="670311"/>
                    <a:pt x="1171678" y="32853"/>
                    <a:pt x="1209368" y="19743"/>
                  </a:cubicBezTo>
                  <a:cubicBezTo>
                    <a:pt x="1247058" y="6633"/>
                    <a:pt x="1233949" y="588375"/>
                    <a:pt x="1288026" y="599846"/>
                  </a:cubicBezTo>
                  <a:cubicBezTo>
                    <a:pt x="1342103" y="611317"/>
                    <a:pt x="1481393" y="78736"/>
                    <a:pt x="1533832" y="88568"/>
                  </a:cubicBezTo>
                  <a:cubicBezTo>
                    <a:pt x="1586271" y="98400"/>
                    <a:pt x="1553497" y="673587"/>
                    <a:pt x="1602658" y="658839"/>
                  </a:cubicBezTo>
                  <a:cubicBezTo>
                    <a:pt x="1651819" y="644091"/>
                    <a:pt x="1763252" y="-4838"/>
                    <a:pt x="1828800" y="78"/>
                  </a:cubicBezTo>
                  <a:cubicBezTo>
                    <a:pt x="1894348" y="4994"/>
                    <a:pt x="1940232" y="678504"/>
                    <a:pt x="1995948" y="688336"/>
                  </a:cubicBezTo>
                  <a:cubicBezTo>
                    <a:pt x="2051664" y="698168"/>
                    <a:pt x="2122129" y="55795"/>
                    <a:pt x="2163097" y="59072"/>
                  </a:cubicBezTo>
                  <a:cubicBezTo>
                    <a:pt x="2204065" y="62350"/>
                    <a:pt x="2195871" y="693253"/>
                    <a:pt x="2241755" y="708001"/>
                  </a:cubicBezTo>
                  <a:cubicBezTo>
                    <a:pt x="2287639" y="722749"/>
                    <a:pt x="2394155" y="172143"/>
                    <a:pt x="2438400" y="147562"/>
                  </a:cubicBezTo>
                  <a:cubicBezTo>
                    <a:pt x="2482645" y="122981"/>
                    <a:pt x="2461342" y="583459"/>
                    <a:pt x="2507226" y="560517"/>
                  </a:cubicBezTo>
                  <a:cubicBezTo>
                    <a:pt x="2553110" y="537575"/>
                    <a:pt x="2657987" y="-14671"/>
                    <a:pt x="2713703" y="9910"/>
                  </a:cubicBezTo>
                  <a:cubicBezTo>
                    <a:pt x="2769419" y="34491"/>
                    <a:pt x="2785807" y="701446"/>
                    <a:pt x="2841523" y="708001"/>
                  </a:cubicBezTo>
                  <a:cubicBezTo>
                    <a:pt x="2897239" y="714556"/>
                    <a:pt x="3002116" y="54155"/>
                    <a:pt x="3048000" y="49239"/>
                  </a:cubicBezTo>
                  <a:cubicBezTo>
                    <a:pt x="3093884" y="44323"/>
                    <a:pt x="3087329" y="670310"/>
                    <a:pt x="3116826" y="678504"/>
                  </a:cubicBezTo>
                  <a:cubicBezTo>
                    <a:pt x="3146323" y="686698"/>
                    <a:pt x="3184013" y="100040"/>
                    <a:pt x="3224981" y="98401"/>
                  </a:cubicBezTo>
                  <a:cubicBezTo>
                    <a:pt x="3265949" y="96762"/>
                    <a:pt x="3302000" y="680143"/>
                    <a:pt x="3362632" y="668672"/>
                  </a:cubicBezTo>
                  <a:cubicBezTo>
                    <a:pt x="3423264" y="657201"/>
                    <a:pt x="3544529" y="34491"/>
                    <a:pt x="3588774" y="29575"/>
                  </a:cubicBezTo>
                  <a:cubicBezTo>
                    <a:pt x="3633019" y="24659"/>
                    <a:pt x="3583858" y="621149"/>
                    <a:pt x="3628103" y="639175"/>
                  </a:cubicBezTo>
                  <a:cubicBezTo>
                    <a:pt x="3672348" y="657201"/>
                    <a:pt x="3808361" y="132814"/>
                    <a:pt x="3854245" y="137730"/>
                  </a:cubicBezTo>
                  <a:cubicBezTo>
                    <a:pt x="3900129" y="142646"/>
                    <a:pt x="3862439" y="685059"/>
                    <a:pt x="3903407" y="668672"/>
                  </a:cubicBezTo>
                  <a:cubicBezTo>
                    <a:pt x="3944375" y="652285"/>
                    <a:pt x="4049252" y="36130"/>
                    <a:pt x="4100052" y="39407"/>
                  </a:cubicBezTo>
                  <a:cubicBezTo>
                    <a:pt x="4150852" y="42684"/>
                    <a:pt x="4157407" y="688336"/>
                    <a:pt x="4208207" y="688336"/>
                  </a:cubicBezTo>
                  <a:cubicBezTo>
                    <a:pt x="4259007" y="688336"/>
                    <a:pt x="4344220" y="37768"/>
                    <a:pt x="4404852" y="39407"/>
                  </a:cubicBezTo>
                  <a:cubicBezTo>
                    <a:pt x="4465484" y="41046"/>
                    <a:pt x="4518742" y="369607"/>
                    <a:pt x="4572000" y="698168"/>
                  </a:cubicBezTo>
                </a:path>
              </a:pathLst>
            </a:cu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a:extLst>
                <a:ext uri="{FF2B5EF4-FFF2-40B4-BE49-F238E27FC236}">
                  <a16:creationId xmlns:a16="http://schemas.microsoft.com/office/drawing/2014/main" id="{B87FD7EB-37B8-4509-9A29-46B431D0FBD1}"/>
                </a:ext>
              </a:extLst>
            </p:cNvPr>
            <p:cNvSpPr/>
            <p:nvPr/>
          </p:nvSpPr>
          <p:spPr>
            <a:xfrm>
              <a:off x="3184888" y="4768904"/>
              <a:ext cx="2555941" cy="556962"/>
            </a:xfrm>
            <a:custGeom>
              <a:avLst/>
              <a:gdLst>
                <a:gd name="connsiteX0" fmla="*/ 0 w 4542503"/>
                <a:gd name="connsiteY0" fmla="*/ 717757 h 727617"/>
                <a:gd name="connsiteX1" fmla="*/ 127819 w 4542503"/>
                <a:gd name="connsiteY1" fmla="*/ 2 h 727617"/>
                <a:gd name="connsiteX2" fmla="*/ 186813 w 4542503"/>
                <a:gd name="connsiteY2" fmla="*/ 707924 h 727617"/>
                <a:gd name="connsiteX3" fmla="*/ 344129 w 4542503"/>
                <a:gd name="connsiteY3" fmla="*/ 98324 h 727617"/>
                <a:gd name="connsiteX4" fmla="*/ 462116 w 4542503"/>
                <a:gd name="connsiteY4" fmla="*/ 727589 h 727617"/>
                <a:gd name="connsiteX5" fmla="*/ 678426 w 4542503"/>
                <a:gd name="connsiteY5" fmla="*/ 68828 h 727617"/>
                <a:gd name="connsiteX6" fmla="*/ 737419 w 4542503"/>
                <a:gd name="connsiteY6" fmla="*/ 698092 h 727617"/>
                <a:gd name="connsiteX7" fmla="*/ 914400 w 4542503"/>
                <a:gd name="connsiteY7" fmla="*/ 68828 h 727617"/>
                <a:gd name="connsiteX8" fmla="*/ 1022555 w 4542503"/>
                <a:gd name="connsiteY8" fmla="*/ 668595 h 727617"/>
                <a:gd name="connsiteX9" fmla="*/ 1189703 w 4542503"/>
                <a:gd name="connsiteY9" fmla="*/ 68828 h 727617"/>
                <a:gd name="connsiteX10" fmla="*/ 1288026 w 4542503"/>
                <a:gd name="connsiteY10" fmla="*/ 186815 h 727617"/>
                <a:gd name="connsiteX11" fmla="*/ 1347019 w 4542503"/>
                <a:gd name="connsiteY11" fmla="*/ 68828 h 727617"/>
                <a:gd name="connsiteX12" fmla="*/ 1455174 w 4542503"/>
                <a:gd name="connsiteY12" fmla="*/ 717757 h 727617"/>
                <a:gd name="connsiteX13" fmla="*/ 1740309 w 4542503"/>
                <a:gd name="connsiteY13" fmla="*/ 29499 h 727617"/>
                <a:gd name="connsiteX14" fmla="*/ 1848464 w 4542503"/>
                <a:gd name="connsiteY14" fmla="*/ 688260 h 727617"/>
                <a:gd name="connsiteX15" fmla="*/ 2045109 w 4542503"/>
                <a:gd name="connsiteY15" fmla="*/ 58995 h 727617"/>
                <a:gd name="connsiteX16" fmla="*/ 2251587 w 4542503"/>
                <a:gd name="connsiteY16" fmla="*/ 648931 h 727617"/>
                <a:gd name="connsiteX17" fmla="*/ 2399071 w 4542503"/>
                <a:gd name="connsiteY17" fmla="*/ 39331 h 727617"/>
                <a:gd name="connsiteX18" fmla="*/ 2566219 w 4542503"/>
                <a:gd name="connsiteY18" fmla="*/ 609602 h 727617"/>
                <a:gd name="connsiteX19" fmla="*/ 2723535 w 4542503"/>
                <a:gd name="connsiteY19" fmla="*/ 49163 h 727617"/>
                <a:gd name="connsiteX20" fmla="*/ 2900516 w 4542503"/>
                <a:gd name="connsiteY20" fmla="*/ 698092 h 727617"/>
                <a:gd name="connsiteX21" fmla="*/ 3057832 w 4542503"/>
                <a:gd name="connsiteY21" fmla="*/ 167150 h 727617"/>
                <a:gd name="connsiteX22" fmla="*/ 3205316 w 4542503"/>
                <a:gd name="connsiteY22" fmla="*/ 678428 h 727617"/>
                <a:gd name="connsiteX23" fmla="*/ 3431458 w 4542503"/>
                <a:gd name="connsiteY23" fmla="*/ 29499 h 727617"/>
                <a:gd name="connsiteX24" fmla="*/ 3569109 w 4542503"/>
                <a:gd name="connsiteY24" fmla="*/ 707924 h 727617"/>
                <a:gd name="connsiteX25" fmla="*/ 3746090 w 4542503"/>
                <a:gd name="connsiteY25" fmla="*/ 58995 h 727617"/>
                <a:gd name="connsiteX26" fmla="*/ 3883742 w 4542503"/>
                <a:gd name="connsiteY26" fmla="*/ 639099 h 727617"/>
                <a:gd name="connsiteX27" fmla="*/ 3962400 w 4542503"/>
                <a:gd name="connsiteY27" fmla="*/ 648931 h 727617"/>
                <a:gd name="connsiteX28" fmla="*/ 4050890 w 4542503"/>
                <a:gd name="connsiteY28" fmla="*/ 226144 h 727617"/>
                <a:gd name="connsiteX29" fmla="*/ 4139380 w 4542503"/>
                <a:gd name="connsiteY29" fmla="*/ 39331 h 727617"/>
                <a:gd name="connsiteX30" fmla="*/ 4247535 w 4542503"/>
                <a:gd name="connsiteY30" fmla="*/ 658763 h 727617"/>
                <a:gd name="connsiteX31" fmla="*/ 4473677 w 4542503"/>
                <a:gd name="connsiteY31" fmla="*/ 39331 h 727617"/>
                <a:gd name="connsiteX32" fmla="*/ 4542503 w 4542503"/>
                <a:gd name="connsiteY32" fmla="*/ 639099 h 727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542503" h="727617">
                  <a:moveTo>
                    <a:pt x="0" y="717757"/>
                  </a:moveTo>
                  <a:cubicBezTo>
                    <a:pt x="48342" y="359699"/>
                    <a:pt x="96684" y="1641"/>
                    <a:pt x="127819" y="2"/>
                  </a:cubicBezTo>
                  <a:cubicBezTo>
                    <a:pt x="158954" y="-1637"/>
                    <a:pt x="150761" y="691537"/>
                    <a:pt x="186813" y="707924"/>
                  </a:cubicBezTo>
                  <a:cubicBezTo>
                    <a:pt x="222865" y="724311"/>
                    <a:pt x="298245" y="95047"/>
                    <a:pt x="344129" y="98324"/>
                  </a:cubicBezTo>
                  <a:cubicBezTo>
                    <a:pt x="390013" y="101601"/>
                    <a:pt x="406400" y="732505"/>
                    <a:pt x="462116" y="727589"/>
                  </a:cubicBezTo>
                  <a:cubicBezTo>
                    <a:pt x="517832" y="722673"/>
                    <a:pt x="632542" y="73744"/>
                    <a:pt x="678426" y="68828"/>
                  </a:cubicBezTo>
                  <a:cubicBezTo>
                    <a:pt x="724310" y="63912"/>
                    <a:pt x="698090" y="698092"/>
                    <a:pt x="737419" y="698092"/>
                  </a:cubicBezTo>
                  <a:cubicBezTo>
                    <a:pt x="776748" y="698092"/>
                    <a:pt x="866877" y="73744"/>
                    <a:pt x="914400" y="68828"/>
                  </a:cubicBezTo>
                  <a:cubicBezTo>
                    <a:pt x="961923" y="63912"/>
                    <a:pt x="976671" y="668595"/>
                    <a:pt x="1022555" y="668595"/>
                  </a:cubicBezTo>
                  <a:cubicBezTo>
                    <a:pt x="1068439" y="668595"/>
                    <a:pt x="1145458" y="149125"/>
                    <a:pt x="1189703" y="68828"/>
                  </a:cubicBezTo>
                  <a:cubicBezTo>
                    <a:pt x="1233948" y="-11469"/>
                    <a:pt x="1261807" y="186815"/>
                    <a:pt x="1288026" y="186815"/>
                  </a:cubicBezTo>
                  <a:cubicBezTo>
                    <a:pt x="1314245" y="186815"/>
                    <a:pt x="1319161" y="-19662"/>
                    <a:pt x="1347019" y="68828"/>
                  </a:cubicBezTo>
                  <a:cubicBezTo>
                    <a:pt x="1374877" y="157318"/>
                    <a:pt x="1389626" y="724312"/>
                    <a:pt x="1455174" y="717757"/>
                  </a:cubicBezTo>
                  <a:cubicBezTo>
                    <a:pt x="1520722" y="711202"/>
                    <a:pt x="1674761" y="34415"/>
                    <a:pt x="1740309" y="29499"/>
                  </a:cubicBezTo>
                  <a:cubicBezTo>
                    <a:pt x="1805857" y="24583"/>
                    <a:pt x="1797664" y="683344"/>
                    <a:pt x="1848464" y="688260"/>
                  </a:cubicBezTo>
                  <a:cubicBezTo>
                    <a:pt x="1899264" y="693176"/>
                    <a:pt x="1977922" y="65550"/>
                    <a:pt x="2045109" y="58995"/>
                  </a:cubicBezTo>
                  <a:cubicBezTo>
                    <a:pt x="2112296" y="52440"/>
                    <a:pt x="2192593" y="652208"/>
                    <a:pt x="2251587" y="648931"/>
                  </a:cubicBezTo>
                  <a:cubicBezTo>
                    <a:pt x="2310581" y="645654"/>
                    <a:pt x="2346632" y="45886"/>
                    <a:pt x="2399071" y="39331"/>
                  </a:cubicBezTo>
                  <a:cubicBezTo>
                    <a:pt x="2451510" y="32776"/>
                    <a:pt x="2512142" y="607963"/>
                    <a:pt x="2566219" y="609602"/>
                  </a:cubicBezTo>
                  <a:cubicBezTo>
                    <a:pt x="2620296" y="611241"/>
                    <a:pt x="2667819" y="34415"/>
                    <a:pt x="2723535" y="49163"/>
                  </a:cubicBezTo>
                  <a:cubicBezTo>
                    <a:pt x="2779251" y="63911"/>
                    <a:pt x="2844800" y="678428"/>
                    <a:pt x="2900516" y="698092"/>
                  </a:cubicBezTo>
                  <a:cubicBezTo>
                    <a:pt x="2956232" y="717756"/>
                    <a:pt x="3007032" y="170427"/>
                    <a:pt x="3057832" y="167150"/>
                  </a:cubicBezTo>
                  <a:cubicBezTo>
                    <a:pt x="3108632" y="163873"/>
                    <a:pt x="3143045" y="701370"/>
                    <a:pt x="3205316" y="678428"/>
                  </a:cubicBezTo>
                  <a:cubicBezTo>
                    <a:pt x="3267587" y="655486"/>
                    <a:pt x="3370826" y="24583"/>
                    <a:pt x="3431458" y="29499"/>
                  </a:cubicBezTo>
                  <a:cubicBezTo>
                    <a:pt x="3492090" y="34415"/>
                    <a:pt x="3516670" y="703008"/>
                    <a:pt x="3569109" y="707924"/>
                  </a:cubicBezTo>
                  <a:cubicBezTo>
                    <a:pt x="3621548" y="712840"/>
                    <a:pt x="3693651" y="70466"/>
                    <a:pt x="3746090" y="58995"/>
                  </a:cubicBezTo>
                  <a:cubicBezTo>
                    <a:pt x="3798529" y="47524"/>
                    <a:pt x="3847690" y="540776"/>
                    <a:pt x="3883742" y="639099"/>
                  </a:cubicBezTo>
                  <a:cubicBezTo>
                    <a:pt x="3919794" y="737422"/>
                    <a:pt x="3934542" y="717757"/>
                    <a:pt x="3962400" y="648931"/>
                  </a:cubicBezTo>
                  <a:cubicBezTo>
                    <a:pt x="3990258" y="580105"/>
                    <a:pt x="4021393" y="327744"/>
                    <a:pt x="4050890" y="226144"/>
                  </a:cubicBezTo>
                  <a:cubicBezTo>
                    <a:pt x="4080387" y="124544"/>
                    <a:pt x="4106606" y="-32772"/>
                    <a:pt x="4139380" y="39331"/>
                  </a:cubicBezTo>
                  <a:cubicBezTo>
                    <a:pt x="4172154" y="111434"/>
                    <a:pt x="4191819" y="658763"/>
                    <a:pt x="4247535" y="658763"/>
                  </a:cubicBezTo>
                  <a:cubicBezTo>
                    <a:pt x="4303251" y="658763"/>
                    <a:pt x="4424516" y="42608"/>
                    <a:pt x="4473677" y="39331"/>
                  </a:cubicBezTo>
                  <a:cubicBezTo>
                    <a:pt x="4522838" y="36054"/>
                    <a:pt x="4532671" y="527667"/>
                    <a:pt x="4542503" y="639099"/>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81FACF4A-0DF1-43BD-B0AC-A3CD645D7FE6}"/>
                </a:ext>
              </a:extLst>
            </p:cNvPr>
            <p:cNvSpPr/>
            <p:nvPr/>
          </p:nvSpPr>
          <p:spPr>
            <a:xfrm>
              <a:off x="3813011" y="4277853"/>
              <a:ext cx="1709041" cy="544971"/>
            </a:xfrm>
            <a:custGeom>
              <a:avLst/>
              <a:gdLst>
                <a:gd name="connsiteX0" fmla="*/ 0 w 4562168"/>
                <a:gd name="connsiteY0" fmla="*/ 678935 h 777368"/>
                <a:gd name="connsiteX1" fmla="*/ 49162 w 4562168"/>
                <a:gd name="connsiteY1" fmla="*/ 560948 h 777368"/>
                <a:gd name="connsiteX2" fmla="*/ 186813 w 4562168"/>
                <a:gd name="connsiteY2" fmla="*/ 509 h 777368"/>
                <a:gd name="connsiteX3" fmla="*/ 255639 w 4562168"/>
                <a:gd name="connsiteY3" fmla="*/ 669103 h 777368"/>
                <a:gd name="connsiteX4" fmla="*/ 412955 w 4562168"/>
                <a:gd name="connsiteY4" fmla="*/ 108664 h 777368"/>
                <a:gd name="connsiteX5" fmla="*/ 521110 w 4562168"/>
                <a:gd name="connsiteY5" fmla="*/ 659270 h 777368"/>
                <a:gd name="connsiteX6" fmla="*/ 747252 w 4562168"/>
                <a:gd name="connsiteY6" fmla="*/ 69335 h 777368"/>
                <a:gd name="connsiteX7" fmla="*/ 894736 w 4562168"/>
                <a:gd name="connsiteY7" fmla="*/ 718264 h 777368"/>
                <a:gd name="connsiteX8" fmla="*/ 1101213 w 4562168"/>
                <a:gd name="connsiteY8" fmla="*/ 30006 h 777368"/>
                <a:gd name="connsiteX9" fmla="*/ 1229033 w 4562168"/>
                <a:gd name="connsiteY9" fmla="*/ 649438 h 777368"/>
                <a:gd name="connsiteX10" fmla="*/ 1396181 w 4562168"/>
                <a:gd name="connsiteY10" fmla="*/ 49670 h 777368"/>
                <a:gd name="connsiteX11" fmla="*/ 1553497 w 4562168"/>
                <a:gd name="connsiteY11" fmla="*/ 639606 h 777368"/>
                <a:gd name="connsiteX12" fmla="*/ 1750142 w 4562168"/>
                <a:gd name="connsiteY12" fmla="*/ 49670 h 777368"/>
                <a:gd name="connsiteX13" fmla="*/ 1917291 w 4562168"/>
                <a:gd name="connsiteY13" fmla="*/ 688767 h 777368"/>
                <a:gd name="connsiteX14" fmla="*/ 2222091 w 4562168"/>
                <a:gd name="connsiteY14" fmla="*/ 20174 h 777368"/>
                <a:gd name="connsiteX15" fmla="*/ 2369574 w 4562168"/>
                <a:gd name="connsiteY15" fmla="*/ 678935 h 777368"/>
                <a:gd name="connsiteX16" fmla="*/ 2625213 w 4562168"/>
                <a:gd name="connsiteY16" fmla="*/ 118496 h 777368"/>
                <a:gd name="connsiteX17" fmla="*/ 2812026 w 4562168"/>
                <a:gd name="connsiteY17" fmla="*/ 610109 h 777368"/>
                <a:gd name="connsiteX18" fmla="*/ 2930013 w 4562168"/>
                <a:gd name="connsiteY18" fmla="*/ 118496 h 777368"/>
                <a:gd name="connsiteX19" fmla="*/ 3048000 w 4562168"/>
                <a:gd name="connsiteY19" fmla="*/ 777257 h 777368"/>
                <a:gd name="connsiteX20" fmla="*/ 3293807 w 4562168"/>
                <a:gd name="connsiteY20" fmla="*/ 59503 h 777368"/>
                <a:gd name="connsiteX21" fmla="*/ 3303639 w 4562168"/>
                <a:gd name="connsiteY21" fmla="*/ 413464 h 777368"/>
                <a:gd name="connsiteX22" fmla="*/ 3529781 w 4562168"/>
                <a:gd name="connsiteY22" fmla="*/ 10341 h 777368"/>
                <a:gd name="connsiteX23" fmla="*/ 3657600 w 4562168"/>
                <a:gd name="connsiteY23" fmla="*/ 688767 h 777368"/>
                <a:gd name="connsiteX24" fmla="*/ 3814916 w 4562168"/>
                <a:gd name="connsiteY24" fmla="*/ 79167 h 777368"/>
                <a:gd name="connsiteX25" fmla="*/ 4031226 w 4562168"/>
                <a:gd name="connsiteY25" fmla="*/ 678935 h 777368"/>
                <a:gd name="connsiteX26" fmla="*/ 4227871 w 4562168"/>
                <a:gd name="connsiteY26" fmla="*/ 30006 h 777368"/>
                <a:gd name="connsiteX27" fmla="*/ 4365523 w 4562168"/>
                <a:gd name="connsiteY27" fmla="*/ 698599 h 777368"/>
                <a:gd name="connsiteX28" fmla="*/ 4562168 w 4562168"/>
                <a:gd name="connsiteY28" fmla="*/ 354470 h 77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62168" h="777368">
                  <a:moveTo>
                    <a:pt x="0" y="678935"/>
                  </a:moveTo>
                  <a:cubicBezTo>
                    <a:pt x="9013" y="676477"/>
                    <a:pt x="18027" y="674019"/>
                    <a:pt x="49162" y="560948"/>
                  </a:cubicBezTo>
                  <a:cubicBezTo>
                    <a:pt x="80297" y="447877"/>
                    <a:pt x="152400" y="-17517"/>
                    <a:pt x="186813" y="509"/>
                  </a:cubicBezTo>
                  <a:cubicBezTo>
                    <a:pt x="221226" y="18535"/>
                    <a:pt x="217949" y="651077"/>
                    <a:pt x="255639" y="669103"/>
                  </a:cubicBezTo>
                  <a:cubicBezTo>
                    <a:pt x="293329" y="687129"/>
                    <a:pt x="368710" y="110303"/>
                    <a:pt x="412955" y="108664"/>
                  </a:cubicBezTo>
                  <a:cubicBezTo>
                    <a:pt x="457200" y="107025"/>
                    <a:pt x="465394" y="665825"/>
                    <a:pt x="521110" y="659270"/>
                  </a:cubicBezTo>
                  <a:cubicBezTo>
                    <a:pt x="576826" y="652715"/>
                    <a:pt x="684981" y="59503"/>
                    <a:pt x="747252" y="69335"/>
                  </a:cubicBezTo>
                  <a:cubicBezTo>
                    <a:pt x="809523" y="79167"/>
                    <a:pt x="835743" y="724819"/>
                    <a:pt x="894736" y="718264"/>
                  </a:cubicBezTo>
                  <a:cubicBezTo>
                    <a:pt x="953729" y="711709"/>
                    <a:pt x="1045497" y="41477"/>
                    <a:pt x="1101213" y="30006"/>
                  </a:cubicBezTo>
                  <a:cubicBezTo>
                    <a:pt x="1156929" y="18535"/>
                    <a:pt x="1179872" y="646161"/>
                    <a:pt x="1229033" y="649438"/>
                  </a:cubicBezTo>
                  <a:cubicBezTo>
                    <a:pt x="1278194" y="652715"/>
                    <a:pt x="1342104" y="51309"/>
                    <a:pt x="1396181" y="49670"/>
                  </a:cubicBezTo>
                  <a:cubicBezTo>
                    <a:pt x="1450258" y="48031"/>
                    <a:pt x="1494504" y="639606"/>
                    <a:pt x="1553497" y="639606"/>
                  </a:cubicBezTo>
                  <a:cubicBezTo>
                    <a:pt x="1612490" y="639606"/>
                    <a:pt x="1689510" y="41477"/>
                    <a:pt x="1750142" y="49670"/>
                  </a:cubicBezTo>
                  <a:cubicBezTo>
                    <a:pt x="1810774" y="57863"/>
                    <a:pt x="1838633" y="693683"/>
                    <a:pt x="1917291" y="688767"/>
                  </a:cubicBezTo>
                  <a:cubicBezTo>
                    <a:pt x="1995949" y="683851"/>
                    <a:pt x="2146711" y="21813"/>
                    <a:pt x="2222091" y="20174"/>
                  </a:cubicBezTo>
                  <a:cubicBezTo>
                    <a:pt x="2297472" y="18535"/>
                    <a:pt x="2302387" y="662548"/>
                    <a:pt x="2369574" y="678935"/>
                  </a:cubicBezTo>
                  <a:cubicBezTo>
                    <a:pt x="2436761" y="695322"/>
                    <a:pt x="2551471" y="129967"/>
                    <a:pt x="2625213" y="118496"/>
                  </a:cubicBezTo>
                  <a:cubicBezTo>
                    <a:pt x="2698955" y="107025"/>
                    <a:pt x="2761226" y="610109"/>
                    <a:pt x="2812026" y="610109"/>
                  </a:cubicBezTo>
                  <a:cubicBezTo>
                    <a:pt x="2862826" y="610109"/>
                    <a:pt x="2890684" y="90638"/>
                    <a:pt x="2930013" y="118496"/>
                  </a:cubicBezTo>
                  <a:cubicBezTo>
                    <a:pt x="2969342" y="146354"/>
                    <a:pt x="2987368" y="787089"/>
                    <a:pt x="3048000" y="777257"/>
                  </a:cubicBezTo>
                  <a:cubicBezTo>
                    <a:pt x="3108632" y="767425"/>
                    <a:pt x="3251201" y="120135"/>
                    <a:pt x="3293807" y="59503"/>
                  </a:cubicBezTo>
                  <a:cubicBezTo>
                    <a:pt x="3336413" y="-1129"/>
                    <a:pt x="3264310" y="421658"/>
                    <a:pt x="3303639" y="413464"/>
                  </a:cubicBezTo>
                  <a:cubicBezTo>
                    <a:pt x="3342968" y="405270"/>
                    <a:pt x="3470788" y="-35543"/>
                    <a:pt x="3529781" y="10341"/>
                  </a:cubicBezTo>
                  <a:cubicBezTo>
                    <a:pt x="3588774" y="56225"/>
                    <a:pt x="3610078" y="677296"/>
                    <a:pt x="3657600" y="688767"/>
                  </a:cubicBezTo>
                  <a:cubicBezTo>
                    <a:pt x="3705122" y="700238"/>
                    <a:pt x="3752645" y="80806"/>
                    <a:pt x="3814916" y="79167"/>
                  </a:cubicBezTo>
                  <a:cubicBezTo>
                    <a:pt x="3877187" y="77528"/>
                    <a:pt x="3962400" y="687128"/>
                    <a:pt x="4031226" y="678935"/>
                  </a:cubicBezTo>
                  <a:cubicBezTo>
                    <a:pt x="4100052" y="670742"/>
                    <a:pt x="4172155" y="26729"/>
                    <a:pt x="4227871" y="30006"/>
                  </a:cubicBezTo>
                  <a:cubicBezTo>
                    <a:pt x="4283587" y="33283"/>
                    <a:pt x="4309807" y="644522"/>
                    <a:pt x="4365523" y="698599"/>
                  </a:cubicBezTo>
                  <a:cubicBezTo>
                    <a:pt x="4421239" y="752676"/>
                    <a:pt x="4491703" y="553573"/>
                    <a:pt x="4562168" y="354470"/>
                  </a:cubicBezTo>
                </a:path>
              </a:pathLst>
            </a:cu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a:extLst>
                <a:ext uri="{FF2B5EF4-FFF2-40B4-BE49-F238E27FC236}">
                  <a16:creationId xmlns:a16="http://schemas.microsoft.com/office/drawing/2014/main" id="{E8250523-D818-4184-9456-2BF5990748BB}"/>
                </a:ext>
              </a:extLst>
            </p:cNvPr>
            <p:cNvCxnSpPr>
              <a:cxnSpLocks/>
            </p:cNvCxnSpPr>
            <p:nvPr/>
          </p:nvCxnSpPr>
          <p:spPr>
            <a:xfrm flipH="1">
              <a:off x="1571025" y="4192460"/>
              <a:ext cx="2517293" cy="2061325"/>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BE3DF43-8360-4BCE-BF8E-5B6FB54F2580}"/>
                </a:ext>
              </a:extLst>
            </p:cNvPr>
            <p:cNvCxnSpPr>
              <a:cxnSpLocks/>
            </p:cNvCxnSpPr>
            <p:nvPr/>
          </p:nvCxnSpPr>
          <p:spPr>
            <a:xfrm flipH="1" flipV="1">
              <a:off x="4058114" y="3008309"/>
              <a:ext cx="10540" cy="1193984"/>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52D1652C-7A42-467A-B50F-EC30FC8421FE}"/>
                </a:ext>
              </a:extLst>
            </p:cNvPr>
            <p:cNvSpPr txBox="1"/>
            <p:nvPr/>
          </p:nvSpPr>
          <p:spPr>
            <a:xfrm rot="19151630">
              <a:off x="1924588" y="4798739"/>
              <a:ext cx="1593312" cy="369332"/>
            </a:xfrm>
            <a:prstGeom prst="rect">
              <a:avLst/>
            </a:prstGeom>
            <a:noFill/>
          </p:spPr>
          <p:txBody>
            <a:bodyPr wrap="square" rtlCol="0">
              <a:spAutoFit/>
            </a:bodyPr>
            <a:lstStyle/>
            <a:p>
              <a:r>
                <a:rPr lang="en-US" altLang="zh-CN" b="1" dirty="0"/>
                <a:t>Frequency</a:t>
              </a:r>
              <a:endParaRPr lang="zh-CN" altLang="en-US" b="1" dirty="0"/>
            </a:p>
          </p:txBody>
        </p:sp>
        <p:sp>
          <p:nvSpPr>
            <p:cNvPr id="42" name="文本框 41">
              <a:extLst>
                <a:ext uri="{FF2B5EF4-FFF2-40B4-BE49-F238E27FC236}">
                  <a16:creationId xmlns:a16="http://schemas.microsoft.com/office/drawing/2014/main" id="{F873068D-EE9E-42A6-A328-B1028AD591CD}"/>
                </a:ext>
              </a:extLst>
            </p:cNvPr>
            <p:cNvSpPr txBox="1"/>
            <p:nvPr/>
          </p:nvSpPr>
          <p:spPr>
            <a:xfrm>
              <a:off x="5697826" y="3798561"/>
              <a:ext cx="700833" cy="369332"/>
            </a:xfrm>
            <a:prstGeom prst="rect">
              <a:avLst/>
            </a:prstGeom>
            <a:noFill/>
          </p:spPr>
          <p:txBody>
            <a:bodyPr wrap="none" rtlCol="0">
              <a:spAutoFit/>
            </a:bodyPr>
            <a:lstStyle/>
            <a:p>
              <a:r>
                <a:rPr lang="en-US" altLang="zh-CN" b="1" dirty="0"/>
                <a:t>Time</a:t>
              </a:r>
              <a:endParaRPr lang="zh-CN" altLang="en-US" b="1" dirty="0"/>
            </a:p>
          </p:txBody>
        </p:sp>
        <p:cxnSp>
          <p:nvCxnSpPr>
            <p:cNvPr id="44" name="直接连接符 43">
              <a:extLst>
                <a:ext uri="{FF2B5EF4-FFF2-40B4-BE49-F238E27FC236}">
                  <a16:creationId xmlns:a16="http://schemas.microsoft.com/office/drawing/2014/main" id="{933B80A1-C854-4BBC-874C-FFD52FA55825}"/>
                </a:ext>
              </a:extLst>
            </p:cNvPr>
            <p:cNvCxnSpPr>
              <a:cxnSpLocks/>
            </p:cNvCxnSpPr>
            <p:nvPr/>
          </p:nvCxnSpPr>
          <p:spPr>
            <a:xfrm>
              <a:off x="1880250" y="6006928"/>
              <a:ext cx="4441892" cy="9536"/>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1B71A55A-B3F8-4D38-8F98-EE92C4096393}"/>
                </a:ext>
              </a:extLst>
            </p:cNvPr>
            <p:cNvCxnSpPr>
              <a:cxnSpLocks/>
            </p:cNvCxnSpPr>
            <p:nvPr/>
          </p:nvCxnSpPr>
          <p:spPr>
            <a:xfrm>
              <a:off x="2519347" y="5486261"/>
              <a:ext cx="428196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AAE8484D-565D-419D-93B7-2C9BBC319E50}"/>
                </a:ext>
              </a:extLst>
            </p:cNvPr>
            <p:cNvCxnSpPr>
              <a:cxnSpLocks/>
            </p:cNvCxnSpPr>
            <p:nvPr/>
          </p:nvCxnSpPr>
          <p:spPr>
            <a:xfrm>
              <a:off x="3163367" y="4999561"/>
              <a:ext cx="4060734"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4AF187DB-FE9F-451B-983E-389974EB0C1B}"/>
                </a:ext>
              </a:extLst>
            </p:cNvPr>
            <p:cNvCxnSpPr>
              <a:cxnSpLocks/>
            </p:cNvCxnSpPr>
            <p:nvPr/>
          </p:nvCxnSpPr>
          <p:spPr>
            <a:xfrm>
              <a:off x="3687081" y="4532530"/>
              <a:ext cx="3910644"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50935D1D-1815-4AD8-B8E1-62ED59366BB1}"/>
                </a:ext>
              </a:extLst>
            </p:cNvPr>
            <p:cNvSpPr txBox="1"/>
            <p:nvPr/>
          </p:nvSpPr>
          <p:spPr>
            <a:xfrm>
              <a:off x="6447349" y="5879112"/>
              <a:ext cx="570273" cy="369332"/>
            </a:xfrm>
            <a:prstGeom prst="rect">
              <a:avLst/>
            </a:prstGeom>
            <a:noFill/>
          </p:spPr>
          <p:txBody>
            <a:bodyPr wrap="square" rtlCol="0">
              <a:spAutoFit/>
            </a:bodyPr>
            <a:lstStyle/>
            <a:p>
              <a:r>
                <a:rPr lang="en-US" altLang="zh-CN" dirty="0"/>
                <a:t>C1</a:t>
              </a:r>
              <a:endParaRPr lang="zh-CN" altLang="en-US" dirty="0"/>
            </a:p>
          </p:txBody>
        </p:sp>
        <p:sp>
          <p:nvSpPr>
            <p:cNvPr id="56" name="文本框 55">
              <a:extLst>
                <a:ext uri="{FF2B5EF4-FFF2-40B4-BE49-F238E27FC236}">
                  <a16:creationId xmlns:a16="http://schemas.microsoft.com/office/drawing/2014/main" id="{5884C21E-50CE-4A96-BB38-F1AD1F42B20D}"/>
                </a:ext>
              </a:extLst>
            </p:cNvPr>
            <p:cNvSpPr txBox="1"/>
            <p:nvPr/>
          </p:nvSpPr>
          <p:spPr>
            <a:xfrm>
              <a:off x="6883046" y="5325866"/>
              <a:ext cx="570273" cy="369332"/>
            </a:xfrm>
            <a:prstGeom prst="rect">
              <a:avLst/>
            </a:prstGeom>
            <a:noFill/>
          </p:spPr>
          <p:txBody>
            <a:bodyPr wrap="square" rtlCol="0">
              <a:spAutoFit/>
            </a:bodyPr>
            <a:lstStyle/>
            <a:p>
              <a:r>
                <a:rPr lang="en-US" altLang="zh-CN" dirty="0"/>
                <a:t>C2</a:t>
              </a:r>
              <a:endParaRPr lang="zh-CN" altLang="en-US" dirty="0"/>
            </a:p>
          </p:txBody>
        </p:sp>
        <p:sp>
          <p:nvSpPr>
            <p:cNvPr id="57" name="文本框 56">
              <a:extLst>
                <a:ext uri="{FF2B5EF4-FFF2-40B4-BE49-F238E27FC236}">
                  <a16:creationId xmlns:a16="http://schemas.microsoft.com/office/drawing/2014/main" id="{5A4FCD26-8E63-4158-841B-8C8EFD12C55C}"/>
                </a:ext>
              </a:extLst>
            </p:cNvPr>
            <p:cNvSpPr txBox="1"/>
            <p:nvPr/>
          </p:nvSpPr>
          <p:spPr>
            <a:xfrm>
              <a:off x="7312588" y="4814895"/>
              <a:ext cx="570273" cy="369332"/>
            </a:xfrm>
            <a:prstGeom prst="rect">
              <a:avLst/>
            </a:prstGeom>
            <a:noFill/>
          </p:spPr>
          <p:txBody>
            <a:bodyPr wrap="square" rtlCol="0">
              <a:spAutoFit/>
            </a:bodyPr>
            <a:lstStyle/>
            <a:p>
              <a:r>
                <a:rPr lang="en-US" altLang="zh-CN" dirty="0"/>
                <a:t>C3</a:t>
              </a:r>
              <a:endParaRPr lang="zh-CN" altLang="en-US" dirty="0"/>
            </a:p>
          </p:txBody>
        </p:sp>
        <p:sp>
          <p:nvSpPr>
            <p:cNvPr id="58" name="文本框 57">
              <a:extLst>
                <a:ext uri="{FF2B5EF4-FFF2-40B4-BE49-F238E27FC236}">
                  <a16:creationId xmlns:a16="http://schemas.microsoft.com/office/drawing/2014/main" id="{82243A8D-70FF-48B0-8615-0FD73AC45297}"/>
                </a:ext>
              </a:extLst>
            </p:cNvPr>
            <p:cNvSpPr txBox="1"/>
            <p:nvPr/>
          </p:nvSpPr>
          <p:spPr>
            <a:xfrm>
              <a:off x="7652569" y="4347864"/>
              <a:ext cx="570273" cy="369332"/>
            </a:xfrm>
            <a:prstGeom prst="rect">
              <a:avLst/>
            </a:prstGeom>
            <a:noFill/>
          </p:spPr>
          <p:txBody>
            <a:bodyPr wrap="square" rtlCol="0">
              <a:spAutoFit/>
            </a:bodyPr>
            <a:lstStyle/>
            <a:p>
              <a:r>
                <a:rPr lang="en-US" altLang="zh-CN" dirty="0"/>
                <a:t>C4</a:t>
              </a:r>
              <a:endParaRPr lang="zh-CN" altLang="en-US" dirty="0"/>
            </a:p>
          </p:txBody>
        </p:sp>
        <p:sp>
          <p:nvSpPr>
            <p:cNvPr id="61" name="任意多边形: 形状 60">
              <a:extLst>
                <a:ext uri="{FF2B5EF4-FFF2-40B4-BE49-F238E27FC236}">
                  <a16:creationId xmlns:a16="http://schemas.microsoft.com/office/drawing/2014/main" id="{B671D348-B506-4DB2-A65E-F6ED0CEFC894}"/>
                </a:ext>
              </a:extLst>
            </p:cNvPr>
            <p:cNvSpPr/>
            <p:nvPr/>
          </p:nvSpPr>
          <p:spPr>
            <a:xfrm>
              <a:off x="5488968" y="4262168"/>
              <a:ext cx="1964351" cy="544971"/>
            </a:xfrm>
            <a:custGeom>
              <a:avLst/>
              <a:gdLst>
                <a:gd name="connsiteX0" fmla="*/ 0 w 4562168"/>
                <a:gd name="connsiteY0" fmla="*/ 678935 h 777368"/>
                <a:gd name="connsiteX1" fmla="*/ 49162 w 4562168"/>
                <a:gd name="connsiteY1" fmla="*/ 560948 h 777368"/>
                <a:gd name="connsiteX2" fmla="*/ 186813 w 4562168"/>
                <a:gd name="connsiteY2" fmla="*/ 509 h 777368"/>
                <a:gd name="connsiteX3" fmla="*/ 255639 w 4562168"/>
                <a:gd name="connsiteY3" fmla="*/ 669103 h 777368"/>
                <a:gd name="connsiteX4" fmla="*/ 412955 w 4562168"/>
                <a:gd name="connsiteY4" fmla="*/ 108664 h 777368"/>
                <a:gd name="connsiteX5" fmla="*/ 521110 w 4562168"/>
                <a:gd name="connsiteY5" fmla="*/ 659270 h 777368"/>
                <a:gd name="connsiteX6" fmla="*/ 747252 w 4562168"/>
                <a:gd name="connsiteY6" fmla="*/ 69335 h 777368"/>
                <a:gd name="connsiteX7" fmla="*/ 894736 w 4562168"/>
                <a:gd name="connsiteY7" fmla="*/ 718264 h 777368"/>
                <a:gd name="connsiteX8" fmla="*/ 1101213 w 4562168"/>
                <a:gd name="connsiteY8" fmla="*/ 30006 h 777368"/>
                <a:gd name="connsiteX9" fmla="*/ 1229033 w 4562168"/>
                <a:gd name="connsiteY9" fmla="*/ 649438 h 777368"/>
                <a:gd name="connsiteX10" fmla="*/ 1396181 w 4562168"/>
                <a:gd name="connsiteY10" fmla="*/ 49670 h 777368"/>
                <a:gd name="connsiteX11" fmla="*/ 1553497 w 4562168"/>
                <a:gd name="connsiteY11" fmla="*/ 639606 h 777368"/>
                <a:gd name="connsiteX12" fmla="*/ 1750142 w 4562168"/>
                <a:gd name="connsiteY12" fmla="*/ 49670 h 777368"/>
                <a:gd name="connsiteX13" fmla="*/ 1917291 w 4562168"/>
                <a:gd name="connsiteY13" fmla="*/ 688767 h 777368"/>
                <a:gd name="connsiteX14" fmla="*/ 2222091 w 4562168"/>
                <a:gd name="connsiteY14" fmla="*/ 20174 h 777368"/>
                <a:gd name="connsiteX15" fmla="*/ 2369574 w 4562168"/>
                <a:gd name="connsiteY15" fmla="*/ 678935 h 777368"/>
                <a:gd name="connsiteX16" fmla="*/ 2625213 w 4562168"/>
                <a:gd name="connsiteY16" fmla="*/ 118496 h 777368"/>
                <a:gd name="connsiteX17" fmla="*/ 2812026 w 4562168"/>
                <a:gd name="connsiteY17" fmla="*/ 610109 h 777368"/>
                <a:gd name="connsiteX18" fmla="*/ 2930013 w 4562168"/>
                <a:gd name="connsiteY18" fmla="*/ 118496 h 777368"/>
                <a:gd name="connsiteX19" fmla="*/ 3048000 w 4562168"/>
                <a:gd name="connsiteY19" fmla="*/ 777257 h 777368"/>
                <a:gd name="connsiteX20" fmla="*/ 3293807 w 4562168"/>
                <a:gd name="connsiteY20" fmla="*/ 59503 h 777368"/>
                <a:gd name="connsiteX21" fmla="*/ 3303639 w 4562168"/>
                <a:gd name="connsiteY21" fmla="*/ 413464 h 777368"/>
                <a:gd name="connsiteX22" fmla="*/ 3529781 w 4562168"/>
                <a:gd name="connsiteY22" fmla="*/ 10341 h 777368"/>
                <a:gd name="connsiteX23" fmla="*/ 3657600 w 4562168"/>
                <a:gd name="connsiteY23" fmla="*/ 688767 h 777368"/>
                <a:gd name="connsiteX24" fmla="*/ 3814916 w 4562168"/>
                <a:gd name="connsiteY24" fmla="*/ 79167 h 777368"/>
                <a:gd name="connsiteX25" fmla="*/ 4031226 w 4562168"/>
                <a:gd name="connsiteY25" fmla="*/ 678935 h 777368"/>
                <a:gd name="connsiteX26" fmla="*/ 4227871 w 4562168"/>
                <a:gd name="connsiteY26" fmla="*/ 30006 h 777368"/>
                <a:gd name="connsiteX27" fmla="*/ 4365523 w 4562168"/>
                <a:gd name="connsiteY27" fmla="*/ 698599 h 777368"/>
                <a:gd name="connsiteX28" fmla="*/ 4562168 w 4562168"/>
                <a:gd name="connsiteY28" fmla="*/ 354470 h 77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62168" h="777368">
                  <a:moveTo>
                    <a:pt x="0" y="678935"/>
                  </a:moveTo>
                  <a:cubicBezTo>
                    <a:pt x="9013" y="676477"/>
                    <a:pt x="18027" y="674019"/>
                    <a:pt x="49162" y="560948"/>
                  </a:cubicBezTo>
                  <a:cubicBezTo>
                    <a:pt x="80297" y="447877"/>
                    <a:pt x="152400" y="-17517"/>
                    <a:pt x="186813" y="509"/>
                  </a:cubicBezTo>
                  <a:cubicBezTo>
                    <a:pt x="221226" y="18535"/>
                    <a:pt x="217949" y="651077"/>
                    <a:pt x="255639" y="669103"/>
                  </a:cubicBezTo>
                  <a:cubicBezTo>
                    <a:pt x="293329" y="687129"/>
                    <a:pt x="368710" y="110303"/>
                    <a:pt x="412955" y="108664"/>
                  </a:cubicBezTo>
                  <a:cubicBezTo>
                    <a:pt x="457200" y="107025"/>
                    <a:pt x="465394" y="665825"/>
                    <a:pt x="521110" y="659270"/>
                  </a:cubicBezTo>
                  <a:cubicBezTo>
                    <a:pt x="576826" y="652715"/>
                    <a:pt x="684981" y="59503"/>
                    <a:pt x="747252" y="69335"/>
                  </a:cubicBezTo>
                  <a:cubicBezTo>
                    <a:pt x="809523" y="79167"/>
                    <a:pt x="835743" y="724819"/>
                    <a:pt x="894736" y="718264"/>
                  </a:cubicBezTo>
                  <a:cubicBezTo>
                    <a:pt x="953729" y="711709"/>
                    <a:pt x="1045497" y="41477"/>
                    <a:pt x="1101213" y="30006"/>
                  </a:cubicBezTo>
                  <a:cubicBezTo>
                    <a:pt x="1156929" y="18535"/>
                    <a:pt x="1179872" y="646161"/>
                    <a:pt x="1229033" y="649438"/>
                  </a:cubicBezTo>
                  <a:cubicBezTo>
                    <a:pt x="1278194" y="652715"/>
                    <a:pt x="1342104" y="51309"/>
                    <a:pt x="1396181" y="49670"/>
                  </a:cubicBezTo>
                  <a:cubicBezTo>
                    <a:pt x="1450258" y="48031"/>
                    <a:pt x="1494504" y="639606"/>
                    <a:pt x="1553497" y="639606"/>
                  </a:cubicBezTo>
                  <a:cubicBezTo>
                    <a:pt x="1612490" y="639606"/>
                    <a:pt x="1689510" y="41477"/>
                    <a:pt x="1750142" y="49670"/>
                  </a:cubicBezTo>
                  <a:cubicBezTo>
                    <a:pt x="1810774" y="57863"/>
                    <a:pt x="1838633" y="693683"/>
                    <a:pt x="1917291" y="688767"/>
                  </a:cubicBezTo>
                  <a:cubicBezTo>
                    <a:pt x="1995949" y="683851"/>
                    <a:pt x="2146711" y="21813"/>
                    <a:pt x="2222091" y="20174"/>
                  </a:cubicBezTo>
                  <a:cubicBezTo>
                    <a:pt x="2297472" y="18535"/>
                    <a:pt x="2302387" y="662548"/>
                    <a:pt x="2369574" y="678935"/>
                  </a:cubicBezTo>
                  <a:cubicBezTo>
                    <a:pt x="2436761" y="695322"/>
                    <a:pt x="2551471" y="129967"/>
                    <a:pt x="2625213" y="118496"/>
                  </a:cubicBezTo>
                  <a:cubicBezTo>
                    <a:pt x="2698955" y="107025"/>
                    <a:pt x="2761226" y="610109"/>
                    <a:pt x="2812026" y="610109"/>
                  </a:cubicBezTo>
                  <a:cubicBezTo>
                    <a:pt x="2862826" y="610109"/>
                    <a:pt x="2890684" y="90638"/>
                    <a:pt x="2930013" y="118496"/>
                  </a:cubicBezTo>
                  <a:cubicBezTo>
                    <a:pt x="2969342" y="146354"/>
                    <a:pt x="2987368" y="787089"/>
                    <a:pt x="3048000" y="777257"/>
                  </a:cubicBezTo>
                  <a:cubicBezTo>
                    <a:pt x="3108632" y="767425"/>
                    <a:pt x="3251201" y="120135"/>
                    <a:pt x="3293807" y="59503"/>
                  </a:cubicBezTo>
                  <a:cubicBezTo>
                    <a:pt x="3336413" y="-1129"/>
                    <a:pt x="3264310" y="421658"/>
                    <a:pt x="3303639" y="413464"/>
                  </a:cubicBezTo>
                  <a:cubicBezTo>
                    <a:pt x="3342968" y="405270"/>
                    <a:pt x="3470788" y="-35543"/>
                    <a:pt x="3529781" y="10341"/>
                  </a:cubicBezTo>
                  <a:cubicBezTo>
                    <a:pt x="3588774" y="56225"/>
                    <a:pt x="3610078" y="677296"/>
                    <a:pt x="3657600" y="688767"/>
                  </a:cubicBezTo>
                  <a:cubicBezTo>
                    <a:pt x="3705122" y="700238"/>
                    <a:pt x="3752645" y="80806"/>
                    <a:pt x="3814916" y="79167"/>
                  </a:cubicBezTo>
                  <a:cubicBezTo>
                    <a:pt x="3877187" y="77528"/>
                    <a:pt x="3962400" y="687128"/>
                    <a:pt x="4031226" y="678935"/>
                  </a:cubicBezTo>
                  <a:cubicBezTo>
                    <a:pt x="4100052" y="670742"/>
                    <a:pt x="4172155" y="26729"/>
                    <a:pt x="4227871" y="30006"/>
                  </a:cubicBezTo>
                  <a:cubicBezTo>
                    <a:pt x="4283587" y="33283"/>
                    <a:pt x="4309807" y="644522"/>
                    <a:pt x="4365523" y="698599"/>
                  </a:cubicBezTo>
                  <a:cubicBezTo>
                    <a:pt x="4421239" y="752676"/>
                    <a:pt x="4491703" y="553573"/>
                    <a:pt x="4562168" y="354470"/>
                  </a:cubicBezTo>
                </a:path>
              </a:pathLst>
            </a:cu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形状 62">
              <a:extLst>
                <a:ext uri="{FF2B5EF4-FFF2-40B4-BE49-F238E27FC236}">
                  <a16:creationId xmlns:a16="http://schemas.microsoft.com/office/drawing/2014/main" id="{E2F796D7-40F2-4597-96D8-607767843746}"/>
                </a:ext>
              </a:extLst>
            </p:cNvPr>
            <p:cNvSpPr/>
            <p:nvPr/>
          </p:nvSpPr>
          <p:spPr>
            <a:xfrm>
              <a:off x="5751875" y="4778460"/>
              <a:ext cx="1395438" cy="512039"/>
            </a:xfrm>
            <a:custGeom>
              <a:avLst/>
              <a:gdLst>
                <a:gd name="connsiteX0" fmla="*/ 0 w 1455174"/>
                <a:gd name="connsiteY0" fmla="*/ 442470 h 512039"/>
                <a:gd name="connsiteX1" fmla="*/ 147484 w 1455174"/>
                <a:gd name="connsiteY1" fmla="*/ 18 h 512039"/>
                <a:gd name="connsiteX2" fmla="*/ 157316 w 1455174"/>
                <a:gd name="connsiteY2" fmla="*/ 422805 h 512039"/>
                <a:gd name="connsiteX3" fmla="*/ 324464 w 1455174"/>
                <a:gd name="connsiteY3" fmla="*/ 19683 h 512039"/>
                <a:gd name="connsiteX4" fmla="*/ 363793 w 1455174"/>
                <a:gd name="connsiteY4" fmla="*/ 422805 h 512039"/>
                <a:gd name="connsiteX5" fmla="*/ 481780 w 1455174"/>
                <a:gd name="connsiteY5" fmla="*/ 49179 h 512039"/>
                <a:gd name="connsiteX6" fmla="*/ 521110 w 1455174"/>
                <a:gd name="connsiteY6" fmla="*/ 442470 h 512039"/>
                <a:gd name="connsiteX7" fmla="*/ 688258 w 1455174"/>
                <a:gd name="connsiteY7" fmla="*/ 78676 h 512039"/>
                <a:gd name="connsiteX8" fmla="*/ 766916 w 1455174"/>
                <a:gd name="connsiteY8" fmla="*/ 412973 h 512039"/>
                <a:gd name="connsiteX9" fmla="*/ 855406 w 1455174"/>
                <a:gd name="connsiteY9" fmla="*/ 137670 h 512039"/>
                <a:gd name="connsiteX10" fmla="*/ 943897 w 1455174"/>
                <a:gd name="connsiteY10" fmla="*/ 511296 h 512039"/>
                <a:gd name="connsiteX11" fmla="*/ 1081548 w 1455174"/>
                <a:gd name="connsiteY11" fmla="*/ 19683 h 512039"/>
                <a:gd name="connsiteX12" fmla="*/ 1101213 w 1455174"/>
                <a:gd name="connsiteY12" fmla="*/ 491631 h 512039"/>
                <a:gd name="connsiteX13" fmla="*/ 1238864 w 1455174"/>
                <a:gd name="connsiteY13" fmla="*/ 19683 h 512039"/>
                <a:gd name="connsiteX14" fmla="*/ 1317522 w 1455174"/>
                <a:gd name="connsiteY14" fmla="*/ 491631 h 512039"/>
                <a:gd name="connsiteX15" fmla="*/ 1415845 w 1455174"/>
                <a:gd name="connsiteY15" fmla="*/ 88509 h 512039"/>
                <a:gd name="connsiteX16" fmla="*/ 1455174 w 1455174"/>
                <a:gd name="connsiteY16" fmla="*/ 422805 h 51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5174" h="512039">
                  <a:moveTo>
                    <a:pt x="0" y="442470"/>
                  </a:moveTo>
                  <a:cubicBezTo>
                    <a:pt x="60632" y="222882"/>
                    <a:pt x="121265" y="3295"/>
                    <a:pt x="147484" y="18"/>
                  </a:cubicBezTo>
                  <a:cubicBezTo>
                    <a:pt x="173703" y="-3259"/>
                    <a:pt x="127819" y="419527"/>
                    <a:pt x="157316" y="422805"/>
                  </a:cubicBezTo>
                  <a:cubicBezTo>
                    <a:pt x="186813" y="426083"/>
                    <a:pt x="290051" y="19683"/>
                    <a:pt x="324464" y="19683"/>
                  </a:cubicBezTo>
                  <a:cubicBezTo>
                    <a:pt x="358877" y="19683"/>
                    <a:pt x="337574" y="417889"/>
                    <a:pt x="363793" y="422805"/>
                  </a:cubicBezTo>
                  <a:cubicBezTo>
                    <a:pt x="390012" y="427721"/>
                    <a:pt x="455561" y="45902"/>
                    <a:pt x="481780" y="49179"/>
                  </a:cubicBezTo>
                  <a:cubicBezTo>
                    <a:pt x="507999" y="52456"/>
                    <a:pt x="486697" y="437554"/>
                    <a:pt x="521110" y="442470"/>
                  </a:cubicBezTo>
                  <a:cubicBezTo>
                    <a:pt x="555523" y="447386"/>
                    <a:pt x="647290" y="83592"/>
                    <a:pt x="688258" y="78676"/>
                  </a:cubicBezTo>
                  <a:cubicBezTo>
                    <a:pt x="729226" y="73760"/>
                    <a:pt x="739058" y="403141"/>
                    <a:pt x="766916" y="412973"/>
                  </a:cubicBezTo>
                  <a:cubicBezTo>
                    <a:pt x="794774" y="422805"/>
                    <a:pt x="825909" y="121283"/>
                    <a:pt x="855406" y="137670"/>
                  </a:cubicBezTo>
                  <a:cubicBezTo>
                    <a:pt x="884903" y="154057"/>
                    <a:pt x="906207" y="530961"/>
                    <a:pt x="943897" y="511296"/>
                  </a:cubicBezTo>
                  <a:cubicBezTo>
                    <a:pt x="981587" y="491632"/>
                    <a:pt x="1055329" y="22960"/>
                    <a:pt x="1081548" y="19683"/>
                  </a:cubicBezTo>
                  <a:cubicBezTo>
                    <a:pt x="1107767" y="16406"/>
                    <a:pt x="1074994" y="491631"/>
                    <a:pt x="1101213" y="491631"/>
                  </a:cubicBezTo>
                  <a:cubicBezTo>
                    <a:pt x="1127432" y="491631"/>
                    <a:pt x="1202813" y="19683"/>
                    <a:pt x="1238864" y="19683"/>
                  </a:cubicBezTo>
                  <a:cubicBezTo>
                    <a:pt x="1274915" y="19683"/>
                    <a:pt x="1288025" y="480160"/>
                    <a:pt x="1317522" y="491631"/>
                  </a:cubicBezTo>
                  <a:cubicBezTo>
                    <a:pt x="1347019" y="503102"/>
                    <a:pt x="1392903" y="99980"/>
                    <a:pt x="1415845" y="88509"/>
                  </a:cubicBezTo>
                  <a:cubicBezTo>
                    <a:pt x="1438787" y="77038"/>
                    <a:pt x="1446980" y="249921"/>
                    <a:pt x="1455174" y="422805"/>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68" name="任意多边形: 形状 11267">
              <a:extLst>
                <a:ext uri="{FF2B5EF4-FFF2-40B4-BE49-F238E27FC236}">
                  <a16:creationId xmlns:a16="http://schemas.microsoft.com/office/drawing/2014/main" id="{6356C776-D45C-4A00-A8D9-5249F51B20CA}"/>
                </a:ext>
              </a:extLst>
            </p:cNvPr>
            <p:cNvSpPr/>
            <p:nvPr/>
          </p:nvSpPr>
          <p:spPr>
            <a:xfrm>
              <a:off x="1952379" y="5760529"/>
              <a:ext cx="4015802" cy="571799"/>
            </a:xfrm>
            <a:custGeom>
              <a:avLst/>
              <a:gdLst>
                <a:gd name="connsiteX0" fmla="*/ 14073 w 4015802"/>
                <a:gd name="connsiteY0" fmla="*/ 89665 h 571799"/>
                <a:gd name="connsiteX1" fmla="*/ 43569 w 4015802"/>
                <a:gd name="connsiteY1" fmla="*/ 532116 h 571799"/>
                <a:gd name="connsiteX2" fmla="*/ 377866 w 4015802"/>
                <a:gd name="connsiteY2" fmla="*/ 30671 h 571799"/>
                <a:gd name="connsiteX3" fmla="*/ 554847 w 4015802"/>
                <a:gd name="connsiteY3" fmla="*/ 541948 h 571799"/>
                <a:gd name="connsiteX4" fmla="*/ 967802 w 4015802"/>
                <a:gd name="connsiteY4" fmla="*/ 70000 h 571799"/>
                <a:gd name="connsiteX5" fmla="*/ 1193944 w 4015802"/>
                <a:gd name="connsiteY5" fmla="*/ 561613 h 571799"/>
                <a:gd name="connsiteX6" fmla="*/ 1518408 w 4015802"/>
                <a:gd name="connsiteY6" fmla="*/ 11006 h 571799"/>
                <a:gd name="connsiteX7" fmla="*/ 1774047 w 4015802"/>
                <a:gd name="connsiteY7" fmla="*/ 512452 h 571799"/>
                <a:gd name="connsiteX8" fmla="*/ 2010021 w 4015802"/>
                <a:gd name="connsiteY8" fmla="*/ 79832 h 571799"/>
                <a:gd name="connsiteX9" fmla="*/ 2167337 w 4015802"/>
                <a:gd name="connsiteY9" fmla="*/ 482955 h 571799"/>
                <a:gd name="connsiteX10" fmla="*/ 2452473 w 4015802"/>
                <a:gd name="connsiteY10" fmla="*/ 60168 h 571799"/>
                <a:gd name="connsiteX11" fmla="*/ 2845763 w 4015802"/>
                <a:gd name="connsiteY11" fmla="*/ 561613 h 571799"/>
                <a:gd name="connsiteX12" fmla="*/ 3042408 w 4015802"/>
                <a:gd name="connsiteY12" fmla="*/ 364968 h 571799"/>
                <a:gd name="connsiteX13" fmla="*/ 3140731 w 4015802"/>
                <a:gd name="connsiteY13" fmla="*/ 512452 h 571799"/>
                <a:gd name="connsiteX14" fmla="*/ 3396369 w 4015802"/>
                <a:gd name="connsiteY14" fmla="*/ 60168 h 571799"/>
                <a:gd name="connsiteX15" fmla="*/ 3534021 w 4015802"/>
                <a:gd name="connsiteY15" fmla="*/ 571445 h 571799"/>
                <a:gd name="connsiteX16" fmla="*/ 3799492 w 4015802"/>
                <a:gd name="connsiteY16" fmla="*/ 138826 h 571799"/>
                <a:gd name="connsiteX17" fmla="*/ 3887982 w 4015802"/>
                <a:gd name="connsiteY17" fmla="*/ 20839 h 571799"/>
                <a:gd name="connsiteX18" fmla="*/ 4015802 w 4015802"/>
                <a:gd name="connsiteY18" fmla="*/ 512452 h 5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15802" h="571799">
                  <a:moveTo>
                    <a:pt x="14073" y="89665"/>
                  </a:moveTo>
                  <a:cubicBezTo>
                    <a:pt x="-1495" y="315806"/>
                    <a:pt x="-17063" y="541948"/>
                    <a:pt x="43569" y="532116"/>
                  </a:cubicBezTo>
                  <a:cubicBezTo>
                    <a:pt x="104201" y="522284"/>
                    <a:pt x="292653" y="29032"/>
                    <a:pt x="377866" y="30671"/>
                  </a:cubicBezTo>
                  <a:cubicBezTo>
                    <a:pt x="463079" y="32310"/>
                    <a:pt x="456524" y="535393"/>
                    <a:pt x="554847" y="541948"/>
                  </a:cubicBezTo>
                  <a:cubicBezTo>
                    <a:pt x="653170" y="548503"/>
                    <a:pt x="861286" y="66723"/>
                    <a:pt x="967802" y="70000"/>
                  </a:cubicBezTo>
                  <a:cubicBezTo>
                    <a:pt x="1074318" y="73277"/>
                    <a:pt x="1102176" y="571445"/>
                    <a:pt x="1193944" y="561613"/>
                  </a:cubicBezTo>
                  <a:cubicBezTo>
                    <a:pt x="1285712" y="551781"/>
                    <a:pt x="1421724" y="19199"/>
                    <a:pt x="1518408" y="11006"/>
                  </a:cubicBezTo>
                  <a:cubicBezTo>
                    <a:pt x="1615092" y="2813"/>
                    <a:pt x="1692112" y="500981"/>
                    <a:pt x="1774047" y="512452"/>
                  </a:cubicBezTo>
                  <a:cubicBezTo>
                    <a:pt x="1855983" y="523923"/>
                    <a:pt x="1944473" y="84748"/>
                    <a:pt x="2010021" y="79832"/>
                  </a:cubicBezTo>
                  <a:cubicBezTo>
                    <a:pt x="2075569" y="74916"/>
                    <a:pt x="2093595" y="486232"/>
                    <a:pt x="2167337" y="482955"/>
                  </a:cubicBezTo>
                  <a:cubicBezTo>
                    <a:pt x="2241079" y="479678"/>
                    <a:pt x="2339402" y="47058"/>
                    <a:pt x="2452473" y="60168"/>
                  </a:cubicBezTo>
                  <a:cubicBezTo>
                    <a:pt x="2565544" y="73278"/>
                    <a:pt x="2747441" y="510813"/>
                    <a:pt x="2845763" y="561613"/>
                  </a:cubicBezTo>
                  <a:cubicBezTo>
                    <a:pt x="2944086" y="612413"/>
                    <a:pt x="2993247" y="373162"/>
                    <a:pt x="3042408" y="364968"/>
                  </a:cubicBezTo>
                  <a:cubicBezTo>
                    <a:pt x="3091569" y="356775"/>
                    <a:pt x="3081738" y="563252"/>
                    <a:pt x="3140731" y="512452"/>
                  </a:cubicBezTo>
                  <a:cubicBezTo>
                    <a:pt x="3199724" y="461652"/>
                    <a:pt x="3330821" y="50336"/>
                    <a:pt x="3396369" y="60168"/>
                  </a:cubicBezTo>
                  <a:cubicBezTo>
                    <a:pt x="3461917" y="70000"/>
                    <a:pt x="3466834" y="558335"/>
                    <a:pt x="3534021" y="571445"/>
                  </a:cubicBezTo>
                  <a:cubicBezTo>
                    <a:pt x="3601208" y="584555"/>
                    <a:pt x="3740499" y="230594"/>
                    <a:pt x="3799492" y="138826"/>
                  </a:cubicBezTo>
                  <a:cubicBezTo>
                    <a:pt x="3858486" y="47058"/>
                    <a:pt x="3851930" y="-41432"/>
                    <a:pt x="3887982" y="20839"/>
                  </a:cubicBezTo>
                  <a:cubicBezTo>
                    <a:pt x="3924034" y="83110"/>
                    <a:pt x="3969918" y="297781"/>
                    <a:pt x="4015802" y="512452"/>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文本框 27">
            <a:extLst>
              <a:ext uri="{FF2B5EF4-FFF2-40B4-BE49-F238E27FC236}">
                <a16:creationId xmlns:a16="http://schemas.microsoft.com/office/drawing/2014/main" id="{BDD446BE-F021-48AB-9E46-4BFF76944D0C}"/>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1007719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DC05CB-1883-4F9F-B81A-5C604D93C659}"/>
              </a:ext>
            </a:extLst>
          </p:cNvPr>
          <p:cNvSpPr>
            <a:spLocks noGrp="1"/>
          </p:cNvSpPr>
          <p:nvPr>
            <p:ph type="title"/>
          </p:nvPr>
        </p:nvSpPr>
        <p:spPr/>
        <p:txBody>
          <a:bodyPr/>
          <a:lstStyle/>
          <a:p>
            <a:r>
              <a:rPr lang="zh-CN" altLang="en-US" dirty="0"/>
              <a:t>空分复用</a:t>
            </a:r>
            <a:r>
              <a:rPr lang="en-US" altLang="zh-CN" dirty="0"/>
              <a:t>(SDM)</a:t>
            </a:r>
            <a:endParaRPr lang="zh-CN" altLang="en-US" dirty="0"/>
          </a:p>
        </p:txBody>
      </p:sp>
      <p:sp>
        <p:nvSpPr>
          <p:cNvPr id="4" name="灯片编号占位符 3">
            <a:extLst>
              <a:ext uri="{FF2B5EF4-FFF2-40B4-BE49-F238E27FC236}">
                <a16:creationId xmlns:a16="http://schemas.microsoft.com/office/drawing/2014/main" id="{3C7426DB-2517-47C7-BF9C-7A7F1976F8D6}"/>
              </a:ext>
            </a:extLst>
          </p:cNvPr>
          <p:cNvSpPr>
            <a:spLocks noGrp="1"/>
          </p:cNvSpPr>
          <p:nvPr>
            <p:ph type="sldNum" sz="quarter" idx="12"/>
          </p:nvPr>
        </p:nvSpPr>
        <p:spPr/>
        <p:txBody>
          <a:bodyPr/>
          <a:lstStyle/>
          <a:p>
            <a:fld id="{8D4D1E41-7A09-AB4A-A4E1-09765ADA2698}" type="slidenum">
              <a:rPr kumimoji="1" lang="zh-CN" altLang="en-US" smtClean="0"/>
              <a:t>110</a:t>
            </a:fld>
            <a:endParaRPr kumimoji="1" lang="zh-CN" altLang="en-US" dirty="0"/>
          </a:p>
        </p:txBody>
      </p:sp>
      <p:sp>
        <p:nvSpPr>
          <p:cNvPr id="5" name="矩形 4">
            <a:extLst>
              <a:ext uri="{FF2B5EF4-FFF2-40B4-BE49-F238E27FC236}">
                <a16:creationId xmlns:a16="http://schemas.microsoft.com/office/drawing/2014/main" id="{137947D5-2C9E-4824-B4E3-19D6AC3F929A}"/>
              </a:ext>
            </a:extLst>
          </p:cNvPr>
          <p:cNvSpPr/>
          <p:nvPr/>
        </p:nvSpPr>
        <p:spPr>
          <a:xfrm>
            <a:off x="626146" y="1449605"/>
            <a:ext cx="6049855" cy="4602991"/>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空分复用(Space Division Multiplexing, SDM)是指让</a:t>
            </a:r>
            <a:r>
              <a:rPr lang="zh-CN" altLang="en-US" sz="2200" dirty="0">
                <a:solidFill>
                  <a:srgbClr val="C00000"/>
                </a:solidFill>
                <a:latin typeface="微软雅黑" panose="020B0503020204020204" pitchFamily="34" charset="-122"/>
                <a:ea typeface="微软雅黑" panose="020B0503020204020204" pitchFamily="34" charset="-122"/>
              </a:rPr>
              <a:t>同一个频段</a:t>
            </a:r>
            <a:r>
              <a:rPr lang="zh-CN" altLang="en-US" sz="2200" dirty="0">
                <a:latin typeface="微软雅黑" panose="020B0503020204020204" pitchFamily="34" charset="-122"/>
                <a:ea typeface="微软雅黑" panose="020B0503020204020204" pitchFamily="34" charset="-122"/>
              </a:rPr>
              <a:t>在</a:t>
            </a:r>
            <a:r>
              <a:rPr lang="zh-CN" altLang="en-US" sz="2200" dirty="0">
                <a:solidFill>
                  <a:srgbClr val="C00000"/>
                </a:solidFill>
                <a:latin typeface="微软雅黑" panose="020B0503020204020204" pitchFamily="34" charset="-122"/>
                <a:ea typeface="微软雅黑" panose="020B0503020204020204" pitchFamily="34" charset="-122"/>
              </a:rPr>
              <a:t>不同的空间</a:t>
            </a:r>
            <a:r>
              <a:rPr lang="zh-CN" altLang="en-US" sz="2200" dirty="0">
                <a:latin typeface="微软雅黑" panose="020B0503020204020204" pitchFamily="34" charset="-122"/>
                <a:ea typeface="微软雅黑" panose="020B0503020204020204" pitchFamily="34" charset="-122"/>
              </a:rPr>
              <a:t>内得到</a:t>
            </a:r>
            <a:r>
              <a:rPr lang="zh-CN" altLang="en-US" sz="2200" dirty="0">
                <a:solidFill>
                  <a:srgbClr val="C00000"/>
                </a:solidFill>
                <a:latin typeface="微软雅黑" panose="020B0503020204020204" pitchFamily="34" charset="-122"/>
                <a:ea typeface="微软雅黑" panose="020B0503020204020204" pitchFamily="34" charset="-122"/>
              </a:rPr>
              <a:t>重复利用</a:t>
            </a:r>
            <a:endParaRPr lang="en-US" altLang="zh-CN" sz="22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在移动通信中，采用</a:t>
            </a:r>
            <a:r>
              <a:rPr lang="zh-CN" altLang="en-US" sz="2200" dirty="0">
                <a:solidFill>
                  <a:srgbClr val="C00000"/>
                </a:solidFill>
                <a:latin typeface="微软雅黑" panose="020B0503020204020204" pitchFamily="34" charset="-122"/>
                <a:ea typeface="微软雅黑" panose="020B0503020204020204" pitchFamily="34" charset="-122"/>
              </a:rPr>
              <a:t>自适应阵列天线实现空间分割</a:t>
            </a:r>
            <a:r>
              <a:rPr lang="zh-CN" altLang="en-US" sz="2200" dirty="0">
                <a:latin typeface="微软雅黑" panose="020B0503020204020204" pitchFamily="34" charset="-122"/>
                <a:ea typeface="微软雅黑" panose="020B0503020204020204" pitchFamily="34" charset="-122"/>
              </a:rPr>
              <a:t>，在不同的用户方向上形成不同的波束</a:t>
            </a:r>
            <a:endParaRPr lang="en-US" altLang="zh-CN" sz="22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如果把空间的分割来区别不同的用户，就叫做</a:t>
            </a:r>
            <a:r>
              <a:rPr lang="zh-CN" altLang="en-US" sz="2200" dirty="0">
                <a:solidFill>
                  <a:srgbClr val="C00000"/>
                </a:solidFill>
                <a:latin typeface="微软雅黑" panose="020B0503020204020204" pitchFamily="34" charset="-122"/>
                <a:ea typeface="微软雅黑" panose="020B0503020204020204" pitchFamily="34" charset="-122"/>
              </a:rPr>
              <a:t>空分多址技术</a:t>
            </a:r>
            <a:r>
              <a:rPr lang="zh-CN" altLang="en-US" sz="2200" dirty="0">
                <a:latin typeface="微软雅黑" panose="020B0503020204020204" pitchFamily="34" charset="-122"/>
                <a:ea typeface="微软雅黑" panose="020B0503020204020204" pitchFamily="34" charset="-122"/>
              </a:rPr>
              <a:t>(SDMA)。每个波束可提供一个无其他用户干扰的唯一信道</a:t>
            </a:r>
          </a:p>
        </p:txBody>
      </p:sp>
      <p:pic>
        <p:nvPicPr>
          <p:cNvPr id="8" name="图片 7">
            <a:extLst>
              <a:ext uri="{FF2B5EF4-FFF2-40B4-BE49-F238E27FC236}">
                <a16:creationId xmlns:a16="http://schemas.microsoft.com/office/drawing/2014/main" id="{519009AC-854C-4BCC-9D3F-7FFB7DCCFF69}"/>
              </a:ext>
            </a:extLst>
          </p:cNvPr>
          <p:cNvPicPr>
            <a:picLocks noChangeAspect="1"/>
          </p:cNvPicPr>
          <p:nvPr/>
        </p:nvPicPr>
        <p:blipFill>
          <a:blip r:embed="rId2"/>
          <a:stretch>
            <a:fillRect/>
          </a:stretch>
        </p:blipFill>
        <p:spPr>
          <a:xfrm>
            <a:off x="6607761" y="2106776"/>
            <a:ext cx="5376281" cy="3288647"/>
          </a:xfrm>
          <a:prstGeom prst="rect">
            <a:avLst/>
          </a:prstGeom>
        </p:spPr>
      </p:pic>
      <p:sp>
        <p:nvSpPr>
          <p:cNvPr id="3" name="矩形: 圆角 2">
            <a:extLst>
              <a:ext uri="{FF2B5EF4-FFF2-40B4-BE49-F238E27FC236}">
                <a16:creationId xmlns:a16="http://schemas.microsoft.com/office/drawing/2014/main" id="{152F904D-4E03-452B-94CD-B65E8B3D50DD}"/>
              </a:ext>
            </a:extLst>
          </p:cNvPr>
          <p:cNvSpPr/>
          <p:nvPr/>
        </p:nvSpPr>
        <p:spPr>
          <a:xfrm>
            <a:off x="7055893" y="2784143"/>
            <a:ext cx="1240809" cy="644857"/>
          </a:xfrm>
          <a:prstGeom prst="round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多天线</a:t>
            </a:r>
            <a:endParaRPr lang="en-US" altLang="zh-CN" dirty="0"/>
          </a:p>
          <a:p>
            <a:pPr algn="ctr"/>
            <a:r>
              <a:rPr lang="zh-CN" altLang="en-US" dirty="0"/>
              <a:t>基站</a:t>
            </a:r>
          </a:p>
        </p:txBody>
      </p:sp>
      <p:sp>
        <p:nvSpPr>
          <p:cNvPr id="9" name="矩形: 圆角 8">
            <a:extLst>
              <a:ext uri="{FF2B5EF4-FFF2-40B4-BE49-F238E27FC236}">
                <a16:creationId xmlns:a16="http://schemas.microsoft.com/office/drawing/2014/main" id="{1572BA30-D72A-46CD-B758-06B867B81F67}"/>
              </a:ext>
            </a:extLst>
          </p:cNvPr>
          <p:cNvSpPr/>
          <p:nvPr/>
        </p:nvSpPr>
        <p:spPr>
          <a:xfrm>
            <a:off x="8067603" y="5231029"/>
            <a:ext cx="1240809" cy="644857"/>
          </a:xfrm>
          <a:prstGeom prst="round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移动终端</a:t>
            </a:r>
          </a:p>
        </p:txBody>
      </p:sp>
      <p:sp>
        <p:nvSpPr>
          <p:cNvPr id="10" name="矩形: 圆角 9">
            <a:extLst>
              <a:ext uri="{FF2B5EF4-FFF2-40B4-BE49-F238E27FC236}">
                <a16:creationId xmlns:a16="http://schemas.microsoft.com/office/drawing/2014/main" id="{CF5507B0-8B6A-44F8-B9C0-58E8BFAD3558}"/>
              </a:ext>
            </a:extLst>
          </p:cNvPr>
          <p:cNvSpPr/>
          <p:nvPr/>
        </p:nvSpPr>
        <p:spPr>
          <a:xfrm>
            <a:off x="8465663" y="2956261"/>
            <a:ext cx="1240809" cy="644857"/>
          </a:xfrm>
          <a:prstGeom prst="roundRect">
            <a:avLst/>
          </a:prstGeom>
          <a:noFill/>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波束</a:t>
            </a:r>
          </a:p>
        </p:txBody>
      </p:sp>
      <p:sp>
        <p:nvSpPr>
          <p:cNvPr id="11" name="文本框 10">
            <a:extLst>
              <a:ext uri="{FF2B5EF4-FFF2-40B4-BE49-F238E27FC236}">
                <a16:creationId xmlns:a16="http://schemas.microsoft.com/office/drawing/2014/main" id="{9B5AE644-E1AC-4D83-859F-070D13FCF91D}"/>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57349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7216A855-119B-49D4-872D-EE13C10F3137}" type="slidenum">
              <a:rPr lang="en-US" altLang="zh-CN" smtClean="0"/>
              <a:pPr>
                <a:defRPr/>
              </a:pPr>
              <a:t>111</a:t>
            </a:fld>
            <a:endParaRPr lang="en-US" altLang="zh-CN"/>
          </a:p>
        </p:txBody>
      </p:sp>
      <p:sp>
        <p:nvSpPr>
          <p:cNvPr id="4" name="日期占位符 3"/>
          <p:cNvSpPr>
            <a:spLocks noGrp="1"/>
          </p:cNvSpPr>
          <p:nvPr>
            <p:ph type="dt" sz="half" idx="12"/>
          </p:nvPr>
        </p:nvSpPr>
        <p:spPr/>
        <p:txBody>
          <a:bodyPr/>
          <a:lstStyle/>
          <a:p>
            <a:pPr>
              <a:defRPr/>
            </a:pPr>
            <a:fld id="{0A21BEF3-27F4-4A1F-9DA7-272622B19532}" type="datetime1">
              <a:rPr lang="zh-CN" altLang="en-US" smtClean="0"/>
              <a:pPr>
                <a:defRPr/>
              </a:pPr>
              <a:t>2024/9/27</a:t>
            </a:fld>
            <a:endParaRPr lang="en-US" altLang="zh-CN"/>
          </a:p>
        </p:txBody>
      </p:sp>
      <p:sp>
        <p:nvSpPr>
          <p:cNvPr id="5" name="Rectangle 2"/>
          <p:cNvSpPr txBox="1">
            <a:spLocks noChangeArrowheads="1"/>
          </p:cNvSpPr>
          <p:nvPr/>
        </p:nvSpPr>
        <p:spPr>
          <a:xfrm>
            <a:off x="2279576" y="692696"/>
            <a:ext cx="6192912" cy="609600"/>
          </a:xfrm>
          <a:prstGeom prst="rect">
            <a:avLst/>
          </a:prstGeom>
        </p:spPr>
        <p:txBody>
          <a:bodyPr/>
          <a:lstStyle>
            <a:lvl1pPr algn="l" rtl="0" eaLnBrk="0" fontAlgn="base" hangingPunct="0">
              <a:spcBef>
                <a:spcPct val="0"/>
              </a:spcBef>
              <a:spcAft>
                <a:spcPct val="0"/>
              </a:spcAft>
              <a:defRPr sz="36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a:solidFill>
                  <a:schemeClr val="tx1"/>
                </a:solidFill>
                <a:effectLst>
                  <a:outerShdw blurRad="38100" dist="38100" dir="2700000" algn="tl">
                    <a:srgbClr val="C0C0C0"/>
                  </a:outerShdw>
                </a:effectLst>
                <a:latin typeface="Verdana" pitchFamily="34" charset="0"/>
                <a:ea typeface="楷体_GB2312" pitchFamily="49" charset="-122"/>
              </a:defRPr>
            </a:lvl2pPr>
            <a:lvl3pPr algn="l" rtl="0" eaLnBrk="0" fontAlgn="base" hangingPunct="0">
              <a:spcBef>
                <a:spcPct val="0"/>
              </a:spcBef>
              <a:spcAft>
                <a:spcPct val="0"/>
              </a:spcAft>
              <a:defRPr sz="3600">
                <a:solidFill>
                  <a:schemeClr val="tx1"/>
                </a:solidFill>
                <a:effectLst>
                  <a:outerShdw blurRad="38100" dist="38100" dir="2700000" algn="tl">
                    <a:srgbClr val="C0C0C0"/>
                  </a:outerShdw>
                </a:effectLst>
                <a:latin typeface="Verdana" pitchFamily="34" charset="0"/>
                <a:ea typeface="楷体_GB2312" pitchFamily="49" charset="-122"/>
              </a:defRPr>
            </a:lvl3pPr>
            <a:lvl4pPr algn="l" rtl="0" eaLnBrk="0" fontAlgn="base" hangingPunct="0">
              <a:spcBef>
                <a:spcPct val="0"/>
              </a:spcBef>
              <a:spcAft>
                <a:spcPct val="0"/>
              </a:spcAft>
              <a:defRPr sz="3600">
                <a:solidFill>
                  <a:schemeClr val="tx1"/>
                </a:solidFill>
                <a:effectLst>
                  <a:outerShdw blurRad="38100" dist="38100" dir="2700000" algn="tl">
                    <a:srgbClr val="C0C0C0"/>
                  </a:outerShdw>
                </a:effectLst>
                <a:latin typeface="Verdana" pitchFamily="34" charset="0"/>
                <a:ea typeface="楷体_GB2312" pitchFamily="49" charset="-122"/>
              </a:defRPr>
            </a:lvl4pPr>
            <a:lvl5pPr algn="l" rtl="0" eaLnBrk="0" fontAlgn="base" hangingPunct="0">
              <a:spcBef>
                <a:spcPct val="0"/>
              </a:spcBef>
              <a:spcAft>
                <a:spcPct val="0"/>
              </a:spcAft>
              <a:defRPr sz="3600">
                <a:solidFill>
                  <a:schemeClr val="tx1"/>
                </a:solidFill>
                <a:effectLst>
                  <a:outerShdw blurRad="38100" dist="38100" dir="2700000" algn="tl">
                    <a:srgbClr val="C0C0C0"/>
                  </a:outerShdw>
                </a:effectLst>
                <a:latin typeface="Verdana" pitchFamily="34" charset="0"/>
                <a:ea typeface="楷体_GB2312" pitchFamily="49" charset="-122"/>
              </a:defRPr>
            </a:lvl5pPr>
            <a:lvl6pPr marL="457200" algn="l" rtl="0" fontAlgn="base">
              <a:spcBef>
                <a:spcPct val="0"/>
              </a:spcBef>
              <a:spcAft>
                <a:spcPct val="0"/>
              </a:spcAft>
              <a:defRPr sz="3600">
                <a:solidFill>
                  <a:schemeClr val="tx1"/>
                </a:solidFill>
                <a:effectLst>
                  <a:outerShdw blurRad="38100" dist="38100" dir="2700000" algn="tl">
                    <a:srgbClr val="C0C0C0"/>
                  </a:outerShdw>
                </a:effectLst>
                <a:latin typeface="Verdana" pitchFamily="34" charset="0"/>
                <a:ea typeface="楷体_GB2312" pitchFamily="49" charset="-122"/>
              </a:defRPr>
            </a:lvl6pPr>
            <a:lvl7pPr marL="914400" algn="l" rtl="0" fontAlgn="base">
              <a:spcBef>
                <a:spcPct val="0"/>
              </a:spcBef>
              <a:spcAft>
                <a:spcPct val="0"/>
              </a:spcAft>
              <a:defRPr sz="3600">
                <a:solidFill>
                  <a:schemeClr val="tx1"/>
                </a:solidFill>
                <a:effectLst>
                  <a:outerShdw blurRad="38100" dist="38100" dir="2700000" algn="tl">
                    <a:srgbClr val="C0C0C0"/>
                  </a:outerShdw>
                </a:effectLst>
                <a:latin typeface="Verdana" pitchFamily="34" charset="0"/>
                <a:ea typeface="楷体_GB2312" pitchFamily="49" charset="-122"/>
              </a:defRPr>
            </a:lvl7pPr>
            <a:lvl8pPr marL="1371600" algn="l" rtl="0" fontAlgn="base">
              <a:spcBef>
                <a:spcPct val="0"/>
              </a:spcBef>
              <a:spcAft>
                <a:spcPct val="0"/>
              </a:spcAft>
              <a:defRPr sz="3600">
                <a:solidFill>
                  <a:schemeClr val="tx1"/>
                </a:solidFill>
                <a:effectLst>
                  <a:outerShdw blurRad="38100" dist="38100" dir="2700000" algn="tl">
                    <a:srgbClr val="C0C0C0"/>
                  </a:outerShdw>
                </a:effectLst>
                <a:latin typeface="Verdana" pitchFamily="34" charset="0"/>
                <a:ea typeface="楷体_GB2312" pitchFamily="49" charset="-122"/>
              </a:defRPr>
            </a:lvl8pPr>
            <a:lvl9pPr marL="1828800" algn="l" rtl="0" fontAlgn="base">
              <a:spcBef>
                <a:spcPct val="0"/>
              </a:spcBef>
              <a:spcAft>
                <a:spcPct val="0"/>
              </a:spcAft>
              <a:defRPr sz="3600">
                <a:solidFill>
                  <a:schemeClr val="tx1"/>
                </a:solidFill>
                <a:effectLst>
                  <a:outerShdw blurRad="38100" dist="38100" dir="2700000" algn="tl">
                    <a:srgbClr val="C0C0C0"/>
                  </a:outerShdw>
                </a:effectLst>
                <a:latin typeface="Verdana" pitchFamily="34" charset="0"/>
                <a:ea typeface="楷体_GB2312" pitchFamily="49" charset="-122"/>
              </a:defRPr>
            </a:lvl9pPr>
          </a:lstStyle>
          <a:p>
            <a:pPr eaLnBrk="1" hangingPunct="1">
              <a:defRPr/>
            </a:pPr>
            <a:r>
              <a:rPr lang="en-US" altLang="zh-CN" b="1" kern="0" dirty="0">
                <a:solidFill>
                  <a:srgbClr val="0000FF"/>
                </a:solidFill>
                <a:latin typeface="宋体" pitchFamily="2" charset="-122"/>
              </a:rPr>
              <a:t> </a:t>
            </a:r>
            <a:r>
              <a:rPr lang="en-US" altLang="zh-CN" b="1" kern="0" dirty="0">
                <a:solidFill>
                  <a:srgbClr val="0000FF"/>
                </a:solidFill>
                <a:latin typeface="Georgia" panose="02040502050405020303" pitchFamily="18" charset="0"/>
              </a:rPr>
              <a:t> </a:t>
            </a:r>
            <a:r>
              <a:rPr lang="zh-CN" altLang="en-US" b="1" kern="0" dirty="0">
                <a:solidFill>
                  <a:srgbClr val="0000FF"/>
                </a:solidFill>
                <a:latin typeface="Georgia" panose="02040502050405020303" pitchFamily="18" charset="0"/>
              </a:rPr>
              <a:t>综合布线系统（补充）</a:t>
            </a:r>
            <a:endParaRPr lang="zh-CN" altLang="en-US" b="1" kern="0" dirty="0">
              <a:solidFill>
                <a:srgbClr val="0000FF"/>
              </a:solidFill>
              <a:latin typeface="宋体" pitchFamily="2" charset="-122"/>
            </a:endParaRPr>
          </a:p>
        </p:txBody>
      </p:sp>
      <p:sp>
        <p:nvSpPr>
          <p:cNvPr id="6" name="矩形 5"/>
          <p:cNvSpPr/>
          <p:nvPr/>
        </p:nvSpPr>
        <p:spPr>
          <a:xfrm>
            <a:off x="1775520" y="1390435"/>
            <a:ext cx="8352928" cy="4854791"/>
          </a:xfrm>
          <a:prstGeom prst="rect">
            <a:avLst/>
          </a:prstGeom>
        </p:spPr>
        <p:txBody>
          <a:bodyPr wrap="square">
            <a:spAutoFit/>
          </a:bodyPr>
          <a:lstStyle/>
          <a:p>
            <a:pPr>
              <a:lnSpc>
                <a:spcPct val="105000"/>
              </a:lnSpc>
              <a:spcAft>
                <a:spcPts val="600"/>
              </a:spcAft>
            </a:pPr>
            <a:r>
              <a:rPr lang="zh-CN" altLang="en-US" sz="2400" dirty="0">
                <a:solidFill>
                  <a:srgbClr val="333333"/>
                </a:solidFill>
                <a:latin typeface="+mj-ea"/>
                <a:ea typeface="+mj-ea"/>
              </a:rPr>
              <a:t>   </a:t>
            </a:r>
            <a:r>
              <a:rPr lang="zh-CN" altLang="en-US" sz="2400" dirty="0">
                <a:solidFill>
                  <a:srgbClr val="FF0000"/>
                </a:solidFill>
                <a:effectLst>
                  <a:outerShdw blurRad="38100" dist="38100" dir="2700000" algn="tl">
                    <a:srgbClr val="000000">
                      <a:alpha val="43137"/>
                    </a:srgbClr>
                  </a:outerShdw>
                </a:effectLst>
                <a:latin typeface="+mj-ea"/>
                <a:ea typeface="+mj-ea"/>
              </a:rPr>
              <a:t>综合布线系统又称智能建筑布线系统</a:t>
            </a:r>
            <a:r>
              <a:rPr lang="zh-CN" altLang="en-US" sz="2400" dirty="0">
                <a:solidFill>
                  <a:srgbClr val="333333"/>
                </a:solidFill>
                <a:latin typeface="+mj-ea"/>
                <a:ea typeface="+mj-ea"/>
              </a:rPr>
              <a:t>，是一个由非屏蔽阻燃全系列产品组成的开放系统体系。它将办公自动化、通信自动化、电力、消防等安保监控系统结合起来。</a:t>
            </a:r>
            <a:endParaRPr lang="en-US" altLang="zh-CN" sz="2400" dirty="0">
              <a:solidFill>
                <a:srgbClr val="333333"/>
              </a:solidFill>
              <a:latin typeface="+mj-ea"/>
              <a:ea typeface="+mj-ea"/>
            </a:endParaRPr>
          </a:p>
          <a:p>
            <a:pPr>
              <a:lnSpc>
                <a:spcPct val="105000"/>
              </a:lnSpc>
              <a:spcAft>
                <a:spcPts val="600"/>
              </a:spcAft>
            </a:pPr>
            <a:r>
              <a:rPr lang="en-US" altLang="zh-CN" sz="2400" dirty="0">
                <a:solidFill>
                  <a:srgbClr val="333333"/>
                </a:solidFill>
                <a:latin typeface="+mj-ea"/>
                <a:ea typeface="+mj-ea"/>
              </a:rPr>
              <a:t>   </a:t>
            </a:r>
            <a:r>
              <a:rPr lang="zh-CN" altLang="en-US" sz="2400" dirty="0">
                <a:solidFill>
                  <a:srgbClr val="333333"/>
                </a:solidFill>
                <a:latin typeface="+mj-ea"/>
                <a:ea typeface="+mj-ea"/>
              </a:rPr>
              <a:t>综合布线系统采用</a:t>
            </a:r>
            <a:r>
              <a:rPr lang="zh-CN" altLang="en-US" sz="2400" dirty="0">
                <a:solidFill>
                  <a:srgbClr val="FF0000"/>
                </a:solidFill>
                <a:effectLst>
                  <a:outerShdw blurRad="38100" dist="38100" dir="2700000" algn="tl">
                    <a:srgbClr val="000000">
                      <a:alpha val="43137"/>
                    </a:srgbClr>
                  </a:outerShdw>
                </a:effectLst>
                <a:latin typeface="+mj-ea"/>
                <a:ea typeface="+mj-ea"/>
              </a:rPr>
              <a:t>模块化设计</a:t>
            </a:r>
            <a:r>
              <a:rPr lang="zh-CN" altLang="en-US" sz="2400" dirty="0">
                <a:solidFill>
                  <a:srgbClr val="333333"/>
                </a:solidFill>
                <a:latin typeface="+mj-ea"/>
                <a:ea typeface="+mj-ea"/>
              </a:rPr>
              <a:t>，</a:t>
            </a:r>
            <a:r>
              <a:rPr lang="zh-CN" altLang="en-US" sz="2400" dirty="0">
                <a:solidFill>
                  <a:srgbClr val="FF0000"/>
                </a:solidFill>
                <a:latin typeface="+mj-ea"/>
                <a:ea typeface="+mj-ea"/>
              </a:rPr>
              <a:t>以</a:t>
            </a:r>
            <a:r>
              <a:rPr lang="zh-CN" altLang="en-US" sz="2400" dirty="0">
                <a:solidFill>
                  <a:srgbClr val="333333"/>
                </a:solidFill>
                <a:latin typeface="+mj-ea"/>
                <a:ea typeface="+mj-ea"/>
              </a:rPr>
              <a:t>实现灵活、管理方便、易于扩充、符合六类高标准布线系统。系统以可靠性、安全性、标准化及通用性、良好的扩展性为原则，能够支持现有各种网络结构及协议，同时兼顾布线技术和网络技术的发展，以满足现代新技术的不断发展。</a:t>
            </a:r>
            <a:endParaRPr lang="en-US" altLang="zh-CN" sz="2400" dirty="0">
              <a:solidFill>
                <a:srgbClr val="333333"/>
              </a:solidFill>
              <a:latin typeface="+mj-ea"/>
              <a:ea typeface="+mj-ea"/>
            </a:endParaRPr>
          </a:p>
          <a:p>
            <a:pPr>
              <a:lnSpc>
                <a:spcPct val="105000"/>
              </a:lnSpc>
              <a:spcAft>
                <a:spcPts val="600"/>
              </a:spcAft>
            </a:pPr>
            <a:r>
              <a:rPr lang="en-US" altLang="zh-CN" sz="2400" dirty="0">
                <a:solidFill>
                  <a:srgbClr val="333333"/>
                </a:solidFill>
                <a:latin typeface="+mj-ea"/>
                <a:ea typeface="+mj-ea"/>
              </a:rPr>
              <a:t>   </a:t>
            </a:r>
            <a:r>
              <a:rPr lang="zh-CN" altLang="en-US" sz="2400" dirty="0">
                <a:solidFill>
                  <a:srgbClr val="333333"/>
                </a:solidFill>
                <a:latin typeface="+mj-ea"/>
                <a:ea typeface="+mj-ea"/>
              </a:rPr>
              <a:t>综合布线系统分为</a:t>
            </a:r>
            <a:r>
              <a:rPr lang="en-US" altLang="zh-CN" sz="2400" dirty="0">
                <a:solidFill>
                  <a:srgbClr val="333333"/>
                </a:solidFill>
                <a:latin typeface="+mj-ea"/>
                <a:ea typeface="+mj-ea"/>
              </a:rPr>
              <a:t>6</a:t>
            </a:r>
            <a:r>
              <a:rPr lang="zh-CN" altLang="en-US" sz="2400" dirty="0">
                <a:solidFill>
                  <a:srgbClr val="333333"/>
                </a:solidFill>
                <a:latin typeface="+mj-ea"/>
                <a:ea typeface="+mj-ea"/>
              </a:rPr>
              <a:t>大子系统：</a:t>
            </a:r>
            <a:r>
              <a:rPr lang="zh-CN" altLang="en-US" sz="2400" dirty="0">
                <a:solidFill>
                  <a:srgbClr val="FF0000"/>
                </a:solidFill>
                <a:latin typeface="+mj-ea"/>
                <a:ea typeface="+mj-ea"/>
              </a:rPr>
              <a:t>建筑群子系统、设备间子系统、垂直子系统，管理子系统，水平子系统，工作区子系统。</a:t>
            </a:r>
            <a:r>
              <a:rPr lang="zh-CN" altLang="en-US" sz="2400" dirty="0">
                <a:solidFill>
                  <a:srgbClr val="333333"/>
                </a:solidFill>
                <a:latin typeface="+mj-ea"/>
                <a:ea typeface="+mj-ea"/>
              </a:rPr>
              <a:t>每个子系统内由配线架、光缆或电缆、配线设备、线缆、信息插座模块等组成。</a:t>
            </a:r>
            <a:endParaRPr lang="zh-CN" altLang="en-US" sz="2400" dirty="0">
              <a:latin typeface="+mj-ea"/>
              <a:ea typeface="+mj-ea"/>
            </a:endParaRPr>
          </a:p>
        </p:txBody>
      </p:sp>
    </p:spTree>
    <p:extLst>
      <p:ext uri="{BB962C8B-B14F-4D97-AF65-F5344CB8AC3E}">
        <p14:creationId xmlns:p14="http://schemas.microsoft.com/office/powerpoint/2010/main" val="3225282174"/>
      </p:ext>
    </p:extLst>
  </p:cSld>
  <p:clrMapOvr>
    <a:masterClrMapping/>
  </p:clrMapOvr>
  <p:transition spd="slow">
    <p:pull dir="ru"/>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7216A855-119B-49D4-872D-EE13C10F3137}" type="slidenum">
              <a:rPr lang="en-US" altLang="zh-CN" smtClean="0"/>
              <a:pPr>
                <a:defRPr/>
              </a:pPr>
              <a:t>112</a:t>
            </a:fld>
            <a:endParaRPr lang="en-US" altLang="zh-CN"/>
          </a:p>
        </p:txBody>
      </p:sp>
      <p:sp>
        <p:nvSpPr>
          <p:cNvPr id="4" name="日期占位符 3"/>
          <p:cNvSpPr>
            <a:spLocks noGrp="1"/>
          </p:cNvSpPr>
          <p:nvPr>
            <p:ph type="dt" sz="half" idx="12"/>
          </p:nvPr>
        </p:nvSpPr>
        <p:spPr/>
        <p:txBody>
          <a:bodyPr/>
          <a:lstStyle/>
          <a:p>
            <a:pPr>
              <a:defRPr/>
            </a:pPr>
            <a:fld id="{0A21BEF3-27F4-4A1F-9DA7-272622B19532}" type="datetime1">
              <a:rPr lang="zh-CN" altLang="en-US" smtClean="0"/>
              <a:pPr>
                <a:defRPr/>
              </a:pPr>
              <a:t>2024/9/27</a:t>
            </a:fld>
            <a:endParaRPr lang="en-US" altLang="zh-CN"/>
          </a:p>
        </p:txBody>
      </p:sp>
      <p:pic>
        <p:nvPicPr>
          <p:cNvPr id="5" name="图片 4"/>
          <p:cNvPicPr>
            <a:picLocks noChangeAspect="1"/>
          </p:cNvPicPr>
          <p:nvPr/>
        </p:nvPicPr>
        <p:blipFill>
          <a:blip r:embed="rId2"/>
          <a:stretch>
            <a:fillRect/>
          </a:stretch>
        </p:blipFill>
        <p:spPr>
          <a:xfrm>
            <a:off x="2529828" y="646169"/>
            <a:ext cx="7127184" cy="5599057"/>
          </a:xfrm>
          <a:prstGeom prst="rect">
            <a:avLst/>
          </a:prstGeom>
        </p:spPr>
      </p:pic>
    </p:spTree>
    <p:extLst>
      <p:ext uri="{BB962C8B-B14F-4D97-AF65-F5344CB8AC3E}">
        <p14:creationId xmlns:p14="http://schemas.microsoft.com/office/powerpoint/2010/main" val="2560304802"/>
      </p:ext>
    </p:extLst>
  </p:cSld>
  <p:clrMapOvr>
    <a:masterClrMapping/>
  </p:clrMapOvr>
  <p:transition spd="slow">
    <p:pull dir="ru"/>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US" altLang="zh-CN"/>
              <a:t>Computer Network</a:t>
            </a:r>
          </a:p>
        </p:txBody>
      </p:sp>
      <p:sp>
        <p:nvSpPr>
          <p:cNvPr id="3" name="灯片编号占位符 2"/>
          <p:cNvSpPr>
            <a:spLocks noGrp="1"/>
          </p:cNvSpPr>
          <p:nvPr>
            <p:ph type="sldNum" sz="quarter" idx="11"/>
          </p:nvPr>
        </p:nvSpPr>
        <p:spPr/>
        <p:txBody>
          <a:bodyPr/>
          <a:lstStyle/>
          <a:p>
            <a:pPr>
              <a:defRPr/>
            </a:pPr>
            <a:fld id="{7216A855-119B-49D4-872D-EE13C10F3137}" type="slidenum">
              <a:rPr lang="en-US" altLang="zh-CN" smtClean="0"/>
              <a:pPr>
                <a:defRPr/>
              </a:pPr>
              <a:t>113</a:t>
            </a:fld>
            <a:endParaRPr lang="en-US" altLang="zh-CN"/>
          </a:p>
        </p:txBody>
      </p:sp>
      <p:sp>
        <p:nvSpPr>
          <p:cNvPr id="4" name="日期占位符 3"/>
          <p:cNvSpPr>
            <a:spLocks noGrp="1"/>
          </p:cNvSpPr>
          <p:nvPr>
            <p:ph type="dt" sz="half" idx="12"/>
          </p:nvPr>
        </p:nvSpPr>
        <p:spPr/>
        <p:txBody>
          <a:bodyPr/>
          <a:lstStyle/>
          <a:p>
            <a:pPr>
              <a:defRPr/>
            </a:pPr>
            <a:fld id="{0A21BEF3-27F4-4A1F-9DA7-272622B19532}" type="datetime1">
              <a:rPr lang="zh-CN" altLang="en-US" smtClean="0"/>
              <a:pPr>
                <a:defRPr/>
              </a:pPr>
              <a:t>2024/9/27</a:t>
            </a:fld>
            <a:endParaRPr lang="en-US" altLang="zh-CN"/>
          </a:p>
        </p:txBody>
      </p:sp>
      <p:sp>
        <p:nvSpPr>
          <p:cNvPr id="7" name="文本框 6"/>
          <p:cNvSpPr txBox="1"/>
          <p:nvPr/>
        </p:nvSpPr>
        <p:spPr>
          <a:xfrm>
            <a:off x="5879977" y="836713"/>
            <a:ext cx="3893379" cy="584775"/>
          </a:xfrm>
          <a:prstGeom prst="rect">
            <a:avLst/>
          </a:prstGeom>
          <a:noFill/>
        </p:spPr>
        <p:txBody>
          <a:bodyPr wrap="square" rtlCol="0">
            <a:spAutoFit/>
          </a:bodyPr>
          <a:lstStyle/>
          <a:p>
            <a:r>
              <a:rPr lang="zh-CN" altLang="en-US" sz="3200" u="sng" dirty="0">
                <a:solidFill>
                  <a:srgbClr val="0000FF"/>
                </a:solidFill>
                <a:latin typeface="华文楷体" panose="02010600040101010101" pitchFamily="2" charset="-122"/>
                <a:ea typeface="华文楷体" panose="02010600040101010101" pitchFamily="2" charset="-122"/>
              </a:rPr>
              <a:t>综合布线系统结构图</a:t>
            </a:r>
          </a:p>
        </p:txBody>
      </p:sp>
      <p:pic>
        <p:nvPicPr>
          <p:cNvPr id="75778" name="Picture 2" descr="查看源图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94544"/>
            <a:ext cx="8964488" cy="565360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bwMode="auto">
          <a:xfrm>
            <a:off x="6672064" y="1268760"/>
            <a:ext cx="3538736"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342900" indent="-342900" algn="ctr" fontAlgn="base">
              <a:lnSpc>
                <a:spcPct val="90000"/>
              </a:lnSpc>
              <a:spcBef>
                <a:spcPct val="20000"/>
              </a:spcBef>
              <a:spcAft>
                <a:spcPct val="0"/>
              </a:spcAft>
              <a:buClr>
                <a:schemeClr val="bg2"/>
              </a:buClr>
              <a:buSzPct val="75000"/>
            </a:pPr>
            <a:endParaRPr lang="en-US" sz="5000" b="1">
              <a:solidFill>
                <a:srgbClr val="FF3300"/>
              </a:solidFill>
              <a:effectLst>
                <a:outerShdw blurRad="38100" dist="38100" dir="2700000" algn="tl">
                  <a:srgbClr val="000000">
                    <a:alpha val="43137"/>
                  </a:srgbClr>
                </a:outerShdw>
              </a:effectLst>
              <a:latin typeface="Arial" charset="0"/>
              <a:ea typeface="楷体_GB2312" pitchFamily="49" charset="-122"/>
            </a:endParaRPr>
          </a:p>
        </p:txBody>
      </p:sp>
      <p:sp>
        <p:nvSpPr>
          <p:cNvPr id="6" name="矩形 5"/>
          <p:cNvSpPr/>
          <p:nvPr/>
        </p:nvSpPr>
        <p:spPr bwMode="auto">
          <a:xfrm>
            <a:off x="6153855" y="580328"/>
            <a:ext cx="4338228" cy="1228492"/>
          </a:xfrm>
          <a:prstGeom prst="rect">
            <a:avLst/>
          </a:prstGeom>
          <a:solidFill>
            <a:schemeClr val="bg1"/>
          </a:solidFill>
          <a:ln>
            <a:noFill/>
          </a:ln>
          <a:effectLst/>
        </p:spPr>
        <p:txBody>
          <a:bodyPr vert="horz" wrap="square" lIns="91440" tIns="45720" rIns="91440" bIns="45720" numCol="1" rtlCol="0" anchor="t" anchorCtr="0" compatLnSpc="1">
            <a:prstTxWarp prst="textNoShape">
              <a:avLst/>
            </a:prstTxWarp>
          </a:bodyPr>
          <a:lstStyle/>
          <a:p>
            <a:pPr marL="342900" indent="-342900" algn="ctr" fontAlgn="base">
              <a:lnSpc>
                <a:spcPct val="90000"/>
              </a:lnSpc>
              <a:spcBef>
                <a:spcPct val="20000"/>
              </a:spcBef>
              <a:spcAft>
                <a:spcPct val="0"/>
              </a:spcAft>
              <a:buClr>
                <a:schemeClr val="bg2"/>
              </a:buClr>
              <a:buSzPct val="75000"/>
            </a:pPr>
            <a:endParaRPr lang="en-US" sz="5000" b="1">
              <a:solidFill>
                <a:srgbClr val="FF3300"/>
              </a:solidFill>
              <a:effectLst>
                <a:outerShdw blurRad="38100" dist="38100" dir="2700000" algn="tl">
                  <a:srgbClr val="000000">
                    <a:alpha val="43137"/>
                  </a:srgbClr>
                </a:outerShdw>
              </a:effectLst>
              <a:latin typeface="Arial" charset="0"/>
              <a:ea typeface="楷体_GB2312" pitchFamily="49" charset="-122"/>
            </a:endParaRPr>
          </a:p>
        </p:txBody>
      </p:sp>
    </p:spTree>
    <p:extLst>
      <p:ext uri="{BB962C8B-B14F-4D97-AF65-F5344CB8AC3E}">
        <p14:creationId xmlns:p14="http://schemas.microsoft.com/office/powerpoint/2010/main" val="1568852914"/>
      </p:ext>
    </p:extLst>
  </p:cSld>
  <p:clrMapOvr>
    <a:masterClrMapping/>
  </p:clrMapOvr>
  <p:transition spd="slow">
    <p:pull dir="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页脚占位符 3"/>
          <p:cNvSpPr>
            <a:spLocks noGrp="1"/>
          </p:cNvSpPr>
          <p:nvPr>
            <p:ph type="ftr" sz="quarter" idx="10"/>
          </p:nvPr>
        </p:nvSpPr>
        <p:spPr/>
        <p:txBody>
          <a:bodyPr/>
          <a:lstStyle/>
          <a:p>
            <a:pPr>
              <a:defRPr/>
            </a:pPr>
            <a:r>
              <a:rPr lang="en-US" altLang="zh-CN"/>
              <a:t>Computer Network</a:t>
            </a:r>
          </a:p>
        </p:txBody>
      </p:sp>
      <p:sp>
        <p:nvSpPr>
          <p:cNvPr id="67587"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7F447F1-9620-46C7-8815-AE3384ED00CB}" type="slidenum">
              <a:rPr lang="en-US" altLang="zh-CN" sz="1200">
                <a:latin typeface="Arial Black" panose="020B0A04020102020204" pitchFamily="34" charset="0"/>
              </a:rPr>
              <a:pPr>
                <a:spcBef>
                  <a:spcPct val="0"/>
                </a:spcBef>
                <a:buClrTx/>
                <a:buSzTx/>
                <a:buFontTx/>
                <a:buNone/>
              </a:pPr>
              <a:t>114</a:t>
            </a:fld>
            <a:endParaRPr lang="en-US" altLang="zh-CN" sz="1200">
              <a:latin typeface="Arial Black" panose="020B0A04020102020204" pitchFamily="34" charset="0"/>
            </a:endParaRPr>
          </a:p>
        </p:txBody>
      </p:sp>
      <p:sp>
        <p:nvSpPr>
          <p:cNvPr id="34" name="日期占位符 5"/>
          <p:cNvSpPr>
            <a:spLocks noGrp="1"/>
          </p:cNvSpPr>
          <p:nvPr>
            <p:ph type="dt" sz="quarter" idx="12"/>
          </p:nvPr>
        </p:nvSpPr>
        <p:spPr/>
        <p:txBody>
          <a:bodyPr/>
          <a:lstStyle/>
          <a:p>
            <a:pPr>
              <a:defRPr/>
            </a:pPr>
            <a:fld id="{77726A79-EBF7-407A-946B-3C58C55E3FA9}" type="datetime1">
              <a:rPr lang="zh-CN" altLang="en-US"/>
              <a:pPr>
                <a:defRPr/>
              </a:pPr>
              <a:t>2024/9/27</a:t>
            </a:fld>
            <a:endParaRPr lang="en-US" altLang="zh-CN"/>
          </a:p>
        </p:txBody>
      </p:sp>
      <p:sp>
        <p:nvSpPr>
          <p:cNvPr id="870402" name="Rectangle 2"/>
          <p:cNvSpPr>
            <a:spLocks noGrp="1" noChangeArrowheads="1"/>
          </p:cNvSpPr>
          <p:nvPr>
            <p:ph type="title"/>
          </p:nvPr>
        </p:nvSpPr>
        <p:spPr>
          <a:xfrm>
            <a:off x="2424113" y="692150"/>
            <a:ext cx="7200900" cy="609600"/>
          </a:xfrm>
        </p:spPr>
        <p:txBody>
          <a:bodyPr>
            <a:normAutofit fontScale="90000"/>
          </a:bodyPr>
          <a:lstStyle/>
          <a:p>
            <a:pPr algn="ctr" eaLnBrk="1" hangingPunct="1">
              <a:defRPr/>
            </a:pPr>
            <a:r>
              <a:rPr lang="en-US" altLang="zh-CN" b="1" dirty="0">
                <a:solidFill>
                  <a:srgbClr val="FF0000"/>
                </a:solidFill>
                <a:latin typeface="Georgia" panose="02040502050405020303" pitchFamily="18" charset="0"/>
              </a:rPr>
              <a:t>  2.6 </a:t>
            </a:r>
            <a:r>
              <a:rPr lang="zh-CN" altLang="en-US" b="1" dirty="0">
                <a:solidFill>
                  <a:srgbClr val="0000FF"/>
                </a:solidFill>
                <a:latin typeface="楷体_GB2312" pitchFamily="49" charset="-122"/>
              </a:rPr>
              <a:t>物理层互连设备</a:t>
            </a:r>
          </a:p>
        </p:txBody>
      </p:sp>
      <p:sp>
        <p:nvSpPr>
          <p:cNvPr id="870403" name="Rectangle 3"/>
          <p:cNvSpPr>
            <a:spLocks noGrp="1" noChangeArrowheads="1"/>
          </p:cNvSpPr>
          <p:nvPr>
            <p:ph type="body" idx="1"/>
          </p:nvPr>
        </p:nvSpPr>
        <p:spPr>
          <a:xfrm>
            <a:off x="2063750" y="1412875"/>
            <a:ext cx="8135938" cy="2571750"/>
          </a:xfrm>
        </p:spPr>
        <p:txBody>
          <a:bodyPr/>
          <a:lstStyle/>
          <a:p>
            <a:pPr marL="177800" indent="-177800">
              <a:buNone/>
              <a:defRPr/>
            </a:pPr>
            <a:r>
              <a:rPr lang="zh-CN" altLang="en-US" b="1" dirty="0">
                <a:solidFill>
                  <a:srgbClr val="0000FF"/>
                </a:solidFill>
                <a:effectLst>
                  <a:outerShdw blurRad="38100" dist="38100" dir="2700000" algn="tl">
                    <a:srgbClr val="C0C0C0"/>
                  </a:outerShdw>
                </a:effectLst>
                <a:latin typeface="Verdana" pitchFamily="34" charset="0"/>
                <a:ea typeface="楷体_GB2312" pitchFamily="49" charset="-122"/>
              </a:rPr>
              <a:t>一</a:t>
            </a:r>
            <a:r>
              <a:rPr lang="en-US" altLang="zh-CN" b="1" dirty="0">
                <a:solidFill>
                  <a:srgbClr val="0000FF"/>
                </a:solidFill>
                <a:effectLst>
                  <a:outerShdw blurRad="38100" dist="38100" dir="2700000" algn="tl">
                    <a:srgbClr val="C0C0C0"/>
                  </a:outerShdw>
                </a:effectLst>
                <a:latin typeface="Verdana" pitchFamily="34" charset="0"/>
                <a:ea typeface="楷体_GB2312" pitchFamily="49" charset="-122"/>
              </a:rPr>
              <a:t>.</a:t>
            </a:r>
            <a:r>
              <a:rPr lang="zh-CN" altLang="en-US" b="1" dirty="0">
                <a:solidFill>
                  <a:srgbClr val="0000FF"/>
                </a:solidFill>
                <a:effectLst>
                  <a:outerShdw blurRad="38100" dist="38100" dir="2700000" algn="tl">
                    <a:srgbClr val="C0C0C0"/>
                  </a:outerShdw>
                </a:effectLst>
                <a:latin typeface="Verdana" pitchFamily="34" charset="0"/>
                <a:ea typeface="楷体_GB2312" pitchFamily="49" charset="-122"/>
              </a:rPr>
              <a:t>中继器</a:t>
            </a:r>
            <a:r>
              <a:rPr lang="en-US" altLang="zh-CN" dirty="0">
                <a:solidFill>
                  <a:srgbClr val="0000FF"/>
                </a:solidFill>
                <a:effectLst>
                  <a:outerShdw blurRad="38100" dist="38100" dir="2700000" algn="tl">
                    <a:srgbClr val="C0C0C0"/>
                  </a:outerShdw>
                </a:effectLst>
                <a:latin typeface="Verdana" pitchFamily="34" charset="0"/>
                <a:ea typeface="楷体_GB2312" pitchFamily="49" charset="-122"/>
              </a:rPr>
              <a:t>(Repeater)    </a:t>
            </a:r>
            <a:r>
              <a:rPr lang="zh-CN" altLang="en-US" dirty="0">
                <a:solidFill>
                  <a:srgbClr val="0000FF"/>
                </a:solidFill>
                <a:effectLst>
                  <a:outerShdw blurRad="38100" dist="38100" dir="2700000" algn="tl">
                    <a:srgbClr val="C0C0C0"/>
                  </a:outerShdw>
                </a:effectLst>
                <a:latin typeface="Verdana" pitchFamily="34" charset="0"/>
                <a:ea typeface="楷体_GB2312" pitchFamily="49" charset="-122"/>
                <a:hlinkClick r:id="rId2" action="ppaction://hlinkfile"/>
              </a:rPr>
              <a:t>工作演示</a:t>
            </a:r>
            <a:endParaRPr lang="en-US" altLang="zh-CN" dirty="0">
              <a:solidFill>
                <a:srgbClr val="0000FF"/>
              </a:solidFill>
              <a:effectLst>
                <a:outerShdw blurRad="38100" dist="38100" dir="2700000" algn="tl">
                  <a:srgbClr val="C0C0C0"/>
                </a:outerShdw>
              </a:effectLst>
              <a:latin typeface="Verdana" pitchFamily="34" charset="0"/>
              <a:ea typeface="楷体_GB2312" pitchFamily="49" charset="-122"/>
            </a:endParaRPr>
          </a:p>
          <a:p>
            <a:pPr marL="177800" indent="-177800">
              <a:spcBef>
                <a:spcPts val="1200"/>
              </a:spcBef>
              <a:spcAft>
                <a:spcPts val="600"/>
              </a:spcAft>
              <a:buNone/>
              <a:defRPr/>
            </a:pPr>
            <a:r>
              <a:rPr lang="en-US" altLang="zh-CN" sz="2400" dirty="0">
                <a:latin typeface="Verdana" pitchFamily="34" charset="0"/>
                <a:ea typeface="楷体_GB2312" pitchFamily="49" charset="-122"/>
              </a:rPr>
              <a:t>       </a:t>
            </a:r>
            <a:r>
              <a:rPr lang="zh-CN" altLang="en-US" sz="2400" dirty="0">
                <a:latin typeface="Verdana" pitchFamily="34" charset="0"/>
                <a:ea typeface="楷体_GB2312" pitchFamily="49" charset="-122"/>
              </a:rPr>
              <a:t>双向接收、放大并重发信号，达到延长传输距离，避免信号丢失或衰减的目的。</a:t>
            </a:r>
            <a:r>
              <a:rPr lang="en-US" altLang="zh-CN" sz="2400" dirty="0">
                <a:latin typeface="Verdana" pitchFamily="34" charset="0"/>
                <a:ea typeface="楷体_GB2312" pitchFamily="49" charset="-122"/>
              </a:rPr>
              <a:t>(</a:t>
            </a:r>
            <a:r>
              <a:rPr lang="en-US" altLang="zh-CN" sz="2400" dirty="0">
                <a:solidFill>
                  <a:srgbClr val="0000FF"/>
                </a:solidFill>
                <a:effectLst>
                  <a:outerShdw blurRad="38100" dist="38100" dir="2700000" algn="tl">
                    <a:srgbClr val="C0C0C0"/>
                  </a:outerShdw>
                </a:effectLst>
                <a:latin typeface="Verdana" pitchFamily="34" charset="0"/>
                <a:ea typeface="楷体_GB2312" pitchFamily="49" charset="-122"/>
              </a:rPr>
              <a:t>OA:</a:t>
            </a:r>
            <a:r>
              <a:rPr lang="zh-CN" altLang="en-US" sz="2400" dirty="0">
                <a:latin typeface="Verdana" pitchFamily="34" charset="0"/>
                <a:ea typeface="楷体_GB2312" pitchFamily="49" charset="-122"/>
              </a:rPr>
              <a:t>光放大器</a:t>
            </a:r>
            <a:r>
              <a:rPr lang="en-US" altLang="zh-CN" sz="2400" dirty="0">
                <a:latin typeface="Verdana" pitchFamily="34" charset="0"/>
                <a:ea typeface="楷体_GB2312" pitchFamily="49" charset="-122"/>
              </a:rPr>
              <a:t>)</a:t>
            </a:r>
          </a:p>
          <a:p>
            <a:pPr marL="177800" indent="-177800">
              <a:spcAft>
                <a:spcPts val="600"/>
              </a:spcAft>
              <a:buNone/>
              <a:defRPr/>
            </a:pPr>
            <a:r>
              <a:rPr lang="zh-CN" altLang="en-US" b="1" dirty="0">
                <a:solidFill>
                  <a:srgbClr val="0000FF"/>
                </a:solidFill>
                <a:effectLst>
                  <a:outerShdw blurRad="38100" dist="38100" dir="2700000" algn="tl">
                    <a:srgbClr val="C0C0C0"/>
                  </a:outerShdw>
                </a:effectLst>
                <a:latin typeface="Verdana" pitchFamily="34" charset="0"/>
                <a:ea typeface="楷体_GB2312" pitchFamily="49" charset="-122"/>
              </a:rPr>
              <a:t>二</a:t>
            </a:r>
            <a:r>
              <a:rPr lang="en-US" altLang="zh-CN" b="1" dirty="0">
                <a:solidFill>
                  <a:srgbClr val="0000FF"/>
                </a:solidFill>
                <a:effectLst>
                  <a:outerShdw blurRad="38100" dist="38100" dir="2700000" algn="tl">
                    <a:srgbClr val="C0C0C0"/>
                  </a:outerShdw>
                </a:effectLst>
                <a:latin typeface="Verdana" pitchFamily="34" charset="0"/>
                <a:ea typeface="楷体_GB2312" pitchFamily="49" charset="-122"/>
              </a:rPr>
              <a:t>.</a:t>
            </a:r>
            <a:r>
              <a:rPr lang="en-US" altLang="zh-CN" dirty="0">
                <a:solidFill>
                  <a:srgbClr val="0000FF"/>
                </a:solidFill>
                <a:effectLst>
                  <a:outerShdw blurRad="38100" dist="38100" dir="2700000" algn="tl">
                    <a:srgbClr val="C0C0C0"/>
                  </a:outerShdw>
                </a:effectLst>
                <a:latin typeface="Verdana" pitchFamily="34" charset="0"/>
                <a:ea typeface="楷体_GB2312" pitchFamily="49" charset="-122"/>
              </a:rPr>
              <a:t>HUB (</a:t>
            </a:r>
            <a:r>
              <a:rPr lang="zh-CN" altLang="en-US" dirty="0">
                <a:solidFill>
                  <a:srgbClr val="0000FF"/>
                </a:solidFill>
                <a:effectLst>
                  <a:outerShdw blurRad="38100" dist="38100" dir="2700000" algn="tl">
                    <a:srgbClr val="C0C0C0"/>
                  </a:outerShdw>
                </a:effectLst>
                <a:latin typeface="Verdana" pitchFamily="34" charset="0"/>
                <a:ea typeface="楷体_GB2312" pitchFamily="49" charset="-122"/>
              </a:rPr>
              <a:t>共享式集线器</a:t>
            </a:r>
            <a:r>
              <a:rPr lang="en-US" altLang="zh-CN" dirty="0">
                <a:solidFill>
                  <a:srgbClr val="0000FF"/>
                </a:solidFill>
                <a:effectLst>
                  <a:outerShdw blurRad="38100" dist="38100" dir="2700000" algn="tl">
                    <a:srgbClr val="C0C0C0"/>
                  </a:outerShdw>
                </a:effectLst>
                <a:latin typeface="Verdana" pitchFamily="34" charset="0"/>
                <a:ea typeface="楷体_GB2312" pitchFamily="49" charset="-122"/>
              </a:rPr>
              <a:t>)  </a:t>
            </a:r>
          </a:p>
        </p:txBody>
      </p:sp>
      <p:grpSp>
        <p:nvGrpSpPr>
          <p:cNvPr id="67591" name="Group 32"/>
          <p:cNvGrpSpPr>
            <a:grpSpLocks/>
          </p:cNvGrpSpPr>
          <p:nvPr/>
        </p:nvGrpSpPr>
        <p:grpSpPr bwMode="auto">
          <a:xfrm>
            <a:off x="1905000" y="3352801"/>
            <a:ext cx="8491538" cy="2670175"/>
            <a:chOff x="240" y="2112"/>
            <a:chExt cx="5349" cy="1682"/>
          </a:xfrm>
        </p:grpSpPr>
        <p:sp>
          <p:nvSpPr>
            <p:cNvPr id="870431" name="Text Box 31"/>
            <p:cNvSpPr txBox="1">
              <a:spLocks noChangeArrowheads="1"/>
            </p:cNvSpPr>
            <p:nvPr/>
          </p:nvSpPr>
          <p:spPr bwMode="auto">
            <a:xfrm>
              <a:off x="2290" y="3294"/>
              <a:ext cx="1270"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charset="0"/>
                  <a:ea typeface="宋体" pitchFamily="2" charset="-122"/>
                </a:defRPr>
              </a:lvl1pPr>
              <a:lvl2pPr algn="l">
                <a:spcBef>
                  <a:spcPct val="0"/>
                </a:spcBef>
                <a:defRPr>
                  <a:solidFill>
                    <a:schemeClr val="tx1"/>
                  </a:solidFill>
                  <a:latin typeface="Arial" charset="0"/>
                  <a:ea typeface="宋体" pitchFamily="2" charset="-122"/>
                </a:defRPr>
              </a:lvl2pPr>
              <a:lvl3pPr algn="l">
                <a:spcBef>
                  <a:spcPct val="0"/>
                </a:spcBef>
                <a:defRPr>
                  <a:solidFill>
                    <a:schemeClr val="tx1"/>
                  </a:solidFill>
                  <a:latin typeface="Arial" charset="0"/>
                  <a:ea typeface="宋体" pitchFamily="2" charset="-122"/>
                </a:defRPr>
              </a:lvl3pPr>
              <a:lvl4pPr algn="l">
                <a:spcBef>
                  <a:spcPct val="0"/>
                </a:spcBef>
                <a:defRPr>
                  <a:solidFill>
                    <a:schemeClr val="tx1"/>
                  </a:solidFill>
                  <a:latin typeface="Arial" charset="0"/>
                  <a:ea typeface="宋体" pitchFamily="2" charset="-122"/>
                </a:defRPr>
              </a:lvl4pPr>
              <a:lvl5pPr algn="l">
                <a:spcBef>
                  <a:spcPct val="0"/>
                </a:spcBef>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gn="ctr" eaLnBrk="1" hangingPunct="1">
                <a:lnSpc>
                  <a:spcPct val="90000"/>
                </a:lnSpc>
                <a:spcBef>
                  <a:spcPct val="50000"/>
                </a:spcBef>
                <a:buClr>
                  <a:schemeClr val="bg2"/>
                </a:buClr>
                <a:buSzPct val="75000"/>
                <a:buFont typeface="Wingdings" panose="05000000000000000000" pitchFamily="2" charset="2"/>
                <a:buNone/>
                <a:defRPr/>
              </a:pPr>
              <a:r>
                <a:rPr lang="zh-CN" altLang="en-US" sz="2000">
                  <a:solidFill>
                    <a:srgbClr val="FF3300"/>
                  </a:solidFill>
                  <a:effectLst>
                    <a:outerShdw blurRad="38100" dist="38100" dir="2700000" algn="tl">
                      <a:srgbClr val="C0C0C0"/>
                    </a:outerShdw>
                  </a:effectLst>
                  <a:ea typeface="楷体_GB2312" pitchFamily="49" charset="-122"/>
                </a:rPr>
                <a:t>同一个广播域</a:t>
              </a:r>
            </a:p>
            <a:p>
              <a:pPr algn="ctr" eaLnBrk="1" hangingPunct="1">
                <a:lnSpc>
                  <a:spcPct val="90000"/>
                </a:lnSpc>
                <a:spcBef>
                  <a:spcPct val="50000"/>
                </a:spcBef>
                <a:buClr>
                  <a:schemeClr val="bg2"/>
                </a:buClr>
                <a:buSzPct val="75000"/>
                <a:buFont typeface="Wingdings" panose="05000000000000000000" pitchFamily="2" charset="2"/>
                <a:buNone/>
                <a:defRPr/>
              </a:pPr>
              <a:r>
                <a:rPr lang="zh-CN" altLang="en-US" sz="2000">
                  <a:solidFill>
                    <a:srgbClr val="FF3300"/>
                  </a:solidFill>
                  <a:effectLst>
                    <a:outerShdw blurRad="38100" dist="38100" dir="2700000" algn="tl">
                      <a:srgbClr val="C0C0C0"/>
                    </a:outerShdw>
                  </a:effectLst>
                  <a:ea typeface="楷体_GB2312" pitchFamily="49" charset="-122"/>
                </a:rPr>
                <a:t>同一个冲突域</a:t>
              </a:r>
            </a:p>
          </p:txBody>
        </p:sp>
        <p:grpSp>
          <p:nvGrpSpPr>
            <p:cNvPr id="67593" name="Group 5" descr="点式菱形"/>
            <p:cNvGrpSpPr>
              <a:grpSpLocks/>
            </p:cNvGrpSpPr>
            <p:nvPr/>
          </p:nvGrpSpPr>
          <p:grpSpPr bwMode="auto">
            <a:xfrm>
              <a:off x="240" y="2862"/>
              <a:ext cx="1920" cy="912"/>
              <a:chOff x="1248" y="2784"/>
              <a:chExt cx="1920" cy="912"/>
            </a:xfrm>
          </p:grpSpPr>
          <p:sp>
            <p:nvSpPr>
              <p:cNvPr id="67612" name="Rectangle 6" descr="点式菱形"/>
              <p:cNvSpPr>
                <a:spLocks noChangeArrowheads="1"/>
              </p:cNvSpPr>
              <p:nvPr/>
            </p:nvSpPr>
            <p:spPr bwMode="auto">
              <a:xfrm>
                <a:off x="1920" y="2784"/>
                <a:ext cx="528" cy="336"/>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HUB</a:t>
                </a:r>
              </a:p>
            </p:txBody>
          </p:sp>
          <p:sp>
            <p:nvSpPr>
              <p:cNvPr id="67613" name="Rectangle 7" descr="点式菱形"/>
              <p:cNvSpPr>
                <a:spLocks noChangeArrowheads="1"/>
              </p:cNvSpPr>
              <p:nvPr/>
            </p:nvSpPr>
            <p:spPr bwMode="auto">
              <a:xfrm>
                <a:off x="1248"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67614" name="Rectangle 8" descr="点式菱形"/>
              <p:cNvSpPr>
                <a:spLocks noChangeArrowheads="1"/>
              </p:cNvSpPr>
              <p:nvPr/>
            </p:nvSpPr>
            <p:spPr bwMode="auto">
              <a:xfrm>
                <a:off x="2016"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67615" name="Rectangle 9" descr="点式菱形"/>
              <p:cNvSpPr>
                <a:spLocks noChangeArrowheads="1"/>
              </p:cNvSpPr>
              <p:nvPr/>
            </p:nvSpPr>
            <p:spPr bwMode="auto">
              <a:xfrm>
                <a:off x="2784"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870410" name="Line 10" descr="点式菱形"/>
              <p:cNvSpPr>
                <a:spLocks noChangeShapeType="1"/>
              </p:cNvSpPr>
              <p:nvPr/>
            </p:nvSpPr>
            <p:spPr bwMode="auto">
              <a:xfrm flipH="1">
                <a:off x="1440" y="3120"/>
                <a:ext cx="672"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0411" name="Line 11" descr="点式菱形"/>
              <p:cNvSpPr>
                <a:spLocks noChangeShapeType="1"/>
              </p:cNvSpPr>
              <p:nvPr/>
            </p:nvSpPr>
            <p:spPr bwMode="auto">
              <a:xfrm>
                <a:off x="2304" y="3120"/>
                <a:ext cx="720"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0412" name="Line 12" descr="点式菱形"/>
              <p:cNvSpPr>
                <a:spLocks noChangeShapeType="1"/>
              </p:cNvSpPr>
              <p:nvPr/>
            </p:nvSpPr>
            <p:spPr bwMode="auto">
              <a:xfrm>
                <a:off x="2208" y="3120"/>
                <a:ext cx="0"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pSp>
        <p:sp>
          <p:nvSpPr>
            <p:cNvPr id="870421" name="Line 21" descr="点式菱形"/>
            <p:cNvSpPr>
              <a:spLocks noChangeShapeType="1"/>
            </p:cNvSpPr>
            <p:nvPr/>
          </p:nvSpPr>
          <p:spPr bwMode="auto">
            <a:xfrm flipV="1">
              <a:off x="1440" y="2301"/>
              <a:ext cx="1521" cy="558"/>
            </a:xfrm>
            <a:prstGeom prst="line">
              <a:avLst/>
            </a:prstGeom>
            <a:no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pSp>
          <p:nvGrpSpPr>
            <p:cNvPr id="67595" name="Group 22" descr="点式菱形"/>
            <p:cNvGrpSpPr>
              <a:grpSpLocks/>
            </p:cNvGrpSpPr>
            <p:nvPr/>
          </p:nvGrpSpPr>
          <p:grpSpPr bwMode="auto">
            <a:xfrm>
              <a:off x="3669" y="2700"/>
              <a:ext cx="1920" cy="912"/>
              <a:chOff x="1248" y="2784"/>
              <a:chExt cx="1920" cy="912"/>
            </a:xfrm>
          </p:grpSpPr>
          <p:sp>
            <p:nvSpPr>
              <p:cNvPr id="67605" name="Rectangle 23" descr="点式菱形"/>
              <p:cNvSpPr>
                <a:spLocks noChangeArrowheads="1"/>
              </p:cNvSpPr>
              <p:nvPr/>
            </p:nvSpPr>
            <p:spPr bwMode="auto">
              <a:xfrm>
                <a:off x="1920" y="2784"/>
                <a:ext cx="528" cy="336"/>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HUB</a:t>
                </a:r>
              </a:p>
            </p:txBody>
          </p:sp>
          <p:sp>
            <p:nvSpPr>
              <p:cNvPr id="67606" name="Rectangle 24" descr="点式菱形"/>
              <p:cNvSpPr>
                <a:spLocks noChangeArrowheads="1"/>
              </p:cNvSpPr>
              <p:nvPr/>
            </p:nvSpPr>
            <p:spPr bwMode="auto">
              <a:xfrm>
                <a:off x="1248"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67607" name="Rectangle 25" descr="点式菱形"/>
              <p:cNvSpPr>
                <a:spLocks noChangeArrowheads="1"/>
              </p:cNvSpPr>
              <p:nvPr/>
            </p:nvSpPr>
            <p:spPr bwMode="auto">
              <a:xfrm>
                <a:off x="2016"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67608" name="Rectangle 26" descr="点式菱形"/>
              <p:cNvSpPr>
                <a:spLocks noChangeArrowheads="1"/>
              </p:cNvSpPr>
              <p:nvPr/>
            </p:nvSpPr>
            <p:spPr bwMode="auto">
              <a:xfrm>
                <a:off x="2784"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870427" name="Line 27" descr="点式菱形"/>
              <p:cNvSpPr>
                <a:spLocks noChangeShapeType="1"/>
              </p:cNvSpPr>
              <p:nvPr/>
            </p:nvSpPr>
            <p:spPr bwMode="auto">
              <a:xfrm flipH="1">
                <a:off x="1440" y="3120"/>
                <a:ext cx="672"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0428" name="Line 28" descr="点式菱形"/>
              <p:cNvSpPr>
                <a:spLocks noChangeShapeType="1"/>
              </p:cNvSpPr>
              <p:nvPr/>
            </p:nvSpPr>
            <p:spPr bwMode="auto">
              <a:xfrm>
                <a:off x="2304" y="3120"/>
                <a:ext cx="720"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0429" name="Line 29" descr="点式菱形"/>
              <p:cNvSpPr>
                <a:spLocks noChangeShapeType="1"/>
              </p:cNvSpPr>
              <p:nvPr/>
            </p:nvSpPr>
            <p:spPr bwMode="auto">
              <a:xfrm>
                <a:off x="2208" y="3120"/>
                <a:ext cx="0"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pSp>
        <p:sp>
          <p:nvSpPr>
            <p:cNvPr id="870430" name="Line 30" descr="点式菱形"/>
            <p:cNvSpPr>
              <a:spLocks noChangeShapeType="1"/>
            </p:cNvSpPr>
            <p:nvPr/>
          </p:nvSpPr>
          <p:spPr bwMode="auto">
            <a:xfrm>
              <a:off x="3474" y="2283"/>
              <a:ext cx="873" cy="423"/>
            </a:xfrm>
            <a:prstGeom prst="line">
              <a:avLst/>
            </a:prstGeom>
            <a:no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pSp>
          <p:nvGrpSpPr>
            <p:cNvPr id="67597" name="Group 13" descr="点式菱形"/>
            <p:cNvGrpSpPr>
              <a:grpSpLocks/>
            </p:cNvGrpSpPr>
            <p:nvPr/>
          </p:nvGrpSpPr>
          <p:grpSpPr bwMode="auto">
            <a:xfrm>
              <a:off x="2271" y="2112"/>
              <a:ext cx="1920" cy="912"/>
              <a:chOff x="1248" y="2784"/>
              <a:chExt cx="1920" cy="912"/>
            </a:xfrm>
          </p:grpSpPr>
          <p:sp>
            <p:nvSpPr>
              <p:cNvPr id="67598" name="Rectangle 14" descr="点式菱形"/>
              <p:cNvSpPr>
                <a:spLocks noChangeArrowheads="1"/>
              </p:cNvSpPr>
              <p:nvPr/>
            </p:nvSpPr>
            <p:spPr bwMode="auto">
              <a:xfrm>
                <a:off x="1920" y="2784"/>
                <a:ext cx="528" cy="336"/>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HUB</a:t>
                </a:r>
              </a:p>
            </p:txBody>
          </p:sp>
          <p:sp>
            <p:nvSpPr>
              <p:cNvPr id="67599" name="Rectangle 15" descr="点式菱形"/>
              <p:cNvSpPr>
                <a:spLocks noChangeArrowheads="1"/>
              </p:cNvSpPr>
              <p:nvPr/>
            </p:nvSpPr>
            <p:spPr bwMode="auto">
              <a:xfrm>
                <a:off x="1248"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67600" name="Rectangle 16" descr="点式菱形"/>
              <p:cNvSpPr>
                <a:spLocks noChangeArrowheads="1"/>
              </p:cNvSpPr>
              <p:nvPr/>
            </p:nvSpPr>
            <p:spPr bwMode="auto">
              <a:xfrm>
                <a:off x="2016"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67601" name="Rectangle 17" descr="点式菱形"/>
              <p:cNvSpPr>
                <a:spLocks noChangeArrowheads="1"/>
              </p:cNvSpPr>
              <p:nvPr/>
            </p:nvSpPr>
            <p:spPr bwMode="auto">
              <a:xfrm>
                <a:off x="2784" y="3456"/>
                <a:ext cx="384" cy="240"/>
              </a:xfrm>
              <a:prstGeom prst="rect">
                <a:avLst/>
              </a:prstGeom>
              <a:pattFill prst="dotDmnd">
                <a:fgClr>
                  <a:schemeClr val="accent1"/>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PC</a:t>
                </a:r>
              </a:p>
            </p:txBody>
          </p:sp>
          <p:sp>
            <p:nvSpPr>
              <p:cNvPr id="870418" name="Line 18" descr="点式菱形"/>
              <p:cNvSpPr>
                <a:spLocks noChangeShapeType="1"/>
              </p:cNvSpPr>
              <p:nvPr/>
            </p:nvSpPr>
            <p:spPr bwMode="auto">
              <a:xfrm flipH="1">
                <a:off x="1440" y="3120"/>
                <a:ext cx="672"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0419" name="Line 19" descr="点式菱形"/>
              <p:cNvSpPr>
                <a:spLocks noChangeShapeType="1"/>
              </p:cNvSpPr>
              <p:nvPr/>
            </p:nvSpPr>
            <p:spPr bwMode="auto">
              <a:xfrm>
                <a:off x="2304" y="3120"/>
                <a:ext cx="720"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sp>
            <p:nvSpPr>
              <p:cNvPr id="870420" name="Line 20" descr="点式菱形"/>
              <p:cNvSpPr>
                <a:spLocks noChangeShapeType="1"/>
              </p:cNvSpPr>
              <p:nvPr/>
            </p:nvSpPr>
            <p:spPr bwMode="auto">
              <a:xfrm>
                <a:off x="2208" y="3120"/>
                <a:ext cx="0" cy="336"/>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90000"/>
                  </a:lnSpc>
                  <a:spcBef>
                    <a:spcPct val="20000"/>
                  </a:spcBef>
                  <a:buClr>
                    <a:schemeClr val="bg2"/>
                  </a:buClr>
                  <a:buSzPct val="75000"/>
                  <a:buFont typeface="Wingdings" panose="05000000000000000000" pitchFamily="2" charset="2"/>
                  <a:buNone/>
                  <a:defRPr/>
                </a:pPr>
                <a:endParaRPr lang="zh-CN" altLang="en-US">
                  <a:effectLst>
                    <a:outerShdw blurRad="38100" dist="38100" dir="2700000" algn="tl">
                      <a:srgbClr val="000000">
                        <a:alpha val="43137"/>
                      </a:srgbClr>
                    </a:outerShdw>
                  </a:effectLst>
                  <a:latin typeface="Arial" charset="0"/>
                </a:endParaRPr>
              </a:p>
            </p:txBody>
          </p:sp>
        </p:grpSp>
      </p:grpSp>
    </p:spTree>
  </p:cSld>
  <p:clrMapOvr>
    <a:masterClrMapping/>
  </p:clrMapOvr>
  <p:transition>
    <p:rand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Computer Network</a:t>
            </a:r>
          </a:p>
        </p:txBody>
      </p:sp>
      <p:sp>
        <p:nvSpPr>
          <p:cNvPr id="68611" name="灯片编号占位符 4"/>
          <p:cNvSpPr>
            <a:spLocks noGrp="1"/>
          </p:cNvSpPr>
          <p:nvPr>
            <p:ph type="sldNum" sz="quarter" idx="11"/>
          </p:nvPr>
        </p:nvSpPr>
        <p:spPr>
          <a:noFill/>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2265C8E-C9DB-4B94-A203-270032588751}" type="slidenum">
              <a:rPr lang="en-US" altLang="zh-CN" sz="1200">
                <a:latin typeface="Arial Black" panose="020B0A04020102020204" pitchFamily="34" charset="0"/>
              </a:rPr>
              <a:pPr>
                <a:spcBef>
                  <a:spcPct val="0"/>
                </a:spcBef>
                <a:buClrTx/>
                <a:buSzTx/>
                <a:buFontTx/>
                <a:buNone/>
              </a:pPr>
              <a:t>115</a:t>
            </a:fld>
            <a:endParaRPr lang="en-US" altLang="zh-CN" sz="1200">
              <a:latin typeface="Arial Black" panose="020B0A04020102020204" pitchFamily="34" charset="0"/>
            </a:endParaRPr>
          </a:p>
        </p:txBody>
      </p:sp>
      <p:sp>
        <p:nvSpPr>
          <p:cNvPr id="8" name="日期占位符 5"/>
          <p:cNvSpPr>
            <a:spLocks noGrp="1"/>
          </p:cNvSpPr>
          <p:nvPr>
            <p:ph type="dt" sz="quarter" idx="12"/>
          </p:nvPr>
        </p:nvSpPr>
        <p:spPr/>
        <p:txBody>
          <a:bodyPr/>
          <a:lstStyle/>
          <a:p>
            <a:pPr>
              <a:defRPr/>
            </a:pPr>
            <a:fld id="{ABF8B089-D855-4844-A94F-CB450062E3FD}" type="datetime1">
              <a:rPr lang="zh-CN" altLang="en-US"/>
              <a:pPr>
                <a:defRPr/>
              </a:pPr>
              <a:t>2024/9/27</a:t>
            </a:fld>
            <a:endParaRPr lang="en-US" altLang="zh-CN"/>
          </a:p>
        </p:txBody>
      </p:sp>
      <p:sp>
        <p:nvSpPr>
          <p:cNvPr id="871426" name="Rectangle 2"/>
          <p:cNvSpPr>
            <a:spLocks noGrp="1" noChangeArrowheads="1"/>
          </p:cNvSpPr>
          <p:nvPr>
            <p:ph type="title"/>
          </p:nvPr>
        </p:nvSpPr>
        <p:spPr>
          <a:xfrm>
            <a:off x="2003425" y="606426"/>
            <a:ext cx="7715250" cy="735013"/>
          </a:xfrm>
        </p:spPr>
        <p:txBody>
          <a:bodyPr/>
          <a:lstStyle/>
          <a:p>
            <a:pPr eaLnBrk="1" hangingPunct="1">
              <a:defRPr/>
            </a:pPr>
            <a:r>
              <a:rPr lang="zh-CN" altLang="en-US" sz="2800" b="1">
                <a:solidFill>
                  <a:srgbClr val="0000FF"/>
                </a:solidFill>
              </a:rPr>
              <a:t>三、集线器</a:t>
            </a:r>
            <a:r>
              <a:rPr lang="zh-CN" altLang="en-US" sz="2800">
                <a:solidFill>
                  <a:srgbClr val="0000FF"/>
                </a:solidFill>
              </a:rPr>
              <a:t> </a:t>
            </a:r>
            <a:r>
              <a:rPr lang="en-US" altLang="zh-CN" sz="2800">
                <a:solidFill>
                  <a:srgbClr val="0000FF"/>
                </a:solidFill>
              </a:rPr>
              <a:t>(HUB)</a:t>
            </a:r>
            <a:r>
              <a:rPr lang="zh-CN" altLang="en-US" sz="2800">
                <a:solidFill>
                  <a:srgbClr val="0000FF"/>
                </a:solidFill>
              </a:rPr>
              <a:t>结构</a:t>
            </a:r>
          </a:p>
        </p:txBody>
      </p:sp>
      <p:graphicFrame>
        <p:nvGraphicFramePr>
          <p:cNvPr id="68614" name="Object 3"/>
          <p:cNvGraphicFramePr>
            <a:graphicFrameLocks noGrp="1" noChangeAspect="1"/>
          </p:cNvGraphicFramePr>
          <p:nvPr>
            <p:ph type="body" idx="1"/>
          </p:nvPr>
        </p:nvGraphicFramePr>
        <p:xfrm>
          <a:off x="2351089" y="1411289"/>
          <a:ext cx="7481887" cy="4681537"/>
        </p:xfrm>
        <a:graphic>
          <a:graphicData uri="http://schemas.openxmlformats.org/presentationml/2006/ole">
            <mc:AlternateContent xmlns:mc="http://schemas.openxmlformats.org/markup-compatibility/2006">
              <mc:Choice xmlns:v="urn:schemas-microsoft-com:vml" Requires="v">
                <p:oleObj name="位图图像" r:id="rId2" imgW="4734586" imgH="2962689" progId="Paint.Picture">
                  <p:embed/>
                </p:oleObj>
              </mc:Choice>
              <mc:Fallback>
                <p:oleObj name="位图图像" r:id="rId2" imgW="4734586" imgH="2962689" progId="Paint.Picture">
                  <p:embed/>
                  <p:pic>
                    <p:nvPicPr>
                      <p:cNvPr id="6861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089" y="1411289"/>
                        <a:ext cx="7481887" cy="4681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8615" name="Text Box 4"/>
          <p:cNvSpPr txBox="1">
            <a:spLocks noChangeArrowheads="1"/>
          </p:cNvSpPr>
          <p:nvPr/>
        </p:nvSpPr>
        <p:spPr bwMode="auto">
          <a:xfrm>
            <a:off x="2514600" y="1447800"/>
            <a:ext cx="114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000">
                <a:ea typeface="楷体_GB2312" pitchFamily="49" charset="-122"/>
              </a:rPr>
              <a:t>前面版：</a:t>
            </a:r>
          </a:p>
        </p:txBody>
      </p:sp>
      <p:sp>
        <p:nvSpPr>
          <p:cNvPr id="68616" name="Text Box 5"/>
          <p:cNvSpPr txBox="1">
            <a:spLocks noChangeArrowheads="1"/>
          </p:cNvSpPr>
          <p:nvPr/>
        </p:nvSpPr>
        <p:spPr bwMode="auto">
          <a:xfrm>
            <a:off x="2590800" y="4419600"/>
            <a:ext cx="114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000">
                <a:ea typeface="楷体_GB2312" pitchFamily="49" charset="-122"/>
              </a:rPr>
              <a:t>后面版：</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内容占位符 2"/>
          <p:cNvSpPr>
            <a:spLocks noGrp="1"/>
          </p:cNvSpPr>
          <p:nvPr>
            <p:ph idx="1"/>
          </p:nvPr>
        </p:nvSpPr>
        <p:spPr/>
        <p:txBody>
          <a:bodyPr/>
          <a:lstStyle/>
          <a:p>
            <a:r>
              <a:rPr lang="zh-CN" altLang="en-US" dirty="0"/>
              <a:t>画出</a:t>
            </a:r>
            <a:r>
              <a:rPr lang="en-US" dirty="0"/>
              <a:t>0001110101</a:t>
            </a:r>
            <a:r>
              <a:rPr lang="zh-CN" altLang="en-US" dirty="0"/>
              <a:t>的曼彻斯特编码和差分曼彻斯特编码</a:t>
            </a:r>
            <a:r>
              <a:rPr lang="en-US" dirty="0"/>
              <a:t>(</a:t>
            </a:r>
            <a:r>
              <a:rPr lang="zh-CN" altLang="en-US" dirty="0"/>
              <a:t>假定起始状态为低</a:t>
            </a:r>
            <a:r>
              <a:rPr lang="en-US" dirty="0"/>
              <a:t>)</a:t>
            </a:r>
            <a:r>
              <a:rPr lang="zh-CN" altLang="en-US" dirty="0"/>
              <a:t>。</a:t>
            </a:r>
            <a:endParaRPr lang="en-US" dirty="0"/>
          </a:p>
        </p:txBody>
      </p:sp>
      <p:sp>
        <p:nvSpPr>
          <p:cNvPr id="4" name="页脚占位符 3"/>
          <p:cNvSpPr>
            <a:spLocks noGrp="1"/>
          </p:cNvSpPr>
          <p:nvPr>
            <p:ph type="ftr" sz="quarter" idx="10"/>
          </p:nvPr>
        </p:nvSpPr>
        <p:spPr/>
        <p:txBody>
          <a:bodyPr/>
          <a:lstStyle/>
          <a:p>
            <a:pPr>
              <a:defRPr/>
            </a:pPr>
            <a:r>
              <a:rPr lang="en-US" altLang="zh-CN"/>
              <a:t>Computer Network</a:t>
            </a:r>
          </a:p>
        </p:txBody>
      </p:sp>
      <p:sp>
        <p:nvSpPr>
          <p:cNvPr id="5" name="灯片编号占位符 4"/>
          <p:cNvSpPr>
            <a:spLocks noGrp="1"/>
          </p:cNvSpPr>
          <p:nvPr>
            <p:ph type="sldNum" sz="quarter" idx="11"/>
          </p:nvPr>
        </p:nvSpPr>
        <p:spPr/>
        <p:txBody>
          <a:bodyPr/>
          <a:lstStyle/>
          <a:p>
            <a:pPr>
              <a:defRPr/>
            </a:pPr>
            <a:fld id="{E7872B99-39A0-4C31-B109-B5DD2E3E7F4D}" type="slidenum">
              <a:rPr lang="en-US" altLang="zh-CN" smtClean="0"/>
              <a:pPr>
                <a:defRPr/>
              </a:pPr>
              <a:t>116</a:t>
            </a:fld>
            <a:endParaRPr lang="en-US" altLang="zh-CN"/>
          </a:p>
        </p:txBody>
      </p:sp>
      <p:sp>
        <p:nvSpPr>
          <p:cNvPr id="6" name="日期占位符 5"/>
          <p:cNvSpPr>
            <a:spLocks noGrp="1"/>
          </p:cNvSpPr>
          <p:nvPr>
            <p:ph type="dt" sz="half" idx="12"/>
          </p:nvPr>
        </p:nvSpPr>
        <p:spPr/>
        <p:txBody>
          <a:bodyPr/>
          <a:lstStyle/>
          <a:p>
            <a:pPr>
              <a:defRPr/>
            </a:pPr>
            <a:fld id="{463C5C25-2E6E-49EB-80D0-7A2EB3145E01}" type="datetime1">
              <a:rPr lang="zh-CN" altLang="en-US" smtClean="0"/>
              <a:pPr>
                <a:defRPr/>
              </a:pPr>
              <a:t>2024/9/27</a:t>
            </a:fld>
            <a:endParaRPr lang="en-US" altLang="zh-CN"/>
          </a:p>
        </p:txBody>
      </p:sp>
    </p:spTree>
    <p:extLst>
      <p:ext uri="{BB962C8B-B14F-4D97-AF65-F5344CB8AC3E}">
        <p14:creationId xmlns:p14="http://schemas.microsoft.com/office/powerpoint/2010/main" val="26635583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8D128-490B-B716-4865-2DB45AB87C0A}"/>
              </a:ext>
            </a:extLst>
          </p:cNvPr>
          <p:cNvSpPr>
            <a:spLocks noGrp="1"/>
          </p:cNvSpPr>
          <p:nvPr>
            <p:ph type="title"/>
          </p:nvPr>
        </p:nvSpPr>
        <p:spPr/>
        <p:txBody>
          <a:bodyPr/>
          <a:lstStyle/>
          <a:p>
            <a:r>
              <a:rPr lang="en-CN" dirty="0"/>
              <a:t>作业</a:t>
            </a:r>
            <a:r>
              <a:rPr lang="zh-CN" altLang="en-US"/>
              <a:t>（不交）</a:t>
            </a:r>
            <a:endParaRPr lang="en-CN" dirty="0"/>
          </a:p>
        </p:txBody>
      </p:sp>
      <p:sp>
        <p:nvSpPr>
          <p:cNvPr id="3" name="Content Placeholder 2">
            <a:extLst>
              <a:ext uri="{FF2B5EF4-FFF2-40B4-BE49-F238E27FC236}">
                <a16:creationId xmlns:a16="http://schemas.microsoft.com/office/drawing/2014/main" id="{549B3597-9775-ACE6-5E8C-EEE9E2BE31B1}"/>
              </a:ext>
            </a:extLst>
          </p:cNvPr>
          <p:cNvSpPr>
            <a:spLocks noGrp="1"/>
          </p:cNvSpPr>
          <p:nvPr>
            <p:ph idx="1"/>
          </p:nvPr>
        </p:nvSpPr>
        <p:spPr/>
        <p:txBody>
          <a:bodyPr/>
          <a:lstStyle/>
          <a:p>
            <a:pPr marL="457200" indent="-457200" eaLnBrk="1" hangingPunct="1">
              <a:lnSpc>
                <a:spcPct val="120000"/>
              </a:lnSpc>
              <a:buClrTx/>
              <a:buSzTx/>
              <a:buFontTx/>
              <a:buNone/>
            </a:pPr>
            <a:r>
              <a:rPr lang="en-US" altLang="zh-CN" sz="2800" dirty="0">
                <a:solidFill>
                  <a:schemeClr val="hlink"/>
                </a:solidFill>
                <a:latin typeface="Verdana" panose="020B0604030504040204" pitchFamily="34" charset="0"/>
                <a:ea typeface="楷体_GB2312" pitchFamily="49" charset="-122"/>
              </a:rPr>
              <a:t>1. </a:t>
            </a:r>
            <a:r>
              <a:rPr lang="zh-CN" altLang="en-US" sz="2800" dirty="0">
                <a:solidFill>
                  <a:schemeClr val="hlink"/>
                </a:solidFill>
                <a:latin typeface="Verdana" panose="020B0604030504040204" pitchFamily="34" charset="0"/>
                <a:ea typeface="楷体_GB2312" pitchFamily="49" charset="-122"/>
              </a:rPr>
              <a:t>通过</a:t>
            </a:r>
            <a:r>
              <a:rPr lang="en-US" altLang="zh-CN" sz="2800" dirty="0">
                <a:solidFill>
                  <a:schemeClr val="hlink"/>
                </a:solidFill>
                <a:latin typeface="Verdana" panose="020B0604030504040204" pitchFamily="34" charset="0"/>
                <a:ea typeface="楷体_GB2312" pitchFamily="49" charset="-122"/>
              </a:rPr>
              <a:t>Modem</a:t>
            </a:r>
            <a:r>
              <a:rPr lang="zh-CN" altLang="en-US" sz="2800" dirty="0">
                <a:solidFill>
                  <a:schemeClr val="hlink"/>
                </a:solidFill>
                <a:latin typeface="Verdana" panose="020B0604030504040204" pitchFamily="34" charset="0"/>
                <a:ea typeface="楷体_GB2312" pitchFamily="49" charset="-122"/>
              </a:rPr>
              <a:t>在电话线</a:t>
            </a:r>
            <a:r>
              <a:rPr lang="en-US" altLang="zh-CN" sz="2800" dirty="0">
                <a:solidFill>
                  <a:schemeClr val="hlink"/>
                </a:solidFill>
                <a:latin typeface="Verdana" panose="020B0604030504040204" pitchFamily="34" charset="0"/>
                <a:ea typeface="楷体_GB2312" pitchFamily="49" charset="-122"/>
              </a:rPr>
              <a:t>(</a:t>
            </a:r>
            <a:r>
              <a:rPr lang="zh-CN" altLang="en-US" sz="2800" dirty="0">
                <a:solidFill>
                  <a:schemeClr val="hlink"/>
                </a:solidFill>
                <a:latin typeface="Verdana" panose="020B0604030504040204" pitchFamily="34" charset="0"/>
                <a:ea typeface="楷体_GB2312" pitchFamily="49" charset="-122"/>
              </a:rPr>
              <a:t>带宽</a:t>
            </a:r>
            <a:r>
              <a:rPr lang="en-US" altLang="zh-CN" sz="2800" dirty="0">
                <a:solidFill>
                  <a:schemeClr val="hlink"/>
                </a:solidFill>
                <a:latin typeface="Verdana" panose="020B0604030504040204" pitchFamily="34" charset="0"/>
                <a:ea typeface="楷体_GB2312" pitchFamily="49" charset="-122"/>
              </a:rPr>
              <a:t>3.1kHz)</a:t>
            </a:r>
            <a:r>
              <a:rPr lang="zh-CN" altLang="en-US" sz="2800" dirty="0">
                <a:solidFill>
                  <a:schemeClr val="hlink"/>
                </a:solidFill>
                <a:latin typeface="Verdana" panose="020B0604030504040204" pitchFamily="34" charset="0"/>
                <a:ea typeface="楷体_GB2312" pitchFamily="49" charset="-122"/>
              </a:rPr>
              <a:t>上传送</a:t>
            </a:r>
            <a:r>
              <a:rPr lang="en-US" altLang="zh-CN" sz="2800" dirty="0">
                <a:solidFill>
                  <a:schemeClr val="hlink"/>
                </a:solidFill>
                <a:latin typeface="Verdana" panose="020B0604030504040204" pitchFamily="34" charset="0"/>
                <a:ea typeface="楷体_GB2312" pitchFamily="49" charset="-122"/>
              </a:rPr>
              <a:t>19.2Kbps</a:t>
            </a:r>
            <a:r>
              <a:rPr lang="zh-CN" altLang="en-US" sz="2800" dirty="0">
                <a:solidFill>
                  <a:schemeClr val="hlink"/>
                </a:solidFill>
                <a:latin typeface="Verdana" panose="020B0604030504040204" pitchFamily="34" charset="0"/>
                <a:ea typeface="楷体_GB2312" pitchFamily="49" charset="-122"/>
              </a:rPr>
              <a:t>的数字信号，问信号噪声比为多少才可能？</a:t>
            </a:r>
          </a:p>
          <a:p>
            <a:pPr marL="457200" indent="-457200" eaLnBrk="1" hangingPunct="1">
              <a:lnSpc>
                <a:spcPct val="120000"/>
              </a:lnSpc>
              <a:buClrTx/>
              <a:buSzTx/>
              <a:buFontTx/>
              <a:buNone/>
            </a:pPr>
            <a:r>
              <a:rPr lang="en-US" altLang="zh-CN" sz="2800" dirty="0">
                <a:solidFill>
                  <a:schemeClr val="hlink"/>
                </a:solidFill>
                <a:latin typeface="Verdana" panose="020B0604030504040204" pitchFamily="34" charset="0"/>
                <a:ea typeface="楷体_GB2312" pitchFamily="49" charset="-122"/>
              </a:rPr>
              <a:t>2. </a:t>
            </a:r>
            <a:r>
              <a:rPr lang="zh-CN" altLang="en-US" sz="2800" dirty="0">
                <a:solidFill>
                  <a:schemeClr val="hlink"/>
                </a:solidFill>
                <a:latin typeface="Verdana" panose="020B0604030504040204" pitchFamily="34" charset="0"/>
                <a:ea typeface="楷体_GB2312" pitchFamily="49" charset="-122"/>
              </a:rPr>
              <a:t>电视频道的带宽是</a:t>
            </a:r>
            <a:r>
              <a:rPr lang="en-US" altLang="zh-CN" sz="2800" dirty="0">
                <a:solidFill>
                  <a:schemeClr val="hlink"/>
                </a:solidFill>
                <a:latin typeface="Verdana" panose="020B0604030504040204" pitchFamily="34" charset="0"/>
                <a:ea typeface="楷体_GB2312" pitchFamily="49" charset="-122"/>
              </a:rPr>
              <a:t>6MHz</a:t>
            </a:r>
            <a:r>
              <a:rPr lang="zh-CN" altLang="en-US" sz="2800" dirty="0">
                <a:solidFill>
                  <a:schemeClr val="hlink"/>
                </a:solidFill>
                <a:latin typeface="Verdana" panose="020B0604030504040204" pitchFamily="34" charset="0"/>
                <a:ea typeface="楷体_GB2312" pitchFamily="49" charset="-122"/>
              </a:rPr>
              <a:t>，如果采用四级数字信号，假设是无噪声信道，最大数据传输率为多少？</a:t>
            </a:r>
            <a:endParaRPr lang="en-US" altLang="zh-CN" sz="2800" dirty="0">
              <a:solidFill>
                <a:schemeClr val="hlink"/>
              </a:solidFill>
              <a:latin typeface="Verdana" panose="020B0604030504040204" pitchFamily="34" charset="0"/>
              <a:ea typeface="楷体_GB2312" pitchFamily="49" charset="-122"/>
            </a:endParaRPr>
          </a:p>
          <a:p>
            <a:endParaRPr lang="en-CN" dirty="0"/>
          </a:p>
        </p:txBody>
      </p:sp>
      <p:sp>
        <p:nvSpPr>
          <p:cNvPr id="4" name="Slide Number Placeholder 3">
            <a:extLst>
              <a:ext uri="{FF2B5EF4-FFF2-40B4-BE49-F238E27FC236}">
                <a16:creationId xmlns:a16="http://schemas.microsoft.com/office/drawing/2014/main" id="{00556A95-8F6C-4236-4633-DBCCBDCDC4FF}"/>
              </a:ext>
            </a:extLst>
          </p:cNvPr>
          <p:cNvSpPr>
            <a:spLocks noGrp="1"/>
          </p:cNvSpPr>
          <p:nvPr>
            <p:ph type="sldNum" sz="quarter" idx="12"/>
          </p:nvPr>
        </p:nvSpPr>
        <p:spPr/>
        <p:txBody>
          <a:bodyPr/>
          <a:lstStyle/>
          <a:p>
            <a:fld id="{8D4D1E41-7A09-AB4A-A4E1-09765ADA2698}" type="slidenum">
              <a:rPr kumimoji="1" lang="zh-CN" altLang="en-US" smtClean="0"/>
              <a:t>117</a:t>
            </a:fld>
            <a:endParaRPr kumimoji="1" lang="zh-CN" altLang="en-US" dirty="0"/>
          </a:p>
        </p:txBody>
      </p:sp>
    </p:spTree>
    <p:extLst>
      <p:ext uri="{BB962C8B-B14F-4D97-AF65-F5344CB8AC3E}">
        <p14:creationId xmlns:p14="http://schemas.microsoft.com/office/powerpoint/2010/main" val="61574501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5687</TotalTime>
  <Words>14906</Words>
  <Application>Microsoft Office PowerPoint</Application>
  <PresentationFormat>宽屏</PresentationFormat>
  <Paragraphs>1672</Paragraphs>
  <Slides>117</Slides>
  <Notes>31</Notes>
  <HiddenSlides>13</HiddenSlides>
  <MMClips>1</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9</vt:i4>
      </vt:variant>
      <vt:variant>
        <vt:lpstr>幻灯片标题</vt:lpstr>
      </vt:variant>
      <vt:variant>
        <vt:i4>117</vt:i4>
      </vt:variant>
    </vt:vector>
  </HeadingPairs>
  <TitlesOfParts>
    <vt:vector size="144" baseType="lpstr">
      <vt:lpstr>-apple-system</vt:lpstr>
      <vt:lpstr>等线</vt:lpstr>
      <vt:lpstr>方正姚体</vt:lpstr>
      <vt:lpstr>黑体</vt:lpstr>
      <vt:lpstr>华文楷体</vt:lpstr>
      <vt:lpstr>楷体_GB2312</vt:lpstr>
      <vt:lpstr>宋体</vt:lpstr>
      <vt:lpstr>Microsoft YaHei</vt:lpstr>
      <vt:lpstr>Microsoft YaHei</vt:lpstr>
      <vt:lpstr>Arial</vt:lpstr>
      <vt:lpstr>Arial</vt:lpstr>
      <vt:lpstr>Arial Black</vt:lpstr>
      <vt:lpstr>Georgia</vt:lpstr>
      <vt:lpstr>Symbol</vt:lpstr>
      <vt:lpstr>Times New Roman</vt:lpstr>
      <vt:lpstr>Verdana</vt:lpstr>
      <vt:lpstr>Wingdings</vt:lpstr>
      <vt:lpstr>Office 主题​​</vt:lpstr>
      <vt:lpstr>演示文稿</vt:lpstr>
      <vt:lpstr>位图图像</vt:lpstr>
      <vt:lpstr>Equation</vt:lpstr>
      <vt:lpstr>Microsoft 公式 3.0</vt:lpstr>
      <vt:lpstr>文档</vt:lpstr>
      <vt:lpstr>图片</vt:lpstr>
      <vt:lpstr>Picture</vt:lpstr>
      <vt:lpstr>公式</vt:lpstr>
      <vt:lpstr>Document</vt:lpstr>
      <vt:lpstr>第二章 物理层</vt:lpstr>
      <vt:lpstr>本章目标</vt:lpstr>
      <vt:lpstr>本章内容</vt:lpstr>
      <vt:lpstr>物理层功能</vt:lpstr>
      <vt:lpstr>物理层接口特性</vt:lpstr>
      <vt:lpstr>物理层机械特性</vt:lpstr>
      <vt:lpstr>物理层电气特性</vt:lpstr>
      <vt:lpstr>物理层功能特性</vt:lpstr>
      <vt:lpstr>物理层过程特性 </vt:lpstr>
      <vt:lpstr>PowerPoint 演示文稿</vt:lpstr>
      <vt:lpstr>物理层常用标准</vt:lpstr>
      <vt:lpstr>物理层常用标准</vt:lpstr>
      <vt:lpstr>本章内容</vt:lpstr>
      <vt:lpstr>  2.2 数据通讯基础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二、信道最大传输率</vt:lpstr>
      <vt:lpstr>PowerPoint 演示文稿</vt:lpstr>
      <vt:lpstr>PowerPoint 演示文稿</vt:lpstr>
      <vt:lpstr>PowerPoint 演示文稿</vt:lpstr>
      <vt:lpstr>2. Shannon定理</vt:lpstr>
      <vt:lpstr>2. Shannon定理</vt:lpstr>
      <vt:lpstr>PowerPoint 演示文稿</vt:lpstr>
      <vt:lpstr>3、比特率与波特率的关系</vt:lpstr>
      <vt:lpstr>PowerPoint 演示文稿</vt:lpstr>
      <vt:lpstr>PowerPoint 演示文稿</vt:lpstr>
      <vt:lpstr>三、数据调制与编码 </vt:lpstr>
      <vt:lpstr>三、数据调制与编码 </vt:lpstr>
      <vt:lpstr>PowerPoint 演示文稿</vt:lpstr>
      <vt:lpstr>极性，单极性</vt:lpstr>
      <vt:lpstr>归零编码(RZ)和不归零编码(NRZ)</vt:lpstr>
      <vt:lpstr>PowerPoint 演示文稿</vt:lpstr>
      <vt:lpstr>PowerPoint 演示文稿</vt:lpstr>
      <vt:lpstr>数据编码技术</vt:lpstr>
      <vt:lpstr>数据编码技术</vt:lpstr>
      <vt:lpstr>数据编码技术</vt:lpstr>
      <vt:lpstr>频带传输</vt:lpstr>
      <vt:lpstr>频带传输</vt:lpstr>
      <vt:lpstr>频带传输</vt:lpstr>
      <vt:lpstr>传输损伤</vt:lpstr>
      <vt:lpstr>传输损伤</vt:lpstr>
      <vt:lpstr>性能度量</vt:lpstr>
      <vt:lpstr>性能度量</vt:lpstr>
      <vt:lpstr>性能度量</vt:lpstr>
      <vt:lpstr>性能度量</vt:lpstr>
      <vt:lpstr>性能度量</vt:lpstr>
      <vt:lpstr>传输质量</vt:lpstr>
      <vt:lpstr>传输质量</vt:lpstr>
      <vt:lpstr>本章内容</vt:lpstr>
      <vt:lpstr>PowerPoint 演示文稿</vt:lpstr>
      <vt:lpstr>传输介质分类</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本章内容</vt:lpstr>
      <vt:lpstr>无线通信基本概念</vt:lpstr>
      <vt:lpstr>无线信号传输</vt:lpstr>
      <vt:lpstr> 无线电频谱</vt:lpstr>
      <vt:lpstr>无线信道</vt:lpstr>
      <vt:lpstr>卫星通信的基本概念</vt:lpstr>
      <vt:lpstr>卫星通信的基本概念</vt:lpstr>
      <vt:lpstr>卫星通信的基本概念</vt:lpstr>
      <vt:lpstr>典型的低轨道卫星系统（LEO）</vt:lpstr>
      <vt:lpstr>典型的低轨道卫星系统（LEO）</vt:lpstr>
      <vt:lpstr>典型的低轨道卫星系统（LEO）</vt:lpstr>
      <vt:lpstr>本章内容</vt:lpstr>
      <vt:lpstr>什么是复用技术？</vt:lpstr>
      <vt:lpstr>频分复用(FDM)</vt:lpstr>
      <vt:lpstr>时分复用(TDM)</vt:lpstr>
      <vt:lpstr>时分复用(TDM）</vt:lpstr>
      <vt:lpstr>统计时分复用 (STDM)</vt:lpstr>
      <vt:lpstr>波分复用(WDM)</vt:lpstr>
      <vt:lpstr>码分复用(CDMA)</vt:lpstr>
      <vt:lpstr>码片序列的正交关系 </vt:lpstr>
      <vt:lpstr>码分复用举例</vt:lpstr>
      <vt:lpstr>PowerPoint 演示文稿</vt:lpstr>
      <vt:lpstr>码片序列实现了扩频</vt:lpstr>
      <vt:lpstr>正交频分复用(OFDM)</vt:lpstr>
      <vt:lpstr>空分复用(SDM)</vt:lpstr>
      <vt:lpstr>PowerPoint 演示文稿</vt:lpstr>
      <vt:lpstr>PowerPoint 演示文稿</vt:lpstr>
      <vt:lpstr>PowerPoint 演示文稿</vt:lpstr>
      <vt:lpstr>  2.6 物理层互连设备</vt:lpstr>
      <vt:lpstr>三、集线器 (HUB)结构</vt:lpstr>
      <vt:lpstr>PowerPoint 演示文稿</vt:lpstr>
      <vt:lpstr>作业（不交）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戴元顺</cp:lastModifiedBy>
  <cp:revision>831</cp:revision>
  <dcterms:created xsi:type="dcterms:W3CDTF">2021-01-06T05:35:51Z</dcterms:created>
  <dcterms:modified xsi:type="dcterms:W3CDTF">2024-09-27T00:25:29Z</dcterms:modified>
</cp:coreProperties>
</file>